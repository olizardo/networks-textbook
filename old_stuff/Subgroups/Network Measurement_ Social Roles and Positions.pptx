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715000" cx="9144000"/>
  <p:notesSz cx="6858000" cy="9144000"/>
  <p:embeddedFontLst>
    <p:embeddedFont>
      <p:font typeface="Josefin Slab"/>
      <p:regular r:id="rId44"/>
      <p:bold r:id="rId45"/>
      <p:italic r:id="rId46"/>
      <p:boldItalic r:id="rId47"/>
    </p:embeddedFont>
    <p:embeddedFont>
      <p:font typeface="Economica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JosefinSlab-regular.fntdata"/><Relationship Id="rId43" Type="http://schemas.openxmlformats.org/officeDocument/2006/relationships/slide" Target="slides/slide39.xml"/><Relationship Id="rId46" Type="http://schemas.openxmlformats.org/officeDocument/2006/relationships/font" Target="fonts/JosefinSlab-italic.fntdata"/><Relationship Id="rId45" Type="http://schemas.openxmlformats.org/officeDocument/2006/relationships/font" Target="fonts/JosefinSlab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Economica-regular.fntdata"/><Relationship Id="rId47" Type="http://schemas.openxmlformats.org/officeDocument/2006/relationships/font" Target="fonts/JosefinSlab-boldItalic.fntdata"/><Relationship Id="rId49" Type="http://schemas.openxmlformats.org/officeDocument/2006/relationships/font" Target="fonts/Economic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Economica-boldItalic.fntdata"/><Relationship Id="rId50" Type="http://schemas.openxmlformats.org/officeDocument/2006/relationships/font" Target="fonts/Economica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7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54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747fd667_0_58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747fd66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747fd667_0_32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747fd667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747fd667_0_51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a747fd667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747fd667_0_45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747fd66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3e295af1b_0_7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3e295af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820a2a9_02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820a2a9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9820a2a9_04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9820a2a9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3e295af1b_0_1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3e295af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9820a2a9_1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9820a2a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7f572b1c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a7f572b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7f572b1c_0_18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7f572b1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9820a2a9_2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9820a2a9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747fd667_0_1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747fd66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9821413e_08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9821413e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5e4d61a90_0_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5e4d61a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e4d61a90_0_1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e4d61a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5e4d61a90_0_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5e4d61a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747fd667_0_1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747fd66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e4d61a90_0_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5e4d61a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a7f572b1c_0_1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a7f572b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a7f572b1c_0_28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a7f572b1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7f572b1c_0_1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a7f572b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a747fd667_0_20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a747fd66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9821413e_09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9821413e_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a7f572b1c_0_19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a7f572b1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a7f572b1c_0_22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a7f572b1c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9821413e_0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9821413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a747fd667_0_57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a747fd667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a747fd667_0_58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a747fd66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9821413e_0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9821413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a747fd667_0_59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a747fd66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9821413e_04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9821413e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9821413e_05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9821413e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821413e_06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9821413e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9821413e_05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9821413e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9821413e_07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9821413e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9821413e_012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9821413e_0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6eb6627909efd90a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6eb6627909efd90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a747fd667_0_616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a747fd667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279224"/>
            <a:ext cx="3054600" cy="22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Blockmodeling: </a:t>
            </a:r>
            <a:r>
              <a:rPr lang="en"/>
              <a:t>Roles and Positions in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networks, graphs, matrices 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36238" y="1274694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Graph Theory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“The Graph”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564263" y="3293833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Social Systems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Network”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00538" y="3293833"/>
            <a:ext cx="1879200" cy="9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Matrix Algebra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“The Matrix”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4"/>
          <p:cNvCxnSpPr>
            <a:stCxn id="71" idx="3"/>
            <a:endCxn id="69" idx="2"/>
          </p:cNvCxnSpPr>
          <p:nvPr/>
        </p:nvCxnSpPr>
        <p:spPr>
          <a:xfrm flipH="1" rot="10800000">
            <a:off x="2579738" y="2269783"/>
            <a:ext cx="1896000" cy="152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2"/>
            <a:endCxn id="70" idx="1"/>
          </p:cNvCxnSpPr>
          <p:nvPr/>
        </p:nvCxnSpPr>
        <p:spPr>
          <a:xfrm>
            <a:off x="4475838" y="2269794"/>
            <a:ext cx="2088300" cy="152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71" idx="2"/>
            <a:endCxn id="70" idx="2"/>
          </p:cNvCxnSpPr>
          <p:nvPr/>
        </p:nvCxnSpPr>
        <p:spPr>
          <a:xfrm flipH="1" rot="-5400000">
            <a:off x="4571738" y="1357333"/>
            <a:ext cx="600" cy="5863800"/>
          </a:xfrm>
          <a:prstGeom prst="bentConnector3">
            <a:avLst>
              <a:gd fmla="val 91912500" name="adj1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75" name="Google Shape;75;p14"/>
          <p:cNvSpPr txBox="1"/>
          <p:nvPr/>
        </p:nvSpPr>
        <p:spPr>
          <a:xfrm>
            <a:off x="3775250" y="4919325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5415450" y="2653050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Analogy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1942650" y="2653050"/>
            <a:ext cx="1593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361361"/>
            <a:ext cx="5502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Social network theory</a:t>
            </a:r>
            <a:r>
              <a:rPr lang="en"/>
              <a:t> is a branch of </a:t>
            </a:r>
            <a:r>
              <a:rPr i="1" lang="en"/>
              <a:t>social science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processes occurring in social systems 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Happens in natural language and relies on substantive intuitions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relevant "concepts" are by their nature "fuzzy"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Graph theory</a:t>
            </a:r>
            <a:r>
              <a:rPr lang="en"/>
              <a:t> is a branch of </a:t>
            </a:r>
            <a:r>
              <a:rPr i="1" lang="en"/>
              <a:t>pure</a:t>
            </a:r>
            <a:r>
              <a:rPr lang="en"/>
              <a:t> </a:t>
            </a:r>
            <a:r>
              <a:rPr i="1" lang="en"/>
              <a:t>mathematics</a:t>
            </a:r>
            <a:r>
              <a:rPr lang="en"/>
              <a:t>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Allows for the specification of "analogues" of fuzzy social network concepts stated in natural language in less ambiguous terms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Matrix algebra</a:t>
            </a:r>
            <a:r>
              <a:rPr lang="en"/>
              <a:t> is a branch of </a:t>
            </a:r>
            <a:r>
              <a:rPr i="1" lang="en"/>
              <a:t>applied mathematics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Links to graph to theoretic concepts to allow for calculation and the development of "measures" and metric representations of social network concepts (e.g. “centrality”)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Each element of a matrix is ..."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25" y="1789139"/>
            <a:ext cx="3192075" cy="25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"social networks"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different types of concepts: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Science Concepts: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Roles</a:t>
            </a:r>
            <a:r>
              <a:rPr lang="en"/>
              <a:t>, </a:t>
            </a:r>
            <a:r>
              <a:rPr b="1" lang="en"/>
              <a:t>Social Position, Relational Similarity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 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Equivalence</a:t>
            </a:r>
            <a:r>
              <a:rPr lang="en"/>
              <a:t> of nodes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Matrix Representation of the Graph Theoretic Concept: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Blocks</a:t>
            </a:r>
            <a:r>
              <a:rPr lang="en"/>
              <a:t> in a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graph-theoretic notion of </a:t>
            </a:r>
            <a:r>
              <a:rPr b="1" lang="en"/>
              <a:t>equivalence</a:t>
            </a:r>
            <a:r>
              <a:rPr lang="en"/>
              <a:t> a does for the classic notion notion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roles</a:t>
            </a:r>
            <a:r>
              <a:rPr lang="en"/>
              <a:t> (taken from functionalist sociology and social anthropology) what </a:t>
            </a:r>
            <a:r>
              <a:rPr b="1" lang="en"/>
              <a:t>centrality</a:t>
            </a:r>
            <a:r>
              <a:rPr lang="en"/>
              <a:t> does for </a:t>
            </a:r>
            <a:r>
              <a:rPr b="1" lang="en"/>
              <a:t>prominence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Equivalence can be thought of as a </a:t>
            </a:r>
            <a:r>
              <a:rPr b="1" lang="en"/>
              <a:t>partition</a:t>
            </a:r>
            <a:r>
              <a:rPr lang="en"/>
              <a:t> of the set of </a:t>
            </a:r>
            <a:r>
              <a:rPr b="1" lang="en"/>
              <a:t>vertices</a:t>
            </a:r>
            <a:r>
              <a:rPr lang="en"/>
              <a:t> in a graph into a set of </a:t>
            </a:r>
            <a:r>
              <a:rPr b="1" lang="en"/>
              <a:t>disjoint</a:t>
            </a:r>
            <a:r>
              <a:rPr lang="en"/>
              <a:t> </a:t>
            </a:r>
            <a:r>
              <a:rPr b="1" lang="en"/>
              <a:t>classes</a:t>
            </a:r>
            <a:r>
              <a:rPr lang="en"/>
              <a:t>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Each </a:t>
            </a:r>
            <a:r>
              <a:rPr b="1" lang="en"/>
              <a:t>subset</a:t>
            </a:r>
            <a:r>
              <a:rPr lang="en"/>
              <a:t> of vertices in the same class can be thought of as playing the </a:t>
            </a:r>
            <a:r>
              <a:rPr b="1" lang="en"/>
              <a:t>same role </a:t>
            </a:r>
            <a:r>
              <a:rPr lang="en"/>
              <a:t>or occupying the s</a:t>
            </a:r>
            <a:r>
              <a:rPr b="1" lang="en"/>
              <a:t>ame position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Roles, Positions, Equivalence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role?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Roles within social relations  (parent-child, teacher-student)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Set of person’s with similar relations to set of other persons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Vertex Equivalence (Similarity)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Vertex trait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Network trait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Degree, clustering coefficient, composition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400"/>
              <a:t>Patterns of ties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 (Graph Theory)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an</a:t>
            </a:r>
            <a:r>
              <a:rPr lang="en"/>
              <a:t> equivalence relations among vertices can be thought of as imposing a classification on the vertex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a graph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(V, 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a partition of V compatible with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Partition P = {C</a:t>
            </a:r>
            <a:r>
              <a:rPr baseline="-25000" lang="en"/>
              <a:t>1</a:t>
            </a:r>
            <a:r>
              <a:rPr lang="en"/>
              <a:t>...C</a:t>
            </a:r>
            <a:r>
              <a:rPr baseline="-25000" lang="en"/>
              <a:t>k</a:t>
            </a:r>
            <a:r>
              <a:rPr lang="en"/>
              <a:t>} of V is a set of non-empty, disjoint subsets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 = U</a:t>
            </a:r>
            <a:r>
              <a:rPr baseline="-25000" lang="en"/>
              <a:t>i </a:t>
            </a:r>
            <a:r>
              <a:rPr lang="en"/>
              <a:t>C</a:t>
            </a:r>
            <a:r>
              <a:rPr baseline="-25000" lang="en"/>
              <a:t>i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v belongs to exactly one </a:t>
            </a:r>
            <a:r>
              <a:rPr b="1" lang="en"/>
              <a:t>class</a:t>
            </a:r>
            <a:r>
              <a:rPr lang="en"/>
              <a:t> or </a:t>
            </a:r>
            <a:r>
              <a:rPr b="1" lang="en"/>
              <a:t>block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equivalence</a:t>
            </a:r>
            <a:r>
              <a:rPr lang="en"/>
              <a:t> </a:t>
            </a:r>
            <a:r>
              <a:rPr b="1" lang="en"/>
              <a:t>relation</a:t>
            </a:r>
            <a:r>
              <a:rPr lang="en"/>
              <a:t> on V defines a partition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positions in networks (Graph Theory)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partitioning of the set of vertices into disjoint classes we may be interested in the connection across the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blocks are connected via  the adjacency relations of their respective vertices to one another in the original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reduced representation showing the roles and their relations is called a role graph or image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assignment can thus be thought of as a "data reduction" technique for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Meaningful structure may be captured at the image or role graph level rather than at the "individual" vertex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classification defines "similarity" and reduces network complexity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This may be particularly appropriate for large, irregular graphs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behavior may display regularities at the level of role or position that it fails to display at the individual level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822775"/>
            <a:ext cx="45675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Modelling</a:t>
            </a:r>
            <a:r>
              <a:rPr lang="en"/>
              <a:t> Data Reduction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876" y="565275"/>
            <a:ext cx="3780149" cy="458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 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</a:t>
            </a:r>
            <a:r>
              <a:rPr i="1" lang="en"/>
              <a:t>iff</a:t>
            </a:r>
            <a:r>
              <a:rPr lang="en"/>
              <a:t> they have the same pattern of relations with the same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G = (V, E) and V -&gt; W is a role assignment, the relation R is a structural equivalence iff for all u, v in V: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uRv implies that the outgoing set of neighbors of u and the outgoing set of neighbors of v are the same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uRv implies that the incoming set of neighbors of u and the incoming set of neighbors of v are the same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structurally equivalent if they are </a:t>
            </a:r>
            <a:r>
              <a:rPr b="1" lang="en"/>
              <a:t>friends</a:t>
            </a:r>
            <a:r>
              <a:rPr lang="en"/>
              <a:t> with the same set of </a:t>
            </a:r>
            <a:r>
              <a:rPr b="1" lang="en"/>
              <a:t>people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structurally equivalent if they </a:t>
            </a:r>
            <a:r>
              <a:rPr b="1" lang="en"/>
              <a:t>cite</a:t>
            </a:r>
            <a:r>
              <a:rPr lang="en"/>
              <a:t> the same set of other </a:t>
            </a:r>
            <a:r>
              <a:rPr b="1" lang="en"/>
              <a:t>papers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structurally equivalent if they </a:t>
            </a:r>
            <a:r>
              <a:rPr b="1" lang="en"/>
              <a:t>feed</a:t>
            </a:r>
            <a:r>
              <a:rPr lang="en"/>
              <a:t> on the same set of </a:t>
            </a:r>
            <a:r>
              <a:rPr b="1" lang="en"/>
              <a:t>prey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structurally equivalent if the </a:t>
            </a:r>
            <a:r>
              <a:rPr b="1" lang="en"/>
              <a:t>share</a:t>
            </a:r>
            <a:r>
              <a:rPr lang="en"/>
              <a:t> the same set of </a:t>
            </a:r>
            <a:r>
              <a:rPr b="1" lang="en"/>
              <a:t>members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 </a:t>
            </a:r>
            <a:r>
              <a:rPr lang="en"/>
              <a:t>structural equivalent if they </a:t>
            </a:r>
            <a:r>
              <a:rPr b="1" lang="en"/>
              <a:t>trade</a:t>
            </a:r>
            <a:r>
              <a:rPr lang="en"/>
              <a:t> with the same set of </a:t>
            </a:r>
            <a:r>
              <a:rPr b="1" lang="en"/>
              <a:t>countries</a:t>
            </a:r>
            <a:endParaRPr b="1"/>
          </a:p>
        </p:txBody>
      </p:sp>
      <p:grpSp>
        <p:nvGrpSpPr>
          <p:cNvPr id="127" name="Google Shape;127;p22"/>
          <p:cNvGrpSpPr/>
          <p:nvPr/>
        </p:nvGrpSpPr>
        <p:grpSpPr>
          <a:xfrm>
            <a:off x="311712" y="3156109"/>
            <a:ext cx="8164446" cy="1931831"/>
            <a:chOff x="311700" y="2363500"/>
            <a:chExt cx="8520607" cy="2217691"/>
          </a:xfrm>
        </p:grpSpPr>
        <p:pic>
          <p:nvPicPr>
            <p:cNvPr id="128" name="Google Shape;12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2367322"/>
              <a:ext cx="2204989" cy="221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9503" y="2383751"/>
              <a:ext cx="2205000" cy="2197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45341" y="2363500"/>
              <a:ext cx="2486966" cy="22176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structurally equivalent they have the same graph theoretic attributes, however, reverse is not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share the same neighborhood and their neighbors share the same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are actually part of the same cohesive subset (clique and its generalizations)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a </a:t>
            </a:r>
            <a:r>
              <a:rPr b="1" lang="en"/>
              <a:t>purely local concept</a:t>
            </a:r>
            <a:endParaRPr/>
          </a:p>
        </p:txBody>
      </p:sp>
      <p:grpSp>
        <p:nvGrpSpPr>
          <p:cNvPr id="137" name="Google Shape;137;p23"/>
          <p:cNvGrpSpPr/>
          <p:nvPr/>
        </p:nvGrpSpPr>
        <p:grpSpPr>
          <a:xfrm>
            <a:off x="311712" y="3156109"/>
            <a:ext cx="8164446" cy="1931831"/>
            <a:chOff x="311700" y="2363500"/>
            <a:chExt cx="8520607" cy="2217691"/>
          </a:xfrm>
        </p:grpSpPr>
        <p:pic>
          <p:nvPicPr>
            <p:cNvPr id="138" name="Google Shape;138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2367322"/>
              <a:ext cx="2204989" cy="2210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9503" y="2383751"/>
              <a:ext cx="2205000" cy="2197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45341" y="2363500"/>
              <a:ext cx="2486966" cy="22176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iff they have the same pattern of relations with other actors</a:t>
            </a:r>
            <a:endParaRPr/>
          </a:p>
        </p:txBody>
      </p:sp>
      <p:grpSp>
        <p:nvGrpSpPr>
          <p:cNvPr id="147" name="Google Shape;147;p24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148" name="Google Shape;148;p24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149" name="Google Shape;149;p24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150" name="Google Shape;150;p24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151" name="Google Shape;151;p24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152" name="Google Shape;152;p24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153" name="Google Shape;153;p24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154" name="Google Shape;154;p24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155" name="Google Shape;155;p24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156" name="Google Shape;156;p24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157" name="Google Shape;157;p24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158" name="Google Shape;158;p24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159" name="Google Shape;159;p24"/>
              <p:cNvCxnSpPr>
                <a:stCxn id="149" idx="6"/>
                <a:endCxn id="151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" name="Google Shape;160;p24"/>
              <p:cNvCxnSpPr>
                <a:stCxn id="149" idx="5"/>
                <a:endCxn id="152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" name="Google Shape;161;p24"/>
              <p:cNvCxnSpPr>
                <a:stCxn id="150" idx="7"/>
                <a:endCxn id="151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" name="Google Shape;162;p24"/>
              <p:cNvCxnSpPr>
                <a:stCxn id="149" idx="4"/>
                <a:endCxn id="150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" name="Google Shape;163;p24"/>
              <p:cNvCxnSpPr>
                <a:stCxn id="150" idx="6"/>
                <a:endCxn id="152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" name="Google Shape;164;p24"/>
              <p:cNvCxnSpPr>
                <a:stCxn id="151" idx="6"/>
                <a:endCxn id="153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24"/>
              <p:cNvCxnSpPr>
                <a:stCxn id="153" idx="3"/>
                <a:endCxn id="152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24"/>
              <p:cNvCxnSpPr>
                <a:stCxn id="154" idx="2"/>
                <a:endCxn id="153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24"/>
              <p:cNvCxnSpPr>
                <a:stCxn id="155" idx="2"/>
                <a:endCxn id="154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24"/>
              <p:cNvCxnSpPr>
                <a:stCxn id="156" idx="2"/>
                <a:endCxn id="154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24"/>
              <p:cNvCxnSpPr>
                <a:stCxn id="155" idx="5"/>
                <a:endCxn id="158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24"/>
              <p:cNvCxnSpPr>
                <a:stCxn id="157" idx="3"/>
                <a:endCxn id="156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24"/>
              <p:cNvCxnSpPr>
                <a:stCxn id="157" idx="2"/>
                <a:endCxn id="155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24"/>
              <p:cNvCxnSpPr>
                <a:stCxn id="157" idx="4"/>
                <a:endCxn id="158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24"/>
              <p:cNvCxnSpPr>
                <a:stCxn id="158" idx="2"/>
                <a:endCxn id="156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4" name="Google Shape;174;p24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simplest conceptualization of role equivalence is </a:t>
            </a:r>
            <a:r>
              <a:rPr b="1" lang="en"/>
              <a:t>structural equivalence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vertices u and v are structural equivalent </a:t>
            </a:r>
            <a:r>
              <a:rPr i="1" lang="en"/>
              <a:t>iff</a:t>
            </a:r>
            <a:r>
              <a:rPr lang="en"/>
              <a:t> they have the same pattern of relations with the same actors</a:t>
            </a:r>
            <a:endParaRPr/>
          </a:p>
        </p:txBody>
      </p:sp>
      <p:grpSp>
        <p:nvGrpSpPr>
          <p:cNvPr id="181" name="Google Shape;181;p25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182" name="Google Shape;182;p25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186" name="Google Shape;186;p25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187" name="Google Shape;187;p25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FF00F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189" name="Google Shape;189;p25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190" name="Google Shape;190;p25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E6913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191" name="Google Shape;191;p25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192" name="Google Shape;192;p25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C27BA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193" name="Google Shape;193;p25"/>
              <p:cNvCxnSpPr>
                <a:stCxn id="183" idx="6"/>
                <a:endCxn id="185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" name="Google Shape;194;p25"/>
              <p:cNvCxnSpPr>
                <a:stCxn id="183" idx="5"/>
                <a:endCxn id="186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25"/>
              <p:cNvCxnSpPr>
                <a:stCxn id="184" idx="7"/>
                <a:endCxn id="185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5"/>
              <p:cNvCxnSpPr>
                <a:stCxn id="183" idx="4"/>
                <a:endCxn id="184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p25"/>
              <p:cNvCxnSpPr>
                <a:stCxn id="184" idx="6"/>
                <a:endCxn id="186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25"/>
              <p:cNvCxnSpPr>
                <a:stCxn id="185" idx="6"/>
                <a:endCxn id="187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25"/>
              <p:cNvCxnSpPr>
                <a:stCxn id="187" idx="3"/>
                <a:endCxn id="186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25"/>
              <p:cNvCxnSpPr>
                <a:stCxn id="188" idx="2"/>
                <a:endCxn id="187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25"/>
              <p:cNvCxnSpPr>
                <a:stCxn id="189" idx="2"/>
                <a:endCxn id="188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" name="Google Shape;202;p25"/>
              <p:cNvCxnSpPr>
                <a:stCxn id="190" idx="2"/>
                <a:endCxn id="188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25"/>
              <p:cNvCxnSpPr>
                <a:stCxn id="189" idx="5"/>
                <a:endCxn id="192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25"/>
              <p:cNvCxnSpPr>
                <a:stCxn id="191" idx="3"/>
                <a:endCxn id="190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25"/>
              <p:cNvCxnSpPr>
                <a:stCxn id="191" idx="2"/>
                <a:endCxn id="189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25"/>
              <p:cNvCxnSpPr>
                <a:stCxn id="191" idx="4"/>
                <a:endCxn id="192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25"/>
              <p:cNvCxnSpPr>
                <a:stCxn id="192" idx="2"/>
                <a:endCxn id="190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8" name="Google Shape;208;p25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68" y="769769"/>
            <a:ext cx="7187657" cy="41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297656"/>
            <a:ext cx="7461250" cy="511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297656"/>
            <a:ext cx="7461250" cy="51196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3340900" y="2460075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4470875" y="1634925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4225800" y="487450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2702375" y="1037350"/>
            <a:ext cx="827100" cy="708900"/>
          </a:xfrm>
          <a:prstGeom prst="ellipse">
            <a:avLst/>
          </a:prstGeom>
          <a:solidFill>
            <a:srgbClr val="FF0000">
              <a:alpha val="2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5798225" y="2135075"/>
            <a:ext cx="827100" cy="708900"/>
          </a:xfrm>
          <a:prstGeom prst="ellipse">
            <a:avLst/>
          </a:prstGeom>
          <a:solidFill>
            <a:srgbClr val="6BAA4F">
              <a:alpha val="2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7312900" y="926025"/>
            <a:ext cx="827100" cy="708900"/>
          </a:xfrm>
          <a:prstGeom prst="ellipse">
            <a:avLst/>
          </a:prstGeom>
          <a:solidFill>
            <a:srgbClr val="0000FF">
              <a:alpha val="196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8"/>
          <p:cNvSpPr/>
          <p:nvPr/>
        </p:nvSpPr>
        <p:spPr>
          <a:xfrm>
            <a:off x="6724075" y="2135075"/>
            <a:ext cx="827100" cy="708900"/>
          </a:xfrm>
          <a:prstGeom prst="ellipse">
            <a:avLst/>
          </a:prstGeom>
          <a:solidFill>
            <a:srgbClr val="0000FF">
              <a:alpha val="196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7312900" y="3267050"/>
            <a:ext cx="827100" cy="708900"/>
          </a:xfrm>
          <a:prstGeom prst="ellipse">
            <a:avLst/>
          </a:prstGeom>
          <a:solidFill>
            <a:srgbClr val="0000FF">
              <a:alpha val="196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1178950" y="536450"/>
            <a:ext cx="827100" cy="708900"/>
          </a:xfrm>
          <a:prstGeom prst="ellipse">
            <a:avLst/>
          </a:prstGeom>
          <a:solidFill>
            <a:srgbClr val="E69138">
              <a:alpha val="365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776750" y="1945725"/>
            <a:ext cx="827100" cy="708900"/>
          </a:xfrm>
          <a:prstGeom prst="ellipse">
            <a:avLst/>
          </a:prstGeom>
          <a:solidFill>
            <a:srgbClr val="E69138">
              <a:alpha val="365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2058825" y="2270000"/>
            <a:ext cx="827100" cy="708900"/>
          </a:xfrm>
          <a:prstGeom prst="ellipse">
            <a:avLst/>
          </a:prstGeom>
          <a:solidFill>
            <a:srgbClr val="E69138">
              <a:alpha val="365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8"/>
          <p:cNvSpPr/>
          <p:nvPr/>
        </p:nvSpPr>
        <p:spPr>
          <a:xfrm>
            <a:off x="2349150" y="3808175"/>
            <a:ext cx="827100" cy="708900"/>
          </a:xfrm>
          <a:prstGeom prst="ellipse">
            <a:avLst/>
          </a:prstGeom>
          <a:solidFill>
            <a:srgbClr val="E69138">
              <a:alpha val="365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825" y="337857"/>
            <a:ext cx="4582354" cy="521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246" name="Google Shape;246;p30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Theoretically, the notion of role implies similar patterns of connectivity to similarly positioned actors not to literally the same 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</a:t>
            </a:r>
            <a:r>
              <a:rPr lang="en"/>
              <a:t>Everett</a:t>
            </a:r>
            <a:r>
              <a:rPr lang="en"/>
              <a:t>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47" name="Google Shape;247;p30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248" name="Google Shape;248;p30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49" name="Google Shape;249;p30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54" name="Google Shape;254;p30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55" name="Google Shape;255;p30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56" name="Google Shape;256;p30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58" name="Google Shape;258;p30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59" name="Google Shape;259;p30"/>
              <p:cNvCxnSpPr>
                <a:stCxn id="249" idx="6"/>
                <a:endCxn id="251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30"/>
              <p:cNvCxnSpPr>
                <a:stCxn id="249" idx="5"/>
                <a:endCxn id="252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30"/>
              <p:cNvCxnSpPr>
                <a:stCxn id="250" idx="7"/>
                <a:endCxn id="251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30"/>
              <p:cNvCxnSpPr>
                <a:stCxn id="249" idx="4"/>
                <a:endCxn id="250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30"/>
              <p:cNvCxnSpPr>
                <a:stCxn id="250" idx="6"/>
                <a:endCxn id="252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30"/>
              <p:cNvCxnSpPr>
                <a:stCxn id="251" idx="6"/>
                <a:endCxn id="253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30"/>
              <p:cNvCxnSpPr>
                <a:stCxn id="253" idx="3"/>
                <a:endCxn id="252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30"/>
              <p:cNvCxnSpPr>
                <a:stCxn id="254" idx="2"/>
                <a:endCxn id="253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30"/>
              <p:cNvCxnSpPr>
                <a:stCxn id="255" idx="2"/>
                <a:endCxn id="254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30"/>
              <p:cNvCxnSpPr>
                <a:stCxn id="256" idx="2"/>
                <a:endCxn id="254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30"/>
              <p:cNvCxnSpPr>
                <a:stCxn id="255" idx="5"/>
                <a:endCxn id="258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30"/>
              <p:cNvCxnSpPr>
                <a:stCxn id="257" idx="3"/>
                <a:endCxn id="256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30"/>
              <p:cNvCxnSpPr>
                <a:stCxn id="257" idx="2"/>
                <a:endCxn id="255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30"/>
              <p:cNvCxnSpPr>
                <a:stCxn id="257" idx="4"/>
                <a:endCxn id="258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" name="Google Shape;273;p30"/>
              <p:cNvCxnSpPr>
                <a:stCxn id="258" idx="2"/>
                <a:endCxn id="256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4" name="Google Shape;274;p30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311700" y="1361350"/>
            <a:ext cx="4006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Structural and regular equivalence embody two intuitive but different conceptions of “similarity” between two actors: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 Two actors are similar if they have similar relationships to the </a:t>
            </a:r>
            <a:r>
              <a:rPr b="1" lang="en"/>
              <a:t>same</a:t>
            </a:r>
            <a:r>
              <a:rPr lang="en"/>
              <a:t> actors or objects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actors are similar if they have similar relationships to </a:t>
            </a:r>
            <a:r>
              <a:rPr b="1" lang="en"/>
              <a:t>similar</a:t>
            </a:r>
            <a:r>
              <a:rPr lang="en"/>
              <a:t> actors or objects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81" name="Google Shape;2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475" y="1962136"/>
            <a:ext cx="4513825" cy="25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87" name="Google Shape;287;p32"/>
          <p:cNvSpPr txBox="1"/>
          <p:nvPr>
            <p:ph idx="1" type="body"/>
          </p:nvPr>
        </p:nvSpPr>
        <p:spPr>
          <a:xfrm>
            <a:off x="311700" y="1361350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88" name="Google Shape;2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87" y="3037086"/>
            <a:ext cx="4513825" cy="25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94" name="Google Shape;294;p33"/>
          <p:cNvSpPr txBox="1"/>
          <p:nvPr>
            <p:ph idx="1" type="body"/>
          </p:nvPr>
        </p:nvSpPr>
        <p:spPr>
          <a:xfrm>
            <a:off x="311700" y="1361350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 </a:t>
            </a:r>
            <a:r>
              <a:rPr i="1" lang="en"/>
              <a:t>similar</a:t>
            </a:r>
            <a:r>
              <a:rPr lang="en"/>
              <a:t> set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a </a:t>
            </a:r>
            <a:r>
              <a:rPr i="1" lang="en"/>
              <a:t>similar</a:t>
            </a:r>
            <a:r>
              <a:rPr lang="en"/>
              <a:t> set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Regular_equivalence.jpg" id="295" name="Google Shape;2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087" y="3037086"/>
            <a:ext cx="4513825" cy="252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3"/>
          <p:cNvSpPr txBox="1"/>
          <p:nvPr/>
        </p:nvSpPr>
        <p:spPr>
          <a:xfrm>
            <a:off x="660875" y="3837732"/>
            <a:ext cx="16542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similarity is graph theoretic similarity!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302" name="Google Shape;302;p34"/>
          <p:cNvSpPr txBox="1"/>
          <p:nvPr>
            <p:ph idx="1" type="body"/>
          </p:nvPr>
        </p:nvSpPr>
        <p:spPr>
          <a:xfrm>
            <a:off x="311700" y="1361356"/>
            <a:ext cx="8520600" cy="16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Theoretically, the notion of role implies similar patterns of connectivity to similarly positioned actors not to literally the same actors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Everett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lang="en"/>
              <a:t>eed a more flexible notion of equivalence: </a:t>
            </a:r>
            <a:r>
              <a:rPr b="1" lang="en"/>
              <a:t>Regular equivalence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34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04" name="Google Shape;304;p34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05" name="Google Shape;305;p34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06" name="Google Shape;306;p34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09" name="Google Shape;309;p34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10" name="Google Shape;310;p34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11" name="Google Shape;311;p34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12" name="Google Shape;312;p34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13" name="Google Shape;313;p34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14" name="Google Shape;314;p34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15" name="Google Shape;315;p34"/>
              <p:cNvCxnSpPr>
                <a:stCxn id="305" idx="6"/>
                <a:endCxn id="307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6" name="Google Shape;316;p34"/>
              <p:cNvCxnSpPr>
                <a:stCxn id="305" idx="5"/>
                <a:endCxn id="308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7" name="Google Shape;317;p34"/>
              <p:cNvCxnSpPr>
                <a:stCxn id="306" idx="7"/>
                <a:endCxn id="307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8" name="Google Shape;318;p34"/>
              <p:cNvCxnSpPr>
                <a:stCxn id="305" idx="4"/>
                <a:endCxn id="306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9" name="Google Shape;319;p34"/>
              <p:cNvCxnSpPr>
                <a:stCxn id="306" idx="6"/>
                <a:endCxn id="308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0" name="Google Shape;320;p34"/>
              <p:cNvCxnSpPr>
                <a:stCxn id="307" idx="6"/>
                <a:endCxn id="309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" name="Google Shape;321;p34"/>
              <p:cNvCxnSpPr>
                <a:stCxn id="309" idx="3"/>
                <a:endCxn id="308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2" name="Google Shape;322;p34"/>
              <p:cNvCxnSpPr>
                <a:stCxn id="310" idx="2"/>
                <a:endCxn id="309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3" name="Google Shape;323;p34"/>
              <p:cNvCxnSpPr>
                <a:stCxn id="311" idx="2"/>
                <a:endCxn id="310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34"/>
              <p:cNvCxnSpPr>
                <a:stCxn id="312" idx="2"/>
                <a:endCxn id="310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34"/>
              <p:cNvCxnSpPr>
                <a:stCxn id="311" idx="5"/>
                <a:endCxn id="314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34"/>
              <p:cNvCxnSpPr>
                <a:stCxn id="313" idx="3"/>
                <a:endCxn id="312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7" name="Google Shape;327;p34"/>
              <p:cNvCxnSpPr>
                <a:stCxn id="313" idx="2"/>
                <a:endCxn id="311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" name="Google Shape;328;p34"/>
              <p:cNvCxnSpPr>
                <a:stCxn id="313" idx="4"/>
                <a:endCxn id="314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" name="Google Shape;329;p34"/>
              <p:cNvCxnSpPr>
                <a:stCxn id="314" idx="2"/>
                <a:endCxn id="312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0" name="Google Shape;330;p34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336" name="Google Shape;336;p35"/>
          <p:cNvSpPr txBox="1"/>
          <p:nvPr>
            <p:ph idx="1" type="body"/>
          </p:nvPr>
        </p:nvSpPr>
        <p:spPr>
          <a:xfrm>
            <a:off x="311700" y="1361357"/>
            <a:ext cx="8520600" cy="15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(Borgatti and Everett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37" name="Google Shape;337;p35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38" name="Google Shape;338;p35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39" name="Google Shape;339;p35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40" name="Google Shape;340;p35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41" name="Google Shape;341;p35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42" name="Google Shape;342;p35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43" name="Google Shape;343;p35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44" name="Google Shape;344;p35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45" name="Google Shape;345;p35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46" name="Google Shape;346;p35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47" name="Google Shape;347;p35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48" name="Google Shape;348;p35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49" name="Google Shape;349;p35"/>
              <p:cNvCxnSpPr>
                <a:stCxn id="339" idx="6"/>
                <a:endCxn id="341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35"/>
              <p:cNvCxnSpPr>
                <a:stCxn id="339" idx="5"/>
                <a:endCxn id="342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35"/>
              <p:cNvCxnSpPr>
                <a:stCxn id="340" idx="7"/>
                <a:endCxn id="341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" name="Google Shape;352;p35"/>
              <p:cNvCxnSpPr>
                <a:stCxn id="339" idx="4"/>
                <a:endCxn id="340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35"/>
              <p:cNvCxnSpPr>
                <a:stCxn id="340" idx="6"/>
                <a:endCxn id="342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" name="Google Shape;354;p35"/>
              <p:cNvCxnSpPr>
                <a:stCxn id="341" idx="6"/>
                <a:endCxn id="343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35"/>
              <p:cNvCxnSpPr>
                <a:stCxn id="343" idx="3"/>
                <a:endCxn id="342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35"/>
              <p:cNvCxnSpPr>
                <a:stCxn id="344" idx="2"/>
                <a:endCxn id="343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35"/>
              <p:cNvCxnSpPr>
                <a:stCxn id="345" idx="2"/>
                <a:endCxn id="344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35"/>
              <p:cNvCxnSpPr>
                <a:stCxn id="346" idx="2"/>
                <a:endCxn id="344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35"/>
              <p:cNvCxnSpPr>
                <a:stCxn id="345" idx="5"/>
                <a:endCxn id="348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" name="Google Shape;360;p35"/>
              <p:cNvCxnSpPr>
                <a:stCxn id="347" idx="3"/>
                <a:endCxn id="346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" name="Google Shape;361;p35"/>
              <p:cNvCxnSpPr>
                <a:stCxn id="347" idx="2"/>
                <a:endCxn id="345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" name="Google Shape;362;p35"/>
              <p:cNvCxnSpPr>
                <a:stCxn id="347" idx="4"/>
                <a:endCxn id="348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35"/>
              <p:cNvCxnSpPr>
                <a:stCxn id="348" idx="2"/>
                <a:endCxn id="346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64" name="Google Shape;364;p35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</a:t>
              </a:r>
              <a:r>
                <a:rPr lang="en"/>
                <a:t>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723900"/>
            <a:ext cx="7619999" cy="426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375" name="Google Shape;375;p37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</a:t>
            </a:r>
            <a:r>
              <a:rPr b="1" lang="en"/>
              <a:t> concept</a:t>
            </a:r>
            <a:endParaRPr/>
          </a:p>
        </p:txBody>
      </p:sp>
      <p:grpSp>
        <p:nvGrpSpPr>
          <p:cNvPr id="376" name="Google Shape;376;p37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377" name="Google Shape;377;p37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378" name="Google Shape;378;p37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379" name="Google Shape;379;p37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380" name="Google Shape;380;p37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381" name="Google Shape;381;p37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382" name="Google Shape;382;p37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383" name="Google Shape;383;p37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384" name="Google Shape;384;p37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385" name="Google Shape;385;p37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386" name="Google Shape;386;p37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387" name="Google Shape;387;p37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388" name="Google Shape;388;p37"/>
              <p:cNvCxnSpPr>
                <a:stCxn id="378" idx="6"/>
                <a:endCxn id="380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37"/>
              <p:cNvCxnSpPr>
                <a:stCxn id="378" idx="5"/>
                <a:endCxn id="381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37"/>
              <p:cNvCxnSpPr>
                <a:stCxn id="379" idx="7"/>
                <a:endCxn id="380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" name="Google Shape;391;p37"/>
              <p:cNvCxnSpPr>
                <a:stCxn id="378" idx="4"/>
                <a:endCxn id="379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37"/>
              <p:cNvCxnSpPr>
                <a:stCxn id="379" idx="6"/>
                <a:endCxn id="381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" name="Google Shape;393;p37"/>
              <p:cNvCxnSpPr>
                <a:stCxn id="380" idx="6"/>
                <a:endCxn id="382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" name="Google Shape;394;p37"/>
              <p:cNvCxnSpPr>
                <a:stCxn id="382" idx="3"/>
                <a:endCxn id="381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37"/>
              <p:cNvCxnSpPr>
                <a:stCxn id="383" idx="2"/>
                <a:endCxn id="382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37"/>
              <p:cNvCxnSpPr>
                <a:stCxn id="384" idx="2"/>
                <a:endCxn id="383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37"/>
              <p:cNvCxnSpPr>
                <a:stCxn id="385" idx="2"/>
                <a:endCxn id="383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37"/>
              <p:cNvCxnSpPr>
                <a:stCxn id="384" idx="5"/>
                <a:endCxn id="387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37"/>
              <p:cNvCxnSpPr>
                <a:stCxn id="386" idx="3"/>
                <a:endCxn id="385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37"/>
              <p:cNvCxnSpPr>
                <a:stCxn id="386" idx="2"/>
                <a:endCxn id="384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37"/>
              <p:cNvCxnSpPr>
                <a:stCxn id="386" idx="4"/>
                <a:endCxn id="387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37"/>
              <p:cNvCxnSpPr>
                <a:stCxn id="387" idx="2"/>
                <a:endCxn id="385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03" name="Google Shape;403;p37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409" name="Google Shape;409;p38"/>
          <p:cNvSpPr txBox="1"/>
          <p:nvPr>
            <p:ph idx="1" type="body"/>
          </p:nvPr>
        </p:nvSpPr>
        <p:spPr>
          <a:xfrm>
            <a:off x="311700" y="1361356"/>
            <a:ext cx="8520600" cy="17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 concept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Simple trick: if you have a graph and lose the “vertex labels” nodes that cannot be told apart are regularly equivalent</a:t>
            </a:r>
            <a:endParaRPr b="1"/>
          </a:p>
        </p:txBody>
      </p:sp>
      <p:grpSp>
        <p:nvGrpSpPr>
          <p:cNvPr id="410" name="Google Shape;410;p38"/>
          <p:cNvGrpSpPr/>
          <p:nvPr/>
        </p:nvGrpSpPr>
        <p:grpSpPr>
          <a:xfrm>
            <a:off x="831375" y="3199200"/>
            <a:ext cx="7555950" cy="2132075"/>
            <a:chOff x="831375" y="3199200"/>
            <a:chExt cx="7555950" cy="2132075"/>
          </a:xfrm>
        </p:grpSpPr>
        <p:grpSp>
          <p:nvGrpSpPr>
            <p:cNvPr id="411" name="Google Shape;411;p38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412" name="Google Shape;412;p38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3" name="Google Shape;413;p38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4" name="Google Shape;414;p38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7" name="Google Shape;417;p38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8" name="Google Shape;418;p38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421" name="Google Shape;421;p38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cxnSp>
            <p:nvCxnSpPr>
              <p:cNvPr id="422" name="Google Shape;422;p38"/>
              <p:cNvCxnSpPr>
                <a:stCxn id="412" idx="6"/>
                <a:endCxn id="414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38"/>
              <p:cNvCxnSpPr>
                <a:stCxn id="412" idx="5"/>
                <a:endCxn id="415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38"/>
              <p:cNvCxnSpPr>
                <a:stCxn id="413" idx="7"/>
                <a:endCxn id="414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5" name="Google Shape;425;p38"/>
              <p:cNvCxnSpPr>
                <a:stCxn id="412" idx="4"/>
                <a:endCxn id="413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6" name="Google Shape;426;p38"/>
              <p:cNvCxnSpPr>
                <a:stCxn id="413" idx="6"/>
                <a:endCxn id="415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7" name="Google Shape;427;p38"/>
              <p:cNvCxnSpPr>
                <a:stCxn id="414" idx="6"/>
                <a:endCxn id="416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8" name="Google Shape;428;p38"/>
              <p:cNvCxnSpPr>
                <a:stCxn id="416" idx="3"/>
                <a:endCxn id="415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38"/>
              <p:cNvCxnSpPr>
                <a:stCxn id="417" idx="2"/>
                <a:endCxn id="416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" name="Google Shape;430;p38"/>
              <p:cNvCxnSpPr>
                <a:stCxn id="418" idx="2"/>
                <a:endCxn id="417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" name="Google Shape;431;p38"/>
              <p:cNvCxnSpPr>
                <a:stCxn id="419" idx="2"/>
                <a:endCxn id="417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38"/>
              <p:cNvCxnSpPr>
                <a:stCxn id="418" idx="5"/>
                <a:endCxn id="421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" name="Google Shape;433;p38"/>
              <p:cNvCxnSpPr>
                <a:stCxn id="420" idx="3"/>
                <a:endCxn id="419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" name="Google Shape;434;p38"/>
              <p:cNvCxnSpPr>
                <a:stCxn id="420" idx="2"/>
                <a:endCxn id="418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" name="Google Shape;435;p38"/>
              <p:cNvCxnSpPr>
                <a:stCxn id="420" idx="4"/>
                <a:endCxn id="421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" name="Google Shape;436;p38"/>
              <p:cNvCxnSpPr>
                <a:stCxn id="421" idx="2"/>
                <a:endCxn id="419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37" name="Google Shape;437;p38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43" name="Google Shape;443;p39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real world applications the strong graph-theoretic definitions of structural or regular equivalence are unlikely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Attempts to come up with stochastic approximations of </a:t>
            </a:r>
            <a:r>
              <a:rPr b="1" lang="en"/>
              <a:t>graph theoretic equivalence relations</a:t>
            </a:r>
            <a:r>
              <a:rPr lang="en"/>
              <a:t> for the purposes of vertex classification using </a:t>
            </a:r>
            <a:r>
              <a:rPr b="1" lang="en"/>
              <a:t>matrix algebra</a:t>
            </a:r>
            <a:r>
              <a:rPr lang="en"/>
              <a:t> is called </a:t>
            </a:r>
            <a:r>
              <a:rPr b="1" lang="en"/>
              <a:t>blockmodeling</a:t>
            </a:r>
            <a:endParaRPr b="1"/>
          </a:p>
        </p:txBody>
      </p:sp>
      <p:pic>
        <p:nvPicPr>
          <p:cNvPr id="444" name="Google Shape;4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50" name="Google Shape;450;p40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real world applications the strong graph-theoretic definitions of structural or regular equivalence are unlikely to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Rather than thinking that two or more actors are exactly structural or </a:t>
            </a:r>
            <a:r>
              <a:rPr lang="en"/>
              <a:t>regulatory</a:t>
            </a:r>
            <a:r>
              <a:rPr lang="en"/>
              <a:t> equivalent we come up with a </a:t>
            </a:r>
            <a:r>
              <a:rPr lang="en"/>
              <a:t>measurement</a:t>
            </a:r>
            <a:r>
              <a:rPr lang="en"/>
              <a:t> criterion for determining degrees of equivalence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With exact equivalence as a limiting case</a:t>
            </a:r>
            <a:endParaRPr/>
          </a:p>
        </p:txBody>
      </p:sp>
      <p:pic>
        <p:nvPicPr>
          <p:cNvPr id="451" name="Google Shape;4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57" name="Google Shape;457;p4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blockmodel?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procedure to reorder the rows of matrix (representing nodes and their relations)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Rows that are close together are closer to being (structural or regularly) equivalent than rows that are far apart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matrix can then be divided into </a:t>
            </a:r>
            <a:r>
              <a:rPr b="1" lang="en"/>
              <a:t>blocks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Blocks contain disjoint set of actors and thus define “positions”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in block have connections among themselves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Diagonal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in a block also have connections with actors in other blocks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Off-diagonal 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think of blockmodeling as an attempt to reduce a matrix of N x N actors and their relations to a reduced matrix of B x B blocks and their relations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63" name="Google Shape;463;p4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graph G, a blockmodel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partition P = {P</a:t>
            </a:r>
            <a:r>
              <a:rPr baseline="-25000" lang="en"/>
              <a:t>1</a:t>
            </a:r>
            <a:r>
              <a:rPr lang="en"/>
              <a:t>, P</a:t>
            </a:r>
            <a:r>
              <a:rPr baseline="-25000" lang="en"/>
              <a:t>2</a:t>
            </a:r>
            <a:r>
              <a:rPr lang="en"/>
              <a:t>, ...P</a:t>
            </a:r>
            <a:r>
              <a:rPr baseline="-25000" lang="en"/>
              <a:t>k</a:t>
            </a:r>
            <a:r>
              <a:rPr lang="en"/>
              <a:t>} into k disjoint subsets called the positions of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matrices B (called image matrices) that represent hypotheses on the relations between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Blockmodels build on minimal relaxations of structural equivalence that still correspond to some minimal numbers of positions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blockmodel is thus a simplified representation of the original network whose basic elements are the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task is to ascertain to what extent the observed network approximates some idealized (theoretical) image of the "underlying" role relations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69" name="Google Shape;469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graph G, a blockmodel consists of two parts: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partition P = {P</a:t>
            </a:r>
            <a:r>
              <a:rPr baseline="-25000" lang="en"/>
              <a:t>1</a:t>
            </a:r>
            <a:r>
              <a:rPr lang="en"/>
              <a:t>, P</a:t>
            </a:r>
            <a:r>
              <a:rPr baseline="-25000" lang="en"/>
              <a:t>2</a:t>
            </a:r>
            <a:r>
              <a:rPr lang="en"/>
              <a:t>, ...P</a:t>
            </a:r>
            <a:r>
              <a:rPr baseline="-25000" lang="en"/>
              <a:t>k</a:t>
            </a:r>
            <a:r>
              <a:rPr lang="en"/>
              <a:t>} into k disjoint subsets called the positions of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matrices B (called image matrices) that represent hypotheses on the relations between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Blockmodels build on minimal relaxations of structural equivalence that still correspond to some minimal numbers of positions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point of view of the adjacency matrix A a blockmodel is defined 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permutation (shuffling of the rows and columns) of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vertices in the same position end up in consecutive rows and columns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475" name="Google Shape;475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basic approaches to blockmodeling: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So-called "deterministic" approaches (bottom-up, inductive)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So-called "stochastic" approaches (top-down, deductive)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task in deterministic blockmodeling is to come up with a criterion for "approximate"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Euclidean distance</a:t>
            </a:r>
            <a:r>
              <a:rPr lang="en"/>
              <a:t> (Burt 1976)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Pearson product-moment correlation</a:t>
            </a:r>
            <a:r>
              <a:rPr lang="en"/>
              <a:t> (Breiger, Boorman and Arabie 1975)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81" name="Google Shape;481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two actors i and j, the Euclidean distance is defined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82" name="Google Shape;48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424" y="1968600"/>
            <a:ext cx="4465150" cy="7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89" name="Google Shape;489;p46"/>
          <p:cNvSpPr txBox="1"/>
          <p:nvPr>
            <p:ph idx="1" type="body"/>
          </p:nvPr>
        </p:nvSpPr>
        <p:spPr>
          <a:xfrm>
            <a:off x="311700" y="1361357"/>
            <a:ext cx="8520600" cy="1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Burt's (1976) Euclidean distance approach, the basic idea is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the distance matrix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use a scaling method (e.g. MDS, hierarchical clustering) to come up with a reduced form representation of the various groups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90" name="Google Shape;49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496" name="Google Shape;496;p47"/>
          <p:cNvSpPr txBox="1"/>
          <p:nvPr>
            <p:ph idx="1" type="body"/>
          </p:nvPr>
        </p:nvSpPr>
        <p:spPr>
          <a:xfrm>
            <a:off x="311700" y="1361356"/>
            <a:ext cx="8520600" cy="16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 given adjacency matrix A, the correlation matrix C is the matrix containing the Pearson product moment correlations between the respective row and columns for two actors r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97" name="Google Shape;4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(Deterministic)</a:t>
            </a:r>
            <a:endParaRPr/>
          </a:p>
        </p:txBody>
      </p:sp>
      <p:sp>
        <p:nvSpPr>
          <p:cNvPr id="503" name="Google Shape;503;p48"/>
          <p:cNvSpPr txBox="1"/>
          <p:nvPr>
            <p:ph idx="1" type="body"/>
          </p:nvPr>
        </p:nvSpPr>
        <p:spPr>
          <a:xfrm>
            <a:off x="311700" y="1361356"/>
            <a:ext cx="8520600" cy="1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Breiger, Boorman and Arabie's CONCOR strategy, the basic idea is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the (initial) correlation matrix C</a:t>
            </a:r>
            <a:r>
              <a:rPr baseline="-25000" lang="en"/>
              <a:t>1</a:t>
            </a:r>
            <a:r>
              <a:rPr lang="en"/>
              <a:t> from 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Iteratively obtain further correlation matrices of correlation matrices {C</a:t>
            </a:r>
            <a:r>
              <a:rPr baseline="-25000" lang="en"/>
              <a:t>2,</a:t>
            </a:r>
            <a:r>
              <a:rPr lang="en"/>
              <a:t> C</a:t>
            </a:r>
            <a:r>
              <a:rPr baseline="-25000" lang="en"/>
              <a:t>3</a:t>
            </a:r>
            <a:r>
              <a:rPr lang="en"/>
              <a:t>, ...}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until we have a "final" correlation matrix C</a:t>
            </a:r>
            <a:r>
              <a:rPr baseline="-25000" lang="en"/>
              <a:t>k</a:t>
            </a:r>
            <a:r>
              <a:rPr lang="en"/>
              <a:t> that contains only +1 and -1 entries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Place actors that have +1 relations next to another</a:t>
            </a:r>
            <a:endParaRPr/>
          </a:p>
        </p:txBody>
      </p:sp>
      <p:pic>
        <p:nvPicPr>
          <p:cNvPr id="504" name="Google Shape;5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338" y="3048015"/>
            <a:ext cx="6183313" cy="203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and </a:t>
            </a:r>
            <a:r>
              <a:rPr lang="en"/>
              <a:t>Stochastic</a:t>
            </a:r>
            <a:r>
              <a:rPr lang="en"/>
              <a:t> blockmodeling</a:t>
            </a:r>
            <a:endParaRPr/>
          </a:p>
        </p:txBody>
      </p:sp>
      <p:sp>
        <p:nvSpPr>
          <p:cNvPr id="510" name="Google Shape;510;p49"/>
          <p:cNvSpPr txBox="1"/>
          <p:nvPr>
            <p:ph idx="1" type="body"/>
          </p:nvPr>
        </p:nvSpPr>
        <p:spPr>
          <a:xfrm>
            <a:off x="311700" y="1361350"/>
            <a:ext cx="4765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generalized blockmodeling </a:t>
            </a:r>
            <a:r>
              <a:rPr lang="en"/>
              <a:t>an idealized "image" of the role structure is pre-specified in advance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then use statistical techniques to ascertain how close the observed network is to the specified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choose from a "canned" list of theoretically interesting patterns of role relations</a:t>
            </a:r>
            <a:endParaRPr/>
          </a:p>
        </p:txBody>
      </p:sp>
      <p:pic>
        <p:nvPicPr>
          <p:cNvPr id="511" name="Google Shape;5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200" y="1404175"/>
            <a:ext cx="3755099" cy="3800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canned “inter-block” relations</a:t>
            </a:r>
            <a:endParaRPr/>
          </a:p>
        </p:txBody>
      </p:sp>
      <p:sp>
        <p:nvSpPr>
          <p:cNvPr id="517" name="Google Shape;517;p50"/>
          <p:cNvSpPr txBox="1"/>
          <p:nvPr>
            <p:ph idx="1" type="body"/>
          </p:nvPr>
        </p:nvSpPr>
        <p:spPr>
          <a:xfrm>
            <a:off x="311700" y="1361350"/>
            <a:ext cx="47142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Complete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Dominant	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 block has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0000"/>
                </a:solidFill>
              </a:rPr>
              <a:t>)</a:t>
            </a:r>
            <a:r>
              <a:rPr b="1" lang="en" sz="1200"/>
              <a:t> </a:t>
            </a:r>
            <a:r>
              <a:rPr lang="en" sz="1200"/>
              <a:t>that sends(receives) ties to(from) all units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)</a:t>
            </a:r>
            <a:endParaRPr sz="12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Regular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b="1" lang="en" sz="1200"/>
              <a:t> </a:t>
            </a:r>
            <a:r>
              <a:rPr lang="en" sz="1200"/>
              <a:t>sends to at least one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>
                <a:solidFill>
                  <a:srgbClr val="00FFFF"/>
                </a:solidFill>
              </a:rPr>
              <a:t> </a:t>
            </a:r>
            <a:r>
              <a:rPr lang="en" sz="1200"/>
              <a:t>and each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 receives from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endParaRPr b="1" sz="1200">
              <a:solidFill>
                <a:srgbClr val="CC4125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Regular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>
                <a:solidFill>
                  <a:srgbClr val="000000"/>
                </a:solidFill>
              </a:rPr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) sends(</a:t>
            </a:r>
            <a:r>
              <a:rPr lang="en" sz="1200"/>
              <a:t>receives</a:t>
            </a:r>
            <a:r>
              <a:rPr lang="en" sz="1200"/>
              <a:t>) to(from) at least one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)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Null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Row(Column) Functional</a:t>
            </a:r>
            <a:endParaRPr b="1" sz="14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</a:t>
            </a:r>
            <a:r>
              <a:rPr lang="en" sz="1200"/>
              <a:t>ach unit in 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(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) receives(sends) ties from(to) at least one unit in </a:t>
            </a:r>
            <a:r>
              <a:rPr b="1" lang="en" sz="1200">
                <a:solidFill>
                  <a:srgbClr val="CC4125"/>
                </a:solidFill>
              </a:rPr>
              <a:t>A</a:t>
            </a:r>
            <a:r>
              <a:rPr lang="en" sz="1200"/>
              <a:t>(</a:t>
            </a:r>
            <a:r>
              <a:rPr b="1" lang="en" sz="1200">
                <a:solidFill>
                  <a:srgbClr val="00FFFF"/>
                </a:solidFill>
              </a:rPr>
              <a:t>B</a:t>
            </a:r>
            <a:r>
              <a:rPr lang="en" sz="1200"/>
              <a:t>)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pic>
        <p:nvPicPr>
          <p:cNvPr descr="Screenshot 2017-11-01 at 22.49.05.png" id="518" name="Google Shape;51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800" y="1361349"/>
            <a:ext cx="3806498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Extensions of blockmodeling</a:t>
            </a:r>
            <a:endParaRPr/>
          </a:p>
        </p:txBody>
      </p:sp>
      <p:sp>
        <p:nvSpPr>
          <p:cNvPr id="524" name="Google Shape;524;p5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two 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valued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Blockmodeling for </a:t>
            </a:r>
            <a:r>
              <a:rPr lang="en"/>
              <a:t>multi-relational</a:t>
            </a:r>
            <a:r>
              <a:rPr lang="en"/>
              <a:t>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all cases procedure is similar: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 </a:t>
            </a:r>
            <a:r>
              <a:rPr b="1" lang="en"/>
              <a:t>Blocking</a:t>
            </a:r>
            <a:r>
              <a:rPr lang="en"/>
              <a:t> criterion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Blocking criterion produces: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(dis)similarity matrix between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clustering of nodes into classes: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Come up with a </a:t>
            </a:r>
            <a:r>
              <a:rPr b="1" lang="en"/>
              <a:t>Modelling </a:t>
            </a:r>
            <a:r>
              <a:rPr lang="en"/>
              <a:t>criterion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modelling criterion produces: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reduced </a:t>
            </a:r>
            <a:r>
              <a:rPr b="1" lang="en"/>
              <a:t>image matrix</a:t>
            </a:r>
            <a:r>
              <a:rPr lang="en"/>
              <a:t> of blocks and their internal and external relations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Which may (or may not) be compared to a hypothesized ideal image matrix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