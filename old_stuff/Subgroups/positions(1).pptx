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6858000" cx="9144000"/>
  <p:notesSz cx="6858000" cy="9144000"/>
  <p:embeddedFontLst>
    <p:embeddedFont>
      <p:font typeface="Josefin Slab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osefinSlab-regular.fntdata"/><Relationship Id="rId20" Type="http://schemas.openxmlformats.org/officeDocument/2006/relationships/slide" Target="slides/slide16.xml"/><Relationship Id="rId42" Type="http://schemas.openxmlformats.org/officeDocument/2006/relationships/font" Target="fonts/JosefinSlab-italic.fntdata"/><Relationship Id="rId41" Type="http://schemas.openxmlformats.org/officeDocument/2006/relationships/font" Target="fonts/JosefinSlab-bold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43" Type="http://schemas.openxmlformats.org/officeDocument/2006/relationships/font" Target="fonts/JosefinSlab-bold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9820a2a9_0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19820a2a9_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19820a2a9_0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19820a2a9_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9820a2a9_0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9820a2a9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9820a2a9_0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9820a2a9_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9820a2a9_0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9820a2a9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9820a2a9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9820a2a9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9820a2a9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9820a2a9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9820a2a9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9820a2a9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9820a2a9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9820a2a9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9821413e_0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9821413e_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9821413e_0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9821413e_0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9821413e_0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9821413e_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9820a2a9_2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9820a2a9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9821413e_0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9821413e_0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9821413e_0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9821413e_0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9821413e_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9821413e_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9821413e_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9821413e_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9821413e_0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9821413e_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9821413e_0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9821413e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9821413e_0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9821413e_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9821413e_0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9821413e_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9821413e_0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9821413e_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9821413e_0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9821413e_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9821413e_0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9821413e_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9821413e_0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9821413e_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9821413e_0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9821413e_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9821413e_0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9821413e_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9821413e_0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9821413e_0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9821413e_0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9821413e_0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985def2b_0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985def2b_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985def2b_0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985def2b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985def2b_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985def2b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985def2b_0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985def2b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985def2b_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1985def2b_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1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gif"/><Relationship Id="rId4" Type="http://schemas.openxmlformats.org/officeDocument/2006/relationships/image" Target="../media/image12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gif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positions in networks</a:t>
            </a:r>
            <a:endParaRPr/>
          </a:p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Network methods are good for providing concrete specifications of originally fuzzy concepts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graph-theoretic notion of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equivalence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and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social position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does for the classic notion notion of roles (taken from functionalist sociology and social anthropology) what centrality does for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prominence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Equivalence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can be thought of as a partition of the set of vertices in a graph into a set of disjoint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classes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Each subset of vertices in the same class can be thought of as playing the same role or occupying the same position.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positions in networks</a:t>
            </a:r>
            <a:endParaRPr/>
          </a:p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600200"/>
            <a:ext cx="44241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Ascertaining equivalence relations among vertices can thus be thought of as imposing a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classification on the vertex set.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Given a graph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 = (V, E)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Find a partition of V compatible with 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43" name="Google Shape;4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0129" y="1597523"/>
            <a:ext cx="4210046" cy="4972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positions in networks</a:t>
            </a:r>
            <a:endParaRPr/>
          </a:p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457200" y="1600200"/>
            <a:ext cx="44241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Partition P = {C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1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...C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k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} of V is a set of non-empty, disjoint subsets such that: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V=U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i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endParaRPr baseline="-25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Each vertex v belongs to exactly one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class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or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block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An equivalence relation (reflexive, symmetric) on V defines a partition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50" name="Google Shape;5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7581" y="1597523"/>
            <a:ext cx="4042594" cy="4972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positions in networks</a:t>
            </a:r>
            <a:endParaRPr/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57200" y="1600200"/>
            <a:ext cx="50064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Given a partitioning of the set of vertices into disjoint classes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We may be interested in the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connection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across the blocks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Two blocks are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connected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via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the adjacency relations of their respective vertices to one another in the original graph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57" name="Google Shape;5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6666" y="1900061"/>
            <a:ext cx="2598564" cy="4367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positions in networks</a:t>
            </a:r>
            <a:endParaRPr/>
          </a:p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457200" y="1600200"/>
            <a:ext cx="48483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reduced representation showing the roles and their relations is called a role graph or image graph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Role assignment can thus be thought of as a "data reduction" technique for networks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Thus, vertex classification defines "similarity" and reduces network complexity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64" name="Google Shape;6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1825" y="1765859"/>
            <a:ext cx="3908763" cy="227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8476" y="4037813"/>
            <a:ext cx="3215461" cy="2496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positions in networks</a:t>
            </a:r>
            <a:endParaRPr/>
          </a:p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457200" y="1600200"/>
            <a:ext cx="4894800" cy="50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reduced representation showing the roles (or blocks) and their relations is called a role graph or image graph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This may be particularly appropriate for large, irregular graphs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Meaningful structure may be captured at the image or role graph level rather than at the "individual" vertex level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2000" y="3030220"/>
            <a:ext cx="3597308" cy="2196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positions in networks</a:t>
            </a:r>
            <a:endParaRPr/>
          </a:p>
        </p:txBody>
      </p:sp>
      <p:sp>
        <p:nvSpPr>
          <p:cNvPr id="78" name="Google Shape;78;p14"/>
          <p:cNvSpPr txBox="1"/>
          <p:nvPr>
            <p:ph idx="1" type="body"/>
          </p:nvPr>
        </p:nvSpPr>
        <p:spPr>
          <a:xfrm>
            <a:off x="457200" y="1600200"/>
            <a:ext cx="50064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reduced representation showing the roles (or blocks) and their relations is called a role graph or image graph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Vertex behavior may display regularities at the level of role or position that it fails to display at the individual level (Parsons 1951; Nadel 1957; Burt 1976; White, Boorman and Breiger 1976)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0013" y="3064875"/>
            <a:ext cx="2905125" cy="203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 </a:t>
            </a:r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457200" y="1600200"/>
            <a:ext cx="83043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simplest conceptualization of role equivalence is structural equivalence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Two vertices u and v are structural equivalent iff they have the same pattern of relations with other actors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G = (V, E) and V -&gt; W is a role assignment, the relation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R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is a structural equivalence iff for all u, v in V: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uRv implies that the outgoing set of neighbors of u and the outgoing set of neighbors of v are the same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uRv implies that the incoming set of neighbors of u and the incoming	 set of neighbors of v are the same.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 </a:t>
            </a:r>
            <a:endParaRPr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840771"/>
            <a:ext cx="2645987" cy="2652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2139" y="3160644"/>
            <a:ext cx="2019255" cy="2012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4441" y="2836185"/>
            <a:ext cx="2984358" cy="2661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 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457200" y="1600200"/>
            <a:ext cx="83043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Defining roles via a structural equivalence is an admittedly strong definition unlikely to be met in real world data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Theoretically, the notion of role implies similar patterns of connectivity to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similarly positioned actors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not to literally the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same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actors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588" y="4526238"/>
            <a:ext cx="4219575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406" y="1098773"/>
            <a:ext cx="8625188" cy="5010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 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457200" y="1600200"/>
            <a:ext cx="83043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Defining roles via a structural equivalence is an admittedly strong definition unlikely to be met in real world data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Theoretically, the notion of role implies similar patterns of connectivity to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similarly positioned actors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not to literally the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same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actors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588" y="4526238"/>
            <a:ext cx="4219575" cy="18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/>
          <p:nvPr/>
        </p:nvSpPr>
        <p:spPr>
          <a:xfrm>
            <a:off x="4056075" y="5106800"/>
            <a:ext cx="361500" cy="3954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9"/>
          <p:cNvSpPr/>
          <p:nvPr/>
        </p:nvSpPr>
        <p:spPr>
          <a:xfrm>
            <a:off x="4852475" y="5106800"/>
            <a:ext cx="361500" cy="395400"/>
          </a:xfrm>
          <a:prstGeom prst="ellipse">
            <a:avLst/>
          </a:prstGeom>
          <a:solidFill>
            <a:srgbClr val="6FA8DC"/>
          </a:solidFill>
          <a:ln cap="flat" cmpd="sng" w="1905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3411850" y="4581300"/>
            <a:ext cx="361500" cy="3954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/>
          <p:nvPr/>
        </p:nvSpPr>
        <p:spPr>
          <a:xfrm>
            <a:off x="3411850" y="5603650"/>
            <a:ext cx="361500" cy="3954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5433975" y="4581300"/>
            <a:ext cx="361500" cy="395400"/>
          </a:xfrm>
          <a:prstGeom prst="ellipse">
            <a:avLst/>
          </a:prstGeom>
          <a:solidFill>
            <a:srgbClr val="F1C232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5433975" y="5603650"/>
            <a:ext cx="361500" cy="395400"/>
          </a:xfrm>
          <a:prstGeom prst="ellipse">
            <a:avLst/>
          </a:prstGeom>
          <a:solidFill>
            <a:srgbClr val="F1C232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6410663" y="4581300"/>
            <a:ext cx="361500" cy="395400"/>
          </a:xfrm>
          <a:prstGeom prst="ellipse">
            <a:avLst/>
          </a:prstGeom>
          <a:solidFill>
            <a:srgbClr val="741B47"/>
          </a:solidFill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6410663" y="5603650"/>
            <a:ext cx="361500" cy="395400"/>
          </a:xfrm>
          <a:prstGeom prst="ellipse">
            <a:avLst/>
          </a:prstGeom>
          <a:solidFill>
            <a:srgbClr val="741B47"/>
          </a:solidFill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2552588" y="4581300"/>
            <a:ext cx="361500" cy="3954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2506763" y="5603650"/>
            <a:ext cx="361500" cy="3954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68680"/>
            <a:ext cx="9144000" cy="5120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 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457200" y="1600200"/>
            <a:ext cx="83043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Defining roles via a structural equivalence is an admittedly strong definition unlikely to be met in real world data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Theoretically, the notion of role implies similar patterns of connectivity to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similarly positioned actors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not to literally the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same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actors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34" name="Google Shape;1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588" y="4526238"/>
            <a:ext cx="4219575" cy="18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/>
          <p:nvPr/>
        </p:nvSpPr>
        <p:spPr>
          <a:xfrm>
            <a:off x="4056075" y="5106800"/>
            <a:ext cx="361500" cy="3954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/>
          <p:nvPr/>
        </p:nvSpPr>
        <p:spPr>
          <a:xfrm>
            <a:off x="4852475" y="5106800"/>
            <a:ext cx="361500" cy="3954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/>
          <p:nvPr/>
        </p:nvSpPr>
        <p:spPr>
          <a:xfrm>
            <a:off x="3411850" y="4581300"/>
            <a:ext cx="361500" cy="3954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1"/>
          <p:cNvSpPr/>
          <p:nvPr/>
        </p:nvSpPr>
        <p:spPr>
          <a:xfrm>
            <a:off x="3411850" y="5603650"/>
            <a:ext cx="361500" cy="3954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"/>
          <p:cNvSpPr/>
          <p:nvPr/>
        </p:nvSpPr>
        <p:spPr>
          <a:xfrm>
            <a:off x="5433975" y="4581300"/>
            <a:ext cx="361500" cy="3954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1"/>
          <p:cNvSpPr/>
          <p:nvPr/>
        </p:nvSpPr>
        <p:spPr>
          <a:xfrm>
            <a:off x="5433975" y="5603650"/>
            <a:ext cx="361500" cy="3954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1"/>
          <p:cNvSpPr/>
          <p:nvPr/>
        </p:nvSpPr>
        <p:spPr>
          <a:xfrm>
            <a:off x="6410663" y="4581300"/>
            <a:ext cx="361500" cy="3954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6410663" y="5603650"/>
            <a:ext cx="361500" cy="3954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2552588" y="4581300"/>
            <a:ext cx="361500" cy="3954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/>
          <p:nvPr/>
        </p:nvSpPr>
        <p:spPr>
          <a:xfrm>
            <a:off x="2506763" y="5603650"/>
            <a:ext cx="361500" cy="3954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357188"/>
            <a:ext cx="8953500" cy="614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2587" y="302288"/>
            <a:ext cx="5498826" cy="6253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160" name="Google Shape;160;p24"/>
          <p:cNvSpPr txBox="1"/>
          <p:nvPr>
            <p:ph idx="1" type="body"/>
          </p:nvPr>
        </p:nvSpPr>
        <p:spPr>
          <a:xfrm>
            <a:off x="457200" y="1600200"/>
            <a:ext cx="8148600" cy="31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most real world applications the strong graph-theoretic definitions of structural or regular equivalence are unlikely to hold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Attempts to come up with stochastic approximations of equivalence relations for the purposes of vertex classification is called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blockmodeling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438" y="4179888"/>
            <a:ext cx="74199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457200" y="1600200"/>
            <a:ext cx="8148600" cy="31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For a given graph G, a blockmodel consists of two parts: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partition P = {P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1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, P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, ...P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k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} into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k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disjoint subsets called the positions of G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set of matrices B (called image matrices) that represent hypotheses on the relations between positions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68" name="Google Shape;16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438" y="4179888"/>
            <a:ext cx="74199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457200" y="1600200"/>
            <a:ext cx="8148600" cy="31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blockmodel is thus a simplified representation of the original network whose basic elements are the positions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basic task is to ascertain to what extent the observed network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approximates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some idealized (theoretical) image of the "underlying" role relations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75" name="Google Shape;1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438" y="4179888"/>
            <a:ext cx="74199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181" name="Google Shape;181;p27"/>
          <p:cNvSpPr txBox="1"/>
          <p:nvPr>
            <p:ph idx="1" type="body"/>
          </p:nvPr>
        </p:nvSpPr>
        <p:spPr>
          <a:xfrm>
            <a:off x="457200" y="1600200"/>
            <a:ext cx="8148600" cy="31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Blockmodels build on minimal relaxations of structural equivalence that still correspond to some minimal numbers of positions in the network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82" name="Google Shape;18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438" y="4179888"/>
            <a:ext cx="74199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457200" y="1600200"/>
            <a:ext cx="8148600" cy="31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From the point of view of the adjacency matrix A a blockmodel is defined as: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permutation (shuffling of the rows and columns) of A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Such that vertices in the same position end up in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consecutive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rows and columns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89" name="Google Shape;18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438" y="4179888"/>
            <a:ext cx="74199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6261" y="226969"/>
            <a:ext cx="4115210" cy="6228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553" y="226969"/>
            <a:ext cx="4232269" cy="6404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201" name="Google Shape;201;p30"/>
          <p:cNvSpPr txBox="1"/>
          <p:nvPr>
            <p:ph idx="1" type="body"/>
          </p:nvPr>
        </p:nvSpPr>
        <p:spPr>
          <a:xfrm>
            <a:off x="457200" y="1600200"/>
            <a:ext cx="8148600" cy="31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Two basic approaches to blockmodeling: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So-called "deterministic" approaches (bottom-up, inductive)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So-called "stochastic" approaches (top-down, deductive)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02" name="Google Shape;2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438" y="4179888"/>
            <a:ext cx="74199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(Deterministic)</a:t>
            </a:r>
            <a:endParaRPr/>
          </a:p>
        </p:txBody>
      </p:sp>
      <p:sp>
        <p:nvSpPr>
          <p:cNvPr id="208" name="Google Shape;208;p31"/>
          <p:cNvSpPr txBox="1"/>
          <p:nvPr>
            <p:ph idx="1" type="body"/>
          </p:nvPr>
        </p:nvSpPr>
        <p:spPr>
          <a:xfrm>
            <a:off x="457200" y="1600200"/>
            <a:ext cx="8148600" cy="31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Basic task in deterministic blockmodeling is to come up with a criterion for "approximate" equivalence: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Euclidean distance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(Burt 1976)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Pearson product-moment correlation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(Breiger, Boorman and Arabie 1975)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09" name="Google Shape;20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438" y="4179888"/>
            <a:ext cx="74199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(Deterministic)</a:t>
            </a:r>
            <a:endParaRPr/>
          </a:p>
        </p:txBody>
      </p:sp>
      <p:sp>
        <p:nvSpPr>
          <p:cNvPr id="215" name="Google Shape;215;p32"/>
          <p:cNvSpPr txBox="1"/>
          <p:nvPr>
            <p:ph idx="1" type="body"/>
          </p:nvPr>
        </p:nvSpPr>
        <p:spPr>
          <a:xfrm>
            <a:off x="457200" y="1600200"/>
            <a:ext cx="8148600" cy="31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For two actors i and j, the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Euclidean distance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is defined as: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16" name="Google Shape;21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438" y="4179888"/>
            <a:ext cx="7419975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8338" y="2780285"/>
            <a:ext cx="6082174" cy="1033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(Deterministic)</a:t>
            </a:r>
            <a:endParaRPr/>
          </a:p>
        </p:txBody>
      </p:sp>
      <p:sp>
        <p:nvSpPr>
          <p:cNvPr id="223" name="Google Shape;223;p33"/>
          <p:cNvSpPr txBox="1"/>
          <p:nvPr>
            <p:ph idx="1" type="body"/>
          </p:nvPr>
        </p:nvSpPr>
        <p:spPr>
          <a:xfrm>
            <a:off x="457200" y="1600200"/>
            <a:ext cx="8148600" cy="31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For a given adjacency matrix A, the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correlation matrix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C is the matrix containing the Pearson product moment correlations between the respective row and columns for two actors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r</a:t>
            </a:r>
            <a:r>
              <a:rPr b="1" baseline="-25000" lang="en">
                <a:latin typeface="Josefin Slab"/>
                <a:ea typeface="Josefin Slab"/>
                <a:cs typeface="Josefin Slab"/>
                <a:sym typeface="Josefin Slab"/>
              </a:rPr>
              <a:t>ij</a:t>
            </a:r>
            <a:endParaRPr b="1" baseline="-25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24" name="Google Shape;22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438" y="4179888"/>
            <a:ext cx="74199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(Deterministic)</a:t>
            </a:r>
            <a:endParaRPr/>
          </a:p>
        </p:txBody>
      </p:sp>
      <p:sp>
        <p:nvSpPr>
          <p:cNvPr id="230" name="Google Shape;230;p34"/>
          <p:cNvSpPr txBox="1"/>
          <p:nvPr>
            <p:ph idx="1" type="body"/>
          </p:nvPr>
        </p:nvSpPr>
        <p:spPr>
          <a:xfrm>
            <a:off x="457200" y="1600200"/>
            <a:ext cx="8148600" cy="31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Burt's (1976) Euclidean distance approach, the basic idea is to: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Generate the distance matrix 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And the use a scaling method (e.g. MDS, PCA, hierarchical clustering) to come up with a reduced form representation of the various groups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31" name="Google Shape;23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438" y="4179888"/>
            <a:ext cx="74199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(Deterministic)</a:t>
            </a:r>
            <a:endParaRPr/>
          </a:p>
        </p:txBody>
      </p:sp>
      <p:sp>
        <p:nvSpPr>
          <p:cNvPr id="237" name="Google Shape;237;p35"/>
          <p:cNvSpPr txBox="1"/>
          <p:nvPr>
            <p:ph idx="1" type="body"/>
          </p:nvPr>
        </p:nvSpPr>
        <p:spPr>
          <a:xfrm>
            <a:off x="457200" y="1600200"/>
            <a:ext cx="4909500" cy="48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Breiger, Boorman and Arabie's CONCOR strategy, the basic idea is to: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Generate the (initial) correlation matrix C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1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from A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Iteratively obtain further correlation matrices {C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2,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C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, ...}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until we have a "final" correlation matrix C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k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that contains only +1 and -1 entries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38" name="Google Shape;23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2000" y="1568787"/>
            <a:ext cx="3728709" cy="4946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blockmodeling</a:t>
            </a:r>
            <a:endParaRPr/>
          </a:p>
        </p:txBody>
      </p:sp>
      <p:sp>
        <p:nvSpPr>
          <p:cNvPr id="244" name="Google Shape;244;p36"/>
          <p:cNvSpPr txBox="1"/>
          <p:nvPr>
            <p:ph idx="1" type="body"/>
          </p:nvPr>
        </p:nvSpPr>
        <p:spPr>
          <a:xfrm>
            <a:off x="457200" y="1600200"/>
            <a:ext cx="5197200" cy="48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generalized blockmodeling, an idealized "image" of the role structure is pre-specified in advance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analyst then uses statistical techniques to ascertain how close the observed network is to the specified structure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We may choose from a "canned" list of theoretically interesting patterns of role relations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45" name="Google Shape;24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4400" y="2636974"/>
            <a:ext cx="2776977" cy="2810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1950" y="427610"/>
            <a:ext cx="5929152" cy="6002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blockmodeling (Two Mode Networks)</a:t>
            </a:r>
            <a:endParaRPr/>
          </a:p>
        </p:txBody>
      </p:sp>
      <p:pic>
        <p:nvPicPr>
          <p:cNvPr id="256" name="Google Shape;25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691" y="1598325"/>
            <a:ext cx="7848618" cy="4913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blockmodeling (Two Mode Networks)</a:t>
            </a:r>
            <a:endParaRPr/>
          </a:p>
        </p:txBody>
      </p:sp>
      <p:pic>
        <p:nvPicPr>
          <p:cNvPr id="262" name="Google Shape;26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3636" y="1572613"/>
            <a:ext cx="6376729" cy="4961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blockmodeling (Supreme Court Decisions)</a:t>
            </a:r>
            <a:endParaRPr/>
          </a:p>
        </p:txBody>
      </p:sp>
      <p:pic>
        <p:nvPicPr>
          <p:cNvPr id="268" name="Google Shape;26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2752" y="1639538"/>
            <a:ext cx="6358496" cy="4862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blockmodeling (Supreme Court Decisions)</a:t>
            </a:r>
            <a:endParaRPr/>
          </a:p>
        </p:txBody>
      </p:sp>
      <p:pic>
        <p:nvPicPr>
          <p:cNvPr id="274" name="Google Shape;27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4100" y="1621163"/>
            <a:ext cx="4495800" cy="501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blockmodeling (Citation Networks)</a:t>
            </a:r>
            <a:endParaRPr/>
          </a:p>
        </p:txBody>
      </p:sp>
      <p:pic>
        <p:nvPicPr>
          <p:cNvPr id="280" name="Google Shape;28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546" y="1841282"/>
            <a:ext cx="7882908" cy="4537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