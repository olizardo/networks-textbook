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embeddedFontLst>
    <p:embeddedFont>
      <p:font typeface="Josefin Slab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JosefinSlab-regular.fnt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JosefinSlab-italic.fntdata"/><Relationship Id="rId14" Type="http://schemas.openxmlformats.org/officeDocument/2006/relationships/slide" Target="slides/slide10.xml"/><Relationship Id="rId36" Type="http://schemas.openxmlformats.org/officeDocument/2006/relationships/font" Target="fonts/JosefinSlab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JosefinSlab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47830b9e3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47830b9e3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47830b9e3_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47830b9e3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f5c59cf2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f5c59cf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7830b9e3_0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7830b9e3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6f5c59cf2_0_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6f5c59cf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6f5c59cf2_0_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6f5c59cf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6f5c59cf2_0_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6f5c59cf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f5c59cf2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6f5c59cf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6f5c59cf2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6f5c59cf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f5c59cf2_0_2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f5c59cf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f5c59cf2_0_2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6f5c59cf2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f5c59cf2_0_2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f5c59cf2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f5c59cf2_0_2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f5c59cf2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7830b9e3_1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47830b9e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f5c59cf2_0_2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f5c59cf2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f5c59cf2_0_3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6f5c59cf2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6f5c59cf2_0_3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6f5c59cf2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7830b9e3_0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7830b9e3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7830b9e3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7830b9e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7830b9e3_0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7830b9e3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f5c59cf2_1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6f5c59cf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7830b9e3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47830b9e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6f5c59cf2_2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6f5c59cf2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6f5c59cf2_1_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6f5c59cf2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6f5c59cf2_1_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6f5c59cf2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6f5c59cf2_1_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6f5c59cf2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6f5c59cf2_1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6f5c59cf2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6f5c59cf2_1_6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6f5c59cf2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47830b9e3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47830b9e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563760"/>
            <a:ext cx="82296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3716392"/>
            <a:ext cx="82296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41148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3633383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4317761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13139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502326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4.jpg"/><Relationship Id="rId9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ctrTitle"/>
          </p:nvPr>
        </p:nvSpPr>
        <p:spPr>
          <a:xfrm>
            <a:off x="457200" y="563760"/>
            <a:ext cx="8229600" cy="30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Meso Level: Cliques, Groups and Communities</a:t>
            </a:r>
            <a:endParaRPr sz="4800"/>
          </a:p>
        </p:txBody>
      </p:sp>
      <p:sp>
        <p:nvSpPr>
          <p:cNvPr id="36" name="Google Shape;36;p8"/>
          <p:cNvSpPr txBox="1"/>
          <p:nvPr>
            <p:ph idx="1" type="subTitle"/>
          </p:nvPr>
        </p:nvSpPr>
        <p:spPr>
          <a:xfrm>
            <a:off x="219075" y="3716392"/>
            <a:ext cx="8229600" cy="12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Micro:  vertex, dyad, triad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local processes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Macro:  whole network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emergent, global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Meso: groups, organizations, subgraphs,  motifs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Meso Level Structures</a:t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57200" y="1262025"/>
            <a:ext cx="3769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group, community, cluster, cliques</a:t>
            </a:r>
            <a:endParaRPr sz="2400"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core-periphery structure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overlapping circles structure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Hierarchy (trees)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Strings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Lattices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Note TRIANGLES</a:t>
            </a:r>
            <a:endParaRPr sz="2400"/>
          </a:p>
        </p:txBody>
      </p:sp>
      <p:pic>
        <p:nvPicPr>
          <p:cNvPr id="49" name="Google Shape;4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5945" y="1918370"/>
            <a:ext cx="1306750" cy="13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700" y="1796925"/>
            <a:ext cx="1549650" cy="154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1200" y="3394400"/>
            <a:ext cx="2420150" cy="14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4988" y="3394412"/>
            <a:ext cx="3307925" cy="159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21025" y="282149"/>
            <a:ext cx="1597300" cy="125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4294" y="1730375"/>
            <a:ext cx="2128450" cy="13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37094" y="97569"/>
            <a:ext cx="1549650" cy="1529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approaches</a:t>
            </a:r>
            <a:endParaRPr/>
          </a:p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Cliques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Cohesive Groups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Communities (Clusters)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</a:t>
            </a:r>
            <a:endParaRPr/>
          </a:p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543900" y="947675"/>
            <a:ext cx="8142900" cy="3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 subset of N vertices with a density of 1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All ties among all vertices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Within group vertices have equal degree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Triangle is a clique:  a 3-clique</a:t>
            </a:r>
            <a:endParaRPr sz="20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000"/>
              <a:t>Can have 4-cliques, 5- cliques, 6-cliques ????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But what if 1 tie missing?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Is set no longer a clique?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Allow some missing edges (density/degree threshold)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N-cliques:  2-clique, everyone can reach every other member of the clique is 2 hops or less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k-plexes:  everyone has g-k neighbors ( g-1 is a clique)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K-Cores:  everyone has at least k neighbors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457200" y="353984"/>
            <a:ext cx="8229600" cy="6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457200" y="1200150"/>
            <a:ext cx="53412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Theoretical concept: </a:t>
            </a:r>
            <a:r>
              <a:rPr b="1" lang="en" sz="2400"/>
              <a:t>Social Solidarity </a:t>
            </a:r>
            <a:endParaRPr b="1"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However, concept riddle with (operational) ambiguity.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Network science to the rescue!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Two components: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Ideational</a:t>
            </a:r>
            <a:r>
              <a:rPr lang="en" sz="1800"/>
              <a:t> (identification)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Relational</a:t>
            </a:r>
            <a:r>
              <a:rPr lang="en" sz="1800"/>
              <a:t> (connectivity)</a:t>
            </a:r>
            <a:endParaRPr sz="18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Network theory is useful for specifying relational solidarity (</a:t>
            </a:r>
            <a:r>
              <a:rPr b="1" lang="en" sz="2400"/>
              <a:t>st</a:t>
            </a:r>
            <a:r>
              <a:rPr b="1" lang="en" sz="3000">
                <a:latin typeface="Josefin Slab"/>
                <a:ea typeface="Josefin Slab"/>
                <a:cs typeface="Josefin Slab"/>
                <a:sym typeface="Josefin Slab"/>
              </a:rPr>
              <a:t>ructural cohesion</a:t>
            </a:r>
            <a:r>
              <a:rPr lang="en" sz="3000">
                <a:latin typeface="Josefin Slab"/>
                <a:ea typeface="Josefin Slab"/>
                <a:cs typeface="Josefin Slab"/>
                <a:sym typeface="Josefin Slab"/>
              </a:rPr>
              <a:t>)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881" y="1774954"/>
            <a:ext cx="2343690" cy="257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57200" y="154484"/>
            <a:ext cx="8229600" cy="6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457200" y="1052531"/>
            <a:ext cx="8229600" cy="41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Key theoretical insight: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Cohesion implies nested groups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Operational definition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 group is more cohesive to the extent to that it depends on  a majority of its members to retain its character as a group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Less cohesive groups depend on a few individuals (at the limit one) to remain connected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Structural cohesion is simultaneously a property of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Persons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Groups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457200" y="154484"/>
            <a:ext cx="8229600" cy="6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457200" y="1200150"/>
            <a:ext cx="54849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Definition 1: </a:t>
            </a:r>
            <a:r>
              <a:rPr i="1" lang="en" sz="2400"/>
              <a:t>A collectivity is structurally cohesive to the extent that the social relations of its members hold it together.</a:t>
            </a:r>
            <a:endParaRPr i="1"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Describes how a collection of actors is </a:t>
            </a:r>
            <a:br>
              <a:rPr lang="en" sz="1800"/>
            </a:br>
            <a:r>
              <a:rPr lang="en" sz="1800"/>
              <a:t>held together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Group-level property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Continuous concept (some groups are more or less cohesive)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Depends on relational data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Independent of size</a:t>
            </a:r>
            <a:endParaRPr sz="1800"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781" y="1774954"/>
            <a:ext cx="2343690" cy="257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57200" y="154484"/>
            <a:ext cx="8229600" cy="6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" y="1200150"/>
            <a:ext cx="5302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Unconnected individuals are not cohesive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Cohesive individuals must be connected by some path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 most cohesive groups connect individuals via </a:t>
            </a:r>
            <a:r>
              <a:rPr i="1" lang="en" sz="2400"/>
              <a:t>multiple</a:t>
            </a:r>
            <a:r>
              <a:rPr lang="en" sz="2400"/>
              <a:t> paths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 more cohesive the group, the more redundant paths we can trace between any two individuals</a:t>
            </a:r>
            <a:endParaRPr sz="2400"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781" y="1774954"/>
            <a:ext cx="2343690" cy="257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57200" y="154484"/>
            <a:ext cx="8229600" cy="6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57200" y="1200150"/>
            <a:ext cx="5317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Definition 2: </a:t>
            </a:r>
            <a:r>
              <a:rPr i="1" lang="en" sz="2400"/>
              <a:t>A group is structurally cohesive to the extent that multiple independent relational paths among all pairs of members hold it together. </a:t>
            </a:r>
            <a:endParaRPr i="1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 group is cohesive to the extent that its </a:t>
            </a:r>
            <a:r>
              <a:rPr b="1" lang="en"/>
              <a:t>connectivity</a:t>
            </a:r>
            <a:r>
              <a:rPr lang="en"/>
              <a:t> is robust to the removal of any single individual</a:t>
            </a:r>
            <a:endParaRPr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781" y="1774954"/>
            <a:ext cx="2343690" cy="257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457200" y="154484"/>
            <a:ext cx="8229600" cy="6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Connectivity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457200" y="1200150"/>
            <a:ext cx="3980100" cy="3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/>
              <a:t>A graph is </a:t>
            </a:r>
            <a:r>
              <a:rPr b="1" i="1" lang="en" sz="1800"/>
              <a:t>connected </a:t>
            </a:r>
            <a:r>
              <a:rPr lang="en" sz="1800"/>
              <a:t>if there exists a (finite) path between each vertex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/>
              <a:t>Otherwise the graph is </a:t>
            </a:r>
            <a:r>
              <a:rPr b="1" i="1" lang="en" sz="1800"/>
              <a:t>disconnected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/>
              <a:t>A </a:t>
            </a:r>
            <a:r>
              <a:rPr i="1" lang="en" sz="1800"/>
              <a:t>maximal connected </a:t>
            </a:r>
            <a:r>
              <a:rPr lang="en" sz="1800"/>
              <a:t>subgraph is called a </a:t>
            </a:r>
            <a:r>
              <a:rPr b="1" i="1" lang="en" sz="1800"/>
              <a:t>component</a:t>
            </a:r>
            <a:endParaRPr b="1" i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/>
              <a:t>In a graph, the connected subgraph that contains the largest proportion of vertices is called the </a:t>
            </a:r>
            <a:r>
              <a:rPr b="1" i="1" lang="en" sz="1800"/>
              <a:t>giant component</a:t>
            </a:r>
            <a:endParaRPr b="1" i="1" sz="1800"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300" y="1813085"/>
            <a:ext cx="3486175" cy="2615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457200" y="362848"/>
            <a:ext cx="82296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Cutpoints and Cutsets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457200" y="1200150"/>
            <a:ext cx="8452800" cy="21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/>
              <a:t>A </a:t>
            </a:r>
            <a:r>
              <a:rPr i="1" lang="en" sz="2400"/>
              <a:t>cutpoint </a:t>
            </a:r>
            <a:r>
              <a:rPr lang="en" sz="2400"/>
              <a:t>is a vertex </a:t>
            </a:r>
            <a:r>
              <a:rPr i="1" lang="en" sz="2400"/>
              <a:t>v </a:t>
            </a:r>
            <a:r>
              <a:rPr lang="en" sz="2400"/>
              <a:t>that would disconnect the graph upon removal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○"/>
            </a:pPr>
            <a:r>
              <a:rPr lang="en"/>
              <a:t>A </a:t>
            </a:r>
            <a:r>
              <a:rPr i="1" lang="en"/>
              <a:t>block </a:t>
            </a:r>
            <a:r>
              <a:rPr lang="en"/>
              <a:t>is subgraph G' that contains no cutpoints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/>
              <a:t>A </a:t>
            </a:r>
            <a:r>
              <a:rPr i="1" lang="en" sz="2400"/>
              <a:t>cutset</a:t>
            </a:r>
            <a:r>
              <a:rPr lang="en" sz="2400"/>
              <a:t> is a set of vertices {v</a:t>
            </a:r>
            <a:r>
              <a:rPr baseline="-25000" lang="en" sz="2400"/>
              <a:t>1</a:t>
            </a:r>
            <a:r>
              <a:rPr lang="en" sz="2400"/>
              <a:t>, v,</a:t>
            </a:r>
            <a:r>
              <a:rPr baseline="-25000" lang="en" sz="2400"/>
              <a:t>2</a:t>
            </a:r>
            <a:r>
              <a:rPr lang="en" sz="2400"/>
              <a:t>,...v</a:t>
            </a:r>
            <a:r>
              <a:rPr baseline="-25000" lang="en" sz="2400"/>
              <a:t>n</a:t>
            </a:r>
            <a:r>
              <a:rPr lang="en" sz="2400"/>
              <a:t>} that would disconnect the graph upon removal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○"/>
            </a:pPr>
            <a:r>
              <a:rPr lang="en"/>
              <a:t>A </a:t>
            </a:r>
            <a:r>
              <a:rPr i="1" lang="en"/>
              <a:t>minimal cutset </a:t>
            </a:r>
            <a:r>
              <a:rPr lang="en"/>
              <a:t>is the smallest number of vertices n whose removal would disconnect the graph</a:t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226" y="3894275"/>
            <a:ext cx="1941625" cy="11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K-connectivity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457200" y="1200150"/>
            <a:ext cx="8452800" cy="21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lang="en"/>
              <a:t>A graph with a minimal cutset of size </a:t>
            </a:r>
            <a:r>
              <a:rPr i="1" lang="en"/>
              <a:t>k</a:t>
            </a:r>
            <a:r>
              <a:rPr lang="en"/>
              <a:t>, is said to be </a:t>
            </a:r>
            <a:r>
              <a:rPr i="1" lang="en"/>
              <a:t>k</a:t>
            </a:r>
            <a:r>
              <a:rPr lang="en"/>
              <a:t>-connected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lang="en"/>
              <a:t>The k-connectivity of any two vertices {u, v} in graph G, is the number of vertices that must be removed to disconnect u and v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/>
              <a:t>Thus, if it takes removing three nodes to disconnect two vertices, u and v are said to be three-connected.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Edge-connectivity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457200" y="1200150"/>
            <a:ext cx="8521800" cy="23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" sz="2600"/>
              <a:t>A </a:t>
            </a:r>
            <a:r>
              <a:rPr i="1" lang="en" sz="2600"/>
              <a:t>bridge </a:t>
            </a:r>
            <a:r>
              <a:rPr lang="en" sz="2600"/>
              <a:t>is an edge </a:t>
            </a:r>
            <a:r>
              <a:rPr i="1" lang="en" sz="2600"/>
              <a:t>uv </a:t>
            </a:r>
            <a:r>
              <a:rPr lang="en" sz="2600"/>
              <a:t>in graph G whose removal would disconnect the graph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" sz="2600"/>
              <a:t>The </a:t>
            </a:r>
            <a:r>
              <a:rPr i="1" lang="en" sz="2600"/>
              <a:t>edgecut</a:t>
            </a:r>
            <a:r>
              <a:rPr lang="en" sz="2600"/>
              <a:t> is the set of edges E' whose removal would disconnect the graph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○"/>
            </a:pPr>
            <a:r>
              <a:rPr lang="en" sz="2000"/>
              <a:t>The edgecut for a pair of vertices u, v is defined in the same way</a:t>
            </a:r>
            <a:endParaRPr sz="20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○"/>
            </a:pPr>
            <a:r>
              <a:rPr lang="en" sz="2000"/>
              <a:t>The </a:t>
            </a:r>
            <a:r>
              <a:rPr i="1" lang="en" sz="2000"/>
              <a:t>miminal edgecut </a:t>
            </a:r>
            <a:r>
              <a:rPr lang="en" sz="2000"/>
              <a:t>is the smallest number of edges </a:t>
            </a:r>
            <a:r>
              <a:rPr i="1" lang="en" sz="2000"/>
              <a:t>m </a:t>
            </a:r>
            <a:r>
              <a:rPr lang="en" sz="2000"/>
              <a:t>whose removal would disconnect the graph</a:t>
            </a:r>
            <a:endParaRPr sz="20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○"/>
            </a:pPr>
            <a:r>
              <a:rPr lang="en" sz="2000"/>
              <a:t>The </a:t>
            </a:r>
            <a:r>
              <a:rPr i="1" lang="en" sz="2000"/>
              <a:t>edge connectivity</a:t>
            </a:r>
            <a:r>
              <a:rPr lang="en" sz="2000"/>
              <a:t> of a graph is the size of the minimal edgecut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475750" y="18742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Cohesion</a:t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1748850"/>
            <a:ext cx="4755550" cy="263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5207000" y="1080850"/>
            <a:ext cx="3435000" cy="28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Definition 3a: A group’s structural cohesion is equal to the minimum number of actors who, if removed from the group, would disconnect the group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Definition 3b: A group’s structural cohesion is equal to the minimum number of independent paths linking each pair of actors in the group.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457200" y="1200150"/>
            <a:ext cx="3701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Identify the k-connectivity of the input graph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Remove the k-cutset (vertices)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Do the same on the resulting subgraphs until no more subdivisions can be obtained</a:t>
            </a:r>
            <a:endParaRPr sz="2400"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712" y="1523082"/>
            <a:ext cx="3625884" cy="307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</a:t>
            </a:r>
            <a:endParaRPr/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25" y="1560950"/>
            <a:ext cx="5681150" cy="2749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1276" y="1821335"/>
            <a:ext cx="2805526" cy="2382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457200" y="232003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Cohesive Blocking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457200" y="1200150"/>
            <a:ext cx="3701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Vertices may belong to multiple cohesive subgroups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Such vertices are </a:t>
            </a:r>
            <a:r>
              <a:rPr i="1" lang="en" sz="2400"/>
              <a:t>positionally equivalent </a:t>
            </a:r>
            <a:r>
              <a:rPr lang="en" sz="2400"/>
              <a:t>with respect to the subgroups that they connect</a:t>
            </a:r>
            <a:endParaRPr sz="2400"/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712" y="1523082"/>
            <a:ext cx="3625884" cy="307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Communities 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457200" y="1200150"/>
            <a:ext cx="39180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Like islands with bridges between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Few edges between clusters, many edges within clusters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Dense areas and sparse areas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825" y="1710622"/>
            <a:ext cx="4496299" cy="21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/>
              <a:t>Community Detection</a:t>
            </a:r>
            <a:endParaRPr sz="3000"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Vertex trait:  Within cluster trait homophily </a:t>
            </a:r>
            <a:endParaRPr sz="2400"/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population homogeneity</a:t>
            </a:r>
            <a:endParaRPr/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ideational solidarity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Edge connectivity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000"/>
              <a:t>Few edges between clusters, many edges within clusters</a:t>
            </a:r>
            <a:br>
              <a:rPr lang="en" sz="2400"/>
            </a:br>
            <a:r>
              <a:rPr lang="en" sz="2400"/>
              <a:t>	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457200" y="358375"/>
            <a:ext cx="41475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Block Model:</a:t>
            </a:r>
            <a:br>
              <a:rPr lang="en" sz="3000"/>
            </a:br>
            <a:r>
              <a:rPr lang="en" sz="3000"/>
              <a:t>Communities</a:t>
            </a:r>
            <a:endParaRPr sz="3000"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2400" y="297950"/>
            <a:ext cx="4296474" cy="45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/>
          <p:nvPr/>
        </p:nvSpPr>
        <p:spPr>
          <a:xfrm>
            <a:off x="530325" y="1215800"/>
            <a:ext cx="36306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Permute the matrix by rearranging rows and columns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Partition into high (all 1s) and low (all 0s) density blocks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Communities fall along the main diagonal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457200" y="1200150"/>
            <a:ext cx="4349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Basic task: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To discover </a:t>
            </a:r>
            <a:r>
              <a:rPr b="1" lang="en" sz="1800"/>
              <a:t>groups</a:t>
            </a:r>
            <a:r>
              <a:rPr lang="en" sz="1800"/>
              <a:t> or </a:t>
            </a:r>
            <a:r>
              <a:rPr b="1" lang="en" sz="1800"/>
              <a:t>clusters</a:t>
            </a:r>
            <a:r>
              <a:rPr lang="en" sz="1800"/>
              <a:t> in networks, usually referred to as </a:t>
            </a:r>
            <a:r>
              <a:rPr b="1" lang="en" sz="1800"/>
              <a:t>communities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community is densely connected set of vertices with sparse connections with other groups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Edge Connectivity:  Few edges between clusters, most edges within clusters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These are referred to as </a:t>
            </a:r>
            <a:r>
              <a:rPr i="1" lang="en" sz="1800"/>
              <a:t>community detection</a:t>
            </a:r>
            <a:r>
              <a:rPr lang="en" sz="1800"/>
              <a:t> methods</a:t>
            </a:r>
            <a:endParaRPr sz="1800"/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600" y="1820025"/>
            <a:ext cx="2857500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Minimize between cluster edges, maximize within cluster edges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Girvan-Newman:  edge betweenness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Clauset-Newman-Moore:  modularity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Betweenness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Edge betweenness is like betweenness centrality for vertices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Number (or proportion) of geodisics that an edge is 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Remove edges beginning with edge with highest edge betweenness until desired number of groups (communities) is reached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Modularity and Community Detection</a:t>
            </a:r>
            <a:endParaRPr sz="3400"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457200" y="1200150"/>
            <a:ext cx="4553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 basic idea is that a network has "community structure" if the edges are arranged in a "statistically surprising" way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 quantity known as the modularity can be used for this purpose</a:t>
            </a:r>
            <a:endParaRPr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1635831"/>
            <a:ext cx="2380635" cy="285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Modularity and Community Detection</a:t>
            </a:r>
            <a:endParaRPr sz="3400"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457200" y="1200150"/>
            <a:ext cx="5019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 words, for a partition of the graph into C groups, the modularity is defined as: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 observed number of edges falling within groups minus the expected number of edges in the same network if these were placed at random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Configuration Model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Positive values indicate the presence of community structure</a:t>
            </a:r>
            <a:endParaRPr sz="1800"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1635831"/>
            <a:ext cx="2380635" cy="285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Modularity and Community Detection</a:t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457200" y="1200150"/>
            <a:ext cx="8113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 a network the </a:t>
            </a:r>
            <a:r>
              <a:rPr b="1" lang="en" sz="2400"/>
              <a:t>observed</a:t>
            </a:r>
            <a:r>
              <a:rPr lang="en" sz="2400"/>
              <a:t> number of edges between vertices </a:t>
            </a:r>
            <a:r>
              <a:rPr i="1" lang="en" sz="2400"/>
              <a:t>i</a:t>
            </a:r>
            <a:r>
              <a:rPr lang="en" sz="2400"/>
              <a:t> and </a:t>
            </a:r>
            <a:r>
              <a:rPr i="1" lang="en" sz="2400"/>
              <a:t>j</a:t>
            </a:r>
            <a:r>
              <a:rPr lang="en" sz="2400"/>
              <a:t> is given by the corresponding entry in the adjacency matrix </a:t>
            </a:r>
            <a:r>
              <a:rPr b="1" lang="en" sz="2400"/>
              <a:t>A</a:t>
            </a:r>
            <a:r>
              <a:rPr lang="en" sz="2400"/>
              <a:t>ij (usually 0 or 1)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 </a:t>
            </a:r>
            <a:r>
              <a:rPr b="1" lang="en" sz="2400"/>
              <a:t>expected</a:t>
            </a:r>
            <a:r>
              <a:rPr lang="en" sz="2400"/>
              <a:t> number of edges between </a:t>
            </a:r>
            <a:r>
              <a:rPr i="1" lang="en" sz="2400"/>
              <a:t>i</a:t>
            </a:r>
            <a:r>
              <a:rPr lang="en" sz="2400"/>
              <a:t> and </a:t>
            </a:r>
            <a:r>
              <a:rPr i="1" lang="en" sz="2400"/>
              <a:t>j</a:t>
            </a:r>
            <a:r>
              <a:rPr lang="en" sz="2400"/>
              <a:t> is simply a function of their respective degrees: </a:t>
            </a:r>
            <a:endParaRPr sz="2400"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7845" y="3365770"/>
            <a:ext cx="1681696" cy="63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5425" y="3551403"/>
            <a:ext cx="3043238" cy="392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Modularity and Community Detection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457200" y="1200150"/>
            <a:ext cx="8113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modularity (Q) is then given by the sum of the difference between observed minus expected across each pair of vertices that belong to the same group: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 sz="1800"/>
            </a:b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Where s</a:t>
            </a:r>
            <a:r>
              <a:rPr baseline="-25000" lang="en" sz="1800"/>
              <a:t>i</a:t>
            </a:r>
            <a:r>
              <a:rPr lang="en" sz="1800"/>
              <a:t>= 1 if vertex i belongs to group 1 and s</a:t>
            </a:r>
            <a:r>
              <a:rPr baseline="-25000" lang="en" sz="1800"/>
              <a:t>i</a:t>
            </a:r>
            <a:r>
              <a:rPr lang="en" sz="1800"/>
              <a:t>= -1 if vertex belongs to group 2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matrix containing observed minus expected differences for each pair of vertices is known as the modularity matrix:</a:t>
            </a:r>
            <a:endParaRPr sz="1800"/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6113" y="2085975"/>
            <a:ext cx="2678906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8453" y="4123000"/>
            <a:ext cx="1846085" cy="53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Modularity and Community Detection</a:t>
            </a:r>
            <a:endParaRPr/>
          </a:p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457200" y="1200150"/>
            <a:ext cx="8113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Newman (2006) proposes an algorithm for partitioning a network into two communities based on the </a:t>
            </a:r>
            <a:r>
              <a:rPr b="1" lang="en" sz="1800"/>
              <a:t>B </a:t>
            </a:r>
            <a:r>
              <a:rPr lang="en" sz="1800"/>
              <a:t>matrix: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Compute the leading eigenvector of the modularity matrix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For a matrix the leading eigenvector is the one associated with the largest (most positive) eigenvalue following a factorization of the matrix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Assign vertices into two disjoint groups based on the sign of the corresponding element in the vector 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Vertices with positive values go in one group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Vertices with negative values go into the other group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Compute modularity Q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Repeat for each group and computer modularity Q to see if there is a change in modularity as a result of the next division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25" y="93200"/>
            <a:ext cx="6584650" cy="4938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7"/>
          <p:cNvSpPr txBox="1"/>
          <p:nvPr>
            <p:ph type="title"/>
          </p:nvPr>
        </p:nvSpPr>
        <p:spPr>
          <a:xfrm>
            <a:off x="4438125" y="570450"/>
            <a:ext cx="4465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Core-Periphery Structure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