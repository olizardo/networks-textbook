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D28E28-C132-4E88-A708-E5BE6A5CEC5E}">
  <a:tblStyle styleId="{60D28E28-C132-4E88-A708-E5BE6A5CEC5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2F3F6"/>
          </a:solidFill>
        </a:fill>
      </a:tcStyle>
    </a:wholeTbl>
    <a:band1H>
      <a:tcTxStyle/>
      <a:tcStyle>
        <a:fill>
          <a:solidFill>
            <a:srgbClr val="E2E4EC"/>
          </a:solidFill>
        </a:fill>
      </a:tcStyle>
    </a:band1H>
    <a:band2H>
      <a:tcTxStyle/>
    </a:band2H>
    <a:band1V>
      <a:tcTxStyle/>
      <a:tcStyle>
        <a:fill>
          <a:solidFill>
            <a:srgbClr val="E2E4EC"/>
          </a:solidFill>
        </a:fill>
      </a:tcStyle>
    </a:band1V>
    <a:band2V>
      <a:tcTxStyle/>
    </a:band2V>
    <a:lastCol>
      <a:tcTxStyle b="on" i="off"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/>
          </a:p>
          <a:p>
            <a: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32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" name="Google Shape;47;p5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3" name="Google Shape;63;p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68" name="Google Shape;68;p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76" name="Google Shape;76;p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9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9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9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cxnSp>
        <p:nvCxnSpPr>
          <p:cNvPr id="87" name="Google Shape;87;p1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1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2600">
                <a:solidFill>
                  <a:schemeClr val="dk1"/>
                </a:solidFill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2300">
                <a:solidFill>
                  <a:schemeClr val="dk2"/>
                </a:solidFill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2000">
                <a:solidFill>
                  <a:schemeClr val="dk1"/>
                </a:solidFill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800">
                <a:solidFill>
                  <a:schemeClr val="dk1"/>
                </a:solidFill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02" name="Google Shape;102;p1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1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12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b="0" i="0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Arial"/>
              <a:buChar char="●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sna.unimelb.edu.au/pnet/pnet.html" TargetMode="External"/><Relationship Id="rId4" Type="http://schemas.openxmlformats.org/officeDocument/2006/relationships/hyperlink" Target="http://www.sna.unimelb.edu.au/pnet/pnet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Network Analysis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Stats &amp; Methods Training Seminar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Social network data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Types of social networks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Social network data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Graphical representation of social network data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Characterizing the network and the nodes (I)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Density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Centrality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Prestige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Characterizing the network and the nodes (II)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Cohesive Subgroups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Structural Equivalence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Blockmodels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Statistical models for social network data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P* models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model social networks?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many descriptive techniques that provide insight into an observed network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Density, centrality, cohesive subgroups, structural equivalence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models provide some clarity of major effects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449574"/>
            <a:ext cx="4572000" cy="3246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64280"/>
            <a:ext cx="4419600" cy="301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model social networks?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Competing explanations for structural effects: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appearance of triangles can occur through different social processes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balance-type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effect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homophily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Only a model that includes both effects can help decide whether one or both are important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question is: 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an observed network, which </a:t>
            </a:r>
            <a:r>
              <a:rPr b="1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b="0" i="1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 processes may be implicated in its emergence?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Why model social networks?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the tendency to transitivity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1295400" y="20574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762000" y="28194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1905000" y="28194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17"/>
          <p:cNvCxnSpPr>
            <a:endCxn id="142" idx="3"/>
          </p:cNvCxnSpPr>
          <p:nvPr/>
        </p:nvCxnSpPr>
        <p:spPr>
          <a:xfrm flipH="1" rot="10800000">
            <a:off x="838078" y="2252522"/>
            <a:ext cx="490800" cy="67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6" name="Google Shape;146;p17"/>
          <p:cNvCxnSpPr>
            <a:stCxn id="144" idx="0"/>
            <a:endCxn id="142" idx="5"/>
          </p:cNvCxnSpPr>
          <p:nvPr/>
        </p:nvCxnSpPr>
        <p:spPr>
          <a:xfrm rot="10800000">
            <a:off x="1490400" y="2252400"/>
            <a:ext cx="528900" cy="56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7" name="Google Shape;147;p17"/>
          <p:cNvCxnSpPr>
            <a:stCxn id="143" idx="2"/>
            <a:endCxn id="144" idx="2"/>
          </p:cNvCxnSpPr>
          <p:nvPr/>
        </p:nvCxnSpPr>
        <p:spPr>
          <a:xfrm>
            <a:off x="762000" y="2933700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8" name="Google Shape;148;p17"/>
          <p:cNvSpPr/>
          <p:nvPr/>
        </p:nvSpPr>
        <p:spPr>
          <a:xfrm>
            <a:off x="3352800" y="2514600"/>
            <a:ext cx="11430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0" y="1600200"/>
            <a:ext cx="3532909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1295400" y="49530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62000" y="57150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905000" y="5715000"/>
            <a:ext cx="228600" cy="228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17"/>
          <p:cNvCxnSpPr>
            <a:endCxn id="150" idx="3"/>
          </p:cNvCxnSpPr>
          <p:nvPr/>
        </p:nvCxnSpPr>
        <p:spPr>
          <a:xfrm flipH="1" rot="10800000">
            <a:off x="838078" y="5148122"/>
            <a:ext cx="490800" cy="67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4" name="Google Shape;154;p17"/>
          <p:cNvCxnSpPr>
            <a:stCxn id="152" idx="0"/>
            <a:endCxn id="150" idx="5"/>
          </p:cNvCxnSpPr>
          <p:nvPr/>
        </p:nvCxnSpPr>
        <p:spPr>
          <a:xfrm rot="10800000">
            <a:off x="1490400" y="5148000"/>
            <a:ext cx="528900" cy="56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5" name="Google Shape;155;p17"/>
          <p:cNvCxnSpPr>
            <a:stCxn id="151" idx="2"/>
            <a:endCxn id="152" idx="2"/>
          </p:cNvCxnSpPr>
          <p:nvPr/>
        </p:nvCxnSpPr>
        <p:spPr>
          <a:xfrm>
            <a:off x="762000" y="5829300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6" name="Google Shape;156;p17"/>
          <p:cNvSpPr/>
          <p:nvPr/>
        </p:nvSpPr>
        <p:spPr>
          <a:xfrm>
            <a:off x="3352800" y="5410200"/>
            <a:ext cx="11430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400" y="4495800"/>
            <a:ext cx="3200400" cy="22508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7"/>
          <p:cNvCxnSpPr/>
          <p:nvPr/>
        </p:nvCxnSpPr>
        <p:spPr>
          <a:xfrm flipH="1" rot="-5400000">
            <a:off x="3581401" y="5194301"/>
            <a:ext cx="533400" cy="533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7"/>
          <p:cNvCxnSpPr/>
          <p:nvPr/>
        </p:nvCxnSpPr>
        <p:spPr>
          <a:xfrm rot="5400000">
            <a:off x="3581400" y="5194301"/>
            <a:ext cx="533400" cy="533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 processes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Exogenous effects: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Homophily – shared affiliation, spatial propinquity matter (McPherson, Smith-Lovin &amp; Cook, 2001)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 tie formation is set within foci (Feld, 1981), or settings (White, 1995; Pattison &amp; Robins, 2002)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Endogenous effects: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Clustering – tie formation is often more likely when actors have network partners in common (Cartwrith &amp; Harary, 1956; Granovetter, 1973)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Interactions between exogenous and endogenous effects: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 social selection (Robins, Elliott &amp; Pattison, 2001)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2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endogenous network processes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Guiding principles: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 ties are the outcome of (unobserved) social processes that tend to be local and interactive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both regularities and irregularities in these local interactive processes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Statistical models are constructed such that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Local interactivity is permitted and assumptions about the form of ‘local interactions’ are explicit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Regularities are represented by model parameters and estimated from the data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Consequences of local regularities for global network properties can be understood and used for model evaluation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2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endogenous network processes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457200" y="1219200"/>
            <a:ext cx="8534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modeled?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Tie variables: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265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Node-level exogenous attribute variables are incorporated </a:t>
            </a:r>
            <a:r>
              <a:rPr b="0" i="0" lang="en-US" sz="23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0" lang="en-US" sz="23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3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Dependence assumption determine the neighborhoods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an actor (Markov)		Configurations for neighborhood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161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161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161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Realization-Dependent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1371600" y="3716867"/>
            <a:ext cx="762000" cy="550333"/>
            <a:chOff x="1600200" y="3810000"/>
            <a:chExt cx="1371600" cy="990600"/>
          </a:xfrm>
        </p:grpSpPr>
        <p:sp>
          <p:nvSpPr>
            <p:cNvPr id="182" name="Google Shape;182;p20"/>
            <p:cNvSpPr/>
            <p:nvPr/>
          </p:nvSpPr>
          <p:spPr>
            <a:xfrm>
              <a:off x="2133600" y="3810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535B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600200" y="4572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535B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2743200" y="4572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535B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5" name="Google Shape;185;p20"/>
            <p:cNvCxnSpPr/>
            <p:nvPr/>
          </p:nvCxnSpPr>
          <p:spPr>
            <a:xfrm rot="-5400000">
              <a:off x="1583461" y="4098061"/>
              <a:ext cx="676556" cy="49067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20"/>
            <p:cNvCxnSpPr/>
            <p:nvPr/>
          </p:nvCxnSpPr>
          <p:spPr>
            <a:xfrm flipH="1" rot="5400000">
              <a:off x="2309672" y="4024172"/>
              <a:ext cx="566878" cy="528778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7" name="Google Shape;187;p20"/>
          <p:cNvSpPr/>
          <p:nvPr/>
        </p:nvSpPr>
        <p:spPr>
          <a:xfrm>
            <a:off x="4495800" y="38354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4800600" y="38354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" name="Google Shape;189;p20"/>
          <p:cNvCxnSpPr/>
          <p:nvPr/>
        </p:nvCxnSpPr>
        <p:spPr>
          <a:xfrm rot="-5400000">
            <a:off x="4711700" y="3779495"/>
            <a:ext cx="1588" cy="21499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20"/>
          <p:cNvSpPr/>
          <p:nvPr/>
        </p:nvSpPr>
        <p:spPr>
          <a:xfrm>
            <a:off x="5181600" y="39116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410200" y="37338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0"/>
          <p:cNvCxnSpPr>
            <a:stCxn id="190" idx="7"/>
          </p:cNvCxnSpPr>
          <p:nvPr/>
        </p:nvCxnSpPr>
        <p:spPr>
          <a:xfrm flipH="1" rot="10800000">
            <a:off x="5290001" y="3809899"/>
            <a:ext cx="150600" cy="1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20"/>
          <p:cNvSpPr/>
          <p:nvPr/>
        </p:nvSpPr>
        <p:spPr>
          <a:xfrm>
            <a:off x="5410200" y="40640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" name="Google Shape;194;p20"/>
          <p:cNvCxnSpPr>
            <a:endCxn id="193" idx="5"/>
          </p:cNvCxnSpPr>
          <p:nvPr/>
        </p:nvCxnSpPr>
        <p:spPr>
          <a:xfrm>
            <a:off x="5257901" y="3993601"/>
            <a:ext cx="260700" cy="17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0"/>
          <p:cNvSpPr/>
          <p:nvPr/>
        </p:nvSpPr>
        <p:spPr>
          <a:xfrm>
            <a:off x="5740400" y="39116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969000" y="37338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" name="Google Shape;197;p20"/>
          <p:cNvCxnSpPr>
            <a:stCxn id="195" idx="7"/>
          </p:cNvCxnSpPr>
          <p:nvPr/>
        </p:nvCxnSpPr>
        <p:spPr>
          <a:xfrm flipH="1" rot="10800000">
            <a:off x="5848801" y="3809899"/>
            <a:ext cx="150600" cy="1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0"/>
          <p:cNvSpPr/>
          <p:nvPr/>
        </p:nvSpPr>
        <p:spPr>
          <a:xfrm>
            <a:off x="5969000" y="40640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p20"/>
          <p:cNvCxnSpPr>
            <a:endCxn id="198" idx="5"/>
          </p:cNvCxnSpPr>
          <p:nvPr/>
        </p:nvCxnSpPr>
        <p:spPr>
          <a:xfrm>
            <a:off x="5816701" y="3993601"/>
            <a:ext cx="260700" cy="17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20"/>
          <p:cNvSpPr/>
          <p:nvPr/>
        </p:nvSpPr>
        <p:spPr>
          <a:xfrm>
            <a:off x="6121400" y="38989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20"/>
          <p:cNvCxnSpPr/>
          <p:nvPr/>
        </p:nvCxnSpPr>
        <p:spPr>
          <a:xfrm>
            <a:off x="5867400" y="3962400"/>
            <a:ext cx="304800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20"/>
          <p:cNvSpPr/>
          <p:nvPr/>
        </p:nvSpPr>
        <p:spPr>
          <a:xfrm>
            <a:off x="6502400" y="39116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6731000" y="37338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0"/>
          <p:cNvCxnSpPr>
            <a:stCxn id="202" idx="7"/>
          </p:cNvCxnSpPr>
          <p:nvPr/>
        </p:nvCxnSpPr>
        <p:spPr>
          <a:xfrm flipH="1" rot="10800000">
            <a:off x="6610801" y="3809899"/>
            <a:ext cx="150600" cy="1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0"/>
          <p:cNvSpPr/>
          <p:nvPr/>
        </p:nvSpPr>
        <p:spPr>
          <a:xfrm>
            <a:off x="6731000" y="40640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" name="Google Shape;206;p20"/>
          <p:cNvCxnSpPr>
            <a:endCxn id="205" idx="5"/>
          </p:cNvCxnSpPr>
          <p:nvPr/>
        </p:nvCxnSpPr>
        <p:spPr>
          <a:xfrm>
            <a:off x="6578701" y="3993601"/>
            <a:ext cx="260700" cy="17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0"/>
          <p:cNvSpPr/>
          <p:nvPr/>
        </p:nvSpPr>
        <p:spPr>
          <a:xfrm>
            <a:off x="6883400" y="377825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20"/>
          <p:cNvCxnSpPr>
            <a:endCxn id="207" idx="3"/>
          </p:cNvCxnSpPr>
          <p:nvPr/>
        </p:nvCxnSpPr>
        <p:spPr>
          <a:xfrm flipH="1" rot="10800000">
            <a:off x="6578599" y="3886651"/>
            <a:ext cx="323400" cy="1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20"/>
          <p:cNvSpPr/>
          <p:nvPr/>
        </p:nvSpPr>
        <p:spPr>
          <a:xfrm>
            <a:off x="6883400" y="39624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20"/>
          <p:cNvCxnSpPr>
            <a:stCxn id="202" idx="6"/>
            <a:endCxn id="209" idx="2"/>
          </p:cNvCxnSpPr>
          <p:nvPr/>
        </p:nvCxnSpPr>
        <p:spPr>
          <a:xfrm>
            <a:off x="6629400" y="3975100"/>
            <a:ext cx="254100" cy="50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0"/>
          <p:cNvSpPr/>
          <p:nvPr/>
        </p:nvSpPr>
        <p:spPr>
          <a:xfrm>
            <a:off x="7874000" y="39116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8102600" y="37338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0"/>
          <p:cNvCxnSpPr>
            <a:stCxn id="211" idx="7"/>
          </p:cNvCxnSpPr>
          <p:nvPr/>
        </p:nvCxnSpPr>
        <p:spPr>
          <a:xfrm flipH="1" rot="10800000">
            <a:off x="7982401" y="3809899"/>
            <a:ext cx="150600" cy="12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0"/>
          <p:cNvSpPr/>
          <p:nvPr/>
        </p:nvSpPr>
        <p:spPr>
          <a:xfrm>
            <a:off x="8102600" y="40640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" name="Google Shape;215;p20"/>
          <p:cNvCxnSpPr>
            <a:endCxn id="214" idx="5"/>
          </p:cNvCxnSpPr>
          <p:nvPr/>
        </p:nvCxnSpPr>
        <p:spPr>
          <a:xfrm>
            <a:off x="7950301" y="3993601"/>
            <a:ext cx="260700" cy="17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20"/>
          <p:cNvCxnSpPr/>
          <p:nvPr/>
        </p:nvCxnSpPr>
        <p:spPr>
          <a:xfrm rot="5400000">
            <a:off x="8014494" y="3974306"/>
            <a:ext cx="330200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20"/>
          <p:cNvSpPr txBox="1"/>
          <p:nvPr/>
        </p:nvSpPr>
        <p:spPr>
          <a:xfrm>
            <a:off x="4419600" y="4419600"/>
            <a:ext cx="4495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	2-star	3-star	4-star	…	Triangle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L(x)	S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	S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	S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(x)		T(x)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 rot="8003323">
            <a:off x="1857461" y="584902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 rot="8003323">
            <a:off x="1872233" y="5342865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 rot="8003323">
            <a:off x="1317175" y="5846858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20"/>
          <p:cNvCxnSpPr/>
          <p:nvPr/>
        </p:nvCxnSpPr>
        <p:spPr>
          <a:xfrm flipH="1">
            <a:off x="1926266" y="5410200"/>
            <a:ext cx="2311" cy="48630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0"/>
          <p:cNvSpPr/>
          <p:nvPr/>
        </p:nvSpPr>
        <p:spPr>
          <a:xfrm rot="8003323">
            <a:off x="1321668" y="5335029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3" name="Google Shape;223;p20"/>
          <p:cNvCxnSpPr/>
          <p:nvPr/>
        </p:nvCxnSpPr>
        <p:spPr>
          <a:xfrm flipH="1">
            <a:off x="1375701" y="5381098"/>
            <a:ext cx="2311" cy="48630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20"/>
          <p:cNvCxnSpPr/>
          <p:nvPr/>
        </p:nvCxnSpPr>
        <p:spPr>
          <a:xfrm>
            <a:off x="1371600" y="5408612"/>
            <a:ext cx="609600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20"/>
          <p:cNvCxnSpPr/>
          <p:nvPr/>
        </p:nvCxnSpPr>
        <p:spPr>
          <a:xfrm>
            <a:off x="1371600" y="5942012"/>
            <a:ext cx="609600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20"/>
          <p:cNvSpPr/>
          <p:nvPr/>
        </p:nvSpPr>
        <p:spPr>
          <a:xfrm>
            <a:off x="4419600" y="5530399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4648200" y="5352599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4673600" y="57404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4902200" y="55118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20"/>
          <p:cNvCxnSpPr/>
          <p:nvPr/>
        </p:nvCxnSpPr>
        <p:spPr>
          <a:xfrm rot="-5400000">
            <a:off x="4543254" y="5413547"/>
            <a:ext cx="120199" cy="15070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20"/>
          <p:cNvCxnSpPr/>
          <p:nvPr/>
        </p:nvCxnSpPr>
        <p:spPr>
          <a:xfrm>
            <a:off x="4495800" y="5612498"/>
            <a:ext cx="260801" cy="17870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20"/>
          <p:cNvCxnSpPr/>
          <p:nvPr/>
        </p:nvCxnSpPr>
        <p:spPr>
          <a:xfrm flipH="1" rot="-5400000">
            <a:off x="4743227" y="5347382"/>
            <a:ext cx="204102" cy="2725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20"/>
          <p:cNvCxnSpPr/>
          <p:nvPr/>
        </p:nvCxnSpPr>
        <p:spPr>
          <a:xfrm rot="5400000">
            <a:off x="4779740" y="5588223"/>
            <a:ext cx="152400" cy="19639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4" name="Google Shape;234;p20"/>
          <p:cNvGrpSpPr/>
          <p:nvPr/>
        </p:nvGrpSpPr>
        <p:grpSpPr>
          <a:xfrm rot="5400000">
            <a:off x="5486400" y="5410200"/>
            <a:ext cx="355600" cy="457200"/>
            <a:chOff x="5486400" y="5410200"/>
            <a:chExt cx="355600" cy="457200"/>
          </a:xfrm>
        </p:grpSpPr>
        <p:sp>
          <p:nvSpPr>
            <p:cNvPr id="235" name="Google Shape;235;p20"/>
            <p:cNvSpPr/>
            <p:nvPr/>
          </p:nvSpPr>
          <p:spPr>
            <a:xfrm>
              <a:off x="5486400" y="5588000"/>
              <a:ext cx="127000" cy="1270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535B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5715000" y="5410200"/>
              <a:ext cx="127000" cy="1270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535B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7" name="Google Shape;237;p20"/>
            <p:cNvCxnSpPr/>
            <p:nvPr/>
          </p:nvCxnSpPr>
          <p:spPr>
            <a:xfrm rot="-5400000">
              <a:off x="5610054" y="5471148"/>
              <a:ext cx="120199" cy="150704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8" name="Google Shape;238;p20"/>
            <p:cNvSpPr/>
            <p:nvPr/>
          </p:nvSpPr>
          <p:spPr>
            <a:xfrm>
              <a:off x="5715000" y="5740400"/>
              <a:ext cx="127000" cy="1270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rgbClr val="535B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9" name="Google Shape;239;p20"/>
            <p:cNvCxnSpPr/>
            <p:nvPr/>
          </p:nvCxnSpPr>
          <p:spPr>
            <a:xfrm>
              <a:off x="5562600" y="5670099"/>
              <a:ext cx="260801" cy="178702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40" name="Google Shape;240;p20"/>
          <p:cNvCxnSpPr/>
          <p:nvPr/>
        </p:nvCxnSpPr>
        <p:spPr>
          <a:xfrm>
            <a:off x="6096000" y="7010400"/>
            <a:ext cx="914400" cy="91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20"/>
          <p:cNvSpPr/>
          <p:nvPr/>
        </p:nvSpPr>
        <p:spPr>
          <a:xfrm>
            <a:off x="5588000" y="5181600"/>
            <a:ext cx="127000" cy="127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rgbClr val="535B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0"/>
          <p:cNvCxnSpPr/>
          <p:nvPr/>
        </p:nvCxnSpPr>
        <p:spPr>
          <a:xfrm flipH="1" rot="-5400000">
            <a:off x="5575299" y="5410199"/>
            <a:ext cx="399600" cy="15920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0"/>
          <p:cNvCxnSpPr>
            <a:stCxn id="241" idx="3"/>
            <a:endCxn id="238" idx="4"/>
          </p:cNvCxnSpPr>
          <p:nvPr/>
        </p:nvCxnSpPr>
        <p:spPr>
          <a:xfrm flipH="1">
            <a:off x="5435599" y="5290001"/>
            <a:ext cx="171000" cy="46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20"/>
          <p:cNvCxnSpPr>
            <a:stCxn id="238" idx="7"/>
            <a:endCxn id="236" idx="5"/>
          </p:cNvCxnSpPr>
          <p:nvPr/>
        </p:nvCxnSpPr>
        <p:spPr>
          <a:xfrm>
            <a:off x="5544001" y="5798001"/>
            <a:ext cx="240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0"/>
          <p:cNvSpPr txBox="1"/>
          <p:nvPr/>
        </p:nvSpPr>
        <p:spPr>
          <a:xfrm>
            <a:off x="4419600" y="5909846"/>
            <a:ext cx="4495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4-cycle	2-triangle	…		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Dependence assumptions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Bernoulli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Possible edges are independent of each other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Yields one parameter for each possible edge (too many!)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assume that the edge effect is the same across the network (homogeneity assumption: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θ)			   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where L is the number of edges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Dependence assumptions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Dyadic independence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Useful for directed graphs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Dyads are assumed to be independent of one another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Yields two parameters: one for the probability of dyads to exist, and one for the probability of a mutual tie to exist within the dyads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342900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L is the number of arcs and M the number of reciprocal arcs in the observed network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Dependence assumptions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more relaxed Bernoulli-based homogeneity assumptions: Two-blocks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Homogenous Bernoulli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Bernoulli Blockmodel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Homogeneous Dyad-independent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Dyad-independent block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Dyad-independent block with block reciprocity parameters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Dependence assumptions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Markov random graphs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Edges are conditionally independent if and only if they share a node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the parameters, several random graphs are simulated to generate a distribution with which to compare the observed network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Random Graphs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graphs: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graphs for 22 nodes, 0.2 density: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= -2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914400" y="2743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00" y="2667000"/>
            <a:ext cx="5839779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Random Graphs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graphs: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graphs for 22 nodes, 0.2 density: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= -2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2-star = 0.5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3-star = -0.3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914400" y="2743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0" y="2667000"/>
            <a:ext cx="5839778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Random Graphs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graphs: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graphs for 22 nodes, 0.2 density: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= -2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2-star = 0.5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3-star = -0.3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760" lvl="2" marL="82296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Triangle = 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914400" y="2743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022" y="2667000"/>
            <a:ext cx="5839778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Parameter estimation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the most likely values for the edge, 2-star, 3-star, triangle parameters and test this value against a specific value (usually 0).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statistical test is performed using the Markov random graphs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estimations is done with pseudo-likelihood or Monte Carlo Markov chain maximum likelihood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 software: PNet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http://www.sna.unimelb.edu.au/pnet/pnet.html</a:t>
            </a:r>
            <a:endParaRPr b="0" i="0" sz="2300" u="none" cap="none" strike="noStrike">
              <a:solidFill>
                <a:schemeClr val="dk2"/>
              </a:solidFill>
              <a:uFill>
                <a:noFill/>
              </a:uFill>
              <a:latin typeface="Arial"/>
              <a:ea typeface="Arial"/>
              <a:cs typeface="Arial"/>
              <a:sym typeface="Arial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Download the manual and the “PNet for Dummies” guide and read the Readme.txt file prior to downloading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software: SIENA in STOCNET, SatNet module in R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Parameter estimation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Fifth grade data using PNet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" name="Google Shape;315;p29"/>
          <p:cNvGraphicFramePr/>
          <p:nvPr/>
        </p:nvGraphicFramePr>
        <p:xfrm>
          <a:off x="914400" y="1752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{60D28E28-C132-4E88-A708-E5BE6A5CEC5E}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Std</a:t>
                      </a:r>
                      <a:r>
                        <a:rPr lang="en-US"/>
                        <a:t> Error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-1.148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1.586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Reciprocity: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2.396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1.178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-0.017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Mixed-2-Star: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-0.308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0.140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030T: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-0.459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" name="Google Shape;316;p29"/>
          <p:cNvSpPr txBox="1"/>
          <p:nvPr/>
        </p:nvSpPr>
        <p:spPr>
          <a:xfrm>
            <a:off x="6248400" y="1905000"/>
            <a:ext cx="2895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is smaller than expected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9"/>
          <p:cNvSpPr txBox="1"/>
          <p:nvPr/>
        </p:nvSpPr>
        <p:spPr>
          <a:xfrm>
            <a:off x="6324600" y="2590800"/>
            <a:ext cx="2819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However, once a contact is made, it is likely to be reciprocal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6324600" y="4343400"/>
            <a:ext cx="17526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tendency towards transitive triangles, but not complete triangles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exogenous network processes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Homophily: are ties more likely among individuals that share certain attributes?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 the tie more likely once we consider Y?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940" lvl="1" marL="54864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add another parameter to control for the attributes</a:t>
            </a:r>
            <a:endParaRPr b="0" i="0" sz="2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exogenous network processes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fifth grade data set, are ties more likely once we consider gender?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3" name="Google Shape;333;p31"/>
          <p:cNvGraphicFramePr/>
          <p:nvPr/>
        </p:nvGraphicFramePr>
        <p:xfrm>
          <a:off x="3394837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{60D28E28-C132-4E88-A708-E5BE6A5CEC5E}</a:tableStyleId>
              </a:tblPr>
              <a:tblGrid>
                <a:gridCol w="1504825"/>
                <a:gridCol w="1198875"/>
                <a:gridCol w="1256025"/>
                <a:gridCol w="570225"/>
              </a:tblGrid>
              <a:tr h="33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Std</a:t>
                      </a:r>
                      <a:r>
                        <a:rPr lang="en-US"/>
                        <a:t> Error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-0.679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Reciprocity: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1.922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Mixed-2-Star: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-0.333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030T: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 for Attribute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 for Attribute</a:t>
                      </a: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 for Attribute</a:t>
                      </a: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-1.391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exogenous network processes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fifth grade data set, are ties more likely once we consider gender?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1" name="Google Shape;341;p32"/>
          <p:cNvGraphicFramePr/>
          <p:nvPr/>
        </p:nvGraphicFramePr>
        <p:xfrm>
          <a:off x="3394837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{60D28E28-C132-4E88-A708-E5BE6A5CEC5E}</a:tableStyleId>
              </a:tblPr>
              <a:tblGrid>
                <a:gridCol w="1504825"/>
                <a:gridCol w="1198875"/>
                <a:gridCol w="1256025"/>
                <a:gridCol w="570225"/>
              </a:tblGrid>
              <a:tr h="33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Std</a:t>
                      </a:r>
                      <a:r>
                        <a:rPr lang="en-US"/>
                        <a:t> Error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-0.679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Reciprocity: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1.922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Mixed-2-Star: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-0.333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030T: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 for Attribute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-1.391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342" name="Google Shape;342;p32"/>
          <p:cNvSpPr txBox="1"/>
          <p:nvPr/>
        </p:nvSpPr>
        <p:spPr>
          <a:xfrm>
            <a:off x="457200" y="2362200"/>
            <a:ext cx="2819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ties exist, they are likely to be reciprocal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exogenous network processes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fifth grade data set, are ties more likely once we consider gender?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0" name="Google Shape;350;p33"/>
          <p:cNvGraphicFramePr/>
          <p:nvPr/>
        </p:nvGraphicFramePr>
        <p:xfrm>
          <a:off x="3394837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{60D28E28-C132-4E88-A708-E5BE6A5CEC5E}</a:tableStyleId>
              </a:tblPr>
              <a:tblGrid>
                <a:gridCol w="1504825"/>
                <a:gridCol w="1198875"/>
                <a:gridCol w="1256025"/>
                <a:gridCol w="570225"/>
              </a:tblGrid>
              <a:tr h="33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Std</a:t>
                      </a:r>
                      <a:r>
                        <a:rPr lang="en-US"/>
                        <a:t> Error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-0.679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Reciprocity: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1.922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Mixed-2-Star: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-0.333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030T: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 for Attribute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-1.391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351" name="Google Shape;351;p33"/>
          <p:cNvSpPr txBox="1"/>
          <p:nvPr/>
        </p:nvSpPr>
        <p:spPr>
          <a:xfrm>
            <a:off x="533400" y="3810000"/>
            <a:ext cx="2743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Transitive triangles are more likely than what would be expected by random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exogenous network processes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fifth grade data set, are ties more likely once we consider gender?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9" name="Google Shape;359;p34"/>
          <p:cNvGraphicFramePr/>
          <p:nvPr/>
        </p:nvGraphicFramePr>
        <p:xfrm>
          <a:off x="3394837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{60D28E28-C132-4E88-A708-E5BE6A5CEC5E}</a:tableStyleId>
              </a:tblPr>
              <a:tblGrid>
                <a:gridCol w="1504825"/>
                <a:gridCol w="1198875"/>
                <a:gridCol w="1256025"/>
                <a:gridCol w="570225"/>
              </a:tblGrid>
              <a:tr h="33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Std</a:t>
                      </a:r>
                      <a:r>
                        <a:rPr lang="en-US"/>
                        <a:t> Error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-0.679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Reciprocity: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1.922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Mixed-2-Star: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-0.333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030T: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 for Attribute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-1.391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360" name="Google Shape;360;p34"/>
          <p:cNvSpPr txBox="1"/>
          <p:nvPr/>
        </p:nvSpPr>
        <p:spPr>
          <a:xfrm>
            <a:off x="533400" y="5029200"/>
            <a:ext cx="2667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both actors share the attribute (male), it is more likely that they will have a tie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exogenous network processes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fifth grade data set, are ties more likely once we consider gender?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8" name="Google Shape;368;p35"/>
          <p:cNvGraphicFramePr/>
          <p:nvPr/>
        </p:nvGraphicFramePr>
        <p:xfrm>
          <a:off x="3394837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{60D28E28-C132-4E88-A708-E5BE6A5CEC5E}</a:tableStyleId>
              </a:tblPr>
              <a:tblGrid>
                <a:gridCol w="1504825"/>
                <a:gridCol w="1198875"/>
                <a:gridCol w="1256025"/>
                <a:gridCol w="570225"/>
              </a:tblGrid>
              <a:tr h="33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Std</a:t>
                      </a:r>
                      <a:r>
                        <a:rPr lang="en-US"/>
                        <a:t> Error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-0.679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Reciprocity: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1.922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Mixed-2-Star: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-0.333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030T: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 for Attribute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 for Attribute</a:t>
                      </a: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-1.391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369" name="Google Shape;369;p35"/>
          <p:cNvSpPr txBox="1"/>
          <p:nvPr/>
        </p:nvSpPr>
        <p:spPr>
          <a:xfrm>
            <a:off x="533400" y="5325070"/>
            <a:ext cx="2667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Boys receive less ties than you would expect by chance from girls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Modeling exogenous network processes </a:t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fifth grade data set, are ties more likely once we consider gender?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81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7" name="Google Shape;377;p36"/>
          <p:cNvGraphicFramePr/>
          <p:nvPr/>
        </p:nvGraphicFramePr>
        <p:xfrm>
          <a:off x="3394837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{60D28E28-C132-4E88-A708-E5BE6A5CEC5E}</a:tableStyleId>
              </a:tblPr>
              <a:tblGrid>
                <a:gridCol w="1504825"/>
                <a:gridCol w="1198875"/>
                <a:gridCol w="1256025"/>
                <a:gridCol w="570225"/>
              </a:tblGrid>
              <a:tr h="33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Estimate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Std</a:t>
                      </a:r>
                      <a:r>
                        <a:rPr lang="en-US"/>
                        <a:t> Error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-0.679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Reciprocity: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1.922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0.245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-0.036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3-In-Star: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-0.064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3-Out-Star: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Mixed-2-Star: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-0.333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030T: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0.372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0.093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030C: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-0.176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0.218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Rb for Attribute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2.306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 for Attribute</a:t>
                      </a: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-0.412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0.447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Rr for Attribute</a:t>
                      </a: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-1.391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0.687</a:t>
                      </a:r>
                      <a:endParaRPr/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strike="noStrike">
                          <a:solidFill>
                            <a:srgbClr val="BFBFB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  <p:sp>
        <p:nvSpPr>
          <p:cNvPr id="378" name="Google Shape;378;p36"/>
          <p:cNvSpPr txBox="1"/>
          <p:nvPr/>
        </p:nvSpPr>
        <p:spPr>
          <a:xfrm>
            <a:off x="533400" y="5029200"/>
            <a:ext cx="2667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Likelihood that boys (attribute 1) are sending ties to girls (non attributes)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