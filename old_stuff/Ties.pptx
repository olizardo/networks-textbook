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Economica"/>
      <p:regular r:id="rId41"/>
      <p:bold r:id="rId42"/>
      <p:italic r:id="rId43"/>
      <p:boldItalic r:id="rId44"/>
    </p:embeddedFont>
    <p:embeddedFont>
      <p:font typeface="Oxygen"/>
      <p:regular r:id="rId45"/>
      <p:bold r:id="rId46"/>
    </p:embeddedFont>
    <p:embeddedFont>
      <p:font typeface="Cantarell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Economica-bold.fntdata"/><Relationship Id="rId41" Type="http://schemas.openxmlformats.org/officeDocument/2006/relationships/font" Target="fonts/Economica-regular.fntdata"/><Relationship Id="rId44" Type="http://schemas.openxmlformats.org/officeDocument/2006/relationships/font" Target="fonts/Economica-boldItalic.fntdata"/><Relationship Id="rId43" Type="http://schemas.openxmlformats.org/officeDocument/2006/relationships/font" Target="fonts/Economica-italic.fntdata"/><Relationship Id="rId46" Type="http://schemas.openxmlformats.org/officeDocument/2006/relationships/font" Target="fonts/Oxygen-bold.fntdata"/><Relationship Id="rId45" Type="http://schemas.openxmlformats.org/officeDocument/2006/relationships/font" Target="fonts/Oxygen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antarell-bold.fntdata"/><Relationship Id="rId47" Type="http://schemas.openxmlformats.org/officeDocument/2006/relationships/font" Target="fonts/Cantarell-regular.fntdata"/><Relationship Id="rId49" Type="http://schemas.openxmlformats.org/officeDocument/2006/relationships/font" Target="fonts/Cantarell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regular.fntdata"/><Relationship Id="rId50" Type="http://schemas.openxmlformats.org/officeDocument/2006/relationships/font" Target="fonts/Cantarell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754d5ffc4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b754d5ffc4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3fe55fe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3fe55fe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01adc654e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01adc654e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401adc654e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401adc654e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01adc654e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01adc654e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01adc654e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01adc654e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81ce690ab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81ce690ab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81ce690ab_1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81ce690ab_1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81ce690ab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81ce690ab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81ce690ab_1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81ce690ab_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481ce690ab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481ce690ab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81ce690ab_1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81ce690ab_1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481ce690ab_1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481ce690ab_1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92b416e9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492b416e9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481ce690ab_1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481ce690ab_1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b754d5ffc4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b754d5ffc4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481ce690ab_1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481ce690ab_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481ce690ab_1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481ce690ab_1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492b416e9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492b416e9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492b416e9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492b416e9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492b416e9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492b416e9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492b416e9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492b416e9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492b416e96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492b416e96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492b416e96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492b416e96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481ce690ab_1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481ce690ab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481ce690ab_1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481ce690ab_1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492b416e9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492b416e9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492b416e96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492b416e96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401adc654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401adc654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481ce690ab_1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481ce690ab_1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481ce690ab_1_1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481ce690ab_1_1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481ce690ab_1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481ce690ab_1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481ce690ab_1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481ce690ab_1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481ce690ab_1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481ce690ab_1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4.jpg"/><Relationship Id="rId5" Type="http://schemas.openxmlformats.org/officeDocument/2006/relationships/image" Target="../media/image6.png"/><Relationship Id="rId6" Type="http://schemas.openxmlformats.org/officeDocument/2006/relationships/image" Target="../media/image3.jpg"/><Relationship Id="rId7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Ties in Social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have a social tie?</a:t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225225"/>
            <a:ext cx="8520600" cy="15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connected via </a:t>
            </a:r>
            <a:r>
              <a:rPr b="1" lang="en"/>
              <a:t>similarity</a:t>
            </a:r>
            <a:r>
              <a:rPr lang="en"/>
              <a:t> if they have something in common: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in the same place at the same time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Belonging to the same group or club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Sharing a socio-demographic attribute (gender, national, or ethnoracial, identity)</a:t>
            </a:r>
            <a:endParaRPr/>
          </a:p>
        </p:txBody>
      </p:sp>
      <p:sp>
        <p:nvSpPr>
          <p:cNvPr id="118" name="Google Shape;118;p27"/>
          <p:cNvSpPr txBox="1"/>
          <p:nvPr/>
        </p:nvSpPr>
        <p:spPr>
          <a:xfrm>
            <a:off x="545400" y="460430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Screenshot 2017-08-22 at 09.35.16.png" id="119" name="Google Shape;119;p27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911963" y="2639000"/>
            <a:ext cx="7320075" cy="19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/>
          <p:nvPr/>
        </p:nvSpPr>
        <p:spPr>
          <a:xfrm>
            <a:off x="835650" y="2649475"/>
            <a:ext cx="25782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have a social tie?</a:t>
            </a:r>
            <a:endParaRPr/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311700" y="1225225"/>
            <a:ext cx="8520600" cy="15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connected via </a:t>
            </a:r>
            <a:r>
              <a:rPr b="1" lang="en"/>
              <a:t>relations</a:t>
            </a:r>
            <a:r>
              <a:rPr lang="en"/>
              <a:t> if they acknowledge one another via a culturally recognized label or have some feeling (positive or negative) toward one another: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Friends, enemies, frenemies, brother, sister, parent,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Neighbor, </a:t>
            </a:r>
            <a:r>
              <a:rPr lang="en"/>
              <a:t>acquaintance, boss, husband, girlfriend, nemesis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8"/>
          <p:cNvSpPr txBox="1"/>
          <p:nvPr/>
        </p:nvSpPr>
        <p:spPr>
          <a:xfrm>
            <a:off x="545400" y="460430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Screenshot 2017-08-22 at 09.35.16.png" id="128" name="Google Shape;128;p28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911963" y="2639000"/>
            <a:ext cx="7320075" cy="19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8"/>
          <p:cNvSpPr/>
          <p:nvPr/>
        </p:nvSpPr>
        <p:spPr>
          <a:xfrm>
            <a:off x="3232500" y="2617550"/>
            <a:ext cx="31290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have a social tie?</a:t>
            </a:r>
            <a:endParaRPr/>
          </a:p>
        </p:txBody>
      </p:sp>
      <p:sp>
        <p:nvSpPr>
          <p:cNvPr id="135" name="Google Shape;135;p29"/>
          <p:cNvSpPr txBox="1"/>
          <p:nvPr>
            <p:ph idx="1" type="body"/>
          </p:nvPr>
        </p:nvSpPr>
        <p:spPr>
          <a:xfrm>
            <a:off x="311700" y="1225225"/>
            <a:ext cx="8520600" cy="15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connected via </a:t>
            </a:r>
            <a:r>
              <a:rPr b="1" lang="en"/>
              <a:t>interactions</a:t>
            </a:r>
            <a:r>
              <a:rPr lang="en"/>
              <a:t> if they regularly communicate or direct some kind of behavior (negative or positive) toward one another: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Texting, pen pals, talking, bullying, teasing, helping, have sex with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9"/>
          <p:cNvSpPr txBox="1"/>
          <p:nvPr/>
        </p:nvSpPr>
        <p:spPr>
          <a:xfrm>
            <a:off x="545400" y="460430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Screenshot 2017-08-22 at 09.35.16.png" id="137" name="Google Shape;137;p29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911963" y="2639000"/>
            <a:ext cx="7320075" cy="19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9"/>
          <p:cNvSpPr/>
          <p:nvPr/>
        </p:nvSpPr>
        <p:spPr>
          <a:xfrm>
            <a:off x="6147575" y="2639000"/>
            <a:ext cx="12762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have a social tie?</a:t>
            </a:r>
            <a:endParaRPr/>
          </a:p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311700" y="1225225"/>
            <a:ext cx="8520600" cy="15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are connected via </a:t>
            </a:r>
            <a:r>
              <a:rPr b="1" lang="en"/>
              <a:t>flows</a:t>
            </a:r>
            <a:r>
              <a:rPr lang="en"/>
              <a:t> if something is transmitted or passed along from one </a:t>
            </a:r>
            <a:r>
              <a:rPr lang="en"/>
              <a:t>person</a:t>
            </a:r>
            <a:r>
              <a:rPr lang="en"/>
              <a:t> to another: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Communicating, infecting, lending, borrowing, influencing, convincing, advising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0"/>
          <p:cNvSpPr txBox="1"/>
          <p:nvPr/>
        </p:nvSpPr>
        <p:spPr>
          <a:xfrm>
            <a:off x="545400" y="460430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Screenshot 2017-08-22 at 09.35.16.png" id="146" name="Google Shape;146;p30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911963" y="2639000"/>
            <a:ext cx="7320075" cy="19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0"/>
          <p:cNvSpPr/>
          <p:nvPr/>
        </p:nvSpPr>
        <p:spPr>
          <a:xfrm>
            <a:off x="7216450" y="2617550"/>
            <a:ext cx="9846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have a social tie?</a:t>
            </a:r>
            <a:endParaRPr/>
          </a:p>
        </p:txBody>
      </p:sp>
      <p:sp>
        <p:nvSpPr>
          <p:cNvPr id="153" name="Google Shape;153;p31"/>
          <p:cNvSpPr txBox="1"/>
          <p:nvPr>
            <p:ph idx="1" type="body"/>
          </p:nvPr>
        </p:nvSpPr>
        <p:spPr>
          <a:xfrm>
            <a:off x="311700" y="1225225"/>
            <a:ext cx="8520600" cy="15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We can divide the four different types of social ties into two clusters: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Similarities and relations are types of </a:t>
            </a:r>
            <a:r>
              <a:rPr b="1" lang="en">
                <a:solidFill>
                  <a:srgbClr val="FF0000"/>
                </a:solidFill>
              </a:rPr>
              <a:t>states</a:t>
            </a:r>
            <a:r>
              <a:rPr b="1" lang="en"/>
              <a:t> </a:t>
            </a:r>
            <a:r>
              <a:rPr lang="en"/>
              <a:t>(static situations)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 and flows are types of </a:t>
            </a:r>
            <a:r>
              <a:rPr b="1" lang="en">
                <a:solidFill>
                  <a:srgbClr val="0000FF"/>
                </a:solidFill>
              </a:rPr>
              <a:t>events</a:t>
            </a:r>
            <a:r>
              <a:rPr b="1" lang="en"/>
              <a:t> </a:t>
            </a:r>
            <a:r>
              <a:rPr lang="en"/>
              <a:t>(processes in time)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1"/>
          <p:cNvSpPr txBox="1"/>
          <p:nvPr/>
        </p:nvSpPr>
        <p:spPr>
          <a:xfrm>
            <a:off x="545400" y="4604300"/>
            <a:ext cx="80532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Borgatti, S. P., Mehra, A., Brass, D. J., &amp; Labianca, G. (2009). Network analysis in the social sciences. </a:t>
            </a:r>
            <a:r>
              <a:rPr i="1" lang="en">
                <a:latin typeface="Economica"/>
                <a:ea typeface="Economica"/>
                <a:cs typeface="Economica"/>
                <a:sym typeface="Economica"/>
              </a:rPr>
              <a:t>Science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, 323(5916), 892-895.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Screenshot 2017-08-22 at 09.35.16.png" id="155" name="Google Shape;155;p31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911963" y="2639000"/>
            <a:ext cx="7320075" cy="196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1"/>
          <p:cNvSpPr/>
          <p:nvPr/>
        </p:nvSpPr>
        <p:spPr>
          <a:xfrm>
            <a:off x="545400" y="2617550"/>
            <a:ext cx="57771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31"/>
          <p:cNvSpPr/>
          <p:nvPr/>
        </p:nvSpPr>
        <p:spPr>
          <a:xfrm>
            <a:off x="6173500" y="2617550"/>
            <a:ext cx="2280300" cy="2008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Ties: Sociological Classification</a:t>
            </a:r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981388" y="4158850"/>
            <a:ext cx="1448700" cy="4368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Hanging Out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2793648" y="4054138"/>
            <a:ext cx="1676700" cy="436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Friendship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" name="Google Shape;165;p32"/>
          <p:cNvSpPr/>
          <p:nvPr/>
        </p:nvSpPr>
        <p:spPr>
          <a:xfrm>
            <a:off x="5615586" y="4595638"/>
            <a:ext cx="1676700" cy="4368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Texting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864736" y="3096063"/>
            <a:ext cx="15345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ntarell"/>
                <a:ea typeface="Cantarell"/>
                <a:cs typeface="Cantarell"/>
                <a:sym typeface="Cantarell"/>
              </a:rPr>
              <a:t>Social Relations</a:t>
            </a:r>
            <a:endParaRPr i="1" sz="1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5634081" y="218118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Events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8" name="Google Shape;168;p32"/>
          <p:cNvCxnSpPr>
            <a:stCxn id="169" idx="2"/>
            <a:endCxn id="170" idx="0"/>
          </p:cNvCxnSpPr>
          <p:nvPr/>
        </p:nvCxnSpPr>
        <p:spPr>
          <a:xfrm rot="5400000">
            <a:off x="3387363" y="962400"/>
            <a:ext cx="696000" cy="17412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32"/>
          <p:cNvSpPr/>
          <p:nvPr/>
        </p:nvSpPr>
        <p:spPr>
          <a:xfrm>
            <a:off x="3503013" y="1147200"/>
            <a:ext cx="2205900" cy="337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285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xygen"/>
                <a:ea typeface="Oxygen"/>
                <a:cs typeface="Oxygen"/>
                <a:sym typeface="Oxygen"/>
              </a:rPr>
              <a:t>Social Tie Types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178213" y="4617606"/>
            <a:ext cx="1448700" cy="4368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Same Organization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" name="Google Shape;172;p32"/>
          <p:cNvSpPr/>
          <p:nvPr/>
        </p:nvSpPr>
        <p:spPr>
          <a:xfrm>
            <a:off x="1865745" y="4617606"/>
            <a:ext cx="1448700" cy="4368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Same Gender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" name="Google Shape;173;p32"/>
          <p:cNvSpPr/>
          <p:nvPr/>
        </p:nvSpPr>
        <p:spPr>
          <a:xfrm>
            <a:off x="1060288" y="3095988"/>
            <a:ext cx="12909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ntarell"/>
                <a:ea typeface="Cantarell"/>
                <a:cs typeface="Cantarell"/>
                <a:sym typeface="Cantarell"/>
              </a:rPr>
              <a:t>Similarities</a:t>
            </a:r>
            <a:endParaRPr i="1" sz="1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74" name="Google Shape;174;p32"/>
          <p:cNvCxnSpPr>
            <a:stCxn id="173" idx="2"/>
            <a:endCxn id="171" idx="0"/>
          </p:cNvCxnSpPr>
          <p:nvPr/>
        </p:nvCxnSpPr>
        <p:spPr>
          <a:xfrm rot="5400000">
            <a:off x="761788" y="3673638"/>
            <a:ext cx="1084800" cy="8031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32"/>
          <p:cNvCxnSpPr>
            <a:stCxn id="173" idx="2"/>
            <a:endCxn id="172" idx="0"/>
          </p:cNvCxnSpPr>
          <p:nvPr/>
        </p:nvCxnSpPr>
        <p:spPr>
          <a:xfrm flipH="1" rot="-5400000">
            <a:off x="1605538" y="3632988"/>
            <a:ext cx="1084800" cy="8844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32"/>
          <p:cNvCxnSpPr>
            <a:stCxn id="173" idx="2"/>
            <a:endCxn id="163" idx="0"/>
          </p:cNvCxnSpPr>
          <p:nvPr/>
        </p:nvCxnSpPr>
        <p:spPr>
          <a:xfrm>
            <a:off x="1705738" y="3532788"/>
            <a:ext cx="0" cy="62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32"/>
          <p:cNvSpPr/>
          <p:nvPr/>
        </p:nvSpPr>
        <p:spPr>
          <a:xfrm>
            <a:off x="1940588" y="2181050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28575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States</a:t>
            </a:r>
            <a:endParaRPr b="1"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7" name="Google Shape;177;p32"/>
          <p:cNvCxnSpPr>
            <a:stCxn id="169" idx="2"/>
            <a:endCxn id="167" idx="0"/>
          </p:cNvCxnSpPr>
          <p:nvPr/>
        </p:nvCxnSpPr>
        <p:spPr>
          <a:xfrm flipH="1" rot="-5400000">
            <a:off x="5234013" y="856950"/>
            <a:ext cx="696300" cy="1952400"/>
          </a:xfrm>
          <a:prstGeom prst="bentConnector3">
            <a:avLst>
              <a:gd fmla="val 4999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2"/>
          <p:cNvCxnSpPr>
            <a:stCxn id="179" idx="2"/>
            <a:endCxn id="165" idx="0"/>
          </p:cNvCxnSpPr>
          <p:nvPr/>
        </p:nvCxnSpPr>
        <p:spPr>
          <a:xfrm flipH="1" rot="-5400000">
            <a:off x="5464561" y="3606488"/>
            <a:ext cx="1104600" cy="873900"/>
          </a:xfrm>
          <a:prstGeom prst="bentConnector3">
            <a:avLst>
              <a:gd fmla="val 1238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32"/>
          <p:cNvCxnSpPr>
            <a:stCxn id="170" idx="2"/>
            <a:endCxn id="173" idx="0"/>
          </p:cNvCxnSpPr>
          <p:nvPr/>
        </p:nvCxnSpPr>
        <p:spPr>
          <a:xfrm rot="5400000">
            <a:off x="2046188" y="2277500"/>
            <a:ext cx="478200" cy="1158900"/>
          </a:xfrm>
          <a:prstGeom prst="bentConnector3">
            <a:avLst>
              <a:gd fmla="val 4999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32"/>
          <p:cNvCxnSpPr>
            <a:stCxn id="166" idx="0"/>
            <a:endCxn id="170" idx="2"/>
          </p:cNvCxnSpPr>
          <p:nvPr/>
        </p:nvCxnSpPr>
        <p:spPr>
          <a:xfrm flipH="1" rot="5400000">
            <a:off x="3009336" y="2473413"/>
            <a:ext cx="478200" cy="7671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2"/>
          <p:cNvCxnSpPr>
            <a:stCxn id="164" idx="0"/>
            <a:endCxn id="166" idx="2"/>
          </p:cNvCxnSpPr>
          <p:nvPr/>
        </p:nvCxnSpPr>
        <p:spPr>
          <a:xfrm rot="-5400000">
            <a:off x="3371598" y="3793138"/>
            <a:ext cx="521400" cy="600"/>
          </a:xfrm>
          <a:prstGeom prst="bent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32"/>
          <p:cNvSpPr/>
          <p:nvPr/>
        </p:nvSpPr>
        <p:spPr>
          <a:xfrm>
            <a:off x="3843492" y="4595638"/>
            <a:ext cx="1676700" cy="436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Knowing Someone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" name="Google Shape;179;p32"/>
          <p:cNvSpPr/>
          <p:nvPr/>
        </p:nvSpPr>
        <p:spPr>
          <a:xfrm>
            <a:off x="4741561" y="3054338"/>
            <a:ext cx="16767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ntarell"/>
                <a:ea typeface="Cantarell"/>
                <a:cs typeface="Cantarell"/>
                <a:sym typeface="Cantarell"/>
              </a:rPr>
              <a:t>Interactions</a:t>
            </a:r>
            <a:endParaRPr i="1" sz="1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4" name="Google Shape;184;p32"/>
          <p:cNvCxnSpPr>
            <a:stCxn id="185" idx="0"/>
            <a:endCxn id="166" idx="2"/>
          </p:cNvCxnSpPr>
          <p:nvPr/>
        </p:nvCxnSpPr>
        <p:spPr>
          <a:xfrm flipH="1" rot="5400000">
            <a:off x="4354867" y="2809888"/>
            <a:ext cx="521400" cy="1967100"/>
          </a:xfrm>
          <a:prstGeom prst="bent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32"/>
          <p:cNvCxnSpPr>
            <a:stCxn id="183" idx="0"/>
            <a:endCxn id="166" idx="2"/>
          </p:cNvCxnSpPr>
          <p:nvPr/>
        </p:nvCxnSpPr>
        <p:spPr>
          <a:xfrm flipH="1" rot="5400000">
            <a:off x="3625392" y="3539188"/>
            <a:ext cx="1062900" cy="1050000"/>
          </a:xfrm>
          <a:prstGeom prst="bentConnector3">
            <a:avLst>
              <a:gd fmla="val 6163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32"/>
          <p:cNvCxnSpPr>
            <a:stCxn id="167" idx="2"/>
            <a:endCxn id="179" idx="0"/>
          </p:cNvCxnSpPr>
          <p:nvPr/>
        </p:nvCxnSpPr>
        <p:spPr>
          <a:xfrm rot="5400000">
            <a:off x="5850831" y="2347088"/>
            <a:ext cx="436500" cy="978300"/>
          </a:xfrm>
          <a:prstGeom prst="bentConnector3">
            <a:avLst>
              <a:gd fmla="val 5001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32"/>
          <p:cNvSpPr/>
          <p:nvPr/>
        </p:nvSpPr>
        <p:spPr>
          <a:xfrm>
            <a:off x="6980787" y="3054350"/>
            <a:ext cx="954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latin typeface="Cantarell"/>
                <a:ea typeface="Cantarell"/>
                <a:cs typeface="Cantarell"/>
                <a:sym typeface="Cantarell"/>
              </a:rPr>
              <a:t>Flows</a:t>
            </a:r>
            <a:endParaRPr i="1" sz="1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189" name="Google Shape;189;p32"/>
          <p:cNvCxnSpPr>
            <a:stCxn id="167" idx="2"/>
            <a:endCxn id="188" idx="0"/>
          </p:cNvCxnSpPr>
          <p:nvPr/>
        </p:nvCxnSpPr>
        <p:spPr>
          <a:xfrm flipH="1" rot="-5400000">
            <a:off x="6789831" y="2386388"/>
            <a:ext cx="436500" cy="899700"/>
          </a:xfrm>
          <a:prstGeom prst="bentConnector3">
            <a:avLst>
              <a:gd fmla="val 4998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32"/>
          <p:cNvSpPr/>
          <p:nvPr/>
        </p:nvSpPr>
        <p:spPr>
          <a:xfrm>
            <a:off x="4760767" y="4054138"/>
            <a:ext cx="1676700" cy="436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Liking/Disliking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0" name="Google Shape;190;p32"/>
          <p:cNvCxnSpPr>
            <a:stCxn id="188" idx="1"/>
            <a:endCxn id="191" idx="0"/>
          </p:cNvCxnSpPr>
          <p:nvPr/>
        </p:nvCxnSpPr>
        <p:spPr>
          <a:xfrm>
            <a:off x="6980787" y="3272750"/>
            <a:ext cx="374100" cy="781500"/>
          </a:xfrm>
          <a:prstGeom prst="bentConnector4">
            <a:avLst>
              <a:gd fmla="val -63653" name="adj1"/>
              <a:gd fmla="val 49559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2"/>
          <p:cNvSpPr/>
          <p:nvPr/>
        </p:nvSpPr>
        <p:spPr>
          <a:xfrm>
            <a:off x="7422573" y="4595638"/>
            <a:ext cx="1676700" cy="436800"/>
          </a:xfrm>
          <a:prstGeom prst="ellipse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Have Sex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3" name="Google Shape;193;p32"/>
          <p:cNvCxnSpPr>
            <a:stCxn id="179" idx="2"/>
            <a:endCxn id="192" idx="0"/>
          </p:cNvCxnSpPr>
          <p:nvPr/>
        </p:nvCxnSpPr>
        <p:spPr>
          <a:xfrm flipH="1" rot="-5400000">
            <a:off x="6368161" y="2702888"/>
            <a:ext cx="1104600" cy="2681100"/>
          </a:xfrm>
          <a:prstGeom prst="bentConnector3">
            <a:avLst>
              <a:gd fmla="val 4285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32"/>
          <p:cNvSpPr/>
          <p:nvPr/>
        </p:nvSpPr>
        <p:spPr>
          <a:xfrm>
            <a:off x="6516393" y="4054138"/>
            <a:ext cx="1676700" cy="436800"/>
          </a:xfrm>
          <a:prstGeom prst="ellipse">
            <a:avLst/>
          </a:prstGeom>
          <a:gradFill>
            <a:gsLst>
              <a:gs pos="0">
                <a:srgbClr val="F2F2F2"/>
              </a:gs>
              <a:gs pos="100000">
                <a:srgbClr val="A6A6A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Helping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Ties: Graph Theory Classification</a:t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exists, if </a:t>
            </a:r>
            <a:r>
              <a:rPr b="1" i="1" lang="en">
                <a:solidFill>
                  <a:srgbClr val="000000"/>
                </a:solidFill>
              </a:rPr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 b="1" i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3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01" name="Google Shape;201;p33"/>
          <p:cNvCxnSpPr>
            <a:stCxn id="200" idx="6"/>
            <a:endCxn id="202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33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Ties: Graph Theory Classification</a:t>
            </a:r>
            <a:endParaRPr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exists,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4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1" name="Google Shape;211;p34"/>
          <p:cNvCxnSpPr>
            <a:stCxn id="210" idx="6"/>
            <a:endCxn id="212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34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4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5" name="Google Shape;215;p34"/>
          <p:cNvCxnSpPr>
            <a:stCxn id="214" idx="7"/>
            <a:endCxn id="216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6" name="Google Shape;216;p34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7" name="Google Shape;217;p34"/>
          <p:cNvCxnSpPr>
            <a:stCxn id="216" idx="3"/>
            <a:endCxn id="214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18" name="Google Shape;218;p34"/>
          <p:cNvSpPr txBox="1"/>
          <p:nvPr/>
        </p:nvSpPr>
        <p:spPr>
          <a:xfrm>
            <a:off x="6155650" y="33993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Ties: Graph Theory Classification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exists,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Antisymmetric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is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</a:t>
            </a:r>
            <a:r>
              <a:rPr b="1" lang="en"/>
              <a:t>cannot by</a:t>
            </a:r>
            <a:r>
              <a:rPr lang="en"/>
              <a:t> </a:t>
            </a:r>
            <a:r>
              <a:rPr b="1" lang="en"/>
              <a:t>necessity </a:t>
            </a:r>
            <a:r>
              <a:rPr lang="en"/>
              <a:t>be linked to </a:t>
            </a:r>
            <a:r>
              <a:rPr b="1" i="1" lang="en"/>
              <a:t>A</a:t>
            </a:r>
            <a:endParaRPr/>
          </a:p>
        </p:txBody>
      </p:sp>
      <p:sp>
        <p:nvSpPr>
          <p:cNvPr id="225" name="Google Shape;225;p35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6" name="Google Shape;226;p35"/>
          <p:cNvCxnSpPr>
            <a:stCxn id="225" idx="6"/>
            <a:endCxn id="227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" name="Google Shape;227;p35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28" name="Google Shape;228;p35"/>
          <p:cNvSpPr/>
          <p:nvPr/>
        </p:nvSpPr>
        <p:spPr>
          <a:xfrm>
            <a:off x="5727908" y="3803797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9" name="Google Shape;229;p35"/>
          <p:cNvCxnSpPr>
            <a:stCxn id="228" idx="6"/>
            <a:endCxn id="230" idx="2"/>
          </p:cNvCxnSpPr>
          <p:nvPr/>
        </p:nvCxnSpPr>
        <p:spPr>
          <a:xfrm>
            <a:off x="6512108" y="4184497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0" name="Google Shape;230;p35"/>
          <p:cNvSpPr/>
          <p:nvPr/>
        </p:nvSpPr>
        <p:spPr>
          <a:xfrm>
            <a:off x="7341809" y="3803797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1" name="Google Shape;231;p35"/>
          <p:cNvSpPr txBox="1"/>
          <p:nvPr/>
        </p:nvSpPr>
        <p:spPr>
          <a:xfrm>
            <a:off x="6155700" y="45652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35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4" name="Google Shape;234;p35"/>
          <p:cNvCxnSpPr>
            <a:stCxn id="233" idx="7"/>
            <a:endCxn id="235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5" name="Google Shape;235;p35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36" name="Google Shape;236;p35"/>
          <p:cNvCxnSpPr>
            <a:stCxn id="235" idx="3"/>
            <a:endCxn id="233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37" name="Google Shape;237;p35"/>
          <p:cNvSpPr txBox="1"/>
          <p:nvPr/>
        </p:nvSpPr>
        <p:spPr>
          <a:xfrm>
            <a:off x="6155650" y="33993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Ties: Graph Theory Classification</a:t>
            </a:r>
            <a:endParaRPr/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483325" y="1147225"/>
            <a:ext cx="42504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 </a:t>
            </a:r>
            <a:r>
              <a:rPr lang="en"/>
              <a:t>ties can be of two kinds: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0000FF"/>
                </a:solidFill>
              </a:rPr>
              <a:t>Reciprocal</a:t>
            </a:r>
            <a:r>
              <a:rPr lang="en"/>
              <a:t>: If edges going in both directions exist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like me and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 and I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FF0000"/>
                </a:solidFill>
              </a:rPr>
              <a:t>Nonreciprocal</a:t>
            </a:r>
            <a:r>
              <a:rPr lang="en">
                <a:solidFill>
                  <a:srgbClr val="FF0000"/>
                </a:solidFill>
              </a:rPr>
              <a:t>:</a:t>
            </a:r>
            <a:r>
              <a:rPr lang="en"/>
              <a:t> Edges only go in one direction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don’t like me, but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 but I don’t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Reciprocity is only defined for asymmetric ties!</a:t>
            </a:r>
            <a:endParaRPr i="1"/>
          </a:p>
        </p:txBody>
      </p:sp>
      <p:sp>
        <p:nvSpPr>
          <p:cNvPr id="244" name="Google Shape;244;p36"/>
          <p:cNvSpPr/>
          <p:nvPr/>
        </p:nvSpPr>
        <p:spPr>
          <a:xfrm>
            <a:off x="5727883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5" name="Google Shape;245;p36"/>
          <p:cNvCxnSpPr>
            <a:stCxn id="244" idx="7"/>
            <a:endCxn id="246" idx="1"/>
          </p:cNvCxnSpPr>
          <p:nvPr/>
        </p:nvCxnSpPr>
        <p:spPr>
          <a:xfrm>
            <a:off x="6397239" y="176885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6" name="Google Shape;246;p36"/>
          <p:cNvSpPr/>
          <p:nvPr/>
        </p:nvSpPr>
        <p:spPr>
          <a:xfrm>
            <a:off x="7341784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7" name="Google Shape;247;p36"/>
          <p:cNvCxnSpPr>
            <a:stCxn id="246" idx="3"/>
            <a:endCxn id="244" idx="5"/>
          </p:cNvCxnSpPr>
          <p:nvPr/>
        </p:nvCxnSpPr>
        <p:spPr>
          <a:xfrm rot="10800000">
            <a:off x="6397327" y="230724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" name="Google Shape;248;p36"/>
          <p:cNvSpPr txBox="1"/>
          <p:nvPr/>
        </p:nvSpPr>
        <p:spPr>
          <a:xfrm>
            <a:off x="6155525" y="2418792"/>
            <a:ext cx="1542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Reciprocal Tie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6"/>
          <p:cNvSpPr/>
          <p:nvPr/>
        </p:nvSpPr>
        <p:spPr>
          <a:xfrm>
            <a:off x="5727933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0" name="Google Shape;250;p36"/>
          <p:cNvCxnSpPr>
            <a:stCxn id="249" idx="7"/>
            <a:endCxn id="251" idx="1"/>
          </p:cNvCxnSpPr>
          <p:nvPr/>
        </p:nvCxnSpPr>
        <p:spPr>
          <a:xfrm>
            <a:off x="6397289" y="3098795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" name="Google Shape;251;p36"/>
          <p:cNvSpPr/>
          <p:nvPr/>
        </p:nvSpPr>
        <p:spPr>
          <a:xfrm>
            <a:off x="7341834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52" name="Google Shape;252;p36"/>
          <p:cNvSpPr txBox="1"/>
          <p:nvPr/>
        </p:nvSpPr>
        <p:spPr>
          <a:xfrm>
            <a:off x="6155575" y="3748729"/>
            <a:ext cx="1542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Nonreciprocal</a:t>
            </a:r>
            <a:r>
              <a:rPr b="1"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Tie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Ties: Graph theory classification</a:t>
            </a:r>
            <a:endParaRPr/>
          </a:p>
        </p:txBody>
      </p:sp>
      <p:sp>
        <p:nvSpPr>
          <p:cNvPr id="258" name="Google Shape;258;p37"/>
          <p:cNvSpPr/>
          <p:nvPr/>
        </p:nvSpPr>
        <p:spPr>
          <a:xfrm>
            <a:off x="5814943" y="248583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Antisymmetric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9" name="Google Shape;259;p37"/>
          <p:cNvCxnSpPr>
            <a:stCxn id="260" idx="2"/>
            <a:endCxn id="261" idx="0"/>
          </p:cNvCxnSpPr>
          <p:nvPr/>
        </p:nvCxnSpPr>
        <p:spPr>
          <a:xfrm rot="5400000">
            <a:off x="3133825" y="1060850"/>
            <a:ext cx="696000" cy="2153700"/>
          </a:xfrm>
          <a:prstGeom prst="bentConnector3">
            <a:avLst>
              <a:gd fmla="val 5001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37"/>
          <p:cNvSpPr/>
          <p:nvPr/>
        </p:nvSpPr>
        <p:spPr>
          <a:xfrm>
            <a:off x="3090625" y="1116500"/>
            <a:ext cx="2936100" cy="673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285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Oxygen"/>
                <a:ea typeface="Oxygen"/>
                <a:cs typeface="Oxygen"/>
                <a:sym typeface="Oxygen"/>
              </a:rPr>
              <a:t>Graph Theory Tie Types</a:t>
            </a:r>
            <a:endParaRPr b="1" sz="2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" name="Google Shape;261;p37"/>
          <p:cNvSpPr/>
          <p:nvPr/>
        </p:nvSpPr>
        <p:spPr>
          <a:xfrm>
            <a:off x="1480750" y="248583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28575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Symmetric</a:t>
            </a:r>
            <a:endParaRPr b="1"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2" name="Google Shape;262;p37"/>
          <p:cNvCxnSpPr>
            <a:stCxn id="260" idx="2"/>
            <a:endCxn id="258" idx="0"/>
          </p:cNvCxnSpPr>
          <p:nvPr/>
        </p:nvCxnSpPr>
        <p:spPr>
          <a:xfrm flipH="1" rot="-5400000">
            <a:off x="5300875" y="1047500"/>
            <a:ext cx="696000" cy="2180400"/>
          </a:xfrm>
          <a:prstGeom prst="bentConnector3">
            <a:avLst>
              <a:gd fmla="val 5001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7"/>
          <p:cNvSpPr/>
          <p:nvPr/>
        </p:nvSpPr>
        <p:spPr>
          <a:xfrm>
            <a:off x="3665818" y="248598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4" name="Google Shape;264;p37"/>
          <p:cNvCxnSpPr>
            <a:stCxn id="263" idx="2"/>
            <a:endCxn id="265" idx="0"/>
          </p:cNvCxnSpPr>
          <p:nvPr/>
        </p:nvCxnSpPr>
        <p:spPr>
          <a:xfrm flipH="1" rot="-5400000">
            <a:off x="4673068" y="2839688"/>
            <a:ext cx="1033500" cy="11997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37"/>
          <p:cNvSpPr/>
          <p:nvPr/>
        </p:nvSpPr>
        <p:spPr>
          <a:xfrm>
            <a:off x="2650008" y="3956781"/>
            <a:ext cx="1673400" cy="5019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xygen"/>
                <a:ea typeface="Oxygen"/>
                <a:cs typeface="Oxygen"/>
                <a:sym typeface="Oxygen"/>
              </a:rPr>
              <a:t>Reciprocal</a:t>
            </a:r>
            <a:endParaRPr b="1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" name="Google Shape;265;p37"/>
          <p:cNvSpPr/>
          <p:nvPr/>
        </p:nvSpPr>
        <p:spPr>
          <a:xfrm>
            <a:off x="4951204" y="3956313"/>
            <a:ext cx="1676700" cy="50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xygen"/>
                <a:ea typeface="Oxygen"/>
                <a:cs typeface="Oxygen"/>
                <a:sym typeface="Oxygen"/>
              </a:rPr>
              <a:t>Nonreciprocal</a:t>
            </a:r>
            <a:endParaRPr b="1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7" name="Google Shape;267;p37"/>
          <p:cNvCxnSpPr>
            <a:stCxn id="263" idx="2"/>
            <a:endCxn id="266" idx="0"/>
          </p:cNvCxnSpPr>
          <p:nvPr/>
        </p:nvCxnSpPr>
        <p:spPr>
          <a:xfrm rot="5400000">
            <a:off x="3521218" y="2888138"/>
            <a:ext cx="1034100" cy="11034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7"/>
          <p:cNvSpPr/>
          <p:nvPr/>
        </p:nvSpPr>
        <p:spPr>
          <a:xfrm>
            <a:off x="1719163" y="304663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69" name="Google Shape;269;p37"/>
          <p:cNvCxnSpPr>
            <a:stCxn id="268" idx="6"/>
            <a:endCxn id="270" idx="2"/>
          </p:cNvCxnSpPr>
          <p:nvPr/>
        </p:nvCxnSpPr>
        <p:spPr>
          <a:xfrm>
            <a:off x="2167663" y="3266088"/>
            <a:ext cx="4746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7"/>
          <p:cNvSpPr/>
          <p:nvPr/>
        </p:nvSpPr>
        <p:spPr>
          <a:xfrm>
            <a:off x="2642126" y="304663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1" name="Google Shape;271;p37"/>
          <p:cNvSpPr/>
          <p:nvPr/>
        </p:nvSpPr>
        <p:spPr>
          <a:xfrm>
            <a:off x="6053363" y="304663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2" name="Google Shape;272;p37"/>
          <p:cNvCxnSpPr>
            <a:stCxn id="271" idx="6"/>
            <a:endCxn id="273" idx="2"/>
          </p:cNvCxnSpPr>
          <p:nvPr/>
        </p:nvCxnSpPr>
        <p:spPr>
          <a:xfrm>
            <a:off x="6501863" y="3266088"/>
            <a:ext cx="47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3" name="Google Shape;273;p37"/>
          <p:cNvSpPr/>
          <p:nvPr/>
        </p:nvSpPr>
        <p:spPr>
          <a:xfrm>
            <a:off x="6976326" y="304663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4" name="Google Shape;274;p37"/>
          <p:cNvSpPr/>
          <p:nvPr/>
        </p:nvSpPr>
        <p:spPr>
          <a:xfrm>
            <a:off x="2800963" y="45286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5" name="Google Shape;275;p37"/>
          <p:cNvCxnSpPr>
            <a:stCxn id="274" idx="7"/>
            <a:endCxn id="276" idx="1"/>
          </p:cNvCxnSpPr>
          <p:nvPr/>
        </p:nvCxnSpPr>
        <p:spPr>
          <a:xfrm>
            <a:off x="3183781" y="4592963"/>
            <a:ext cx="6057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6" name="Google Shape;276;p37"/>
          <p:cNvSpPr/>
          <p:nvPr/>
        </p:nvSpPr>
        <p:spPr>
          <a:xfrm>
            <a:off x="3723926" y="45286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7" name="Google Shape;277;p37"/>
          <p:cNvCxnSpPr>
            <a:stCxn id="276" idx="3"/>
            <a:endCxn id="274" idx="5"/>
          </p:cNvCxnSpPr>
          <p:nvPr/>
        </p:nvCxnSpPr>
        <p:spPr>
          <a:xfrm rot="10800000">
            <a:off x="3183907" y="4903312"/>
            <a:ext cx="6057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8" name="Google Shape;278;p37"/>
          <p:cNvSpPr/>
          <p:nvPr/>
        </p:nvSpPr>
        <p:spPr>
          <a:xfrm>
            <a:off x="5103813" y="45286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9" name="Google Shape;279;p37"/>
          <p:cNvCxnSpPr>
            <a:stCxn id="278" idx="7"/>
            <a:endCxn id="280" idx="1"/>
          </p:cNvCxnSpPr>
          <p:nvPr/>
        </p:nvCxnSpPr>
        <p:spPr>
          <a:xfrm>
            <a:off x="5486631" y="4592963"/>
            <a:ext cx="6057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0" name="Google Shape;280;p37"/>
          <p:cNvSpPr/>
          <p:nvPr/>
        </p:nvSpPr>
        <p:spPr>
          <a:xfrm>
            <a:off x="6026776" y="45286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311700" y="1225225"/>
            <a:ext cx="85206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sociological types have different graph theoretic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r>
              <a:rPr lang="en"/>
              <a:t> (propinquity, memberships) are by necessity </a:t>
            </a:r>
            <a:r>
              <a:rPr b="1" lang="en"/>
              <a:t>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you are similar to someone they are also similar to you</a:t>
            </a:r>
            <a:endParaRPr i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8"/>
          <p:cNvSpPr/>
          <p:nvPr/>
        </p:nvSpPr>
        <p:spPr>
          <a:xfrm>
            <a:off x="1719163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7" name="Google Shape;287;p38"/>
          <p:cNvCxnSpPr>
            <a:stCxn id="286" idx="6"/>
            <a:endCxn id="288" idx="2"/>
          </p:cNvCxnSpPr>
          <p:nvPr/>
        </p:nvCxnSpPr>
        <p:spPr>
          <a:xfrm>
            <a:off x="2167663" y="4341438"/>
            <a:ext cx="4746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8"/>
          <p:cNvSpPr/>
          <p:nvPr/>
        </p:nvSpPr>
        <p:spPr>
          <a:xfrm>
            <a:off x="2642126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290" name="Google Shape;290;p38"/>
          <p:cNvSpPr txBox="1"/>
          <p:nvPr/>
        </p:nvSpPr>
        <p:spPr>
          <a:xfrm>
            <a:off x="1633675" y="46770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91" name="Google Shape;2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8350" y="1906088"/>
            <a:ext cx="1371600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8"/>
          <p:cNvSpPr txBox="1"/>
          <p:nvPr/>
        </p:nvSpPr>
        <p:spPr>
          <a:xfrm>
            <a:off x="7694000" y="26432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idx="1" type="body"/>
          </p:nvPr>
        </p:nvSpPr>
        <p:spPr>
          <a:xfrm>
            <a:off x="311700" y="1225225"/>
            <a:ext cx="85206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sociological types have different graph theoretic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r>
              <a:rPr lang="en"/>
              <a:t> (propinquity, memberships) are by necessity </a:t>
            </a:r>
            <a:r>
              <a:rPr b="1" lang="en"/>
              <a:t>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you are similar to someone they are also similar to you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b="1" lang="en"/>
              <a:t>role</a:t>
            </a:r>
            <a:r>
              <a:rPr lang="en"/>
              <a:t> </a:t>
            </a:r>
            <a:r>
              <a:rPr b="1" lang="en"/>
              <a:t>relations</a:t>
            </a:r>
            <a:r>
              <a:rPr lang="en"/>
              <a:t> are by necessity  </a:t>
            </a:r>
            <a:r>
              <a:rPr b="1" lang="en"/>
              <a:t>symmetric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friend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sibling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spouse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other </a:t>
            </a:r>
            <a:r>
              <a:rPr b="1" lang="en"/>
              <a:t>role relations</a:t>
            </a:r>
            <a:r>
              <a:rPr lang="en"/>
              <a:t> are by necessity  </a:t>
            </a:r>
            <a:r>
              <a:rPr b="1" lang="en"/>
              <a:t>anti-symmetric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boss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parent 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teacher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9"/>
          <p:cNvSpPr/>
          <p:nvPr/>
        </p:nvSpPr>
        <p:spPr>
          <a:xfrm>
            <a:off x="1719163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9" name="Google Shape;299;p39"/>
          <p:cNvCxnSpPr>
            <a:stCxn id="298" idx="6"/>
            <a:endCxn id="300" idx="2"/>
          </p:cNvCxnSpPr>
          <p:nvPr/>
        </p:nvCxnSpPr>
        <p:spPr>
          <a:xfrm>
            <a:off x="2167663" y="4341438"/>
            <a:ext cx="4746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39"/>
          <p:cNvSpPr/>
          <p:nvPr/>
        </p:nvSpPr>
        <p:spPr>
          <a:xfrm>
            <a:off x="2642126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1" name="Google Shape;301;p39"/>
          <p:cNvSpPr/>
          <p:nvPr/>
        </p:nvSpPr>
        <p:spPr>
          <a:xfrm>
            <a:off x="6053363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02" name="Google Shape;302;p39"/>
          <p:cNvCxnSpPr>
            <a:stCxn id="301" idx="6"/>
            <a:endCxn id="303" idx="2"/>
          </p:cNvCxnSpPr>
          <p:nvPr/>
        </p:nvCxnSpPr>
        <p:spPr>
          <a:xfrm>
            <a:off x="6501863" y="4341438"/>
            <a:ext cx="47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3" name="Google Shape;303;p39"/>
          <p:cNvSpPr/>
          <p:nvPr/>
        </p:nvSpPr>
        <p:spPr>
          <a:xfrm>
            <a:off x="6976326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305" name="Google Shape;305;p39"/>
          <p:cNvSpPr txBox="1"/>
          <p:nvPr/>
        </p:nvSpPr>
        <p:spPr>
          <a:xfrm>
            <a:off x="1633675" y="46770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39"/>
          <p:cNvSpPr txBox="1"/>
          <p:nvPr/>
        </p:nvSpPr>
        <p:spPr>
          <a:xfrm>
            <a:off x="5967875" y="46770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Anti-symmetric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7" name="Google Shape;307;p39"/>
          <p:cNvPicPr preferRelativeResize="0"/>
          <p:nvPr/>
        </p:nvPicPr>
        <p:blipFill rotWithShape="1">
          <a:blip r:embed="rId3">
            <a:alphaModFix/>
          </a:blip>
          <a:srcRect b="13603" l="0" r="0" t="16098"/>
          <a:stretch/>
        </p:blipFill>
        <p:spPr>
          <a:xfrm>
            <a:off x="7290163" y="1993200"/>
            <a:ext cx="1645925" cy="115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9"/>
          <p:cNvSpPr txBox="1"/>
          <p:nvPr/>
        </p:nvSpPr>
        <p:spPr>
          <a:xfrm>
            <a:off x="7557975" y="31161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Role Relations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309" name="Google Shape;30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3725" y="3373213"/>
            <a:ext cx="1828801" cy="108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315" name="Google Shape;315;p40"/>
          <p:cNvSpPr txBox="1"/>
          <p:nvPr>
            <p:ph idx="1" type="body"/>
          </p:nvPr>
        </p:nvSpPr>
        <p:spPr>
          <a:xfrm>
            <a:off x="311700" y="1225225"/>
            <a:ext cx="8520600" cy="25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sociological types have different graph theoretic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b="1" lang="en"/>
              <a:t>relationships</a:t>
            </a:r>
            <a:r>
              <a:rPr lang="en"/>
              <a:t> (e.g., cognitive, affective) are necessarily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text without being texted back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like without being liked back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know (of) somebody without them knowing you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 and exchanges are necessarily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give advice without receiving it from the same person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bully without getting bullied back by the same person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without getting helped back by the same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means that </a:t>
            </a:r>
            <a:r>
              <a:rPr b="1" lang="en"/>
              <a:t>reciprocity</a:t>
            </a:r>
            <a:r>
              <a:rPr lang="en"/>
              <a:t> and </a:t>
            </a:r>
            <a:r>
              <a:rPr b="1" lang="en"/>
              <a:t>non-reciprocity</a:t>
            </a:r>
            <a:r>
              <a:rPr lang="en"/>
              <a:t> is possible in all these relations!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40"/>
          <p:cNvSpPr/>
          <p:nvPr/>
        </p:nvSpPr>
        <p:spPr>
          <a:xfrm>
            <a:off x="1719175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7" name="Google Shape;317;p40"/>
          <p:cNvCxnSpPr>
            <a:stCxn id="316" idx="7"/>
            <a:endCxn id="318" idx="1"/>
          </p:cNvCxnSpPr>
          <p:nvPr/>
        </p:nvCxnSpPr>
        <p:spPr>
          <a:xfrm>
            <a:off x="2101994" y="4186263"/>
            <a:ext cx="6057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8" name="Google Shape;318;p40"/>
          <p:cNvSpPr/>
          <p:nvPr/>
        </p:nvSpPr>
        <p:spPr>
          <a:xfrm>
            <a:off x="2642138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19" name="Google Shape;319;p40"/>
          <p:cNvCxnSpPr>
            <a:stCxn id="318" idx="3"/>
            <a:endCxn id="316" idx="5"/>
          </p:cNvCxnSpPr>
          <p:nvPr/>
        </p:nvCxnSpPr>
        <p:spPr>
          <a:xfrm rot="10800000">
            <a:off x="2102120" y="4496612"/>
            <a:ext cx="6057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0" name="Google Shape;320;p40"/>
          <p:cNvSpPr/>
          <p:nvPr/>
        </p:nvSpPr>
        <p:spPr>
          <a:xfrm>
            <a:off x="6053450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21" name="Google Shape;321;p40"/>
          <p:cNvCxnSpPr>
            <a:stCxn id="320" idx="7"/>
            <a:endCxn id="322" idx="1"/>
          </p:cNvCxnSpPr>
          <p:nvPr/>
        </p:nvCxnSpPr>
        <p:spPr>
          <a:xfrm>
            <a:off x="6436269" y="4186263"/>
            <a:ext cx="6057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2" name="Google Shape;322;p40"/>
          <p:cNvSpPr/>
          <p:nvPr/>
        </p:nvSpPr>
        <p:spPr>
          <a:xfrm>
            <a:off x="6976413" y="4121988"/>
            <a:ext cx="448500" cy="4389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3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23" name="Google Shape;323;p40"/>
          <p:cNvSpPr txBox="1"/>
          <p:nvPr/>
        </p:nvSpPr>
        <p:spPr>
          <a:xfrm>
            <a:off x="1633675" y="46770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Reciprocal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>
            <a:off x="5967875" y="46770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Non-reciprocal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two people texting" id="325" name="Google Shape;32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2025" y="1885950"/>
            <a:ext cx="1371601" cy="13716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0"/>
          <p:cNvSpPr txBox="1"/>
          <p:nvPr/>
        </p:nvSpPr>
        <p:spPr>
          <a:xfrm>
            <a:off x="7510475" y="32910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675" y="2829025"/>
            <a:ext cx="1046440" cy="104643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/>
          <p:cNvSpPr/>
          <p:nvPr/>
        </p:nvSpPr>
        <p:spPr>
          <a:xfrm>
            <a:off x="6959918" y="228738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Antisymmetric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3" name="Google Shape;333;p41"/>
          <p:cNvCxnSpPr>
            <a:stCxn id="334" idx="2"/>
            <a:endCxn id="335" idx="0"/>
          </p:cNvCxnSpPr>
          <p:nvPr/>
        </p:nvCxnSpPr>
        <p:spPr>
          <a:xfrm rot="5400000">
            <a:off x="2458675" y="174100"/>
            <a:ext cx="1380600" cy="28461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1"/>
          <p:cNvSpPr/>
          <p:nvPr/>
        </p:nvSpPr>
        <p:spPr>
          <a:xfrm>
            <a:off x="801700" y="228738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28575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Symmetric</a:t>
            </a:r>
            <a:endParaRPr b="1"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6" name="Google Shape;336;p41"/>
          <p:cNvCxnSpPr>
            <a:stCxn id="334" idx="2"/>
            <a:endCxn id="332" idx="0"/>
          </p:cNvCxnSpPr>
          <p:nvPr/>
        </p:nvCxnSpPr>
        <p:spPr>
          <a:xfrm flipH="1" rot="-5400000">
            <a:off x="5537725" y="-58850"/>
            <a:ext cx="1380600" cy="33120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41"/>
          <p:cNvSpPr/>
          <p:nvPr/>
        </p:nvSpPr>
        <p:spPr>
          <a:xfrm>
            <a:off x="3647843" y="180798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8" name="Google Shape;338;p41"/>
          <p:cNvCxnSpPr>
            <a:stCxn id="337" idx="2"/>
            <a:endCxn id="339" idx="0"/>
          </p:cNvCxnSpPr>
          <p:nvPr/>
        </p:nvCxnSpPr>
        <p:spPr>
          <a:xfrm flipH="1" rot="-5400000">
            <a:off x="4720643" y="2096138"/>
            <a:ext cx="932700" cy="12300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41"/>
          <p:cNvSpPr/>
          <p:nvPr/>
        </p:nvSpPr>
        <p:spPr>
          <a:xfrm>
            <a:off x="2650008" y="3177406"/>
            <a:ext cx="1448700" cy="4368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xygen"/>
                <a:ea typeface="Oxygen"/>
                <a:cs typeface="Oxygen"/>
                <a:sym typeface="Oxygen"/>
              </a:rPr>
              <a:t>Reciprocal</a:t>
            </a:r>
            <a:endParaRPr b="1"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9" name="Google Shape;339;p41"/>
          <p:cNvSpPr/>
          <p:nvPr/>
        </p:nvSpPr>
        <p:spPr>
          <a:xfrm>
            <a:off x="4963654" y="3177388"/>
            <a:ext cx="1676700" cy="436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Oxygen"/>
                <a:ea typeface="Oxygen"/>
                <a:cs typeface="Oxygen"/>
                <a:sym typeface="Oxygen"/>
              </a:rPr>
              <a:t>Nonreciprocal</a:t>
            </a:r>
            <a:endParaRPr b="1" sz="12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1" name="Google Shape;341;p41"/>
          <p:cNvCxnSpPr>
            <a:stCxn id="337" idx="2"/>
            <a:endCxn id="340" idx="0"/>
          </p:cNvCxnSpPr>
          <p:nvPr/>
        </p:nvCxnSpPr>
        <p:spPr>
          <a:xfrm rot="5400000">
            <a:off x="3506843" y="2112338"/>
            <a:ext cx="932700" cy="1197600"/>
          </a:xfrm>
          <a:prstGeom prst="bentConnector3">
            <a:avLst>
              <a:gd fmla="val 4999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41"/>
          <p:cNvSpPr/>
          <p:nvPr/>
        </p:nvSpPr>
        <p:spPr>
          <a:xfrm>
            <a:off x="2844175" y="233650"/>
            <a:ext cx="3455700" cy="673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285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Graph Theory Tie Types</a:t>
            </a:r>
            <a:endParaRPr b="1" sz="2200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" name="Google Shape;342;p41"/>
          <p:cNvCxnSpPr>
            <a:stCxn id="334" idx="2"/>
            <a:endCxn id="337" idx="0"/>
          </p:cNvCxnSpPr>
          <p:nvPr/>
        </p:nvCxnSpPr>
        <p:spPr>
          <a:xfrm flipH="1" rot="-5400000">
            <a:off x="4121725" y="1357150"/>
            <a:ext cx="901200" cy="600"/>
          </a:xfrm>
          <a:prstGeom prst="bentConnector3">
            <a:avLst>
              <a:gd fmla="val 49997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3" name="Google Shape;343;p41"/>
          <p:cNvPicPr preferRelativeResize="0"/>
          <p:nvPr/>
        </p:nvPicPr>
        <p:blipFill rotWithShape="1">
          <a:blip r:embed="rId4">
            <a:alphaModFix/>
          </a:blip>
          <a:srcRect b="13603" l="0" r="0" t="16098"/>
          <a:stretch/>
        </p:blipFill>
        <p:spPr>
          <a:xfrm>
            <a:off x="7061113" y="2829025"/>
            <a:ext cx="16459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9675" y="3989638"/>
            <a:ext cx="1828801" cy="1080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3638" y="3864563"/>
            <a:ext cx="1188720" cy="11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1"/>
          <p:cNvPicPr preferRelativeResize="0"/>
          <p:nvPr/>
        </p:nvPicPr>
        <p:blipFill rotWithShape="1">
          <a:blip r:embed="rId4">
            <a:alphaModFix/>
          </a:blip>
          <a:srcRect b="13603" l="0" r="0" t="16098"/>
          <a:stretch/>
        </p:blipFill>
        <p:spPr>
          <a:xfrm>
            <a:off x="902888" y="3880375"/>
            <a:ext cx="16459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wo people texting" id="347" name="Google Shape;347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87400" y="3665875"/>
            <a:ext cx="1371601" cy="137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Google Shape;352;p42"/>
          <p:cNvCxnSpPr>
            <a:stCxn id="353" idx="6"/>
            <a:endCxn id="354" idx="2"/>
          </p:cNvCxnSpPr>
          <p:nvPr/>
        </p:nvCxnSpPr>
        <p:spPr>
          <a:xfrm>
            <a:off x="3707050" y="2611704"/>
            <a:ext cx="2020800" cy="16266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356" name="Google Shape;356;p42"/>
          <p:cNvSpPr/>
          <p:nvPr/>
        </p:nvSpPr>
        <p:spPr>
          <a:xfrm>
            <a:off x="2172250" y="1166738"/>
            <a:ext cx="1534800" cy="4128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Hanging Out</a:t>
            </a:r>
            <a:endParaRPr sz="1200"/>
          </a:p>
        </p:txBody>
      </p:sp>
      <p:sp>
        <p:nvSpPr>
          <p:cNvPr id="353" name="Google Shape;353;p42"/>
          <p:cNvSpPr/>
          <p:nvPr/>
        </p:nvSpPr>
        <p:spPr>
          <a:xfrm>
            <a:off x="2172250" y="2405304"/>
            <a:ext cx="1534800" cy="41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Sibling/Parent</a:t>
            </a:r>
            <a:endParaRPr sz="1200"/>
          </a:p>
        </p:txBody>
      </p:sp>
      <p:sp>
        <p:nvSpPr>
          <p:cNvPr id="357" name="Google Shape;357;p42"/>
          <p:cNvSpPr/>
          <p:nvPr/>
        </p:nvSpPr>
        <p:spPr>
          <a:xfrm>
            <a:off x="2172251" y="3231008"/>
            <a:ext cx="1534800" cy="41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Liking/Disliking</a:t>
            </a:r>
            <a:endParaRPr sz="1200"/>
          </a:p>
        </p:txBody>
      </p:sp>
      <p:sp>
        <p:nvSpPr>
          <p:cNvPr id="358" name="Google Shape;358;p42"/>
          <p:cNvSpPr/>
          <p:nvPr/>
        </p:nvSpPr>
        <p:spPr>
          <a:xfrm>
            <a:off x="2172252" y="4056711"/>
            <a:ext cx="1534800" cy="412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Helping</a:t>
            </a:r>
            <a:endParaRPr sz="1200"/>
          </a:p>
        </p:txBody>
      </p:sp>
      <p:sp>
        <p:nvSpPr>
          <p:cNvPr id="359" name="Google Shape;359;p42"/>
          <p:cNvSpPr/>
          <p:nvPr/>
        </p:nvSpPr>
        <p:spPr>
          <a:xfrm>
            <a:off x="2172251" y="4469562"/>
            <a:ext cx="1534800" cy="412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Having Sex</a:t>
            </a:r>
            <a:endParaRPr sz="1200"/>
          </a:p>
        </p:txBody>
      </p:sp>
      <p:sp>
        <p:nvSpPr>
          <p:cNvPr id="360" name="Google Shape;360;p42"/>
          <p:cNvSpPr/>
          <p:nvPr/>
        </p:nvSpPr>
        <p:spPr>
          <a:xfrm>
            <a:off x="2172250" y="1992453"/>
            <a:ext cx="1534800" cy="4128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Same Class</a:t>
            </a:r>
            <a:endParaRPr sz="1200"/>
          </a:p>
        </p:txBody>
      </p:sp>
      <p:sp>
        <p:nvSpPr>
          <p:cNvPr id="361" name="Google Shape;361;p42"/>
          <p:cNvSpPr/>
          <p:nvPr/>
        </p:nvSpPr>
        <p:spPr>
          <a:xfrm>
            <a:off x="2172250" y="1579601"/>
            <a:ext cx="1534800" cy="412800"/>
          </a:xfrm>
          <a:prstGeom prst="ellipse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Same Nationality</a:t>
            </a:r>
            <a:endParaRPr sz="1200"/>
          </a:p>
        </p:txBody>
      </p:sp>
      <p:sp>
        <p:nvSpPr>
          <p:cNvPr id="362" name="Google Shape;362;p42"/>
          <p:cNvSpPr/>
          <p:nvPr/>
        </p:nvSpPr>
        <p:spPr>
          <a:xfrm>
            <a:off x="2172251" y="2818156"/>
            <a:ext cx="1534800" cy="41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Knowing Someone</a:t>
            </a:r>
            <a:endParaRPr sz="1200"/>
          </a:p>
        </p:txBody>
      </p:sp>
      <p:sp>
        <p:nvSpPr>
          <p:cNvPr id="363" name="Google Shape;363;p42"/>
          <p:cNvSpPr/>
          <p:nvPr/>
        </p:nvSpPr>
        <p:spPr>
          <a:xfrm>
            <a:off x="2172250" y="3643859"/>
            <a:ext cx="1534800" cy="412800"/>
          </a:xfrm>
          <a:prstGeom prst="ellipse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Texting</a:t>
            </a:r>
            <a:endParaRPr sz="1200"/>
          </a:p>
        </p:txBody>
      </p:sp>
      <p:sp>
        <p:nvSpPr>
          <p:cNvPr id="364" name="Google Shape;364;p42"/>
          <p:cNvSpPr/>
          <p:nvPr/>
        </p:nvSpPr>
        <p:spPr>
          <a:xfrm>
            <a:off x="5665450" y="2031300"/>
            <a:ext cx="358200" cy="335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"/>
          <p:cNvSpPr/>
          <p:nvPr/>
        </p:nvSpPr>
        <p:spPr>
          <a:xfrm>
            <a:off x="5665450" y="2444150"/>
            <a:ext cx="358200" cy="335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2"/>
          <p:cNvSpPr/>
          <p:nvPr/>
        </p:nvSpPr>
        <p:spPr>
          <a:xfrm>
            <a:off x="5665450" y="2857000"/>
            <a:ext cx="358200" cy="335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7" name="Google Shape;367;p42"/>
          <p:cNvCxnSpPr>
            <a:stCxn id="356" idx="6"/>
            <a:endCxn id="368" idx="2"/>
          </p:cNvCxnSpPr>
          <p:nvPr/>
        </p:nvCxnSpPr>
        <p:spPr>
          <a:xfrm>
            <a:off x="3707050" y="1373138"/>
            <a:ext cx="2020800" cy="4401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2"/>
          <p:cNvCxnSpPr>
            <a:stCxn id="361" idx="6"/>
            <a:endCxn id="368" idx="2"/>
          </p:cNvCxnSpPr>
          <p:nvPr/>
        </p:nvCxnSpPr>
        <p:spPr>
          <a:xfrm>
            <a:off x="3707050" y="1786001"/>
            <a:ext cx="2020800" cy="273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42"/>
          <p:cNvCxnSpPr>
            <a:stCxn id="360" idx="6"/>
            <a:endCxn id="368" idx="2"/>
          </p:cNvCxnSpPr>
          <p:nvPr/>
        </p:nvCxnSpPr>
        <p:spPr>
          <a:xfrm flipH="1" rot="10800000">
            <a:off x="3707050" y="1813353"/>
            <a:ext cx="2020800" cy="385500"/>
          </a:xfrm>
          <a:prstGeom prst="straightConnector1">
            <a:avLst/>
          </a:prstGeom>
          <a:noFill/>
          <a:ln cap="flat" cmpd="sng" w="28575">
            <a:solidFill>
              <a:srgbClr val="6FA8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42"/>
          <p:cNvCxnSpPr>
            <a:stCxn id="353" idx="6"/>
            <a:endCxn id="368" idx="2"/>
          </p:cNvCxnSpPr>
          <p:nvPr/>
        </p:nvCxnSpPr>
        <p:spPr>
          <a:xfrm flipH="1" rot="10800000">
            <a:off x="3707050" y="1813404"/>
            <a:ext cx="2020800" cy="7983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2"/>
          <p:cNvCxnSpPr>
            <a:stCxn id="362" idx="6"/>
            <a:endCxn id="373" idx="2"/>
          </p:cNvCxnSpPr>
          <p:nvPr/>
        </p:nvCxnSpPr>
        <p:spPr>
          <a:xfrm flipH="1" rot="10800000">
            <a:off x="3707051" y="2998756"/>
            <a:ext cx="2020800" cy="258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2"/>
          <p:cNvCxnSpPr>
            <a:stCxn id="357" idx="6"/>
            <a:endCxn id="373" idx="2"/>
          </p:cNvCxnSpPr>
          <p:nvPr/>
        </p:nvCxnSpPr>
        <p:spPr>
          <a:xfrm flipH="1" rot="10800000">
            <a:off x="3707051" y="2998808"/>
            <a:ext cx="2020800" cy="4386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42"/>
          <p:cNvCxnSpPr>
            <a:stCxn id="363" idx="6"/>
            <a:endCxn id="366" idx="2"/>
          </p:cNvCxnSpPr>
          <p:nvPr/>
        </p:nvCxnSpPr>
        <p:spPr>
          <a:xfrm flipH="1" rot="10800000">
            <a:off x="3707050" y="3024659"/>
            <a:ext cx="1958400" cy="8256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42"/>
          <p:cNvCxnSpPr>
            <a:stCxn id="358" idx="6"/>
            <a:endCxn id="366" idx="2"/>
          </p:cNvCxnSpPr>
          <p:nvPr/>
        </p:nvCxnSpPr>
        <p:spPr>
          <a:xfrm flipH="1" rot="10800000">
            <a:off x="3707052" y="3024411"/>
            <a:ext cx="1958400" cy="12387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42"/>
          <p:cNvCxnSpPr>
            <a:stCxn id="359" idx="6"/>
            <a:endCxn id="368" idx="2"/>
          </p:cNvCxnSpPr>
          <p:nvPr/>
        </p:nvCxnSpPr>
        <p:spPr>
          <a:xfrm flipH="1" rot="10800000">
            <a:off x="3707051" y="1813362"/>
            <a:ext cx="2020800" cy="28626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42"/>
          <p:cNvSpPr/>
          <p:nvPr/>
        </p:nvSpPr>
        <p:spPr>
          <a:xfrm>
            <a:off x="251610" y="2674048"/>
            <a:ext cx="16077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Social Relations</a:t>
            </a:r>
            <a:endParaRPr i="1"/>
          </a:p>
        </p:txBody>
      </p:sp>
      <p:sp>
        <p:nvSpPr>
          <p:cNvPr id="379" name="Google Shape;379;p42"/>
          <p:cNvSpPr/>
          <p:nvPr/>
        </p:nvSpPr>
        <p:spPr>
          <a:xfrm>
            <a:off x="251600" y="1567600"/>
            <a:ext cx="16077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Similarities</a:t>
            </a:r>
            <a:endParaRPr i="1"/>
          </a:p>
        </p:txBody>
      </p:sp>
      <p:sp>
        <p:nvSpPr>
          <p:cNvPr id="380" name="Google Shape;380;p42"/>
          <p:cNvSpPr/>
          <p:nvPr/>
        </p:nvSpPr>
        <p:spPr>
          <a:xfrm>
            <a:off x="251610" y="4044698"/>
            <a:ext cx="16077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Interactions</a:t>
            </a:r>
            <a:r>
              <a:rPr i="1" lang="en"/>
              <a:t> and Flows</a:t>
            </a:r>
            <a:endParaRPr i="1"/>
          </a:p>
        </p:txBody>
      </p:sp>
      <p:sp>
        <p:nvSpPr>
          <p:cNvPr id="381" name="Google Shape;381;p42"/>
          <p:cNvSpPr/>
          <p:nvPr/>
        </p:nvSpPr>
        <p:spPr>
          <a:xfrm>
            <a:off x="1859300" y="3643850"/>
            <a:ext cx="358200" cy="1238700"/>
          </a:xfrm>
          <a:prstGeom prst="leftBrace">
            <a:avLst>
              <a:gd fmla="val 21768" name="adj1"/>
              <a:gd fmla="val 50000" name="adj2"/>
            </a:avLst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2"/>
          <p:cNvSpPr/>
          <p:nvPr/>
        </p:nvSpPr>
        <p:spPr>
          <a:xfrm>
            <a:off x="1859300" y="2385900"/>
            <a:ext cx="358200" cy="1210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2"/>
          <p:cNvSpPr/>
          <p:nvPr/>
        </p:nvSpPr>
        <p:spPr>
          <a:xfrm>
            <a:off x="1859300" y="1147224"/>
            <a:ext cx="358200" cy="11259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2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4" name="Google Shape;384;p42"/>
          <p:cNvCxnSpPr>
            <a:stCxn id="368" idx="6"/>
            <a:endCxn id="385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42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6" name="Google Shape;386;p42"/>
          <p:cNvCxnSpPr>
            <a:stCxn id="373" idx="7"/>
            <a:endCxn id="387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7" name="Google Shape;387;p42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54" name="Google Shape;354;p42"/>
          <p:cNvSpPr/>
          <p:nvPr/>
        </p:nvSpPr>
        <p:spPr>
          <a:xfrm>
            <a:off x="5727883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8" name="Google Shape;388;p42"/>
          <p:cNvCxnSpPr>
            <a:stCxn id="354" idx="6"/>
            <a:endCxn id="389" idx="2"/>
          </p:cNvCxnSpPr>
          <p:nvPr/>
        </p:nvCxnSpPr>
        <p:spPr>
          <a:xfrm>
            <a:off x="6512083" y="4238272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9" name="Google Shape;389;p42"/>
          <p:cNvSpPr/>
          <p:nvPr/>
        </p:nvSpPr>
        <p:spPr>
          <a:xfrm>
            <a:off x="7341784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0" name="Google Shape;390;p42"/>
          <p:cNvCxnSpPr>
            <a:stCxn id="387" idx="3"/>
            <a:endCxn id="373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91" name="Google Shape;391;p42"/>
          <p:cNvSpPr txBox="1"/>
          <p:nvPr/>
        </p:nvSpPr>
        <p:spPr>
          <a:xfrm>
            <a:off x="6155675" y="46189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42"/>
          <p:cNvSpPr txBox="1"/>
          <p:nvPr/>
        </p:nvSpPr>
        <p:spPr>
          <a:xfrm>
            <a:off x="6155575" y="33796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3" name="Google Shape;393;p42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Anthropological Classification of Ties</a:t>
            </a:r>
            <a:endParaRPr/>
          </a:p>
        </p:txBody>
      </p:sp>
      <p:pic>
        <p:nvPicPr>
          <p:cNvPr id="399" name="Google Shape;399;p43" title="Screenshot 2025-04-03 9.10.00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1147225"/>
            <a:ext cx="6400800" cy="3728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Networks as Combinations of Ties</a:t>
            </a:r>
            <a:endParaRPr/>
          </a:p>
        </p:txBody>
      </p:sp>
      <p:sp>
        <p:nvSpPr>
          <p:cNvPr id="405" name="Google Shape;405;p44"/>
          <p:cNvSpPr txBox="1"/>
          <p:nvPr/>
        </p:nvSpPr>
        <p:spPr>
          <a:xfrm>
            <a:off x="3186600" y="3840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Staff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6" name="Google Shape;406;p44"/>
          <p:cNvSpPr txBox="1"/>
          <p:nvPr/>
        </p:nvSpPr>
        <p:spPr>
          <a:xfrm>
            <a:off x="3186615" y="266690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7" name="Google Shape;407;p44"/>
          <p:cNvSpPr txBox="1"/>
          <p:nvPr/>
        </p:nvSpPr>
        <p:spPr>
          <a:xfrm>
            <a:off x="3186600" y="14929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8" name="Google Shape;408;p44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Faith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09" name="Google Shape;409;p44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Ed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11" name="Google Shape;411;p44"/>
          <p:cNvCxnSpPr>
            <a:stCxn id="410" idx="4"/>
            <a:endCxn id="408" idx="0"/>
          </p:cNvCxnSpPr>
          <p:nvPr/>
        </p:nvCxnSpPr>
        <p:spPr>
          <a:xfrm>
            <a:off x="873938" y="18939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2" name="Google Shape;412;p44"/>
          <p:cNvCxnSpPr>
            <a:stCxn id="408" idx="4"/>
            <a:endCxn id="409" idx="0"/>
          </p:cNvCxnSpPr>
          <p:nvPr/>
        </p:nvCxnSpPr>
        <p:spPr>
          <a:xfrm>
            <a:off x="873938" y="30473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3" name="Google Shape;413;p44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Naomi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4" name="Google Shape;414;p44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15" name="Google Shape;415;p44"/>
          <p:cNvCxnSpPr>
            <a:stCxn id="413" idx="4"/>
            <a:endCxn id="414" idx="0"/>
          </p:cNvCxnSpPr>
          <p:nvPr/>
        </p:nvCxnSpPr>
        <p:spPr>
          <a:xfrm>
            <a:off x="2152088" y="30474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6" name="Google Shape;416;p44"/>
          <p:cNvCxnSpPr>
            <a:stCxn id="410" idx="2"/>
            <a:endCxn id="409" idx="2"/>
          </p:cNvCxnSpPr>
          <p:nvPr/>
        </p:nvCxnSpPr>
        <p:spPr>
          <a:xfrm>
            <a:off x="563438" y="15914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7" name="Google Shape;417;p44"/>
          <p:cNvCxnSpPr>
            <a:stCxn id="408" idx="4"/>
            <a:endCxn id="414" idx="0"/>
          </p:cNvCxnSpPr>
          <p:nvPr/>
        </p:nvCxnSpPr>
        <p:spPr>
          <a:xfrm>
            <a:off x="873938" y="30473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8" name="Google Shape;418;p44"/>
          <p:cNvCxnSpPr>
            <a:stCxn id="410" idx="4"/>
            <a:endCxn id="413" idx="0"/>
          </p:cNvCxnSpPr>
          <p:nvPr/>
        </p:nvCxnSpPr>
        <p:spPr>
          <a:xfrm>
            <a:off x="873938" y="18939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9" name="Google Shape;419;p44"/>
          <p:cNvCxnSpPr>
            <a:stCxn id="410" idx="6"/>
            <a:endCxn id="414" idx="6"/>
          </p:cNvCxnSpPr>
          <p:nvPr/>
        </p:nvCxnSpPr>
        <p:spPr>
          <a:xfrm>
            <a:off x="1184438" y="15914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0" name="Google Shape;420;p44"/>
          <p:cNvCxnSpPr>
            <a:stCxn id="413" idx="4"/>
            <a:endCxn id="409" idx="0"/>
          </p:cNvCxnSpPr>
          <p:nvPr/>
        </p:nvCxnSpPr>
        <p:spPr>
          <a:xfrm flipH="1">
            <a:off x="874088" y="30474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1" name="Google Shape;421;p44"/>
          <p:cNvCxnSpPr/>
          <p:nvPr/>
        </p:nvCxnSpPr>
        <p:spPr>
          <a:xfrm>
            <a:off x="4905925" y="17146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2" name="Google Shape;422;p44"/>
          <p:cNvSpPr txBox="1"/>
          <p:nvPr/>
        </p:nvSpPr>
        <p:spPr>
          <a:xfrm>
            <a:off x="5992825" y="15302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Networks as Combinations of Ties</a:t>
            </a:r>
            <a:endParaRPr/>
          </a:p>
        </p:txBody>
      </p:sp>
      <p:sp>
        <p:nvSpPr>
          <p:cNvPr id="428" name="Google Shape;428;p45"/>
          <p:cNvSpPr txBox="1"/>
          <p:nvPr/>
        </p:nvSpPr>
        <p:spPr>
          <a:xfrm>
            <a:off x="3186600" y="3840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Staff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29" name="Google Shape;429;p45"/>
          <p:cNvSpPr txBox="1"/>
          <p:nvPr/>
        </p:nvSpPr>
        <p:spPr>
          <a:xfrm>
            <a:off x="3186615" y="266690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0" name="Google Shape;430;p45"/>
          <p:cNvSpPr txBox="1"/>
          <p:nvPr/>
        </p:nvSpPr>
        <p:spPr>
          <a:xfrm>
            <a:off x="3186600" y="14929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1" name="Google Shape;431;p45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Faith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2" name="Google Shape;432;p45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3" name="Google Shape;433;p45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Ed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34" name="Google Shape;434;p45"/>
          <p:cNvCxnSpPr>
            <a:stCxn id="433" idx="4"/>
            <a:endCxn id="431" idx="0"/>
          </p:cNvCxnSpPr>
          <p:nvPr/>
        </p:nvCxnSpPr>
        <p:spPr>
          <a:xfrm>
            <a:off x="873938" y="18939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5" name="Google Shape;435;p45"/>
          <p:cNvCxnSpPr>
            <a:stCxn id="431" idx="4"/>
            <a:endCxn id="432" idx="0"/>
          </p:cNvCxnSpPr>
          <p:nvPr/>
        </p:nvCxnSpPr>
        <p:spPr>
          <a:xfrm>
            <a:off x="873938" y="30473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6" name="Google Shape;436;p45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Naomi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7" name="Google Shape;437;p45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38" name="Google Shape;438;p45"/>
          <p:cNvCxnSpPr>
            <a:stCxn id="436" idx="4"/>
            <a:endCxn id="437" idx="0"/>
          </p:cNvCxnSpPr>
          <p:nvPr/>
        </p:nvCxnSpPr>
        <p:spPr>
          <a:xfrm>
            <a:off x="2152088" y="30474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39" name="Google Shape;439;p45"/>
          <p:cNvCxnSpPr>
            <a:stCxn id="433" idx="2"/>
            <a:endCxn id="432" idx="2"/>
          </p:cNvCxnSpPr>
          <p:nvPr/>
        </p:nvCxnSpPr>
        <p:spPr>
          <a:xfrm>
            <a:off x="563438" y="15914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0" name="Google Shape;440;p45"/>
          <p:cNvCxnSpPr>
            <a:stCxn id="431" idx="4"/>
            <a:endCxn id="437" idx="0"/>
          </p:cNvCxnSpPr>
          <p:nvPr/>
        </p:nvCxnSpPr>
        <p:spPr>
          <a:xfrm>
            <a:off x="873938" y="30473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1" name="Google Shape;441;p45"/>
          <p:cNvCxnSpPr>
            <a:stCxn id="433" idx="4"/>
            <a:endCxn id="436" idx="0"/>
          </p:cNvCxnSpPr>
          <p:nvPr/>
        </p:nvCxnSpPr>
        <p:spPr>
          <a:xfrm>
            <a:off x="873938" y="18939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2" name="Google Shape;442;p45"/>
          <p:cNvCxnSpPr>
            <a:stCxn id="433" idx="6"/>
            <a:endCxn id="437" idx="6"/>
          </p:cNvCxnSpPr>
          <p:nvPr/>
        </p:nvCxnSpPr>
        <p:spPr>
          <a:xfrm>
            <a:off x="1184438" y="15914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3" name="Google Shape;443;p45"/>
          <p:cNvCxnSpPr>
            <a:stCxn id="436" idx="4"/>
            <a:endCxn id="432" idx="0"/>
          </p:cNvCxnSpPr>
          <p:nvPr/>
        </p:nvCxnSpPr>
        <p:spPr>
          <a:xfrm flipH="1">
            <a:off x="874088" y="30474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4" name="Google Shape;444;p45"/>
          <p:cNvCxnSpPr/>
          <p:nvPr/>
        </p:nvCxnSpPr>
        <p:spPr>
          <a:xfrm>
            <a:off x="4905925" y="17146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5" name="Google Shape;445;p45"/>
          <p:cNvCxnSpPr/>
          <p:nvPr/>
        </p:nvCxnSpPr>
        <p:spPr>
          <a:xfrm>
            <a:off x="1184438" y="27448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5"/>
          <p:cNvCxnSpPr/>
          <p:nvPr/>
        </p:nvCxnSpPr>
        <p:spPr>
          <a:xfrm flipH="1" rot="10800000">
            <a:off x="1184438" y="38895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5"/>
          <p:cNvCxnSpPr/>
          <p:nvPr/>
        </p:nvCxnSpPr>
        <p:spPr>
          <a:xfrm>
            <a:off x="4905925" y="2078300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45"/>
          <p:cNvSpPr txBox="1"/>
          <p:nvPr/>
        </p:nvSpPr>
        <p:spPr>
          <a:xfrm>
            <a:off x="5992825" y="15302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49" name="Google Shape;449;p45"/>
          <p:cNvSpPr txBox="1"/>
          <p:nvPr/>
        </p:nvSpPr>
        <p:spPr>
          <a:xfrm>
            <a:off x="5989320" y="1893950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 work (coworker, officemate)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Networks as Combinations of Ties</a:t>
            </a:r>
            <a:endParaRPr/>
          </a:p>
        </p:txBody>
      </p:sp>
      <p:sp>
        <p:nvSpPr>
          <p:cNvPr id="455" name="Google Shape;455;p46"/>
          <p:cNvSpPr txBox="1"/>
          <p:nvPr/>
        </p:nvSpPr>
        <p:spPr>
          <a:xfrm>
            <a:off x="3186600" y="3840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Staff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6" name="Google Shape;456;p46"/>
          <p:cNvSpPr txBox="1"/>
          <p:nvPr/>
        </p:nvSpPr>
        <p:spPr>
          <a:xfrm>
            <a:off x="3186615" y="266690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7" name="Google Shape;457;p46"/>
          <p:cNvSpPr txBox="1"/>
          <p:nvPr/>
        </p:nvSpPr>
        <p:spPr>
          <a:xfrm>
            <a:off x="3186600" y="14929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8" name="Google Shape;458;p46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Faith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59" name="Google Shape;459;p46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0" name="Google Shape;460;p46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Ed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61" name="Google Shape;461;p46"/>
          <p:cNvCxnSpPr>
            <a:stCxn id="460" idx="4"/>
            <a:endCxn id="458" idx="0"/>
          </p:cNvCxnSpPr>
          <p:nvPr/>
        </p:nvCxnSpPr>
        <p:spPr>
          <a:xfrm>
            <a:off x="873938" y="18939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2" name="Google Shape;462;p46"/>
          <p:cNvCxnSpPr>
            <a:stCxn id="458" idx="4"/>
            <a:endCxn id="459" idx="0"/>
          </p:cNvCxnSpPr>
          <p:nvPr/>
        </p:nvCxnSpPr>
        <p:spPr>
          <a:xfrm>
            <a:off x="873938" y="30473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3" name="Google Shape;463;p46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Naomi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64" name="Google Shape;464;p46"/>
          <p:cNvCxnSpPr>
            <a:stCxn id="458" idx="6"/>
            <a:endCxn id="463" idx="2"/>
          </p:cNvCxnSpPr>
          <p:nvPr/>
        </p:nvCxnSpPr>
        <p:spPr>
          <a:xfrm>
            <a:off x="1184438" y="27448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46"/>
          <p:cNvCxnSpPr>
            <a:stCxn id="459" idx="6"/>
            <a:endCxn id="466" idx="2"/>
          </p:cNvCxnSpPr>
          <p:nvPr/>
        </p:nvCxnSpPr>
        <p:spPr>
          <a:xfrm flipH="1" rot="10800000">
            <a:off x="1184438" y="38895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46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67" name="Google Shape;467;p46"/>
          <p:cNvCxnSpPr>
            <a:stCxn id="463" idx="4"/>
            <a:endCxn id="466" idx="0"/>
          </p:cNvCxnSpPr>
          <p:nvPr/>
        </p:nvCxnSpPr>
        <p:spPr>
          <a:xfrm>
            <a:off x="2152088" y="30474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" name="Google Shape;468;p46"/>
          <p:cNvCxnSpPr>
            <a:stCxn id="460" idx="2"/>
            <a:endCxn id="459" idx="2"/>
          </p:cNvCxnSpPr>
          <p:nvPr/>
        </p:nvCxnSpPr>
        <p:spPr>
          <a:xfrm>
            <a:off x="563438" y="15914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9" name="Google Shape;469;p46"/>
          <p:cNvCxnSpPr>
            <a:stCxn id="458" idx="4"/>
            <a:endCxn id="466" idx="0"/>
          </p:cNvCxnSpPr>
          <p:nvPr/>
        </p:nvCxnSpPr>
        <p:spPr>
          <a:xfrm>
            <a:off x="873938" y="30473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0" name="Google Shape;470;p46"/>
          <p:cNvCxnSpPr>
            <a:stCxn id="458" idx="2"/>
            <a:endCxn id="460" idx="3"/>
          </p:cNvCxnSpPr>
          <p:nvPr/>
        </p:nvCxnSpPr>
        <p:spPr>
          <a:xfrm flipH="1" rot="10800000">
            <a:off x="563438" y="18052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1" name="Google Shape;471;p46"/>
          <p:cNvCxnSpPr>
            <a:stCxn id="458" idx="2"/>
            <a:endCxn id="459" idx="1"/>
          </p:cNvCxnSpPr>
          <p:nvPr/>
        </p:nvCxnSpPr>
        <p:spPr>
          <a:xfrm>
            <a:off x="563438" y="27448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2" name="Google Shape;472;p46"/>
          <p:cNvCxnSpPr>
            <a:stCxn id="460" idx="4"/>
            <a:endCxn id="463" idx="0"/>
          </p:cNvCxnSpPr>
          <p:nvPr/>
        </p:nvCxnSpPr>
        <p:spPr>
          <a:xfrm>
            <a:off x="873938" y="18939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3" name="Google Shape;473;p46"/>
          <p:cNvCxnSpPr>
            <a:stCxn id="460" idx="6"/>
            <a:endCxn id="466" idx="6"/>
          </p:cNvCxnSpPr>
          <p:nvPr/>
        </p:nvCxnSpPr>
        <p:spPr>
          <a:xfrm>
            <a:off x="1184438" y="15914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" name="Google Shape;474;p46"/>
          <p:cNvCxnSpPr>
            <a:stCxn id="460" idx="6"/>
            <a:endCxn id="463" idx="0"/>
          </p:cNvCxnSpPr>
          <p:nvPr/>
        </p:nvCxnSpPr>
        <p:spPr>
          <a:xfrm>
            <a:off x="1184438" y="1591400"/>
            <a:ext cx="967800" cy="8508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" name="Google Shape;475;p46"/>
          <p:cNvCxnSpPr>
            <a:stCxn id="463" idx="4"/>
            <a:endCxn id="459" idx="0"/>
          </p:cNvCxnSpPr>
          <p:nvPr/>
        </p:nvCxnSpPr>
        <p:spPr>
          <a:xfrm flipH="1">
            <a:off x="874088" y="30474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6" name="Google Shape;476;p46"/>
          <p:cNvCxnSpPr>
            <a:stCxn id="459" idx="5"/>
            <a:endCxn id="466" idx="3"/>
          </p:cNvCxnSpPr>
          <p:nvPr/>
        </p:nvCxnSpPr>
        <p:spPr>
          <a:xfrm rot="-5400000">
            <a:off x="1508694" y="3688310"/>
            <a:ext cx="8700" cy="839100"/>
          </a:xfrm>
          <a:prstGeom prst="curvedConnector3">
            <a:avLst>
              <a:gd fmla="val -358896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46"/>
          <p:cNvCxnSpPr>
            <a:stCxn id="466" idx="1"/>
            <a:endCxn id="459" idx="7"/>
          </p:cNvCxnSpPr>
          <p:nvPr/>
        </p:nvCxnSpPr>
        <p:spPr>
          <a:xfrm rot="5400000">
            <a:off x="1508631" y="3260390"/>
            <a:ext cx="8700" cy="839100"/>
          </a:xfrm>
          <a:prstGeom prst="curvedConnector3">
            <a:avLst>
              <a:gd fmla="val -256137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6"/>
          <p:cNvCxnSpPr>
            <a:stCxn id="458" idx="7"/>
            <a:endCxn id="463" idx="1"/>
          </p:cNvCxnSpPr>
          <p:nvPr/>
        </p:nvCxnSpPr>
        <p:spPr>
          <a:xfrm flipH="1" rot="-5400000">
            <a:off x="1512744" y="211165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9" name="Google Shape;479;p46"/>
          <p:cNvCxnSpPr/>
          <p:nvPr/>
        </p:nvCxnSpPr>
        <p:spPr>
          <a:xfrm>
            <a:off x="4905925" y="17146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0" name="Google Shape;480;p46"/>
          <p:cNvCxnSpPr/>
          <p:nvPr/>
        </p:nvCxnSpPr>
        <p:spPr>
          <a:xfrm>
            <a:off x="4905925" y="2078300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6"/>
          <p:cNvCxnSpPr/>
          <p:nvPr/>
        </p:nvCxnSpPr>
        <p:spPr>
          <a:xfrm>
            <a:off x="4905925" y="2441963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2" name="Google Shape;482;p46"/>
          <p:cNvCxnSpPr>
            <a:stCxn id="460" idx="5"/>
            <a:endCxn id="458" idx="6"/>
          </p:cNvCxnSpPr>
          <p:nvPr/>
        </p:nvCxnSpPr>
        <p:spPr>
          <a:xfrm flipH="1" rot="-5400000">
            <a:off x="669144" y="2229685"/>
            <a:ext cx="939600" cy="90900"/>
          </a:xfrm>
          <a:prstGeom prst="curvedConnector4">
            <a:avLst>
              <a:gd fmla="val 38610" name="adj1"/>
              <a:gd fmla="val 362011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3" name="Google Shape;483;p46"/>
          <p:cNvSpPr txBox="1"/>
          <p:nvPr/>
        </p:nvSpPr>
        <p:spPr>
          <a:xfrm>
            <a:off x="5992825" y="15302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4" name="Google Shape;484;p46"/>
          <p:cNvSpPr txBox="1"/>
          <p:nvPr/>
        </p:nvSpPr>
        <p:spPr>
          <a:xfrm>
            <a:off x="5989320" y="1893950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 work (coworker, officemate)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85" name="Google Shape;485;p46"/>
          <p:cNvSpPr txBox="1"/>
          <p:nvPr/>
        </p:nvSpPr>
        <p:spPr>
          <a:xfrm>
            <a:off x="5992825" y="2257625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work (like, dislike)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Networks as Combinations of Ties</a:t>
            </a:r>
            <a:endParaRPr/>
          </a:p>
        </p:txBody>
      </p:sp>
      <p:sp>
        <p:nvSpPr>
          <p:cNvPr id="491" name="Google Shape;491;p47"/>
          <p:cNvSpPr txBox="1"/>
          <p:nvPr/>
        </p:nvSpPr>
        <p:spPr>
          <a:xfrm>
            <a:off x="3186600" y="3840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Staff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2" name="Google Shape;492;p47"/>
          <p:cNvSpPr txBox="1"/>
          <p:nvPr/>
        </p:nvSpPr>
        <p:spPr>
          <a:xfrm>
            <a:off x="3186615" y="266690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3" name="Google Shape;493;p47"/>
          <p:cNvSpPr txBox="1"/>
          <p:nvPr/>
        </p:nvSpPr>
        <p:spPr>
          <a:xfrm>
            <a:off x="3186600" y="14929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4" name="Google Shape;494;p47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Faith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5" name="Google Shape;495;p47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6" name="Google Shape;496;p47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Ed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7" name="Google Shape;497;p47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Naomi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8" name="Google Shape;498;p47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499" name="Google Shape;499;p47"/>
          <p:cNvCxnSpPr>
            <a:stCxn id="494" idx="2"/>
            <a:endCxn id="496" idx="3"/>
          </p:cNvCxnSpPr>
          <p:nvPr/>
        </p:nvCxnSpPr>
        <p:spPr>
          <a:xfrm flipH="1" rot="10800000">
            <a:off x="563438" y="18052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0" name="Google Shape;500;p47"/>
          <p:cNvCxnSpPr>
            <a:stCxn id="494" idx="2"/>
            <a:endCxn id="495" idx="1"/>
          </p:cNvCxnSpPr>
          <p:nvPr/>
        </p:nvCxnSpPr>
        <p:spPr>
          <a:xfrm>
            <a:off x="563438" y="27448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1" name="Google Shape;501;p47"/>
          <p:cNvCxnSpPr>
            <a:stCxn id="496" idx="6"/>
            <a:endCxn id="497" idx="0"/>
          </p:cNvCxnSpPr>
          <p:nvPr/>
        </p:nvCxnSpPr>
        <p:spPr>
          <a:xfrm>
            <a:off x="1184438" y="1591400"/>
            <a:ext cx="967800" cy="8508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2" name="Google Shape;502;p47"/>
          <p:cNvCxnSpPr>
            <a:stCxn id="495" idx="5"/>
            <a:endCxn id="498" idx="3"/>
          </p:cNvCxnSpPr>
          <p:nvPr/>
        </p:nvCxnSpPr>
        <p:spPr>
          <a:xfrm rot="-5400000">
            <a:off x="1508694" y="3688310"/>
            <a:ext cx="8700" cy="839100"/>
          </a:xfrm>
          <a:prstGeom prst="curvedConnector3">
            <a:avLst>
              <a:gd fmla="val -358896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p47"/>
          <p:cNvCxnSpPr>
            <a:stCxn id="494" idx="7"/>
            <a:endCxn id="497" idx="1"/>
          </p:cNvCxnSpPr>
          <p:nvPr/>
        </p:nvCxnSpPr>
        <p:spPr>
          <a:xfrm flipH="1" rot="-5400000">
            <a:off x="1512744" y="211165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4" name="Google Shape;504;p47"/>
          <p:cNvCxnSpPr/>
          <p:nvPr/>
        </p:nvCxnSpPr>
        <p:spPr>
          <a:xfrm>
            <a:off x="4905925" y="17146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5" name="Google Shape;505;p47"/>
          <p:cNvSpPr txBox="1"/>
          <p:nvPr/>
        </p:nvSpPr>
        <p:spPr>
          <a:xfrm>
            <a:off x="5992825" y="15302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06" name="Google Shape;506;p47"/>
          <p:cNvCxnSpPr/>
          <p:nvPr/>
        </p:nvCxnSpPr>
        <p:spPr>
          <a:xfrm>
            <a:off x="4905925" y="2078300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7"/>
          <p:cNvSpPr txBox="1"/>
          <p:nvPr/>
        </p:nvSpPr>
        <p:spPr>
          <a:xfrm>
            <a:off x="5989320" y="1893950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 work (coworker, officemate)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08" name="Google Shape;508;p47"/>
          <p:cNvCxnSpPr/>
          <p:nvPr/>
        </p:nvCxnSpPr>
        <p:spPr>
          <a:xfrm>
            <a:off x="4905925" y="2441963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9" name="Google Shape;509;p47"/>
          <p:cNvSpPr txBox="1"/>
          <p:nvPr/>
        </p:nvSpPr>
        <p:spPr>
          <a:xfrm>
            <a:off x="5992825" y="2257625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work (like, dislike)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0" name="Google Shape;510;p47"/>
          <p:cNvSpPr txBox="1"/>
          <p:nvPr/>
        </p:nvSpPr>
        <p:spPr>
          <a:xfrm>
            <a:off x="4623000" y="2571750"/>
            <a:ext cx="4214700" cy="20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Different types of ties have different properties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Social Relations (Liking/Disliking) can be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reciprocal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and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non-reciprocal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Simbi and Keryl have a reciprocal liking relationship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Faith and Naomi have a non-reciprocal liking relationship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11" name="Google Shape;511;p47"/>
          <p:cNvCxnSpPr/>
          <p:nvPr/>
        </p:nvCxnSpPr>
        <p:spPr>
          <a:xfrm rot="5400000">
            <a:off x="1508631" y="3260390"/>
            <a:ext cx="8700" cy="839100"/>
          </a:xfrm>
          <a:prstGeom prst="curvedConnector3">
            <a:avLst>
              <a:gd fmla="val -256137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2" name="Google Shape;512;p47"/>
          <p:cNvCxnSpPr/>
          <p:nvPr/>
        </p:nvCxnSpPr>
        <p:spPr>
          <a:xfrm flipH="1" rot="-5400000">
            <a:off x="669144" y="2229685"/>
            <a:ext cx="939600" cy="90900"/>
          </a:xfrm>
          <a:prstGeom prst="curvedConnector4">
            <a:avLst>
              <a:gd fmla="val 38610" name="adj1"/>
              <a:gd fmla="val 362011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Networks as Combinations of Ties</a:t>
            </a:r>
            <a:endParaRPr/>
          </a:p>
        </p:txBody>
      </p:sp>
      <p:sp>
        <p:nvSpPr>
          <p:cNvPr id="518" name="Google Shape;518;p48"/>
          <p:cNvSpPr txBox="1"/>
          <p:nvPr/>
        </p:nvSpPr>
        <p:spPr>
          <a:xfrm>
            <a:off x="3186600" y="3840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Staff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9" name="Google Shape;519;p48"/>
          <p:cNvSpPr txBox="1"/>
          <p:nvPr/>
        </p:nvSpPr>
        <p:spPr>
          <a:xfrm>
            <a:off x="3186615" y="266690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0" name="Google Shape;520;p48"/>
          <p:cNvSpPr txBox="1"/>
          <p:nvPr/>
        </p:nvSpPr>
        <p:spPr>
          <a:xfrm>
            <a:off x="3186600" y="14929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1" name="Google Shape;521;p48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Faith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2" name="Google Shape;522;p48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3" name="Google Shape;523;p48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Ed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24" name="Google Shape;524;p48"/>
          <p:cNvCxnSpPr>
            <a:stCxn id="523" idx="4"/>
            <a:endCxn id="521" idx="0"/>
          </p:cNvCxnSpPr>
          <p:nvPr/>
        </p:nvCxnSpPr>
        <p:spPr>
          <a:xfrm>
            <a:off x="873938" y="18939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5" name="Google Shape;525;p48"/>
          <p:cNvCxnSpPr>
            <a:stCxn id="521" idx="4"/>
            <a:endCxn id="522" idx="0"/>
          </p:cNvCxnSpPr>
          <p:nvPr/>
        </p:nvCxnSpPr>
        <p:spPr>
          <a:xfrm>
            <a:off x="873938" y="30473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6" name="Google Shape;526;p48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Naomi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7" name="Google Shape;527;p48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28" name="Google Shape;528;p48"/>
          <p:cNvCxnSpPr>
            <a:stCxn id="526" idx="4"/>
            <a:endCxn id="527" idx="0"/>
          </p:cNvCxnSpPr>
          <p:nvPr/>
        </p:nvCxnSpPr>
        <p:spPr>
          <a:xfrm>
            <a:off x="2152088" y="30474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9" name="Google Shape;529;p48"/>
          <p:cNvCxnSpPr>
            <a:stCxn id="523" idx="2"/>
            <a:endCxn id="522" idx="2"/>
          </p:cNvCxnSpPr>
          <p:nvPr/>
        </p:nvCxnSpPr>
        <p:spPr>
          <a:xfrm>
            <a:off x="563438" y="15914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0" name="Google Shape;530;p48"/>
          <p:cNvCxnSpPr>
            <a:stCxn id="521" idx="4"/>
            <a:endCxn id="527" idx="0"/>
          </p:cNvCxnSpPr>
          <p:nvPr/>
        </p:nvCxnSpPr>
        <p:spPr>
          <a:xfrm>
            <a:off x="873938" y="30473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1" name="Google Shape;531;p48"/>
          <p:cNvCxnSpPr>
            <a:stCxn id="523" idx="4"/>
            <a:endCxn id="526" idx="0"/>
          </p:cNvCxnSpPr>
          <p:nvPr/>
        </p:nvCxnSpPr>
        <p:spPr>
          <a:xfrm>
            <a:off x="873938" y="18939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2" name="Google Shape;532;p48"/>
          <p:cNvCxnSpPr>
            <a:stCxn id="526" idx="4"/>
            <a:endCxn id="522" idx="0"/>
          </p:cNvCxnSpPr>
          <p:nvPr/>
        </p:nvCxnSpPr>
        <p:spPr>
          <a:xfrm flipH="1">
            <a:off x="874088" y="30474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3" name="Google Shape;533;p48"/>
          <p:cNvCxnSpPr>
            <a:stCxn id="523" idx="4"/>
            <a:endCxn id="527" idx="1"/>
          </p:cNvCxnSpPr>
          <p:nvPr/>
        </p:nvCxnSpPr>
        <p:spPr>
          <a:xfrm>
            <a:off x="873938" y="1893950"/>
            <a:ext cx="1058700" cy="1781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4" name="Google Shape;534;p48"/>
          <p:cNvCxnSpPr/>
          <p:nvPr/>
        </p:nvCxnSpPr>
        <p:spPr>
          <a:xfrm>
            <a:off x="1184438" y="15914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5" name="Google Shape;535;p48"/>
          <p:cNvSpPr txBox="1"/>
          <p:nvPr/>
        </p:nvSpPr>
        <p:spPr>
          <a:xfrm>
            <a:off x="4545250" y="1492950"/>
            <a:ext cx="42147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Anti-symmetric authority ties have the property of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transitivity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●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Transitivity is a relation between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node triples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If Ed has authority over Naomi, and Naomi has authority over Keryl: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Then Ed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necessarily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has authority over Keryl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536" name="Google Shape;536;p48"/>
          <p:cNvGrpSpPr/>
          <p:nvPr/>
        </p:nvGrpSpPr>
        <p:grpSpPr>
          <a:xfrm>
            <a:off x="6380600" y="3478800"/>
            <a:ext cx="1647600" cy="1580100"/>
            <a:chOff x="6494400" y="3563400"/>
            <a:chExt cx="1647600" cy="1580100"/>
          </a:xfrm>
        </p:grpSpPr>
        <p:sp>
          <p:nvSpPr>
            <p:cNvPr id="537" name="Google Shape;537;p48"/>
            <p:cNvSpPr/>
            <p:nvPr/>
          </p:nvSpPr>
          <p:spPr>
            <a:xfrm>
              <a:off x="6494400" y="3563400"/>
              <a:ext cx="1647600" cy="1580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8"/>
            <p:cNvSpPr/>
            <p:nvPr/>
          </p:nvSpPr>
          <p:spPr>
            <a:xfrm>
              <a:off x="66730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539" name="Google Shape;539;p48"/>
            <p:cNvSpPr/>
            <p:nvPr/>
          </p:nvSpPr>
          <p:spPr>
            <a:xfrm>
              <a:off x="75727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540" name="Google Shape;540;p48"/>
            <p:cNvSpPr/>
            <p:nvPr/>
          </p:nvSpPr>
          <p:spPr>
            <a:xfrm>
              <a:off x="7122900" y="4638375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541" name="Google Shape;541;p48"/>
            <p:cNvCxnSpPr>
              <a:stCxn id="538" idx="6"/>
              <a:endCxn id="539" idx="2"/>
            </p:cNvCxnSpPr>
            <p:nvPr/>
          </p:nvCxnSpPr>
          <p:spPr>
            <a:xfrm>
              <a:off x="7063650" y="4136600"/>
              <a:ext cx="509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42" name="Google Shape;542;p48"/>
            <p:cNvCxnSpPr>
              <a:stCxn id="539" idx="3"/>
              <a:endCxn id="540" idx="0"/>
            </p:cNvCxnSpPr>
            <p:nvPr/>
          </p:nvCxnSpPr>
          <p:spPr>
            <a:xfrm flipH="1">
              <a:off x="7318252" y="4266955"/>
              <a:ext cx="311700" cy="371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43" name="Google Shape;543;p48"/>
            <p:cNvCxnSpPr>
              <a:stCxn id="538" idx="4"/>
              <a:endCxn id="540" idx="0"/>
            </p:cNvCxnSpPr>
            <p:nvPr/>
          </p:nvCxnSpPr>
          <p:spPr>
            <a:xfrm>
              <a:off x="6868350" y="4320950"/>
              <a:ext cx="450000" cy="317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Networks as Combinations of Ties</a:t>
            </a:r>
            <a:endParaRPr/>
          </a:p>
        </p:txBody>
      </p:sp>
      <p:sp>
        <p:nvSpPr>
          <p:cNvPr id="549" name="Google Shape;549;p49"/>
          <p:cNvSpPr txBox="1"/>
          <p:nvPr/>
        </p:nvSpPr>
        <p:spPr>
          <a:xfrm>
            <a:off x="3186600" y="3840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Staff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0" name="Google Shape;550;p49"/>
          <p:cNvSpPr txBox="1"/>
          <p:nvPr/>
        </p:nvSpPr>
        <p:spPr>
          <a:xfrm>
            <a:off x="3186615" y="266690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1" name="Google Shape;551;p49"/>
          <p:cNvSpPr txBox="1"/>
          <p:nvPr/>
        </p:nvSpPr>
        <p:spPr>
          <a:xfrm>
            <a:off x="3186600" y="14929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2" name="Google Shape;552;p49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Faith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3" name="Google Shape;553;p49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4" name="Google Shape;554;p49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Ed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55" name="Google Shape;555;p49"/>
          <p:cNvCxnSpPr>
            <a:stCxn id="554" idx="4"/>
            <a:endCxn id="552" idx="0"/>
          </p:cNvCxnSpPr>
          <p:nvPr/>
        </p:nvCxnSpPr>
        <p:spPr>
          <a:xfrm>
            <a:off x="873938" y="18939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6" name="Google Shape;556;p49"/>
          <p:cNvCxnSpPr>
            <a:stCxn id="552" idx="4"/>
            <a:endCxn id="553" idx="0"/>
          </p:cNvCxnSpPr>
          <p:nvPr/>
        </p:nvCxnSpPr>
        <p:spPr>
          <a:xfrm>
            <a:off x="873938" y="30473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7" name="Google Shape;557;p49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Naomi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58" name="Google Shape;558;p49"/>
          <p:cNvCxnSpPr>
            <a:stCxn id="552" idx="6"/>
            <a:endCxn id="557" idx="2"/>
          </p:cNvCxnSpPr>
          <p:nvPr/>
        </p:nvCxnSpPr>
        <p:spPr>
          <a:xfrm>
            <a:off x="1184438" y="27448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49"/>
          <p:cNvCxnSpPr>
            <a:stCxn id="553" idx="6"/>
            <a:endCxn id="560" idx="2"/>
          </p:cNvCxnSpPr>
          <p:nvPr/>
        </p:nvCxnSpPr>
        <p:spPr>
          <a:xfrm flipH="1" rot="10800000">
            <a:off x="1184438" y="38895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" name="Google Shape;560;p49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61" name="Google Shape;561;p49"/>
          <p:cNvCxnSpPr>
            <a:stCxn id="557" idx="4"/>
            <a:endCxn id="560" idx="0"/>
          </p:cNvCxnSpPr>
          <p:nvPr/>
        </p:nvCxnSpPr>
        <p:spPr>
          <a:xfrm>
            <a:off x="2152088" y="30474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2" name="Google Shape;562;p49"/>
          <p:cNvCxnSpPr>
            <a:stCxn id="554" idx="2"/>
            <a:endCxn id="553" idx="2"/>
          </p:cNvCxnSpPr>
          <p:nvPr/>
        </p:nvCxnSpPr>
        <p:spPr>
          <a:xfrm>
            <a:off x="563438" y="15914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3" name="Google Shape;563;p49"/>
          <p:cNvCxnSpPr>
            <a:stCxn id="552" idx="4"/>
            <a:endCxn id="560" idx="0"/>
          </p:cNvCxnSpPr>
          <p:nvPr/>
        </p:nvCxnSpPr>
        <p:spPr>
          <a:xfrm>
            <a:off x="873938" y="30473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4" name="Google Shape;564;p49"/>
          <p:cNvCxnSpPr>
            <a:stCxn id="554" idx="4"/>
            <a:endCxn id="557" idx="0"/>
          </p:cNvCxnSpPr>
          <p:nvPr/>
        </p:nvCxnSpPr>
        <p:spPr>
          <a:xfrm>
            <a:off x="873938" y="18939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5" name="Google Shape;565;p49"/>
          <p:cNvCxnSpPr>
            <a:stCxn id="554" idx="6"/>
            <a:endCxn id="560" idx="6"/>
          </p:cNvCxnSpPr>
          <p:nvPr/>
        </p:nvCxnSpPr>
        <p:spPr>
          <a:xfrm>
            <a:off x="1184438" y="15914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6" name="Google Shape;566;p49"/>
          <p:cNvCxnSpPr>
            <a:stCxn id="557" idx="4"/>
            <a:endCxn id="553" idx="0"/>
          </p:cNvCxnSpPr>
          <p:nvPr/>
        </p:nvCxnSpPr>
        <p:spPr>
          <a:xfrm flipH="1">
            <a:off x="874088" y="30474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7" name="Google Shape;567;p49"/>
          <p:cNvCxnSpPr/>
          <p:nvPr/>
        </p:nvCxnSpPr>
        <p:spPr>
          <a:xfrm>
            <a:off x="4905925" y="17146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8" name="Google Shape;568;p49"/>
          <p:cNvCxnSpPr/>
          <p:nvPr/>
        </p:nvCxnSpPr>
        <p:spPr>
          <a:xfrm>
            <a:off x="4905925" y="2078300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49"/>
          <p:cNvCxnSpPr/>
          <p:nvPr/>
        </p:nvCxnSpPr>
        <p:spPr>
          <a:xfrm>
            <a:off x="4905925" y="2441963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0" name="Google Shape;570;p49"/>
          <p:cNvSpPr txBox="1"/>
          <p:nvPr/>
        </p:nvSpPr>
        <p:spPr>
          <a:xfrm>
            <a:off x="4623000" y="2666901"/>
            <a:ext cx="42147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●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 Hierarchies or Organizations: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○"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Same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authority level 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ties are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■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Implying equality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○"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Cross-Authority level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ties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■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Implying inequality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1" name="Google Shape;571;p49"/>
          <p:cNvSpPr txBox="1"/>
          <p:nvPr/>
        </p:nvSpPr>
        <p:spPr>
          <a:xfrm>
            <a:off x="5992825" y="15302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 work (boss, supervisor)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2" name="Google Shape;572;p49"/>
          <p:cNvSpPr txBox="1"/>
          <p:nvPr/>
        </p:nvSpPr>
        <p:spPr>
          <a:xfrm>
            <a:off x="5989320" y="1893950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 work (coworker, officemate)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3" name="Google Shape;573;p49"/>
          <p:cNvSpPr txBox="1"/>
          <p:nvPr/>
        </p:nvSpPr>
        <p:spPr>
          <a:xfrm>
            <a:off x="5992825" y="2257625"/>
            <a:ext cx="31089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work (like, dislike)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0"/>
          <p:cNvSpPr txBox="1"/>
          <p:nvPr/>
        </p:nvSpPr>
        <p:spPr>
          <a:xfrm>
            <a:off x="4623000" y="1898976"/>
            <a:ext cx="42147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●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In Families: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○"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Same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generation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ties are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■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Sibling/Cousin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○"/>
            </a:pP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Cross-Generation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ties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endParaRPr b="1"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■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Parent/Uncle/Parent’s parent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79" name="Google Shape;579;p50"/>
          <p:cNvCxnSpPr/>
          <p:nvPr/>
        </p:nvCxnSpPr>
        <p:spPr>
          <a:xfrm>
            <a:off x="4905925" y="13315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50"/>
          <p:cNvCxnSpPr/>
          <p:nvPr/>
        </p:nvCxnSpPr>
        <p:spPr>
          <a:xfrm>
            <a:off x="4905925" y="17146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1" name="Google Shape;581;p50"/>
          <p:cNvSpPr txBox="1"/>
          <p:nvPr/>
        </p:nvSpPr>
        <p:spPr>
          <a:xfrm>
            <a:off x="5992825" y="15302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2" name="Google Shape;582;p50"/>
          <p:cNvSpPr txBox="1"/>
          <p:nvPr/>
        </p:nvSpPr>
        <p:spPr>
          <a:xfrm>
            <a:off x="5992825" y="1147225"/>
            <a:ext cx="3053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3" name="Google Shape;583;p50"/>
          <p:cNvSpPr txBox="1"/>
          <p:nvPr>
            <p:ph idx="1" type="body"/>
          </p:nvPr>
        </p:nvSpPr>
        <p:spPr>
          <a:xfrm>
            <a:off x="755575" y="4331500"/>
            <a:ext cx="19701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network</a:t>
            </a:r>
            <a:endParaRPr/>
          </a:p>
        </p:txBody>
      </p:sp>
      <p:sp>
        <p:nvSpPr>
          <p:cNvPr id="584" name="Google Shape;584;p50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585" name="Google Shape;585;p50"/>
          <p:cNvSpPr txBox="1"/>
          <p:nvPr/>
        </p:nvSpPr>
        <p:spPr>
          <a:xfrm>
            <a:off x="3171388" y="39384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Third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6" name="Google Shape;586;p50"/>
          <p:cNvSpPr txBox="1"/>
          <p:nvPr/>
        </p:nvSpPr>
        <p:spPr>
          <a:xfrm>
            <a:off x="3171402" y="2764525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Second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7" name="Google Shape;587;p50"/>
          <p:cNvSpPr txBox="1"/>
          <p:nvPr/>
        </p:nvSpPr>
        <p:spPr>
          <a:xfrm>
            <a:off x="3171388" y="15905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1st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8" name="Google Shape;588;p50"/>
          <p:cNvSpPr/>
          <p:nvPr/>
        </p:nvSpPr>
        <p:spPr>
          <a:xfrm>
            <a:off x="790963" y="25486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9" name="Google Shape;589;p50"/>
          <p:cNvSpPr/>
          <p:nvPr/>
        </p:nvSpPr>
        <p:spPr>
          <a:xfrm>
            <a:off x="790963" y="37020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0" name="Google Shape;590;p50"/>
          <p:cNvSpPr/>
          <p:nvPr/>
        </p:nvSpPr>
        <p:spPr>
          <a:xfrm>
            <a:off x="790963" y="13952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91" name="Google Shape;591;p50"/>
          <p:cNvCxnSpPr>
            <a:stCxn id="590" idx="4"/>
            <a:endCxn id="588" idx="0"/>
          </p:cNvCxnSpPr>
          <p:nvPr/>
        </p:nvCxnSpPr>
        <p:spPr>
          <a:xfrm>
            <a:off x="1101463" y="200030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2" name="Google Shape;592;p50"/>
          <p:cNvCxnSpPr>
            <a:stCxn id="588" idx="4"/>
            <a:endCxn id="589" idx="0"/>
          </p:cNvCxnSpPr>
          <p:nvPr/>
        </p:nvCxnSpPr>
        <p:spPr>
          <a:xfrm>
            <a:off x="1101463" y="315373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3" name="Google Shape;593;p50"/>
          <p:cNvCxnSpPr>
            <a:stCxn id="590" idx="6"/>
            <a:endCxn id="594" idx="2"/>
          </p:cNvCxnSpPr>
          <p:nvPr/>
        </p:nvCxnSpPr>
        <p:spPr>
          <a:xfrm>
            <a:off x="1411963" y="1697750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50"/>
          <p:cNvCxnSpPr>
            <a:stCxn id="588" idx="6"/>
            <a:endCxn id="596" idx="2"/>
          </p:cNvCxnSpPr>
          <p:nvPr/>
        </p:nvCxnSpPr>
        <p:spPr>
          <a:xfrm>
            <a:off x="1411963" y="285118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50"/>
          <p:cNvSpPr/>
          <p:nvPr/>
        </p:nvSpPr>
        <p:spPr>
          <a:xfrm>
            <a:off x="2069113" y="25486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97" name="Google Shape;597;p50"/>
          <p:cNvCxnSpPr>
            <a:stCxn id="594" idx="4"/>
            <a:endCxn id="596" idx="0"/>
          </p:cNvCxnSpPr>
          <p:nvPr/>
        </p:nvCxnSpPr>
        <p:spPr>
          <a:xfrm>
            <a:off x="2379613" y="200030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4" name="Google Shape;594;p50"/>
          <p:cNvSpPr/>
          <p:nvPr/>
        </p:nvSpPr>
        <p:spPr>
          <a:xfrm>
            <a:off x="2069113" y="13952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98" name="Google Shape;598;p50"/>
          <p:cNvCxnSpPr>
            <a:stCxn id="589" idx="6"/>
            <a:endCxn id="599" idx="2"/>
          </p:cNvCxnSpPr>
          <p:nvPr/>
        </p:nvCxnSpPr>
        <p:spPr>
          <a:xfrm flipH="1" rot="10800000">
            <a:off x="1411963" y="399592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50"/>
          <p:cNvSpPr/>
          <p:nvPr/>
        </p:nvSpPr>
        <p:spPr>
          <a:xfrm>
            <a:off x="2069113" y="36933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00" name="Google Shape;600;p50"/>
          <p:cNvCxnSpPr>
            <a:stCxn id="596" idx="4"/>
            <a:endCxn id="599" idx="0"/>
          </p:cNvCxnSpPr>
          <p:nvPr/>
        </p:nvCxnSpPr>
        <p:spPr>
          <a:xfrm>
            <a:off x="2379613" y="315375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1" name="Google Shape;601;p50"/>
          <p:cNvCxnSpPr>
            <a:stCxn id="590" idx="2"/>
            <a:endCxn id="589" idx="2"/>
          </p:cNvCxnSpPr>
          <p:nvPr/>
        </p:nvCxnSpPr>
        <p:spPr>
          <a:xfrm>
            <a:off x="790963" y="169775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2" name="Google Shape;602;p50"/>
          <p:cNvCxnSpPr>
            <a:stCxn id="588" idx="4"/>
            <a:endCxn id="599" idx="0"/>
          </p:cNvCxnSpPr>
          <p:nvPr/>
        </p:nvCxnSpPr>
        <p:spPr>
          <a:xfrm>
            <a:off x="1101463" y="315373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3" name="Google Shape;603;p50"/>
          <p:cNvCxnSpPr>
            <a:stCxn id="594" idx="4"/>
            <a:endCxn id="588" idx="0"/>
          </p:cNvCxnSpPr>
          <p:nvPr/>
        </p:nvCxnSpPr>
        <p:spPr>
          <a:xfrm flipH="1">
            <a:off x="1101613" y="20003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4" name="Google Shape;604;p50"/>
          <p:cNvCxnSpPr>
            <a:stCxn id="594" idx="6"/>
            <a:endCxn id="599" idx="6"/>
          </p:cNvCxnSpPr>
          <p:nvPr/>
        </p:nvCxnSpPr>
        <p:spPr>
          <a:xfrm>
            <a:off x="2690113" y="1697750"/>
            <a:ext cx="600" cy="2298000"/>
          </a:xfrm>
          <a:prstGeom prst="bentConnector3">
            <a:avLst>
              <a:gd fmla="val 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5" name="Google Shape;605;p50"/>
          <p:cNvCxnSpPr>
            <a:stCxn id="590" idx="4"/>
            <a:endCxn id="596" idx="0"/>
          </p:cNvCxnSpPr>
          <p:nvPr/>
        </p:nvCxnSpPr>
        <p:spPr>
          <a:xfrm>
            <a:off x="1101463" y="200030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6" name="Google Shape;606;p50"/>
          <p:cNvCxnSpPr>
            <a:stCxn id="596" idx="4"/>
            <a:endCxn id="589" idx="0"/>
          </p:cNvCxnSpPr>
          <p:nvPr/>
        </p:nvCxnSpPr>
        <p:spPr>
          <a:xfrm flipH="1">
            <a:off x="1101613" y="31537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7" name="Google Shape;607;p50"/>
          <p:cNvCxnSpPr>
            <a:stCxn id="590" idx="4"/>
            <a:endCxn id="596" idx="2"/>
          </p:cNvCxnSpPr>
          <p:nvPr/>
        </p:nvCxnSpPr>
        <p:spPr>
          <a:xfrm>
            <a:off x="1101463" y="2000300"/>
            <a:ext cx="967800" cy="850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8" name="Google Shape;608;p50"/>
          <p:cNvCxnSpPr>
            <a:endCxn id="599" idx="0"/>
          </p:cNvCxnSpPr>
          <p:nvPr/>
        </p:nvCxnSpPr>
        <p:spPr>
          <a:xfrm>
            <a:off x="1101613" y="2000425"/>
            <a:ext cx="1278000" cy="1692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9" name="Google Shape;609;p50"/>
          <p:cNvCxnSpPr>
            <a:stCxn id="594" idx="4"/>
            <a:endCxn id="589" idx="0"/>
          </p:cNvCxnSpPr>
          <p:nvPr/>
        </p:nvCxnSpPr>
        <p:spPr>
          <a:xfrm flipH="1">
            <a:off x="1101613" y="2000300"/>
            <a:ext cx="1278000" cy="1701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1"/>
          <p:cNvSpPr txBox="1"/>
          <p:nvPr/>
        </p:nvSpPr>
        <p:spPr>
          <a:xfrm>
            <a:off x="4623000" y="1898976"/>
            <a:ext cx="4214700" cy="15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●"/>
            </a:pPr>
            <a:r>
              <a:rPr b="1"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Transitivity 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also applies to inter-generational family ties: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○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If a is related to b and b is related to c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conomica"/>
              <a:buChar char="○"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Then a is 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necessarily 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related to</a:t>
            </a:r>
            <a:r>
              <a:rPr b="1"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15" name="Google Shape;615;p51"/>
          <p:cNvCxnSpPr/>
          <p:nvPr/>
        </p:nvCxnSpPr>
        <p:spPr>
          <a:xfrm>
            <a:off x="4905925" y="133157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51"/>
          <p:cNvCxnSpPr/>
          <p:nvPr/>
        </p:nvCxnSpPr>
        <p:spPr>
          <a:xfrm>
            <a:off x="4905925" y="1714625"/>
            <a:ext cx="10869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7" name="Google Shape;617;p51"/>
          <p:cNvSpPr txBox="1"/>
          <p:nvPr/>
        </p:nvSpPr>
        <p:spPr>
          <a:xfrm>
            <a:off x="5992825" y="1530275"/>
            <a:ext cx="31095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8" name="Google Shape;618;p51"/>
          <p:cNvSpPr txBox="1"/>
          <p:nvPr/>
        </p:nvSpPr>
        <p:spPr>
          <a:xfrm>
            <a:off x="5992825" y="1147225"/>
            <a:ext cx="3053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grpSp>
        <p:nvGrpSpPr>
          <p:cNvPr id="619" name="Google Shape;619;p51"/>
          <p:cNvGrpSpPr/>
          <p:nvPr/>
        </p:nvGrpSpPr>
        <p:grpSpPr>
          <a:xfrm>
            <a:off x="6510175" y="3436925"/>
            <a:ext cx="1647600" cy="1580100"/>
            <a:chOff x="6494400" y="3563400"/>
            <a:chExt cx="1647600" cy="1580100"/>
          </a:xfrm>
        </p:grpSpPr>
        <p:sp>
          <p:nvSpPr>
            <p:cNvPr id="620" name="Google Shape;620;p51"/>
            <p:cNvSpPr/>
            <p:nvPr/>
          </p:nvSpPr>
          <p:spPr>
            <a:xfrm>
              <a:off x="6494400" y="3563400"/>
              <a:ext cx="1647600" cy="1580100"/>
            </a:xfrm>
            <a:prstGeom prst="ellipse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1"/>
            <p:cNvSpPr/>
            <p:nvPr/>
          </p:nvSpPr>
          <p:spPr>
            <a:xfrm>
              <a:off x="66730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</a:t>
              </a:r>
              <a:endParaRPr/>
            </a:p>
          </p:txBody>
        </p:sp>
        <p:sp>
          <p:nvSpPr>
            <p:cNvPr id="622" name="Google Shape;622;p51"/>
            <p:cNvSpPr/>
            <p:nvPr/>
          </p:nvSpPr>
          <p:spPr>
            <a:xfrm>
              <a:off x="7572750" y="3952250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</a:t>
              </a:r>
              <a:endParaRPr/>
            </a:p>
          </p:txBody>
        </p:sp>
        <p:sp>
          <p:nvSpPr>
            <p:cNvPr id="623" name="Google Shape;623;p51"/>
            <p:cNvSpPr/>
            <p:nvPr/>
          </p:nvSpPr>
          <p:spPr>
            <a:xfrm>
              <a:off x="7122900" y="4638375"/>
              <a:ext cx="390600" cy="368700"/>
            </a:xfrm>
            <a:prstGeom prst="ellipse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</a:t>
              </a:r>
              <a:endParaRPr/>
            </a:p>
          </p:txBody>
        </p:sp>
        <p:cxnSp>
          <p:nvCxnSpPr>
            <p:cNvPr id="624" name="Google Shape;624;p51"/>
            <p:cNvCxnSpPr>
              <a:stCxn id="621" idx="6"/>
              <a:endCxn id="622" idx="2"/>
            </p:cNvCxnSpPr>
            <p:nvPr/>
          </p:nvCxnSpPr>
          <p:spPr>
            <a:xfrm>
              <a:off x="7063650" y="4136600"/>
              <a:ext cx="509100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625" name="Google Shape;625;p51"/>
            <p:cNvCxnSpPr>
              <a:stCxn id="622" idx="3"/>
              <a:endCxn id="623" idx="0"/>
            </p:cNvCxnSpPr>
            <p:nvPr/>
          </p:nvCxnSpPr>
          <p:spPr>
            <a:xfrm flipH="1">
              <a:off x="7318252" y="4266955"/>
              <a:ext cx="311700" cy="371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626" name="Google Shape;626;p51"/>
            <p:cNvCxnSpPr>
              <a:stCxn id="621" idx="4"/>
              <a:endCxn id="623" idx="0"/>
            </p:cNvCxnSpPr>
            <p:nvPr/>
          </p:nvCxnSpPr>
          <p:spPr>
            <a:xfrm>
              <a:off x="6868350" y="4320950"/>
              <a:ext cx="450000" cy="3174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627" name="Google Shape;627;p51"/>
          <p:cNvSpPr txBox="1"/>
          <p:nvPr>
            <p:ph idx="1" type="body"/>
          </p:nvPr>
        </p:nvSpPr>
        <p:spPr>
          <a:xfrm>
            <a:off x="755575" y="4331500"/>
            <a:ext cx="19701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network</a:t>
            </a:r>
            <a:endParaRPr/>
          </a:p>
        </p:txBody>
      </p:sp>
      <p:sp>
        <p:nvSpPr>
          <p:cNvPr id="628" name="Google Shape;628;p51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629" name="Google Shape;629;p51"/>
          <p:cNvSpPr txBox="1"/>
          <p:nvPr/>
        </p:nvSpPr>
        <p:spPr>
          <a:xfrm>
            <a:off x="3171388" y="39384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Third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0" name="Google Shape;630;p51"/>
          <p:cNvSpPr txBox="1"/>
          <p:nvPr/>
        </p:nvSpPr>
        <p:spPr>
          <a:xfrm>
            <a:off x="3171402" y="2764525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Second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1" name="Google Shape;631;p51"/>
          <p:cNvSpPr txBox="1"/>
          <p:nvPr/>
        </p:nvSpPr>
        <p:spPr>
          <a:xfrm>
            <a:off x="3171388" y="159057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1st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2" name="Google Shape;632;p51"/>
          <p:cNvSpPr/>
          <p:nvPr/>
        </p:nvSpPr>
        <p:spPr>
          <a:xfrm>
            <a:off x="790963" y="254863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3" name="Google Shape;633;p51"/>
          <p:cNvSpPr/>
          <p:nvPr/>
        </p:nvSpPr>
        <p:spPr>
          <a:xfrm>
            <a:off x="790963" y="37020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4" name="Google Shape;634;p51"/>
          <p:cNvSpPr/>
          <p:nvPr/>
        </p:nvSpPr>
        <p:spPr>
          <a:xfrm>
            <a:off x="790963" y="13952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35" name="Google Shape;635;p51"/>
          <p:cNvCxnSpPr>
            <a:stCxn id="634" idx="4"/>
            <a:endCxn id="632" idx="0"/>
          </p:cNvCxnSpPr>
          <p:nvPr/>
        </p:nvCxnSpPr>
        <p:spPr>
          <a:xfrm>
            <a:off x="1101463" y="200030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6" name="Google Shape;636;p51"/>
          <p:cNvCxnSpPr>
            <a:stCxn id="632" idx="4"/>
            <a:endCxn id="633" idx="0"/>
          </p:cNvCxnSpPr>
          <p:nvPr/>
        </p:nvCxnSpPr>
        <p:spPr>
          <a:xfrm>
            <a:off x="1101463" y="315373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7" name="Google Shape;637;p51"/>
          <p:cNvCxnSpPr>
            <a:stCxn id="634" idx="6"/>
            <a:endCxn id="638" idx="2"/>
          </p:cNvCxnSpPr>
          <p:nvPr/>
        </p:nvCxnSpPr>
        <p:spPr>
          <a:xfrm>
            <a:off x="1411963" y="1697750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51"/>
          <p:cNvCxnSpPr>
            <a:stCxn id="632" idx="6"/>
            <a:endCxn id="640" idx="2"/>
          </p:cNvCxnSpPr>
          <p:nvPr/>
        </p:nvCxnSpPr>
        <p:spPr>
          <a:xfrm>
            <a:off x="1411963" y="285118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51"/>
          <p:cNvSpPr/>
          <p:nvPr/>
        </p:nvSpPr>
        <p:spPr>
          <a:xfrm>
            <a:off x="2069113" y="25486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41" name="Google Shape;641;p51"/>
          <p:cNvCxnSpPr>
            <a:stCxn id="638" idx="4"/>
            <a:endCxn id="640" idx="0"/>
          </p:cNvCxnSpPr>
          <p:nvPr/>
        </p:nvCxnSpPr>
        <p:spPr>
          <a:xfrm>
            <a:off x="2379613" y="200030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8" name="Google Shape;638;p51"/>
          <p:cNvSpPr/>
          <p:nvPr/>
        </p:nvSpPr>
        <p:spPr>
          <a:xfrm>
            <a:off x="2069113" y="13952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42" name="Google Shape;642;p51"/>
          <p:cNvCxnSpPr>
            <a:stCxn id="633" idx="6"/>
            <a:endCxn id="643" idx="2"/>
          </p:cNvCxnSpPr>
          <p:nvPr/>
        </p:nvCxnSpPr>
        <p:spPr>
          <a:xfrm flipH="1" rot="10800000">
            <a:off x="1411963" y="399592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3" name="Google Shape;643;p51"/>
          <p:cNvSpPr/>
          <p:nvPr/>
        </p:nvSpPr>
        <p:spPr>
          <a:xfrm>
            <a:off x="2069113" y="36933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44" name="Google Shape;644;p51"/>
          <p:cNvCxnSpPr>
            <a:stCxn id="640" idx="4"/>
            <a:endCxn id="643" idx="0"/>
          </p:cNvCxnSpPr>
          <p:nvPr/>
        </p:nvCxnSpPr>
        <p:spPr>
          <a:xfrm>
            <a:off x="2379613" y="315375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5" name="Google Shape;645;p51"/>
          <p:cNvCxnSpPr>
            <a:stCxn id="634" idx="2"/>
            <a:endCxn id="633" idx="2"/>
          </p:cNvCxnSpPr>
          <p:nvPr/>
        </p:nvCxnSpPr>
        <p:spPr>
          <a:xfrm>
            <a:off x="790963" y="169775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6" name="Google Shape;646;p51"/>
          <p:cNvCxnSpPr>
            <a:stCxn id="632" idx="4"/>
            <a:endCxn id="643" idx="0"/>
          </p:cNvCxnSpPr>
          <p:nvPr/>
        </p:nvCxnSpPr>
        <p:spPr>
          <a:xfrm>
            <a:off x="1101463" y="315373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7" name="Google Shape;647;p51"/>
          <p:cNvCxnSpPr>
            <a:stCxn id="638" idx="4"/>
            <a:endCxn id="632" idx="0"/>
          </p:cNvCxnSpPr>
          <p:nvPr/>
        </p:nvCxnSpPr>
        <p:spPr>
          <a:xfrm flipH="1">
            <a:off x="1101613" y="20003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8" name="Google Shape;648;p51"/>
          <p:cNvCxnSpPr>
            <a:stCxn id="638" idx="6"/>
            <a:endCxn id="643" idx="6"/>
          </p:cNvCxnSpPr>
          <p:nvPr/>
        </p:nvCxnSpPr>
        <p:spPr>
          <a:xfrm>
            <a:off x="2690113" y="1697750"/>
            <a:ext cx="600" cy="2298000"/>
          </a:xfrm>
          <a:prstGeom prst="bentConnector3">
            <a:avLst>
              <a:gd fmla="val 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9" name="Google Shape;649;p51"/>
          <p:cNvCxnSpPr>
            <a:stCxn id="634" idx="4"/>
            <a:endCxn id="640" idx="0"/>
          </p:cNvCxnSpPr>
          <p:nvPr/>
        </p:nvCxnSpPr>
        <p:spPr>
          <a:xfrm>
            <a:off x="1101463" y="200030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0" name="Google Shape;650;p51"/>
          <p:cNvCxnSpPr>
            <a:stCxn id="640" idx="4"/>
            <a:endCxn id="633" idx="0"/>
          </p:cNvCxnSpPr>
          <p:nvPr/>
        </p:nvCxnSpPr>
        <p:spPr>
          <a:xfrm flipH="1">
            <a:off x="1101613" y="315375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1" name="Google Shape;651;p51"/>
          <p:cNvCxnSpPr>
            <a:stCxn id="634" idx="4"/>
            <a:endCxn id="640" idx="2"/>
          </p:cNvCxnSpPr>
          <p:nvPr/>
        </p:nvCxnSpPr>
        <p:spPr>
          <a:xfrm>
            <a:off x="1101463" y="2000300"/>
            <a:ext cx="967800" cy="850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2" name="Google Shape;652;p51"/>
          <p:cNvCxnSpPr>
            <a:endCxn id="643" idx="0"/>
          </p:cNvCxnSpPr>
          <p:nvPr/>
        </p:nvCxnSpPr>
        <p:spPr>
          <a:xfrm>
            <a:off x="1101613" y="2000425"/>
            <a:ext cx="1278000" cy="1692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3" name="Google Shape;653;p51"/>
          <p:cNvCxnSpPr>
            <a:stCxn id="638" idx="4"/>
            <a:endCxn id="633" idx="0"/>
          </p:cNvCxnSpPr>
          <p:nvPr/>
        </p:nvCxnSpPr>
        <p:spPr>
          <a:xfrm flipH="1">
            <a:off x="1101613" y="2000300"/>
            <a:ext cx="1278000" cy="17019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Multiplexity in Social Relations</a:t>
            </a:r>
            <a:endParaRPr/>
          </a:p>
        </p:txBody>
      </p:sp>
      <p:sp>
        <p:nvSpPr>
          <p:cNvPr id="659" name="Google Shape;659;p52"/>
          <p:cNvSpPr txBox="1"/>
          <p:nvPr/>
        </p:nvSpPr>
        <p:spPr>
          <a:xfrm>
            <a:off x="3186600" y="38408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Staff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0" name="Google Shape;660;p52"/>
          <p:cNvSpPr txBox="1"/>
          <p:nvPr/>
        </p:nvSpPr>
        <p:spPr>
          <a:xfrm>
            <a:off x="3186615" y="266690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Managers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1" name="Google Shape;661;p52"/>
          <p:cNvSpPr txBox="1"/>
          <p:nvPr/>
        </p:nvSpPr>
        <p:spPr>
          <a:xfrm>
            <a:off x="3186600" y="149295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Executives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2" name="Google Shape;662;p52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Faith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3" name="Google Shape;663;p52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Simbi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64" name="Google Shape;664;p52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Ed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65" name="Google Shape;665;p52"/>
          <p:cNvCxnSpPr>
            <a:stCxn id="664" idx="4"/>
            <a:endCxn id="662" idx="0"/>
          </p:cNvCxnSpPr>
          <p:nvPr/>
        </p:nvCxnSpPr>
        <p:spPr>
          <a:xfrm>
            <a:off x="873938" y="18939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6" name="Google Shape;666;p52"/>
          <p:cNvCxnSpPr>
            <a:stCxn id="662" idx="4"/>
            <a:endCxn id="663" idx="0"/>
          </p:cNvCxnSpPr>
          <p:nvPr/>
        </p:nvCxnSpPr>
        <p:spPr>
          <a:xfrm>
            <a:off x="873938" y="30473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7" name="Google Shape;667;p52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Naomi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68" name="Google Shape;668;p52"/>
          <p:cNvCxnSpPr>
            <a:stCxn id="662" idx="6"/>
            <a:endCxn id="667" idx="2"/>
          </p:cNvCxnSpPr>
          <p:nvPr/>
        </p:nvCxnSpPr>
        <p:spPr>
          <a:xfrm>
            <a:off x="1184438" y="27448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52"/>
          <p:cNvCxnSpPr>
            <a:stCxn id="663" idx="6"/>
            <a:endCxn id="670" idx="2"/>
          </p:cNvCxnSpPr>
          <p:nvPr/>
        </p:nvCxnSpPr>
        <p:spPr>
          <a:xfrm flipH="1" rot="10800000">
            <a:off x="1184438" y="38895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52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Keryl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71" name="Google Shape;671;p52"/>
          <p:cNvCxnSpPr>
            <a:stCxn id="667" idx="4"/>
            <a:endCxn id="670" idx="0"/>
          </p:cNvCxnSpPr>
          <p:nvPr/>
        </p:nvCxnSpPr>
        <p:spPr>
          <a:xfrm>
            <a:off x="2152088" y="30474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2" name="Google Shape;672;p52"/>
          <p:cNvCxnSpPr>
            <a:stCxn id="664" idx="2"/>
            <a:endCxn id="663" idx="2"/>
          </p:cNvCxnSpPr>
          <p:nvPr/>
        </p:nvCxnSpPr>
        <p:spPr>
          <a:xfrm>
            <a:off x="563438" y="15914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3" name="Google Shape;673;p52"/>
          <p:cNvCxnSpPr>
            <a:stCxn id="662" idx="4"/>
            <a:endCxn id="670" idx="0"/>
          </p:cNvCxnSpPr>
          <p:nvPr/>
        </p:nvCxnSpPr>
        <p:spPr>
          <a:xfrm>
            <a:off x="873938" y="30473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4" name="Google Shape;674;p52"/>
          <p:cNvCxnSpPr>
            <a:stCxn id="662" idx="2"/>
            <a:endCxn id="664" idx="3"/>
          </p:cNvCxnSpPr>
          <p:nvPr/>
        </p:nvCxnSpPr>
        <p:spPr>
          <a:xfrm flipH="1" rot="10800000">
            <a:off x="563438" y="18052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5" name="Google Shape;675;p52"/>
          <p:cNvCxnSpPr>
            <a:stCxn id="662" idx="2"/>
            <a:endCxn id="663" idx="1"/>
          </p:cNvCxnSpPr>
          <p:nvPr/>
        </p:nvCxnSpPr>
        <p:spPr>
          <a:xfrm>
            <a:off x="563438" y="27448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6" name="Google Shape;676;p52"/>
          <p:cNvCxnSpPr>
            <a:stCxn id="664" idx="4"/>
            <a:endCxn id="667" idx="0"/>
          </p:cNvCxnSpPr>
          <p:nvPr/>
        </p:nvCxnSpPr>
        <p:spPr>
          <a:xfrm>
            <a:off x="873938" y="18939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7" name="Google Shape;677;p52"/>
          <p:cNvCxnSpPr>
            <a:stCxn id="664" idx="6"/>
            <a:endCxn id="670" idx="6"/>
          </p:cNvCxnSpPr>
          <p:nvPr/>
        </p:nvCxnSpPr>
        <p:spPr>
          <a:xfrm>
            <a:off x="1184438" y="15914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8" name="Google Shape;678;p52"/>
          <p:cNvCxnSpPr>
            <a:stCxn id="664" idx="6"/>
            <a:endCxn id="667" idx="0"/>
          </p:cNvCxnSpPr>
          <p:nvPr/>
        </p:nvCxnSpPr>
        <p:spPr>
          <a:xfrm>
            <a:off x="1184438" y="1591400"/>
            <a:ext cx="967800" cy="8508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79" name="Google Shape;679;p52"/>
          <p:cNvCxnSpPr>
            <a:stCxn id="667" idx="4"/>
            <a:endCxn id="663" idx="0"/>
          </p:cNvCxnSpPr>
          <p:nvPr/>
        </p:nvCxnSpPr>
        <p:spPr>
          <a:xfrm flipH="1">
            <a:off x="874088" y="30474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0" name="Google Shape;680;p52"/>
          <p:cNvCxnSpPr>
            <a:stCxn id="663" idx="5"/>
            <a:endCxn id="670" idx="3"/>
          </p:cNvCxnSpPr>
          <p:nvPr/>
        </p:nvCxnSpPr>
        <p:spPr>
          <a:xfrm rot="-5400000">
            <a:off x="1508694" y="3688310"/>
            <a:ext cx="8700" cy="839100"/>
          </a:xfrm>
          <a:prstGeom prst="curvedConnector3">
            <a:avLst>
              <a:gd fmla="val -358896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52"/>
          <p:cNvCxnSpPr>
            <a:stCxn id="670" idx="1"/>
            <a:endCxn id="663" idx="7"/>
          </p:cNvCxnSpPr>
          <p:nvPr/>
        </p:nvCxnSpPr>
        <p:spPr>
          <a:xfrm rot="5400000">
            <a:off x="1508631" y="3260390"/>
            <a:ext cx="8700" cy="839100"/>
          </a:xfrm>
          <a:prstGeom prst="curvedConnector3">
            <a:avLst>
              <a:gd fmla="val -256137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52"/>
          <p:cNvCxnSpPr>
            <a:stCxn id="662" idx="7"/>
            <a:endCxn id="667" idx="1"/>
          </p:cNvCxnSpPr>
          <p:nvPr/>
        </p:nvCxnSpPr>
        <p:spPr>
          <a:xfrm flipH="1" rot="-5400000">
            <a:off x="1512744" y="211165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3" name="Google Shape;683;p52"/>
          <p:cNvCxnSpPr>
            <a:stCxn id="664" idx="5"/>
            <a:endCxn id="662" idx="6"/>
          </p:cNvCxnSpPr>
          <p:nvPr/>
        </p:nvCxnSpPr>
        <p:spPr>
          <a:xfrm flipH="1" rot="-5400000">
            <a:off x="669144" y="2229685"/>
            <a:ext cx="939600" cy="90900"/>
          </a:xfrm>
          <a:prstGeom prst="curvedConnector4">
            <a:avLst>
              <a:gd fmla="val 38610" name="adj1"/>
              <a:gd fmla="val 362011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84" name="Google Shape;684;p52"/>
          <p:cNvSpPr txBox="1"/>
          <p:nvPr/>
        </p:nvSpPr>
        <p:spPr>
          <a:xfrm>
            <a:off x="4170850" y="1288850"/>
            <a:ext cx="46314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are usually linked by different types of ties at the same time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This is called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multiplexity 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Example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: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joined via a either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or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role relations (e.g., supervisor, coworkers)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Can also be linked via an asymmetric 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sentiment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relation (liking, disliking)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Economica"/>
              <a:buChar char="○"/>
            </a:pPr>
            <a:r>
              <a:rPr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Ed and Faith have a multiplex relation because they are linked via both authority and liking ties</a:t>
            </a:r>
            <a:endParaRPr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3"/>
          <p:cNvSpPr/>
          <p:nvPr/>
        </p:nvSpPr>
        <p:spPr>
          <a:xfrm>
            <a:off x="563438" y="24422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Mom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0" name="Google Shape;690;p53"/>
          <p:cNvSpPr/>
          <p:nvPr/>
        </p:nvSpPr>
        <p:spPr>
          <a:xfrm>
            <a:off x="563438" y="359572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1" name="Google Shape;691;p53"/>
          <p:cNvSpPr/>
          <p:nvPr/>
        </p:nvSpPr>
        <p:spPr>
          <a:xfrm>
            <a:off x="563438" y="128885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Gma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92" name="Google Shape;692;p53"/>
          <p:cNvCxnSpPr>
            <a:stCxn id="691" idx="4"/>
            <a:endCxn id="689" idx="0"/>
          </p:cNvCxnSpPr>
          <p:nvPr/>
        </p:nvCxnSpPr>
        <p:spPr>
          <a:xfrm>
            <a:off x="873938" y="1893950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3" name="Google Shape;693;p53"/>
          <p:cNvCxnSpPr>
            <a:stCxn id="689" idx="4"/>
            <a:endCxn id="690" idx="0"/>
          </p:cNvCxnSpPr>
          <p:nvPr/>
        </p:nvCxnSpPr>
        <p:spPr>
          <a:xfrm>
            <a:off x="873938" y="30473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4" name="Google Shape;694;p53"/>
          <p:cNvSpPr/>
          <p:nvPr/>
        </p:nvSpPr>
        <p:spPr>
          <a:xfrm>
            <a:off x="1841588" y="24423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Unc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95" name="Google Shape;695;p53"/>
          <p:cNvCxnSpPr>
            <a:stCxn id="689" idx="6"/>
            <a:endCxn id="694" idx="2"/>
          </p:cNvCxnSpPr>
          <p:nvPr/>
        </p:nvCxnSpPr>
        <p:spPr>
          <a:xfrm>
            <a:off x="1184438" y="27448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53"/>
          <p:cNvCxnSpPr>
            <a:stCxn id="690" idx="6"/>
            <a:endCxn id="697" idx="2"/>
          </p:cNvCxnSpPr>
          <p:nvPr/>
        </p:nvCxnSpPr>
        <p:spPr>
          <a:xfrm flipH="1" rot="10800000">
            <a:off x="1184438" y="38895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53"/>
          <p:cNvSpPr/>
          <p:nvPr/>
        </p:nvSpPr>
        <p:spPr>
          <a:xfrm>
            <a:off x="1841588" y="35869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698" name="Google Shape;698;p53"/>
          <p:cNvCxnSpPr>
            <a:stCxn id="694" idx="4"/>
            <a:endCxn id="697" idx="0"/>
          </p:cNvCxnSpPr>
          <p:nvPr/>
        </p:nvCxnSpPr>
        <p:spPr>
          <a:xfrm>
            <a:off x="2152088" y="30474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9" name="Google Shape;699;p53"/>
          <p:cNvCxnSpPr>
            <a:stCxn id="691" idx="2"/>
            <a:endCxn id="690" idx="2"/>
          </p:cNvCxnSpPr>
          <p:nvPr/>
        </p:nvCxnSpPr>
        <p:spPr>
          <a:xfrm>
            <a:off x="563438" y="1591400"/>
            <a:ext cx="600" cy="2307000"/>
          </a:xfrm>
          <a:prstGeom prst="bentConnector3">
            <a:avLst>
              <a:gd fmla="val -3968750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0" name="Google Shape;700;p53"/>
          <p:cNvCxnSpPr>
            <a:stCxn id="689" idx="4"/>
            <a:endCxn id="697" idx="0"/>
          </p:cNvCxnSpPr>
          <p:nvPr/>
        </p:nvCxnSpPr>
        <p:spPr>
          <a:xfrm>
            <a:off x="873938" y="30473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53"/>
          <p:cNvCxnSpPr>
            <a:stCxn id="689" idx="2"/>
            <a:endCxn id="691" idx="3"/>
          </p:cNvCxnSpPr>
          <p:nvPr/>
        </p:nvCxnSpPr>
        <p:spPr>
          <a:xfrm flipH="1" rot="10800000">
            <a:off x="563438" y="18052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2" name="Google Shape;702;p53"/>
          <p:cNvSpPr txBox="1"/>
          <p:nvPr/>
        </p:nvSpPr>
        <p:spPr>
          <a:xfrm>
            <a:off x="2959075" y="37345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Third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03" name="Google Shape;703;p53"/>
          <p:cNvSpPr txBox="1"/>
          <p:nvPr/>
        </p:nvSpPr>
        <p:spPr>
          <a:xfrm>
            <a:off x="2959090" y="2560550"/>
            <a:ext cx="17193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Second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04" name="Google Shape;704;p53"/>
          <p:cNvSpPr txBox="1"/>
          <p:nvPr/>
        </p:nvSpPr>
        <p:spPr>
          <a:xfrm>
            <a:off x="2959075" y="13866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1st Generation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05" name="Google Shape;705;p53"/>
          <p:cNvCxnSpPr>
            <a:stCxn id="689" idx="2"/>
            <a:endCxn id="690" idx="1"/>
          </p:cNvCxnSpPr>
          <p:nvPr/>
        </p:nvCxnSpPr>
        <p:spPr>
          <a:xfrm>
            <a:off x="563438" y="2744838"/>
            <a:ext cx="90900" cy="939600"/>
          </a:xfrm>
          <a:prstGeom prst="curvedConnector4">
            <a:avLst>
              <a:gd fmla="val -261964" name="adj1"/>
              <a:gd fmla="val 61379" name="adj2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6" name="Google Shape;706;p53"/>
          <p:cNvCxnSpPr>
            <a:stCxn id="691" idx="4"/>
            <a:endCxn id="694" idx="0"/>
          </p:cNvCxnSpPr>
          <p:nvPr/>
        </p:nvCxnSpPr>
        <p:spPr>
          <a:xfrm>
            <a:off x="873938" y="1893950"/>
            <a:ext cx="12783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7" name="Google Shape;707;p53"/>
          <p:cNvCxnSpPr>
            <a:stCxn id="691" idx="6"/>
            <a:endCxn id="697" idx="6"/>
          </p:cNvCxnSpPr>
          <p:nvPr/>
        </p:nvCxnSpPr>
        <p:spPr>
          <a:xfrm>
            <a:off x="1184438" y="1591400"/>
            <a:ext cx="1278300" cy="2298000"/>
          </a:xfrm>
          <a:prstGeom prst="bentConnector3">
            <a:avLst>
              <a:gd fmla="val 118617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8" name="Google Shape;708;p53"/>
          <p:cNvCxnSpPr>
            <a:stCxn id="691" idx="6"/>
            <a:endCxn id="694" idx="0"/>
          </p:cNvCxnSpPr>
          <p:nvPr/>
        </p:nvCxnSpPr>
        <p:spPr>
          <a:xfrm>
            <a:off x="1184438" y="1591400"/>
            <a:ext cx="967800" cy="850800"/>
          </a:xfrm>
          <a:prstGeom prst="curvedConnector2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9" name="Google Shape;709;p53"/>
          <p:cNvCxnSpPr>
            <a:stCxn id="694" idx="4"/>
            <a:endCxn id="690" idx="0"/>
          </p:cNvCxnSpPr>
          <p:nvPr/>
        </p:nvCxnSpPr>
        <p:spPr>
          <a:xfrm flipH="1">
            <a:off x="874088" y="30474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0" name="Google Shape;710;p53"/>
          <p:cNvCxnSpPr>
            <a:stCxn id="690" idx="5"/>
            <a:endCxn id="697" idx="3"/>
          </p:cNvCxnSpPr>
          <p:nvPr/>
        </p:nvCxnSpPr>
        <p:spPr>
          <a:xfrm rot="-5400000">
            <a:off x="1508694" y="368831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1" name="Google Shape;711;p53"/>
          <p:cNvCxnSpPr>
            <a:stCxn id="697" idx="1"/>
            <a:endCxn id="690" idx="7"/>
          </p:cNvCxnSpPr>
          <p:nvPr/>
        </p:nvCxnSpPr>
        <p:spPr>
          <a:xfrm rot="5400000">
            <a:off x="1508631" y="3260390"/>
            <a:ext cx="8700" cy="839100"/>
          </a:xfrm>
          <a:prstGeom prst="curvedConnector3">
            <a:avLst>
              <a:gd fmla="val -375563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2" name="Google Shape;712;p53"/>
          <p:cNvCxnSpPr>
            <a:stCxn id="689" idx="7"/>
            <a:endCxn id="694" idx="1"/>
          </p:cNvCxnSpPr>
          <p:nvPr/>
        </p:nvCxnSpPr>
        <p:spPr>
          <a:xfrm flipH="1" rot="-5400000">
            <a:off x="1512744" y="2111652"/>
            <a:ext cx="600" cy="839100"/>
          </a:xfrm>
          <a:prstGeom prst="curvedConnector3">
            <a:avLst>
              <a:gd fmla="val -544566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3" name="Google Shape;713;p53"/>
          <p:cNvSpPr txBox="1"/>
          <p:nvPr/>
        </p:nvSpPr>
        <p:spPr>
          <a:xfrm>
            <a:off x="4170850" y="1288850"/>
            <a:ext cx="4631400" cy="3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are usually linked by different types of ties at the same time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This is called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multiplexity 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●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Example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: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People joined via a either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or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antisymmetric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 role relations (e.g., parent of sibling)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conomica"/>
              <a:buChar char="○"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Can also be linked via an asymmetric  </a:t>
            </a: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social support </a:t>
            </a: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relation 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Economica"/>
              <a:buChar char="○"/>
            </a:pPr>
            <a:r>
              <a:rPr lang="en" sz="1800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You and Sis have a symmetric sibling tie but also have a reciprocal social support tie</a:t>
            </a:r>
            <a:endParaRPr sz="1800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14" name="Google Shape;714;p53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Multiplexity in Social Relations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4"/>
          <p:cNvSpPr/>
          <p:nvPr/>
        </p:nvSpPr>
        <p:spPr>
          <a:xfrm>
            <a:off x="692788" y="22515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20" name="Google Shape;720;p54"/>
          <p:cNvSpPr/>
          <p:nvPr/>
        </p:nvSpPr>
        <p:spPr>
          <a:xfrm>
            <a:off x="692788" y="3405013"/>
            <a:ext cx="621000" cy="6051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21" name="Google Shape;721;p54"/>
          <p:cNvCxnSpPr>
            <a:stCxn id="719" idx="4"/>
            <a:endCxn id="720" idx="0"/>
          </p:cNvCxnSpPr>
          <p:nvPr/>
        </p:nvCxnSpPr>
        <p:spPr>
          <a:xfrm>
            <a:off x="1003288" y="285667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22" name="Google Shape;722;p54"/>
          <p:cNvSpPr/>
          <p:nvPr/>
        </p:nvSpPr>
        <p:spPr>
          <a:xfrm>
            <a:off x="1970938" y="22515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23" name="Google Shape;723;p54"/>
          <p:cNvCxnSpPr>
            <a:stCxn id="719" idx="6"/>
            <a:endCxn id="722" idx="2"/>
          </p:cNvCxnSpPr>
          <p:nvPr/>
        </p:nvCxnSpPr>
        <p:spPr>
          <a:xfrm>
            <a:off x="1313788" y="255412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4" name="Google Shape;724;p54"/>
          <p:cNvCxnSpPr>
            <a:stCxn id="720" idx="6"/>
            <a:endCxn id="725" idx="2"/>
          </p:cNvCxnSpPr>
          <p:nvPr/>
        </p:nvCxnSpPr>
        <p:spPr>
          <a:xfrm flipH="1" rot="10800000">
            <a:off x="1313788" y="369886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5" name="Google Shape;725;p54"/>
          <p:cNvSpPr/>
          <p:nvPr/>
        </p:nvSpPr>
        <p:spPr>
          <a:xfrm>
            <a:off x="1970938" y="33962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26" name="Google Shape;726;p54"/>
          <p:cNvCxnSpPr>
            <a:stCxn id="722" idx="4"/>
            <a:endCxn id="725" idx="0"/>
          </p:cNvCxnSpPr>
          <p:nvPr/>
        </p:nvCxnSpPr>
        <p:spPr>
          <a:xfrm>
            <a:off x="2281438" y="285668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7" name="Google Shape;727;p54"/>
          <p:cNvCxnSpPr>
            <a:stCxn id="719" idx="4"/>
            <a:endCxn id="725" idx="0"/>
          </p:cNvCxnSpPr>
          <p:nvPr/>
        </p:nvCxnSpPr>
        <p:spPr>
          <a:xfrm>
            <a:off x="1003288" y="285667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8" name="Google Shape;728;p54"/>
          <p:cNvCxnSpPr>
            <a:stCxn id="719" idx="7"/>
            <a:endCxn id="722" idx="1"/>
          </p:cNvCxnSpPr>
          <p:nvPr/>
        </p:nvCxnSpPr>
        <p:spPr>
          <a:xfrm flipH="1" rot="-5400000">
            <a:off x="1642094" y="1920940"/>
            <a:ext cx="600" cy="839100"/>
          </a:xfrm>
          <a:prstGeom prst="curvedConnector3">
            <a:avLst>
              <a:gd fmla="val -4517330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29" name="Google Shape;729;p54"/>
          <p:cNvSpPr/>
          <p:nvPr/>
        </p:nvSpPr>
        <p:spPr>
          <a:xfrm>
            <a:off x="3559600" y="22515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30" name="Google Shape;730;p54"/>
          <p:cNvSpPr/>
          <p:nvPr/>
        </p:nvSpPr>
        <p:spPr>
          <a:xfrm>
            <a:off x="3559600" y="3405025"/>
            <a:ext cx="621000" cy="605100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31" name="Google Shape;731;p54"/>
          <p:cNvCxnSpPr>
            <a:stCxn id="729" idx="4"/>
            <a:endCxn id="730" idx="0"/>
          </p:cNvCxnSpPr>
          <p:nvPr/>
        </p:nvCxnSpPr>
        <p:spPr>
          <a:xfrm>
            <a:off x="3870100" y="28566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2" name="Google Shape;732;p54"/>
          <p:cNvSpPr/>
          <p:nvPr/>
        </p:nvSpPr>
        <p:spPr>
          <a:xfrm>
            <a:off x="4837750" y="22516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33" name="Google Shape;733;p54"/>
          <p:cNvCxnSpPr>
            <a:stCxn id="729" idx="6"/>
            <a:endCxn id="732" idx="2"/>
          </p:cNvCxnSpPr>
          <p:nvPr/>
        </p:nvCxnSpPr>
        <p:spPr>
          <a:xfrm>
            <a:off x="4180600" y="25541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54"/>
          <p:cNvCxnSpPr>
            <a:stCxn id="730" idx="6"/>
            <a:endCxn id="735" idx="2"/>
          </p:cNvCxnSpPr>
          <p:nvPr/>
        </p:nvCxnSpPr>
        <p:spPr>
          <a:xfrm flipH="1" rot="10800000">
            <a:off x="4180600" y="36988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54"/>
          <p:cNvSpPr/>
          <p:nvPr/>
        </p:nvSpPr>
        <p:spPr>
          <a:xfrm>
            <a:off x="4837750" y="33962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36" name="Google Shape;736;p54"/>
          <p:cNvCxnSpPr>
            <a:stCxn id="732" idx="4"/>
            <a:endCxn id="735" idx="0"/>
          </p:cNvCxnSpPr>
          <p:nvPr/>
        </p:nvCxnSpPr>
        <p:spPr>
          <a:xfrm>
            <a:off x="5148250" y="28567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7" name="Google Shape;737;p54"/>
          <p:cNvCxnSpPr>
            <a:stCxn id="729" idx="4"/>
            <a:endCxn id="735" idx="0"/>
          </p:cNvCxnSpPr>
          <p:nvPr/>
        </p:nvCxnSpPr>
        <p:spPr>
          <a:xfrm>
            <a:off x="3870100" y="28566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8" name="Google Shape;738;p54"/>
          <p:cNvCxnSpPr>
            <a:stCxn id="729" idx="7"/>
            <a:endCxn id="732" idx="1"/>
          </p:cNvCxnSpPr>
          <p:nvPr/>
        </p:nvCxnSpPr>
        <p:spPr>
          <a:xfrm flipH="1" rot="-5400000">
            <a:off x="4508907" y="1920952"/>
            <a:ext cx="600" cy="839100"/>
          </a:xfrm>
          <a:prstGeom prst="curvedConnector3">
            <a:avLst>
              <a:gd fmla="val -4162122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9" name="Google Shape;739;p54"/>
          <p:cNvCxnSpPr>
            <a:stCxn id="722" idx="3"/>
            <a:endCxn id="719" idx="5"/>
          </p:cNvCxnSpPr>
          <p:nvPr/>
        </p:nvCxnSpPr>
        <p:spPr>
          <a:xfrm rot="5400000">
            <a:off x="1642031" y="2348823"/>
            <a:ext cx="600" cy="839100"/>
          </a:xfrm>
          <a:prstGeom prst="curvedConnector3">
            <a:avLst>
              <a:gd fmla="val 3282955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0" name="Google Shape;740;p54"/>
          <p:cNvSpPr txBox="1"/>
          <p:nvPr/>
        </p:nvSpPr>
        <p:spPr>
          <a:xfrm>
            <a:off x="924250" y="143142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41" name="Google Shape;741;p54"/>
          <p:cNvSpPr txBox="1"/>
          <p:nvPr/>
        </p:nvSpPr>
        <p:spPr>
          <a:xfrm>
            <a:off x="3793438" y="14314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42" name="Google Shape;742;p54"/>
          <p:cNvCxnSpPr>
            <a:stCxn id="732" idx="3"/>
            <a:endCxn id="729" idx="5"/>
          </p:cNvCxnSpPr>
          <p:nvPr/>
        </p:nvCxnSpPr>
        <p:spPr>
          <a:xfrm rot="5400000">
            <a:off x="4508843" y="2348835"/>
            <a:ext cx="600" cy="839100"/>
          </a:xfrm>
          <a:prstGeom prst="curvedConnector3">
            <a:avLst>
              <a:gd fmla="val 375691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3" name="Google Shape;743;p54"/>
          <p:cNvSpPr txBox="1"/>
          <p:nvPr/>
        </p:nvSpPr>
        <p:spPr>
          <a:xfrm>
            <a:off x="5572900" y="2401825"/>
            <a:ext cx="32166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Networks grow by linking ties of different types across different networks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44" name="Google Shape;744;p54"/>
          <p:cNvCxnSpPr/>
          <p:nvPr/>
        </p:nvCxnSpPr>
        <p:spPr>
          <a:xfrm>
            <a:off x="5290450" y="20054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5" name="Google Shape;745;p54"/>
          <p:cNvSpPr txBox="1"/>
          <p:nvPr/>
        </p:nvSpPr>
        <p:spPr>
          <a:xfrm>
            <a:off x="6036850" y="18211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46" name="Google Shape;746;p54"/>
          <p:cNvCxnSpPr/>
          <p:nvPr/>
        </p:nvCxnSpPr>
        <p:spPr>
          <a:xfrm>
            <a:off x="5290450" y="12260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54"/>
          <p:cNvCxnSpPr/>
          <p:nvPr/>
        </p:nvCxnSpPr>
        <p:spPr>
          <a:xfrm>
            <a:off x="5290450" y="160911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8" name="Google Shape;748;p54"/>
          <p:cNvSpPr txBox="1"/>
          <p:nvPr/>
        </p:nvSpPr>
        <p:spPr>
          <a:xfrm>
            <a:off x="6036850" y="1424763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49" name="Google Shape;749;p54"/>
          <p:cNvSpPr txBox="1"/>
          <p:nvPr/>
        </p:nvSpPr>
        <p:spPr>
          <a:xfrm>
            <a:off x="6036850" y="1041713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50" name="Google Shape;750;p54"/>
          <p:cNvCxnSpPr>
            <a:stCxn id="722" idx="4"/>
            <a:endCxn id="720" idx="0"/>
          </p:cNvCxnSpPr>
          <p:nvPr/>
        </p:nvCxnSpPr>
        <p:spPr>
          <a:xfrm flipH="1">
            <a:off x="1003438" y="285668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1" name="Google Shape;751;p54"/>
          <p:cNvCxnSpPr>
            <a:stCxn id="732" idx="4"/>
            <a:endCxn id="730" idx="0"/>
          </p:cNvCxnSpPr>
          <p:nvPr/>
        </p:nvCxnSpPr>
        <p:spPr>
          <a:xfrm flipH="1">
            <a:off x="3870250" y="28567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2" name="Google Shape;752;p54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cxnSp>
        <p:nvCxnSpPr>
          <p:cNvPr id="753" name="Google Shape;753;p54"/>
          <p:cNvCxnSpPr/>
          <p:nvPr/>
        </p:nvCxnSpPr>
        <p:spPr>
          <a:xfrm flipH="1">
            <a:off x="3074225" y="1286975"/>
            <a:ext cx="11700" cy="33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5"/>
          <p:cNvSpPr/>
          <p:nvPr/>
        </p:nvSpPr>
        <p:spPr>
          <a:xfrm>
            <a:off x="692788" y="22515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9" name="Google Shape;759;p55"/>
          <p:cNvSpPr/>
          <p:nvPr/>
        </p:nvSpPr>
        <p:spPr>
          <a:xfrm>
            <a:off x="692788" y="3405013"/>
            <a:ext cx="621000" cy="6051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60" name="Google Shape;760;p55"/>
          <p:cNvCxnSpPr>
            <a:stCxn id="758" idx="4"/>
            <a:endCxn id="759" idx="0"/>
          </p:cNvCxnSpPr>
          <p:nvPr/>
        </p:nvCxnSpPr>
        <p:spPr>
          <a:xfrm>
            <a:off x="1003288" y="285667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1" name="Google Shape;761;p55"/>
          <p:cNvSpPr/>
          <p:nvPr/>
        </p:nvSpPr>
        <p:spPr>
          <a:xfrm>
            <a:off x="1970938" y="22515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62" name="Google Shape;762;p55"/>
          <p:cNvCxnSpPr>
            <a:stCxn id="758" idx="6"/>
            <a:endCxn id="761" idx="2"/>
          </p:cNvCxnSpPr>
          <p:nvPr/>
        </p:nvCxnSpPr>
        <p:spPr>
          <a:xfrm>
            <a:off x="1313788" y="255412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55"/>
          <p:cNvCxnSpPr>
            <a:stCxn id="759" idx="6"/>
            <a:endCxn id="764" idx="2"/>
          </p:cNvCxnSpPr>
          <p:nvPr/>
        </p:nvCxnSpPr>
        <p:spPr>
          <a:xfrm flipH="1" rot="10800000">
            <a:off x="1313788" y="369886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55"/>
          <p:cNvSpPr/>
          <p:nvPr/>
        </p:nvSpPr>
        <p:spPr>
          <a:xfrm>
            <a:off x="1970938" y="33962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65" name="Google Shape;765;p55"/>
          <p:cNvCxnSpPr>
            <a:stCxn id="761" idx="4"/>
            <a:endCxn id="764" idx="0"/>
          </p:cNvCxnSpPr>
          <p:nvPr/>
        </p:nvCxnSpPr>
        <p:spPr>
          <a:xfrm>
            <a:off x="2281438" y="285668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6" name="Google Shape;766;p55"/>
          <p:cNvCxnSpPr>
            <a:stCxn id="758" idx="4"/>
            <a:endCxn id="764" idx="0"/>
          </p:cNvCxnSpPr>
          <p:nvPr/>
        </p:nvCxnSpPr>
        <p:spPr>
          <a:xfrm>
            <a:off x="1003288" y="285667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7" name="Google Shape;767;p55"/>
          <p:cNvCxnSpPr>
            <a:stCxn id="758" idx="7"/>
            <a:endCxn id="761" idx="1"/>
          </p:cNvCxnSpPr>
          <p:nvPr/>
        </p:nvCxnSpPr>
        <p:spPr>
          <a:xfrm flipH="1" rot="-5400000">
            <a:off x="1642094" y="1920940"/>
            <a:ext cx="600" cy="839100"/>
          </a:xfrm>
          <a:prstGeom prst="curvedConnector3">
            <a:avLst>
              <a:gd fmla="val -4517330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8" name="Google Shape;768;p55"/>
          <p:cNvSpPr/>
          <p:nvPr/>
        </p:nvSpPr>
        <p:spPr>
          <a:xfrm>
            <a:off x="3559600" y="22515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69" name="Google Shape;769;p55"/>
          <p:cNvSpPr/>
          <p:nvPr/>
        </p:nvSpPr>
        <p:spPr>
          <a:xfrm>
            <a:off x="3559600" y="3405025"/>
            <a:ext cx="621000" cy="605100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70" name="Google Shape;770;p55"/>
          <p:cNvCxnSpPr>
            <a:stCxn id="768" idx="4"/>
            <a:endCxn id="769" idx="0"/>
          </p:cNvCxnSpPr>
          <p:nvPr/>
        </p:nvCxnSpPr>
        <p:spPr>
          <a:xfrm>
            <a:off x="3870100" y="28566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1" name="Google Shape;771;p55"/>
          <p:cNvSpPr/>
          <p:nvPr/>
        </p:nvSpPr>
        <p:spPr>
          <a:xfrm>
            <a:off x="4837750" y="22516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72" name="Google Shape;772;p55"/>
          <p:cNvCxnSpPr>
            <a:stCxn id="768" idx="6"/>
            <a:endCxn id="771" idx="2"/>
          </p:cNvCxnSpPr>
          <p:nvPr/>
        </p:nvCxnSpPr>
        <p:spPr>
          <a:xfrm>
            <a:off x="4180600" y="25541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55"/>
          <p:cNvCxnSpPr>
            <a:stCxn id="769" idx="6"/>
            <a:endCxn id="774" idx="2"/>
          </p:cNvCxnSpPr>
          <p:nvPr/>
        </p:nvCxnSpPr>
        <p:spPr>
          <a:xfrm flipH="1" rot="10800000">
            <a:off x="4180600" y="36988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55"/>
          <p:cNvSpPr/>
          <p:nvPr/>
        </p:nvSpPr>
        <p:spPr>
          <a:xfrm>
            <a:off x="4837750" y="33962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75" name="Google Shape;775;p55"/>
          <p:cNvCxnSpPr>
            <a:stCxn id="771" idx="4"/>
            <a:endCxn id="774" idx="0"/>
          </p:cNvCxnSpPr>
          <p:nvPr/>
        </p:nvCxnSpPr>
        <p:spPr>
          <a:xfrm>
            <a:off x="5148250" y="28567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6" name="Google Shape;776;p55"/>
          <p:cNvCxnSpPr>
            <a:stCxn id="768" idx="4"/>
            <a:endCxn id="774" idx="0"/>
          </p:cNvCxnSpPr>
          <p:nvPr/>
        </p:nvCxnSpPr>
        <p:spPr>
          <a:xfrm>
            <a:off x="3870100" y="28566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7" name="Google Shape;777;p55"/>
          <p:cNvCxnSpPr>
            <a:stCxn id="759" idx="0"/>
            <a:endCxn id="769" idx="0"/>
          </p:cNvCxnSpPr>
          <p:nvPr/>
        </p:nvCxnSpPr>
        <p:spPr>
          <a:xfrm flipH="1" rot="-5400000">
            <a:off x="2436388" y="1971913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55"/>
          <p:cNvCxnSpPr>
            <a:stCxn id="768" idx="7"/>
            <a:endCxn id="771" idx="1"/>
          </p:cNvCxnSpPr>
          <p:nvPr/>
        </p:nvCxnSpPr>
        <p:spPr>
          <a:xfrm flipH="1" rot="-5400000">
            <a:off x="4508907" y="1920952"/>
            <a:ext cx="600" cy="839100"/>
          </a:xfrm>
          <a:prstGeom prst="curvedConnector3">
            <a:avLst>
              <a:gd fmla="val -4162122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9" name="Google Shape;779;p55"/>
          <p:cNvCxnSpPr>
            <a:stCxn id="761" idx="3"/>
            <a:endCxn id="758" idx="5"/>
          </p:cNvCxnSpPr>
          <p:nvPr/>
        </p:nvCxnSpPr>
        <p:spPr>
          <a:xfrm rot="5400000">
            <a:off x="1642031" y="2348823"/>
            <a:ext cx="600" cy="839100"/>
          </a:xfrm>
          <a:prstGeom prst="curvedConnector3">
            <a:avLst>
              <a:gd fmla="val 3282955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0" name="Google Shape;780;p55"/>
          <p:cNvSpPr txBox="1"/>
          <p:nvPr/>
        </p:nvSpPr>
        <p:spPr>
          <a:xfrm>
            <a:off x="924250" y="143142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1" name="Google Shape;781;p55"/>
          <p:cNvSpPr txBox="1"/>
          <p:nvPr/>
        </p:nvSpPr>
        <p:spPr>
          <a:xfrm>
            <a:off x="3793438" y="14314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82" name="Google Shape;782;p55"/>
          <p:cNvCxnSpPr>
            <a:stCxn id="771" idx="3"/>
            <a:endCxn id="768" idx="5"/>
          </p:cNvCxnSpPr>
          <p:nvPr/>
        </p:nvCxnSpPr>
        <p:spPr>
          <a:xfrm rot="5400000">
            <a:off x="4508843" y="2348835"/>
            <a:ext cx="600" cy="839100"/>
          </a:xfrm>
          <a:prstGeom prst="curvedConnector3">
            <a:avLst>
              <a:gd fmla="val 375691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55"/>
          <p:cNvSpPr txBox="1"/>
          <p:nvPr/>
        </p:nvSpPr>
        <p:spPr>
          <a:xfrm>
            <a:off x="5572900" y="2401825"/>
            <a:ext cx="32166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are in love: Yay!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84" name="Google Shape;784;p55"/>
          <p:cNvCxnSpPr/>
          <p:nvPr/>
        </p:nvCxnSpPr>
        <p:spPr>
          <a:xfrm>
            <a:off x="5290450" y="20054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5" name="Google Shape;785;p55"/>
          <p:cNvSpPr txBox="1"/>
          <p:nvPr/>
        </p:nvSpPr>
        <p:spPr>
          <a:xfrm>
            <a:off x="6036850" y="18211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86" name="Google Shape;786;p55"/>
          <p:cNvCxnSpPr/>
          <p:nvPr/>
        </p:nvCxnSpPr>
        <p:spPr>
          <a:xfrm>
            <a:off x="5290450" y="12260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55"/>
          <p:cNvCxnSpPr/>
          <p:nvPr/>
        </p:nvCxnSpPr>
        <p:spPr>
          <a:xfrm>
            <a:off x="5290450" y="160911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8" name="Google Shape;788;p55"/>
          <p:cNvSpPr txBox="1"/>
          <p:nvPr/>
        </p:nvSpPr>
        <p:spPr>
          <a:xfrm>
            <a:off x="6036850" y="1424763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9" name="Google Shape;789;p55"/>
          <p:cNvSpPr txBox="1"/>
          <p:nvPr/>
        </p:nvSpPr>
        <p:spPr>
          <a:xfrm>
            <a:off x="6036850" y="1041713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90" name="Google Shape;790;p55"/>
          <p:cNvCxnSpPr>
            <a:stCxn id="761" idx="4"/>
            <a:endCxn id="759" idx="0"/>
          </p:cNvCxnSpPr>
          <p:nvPr/>
        </p:nvCxnSpPr>
        <p:spPr>
          <a:xfrm flipH="1">
            <a:off x="1003438" y="285668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1" name="Google Shape;791;p55"/>
          <p:cNvCxnSpPr>
            <a:stCxn id="771" idx="4"/>
            <a:endCxn id="769" idx="0"/>
          </p:cNvCxnSpPr>
          <p:nvPr/>
        </p:nvCxnSpPr>
        <p:spPr>
          <a:xfrm flipH="1">
            <a:off x="3870250" y="28567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2" name="Google Shape;792;p55"/>
          <p:cNvCxnSpPr>
            <a:stCxn id="769" idx="4"/>
            <a:endCxn id="759" idx="4"/>
          </p:cNvCxnSpPr>
          <p:nvPr/>
        </p:nvCxnSpPr>
        <p:spPr>
          <a:xfrm rot="5400000">
            <a:off x="2436400" y="2577025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3" name="Google Shape;793;p55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cxnSp>
        <p:nvCxnSpPr>
          <p:cNvPr id="794" name="Google Shape;794;p55"/>
          <p:cNvCxnSpPr/>
          <p:nvPr/>
        </p:nvCxnSpPr>
        <p:spPr>
          <a:xfrm flipH="1">
            <a:off x="3074225" y="1286975"/>
            <a:ext cx="11700" cy="33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6"/>
          <p:cNvSpPr/>
          <p:nvPr/>
        </p:nvSpPr>
        <p:spPr>
          <a:xfrm>
            <a:off x="692788" y="22515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00" name="Google Shape;800;p56"/>
          <p:cNvSpPr/>
          <p:nvPr/>
        </p:nvSpPr>
        <p:spPr>
          <a:xfrm>
            <a:off x="692788" y="3405013"/>
            <a:ext cx="621000" cy="6051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01" name="Google Shape;801;p56"/>
          <p:cNvCxnSpPr>
            <a:stCxn id="799" idx="4"/>
            <a:endCxn id="800" idx="0"/>
          </p:cNvCxnSpPr>
          <p:nvPr/>
        </p:nvCxnSpPr>
        <p:spPr>
          <a:xfrm>
            <a:off x="1003288" y="2856675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2" name="Google Shape;802;p56"/>
          <p:cNvSpPr/>
          <p:nvPr/>
        </p:nvSpPr>
        <p:spPr>
          <a:xfrm>
            <a:off x="1970938" y="22515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03" name="Google Shape;803;p56"/>
          <p:cNvCxnSpPr>
            <a:stCxn id="799" idx="6"/>
            <a:endCxn id="802" idx="2"/>
          </p:cNvCxnSpPr>
          <p:nvPr/>
        </p:nvCxnSpPr>
        <p:spPr>
          <a:xfrm>
            <a:off x="1313788" y="2554125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56"/>
          <p:cNvCxnSpPr>
            <a:stCxn id="800" idx="6"/>
            <a:endCxn id="805" idx="2"/>
          </p:cNvCxnSpPr>
          <p:nvPr/>
        </p:nvCxnSpPr>
        <p:spPr>
          <a:xfrm flipH="1" rot="10800000">
            <a:off x="1313788" y="3698863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56"/>
          <p:cNvSpPr/>
          <p:nvPr/>
        </p:nvSpPr>
        <p:spPr>
          <a:xfrm>
            <a:off x="1970938" y="3396263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06" name="Google Shape;806;p56"/>
          <p:cNvCxnSpPr>
            <a:stCxn id="802" idx="4"/>
            <a:endCxn id="805" idx="0"/>
          </p:cNvCxnSpPr>
          <p:nvPr/>
        </p:nvCxnSpPr>
        <p:spPr>
          <a:xfrm>
            <a:off x="2281438" y="2856688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7" name="Google Shape;807;p56"/>
          <p:cNvCxnSpPr>
            <a:stCxn id="799" idx="4"/>
            <a:endCxn id="805" idx="0"/>
          </p:cNvCxnSpPr>
          <p:nvPr/>
        </p:nvCxnSpPr>
        <p:spPr>
          <a:xfrm>
            <a:off x="1003288" y="2856675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8" name="Google Shape;808;p56"/>
          <p:cNvCxnSpPr>
            <a:stCxn id="799" idx="7"/>
            <a:endCxn id="802" idx="1"/>
          </p:cNvCxnSpPr>
          <p:nvPr/>
        </p:nvCxnSpPr>
        <p:spPr>
          <a:xfrm flipH="1" rot="-5400000">
            <a:off x="1642094" y="1920940"/>
            <a:ext cx="600" cy="839100"/>
          </a:xfrm>
          <a:prstGeom prst="curvedConnector3">
            <a:avLst>
              <a:gd fmla="val -4517330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9" name="Google Shape;809;p56"/>
          <p:cNvSpPr/>
          <p:nvPr/>
        </p:nvSpPr>
        <p:spPr>
          <a:xfrm>
            <a:off x="3559600" y="2251588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10" name="Google Shape;810;p56"/>
          <p:cNvSpPr/>
          <p:nvPr/>
        </p:nvSpPr>
        <p:spPr>
          <a:xfrm>
            <a:off x="3559600" y="3405025"/>
            <a:ext cx="621000" cy="605100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1" name="Google Shape;811;p56"/>
          <p:cNvCxnSpPr>
            <a:stCxn id="809" idx="4"/>
            <a:endCxn id="810" idx="0"/>
          </p:cNvCxnSpPr>
          <p:nvPr/>
        </p:nvCxnSpPr>
        <p:spPr>
          <a:xfrm>
            <a:off x="3870100" y="2856688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2" name="Google Shape;812;p56"/>
          <p:cNvSpPr/>
          <p:nvPr/>
        </p:nvSpPr>
        <p:spPr>
          <a:xfrm>
            <a:off x="4837750" y="2251600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3" name="Google Shape;813;p56"/>
          <p:cNvCxnSpPr>
            <a:stCxn id="809" idx="6"/>
            <a:endCxn id="812" idx="2"/>
          </p:cNvCxnSpPr>
          <p:nvPr/>
        </p:nvCxnSpPr>
        <p:spPr>
          <a:xfrm>
            <a:off x="4180600" y="2554138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56"/>
          <p:cNvCxnSpPr>
            <a:stCxn id="810" idx="6"/>
            <a:endCxn id="815" idx="2"/>
          </p:cNvCxnSpPr>
          <p:nvPr/>
        </p:nvCxnSpPr>
        <p:spPr>
          <a:xfrm flipH="1" rot="10800000">
            <a:off x="4180600" y="3698875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56"/>
          <p:cNvSpPr/>
          <p:nvPr/>
        </p:nvSpPr>
        <p:spPr>
          <a:xfrm>
            <a:off x="4837750" y="3396275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16" name="Google Shape;816;p56"/>
          <p:cNvCxnSpPr>
            <a:stCxn id="812" idx="4"/>
            <a:endCxn id="815" idx="0"/>
          </p:cNvCxnSpPr>
          <p:nvPr/>
        </p:nvCxnSpPr>
        <p:spPr>
          <a:xfrm>
            <a:off x="5148250" y="2856700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7" name="Google Shape;817;p56"/>
          <p:cNvCxnSpPr>
            <a:stCxn id="809" idx="4"/>
            <a:endCxn id="815" idx="0"/>
          </p:cNvCxnSpPr>
          <p:nvPr/>
        </p:nvCxnSpPr>
        <p:spPr>
          <a:xfrm>
            <a:off x="3870100" y="2856688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56"/>
          <p:cNvCxnSpPr>
            <a:stCxn id="800" idx="0"/>
            <a:endCxn id="810" idx="0"/>
          </p:cNvCxnSpPr>
          <p:nvPr/>
        </p:nvCxnSpPr>
        <p:spPr>
          <a:xfrm flipH="1" rot="-5400000">
            <a:off x="2436388" y="1971913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9" name="Google Shape;819;p56"/>
          <p:cNvCxnSpPr>
            <a:stCxn id="809" idx="7"/>
            <a:endCxn id="812" idx="1"/>
          </p:cNvCxnSpPr>
          <p:nvPr/>
        </p:nvCxnSpPr>
        <p:spPr>
          <a:xfrm flipH="1" rot="-5400000">
            <a:off x="4508907" y="1920952"/>
            <a:ext cx="600" cy="839100"/>
          </a:xfrm>
          <a:prstGeom prst="curvedConnector3">
            <a:avLst>
              <a:gd fmla="val -4162122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0" name="Google Shape;820;p56"/>
          <p:cNvCxnSpPr>
            <a:stCxn id="802" idx="3"/>
            <a:endCxn id="799" idx="5"/>
          </p:cNvCxnSpPr>
          <p:nvPr/>
        </p:nvCxnSpPr>
        <p:spPr>
          <a:xfrm rot="5400000">
            <a:off x="1642031" y="2348823"/>
            <a:ext cx="600" cy="839100"/>
          </a:xfrm>
          <a:prstGeom prst="curvedConnector3">
            <a:avLst>
              <a:gd fmla="val 3282955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56"/>
          <p:cNvSpPr txBox="1"/>
          <p:nvPr/>
        </p:nvSpPr>
        <p:spPr>
          <a:xfrm>
            <a:off x="924250" y="1431425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22" name="Google Shape;822;p56"/>
          <p:cNvSpPr txBox="1"/>
          <p:nvPr/>
        </p:nvSpPr>
        <p:spPr>
          <a:xfrm>
            <a:off x="3793438" y="1431400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23" name="Google Shape;823;p56"/>
          <p:cNvCxnSpPr>
            <a:stCxn id="812" idx="3"/>
            <a:endCxn id="809" idx="5"/>
          </p:cNvCxnSpPr>
          <p:nvPr/>
        </p:nvCxnSpPr>
        <p:spPr>
          <a:xfrm rot="5400000">
            <a:off x="4508843" y="2348835"/>
            <a:ext cx="600" cy="839100"/>
          </a:xfrm>
          <a:prstGeom prst="curvedConnector3">
            <a:avLst>
              <a:gd fmla="val 375691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4" name="Google Shape;824;p56"/>
          <p:cNvSpPr txBox="1"/>
          <p:nvPr/>
        </p:nvSpPr>
        <p:spPr>
          <a:xfrm>
            <a:off x="5572900" y="2401825"/>
            <a:ext cx="3216600" cy="17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are in love: Yay!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got married: Excellent!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25" name="Google Shape;825;p56"/>
          <p:cNvCxnSpPr/>
          <p:nvPr/>
        </p:nvCxnSpPr>
        <p:spPr>
          <a:xfrm>
            <a:off x="5290450" y="20054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6" name="Google Shape;826;p56"/>
          <p:cNvSpPr txBox="1"/>
          <p:nvPr/>
        </p:nvSpPr>
        <p:spPr>
          <a:xfrm>
            <a:off x="6036850" y="18211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27" name="Google Shape;827;p56"/>
          <p:cNvCxnSpPr/>
          <p:nvPr/>
        </p:nvCxnSpPr>
        <p:spPr>
          <a:xfrm>
            <a:off x="5290450" y="12260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56"/>
          <p:cNvCxnSpPr/>
          <p:nvPr/>
        </p:nvCxnSpPr>
        <p:spPr>
          <a:xfrm>
            <a:off x="5290450" y="160911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9" name="Google Shape;829;p56"/>
          <p:cNvSpPr txBox="1"/>
          <p:nvPr/>
        </p:nvSpPr>
        <p:spPr>
          <a:xfrm>
            <a:off x="6036850" y="1424763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30" name="Google Shape;830;p56"/>
          <p:cNvSpPr txBox="1"/>
          <p:nvPr/>
        </p:nvSpPr>
        <p:spPr>
          <a:xfrm>
            <a:off x="6036850" y="1041713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31" name="Google Shape;831;p56"/>
          <p:cNvCxnSpPr>
            <a:stCxn id="802" idx="4"/>
            <a:endCxn id="800" idx="0"/>
          </p:cNvCxnSpPr>
          <p:nvPr/>
        </p:nvCxnSpPr>
        <p:spPr>
          <a:xfrm flipH="1">
            <a:off x="1003438" y="2856688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2" name="Google Shape;832;p56"/>
          <p:cNvCxnSpPr>
            <a:stCxn id="812" idx="4"/>
            <a:endCxn id="810" idx="0"/>
          </p:cNvCxnSpPr>
          <p:nvPr/>
        </p:nvCxnSpPr>
        <p:spPr>
          <a:xfrm flipH="1">
            <a:off x="3870250" y="2856700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3" name="Google Shape;833;p56"/>
          <p:cNvCxnSpPr>
            <a:stCxn id="810" idx="4"/>
            <a:endCxn id="800" idx="4"/>
          </p:cNvCxnSpPr>
          <p:nvPr/>
        </p:nvCxnSpPr>
        <p:spPr>
          <a:xfrm rot="5400000">
            <a:off x="2436400" y="2577025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34" name="Google Shape;834;p56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cxnSp>
        <p:nvCxnSpPr>
          <p:cNvPr id="835" name="Google Shape;835;p56"/>
          <p:cNvCxnSpPr/>
          <p:nvPr/>
        </p:nvCxnSpPr>
        <p:spPr>
          <a:xfrm flipH="1" rot="-5400000">
            <a:off x="2438544" y="2572639"/>
            <a:ext cx="600" cy="2866800"/>
          </a:xfrm>
          <a:prstGeom prst="bentConnector3">
            <a:avLst>
              <a:gd fmla="val 108597750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56"/>
          <p:cNvCxnSpPr/>
          <p:nvPr/>
        </p:nvCxnSpPr>
        <p:spPr>
          <a:xfrm flipH="1">
            <a:off x="3074225" y="1286975"/>
            <a:ext cx="11700" cy="33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1" name="Google Shape;841;p57"/>
          <p:cNvCxnSpPr/>
          <p:nvPr/>
        </p:nvCxnSpPr>
        <p:spPr>
          <a:xfrm>
            <a:off x="5290450" y="20054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2" name="Google Shape;842;p57"/>
          <p:cNvSpPr txBox="1"/>
          <p:nvPr/>
        </p:nvSpPr>
        <p:spPr>
          <a:xfrm>
            <a:off x="6036850" y="18211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43" name="Google Shape;843;p57"/>
          <p:cNvCxnSpPr/>
          <p:nvPr/>
        </p:nvCxnSpPr>
        <p:spPr>
          <a:xfrm>
            <a:off x="5290450" y="12260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57"/>
          <p:cNvCxnSpPr/>
          <p:nvPr/>
        </p:nvCxnSpPr>
        <p:spPr>
          <a:xfrm>
            <a:off x="5290450" y="160911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5" name="Google Shape;845;p57"/>
          <p:cNvSpPr txBox="1"/>
          <p:nvPr/>
        </p:nvSpPr>
        <p:spPr>
          <a:xfrm>
            <a:off x="6036850" y="1424763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46" name="Google Shape;846;p57"/>
          <p:cNvSpPr txBox="1"/>
          <p:nvPr/>
        </p:nvSpPr>
        <p:spPr>
          <a:xfrm>
            <a:off x="6036850" y="1041713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47" name="Google Shape;847;p57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848" name="Google Shape;848;p57"/>
          <p:cNvSpPr/>
          <p:nvPr/>
        </p:nvSpPr>
        <p:spPr>
          <a:xfrm>
            <a:off x="694944" y="2247201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49" name="Google Shape;849;p57"/>
          <p:cNvSpPr/>
          <p:nvPr/>
        </p:nvSpPr>
        <p:spPr>
          <a:xfrm>
            <a:off x="694944" y="3400639"/>
            <a:ext cx="621000" cy="6051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50" name="Google Shape;850;p57"/>
          <p:cNvCxnSpPr>
            <a:stCxn id="848" idx="4"/>
            <a:endCxn id="849" idx="0"/>
          </p:cNvCxnSpPr>
          <p:nvPr/>
        </p:nvCxnSpPr>
        <p:spPr>
          <a:xfrm>
            <a:off x="1005444" y="2852301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1" name="Google Shape;851;p57"/>
          <p:cNvSpPr/>
          <p:nvPr/>
        </p:nvSpPr>
        <p:spPr>
          <a:xfrm>
            <a:off x="1973094" y="2247214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52" name="Google Shape;852;p57"/>
          <p:cNvCxnSpPr>
            <a:stCxn id="848" idx="6"/>
            <a:endCxn id="851" idx="2"/>
          </p:cNvCxnSpPr>
          <p:nvPr/>
        </p:nvCxnSpPr>
        <p:spPr>
          <a:xfrm>
            <a:off x="1315944" y="2549751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" name="Google Shape;853;p57"/>
          <p:cNvCxnSpPr>
            <a:stCxn id="849" idx="6"/>
            <a:endCxn id="854" idx="2"/>
          </p:cNvCxnSpPr>
          <p:nvPr/>
        </p:nvCxnSpPr>
        <p:spPr>
          <a:xfrm flipH="1" rot="10800000">
            <a:off x="1315944" y="3694489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57"/>
          <p:cNvSpPr/>
          <p:nvPr/>
        </p:nvSpPr>
        <p:spPr>
          <a:xfrm>
            <a:off x="1973094" y="3391889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55" name="Google Shape;855;p57"/>
          <p:cNvCxnSpPr>
            <a:stCxn id="851" idx="4"/>
            <a:endCxn id="854" idx="0"/>
          </p:cNvCxnSpPr>
          <p:nvPr/>
        </p:nvCxnSpPr>
        <p:spPr>
          <a:xfrm>
            <a:off x="2283594" y="2852314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6" name="Google Shape;856;p57"/>
          <p:cNvCxnSpPr>
            <a:stCxn id="848" idx="4"/>
            <a:endCxn id="854" idx="0"/>
          </p:cNvCxnSpPr>
          <p:nvPr/>
        </p:nvCxnSpPr>
        <p:spPr>
          <a:xfrm>
            <a:off x="1005444" y="2852301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57" name="Google Shape;857;p57"/>
          <p:cNvSpPr/>
          <p:nvPr/>
        </p:nvSpPr>
        <p:spPr>
          <a:xfrm>
            <a:off x="3561757" y="2247214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58" name="Google Shape;858;p57"/>
          <p:cNvSpPr/>
          <p:nvPr/>
        </p:nvSpPr>
        <p:spPr>
          <a:xfrm>
            <a:off x="3561757" y="3400651"/>
            <a:ext cx="621000" cy="605100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59" name="Google Shape;859;p57"/>
          <p:cNvCxnSpPr>
            <a:stCxn id="857" idx="4"/>
            <a:endCxn id="858" idx="0"/>
          </p:cNvCxnSpPr>
          <p:nvPr/>
        </p:nvCxnSpPr>
        <p:spPr>
          <a:xfrm>
            <a:off x="3872257" y="2852314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0" name="Google Shape;860;p57"/>
          <p:cNvSpPr/>
          <p:nvPr/>
        </p:nvSpPr>
        <p:spPr>
          <a:xfrm>
            <a:off x="4839907" y="2247226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61" name="Google Shape;861;p57"/>
          <p:cNvCxnSpPr>
            <a:stCxn id="857" idx="6"/>
            <a:endCxn id="860" idx="2"/>
          </p:cNvCxnSpPr>
          <p:nvPr/>
        </p:nvCxnSpPr>
        <p:spPr>
          <a:xfrm>
            <a:off x="4182757" y="2549764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57"/>
          <p:cNvCxnSpPr>
            <a:stCxn id="858" idx="6"/>
            <a:endCxn id="863" idx="2"/>
          </p:cNvCxnSpPr>
          <p:nvPr/>
        </p:nvCxnSpPr>
        <p:spPr>
          <a:xfrm flipH="1" rot="10800000">
            <a:off x="4182757" y="3694501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57"/>
          <p:cNvCxnSpPr>
            <a:stCxn id="860" idx="4"/>
            <a:endCxn id="863" idx="0"/>
          </p:cNvCxnSpPr>
          <p:nvPr/>
        </p:nvCxnSpPr>
        <p:spPr>
          <a:xfrm>
            <a:off x="5150407" y="2852326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5" name="Google Shape;865;p57"/>
          <p:cNvCxnSpPr>
            <a:stCxn id="857" idx="4"/>
            <a:endCxn id="863" idx="0"/>
          </p:cNvCxnSpPr>
          <p:nvPr/>
        </p:nvCxnSpPr>
        <p:spPr>
          <a:xfrm>
            <a:off x="3872257" y="2852314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6" name="Google Shape;866;p57"/>
          <p:cNvSpPr txBox="1"/>
          <p:nvPr/>
        </p:nvSpPr>
        <p:spPr>
          <a:xfrm>
            <a:off x="926407" y="1427051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67" name="Google Shape;867;p57"/>
          <p:cNvSpPr txBox="1"/>
          <p:nvPr/>
        </p:nvSpPr>
        <p:spPr>
          <a:xfrm>
            <a:off x="3795594" y="1427026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68" name="Google Shape;868;p57"/>
          <p:cNvCxnSpPr>
            <a:stCxn id="849" idx="4"/>
            <a:endCxn id="858" idx="4"/>
          </p:cNvCxnSpPr>
          <p:nvPr/>
        </p:nvCxnSpPr>
        <p:spPr>
          <a:xfrm flipH="1" rot="-5400000">
            <a:off x="2438544" y="2572639"/>
            <a:ext cx="600" cy="2866800"/>
          </a:xfrm>
          <a:prstGeom prst="bentConnector3">
            <a:avLst>
              <a:gd fmla="val 108597750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57"/>
          <p:cNvCxnSpPr>
            <a:stCxn id="848" idx="4"/>
            <a:endCxn id="858" idx="0"/>
          </p:cNvCxnSpPr>
          <p:nvPr/>
        </p:nvCxnSpPr>
        <p:spPr>
          <a:xfrm>
            <a:off x="1005444" y="2852301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0" name="Google Shape;870;p57"/>
          <p:cNvCxnSpPr>
            <a:stCxn id="857" idx="4"/>
            <a:endCxn id="849" idx="0"/>
          </p:cNvCxnSpPr>
          <p:nvPr/>
        </p:nvCxnSpPr>
        <p:spPr>
          <a:xfrm flipH="1">
            <a:off x="1005457" y="2852314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1" name="Google Shape;871;p57"/>
          <p:cNvCxnSpPr>
            <a:stCxn id="851" idx="4"/>
            <a:endCxn id="858" idx="0"/>
          </p:cNvCxnSpPr>
          <p:nvPr/>
        </p:nvCxnSpPr>
        <p:spPr>
          <a:xfrm>
            <a:off x="2283594" y="2852314"/>
            <a:ext cx="1588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2" name="Google Shape;872;p57"/>
          <p:cNvCxnSpPr>
            <a:stCxn id="860" idx="4"/>
            <a:endCxn id="854" idx="0"/>
          </p:cNvCxnSpPr>
          <p:nvPr/>
        </p:nvCxnSpPr>
        <p:spPr>
          <a:xfrm flipH="1">
            <a:off x="2283607" y="2852326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3" name="Google Shape;873;p57"/>
          <p:cNvCxnSpPr>
            <a:stCxn id="849" idx="4"/>
            <a:endCxn id="863" idx="4"/>
          </p:cNvCxnSpPr>
          <p:nvPr/>
        </p:nvCxnSpPr>
        <p:spPr>
          <a:xfrm rot="-5400000">
            <a:off x="3073644" y="1928839"/>
            <a:ext cx="8700" cy="4145100"/>
          </a:xfrm>
          <a:prstGeom prst="bentConnector3">
            <a:avLst>
              <a:gd fmla="val -3484902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57"/>
          <p:cNvCxnSpPr>
            <a:stCxn id="854" idx="4"/>
            <a:endCxn id="863" idx="4"/>
          </p:cNvCxnSpPr>
          <p:nvPr/>
        </p:nvCxnSpPr>
        <p:spPr>
          <a:xfrm flipH="1" rot="-5400000">
            <a:off x="3716694" y="2563889"/>
            <a:ext cx="600" cy="2866800"/>
          </a:xfrm>
          <a:prstGeom prst="bentConnector3">
            <a:avLst>
              <a:gd fmla="val 91093583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57"/>
          <p:cNvCxnSpPr>
            <a:stCxn id="854" idx="4"/>
            <a:endCxn id="858" idx="4"/>
          </p:cNvCxnSpPr>
          <p:nvPr/>
        </p:nvCxnSpPr>
        <p:spPr>
          <a:xfrm flipH="1" rot="-5400000">
            <a:off x="3073644" y="3206939"/>
            <a:ext cx="8700" cy="1588800"/>
          </a:xfrm>
          <a:prstGeom prst="bentConnector3">
            <a:avLst>
              <a:gd fmla="val 8570822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57"/>
          <p:cNvCxnSpPr>
            <a:stCxn id="851" idx="4"/>
            <a:endCxn id="849" idx="0"/>
          </p:cNvCxnSpPr>
          <p:nvPr/>
        </p:nvCxnSpPr>
        <p:spPr>
          <a:xfrm flipH="1">
            <a:off x="1005594" y="2852314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7" name="Google Shape;877;p57"/>
          <p:cNvCxnSpPr>
            <a:stCxn id="860" idx="4"/>
            <a:endCxn id="858" idx="0"/>
          </p:cNvCxnSpPr>
          <p:nvPr/>
        </p:nvCxnSpPr>
        <p:spPr>
          <a:xfrm flipH="1">
            <a:off x="3872407" y="2852326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8" name="Google Shape;878;p57"/>
          <p:cNvCxnSpPr>
            <a:stCxn id="848" idx="7"/>
            <a:endCxn id="851" idx="1"/>
          </p:cNvCxnSpPr>
          <p:nvPr/>
        </p:nvCxnSpPr>
        <p:spPr>
          <a:xfrm flipH="1" rot="-5400000">
            <a:off x="1644251" y="1916566"/>
            <a:ext cx="600" cy="839100"/>
          </a:xfrm>
          <a:prstGeom prst="curvedConnector3">
            <a:avLst>
              <a:gd fmla="val -408901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79" name="Google Shape;879;p57"/>
          <p:cNvCxnSpPr>
            <a:stCxn id="857" idx="7"/>
            <a:endCxn id="860" idx="1"/>
          </p:cNvCxnSpPr>
          <p:nvPr/>
        </p:nvCxnSpPr>
        <p:spPr>
          <a:xfrm flipH="1" rot="-5400000">
            <a:off x="4511063" y="1916578"/>
            <a:ext cx="600" cy="839100"/>
          </a:xfrm>
          <a:prstGeom prst="curvedConnector3">
            <a:avLst>
              <a:gd fmla="val -4326305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0" name="Google Shape;880;p57"/>
          <p:cNvCxnSpPr>
            <a:stCxn id="851" idx="3"/>
            <a:endCxn id="848" idx="5"/>
          </p:cNvCxnSpPr>
          <p:nvPr/>
        </p:nvCxnSpPr>
        <p:spPr>
          <a:xfrm rot="5400000">
            <a:off x="1644187" y="2344449"/>
            <a:ext cx="600" cy="839100"/>
          </a:xfrm>
          <a:prstGeom prst="curvedConnector3">
            <a:avLst>
              <a:gd fmla="val 4066689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1" name="Google Shape;881;p57"/>
          <p:cNvCxnSpPr>
            <a:stCxn id="860" idx="3"/>
            <a:endCxn id="857" idx="5"/>
          </p:cNvCxnSpPr>
          <p:nvPr/>
        </p:nvCxnSpPr>
        <p:spPr>
          <a:xfrm rot="5400000">
            <a:off x="4511000" y="2344461"/>
            <a:ext cx="600" cy="839100"/>
          </a:xfrm>
          <a:prstGeom prst="curvedConnector3">
            <a:avLst>
              <a:gd fmla="val 4540647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2" name="Google Shape;882;p57"/>
          <p:cNvCxnSpPr>
            <a:stCxn id="849" idx="0"/>
            <a:endCxn id="858" idx="0"/>
          </p:cNvCxnSpPr>
          <p:nvPr/>
        </p:nvCxnSpPr>
        <p:spPr>
          <a:xfrm flipH="1" rot="-5400000">
            <a:off x="2438544" y="1967539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3" name="Google Shape;883;p57"/>
          <p:cNvCxnSpPr>
            <a:stCxn id="858" idx="4"/>
            <a:endCxn id="849" idx="4"/>
          </p:cNvCxnSpPr>
          <p:nvPr/>
        </p:nvCxnSpPr>
        <p:spPr>
          <a:xfrm rot="5400000">
            <a:off x="2438557" y="2572651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4" name="Google Shape;884;p57"/>
          <p:cNvCxnSpPr>
            <a:stCxn id="851" idx="4"/>
            <a:endCxn id="863" idx="0"/>
          </p:cNvCxnSpPr>
          <p:nvPr/>
        </p:nvCxnSpPr>
        <p:spPr>
          <a:xfrm>
            <a:off x="2283594" y="2852314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5" name="Google Shape;885;p57"/>
          <p:cNvCxnSpPr>
            <a:stCxn id="848" idx="4"/>
            <a:endCxn id="863" idx="0"/>
          </p:cNvCxnSpPr>
          <p:nvPr/>
        </p:nvCxnSpPr>
        <p:spPr>
          <a:xfrm>
            <a:off x="1005444" y="2852301"/>
            <a:ext cx="41451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6" name="Google Shape;886;p57"/>
          <p:cNvCxnSpPr>
            <a:stCxn id="857" idx="4"/>
            <a:endCxn id="854" idx="0"/>
          </p:cNvCxnSpPr>
          <p:nvPr/>
        </p:nvCxnSpPr>
        <p:spPr>
          <a:xfrm flipH="1">
            <a:off x="2283457" y="2852314"/>
            <a:ext cx="1588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7" name="Google Shape;887;p57"/>
          <p:cNvCxnSpPr>
            <a:stCxn id="860" idx="4"/>
            <a:endCxn id="849" idx="0"/>
          </p:cNvCxnSpPr>
          <p:nvPr/>
        </p:nvCxnSpPr>
        <p:spPr>
          <a:xfrm flipH="1">
            <a:off x="1005307" y="2852326"/>
            <a:ext cx="41451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8" name="Google Shape;888;p57"/>
          <p:cNvCxnSpPr>
            <a:stCxn id="854" idx="4"/>
            <a:endCxn id="858" idx="4"/>
          </p:cNvCxnSpPr>
          <p:nvPr/>
        </p:nvCxnSpPr>
        <p:spPr>
          <a:xfrm flipH="1" rot="-5400000">
            <a:off x="3073644" y="3206939"/>
            <a:ext cx="8700" cy="1588800"/>
          </a:xfrm>
          <a:prstGeom prst="bentConnector3">
            <a:avLst>
              <a:gd fmla="val 4566224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57"/>
          <p:cNvSpPr/>
          <p:nvPr/>
        </p:nvSpPr>
        <p:spPr>
          <a:xfrm>
            <a:off x="4839907" y="3391901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89" name="Google Shape;889;p57"/>
          <p:cNvSpPr txBox="1"/>
          <p:nvPr/>
        </p:nvSpPr>
        <p:spPr>
          <a:xfrm>
            <a:off x="5740950" y="2387350"/>
            <a:ext cx="3216600" cy="20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Whoops! Things are getting complicated: “In law” ties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Both symmetric (sibling in law) and anti-symmetric (father/mother in law)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90" name="Google Shape;890;p57"/>
          <p:cNvCxnSpPr/>
          <p:nvPr/>
        </p:nvCxnSpPr>
        <p:spPr>
          <a:xfrm flipH="1">
            <a:off x="3074225" y="1286975"/>
            <a:ext cx="11700" cy="33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5" name="Google Shape;895;p58"/>
          <p:cNvCxnSpPr/>
          <p:nvPr/>
        </p:nvCxnSpPr>
        <p:spPr>
          <a:xfrm>
            <a:off x="5290450" y="20054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6" name="Google Shape;896;p58"/>
          <p:cNvSpPr txBox="1"/>
          <p:nvPr/>
        </p:nvSpPr>
        <p:spPr>
          <a:xfrm>
            <a:off x="6036850" y="18211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897" name="Google Shape;897;p58"/>
          <p:cNvCxnSpPr/>
          <p:nvPr/>
        </p:nvCxnSpPr>
        <p:spPr>
          <a:xfrm>
            <a:off x="5290450" y="12260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58"/>
          <p:cNvCxnSpPr/>
          <p:nvPr/>
        </p:nvCxnSpPr>
        <p:spPr>
          <a:xfrm>
            <a:off x="5290450" y="160911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99" name="Google Shape;899;p58"/>
          <p:cNvSpPr txBox="1"/>
          <p:nvPr/>
        </p:nvSpPr>
        <p:spPr>
          <a:xfrm>
            <a:off x="6036850" y="1424763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0" name="Google Shape;900;p58"/>
          <p:cNvSpPr txBox="1"/>
          <p:nvPr/>
        </p:nvSpPr>
        <p:spPr>
          <a:xfrm>
            <a:off x="6036850" y="1041713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1" name="Google Shape;901;p5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902" name="Google Shape;902;p58"/>
          <p:cNvSpPr/>
          <p:nvPr/>
        </p:nvSpPr>
        <p:spPr>
          <a:xfrm>
            <a:off x="694944" y="2247201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3" name="Google Shape;903;p58"/>
          <p:cNvSpPr/>
          <p:nvPr/>
        </p:nvSpPr>
        <p:spPr>
          <a:xfrm>
            <a:off x="694944" y="3400639"/>
            <a:ext cx="621000" cy="6051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04" name="Google Shape;904;p58"/>
          <p:cNvCxnSpPr>
            <a:stCxn id="902" idx="4"/>
            <a:endCxn id="903" idx="0"/>
          </p:cNvCxnSpPr>
          <p:nvPr/>
        </p:nvCxnSpPr>
        <p:spPr>
          <a:xfrm>
            <a:off x="1005444" y="2852301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5" name="Google Shape;905;p58"/>
          <p:cNvSpPr/>
          <p:nvPr/>
        </p:nvSpPr>
        <p:spPr>
          <a:xfrm>
            <a:off x="1973094" y="2247214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06" name="Google Shape;906;p58"/>
          <p:cNvCxnSpPr>
            <a:stCxn id="902" idx="6"/>
            <a:endCxn id="905" idx="2"/>
          </p:cNvCxnSpPr>
          <p:nvPr/>
        </p:nvCxnSpPr>
        <p:spPr>
          <a:xfrm>
            <a:off x="1315944" y="2549751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58"/>
          <p:cNvCxnSpPr>
            <a:stCxn id="903" idx="6"/>
            <a:endCxn id="908" idx="2"/>
          </p:cNvCxnSpPr>
          <p:nvPr/>
        </p:nvCxnSpPr>
        <p:spPr>
          <a:xfrm flipH="1" rot="10800000">
            <a:off x="1315944" y="3694489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58"/>
          <p:cNvSpPr/>
          <p:nvPr/>
        </p:nvSpPr>
        <p:spPr>
          <a:xfrm>
            <a:off x="1973094" y="3391889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09" name="Google Shape;909;p58"/>
          <p:cNvCxnSpPr>
            <a:stCxn id="905" idx="4"/>
            <a:endCxn id="908" idx="0"/>
          </p:cNvCxnSpPr>
          <p:nvPr/>
        </p:nvCxnSpPr>
        <p:spPr>
          <a:xfrm>
            <a:off x="2283594" y="2852314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0" name="Google Shape;910;p58"/>
          <p:cNvCxnSpPr>
            <a:stCxn id="902" idx="4"/>
            <a:endCxn id="908" idx="0"/>
          </p:cNvCxnSpPr>
          <p:nvPr/>
        </p:nvCxnSpPr>
        <p:spPr>
          <a:xfrm>
            <a:off x="1005444" y="2852301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11" name="Google Shape;911;p58"/>
          <p:cNvSpPr/>
          <p:nvPr/>
        </p:nvSpPr>
        <p:spPr>
          <a:xfrm>
            <a:off x="3561757" y="2247214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12" name="Google Shape;912;p58"/>
          <p:cNvSpPr/>
          <p:nvPr/>
        </p:nvSpPr>
        <p:spPr>
          <a:xfrm>
            <a:off x="3561757" y="3400651"/>
            <a:ext cx="621000" cy="605100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13" name="Google Shape;913;p58"/>
          <p:cNvCxnSpPr>
            <a:stCxn id="911" idx="4"/>
            <a:endCxn id="912" idx="0"/>
          </p:cNvCxnSpPr>
          <p:nvPr/>
        </p:nvCxnSpPr>
        <p:spPr>
          <a:xfrm>
            <a:off x="3872257" y="2852314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14" name="Google Shape;914;p58"/>
          <p:cNvSpPr/>
          <p:nvPr/>
        </p:nvSpPr>
        <p:spPr>
          <a:xfrm>
            <a:off x="4839907" y="2247226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15" name="Google Shape;915;p58"/>
          <p:cNvCxnSpPr>
            <a:stCxn id="911" idx="6"/>
            <a:endCxn id="914" idx="2"/>
          </p:cNvCxnSpPr>
          <p:nvPr/>
        </p:nvCxnSpPr>
        <p:spPr>
          <a:xfrm>
            <a:off x="4182757" y="2549764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58"/>
          <p:cNvCxnSpPr>
            <a:stCxn id="912" idx="6"/>
            <a:endCxn id="917" idx="2"/>
          </p:cNvCxnSpPr>
          <p:nvPr/>
        </p:nvCxnSpPr>
        <p:spPr>
          <a:xfrm flipH="1" rot="10800000">
            <a:off x="4182757" y="3694501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58"/>
          <p:cNvCxnSpPr>
            <a:stCxn id="914" idx="4"/>
            <a:endCxn id="917" idx="0"/>
          </p:cNvCxnSpPr>
          <p:nvPr/>
        </p:nvCxnSpPr>
        <p:spPr>
          <a:xfrm>
            <a:off x="5150407" y="2852326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9" name="Google Shape;919;p58"/>
          <p:cNvCxnSpPr>
            <a:stCxn id="911" idx="4"/>
            <a:endCxn id="917" idx="0"/>
          </p:cNvCxnSpPr>
          <p:nvPr/>
        </p:nvCxnSpPr>
        <p:spPr>
          <a:xfrm>
            <a:off x="3872257" y="2852314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0" name="Google Shape;920;p58"/>
          <p:cNvSpPr txBox="1"/>
          <p:nvPr/>
        </p:nvSpPr>
        <p:spPr>
          <a:xfrm>
            <a:off x="926407" y="1427051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21" name="Google Shape;921;p58"/>
          <p:cNvSpPr txBox="1"/>
          <p:nvPr/>
        </p:nvSpPr>
        <p:spPr>
          <a:xfrm>
            <a:off x="3795594" y="1427026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22" name="Google Shape;922;p58"/>
          <p:cNvCxnSpPr>
            <a:stCxn id="903" idx="4"/>
            <a:endCxn id="912" idx="4"/>
          </p:cNvCxnSpPr>
          <p:nvPr/>
        </p:nvCxnSpPr>
        <p:spPr>
          <a:xfrm flipH="1" rot="-5400000">
            <a:off x="2438544" y="2572639"/>
            <a:ext cx="600" cy="2866800"/>
          </a:xfrm>
          <a:prstGeom prst="bentConnector3">
            <a:avLst>
              <a:gd fmla="val 108597750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58"/>
          <p:cNvCxnSpPr>
            <a:stCxn id="902" idx="4"/>
            <a:endCxn id="912" idx="0"/>
          </p:cNvCxnSpPr>
          <p:nvPr/>
        </p:nvCxnSpPr>
        <p:spPr>
          <a:xfrm>
            <a:off x="1005444" y="2852301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4" name="Google Shape;924;p58"/>
          <p:cNvCxnSpPr>
            <a:stCxn id="911" idx="4"/>
            <a:endCxn id="903" idx="0"/>
          </p:cNvCxnSpPr>
          <p:nvPr/>
        </p:nvCxnSpPr>
        <p:spPr>
          <a:xfrm flipH="1">
            <a:off x="1005457" y="2852314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58"/>
          <p:cNvCxnSpPr>
            <a:stCxn id="905" idx="4"/>
            <a:endCxn id="912" idx="0"/>
          </p:cNvCxnSpPr>
          <p:nvPr/>
        </p:nvCxnSpPr>
        <p:spPr>
          <a:xfrm>
            <a:off x="2283594" y="2852314"/>
            <a:ext cx="1588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6" name="Google Shape;926;p58"/>
          <p:cNvCxnSpPr>
            <a:stCxn id="914" idx="4"/>
            <a:endCxn id="908" idx="0"/>
          </p:cNvCxnSpPr>
          <p:nvPr/>
        </p:nvCxnSpPr>
        <p:spPr>
          <a:xfrm flipH="1">
            <a:off x="2283607" y="2852326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7" name="Google Shape;927;p58"/>
          <p:cNvCxnSpPr>
            <a:stCxn id="903" idx="4"/>
            <a:endCxn id="917" idx="4"/>
          </p:cNvCxnSpPr>
          <p:nvPr/>
        </p:nvCxnSpPr>
        <p:spPr>
          <a:xfrm rot="-5400000">
            <a:off x="3073644" y="1928839"/>
            <a:ext cx="8700" cy="4145100"/>
          </a:xfrm>
          <a:prstGeom prst="bentConnector3">
            <a:avLst>
              <a:gd fmla="val -3484902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58"/>
          <p:cNvCxnSpPr>
            <a:stCxn id="908" idx="4"/>
            <a:endCxn id="917" idx="4"/>
          </p:cNvCxnSpPr>
          <p:nvPr/>
        </p:nvCxnSpPr>
        <p:spPr>
          <a:xfrm flipH="1" rot="-5400000">
            <a:off x="3716694" y="2563889"/>
            <a:ext cx="600" cy="2866800"/>
          </a:xfrm>
          <a:prstGeom prst="bentConnector3">
            <a:avLst>
              <a:gd fmla="val 91093583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58"/>
          <p:cNvCxnSpPr>
            <a:stCxn id="908" idx="4"/>
            <a:endCxn id="912" idx="4"/>
          </p:cNvCxnSpPr>
          <p:nvPr/>
        </p:nvCxnSpPr>
        <p:spPr>
          <a:xfrm flipH="1" rot="-5400000">
            <a:off x="3073644" y="3206939"/>
            <a:ext cx="8700" cy="1588800"/>
          </a:xfrm>
          <a:prstGeom prst="bentConnector3">
            <a:avLst>
              <a:gd fmla="val 8570822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58"/>
          <p:cNvCxnSpPr>
            <a:stCxn id="905" idx="4"/>
            <a:endCxn id="903" idx="0"/>
          </p:cNvCxnSpPr>
          <p:nvPr/>
        </p:nvCxnSpPr>
        <p:spPr>
          <a:xfrm flipH="1">
            <a:off x="1005594" y="2852314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1" name="Google Shape;931;p58"/>
          <p:cNvCxnSpPr>
            <a:stCxn id="914" idx="4"/>
            <a:endCxn id="912" idx="0"/>
          </p:cNvCxnSpPr>
          <p:nvPr/>
        </p:nvCxnSpPr>
        <p:spPr>
          <a:xfrm flipH="1">
            <a:off x="3872407" y="2852326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58"/>
          <p:cNvCxnSpPr>
            <a:stCxn id="902" idx="7"/>
            <a:endCxn id="905" idx="1"/>
          </p:cNvCxnSpPr>
          <p:nvPr/>
        </p:nvCxnSpPr>
        <p:spPr>
          <a:xfrm flipH="1" rot="-5400000">
            <a:off x="1644251" y="1916566"/>
            <a:ext cx="600" cy="839100"/>
          </a:xfrm>
          <a:prstGeom prst="curvedConnector3">
            <a:avLst>
              <a:gd fmla="val -408901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3" name="Google Shape;933;p58"/>
          <p:cNvCxnSpPr>
            <a:stCxn id="911" idx="7"/>
            <a:endCxn id="914" idx="1"/>
          </p:cNvCxnSpPr>
          <p:nvPr/>
        </p:nvCxnSpPr>
        <p:spPr>
          <a:xfrm flipH="1" rot="-5400000">
            <a:off x="4511063" y="1916578"/>
            <a:ext cx="600" cy="839100"/>
          </a:xfrm>
          <a:prstGeom prst="curvedConnector3">
            <a:avLst>
              <a:gd fmla="val -4326305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4" name="Google Shape;934;p58"/>
          <p:cNvCxnSpPr>
            <a:stCxn id="905" idx="3"/>
            <a:endCxn id="902" idx="5"/>
          </p:cNvCxnSpPr>
          <p:nvPr/>
        </p:nvCxnSpPr>
        <p:spPr>
          <a:xfrm rot="5400000">
            <a:off x="1644187" y="2344449"/>
            <a:ext cx="600" cy="839100"/>
          </a:xfrm>
          <a:prstGeom prst="curvedConnector3">
            <a:avLst>
              <a:gd fmla="val 4066689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5" name="Google Shape;935;p58"/>
          <p:cNvCxnSpPr>
            <a:stCxn id="914" idx="3"/>
            <a:endCxn id="911" idx="5"/>
          </p:cNvCxnSpPr>
          <p:nvPr/>
        </p:nvCxnSpPr>
        <p:spPr>
          <a:xfrm rot="5400000">
            <a:off x="4511000" y="2344461"/>
            <a:ext cx="600" cy="839100"/>
          </a:xfrm>
          <a:prstGeom prst="curvedConnector3">
            <a:avLst>
              <a:gd fmla="val 4540647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6" name="Google Shape;936;p58"/>
          <p:cNvCxnSpPr>
            <a:stCxn id="903" idx="0"/>
            <a:endCxn id="912" idx="0"/>
          </p:cNvCxnSpPr>
          <p:nvPr/>
        </p:nvCxnSpPr>
        <p:spPr>
          <a:xfrm flipH="1" rot="-5400000">
            <a:off x="2438544" y="1967539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7" name="Google Shape;937;p58"/>
          <p:cNvCxnSpPr>
            <a:stCxn id="912" idx="4"/>
            <a:endCxn id="903" idx="4"/>
          </p:cNvCxnSpPr>
          <p:nvPr/>
        </p:nvCxnSpPr>
        <p:spPr>
          <a:xfrm rot="5400000">
            <a:off x="2438557" y="2572651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8" name="Google Shape;938;p58"/>
          <p:cNvCxnSpPr>
            <a:stCxn id="905" idx="4"/>
            <a:endCxn id="917" idx="0"/>
          </p:cNvCxnSpPr>
          <p:nvPr/>
        </p:nvCxnSpPr>
        <p:spPr>
          <a:xfrm>
            <a:off x="2283594" y="2852314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9" name="Google Shape;939;p58"/>
          <p:cNvCxnSpPr>
            <a:stCxn id="902" idx="4"/>
            <a:endCxn id="917" idx="0"/>
          </p:cNvCxnSpPr>
          <p:nvPr/>
        </p:nvCxnSpPr>
        <p:spPr>
          <a:xfrm>
            <a:off x="1005444" y="2852301"/>
            <a:ext cx="41451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0" name="Google Shape;940;p58"/>
          <p:cNvCxnSpPr>
            <a:stCxn id="911" idx="4"/>
            <a:endCxn id="908" idx="0"/>
          </p:cNvCxnSpPr>
          <p:nvPr/>
        </p:nvCxnSpPr>
        <p:spPr>
          <a:xfrm flipH="1">
            <a:off x="2283457" y="2852314"/>
            <a:ext cx="1588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1" name="Google Shape;941;p58"/>
          <p:cNvCxnSpPr>
            <a:stCxn id="914" idx="4"/>
            <a:endCxn id="903" idx="0"/>
          </p:cNvCxnSpPr>
          <p:nvPr/>
        </p:nvCxnSpPr>
        <p:spPr>
          <a:xfrm flipH="1">
            <a:off x="1005307" y="2852326"/>
            <a:ext cx="41451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2" name="Google Shape;942;p58"/>
          <p:cNvCxnSpPr>
            <a:stCxn id="908" idx="4"/>
            <a:endCxn id="912" idx="4"/>
          </p:cNvCxnSpPr>
          <p:nvPr/>
        </p:nvCxnSpPr>
        <p:spPr>
          <a:xfrm flipH="1" rot="-5400000">
            <a:off x="3073644" y="3206939"/>
            <a:ext cx="8700" cy="1588800"/>
          </a:xfrm>
          <a:prstGeom prst="bentConnector3">
            <a:avLst>
              <a:gd fmla="val 4566224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58"/>
          <p:cNvSpPr/>
          <p:nvPr/>
        </p:nvSpPr>
        <p:spPr>
          <a:xfrm>
            <a:off x="4839907" y="3391901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43" name="Google Shape;943;p58"/>
          <p:cNvSpPr/>
          <p:nvPr/>
        </p:nvSpPr>
        <p:spPr>
          <a:xfrm>
            <a:off x="2767488" y="4279613"/>
            <a:ext cx="621000" cy="6051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Baby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44" name="Google Shape;944;p58"/>
          <p:cNvCxnSpPr>
            <a:stCxn id="903" idx="4"/>
            <a:endCxn id="943" idx="2"/>
          </p:cNvCxnSpPr>
          <p:nvPr/>
        </p:nvCxnSpPr>
        <p:spPr>
          <a:xfrm>
            <a:off x="1005444" y="4005739"/>
            <a:ext cx="1761900" cy="576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5" name="Google Shape;945;p58"/>
          <p:cNvCxnSpPr>
            <a:stCxn id="912" idx="4"/>
            <a:endCxn id="943" idx="6"/>
          </p:cNvCxnSpPr>
          <p:nvPr/>
        </p:nvCxnSpPr>
        <p:spPr>
          <a:xfrm flipH="1">
            <a:off x="3388357" y="4005751"/>
            <a:ext cx="483900" cy="576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46" name="Google Shape;946;p58"/>
          <p:cNvSpPr txBox="1"/>
          <p:nvPr/>
        </p:nvSpPr>
        <p:spPr>
          <a:xfrm>
            <a:off x="5740950" y="2387350"/>
            <a:ext cx="3216600" cy="16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had a baby. Great!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47" name="Google Shape;947;p58"/>
          <p:cNvCxnSpPr/>
          <p:nvPr/>
        </p:nvCxnSpPr>
        <p:spPr>
          <a:xfrm flipH="1">
            <a:off x="3074225" y="1286975"/>
            <a:ext cx="11700" cy="33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2" name="Google Shape;952;p59"/>
          <p:cNvCxnSpPr/>
          <p:nvPr/>
        </p:nvCxnSpPr>
        <p:spPr>
          <a:xfrm>
            <a:off x="5290450" y="20054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3" name="Google Shape;953;p59"/>
          <p:cNvSpPr txBox="1"/>
          <p:nvPr/>
        </p:nvSpPr>
        <p:spPr>
          <a:xfrm>
            <a:off x="6036850" y="1821125"/>
            <a:ext cx="278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Asymmetric non-kin (romantic)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54" name="Google Shape;954;p59"/>
          <p:cNvCxnSpPr/>
          <p:nvPr/>
        </p:nvCxnSpPr>
        <p:spPr>
          <a:xfrm>
            <a:off x="5290450" y="122606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59"/>
          <p:cNvCxnSpPr/>
          <p:nvPr/>
        </p:nvCxnSpPr>
        <p:spPr>
          <a:xfrm>
            <a:off x="5290450" y="1609113"/>
            <a:ext cx="7464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6" name="Google Shape;956;p59"/>
          <p:cNvSpPr txBox="1"/>
          <p:nvPr/>
        </p:nvSpPr>
        <p:spPr>
          <a:xfrm>
            <a:off x="6036850" y="1424763"/>
            <a:ext cx="29757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Antisymmetric kin (parent of, uncle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57" name="Google Shape;957;p59"/>
          <p:cNvSpPr txBox="1"/>
          <p:nvPr/>
        </p:nvSpPr>
        <p:spPr>
          <a:xfrm>
            <a:off x="6036850" y="1041713"/>
            <a:ext cx="26862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Symmetric kin (being a sibling of)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58" name="Google Shape;958;p59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959" name="Google Shape;959;p59"/>
          <p:cNvSpPr/>
          <p:nvPr/>
        </p:nvSpPr>
        <p:spPr>
          <a:xfrm>
            <a:off x="694944" y="2247201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60" name="Google Shape;960;p59"/>
          <p:cNvSpPr/>
          <p:nvPr/>
        </p:nvSpPr>
        <p:spPr>
          <a:xfrm>
            <a:off x="694944" y="3400639"/>
            <a:ext cx="621000" cy="6051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You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61" name="Google Shape;961;p59"/>
          <p:cNvCxnSpPr>
            <a:stCxn id="959" idx="4"/>
            <a:endCxn id="960" idx="0"/>
          </p:cNvCxnSpPr>
          <p:nvPr/>
        </p:nvCxnSpPr>
        <p:spPr>
          <a:xfrm>
            <a:off x="1005444" y="2852301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62" name="Google Shape;962;p59"/>
          <p:cNvSpPr/>
          <p:nvPr/>
        </p:nvSpPr>
        <p:spPr>
          <a:xfrm>
            <a:off x="1973094" y="2247214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63" name="Google Shape;963;p59"/>
          <p:cNvCxnSpPr>
            <a:stCxn id="959" idx="6"/>
            <a:endCxn id="962" idx="2"/>
          </p:cNvCxnSpPr>
          <p:nvPr/>
        </p:nvCxnSpPr>
        <p:spPr>
          <a:xfrm>
            <a:off x="1315944" y="2549751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59"/>
          <p:cNvCxnSpPr>
            <a:stCxn id="960" idx="6"/>
            <a:endCxn id="965" idx="2"/>
          </p:cNvCxnSpPr>
          <p:nvPr/>
        </p:nvCxnSpPr>
        <p:spPr>
          <a:xfrm flipH="1" rot="10800000">
            <a:off x="1315944" y="3694489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5" name="Google Shape;965;p59"/>
          <p:cNvSpPr/>
          <p:nvPr/>
        </p:nvSpPr>
        <p:spPr>
          <a:xfrm>
            <a:off x="1973094" y="3391889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Sis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66" name="Google Shape;966;p59"/>
          <p:cNvCxnSpPr>
            <a:stCxn id="962" idx="4"/>
            <a:endCxn id="965" idx="0"/>
          </p:cNvCxnSpPr>
          <p:nvPr/>
        </p:nvCxnSpPr>
        <p:spPr>
          <a:xfrm>
            <a:off x="2283594" y="2852314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7" name="Google Shape;967;p59"/>
          <p:cNvCxnSpPr>
            <a:stCxn id="959" idx="4"/>
            <a:endCxn id="965" idx="0"/>
          </p:cNvCxnSpPr>
          <p:nvPr/>
        </p:nvCxnSpPr>
        <p:spPr>
          <a:xfrm>
            <a:off x="1005444" y="2852301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68" name="Google Shape;968;p59"/>
          <p:cNvSpPr/>
          <p:nvPr/>
        </p:nvSpPr>
        <p:spPr>
          <a:xfrm>
            <a:off x="3561757" y="2247214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69" name="Google Shape;969;p59"/>
          <p:cNvSpPr/>
          <p:nvPr/>
        </p:nvSpPr>
        <p:spPr>
          <a:xfrm>
            <a:off x="3561757" y="3400651"/>
            <a:ext cx="621000" cy="605100"/>
          </a:xfrm>
          <a:prstGeom prst="ellipse">
            <a:avLst/>
          </a:prstGeom>
          <a:solidFill>
            <a:schemeClr val="accent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Riley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70" name="Google Shape;970;p59"/>
          <p:cNvCxnSpPr>
            <a:stCxn id="968" idx="4"/>
            <a:endCxn id="969" idx="0"/>
          </p:cNvCxnSpPr>
          <p:nvPr/>
        </p:nvCxnSpPr>
        <p:spPr>
          <a:xfrm>
            <a:off x="3872257" y="2852314"/>
            <a:ext cx="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1" name="Google Shape;971;p59"/>
          <p:cNvSpPr/>
          <p:nvPr/>
        </p:nvSpPr>
        <p:spPr>
          <a:xfrm>
            <a:off x="4839907" y="2247226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72" name="Google Shape;972;p59"/>
          <p:cNvCxnSpPr>
            <a:stCxn id="968" idx="6"/>
            <a:endCxn id="971" idx="2"/>
          </p:cNvCxnSpPr>
          <p:nvPr/>
        </p:nvCxnSpPr>
        <p:spPr>
          <a:xfrm>
            <a:off x="4182757" y="2549764"/>
            <a:ext cx="657300" cy="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59"/>
          <p:cNvCxnSpPr>
            <a:stCxn id="969" idx="6"/>
            <a:endCxn id="974" idx="2"/>
          </p:cNvCxnSpPr>
          <p:nvPr/>
        </p:nvCxnSpPr>
        <p:spPr>
          <a:xfrm flipH="1" rot="10800000">
            <a:off x="4182757" y="3694501"/>
            <a:ext cx="657300" cy="87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59"/>
          <p:cNvCxnSpPr>
            <a:stCxn id="971" idx="4"/>
            <a:endCxn id="974" idx="0"/>
          </p:cNvCxnSpPr>
          <p:nvPr/>
        </p:nvCxnSpPr>
        <p:spPr>
          <a:xfrm>
            <a:off x="5150407" y="2852326"/>
            <a:ext cx="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6" name="Google Shape;976;p59"/>
          <p:cNvCxnSpPr>
            <a:stCxn id="968" idx="4"/>
            <a:endCxn id="974" idx="0"/>
          </p:cNvCxnSpPr>
          <p:nvPr/>
        </p:nvCxnSpPr>
        <p:spPr>
          <a:xfrm>
            <a:off x="3872257" y="2852314"/>
            <a:ext cx="12783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7" name="Google Shape;977;p59"/>
          <p:cNvSpPr txBox="1"/>
          <p:nvPr/>
        </p:nvSpPr>
        <p:spPr>
          <a:xfrm>
            <a:off x="926407" y="1427051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1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78" name="Google Shape;978;p59"/>
          <p:cNvSpPr txBox="1"/>
          <p:nvPr/>
        </p:nvSpPr>
        <p:spPr>
          <a:xfrm>
            <a:off x="3795594" y="1427026"/>
            <a:ext cx="14364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Family 2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79" name="Google Shape;979;p59"/>
          <p:cNvCxnSpPr/>
          <p:nvPr/>
        </p:nvCxnSpPr>
        <p:spPr>
          <a:xfrm flipH="1">
            <a:off x="3074225" y="1286975"/>
            <a:ext cx="11700" cy="33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59"/>
          <p:cNvCxnSpPr>
            <a:stCxn id="960" idx="4"/>
            <a:endCxn id="969" idx="4"/>
          </p:cNvCxnSpPr>
          <p:nvPr/>
        </p:nvCxnSpPr>
        <p:spPr>
          <a:xfrm flipH="1" rot="-5400000">
            <a:off x="2438544" y="2572639"/>
            <a:ext cx="600" cy="2866800"/>
          </a:xfrm>
          <a:prstGeom prst="bentConnector3">
            <a:avLst>
              <a:gd fmla="val 108597750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59"/>
          <p:cNvCxnSpPr>
            <a:stCxn id="959" idx="4"/>
            <a:endCxn id="969" idx="0"/>
          </p:cNvCxnSpPr>
          <p:nvPr/>
        </p:nvCxnSpPr>
        <p:spPr>
          <a:xfrm>
            <a:off x="1005444" y="2852301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2" name="Google Shape;982;p59"/>
          <p:cNvCxnSpPr>
            <a:stCxn id="968" idx="4"/>
            <a:endCxn id="960" idx="0"/>
          </p:cNvCxnSpPr>
          <p:nvPr/>
        </p:nvCxnSpPr>
        <p:spPr>
          <a:xfrm flipH="1">
            <a:off x="1005457" y="2852314"/>
            <a:ext cx="2866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3" name="Google Shape;983;p59"/>
          <p:cNvCxnSpPr>
            <a:stCxn id="962" idx="4"/>
            <a:endCxn id="969" idx="0"/>
          </p:cNvCxnSpPr>
          <p:nvPr/>
        </p:nvCxnSpPr>
        <p:spPr>
          <a:xfrm>
            <a:off x="2283594" y="2852314"/>
            <a:ext cx="15888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4" name="Google Shape;984;p59"/>
          <p:cNvCxnSpPr>
            <a:stCxn id="971" idx="4"/>
            <a:endCxn id="965" idx="0"/>
          </p:cNvCxnSpPr>
          <p:nvPr/>
        </p:nvCxnSpPr>
        <p:spPr>
          <a:xfrm flipH="1">
            <a:off x="2283607" y="2852326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5" name="Google Shape;985;p59"/>
          <p:cNvCxnSpPr>
            <a:stCxn id="960" idx="4"/>
            <a:endCxn id="974" idx="4"/>
          </p:cNvCxnSpPr>
          <p:nvPr/>
        </p:nvCxnSpPr>
        <p:spPr>
          <a:xfrm rot="-5400000">
            <a:off x="3073644" y="1928839"/>
            <a:ext cx="8700" cy="4145100"/>
          </a:xfrm>
          <a:prstGeom prst="bentConnector3">
            <a:avLst>
              <a:gd fmla="val -3484902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59"/>
          <p:cNvCxnSpPr>
            <a:stCxn id="965" idx="4"/>
            <a:endCxn id="974" idx="4"/>
          </p:cNvCxnSpPr>
          <p:nvPr/>
        </p:nvCxnSpPr>
        <p:spPr>
          <a:xfrm flipH="1" rot="-5400000">
            <a:off x="3716694" y="2563889"/>
            <a:ext cx="600" cy="2866800"/>
          </a:xfrm>
          <a:prstGeom prst="bentConnector3">
            <a:avLst>
              <a:gd fmla="val 91093583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59"/>
          <p:cNvCxnSpPr>
            <a:stCxn id="965" idx="4"/>
            <a:endCxn id="969" idx="4"/>
          </p:cNvCxnSpPr>
          <p:nvPr/>
        </p:nvCxnSpPr>
        <p:spPr>
          <a:xfrm flipH="1" rot="-5400000">
            <a:off x="3073644" y="3206939"/>
            <a:ext cx="8700" cy="1588800"/>
          </a:xfrm>
          <a:prstGeom prst="bentConnector3">
            <a:avLst>
              <a:gd fmla="val 8570822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59"/>
          <p:cNvCxnSpPr>
            <a:stCxn id="962" idx="4"/>
            <a:endCxn id="960" idx="0"/>
          </p:cNvCxnSpPr>
          <p:nvPr/>
        </p:nvCxnSpPr>
        <p:spPr>
          <a:xfrm flipH="1">
            <a:off x="1005594" y="2852314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9" name="Google Shape;989;p59"/>
          <p:cNvCxnSpPr>
            <a:stCxn id="971" idx="4"/>
            <a:endCxn id="969" idx="0"/>
          </p:cNvCxnSpPr>
          <p:nvPr/>
        </p:nvCxnSpPr>
        <p:spPr>
          <a:xfrm flipH="1">
            <a:off x="3872407" y="2852326"/>
            <a:ext cx="12780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0" name="Google Shape;990;p59"/>
          <p:cNvCxnSpPr>
            <a:stCxn id="959" idx="7"/>
            <a:endCxn id="962" idx="1"/>
          </p:cNvCxnSpPr>
          <p:nvPr/>
        </p:nvCxnSpPr>
        <p:spPr>
          <a:xfrm flipH="1" rot="-5400000">
            <a:off x="1644251" y="1916566"/>
            <a:ext cx="600" cy="839100"/>
          </a:xfrm>
          <a:prstGeom prst="curvedConnector3">
            <a:avLst>
              <a:gd fmla="val -4089014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1" name="Google Shape;991;p59"/>
          <p:cNvCxnSpPr>
            <a:stCxn id="968" idx="7"/>
            <a:endCxn id="971" idx="1"/>
          </p:cNvCxnSpPr>
          <p:nvPr/>
        </p:nvCxnSpPr>
        <p:spPr>
          <a:xfrm flipH="1" rot="-5400000">
            <a:off x="4511063" y="1916578"/>
            <a:ext cx="600" cy="839100"/>
          </a:xfrm>
          <a:prstGeom prst="curvedConnector3">
            <a:avLst>
              <a:gd fmla="val -43263057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2" name="Google Shape;992;p59"/>
          <p:cNvCxnSpPr>
            <a:stCxn id="962" idx="3"/>
            <a:endCxn id="959" idx="5"/>
          </p:cNvCxnSpPr>
          <p:nvPr/>
        </p:nvCxnSpPr>
        <p:spPr>
          <a:xfrm rot="5400000">
            <a:off x="1644187" y="2344449"/>
            <a:ext cx="600" cy="839100"/>
          </a:xfrm>
          <a:prstGeom prst="curvedConnector3">
            <a:avLst>
              <a:gd fmla="val 4066689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3" name="Google Shape;993;p59"/>
          <p:cNvCxnSpPr>
            <a:stCxn id="971" idx="3"/>
            <a:endCxn id="968" idx="5"/>
          </p:cNvCxnSpPr>
          <p:nvPr/>
        </p:nvCxnSpPr>
        <p:spPr>
          <a:xfrm rot="5400000">
            <a:off x="4511000" y="2344461"/>
            <a:ext cx="600" cy="839100"/>
          </a:xfrm>
          <a:prstGeom prst="curvedConnector3">
            <a:avLst>
              <a:gd fmla="val 45406474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4" name="Google Shape;994;p59"/>
          <p:cNvCxnSpPr>
            <a:stCxn id="960" idx="0"/>
            <a:endCxn id="969" idx="0"/>
          </p:cNvCxnSpPr>
          <p:nvPr/>
        </p:nvCxnSpPr>
        <p:spPr>
          <a:xfrm flipH="1" rot="-5400000">
            <a:off x="2438544" y="1967539"/>
            <a:ext cx="600" cy="2866800"/>
          </a:xfrm>
          <a:prstGeom prst="curvedConnector3">
            <a:avLst>
              <a:gd fmla="val -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5" name="Google Shape;995;p59"/>
          <p:cNvCxnSpPr>
            <a:stCxn id="969" idx="4"/>
            <a:endCxn id="960" idx="4"/>
          </p:cNvCxnSpPr>
          <p:nvPr/>
        </p:nvCxnSpPr>
        <p:spPr>
          <a:xfrm rot="5400000">
            <a:off x="2438557" y="2572651"/>
            <a:ext cx="600" cy="2866800"/>
          </a:xfrm>
          <a:prstGeom prst="curvedConnector3">
            <a:avLst>
              <a:gd fmla="val 39687500" name="adj1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6" name="Google Shape;996;p59"/>
          <p:cNvCxnSpPr>
            <a:stCxn id="962" idx="4"/>
            <a:endCxn id="974" idx="0"/>
          </p:cNvCxnSpPr>
          <p:nvPr/>
        </p:nvCxnSpPr>
        <p:spPr>
          <a:xfrm>
            <a:off x="2283594" y="2852314"/>
            <a:ext cx="2866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7" name="Google Shape;997;p59"/>
          <p:cNvCxnSpPr>
            <a:stCxn id="959" idx="4"/>
            <a:endCxn id="974" idx="0"/>
          </p:cNvCxnSpPr>
          <p:nvPr/>
        </p:nvCxnSpPr>
        <p:spPr>
          <a:xfrm>
            <a:off x="1005444" y="2852301"/>
            <a:ext cx="41451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8" name="Google Shape;998;p59"/>
          <p:cNvCxnSpPr>
            <a:stCxn id="968" idx="4"/>
            <a:endCxn id="965" idx="0"/>
          </p:cNvCxnSpPr>
          <p:nvPr/>
        </p:nvCxnSpPr>
        <p:spPr>
          <a:xfrm flipH="1">
            <a:off x="2283457" y="2852314"/>
            <a:ext cx="1588800" cy="5397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9" name="Google Shape;999;p59"/>
          <p:cNvCxnSpPr>
            <a:stCxn id="971" idx="4"/>
            <a:endCxn id="960" idx="0"/>
          </p:cNvCxnSpPr>
          <p:nvPr/>
        </p:nvCxnSpPr>
        <p:spPr>
          <a:xfrm flipH="1">
            <a:off x="1005307" y="2852326"/>
            <a:ext cx="4145100" cy="548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0" name="Google Shape;1000;p59"/>
          <p:cNvCxnSpPr>
            <a:stCxn id="965" idx="4"/>
            <a:endCxn id="969" idx="4"/>
          </p:cNvCxnSpPr>
          <p:nvPr/>
        </p:nvCxnSpPr>
        <p:spPr>
          <a:xfrm flipH="1" rot="-5400000">
            <a:off x="3073644" y="3206939"/>
            <a:ext cx="8700" cy="1588800"/>
          </a:xfrm>
          <a:prstGeom prst="bentConnector3">
            <a:avLst>
              <a:gd fmla="val 4566224" name="adj1"/>
            </a:avLst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59"/>
          <p:cNvSpPr/>
          <p:nvPr/>
        </p:nvSpPr>
        <p:spPr>
          <a:xfrm>
            <a:off x="4839907" y="3391901"/>
            <a:ext cx="621000" cy="6051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Bro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01" name="Google Shape;1001;p59"/>
          <p:cNvSpPr/>
          <p:nvPr/>
        </p:nvSpPr>
        <p:spPr>
          <a:xfrm>
            <a:off x="2767488" y="4279613"/>
            <a:ext cx="621000" cy="6051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Baby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02" name="Google Shape;1002;p59"/>
          <p:cNvCxnSpPr>
            <a:stCxn id="960" idx="4"/>
            <a:endCxn id="1001" idx="2"/>
          </p:cNvCxnSpPr>
          <p:nvPr/>
        </p:nvCxnSpPr>
        <p:spPr>
          <a:xfrm>
            <a:off x="1005444" y="4005739"/>
            <a:ext cx="1761900" cy="576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3" name="Google Shape;1003;p59"/>
          <p:cNvCxnSpPr>
            <a:stCxn id="974" idx="3"/>
            <a:endCxn id="1001" idx="6"/>
          </p:cNvCxnSpPr>
          <p:nvPr/>
        </p:nvCxnSpPr>
        <p:spPr>
          <a:xfrm flipH="1">
            <a:off x="3388550" y="3908386"/>
            <a:ext cx="1542300" cy="673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04" name="Google Shape;1004;p59"/>
          <p:cNvSpPr txBox="1"/>
          <p:nvPr/>
        </p:nvSpPr>
        <p:spPr>
          <a:xfrm>
            <a:off x="5740950" y="2387350"/>
            <a:ext cx="3216600" cy="26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You and Riley had a baby. Great!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Argh. More complication!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Economica"/>
                <a:ea typeface="Economica"/>
                <a:cs typeface="Economica"/>
                <a:sym typeface="Economica"/>
              </a:rPr>
              <a:t>Baby has an anti-symmetric kin ties to everyone (grandson/daughter, niece/nephew, etc.)</a:t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05" name="Google Shape;1005;p59"/>
          <p:cNvCxnSpPr>
            <a:stCxn id="959" idx="2"/>
            <a:endCxn id="1001" idx="2"/>
          </p:cNvCxnSpPr>
          <p:nvPr/>
        </p:nvCxnSpPr>
        <p:spPr>
          <a:xfrm>
            <a:off x="694944" y="2549751"/>
            <a:ext cx="2072400" cy="2032500"/>
          </a:xfrm>
          <a:prstGeom prst="bentConnector3">
            <a:avLst>
              <a:gd fmla="val -1149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6" name="Google Shape;1006;p59"/>
          <p:cNvCxnSpPr>
            <a:stCxn id="971" idx="6"/>
            <a:endCxn id="1001" idx="6"/>
          </p:cNvCxnSpPr>
          <p:nvPr/>
        </p:nvCxnSpPr>
        <p:spPr>
          <a:xfrm flipH="1">
            <a:off x="3388507" y="2549776"/>
            <a:ext cx="2072400" cy="2032500"/>
          </a:xfrm>
          <a:prstGeom prst="bentConnector3">
            <a:avLst>
              <a:gd fmla="val -11490" name="adj1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7" name="Google Shape;1007;p59"/>
          <p:cNvCxnSpPr>
            <a:stCxn id="969" idx="4"/>
            <a:endCxn id="1001" idx="6"/>
          </p:cNvCxnSpPr>
          <p:nvPr/>
        </p:nvCxnSpPr>
        <p:spPr>
          <a:xfrm flipH="1">
            <a:off x="3388357" y="4005751"/>
            <a:ext cx="483900" cy="576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8" name="Google Shape;1008;p59"/>
          <p:cNvCxnSpPr>
            <a:stCxn id="965" idx="4"/>
            <a:endCxn id="1001" idx="2"/>
          </p:cNvCxnSpPr>
          <p:nvPr/>
        </p:nvCxnSpPr>
        <p:spPr>
          <a:xfrm>
            <a:off x="2283594" y="3996989"/>
            <a:ext cx="483900" cy="585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9" name="Google Shape;1009;p59"/>
          <p:cNvCxnSpPr>
            <a:stCxn id="968" idx="4"/>
            <a:endCxn id="1001" idx="0"/>
          </p:cNvCxnSpPr>
          <p:nvPr/>
        </p:nvCxnSpPr>
        <p:spPr>
          <a:xfrm flipH="1">
            <a:off x="3077857" y="2852313"/>
            <a:ext cx="794400" cy="1427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0" name="Google Shape;1010;p59"/>
          <p:cNvCxnSpPr>
            <a:stCxn id="962" idx="4"/>
            <a:endCxn id="1001" idx="0"/>
          </p:cNvCxnSpPr>
          <p:nvPr/>
        </p:nvCxnSpPr>
        <p:spPr>
          <a:xfrm>
            <a:off x="2283594" y="2852313"/>
            <a:ext cx="794400" cy="1427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