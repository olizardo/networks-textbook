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7460E9-BD30-4AB6-B6D8-334E3936BBFE}">
  <a:tblStyle styleId="{3C7460E9-BD30-4AB6-B6D8-334E3936BB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4e366ac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4e366ac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f4e366ac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f4e366ac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f4e366ac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f4e366ac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4de1b10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4de1b10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4de1b10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4de1b10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4de1b10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4de1b10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4de1b10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4de1b10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4de1b10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4de1b10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4de1b10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4de1b10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4de1b10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4de1b10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4de1b10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4de1b10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4de1b10d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f4de1b10d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social ties</a:t>
            </a:r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Dyadic </a:t>
            </a:r>
            <a:r>
              <a:rPr b="1" lang="en"/>
              <a:t>ties</a:t>
            </a:r>
            <a:r>
              <a:rPr lang="en"/>
              <a:t> (edges, links) are the building blocks of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social network theories are built on properties of ties (Kitts 2014)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how many ways can two people be connected?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Two people can be </a:t>
            </a:r>
            <a:r>
              <a:rPr lang="en"/>
              <a:t>connected</a:t>
            </a:r>
            <a:r>
              <a:rPr lang="en"/>
              <a:t> by </a:t>
            </a:r>
            <a:r>
              <a:rPr b="1" lang="en"/>
              <a:t>one-way (asymmetric) tie</a:t>
            </a:r>
            <a:r>
              <a:rPr lang="en"/>
              <a:t> or </a:t>
            </a:r>
            <a:r>
              <a:rPr b="1" lang="en"/>
              <a:t>two-way (non-symmetric) 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links are thought of as conduits via which some things “flow” then people can be connected by </a:t>
            </a:r>
            <a:r>
              <a:rPr b="1" lang="en"/>
              <a:t>one-way flow links</a:t>
            </a:r>
            <a:r>
              <a:rPr lang="en"/>
              <a:t> (non-reciprocal) or </a:t>
            </a:r>
            <a:r>
              <a:rPr b="1" lang="en"/>
              <a:t>two-way flow ties</a:t>
            </a:r>
            <a:r>
              <a:rPr lang="en"/>
              <a:t> (reciprocal)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can be connected via </a:t>
            </a:r>
            <a:r>
              <a:rPr b="1" lang="en"/>
              <a:t>more than one type </a:t>
            </a:r>
            <a:r>
              <a:rPr lang="en"/>
              <a:t>of tie (multiplexity) or a </a:t>
            </a:r>
            <a:r>
              <a:rPr b="1" lang="en"/>
              <a:t>single</a:t>
            </a:r>
            <a:r>
              <a:rPr lang="en"/>
              <a:t> </a:t>
            </a:r>
            <a:r>
              <a:rPr b="1" lang="en"/>
              <a:t>type </a:t>
            </a:r>
            <a:r>
              <a:rPr lang="en"/>
              <a:t>of tie (uniplexitiy)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can be connected via </a:t>
            </a:r>
            <a:r>
              <a:rPr b="1" lang="en"/>
              <a:t>fleeting, emotionally distant (weak) ties</a:t>
            </a:r>
            <a:r>
              <a:rPr lang="en"/>
              <a:t> or via </a:t>
            </a:r>
            <a:r>
              <a:rPr b="1" lang="en"/>
              <a:t>durable, sturdy, emotionally close, frequently  activated, hard to break (strong) ties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social ties are there?</a:t>
            </a:r>
            <a:endParaRPr/>
          </a:p>
        </p:txBody>
      </p:sp>
      <p:pic>
        <p:nvPicPr>
          <p:cNvPr descr="Screenshot 2017-08-22 at 09.35.16.png"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2" cy="27116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599350" y="4293525"/>
            <a:ext cx="80532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Borgatti, S. P., Mehra, A., Brass, D. J., &amp; Labianca, G. (2009). Network analysis in the social sciences.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science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323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(5916), 892-895.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social ties are there?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 relations (states)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Interpersonal sentiments and cognitions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Behavioral Social Interactions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Opportunity structure for exchange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92300" y="4016425"/>
            <a:ext cx="7933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Kitts, J. A. (2014). Beyond networks in structural theories of exchange: Promises from computational social science. In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Advances in group processes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(pp. 263-298). Emerald Group Publishing Limited.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(combined)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8825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915453" y="4379650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Role Relations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752065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Sentiments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588664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Communication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7425276" y="4379663"/>
            <a:ext cx="1662300" cy="436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Exchanges</a:t>
            </a:r>
            <a:endParaRPr b="1" sz="15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11613" y="2303875"/>
            <a:ext cx="2205900" cy="29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Relationships</a:t>
            </a:r>
            <a:endParaRPr b="1" sz="16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255438" y="2303875"/>
            <a:ext cx="2205900" cy="294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 b="1" sz="16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0" name="Google Shape;90;p16"/>
          <p:cNvCxnSpPr>
            <a:stCxn id="88" idx="2"/>
            <a:endCxn id="84" idx="0"/>
          </p:cNvCxnSpPr>
          <p:nvPr/>
        </p:nvCxnSpPr>
        <p:spPr>
          <a:xfrm flipH="1">
            <a:off x="2746463" y="2598175"/>
            <a:ext cx="9681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>
            <a:stCxn id="88" idx="2"/>
            <a:endCxn id="85" idx="0"/>
          </p:cNvCxnSpPr>
          <p:nvPr/>
        </p:nvCxnSpPr>
        <p:spPr>
          <a:xfrm>
            <a:off x="3714563" y="2598175"/>
            <a:ext cx="8688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>
            <a:stCxn id="89" idx="2"/>
            <a:endCxn id="86" idx="0"/>
          </p:cNvCxnSpPr>
          <p:nvPr/>
        </p:nvCxnSpPr>
        <p:spPr>
          <a:xfrm flipH="1">
            <a:off x="6419688" y="2598175"/>
            <a:ext cx="9387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6"/>
          <p:cNvCxnSpPr>
            <a:stCxn id="89" idx="2"/>
            <a:endCxn id="87" idx="0"/>
          </p:cNvCxnSpPr>
          <p:nvPr/>
        </p:nvCxnSpPr>
        <p:spPr>
          <a:xfrm>
            <a:off x="7358388" y="2598175"/>
            <a:ext cx="897900" cy="178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6"/>
          <p:cNvSpPr/>
          <p:nvPr/>
        </p:nvSpPr>
        <p:spPr>
          <a:xfrm>
            <a:off x="4470250" y="1201438"/>
            <a:ext cx="2205900" cy="436800"/>
          </a:xfrm>
          <a:prstGeom prst="diamond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Social Ties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5" name="Google Shape;95;p16"/>
          <p:cNvCxnSpPr>
            <a:stCxn id="94" idx="1"/>
            <a:endCxn id="83" idx="0"/>
          </p:cNvCxnSpPr>
          <p:nvPr/>
        </p:nvCxnSpPr>
        <p:spPr>
          <a:xfrm flipH="1">
            <a:off x="909850" y="1419838"/>
            <a:ext cx="3560400" cy="29598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>
            <a:stCxn id="94" idx="2"/>
            <a:endCxn id="88" idx="0"/>
          </p:cNvCxnSpPr>
          <p:nvPr/>
        </p:nvCxnSpPr>
        <p:spPr>
          <a:xfrm flipH="1">
            <a:off x="3714700" y="1638238"/>
            <a:ext cx="1858500" cy="66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>
            <a:stCxn id="94" idx="2"/>
            <a:endCxn id="89" idx="0"/>
          </p:cNvCxnSpPr>
          <p:nvPr/>
        </p:nvCxnSpPr>
        <p:spPr>
          <a:xfrm>
            <a:off x="5573200" y="1638238"/>
            <a:ext cx="1785300" cy="66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and properties (combined)</a:t>
            </a:r>
            <a:endParaRPr/>
          </a:p>
        </p:txBody>
      </p:sp>
      <p:graphicFrame>
        <p:nvGraphicFramePr>
          <p:cNvPr id="103" name="Google Shape;103;p17"/>
          <p:cNvGraphicFramePr/>
          <p:nvPr/>
        </p:nvGraphicFramePr>
        <p:xfrm>
          <a:off x="3116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{3C7460E9-BD30-4AB6-B6D8-334E3936BBFE}</a:tableStyleId>
              </a:tblPr>
              <a:tblGrid>
                <a:gridCol w="1584425"/>
                <a:gridCol w="1208575"/>
                <a:gridCol w="1396500"/>
                <a:gridCol w="1396500"/>
                <a:gridCol w="1396500"/>
                <a:gridCol w="13965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Symmetric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Asymmetric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Anti-Symmetric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Reciprocal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Non-Reciprocal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Similarities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Role Relations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Sentiments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Communication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Exchanges</a:t>
                      </a:r>
                      <a:endParaRPr i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and properties (combined)</a:t>
            </a:r>
            <a:endParaRPr/>
          </a:p>
        </p:txBody>
      </p:sp>
      <p:graphicFrame>
        <p:nvGraphicFramePr>
          <p:cNvPr id="109" name="Google Shape;109;p18"/>
          <p:cNvGraphicFramePr/>
          <p:nvPr/>
        </p:nvGraphicFramePr>
        <p:xfrm>
          <a:off x="3116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{3C7460E9-BD30-4AB6-B6D8-334E3936BBFE}</a:tableStyleId>
              </a:tblPr>
              <a:tblGrid>
                <a:gridCol w="1584425"/>
                <a:gridCol w="1208575"/>
                <a:gridCol w="1396500"/>
                <a:gridCol w="1396500"/>
                <a:gridCol w="1396500"/>
                <a:gridCol w="13965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Strong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Weak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Multiplex*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dk1"/>
                          </a:solidFill>
                        </a:rPr>
                        <a:t>Similarities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Role Relations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Sentiments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Communication</a:t>
                      </a:r>
                      <a:endParaRPr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✖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Exchanges</a:t>
                      </a:r>
                      <a:endParaRPr i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✔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p18"/>
          <p:cNvSpPr txBox="1"/>
          <p:nvPr/>
        </p:nvSpPr>
        <p:spPr>
          <a:xfrm>
            <a:off x="469575" y="4182500"/>
            <a:ext cx="3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*Within type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</a:t>
            </a:r>
            <a:r>
              <a:rPr lang="en"/>
              <a:t>strength</a:t>
            </a:r>
            <a:r>
              <a:rPr lang="en"/>
              <a:t> is defined as a </a:t>
            </a:r>
            <a:r>
              <a:rPr b="1" lang="en"/>
              <a:t>combination</a:t>
            </a:r>
            <a:r>
              <a:rPr lang="en"/>
              <a:t> of multiple tie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</a:t>
            </a:r>
            <a:r>
              <a:rPr lang="en"/>
              <a:t>uration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spent together (</a:t>
            </a:r>
            <a:r>
              <a:rPr b="1" lang="en"/>
              <a:t>Similarities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Emotional intensity (</a:t>
            </a:r>
            <a:r>
              <a:rPr b="1" lang="en"/>
              <a:t>Sentiment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Intimacy and confiding </a:t>
            </a:r>
            <a:r>
              <a:rPr lang="en"/>
              <a:t> (</a:t>
            </a:r>
            <a:r>
              <a:rPr b="1" lang="en"/>
              <a:t>Exchanges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of interaction (</a:t>
            </a:r>
            <a:r>
              <a:rPr b="1" lang="en"/>
              <a:t>Communication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MIxes together frequency, sentiment, communication,, and exchange criteria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KItts (2014)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ones are the best indicators of tie strength empirically?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/>
              <a:t>“The strength of a tie is a (probably linear) combination of the amount of time, the emotional intensity, the intimacy (mutual confiding) and the reciprocal services which characterize the tie”</a:t>
            </a:r>
            <a:r>
              <a:rPr lang="en"/>
              <a:t> (Granovetter 1973:  1361)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Problems with some previous attempts at measuring tie strength: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mix together </a:t>
            </a:r>
            <a:r>
              <a:rPr b="1" lang="en"/>
              <a:t>role-relation</a:t>
            </a:r>
            <a:r>
              <a:rPr lang="en"/>
              <a:t> and </a:t>
            </a:r>
            <a:r>
              <a:rPr b="1" lang="en"/>
              <a:t>sentiment</a:t>
            </a:r>
            <a:r>
              <a:rPr lang="en"/>
              <a:t> criteria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</a:t>
            </a:r>
            <a:r>
              <a:rPr b="1" lang="en"/>
              <a:t>Close</a:t>
            </a:r>
            <a:r>
              <a:rPr lang="en"/>
              <a:t> </a:t>
            </a:r>
            <a:r>
              <a:rPr b="1" lang="en"/>
              <a:t>Friends</a:t>
            </a:r>
            <a:r>
              <a:rPr lang="en"/>
              <a:t>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(even worse) </a:t>
            </a:r>
            <a:r>
              <a:rPr i="1" lang="en"/>
              <a:t>use</a:t>
            </a:r>
            <a:r>
              <a:rPr lang="en"/>
              <a:t> role-relations criteria to define tie 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E.g. Kin and Friends are strong ties, acquaintances, co-workers, and neighbors are weak ties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i="1" lang="en">
                <a:solidFill>
                  <a:srgbClr val="FF0000"/>
                </a:solidFill>
              </a:rPr>
              <a:t>Problem: You can be weakly connected some relatives and strongly connected to some co-workers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purely frequency based criteria (</a:t>
            </a:r>
            <a:r>
              <a:rPr b="1" lang="en"/>
              <a:t>who you hang out with most often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i="1" lang="en">
                <a:solidFill>
                  <a:srgbClr val="FF0000"/>
                </a:solidFill>
              </a:rPr>
              <a:t>Problem: You can be weakly connected to people you see frequently 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use the number of kinds of relations connecting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“Multiplex” ties are strong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i="1" lang="en">
                <a:solidFill>
                  <a:srgbClr val="FF0000"/>
                </a:solidFill>
              </a:rPr>
              <a:t>Problem:</a:t>
            </a:r>
            <a:r>
              <a:rPr i="1" lang="en">
                <a:solidFill>
                  <a:srgbClr val="FF0000"/>
                </a:solidFill>
              </a:rPr>
              <a:t> some multiplex relations can be weak</a:t>
            </a:r>
            <a:endParaRPr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225225"/>
            <a:ext cx="5691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approaches: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/>
              <a:t>Duration of the relationship?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Provision and exchange of services and support?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Socio-demographic similarity?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Overlap in common memberships?</a:t>
            </a:r>
            <a:endParaRPr i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can imagine having strong and weak ties within each of these categories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Need to compare multiple indicators against suitable criteria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tie-strength-analysis-4-638.jpg" id="129" name="Google Shape;129;p21"/>
          <p:cNvPicPr preferRelativeResize="0"/>
          <p:nvPr/>
        </p:nvPicPr>
        <p:blipFill rotWithShape="1">
          <a:blip r:embed="rId3">
            <a:alphaModFix/>
          </a:blip>
          <a:srcRect b="15786" l="58126" r="0" t="16551"/>
          <a:stretch/>
        </p:blipFill>
        <p:spPr>
          <a:xfrm>
            <a:off x="6003500" y="1186225"/>
            <a:ext cx="2828790" cy="3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Marsden and Campbell (1984)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Closeness/Intimacy (Sentiments)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(Interaction)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Exchange/Support (Exchange)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 (Friend, Co-worker)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 memberships and Social Position (Similarities)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6468675" y="2758175"/>
            <a:ext cx="1430700" cy="65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</p:txBody>
      </p:sp>
      <p:sp>
        <p:nvSpPr>
          <p:cNvPr id="138" name="Google Shape;138;p22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Interaction</a:t>
            </a:r>
            <a:endParaRPr sz="1200"/>
          </a:p>
        </p:txBody>
      </p:sp>
      <p:sp>
        <p:nvSpPr>
          <p:cNvPr id="139" name="Google Shape;139;p22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Exchange</a:t>
            </a:r>
            <a:endParaRPr sz="1200"/>
          </a:p>
        </p:txBody>
      </p:sp>
      <p:cxnSp>
        <p:nvCxnSpPr>
          <p:cNvPr id="140" name="Google Shape;140;p22"/>
          <p:cNvCxnSpPr>
            <a:stCxn id="136" idx="4"/>
            <a:endCxn id="137" idx="0"/>
          </p:cNvCxnSpPr>
          <p:nvPr/>
        </p:nvCxnSpPr>
        <p:spPr>
          <a:xfrm flipH="1">
            <a:off x="6017925" y="3411275"/>
            <a:ext cx="11661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2"/>
          <p:cNvCxnSpPr>
            <a:stCxn id="136" idx="4"/>
            <a:endCxn id="138" idx="0"/>
          </p:cNvCxnSpPr>
          <p:nvPr/>
        </p:nvCxnSpPr>
        <p:spPr>
          <a:xfrm>
            <a:off x="7184025" y="3411275"/>
            <a:ext cx="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2"/>
          <p:cNvCxnSpPr>
            <a:stCxn id="136" idx="4"/>
            <a:endCxn id="139" idx="0"/>
          </p:cNvCxnSpPr>
          <p:nvPr/>
        </p:nvCxnSpPr>
        <p:spPr>
          <a:xfrm>
            <a:off x="7184025" y="3411275"/>
            <a:ext cx="1058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2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Relations</a:t>
            </a:r>
            <a:endParaRPr/>
          </a:p>
        </p:txBody>
      </p:sp>
      <p:cxnSp>
        <p:nvCxnSpPr>
          <p:cNvPr id="145" name="Google Shape;145;p22"/>
          <p:cNvCxnSpPr>
            <a:stCxn id="144" idx="2"/>
            <a:endCxn id="136" idx="0"/>
          </p:cNvCxnSpPr>
          <p:nvPr/>
        </p:nvCxnSpPr>
        <p:spPr>
          <a:xfrm>
            <a:off x="6287438" y="2107375"/>
            <a:ext cx="896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2"/>
          <p:cNvCxnSpPr>
            <a:stCxn id="143" idx="2"/>
            <a:endCxn id="136" idx="0"/>
          </p:cNvCxnSpPr>
          <p:nvPr/>
        </p:nvCxnSpPr>
        <p:spPr>
          <a:xfrm flipH="1">
            <a:off x="7184150" y="2107375"/>
            <a:ext cx="9582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2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Indicators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classic Marsden and Campbell Study: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Subjective closeness most reliable indicator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Frequency and duration is confounded with other aspects (role relations, similarities):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you see weak ties (neighbors, co-workers frequently)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You don’t see long running contacts frequently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155" name="Google Shape;155;p23"/>
          <p:cNvSpPr/>
          <p:nvPr/>
        </p:nvSpPr>
        <p:spPr>
          <a:xfrm>
            <a:off x="6468675" y="2758175"/>
            <a:ext cx="1430700" cy="653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</p:txBody>
      </p:sp>
      <p:sp>
        <p:nvSpPr>
          <p:cNvPr id="157" name="Google Shape;157;p23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Interaction</a:t>
            </a:r>
            <a:endParaRPr sz="1200"/>
          </a:p>
        </p:txBody>
      </p:sp>
      <p:sp>
        <p:nvSpPr>
          <p:cNvPr id="158" name="Google Shape;158;p23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Exchange</a:t>
            </a:r>
            <a:endParaRPr sz="1200"/>
          </a:p>
        </p:txBody>
      </p:sp>
      <p:cxnSp>
        <p:nvCxnSpPr>
          <p:cNvPr id="159" name="Google Shape;159;p23"/>
          <p:cNvCxnSpPr>
            <a:stCxn id="155" idx="4"/>
            <a:endCxn id="156" idx="0"/>
          </p:cNvCxnSpPr>
          <p:nvPr/>
        </p:nvCxnSpPr>
        <p:spPr>
          <a:xfrm flipH="1">
            <a:off x="6017925" y="3411275"/>
            <a:ext cx="1166100" cy="650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3"/>
          <p:cNvCxnSpPr>
            <a:stCxn id="155" idx="4"/>
            <a:endCxn id="157" idx="0"/>
          </p:cNvCxnSpPr>
          <p:nvPr/>
        </p:nvCxnSpPr>
        <p:spPr>
          <a:xfrm>
            <a:off x="7184025" y="3411275"/>
            <a:ext cx="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3"/>
          <p:cNvCxnSpPr>
            <a:stCxn id="155" idx="4"/>
            <a:endCxn id="158" idx="0"/>
          </p:cNvCxnSpPr>
          <p:nvPr/>
        </p:nvCxnSpPr>
        <p:spPr>
          <a:xfrm>
            <a:off x="7184025" y="3411275"/>
            <a:ext cx="1058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3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Relations</a:t>
            </a:r>
            <a:endParaRPr/>
          </a:p>
        </p:txBody>
      </p:sp>
      <p:cxnSp>
        <p:nvCxnSpPr>
          <p:cNvPr id="164" name="Google Shape;164;p23"/>
          <p:cNvCxnSpPr>
            <a:stCxn id="163" idx="2"/>
            <a:endCxn id="155" idx="0"/>
          </p:cNvCxnSpPr>
          <p:nvPr/>
        </p:nvCxnSpPr>
        <p:spPr>
          <a:xfrm>
            <a:off x="6287438" y="2107375"/>
            <a:ext cx="896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3"/>
          <p:cNvCxnSpPr>
            <a:stCxn id="162" idx="2"/>
            <a:endCxn id="155" idx="0"/>
          </p:cNvCxnSpPr>
          <p:nvPr/>
        </p:nvCxnSpPr>
        <p:spPr>
          <a:xfrm flipH="1">
            <a:off x="7184150" y="2107375"/>
            <a:ext cx="9582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3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Indicators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Predictors</a:t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6769875" y="3851625"/>
            <a:ext cx="828300" cy="741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classic Marsden and Campbell Study: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Confiding and exchange indicators not necessarily a measure of strength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confide in and ask favors from weak ties and people who are just around!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Consistent with recent work (Small 2013)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6468675" y="2758175"/>
            <a:ext cx="1430700" cy="653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5558250" y="4062075"/>
            <a:ext cx="919200" cy="3201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</p:txBody>
      </p:sp>
      <p:sp>
        <p:nvSpPr>
          <p:cNvPr id="177" name="Google Shape;177;p24"/>
          <p:cNvSpPr/>
          <p:nvPr/>
        </p:nvSpPr>
        <p:spPr>
          <a:xfrm>
            <a:off x="67244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Interaction</a:t>
            </a:r>
            <a:endParaRPr sz="1200"/>
          </a:p>
        </p:txBody>
      </p:sp>
      <p:sp>
        <p:nvSpPr>
          <p:cNvPr id="178" name="Google Shape;178;p24"/>
          <p:cNvSpPr/>
          <p:nvPr/>
        </p:nvSpPr>
        <p:spPr>
          <a:xfrm>
            <a:off x="7783227" y="4062082"/>
            <a:ext cx="919200" cy="3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Exchage</a:t>
            </a:r>
            <a:endParaRPr sz="1200"/>
          </a:p>
        </p:txBody>
      </p:sp>
      <p:cxnSp>
        <p:nvCxnSpPr>
          <p:cNvPr id="179" name="Google Shape;179;p24"/>
          <p:cNvCxnSpPr>
            <a:stCxn id="175" idx="4"/>
            <a:endCxn id="176" idx="0"/>
          </p:cNvCxnSpPr>
          <p:nvPr/>
        </p:nvCxnSpPr>
        <p:spPr>
          <a:xfrm flipH="1">
            <a:off x="6017925" y="3411275"/>
            <a:ext cx="1166100" cy="650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4"/>
          <p:cNvCxnSpPr>
            <a:stCxn id="175" idx="4"/>
            <a:endCxn id="177" idx="0"/>
          </p:cNvCxnSpPr>
          <p:nvPr/>
        </p:nvCxnSpPr>
        <p:spPr>
          <a:xfrm>
            <a:off x="7184025" y="3411275"/>
            <a:ext cx="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4"/>
          <p:cNvCxnSpPr>
            <a:stCxn id="175" idx="4"/>
            <a:endCxn id="178" idx="0"/>
          </p:cNvCxnSpPr>
          <p:nvPr/>
        </p:nvCxnSpPr>
        <p:spPr>
          <a:xfrm>
            <a:off x="7184025" y="3411275"/>
            <a:ext cx="1058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4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Relations</a:t>
            </a:r>
            <a:endParaRPr/>
          </a:p>
        </p:txBody>
      </p:sp>
      <p:cxnSp>
        <p:nvCxnSpPr>
          <p:cNvPr id="184" name="Google Shape;184;p24"/>
          <p:cNvCxnSpPr>
            <a:stCxn id="183" idx="2"/>
            <a:endCxn id="175" idx="0"/>
          </p:cNvCxnSpPr>
          <p:nvPr/>
        </p:nvCxnSpPr>
        <p:spPr>
          <a:xfrm>
            <a:off x="6287438" y="2107375"/>
            <a:ext cx="896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4"/>
          <p:cNvCxnSpPr>
            <a:stCxn id="182" idx="2"/>
            <a:endCxn id="175" idx="0"/>
          </p:cNvCxnSpPr>
          <p:nvPr/>
        </p:nvCxnSpPr>
        <p:spPr>
          <a:xfrm flipH="1">
            <a:off x="7184150" y="2107375"/>
            <a:ext cx="9582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4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Indicators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Predictors</a:t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7828675" y="3851625"/>
            <a:ext cx="828300" cy="741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measure tie strength?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approach: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between </a:t>
            </a:r>
            <a:r>
              <a:rPr b="1" lang="en"/>
              <a:t>indicators</a:t>
            </a:r>
            <a:r>
              <a:rPr lang="en"/>
              <a:t> of tie strength and </a:t>
            </a:r>
            <a:r>
              <a:rPr b="1" lang="en"/>
              <a:t>predictors</a:t>
            </a:r>
            <a:r>
              <a:rPr lang="en"/>
              <a:t> of tie strength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classic Marsden and Campbell Study: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May want to use multiple measures of sentiment to get a better measure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Don’t use predictors as </a:t>
            </a:r>
            <a:r>
              <a:rPr b="1" lang="en"/>
              <a:t>substitute</a:t>
            </a:r>
            <a:r>
              <a:rPr b="1" lang="en"/>
              <a:t> measures!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6468675" y="2758175"/>
            <a:ext cx="1430700" cy="65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  <p:sp>
        <p:nvSpPr>
          <p:cNvPr id="196" name="Google Shape;196;p25"/>
          <p:cNvSpPr/>
          <p:nvPr/>
        </p:nvSpPr>
        <p:spPr>
          <a:xfrm>
            <a:off x="5558250" y="4062075"/>
            <a:ext cx="919200" cy="5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</a:t>
            </a:r>
            <a:endParaRPr sz="1200"/>
          </a:p>
        </p:txBody>
      </p:sp>
      <p:sp>
        <p:nvSpPr>
          <p:cNvPr id="197" name="Google Shape;197;p25"/>
          <p:cNvSpPr/>
          <p:nvPr/>
        </p:nvSpPr>
        <p:spPr>
          <a:xfrm>
            <a:off x="6724426" y="4062086"/>
            <a:ext cx="919200" cy="5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</a:t>
            </a:r>
            <a:endParaRPr sz="1200"/>
          </a:p>
        </p:txBody>
      </p:sp>
      <p:sp>
        <p:nvSpPr>
          <p:cNvPr id="198" name="Google Shape;198;p25"/>
          <p:cNvSpPr/>
          <p:nvPr/>
        </p:nvSpPr>
        <p:spPr>
          <a:xfrm>
            <a:off x="7783226" y="4062086"/>
            <a:ext cx="919200" cy="51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Sentiment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</a:t>
            </a:r>
            <a:endParaRPr sz="1200"/>
          </a:p>
        </p:txBody>
      </p:sp>
      <p:cxnSp>
        <p:nvCxnSpPr>
          <p:cNvPr id="199" name="Google Shape;199;p25"/>
          <p:cNvCxnSpPr>
            <a:stCxn id="195" idx="4"/>
            <a:endCxn id="196" idx="0"/>
          </p:cNvCxnSpPr>
          <p:nvPr/>
        </p:nvCxnSpPr>
        <p:spPr>
          <a:xfrm flipH="1">
            <a:off x="6017925" y="3411275"/>
            <a:ext cx="11661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5"/>
          <p:cNvCxnSpPr>
            <a:stCxn id="195" idx="4"/>
            <a:endCxn id="197" idx="0"/>
          </p:cNvCxnSpPr>
          <p:nvPr/>
        </p:nvCxnSpPr>
        <p:spPr>
          <a:xfrm>
            <a:off x="7184025" y="3411275"/>
            <a:ext cx="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5"/>
          <p:cNvCxnSpPr>
            <a:stCxn id="195" idx="4"/>
            <a:endCxn id="198" idx="0"/>
          </p:cNvCxnSpPr>
          <p:nvPr/>
        </p:nvCxnSpPr>
        <p:spPr>
          <a:xfrm>
            <a:off x="7184025" y="3411275"/>
            <a:ext cx="1058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5"/>
          <p:cNvSpPr/>
          <p:nvPr/>
        </p:nvSpPr>
        <p:spPr>
          <a:xfrm>
            <a:off x="7383350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5528438" y="1539475"/>
            <a:ext cx="1518000" cy="5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Relations</a:t>
            </a:r>
            <a:endParaRPr/>
          </a:p>
        </p:txBody>
      </p:sp>
      <p:cxnSp>
        <p:nvCxnSpPr>
          <p:cNvPr id="204" name="Google Shape;204;p25"/>
          <p:cNvCxnSpPr>
            <a:stCxn id="203" idx="2"/>
            <a:endCxn id="195" idx="0"/>
          </p:cNvCxnSpPr>
          <p:nvPr/>
        </p:nvCxnSpPr>
        <p:spPr>
          <a:xfrm>
            <a:off x="6287438" y="2107375"/>
            <a:ext cx="8967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5"/>
          <p:cNvCxnSpPr>
            <a:stCxn id="202" idx="2"/>
            <a:endCxn id="195" idx="0"/>
          </p:cNvCxnSpPr>
          <p:nvPr/>
        </p:nvCxnSpPr>
        <p:spPr>
          <a:xfrm flipH="1">
            <a:off x="7184150" y="2107375"/>
            <a:ext cx="95820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5"/>
          <p:cNvSpPr txBox="1"/>
          <p:nvPr/>
        </p:nvSpPr>
        <p:spPr>
          <a:xfrm>
            <a:off x="6546525" y="45114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Indicators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6546525" y="1078650"/>
            <a:ext cx="127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Predictors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