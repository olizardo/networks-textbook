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</p:sldIdLst>
  <p:sldSz cy="5143500" cx="9144000"/>
  <p:notesSz cx="6858000" cy="9144000"/>
  <p:embeddedFontLst>
    <p:embeddedFont>
      <p:font typeface="Economica"/>
      <p:regular r:id="rId68"/>
      <p:bold r:id="rId69"/>
      <p:italic r:id="rId70"/>
      <p:boldItalic r:id="rId71"/>
    </p:embeddedFont>
    <p:embeddedFont>
      <p:font typeface="Habibi"/>
      <p:regular r:id="rId72"/>
    </p:embeddedFont>
    <p:embeddedFont>
      <p:font typeface="Open Sans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79B62B-DF3C-497B-B7CD-2EDEFC39EB20}">
  <a:tblStyle styleId="{6379B62B-DF3C-497B-B7CD-2EDEFC39EB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OpenSans-regular.fntdata"/><Relationship Id="rId72" Type="http://schemas.openxmlformats.org/officeDocument/2006/relationships/font" Target="fonts/Habibi-regular.fntdata"/><Relationship Id="rId31" Type="http://schemas.openxmlformats.org/officeDocument/2006/relationships/slide" Target="slides/slide23.xml"/><Relationship Id="rId75" Type="http://schemas.openxmlformats.org/officeDocument/2006/relationships/font" Target="fonts/OpenSans-italic.fntdata"/><Relationship Id="rId30" Type="http://schemas.openxmlformats.org/officeDocument/2006/relationships/slide" Target="slides/slide22.xml"/><Relationship Id="rId74" Type="http://schemas.openxmlformats.org/officeDocument/2006/relationships/font" Target="fonts/OpenSans-bold.fntdata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76" Type="http://schemas.openxmlformats.org/officeDocument/2006/relationships/font" Target="fonts/OpenSans-boldItalic.fntdata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Economica-boldItalic.fntdata"/><Relationship Id="rId70" Type="http://schemas.openxmlformats.org/officeDocument/2006/relationships/font" Target="fonts/Economica-italic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font" Target="fonts/Economica-regular.fntdata"/><Relationship Id="rId23" Type="http://schemas.openxmlformats.org/officeDocument/2006/relationships/slide" Target="slides/slide15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Economica-bold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828d3b978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828d3b978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828d3b978_0_2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828d3b978_0_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828d3b978_0_2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828d3b978_0_2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828d3b978_0_2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828d3b978_0_2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828d3b978_0_2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828d3b978_0_2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828d3b978_0_2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5828d3b978_0_2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828d3b978_0_2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5828d3b978_0_2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828d3b978_0_2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828d3b978_0_2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828d3b978_0_2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828d3b978_0_2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828d3b978_0_2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828d3b978_0_2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828d3b978_0_2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828d3b978_0_2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828d3b978_0_2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828d3b978_0_2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5828d3b978_0_2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5828d3b978_0_2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5828d3b978_0_2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5828d3b978_0_2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5828d3b978_0_2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5828d3b978_0_2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5828d3b978_0_2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5828d3b978_0_2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5828d3b978_0_2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5828d3b978_0_2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5828d3b978_0_2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5828d3b978_0_2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5828d3b978_0_2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5828d3b978_0_2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5828d3b978_0_2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5828d3b978_0_2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5828d3b978_0_2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5828d3b978_0_2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5828d3b978_0_2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5828d3b978_0_2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5828d3b978_0_3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5828d3b978_0_3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5828d3b978_0_3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35828d3b978_0_3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5828d3b978_0_3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5828d3b978_0_3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5828d3b978_0_3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35828d3b978_0_3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5828d3b978_0_3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5828d3b978_0_3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35828d3b978_0_3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35828d3b978_0_3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35828d3b978_0_3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35828d3b978_0_3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35828d3b978_0_3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35828d3b978_0_3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5828d3b978_0_3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5828d3b978_0_3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5828d3b978_0_3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35828d3b978_0_3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5828d3b978_0_3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35828d3b978_0_3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5828d3b978_0_3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35828d3b978_0_3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35828d3b978_0_3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35828d3b978_0_3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5828d3b978_0_3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35828d3b978_0_3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35828d3b978_0_3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35828d3b978_0_3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5828d3b978_0_3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35828d3b978_0_3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5828d3b978_0_3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35828d3b978_0_3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35828d3b978_0_3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35828d3b978_0_3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35828d3b978_0_3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35828d3b978_0_3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35828d3b978_0_3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35828d3b978_0_3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35828d3b978_0_3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35828d3b978_0_3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35828d3b978_0_3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35828d3b978_0_3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35828d3b978_0_3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35828d3b978_0_3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5828d3b978_0_3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5828d3b978_0_3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35828d3b978_0_3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35828d3b978_0_3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5828d3b978_0_3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35828d3b978_0_3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35828d3b978_0_3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35828d3b978_0_3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5828d3b978_0_3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35828d3b978_0_3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35828d3b978_0_3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35828d3b978_0_3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35828d3b978_0_3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35828d3b978_0_3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35828d3b978_0_3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35828d3b978_0_3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g35828d3b978_0_4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5" name="Google Shape;2085;g35828d3b978_0_4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g35828d3b978_0_4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8" name="Google Shape;2108;g35828d3b978_0_4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35828d3b978_0_4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35828d3b978_0_4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35828d3b978_0_4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35828d3b978_0_4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583c739d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3583c739d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35828d3b978_0_4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35828d3b978_0_4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26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5" name="Google Shape;115;p27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6" name="Google Shape;116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2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8" name="Google Shape;13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3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33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3" name="Google Shape;143;p33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4" name="Google Shape;144;p3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5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3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gif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gif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gif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gif"/><Relationship Id="rId4" Type="http://schemas.openxmlformats.org/officeDocument/2006/relationships/image" Target="../media/image8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gif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gif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5.gif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gif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3.gif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3.gif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Metrics</a:t>
            </a:r>
            <a:endParaRPr/>
          </a:p>
        </p:txBody>
      </p:sp>
      <p:sp>
        <p:nvSpPr>
          <p:cNvPr id="164" name="Google Shape;164;p38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70" name="Google Shape;170;p39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39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77" name="Google Shape;177;p40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40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9" name="Google Shape;179;p40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0" name="Google Shape;180;p40"/>
          <p:cNvSpPr/>
          <p:nvPr/>
        </p:nvSpPr>
        <p:spPr>
          <a:xfrm>
            <a:off x="6565392" y="11630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1" name="Google Shape;181;p40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2" name="Google Shape;182;p40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" name="Google Shape;183;p40"/>
          <p:cNvSpPr/>
          <p:nvPr/>
        </p:nvSpPr>
        <p:spPr>
          <a:xfrm>
            <a:off x="6583680" y="38636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5" name="Google Shape;185;p40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6" name="Google Shape;186;p40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92" name="Google Shape;192;p41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41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4" name="Google Shape;194;p41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5" name="Google Shape;195;p41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6" name="Google Shape;196;p41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" name="Google Shape;197;p41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8" name="Google Shape;198;p41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0" name="Google Shape;200;p41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02" name="Google Shape;202;p41"/>
          <p:cNvCxnSpPr>
            <a:stCxn id="195" idx="4"/>
            <a:endCxn id="193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41"/>
          <p:cNvCxnSpPr>
            <a:stCxn id="198" idx="0"/>
            <a:endCxn id="193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41"/>
          <p:cNvCxnSpPr>
            <a:stCxn id="200" idx="6"/>
            <a:endCxn id="193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41"/>
          <p:cNvCxnSpPr>
            <a:stCxn id="201" idx="2"/>
            <a:endCxn id="193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41"/>
          <p:cNvCxnSpPr>
            <a:stCxn id="193" idx="1"/>
            <a:endCxn id="194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41"/>
          <p:cNvCxnSpPr>
            <a:stCxn id="193" idx="7"/>
            <a:endCxn id="196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41"/>
          <p:cNvCxnSpPr>
            <a:stCxn id="197" idx="7"/>
            <a:endCxn id="193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41"/>
          <p:cNvCxnSpPr>
            <a:stCxn id="199" idx="1"/>
            <a:endCxn id="193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15" name="Google Shape;215;p42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42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" name="Google Shape;217;p42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8" name="Google Shape;218;p42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9" name="Google Shape;219;p42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0" name="Google Shape;220;p42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1" name="Google Shape;221;p42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2" name="Google Shape;222;p42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3" name="Google Shape;223;p42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4" name="Google Shape;224;p42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25" name="Google Shape;225;p42"/>
          <p:cNvCxnSpPr>
            <a:stCxn id="218" idx="4"/>
            <a:endCxn id="216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42"/>
          <p:cNvCxnSpPr>
            <a:stCxn id="221" idx="0"/>
            <a:endCxn id="216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42"/>
          <p:cNvCxnSpPr>
            <a:stCxn id="223" idx="6"/>
            <a:endCxn id="216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42"/>
          <p:cNvCxnSpPr>
            <a:stCxn id="224" idx="2"/>
            <a:endCxn id="216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42"/>
          <p:cNvCxnSpPr>
            <a:stCxn id="216" idx="1"/>
            <a:endCxn id="217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42"/>
          <p:cNvCxnSpPr>
            <a:stCxn id="216" idx="7"/>
            <a:endCxn id="219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42"/>
          <p:cNvCxnSpPr>
            <a:stCxn id="220" idx="7"/>
            <a:endCxn id="216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42"/>
          <p:cNvCxnSpPr>
            <a:stCxn id="222" idx="1"/>
            <a:endCxn id="216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42"/>
          <p:cNvCxnSpPr>
            <a:stCxn id="218" idx="2"/>
            <a:endCxn id="217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42"/>
          <p:cNvCxnSpPr>
            <a:stCxn id="217" idx="3"/>
            <a:endCxn id="223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42"/>
          <p:cNvCxnSpPr>
            <a:stCxn id="218" idx="3"/>
            <a:endCxn id="223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42"/>
          <p:cNvCxnSpPr>
            <a:stCxn id="218" idx="3"/>
            <a:endCxn id="220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42"/>
          <p:cNvCxnSpPr>
            <a:stCxn id="223" idx="4"/>
            <a:endCxn id="220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42"/>
          <p:cNvCxnSpPr>
            <a:stCxn id="217" idx="5"/>
            <a:endCxn id="220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42"/>
          <p:cNvCxnSpPr>
            <a:stCxn id="224" idx="3"/>
            <a:endCxn id="220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42"/>
          <p:cNvCxnSpPr>
            <a:stCxn id="221" idx="2"/>
            <a:endCxn id="220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42"/>
          <p:cNvCxnSpPr>
            <a:stCxn id="222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42"/>
          <p:cNvCxnSpPr>
            <a:stCxn id="224" idx="4"/>
            <a:endCxn id="222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48" name="Google Shape;248;p43"/>
          <p:cNvSpPr txBox="1"/>
          <p:nvPr>
            <p:ph idx="1" type="body"/>
          </p:nvPr>
        </p:nvSpPr>
        <p:spPr>
          <a:xfrm>
            <a:off x="311700" y="1225225"/>
            <a:ext cx="49419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9" name="Google Shape;249;p43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0" name="Google Shape;250;p43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1" name="Google Shape;251;p43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2" name="Google Shape;252;p43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3" name="Google Shape;253;p43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4" name="Google Shape;254;p43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5" name="Google Shape;255;p43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6" name="Google Shape;256;p43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7" name="Google Shape;257;p43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58" name="Google Shape;258;p43"/>
          <p:cNvCxnSpPr>
            <a:stCxn id="251" idx="4"/>
            <a:endCxn id="249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43"/>
          <p:cNvCxnSpPr>
            <a:stCxn id="254" idx="0"/>
            <a:endCxn id="249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43"/>
          <p:cNvCxnSpPr>
            <a:stCxn id="256" idx="6"/>
            <a:endCxn id="249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43"/>
          <p:cNvCxnSpPr>
            <a:stCxn id="257" idx="2"/>
            <a:endCxn id="249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43"/>
          <p:cNvCxnSpPr>
            <a:stCxn id="249" idx="1"/>
            <a:endCxn id="250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43"/>
          <p:cNvCxnSpPr>
            <a:stCxn id="249" idx="7"/>
            <a:endCxn id="252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43"/>
          <p:cNvCxnSpPr>
            <a:stCxn id="253" idx="7"/>
            <a:endCxn id="249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43"/>
          <p:cNvCxnSpPr>
            <a:stCxn id="255" idx="1"/>
            <a:endCxn id="249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311700" y="1225225"/>
            <a:ext cx="4986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</a:t>
            </a:r>
            <a:r>
              <a:rPr baseline="-25000" lang="en"/>
              <a:t>ea</a:t>
            </a:r>
            <a:r>
              <a:rPr lang="en"/>
              <a:t> = {Ea, Eb, Ec, Ed, Ee, Eg, Ef, Eg, Eh}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2" name="Google Shape;272;p44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5" name="Google Shape;275;p44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6" name="Google Shape;276;p44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7" name="Google Shape;277;p44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8" name="Google Shape;278;p44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9" name="Google Shape;279;p44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80" name="Google Shape;280;p44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81" name="Google Shape;281;p44"/>
          <p:cNvCxnSpPr>
            <a:stCxn id="274" idx="4"/>
            <a:endCxn id="272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44"/>
          <p:cNvCxnSpPr>
            <a:stCxn id="277" idx="0"/>
            <a:endCxn id="272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44"/>
          <p:cNvCxnSpPr>
            <a:stCxn id="279" idx="6"/>
            <a:endCxn id="272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4"/>
          <p:cNvCxnSpPr>
            <a:stCxn id="280" idx="2"/>
            <a:endCxn id="272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4"/>
          <p:cNvCxnSpPr>
            <a:stCxn id="272" idx="1"/>
            <a:endCxn id="273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4"/>
          <p:cNvCxnSpPr>
            <a:stCxn id="272" idx="7"/>
            <a:endCxn id="275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4"/>
          <p:cNvCxnSpPr>
            <a:stCxn id="276" idx="7"/>
            <a:endCxn id="272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44"/>
          <p:cNvCxnSpPr>
            <a:stCxn id="278" idx="1"/>
            <a:endCxn id="272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225225"/>
            <a:ext cx="4986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</a:t>
            </a:r>
            <a:r>
              <a:rPr baseline="-25000" lang="en"/>
              <a:t>ea</a:t>
            </a:r>
            <a:r>
              <a:rPr lang="en"/>
              <a:t> = {Ea, Eb, Ec, Ed, Ee, Eg, Ef, Eg, Eh}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</a:t>
            </a:r>
            <a:r>
              <a:rPr b="1" lang="en"/>
              <a:t>alter-alter</a:t>
            </a:r>
            <a:r>
              <a:rPr lang="en"/>
              <a:t> subgraph is the local network of people who are connected to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/>
              <a:t>V = {a, b, c, d, e, f,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/>
              <a:t>E = {ab, ah, ag, bh, bg, de, dg, ef, fg, gh}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5" name="Google Shape;295;p45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96" name="Google Shape;296;p45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97" name="Google Shape;297;p45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98" name="Google Shape;298;p45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99" name="Google Shape;299;p45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0" name="Google Shape;300;p45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1" name="Google Shape;301;p45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2" name="Google Shape;302;p45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3" name="Google Shape;303;p45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304" name="Google Shape;304;p45"/>
          <p:cNvCxnSpPr>
            <a:stCxn id="297" idx="4"/>
            <a:endCxn id="295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45"/>
          <p:cNvCxnSpPr>
            <a:stCxn id="300" idx="0"/>
            <a:endCxn id="295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45"/>
          <p:cNvCxnSpPr>
            <a:stCxn id="302" idx="6"/>
            <a:endCxn id="295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45"/>
          <p:cNvCxnSpPr>
            <a:stCxn id="303" idx="2"/>
            <a:endCxn id="295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45"/>
          <p:cNvCxnSpPr>
            <a:stCxn id="295" idx="1"/>
            <a:endCxn id="296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45"/>
          <p:cNvCxnSpPr>
            <a:stCxn id="295" idx="7"/>
            <a:endCxn id="298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45"/>
          <p:cNvCxnSpPr>
            <a:stCxn id="299" idx="7"/>
            <a:endCxn id="295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45"/>
          <p:cNvCxnSpPr>
            <a:stCxn id="301" idx="1"/>
            <a:endCxn id="295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45"/>
          <p:cNvCxnSpPr>
            <a:stCxn id="297" idx="2"/>
            <a:endCxn id="296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45"/>
          <p:cNvCxnSpPr>
            <a:stCxn id="296" idx="3"/>
            <a:endCxn id="302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45"/>
          <p:cNvCxnSpPr>
            <a:stCxn id="297" idx="3"/>
            <a:endCxn id="302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45"/>
          <p:cNvCxnSpPr>
            <a:stCxn id="297" idx="3"/>
            <a:endCxn id="299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45"/>
          <p:cNvCxnSpPr>
            <a:stCxn id="302" idx="4"/>
            <a:endCxn id="299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45"/>
          <p:cNvCxnSpPr>
            <a:stCxn id="296" idx="5"/>
            <a:endCxn id="299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45"/>
          <p:cNvCxnSpPr>
            <a:stCxn id="303" idx="3"/>
            <a:endCxn id="299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45"/>
          <p:cNvCxnSpPr>
            <a:stCxn id="300" idx="2"/>
            <a:endCxn id="299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45"/>
          <p:cNvCxnSpPr>
            <a:stCxn id="301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5"/>
          <p:cNvCxnSpPr>
            <a:stCxn id="303" idx="4"/>
            <a:endCxn id="301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327" name="Google Shape;327;p46"/>
          <p:cNvSpPr txBox="1"/>
          <p:nvPr>
            <p:ph idx="1" type="body"/>
          </p:nvPr>
        </p:nvSpPr>
        <p:spPr>
          <a:xfrm>
            <a:off x="311700" y="1225225"/>
            <a:ext cx="4986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</a:t>
            </a:r>
            <a:r>
              <a:rPr baseline="-25000" lang="en"/>
              <a:t>ea</a:t>
            </a:r>
            <a:r>
              <a:rPr lang="en"/>
              <a:t> = {Ea, Eb, Ec, Ed, Ee, Eg, Ef, Eg, Eh}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</a:t>
            </a:r>
            <a:r>
              <a:rPr b="1" lang="en"/>
              <a:t>alter-alter</a:t>
            </a:r>
            <a:r>
              <a:rPr lang="en"/>
              <a:t> subgraph is the local network of people who are connected to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/>
              <a:t>V = {a, b, c, d, e, f,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/>
              <a:t>E = {ab, ah, ag, bh, bg, de, dg, ef, fg, gh}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8" name="Google Shape;328;p46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29" name="Google Shape;329;p46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0" name="Google Shape;330;p46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1" name="Google Shape;331;p46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2" name="Google Shape;332;p46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3" name="Google Shape;333;p46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4" name="Google Shape;334;p46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5" name="Google Shape;335;p46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336" name="Google Shape;336;p46"/>
          <p:cNvCxnSpPr>
            <a:stCxn id="329" idx="2"/>
            <a:endCxn id="328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6"/>
          <p:cNvCxnSpPr>
            <a:stCxn id="328" idx="3"/>
            <a:endCxn id="334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46"/>
          <p:cNvCxnSpPr>
            <a:stCxn id="329" idx="3"/>
            <a:endCxn id="334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46"/>
          <p:cNvCxnSpPr>
            <a:stCxn id="329" idx="3"/>
            <a:endCxn id="331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46"/>
          <p:cNvCxnSpPr>
            <a:stCxn id="334" idx="4"/>
            <a:endCxn id="331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6"/>
          <p:cNvCxnSpPr>
            <a:stCxn id="328" idx="5"/>
            <a:endCxn id="331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46"/>
          <p:cNvCxnSpPr>
            <a:stCxn id="335" idx="3"/>
            <a:endCxn id="331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46"/>
          <p:cNvCxnSpPr>
            <a:stCxn id="332" idx="2"/>
            <a:endCxn id="331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46"/>
          <p:cNvCxnSpPr>
            <a:stCxn id="333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46"/>
          <p:cNvCxnSpPr>
            <a:stCxn id="335" idx="4"/>
            <a:endCxn id="333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351" name="Google Shape;351;p47"/>
          <p:cNvSpPr txBox="1"/>
          <p:nvPr>
            <p:ph idx="1" type="body"/>
          </p:nvPr>
        </p:nvSpPr>
        <p:spPr>
          <a:xfrm>
            <a:off x="311700" y="1225225"/>
            <a:ext cx="4986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2" name="Google Shape;352;p47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53" name="Google Shape;353;p47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54" name="Google Shape;354;p47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55" name="Google Shape;355;p47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56" name="Google Shape;356;p47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57" name="Google Shape;357;p47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58" name="Google Shape;358;p47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59" name="Google Shape;359;p47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60" name="Google Shape;360;p47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361" name="Google Shape;361;p47"/>
          <p:cNvCxnSpPr>
            <a:stCxn id="354" idx="4"/>
            <a:endCxn id="352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>
            <a:stCxn id="357" idx="0"/>
            <a:endCxn id="352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7"/>
          <p:cNvCxnSpPr>
            <a:stCxn id="359" idx="6"/>
            <a:endCxn id="352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47"/>
          <p:cNvCxnSpPr>
            <a:stCxn id="360" idx="2"/>
            <a:endCxn id="352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7"/>
          <p:cNvCxnSpPr>
            <a:stCxn id="352" idx="1"/>
            <a:endCxn id="353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7"/>
          <p:cNvCxnSpPr>
            <a:stCxn id="352" idx="7"/>
            <a:endCxn id="355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7"/>
          <p:cNvCxnSpPr>
            <a:stCxn id="356" idx="7"/>
            <a:endCxn id="352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7"/>
          <p:cNvCxnSpPr>
            <a:stCxn id="358" idx="1"/>
            <a:endCxn id="352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7"/>
          <p:cNvCxnSpPr>
            <a:stCxn id="354" idx="2"/>
            <a:endCxn id="353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47"/>
          <p:cNvCxnSpPr>
            <a:stCxn id="353" idx="3"/>
            <a:endCxn id="359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47"/>
          <p:cNvCxnSpPr>
            <a:stCxn id="354" idx="3"/>
            <a:endCxn id="359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7"/>
          <p:cNvCxnSpPr>
            <a:stCxn id="354" idx="3"/>
            <a:endCxn id="356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7"/>
          <p:cNvCxnSpPr>
            <a:stCxn id="359" idx="4"/>
            <a:endCxn id="356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7"/>
          <p:cNvCxnSpPr>
            <a:stCxn id="353" idx="5"/>
            <a:endCxn id="356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47"/>
          <p:cNvCxnSpPr>
            <a:stCxn id="360" idx="3"/>
            <a:endCxn id="356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47"/>
          <p:cNvCxnSpPr>
            <a:stCxn id="357" idx="2"/>
            <a:endCxn id="356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7"/>
          <p:cNvCxnSpPr>
            <a:stCxn id="358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7"/>
          <p:cNvCxnSpPr>
            <a:stCxn id="360" idx="4"/>
            <a:endCxn id="358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384" name="Google Shape;384;p48"/>
          <p:cNvSpPr txBox="1"/>
          <p:nvPr>
            <p:ph idx="1" type="body"/>
          </p:nvPr>
        </p:nvSpPr>
        <p:spPr>
          <a:xfrm>
            <a:off x="311700" y="1225225"/>
            <a:ext cx="4983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number of ego-to-alter ties</a:t>
            </a:r>
            <a:endParaRPr b="1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5" name="Google Shape;385;p48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86" name="Google Shape;386;p48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87" name="Google Shape;387;p48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88" name="Google Shape;388;p48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89" name="Google Shape;389;p48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90" name="Google Shape;390;p48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91" name="Google Shape;391;p48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92" name="Google Shape;392;p48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93" name="Google Shape;393;p48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394" name="Google Shape;394;p48"/>
          <p:cNvCxnSpPr>
            <a:stCxn id="387" idx="4"/>
            <a:endCxn id="385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8"/>
          <p:cNvCxnSpPr>
            <a:stCxn id="390" idx="0"/>
            <a:endCxn id="385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8"/>
          <p:cNvCxnSpPr>
            <a:stCxn id="392" idx="6"/>
            <a:endCxn id="385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8"/>
          <p:cNvCxnSpPr>
            <a:stCxn id="393" idx="2"/>
            <a:endCxn id="385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8"/>
          <p:cNvCxnSpPr>
            <a:stCxn id="385" idx="1"/>
            <a:endCxn id="386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8"/>
          <p:cNvCxnSpPr>
            <a:stCxn id="385" idx="7"/>
            <a:endCxn id="388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48"/>
          <p:cNvCxnSpPr>
            <a:stCxn id="389" idx="7"/>
            <a:endCxn id="385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48"/>
          <p:cNvCxnSpPr>
            <a:stCxn id="391" idx="1"/>
            <a:endCxn id="385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8"/>
          <p:cNvCxnSpPr>
            <a:stCxn id="387" idx="2"/>
            <a:endCxn id="386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48"/>
          <p:cNvCxnSpPr>
            <a:stCxn id="386" idx="3"/>
            <a:endCxn id="392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8"/>
          <p:cNvCxnSpPr>
            <a:stCxn id="387" idx="3"/>
            <a:endCxn id="392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8"/>
          <p:cNvCxnSpPr>
            <a:stCxn id="387" idx="3"/>
            <a:endCxn id="389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48"/>
          <p:cNvCxnSpPr>
            <a:stCxn id="392" idx="4"/>
            <a:endCxn id="389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8"/>
          <p:cNvCxnSpPr>
            <a:stCxn id="386" idx="5"/>
            <a:endCxn id="389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8"/>
          <p:cNvCxnSpPr>
            <a:stCxn id="393" idx="3"/>
            <a:endCxn id="389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8"/>
          <p:cNvCxnSpPr>
            <a:stCxn id="390" idx="2"/>
            <a:endCxn id="389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8"/>
          <p:cNvCxnSpPr>
            <a:stCxn id="391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8"/>
          <p:cNvCxnSpPr>
            <a:stCxn id="393" idx="4"/>
            <a:endCxn id="391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417" name="Google Shape;417;p49"/>
          <p:cNvSpPr txBox="1"/>
          <p:nvPr>
            <p:ph idx="1" type="body"/>
          </p:nvPr>
        </p:nvSpPr>
        <p:spPr>
          <a:xfrm>
            <a:off x="311700" y="1225225"/>
            <a:ext cx="4986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number of ego-to-alter ties</a:t>
            </a:r>
            <a:endParaRPr b="1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number of alter-to-alter ties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8" name="Google Shape;418;p49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19" name="Google Shape;419;p49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20" name="Google Shape;420;p49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21" name="Google Shape;421;p49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22" name="Google Shape;422;p49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23" name="Google Shape;423;p49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24" name="Google Shape;424;p49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25" name="Google Shape;425;p49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26" name="Google Shape;426;p49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27" name="Google Shape;427;p49"/>
          <p:cNvCxnSpPr>
            <a:stCxn id="420" idx="4"/>
            <a:endCxn id="418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9"/>
          <p:cNvCxnSpPr>
            <a:stCxn id="423" idx="0"/>
            <a:endCxn id="418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49"/>
          <p:cNvCxnSpPr>
            <a:stCxn id="425" idx="6"/>
            <a:endCxn id="418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49"/>
          <p:cNvCxnSpPr>
            <a:stCxn id="426" idx="2"/>
            <a:endCxn id="418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49"/>
          <p:cNvCxnSpPr>
            <a:stCxn id="418" idx="1"/>
            <a:endCxn id="419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49"/>
          <p:cNvCxnSpPr>
            <a:stCxn id="418" idx="7"/>
            <a:endCxn id="421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49"/>
          <p:cNvCxnSpPr>
            <a:stCxn id="422" idx="7"/>
            <a:endCxn id="418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9"/>
          <p:cNvCxnSpPr>
            <a:stCxn id="424" idx="1"/>
            <a:endCxn id="418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49"/>
          <p:cNvCxnSpPr>
            <a:stCxn id="420" idx="2"/>
            <a:endCxn id="419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49"/>
          <p:cNvCxnSpPr>
            <a:stCxn id="419" idx="3"/>
            <a:endCxn id="425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49"/>
          <p:cNvCxnSpPr>
            <a:stCxn id="420" idx="3"/>
            <a:endCxn id="425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9"/>
          <p:cNvCxnSpPr>
            <a:stCxn id="420" idx="3"/>
            <a:endCxn id="422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9"/>
          <p:cNvCxnSpPr>
            <a:stCxn id="425" idx="4"/>
            <a:endCxn id="422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9"/>
          <p:cNvCxnSpPr>
            <a:stCxn id="419" idx="5"/>
            <a:endCxn id="422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9"/>
          <p:cNvCxnSpPr>
            <a:stCxn id="426" idx="3"/>
            <a:endCxn id="422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9"/>
          <p:cNvCxnSpPr>
            <a:stCxn id="423" idx="2"/>
            <a:endCxn id="422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49"/>
          <p:cNvCxnSpPr>
            <a:stCxn id="424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49"/>
          <p:cNvCxnSpPr>
            <a:stCxn id="426" idx="4"/>
            <a:endCxn id="424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450" name="Google Shape;450;p50"/>
          <p:cNvSpPr txBox="1"/>
          <p:nvPr>
            <p:ph idx="1" type="body"/>
          </p:nvPr>
        </p:nvSpPr>
        <p:spPr>
          <a:xfrm>
            <a:off x="311700" y="1225225"/>
            <a:ext cx="4986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number of ego-to-alter ties</a:t>
            </a:r>
            <a:endParaRPr b="1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number of alter-to-alter 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Sociodemographic characteristics of ego:</a:t>
            </a:r>
            <a:endParaRPr b="1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Age, gender, racial identity, class, education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1" name="Google Shape;451;p50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2" name="Google Shape;452;p50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3" name="Google Shape;453;p50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4" name="Google Shape;454;p50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5" name="Google Shape;455;p50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6" name="Google Shape;456;p50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8" name="Google Shape;458;p50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60" name="Google Shape;460;p50"/>
          <p:cNvCxnSpPr>
            <a:stCxn id="453" idx="4"/>
            <a:endCxn id="451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50"/>
          <p:cNvCxnSpPr>
            <a:stCxn id="456" idx="0"/>
            <a:endCxn id="451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50"/>
          <p:cNvCxnSpPr>
            <a:stCxn id="458" idx="6"/>
            <a:endCxn id="451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50"/>
          <p:cNvCxnSpPr>
            <a:stCxn id="459" idx="2"/>
            <a:endCxn id="451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50"/>
          <p:cNvCxnSpPr>
            <a:stCxn id="451" idx="1"/>
            <a:endCxn id="452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0"/>
          <p:cNvCxnSpPr>
            <a:stCxn id="451" idx="7"/>
            <a:endCxn id="454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0"/>
          <p:cNvCxnSpPr>
            <a:stCxn id="455" idx="7"/>
            <a:endCxn id="451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50"/>
          <p:cNvCxnSpPr>
            <a:stCxn id="457" idx="1"/>
            <a:endCxn id="451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50"/>
          <p:cNvCxnSpPr>
            <a:stCxn id="453" idx="2"/>
            <a:endCxn id="452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50"/>
          <p:cNvCxnSpPr>
            <a:stCxn id="452" idx="3"/>
            <a:endCxn id="458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50"/>
          <p:cNvCxnSpPr>
            <a:stCxn id="453" idx="3"/>
            <a:endCxn id="458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50"/>
          <p:cNvCxnSpPr>
            <a:stCxn id="453" idx="3"/>
            <a:endCxn id="455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50"/>
          <p:cNvCxnSpPr>
            <a:stCxn id="458" idx="4"/>
            <a:endCxn id="455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50"/>
          <p:cNvCxnSpPr>
            <a:stCxn id="452" idx="5"/>
            <a:endCxn id="455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50"/>
          <p:cNvCxnSpPr>
            <a:stCxn id="459" idx="3"/>
            <a:endCxn id="455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50"/>
          <p:cNvCxnSpPr>
            <a:stCxn id="456" idx="2"/>
            <a:endCxn id="455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50"/>
          <p:cNvCxnSpPr>
            <a:stCxn id="457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50"/>
          <p:cNvCxnSpPr>
            <a:stCxn id="459" idx="4"/>
            <a:endCxn id="457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311700" y="1225225"/>
            <a:ext cx="4986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number of ego-to-alter ties</a:t>
            </a:r>
            <a:endParaRPr b="1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number of alter-to-alter 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Sociodemographic characteristics of ego:</a:t>
            </a:r>
            <a:endParaRPr b="1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Age, gender, racial identity, class,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Sociodemographic characteristics of alters:</a:t>
            </a:r>
            <a:endParaRPr b="1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Age, gender, racial identity, class, education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4" name="Google Shape;484;p51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85" name="Google Shape;485;p51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86" name="Google Shape;486;p51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87" name="Google Shape;487;p51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88" name="Google Shape;488;p51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89" name="Google Shape;489;p51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90" name="Google Shape;490;p51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91" name="Google Shape;491;p51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92" name="Google Shape;492;p51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93" name="Google Shape;493;p51"/>
          <p:cNvCxnSpPr>
            <a:stCxn id="486" idx="4"/>
            <a:endCxn id="484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51"/>
          <p:cNvCxnSpPr>
            <a:stCxn id="489" idx="0"/>
            <a:endCxn id="484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51"/>
          <p:cNvCxnSpPr>
            <a:stCxn id="491" idx="6"/>
            <a:endCxn id="484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51"/>
          <p:cNvCxnSpPr>
            <a:stCxn id="492" idx="2"/>
            <a:endCxn id="484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51"/>
          <p:cNvCxnSpPr>
            <a:stCxn id="484" idx="1"/>
            <a:endCxn id="485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51"/>
          <p:cNvCxnSpPr>
            <a:stCxn id="484" idx="7"/>
            <a:endCxn id="487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51"/>
          <p:cNvCxnSpPr>
            <a:stCxn id="488" idx="7"/>
            <a:endCxn id="484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51"/>
          <p:cNvCxnSpPr>
            <a:stCxn id="490" idx="1"/>
            <a:endCxn id="484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51"/>
          <p:cNvCxnSpPr>
            <a:stCxn id="486" idx="2"/>
            <a:endCxn id="485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51"/>
          <p:cNvCxnSpPr>
            <a:stCxn id="485" idx="3"/>
            <a:endCxn id="491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51"/>
          <p:cNvCxnSpPr>
            <a:stCxn id="486" idx="3"/>
            <a:endCxn id="491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51"/>
          <p:cNvCxnSpPr>
            <a:stCxn id="486" idx="3"/>
            <a:endCxn id="488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51"/>
          <p:cNvCxnSpPr>
            <a:stCxn id="491" idx="4"/>
            <a:endCxn id="488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51"/>
          <p:cNvCxnSpPr>
            <a:stCxn id="485" idx="5"/>
            <a:endCxn id="488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51"/>
          <p:cNvCxnSpPr>
            <a:stCxn id="492" idx="3"/>
            <a:endCxn id="488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51"/>
          <p:cNvCxnSpPr>
            <a:stCxn id="489" idx="2"/>
            <a:endCxn id="488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51"/>
          <p:cNvCxnSpPr>
            <a:stCxn id="490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51"/>
          <p:cNvCxnSpPr>
            <a:stCxn id="492" idx="4"/>
            <a:endCxn id="490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</a:t>
            </a:r>
            <a:endParaRPr/>
          </a:p>
        </p:txBody>
      </p:sp>
      <p:sp>
        <p:nvSpPr>
          <p:cNvPr id="516" name="Google Shape;516;p52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Size</a:t>
            </a:r>
            <a:r>
              <a:rPr lang="en"/>
              <a:t> 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ego-alter 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Effective Size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 of ego-network net of alter-alter 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Composition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Proportion of certain types of alters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Diversity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Variation in alter attributes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Homophily/Heterophily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Ties to alters same/different from ego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Clustering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of the alter-alter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2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18" name="Google Shape;518;p52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19" name="Google Shape;519;p52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0" name="Google Shape;520;p52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1" name="Google Shape;521;p52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2" name="Google Shape;522;p52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3" name="Google Shape;523;p52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4" name="Google Shape;524;p52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5" name="Google Shape;525;p52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26" name="Google Shape;526;p52"/>
          <p:cNvCxnSpPr>
            <a:stCxn id="519" idx="4"/>
            <a:endCxn id="517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52"/>
          <p:cNvCxnSpPr>
            <a:stCxn id="522" idx="0"/>
            <a:endCxn id="517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52"/>
          <p:cNvCxnSpPr>
            <a:stCxn id="524" idx="6"/>
            <a:endCxn id="517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52"/>
          <p:cNvCxnSpPr>
            <a:stCxn id="525" idx="2"/>
            <a:endCxn id="517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52"/>
          <p:cNvCxnSpPr>
            <a:stCxn id="517" idx="1"/>
            <a:endCxn id="518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2"/>
          <p:cNvCxnSpPr>
            <a:stCxn id="517" idx="7"/>
            <a:endCxn id="520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52"/>
          <p:cNvCxnSpPr>
            <a:stCxn id="521" idx="7"/>
            <a:endCxn id="517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52"/>
          <p:cNvCxnSpPr>
            <a:stCxn id="523" idx="1"/>
            <a:endCxn id="517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52"/>
          <p:cNvCxnSpPr>
            <a:stCxn id="519" idx="2"/>
            <a:endCxn id="518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52"/>
          <p:cNvCxnSpPr>
            <a:stCxn id="518" idx="3"/>
            <a:endCxn id="524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52"/>
          <p:cNvCxnSpPr>
            <a:stCxn id="519" idx="3"/>
            <a:endCxn id="524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2"/>
          <p:cNvCxnSpPr>
            <a:stCxn id="519" idx="3"/>
            <a:endCxn id="521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2"/>
          <p:cNvCxnSpPr>
            <a:stCxn id="524" idx="4"/>
            <a:endCxn id="521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52"/>
          <p:cNvCxnSpPr>
            <a:stCxn id="518" idx="5"/>
            <a:endCxn id="521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52"/>
          <p:cNvCxnSpPr>
            <a:stCxn id="525" idx="3"/>
            <a:endCxn id="521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52"/>
          <p:cNvCxnSpPr>
            <a:stCxn id="522" idx="2"/>
            <a:endCxn id="521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52"/>
          <p:cNvCxnSpPr>
            <a:stCxn id="523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52"/>
          <p:cNvCxnSpPr>
            <a:stCxn id="525" idx="4"/>
            <a:endCxn id="523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</a:t>
            </a:r>
            <a:endParaRPr/>
          </a:p>
        </p:txBody>
      </p:sp>
      <p:graphicFrame>
        <p:nvGraphicFramePr>
          <p:cNvPr id="549" name="Google Shape;549;p53"/>
          <p:cNvGraphicFramePr/>
          <p:nvPr/>
        </p:nvGraphicFramePr>
        <p:xfrm>
          <a:off x="500600" y="125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047025"/>
                <a:gridCol w="2047025"/>
                <a:gridCol w="2047025"/>
                <a:gridCol w="2047025"/>
              </a:tblGrid>
              <a:tr h="44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Measure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Ego-alter ties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Alter-Alter Ties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Attributes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44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Size</a:t>
                      </a:r>
                      <a:endParaRPr i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44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Effective Size</a:t>
                      </a:r>
                      <a:endParaRPr i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/>
                </a:tc>
              </a:tr>
              <a:tr h="44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Diversity</a:t>
                      </a:r>
                      <a:endParaRPr i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Homophily</a:t>
                      </a:r>
                      <a:endParaRPr i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Composition</a:t>
                      </a:r>
                      <a:endParaRPr i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Clustering</a:t>
                      </a:r>
                      <a:endParaRPr i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Size</a:t>
            </a:r>
            <a:endParaRPr/>
          </a:p>
        </p:txBody>
      </p:sp>
      <p:sp>
        <p:nvSpPr>
          <p:cNvPr id="555" name="Google Shape;555;p54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your ego network is </a:t>
            </a:r>
            <a:r>
              <a:rPr b="1" lang="en"/>
              <a:t>large </a:t>
            </a:r>
            <a:r>
              <a:rPr lang="en"/>
              <a:t>or </a:t>
            </a:r>
            <a:r>
              <a:rPr b="1" lang="en"/>
              <a:t>small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ego-alter-ties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4"/>
          <p:cNvSpPr/>
          <p:nvPr/>
        </p:nvSpPr>
        <p:spPr>
          <a:xfrm>
            <a:off x="917098" y="33900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57" name="Google Shape;557;p54"/>
          <p:cNvSpPr/>
          <p:nvPr/>
        </p:nvSpPr>
        <p:spPr>
          <a:xfrm>
            <a:off x="100086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58" name="Google Shape;558;p54"/>
          <p:cNvSpPr/>
          <p:nvPr/>
        </p:nvSpPr>
        <p:spPr>
          <a:xfrm>
            <a:off x="1612587" y="2992893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59" name="Google Shape;559;p54"/>
          <p:cNvSpPr/>
          <p:nvPr/>
        </p:nvSpPr>
        <p:spPr>
          <a:xfrm>
            <a:off x="347499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0" name="Google Shape;560;p54"/>
          <p:cNvSpPr/>
          <p:nvPr/>
        </p:nvSpPr>
        <p:spPr>
          <a:xfrm>
            <a:off x="1011313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1" name="Google Shape;561;p54"/>
          <p:cNvSpPr/>
          <p:nvPr/>
        </p:nvSpPr>
        <p:spPr>
          <a:xfrm>
            <a:off x="1612587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2" name="Google Shape;562;p54"/>
          <p:cNvSpPr/>
          <p:nvPr/>
        </p:nvSpPr>
        <p:spPr>
          <a:xfrm>
            <a:off x="237200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3" name="Google Shape;563;p54"/>
          <p:cNvSpPr/>
          <p:nvPr/>
        </p:nvSpPr>
        <p:spPr>
          <a:xfrm>
            <a:off x="1764516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64" name="Google Shape;564;p54"/>
          <p:cNvCxnSpPr>
            <a:stCxn id="557" idx="4"/>
            <a:endCxn id="556" idx="0"/>
          </p:cNvCxnSpPr>
          <p:nvPr/>
        </p:nvCxnSpPr>
        <p:spPr>
          <a:xfrm>
            <a:off x="116811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54"/>
          <p:cNvCxnSpPr>
            <a:stCxn id="560" idx="0"/>
            <a:endCxn id="556" idx="4"/>
          </p:cNvCxnSpPr>
          <p:nvPr/>
        </p:nvCxnSpPr>
        <p:spPr>
          <a:xfrm rot="10800000">
            <a:off x="1168663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54"/>
          <p:cNvCxnSpPr>
            <a:stCxn id="562" idx="6"/>
            <a:endCxn id="556" idx="2"/>
          </p:cNvCxnSpPr>
          <p:nvPr/>
        </p:nvCxnSpPr>
        <p:spPr>
          <a:xfrm>
            <a:off x="571700" y="36434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54"/>
          <p:cNvCxnSpPr>
            <a:stCxn id="563" idx="2"/>
            <a:endCxn id="556" idx="6"/>
          </p:cNvCxnSpPr>
          <p:nvPr/>
        </p:nvCxnSpPr>
        <p:spPr>
          <a:xfrm rot="10800000">
            <a:off x="1420416" y="36434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54"/>
          <p:cNvCxnSpPr>
            <a:stCxn id="556" idx="7"/>
            <a:endCxn id="558" idx="3"/>
          </p:cNvCxnSpPr>
          <p:nvPr/>
        </p:nvCxnSpPr>
        <p:spPr>
          <a:xfrm flipH="1" rot="10800000">
            <a:off x="1346777" y="325548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54"/>
          <p:cNvCxnSpPr>
            <a:stCxn id="559" idx="7"/>
            <a:endCxn id="556" idx="3"/>
          </p:cNvCxnSpPr>
          <p:nvPr/>
        </p:nvCxnSpPr>
        <p:spPr>
          <a:xfrm flipH="1" rot="10800000">
            <a:off x="633012" y="38226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54"/>
          <p:cNvCxnSpPr>
            <a:stCxn id="561" idx="1"/>
            <a:endCxn id="556" idx="5"/>
          </p:cNvCxnSpPr>
          <p:nvPr/>
        </p:nvCxnSpPr>
        <p:spPr>
          <a:xfrm rot="10800000">
            <a:off x="1346874" y="3822662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54"/>
          <p:cNvSpPr txBox="1"/>
          <p:nvPr/>
        </p:nvSpPr>
        <p:spPr>
          <a:xfrm>
            <a:off x="6077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7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2" name="Google Shape;572;p54"/>
          <p:cNvSpPr/>
          <p:nvPr/>
        </p:nvSpPr>
        <p:spPr>
          <a:xfrm>
            <a:off x="3290817" y="3505958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3" name="Google Shape;573;p54"/>
          <p:cNvSpPr/>
          <p:nvPr/>
        </p:nvSpPr>
        <p:spPr>
          <a:xfrm>
            <a:off x="2721217" y="3108768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4" name="Google Shape;574;p54"/>
          <p:cNvSpPr/>
          <p:nvPr/>
        </p:nvSpPr>
        <p:spPr>
          <a:xfrm>
            <a:off x="3374583" y="2785701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5" name="Google Shape;575;p54"/>
          <p:cNvSpPr/>
          <p:nvPr/>
        </p:nvSpPr>
        <p:spPr>
          <a:xfrm>
            <a:off x="2721217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6" name="Google Shape;576;p54"/>
          <p:cNvSpPr/>
          <p:nvPr/>
        </p:nvSpPr>
        <p:spPr>
          <a:xfrm>
            <a:off x="3986306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7" name="Google Shape;577;p54"/>
          <p:cNvSpPr/>
          <p:nvPr/>
        </p:nvSpPr>
        <p:spPr>
          <a:xfrm>
            <a:off x="2610919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8" name="Google Shape;578;p54"/>
          <p:cNvSpPr/>
          <p:nvPr/>
        </p:nvSpPr>
        <p:spPr>
          <a:xfrm>
            <a:off x="4138235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79" name="Google Shape;579;p54"/>
          <p:cNvCxnSpPr>
            <a:stCxn id="574" idx="4"/>
            <a:endCxn id="572" idx="0"/>
          </p:cNvCxnSpPr>
          <p:nvPr/>
        </p:nvCxnSpPr>
        <p:spPr>
          <a:xfrm>
            <a:off x="3541833" y="3093201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54"/>
          <p:cNvCxnSpPr>
            <a:stCxn id="577" idx="6"/>
            <a:endCxn id="572" idx="2"/>
          </p:cNvCxnSpPr>
          <p:nvPr/>
        </p:nvCxnSpPr>
        <p:spPr>
          <a:xfrm>
            <a:off x="2945419" y="3759294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54"/>
          <p:cNvCxnSpPr>
            <a:stCxn id="578" idx="2"/>
            <a:endCxn id="572" idx="6"/>
          </p:cNvCxnSpPr>
          <p:nvPr/>
        </p:nvCxnSpPr>
        <p:spPr>
          <a:xfrm rot="10800000">
            <a:off x="3794135" y="3759294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4"/>
          <p:cNvCxnSpPr>
            <a:stCxn id="572" idx="1"/>
            <a:endCxn id="573" idx="5"/>
          </p:cNvCxnSpPr>
          <p:nvPr/>
        </p:nvCxnSpPr>
        <p:spPr>
          <a:xfrm rot="10800000">
            <a:off x="3006638" y="33713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54"/>
          <p:cNvCxnSpPr>
            <a:stCxn id="575" idx="7"/>
            <a:endCxn id="572" idx="3"/>
          </p:cNvCxnSpPr>
          <p:nvPr/>
        </p:nvCxnSpPr>
        <p:spPr>
          <a:xfrm flipH="1" rot="10800000">
            <a:off x="3006731" y="3938537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54"/>
          <p:cNvCxnSpPr>
            <a:stCxn id="576" idx="1"/>
            <a:endCxn id="572" idx="5"/>
          </p:cNvCxnSpPr>
          <p:nvPr/>
        </p:nvCxnSpPr>
        <p:spPr>
          <a:xfrm rot="10800000">
            <a:off x="3720592" y="393853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54"/>
          <p:cNvSpPr txBox="1"/>
          <p:nvPr/>
        </p:nvSpPr>
        <p:spPr>
          <a:xfrm>
            <a:off x="2842000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6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6" name="Google Shape;586;p54"/>
          <p:cNvSpPr/>
          <p:nvPr/>
        </p:nvSpPr>
        <p:spPr>
          <a:xfrm>
            <a:off x="5327437" y="33900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7" name="Google Shape;587;p54"/>
          <p:cNvSpPr/>
          <p:nvPr/>
        </p:nvSpPr>
        <p:spPr>
          <a:xfrm>
            <a:off x="541120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8" name="Google Shape;588;p54"/>
          <p:cNvSpPr/>
          <p:nvPr/>
        </p:nvSpPr>
        <p:spPr>
          <a:xfrm>
            <a:off x="5421652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89" name="Google Shape;589;p54"/>
          <p:cNvCxnSpPr>
            <a:stCxn id="587" idx="4"/>
            <a:endCxn id="586" idx="0"/>
          </p:cNvCxnSpPr>
          <p:nvPr/>
        </p:nvCxnSpPr>
        <p:spPr>
          <a:xfrm>
            <a:off x="557845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54"/>
          <p:cNvCxnSpPr>
            <a:stCxn id="588" idx="0"/>
            <a:endCxn id="586" idx="4"/>
          </p:cNvCxnSpPr>
          <p:nvPr/>
        </p:nvCxnSpPr>
        <p:spPr>
          <a:xfrm rot="10800000">
            <a:off x="5579002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54"/>
          <p:cNvSpPr txBox="1"/>
          <p:nvPr/>
        </p:nvSpPr>
        <p:spPr>
          <a:xfrm>
            <a:off x="503787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2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7534547" y="34223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3" name="Google Shape;593;p54"/>
          <p:cNvSpPr/>
          <p:nvPr/>
        </p:nvSpPr>
        <p:spPr>
          <a:xfrm>
            <a:off x="7618314" y="27021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4" name="Google Shape;594;p54"/>
          <p:cNvSpPr/>
          <p:nvPr/>
        </p:nvSpPr>
        <p:spPr>
          <a:xfrm>
            <a:off x="7628762" y="43563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5" name="Google Shape;595;p54"/>
          <p:cNvSpPr/>
          <p:nvPr/>
        </p:nvSpPr>
        <p:spPr>
          <a:xfrm>
            <a:off x="6854649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6" name="Google Shape;596;p54"/>
          <p:cNvSpPr/>
          <p:nvPr/>
        </p:nvSpPr>
        <p:spPr>
          <a:xfrm>
            <a:off x="8381965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97" name="Google Shape;597;p54"/>
          <p:cNvCxnSpPr>
            <a:stCxn id="593" idx="4"/>
            <a:endCxn id="592" idx="0"/>
          </p:cNvCxnSpPr>
          <p:nvPr/>
        </p:nvCxnSpPr>
        <p:spPr>
          <a:xfrm>
            <a:off x="7785564" y="30096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54"/>
          <p:cNvCxnSpPr>
            <a:stCxn id="594" idx="0"/>
            <a:endCxn id="592" idx="4"/>
          </p:cNvCxnSpPr>
          <p:nvPr/>
        </p:nvCxnSpPr>
        <p:spPr>
          <a:xfrm rot="10800000">
            <a:off x="7786112" y="39291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54"/>
          <p:cNvCxnSpPr>
            <a:stCxn id="595" idx="6"/>
            <a:endCxn id="592" idx="2"/>
          </p:cNvCxnSpPr>
          <p:nvPr/>
        </p:nvCxnSpPr>
        <p:spPr>
          <a:xfrm>
            <a:off x="7189149" y="36757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54"/>
          <p:cNvCxnSpPr>
            <a:stCxn id="596" idx="2"/>
            <a:endCxn id="592" idx="6"/>
          </p:cNvCxnSpPr>
          <p:nvPr/>
        </p:nvCxnSpPr>
        <p:spPr>
          <a:xfrm rot="10800000">
            <a:off x="8037865" y="36757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" name="Google Shape;601;p54"/>
          <p:cNvSpPr txBox="1"/>
          <p:nvPr/>
        </p:nvSpPr>
        <p:spPr>
          <a:xfrm>
            <a:off x="72938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4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Size</a:t>
            </a:r>
            <a:endParaRPr/>
          </a:p>
        </p:txBody>
      </p:sp>
      <p:sp>
        <p:nvSpPr>
          <p:cNvPr id="607" name="Google Shape;607;p55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your ego network is </a:t>
            </a:r>
            <a:r>
              <a:rPr b="1" lang="en">
                <a:solidFill>
                  <a:srgbClr val="9900FF"/>
                </a:solidFill>
              </a:rPr>
              <a:t>large</a:t>
            </a:r>
            <a:r>
              <a:rPr b="1" lang="en"/>
              <a:t> </a:t>
            </a:r>
            <a:r>
              <a:rPr lang="en"/>
              <a:t>or </a:t>
            </a:r>
            <a:r>
              <a:rPr b="1" lang="en">
                <a:solidFill>
                  <a:srgbClr val="FF0000"/>
                </a:solidFill>
              </a:rPr>
              <a:t>small</a:t>
            </a:r>
            <a:endParaRPr b="1">
              <a:solidFill>
                <a:srgbClr val="FF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ego-alter-ties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5"/>
          <p:cNvSpPr txBox="1"/>
          <p:nvPr/>
        </p:nvSpPr>
        <p:spPr>
          <a:xfrm>
            <a:off x="6077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7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09" name="Google Shape;609;p55"/>
          <p:cNvSpPr txBox="1"/>
          <p:nvPr/>
        </p:nvSpPr>
        <p:spPr>
          <a:xfrm>
            <a:off x="2842000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6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0" name="Google Shape;610;p55"/>
          <p:cNvSpPr txBox="1"/>
          <p:nvPr/>
        </p:nvSpPr>
        <p:spPr>
          <a:xfrm>
            <a:off x="503787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2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1" name="Google Shape;611;p55"/>
          <p:cNvSpPr txBox="1"/>
          <p:nvPr/>
        </p:nvSpPr>
        <p:spPr>
          <a:xfrm>
            <a:off x="72938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4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2" name="Google Shape;612;p55"/>
          <p:cNvSpPr/>
          <p:nvPr/>
        </p:nvSpPr>
        <p:spPr>
          <a:xfrm>
            <a:off x="917098" y="3390083"/>
            <a:ext cx="503400" cy="506700"/>
          </a:xfrm>
          <a:prstGeom prst="ellipse">
            <a:avLst/>
          </a:prstGeom>
          <a:solidFill>
            <a:srgbClr val="9900FF"/>
          </a:solidFill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3" name="Google Shape;613;p55"/>
          <p:cNvSpPr/>
          <p:nvPr/>
        </p:nvSpPr>
        <p:spPr>
          <a:xfrm>
            <a:off x="100086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4" name="Google Shape;614;p55"/>
          <p:cNvSpPr/>
          <p:nvPr/>
        </p:nvSpPr>
        <p:spPr>
          <a:xfrm>
            <a:off x="1612587" y="2992893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347499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6" name="Google Shape;616;p55"/>
          <p:cNvSpPr/>
          <p:nvPr/>
        </p:nvSpPr>
        <p:spPr>
          <a:xfrm>
            <a:off x="1011313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7" name="Google Shape;617;p55"/>
          <p:cNvSpPr/>
          <p:nvPr/>
        </p:nvSpPr>
        <p:spPr>
          <a:xfrm>
            <a:off x="1612587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237200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9" name="Google Shape;619;p55"/>
          <p:cNvSpPr/>
          <p:nvPr/>
        </p:nvSpPr>
        <p:spPr>
          <a:xfrm>
            <a:off x="1764516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20" name="Google Shape;620;p55"/>
          <p:cNvCxnSpPr>
            <a:stCxn id="613" idx="4"/>
            <a:endCxn id="612" idx="0"/>
          </p:cNvCxnSpPr>
          <p:nvPr/>
        </p:nvCxnSpPr>
        <p:spPr>
          <a:xfrm>
            <a:off x="116811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55"/>
          <p:cNvCxnSpPr>
            <a:stCxn id="616" idx="0"/>
            <a:endCxn id="612" idx="4"/>
          </p:cNvCxnSpPr>
          <p:nvPr/>
        </p:nvCxnSpPr>
        <p:spPr>
          <a:xfrm rot="10800000">
            <a:off x="1168663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55"/>
          <p:cNvCxnSpPr>
            <a:stCxn id="618" idx="6"/>
            <a:endCxn id="612" idx="2"/>
          </p:cNvCxnSpPr>
          <p:nvPr/>
        </p:nvCxnSpPr>
        <p:spPr>
          <a:xfrm>
            <a:off x="571700" y="36434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55"/>
          <p:cNvCxnSpPr>
            <a:stCxn id="619" idx="2"/>
            <a:endCxn id="612" idx="6"/>
          </p:cNvCxnSpPr>
          <p:nvPr/>
        </p:nvCxnSpPr>
        <p:spPr>
          <a:xfrm rot="10800000">
            <a:off x="1420416" y="36434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55"/>
          <p:cNvCxnSpPr>
            <a:stCxn id="612" idx="7"/>
            <a:endCxn id="614" idx="3"/>
          </p:cNvCxnSpPr>
          <p:nvPr/>
        </p:nvCxnSpPr>
        <p:spPr>
          <a:xfrm flipH="1" rot="10800000">
            <a:off x="1346777" y="325548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55"/>
          <p:cNvCxnSpPr>
            <a:stCxn id="615" idx="7"/>
            <a:endCxn id="612" idx="3"/>
          </p:cNvCxnSpPr>
          <p:nvPr/>
        </p:nvCxnSpPr>
        <p:spPr>
          <a:xfrm flipH="1" rot="10800000">
            <a:off x="633012" y="38226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55"/>
          <p:cNvCxnSpPr>
            <a:stCxn id="617" idx="1"/>
            <a:endCxn id="612" idx="5"/>
          </p:cNvCxnSpPr>
          <p:nvPr/>
        </p:nvCxnSpPr>
        <p:spPr>
          <a:xfrm rot="10800000">
            <a:off x="1346874" y="3822662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55"/>
          <p:cNvSpPr/>
          <p:nvPr/>
        </p:nvSpPr>
        <p:spPr>
          <a:xfrm>
            <a:off x="3290817" y="3505958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8" name="Google Shape;628;p55"/>
          <p:cNvSpPr/>
          <p:nvPr/>
        </p:nvSpPr>
        <p:spPr>
          <a:xfrm>
            <a:off x="2721217" y="3108768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9" name="Google Shape;629;p55"/>
          <p:cNvSpPr/>
          <p:nvPr/>
        </p:nvSpPr>
        <p:spPr>
          <a:xfrm>
            <a:off x="3374583" y="2785701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0" name="Google Shape;630;p55"/>
          <p:cNvSpPr/>
          <p:nvPr/>
        </p:nvSpPr>
        <p:spPr>
          <a:xfrm>
            <a:off x="2721217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1" name="Google Shape;631;p55"/>
          <p:cNvSpPr/>
          <p:nvPr/>
        </p:nvSpPr>
        <p:spPr>
          <a:xfrm>
            <a:off x="3986306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2" name="Google Shape;632;p55"/>
          <p:cNvSpPr/>
          <p:nvPr/>
        </p:nvSpPr>
        <p:spPr>
          <a:xfrm>
            <a:off x="2610919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3" name="Google Shape;633;p55"/>
          <p:cNvSpPr/>
          <p:nvPr/>
        </p:nvSpPr>
        <p:spPr>
          <a:xfrm>
            <a:off x="4138235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34" name="Google Shape;634;p55"/>
          <p:cNvCxnSpPr>
            <a:stCxn id="629" idx="4"/>
            <a:endCxn id="627" idx="0"/>
          </p:cNvCxnSpPr>
          <p:nvPr/>
        </p:nvCxnSpPr>
        <p:spPr>
          <a:xfrm>
            <a:off x="3541833" y="3093201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55"/>
          <p:cNvCxnSpPr>
            <a:stCxn id="632" idx="6"/>
            <a:endCxn id="627" idx="2"/>
          </p:cNvCxnSpPr>
          <p:nvPr/>
        </p:nvCxnSpPr>
        <p:spPr>
          <a:xfrm>
            <a:off x="2945419" y="3759294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55"/>
          <p:cNvCxnSpPr>
            <a:stCxn id="633" idx="2"/>
            <a:endCxn id="627" idx="6"/>
          </p:cNvCxnSpPr>
          <p:nvPr/>
        </p:nvCxnSpPr>
        <p:spPr>
          <a:xfrm rot="10800000">
            <a:off x="3794135" y="3759294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55"/>
          <p:cNvCxnSpPr>
            <a:stCxn id="627" idx="1"/>
            <a:endCxn id="628" idx="5"/>
          </p:cNvCxnSpPr>
          <p:nvPr/>
        </p:nvCxnSpPr>
        <p:spPr>
          <a:xfrm rot="10800000">
            <a:off x="3006638" y="33713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55"/>
          <p:cNvCxnSpPr>
            <a:stCxn id="630" idx="7"/>
            <a:endCxn id="627" idx="3"/>
          </p:cNvCxnSpPr>
          <p:nvPr/>
        </p:nvCxnSpPr>
        <p:spPr>
          <a:xfrm flipH="1" rot="10800000">
            <a:off x="3006731" y="3938537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55"/>
          <p:cNvCxnSpPr>
            <a:stCxn id="631" idx="1"/>
            <a:endCxn id="627" idx="5"/>
          </p:cNvCxnSpPr>
          <p:nvPr/>
        </p:nvCxnSpPr>
        <p:spPr>
          <a:xfrm rot="10800000">
            <a:off x="3720592" y="393853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55"/>
          <p:cNvSpPr/>
          <p:nvPr/>
        </p:nvSpPr>
        <p:spPr>
          <a:xfrm>
            <a:off x="5327437" y="3390083"/>
            <a:ext cx="503400" cy="5067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1" name="Google Shape;641;p55"/>
          <p:cNvSpPr/>
          <p:nvPr/>
        </p:nvSpPr>
        <p:spPr>
          <a:xfrm>
            <a:off x="541120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2" name="Google Shape;642;p55"/>
          <p:cNvSpPr/>
          <p:nvPr/>
        </p:nvSpPr>
        <p:spPr>
          <a:xfrm>
            <a:off x="5421652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43" name="Google Shape;643;p55"/>
          <p:cNvCxnSpPr>
            <a:stCxn id="641" idx="4"/>
            <a:endCxn id="640" idx="0"/>
          </p:cNvCxnSpPr>
          <p:nvPr/>
        </p:nvCxnSpPr>
        <p:spPr>
          <a:xfrm>
            <a:off x="557845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55"/>
          <p:cNvCxnSpPr>
            <a:stCxn id="642" idx="0"/>
            <a:endCxn id="640" idx="4"/>
          </p:cNvCxnSpPr>
          <p:nvPr/>
        </p:nvCxnSpPr>
        <p:spPr>
          <a:xfrm rot="10800000">
            <a:off x="5579002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5" name="Google Shape;645;p55"/>
          <p:cNvSpPr/>
          <p:nvPr/>
        </p:nvSpPr>
        <p:spPr>
          <a:xfrm>
            <a:off x="7534547" y="34223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6" name="Google Shape;646;p55"/>
          <p:cNvSpPr/>
          <p:nvPr/>
        </p:nvSpPr>
        <p:spPr>
          <a:xfrm>
            <a:off x="7618314" y="27021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7" name="Google Shape;647;p55"/>
          <p:cNvSpPr/>
          <p:nvPr/>
        </p:nvSpPr>
        <p:spPr>
          <a:xfrm>
            <a:off x="7628762" y="43563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8" name="Google Shape;648;p55"/>
          <p:cNvSpPr/>
          <p:nvPr/>
        </p:nvSpPr>
        <p:spPr>
          <a:xfrm>
            <a:off x="6854649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9" name="Google Shape;649;p55"/>
          <p:cNvSpPr/>
          <p:nvPr/>
        </p:nvSpPr>
        <p:spPr>
          <a:xfrm>
            <a:off x="8381965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50" name="Google Shape;650;p55"/>
          <p:cNvCxnSpPr>
            <a:stCxn id="646" idx="4"/>
            <a:endCxn id="645" idx="0"/>
          </p:cNvCxnSpPr>
          <p:nvPr/>
        </p:nvCxnSpPr>
        <p:spPr>
          <a:xfrm>
            <a:off x="7785564" y="30096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5"/>
          <p:cNvCxnSpPr>
            <a:stCxn id="647" idx="0"/>
            <a:endCxn id="645" idx="4"/>
          </p:cNvCxnSpPr>
          <p:nvPr/>
        </p:nvCxnSpPr>
        <p:spPr>
          <a:xfrm rot="10800000">
            <a:off x="7786112" y="39291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55"/>
          <p:cNvCxnSpPr>
            <a:stCxn id="648" idx="6"/>
            <a:endCxn id="645" idx="2"/>
          </p:cNvCxnSpPr>
          <p:nvPr/>
        </p:nvCxnSpPr>
        <p:spPr>
          <a:xfrm>
            <a:off x="7189149" y="36757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55"/>
          <p:cNvCxnSpPr>
            <a:stCxn id="649" idx="2"/>
            <a:endCxn id="645" idx="6"/>
          </p:cNvCxnSpPr>
          <p:nvPr/>
        </p:nvCxnSpPr>
        <p:spPr>
          <a:xfrm rot="10800000">
            <a:off x="8037865" y="36757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Effective Size (ES)</a:t>
            </a:r>
            <a:endParaRPr/>
          </a:p>
        </p:txBody>
      </p:sp>
      <p:sp>
        <p:nvSpPr>
          <p:cNvPr id="659" name="Google Shape;659;p56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your ego network is </a:t>
            </a:r>
            <a:r>
              <a:rPr b="1" lang="en">
                <a:solidFill>
                  <a:srgbClr val="9900FF"/>
                </a:solidFill>
              </a:rPr>
              <a:t>large</a:t>
            </a:r>
            <a:r>
              <a:rPr b="1" lang="en"/>
              <a:t> </a:t>
            </a:r>
            <a:r>
              <a:rPr lang="en"/>
              <a:t>or </a:t>
            </a:r>
            <a:r>
              <a:rPr b="1" lang="en">
                <a:solidFill>
                  <a:srgbClr val="FF0000"/>
                </a:solidFill>
              </a:rPr>
              <a:t>small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</a:t>
            </a:r>
            <a:r>
              <a:rPr b="1" lang="en"/>
              <a:t>discounts</a:t>
            </a:r>
            <a:r>
              <a:rPr lang="en"/>
              <a:t> alters if they are connected to one another as </a:t>
            </a:r>
            <a:r>
              <a:rPr b="1" lang="en"/>
              <a:t>redundant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</a:t>
            </a:r>
            <a:r>
              <a:rPr b="1" lang="en"/>
              <a:t>ego-network size</a:t>
            </a:r>
            <a:r>
              <a:rPr lang="en"/>
              <a:t> minus the </a:t>
            </a:r>
            <a:r>
              <a:rPr b="1" lang="en"/>
              <a:t>average degree</a:t>
            </a:r>
            <a:r>
              <a:rPr lang="en"/>
              <a:t> of the alter-alter subgraph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6"/>
          <p:cNvSpPr/>
          <p:nvPr/>
        </p:nvSpPr>
        <p:spPr>
          <a:xfrm>
            <a:off x="1010074" y="3473262"/>
            <a:ext cx="493200" cy="492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1" name="Google Shape;661;p56"/>
          <p:cNvSpPr/>
          <p:nvPr/>
        </p:nvSpPr>
        <p:spPr>
          <a:xfrm>
            <a:off x="450663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2" name="Google Shape;662;p56"/>
          <p:cNvSpPr/>
          <p:nvPr/>
        </p:nvSpPr>
        <p:spPr>
          <a:xfrm>
            <a:off x="1092343" y="277542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3" name="Google Shape;663;p56"/>
          <p:cNvSpPr/>
          <p:nvPr/>
        </p:nvSpPr>
        <p:spPr>
          <a:xfrm>
            <a:off x="1693124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4" name="Google Shape;664;p56"/>
          <p:cNvSpPr/>
          <p:nvPr/>
        </p:nvSpPr>
        <p:spPr>
          <a:xfrm>
            <a:off x="450663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5" name="Google Shape;665;p56"/>
          <p:cNvSpPr/>
          <p:nvPr/>
        </p:nvSpPr>
        <p:spPr>
          <a:xfrm>
            <a:off x="1842335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6" name="Google Shape;666;p56"/>
          <p:cNvSpPr/>
          <p:nvPr/>
        </p:nvSpPr>
        <p:spPr>
          <a:xfrm>
            <a:off x="1693124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7" name="Google Shape;667;p56"/>
          <p:cNvSpPr/>
          <p:nvPr/>
        </p:nvSpPr>
        <p:spPr>
          <a:xfrm>
            <a:off x="342338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68" name="Google Shape;668;p56"/>
          <p:cNvCxnSpPr>
            <a:stCxn id="662" idx="4"/>
            <a:endCxn id="660" idx="0"/>
          </p:cNvCxnSpPr>
          <p:nvPr/>
        </p:nvCxnSpPr>
        <p:spPr>
          <a:xfrm>
            <a:off x="1256743" y="307452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56"/>
          <p:cNvSpPr/>
          <p:nvPr/>
        </p:nvSpPr>
        <p:spPr>
          <a:xfrm>
            <a:off x="1102604" y="4378177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70" name="Google Shape;670;p56"/>
          <p:cNvCxnSpPr>
            <a:stCxn id="669" idx="0"/>
            <a:endCxn id="660" idx="4"/>
          </p:cNvCxnSpPr>
          <p:nvPr/>
        </p:nvCxnSpPr>
        <p:spPr>
          <a:xfrm rot="10800000">
            <a:off x="1256804" y="3965377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56"/>
          <p:cNvCxnSpPr>
            <a:stCxn id="667" idx="6"/>
            <a:endCxn id="660" idx="2"/>
          </p:cNvCxnSpPr>
          <p:nvPr/>
        </p:nvCxnSpPr>
        <p:spPr>
          <a:xfrm>
            <a:off x="671138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56"/>
          <p:cNvCxnSpPr>
            <a:stCxn id="665" idx="2"/>
            <a:endCxn id="660" idx="6"/>
          </p:cNvCxnSpPr>
          <p:nvPr/>
        </p:nvCxnSpPr>
        <p:spPr>
          <a:xfrm rot="10800000">
            <a:off x="1503335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56"/>
          <p:cNvCxnSpPr>
            <a:stCxn id="660" idx="1"/>
            <a:endCxn id="661" idx="5"/>
          </p:cNvCxnSpPr>
          <p:nvPr/>
        </p:nvCxnSpPr>
        <p:spPr>
          <a:xfrm rot="10800000">
            <a:off x="731302" y="334371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56"/>
          <p:cNvCxnSpPr>
            <a:stCxn id="660" idx="7"/>
            <a:endCxn id="663" idx="3"/>
          </p:cNvCxnSpPr>
          <p:nvPr/>
        </p:nvCxnSpPr>
        <p:spPr>
          <a:xfrm flipH="1" rot="10800000">
            <a:off x="1431047" y="334371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56"/>
          <p:cNvCxnSpPr>
            <a:stCxn id="664" idx="7"/>
            <a:endCxn id="660" idx="3"/>
          </p:cNvCxnSpPr>
          <p:nvPr/>
        </p:nvCxnSpPr>
        <p:spPr>
          <a:xfrm flipH="1" rot="10800000">
            <a:off x="731312" y="389324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6"/>
          <p:cNvCxnSpPr>
            <a:stCxn id="666" idx="1"/>
            <a:endCxn id="660" idx="5"/>
          </p:cNvCxnSpPr>
          <p:nvPr/>
        </p:nvCxnSpPr>
        <p:spPr>
          <a:xfrm rot="10800000">
            <a:off x="1431075" y="389324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56"/>
          <p:cNvCxnSpPr>
            <a:stCxn id="662" idx="2"/>
            <a:endCxn id="661" idx="0"/>
          </p:cNvCxnSpPr>
          <p:nvPr/>
        </p:nvCxnSpPr>
        <p:spPr>
          <a:xfrm flipH="1">
            <a:off x="615043" y="2924976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56"/>
          <p:cNvCxnSpPr>
            <a:stCxn id="661" idx="3"/>
            <a:endCxn id="667" idx="0"/>
          </p:cNvCxnSpPr>
          <p:nvPr/>
        </p:nvCxnSpPr>
        <p:spPr>
          <a:xfrm>
            <a:off x="498815" y="3343734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56"/>
          <p:cNvCxnSpPr>
            <a:stCxn id="662" idx="3"/>
            <a:endCxn id="667" idx="7"/>
          </p:cNvCxnSpPr>
          <p:nvPr/>
        </p:nvCxnSpPr>
        <p:spPr>
          <a:xfrm flipH="1">
            <a:off x="622994" y="3030723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56"/>
          <p:cNvCxnSpPr>
            <a:stCxn id="662" idx="3"/>
            <a:endCxn id="664" idx="0"/>
          </p:cNvCxnSpPr>
          <p:nvPr/>
        </p:nvCxnSpPr>
        <p:spPr>
          <a:xfrm flipH="1">
            <a:off x="615194" y="3030723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56"/>
          <p:cNvCxnSpPr>
            <a:stCxn id="667" idx="4"/>
            <a:endCxn id="664" idx="0"/>
          </p:cNvCxnSpPr>
          <p:nvPr/>
        </p:nvCxnSpPr>
        <p:spPr>
          <a:xfrm>
            <a:off x="506738" y="3868848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56"/>
          <p:cNvCxnSpPr>
            <a:stCxn id="661" idx="5"/>
            <a:endCxn id="664" idx="7"/>
          </p:cNvCxnSpPr>
          <p:nvPr/>
        </p:nvCxnSpPr>
        <p:spPr>
          <a:xfrm>
            <a:off x="731312" y="3343734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56"/>
          <p:cNvCxnSpPr>
            <a:stCxn id="665" idx="3"/>
            <a:endCxn id="664" idx="6"/>
          </p:cNvCxnSpPr>
          <p:nvPr/>
        </p:nvCxnSpPr>
        <p:spPr>
          <a:xfrm flipH="1">
            <a:off x="779586" y="3825046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56"/>
          <p:cNvCxnSpPr>
            <a:stCxn id="669" idx="2"/>
            <a:endCxn id="664" idx="5"/>
          </p:cNvCxnSpPr>
          <p:nvPr/>
        </p:nvCxnSpPr>
        <p:spPr>
          <a:xfrm rot="10800000">
            <a:off x="731204" y="4306327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56"/>
          <p:cNvCxnSpPr>
            <a:stCxn id="666" idx="3"/>
          </p:cNvCxnSpPr>
          <p:nvPr/>
        </p:nvCxnSpPr>
        <p:spPr>
          <a:xfrm flipH="1">
            <a:off x="1430475" y="4306343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56"/>
          <p:cNvCxnSpPr>
            <a:stCxn id="665" idx="4"/>
            <a:endCxn id="666" idx="7"/>
          </p:cNvCxnSpPr>
          <p:nvPr/>
        </p:nvCxnSpPr>
        <p:spPr>
          <a:xfrm flipH="1">
            <a:off x="1973735" y="3868848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56"/>
          <p:cNvSpPr/>
          <p:nvPr/>
        </p:nvSpPr>
        <p:spPr>
          <a:xfrm>
            <a:off x="3234037" y="35078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8" name="Google Shape;688;p56"/>
          <p:cNvSpPr/>
          <p:nvPr/>
        </p:nvSpPr>
        <p:spPr>
          <a:xfrm>
            <a:off x="267462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9" name="Google Shape;689;p56"/>
          <p:cNvSpPr/>
          <p:nvPr/>
        </p:nvSpPr>
        <p:spPr>
          <a:xfrm>
            <a:off x="3316305" y="28100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0" name="Google Shape;690;p56"/>
          <p:cNvSpPr/>
          <p:nvPr/>
        </p:nvSpPr>
        <p:spPr>
          <a:xfrm>
            <a:off x="391708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1" name="Google Shape;691;p56"/>
          <p:cNvSpPr/>
          <p:nvPr/>
        </p:nvSpPr>
        <p:spPr>
          <a:xfrm>
            <a:off x="267462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2" name="Google Shape;692;p56"/>
          <p:cNvSpPr/>
          <p:nvPr/>
        </p:nvSpPr>
        <p:spPr>
          <a:xfrm>
            <a:off x="4066297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3" name="Google Shape;693;p56"/>
          <p:cNvSpPr/>
          <p:nvPr/>
        </p:nvSpPr>
        <p:spPr>
          <a:xfrm>
            <a:off x="391708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4" name="Google Shape;694;p56"/>
          <p:cNvSpPr/>
          <p:nvPr/>
        </p:nvSpPr>
        <p:spPr>
          <a:xfrm>
            <a:off x="2566300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95" name="Google Shape;695;p56"/>
          <p:cNvCxnSpPr>
            <a:stCxn id="689" idx="4"/>
            <a:endCxn id="687" idx="0"/>
          </p:cNvCxnSpPr>
          <p:nvPr/>
        </p:nvCxnSpPr>
        <p:spPr>
          <a:xfrm>
            <a:off x="3480705" y="31091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56"/>
          <p:cNvSpPr/>
          <p:nvPr/>
        </p:nvSpPr>
        <p:spPr>
          <a:xfrm>
            <a:off x="3326567" y="44128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97" name="Google Shape;697;p56"/>
          <p:cNvCxnSpPr>
            <a:stCxn id="696" idx="0"/>
            <a:endCxn id="687" idx="4"/>
          </p:cNvCxnSpPr>
          <p:nvPr/>
        </p:nvCxnSpPr>
        <p:spPr>
          <a:xfrm rot="10800000">
            <a:off x="3480767" y="40000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56"/>
          <p:cNvCxnSpPr>
            <a:stCxn id="694" idx="6"/>
            <a:endCxn id="687" idx="2"/>
          </p:cNvCxnSpPr>
          <p:nvPr/>
        </p:nvCxnSpPr>
        <p:spPr>
          <a:xfrm>
            <a:off x="2895100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56"/>
          <p:cNvCxnSpPr>
            <a:stCxn id="692" idx="2"/>
            <a:endCxn id="687" idx="6"/>
          </p:cNvCxnSpPr>
          <p:nvPr/>
        </p:nvCxnSpPr>
        <p:spPr>
          <a:xfrm rot="10800000">
            <a:off x="3727297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56"/>
          <p:cNvCxnSpPr>
            <a:stCxn id="687" idx="1"/>
            <a:endCxn id="688" idx="5"/>
          </p:cNvCxnSpPr>
          <p:nvPr/>
        </p:nvCxnSpPr>
        <p:spPr>
          <a:xfrm rot="10800000">
            <a:off x="2955264" y="33783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56"/>
          <p:cNvCxnSpPr>
            <a:stCxn id="687" idx="7"/>
            <a:endCxn id="690" idx="3"/>
          </p:cNvCxnSpPr>
          <p:nvPr/>
        </p:nvCxnSpPr>
        <p:spPr>
          <a:xfrm flipH="1" rot="10800000">
            <a:off x="3655009" y="33783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56"/>
          <p:cNvCxnSpPr>
            <a:stCxn id="691" idx="7"/>
            <a:endCxn id="687" idx="3"/>
          </p:cNvCxnSpPr>
          <p:nvPr/>
        </p:nvCxnSpPr>
        <p:spPr>
          <a:xfrm flipH="1" rot="10800000">
            <a:off x="2955274" y="39278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56"/>
          <p:cNvCxnSpPr>
            <a:stCxn id="693" idx="1"/>
            <a:endCxn id="687" idx="5"/>
          </p:cNvCxnSpPr>
          <p:nvPr/>
        </p:nvCxnSpPr>
        <p:spPr>
          <a:xfrm rot="10800000">
            <a:off x="3655038" y="39278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56"/>
          <p:cNvCxnSpPr>
            <a:stCxn id="689" idx="2"/>
            <a:endCxn id="688" idx="0"/>
          </p:cNvCxnSpPr>
          <p:nvPr/>
        </p:nvCxnSpPr>
        <p:spPr>
          <a:xfrm flipH="1">
            <a:off x="2839005" y="29596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56"/>
          <p:cNvCxnSpPr>
            <a:stCxn id="688" idx="3"/>
            <a:endCxn id="694" idx="0"/>
          </p:cNvCxnSpPr>
          <p:nvPr/>
        </p:nvCxnSpPr>
        <p:spPr>
          <a:xfrm>
            <a:off x="2722777" y="33783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56"/>
          <p:cNvCxnSpPr>
            <a:stCxn id="689" idx="3"/>
            <a:endCxn id="694" idx="7"/>
          </p:cNvCxnSpPr>
          <p:nvPr/>
        </p:nvCxnSpPr>
        <p:spPr>
          <a:xfrm flipH="1">
            <a:off x="2846957" y="30653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56"/>
          <p:cNvCxnSpPr>
            <a:stCxn id="689" idx="3"/>
            <a:endCxn id="691" idx="0"/>
          </p:cNvCxnSpPr>
          <p:nvPr/>
        </p:nvCxnSpPr>
        <p:spPr>
          <a:xfrm flipH="1">
            <a:off x="2839157" y="30653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56"/>
          <p:cNvCxnSpPr>
            <a:stCxn id="694" idx="4"/>
            <a:endCxn id="691" idx="0"/>
          </p:cNvCxnSpPr>
          <p:nvPr/>
        </p:nvCxnSpPr>
        <p:spPr>
          <a:xfrm>
            <a:off x="2730700" y="39034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56"/>
          <p:cNvCxnSpPr>
            <a:stCxn id="688" idx="5"/>
            <a:endCxn id="691" idx="7"/>
          </p:cNvCxnSpPr>
          <p:nvPr/>
        </p:nvCxnSpPr>
        <p:spPr>
          <a:xfrm>
            <a:off x="2955274" y="33783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56"/>
          <p:cNvCxnSpPr>
            <a:stCxn id="692" idx="3"/>
            <a:endCxn id="691" idx="6"/>
          </p:cNvCxnSpPr>
          <p:nvPr/>
        </p:nvCxnSpPr>
        <p:spPr>
          <a:xfrm flipH="1">
            <a:off x="3003549" y="38596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56"/>
          <p:cNvCxnSpPr>
            <a:stCxn id="696" idx="2"/>
            <a:endCxn id="691" idx="5"/>
          </p:cNvCxnSpPr>
          <p:nvPr/>
        </p:nvCxnSpPr>
        <p:spPr>
          <a:xfrm rot="10800000">
            <a:off x="2955167" y="43409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56"/>
          <p:cNvCxnSpPr>
            <a:stCxn id="693" idx="3"/>
          </p:cNvCxnSpPr>
          <p:nvPr/>
        </p:nvCxnSpPr>
        <p:spPr>
          <a:xfrm flipH="1">
            <a:off x="3654438" y="43409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56"/>
          <p:cNvCxnSpPr>
            <a:stCxn id="692" idx="4"/>
            <a:endCxn id="693" idx="7"/>
          </p:cNvCxnSpPr>
          <p:nvPr/>
        </p:nvCxnSpPr>
        <p:spPr>
          <a:xfrm flipH="1">
            <a:off x="4197697" y="39034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56"/>
          <p:cNvSpPr/>
          <p:nvPr/>
        </p:nvSpPr>
        <p:spPr>
          <a:xfrm>
            <a:off x="5457999" y="35149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5" name="Google Shape;715;p56"/>
          <p:cNvSpPr/>
          <p:nvPr/>
        </p:nvSpPr>
        <p:spPr>
          <a:xfrm>
            <a:off x="4898588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6" name="Google Shape;716;p56"/>
          <p:cNvSpPr/>
          <p:nvPr/>
        </p:nvSpPr>
        <p:spPr>
          <a:xfrm>
            <a:off x="5540268" y="28171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7" name="Google Shape;717;p56"/>
          <p:cNvSpPr/>
          <p:nvPr/>
        </p:nvSpPr>
        <p:spPr>
          <a:xfrm>
            <a:off x="6141049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8" name="Google Shape;718;p56"/>
          <p:cNvSpPr/>
          <p:nvPr/>
        </p:nvSpPr>
        <p:spPr>
          <a:xfrm>
            <a:off x="4898588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9" name="Google Shape;719;p56"/>
          <p:cNvSpPr/>
          <p:nvPr/>
        </p:nvSpPr>
        <p:spPr>
          <a:xfrm>
            <a:off x="6290260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20" name="Google Shape;720;p56"/>
          <p:cNvSpPr/>
          <p:nvPr/>
        </p:nvSpPr>
        <p:spPr>
          <a:xfrm>
            <a:off x="6141049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21" name="Google Shape;721;p56"/>
          <p:cNvSpPr/>
          <p:nvPr/>
        </p:nvSpPr>
        <p:spPr>
          <a:xfrm>
            <a:off x="4790263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22" name="Google Shape;722;p56"/>
          <p:cNvCxnSpPr>
            <a:stCxn id="716" idx="4"/>
            <a:endCxn id="714" idx="0"/>
          </p:cNvCxnSpPr>
          <p:nvPr/>
        </p:nvCxnSpPr>
        <p:spPr>
          <a:xfrm>
            <a:off x="5704668" y="31162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56"/>
          <p:cNvSpPr/>
          <p:nvPr/>
        </p:nvSpPr>
        <p:spPr>
          <a:xfrm>
            <a:off x="5550529" y="44199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24" name="Google Shape;724;p56"/>
          <p:cNvCxnSpPr>
            <a:stCxn id="723" idx="0"/>
            <a:endCxn id="714" idx="4"/>
          </p:cNvCxnSpPr>
          <p:nvPr/>
        </p:nvCxnSpPr>
        <p:spPr>
          <a:xfrm rot="10800000">
            <a:off x="5704729" y="40071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56"/>
          <p:cNvCxnSpPr>
            <a:stCxn id="721" idx="6"/>
            <a:endCxn id="714" idx="2"/>
          </p:cNvCxnSpPr>
          <p:nvPr/>
        </p:nvCxnSpPr>
        <p:spPr>
          <a:xfrm>
            <a:off x="5119063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56"/>
          <p:cNvCxnSpPr>
            <a:stCxn id="719" idx="2"/>
            <a:endCxn id="714" idx="6"/>
          </p:cNvCxnSpPr>
          <p:nvPr/>
        </p:nvCxnSpPr>
        <p:spPr>
          <a:xfrm rot="10800000">
            <a:off x="5951260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56"/>
          <p:cNvCxnSpPr>
            <a:stCxn id="714" idx="1"/>
            <a:endCxn id="715" idx="5"/>
          </p:cNvCxnSpPr>
          <p:nvPr/>
        </p:nvCxnSpPr>
        <p:spPr>
          <a:xfrm rot="10800000">
            <a:off x="5179227" y="33854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56"/>
          <p:cNvCxnSpPr>
            <a:stCxn id="714" idx="7"/>
            <a:endCxn id="717" idx="3"/>
          </p:cNvCxnSpPr>
          <p:nvPr/>
        </p:nvCxnSpPr>
        <p:spPr>
          <a:xfrm flipH="1" rot="10800000">
            <a:off x="5878972" y="33854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56"/>
          <p:cNvCxnSpPr>
            <a:stCxn id="718" idx="7"/>
            <a:endCxn id="714" idx="3"/>
          </p:cNvCxnSpPr>
          <p:nvPr/>
        </p:nvCxnSpPr>
        <p:spPr>
          <a:xfrm flipH="1" rot="10800000">
            <a:off x="5179237" y="39349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56"/>
          <p:cNvCxnSpPr>
            <a:stCxn id="720" idx="1"/>
            <a:endCxn id="714" idx="5"/>
          </p:cNvCxnSpPr>
          <p:nvPr/>
        </p:nvCxnSpPr>
        <p:spPr>
          <a:xfrm rot="10800000">
            <a:off x="5879000" y="39349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56"/>
          <p:cNvCxnSpPr>
            <a:stCxn id="716" idx="2"/>
            <a:endCxn id="715" idx="0"/>
          </p:cNvCxnSpPr>
          <p:nvPr/>
        </p:nvCxnSpPr>
        <p:spPr>
          <a:xfrm flipH="1">
            <a:off x="5062968" y="29667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56"/>
          <p:cNvCxnSpPr>
            <a:stCxn id="715" idx="3"/>
            <a:endCxn id="721" idx="0"/>
          </p:cNvCxnSpPr>
          <p:nvPr/>
        </p:nvCxnSpPr>
        <p:spPr>
          <a:xfrm>
            <a:off x="4946740" y="33854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56"/>
          <p:cNvCxnSpPr>
            <a:stCxn id="716" idx="3"/>
            <a:endCxn id="721" idx="7"/>
          </p:cNvCxnSpPr>
          <p:nvPr/>
        </p:nvCxnSpPr>
        <p:spPr>
          <a:xfrm flipH="1">
            <a:off x="5070919" y="30724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56"/>
          <p:cNvCxnSpPr>
            <a:stCxn id="716" idx="3"/>
            <a:endCxn id="718" idx="0"/>
          </p:cNvCxnSpPr>
          <p:nvPr/>
        </p:nvCxnSpPr>
        <p:spPr>
          <a:xfrm flipH="1">
            <a:off x="5063119" y="30724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56"/>
          <p:cNvCxnSpPr>
            <a:stCxn id="721" idx="4"/>
            <a:endCxn id="718" idx="0"/>
          </p:cNvCxnSpPr>
          <p:nvPr/>
        </p:nvCxnSpPr>
        <p:spPr>
          <a:xfrm>
            <a:off x="4954663" y="39105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56"/>
          <p:cNvCxnSpPr>
            <a:stCxn id="715" idx="5"/>
            <a:endCxn id="718" idx="7"/>
          </p:cNvCxnSpPr>
          <p:nvPr/>
        </p:nvCxnSpPr>
        <p:spPr>
          <a:xfrm>
            <a:off x="5179237" y="33854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56"/>
          <p:cNvCxnSpPr>
            <a:stCxn id="719" idx="3"/>
            <a:endCxn id="718" idx="6"/>
          </p:cNvCxnSpPr>
          <p:nvPr/>
        </p:nvCxnSpPr>
        <p:spPr>
          <a:xfrm flipH="1">
            <a:off x="5227511" y="38667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56"/>
          <p:cNvCxnSpPr>
            <a:stCxn id="723" idx="2"/>
            <a:endCxn id="718" idx="5"/>
          </p:cNvCxnSpPr>
          <p:nvPr/>
        </p:nvCxnSpPr>
        <p:spPr>
          <a:xfrm rot="10800000">
            <a:off x="5179129" y="43480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56"/>
          <p:cNvCxnSpPr>
            <a:stCxn id="720" idx="3"/>
          </p:cNvCxnSpPr>
          <p:nvPr/>
        </p:nvCxnSpPr>
        <p:spPr>
          <a:xfrm flipH="1">
            <a:off x="5878400" y="43480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56"/>
          <p:cNvCxnSpPr>
            <a:stCxn id="719" idx="4"/>
            <a:endCxn id="720" idx="7"/>
          </p:cNvCxnSpPr>
          <p:nvPr/>
        </p:nvCxnSpPr>
        <p:spPr>
          <a:xfrm flipH="1">
            <a:off x="6421660" y="39105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56"/>
          <p:cNvSpPr/>
          <p:nvPr/>
        </p:nvSpPr>
        <p:spPr>
          <a:xfrm>
            <a:off x="7625824" y="3466237"/>
            <a:ext cx="493200" cy="492000"/>
          </a:xfrm>
          <a:prstGeom prst="ellipse">
            <a:avLst/>
          </a:prstGeom>
          <a:solidFill>
            <a:srgbClr val="9900FF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42" name="Google Shape;742;p56"/>
          <p:cNvSpPr/>
          <p:nvPr/>
        </p:nvSpPr>
        <p:spPr>
          <a:xfrm>
            <a:off x="7066413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43" name="Google Shape;743;p56"/>
          <p:cNvSpPr/>
          <p:nvPr/>
        </p:nvSpPr>
        <p:spPr>
          <a:xfrm>
            <a:off x="7708093" y="276840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44" name="Google Shape;744;p56"/>
          <p:cNvSpPr/>
          <p:nvPr/>
        </p:nvSpPr>
        <p:spPr>
          <a:xfrm>
            <a:off x="8308874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45" name="Google Shape;745;p56"/>
          <p:cNvSpPr/>
          <p:nvPr/>
        </p:nvSpPr>
        <p:spPr>
          <a:xfrm>
            <a:off x="7066413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46" name="Google Shape;746;p56"/>
          <p:cNvSpPr/>
          <p:nvPr/>
        </p:nvSpPr>
        <p:spPr>
          <a:xfrm>
            <a:off x="8458085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47" name="Google Shape;747;p56"/>
          <p:cNvSpPr/>
          <p:nvPr/>
        </p:nvSpPr>
        <p:spPr>
          <a:xfrm>
            <a:off x="8308874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48" name="Google Shape;748;p56"/>
          <p:cNvSpPr/>
          <p:nvPr/>
        </p:nvSpPr>
        <p:spPr>
          <a:xfrm>
            <a:off x="6958088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49" name="Google Shape;749;p56"/>
          <p:cNvCxnSpPr>
            <a:stCxn id="743" idx="4"/>
            <a:endCxn id="741" idx="0"/>
          </p:cNvCxnSpPr>
          <p:nvPr/>
        </p:nvCxnSpPr>
        <p:spPr>
          <a:xfrm>
            <a:off x="7872493" y="306750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56"/>
          <p:cNvSpPr/>
          <p:nvPr/>
        </p:nvSpPr>
        <p:spPr>
          <a:xfrm>
            <a:off x="7718354" y="437115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51" name="Google Shape;751;p56"/>
          <p:cNvCxnSpPr>
            <a:stCxn id="750" idx="0"/>
            <a:endCxn id="741" idx="4"/>
          </p:cNvCxnSpPr>
          <p:nvPr/>
        </p:nvCxnSpPr>
        <p:spPr>
          <a:xfrm rot="10800000">
            <a:off x="7872554" y="395835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56"/>
          <p:cNvCxnSpPr>
            <a:stCxn id="748" idx="6"/>
            <a:endCxn id="741" idx="2"/>
          </p:cNvCxnSpPr>
          <p:nvPr/>
        </p:nvCxnSpPr>
        <p:spPr>
          <a:xfrm>
            <a:off x="7286888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56"/>
          <p:cNvCxnSpPr>
            <a:stCxn id="746" idx="2"/>
            <a:endCxn id="741" idx="6"/>
          </p:cNvCxnSpPr>
          <p:nvPr/>
        </p:nvCxnSpPr>
        <p:spPr>
          <a:xfrm rot="10800000">
            <a:off x="8119085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56"/>
          <p:cNvCxnSpPr>
            <a:stCxn id="741" idx="1"/>
            <a:endCxn id="742" idx="5"/>
          </p:cNvCxnSpPr>
          <p:nvPr/>
        </p:nvCxnSpPr>
        <p:spPr>
          <a:xfrm rot="10800000">
            <a:off x="7347052" y="333668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56"/>
          <p:cNvCxnSpPr>
            <a:stCxn id="741" idx="7"/>
            <a:endCxn id="744" idx="3"/>
          </p:cNvCxnSpPr>
          <p:nvPr/>
        </p:nvCxnSpPr>
        <p:spPr>
          <a:xfrm flipH="1" rot="10800000">
            <a:off x="8046797" y="333668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56"/>
          <p:cNvCxnSpPr>
            <a:stCxn id="745" idx="7"/>
            <a:endCxn id="741" idx="3"/>
          </p:cNvCxnSpPr>
          <p:nvPr/>
        </p:nvCxnSpPr>
        <p:spPr>
          <a:xfrm flipH="1" rot="10800000">
            <a:off x="7347062" y="388622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56"/>
          <p:cNvCxnSpPr>
            <a:stCxn id="747" idx="1"/>
            <a:endCxn id="741" idx="5"/>
          </p:cNvCxnSpPr>
          <p:nvPr/>
        </p:nvCxnSpPr>
        <p:spPr>
          <a:xfrm rot="10800000">
            <a:off x="8046825" y="388622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56"/>
          <p:cNvCxnSpPr>
            <a:stCxn id="743" idx="2"/>
            <a:endCxn id="742" idx="0"/>
          </p:cNvCxnSpPr>
          <p:nvPr/>
        </p:nvCxnSpPr>
        <p:spPr>
          <a:xfrm flipH="1">
            <a:off x="7230793" y="291795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56"/>
          <p:cNvCxnSpPr>
            <a:stCxn id="742" idx="3"/>
            <a:endCxn id="748" idx="0"/>
          </p:cNvCxnSpPr>
          <p:nvPr/>
        </p:nvCxnSpPr>
        <p:spPr>
          <a:xfrm>
            <a:off x="7114565" y="333670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56"/>
          <p:cNvCxnSpPr>
            <a:stCxn id="743" idx="3"/>
            <a:endCxn id="748" idx="7"/>
          </p:cNvCxnSpPr>
          <p:nvPr/>
        </p:nvCxnSpPr>
        <p:spPr>
          <a:xfrm flipH="1">
            <a:off x="7238744" y="302369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56"/>
          <p:cNvCxnSpPr>
            <a:stCxn id="748" idx="4"/>
            <a:endCxn id="745" idx="0"/>
          </p:cNvCxnSpPr>
          <p:nvPr/>
        </p:nvCxnSpPr>
        <p:spPr>
          <a:xfrm>
            <a:off x="7122488" y="386182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56"/>
          <p:cNvCxnSpPr>
            <a:stCxn id="742" idx="5"/>
            <a:endCxn id="745" idx="7"/>
          </p:cNvCxnSpPr>
          <p:nvPr/>
        </p:nvCxnSpPr>
        <p:spPr>
          <a:xfrm>
            <a:off x="7347062" y="333670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56"/>
          <p:cNvCxnSpPr>
            <a:stCxn id="747" idx="3"/>
          </p:cNvCxnSpPr>
          <p:nvPr/>
        </p:nvCxnSpPr>
        <p:spPr>
          <a:xfrm flipH="1">
            <a:off x="8046225" y="429931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56"/>
          <p:cNvCxnSpPr>
            <a:stCxn id="746" idx="4"/>
            <a:endCxn id="747" idx="7"/>
          </p:cNvCxnSpPr>
          <p:nvPr/>
        </p:nvCxnSpPr>
        <p:spPr>
          <a:xfrm flipH="1">
            <a:off x="8589485" y="386182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56"/>
          <p:cNvCxnSpPr>
            <a:stCxn id="665" idx="0"/>
            <a:endCxn id="663" idx="4"/>
          </p:cNvCxnSpPr>
          <p:nvPr/>
        </p:nvCxnSpPr>
        <p:spPr>
          <a:xfrm rot="10800000">
            <a:off x="1857635" y="3387648"/>
            <a:ext cx="1491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56"/>
          <p:cNvCxnSpPr>
            <a:stCxn id="666" idx="0"/>
            <a:endCxn id="662" idx="5"/>
          </p:cNvCxnSpPr>
          <p:nvPr/>
        </p:nvCxnSpPr>
        <p:spPr>
          <a:xfrm rot="10800000">
            <a:off x="1373024" y="3030745"/>
            <a:ext cx="4845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56"/>
          <p:cNvCxnSpPr>
            <a:stCxn id="666" idx="2"/>
            <a:endCxn id="664" idx="5"/>
          </p:cNvCxnSpPr>
          <p:nvPr/>
        </p:nvCxnSpPr>
        <p:spPr>
          <a:xfrm flipH="1">
            <a:off x="731324" y="4200595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56"/>
          <p:cNvCxnSpPr>
            <a:stCxn id="663" idx="1"/>
            <a:endCxn id="662" idx="6"/>
          </p:cNvCxnSpPr>
          <p:nvPr/>
        </p:nvCxnSpPr>
        <p:spPr>
          <a:xfrm rot="10800000">
            <a:off x="1421175" y="2924938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56"/>
          <p:cNvCxnSpPr>
            <a:stCxn id="690" idx="1"/>
            <a:endCxn id="689" idx="6"/>
          </p:cNvCxnSpPr>
          <p:nvPr/>
        </p:nvCxnSpPr>
        <p:spPr>
          <a:xfrm rot="10800000">
            <a:off x="3645138" y="2959563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56"/>
          <p:cNvCxnSpPr>
            <a:stCxn id="693" idx="2"/>
            <a:endCxn id="691" idx="5"/>
          </p:cNvCxnSpPr>
          <p:nvPr/>
        </p:nvCxnSpPr>
        <p:spPr>
          <a:xfrm flipH="1">
            <a:off x="2955286" y="4235220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ES_{Ego} = k_{Ego} - \bar{k}_{Alters}&#10;%f6be2682-3d0a-44da-a4b7-98fd406f0575" id="771" name="Google Shape;77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475" y="2175763"/>
            <a:ext cx="30765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56"/>
          <p:cNvSpPr txBox="1"/>
          <p:nvPr/>
        </p:nvSpPr>
        <p:spPr>
          <a:xfrm>
            <a:off x="492375" y="4677275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73" name="Google Shape;773;p56"/>
          <p:cNvSpPr txBox="1"/>
          <p:nvPr/>
        </p:nvSpPr>
        <p:spPr>
          <a:xfrm>
            <a:off x="2843784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74" name="Google Shape;774;p56"/>
          <p:cNvSpPr txBox="1"/>
          <p:nvPr/>
        </p:nvSpPr>
        <p:spPr>
          <a:xfrm>
            <a:off x="7071325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75" name="Google Shape;775;p56"/>
          <p:cNvSpPr txBox="1"/>
          <p:nvPr/>
        </p:nvSpPr>
        <p:spPr>
          <a:xfrm>
            <a:off x="4847350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Effective Size (ES)</a:t>
            </a:r>
            <a:endParaRPr/>
          </a:p>
        </p:txBody>
      </p:sp>
      <p:sp>
        <p:nvSpPr>
          <p:cNvPr id="781" name="Google Shape;781;p57"/>
          <p:cNvSpPr txBox="1"/>
          <p:nvPr/>
        </p:nvSpPr>
        <p:spPr>
          <a:xfrm>
            <a:off x="492375" y="4677275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4.5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2" name="Google Shape;782;p57"/>
          <p:cNvSpPr/>
          <p:nvPr/>
        </p:nvSpPr>
        <p:spPr>
          <a:xfrm>
            <a:off x="3234037" y="35078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3" name="Google Shape;783;p57"/>
          <p:cNvSpPr/>
          <p:nvPr/>
        </p:nvSpPr>
        <p:spPr>
          <a:xfrm>
            <a:off x="267462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4" name="Google Shape;784;p57"/>
          <p:cNvSpPr/>
          <p:nvPr/>
        </p:nvSpPr>
        <p:spPr>
          <a:xfrm>
            <a:off x="3316305" y="28100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5" name="Google Shape;785;p57"/>
          <p:cNvSpPr/>
          <p:nvPr/>
        </p:nvSpPr>
        <p:spPr>
          <a:xfrm>
            <a:off x="391708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6" name="Google Shape;786;p57"/>
          <p:cNvSpPr/>
          <p:nvPr/>
        </p:nvSpPr>
        <p:spPr>
          <a:xfrm>
            <a:off x="267462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7" name="Google Shape;787;p57"/>
          <p:cNvSpPr/>
          <p:nvPr/>
        </p:nvSpPr>
        <p:spPr>
          <a:xfrm>
            <a:off x="4066297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8" name="Google Shape;788;p57"/>
          <p:cNvSpPr/>
          <p:nvPr/>
        </p:nvSpPr>
        <p:spPr>
          <a:xfrm>
            <a:off x="391708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9" name="Google Shape;789;p57"/>
          <p:cNvSpPr/>
          <p:nvPr/>
        </p:nvSpPr>
        <p:spPr>
          <a:xfrm>
            <a:off x="2566300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90" name="Google Shape;790;p57"/>
          <p:cNvCxnSpPr>
            <a:stCxn id="784" idx="4"/>
            <a:endCxn id="782" idx="0"/>
          </p:cNvCxnSpPr>
          <p:nvPr/>
        </p:nvCxnSpPr>
        <p:spPr>
          <a:xfrm>
            <a:off x="3480705" y="31091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1" name="Google Shape;791;p57"/>
          <p:cNvSpPr/>
          <p:nvPr/>
        </p:nvSpPr>
        <p:spPr>
          <a:xfrm>
            <a:off x="3326567" y="44128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92" name="Google Shape;792;p57"/>
          <p:cNvCxnSpPr>
            <a:stCxn id="791" idx="0"/>
            <a:endCxn id="782" idx="4"/>
          </p:cNvCxnSpPr>
          <p:nvPr/>
        </p:nvCxnSpPr>
        <p:spPr>
          <a:xfrm rot="10800000">
            <a:off x="3480767" y="40000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57"/>
          <p:cNvCxnSpPr>
            <a:stCxn id="789" idx="6"/>
            <a:endCxn id="782" idx="2"/>
          </p:cNvCxnSpPr>
          <p:nvPr/>
        </p:nvCxnSpPr>
        <p:spPr>
          <a:xfrm>
            <a:off x="2895100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57"/>
          <p:cNvCxnSpPr>
            <a:stCxn id="787" idx="2"/>
            <a:endCxn id="782" idx="6"/>
          </p:cNvCxnSpPr>
          <p:nvPr/>
        </p:nvCxnSpPr>
        <p:spPr>
          <a:xfrm rot="10800000">
            <a:off x="3727297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57"/>
          <p:cNvCxnSpPr>
            <a:stCxn id="782" idx="1"/>
            <a:endCxn id="783" idx="5"/>
          </p:cNvCxnSpPr>
          <p:nvPr/>
        </p:nvCxnSpPr>
        <p:spPr>
          <a:xfrm rot="10800000">
            <a:off x="2955264" y="33783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57"/>
          <p:cNvCxnSpPr>
            <a:stCxn id="782" idx="7"/>
            <a:endCxn id="785" idx="3"/>
          </p:cNvCxnSpPr>
          <p:nvPr/>
        </p:nvCxnSpPr>
        <p:spPr>
          <a:xfrm flipH="1" rot="10800000">
            <a:off x="3655009" y="33783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57"/>
          <p:cNvCxnSpPr>
            <a:stCxn id="786" idx="7"/>
            <a:endCxn id="782" idx="3"/>
          </p:cNvCxnSpPr>
          <p:nvPr/>
        </p:nvCxnSpPr>
        <p:spPr>
          <a:xfrm flipH="1" rot="10800000">
            <a:off x="2955274" y="39278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57"/>
          <p:cNvCxnSpPr>
            <a:stCxn id="788" idx="1"/>
            <a:endCxn id="782" idx="5"/>
          </p:cNvCxnSpPr>
          <p:nvPr/>
        </p:nvCxnSpPr>
        <p:spPr>
          <a:xfrm rot="10800000">
            <a:off x="3655038" y="39278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57"/>
          <p:cNvCxnSpPr>
            <a:stCxn id="784" idx="2"/>
            <a:endCxn id="783" idx="0"/>
          </p:cNvCxnSpPr>
          <p:nvPr/>
        </p:nvCxnSpPr>
        <p:spPr>
          <a:xfrm flipH="1">
            <a:off x="2839005" y="29596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57"/>
          <p:cNvCxnSpPr>
            <a:stCxn id="783" idx="3"/>
            <a:endCxn id="789" idx="0"/>
          </p:cNvCxnSpPr>
          <p:nvPr/>
        </p:nvCxnSpPr>
        <p:spPr>
          <a:xfrm>
            <a:off x="2722777" y="33783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57"/>
          <p:cNvCxnSpPr>
            <a:stCxn id="784" idx="3"/>
            <a:endCxn id="789" idx="7"/>
          </p:cNvCxnSpPr>
          <p:nvPr/>
        </p:nvCxnSpPr>
        <p:spPr>
          <a:xfrm flipH="1">
            <a:off x="2846957" y="30653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57"/>
          <p:cNvCxnSpPr>
            <a:stCxn id="784" idx="3"/>
            <a:endCxn id="786" idx="0"/>
          </p:cNvCxnSpPr>
          <p:nvPr/>
        </p:nvCxnSpPr>
        <p:spPr>
          <a:xfrm flipH="1">
            <a:off x="2839157" y="30653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57"/>
          <p:cNvCxnSpPr>
            <a:stCxn id="789" idx="4"/>
            <a:endCxn id="786" idx="0"/>
          </p:cNvCxnSpPr>
          <p:nvPr/>
        </p:nvCxnSpPr>
        <p:spPr>
          <a:xfrm>
            <a:off x="2730700" y="39034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57"/>
          <p:cNvCxnSpPr>
            <a:stCxn id="783" idx="5"/>
            <a:endCxn id="786" idx="7"/>
          </p:cNvCxnSpPr>
          <p:nvPr/>
        </p:nvCxnSpPr>
        <p:spPr>
          <a:xfrm>
            <a:off x="2955274" y="33783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57"/>
          <p:cNvCxnSpPr>
            <a:stCxn id="787" idx="3"/>
            <a:endCxn id="786" idx="6"/>
          </p:cNvCxnSpPr>
          <p:nvPr/>
        </p:nvCxnSpPr>
        <p:spPr>
          <a:xfrm flipH="1">
            <a:off x="3003549" y="38596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57"/>
          <p:cNvCxnSpPr>
            <a:stCxn id="791" idx="2"/>
            <a:endCxn id="786" idx="5"/>
          </p:cNvCxnSpPr>
          <p:nvPr/>
        </p:nvCxnSpPr>
        <p:spPr>
          <a:xfrm rot="10800000">
            <a:off x="2955167" y="43409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7"/>
          <p:cNvCxnSpPr>
            <a:stCxn id="788" idx="3"/>
          </p:cNvCxnSpPr>
          <p:nvPr/>
        </p:nvCxnSpPr>
        <p:spPr>
          <a:xfrm flipH="1">
            <a:off x="3654438" y="43409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57"/>
          <p:cNvCxnSpPr>
            <a:stCxn id="787" idx="4"/>
            <a:endCxn id="788" idx="7"/>
          </p:cNvCxnSpPr>
          <p:nvPr/>
        </p:nvCxnSpPr>
        <p:spPr>
          <a:xfrm flipH="1">
            <a:off x="4197697" y="39034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57"/>
          <p:cNvSpPr/>
          <p:nvPr/>
        </p:nvSpPr>
        <p:spPr>
          <a:xfrm>
            <a:off x="5457999" y="35149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10" name="Google Shape;810;p57"/>
          <p:cNvSpPr/>
          <p:nvPr/>
        </p:nvSpPr>
        <p:spPr>
          <a:xfrm>
            <a:off x="4898588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11" name="Google Shape;811;p57"/>
          <p:cNvSpPr/>
          <p:nvPr/>
        </p:nvSpPr>
        <p:spPr>
          <a:xfrm>
            <a:off x="5540268" y="28171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12" name="Google Shape;812;p57"/>
          <p:cNvSpPr/>
          <p:nvPr/>
        </p:nvSpPr>
        <p:spPr>
          <a:xfrm>
            <a:off x="6141049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13" name="Google Shape;813;p57"/>
          <p:cNvSpPr/>
          <p:nvPr/>
        </p:nvSpPr>
        <p:spPr>
          <a:xfrm>
            <a:off x="4898588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14" name="Google Shape;814;p57"/>
          <p:cNvSpPr/>
          <p:nvPr/>
        </p:nvSpPr>
        <p:spPr>
          <a:xfrm>
            <a:off x="6290260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15" name="Google Shape;815;p57"/>
          <p:cNvSpPr/>
          <p:nvPr/>
        </p:nvSpPr>
        <p:spPr>
          <a:xfrm>
            <a:off x="6141049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16" name="Google Shape;816;p57"/>
          <p:cNvSpPr/>
          <p:nvPr/>
        </p:nvSpPr>
        <p:spPr>
          <a:xfrm>
            <a:off x="4790263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17" name="Google Shape;817;p57"/>
          <p:cNvCxnSpPr>
            <a:stCxn id="811" idx="4"/>
            <a:endCxn id="809" idx="0"/>
          </p:cNvCxnSpPr>
          <p:nvPr/>
        </p:nvCxnSpPr>
        <p:spPr>
          <a:xfrm>
            <a:off x="5704668" y="31162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57"/>
          <p:cNvSpPr/>
          <p:nvPr/>
        </p:nvSpPr>
        <p:spPr>
          <a:xfrm>
            <a:off x="5550529" y="44199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19" name="Google Shape;819;p57"/>
          <p:cNvCxnSpPr>
            <a:stCxn id="818" idx="0"/>
            <a:endCxn id="809" idx="4"/>
          </p:cNvCxnSpPr>
          <p:nvPr/>
        </p:nvCxnSpPr>
        <p:spPr>
          <a:xfrm rot="10800000">
            <a:off x="5704729" y="40071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57"/>
          <p:cNvCxnSpPr>
            <a:stCxn id="816" idx="6"/>
            <a:endCxn id="809" idx="2"/>
          </p:cNvCxnSpPr>
          <p:nvPr/>
        </p:nvCxnSpPr>
        <p:spPr>
          <a:xfrm>
            <a:off x="5119063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57"/>
          <p:cNvCxnSpPr>
            <a:stCxn id="814" idx="2"/>
            <a:endCxn id="809" idx="6"/>
          </p:cNvCxnSpPr>
          <p:nvPr/>
        </p:nvCxnSpPr>
        <p:spPr>
          <a:xfrm rot="10800000">
            <a:off x="5951260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57"/>
          <p:cNvCxnSpPr>
            <a:stCxn id="809" idx="1"/>
            <a:endCxn id="810" idx="5"/>
          </p:cNvCxnSpPr>
          <p:nvPr/>
        </p:nvCxnSpPr>
        <p:spPr>
          <a:xfrm rot="10800000">
            <a:off x="5179227" y="33854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57"/>
          <p:cNvCxnSpPr>
            <a:stCxn id="809" idx="7"/>
            <a:endCxn id="812" idx="3"/>
          </p:cNvCxnSpPr>
          <p:nvPr/>
        </p:nvCxnSpPr>
        <p:spPr>
          <a:xfrm flipH="1" rot="10800000">
            <a:off x="5878972" y="33854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7"/>
          <p:cNvCxnSpPr>
            <a:stCxn id="813" idx="7"/>
            <a:endCxn id="809" idx="3"/>
          </p:cNvCxnSpPr>
          <p:nvPr/>
        </p:nvCxnSpPr>
        <p:spPr>
          <a:xfrm flipH="1" rot="10800000">
            <a:off x="5179237" y="39349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57"/>
          <p:cNvCxnSpPr>
            <a:stCxn id="815" idx="1"/>
            <a:endCxn id="809" idx="5"/>
          </p:cNvCxnSpPr>
          <p:nvPr/>
        </p:nvCxnSpPr>
        <p:spPr>
          <a:xfrm rot="10800000">
            <a:off x="5879000" y="39349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6" name="Google Shape;826;p57"/>
          <p:cNvCxnSpPr>
            <a:stCxn id="811" idx="2"/>
            <a:endCxn id="810" idx="0"/>
          </p:cNvCxnSpPr>
          <p:nvPr/>
        </p:nvCxnSpPr>
        <p:spPr>
          <a:xfrm flipH="1">
            <a:off x="5062968" y="29667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57"/>
          <p:cNvCxnSpPr>
            <a:stCxn id="810" idx="3"/>
            <a:endCxn id="816" idx="0"/>
          </p:cNvCxnSpPr>
          <p:nvPr/>
        </p:nvCxnSpPr>
        <p:spPr>
          <a:xfrm>
            <a:off x="4946740" y="33854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57"/>
          <p:cNvCxnSpPr>
            <a:stCxn id="811" idx="3"/>
            <a:endCxn id="816" idx="7"/>
          </p:cNvCxnSpPr>
          <p:nvPr/>
        </p:nvCxnSpPr>
        <p:spPr>
          <a:xfrm flipH="1">
            <a:off x="5070919" y="30724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57"/>
          <p:cNvCxnSpPr>
            <a:stCxn id="811" idx="3"/>
            <a:endCxn id="813" idx="0"/>
          </p:cNvCxnSpPr>
          <p:nvPr/>
        </p:nvCxnSpPr>
        <p:spPr>
          <a:xfrm flipH="1">
            <a:off x="5063119" y="30724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57"/>
          <p:cNvCxnSpPr>
            <a:stCxn id="816" idx="4"/>
            <a:endCxn id="813" idx="0"/>
          </p:cNvCxnSpPr>
          <p:nvPr/>
        </p:nvCxnSpPr>
        <p:spPr>
          <a:xfrm>
            <a:off x="4954663" y="39105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57"/>
          <p:cNvCxnSpPr>
            <a:stCxn id="810" idx="5"/>
            <a:endCxn id="813" idx="7"/>
          </p:cNvCxnSpPr>
          <p:nvPr/>
        </p:nvCxnSpPr>
        <p:spPr>
          <a:xfrm>
            <a:off x="5179237" y="33854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57"/>
          <p:cNvCxnSpPr>
            <a:stCxn id="814" idx="3"/>
            <a:endCxn id="813" idx="6"/>
          </p:cNvCxnSpPr>
          <p:nvPr/>
        </p:nvCxnSpPr>
        <p:spPr>
          <a:xfrm flipH="1">
            <a:off x="5227511" y="38667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57"/>
          <p:cNvCxnSpPr>
            <a:stCxn id="818" idx="2"/>
            <a:endCxn id="813" idx="5"/>
          </p:cNvCxnSpPr>
          <p:nvPr/>
        </p:nvCxnSpPr>
        <p:spPr>
          <a:xfrm rot="10800000">
            <a:off x="5179129" y="43480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57"/>
          <p:cNvCxnSpPr>
            <a:stCxn id="815" idx="3"/>
          </p:cNvCxnSpPr>
          <p:nvPr/>
        </p:nvCxnSpPr>
        <p:spPr>
          <a:xfrm flipH="1">
            <a:off x="5878400" y="43480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57"/>
          <p:cNvCxnSpPr>
            <a:stCxn id="814" idx="4"/>
            <a:endCxn id="815" idx="7"/>
          </p:cNvCxnSpPr>
          <p:nvPr/>
        </p:nvCxnSpPr>
        <p:spPr>
          <a:xfrm flipH="1">
            <a:off x="6421660" y="39105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57"/>
          <p:cNvSpPr/>
          <p:nvPr/>
        </p:nvSpPr>
        <p:spPr>
          <a:xfrm>
            <a:off x="7625824" y="346623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37" name="Google Shape;837;p57"/>
          <p:cNvSpPr/>
          <p:nvPr/>
        </p:nvSpPr>
        <p:spPr>
          <a:xfrm>
            <a:off x="7066413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38" name="Google Shape;838;p57"/>
          <p:cNvSpPr/>
          <p:nvPr/>
        </p:nvSpPr>
        <p:spPr>
          <a:xfrm>
            <a:off x="7708093" y="276840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39" name="Google Shape;839;p57"/>
          <p:cNvSpPr/>
          <p:nvPr/>
        </p:nvSpPr>
        <p:spPr>
          <a:xfrm>
            <a:off x="8308874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40" name="Google Shape;840;p57"/>
          <p:cNvSpPr/>
          <p:nvPr/>
        </p:nvSpPr>
        <p:spPr>
          <a:xfrm>
            <a:off x="7066413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41" name="Google Shape;841;p57"/>
          <p:cNvSpPr/>
          <p:nvPr/>
        </p:nvSpPr>
        <p:spPr>
          <a:xfrm>
            <a:off x="8458085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42" name="Google Shape;842;p57"/>
          <p:cNvSpPr/>
          <p:nvPr/>
        </p:nvSpPr>
        <p:spPr>
          <a:xfrm>
            <a:off x="8308874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43" name="Google Shape;843;p57"/>
          <p:cNvSpPr/>
          <p:nvPr/>
        </p:nvSpPr>
        <p:spPr>
          <a:xfrm>
            <a:off x="6958088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44" name="Google Shape;844;p57"/>
          <p:cNvCxnSpPr>
            <a:stCxn id="838" idx="4"/>
            <a:endCxn id="836" idx="0"/>
          </p:cNvCxnSpPr>
          <p:nvPr/>
        </p:nvCxnSpPr>
        <p:spPr>
          <a:xfrm>
            <a:off x="7872493" y="306750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57"/>
          <p:cNvSpPr/>
          <p:nvPr/>
        </p:nvSpPr>
        <p:spPr>
          <a:xfrm>
            <a:off x="7718354" y="437115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46" name="Google Shape;846;p57"/>
          <p:cNvCxnSpPr>
            <a:stCxn id="845" idx="0"/>
            <a:endCxn id="836" idx="4"/>
          </p:cNvCxnSpPr>
          <p:nvPr/>
        </p:nvCxnSpPr>
        <p:spPr>
          <a:xfrm rot="10800000">
            <a:off x="7872554" y="395835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57"/>
          <p:cNvCxnSpPr>
            <a:stCxn id="843" idx="6"/>
            <a:endCxn id="836" idx="2"/>
          </p:cNvCxnSpPr>
          <p:nvPr/>
        </p:nvCxnSpPr>
        <p:spPr>
          <a:xfrm>
            <a:off x="7286888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57"/>
          <p:cNvCxnSpPr>
            <a:stCxn id="841" idx="2"/>
            <a:endCxn id="836" idx="6"/>
          </p:cNvCxnSpPr>
          <p:nvPr/>
        </p:nvCxnSpPr>
        <p:spPr>
          <a:xfrm rot="10800000">
            <a:off x="8119085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57"/>
          <p:cNvCxnSpPr>
            <a:stCxn id="836" idx="1"/>
            <a:endCxn id="837" idx="5"/>
          </p:cNvCxnSpPr>
          <p:nvPr/>
        </p:nvCxnSpPr>
        <p:spPr>
          <a:xfrm rot="10800000">
            <a:off x="7347052" y="333668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57"/>
          <p:cNvCxnSpPr>
            <a:stCxn id="836" idx="7"/>
            <a:endCxn id="839" idx="3"/>
          </p:cNvCxnSpPr>
          <p:nvPr/>
        </p:nvCxnSpPr>
        <p:spPr>
          <a:xfrm flipH="1" rot="10800000">
            <a:off x="8046797" y="333668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57"/>
          <p:cNvCxnSpPr>
            <a:stCxn id="840" idx="7"/>
            <a:endCxn id="836" idx="3"/>
          </p:cNvCxnSpPr>
          <p:nvPr/>
        </p:nvCxnSpPr>
        <p:spPr>
          <a:xfrm flipH="1" rot="10800000">
            <a:off x="7347062" y="388622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57"/>
          <p:cNvCxnSpPr>
            <a:stCxn id="842" idx="1"/>
            <a:endCxn id="836" idx="5"/>
          </p:cNvCxnSpPr>
          <p:nvPr/>
        </p:nvCxnSpPr>
        <p:spPr>
          <a:xfrm rot="10800000">
            <a:off x="8046825" y="388622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57"/>
          <p:cNvCxnSpPr>
            <a:stCxn id="838" idx="2"/>
            <a:endCxn id="837" idx="0"/>
          </p:cNvCxnSpPr>
          <p:nvPr/>
        </p:nvCxnSpPr>
        <p:spPr>
          <a:xfrm flipH="1">
            <a:off x="7230793" y="291795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57"/>
          <p:cNvCxnSpPr>
            <a:stCxn id="837" idx="3"/>
            <a:endCxn id="843" idx="0"/>
          </p:cNvCxnSpPr>
          <p:nvPr/>
        </p:nvCxnSpPr>
        <p:spPr>
          <a:xfrm>
            <a:off x="7114565" y="333670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57"/>
          <p:cNvCxnSpPr>
            <a:stCxn id="838" idx="3"/>
            <a:endCxn id="843" idx="7"/>
          </p:cNvCxnSpPr>
          <p:nvPr/>
        </p:nvCxnSpPr>
        <p:spPr>
          <a:xfrm flipH="1">
            <a:off x="7238744" y="302369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57"/>
          <p:cNvCxnSpPr>
            <a:stCxn id="843" idx="4"/>
            <a:endCxn id="840" idx="0"/>
          </p:cNvCxnSpPr>
          <p:nvPr/>
        </p:nvCxnSpPr>
        <p:spPr>
          <a:xfrm>
            <a:off x="7122488" y="386182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57"/>
          <p:cNvCxnSpPr>
            <a:stCxn id="837" idx="5"/>
            <a:endCxn id="840" idx="7"/>
          </p:cNvCxnSpPr>
          <p:nvPr/>
        </p:nvCxnSpPr>
        <p:spPr>
          <a:xfrm>
            <a:off x="7347062" y="333670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57"/>
          <p:cNvCxnSpPr>
            <a:stCxn id="842" idx="3"/>
          </p:cNvCxnSpPr>
          <p:nvPr/>
        </p:nvCxnSpPr>
        <p:spPr>
          <a:xfrm flipH="1">
            <a:off x="8046225" y="429931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57"/>
          <p:cNvCxnSpPr>
            <a:stCxn id="841" idx="4"/>
            <a:endCxn id="842" idx="7"/>
          </p:cNvCxnSpPr>
          <p:nvPr/>
        </p:nvCxnSpPr>
        <p:spPr>
          <a:xfrm flipH="1">
            <a:off x="8589485" y="386182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57"/>
          <p:cNvCxnSpPr>
            <a:stCxn id="785" idx="1"/>
            <a:endCxn id="784" idx="6"/>
          </p:cNvCxnSpPr>
          <p:nvPr/>
        </p:nvCxnSpPr>
        <p:spPr>
          <a:xfrm rot="10800000">
            <a:off x="3645138" y="2959563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7"/>
          <p:cNvCxnSpPr>
            <a:stCxn id="788" idx="2"/>
            <a:endCxn id="786" idx="5"/>
          </p:cNvCxnSpPr>
          <p:nvPr/>
        </p:nvCxnSpPr>
        <p:spPr>
          <a:xfrm flipH="1">
            <a:off x="2955286" y="4235220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62" name="Google Shape;862;p57"/>
          <p:cNvGraphicFramePr/>
          <p:nvPr/>
        </p:nvGraphicFramePr>
        <p:xfrm>
          <a:off x="2228988" y="303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57150"/>
              </a:tblGrid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ES_{Ego} = k_{Ego} - \bar{k}_{Alters}&#10;%f6be2682-3d0a-44da-a4b7-98fd406f0575" id="863" name="Google Shape;86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950" y="1250963"/>
            <a:ext cx="30765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_{Ego} = 8 - \bar{k}_{Alters}&#10;%e45c781f-1699-458f-ba28-5ef47ec0e751" id="864" name="Google Shape;86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250" y="1754775"/>
            <a:ext cx="26574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_{Ego} = 8 - \frac{27}{8} = 8 - 3.38 = 4.63&#10;%a05a5065-07a8-4627-bd84-e7bea750ddf7" id="865" name="Google Shape;865;p57"/>
          <p:cNvPicPr preferRelativeResize="0"/>
          <p:nvPr/>
        </p:nvPicPr>
        <p:blipFill rotWithShape="1">
          <a:blip r:embed="rId5">
            <a:alphaModFix/>
          </a:blip>
          <a:srcRect b="0" l="0" r="73870" t="0"/>
          <a:stretch/>
        </p:blipFill>
        <p:spPr>
          <a:xfrm>
            <a:off x="3246121" y="2207775"/>
            <a:ext cx="12618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57"/>
          <p:cNvSpPr txBox="1"/>
          <p:nvPr/>
        </p:nvSpPr>
        <p:spPr>
          <a:xfrm>
            <a:off x="2843784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67" name="Google Shape;867;p57"/>
          <p:cNvSpPr txBox="1"/>
          <p:nvPr/>
        </p:nvSpPr>
        <p:spPr>
          <a:xfrm>
            <a:off x="7071325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68" name="Google Shape;868;p57"/>
          <p:cNvSpPr txBox="1"/>
          <p:nvPr/>
        </p:nvSpPr>
        <p:spPr>
          <a:xfrm>
            <a:off x="4847350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869" name="Google Shape;869;p57"/>
          <p:cNvGraphicFramePr/>
          <p:nvPr/>
        </p:nvGraphicFramePr>
        <p:xfrm>
          <a:off x="32004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</a:tblGrid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70" name="Google Shape;870;p57"/>
          <p:cNvSpPr txBox="1"/>
          <p:nvPr/>
        </p:nvSpPr>
        <p:spPr>
          <a:xfrm>
            <a:off x="4628875" y="2346450"/>
            <a:ext cx="3069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8 - (28/8) = 8 - 3.5 = 4.5</a:t>
            </a:r>
            <a:endParaRPr sz="2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Effective Size (ES)</a:t>
            </a:r>
            <a:endParaRPr/>
          </a:p>
        </p:txBody>
      </p:sp>
      <p:sp>
        <p:nvSpPr>
          <p:cNvPr id="876" name="Google Shape;876;p58"/>
          <p:cNvSpPr txBox="1"/>
          <p:nvPr/>
        </p:nvSpPr>
        <p:spPr>
          <a:xfrm>
            <a:off x="492375" y="4677275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4.5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77" name="Google Shape;877;p58"/>
          <p:cNvSpPr/>
          <p:nvPr/>
        </p:nvSpPr>
        <p:spPr>
          <a:xfrm>
            <a:off x="5457999" y="35149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78" name="Google Shape;878;p58"/>
          <p:cNvSpPr/>
          <p:nvPr/>
        </p:nvSpPr>
        <p:spPr>
          <a:xfrm>
            <a:off x="4898588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79" name="Google Shape;879;p58"/>
          <p:cNvSpPr/>
          <p:nvPr/>
        </p:nvSpPr>
        <p:spPr>
          <a:xfrm>
            <a:off x="5540268" y="28171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0" name="Google Shape;880;p58"/>
          <p:cNvSpPr/>
          <p:nvPr/>
        </p:nvSpPr>
        <p:spPr>
          <a:xfrm>
            <a:off x="6141049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1" name="Google Shape;881;p58"/>
          <p:cNvSpPr/>
          <p:nvPr/>
        </p:nvSpPr>
        <p:spPr>
          <a:xfrm>
            <a:off x="4898588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2" name="Google Shape;882;p58"/>
          <p:cNvSpPr/>
          <p:nvPr/>
        </p:nvSpPr>
        <p:spPr>
          <a:xfrm>
            <a:off x="6290260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3" name="Google Shape;883;p58"/>
          <p:cNvSpPr/>
          <p:nvPr/>
        </p:nvSpPr>
        <p:spPr>
          <a:xfrm>
            <a:off x="6141049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4" name="Google Shape;884;p58"/>
          <p:cNvSpPr/>
          <p:nvPr/>
        </p:nvSpPr>
        <p:spPr>
          <a:xfrm>
            <a:off x="4790263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85" name="Google Shape;885;p58"/>
          <p:cNvCxnSpPr>
            <a:stCxn id="879" idx="4"/>
            <a:endCxn id="877" idx="0"/>
          </p:cNvCxnSpPr>
          <p:nvPr/>
        </p:nvCxnSpPr>
        <p:spPr>
          <a:xfrm>
            <a:off x="5704668" y="31162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58"/>
          <p:cNvSpPr/>
          <p:nvPr/>
        </p:nvSpPr>
        <p:spPr>
          <a:xfrm>
            <a:off x="5550529" y="44199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87" name="Google Shape;887;p58"/>
          <p:cNvCxnSpPr>
            <a:stCxn id="886" idx="0"/>
            <a:endCxn id="877" idx="4"/>
          </p:cNvCxnSpPr>
          <p:nvPr/>
        </p:nvCxnSpPr>
        <p:spPr>
          <a:xfrm rot="10800000">
            <a:off x="5704729" y="40071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58"/>
          <p:cNvCxnSpPr>
            <a:stCxn id="884" idx="6"/>
            <a:endCxn id="877" idx="2"/>
          </p:cNvCxnSpPr>
          <p:nvPr/>
        </p:nvCxnSpPr>
        <p:spPr>
          <a:xfrm>
            <a:off x="5119063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8"/>
          <p:cNvCxnSpPr>
            <a:stCxn id="882" idx="2"/>
            <a:endCxn id="877" idx="6"/>
          </p:cNvCxnSpPr>
          <p:nvPr/>
        </p:nvCxnSpPr>
        <p:spPr>
          <a:xfrm rot="10800000">
            <a:off x="5951260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58"/>
          <p:cNvCxnSpPr>
            <a:stCxn id="877" idx="1"/>
            <a:endCxn id="878" idx="5"/>
          </p:cNvCxnSpPr>
          <p:nvPr/>
        </p:nvCxnSpPr>
        <p:spPr>
          <a:xfrm rot="10800000">
            <a:off x="5179227" y="33854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8"/>
          <p:cNvCxnSpPr>
            <a:stCxn id="877" idx="7"/>
            <a:endCxn id="880" idx="3"/>
          </p:cNvCxnSpPr>
          <p:nvPr/>
        </p:nvCxnSpPr>
        <p:spPr>
          <a:xfrm flipH="1" rot="10800000">
            <a:off x="5878972" y="33854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58"/>
          <p:cNvCxnSpPr>
            <a:stCxn id="881" idx="7"/>
            <a:endCxn id="877" idx="3"/>
          </p:cNvCxnSpPr>
          <p:nvPr/>
        </p:nvCxnSpPr>
        <p:spPr>
          <a:xfrm flipH="1" rot="10800000">
            <a:off x="5179237" y="39349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58"/>
          <p:cNvCxnSpPr>
            <a:stCxn id="883" idx="1"/>
            <a:endCxn id="877" idx="5"/>
          </p:cNvCxnSpPr>
          <p:nvPr/>
        </p:nvCxnSpPr>
        <p:spPr>
          <a:xfrm rot="10800000">
            <a:off x="5879000" y="39349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58"/>
          <p:cNvCxnSpPr>
            <a:stCxn id="879" idx="2"/>
            <a:endCxn id="878" idx="0"/>
          </p:cNvCxnSpPr>
          <p:nvPr/>
        </p:nvCxnSpPr>
        <p:spPr>
          <a:xfrm flipH="1">
            <a:off x="5062968" y="29667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58"/>
          <p:cNvCxnSpPr>
            <a:stCxn id="878" idx="3"/>
            <a:endCxn id="884" idx="0"/>
          </p:cNvCxnSpPr>
          <p:nvPr/>
        </p:nvCxnSpPr>
        <p:spPr>
          <a:xfrm>
            <a:off x="4946740" y="33854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58"/>
          <p:cNvCxnSpPr>
            <a:stCxn id="879" idx="3"/>
            <a:endCxn id="884" idx="7"/>
          </p:cNvCxnSpPr>
          <p:nvPr/>
        </p:nvCxnSpPr>
        <p:spPr>
          <a:xfrm flipH="1">
            <a:off x="5070919" y="30724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58"/>
          <p:cNvCxnSpPr>
            <a:stCxn id="879" idx="3"/>
            <a:endCxn id="881" idx="0"/>
          </p:cNvCxnSpPr>
          <p:nvPr/>
        </p:nvCxnSpPr>
        <p:spPr>
          <a:xfrm flipH="1">
            <a:off x="5063119" y="30724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58"/>
          <p:cNvCxnSpPr>
            <a:stCxn id="884" idx="4"/>
            <a:endCxn id="881" idx="0"/>
          </p:cNvCxnSpPr>
          <p:nvPr/>
        </p:nvCxnSpPr>
        <p:spPr>
          <a:xfrm>
            <a:off x="4954663" y="39105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58"/>
          <p:cNvCxnSpPr>
            <a:stCxn id="878" idx="5"/>
            <a:endCxn id="881" idx="7"/>
          </p:cNvCxnSpPr>
          <p:nvPr/>
        </p:nvCxnSpPr>
        <p:spPr>
          <a:xfrm>
            <a:off x="5179237" y="33854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58"/>
          <p:cNvCxnSpPr>
            <a:stCxn id="882" idx="3"/>
            <a:endCxn id="881" idx="6"/>
          </p:cNvCxnSpPr>
          <p:nvPr/>
        </p:nvCxnSpPr>
        <p:spPr>
          <a:xfrm flipH="1">
            <a:off x="5227511" y="38667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8"/>
          <p:cNvCxnSpPr>
            <a:stCxn id="886" idx="2"/>
            <a:endCxn id="881" idx="5"/>
          </p:cNvCxnSpPr>
          <p:nvPr/>
        </p:nvCxnSpPr>
        <p:spPr>
          <a:xfrm rot="10800000">
            <a:off x="5179129" y="43480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58"/>
          <p:cNvCxnSpPr>
            <a:stCxn id="883" idx="3"/>
          </p:cNvCxnSpPr>
          <p:nvPr/>
        </p:nvCxnSpPr>
        <p:spPr>
          <a:xfrm flipH="1">
            <a:off x="5878400" y="43480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58"/>
          <p:cNvCxnSpPr>
            <a:stCxn id="882" idx="4"/>
            <a:endCxn id="883" idx="7"/>
          </p:cNvCxnSpPr>
          <p:nvPr/>
        </p:nvCxnSpPr>
        <p:spPr>
          <a:xfrm flipH="1">
            <a:off x="6421660" y="39105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58"/>
          <p:cNvSpPr/>
          <p:nvPr/>
        </p:nvSpPr>
        <p:spPr>
          <a:xfrm>
            <a:off x="7625824" y="346623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5" name="Google Shape;905;p58"/>
          <p:cNvSpPr/>
          <p:nvPr/>
        </p:nvSpPr>
        <p:spPr>
          <a:xfrm>
            <a:off x="7066413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6" name="Google Shape;906;p58"/>
          <p:cNvSpPr/>
          <p:nvPr/>
        </p:nvSpPr>
        <p:spPr>
          <a:xfrm>
            <a:off x="7708093" y="276840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7" name="Google Shape;907;p58"/>
          <p:cNvSpPr/>
          <p:nvPr/>
        </p:nvSpPr>
        <p:spPr>
          <a:xfrm>
            <a:off x="8308874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8" name="Google Shape;908;p58"/>
          <p:cNvSpPr/>
          <p:nvPr/>
        </p:nvSpPr>
        <p:spPr>
          <a:xfrm>
            <a:off x="7066413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9" name="Google Shape;909;p58"/>
          <p:cNvSpPr/>
          <p:nvPr/>
        </p:nvSpPr>
        <p:spPr>
          <a:xfrm>
            <a:off x="8458085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10" name="Google Shape;910;p58"/>
          <p:cNvSpPr/>
          <p:nvPr/>
        </p:nvSpPr>
        <p:spPr>
          <a:xfrm>
            <a:off x="8308874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11" name="Google Shape;911;p58"/>
          <p:cNvSpPr/>
          <p:nvPr/>
        </p:nvSpPr>
        <p:spPr>
          <a:xfrm>
            <a:off x="6958088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12" name="Google Shape;912;p58"/>
          <p:cNvCxnSpPr>
            <a:stCxn id="906" idx="4"/>
            <a:endCxn id="904" idx="0"/>
          </p:cNvCxnSpPr>
          <p:nvPr/>
        </p:nvCxnSpPr>
        <p:spPr>
          <a:xfrm>
            <a:off x="7872493" y="306750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58"/>
          <p:cNvSpPr/>
          <p:nvPr/>
        </p:nvSpPr>
        <p:spPr>
          <a:xfrm>
            <a:off x="7718354" y="437115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14" name="Google Shape;914;p58"/>
          <p:cNvCxnSpPr>
            <a:stCxn id="913" idx="0"/>
            <a:endCxn id="904" idx="4"/>
          </p:cNvCxnSpPr>
          <p:nvPr/>
        </p:nvCxnSpPr>
        <p:spPr>
          <a:xfrm rot="10800000">
            <a:off x="7872554" y="395835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58"/>
          <p:cNvCxnSpPr>
            <a:stCxn id="911" idx="6"/>
            <a:endCxn id="904" idx="2"/>
          </p:cNvCxnSpPr>
          <p:nvPr/>
        </p:nvCxnSpPr>
        <p:spPr>
          <a:xfrm>
            <a:off x="7286888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58"/>
          <p:cNvCxnSpPr>
            <a:stCxn id="909" idx="2"/>
            <a:endCxn id="904" idx="6"/>
          </p:cNvCxnSpPr>
          <p:nvPr/>
        </p:nvCxnSpPr>
        <p:spPr>
          <a:xfrm rot="10800000">
            <a:off x="8119085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58"/>
          <p:cNvCxnSpPr>
            <a:stCxn id="904" idx="1"/>
            <a:endCxn id="905" idx="5"/>
          </p:cNvCxnSpPr>
          <p:nvPr/>
        </p:nvCxnSpPr>
        <p:spPr>
          <a:xfrm rot="10800000">
            <a:off x="7347052" y="333668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58"/>
          <p:cNvCxnSpPr>
            <a:stCxn id="904" idx="7"/>
            <a:endCxn id="907" idx="3"/>
          </p:cNvCxnSpPr>
          <p:nvPr/>
        </p:nvCxnSpPr>
        <p:spPr>
          <a:xfrm flipH="1" rot="10800000">
            <a:off x="8046797" y="333668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58"/>
          <p:cNvCxnSpPr>
            <a:stCxn id="908" idx="7"/>
            <a:endCxn id="904" idx="3"/>
          </p:cNvCxnSpPr>
          <p:nvPr/>
        </p:nvCxnSpPr>
        <p:spPr>
          <a:xfrm flipH="1" rot="10800000">
            <a:off x="7347062" y="388622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58"/>
          <p:cNvCxnSpPr>
            <a:stCxn id="910" idx="1"/>
            <a:endCxn id="904" idx="5"/>
          </p:cNvCxnSpPr>
          <p:nvPr/>
        </p:nvCxnSpPr>
        <p:spPr>
          <a:xfrm rot="10800000">
            <a:off x="8046825" y="388622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58"/>
          <p:cNvCxnSpPr>
            <a:stCxn id="906" idx="2"/>
            <a:endCxn id="905" idx="0"/>
          </p:cNvCxnSpPr>
          <p:nvPr/>
        </p:nvCxnSpPr>
        <p:spPr>
          <a:xfrm flipH="1">
            <a:off x="7230793" y="291795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58"/>
          <p:cNvCxnSpPr>
            <a:stCxn id="905" idx="3"/>
            <a:endCxn id="911" idx="0"/>
          </p:cNvCxnSpPr>
          <p:nvPr/>
        </p:nvCxnSpPr>
        <p:spPr>
          <a:xfrm>
            <a:off x="7114565" y="333670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58"/>
          <p:cNvCxnSpPr>
            <a:stCxn id="906" idx="3"/>
            <a:endCxn id="911" idx="7"/>
          </p:cNvCxnSpPr>
          <p:nvPr/>
        </p:nvCxnSpPr>
        <p:spPr>
          <a:xfrm flipH="1">
            <a:off x="7238744" y="302369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58"/>
          <p:cNvCxnSpPr>
            <a:stCxn id="911" idx="4"/>
            <a:endCxn id="908" idx="0"/>
          </p:cNvCxnSpPr>
          <p:nvPr/>
        </p:nvCxnSpPr>
        <p:spPr>
          <a:xfrm>
            <a:off x="7122488" y="386182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58"/>
          <p:cNvCxnSpPr>
            <a:stCxn id="905" idx="5"/>
            <a:endCxn id="908" idx="7"/>
          </p:cNvCxnSpPr>
          <p:nvPr/>
        </p:nvCxnSpPr>
        <p:spPr>
          <a:xfrm>
            <a:off x="7347062" y="333670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8"/>
          <p:cNvCxnSpPr>
            <a:stCxn id="910" idx="3"/>
          </p:cNvCxnSpPr>
          <p:nvPr/>
        </p:nvCxnSpPr>
        <p:spPr>
          <a:xfrm flipH="1">
            <a:off x="8046225" y="429931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58"/>
          <p:cNvCxnSpPr>
            <a:stCxn id="909" idx="4"/>
            <a:endCxn id="910" idx="7"/>
          </p:cNvCxnSpPr>
          <p:nvPr/>
        </p:nvCxnSpPr>
        <p:spPr>
          <a:xfrm flipH="1">
            <a:off x="8589485" y="386182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ES_{Ego} = k_{Ego} - \bar{k}_{Alters}&#10;%f6be2682-3d0a-44da-a4b7-98fd406f0575" id="928" name="Google Shape;92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950" y="1250963"/>
            <a:ext cx="30765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_{Ego} = 8 - \bar{k}_{Alters}&#10;%e45c781f-1699-458f-ba28-5ef47ec0e751" id="929" name="Google Shape;92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250" y="1754775"/>
            <a:ext cx="26574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58"/>
          <p:cNvSpPr txBox="1"/>
          <p:nvPr/>
        </p:nvSpPr>
        <p:spPr>
          <a:xfrm>
            <a:off x="2843784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31" name="Google Shape;931;p58"/>
          <p:cNvSpPr/>
          <p:nvPr/>
        </p:nvSpPr>
        <p:spPr>
          <a:xfrm>
            <a:off x="1010074" y="3473262"/>
            <a:ext cx="493200" cy="492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2" name="Google Shape;932;p58"/>
          <p:cNvSpPr/>
          <p:nvPr/>
        </p:nvSpPr>
        <p:spPr>
          <a:xfrm>
            <a:off x="450663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3" name="Google Shape;933;p58"/>
          <p:cNvSpPr/>
          <p:nvPr/>
        </p:nvSpPr>
        <p:spPr>
          <a:xfrm>
            <a:off x="1092343" y="277542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4" name="Google Shape;934;p58"/>
          <p:cNvSpPr/>
          <p:nvPr/>
        </p:nvSpPr>
        <p:spPr>
          <a:xfrm>
            <a:off x="1693124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5" name="Google Shape;935;p58"/>
          <p:cNvSpPr/>
          <p:nvPr/>
        </p:nvSpPr>
        <p:spPr>
          <a:xfrm>
            <a:off x="450663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6" name="Google Shape;936;p58"/>
          <p:cNvSpPr/>
          <p:nvPr/>
        </p:nvSpPr>
        <p:spPr>
          <a:xfrm>
            <a:off x="1842335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7" name="Google Shape;937;p58"/>
          <p:cNvSpPr/>
          <p:nvPr/>
        </p:nvSpPr>
        <p:spPr>
          <a:xfrm>
            <a:off x="1693124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8" name="Google Shape;938;p58"/>
          <p:cNvSpPr/>
          <p:nvPr/>
        </p:nvSpPr>
        <p:spPr>
          <a:xfrm>
            <a:off x="342338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39" name="Google Shape;939;p58"/>
          <p:cNvCxnSpPr>
            <a:stCxn id="933" idx="4"/>
            <a:endCxn id="931" idx="0"/>
          </p:cNvCxnSpPr>
          <p:nvPr/>
        </p:nvCxnSpPr>
        <p:spPr>
          <a:xfrm>
            <a:off x="1256743" y="307452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58"/>
          <p:cNvSpPr/>
          <p:nvPr/>
        </p:nvSpPr>
        <p:spPr>
          <a:xfrm>
            <a:off x="1102604" y="4378177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41" name="Google Shape;941;p58"/>
          <p:cNvCxnSpPr>
            <a:stCxn id="940" idx="0"/>
            <a:endCxn id="931" idx="4"/>
          </p:cNvCxnSpPr>
          <p:nvPr/>
        </p:nvCxnSpPr>
        <p:spPr>
          <a:xfrm rot="10800000">
            <a:off x="1256804" y="3965377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58"/>
          <p:cNvCxnSpPr>
            <a:stCxn id="938" idx="6"/>
            <a:endCxn id="931" idx="2"/>
          </p:cNvCxnSpPr>
          <p:nvPr/>
        </p:nvCxnSpPr>
        <p:spPr>
          <a:xfrm>
            <a:off x="671138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58"/>
          <p:cNvCxnSpPr>
            <a:stCxn id="936" idx="2"/>
            <a:endCxn id="931" idx="6"/>
          </p:cNvCxnSpPr>
          <p:nvPr/>
        </p:nvCxnSpPr>
        <p:spPr>
          <a:xfrm rot="10800000">
            <a:off x="1503335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58"/>
          <p:cNvCxnSpPr>
            <a:stCxn id="931" idx="1"/>
            <a:endCxn id="932" idx="5"/>
          </p:cNvCxnSpPr>
          <p:nvPr/>
        </p:nvCxnSpPr>
        <p:spPr>
          <a:xfrm rot="10800000">
            <a:off x="731302" y="334371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8"/>
          <p:cNvCxnSpPr>
            <a:stCxn id="931" idx="7"/>
            <a:endCxn id="934" idx="3"/>
          </p:cNvCxnSpPr>
          <p:nvPr/>
        </p:nvCxnSpPr>
        <p:spPr>
          <a:xfrm flipH="1" rot="10800000">
            <a:off x="1431047" y="334371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58"/>
          <p:cNvCxnSpPr>
            <a:stCxn id="935" idx="7"/>
            <a:endCxn id="931" idx="3"/>
          </p:cNvCxnSpPr>
          <p:nvPr/>
        </p:nvCxnSpPr>
        <p:spPr>
          <a:xfrm flipH="1" rot="10800000">
            <a:off x="731312" y="389324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58"/>
          <p:cNvCxnSpPr>
            <a:stCxn id="937" idx="1"/>
            <a:endCxn id="931" idx="5"/>
          </p:cNvCxnSpPr>
          <p:nvPr/>
        </p:nvCxnSpPr>
        <p:spPr>
          <a:xfrm rot="10800000">
            <a:off x="1431075" y="389324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58"/>
          <p:cNvCxnSpPr>
            <a:stCxn id="933" idx="2"/>
            <a:endCxn id="932" idx="0"/>
          </p:cNvCxnSpPr>
          <p:nvPr/>
        </p:nvCxnSpPr>
        <p:spPr>
          <a:xfrm flipH="1">
            <a:off x="615043" y="2924976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58"/>
          <p:cNvCxnSpPr>
            <a:stCxn id="932" idx="3"/>
            <a:endCxn id="938" idx="0"/>
          </p:cNvCxnSpPr>
          <p:nvPr/>
        </p:nvCxnSpPr>
        <p:spPr>
          <a:xfrm>
            <a:off x="498815" y="3343734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58"/>
          <p:cNvCxnSpPr>
            <a:stCxn id="933" idx="3"/>
            <a:endCxn id="938" idx="7"/>
          </p:cNvCxnSpPr>
          <p:nvPr/>
        </p:nvCxnSpPr>
        <p:spPr>
          <a:xfrm flipH="1">
            <a:off x="622994" y="3030723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58"/>
          <p:cNvCxnSpPr>
            <a:stCxn id="933" idx="3"/>
            <a:endCxn id="935" idx="0"/>
          </p:cNvCxnSpPr>
          <p:nvPr/>
        </p:nvCxnSpPr>
        <p:spPr>
          <a:xfrm flipH="1">
            <a:off x="615194" y="3030723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58"/>
          <p:cNvCxnSpPr>
            <a:stCxn id="938" idx="4"/>
            <a:endCxn id="935" idx="0"/>
          </p:cNvCxnSpPr>
          <p:nvPr/>
        </p:nvCxnSpPr>
        <p:spPr>
          <a:xfrm>
            <a:off x="506738" y="3868848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58"/>
          <p:cNvCxnSpPr>
            <a:stCxn id="932" idx="5"/>
            <a:endCxn id="935" idx="7"/>
          </p:cNvCxnSpPr>
          <p:nvPr/>
        </p:nvCxnSpPr>
        <p:spPr>
          <a:xfrm>
            <a:off x="731312" y="3343734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58"/>
          <p:cNvCxnSpPr>
            <a:stCxn id="936" idx="3"/>
            <a:endCxn id="935" idx="6"/>
          </p:cNvCxnSpPr>
          <p:nvPr/>
        </p:nvCxnSpPr>
        <p:spPr>
          <a:xfrm flipH="1">
            <a:off x="779586" y="3825046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58"/>
          <p:cNvCxnSpPr>
            <a:stCxn id="940" idx="2"/>
            <a:endCxn id="935" idx="5"/>
          </p:cNvCxnSpPr>
          <p:nvPr/>
        </p:nvCxnSpPr>
        <p:spPr>
          <a:xfrm rot="10800000">
            <a:off x="731204" y="4306327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58"/>
          <p:cNvCxnSpPr>
            <a:stCxn id="937" idx="3"/>
          </p:cNvCxnSpPr>
          <p:nvPr/>
        </p:nvCxnSpPr>
        <p:spPr>
          <a:xfrm flipH="1">
            <a:off x="1430475" y="4306343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58"/>
          <p:cNvCxnSpPr>
            <a:stCxn id="936" idx="4"/>
            <a:endCxn id="937" idx="7"/>
          </p:cNvCxnSpPr>
          <p:nvPr/>
        </p:nvCxnSpPr>
        <p:spPr>
          <a:xfrm flipH="1">
            <a:off x="1973735" y="3868848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58"/>
          <p:cNvCxnSpPr>
            <a:stCxn id="936" idx="0"/>
            <a:endCxn id="934" idx="4"/>
          </p:cNvCxnSpPr>
          <p:nvPr/>
        </p:nvCxnSpPr>
        <p:spPr>
          <a:xfrm rot="10800000">
            <a:off x="1857635" y="3387648"/>
            <a:ext cx="1491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58"/>
          <p:cNvCxnSpPr>
            <a:stCxn id="937" idx="0"/>
            <a:endCxn id="933" idx="5"/>
          </p:cNvCxnSpPr>
          <p:nvPr/>
        </p:nvCxnSpPr>
        <p:spPr>
          <a:xfrm rot="10800000">
            <a:off x="1373024" y="3030745"/>
            <a:ext cx="4845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58"/>
          <p:cNvCxnSpPr>
            <a:stCxn id="937" idx="2"/>
            <a:endCxn id="935" idx="5"/>
          </p:cNvCxnSpPr>
          <p:nvPr/>
        </p:nvCxnSpPr>
        <p:spPr>
          <a:xfrm flipH="1">
            <a:off x="731324" y="4200595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58"/>
          <p:cNvCxnSpPr>
            <a:stCxn id="934" idx="1"/>
            <a:endCxn id="933" idx="6"/>
          </p:cNvCxnSpPr>
          <p:nvPr/>
        </p:nvCxnSpPr>
        <p:spPr>
          <a:xfrm rot="10800000">
            <a:off x="1421175" y="2924938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58"/>
          <p:cNvSpPr txBox="1"/>
          <p:nvPr/>
        </p:nvSpPr>
        <p:spPr>
          <a:xfrm>
            <a:off x="7071325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63" name="Google Shape;963;p58"/>
          <p:cNvSpPr txBox="1"/>
          <p:nvPr/>
        </p:nvSpPr>
        <p:spPr>
          <a:xfrm>
            <a:off x="4847350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ES_{Ego} = 8 - \frac{27}{8} = 8 - 3.38 = 4.63&#10;%a05a5065-07a8-4627-bd84-e7bea750ddf7" id="964" name="Google Shape;964;p58"/>
          <p:cNvPicPr preferRelativeResize="0"/>
          <p:nvPr/>
        </p:nvPicPr>
        <p:blipFill rotWithShape="1">
          <a:blip r:embed="rId5">
            <a:alphaModFix/>
          </a:blip>
          <a:srcRect b="0" l="0" r="73870" t="0"/>
          <a:stretch/>
        </p:blipFill>
        <p:spPr>
          <a:xfrm>
            <a:off x="3246121" y="2207775"/>
            <a:ext cx="12618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58"/>
          <p:cNvSpPr txBox="1"/>
          <p:nvPr/>
        </p:nvSpPr>
        <p:spPr>
          <a:xfrm>
            <a:off x="4628875" y="2346450"/>
            <a:ext cx="3069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8 - (24/8) = 8 - 3 = 5</a:t>
            </a:r>
            <a:endParaRPr sz="2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66" name="Google Shape;966;p58"/>
          <p:cNvGraphicFramePr/>
          <p:nvPr/>
        </p:nvGraphicFramePr>
        <p:xfrm>
          <a:off x="4461113" y="304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57150"/>
              </a:tblGrid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7" name="Google Shape;967;p58"/>
          <p:cNvGraphicFramePr/>
          <p:nvPr/>
        </p:nvGraphicFramePr>
        <p:xfrm>
          <a:off x="256032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</a:tblGrid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Effective Size (ES)</a:t>
            </a:r>
            <a:endParaRPr/>
          </a:p>
        </p:txBody>
      </p:sp>
      <p:sp>
        <p:nvSpPr>
          <p:cNvPr id="973" name="Google Shape;973;p59"/>
          <p:cNvSpPr txBox="1"/>
          <p:nvPr/>
        </p:nvSpPr>
        <p:spPr>
          <a:xfrm>
            <a:off x="492375" y="4677275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Eff. Size = 4.5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74" name="Google Shape;974;p59"/>
          <p:cNvSpPr/>
          <p:nvPr/>
        </p:nvSpPr>
        <p:spPr>
          <a:xfrm>
            <a:off x="7625824" y="346623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5" name="Google Shape;975;p59"/>
          <p:cNvSpPr/>
          <p:nvPr/>
        </p:nvSpPr>
        <p:spPr>
          <a:xfrm>
            <a:off x="7066413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6" name="Google Shape;976;p59"/>
          <p:cNvSpPr/>
          <p:nvPr/>
        </p:nvSpPr>
        <p:spPr>
          <a:xfrm>
            <a:off x="7708093" y="276840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7" name="Google Shape;977;p59"/>
          <p:cNvSpPr/>
          <p:nvPr/>
        </p:nvSpPr>
        <p:spPr>
          <a:xfrm>
            <a:off x="8308874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8" name="Google Shape;978;p59"/>
          <p:cNvSpPr/>
          <p:nvPr/>
        </p:nvSpPr>
        <p:spPr>
          <a:xfrm>
            <a:off x="7066413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9" name="Google Shape;979;p59"/>
          <p:cNvSpPr/>
          <p:nvPr/>
        </p:nvSpPr>
        <p:spPr>
          <a:xfrm>
            <a:off x="8458085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80" name="Google Shape;980;p59"/>
          <p:cNvSpPr/>
          <p:nvPr/>
        </p:nvSpPr>
        <p:spPr>
          <a:xfrm>
            <a:off x="8308874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81" name="Google Shape;981;p59"/>
          <p:cNvSpPr/>
          <p:nvPr/>
        </p:nvSpPr>
        <p:spPr>
          <a:xfrm>
            <a:off x="6958088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82" name="Google Shape;982;p59"/>
          <p:cNvCxnSpPr>
            <a:stCxn id="976" idx="4"/>
            <a:endCxn id="974" idx="0"/>
          </p:cNvCxnSpPr>
          <p:nvPr/>
        </p:nvCxnSpPr>
        <p:spPr>
          <a:xfrm>
            <a:off x="7872493" y="306750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3" name="Google Shape;983;p59"/>
          <p:cNvSpPr/>
          <p:nvPr/>
        </p:nvSpPr>
        <p:spPr>
          <a:xfrm>
            <a:off x="7718354" y="437115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84" name="Google Shape;984;p59"/>
          <p:cNvCxnSpPr>
            <a:stCxn id="983" idx="0"/>
            <a:endCxn id="974" idx="4"/>
          </p:cNvCxnSpPr>
          <p:nvPr/>
        </p:nvCxnSpPr>
        <p:spPr>
          <a:xfrm rot="10800000">
            <a:off x="7872554" y="395835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59"/>
          <p:cNvCxnSpPr>
            <a:stCxn id="981" idx="6"/>
            <a:endCxn id="974" idx="2"/>
          </p:cNvCxnSpPr>
          <p:nvPr/>
        </p:nvCxnSpPr>
        <p:spPr>
          <a:xfrm>
            <a:off x="7286888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59"/>
          <p:cNvCxnSpPr>
            <a:stCxn id="979" idx="2"/>
            <a:endCxn id="974" idx="6"/>
          </p:cNvCxnSpPr>
          <p:nvPr/>
        </p:nvCxnSpPr>
        <p:spPr>
          <a:xfrm rot="10800000">
            <a:off x="8119085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59"/>
          <p:cNvCxnSpPr>
            <a:stCxn id="974" idx="1"/>
            <a:endCxn id="975" idx="5"/>
          </p:cNvCxnSpPr>
          <p:nvPr/>
        </p:nvCxnSpPr>
        <p:spPr>
          <a:xfrm rot="10800000">
            <a:off x="7347052" y="333668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59"/>
          <p:cNvCxnSpPr>
            <a:stCxn id="974" idx="7"/>
            <a:endCxn id="977" idx="3"/>
          </p:cNvCxnSpPr>
          <p:nvPr/>
        </p:nvCxnSpPr>
        <p:spPr>
          <a:xfrm flipH="1" rot="10800000">
            <a:off x="8046797" y="333668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59"/>
          <p:cNvCxnSpPr>
            <a:stCxn id="978" idx="7"/>
            <a:endCxn id="974" idx="3"/>
          </p:cNvCxnSpPr>
          <p:nvPr/>
        </p:nvCxnSpPr>
        <p:spPr>
          <a:xfrm flipH="1" rot="10800000">
            <a:off x="7347062" y="388622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59"/>
          <p:cNvCxnSpPr>
            <a:stCxn id="980" idx="1"/>
            <a:endCxn id="974" idx="5"/>
          </p:cNvCxnSpPr>
          <p:nvPr/>
        </p:nvCxnSpPr>
        <p:spPr>
          <a:xfrm rot="10800000">
            <a:off x="8046825" y="388622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59"/>
          <p:cNvCxnSpPr>
            <a:stCxn id="976" idx="2"/>
            <a:endCxn id="975" idx="0"/>
          </p:cNvCxnSpPr>
          <p:nvPr/>
        </p:nvCxnSpPr>
        <p:spPr>
          <a:xfrm flipH="1">
            <a:off x="7230793" y="291795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59"/>
          <p:cNvCxnSpPr>
            <a:stCxn id="975" idx="3"/>
            <a:endCxn id="981" idx="0"/>
          </p:cNvCxnSpPr>
          <p:nvPr/>
        </p:nvCxnSpPr>
        <p:spPr>
          <a:xfrm>
            <a:off x="7114565" y="333670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59"/>
          <p:cNvCxnSpPr>
            <a:stCxn id="976" idx="3"/>
            <a:endCxn id="981" idx="7"/>
          </p:cNvCxnSpPr>
          <p:nvPr/>
        </p:nvCxnSpPr>
        <p:spPr>
          <a:xfrm flipH="1">
            <a:off x="7238744" y="302369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59"/>
          <p:cNvCxnSpPr>
            <a:stCxn id="981" idx="4"/>
            <a:endCxn id="978" idx="0"/>
          </p:cNvCxnSpPr>
          <p:nvPr/>
        </p:nvCxnSpPr>
        <p:spPr>
          <a:xfrm>
            <a:off x="7122488" y="386182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59"/>
          <p:cNvCxnSpPr>
            <a:stCxn id="975" idx="5"/>
            <a:endCxn id="978" idx="7"/>
          </p:cNvCxnSpPr>
          <p:nvPr/>
        </p:nvCxnSpPr>
        <p:spPr>
          <a:xfrm>
            <a:off x="7347062" y="333670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59"/>
          <p:cNvCxnSpPr>
            <a:stCxn id="980" idx="3"/>
          </p:cNvCxnSpPr>
          <p:nvPr/>
        </p:nvCxnSpPr>
        <p:spPr>
          <a:xfrm flipH="1">
            <a:off x="8046225" y="429931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59"/>
          <p:cNvCxnSpPr>
            <a:stCxn id="979" idx="4"/>
            <a:endCxn id="980" idx="7"/>
          </p:cNvCxnSpPr>
          <p:nvPr/>
        </p:nvCxnSpPr>
        <p:spPr>
          <a:xfrm flipH="1">
            <a:off x="8589485" y="386182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ES_{Ego} = k_{Ego} - \bar{k}_{Alters}&#10;%f6be2682-3d0a-44da-a4b7-98fd406f0575" id="998" name="Google Shape;99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950" y="1250963"/>
            <a:ext cx="30765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_{Ego} = 8 - \bar{k}_{Alters}&#10;%e45c781f-1699-458f-ba28-5ef47ec0e751" id="999" name="Google Shape;99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250" y="1754775"/>
            <a:ext cx="26574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59"/>
          <p:cNvSpPr txBox="1"/>
          <p:nvPr/>
        </p:nvSpPr>
        <p:spPr>
          <a:xfrm>
            <a:off x="2843784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1" name="Google Shape;1001;p59"/>
          <p:cNvSpPr txBox="1"/>
          <p:nvPr/>
        </p:nvSpPr>
        <p:spPr>
          <a:xfrm>
            <a:off x="4847350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5.5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2" name="Google Shape;1002;p59"/>
          <p:cNvSpPr txBox="1"/>
          <p:nvPr/>
        </p:nvSpPr>
        <p:spPr>
          <a:xfrm>
            <a:off x="7114575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3" name="Google Shape;1003;p59"/>
          <p:cNvSpPr/>
          <p:nvPr/>
        </p:nvSpPr>
        <p:spPr>
          <a:xfrm>
            <a:off x="1010074" y="3473262"/>
            <a:ext cx="493200" cy="492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4" name="Google Shape;1004;p59"/>
          <p:cNvSpPr/>
          <p:nvPr/>
        </p:nvSpPr>
        <p:spPr>
          <a:xfrm>
            <a:off x="450663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5" name="Google Shape;1005;p59"/>
          <p:cNvSpPr/>
          <p:nvPr/>
        </p:nvSpPr>
        <p:spPr>
          <a:xfrm>
            <a:off x="1092343" y="277542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6" name="Google Shape;1006;p59"/>
          <p:cNvSpPr/>
          <p:nvPr/>
        </p:nvSpPr>
        <p:spPr>
          <a:xfrm>
            <a:off x="1693124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7" name="Google Shape;1007;p59"/>
          <p:cNvSpPr/>
          <p:nvPr/>
        </p:nvSpPr>
        <p:spPr>
          <a:xfrm>
            <a:off x="450663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8" name="Google Shape;1008;p59"/>
          <p:cNvSpPr/>
          <p:nvPr/>
        </p:nvSpPr>
        <p:spPr>
          <a:xfrm>
            <a:off x="1842335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9" name="Google Shape;1009;p59"/>
          <p:cNvSpPr/>
          <p:nvPr/>
        </p:nvSpPr>
        <p:spPr>
          <a:xfrm>
            <a:off x="1693124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10" name="Google Shape;1010;p59"/>
          <p:cNvSpPr/>
          <p:nvPr/>
        </p:nvSpPr>
        <p:spPr>
          <a:xfrm>
            <a:off x="342338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11" name="Google Shape;1011;p59"/>
          <p:cNvCxnSpPr>
            <a:stCxn id="1005" idx="4"/>
            <a:endCxn id="1003" idx="0"/>
          </p:cNvCxnSpPr>
          <p:nvPr/>
        </p:nvCxnSpPr>
        <p:spPr>
          <a:xfrm>
            <a:off x="1256743" y="307452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2" name="Google Shape;1012;p59"/>
          <p:cNvSpPr/>
          <p:nvPr/>
        </p:nvSpPr>
        <p:spPr>
          <a:xfrm>
            <a:off x="1102604" y="4378177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13" name="Google Shape;1013;p59"/>
          <p:cNvCxnSpPr>
            <a:stCxn id="1012" idx="0"/>
            <a:endCxn id="1003" idx="4"/>
          </p:cNvCxnSpPr>
          <p:nvPr/>
        </p:nvCxnSpPr>
        <p:spPr>
          <a:xfrm rot="10800000">
            <a:off x="1256804" y="3965377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59"/>
          <p:cNvCxnSpPr>
            <a:stCxn id="1010" idx="6"/>
            <a:endCxn id="1003" idx="2"/>
          </p:cNvCxnSpPr>
          <p:nvPr/>
        </p:nvCxnSpPr>
        <p:spPr>
          <a:xfrm>
            <a:off x="671138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59"/>
          <p:cNvCxnSpPr>
            <a:stCxn id="1008" idx="2"/>
            <a:endCxn id="1003" idx="6"/>
          </p:cNvCxnSpPr>
          <p:nvPr/>
        </p:nvCxnSpPr>
        <p:spPr>
          <a:xfrm rot="10800000">
            <a:off x="1503335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59"/>
          <p:cNvCxnSpPr>
            <a:stCxn id="1003" idx="1"/>
            <a:endCxn id="1004" idx="5"/>
          </p:cNvCxnSpPr>
          <p:nvPr/>
        </p:nvCxnSpPr>
        <p:spPr>
          <a:xfrm rot="10800000">
            <a:off x="731302" y="334371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59"/>
          <p:cNvCxnSpPr>
            <a:stCxn id="1003" idx="7"/>
            <a:endCxn id="1006" idx="3"/>
          </p:cNvCxnSpPr>
          <p:nvPr/>
        </p:nvCxnSpPr>
        <p:spPr>
          <a:xfrm flipH="1" rot="10800000">
            <a:off x="1431047" y="334371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8" name="Google Shape;1018;p59"/>
          <p:cNvCxnSpPr>
            <a:stCxn id="1007" idx="7"/>
            <a:endCxn id="1003" idx="3"/>
          </p:cNvCxnSpPr>
          <p:nvPr/>
        </p:nvCxnSpPr>
        <p:spPr>
          <a:xfrm flipH="1" rot="10800000">
            <a:off x="731312" y="389324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59"/>
          <p:cNvCxnSpPr>
            <a:stCxn id="1009" idx="1"/>
            <a:endCxn id="1003" idx="5"/>
          </p:cNvCxnSpPr>
          <p:nvPr/>
        </p:nvCxnSpPr>
        <p:spPr>
          <a:xfrm rot="10800000">
            <a:off x="1431075" y="389324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59"/>
          <p:cNvCxnSpPr>
            <a:stCxn id="1005" idx="2"/>
            <a:endCxn id="1004" idx="0"/>
          </p:cNvCxnSpPr>
          <p:nvPr/>
        </p:nvCxnSpPr>
        <p:spPr>
          <a:xfrm flipH="1">
            <a:off x="615043" y="2924976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59"/>
          <p:cNvCxnSpPr>
            <a:stCxn id="1004" idx="3"/>
            <a:endCxn id="1010" idx="0"/>
          </p:cNvCxnSpPr>
          <p:nvPr/>
        </p:nvCxnSpPr>
        <p:spPr>
          <a:xfrm>
            <a:off x="498815" y="3343734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59"/>
          <p:cNvCxnSpPr>
            <a:stCxn id="1005" idx="3"/>
            <a:endCxn id="1010" idx="7"/>
          </p:cNvCxnSpPr>
          <p:nvPr/>
        </p:nvCxnSpPr>
        <p:spPr>
          <a:xfrm flipH="1">
            <a:off x="622994" y="3030723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59"/>
          <p:cNvCxnSpPr>
            <a:stCxn id="1005" idx="3"/>
            <a:endCxn id="1007" idx="0"/>
          </p:cNvCxnSpPr>
          <p:nvPr/>
        </p:nvCxnSpPr>
        <p:spPr>
          <a:xfrm flipH="1">
            <a:off x="615194" y="3030723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59"/>
          <p:cNvCxnSpPr>
            <a:stCxn id="1010" idx="4"/>
            <a:endCxn id="1007" idx="0"/>
          </p:cNvCxnSpPr>
          <p:nvPr/>
        </p:nvCxnSpPr>
        <p:spPr>
          <a:xfrm>
            <a:off x="506738" y="3868848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59"/>
          <p:cNvCxnSpPr>
            <a:stCxn id="1004" idx="5"/>
            <a:endCxn id="1007" idx="7"/>
          </p:cNvCxnSpPr>
          <p:nvPr/>
        </p:nvCxnSpPr>
        <p:spPr>
          <a:xfrm>
            <a:off x="731312" y="3343734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59"/>
          <p:cNvCxnSpPr>
            <a:stCxn id="1008" idx="3"/>
            <a:endCxn id="1007" idx="6"/>
          </p:cNvCxnSpPr>
          <p:nvPr/>
        </p:nvCxnSpPr>
        <p:spPr>
          <a:xfrm flipH="1">
            <a:off x="779586" y="3825046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59"/>
          <p:cNvCxnSpPr>
            <a:stCxn id="1012" idx="2"/>
            <a:endCxn id="1007" idx="5"/>
          </p:cNvCxnSpPr>
          <p:nvPr/>
        </p:nvCxnSpPr>
        <p:spPr>
          <a:xfrm rot="10800000">
            <a:off x="731204" y="4306327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59"/>
          <p:cNvCxnSpPr>
            <a:stCxn id="1009" idx="3"/>
          </p:cNvCxnSpPr>
          <p:nvPr/>
        </p:nvCxnSpPr>
        <p:spPr>
          <a:xfrm flipH="1">
            <a:off x="1430475" y="4306343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59"/>
          <p:cNvCxnSpPr>
            <a:stCxn id="1008" idx="4"/>
            <a:endCxn id="1009" idx="7"/>
          </p:cNvCxnSpPr>
          <p:nvPr/>
        </p:nvCxnSpPr>
        <p:spPr>
          <a:xfrm flipH="1">
            <a:off x="1973735" y="3868848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59"/>
          <p:cNvCxnSpPr>
            <a:stCxn id="1008" idx="0"/>
            <a:endCxn id="1006" idx="4"/>
          </p:cNvCxnSpPr>
          <p:nvPr/>
        </p:nvCxnSpPr>
        <p:spPr>
          <a:xfrm rot="10800000">
            <a:off x="1857635" y="3387648"/>
            <a:ext cx="1491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59"/>
          <p:cNvCxnSpPr>
            <a:stCxn id="1009" idx="0"/>
            <a:endCxn id="1005" idx="5"/>
          </p:cNvCxnSpPr>
          <p:nvPr/>
        </p:nvCxnSpPr>
        <p:spPr>
          <a:xfrm rot="10800000">
            <a:off x="1373024" y="3030745"/>
            <a:ext cx="4845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59"/>
          <p:cNvCxnSpPr>
            <a:stCxn id="1009" idx="2"/>
            <a:endCxn id="1007" idx="5"/>
          </p:cNvCxnSpPr>
          <p:nvPr/>
        </p:nvCxnSpPr>
        <p:spPr>
          <a:xfrm flipH="1">
            <a:off x="731324" y="4200595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59"/>
          <p:cNvCxnSpPr>
            <a:stCxn id="1006" idx="1"/>
            <a:endCxn id="1005" idx="6"/>
          </p:cNvCxnSpPr>
          <p:nvPr/>
        </p:nvCxnSpPr>
        <p:spPr>
          <a:xfrm rot="10800000">
            <a:off x="1421175" y="2924938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59"/>
          <p:cNvSpPr/>
          <p:nvPr/>
        </p:nvSpPr>
        <p:spPr>
          <a:xfrm>
            <a:off x="3234037" y="35078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35" name="Google Shape;1035;p59"/>
          <p:cNvSpPr/>
          <p:nvPr/>
        </p:nvSpPr>
        <p:spPr>
          <a:xfrm>
            <a:off x="267462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36" name="Google Shape;1036;p59"/>
          <p:cNvSpPr/>
          <p:nvPr/>
        </p:nvSpPr>
        <p:spPr>
          <a:xfrm>
            <a:off x="3316305" y="28100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37" name="Google Shape;1037;p59"/>
          <p:cNvSpPr/>
          <p:nvPr/>
        </p:nvSpPr>
        <p:spPr>
          <a:xfrm>
            <a:off x="391708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38" name="Google Shape;1038;p59"/>
          <p:cNvSpPr/>
          <p:nvPr/>
        </p:nvSpPr>
        <p:spPr>
          <a:xfrm>
            <a:off x="267462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39" name="Google Shape;1039;p59"/>
          <p:cNvSpPr/>
          <p:nvPr/>
        </p:nvSpPr>
        <p:spPr>
          <a:xfrm>
            <a:off x="4066297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40" name="Google Shape;1040;p59"/>
          <p:cNvSpPr/>
          <p:nvPr/>
        </p:nvSpPr>
        <p:spPr>
          <a:xfrm>
            <a:off x="391708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41" name="Google Shape;1041;p59"/>
          <p:cNvSpPr/>
          <p:nvPr/>
        </p:nvSpPr>
        <p:spPr>
          <a:xfrm>
            <a:off x="2566300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42" name="Google Shape;1042;p59"/>
          <p:cNvCxnSpPr>
            <a:stCxn id="1036" idx="4"/>
            <a:endCxn id="1034" idx="0"/>
          </p:cNvCxnSpPr>
          <p:nvPr/>
        </p:nvCxnSpPr>
        <p:spPr>
          <a:xfrm>
            <a:off x="3480705" y="31091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3" name="Google Shape;1043;p59"/>
          <p:cNvSpPr/>
          <p:nvPr/>
        </p:nvSpPr>
        <p:spPr>
          <a:xfrm>
            <a:off x="3326567" y="44128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44" name="Google Shape;1044;p59"/>
          <p:cNvCxnSpPr>
            <a:stCxn id="1043" idx="0"/>
            <a:endCxn id="1034" idx="4"/>
          </p:cNvCxnSpPr>
          <p:nvPr/>
        </p:nvCxnSpPr>
        <p:spPr>
          <a:xfrm rot="10800000">
            <a:off x="3480767" y="40000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59"/>
          <p:cNvCxnSpPr>
            <a:stCxn id="1041" idx="6"/>
            <a:endCxn id="1034" idx="2"/>
          </p:cNvCxnSpPr>
          <p:nvPr/>
        </p:nvCxnSpPr>
        <p:spPr>
          <a:xfrm>
            <a:off x="2895100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59"/>
          <p:cNvCxnSpPr>
            <a:stCxn id="1039" idx="2"/>
            <a:endCxn id="1034" idx="6"/>
          </p:cNvCxnSpPr>
          <p:nvPr/>
        </p:nvCxnSpPr>
        <p:spPr>
          <a:xfrm rot="10800000">
            <a:off x="3727297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59"/>
          <p:cNvCxnSpPr>
            <a:stCxn id="1034" idx="1"/>
            <a:endCxn id="1035" idx="5"/>
          </p:cNvCxnSpPr>
          <p:nvPr/>
        </p:nvCxnSpPr>
        <p:spPr>
          <a:xfrm rot="10800000">
            <a:off x="2955264" y="33783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59"/>
          <p:cNvCxnSpPr>
            <a:stCxn id="1034" idx="7"/>
            <a:endCxn id="1037" idx="3"/>
          </p:cNvCxnSpPr>
          <p:nvPr/>
        </p:nvCxnSpPr>
        <p:spPr>
          <a:xfrm flipH="1" rot="10800000">
            <a:off x="3655009" y="33783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59"/>
          <p:cNvCxnSpPr>
            <a:stCxn id="1038" idx="7"/>
            <a:endCxn id="1034" idx="3"/>
          </p:cNvCxnSpPr>
          <p:nvPr/>
        </p:nvCxnSpPr>
        <p:spPr>
          <a:xfrm flipH="1" rot="10800000">
            <a:off x="2955274" y="39278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59"/>
          <p:cNvCxnSpPr>
            <a:stCxn id="1040" idx="1"/>
            <a:endCxn id="1034" idx="5"/>
          </p:cNvCxnSpPr>
          <p:nvPr/>
        </p:nvCxnSpPr>
        <p:spPr>
          <a:xfrm rot="10800000">
            <a:off x="3655038" y="39278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59"/>
          <p:cNvCxnSpPr>
            <a:stCxn id="1036" idx="2"/>
            <a:endCxn id="1035" idx="0"/>
          </p:cNvCxnSpPr>
          <p:nvPr/>
        </p:nvCxnSpPr>
        <p:spPr>
          <a:xfrm flipH="1">
            <a:off x="2839005" y="29596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59"/>
          <p:cNvCxnSpPr>
            <a:stCxn id="1035" idx="3"/>
            <a:endCxn id="1041" idx="0"/>
          </p:cNvCxnSpPr>
          <p:nvPr/>
        </p:nvCxnSpPr>
        <p:spPr>
          <a:xfrm>
            <a:off x="2722777" y="33783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59"/>
          <p:cNvCxnSpPr>
            <a:stCxn id="1036" idx="3"/>
            <a:endCxn id="1041" idx="7"/>
          </p:cNvCxnSpPr>
          <p:nvPr/>
        </p:nvCxnSpPr>
        <p:spPr>
          <a:xfrm flipH="1">
            <a:off x="2846957" y="30653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59"/>
          <p:cNvCxnSpPr>
            <a:stCxn id="1036" idx="3"/>
            <a:endCxn id="1038" idx="0"/>
          </p:cNvCxnSpPr>
          <p:nvPr/>
        </p:nvCxnSpPr>
        <p:spPr>
          <a:xfrm flipH="1">
            <a:off x="2839157" y="30653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59"/>
          <p:cNvCxnSpPr>
            <a:stCxn id="1041" idx="4"/>
            <a:endCxn id="1038" idx="0"/>
          </p:cNvCxnSpPr>
          <p:nvPr/>
        </p:nvCxnSpPr>
        <p:spPr>
          <a:xfrm>
            <a:off x="2730700" y="39034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59"/>
          <p:cNvCxnSpPr>
            <a:stCxn id="1035" idx="5"/>
            <a:endCxn id="1038" idx="7"/>
          </p:cNvCxnSpPr>
          <p:nvPr/>
        </p:nvCxnSpPr>
        <p:spPr>
          <a:xfrm>
            <a:off x="2955274" y="33783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59"/>
          <p:cNvCxnSpPr>
            <a:stCxn id="1039" idx="3"/>
            <a:endCxn id="1038" idx="6"/>
          </p:cNvCxnSpPr>
          <p:nvPr/>
        </p:nvCxnSpPr>
        <p:spPr>
          <a:xfrm flipH="1">
            <a:off x="3003549" y="38596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59"/>
          <p:cNvCxnSpPr>
            <a:stCxn id="1043" idx="2"/>
            <a:endCxn id="1038" idx="5"/>
          </p:cNvCxnSpPr>
          <p:nvPr/>
        </p:nvCxnSpPr>
        <p:spPr>
          <a:xfrm rot="10800000">
            <a:off x="2955167" y="43409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59"/>
          <p:cNvCxnSpPr>
            <a:stCxn id="1040" idx="3"/>
          </p:cNvCxnSpPr>
          <p:nvPr/>
        </p:nvCxnSpPr>
        <p:spPr>
          <a:xfrm flipH="1">
            <a:off x="3654438" y="43409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59"/>
          <p:cNvCxnSpPr>
            <a:stCxn id="1039" idx="4"/>
            <a:endCxn id="1040" idx="7"/>
          </p:cNvCxnSpPr>
          <p:nvPr/>
        </p:nvCxnSpPr>
        <p:spPr>
          <a:xfrm flipH="1">
            <a:off x="4197697" y="39034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59"/>
          <p:cNvCxnSpPr>
            <a:stCxn id="1037" idx="1"/>
            <a:endCxn id="1036" idx="6"/>
          </p:cNvCxnSpPr>
          <p:nvPr/>
        </p:nvCxnSpPr>
        <p:spPr>
          <a:xfrm rot="10800000">
            <a:off x="3645138" y="2959563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59"/>
          <p:cNvCxnSpPr>
            <a:stCxn id="1040" idx="2"/>
            <a:endCxn id="1038" idx="5"/>
          </p:cNvCxnSpPr>
          <p:nvPr/>
        </p:nvCxnSpPr>
        <p:spPr>
          <a:xfrm flipH="1">
            <a:off x="2955286" y="4235220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63" name="Google Shape;1063;p59"/>
          <p:cNvGraphicFramePr/>
          <p:nvPr/>
        </p:nvGraphicFramePr>
        <p:xfrm>
          <a:off x="6472793" y="304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57150"/>
              </a:tblGrid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64" name="Google Shape;1064;p59"/>
          <p:cNvGraphicFramePr/>
          <p:nvPr/>
        </p:nvGraphicFramePr>
        <p:xfrm>
          <a:off x="457200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</a:tblGrid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ES_{Ego} = 8 - \frac{27}{8} = 8 - 3.38 = 4.63&#10;%a05a5065-07a8-4627-bd84-e7bea750ddf7" id="1065" name="Google Shape;1065;p59"/>
          <p:cNvPicPr preferRelativeResize="0"/>
          <p:nvPr/>
        </p:nvPicPr>
        <p:blipFill rotWithShape="1">
          <a:blip r:embed="rId5">
            <a:alphaModFix/>
          </a:blip>
          <a:srcRect b="0" l="0" r="73870" t="0"/>
          <a:stretch/>
        </p:blipFill>
        <p:spPr>
          <a:xfrm>
            <a:off x="3246121" y="2207775"/>
            <a:ext cx="12618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59"/>
          <p:cNvSpPr txBox="1"/>
          <p:nvPr/>
        </p:nvSpPr>
        <p:spPr>
          <a:xfrm>
            <a:off x="4628875" y="2346450"/>
            <a:ext cx="3069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8 - (20/8) = 8 - 2.5 = 5.5</a:t>
            </a:r>
            <a:endParaRPr sz="2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Effective Size (ES)</a:t>
            </a:r>
            <a:endParaRPr/>
          </a:p>
        </p:txBody>
      </p:sp>
      <p:sp>
        <p:nvSpPr>
          <p:cNvPr id="1072" name="Google Shape;1072;p60"/>
          <p:cNvSpPr txBox="1"/>
          <p:nvPr/>
        </p:nvSpPr>
        <p:spPr>
          <a:xfrm>
            <a:off x="492375" y="4677275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Eff. Size = 4.5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ES_{Ego} = k_{Ego} - \bar{k}_{Alters}&#10;%f6be2682-3d0a-44da-a4b7-98fd406f0575" id="1073" name="Google Shape;10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950" y="1250963"/>
            <a:ext cx="30765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_{Ego} = 8 - \bar{k}_{Alters}&#10;%e45c781f-1699-458f-ba28-5ef47ec0e751" id="1074" name="Google Shape;107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250" y="1754775"/>
            <a:ext cx="26574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60"/>
          <p:cNvSpPr txBox="1"/>
          <p:nvPr/>
        </p:nvSpPr>
        <p:spPr>
          <a:xfrm>
            <a:off x="2843784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76" name="Google Shape;1076;p60"/>
          <p:cNvSpPr txBox="1"/>
          <p:nvPr/>
        </p:nvSpPr>
        <p:spPr>
          <a:xfrm>
            <a:off x="4847350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5.5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77" name="Google Shape;1077;p60"/>
          <p:cNvSpPr/>
          <p:nvPr/>
        </p:nvSpPr>
        <p:spPr>
          <a:xfrm>
            <a:off x="1010074" y="3473262"/>
            <a:ext cx="493200" cy="492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8" name="Google Shape;1078;p60"/>
          <p:cNvSpPr/>
          <p:nvPr/>
        </p:nvSpPr>
        <p:spPr>
          <a:xfrm>
            <a:off x="450663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9" name="Google Shape;1079;p60"/>
          <p:cNvSpPr/>
          <p:nvPr/>
        </p:nvSpPr>
        <p:spPr>
          <a:xfrm>
            <a:off x="1092343" y="277542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80" name="Google Shape;1080;p60"/>
          <p:cNvSpPr/>
          <p:nvPr/>
        </p:nvSpPr>
        <p:spPr>
          <a:xfrm>
            <a:off x="1693124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81" name="Google Shape;1081;p60"/>
          <p:cNvSpPr/>
          <p:nvPr/>
        </p:nvSpPr>
        <p:spPr>
          <a:xfrm>
            <a:off x="450663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82" name="Google Shape;1082;p60"/>
          <p:cNvSpPr/>
          <p:nvPr/>
        </p:nvSpPr>
        <p:spPr>
          <a:xfrm>
            <a:off x="1842335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83" name="Google Shape;1083;p60"/>
          <p:cNvSpPr/>
          <p:nvPr/>
        </p:nvSpPr>
        <p:spPr>
          <a:xfrm>
            <a:off x="1693124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84" name="Google Shape;1084;p60"/>
          <p:cNvSpPr/>
          <p:nvPr/>
        </p:nvSpPr>
        <p:spPr>
          <a:xfrm>
            <a:off x="342338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85" name="Google Shape;1085;p60"/>
          <p:cNvCxnSpPr>
            <a:stCxn id="1079" idx="4"/>
            <a:endCxn id="1077" idx="0"/>
          </p:cNvCxnSpPr>
          <p:nvPr/>
        </p:nvCxnSpPr>
        <p:spPr>
          <a:xfrm>
            <a:off x="1256743" y="307452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60"/>
          <p:cNvSpPr/>
          <p:nvPr/>
        </p:nvSpPr>
        <p:spPr>
          <a:xfrm>
            <a:off x="1102604" y="4378177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87" name="Google Shape;1087;p60"/>
          <p:cNvCxnSpPr>
            <a:stCxn id="1086" idx="0"/>
            <a:endCxn id="1077" idx="4"/>
          </p:cNvCxnSpPr>
          <p:nvPr/>
        </p:nvCxnSpPr>
        <p:spPr>
          <a:xfrm rot="10800000">
            <a:off x="1256804" y="3965377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60"/>
          <p:cNvCxnSpPr>
            <a:stCxn id="1084" idx="6"/>
            <a:endCxn id="1077" idx="2"/>
          </p:cNvCxnSpPr>
          <p:nvPr/>
        </p:nvCxnSpPr>
        <p:spPr>
          <a:xfrm>
            <a:off x="671138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60"/>
          <p:cNvCxnSpPr>
            <a:stCxn id="1082" idx="2"/>
            <a:endCxn id="1077" idx="6"/>
          </p:cNvCxnSpPr>
          <p:nvPr/>
        </p:nvCxnSpPr>
        <p:spPr>
          <a:xfrm rot="10800000">
            <a:off x="1503335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60"/>
          <p:cNvCxnSpPr>
            <a:stCxn id="1077" idx="1"/>
            <a:endCxn id="1078" idx="5"/>
          </p:cNvCxnSpPr>
          <p:nvPr/>
        </p:nvCxnSpPr>
        <p:spPr>
          <a:xfrm rot="10800000">
            <a:off x="731302" y="334371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60"/>
          <p:cNvCxnSpPr>
            <a:stCxn id="1077" idx="7"/>
            <a:endCxn id="1080" idx="3"/>
          </p:cNvCxnSpPr>
          <p:nvPr/>
        </p:nvCxnSpPr>
        <p:spPr>
          <a:xfrm flipH="1" rot="10800000">
            <a:off x="1431047" y="334371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60"/>
          <p:cNvCxnSpPr>
            <a:stCxn id="1081" idx="7"/>
            <a:endCxn id="1077" idx="3"/>
          </p:cNvCxnSpPr>
          <p:nvPr/>
        </p:nvCxnSpPr>
        <p:spPr>
          <a:xfrm flipH="1" rot="10800000">
            <a:off x="731312" y="389324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60"/>
          <p:cNvCxnSpPr>
            <a:stCxn id="1083" idx="1"/>
            <a:endCxn id="1077" idx="5"/>
          </p:cNvCxnSpPr>
          <p:nvPr/>
        </p:nvCxnSpPr>
        <p:spPr>
          <a:xfrm rot="10800000">
            <a:off x="1431075" y="389324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60"/>
          <p:cNvCxnSpPr>
            <a:stCxn id="1079" idx="2"/>
            <a:endCxn id="1078" idx="0"/>
          </p:cNvCxnSpPr>
          <p:nvPr/>
        </p:nvCxnSpPr>
        <p:spPr>
          <a:xfrm flipH="1">
            <a:off x="615043" y="2924976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60"/>
          <p:cNvCxnSpPr>
            <a:stCxn id="1078" idx="3"/>
            <a:endCxn id="1084" idx="0"/>
          </p:cNvCxnSpPr>
          <p:nvPr/>
        </p:nvCxnSpPr>
        <p:spPr>
          <a:xfrm>
            <a:off x="498815" y="3343734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60"/>
          <p:cNvCxnSpPr>
            <a:stCxn id="1079" idx="3"/>
            <a:endCxn id="1084" idx="7"/>
          </p:cNvCxnSpPr>
          <p:nvPr/>
        </p:nvCxnSpPr>
        <p:spPr>
          <a:xfrm flipH="1">
            <a:off x="622994" y="3030723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60"/>
          <p:cNvCxnSpPr>
            <a:stCxn id="1079" idx="3"/>
            <a:endCxn id="1081" idx="0"/>
          </p:cNvCxnSpPr>
          <p:nvPr/>
        </p:nvCxnSpPr>
        <p:spPr>
          <a:xfrm flipH="1">
            <a:off x="615194" y="3030723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60"/>
          <p:cNvCxnSpPr>
            <a:stCxn id="1084" idx="4"/>
            <a:endCxn id="1081" idx="0"/>
          </p:cNvCxnSpPr>
          <p:nvPr/>
        </p:nvCxnSpPr>
        <p:spPr>
          <a:xfrm>
            <a:off x="506738" y="3868848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60"/>
          <p:cNvCxnSpPr>
            <a:stCxn id="1078" idx="5"/>
            <a:endCxn id="1081" idx="7"/>
          </p:cNvCxnSpPr>
          <p:nvPr/>
        </p:nvCxnSpPr>
        <p:spPr>
          <a:xfrm>
            <a:off x="731312" y="3343734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60"/>
          <p:cNvCxnSpPr>
            <a:stCxn id="1082" idx="3"/>
            <a:endCxn id="1081" idx="6"/>
          </p:cNvCxnSpPr>
          <p:nvPr/>
        </p:nvCxnSpPr>
        <p:spPr>
          <a:xfrm flipH="1">
            <a:off x="779586" y="3825046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60"/>
          <p:cNvCxnSpPr>
            <a:stCxn id="1086" idx="2"/>
            <a:endCxn id="1081" idx="5"/>
          </p:cNvCxnSpPr>
          <p:nvPr/>
        </p:nvCxnSpPr>
        <p:spPr>
          <a:xfrm rot="10800000">
            <a:off x="731204" y="4306327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60"/>
          <p:cNvCxnSpPr>
            <a:stCxn id="1083" idx="3"/>
          </p:cNvCxnSpPr>
          <p:nvPr/>
        </p:nvCxnSpPr>
        <p:spPr>
          <a:xfrm flipH="1">
            <a:off x="1430475" y="4306343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60"/>
          <p:cNvCxnSpPr>
            <a:stCxn id="1082" idx="4"/>
            <a:endCxn id="1083" idx="7"/>
          </p:cNvCxnSpPr>
          <p:nvPr/>
        </p:nvCxnSpPr>
        <p:spPr>
          <a:xfrm flipH="1">
            <a:off x="1973735" y="3868848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60"/>
          <p:cNvCxnSpPr>
            <a:stCxn id="1082" idx="0"/>
            <a:endCxn id="1080" idx="4"/>
          </p:cNvCxnSpPr>
          <p:nvPr/>
        </p:nvCxnSpPr>
        <p:spPr>
          <a:xfrm rot="10800000">
            <a:off x="1857635" y="3387648"/>
            <a:ext cx="1491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60"/>
          <p:cNvCxnSpPr>
            <a:stCxn id="1083" idx="0"/>
            <a:endCxn id="1079" idx="5"/>
          </p:cNvCxnSpPr>
          <p:nvPr/>
        </p:nvCxnSpPr>
        <p:spPr>
          <a:xfrm rot="10800000">
            <a:off x="1373024" y="3030745"/>
            <a:ext cx="4845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60"/>
          <p:cNvCxnSpPr>
            <a:stCxn id="1083" idx="2"/>
            <a:endCxn id="1081" idx="5"/>
          </p:cNvCxnSpPr>
          <p:nvPr/>
        </p:nvCxnSpPr>
        <p:spPr>
          <a:xfrm flipH="1">
            <a:off x="731324" y="4200595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60"/>
          <p:cNvCxnSpPr>
            <a:stCxn id="1080" idx="1"/>
            <a:endCxn id="1079" idx="6"/>
          </p:cNvCxnSpPr>
          <p:nvPr/>
        </p:nvCxnSpPr>
        <p:spPr>
          <a:xfrm rot="10800000">
            <a:off x="1421175" y="2924938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8" name="Google Shape;1108;p60"/>
          <p:cNvSpPr/>
          <p:nvPr/>
        </p:nvSpPr>
        <p:spPr>
          <a:xfrm>
            <a:off x="3234037" y="35078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09" name="Google Shape;1109;p60"/>
          <p:cNvSpPr/>
          <p:nvPr/>
        </p:nvSpPr>
        <p:spPr>
          <a:xfrm>
            <a:off x="267462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0" name="Google Shape;1110;p60"/>
          <p:cNvSpPr/>
          <p:nvPr/>
        </p:nvSpPr>
        <p:spPr>
          <a:xfrm>
            <a:off x="3316305" y="28100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1" name="Google Shape;1111;p60"/>
          <p:cNvSpPr/>
          <p:nvPr/>
        </p:nvSpPr>
        <p:spPr>
          <a:xfrm>
            <a:off x="391708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2" name="Google Shape;1112;p60"/>
          <p:cNvSpPr/>
          <p:nvPr/>
        </p:nvSpPr>
        <p:spPr>
          <a:xfrm>
            <a:off x="267462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3" name="Google Shape;1113;p60"/>
          <p:cNvSpPr/>
          <p:nvPr/>
        </p:nvSpPr>
        <p:spPr>
          <a:xfrm>
            <a:off x="4066297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4" name="Google Shape;1114;p60"/>
          <p:cNvSpPr/>
          <p:nvPr/>
        </p:nvSpPr>
        <p:spPr>
          <a:xfrm>
            <a:off x="391708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5" name="Google Shape;1115;p60"/>
          <p:cNvSpPr/>
          <p:nvPr/>
        </p:nvSpPr>
        <p:spPr>
          <a:xfrm>
            <a:off x="2566300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16" name="Google Shape;1116;p60"/>
          <p:cNvCxnSpPr>
            <a:stCxn id="1110" idx="4"/>
            <a:endCxn id="1108" idx="0"/>
          </p:cNvCxnSpPr>
          <p:nvPr/>
        </p:nvCxnSpPr>
        <p:spPr>
          <a:xfrm>
            <a:off x="3480705" y="31091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60"/>
          <p:cNvSpPr/>
          <p:nvPr/>
        </p:nvSpPr>
        <p:spPr>
          <a:xfrm>
            <a:off x="3326567" y="44128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18" name="Google Shape;1118;p60"/>
          <p:cNvCxnSpPr>
            <a:stCxn id="1117" idx="0"/>
            <a:endCxn id="1108" idx="4"/>
          </p:cNvCxnSpPr>
          <p:nvPr/>
        </p:nvCxnSpPr>
        <p:spPr>
          <a:xfrm rot="10800000">
            <a:off x="3480767" y="40000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60"/>
          <p:cNvCxnSpPr>
            <a:stCxn id="1115" idx="6"/>
            <a:endCxn id="1108" idx="2"/>
          </p:cNvCxnSpPr>
          <p:nvPr/>
        </p:nvCxnSpPr>
        <p:spPr>
          <a:xfrm>
            <a:off x="2895100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60"/>
          <p:cNvCxnSpPr>
            <a:stCxn id="1113" idx="2"/>
            <a:endCxn id="1108" idx="6"/>
          </p:cNvCxnSpPr>
          <p:nvPr/>
        </p:nvCxnSpPr>
        <p:spPr>
          <a:xfrm rot="10800000">
            <a:off x="3727297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60"/>
          <p:cNvCxnSpPr>
            <a:stCxn id="1108" idx="1"/>
            <a:endCxn id="1109" idx="5"/>
          </p:cNvCxnSpPr>
          <p:nvPr/>
        </p:nvCxnSpPr>
        <p:spPr>
          <a:xfrm rot="10800000">
            <a:off x="2955264" y="33783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60"/>
          <p:cNvCxnSpPr>
            <a:stCxn id="1108" idx="7"/>
            <a:endCxn id="1111" idx="3"/>
          </p:cNvCxnSpPr>
          <p:nvPr/>
        </p:nvCxnSpPr>
        <p:spPr>
          <a:xfrm flipH="1" rot="10800000">
            <a:off x="3655009" y="33783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60"/>
          <p:cNvCxnSpPr>
            <a:stCxn id="1112" idx="7"/>
            <a:endCxn id="1108" idx="3"/>
          </p:cNvCxnSpPr>
          <p:nvPr/>
        </p:nvCxnSpPr>
        <p:spPr>
          <a:xfrm flipH="1" rot="10800000">
            <a:off x="2955274" y="39278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60"/>
          <p:cNvCxnSpPr>
            <a:stCxn id="1114" idx="1"/>
            <a:endCxn id="1108" idx="5"/>
          </p:cNvCxnSpPr>
          <p:nvPr/>
        </p:nvCxnSpPr>
        <p:spPr>
          <a:xfrm rot="10800000">
            <a:off x="3655038" y="39278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60"/>
          <p:cNvCxnSpPr>
            <a:stCxn id="1110" idx="2"/>
            <a:endCxn id="1109" idx="0"/>
          </p:cNvCxnSpPr>
          <p:nvPr/>
        </p:nvCxnSpPr>
        <p:spPr>
          <a:xfrm flipH="1">
            <a:off x="2839005" y="29596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60"/>
          <p:cNvCxnSpPr>
            <a:stCxn id="1109" idx="3"/>
            <a:endCxn id="1115" idx="0"/>
          </p:cNvCxnSpPr>
          <p:nvPr/>
        </p:nvCxnSpPr>
        <p:spPr>
          <a:xfrm>
            <a:off x="2722777" y="33783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60"/>
          <p:cNvCxnSpPr>
            <a:stCxn id="1110" idx="3"/>
            <a:endCxn id="1115" idx="7"/>
          </p:cNvCxnSpPr>
          <p:nvPr/>
        </p:nvCxnSpPr>
        <p:spPr>
          <a:xfrm flipH="1">
            <a:off x="2846957" y="30653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60"/>
          <p:cNvCxnSpPr>
            <a:stCxn id="1110" idx="3"/>
            <a:endCxn id="1112" idx="0"/>
          </p:cNvCxnSpPr>
          <p:nvPr/>
        </p:nvCxnSpPr>
        <p:spPr>
          <a:xfrm flipH="1">
            <a:off x="2839157" y="30653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60"/>
          <p:cNvCxnSpPr>
            <a:stCxn id="1115" idx="4"/>
            <a:endCxn id="1112" idx="0"/>
          </p:cNvCxnSpPr>
          <p:nvPr/>
        </p:nvCxnSpPr>
        <p:spPr>
          <a:xfrm>
            <a:off x="2730700" y="39034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60"/>
          <p:cNvCxnSpPr>
            <a:stCxn id="1109" idx="5"/>
            <a:endCxn id="1112" idx="7"/>
          </p:cNvCxnSpPr>
          <p:nvPr/>
        </p:nvCxnSpPr>
        <p:spPr>
          <a:xfrm>
            <a:off x="2955274" y="33783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60"/>
          <p:cNvCxnSpPr>
            <a:stCxn id="1113" idx="3"/>
            <a:endCxn id="1112" idx="6"/>
          </p:cNvCxnSpPr>
          <p:nvPr/>
        </p:nvCxnSpPr>
        <p:spPr>
          <a:xfrm flipH="1">
            <a:off x="3003549" y="38596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60"/>
          <p:cNvCxnSpPr>
            <a:stCxn id="1117" idx="2"/>
            <a:endCxn id="1112" idx="5"/>
          </p:cNvCxnSpPr>
          <p:nvPr/>
        </p:nvCxnSpPr>
        <p:spPr>
          <a:xfrm rot="10800000">
            <a:off x="2955167" y="43409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60"/>
          <p:cNvCxnSpPr>
            <a:stCxn id="1114" idx="3"/>
          </p:cNvCxnSpPr>
          <p:nvPr/>
        </p:nvCxnSpPr>
        <p:spPr>
          <a:xfrm flipH="1">
            <a:off x="3654438" y="43409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60"/>
          <p:cNvCxnSpPr>
            <a:stCxn id="1113" idx="4"/>
            <a:endCxn id="1114" idx="7"/>
          </p:cNvCxnSpPr>
          <p:nvPr/>
        </p:nvCxnSpPr>
        <p:spPr>
          <a:xfrm flipH="1">
            <a:off x="4197697" y="39034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60"/>
          <p:cNvCxnSpPr>
            <a:stCxn id="1111" idx="1"/>
            <a:endCxn id="1110" idx="6"/>
          </p:cNvCxnSpPr>
          <p:nvPr/>
        </p:nvCxnSpPr>
        <p:spPr>
          <a:xfrm rot="10800000">
            <a:off x="3645138" y="2959563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60"/>
          <p:cNvCxnSpPr>
            <a:stCxn id="1114" idx="2"/>
            <a:endCxn id="1112" idx="5"/>
          </p:cNvCxnSpPr>
          <p:nvPr/>
        </p:nvCxnSpPr>
        <p:spPr>
          <a:xfrm flipH="1">
            <a:off x="2955286" y="4235220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7" name="Google Shape;1137;p60"/>
          <p:cNvSpPr/>
          <p:nvPr/>
        </p:nvSpPr>
        <p:spPr>
          <a:xfrm>
            <a:off x="5457999" y="35149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8" name="Google Shape;1138;p60"/>
          <p:cNvSpPr/>
          <p:nvPr/>
        </p:nvSpPr>
        <p:spPr>
          <a:xfrm>
            <a:off x="4898588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9" name="Google Shape;1139;p60"/>
          <p:cNvSpPr/>
          <p:nvPr/>
        </p:nvSpPr>
        <p:spPr>
          <a:xfrm>
            <a:off x="5540268" y="28171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0" name="Google Shape;1140;p60"/>
          <p:cNvSpPr/>
          <p:nvPr/>
        </p:nvSpPr>
        <p:spPr>
          <a:xfrm>
            <a:off x="6141049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1" name="Google Shape;1141;p60"/>
          <p:cNvSpPr/>
          <p:nvPr/>
        </p:nvSpPr>
        <p:spPr>
          <a:xfrm>
            <a:off x="4898588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2" name="Google Shape;1142;p60"/>
          <p:cNvSpPr/>
          <p:nvPr/>
        </p:nvSpPr>
        <p:spPr>
          <a:xfrm>
            <a:off x="6290260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3" name="Google Shape;1143;p60"/>
          <p:cNvSpPr/>
          <p:nvPr/>
        </p:nvSpPr>
        <p:spPr>
          <a:xfrm>
            <a:off x="6141049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4" name="Google Shape;1144;p60"/>
          <p:cNvSpPr/>
          <p:nvPr/>
        </p:nvSpPr>
        <p:spPr>
          <a:xfrm>
            <a:off x="4790263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45" name="Google Shape;1145;p60"/>
          <p:cNvCxnSpPr>
            <a:stCxn id="1139" idx="4"/>
            <a:endCxn id="1137" idx="0"/>
          </p:cNvCxnSpPr>
          <p:nvPr/>
        </p:nvCxnSpPr>
        <p:spPr>
          <a:xfrm>
            <a:off x="5704668" y="31162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6" name="Google Shape;1146;p60"/>
          <p:cNvSpPr/>
          <p:nvPr/>
        </p:nvSpPr>
        <p:spPr>
          <a:xfrm>
            <a:off x="5550529" y="44199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47" name="Google Shape;1147;p60"/>
          <p:cNvCxnSpPr>
            <a:stCxn id="1146" idx="0"/>
            <a:endCxn id="1137" idx="4"/>
          </p:cNvCxnSpPr>
          <p:nvPr/>
        </p:nvCxnSpPr>
        <p:spPr>
          <a:xfrm rot="10800000">
            <a:off x="5704729" y="40071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60"/>
          <p:cNvCxnSpPr>
            <a:stCxn id="1144" idx="6"/>
            <a:endCxn id="1137" idx="2"/>
          </p:cNvCxnSpPr>
          <p:nvPr/>
        </p:nvCxnSpPr>
        <p:spPr>
          <a:xfrm>
            <a:off x="5119063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60"/>
          <p:cNvCxnSpPr>
            <a:stCxn id="1142" idx="2"/>
            <a:endCxn id="1137" idx="6"/>
          </p:cNvCxnSpPr>
          <p:nvPr/>
        </p:nvCxnSpPr>
        <p:spPr>
          <a:xfrm rot="10800000">
            <a:off x="5951260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60"/>
          <p:cNvCxnSpPr>
            <a:stCxn id="1137" idx="1"/>
            <a:endCxn id="1138" idx="5"/>
          </p:cNvCxnSpPr>
          <p:nvPr/>
        </p:nvCxnSpPr>
        <p:spPr>
          <a:xfrm rot="10800000">
            <a:off x="5179227" y="33854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60"/>
          <p:cNvCxnSpPr>
            <a:stCxn id="1137" idx="7"/>
            <a:endCxn id="1140" idx="3"/>
          </p:cNvCxnSpPr>
          <p:nvPr/>
        </p:nvCxnSpPr>
        <p:spPr>
          <a:xfrm flipH="1" rot="10800000">
            <a:off x="5878972" y="33854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60"/>
          <p:cNvCxnSpPr>
            <a:stCxn id="1141" idx="7"/>
            <a:endCxn id="1137" idx="3"/>
          </p:cNvCxnSpPr>
          <p:nvPr/>
        </p:nvCxnSpPr>
        <p:spPr>
          <a:xfrm flipH="1" rot="10800000">
            <a:off x="5179237" y="39349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60"/>
          <p:cNvCxnSpPr>
            <a:stCxn id="1143" idx="1"/>
            <a:endCxn id="1137" idx="5"/>
          </p:cNvCxnSpPr>
          <p:nvPr/>
        </p:nvCxnSpPr>
        <p:spPr>
          <a:xfrm rot="10800000">
            <a:off x="5879000" y="39349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60"/>
          <p:cNvCxnSpPr>
            <a:stCxn id="1139" idx="2"/>
            <a:endCxn id="1138" idx="0"/>
          </p:cNvCxnSpPr>
          <p:nvPr/>
        </p:nvCxnSpPr>
        <p:spPr>
          <a:xfrm flipH="1">
            <a:off x="5062968" y="29667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60"/>
          <p:cNvCxnSpPr>
            <a:stCxn id="1138" idx="3"/>
            <a:endCxn id="1144" idx="0"/>
          </p:cNvCxnSpPr>
          <p:nvPr/>
        </p:nvCxnSpPr>
        <p:spPr>
          <a:xfrm>
            <a:off x="4946740" y="33854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0"/>
          <p:cNvCxnSpPr>
            <a:stCxn id="1139" idx="3"/>
            <a:endCxn id="1144" idx="7"/>
          </p:cNvCxnSpPr>
          <p:nvPr/>
        </p:nvCxnSpPr>
        <p:spPr>
          <a:xfrm flipH="1">
            <a:off x="5070919" y="30724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60"/>
          <p:cNvCxnSpPr>
            <a:stCxn id="1139" idx="3"/>
            <a:endCxn id="1141" idx="0"/>
          </p:cNvCxnSpPr>
          <p:nvPr/>
        </p:nvCxnSpPr>
        <p:spPr>
          <a:xfrm flipH="1">
            <a:off x="5063119" y="30724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60"/>
          <p:cNvCxnSpPr>
            <a:stCxn id="1144" idx="4"/>
            <a:endCxn id="1141" idx="0"/>
          </p:cNvCxnSpPr>
          <p:nvPr/>
        </p:nvCxnSpPr>
        <p:spPr>
          <a:xfrm>
            <a:off x="4954663" y="39105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60"/>
          <p:cNvCxnSpPr>
            <a:stCxn id="1138" idx="5"/>
            <a:endCxn id="1141" idx="7"/>
          </p:cNvCxnSpPr>
          <p:nvPr/>
        </p:nvCxnSpPr>
        <p:spPr>
          <a:xfrm>
            <a:off x="5179237" y="33854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0"/>
          <p:cNvCxnSpPr>
            <a:stCxn id="1142" idx="3"/>
            <a:endCxn id="1141" idx="6"/>
          </p:cNvCxnSpPr>
          <p:nvPr/>
        </p:nvCxnSpPr>
        <p:spPr>
          <a:xfrm flipH="1">
            <a:off x="5227511" y="38667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60"/>
          <p:cNvCxnSpPr>
            <a:stCxn id="1146" idx="2"/>
            <a:endCxn id="1141" idx="5"/>
          </p:cNvCxnSpPr>
          <p:nvPr/>
        </p:nvCxnSpPr>
        <p:spPr>
          <a:xfrm rot="10800000">
            <a:off x="5179129" y="43480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60"/>
          <p:cNvCxnSpPr>
            <a:stCxn id="1143" idx="3"/>
          </p:cNvCxnSpPr>
          <p:nvPr/>
        </p:nvCxnSpPr>
        <p:spPr>
          <a:xfrm flipH="1">
            <a:off x="5878400" y="43480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60"/>
          <p:cNvCxnSpPr>
            <a:stCxn id="1142" idx="4"/>
            <a:endCxn id="1143" idx="7"/>
          </p:cNvCxnSpPr>
          <p:nvPr/>
        </p:nvCxnSpPr>
        <p:spPr>
          <a:xfrm flipH="1">
            <a:off x="6421660" y="39105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4" name="Google Shape;1164;p60"/>
          <p:cNvSpPr txBox="1"/>
          <p:nvPr/>
        </p:nvSpPr>
        <p:spPr>
          <a:xfrm>
            <a:off x="7071325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6.25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165" name="Google Shape;1165;p60"/>
          <p:cNvGraphicFramePr/>
          <p:nvPr/>
        </p:nvGraphicFramePr>
        <p:xfrm>
          <a:off x="8758793" y="304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57150"/>
              </a:tblGrid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6" name="Google Shape;1166;p60"/>
          <p:cNvGraphicFramePr/>
          <p:nvPr/>
        </p:nvGraphicFramePr>
        <p:xfrm>
          <a:off x="685800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{6379B62B-DF3C-497B-B7CD-2EDEFC39EB20}</a:tableStyleId>
              </a:tblPr>
              <a:tblGrid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  <a:gridCol w="203200"/>
              </a:tblGrid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ES_{Ego} = 8 - \frac{27}{8} = 8 - 3.38 = 4.63&#10;%a05a5065-07a8-4627-bd84-e7bea750ddf7" id="1167" name="Google Shape;1167;p60"/>
          <p:cNvPicPr preferRelativeResize="0"/>
          <p:nvPr/>
        </p:nvPicPr>
        <p:blipFill rotWithShape="1">
          <a:blip r:embed="rId5">
            <a:alphaModFix/>
          </a:blip>
          <a:srcRect b="0" l="0" r="73870" t="0"/>
          <a:stretch/>
        </p:blipFill>
        <p:spPr>
          <a:xfrm>
            <a:off x="3246121" y="2207775"/>
            <a:ext cx="12618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60"/>
          <p:cNvSpPr txBox="1"/>
          <p:nvPr/>
        </p:nvSpPr>
        <p:spPr>
          <a:xfrm>
            <a:off x="4628875" y="2346450"/>
            <a:ext cx="3069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8 - (14/8) = 8 - 1.75 = 6.25</a:t>
            </a:r>
            <a:endParaRPr sz="2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Effective Size (ES)</a:t>
            </a:r>
            <a:endParaRPr/>
          </a:p>
        </p:txBody>
      </p:sp>
      <p:sp>
        <p:nvSpPr>
          <p:cNvPr id="1174" name="Google Shape;1174;p61"/>
          <p:cNvSpPr txBox="1"/>
          <p:nvPr/>
        </p:nvSpPr>
        <p:spPr>
          <a:xfrm>
            <a:off x="492375" y="4677275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Eff. Size = 4.5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5" name="Google Shape;1175;p61"/>
          <p:cNvSpPr txBox="1"/>
          <p:nvPr/>
        </p:nvSpPr>
        <p:spPr>
          <a:xfrm>
            <a:off x="2843784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6" name="Google Shape;1176;p61"/>
          <p:cNvSpPr txBox="1"/>
          <p:nvPr/>
        </p:nvSpPr>
        <p:spPr>
          <a:xfrm>
            <a:off x="7071325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6.25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7" name="Google Shape;1177;p61"/>
          <p:cNvSpPr/>
          <p:nvPr/>
        </p:nvSpPr>
        <p:spPr>
          <a:xfrm>
            <a:off x="1010074" y="3473262"/>
            <a:ext cx="493200" cy="492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78" name="Google Shape;1178;p61"/>
          <p:cNvSpPr/>
          <p:nvPr/>
        </p:nvSpPr>
        <p:spPr>
          <a:xfrm>
            <a:off x="450663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79" name="Google Shape;1179;p61"/>
          <p:cNvSpPr/>
          <p:nvPr/>
        </p:nvSpPr>
        <p:spPr>
          <a:xfrm>
            <a:off x="1092343" y="277542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80" name="Google Shape;1180;p61"/>
          <p:cNvSpPr/>
          <p:nvPr/>
        </p:nvSpPr>
        <p:spPr>
          <a:xfrm>
            <a:off x="1693124" y="3088436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81" name="Google Shape;1181;p61"/>
          <p:cNvSpPr/>
          <p:nvPr/>
        </p:nvSpPr>
        <p:spPr>
          <a:xfrm>
            <a:off x="450663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82" name="Google Shape;1182;p61"/>
          <p:cNvSpPr/>
          <p:nvPr/>
        </p:nvSpPr>
        <p:spPr>
          <a:xfrm>
            <a:off x="1842335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83" name="Google Shape;1183;p61"/>
          <p:cNvSpPr/>
          <p:nvPr/>
        </p:nvSpPr>
        <p:spPr>
          <a:xfrm>
            <a:off x="1693124" y="4051045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84" name="Google Shape;1184;p61"/>
          <p:cNvSpPr/>
          <p:nvPr/>
        </p:nvSpPr>
        <p:spPr>
          <a:xfrm>
            <a:off x="342338" y="3569748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85" name="Google Shape;1185;p61"/>
          <p:cNvCxnSpPr>
            <a:stCxn id="1179" idx="4"/>
            <a:endCxn id="1177" idx="0"/>
          </p:cNvCxnSpPr>
          <p:nvPr/>
        </p:nvCxnSpPr>
        <p:spPr>
          <a:xfrm>
            <a:off x="1256743" y="307452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61"/>
          <p:cNvSpPr/>
          <p:nvPr/>
        </p:nvSpPr>
        <p:spPr>
          <a:xfrm>
            <a:off x="1102604" y="4378177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87" name="Google Shape;1187;p61"/>
          <p:cNvCxnSpPr>
            <a:stCxn id="1186" idx="0"/>
            <a:endCxn id="1177" idx="4"/>
          </p:cNvCxnSpPr>
          <p:nvPr/>
        </p:nvCxnSpPr>
        <p:spPr>
          <a:xfrm rot="10800000">
            <a:off x="1256804" y="3965377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1"/>
          <p:cNvCxnSpPr>
            <a:stCxn id="1184" idx="6"/>
            <a:endCxn id="1177" idx="2"/>
          </p:cNvCxnSpPr>
          <p:nvPr/>
        </p:nvCxnSpPr>
        <p:spPr>
          <a:xfrm>
            <a:off x="671138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61"/>
          <p:cNvCxnSpPr>
            <a:stCxn id="1182" idx="2"/>
            <a:endCxn id="1177" idx="6"/>
          </p:cNvCxnSpPr>
          <p:nvPr/>
        </p:nvCxnSpPr>
        <p:spPr>
          <a:xfrm rot="10800000">
            <a:off x="1503335" y="3719298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61"/>
          <p:cNvCxnSpPr>
            <a:stCxn id="1177" idx="1"/>
            <a:endCxn id="1178" idx="5"/>
          </p:cNvCxnSpPr>
          <p:nvPr/>
        </p:nvCxnSpPr>
        <p:spPr>
          <a:xfrm rot="10800000">
            <a:off x="731302" y="334371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61"/>
          <p:cNvCxnSpPr>
            <a:stCxn id="1177" idx="7"/>
            <a:endCxn id="1180" idx="3"/>
          </p:cNvCxnSpPr>
          <p:nvPr/>
        </p:nvCxnSpPr>
        <p:spPr>
          <a:xfrm flipH="1" rot="10800000">
            <a:off x="1431047" y="334371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61"/>
          <p:cNvCxnSpPr>
            <a:stCxn id="1181" idx="7"/>
            <a:endCxn id="1177" idx="3"/>
          </p:cNvCxnSpPr>
          <p:nvPr/>
        </p:nvCxnSpPr>
        <p:spPr>
          <a:xfrm flipH="1" rot="10800000">
            <a:off x="731312" y="389324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61"/>
          <p:cNvCxnSpPr>
            <a:stCxn id="1183" idx="1"/>
            <a:endCxn id="1177" idx="5"/>
          </p:cNvCxnSpPr>
          <p:nvPr/>
        </p:nvCxnSpPr>
        <p:spPr>
          <a:xfrm rot="10800000">
            <a:off x="1431075" y="389324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61"/>
          <p:cNvCxnSpPr>
            <a:stCxn id="1179" idx="2"/>
            <a:endCxn id="1178" idx="0"/>
          </p:cNvCxnSpPr>
          <p:nvPr/>
        </p:nvCxnSpPr>
        <p:spPr>
          <a:xfrm flipH="1">
            <a:off x="615043" y="2924976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61"/>
          <p:cNvCxnSpPr>
            <a:stCxn id="1178" idx="3"/>
            <a:endCxn id="1184" idx="0"/>
          </p:cNvCxnSpPr>
          <p:nvPr/>
        </p:nvCxnSpPr>
        <p:spPr>
          <a:xfrm>
            <a:off x="498815" y="3343734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61"/>
          <p:cNvCxnSpPr>
            <a:stCxn id="1179" idx="3"/>
            <a:endCxn id="1184" idx="7"/>
          </p:cNvCxnSpPr>
          <p:nvPr/>
        </p:nvCxnSpPr>
        <p:spPr>
          <a:xfrm flipH="1">
            <a:off x="622994" y="3030723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7" name="Google Shape;1197;p61"/>
          <p:cNvCxnSpPr>
            <a:stCxn id="1179" idx="3"/>
            <a:endCxn id="1181" idx="0"/>
          </p:cNvCxnSpPr>
          <p:nvPr/>
        </p:nvCxnSpPr>
        <p:spPr>
          <a:xfrm flipH="1">
            <a:off x="615194" y="3030723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8" name="Google Shape;1198;p61"/>
          <p:cNvCxnSpPr>
            <a:stCxn id="1184" idx="4"/>
            <a:endCxn id="1181" idx="0"/>
          </p:cNvCxnSpPr>
          <p:nvPr/>
        </p:nvCxnSpPr>
        <p:spPr>
          <a:xfrm>
            <a:off x="506738" y="3868848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61"/>
          <p:cNvCxnSpPr>
            <a:stCxn id="1178" idx="5"/>
            <a:endCxn id="1181" idx="7"/>
          </p:cNvCxnSpPr>
          <p:nvPr/>
        </p:nvCxnSpPr>
        <p:spPr>
          <a:xfrm>
            <a:off x="731312" y="3343734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61"/>
          <p:cNvCxnSpPr>
            <a:stCxn id="1182" idx="3"/>
            <a:endCxn id="1181" idx="6"/>
          </p:cNvCxnSpPr>
          <p:nvPr/>
        </p:nvCxnSpPr>
        <p:spPr>
          <a:xfrm flipH="1">
            <a:off x="779586" y="3825046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61"/>
          <p:cNvCxnSpPr>
            <a:stCxn id="1186" idx="2"/>
            <a:endCxn id="1181" idx="5"/>
          </p:cNvCxnSpPr>
          <p:nvPr/>
        </p:nvCxnSpPr>
        <p:spPr>
          <a:xfrm rot="10800000">
            <a:off x="731204" y="4306327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61"/>
          <p:cNvCxnSpPr>
            <a:stCxn id="1183" idx="3"/>
          </p:cNvCxnSpPr>
          <p:nvPr/>
        </p:nvCxnSpPr>
        <p:spPr>
          <a:xfrm flipH="1">
            <a:off x="1430475" y="4306343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61"/>
          <p:cNvCxnSpPr>
            <a:stCxn id="1182" idx="4"/>
            <a:endCxn id="1183" idx="7"/>
          </p:cNvCxnSpPr>
          <p:nvPr/>
        </p:nvCxnSpPr>
        <p:spPr>
          <a:xfrm flipH="1">
            <a:off x="1973735" y="3868848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61"/>
          <p:cNvCxnSpPr>
            <a:stCxn id="1182" idx="0"/>
            <a:endCxn id="1180" idx="4"/>
          </p:cNvCxnSpPr>
          <p:nvPr/>
        </p:nvCxnSpPr>
        <p:spPr>
          <a:xfrm rot="10800000">
            <a:off x="1857635" y="3387648"/>
            <a:ext cx="1491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61"/>
          <p:cNvCxnSpPr>
            <a:stCxn id="1183" idx="0"/>
            <a:endCxn id="1179" idx="5"/>
          </p:cNvCxnSpPr>
          <p:nvPr/>
        </p:nvCxnSpPr>
        <p:spPr>
          <a:xfrm rot="10800000">
            <a:off x="1373024" y="3030745"/>
            <a:ext cx="4845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61"/>
          <p:cNvCxnSpPr>
            <a:stCxn id="1183" idx="2"/>
            <a:endCxn id="1181" idx="5"/>
          </p:cNvCxnSpPr>
          <p:nvPr/>
        </p:nvCxnSpPr>
        <p:spPr>
          <a:xfrm flipH="1">
            <a:off x="731324" y="4200595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61"/>
          <p:cNvCxnSpPr>
            <a:stCxn id="1180" idx="1"/>
            <a:endCxn id="1179" idx="6"/>
          </p:cNvCxnSpPr>
          <p:nvPr/>
        </p:nvCxnSpPr>
        <p:spPr>
          <a:xfrm rot="10800000">
            <a:off x="1421175" y="2924938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8" name="Google Shape;1208;p61"/>
          <p:cNvSpPr/>
          <p:nvPr/>
        </p:nvSpPr>
        <p:spPr>
          <a:xfrm>
            <a:off x="3234037" y="35078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9" name="Google Shape;1209;p61"/>
          <p:cNvSpPr/>
          <p:nvPr/>
        </p:nvSpPr>
        <p:spPr>
          <a:xfrm>
            <a:off x="267462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0" name="Google Shape;1210;p61"/>
          <p:cNvSpPr/>
          <p:nvPr/>
        </p:nvSpPr>
        <p:spPr>
          <a:xfrm>
            <a:off x="3316305" y="28100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1" name="Google Shape;1211;p61"/>
          <p:cNvSpPr/>
          <p:nvPr/>
        </p:nvSpPr>
        <p:spPr>
          <a:xfrm>
            <a:off x="3917086" y="31230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2" name="Google Shape;1212;p61"/>
          <p:cNvSpPr/>
          <p:nvPr/>
        </p:nvSpPr>
        <p:spPr>
          <a:xfrm>
            <a:off x="267462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3" name="Google Shape;1213;p61"/>
          <p:cNvSpPr/>
          <p:nvPr/>
        </p:nvSpPr>
        <p:spPr>
          <a:xfrm>
            <a:off x="4066297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4" name="Google Shape;1214;p61"/>
          <p:cNvSpPr/>
          <p:nvPr/>
        </p:nvSpPr>
        <p:spPr>
          <a:xfrm>
            <a:off x="3917086" y="40856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5" name="Google Shape;1215;p61"/>
          <p:cNvSpPr/>
          <p:nvPr/>
        </p:nvSpPr>
        <p:spPr>
          <a:xfrm>
            <a:off x="2566300" y="36043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16" name="Google Shape;1216;p61"/>
          <p:cNvCxnSpPr>
            <a:stCxn id="1210" idx="4"/>
            <a:endCxn id="1208" idx="0"/>
          </p:cNvCxnSpPr>
          <p:nvPr/>
        </p:nvCxnSpPr>
        <p:spPr>
          <a:xfrm>
            <a:off x="3480705" y="31091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7" name="Google Shape;1217;p61"/>
          <p:cNvSpPr/>
          <p:nvPr/>
        </p:nvSpPr>
        <p:spPr>
          <a:xfrm>
            <a:off x="3326567" y="44128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18" name="Google Shape;1218;p61"/>
          <p:cNvCxnSpPr>
            <a:stCxn id="1217" idx="0"/>
            <a:endCxn id="1208" idx="4"/>
          </p:cNvCxnSpPr>
          <p:nvPr/>
        </p:nvCxnSpPr>
        <p:spPr>
          <a:xfrm rot="10800000">
            <a:off x="3480767" y="40000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61"/>
          <p:cNvCxnSpPr>
            <a:stCxn id="1215" idx="6"/>
            <a:endCxn id="1208" idx="2"/>
          </p:cNvCxnSpPr>
          <p:nvPr/>
        </p:nvCxnSpPr>
        <p:spPr>
          <a:xfrm>
            <a:off x="2895100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61"/>
          <p:cNvCxnSpPr>
            <a:stCxn id="1213" idx="2"/>
            <a:endCxn id="1208" idx="6"/>
          </p:cNvCxnSpPr>
          <p:nvPr/>
        </p:nvCxnSpPr>
        <p:spPr>
          <a:xfrm rot="10800000">
            <a:off x="3727297" y="37539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61"/>
          <p:cNvCxnSpPr>
            <a:stCxn id="1208" idx="1"/>
            <a:endCxn id="1209" idx="5"/>
          </p:cNvCxnSpPr>
          <p:nvPr/>
        </p:nvCxnSpPr>
        <p:spPr>
          <a:xfrm rot="10800000">
            <a:off x="2955264" y="33783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61"/>
          <p:cNvCxnSpPr>
            <a:stCxn id="1208" idx="7"/>
            <a:endCxn id="1211" idx="3"/>
          </p:cNvCxnSpPr>
          <p:nvPr/>
        </p:nvCxnSpPr>
        <p:spPr>
          <a:xfrm flipH="1" rot="10800000">
            <a:off x="3655009" y="33783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61"/>
          <p:cNvCxnSpPr>
            <a:stCxn id="1212" idx="7"/>
            <a:endCxn id="1208" idx="3"/>
          </p:cNvCxnSpPr>
          <p:nvPr/>
        </p:nvCxnSpPr>
        <p:spPr>
          <a:xfrm flipH="1" rot="10800000">
            <a:off x="2955274" y="39278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61"/>
          <p:cNvCxnSpPr>
            <a:stCxn id="1214" idx="1"/>
            <a:endCxn id="1208" idx="5"/>
          </p:cNvCxnSpPr>
          <p:nvPr/>
        </p:nvCxnSpPr>
        <p:spPr>
          <a:xfrm rot="10800000">
            <a:off x="3655038" y="39278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61"/>
          <p:cNvCxnSpPr>
            <a:stCxn id="1210" idx="2"/>
            <a:endCxn id="1209" idx="0"/>
          </p:cNvCxnSpPr>
          <p:nvPr/>
        </p:nvCxnSpPr>
        <p:spPr>
          <a:xfrm flipH="1">
            <a:off x="2839005" y="29596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61"/>
          <p:cNvCxnSpPr>
            <a:stCxn id="1209" idx="3"/>
            <a:endCxn id="1215" idx="0"/>
          </p:cNvCxnSpPr>
          <p:nvPr/>
        </p:nvCxnSpPr>
        <p:spPr>
          <a:xfrm>
            <a:off x="2722777" y="33783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61"/>
          <p:cNvCxnSpPr>
            <a:stCxn id="1210" idx="3"/>
            <a:endCxn id="1215" idx="7"/>
          </p:cNvCxnSpPr>
          <p:nvPr/>
        </p:nvCxnSpPr>
        <p:spPr>
          <a:xfrm flipH="1">
            <a:off x="2846957" y="30653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61"/>
          <p:cNvCxnSpPr>
            <a:stCxn id="1210" idx="3"/>
            <a:endCxn id="1212" idx="0"/>
          </p:cNvCxnSpPr>
          <p:nvPr/>
        </p:nvCxnSpPr>
        <p:spPr>
          <a:xfrm flipH="1">
            <a:off x="2839157" y="30653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61"/>
          <p:cNvCxnSpPr>
            <a:stCxn id="1215" idx="4"/>
            <a:endCxn id="1212" idx="0"/>
          </p:cNvCxnSpPr>
          <p:nvPr/>
        </p:nvCxnSpPr>
        <p:spPr>
          <a:xfrm>
            <a:off x="2730700" y="39034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61"/>
          <p:cNvCxnSpPr>
            <a:stCxn id="1209" idx="5"/>
            <a:endCxn id="1212" idx="7"/>
          </p:cNvCxnSpPr>
          <p:nvPr/>
        </p:nvCxnSpPr>
        <p:spPr>
          <a:xfrm>
            <a:off x="2955274" y="33783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61"/>
          <p:cNvCxnSpPr>
            <a:stCxn id="1213" idx="3"/>
            <a:endCxn id="1212" idx="6"/>
          </p:cNvCxnSpPr>
          <p:nvPr/>
        </p:nvCxnSpPr>
        <p:spPr>
          <a:xfrm flipH="1">
            <a:off x="3003549" y="38596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61"/>
          <p:cNvCxnSpPr>
            <a:stCxn id="1217" idx="2"/>
            <a:endCxn id="1212" idx="5"/>
          </p:cNvCxnSpPr>
          <p:nvPr/>
        </p:nvCxnSpPr>
        <p:spPr>
          <a:xfrm rot="10800000">
            <a:off x="2955167" y="43409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61"/>
          <p:cNvCxnSpPr>
            <a:stCxn id="1214" idx="3"/>
          </p:cNvCxnSpPr>
          <p:nvPr/>
        </p:nvCxnSpPr>
        <p:spPr>
          <a:xfrm flipH="1">
            <a:off x="3654438" y="43409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61"/>
          <p:cNvCxnSpPr>
            <a:stCxn id="1213" idx="4"/>
            <a:endCxn id="1214" idx="7"/>
          </p:cNvCxnSpPr>
          <p:nvPr/>
        </p:nvCxnSpPr>
        <p:spPr>
          <a:xfrm flipH="1">
            <a:off x="4197697" y="39034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61"/>
          <p:cNvCxnSpPr>
            <a:stCxn id="1211" idx="1"/>
            <a:endCxn id="1210" idx="6"/>
          </p:cNvCxnSpPr>
          <p:nvPr/>
        </p:nvCxnSpPr>
        <p:spPr>
          <a:xfrm rot="10800000">
            <a:off x="3645138" y="2959563"/>
            <a:ext cx="320100" cy="207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61"/>
          <p:cNvCxnSpPr>
            <a:stCxn id="1214" idx="2"/>
            <a:endCxn id="1212" idx="5"/>
          </p:cNvCxnSpPr>
          <p:nvPr/>
        </p:nvCxnSpPr>
        <p:spPr>
          <a:xfrm flipH="1">
            <a:off x="2955286" y="4235220"/>
            <a:ext cx="961800" cy="10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7" name="Google Shape;1237;p61"/>
          <p:cNvSpPr/>
          <p:nvPr/>
        </p:nvSpPr>
        <p:spPr>
          <a:xfrm>
            <a:off x="5457999" y="351498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38" name="Google Shape;1238;p61"/>
          <p:cNvSpPr/>
          <p:nvPr/>
        </p:nvSpPr>
        <p:spPr>
          <a:xfrm>
            <a:off x="4898588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39" name="Google Shape;1239;p61"/>
          <p:cNvSpPr/>
          <p:nvPr/>
        </p:nvSpPr>
        <p:spPr>
          <a:xfrm>
            <a:off x="5540268" y="281715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0" name="Google Shape;1240;p61"/>
          <p:cNvSpPr/>
          <p:nvPr/>
        </p:nvSpPr>
        <p:spPr>
          <a:xfrm>
            <a:off x="6141049" y="313016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1" name="Google Shape;1241;p61"/>
          <p:cNvSpPr/>
          <p:nvPr/>
        </p:nvSpPr>
        <p:spPr>
          <a:xfrm>
            <a:off x="4898588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2" name="Google Shape;1242;p61"/>
          <p:cNvSpPr/>
          <p:nvPr/>
        </p:nvSpPr>
        <p:spPr>
          <a:xfrm>
            <a:off x="6290260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3" name="Google Shape;1243;p61"/>
          <p:cNvSpPr/>
          <p:nvPr/>
        </p:nvSpPr>
        <p:spPr>
          <a:xfrm>
            <a:off x="6141049" y="409277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4" name="Google Shape;1244;p61"/>
          <p:cNvSpPr/>
          <p:nvPr/>
        </p:nvSpPr>
        <p:spPr>
          <a:xfrm>
            <a:off x="4790263" y="361147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45" name="Google Shape;1245;p61"/>
          <p:cNvCxnSpPr>
            <a:stCxn id="1239" idx="4"/>
            <a:endCxn id="1237" idx="0"/>
          </p:cNvCxnSpPr>
          <p:nvPr/>
        </p:nvCxnSpPr>
        <p:spPr>
          <a:xfrm>
            <a:off x="5704668" y="311625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61"/>
          <p:cNvSpPr/>
          <p:nvPr/>
        </p:nvSpPr>
        <p:spPr>
          <a:xfrm>
            <a:off x="5550529" y="441990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47" name="Google Shape;1247;p61"/>
          <p:cNvCxnSpPr>
            <a:stCxn id="1246" idx="0"/>
            <a:endCxn id="1237" idx="4"/>
          </p:cNvCxnSpPr>
          <p:nvPr/>
        </p:nvCxnSpPr>
        <p:spPr>
          <a:xfrm rot="10800000">
            <a:off x="5704729" y="400710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61"/>
          <p:cNvCxnSpPr>
            <a:stCxn id="1244" idx="6"/>
            <a:endCxn id="1237" idx="2"/>
          </p:cNvCxnSpPr>
          <p:nvPr/>
        </p:nvCxnSpPr>
        <p:spPr>
          <a:xfrm>
            <a:off x="5119063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61"/>
          <p:cNvCxnSpPr>
            <a:stCxn id="1242" idx="2"/>
            <a:endCxn id="1237" idx="6"/>
          </p:cNvCxnSpPr>
          <p:nvPr/>
        </p:nvCxnSpPr>
        <p:spPr>
          <a:xfrm rot="10800000">
            <a:off x="5951260" y="376102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61"/>
          <p:cNvCxnSpPr>
            <a:stCxn id="1237" idx="1"/>
            <a:endCxn id="1238" idx="5"/>
          </p:cNvCxnSpPr>
          <p:nvPr/>
        </p:nvCxnSpPr>
        <p:spPr>
          <a:xfrm rot="10800000">
            <a:off x="5179227" y="338543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61"/>
          <p:cNvCxnSpPr>
            <a:stCxn id="1237" idx="7"/>
            <a:endCxn id="1240" idx="3"/>
          </p:cNvCxnSpPr>
          <p:nvPr/>
        </p:nvCxnSpPr>
        <p:spPr>
          <a:xfrm flipH="1" rot="10800000">
            <a:off x="5878972" y="338543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61"/>
          <p:cNvCxnSpPr>
            <a:stCxn id="1241" idx="7"/>
            <a:endCxn id="1237" idx="3"/>
          </p:cNvCxnSpPr>
          <p:nvPr/>
        </p:nvCxnSpPr>
        <p:spPr>
          <a:xfrm flipH="1" rot="10800000">
            <a:off x="5179237" y="393497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61"/>
          <p:cNvCxnSpPr>
            <a:stCxn id="1243" idx="1"/>
            <a:endCxn id="1237" idx="5"/>
          </p:cNvCxnSpPr>
          <p:nvPr/>
        </p:nvCxnSpPr>
        <p:spPr>
          <a:xfrm rot="10800000">
            <a:off x="5879000" y="393497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61"/>
          <p:cNvCxnSpPr>
            <a:stCxn id="1239" idx="2"/>
            <a:endCxn id="1238" idx="0"/>
          </p:cNvCxnSpPr>
          <p:nvPr/>
        </p:nvCxnSpPr>
        <p:spPr>
          <a:xfrm flipH="1">
            <a:off x="5062968" y="296670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61"/>
          <p:cNvCxnSpPr>
            <a:stCxn id="1238" idx="3"/>
            <a:endCxn id="1244" idx="0"/>
          </p:cNvCxnSpPr>
          <p:nvPr/>
        </p:nvCxnSpPr>
        <p:spPr>
          <a:xfrm>
            <a:off x="4946740" y="338545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61"/>
          <p:cNvCxnSpPr>
            <a:stCxn id="1239" idx="3"/>
            <a:endCxn id="1244" idx="7"/>
          </p:cNvCxnSpPr>
          <p:nvPr/>
        </p:nvCxnSpPr>
        <p:spPr>
          <a:xfrm flipH="1">
            <a:off x="5070919" y="307244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61"/>
          <p:cNvCxnSpPr>
            <a:stCxn id="1239" idx="3"/>
            <a:endCxn id="1241" idx="0"/>
          </p:cNvCxnSpPr>
          <p:nvPr/>
        </p:nvCxnSpPr>
        <p:spPr>
          <a:xfrm flipH="1">
            <a:off x="5063119" y="3072448"/>
            <a:ext cx="525300" cy="1020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61"/>
          <p:cNvCxnSpPr>
            <a:stCxn id="1244" idx="4"/>
            <a:endCxn id="1241" idx="0"/>
          </p:cNvCxnSpPr>
          <p:nvPr/>
        </p:nvCxnSpPr>
        <p:spPr>
          <a:xfrm>
            <a:off x="4954663" y="391057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61"/>
          <p:cNvCxnSpPr>
            <a:stCxn id="1238" idx="5"/>
            <a:endCxn id="1241" idx="7"/>
          </p:cNvCxnSpPr>
          <p:nvPr/>
        </p:nvCxnSpPr>
        <p:spPr>
          <a:xfrm>
            <a:off x="5179237" y="338545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61"/>
          <p:cNvCxnSpPr>
            <a:stCxn id="1242" idx="3"/>
            <a:endCxn id="1241" idx="6"/>
          </p:cNvCxnSpPr>
          <p:nvPr/>
        </p:nvCxnSpPr>
        <p:spPr>
          <a:xfrm flipH="1">
            <a:off x="5227511" y="3866771"/>
            <a:ext cx="1110900" cy="375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61"/>
          <p:cNvCxnSpPr>
            <a:stCxn id="1246" idx="2"/>
            <a:endCxn id="1241" idx="5"/>
          </p:cNvCxnSpPr>
          <p:nvPr/>
        </p:nvCxnSpPr>
        <p:spPr>
          <a:xfrm rot="10800000">
            <a:off x="5179129" y="4348052"/>
            <a:ext cx="371400" cy="22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61"/>
          <p:cNvCxnSpPr>
            <a:stCxn id="1243" idx="3"/>
          </p:cNvCxnSpPr>
          <p:nvPr/>
        </p:nvCxnSpPr>
        <p:spPr>
          <a:xfrm flipH="1">
            <a:off x="5878400" y="434806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61"/>
          <p:cNvCxnSpPr>
            <a:stCxn id="1242" idx="4"/>
            <a:endCxn id="1243" idx="7"/>
          </p:cNvCxnSpPr>
          <p:nvPr/>
        </p:nvCxnSpPr>
        <p:spPr>
          <a:xfrm flipH="1">
            <a:off x="6421660" y="391057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61"/>
          <p:cNvSpPr/>
          <p:nvPr/>
        </p:nvSpPr>
        <p:spPr>
          <a:xfrm>
            <a:off x="7625824" y="3466237"/>
            <a:ext cx="493200" cy="4920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5" name="Google Shape;1265;p61"/>
          <p:cNvSpPr/>
          <p:nvPr/>
        </p:nvSpPr>
        <p:spPr>
          <a:xfrm>
            <a:off x="7066413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6" name="Google Shape;1266;p61"/>
          <p:cNvSpPr/>
          <p:nvPr/>
        </p:nvSpPr>
        <p:spPr>
          <a:xfrm>
            <a:off x="7708093" y="276840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7" name="Google Shape;1267;p61"/>
          <p:cNvSpPr/>
          <p:nvPr/>
        </p:nvSpPr>
        <p:spPr>
          <a:xfrm>
            <a:off x="8308874" y="3081411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8" name="Google Shape;1268;p61"/>
          <p:cNvSpPr/>
          <p:nvPr/>
        </p:nvSpPr>
        <p:spPr>
          <a:xfrm>
            <a:off x="7066413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9" name="Google Shape;1269;p61"/>
          <p:cNvSpPr/>
          <p:nvPr/>
        </p:nvSpPr>
        <p:spPr>
          <a:xfrm>
            <a:off x="8458085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70" name="Google Shape;1270;p61"/>
          <p:cNvSpPr/>
          <p:nvPr/>
        </p:nvSpPr>
        <p:spPr>
          <a:xfrm>
            <a:off x="8308874" y="4044020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71" name="Google Shape;1271;p61"/>
          <p:cNvSpPr/>
          <p:nvPr/>
        </p:nvSpPr>
        <p:spPr>
          <a:xfrm>
            <a:off x="6958088" y="3562723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72" name="Google Shape;1272;p61"/>
          <p:cNvCxnSpPr>
            <a:stCxn id="1266" idx="4"/>
            <a:endCxn id="1264" idx="0"/>
          </p:cNvCxnSpPr>
          <p:nvPr/>
        </p:nvCxnSpPr>
        <p:spPr>
          <a:xfrm>
            <a:off x="7872493" y="3067501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3" name="Google Shape;1273;p61"/>
          <p:cNvSpPr/>
          <p:nvPr/>
        </p:nvSpPr>
        <p:spPr>
          <a:xfrm>
            <a:off x="7718354" y="4371152"/>
            <a:ext cx="328800" cy="299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74" name="Google Shape;1274;p61"/>
          <p:cNvCxnSpPr>
            <a:stCxn id="1273" idx="0"/>
            <a:endCxn id="1264" idx="4"/>
          </p:cNvCxnSpPr>
          <p:nvPr/>
        </p:nvCxnSpPr>
        <p:spPr>
          <a:xfrm rot="10800000">
            <a:off x="7872554" y="3958352"/>
            <a:ext cx="102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61"/>
          <p:cNvCxnSpPr>
            <a:stCxn id="1271" idx="6"/>
            <a:endCxn id="1264" idx="2"/>
          </p:cNvCxnSpPr>
          <p:nvPr/>
        </p:nvCxnSpPr>
        <p:spPr>
          <a:xfrm>
            <a:off x="7286888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61"/>
          <p:cNvCxnSpPr>
            <a:stCxn id="1269" idx="2"/>
            <a:endCxn id="1264" idx="6"/>
          </p:cNvCxnSpPr>
          <p:nvPr/>
        </p:nvCxnSpPr>
        <p:spPr>
          <a:xfrm rot="10800000">
            <a:off x="8119085" y="3712273"/>
            <a:ext cx="339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61"/>
          <p:cNvCxnSpPr>
            <a:stCxn id="1264" idx="1"/>
            <a:endCxn id="1265" idx="5"/>
          </p:cNvCxnSpPr>
          <p:nvPr/>
        </p:nvCxnSpPr>
        <p:spPr>
          <a:xfrm rot="10800000">
            <a:off x="7347052" y="3336688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61"/>
          <p:cNvCxnSpPr>
            <a:stCxn id="1264" idx="7"/>
            <a:endCxn id="1267" idx="3"/>
          </p:cNvCxnSpPr>
          <p:nvPr/>
        </p:nvCxnSpPr>
        <p:spPr>
          <a:xfrm flipH="1" rot="10800000">
            <a:off x="8046797" y="3336688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61"/>
          <p:cNvCxnSpPr>
            <a:stCxn id="1268" idx="7"/>
            <a:endCxn id="1264" idx="3"/>
          </p:cNvCxnSpPr>
          <p:nvPr/>
        </p:nvCxnSpPr>
        <p:spPr>
          <a:xfrm flipH="1" rot="10800000">
            <a:off x="7347062" y="3886223"/>
            <a:ext cx="3510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61"/>
          <p:cNvCxnSpPr>
            <a:stCxn id="1270" idx="1"/>
            <a:endCxn id="1264" idx="5"/>
          </p:cNvCxnSpPr>
          <p:nvPr/>
        </p:nvCxnSpPr>
        <p:spPr>
          <a:xfrm rot="10800000">
            <a:off x="8046825" y="3886223"/>
            <a:ext cx="310200" cy="20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61"/>
          <p:cNvCxnSpPr>
            <a:stCxn id="1266" idx="2"/>
            <a:endCxn id="1265" idx="0"/>
          </p:cNvCxnSpPr>
          <p:nvPr/>
        </p:nvCxnSpPr>
        <p:spPr>
          <a:xfrm flipH="1">
            <a:off x="7230793" y="2917951"/>
            <a:ext cx="477300" cy="163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61"/>
          <p:cNvCxnSpPr>
            <a:stCxn id="1265" idx="3"/>
            <a:endCxn id="1271" idx="0"/>
          </p:cNvCxnSpPr>
          <p:nvPr/>
        </p:nvCxnSpPr>
        <p:spPr>
          <a:xfrm>
            <a:off x="7114565" y="3336709"/>
            <a:ext cx="78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61"/>
          <p:cNvCxnSpPr>
            <a:stCxn id="1266" idx="3"/>
            <a:endCxn id="1271" idx="7"/>
          </p:cNvCxnSpPr>
          <p:nvPr/>
        </p:nvCxnSpPr>
        <p:spPr>
          <a:xfrm flipH="1">
            <a:off x="7238744" y="3023698"/>
            <a:ext cx="517500" cy="5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61"/>
          <p:cNvCxnSpPr>
            <a:stCxn id="1271" idx="4"/>
            <a:endCxn id="1268" idx="0"/>
          </p:cNvCxnSpPr>
          <p:nvPr/>
        </p:nvCxnSpPr>
        <p:spPr>
          <a:xfrm>
            <a:off x="7122488" y="3861823"/>
            <a:ext cx="108300" cy="18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61"/>
          <p:cNvCxnSpPr>
            <a:stCxn id="1265" idx="5"/>
            <a:endCxn id="1268" idx="7"/>
          </p:cNvCxnSpPr>
          <p:nvPr/>
        </p:nvCxnSpPr>
        <p:spPr>
          <a:xfrm>
            <a:off x="7347062" y="3336709"/>
            <a:ext cx="0" cy="751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61"/>
          <p:cNvCxnSpPr>
            <a:stCxn id="1270" idx="3"/>
          </p:cNvCxnSpPr>
          <p:nvPr/>
        </p:nvCxnSpPr>
        <p:spPr>
          <a:xfrm flipH="1">
            <a:off x="8046225" y="4299318"/>
            <a:ext cx="310800" cy="20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61"/>
          <p:cNvCxnSpPr>
            <a:stCxn id="1269" idx="4"/>
            <a:endCxn id="1270" idx="7"/>
          </p:cNvCxnSpPr>
          <p:nvPr/>
        </p:nvCxnSpPr>
        <p:spPr>
          <a:xfrm flipH="1">
            <a:off x="8589485" y="3861823"/>
            <a:ext cx="33000" cy="225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61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your ego network is </a:t>
            </a:r>
            <a:r>
              <a:rPr b="1" lang="en">
                <a:solidFill>
                  <a:srgbClr val="9900FF"/>
                </a:solidFill>
              </a:rPr>
              <a:t>large</a:t>
            </a:r>
            <a:r>
              <a:rPr b="1" lang="en"/>
              <a:t> </a:t>
            </a:r>
            <a:r>
              <a:rPr lang="en"/>
              <a:t>or </a:t>
            </a:r>
            <a:r>
              <a:rPr b="1" lang="en">
                <a:solidFill>
                  <a:srgbClr val="FF0000"/>
                </a:solidFill>
              </a:rPr>
              <a:t>small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</a:t>
            </a:r>
            <a:r>
              <a:rPr b="1" lang="en"/>
              <a:t>discounts</a:t>
            </a:r>
            <a:r>
              <a:rPr lang="en"/>
              <a:t> alters if they are connected to one another as </a:t>
            </a:r>
            <a:r>
              <a:rPr b="1" lang="en"/>
              <a:t>redundant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</a:t>
            </a:r>
            <a:r>
              <a:rPr b="1" lang="en"/>
              <a:t>ego-network size</a:t>
            </a:r>
            <a:r>
              <a:rPr lang="en"/>
              <a:t> minus the </a:t>
            </a:r>
            <a:r>
              <a:rPr b="1" lang="en"/>
              <a:t>average degree</a:t>
            </a:r>
            <a:r>
              <a:rPr lang="en"/>
              <a:t> of the alter-alter subgraph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S_{Ego} = k_{Ego} - \bar{k}_{Alters}&#10;%f6be2682-3d0a-44da-a4b7-98fd406f0575" id="1289" name="Google Shape;128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475" y="2175763"/>
            <a:ext cx="30765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61"/>
          <p:cNvSpPr txBox="1"/>
          <p:nvPr/>
        </p:nvSpPr>
        <p:spPr>
          <a:xfrm>
            <a:off x="4847350" y="4681728"/>
            <a:ext cx="1714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Eff. Size = 5.5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Composition</a:t>
            </a:r>
            <a:endParaRPr/>
          </a:p>
        </p:txBody>
      </p:sp>
      <p:sp>
        <p:nvSpPr>
          <p:cNvPr id="1296" name="Google Shape;1296;p62"/>
          <p:cNvSpPr/>
          <p:nvPr/>
        </p:nvSpPr>
        <p:spPr>
          <a:xfrm>
            <a:off x="961341" y="3596718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7" name="Google Shape;1297;p62"/>
          <p:cNvSpPr/>
          <p:nvPr/>
        </p:nvSpPr>
        <p:spPr>
          <a:xfrm>
            <a:off x="450350" y="3242912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8" name="Google Shape;1298;p62"/>
          <p:cNvSpPr/>
          <p:nvPr/>
        </p:nvSpPr>
        <p:spPr>
          <a:xfrm>
            <a:off x="1035446" y="295944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9" name="Google Shape;1299;p62"/>
          <p:cNvSpPr/>
          <p:nvPr/>
        </p:nvSpPr>
        <p:spPr>
          <a:xfrm>
            <a:off x="1585269" y="3242912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0" name="Google Shape;1300;p62"/>
          <p:cNvSpPr/>
          <p:nvPr/>
        </p:nvSpPr>
        <p:spPr>
          <a:xfrm>
            <a:off x="450350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1" name="Google Shape;1301;p62"/>
          <p:cNvSpPr/>
          <p:nvPr/>
        </p:nvSpPr>
        <p:spPr>
          <a:xfrm>
            <a:off x="1045319" y="4428649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2" name="Google Shape;1302;p62"/>
          <p:cNvSpPr/>
          <p:nvPr/>
        </p:nvSpPr>
        <p:spPr>
          <a:xfrm>
            <a:off x="1585269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3" name="Google Shape;1303;p62"/>
          <p:cNvSpPr/>
          <p:nvPr/>
        </p:nvSpPr>
        <p:spPr>
          <a:xfrm>
            <a:off x="351401" y="368542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4" name="Google Shape;1304;p62"/>
          <p:cNvSpPr/>
          <p:nvPr/>
        </p:nvSpPr>
        <p:spPr>
          <a:xfrm>
            <a:off x="1721565" y="368542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5" name="Google Shape;1305;p62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whether your ego network is dominated by one category of alters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proportion</a:t>
            </a:r>
            <a:r>
              <a:rPr lang="en"/>
              <a:t> of alters who belong to a certain category: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Kin, neighbors, co-workers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Gender, race, education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62"/>
          <p:cNvSpPr/>
          <p:nvPr/>
        </p:nvSpPr>
        <p:spPr>
          <a:xfrm>
            <a:off x="3570767" y="2468880"/>
            <a:ext cx="306000" cy="2886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7" name="Google Shape;1307;p62"/>
          <p:cNvSpPr txBox="1"/>
          <p:nvPr/>
        </p:nvSpPr>
        <p:spPr>
          <a:xfrm>
            <a:off x="3887433" y="2469274"/>
            <a:ext cx="407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08" name="Google Shape;1308;p62"/>
          <p:cNvSpPr/>
          <p:nvPr/>
        </p:nvSpPr>
        <p:spPr>
          <a:xfrm>
            <a:off x="4428347" y="2468880"/>
            <a:ext cx="306000" cy="2886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09" name="Google Shape;1309;p62"/>
          <p:cNvSpPr txBox="1"/>
          <p:nvPr/>
        </p:nvSpPr>
        <p:spPr>
          <a:xfrm>
            <a:off x="4766238" y="2469274"/>
            <a:ext cx="807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Non-Kin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0" name="Google Shape;1310;p62"/>
          <p:cNvSpPr txBox="1"/>
          <p:nvPr/>
        </p:nvSpPr>
        <p:spPr>
          <a:xfrm>
            <a:off x="311700" y="4731146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⅜ = 0.38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1" name="Google Shape;1311;p62"/>
          <p:cNvSpPr/>
          <p:nvPr/>
        </p:nvSpPr>
        <p:spPr>
          <a:xfrm>
            <a:off x="3146320" y="3596712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2" name="Google Shape;1312;p62"/>
          <p:cNvSpPr/>
          <p:nvPr/>
        </p:nvSpPr>
        <p:spPr>
          <a:xfrm>
            <a:off x="2635329" y="324290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3" name="Google Shape;1313;p62"/>
          <p:cNvSpPr/>
          <p:nvPr/>
        </p:nvSpPr>
        <p:spPr>
          <a:xfrm>
            <a:off x="3220425" y="295943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4" name="Google Shape;1314;p62"/>
          <p:cNvSpPr/>
          <p:nvPr/>
        </p:nvSpPr>
        <p:spPr>
          <a:xfrm>
            <a:off x="37702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5" name="Google Shape;1315;p62"/>
          <p:cNvSpPr/>
          <p:nvPr/>
        </p:nvSpPr>
        <p:spPr>
          <a:xfrm>
            <a:off x="2635329" y="4127921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6" name="Google Shape;1316;p62"/>
          <p:cNvSpPr/>
          <p:nvPr/>
        </p:nvSpPr>
        <p:spPr>
          <a:xfrm>
            <a:off x="3230298" y="442864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7" name="Google Shape;1317;p62"/>
          <p:cNvSpPr/>
          <p:nvPr/>
        </p:nvSpPr>
        <p:spPr>
          <a:xfrm>
            <a:off x="37702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8" name="Google Shape;1318;p62"/>
          <p:cNvSpPr/>
          <p:nvPr/>
        </p:nvSpPr>
        <p:spPr>
          <a:xfrm>
            <a:off x="25363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9" name="Google Shape;1319;p62"/>
          <p:cNvSpPr/>
          <p:nvPr/>
        </p:nvSpPr>
        <p:spPr>
          <a:xfrm>
            <a:off x="39065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0" name="Google Shape;1320;p62"/>
          <p:cNvSpPr txBox="1"/>
          <p:nvPr/>
        </p:nvSpPr>
        <p:spPr>
          <a:xfrm>
            <a:off x="24266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⅝= 0.63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1" name="Google Shape;1321;p62"/>
          <p:cNvSpPr/>
          <p:nvPr/>
        </p:nvSpPr>
        <p:spPr>
          <a:xfrm>
            <a:off x="5441020" y="3596712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2" name="Google Shape;1322;p62"/>
          <p:cNvSpPr/>
          <p:nvPr/>
        </p:nvSpPr>
        <p:spPr>
          <a:xfrm>
            <a:off x="4930029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3" name="Google Shape;1323;p62"/>
          <p:cNvSpPr/>
          <p:nvPr/>
        </p:nvSpPr>
        <p:spPr>
          <a:xfrm>
            <a:off x="5515125" y="2959438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4" name="Google Shape;1324;p62"/>
          <p:cNvSpPr/>
          <p:nvPr/>
        </p:nvSpPr>
        <p:spPr>
          <a:xfrm>
            <a:off x="60649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5" name="Google Shape;1325;p62"/>
          <p:cNvSpPr/>
          <p:nvPr/>
        </p:nvSpPr>
        <p:spPr>
          <a:xfrm>
            <a:off x="4930029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6" name="Google Shape;1326;p62"/>
          <p:cNvSpPr/>
          <p:nvPr/>
        </p:nvSpPr>
        <p:spPr>
          <a:xfrm>
            <a:off x="5524998" y="4428643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7" name="Google Shape;1327;p62"/>
          <p:cNvSpPr/>
          <p:nvPr/>
        </p:nvSpPr>
        <p:spPr>
          <a:xfrm>
            <a:off x="60649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8" name="Google Shape;1328;p62"/>
          <p:cNvSpPr/>
          <p:nvPr/>
        </p:nvSpPr>
        <p:spPr>
          <a:xfrm>
            <a:off x="48310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9" name="Google Shape;1329;p62"/>
          <p:cNvSpPr/>
          <p:nvPr/>
        </p:nvSpPr>
        <p:spPr>
          <a:xfrm>
            <a:off x="62012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0" name="Google Shape;1330;p62"/>
          <p:cNvSpPr txBox="1"/>
          <p:nvPr/>
        </p:nvSpPr>
        <p:spPr>
          <a:xfrm>
            <a:off x="47213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⅛ = 0.13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31" name="Google Shape;1331;p62"/>
          <p:cNvSpPr/>
          <p:nvPr/>
        </p:nvSpPr>
        <p:spPr>
          <a:xfrm>
            <a:off x="7644545" y="3537224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2" name="Google Shape;1332;p62"/>
          <p:cNvSpPr/>
          <p:nvPr/>
        </p:nvSpPr>
        <p:spPr>
          <a:xfrm>
            <a:off x="7133554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3" name="Google Shape;1333;p62"/>
          <p:cNvSpPr/>
          <p:nvPr/>
        </p:nvSpPr>
        <p:spPr>
          <a:xfrm>
            <a:off x="7718650" y="289995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4" name="Google Shape;1334;p62"/>
          <p:cNvSpPr/>
          <p:nvPr/>
        </p:nvSpPr>
        <p:spPr>
          <a:xfrm>
            <a:off x="8268472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5" name="Google Shape;1335;p62"/>
          <p:cNvSpPr/>
          <p:nvPr/>
        </p:nvSpPr>
        <p:spPr>
          <a:xfrm>
            <a:off x="7133554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6" name="Google Shape;1336;p62"/>
          <p:cNvSpPr/>
          <p:nvPr/>
        </p:nvSpPr>
        <p:spPr>
          <a:xfrm>
            <a:off x="7728523" y="4369155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7" name="Google Shape;1337;p62"/>
          <p:cNvSpPr/>
          <p:nvPr/>
        </p:nvSpPr>
        <p:spPr>
          <a:xfrm>
            <a:off x="8268472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8" name="Google Shape;1338;p62"/>
          <p:cNvSpPr/>
          <p:nvPr/>
        </p:nvSpPr>
        <p:spPr>
          <a:xfrm>
            <a:off x="7034605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39" name="Google Shape;1339;p62"/>
          <p:cNvSpPr/>
          <p:nvPr/>
        </p:nvSpPr>
        <p:spPr>
          <a:xfrm>
            <a:off x="8404769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0" name="Google Shape;1340;p62"/>
          <p:cNvSpPr txBox="1"/>
          <p:nvPr/>
        </p:nvSpPr>
        <p:spPr>
          <a:xfrm>
            <a:off x="6924910" y="4680284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⅞= 0.88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Composition</a:t>
            </a:r>
            <a:endParaRPr/>
          </a:p>
        </p:txBody>
      </p:sp>
      <p:sp>
        <p:nvSpPr>
          <p:cNvPr id="1346" name="Google Shape;1346;p63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whether your ego network is dominated by one category of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Differentiates between ego-networks that are </a:t>
            </a:r>
            <a:r>
              <a:rPr b="1" lang="en">
                <a:solidFill>
                  <a:srgbClr val="9900FF"/>
                </a:solidFill>
              </a:rPr>
              <a:t>heavy</a:t>
            </a:r>
            <a:r>
              <a:rPr lang="en"/>
              <a:t> on some alter category from those that are </a:t>
            </a:r>
            <a:r>
              <a:rPr b="1" lang="en">
                <a:solidFill>
                  <a:srgbClr val="FF0000"/>
                </a:solidFill>
              </a:rPr>
              <a:t>light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E.g., Kin-heavy ego networks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63"/>
          <p:cNvSpPr/>
          <p:nvPr/>
        </p:nvSpPr>
        <p:spPr>
          <a:xfrm>
            <a:off x="961341" y="3596718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8" name="Google Shape;1348;p63"/>
          <p:cNvSpPr/>
          <p:nvPr/>
        </p:nvSpPr>
        <p:spPr>
          <a:xfrm>
            <a:off x="450350" y="3242912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9" name="Google Shape;1349;p63"/>
          <p:cNvSpPr/>
          <p:nvPr/>
        </p:nvSpPr>
        <p:spPr>
          <a:xfrm>
            <a:off x="1035446" y="295944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0" name="Google Shape;1350;p63"/>
          <p:cNvSpPr/>
          <p:nvPr/>
        </p:nvSpPr>
        <p:spPr>
          <a:xfrm>
            <a:off x="1585269" y="3242912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1" name="Google Shape;1351;p63"/>
          <p:cNvSpPr/>
          <p:nvPr/>
        </p:nvSpPr>
        <p:spPr>
          <a:xfrm>
            <a:off x="450350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2" name="Google Shape;1352;p63"/>
          <p:cNvSpPr/>
          <p:nvPr/>
        </p:nvSpPr>
        <p:spPr>
          <a:xfrm>
            <a:off x="1045319" y="4428649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3" name="Google Shape;1353;p63"/>
          <p:cNvSpPr/>
          <p:nvPr/>
        </p:nvSpPr>
        <p:spPr>
          <a:xfrm>
            <a:off x="1585269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4" name="Google Shape;1354;p63"/>
          <p:cNvSpPr/>
          <p:nvPr/>
        </p:nvSpPr>
        <p:spPr>
          <a:xfrm>
            <a:off x="351401" y="368542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5" name="Google Shape;1355;p63"/>
          <p:cNvSpPr/>
          <p:nvPr/>
        </p:nvSpPr>
        <p:spPr>
          <a:xfrm>
            <a:off x="1721565" y="368542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6" name="Google Shape;1356;p63"/>
          <p:cNvSpPr/>
          <p:nvPr/>
        </p:nvSpPr>
        <p:spPr>
          <a:xfrm>
            <a:off x="3570767" y="2468880"/>
            <a:ext cx="306000" cy="2886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7" name="Google Shape;1357;p63"/>
          <p:cNvSpPr txBox="1"/>
          <p:nvPr/>
        </p:nvSpPr>
        <p:spPr>
          <a:xfrm>
            <a:off x="3887433" y="2469274"/>
            <a:ext cx="407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58" name="Google Shape;1358;p63"/>
          <p:cNvSpPr/>
          <p:nvPr/>
        </p:nvSpPr>
        <p:spPr>
          <a:xfrm>
            <a:off x="4428347" y="2468880"/>
            <a:ext cx="306000" cy="2886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9" name="Google Shape;1359;p63"/>
          <p:cNvSpPr txBox="1"/>
          <p:nvPr/>
        </p:nvSpPr>
        <p:spPr>
          <a:xfrm>
            <a:off x="4766238" y="2469274"/>
            <a:ext cx="807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Non-Kin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0" name="Google Shape;1360;p63"/>
          <p:cNvSpPr txBox="1"/>
          <p:nvPr/>
        </p:nvSpPr>
        <p:spPr>
          <a:xfrm>
            <a:off x="311700" y="4731146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⅜ = 0.38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1" name="Google Shape;1361;p63"/>
          <p:cNvSpPr/>
          <p:nvPr/>
        </p:nvSpPr>
        <p:spPr>
          <a:xfrm>
            <a:off x="3146320" y="3596712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2" name="Google Shape;1362;p63"/>
          <p:cNvSpPr/>
          <p:nvPr/>
        </p:nvSpPr>
        <p:spPr>
          <a:xfrm>
            <a:off x="2635329" y="324290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3" name="Google Shape;1363;p63"/>
          <p:cNvSpPr/>
          <p:nvPr/>
        </p:nvSpPr>
        <p:spPr>
          <a:xfrm>
            <a:off x="3220425" y="295943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4" name="Google Shape;1364;p63"/>
          <p:cNvSpPr/>
          <p:nvPr/>
        </p:nvSpPr>
        <p:spPr>
          <a:xfrm>
            <a:off x="37702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5" name="Google Shape;1365;p63"/>
          <p:cNvSpPr/>
          <p:nvPr/>
        </p:nvSpPr>
        <p:spPr>
          <a:xfrm>
            <a:off x="2635329" y="4127921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6" name="Google Shape;1366;p63"/>
          <p:cNvSpPr/>
          <p:nvPr/>
        </p:nvSpPr>
        <p:spPr>
          <a:xfrm>
            <a:off x="3230298" y="442864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7" name="Google Shape;1367;p63"/>
          <p:cNvSpPr/>
          <p:nvPr/>
        </p:nvSpPr>
        <p:spPr>
          <a:xfrm>
            <a:off x="37702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8" name="Google Shape;1368;p63"/>
          <p:cNvSpPr/>
          <p:nvPr/>
        </p:nvSpPr>
        <p:spPr>
          <a:xfrm>
            <a:off x="25363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9" name="Google Shape;1369;p63"/>
          <p:cNvSpPr/>
          <p:nvPr/>
        </p:nvSpPr>
        <p:spPr>
          <a:xfrm>
            <a:off x="39065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0" name="Google Shape;1370;p63"/>
          <p:cNvSpPr txBox="1"/>
          <p:nvPr/>
        </p:nvSpPr>
        <p:spPr>
          <a:xfrm>
            <a:off x="24266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⅝= 0.63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71" name="Google Shape;1371;p63"/>
          <p:cNvSpPr/>
          <p:nvPr/>
        </p:nvSpPr>
        <p:spPr>
          <a:xfrm>
            <a:off x="5441020" y="3596712"/>
            <a:ext cx="450900" cy="452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2" name="Google Shape;1372;p63"/>
          <p:cNvSpPr/>
          <p:nvPr/>
        </p:nvSpPr>
        <p:spPr>
          <a:xfrm>
            <a:off x="4930029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3" name="Google Shape;1373;p63"/>
          <p:cNvSpPr/>
          <p:nvPr/>
        </p:nvSpPr>
        <p:spPr>
          <a:xfrm>
            <a:off x="5515125" y="2959438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4" name="Google Shape;1374;p63"/>
          <p:cNvSpPr/>
          <p:nvPr/>
        </p:nvSpPr>
        <p:spPr>
          <a:xfrm>
            <a:off x="60649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5" name="Google Shape;1375;p63"/>
          <p:cNvSpPr/>
          <p:nvPr/>
        </p:nvSpPr>
        <p:spPr>
          <a:xfrm>
            <a:off x="4930029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6" name="Google Shape;1376;p63"/>
          <p:cNvSpPr/>
          <p:nvPr/>
        </p:nvSpPr>
        <p:spPr>
          <a:xfrm>
            <a:off x="5524998" y="4428643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7" name="Google Shape;1377;p63"/>
          <p:cNvSpPr/>
          <p:nvPr/>
        </p:nvSpPr>
        <p:spPr>
          <a:xfrm>
            <a:off x="60649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8" name="Google Shape;1378;p63"/>
          <p:cNvSpPr/>
          <p:nvPr/>
        </p:nvSpPr>
        <p:spPr>
          <a:xfrm>
            <a:off x="48310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9" name="Google Shape;1379;p63"/>
          <p:cNvSpPr/>
          <p:nvPr/>
        </p:nvSpPr>
        <p:spPr>
          <a:xfrm>
            <a:off x="62012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0" name="Google Shape;1380;p63"/>
          <p:cNvSpPr txBox="1"/>
          <p:nvPr/>
        </p:nvSpPr>
        <p:spPr>
          <a:xfrm>
            <a:off x="47213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⅛ = 0.13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81" name="Google Shape;1381;p63"/>
          <p:cNvSpPr/>
          <p:nvPr/>
        </p:nvSpPr>
        <p:spPr>
          <a:xfrm>
            <a:off x="7644545" y="3537224"/>
            <a:ext cx="450900" cy="452400"/>
          </a:xfrm>
          <a:prstGeom prst="ellipse">
            <a:avLst/>
          </a:prstGeom>
          <a:solidFill>
            <a:srgbClr val="9900FF"/>
          </a:solidFill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2" name="Google Shape;1382;p63"/>
          <p:cNvSpPr/>
          <p:nvPr/>
        </p:nvSpPr>
        <p:spPr>
          <a:xfrm>
            <a:off x="7133554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3" name="Google Shape;1383;p63"/>
          <p:cNvSpPr/>
          <p:nvPr/>
        </p:nvSpPr>
        <p:spPr>
          <a:xfrm>
            <a:off x="7718650" y="289995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4" name="Google Shape;1384;p63"/>
          <p:cNvSpPr/>
          <p:nvPr/>
        </p:nvSpPr>
        <p:spPr>
          <a:xfrm>
            <a:off x="8268472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5" name="Google Shape;1385;p63"/>
          <p:cNvSpPr/>
          <p:nvPr/>
        </p:nvSpPr>
        <p:spPr>
          <a:xfrm>
            <a:off x="7133554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6" name="Google Shape;1386;p63"/>
          <p:cNvSpPr/>
          <p:nvPr/>
        </p:nvSpPr>
        <p:spPr>
          <a:xfrm>
            <a:off x="7728523" y="4369155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7" name="Google Shape;1387;p63"/>
          <p:cNvSpPr/>
          <p:nvPr/>
        </p:nvSpPr>
        <p:spPr>
          <a:xfrm>
            <a:off x="8268472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8" name="Google Shape;1388;p63"/>
          <p:cNvSpPr/>
          <p:nvPr/>
        </p:nvSpPr>
        <p:spPr>
          <a:xfrm>
            <a:off x="7034605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9" name="Google Shape;1389;p63"/>
          <p:cNvSpPr/>
          <p:nvPr/>
        </p:nvSpPr>
        <p:spPr>
          <a:xfrm>
            <a:off x="8404769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0" name="Google Shape;1390;p63"/>
          <p:cNvSpPr txBox="1"/>
          <p:nvPr/>
        </p:nvSpPr>
        <p:spPr>
          <a:xfrm>
            <a:off x="6924910" y="4680284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⅞= 0.88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396" name="Google Shape;1396;p64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64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8" name="Google Shape;1398;p64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9" name="Google Shape;1399;p64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0" name="Google Shape;1400;p64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1" name="Google Shape;1401;p64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2" name="Google Shape;1402;p64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3" name="Google Shape;1403;p64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4" name="Google Shape;1404;p64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05" name="Google Shape;1405;p64"/>
          <p:cNvCxnSpPr>
            <a:stCxn id="1399" idx="4"/>
            <a:endCxn id="1397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64"/>
          <p:cNvCxnSpPr>
            <a:stCxn id="1402" idx="0"/>
            <a:endCxn id="1397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64"/>
          <p:cNvCxnSpPr>
            <a:stCxn id="1403" idx="6"/>
            <a:endCxn id="1397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8" name="Google Shape;1408;p64"/>
          <p:cNvCxnSpPr>
            <a:stCxn id="1404" idx="2"/>
            <a:endCxn id="1397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64"/>
          <p:cNvCxnSpPr>
            <a:stCxn id="1397" idx="1"/>
            <a:endCxn id="1398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0" name="Google Shape;1410;p64"/>
          <p:cNvCxnSpPr>
            <a:stCxn id="1397" idx="7"/>
            <a:endCxn id="1400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64"/>
          <p:cNvCxnSpPr>
            <a:stCxn id="1401" idx="7"/>
            <a:endCxn id="1397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64"/>
          <p:cNvCxnSpPr>
            <a:stCxn id="1413" idx="1"/>
            <a:endCxn id="1397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64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419" name="Google Shape;1419;p65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65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1" name="Google Shape;1421;p65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2" name="Google Shape;1422;p65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3" name="Google Shape;1423;p65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4" name="Google Shape;1424;p65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5" name="Google Shape;1425;p65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6" name="Google Shape;1426;p65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7" name="Google Shape;1427;p65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28" name="Google Shape;1428;p65"/>
          <p:cNvCxnSpPr>
            <a:stCxn id="1422" idx="4"/>
            <a:endCxn id="1420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9" name="Google Shape;1429;p65"/>
          <p:cNvCxnSpPr>
            <a:stCxn id="1425" idx="0"/>
            <a:endCxn id="1420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0" name="Google Shape;1430;p65"/>
          <p:cNvCxnSpPr>
            <a:stCxn id="1426" idx="6"/>
            <a:endCxn id="1420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65"/>
          <p:cNvCxnSpPr>
            <a:stCxn id="1427" idx="2"/>
            <a:endCxn id="1420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2" name="Google Shape;1432;p65"/>
          <p:cNvCxnSpPr>
            <a:stCxn id="1420" idx="1"/>
            <a:endCxn id="1421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3" name="Google Shape;1433;p65"/>
          <p:cNvCxnSpPr>
            <a:stCxn id="1420" idx="7"/>
            <a:endCxn id="1423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65"/>
          <p:cNvCxnSpPr>
            <a:stCxn id="1424" idx="7"/>
            <a:endCxn id="1420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65"/>
          <p:cNvCxnSpPr>
            <a:stCxn id="1436" idx="1"/>
            <a:endCxn id="1420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65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 = \frac{E - I}{E + I}" id="1437" name="Google Shape;1437;p6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66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1444" name="Google Shape;1444;p6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66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6" name="Google Shape;1446;p66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7" name="Google Shape;1447;p66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8" name="Google Shape;1448;p66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9" name="Google Shape;1449;p66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50" name="Google Shape;1450;p66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51" name="Google Shape;1451;p66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52" name="Google Shape;1452;p66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53" name="Google Shape;1453;p66"/>
          <p:cNvCxnSpPr>
            <a:stCxn id="1447" idx="4"/>
            <a:endCxn id="1445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66"/>
          <p:cNvCxnSpPr>
            <a:stCxn id="1450" idx="0"/>
            <a:endCxn id="1445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66"/>
          <p:cNvCxnSpPr>
            <a:stCxn id="1451" idx="6"/>
            <a:endCxn id="1445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66"/>
          <p:cNvCxnSpPr>
            <a:stCxn id="1452" idx="2"/>
            <a:endCxn id="1445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66"/>
          <p:cNvCxnSpPr>
            <a:stCxn id="1445" idx="1"/>
            <a:endCxn id="1446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66"/>
          <p:cNvCxnSpPr>
            <a:stCxn id="1445" idx="7"/>
            <a:endCxn id="1448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66"/>
          <p:cNvCxnSpPr>
            <a:stCxn id="1449" idx="7"/>
            <a:endCxn id="1445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66"/>
          <p:cNvCxnSpPr>
            <a:stCxn id="1461" idx="1"/>
            <a:endCxn id="1445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66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67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rgbClr val="FF00FF"/>
                </a:solidFill>
              </a:rPr>
              <a:t>I</a:t>
            </a:r>
            <a:r>
              <a:rPr lang="en"/>
              <a:t> = Number of “Internal” (same as you) alters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468" name="Google Shape;1468;p67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69" name="Google Shape;1469;p67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0" name="Google Shape;1470;p67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1" name="Google Shape;1471;p67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2" name="Google Shape;1472;p67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3" name="Google Shape;1473;p67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4" name="Google Shape;1474;p67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5" name="Google Shape;1475;p67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76" name="Google Shape;1476;p67"/>
          <p:cNvCxnSpPr>
            <a:stCxn id="1470" idx="4"/>
            <a:endCxn id="1468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67"/>
          <p:cNvCxnSpPr>
            <a:stCxn id="1473" idx="0"/>
            <a:endCxn id="1468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67"/>
          <p:cNvCxnSpPr>
            <a:stCxn id="1474" idx="6"/>
            <a:endCxn id="1468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67"/>
          <p:cNvCxnSpPr>
            <a:stCxn id="1475" idx="2"/>
            <a:endCxn id="1468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0" name="Google Shape;1480;p67"/>
          <p:cNvCxnSpPr>
            <a:stCxn id="1468" idx="1"/>
            <a:endCxn id="1469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1" name="Google Shape;1481;p67"/>
          <p:cNvCxnSpPr>
            <a:stCxn id="1468" idx="7"/>
            <a:endCxn id="1471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2" name="Google Shape;1482;p67"/>
          <p:cNvCxnSpPr>
            <a:stCxn id="1472" idx="7"/>
            <a:endCxn id="1468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3" name="Google Shape;1483;p67"/>
          <p:cNvCxnSpPr>
            <a:stCxn id="1484" idx="1"/>
            <a:endCxn id="1468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4" name="Google Shape;1484;p67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 = \frac{E - I}{E + I}" id="1485" name="Google Shape;1485;p6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68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rgbClr val="FF00FF"/>
                </a:solidFill>
              </a:rPr>
              <a:t>I</a:t>
            </a:r>
            <a:r>
              <a:rPr lang="en"/>
              <a:t> = Number of “Internal” (same as you)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= 5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492" name="Google Shape;1492;p68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3" name="Google Shape;1493;p68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4" name="Google Shape;1494;p68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5" name="Google Shape;1495;p68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6" name="Google Shape;1496;p68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7" name="Google Shape;1497;p68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8" name="Google Shape;1498;p68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9" name="Google Shape;1499;p68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00" name="Google Shape;1500;p68"/>
          <p:cNvCxnSpPr>
            <a:stCxn id="1494" idx="4"/>
            <a:endCxn id="1492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68"/>
          <p:cNvCxnSpPr>
            <a:stCxn id="1497" idx="0"/>
            <a:endCxn id="1492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68"/>
          <p:cNvCxnSpPr>
            <a:stCxn id="1498" idx="6"/>
            <a:endCxn id="1492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68"/>
          <p:cNvCxnSpPr>
            <a:stCxn id="1499" idx="2"/>
            <a:endCxn id="1492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68"/>
          <p:cNvCxnSpPr>
            <a:stCxn id="1492" idx="1"/>
            <a:endCxn id="1493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68"/>
          <p:cNvCxnSpPr>
            <a:stCxn id="1492" idx="7"/>
            <a:endCxn id="1495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68"/>
          <p:cNvCxnSpPr>
            <a:stCxn id="1496" idx="7"/>
            <a:endCxn id="1492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7" name="Google Shape;1507;p68"/>
          <p:cNvCxnSpPr>
            <a:stCxn id="1508" idx="1"/>
            <a:endCxn id="1492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8" name="Google Shape;1508;p68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 = \frac{E - I}{E + I}" id="1509" name="Google Shape;1509;p6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69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rgbClr val="FF00FF"/>
                </a:solidFill>
              </a:rPr>
              <a:t>I</a:t>
            </a:r>
            <a:r>
              <a:rPr lang="en"/>
              <a:t> = Number of “Internal” (same as you)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= 5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516" name="Google Shape;1516;p69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7" name="Google Shape;1517;p69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8" name="Google Shape;1518;p69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9" name="Google Shape;1519;p69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20" name="Google Shape;1520;p69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21" name="Google Shape;1521;p69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22" name="Google Shape;1522;p69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23" name="Google Shape;1523;p69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24" name="Google Shape;1524;p69"/>
          <p:cNvCxnSpPr>
            <a:stCxn id="1518" idx="4"/>
            <a:endCxn id="1516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5" name="Google Shape;1525;p69"/>
          <p:cNvCxnSpPr>
            <a:stCxn id="1521" idx="0"/>
            <a:endCxn id="1516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6" name="Google Shape;1526;p69"/>
          <p:cNvCxnSpPr>
            <a:stCxn id="1522" idx="6"/>
            <a:endCxn id="1516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69"/>
          <p:cNvCxnSpPr>
            <a:stCxn id="1523" idx="2"/>
            <a:endCxn id="1516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8" name="Google Shape;1528;p69"/>
          <p:cNvCxnSpPr>
            <a:stCxn id="1516" idx="1"/>
            <a:endCxn id="1517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9" name="Google Shape;1529;p69"/>
          <p:cNvCxnSpPr>
            <a:stCxn id="1516" idx="7"/>
            <a:endCxn id="1519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0" name="Google Shape;1530;p69"/>
          <p:cNvCxnSpPr>
            <a:stCxn id="1520" idx="7"/>
            <a:endCxn id="1516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1" name="Google Shape;1531;p69"/>
          <p:cNvCxnSpPr>
            <a:stCxn id="1532" idx="1"/>
            <a:endCxn id="1516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2" name="Google Shape;1532;p69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 = \frac{3-5}{3+5}=\frac{-2}{8}=-0.25" id="1533" name="Google Shape;153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190" y="4160786"/>
            <a:ext cx="4544567" cy="649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I = \frac{E - I}{E + I}" id="1534" name="Google Shape;1534;p6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70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negative EI indicates preference for “internal”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ego network with an EI of -1.0 has </a:t>
            </a:r>
            <a:r>
              <a:rPr b="1" lang="en"/>
              <a:t>maximum homophily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541" name="Google Shape;1541;p70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2" name="Google Shape;1542;p70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3" name="Google Shape;1543;p70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4" name="Google Shape;1544;p70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5" name="Google Shape;1545;p70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6" name="Google Shape;1546;p70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7" name="Google Shape;1547;p70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8" name="Google Shape;1548;p70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49" name="Google Shape;1549;p70"/>
          <p:cNvCxnSpPr>
            <a:stCxn id="1543" idx="4"/>
            <a:endCxn id="154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70"/>
          <p:cNvCxnSpPr>
            <a:stCxn id="1546" idx="0"/>
            <a:endCxn id="154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70"/>
          <p:cNvCxnSpPr>
            <a:stCxn id="1547" idx="6"/>
            <a:endCxn id="154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70"/>
          <p:cNvCxnSpPr>
            <a:stCxn id="1548" idx="2"/>
            <a:endCxn id="154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70"/>
          <p:cNvCxnSpPr>
            <a:stCxn id="1541" idx="1"/>
            <a:endCxn id="154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70"/>
          <p:cNvCxnSpPr>
            <a:stCxn id="1541" idx="7"/>
            <a:endCxn id="154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70"/>
          <p:cNvCxnSpPr>
            <a:stCxn id="1545" idx="7"/>
            <a:endCxn id="154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70"/>
          <p:cNvCxnSpPr>
            <a:stCxn id="1557" idx="1"/>
            <a:endCxn id="154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7" name="Google Shape;1557;p70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=\frac{0-8}{0+8}=\frac{-8}{8}=-1.0" id="1558" name="Google Shape;155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190" y="4160520"/>
            <a:ext cx="4544568" cy="63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I = \frac{E - I}{E + I}" id="1559" name="Google Shape;1559;p70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71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positive EI indicates preference for “external”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ego network with an EI of 1.0 has </a:t>
            </a:r>
            <a:r>
              <a:rPr b="1" lang="en"/>
              <a:t>maximum heterophily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566" name="Google Shape;1566;p71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67" name="Google Shape;1567;p71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68" name="Google Shape;1568;p71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69" name="Google Shape;1569;p71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0" name="Google Shape;1570;p71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1" name="Google Shape;1571;p71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2" name="Google Shape;1572;p71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3" name="Google Shape;1573;p71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74" name="Google Shape;1574;p71"/>
          <p:cNvCxnSpPr>
            <a:stCxn id="1568" idx="4"/>
            <a:endCxn id="1566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71"/>
          <p:cNvCxnSpPr>
            <a:stCxn id="1571" idx="0"/>
            <a:endCxn id="1566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6" name="Google Shape;1576;p71"/>
          <p:cNvCxnSpPr>
            <a:stCxn id="1572" idx="6"/>
            <a:endCxn id="1566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7" name="Google Shape;1577;p71"/>
          <p:cNvCxnSpPr>
            <a:stCxn id="1573" idx="2"/>
            <a:endCxn id="1566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8" name="Google Shape;1578;p71"/>
          <p:cNvCxnSpPr>
            <a:stCxn id="1566" idx="1"/>
            <a:endCxn id="1567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71"/>
          <p:cNvCxnSpPr>
            <a:stCxn id="1566" idx="7"/>
            <a:endCxn id="1569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71"/>
          <p:cNvCxnSpPr>
            <a:stCxn id="1570" idx="7"/>
            <a:endCxn id="1566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71"/>
          <p:cNvCxnSpPr>
            <a:stCxn id="1582" idx="1"/>
            <a:endCxn id="1566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2" name="Google Shape;1582;p71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=\frac{8-0}{8+0}=\frac{8}{8}=1.0" id="1583" name="Google Shape;158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240" y="4160786"/>
            <a:ext cx="4134211" cy="649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I = \frac{E - I}{E + I}" id="1584" name="Google Shape;1584;p7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2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 EI score of 0 indicates no preference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number of internal and external ties!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1591" name="Google Shape;1591;p72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92" name="Google Shape;1592;p72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93" name="Google Shape;1593;p72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94" name="Google Shape;1594;p72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95" name="Google Shape;1595;p72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96" name="Google Shape;1596;p72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97" name="Google Shape;1597;p72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98" name="Google Shape;1598;p72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99" name="Google Shape;1599;p72"/>
          <p:cNvCxnSpPr>
            <a:stCxn id="1593" idx="4"/>
            <a:endCxn id="159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72"/>
          <p:cNvCxnSpPr>
            <a:stCxn id="1596" idx="0"/>
            <a:endCxn id="159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72"/>
          <p:cNvCxnSpPr>
            <a:stCxn id="1597" idx="6"/>
            <a:endCxn id="159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72"/>
          <p:cNvCxnSpPr>
            <a:stCxn id="1598" idx="2"/>
            <a:endCxn id="159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72"/>
          <p:cNvCxnSpPr>
            <a:stCxn id="1591" idx="1"/>
            <a:endCxn id="159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4" name="Google Shape;1604;p72"/>
          <p:cNvCxnSpPr>
            <a:stCxn id="1591" idx="7"/>
            <a:endCxn id="159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5" name="Google Shape;1605;p72"/>
          <p:cNvCxnSpPr>
            <a:stCxn id="1595" idx="7"/>
            <a:endCxn id="159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72"/>
          <p:cNvCxnSpPr>
            <a:stCxn id="1607" idx="1"/>
            <a:endCxn id="159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7" name="Google Shape;1607;p72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=\frac{4-4}{4+4}=\frac{0}{8}=0" id="1608" name="Google Shape;160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739" y="4160786"/>
            <a:ext cx="3901471" cy="649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I = \frac{E - I}{E + I}" id="1609" name="Google Shape;1609;p7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7200" y="2336400"/>
            <a:ext cx="1792224" cy="64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73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Blau’s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616" name="Google Shape;1616;p73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17" name="Google Shape;1617;p73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18" name="Google Shape;1618;p73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19" name="Google Shape;1619;p73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20" name="Google Shape;1620;p73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21" name="Google Shape;1621;p73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22" name="Google Shape;1622;p73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23" name="Google Shape;1623;p73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24" name="Google Shape;1624;p73"/>
          <p:cNvCxnSpPr>
            <a:stCxn id="1618" idx="4"/>
            <a:endCxn id="1616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73"/>
          <p:cNvCxnSpPr>
            <a:stCxn id="1621" idx="0"/>
            <a:endCxn id="1616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73"/>
          <p:cNvCxnSpPr>
            <a:stCxn id="1622" idx="6"/>
            <a:endCxn id="1616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73"/>
          <p:cNvCxnSpPr>
            <a:stCxn id="1623" idx="2"/>
            <a:endCxn id="1616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73"/>
          <p:cNvCxnSpPr>
            <a:stCxn id="1616" idx="1"/>
            <a:endCxn id="1617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73"/>
          <p:cNvCxnSpPr>
            <a:stCxn id="1616" idx="7"/>
            <a:endCxn id="1619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73"/>
          <p:cNvCxnSpPr>
            <a:stCxn id="1620" idx="7"/>
            <a:endCxn id="1616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73"/>
          <p:cNvCxnSpPr>
            <a:stCxn id="1632" idx="1"/>
            <a:endCxn id="1616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73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74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639" name="Google Shape;1639;p74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0" name="Google Shape;1640;p74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1" name="Google Shape;1641;p74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2" name="Google Shape;1642;p74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3" name="Google Shape;1643;p74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4" name="Google Shape;1644;p74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5" name="Google Shape;1645;p74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6" name="Google Shape;1646;p74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47" name="Google Shape;1647;p74"/>
          <p:cNvCxnSpPr>
            <a:stCxn id="1641" idx="4"/>
            <a:endCxn id="1639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8" name="Google Shape;1648;p74"/>
          <p:cNvCxnSpPr>
            <a:stCxn id="1644" idx="0"/>
            <a:endCxn id="1639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74"/>
          <p:cNvCxnSpPr>
            <a:stCxn id="1645" idx="6"/>
            <a:endCxn id="1639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74"/>
          <p:cNvCxnSpPr>
            <a:stCxn id="1646" idx="2"/>
            <a:endCxn id="1639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74"/>
          <p:cNvCxnSpPr>
            <a:stCxn id="1639" idx="1"/>
            <a:endCxn id="1640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74"/>
          <p:cNvCxnSpPr>
            <a:stCxn id="1639" idx="7"/>
            <a:endCxn id="1642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74"/>
          <p:cNvCxnSpPr>
            <a:stCxn id="1643" idx="7"/>
            <a:endCxn id="1639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74"/>
          <p:cNvCxnSpPr>
            <a:stCxn id="1655" idx="1"/>
            <a:endCxn id="1639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5" name="Google Shape;1655;p74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656" name="Google Shape;1656;p7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75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663" name="Google Shape;1663;p75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64" name="Google Shape;1664;p75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65" name="Google Shape;1665;p75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66" name="Google Shape;1666;p75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67" name="Google Shape;1667;p75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68" name="Google Shape;1668;p75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69" name="Google Shape;1669;p75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0" name="Google Shape;1670;p75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71" name="Google Shape;1671;p75"/>
          <p:cNvCxnSpPr>
            <a:stCxn id="1665" idx="4"/>
            <a:endCxn id="1663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2" name="Google Shape;1672;p75"/>
          <p:cNvCxnSpPr>
            <a:stCxn id="1668" idx="0"/>
            <a:endCxn id="1663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3" name="Google Shape;1673;p75"/>
          <p:cNvCxnSpPr>
            <a:stCxn id="1669" idx="6"/>
            <a:endCxn id="1663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4" name="Google Shape;1674;p75"/>
          <p:cNvCxnSpPr>
            <a:stCxn id="1670" idx="2"/>
            <a:endCxn id="1663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75"/>
          <p:cNvCxnSpPr>
            <a:stCxn id="1663" idx="1"/>
            <a:endCxn id="1664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75"/>
          <p:cNvCxnSpPr>
            <a:stCxn id="1663" idx="7"/>
            <a:endCxn id="1666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7" name="Google Shape;1677;p75"/>
          <p:cNvCxnSpPr>
            <a:stCxn id="1667" idx="7"/>
            <a:endCxn id="1663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75"/>
          <p:cNvCxnSpPr>
            <a:stCxn id="1679" idx="1"/>
            <a:endCxn id="1663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9" name="Google Shape;1679;p75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680" name="Google Shape;1680;p7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76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687" name="Google Shape;1687;p76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88" name="Google Shape;1688;p76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89" name="Google Shape;1689;p76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90" name="Google Shape;1690;p76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91" name="Google Shape;1691;p76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92" name="Google Shape;1692;p76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93" name="Google Shape;1693;p76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94" name="Google Shape;1694;p76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95" name="Google Shape;1695;p76"/>
          <p:cNvCxnSpPr>
            <a:stCxn id="1689" idx="4"/>
            <a:endCxn id="1687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76"/>
          <p:cNvCxnSpPr>
            <a:stCxn id="1692" idx="0"/>
            <a:endCxn id="1687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7" name="Google Shape;1697;p76"/>
          <p:cNvCxnSpPr>
            <a:stCxn id="1693" idx="6"/>
            <a:endCxn id="1687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8" name="Google Shape;1698;p76"/>
          <p:cNvCxnSpPr>
            <a:stCxn id="1694" idx="2"/>
            <a:endCxn id="1687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76"/>
          <p:cNvCxnSpPr>
            <a:stCxn id="1687" idx="1"/>
            <a:endCxn id="1688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0" name="Google Shape;1700;p76"/>
          <p:cNvCxnSpPr>
            <a:stCxn id="1687" idx="7"/>
            <a:endCxn id="1690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1" name="Google Shape;1701;p76"/>
          <p:cNvCxnSpPr>
            <a:stCxn id="1691" idx="7"/>
            <a:endCxn id="1687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2" name="Google Shape;1702;p76"/>
          <p:cNvCxnSpPr>
            <a:stCxn id="1703" idx="1"/>
            <a:endCxn id="1687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3" name="Google Shape;1703;p76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704" name="Google Shape;1704;p7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77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711" name="Google Shape;1711;p77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12" name="Google Shape;1712;p77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13" name="Google Shape;1713;p77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14" name="Google Shape;1714;p77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15" name="Google Shape;1715;p77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16" name="Google Shape;1716;p77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17" name="Google Shape;1717;p77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18" name="Google Shape;1718;p77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719" name="Google Shape;1719;p77"/>
          <p:cNvCxnSpPr>
            <a:stCxn id="1713" idx="4"/>
            <a:endCxn id="171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77"/>
          <p:cNvCxnSpPr>
            <a:stCxn id="1716" idx="0"/>
            <a:endCxn id="171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77"/>
          <p:cNvCxnSpPr>
            <a:stCxn id="1717" idx="6"/>
            <a:endCxn id="171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77"/>
          <p:cNvCxnSpPr>
            <a:stCxn id="1718" idx="2"/>
            <a:endCxn id="171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77"/>
          <p:cNvCxnSpPr>
            <a:stCxn id="1711" idx="1"/>
            <a:endCxn id="171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4" name="Google Shape;1724;p77"/>
          <p:cNvCxnSpPr>
            <a:stCxn id="1711" idx="7"/>
            <a:endCxn id="171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77"/>
          <p:cNvCxnSpPr>
            <a:stCxn id="1715" idx="7"/>
            <a:endCxn id="171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77"/>
          <p:cNvCxnSpPr>
            <a:stCxn id="1727" idx="1"/>
            <a:endCxn id="171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7" name="Google Shape;1727;p77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728" name="Google Shape;1728;p7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78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5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735" name="Google Shape;1735;p78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36" name="Google Shape;1736;p78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37" name="Google Shape;1737;p78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38" name="Google Shape;1738;p78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39" name="Google Shape;1739;p78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40" name="Google Shape;1740;p78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41" name="Google Shape;1741;p78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42" name="Google Shape;1742;p78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743" name="Google Shape;1743;p78"/>
          <p:cNvCxnSpPr>
            <a:stCxn id="1737" idx="4"/>
            <a:endCxn id="1735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4" name="Google Shape;1744;p78"/>
          <p:cNvCxnSpPr>
            <a:stCxn id="1740" idx="0"/>
            <a:endCxn id="1735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78"/>
          <p:cNvCxnSpPr>
            <a:stCxn id="1741" idx="6"/>
            <a:endCxn id="1735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78"/>
          <p:cNvCxnSpPr>
            <a:stCxn id="1742" idx="2"/>
            <a:endCxn id="1735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78"/>
          <p:cNvCxnSpPr>
            <a:stCxn id="1735" idx="1"/>
            <a:endCxn id="1736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78"/>
          <p:cNvCxnSpPr>
            <a:stCxn id="1735" idx="7"/>
            <a:endCxn id="1738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78"/>
          <p:cNvCxnSpPr>
            <a:stCxn id="1739" idx="7"/>
            <a:endCxn id="1735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78"/>
          <p:cNvCxnSpPr>
            <a:stCxn id="1751" idx="1"/>
            <a:endCxn id="1735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1" name="Google Shape;1751;p78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752" name="Google Shape;1752;p7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79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5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0.62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759" name="Google Shape;1759;p79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0" name="Google Shape;1760;p79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1" name="Google Shape;1761;p79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2" name="Google Shape;1762;p79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3" name="Google Shape;1763;p79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4" name="Google Shape;1764;p79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5" name="Google Shape;1765;p79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6" name="Google Shape;1766;p79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767" name="Google Shape;1767;p79"/>
          <p:cNvCxnSpPr>
            <a:stCxn id="1761" idx="4"/>
            <a:endCxn id="1759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79"/>
          <p:cNvCxnSpPr>
            <a:stCxn id="1764" idx="0"/>
            <a:endCxn id="1759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79"/>
          <p:cNvCxnSpPr>
            <a:stCxn id="1765" idx="6"/>
            <a:endCxn id="1759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79"/>
          <p:cNvCxnSpPr>
            <a:stCxn id="1766" idx="2"/>
            <a:endCxn id="1759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79"/>
          <p:cNvCxnSpPr>
            <a:stCxn id="1759" idx="1"/>
            <a:endCxn id="1760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2" name="Google Shape;1772;p79"/>
          <p:cNvCxnSpPr>
            <a:stCxn id="1759" idx="7"/>
            <a:endCxn id="1762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3" name="Google Shape;1773;p79"/>
          <p:cNvCxnSpPr>
            <a:stCxn id="1763" idx="7"/>
            <a:endCxn id="1759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79"/>
          <p:cNvCxnSpPr>
            <a:stCxn id="1775" idx="1"/>
            <a:endCxn id="1759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79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776" name="Google Shape;1776;p7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80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5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0.62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0.02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0.06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0.38</a:t>
            </a:r>
            <a:r>
              <a:rPr lang="en"/>
              <a:t>) = 1 − 0.46 = </a:t>
            </a:r>
            <a:r>
              <a:rPr b="1" lang="en"/>
              <a:t>0.54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783" name="Google Shape;1783;p80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84" name="Google Shape;1784;p80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85" name="Google Shape;1785;p80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86" name="Google Shape;1786;p80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87" name="Google Shape;1787;p80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88" name="Google Shape;1788;p80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89" name="Google Shape;1789;p80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90" name="Google Shape;1790;p80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791" name="Google Shape;1791;p80"/>
          <p:cNvCxnSpPr>
            <a:stCxn id="1785" idx="4"/>
            <a:endCxn id="1783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80"/>
          <p:cNvCxnSpPr>
            <a:stCxn id="1788" idx="0"/>
            <a:endCxn id="1783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80"/>
          <p:cNvCxnSpPr>
            <a:stCxn id="1789" idx="6"/>
            <a:endCxn id="1783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80"/>
          <p:cNvCxnSpPr>
            <a:stCxn id="1790" idx="2"/>
            <a:endCxn id="1783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80"/>
          <p:cNvCxnSpPr>
            <a:stCxn id="1783" idx="1"/>
            <a:endCxn id="1784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80"/>
          <p:cNvCxnSpPr>
            <a:stCxn id="1783" idx="7"/>
            <a:endCxn id="1786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80"/>
          <p:cNvCxnSpPr>
            <a:stCxn id="1787" idx="7"/>
            <a:endCxn id="1783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80"/>
          <p:cNvCxnSpPr>
            <a:stCxn id="1799" idx="1"/>
            <a:endCxn id="1783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9" name="Google Shape;1799;p80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800" name="Google Shape;1800;p8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81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3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1</a:t>
            </a:r>
            <a:r>
              <a:rPr lang="en"/>
              <a:t>/8 + </a:t>
            </a:r>
            <a:r>
              <a:rPr b="1" lang="en">
                <a:solidFill>
                  <a:srgbClr val="E06666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0.38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E06666"/>
                </a:solidFill>
              </a:rPr>
              <a:t>0.25</a:t>
            </a:r>
            <a:r>
              <a:rPr b="1" baseline="30000" lang="en"/>
              <a:t>2</a:t>
            </a:r>
            <a:r>
              <a:rPr lang="en"/>
              <a:t>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0.14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0.06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0.02</a:t>
            </a:r>
            <a:r>
              <a:rPr b="1" lang="en">
                <a:solidFill>
                  <a:schemeClr val="accent5"/>
                </a:solidFill>
              </a:rPr>
              <a:t> </a:t>
            </a:r>
            <a:r>
              <a:rPr lang="en"/>
              <a:t>+ </a:t>
            </a:r>
            <a:r>
              <a:rPr b="1" lang="en">
                <a:solidFill>
                  <a:srgbClr val="E06666"/>
                </a:solidFill>
              </a:rPr>
              <a:t>0.06</a:t>
            </a:r>
            <a:r>
              <a:rPr lang="en"/>
              <a:t>) = 1 − 0.28 = </a:t>
            </a:r>
            <a:r>
              <a:rPr b="1" lang="en"/>
              <a:t>0.72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807" name="Google Shape;1807;p81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08" name="Google Shape;1808;p81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09" name="Google Shape;1809;p81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10" name="Google Shape;1810;p81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11" name="Google Shape;1811;p81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12" name="Google Shape;1812;p81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13" name="Google Shape;1813;p81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14" name="Google Shape;1814;p81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815" name="Google Shape;1815;p81"/>
          <p:cNvCxnSpPr>
            <a:stCxn id="1809" idx="4"/>
            <a:endCxn id="1807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6" name="Google Shape;1816;p81"/>
          <p:cNvCxnSpPr>
            <a:stCxn id="1812" idx="0"/>
            <a:endCxn id="1807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7" name="Google Shape;1817;p81"/>
          <p:cNvCxnSpPr>
            <a:stCxn id="1813" idx="6"/>
            <a:endCxn id="1807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8" name="Google Shape;1818;p81"/>
          <p:cNvCxnSpPr>
            <a:stCxn id="1814" idx="2"/>
            <a:endCxn id="1807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9" name="Google Shape;1819;p81"/>
          <p:cNvCxnSpPr>
            <a:stCxn id="1807" idx="1"/>
            <a:endCxn id="1808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0" name="Google Shape;1820;p81"/>
          <p:cNvCxnSpPr>
            <a:stCxn id="1807" idx="7"/>
            <a:endCxn id="1810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1" name="Google Shape;1821;p81"/>
          <p:cNvCxnSpPr>
            <a:stCxn id="1811" idx="7"/>
            <a:endCxn id="1807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2" name="Google Shape;1822;p81"/>
          <p:cNvCxnSpPr>
            <a:stCxn id="1823" idx="1"/>
            <a:endCxn id="1807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3" name="Google Shape;1823;p81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824" name="Google Shape;1824;p8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82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diverse the ego network the closer H is to 1.0!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sense!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3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1</a:t>
            </a:r>
            <a:r>
              <a:rPr lang="en"/>
              <a:t>/8 + </a:t>
            </a:r>
            <a:r>
              <a:rPr b="1" lang="en">
                <a:solidFill>
                  <a:srgbClr val="E06666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0.38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E06666"/>
                </a:solidFill>
              </a:rPr>
              <a:t>0.25</a:t>
            </a:r>
            <a:r>
              <a:rPr b="1" baseline="30000" lang="en"/>
              <a:t>2</a:t>
            </a:r>
            <a:r>
              <a:rPr lang="en"/>
              <a:t>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0.14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0.06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0.02</a:t>
            </a:r>
            <a:r>
              <a:rPr b="1" lang="en">
                <a:solidFill>
                  <a:schemeClr val="accent5"/>
                </a:solidFill>
              </a:rPr>
              <a:t> </a:t>
            </a:r>
            <a:r>
              <a:rPr lang="en"/>
              <a:t>+ </a:t>
            </a:r>
            <a:r>
              <a:rPr b="1" lang="en">
                <a:solidFill>
                  <a:srgbClr val="E06666"/>
                </a:solidFill>
              </a:rPr>
              <a:t>0.06</a:t>
            </a:r>
            <a:r>
              <a:rPr lang="en"/>
              <a:t>) = 1 − 0.28 = </a:t>
            </a:r>
            <a:r>
              <a:rPr b="1" lang="en"/>
              <a:t>0.72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831" name="Google Shape;1831;p82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2" name="Google Shape;1832;p82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3" name="Google Shape;1833;p82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4" name="Google Shape;1834;p82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5" name="Google Shape;1835;p82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6" name="Google Shape;1836;p82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7" name="Google Shape;1837;p82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38" name="Google Shape;1838;p82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839" name="Google Shape;1839;p82"/>
          <p:cNvCxnSpPr>
            <a:stCxn id="1833" idx="4"/>
            <a:endCxn id="183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0" name="Google Shape;1840;p82"/>
          <p:cNvCxnSpPr>
            <a:stCxn id="1836" idx="0"/>
            <a:endCxn id="183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82"/>
          <p:cNvCxnSpPr>
            <a:stCxn id="1837" idx="6"/>
            <a:endCxn id="183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82"/>
          <p:cNvCxnSpPr>
            <a:stCxn id="1838" idx="2"/>
            <a:endCxn id="183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82"/>
          <p:cNvCxnSpPr>
            <a:stCxn id="1831" idx="1"/>
            <a:endCxn id="183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4" name="Google Shape;1844;p82"/>
          <p:cNvCxnSpPr>
            <a:stCxn id="1831" idx="7"/>
            <a:endCxn id="183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82"/>
          <p:cNvCxnSpPr>
            <a:stCxn id="1835" idx="7"/>
            <a:endCxn id="183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82"/>
          <p:cNvCxnSpPr>
            <a:stCxn id="1847" idx="1"/>
            <a:endCxn id="183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7" name="Google Shape;1847;p82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848" name="Google Shape;1848;p8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83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completely </a:t>
            </a:r>
            <a:r>
              <a:rPr b="1" lang="en"/>
              <a:t>homogeneous</a:t>
            </a:r>
            <a:r>
              <a:rPr lang="en"/>
              <a:t> ego-network has H equal to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Makes sense because there’s no diversity among alters!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8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b="1" lang="en"/>
              <a:t> </a:t>
            </a:r>
            <a:r>
              <a:rPr lang="en"/>
              <a:t> =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855" name="Google Shape;1855;p83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56" name="Google Shape;1856;p83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57" name="Google Shape;1857;p83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58" name="Google Shape;1858;p83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59" name="Google Shape;1859;p83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60" name="Google Shape;1860;p83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61" name="Google Shape;1861;p83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62" name="Google Shape;1862;p83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863" name="Google Shape;1863;p83"/>
          <p:cNvCxnSpPr>
            <a:stCxn id="1857" idx="4"/>
            <a:endCxn id="1855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83"/>
          <p:cNvCxnSpPr>
            <a:stCxn id="1860" idx="0"/>
            <a:endCxn id="1855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83"/>
          <p:cNvCxnSpPr>
            <a:stCxn id="1861" idx="6"/>
            <a:endCxn id="1855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83"/>
          <p:cNvCxnSpPr>
            <a:stCxn id="1862" idx="2"/>
            <a:endCxn id="1855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83"/>
          <p:cNvCxnSpPr>
            <a:stCxn id="1855" idx="1"/>
            <a:endCxn id="1856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8" name="Google Shape;1868;p83"/>
          <p:cNvCxnSpPr>
            <a:stCxn id="1855" idx="7"/>
            <a:endCxn id="1858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9" name="Google Shape;1869;p83"/>
          <p:cNvCxnSpPr>
            <a:stCxn id="1859" idx="7"/>
            <a:endCxn id="1855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83"/>
          <p:cNvCxnSpPr>
            <a:stCxn id="1871" idx="1"/>
            <a:endCxn id="1855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1" name="Google Shape;1871;p83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872" name="Google Shape;1872;p8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84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is at a maximum (1.0 − 1/k)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Each of your alters belongs to a different group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Makes sense!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 + </a:t>
            </a:r>
            <a:r>
              <a:rPr b="1" lang="en">
                <a:solidFill>
                  <a:srgbClr val="E06666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1155CC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F1C23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674EA7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 + </a:t>
            </a:r>
            <a:r>
              <a:rPr b="1" lang="en">
                <a:solidFill>
                  <a:srgbClr val="C27BA0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(1/8</a:t>
            </a:r>
            <a:r>
              <a:rPr baseline="30000" lang="en"/>
              <a:t>2 </a:t>
            </a:r>
            <a:r>
              <a:rPr lang="en"/>
              <a:t>X 8) = 1 − (8/8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 = 1 − (8/64) = 1 − (1/8) = 1 − 0.13 = </a:t>
            </a:r>
            <a:r>
              <a:rPr b="1" lang="en"/>
              <a:t>0.87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1879" name="Google Shape;1879;p84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80" name="Google Shape;1880;p84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81" name="Google Shape;1881;p84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rgbClr val="C27BA0"/>
          </a:solidFill>
          <a:ln cap="flat" cmpd="sng" w="1905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82" name="Google Shape;1882;p84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83" name="Google Shape;1883;p84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rgbClr val="8E7CC3"/>
          </a:solidFill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84" name="Google Shape;1884;p84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85" name="Google Shape;1885;p84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886" name="Google Shape;1886;p84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rgbClr val="1155CC"/>
          </a:solidFill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887" name="Google Shape;1887;p84"/>
          <p:cNvCxnSpPr>
            <a:stCxn id="1881" idx="4"/>
            <a:endCxn id="1879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8" name="Google Shape;1888;p84"/>
          <p:cNvCxnSpPr>
            <a:stCxn id="1884" idx="0"/>
            <a:endCxn id="1879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9" name="Google Shape;1889;p84"/>
          <p:cNvCxnSpPr>
            <a:stCxn id="1885" idx="6"/>
            <a:endCxn id="1879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0" name="Google Shape;1890;p84"/>
          <p:cNvCxnSpPr>
            <a:stCxn id="1886" idx="2"/>
            <a:endCxn id="1879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1" name="Google Shape;1891;p84"/>
          <p:cNvCxnSpPr>
            <a:stCxn id="1879" idx="1"/>
            <a:endCxn id="1880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2" name="Google Shape;1892;p84"/>
          <p:cNvCxnSpPr>
            <a:stCxn id="1879" idx="7"/>
            <a:endCxn id="1882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3" name="Google Shape;1893;p84"/>
          <p:cNvCxnSpPr>
            <a:stCxn id="1883" idx="7"/>
            <a:endCxn id="1879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84"/>
          <p:cNvCxnSpPr>
            <a:stCxn id="1895" idx="1"/>
            <a:endCxn id="1879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5" name="Google Shape;1895;p84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rgbClr val="F1C232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1896" name="Google Shape;1896;p8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400" y="252951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85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903" name="Google Shape;1903;p85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04" name="Google Shape;1904;p85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05" name="Google Shape;1905;p85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06" name="Google Shape;1906;p85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07" name="Google Shape;1907;p85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08" name="Google Shape;1908;p85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09" name="Google Shape;1909;p85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10" name="Google Shape;1910;p85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11" name="Google Shape;1911;p85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912" name="Google Shape;1912;p85"/>
          <p:cNvCxnSpPr>
            <a:stCxn id="1905" idx="4"/>
            <a:endCxn id="1903" idx="0"/>
          </p:cNvCxnSpPr>
          <p:nvPr/>
        </p:nvCxnSpPr>
        <p:spPr>
          <a:xfrm>
            <a:off x="7939894" y="2999451"/>
            <a:ext cx="0" cy="49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3" name="Google Shape;1913;p85"/>
          <p:cNvCxnSpPr>
            <a:stCxn id="1908" idx="0"/>
            <a:endCxn id="1903" idx="4"/>
          </p:cNvCxnSpPr>
          <p:nvPr/>
        </p:nvCxnSpPr>
        <p:spPr>
          <a:xfrm rot="10800000">
            <a:off x="7939821" y="4113261"/>
            <a:ext cx="12900" cy="516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85"/>
          <p:cNvCxnSpPr>
            <a:stCxn id="1910" idx="6"/>
            <a:endCxn id="1903" idx="2"/>
          </p:cNvCxnSpPr>
          <p:nvPr/>
        </p:nvCxnSpPr>
        <p:spPr>
          <a:xfrm>
            <a:off x="7207888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5" name="Google Shape;1915;p85"/>
          <p:cNvCxnSpPr>
            <a:stCxn id="1911" idx="2"/>
            <a:endCxn id="1903" idx="6"/>
          </p:cNvCxnSpPr>
          <p:nvPr/>
        </p:nvCxnSpPr>
        <p:spPr>
          <a:xfrm rot="10800000">
            <a:off x="8248284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6" name="Google Shape;1916;p85"/>
          <p:cNvCxnSpPr>
            <a:stCxn id="1903" idx="1"/>
            <a:endCxn id="1904" idx="5"/>
          </p:cNvCxnSpPr>
          <p:nvPr/>
        </p:nvCxnSpPr>
        <p:spPr>
          <a:xfrm rot="10800000">
            <a:off x="7282987" y="3336172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7" name="Google Shape;1917;p85"/>
          <p:cNvCxnSpPr>
            <a:stCxn id="1903" idx="7"/>
            <a:endCxn id="1906" idx="3"/>
          </p:cNvCxnSpPr>
          <p:nvPr/>
        </p:nvCxnSpPr>
        <p:spPr>
          <a:xfrm flipH="1" rot="10800000">
            <a:off x="8158030" y="3336172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8" name="Google Shape;1918;p85"/>
          <p:cNvCxnSpPr>
            <a:stCxn id="1907" idx="7"/>
            <a:endCxn id="1903" idx="3"/>
          </p:cNvCxnSpPr>
          <p:nvPr/>
        </p:nvCxnSpPr>
        <p:spPr>
          <a:xfrm flipH="1" rot="10800000">
            <a:off x="7283105" y="4023248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85"/>
          <p:cNvCxnSpPr>
            <a:stCxn id="1909" idx="1"/>
            <a:endCxn id="1903" idx="5"/>
          </p:cNvCxnSpPr>
          <p:nvPr/>
        </p:nvCxnSpPr>
        <p:spPr>
          <a:xfrm rot="10800000">
            <a:off x="8157960" y="4023248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85"/>
          <p:cNvCxnSpPr>
            <a:stCxn id="1905" idx="2"/>
            <a:endCxn id="1904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85"/>
          <p:cNvCxnSpPr>
            <a:stCxn id="1904" idx="3"/>
            <a:endCxn id="1910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2" name="Google Shape;1922;p85"/>
          <p:cNvCxnSpPr>
            <a:stCxn id="1905" idx="3"/>
            <a:endCxn id="1910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3" name="Google Shape;1923;p85"/>
          <p:cNvCxnSpPr>
            <a:stCxn id="1905" idx="3"/>
            <a:endCxn id="1907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4" name="Google Shape;1924;p85"/>
          <p:cNvCxnSpPr>
            <a:stCxn id="1910" idx="4"/>
            <a:endCxn id="1907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5" name="Google Shape;1925;p85"/>
          <p:cNvCxnSpPr>
            <a:stCxn id="1904" idx="5"/>
            <a:endCxn id="1907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6" name="Google Shape;1926;p85"/>
          <p:cNvCxnSpPr>
            <a:stCxn id="1911" idx="3"/>
            <a:endCxn id="1907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7" name="Google Shape;1927;p85"/>
          <p:cNvCxnSpPr>
            <a:stCxn id="1908" idx="2"/>
            <a:endCxn id="1907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8" name="Google Shape;1928;p85"/>
          <p:cNvCxnSpPr>
            <a:stCxn id="1909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9" name="Google Shape;1929;p85"/>
          <p:cNvCxnSpPr>
            <a:stCxn id="1911" idx="4"/>
            <a:endCxn id="1909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86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1936" name="Google Shape;193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7" name="Google Shape;1937;p86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38" name="Google Shape;1938;p86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39" name="Google Shape;1939;p86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40" name="Google Shape;1940;p86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41" name="Google Shape;1941;p86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42" name="Google Shape;1942;p86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43" name="Google Shape;1943;p86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44" name="Google Shape;1944;p86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45" name="Google Shape;1945;p86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946" name="Google Shape;1946;p86"/>
          <p:cNvCxnSpPr>
            <a:stCxn id="1939" idx="4"/>
            <a:endCxn id="1937" idx="0"/>
          </p:cNvCxnSpPr>
          <p:nvPr/>
        </p:nvCxnSpPr>
        <p:spPr>
          <a:xfrm>
            <a:off x="7939894" y="2999451"/>
            <a:ext cx="0" cy="49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7" name="Google Shape;1947;p86"/>
          <p:cNvCxnSpPr>
            <a:stCxn id="1942" idx="0"/>
            <a:endCxn id="1937" idx="4"/>
          </p:cNvCxnSpPr>
          <p:nvPr/>
        </p:nvCxnSpPr>
        <p:spPr>
          <a:xfrm rot="10800000">
            <a:off x="7939821" y="4113261"/>
            <a:ext cx="12900" cy="516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8" name="Google Shape;1948;p86"/>
          <p:cNvCxnSpPr>
            <a:stCxn id="1944" idx="6"/>
            <a:endCxn id="1937" idx="2"/>
          </p:cNvCxnSpPr>
          <p:nvPr/>
        </p:nvCxnSpPr>
        <p:spPr>
          <a:xfrm>
            <a:off x="7207888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9" name="Google Shape;1949;p86"/>
          <p:cNvCxnSpPr>
            <a:stCxn id="1945" idx="2"/>
            <a:endCxn id="1937" idx="6"/>
          </p:cNvCxnSpPr>
          <p:nvPr/>
        </p:nvCxnSpPr>
        <p:spPr>
          <a:xfrm rot="10800000">
            <a:off x="8248284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0" name="Google Shape;1950;p86"/>
          <p:cNvCxnSpPr>
            <a:stCxn id="1937" idx="1"/>
            <a:endCxn id="1938" idx="5"/>
          </p:cNvCxnSpPr>
          <p:nvPr/>
        </p:nvCxnSpPr>
        <p:spPr>
          <a:xfrm rot="10800000">
            <a:off x="7282987" y="3336172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86"/>
          <p:cNvCxnSpPr>
            <a:stCxn id="1937" idx="7"/>
            <a:endCxn id="1940" idx="3"/>
          </p:cNvCxnSpPr>
          <p:nvPr/>
        </p:nvCxnSpPr>
        <p:spPr>
          <a:xfrm flipH="1" rot="10800000">
            <a:off x="8158030" y="3336172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2" name="Google Shape;1952;p86"/>
          <p:cNvCxnSpPr>
            <a:stCxn id="1941" idx="7"/>
            <a:endCxn id="1937" idx="3"/>
          </p:cNvCxnSpPr>
          <p:nvPr/>
        </p:nvCxnSpPr>
        <p:spPr>
          <a:xfrm flipH="1" rot="10800000">
            <a:off x="7283105" y="4023248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86"/>
          <p:cNvCxnSpPr>
            <a:stCxn id="1943" idx="1"/>
            <a:endCxn id="1937" idx="5"/>
          </p:cNvCxnSpPr>
          <p:nvPr/>
        </p:nvCxnSpPr>
        <p:spPr>
          <a:xfrm rot="10800000">
            <a:off x="8157960" y="4023248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86"/>
          <p:cNvCxnSpPr>
            <a:stCxn id="1939" idx="2"/>
            <a:endCxn id="1938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5" name="Google Shape;1955;p86"/>
          <p:cNvCxnSpPr>
            <a:stCxn id="1938" idx="3"/>
            <a:endCxn id="1944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86"/>
          <p:cNvCxnSpPr>
            <a:stCxn id="1939" idx="3"/>
            <a:endCxn id="1944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7" name="Google Shape;1957;p86"/>
          <p:cNvCxnSpPr>
            <a:stCxn id="1939" idx="3"/>
            <a:endCxn id="1941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8" name="Google Shape;1958;p86"/>
          <p:cNvCxnSpPr>
            <a:stCxn id="1944" idx="4"/>
            <a:endCxn id="1941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86"/>
          <p:cNvCxnSpPr>
            <a:stCxn id="1938" idx="5"/>
            <a:endCxn id="1941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0" name="Google Shape;1960;p86"/>
          <p:cNvCxnSpPr>
            <a:stCxn id="1945" idx="3"/>
            <a:endCxn id="1941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1" name="Google Shape;1961;p86"/>
          <p:cNvCxnSpPr>
            <a:stCxn id="1942" idx="2"/>
            <a:endCxn id="1941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2" name="Google Shape;1962;p86"/>
          <p:cNvCxnSpPr>
            <a:stCxn id="1943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3" name="Google Shape;1963;p86"/>
          <p:cNvCxnSpPr>
            <a:stCxn id="1945" idx="4"/>
            <a:endCxn id="1943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87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Pieces of Information you need: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alter-to-alter edges (m)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 (n)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1970" name="Google Shape;197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71" name="Google Shape;1971;p87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2" name="Google Shape;1972;p87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3" name="Google Shape;1973;p87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4" name="Google Shape;1974;p87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5" name="Google Shape;1975;p87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6" name="Google Shape;1976;p87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7" name="Google Shape;1977;p87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8" name="Google Shape;1978;p87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79" name="Google Shape;1979;p87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980" name="Google Shape;1980;p87"/>
          <p:cNvCxnSpPr>
            <a:stCxn id="1973" idx="4"/>
            <a:endCxn id="1971" idx="0"/>
          </p:cNvCxnSpPr>
          <p:nvPr/>
        </p:nvCxnSpPr>
        <p:spPr>
          <a:xfrm>
            <a:off x="7939894" y="2999451"/>
            <a:ext cx="0" cy="49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87"/>
          <p:cNvCxnSpPr>
            <a:stCxn id="1976" idx="0"/>
            <a:endCxn id="1971" idx="4"/>
          </p:cNvCxnSpPr>
          <p:nvPr/>
        </p:nvCxnSpPr>
        <p:spPr>
          <a:xfrm rot="10800000">
            <a:off x="7939821" y="4113261"/>
            <a:ext cx="12900" cy="516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87"/>
          <p:cNvCxnSpPr>
            <a:stCxn id="1978" idx="6"/>
            <a:endCxn id="1971" idx="2"/>
          </p:cNvCxnSpPr>
          <p:nvPr/>
        </p:nvCxnSpPr>
        <p:spPr>
          <a:xfrm>
            <a:off x="7207888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87"/>
          <p:cNvCxnSpPr>
            <a:stCxn id="1979" idx="2"/>
            <a:endCxn id="1971" idx="6"/>
          </p:cNvCxnSpPr>
          <p:nvPr/>
        </p:nvCxnSpPr>
        <p:spPr>
          <a:xfrm rot="10800000">
            <a:off x="8248284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87"/>
          <p:cNvCxnSpPr>
            <a:stCxn id="1971" idx="1"/>
            <a:endCxn id="1972" idx="5"/>
          </p:cNvCxnSpPr>
          <p:nvPr/>
        </p:nvCxnSpPr>
        <p:spPr>
          <a:xfrm rot="10800000">
            <a:off x="7282987" y="3336172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87"/>
          <p:cNvCxnSpPr>
            <a:stCxn id="1971" idx="7"/>
            <a:endCxn id="1974" idx="3"/>
          </p:cNvCxnSpPr>
          <p:nvPr/>
        </p:nvCxnSpPr>
        <p:spPr>
          <a:xfrm flipH="1" rot="10800000">
            <a:off x="8158030" y="3336172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87"/>
          <p:cNvCxnSpPr>
            <a:stCxn id="1975" idx="7"/>
            <a:endCxn id="1971" idx="3"/>
          </p:cNvCxnSpPr>
          <p:nvPr/>
        </p:nvCxnSpPr>
        <p:spPr>
          <a:xfrm flipH="1" rot="10800000">
            <a:off x="7283105" y="4023248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87"/>
          <p:cNvCxnSpPr>
            <a:stCxn id="1977" idx="1"/>
            <a:endCxn id="1971" idx="5"/>
          </p:cNvCxnSpPr>
          <p:nvPr/>
        </p:nvCxnSpPr>
        <p:spPr>
          <a:xfrm rot="10800000">
            <a:off x="8157960" y="4023248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8" name="Google Shape;1988;p87"/>
          <p:cNvCxnSpPr>
            <a:stCxn id="1973" idx="2"/>
            <a:endCxn id="1972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9" name="Google Shape;1989;p87"/>
          <p:cNvCxnSpPr>
            <a:stCxn id="1972" idx="3"/>
            <a:endCxn id="1978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0" name="Google Shape;1990;p87"/>
          <p:cNvCxnSpPr>
            <a:stCxn id="1973" idx="3"/>
            <a:endCxn id="1978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87"/>
          <p:cNvCxnSpPr>
            <a:stCxn id="1973" idx="3"/>
            <a:endCxn id="1975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87"/>
          <p:cNvCxnSpPr>
            <a:stCxn id="1978" idx="4"/>
            <a:endCxn id="1975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87"/>
          <p:cNvCxnSpPr>
            <a:stCxn id="1972" idx="5"/>
            <a:endCxn id="1975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87"/>
          <p:cNvCxnSpPr>
            <a:stCxn id="1979" idx="3"/>
            <a:endCxn id="1975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87"/>
          <p:cNvCxnSpPr>
            <a:stCxn id="1976" idx="2"/>
            <a:endCxn id="1975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87"/>
          <p:cNvCxnSpPr>
            <a:stCxn id="1977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87"/>
          <p:cNvCxnSpPr>
            <a:stCxn id="1979" idx="4"/>
            <a:endCxn id="1977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88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Pieces of Information you need: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alter-to-alter edges (m)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care about the ego-to-alter links!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2004" name="Google Shape;200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88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06" name="Google Shape;2006;p88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07" name="Google Shape;2007;p88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08" name="Google Shape;2008;p88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09" name="Google Shape;2009;p88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10" name="Google Shape;2010;p88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11" name="Google Shape;2011;p88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12" name="Google Shape;2012;p88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13" name="Google Shape;2013;p88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014" name="Google Shape;2014;p88"/>
          <p:cNvCxnSpPr>
            <a:stCxn id="2007" idx="2"/>
            <a:endCxn id="2006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5" name="Google Shape;2015;p88"/>
          <p:cNvCxnSpPr>
            <a:stCxn id="2006" idx="3"/>
            <a:endCxn id="2012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6" name="Google Shape;2016;p88"/>
          <p:cNvCxnSpPr>
            <a:stCxn id="2007" idx="3"/>
            <a:endCxn id="2012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7" name="Google Shape;2017;p88"/>
          <p:cNvCxnSpPr>
            <a:stCxn id="2007" idx="3"/>
            <a:endCxn id="2009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8" name="Google Shape;2018;p88"/>
          <p:cNvCxnSpPr>
            <a:stCxn id="2012" idx="4"/>
            <a:endCxn id="2009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9" name="Google Shape;2019;p88"/>
          <p:cNvCxnSpPr>
            <a:stCxn id="2006" idx="5"/>
            <a:endCxn id="2009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0" name="Google Shape;2020;p88"/>
          <p:cNvCxnSpPr>
            <a:stCxn id="2013" idx="3"/>
            <a:endCxn id="2009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1" name="Google Shape;2021;p88"/>
          <p:cNvCxnSpPr>
            <a:stCxn id="2010" idx="2"/>
            <a:endCxn id="2009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2" name="Google Shape;2022;p88"/>
          <p:cNvCxnSpPr>
            <a:stCxn id="2011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3" name="Google Shape;2023;p88"/>
          <p:cNvCxnSpPr>
            <a:stCxn id="2013" idx="4"/>
            <a:endCxn id="2011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89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Pieces of Information you need: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alter-to-alter edges (m)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care about the ego-to-alter links!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10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2030" name="Google Shape;203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89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2" name="Google Shape;2032;p89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3" name="Google Shape;2033;p89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4" name="Google Shape;2034;p89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5" name="Google Shape;2035;p89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6" name="Google Shape;2036;p89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7" name="Google Shape;2037;p89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8" name="Google Shape;2038;p89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39" name="Google Shape;2039;p89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040" name="Google Shape;2040;p89"/>
          <p:cNvCxnSpPr>
            <a:stCxn id="2033" idx="2"/>
            <a:endCxn id="2032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1" name="Google Shape;2041;p89"/>
          <p:cNvCxnSpPr>
            <a:stCxn id="2032" idx="3"/>
            <a:endCxn id="2038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2" name="Google Shape;2042;p89"/>
          <p:cNvCxnSpPr>
            <a:stCxn id="2033" idx="3"/>
            <a:endCxn id="2038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3" name="Google Shape;2043;p89"/>
          <p:cNvCxnSpPr>
            <a:stCxn id="2033" idx="3"/>
            <a:endCxn id="2035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4" name="Google Shape;2044;p89"/>
          <p:cNvCxnSpPr>
            <a:stCxn id="2038" idx="4"/>
            <a:endCxn id="2035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5" name="Google Shape;2045;p89"/>
          <p:cNvCxnSpPr>
            <a:stCxn id="2032" idx="5"/>
            <a:endCxn id="2035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6" name="Google Shape;2046;p89"/>
          <p:cNvCxnSpPr>
            <a:stCxn id="2039" idx="3"/>
            <a:endCxn id="2035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7" name="Google Shape;2047;p89"/>
          <p:cNvCxnSpPr>
            <a:stCxn id="2036" idx="2"/>
            <a:endCxn id="2035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8" name="Google Shape;2048;p89"/>
          <p:cNvCxnSpPr>
            <a:stCxn id="2037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9" name="Google Shape;2049;p89"/>
          <p:cNvCxnSpPr>
            <a:stCxn id="2039" idx="4"/>
            <a:endCxn id="2037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10)}{8(8-1)}=\frac{20}{8(7)}=\frac{20}{56}=0.38" id="2050" name="Google Shape;205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6894" y="4346951"/>
            <a:ext cx="569671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90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of 1.0 and minimum of 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16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2057" name="Google Shape;2057;p90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58" name="Google Shape;2058;p90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59" name="Google Shape;2059;p90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60" name="Google Shape;2060;p90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61" name="Google Shape;2061;p90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62" name="Google Shape;2062;p90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63" name="Google Shape;2063;p90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64" name="Google Shape;2064;p90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65" name="Google Shape;2065;p90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066" name="Google Shape;2066;p90"/>
          <p:cNvCxnSpPr>
            <a:stCxn id="2059" idx="2"/>
            <a:endCxn id="2058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90"/>
          <p:cNvCxnSpPr>
            <a:stCxn id="2058" idx="3"/>
            <a:endCxn id="2064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90"/>
          <p:cNvCxnSpPr>
            <a:stCxn id="2059" idx="3"/>
            <a:endCxn id="2064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90"/>
          <p:cNvCxnSpPr>
            <a:stCxn id="2059" idx="3"/>
            <a:endCxn id="2061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0" name="Google Shape;2070;p90"/>
          <p:cNvCxnSpPr>
            <a:stCxn id="2064" idx="4"/>
            <a:endCxn id="2061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1" name="Google Shape;2071;p90"/>
          <p:cNvCxnSpPr>
            <a:stCxn id="2058" idx="5"/>
            <a:endCxn id="2061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2" name="Google Shape;2072;p90"/>
          <p:cNvCxnSpPr>
            <a:stCxn id="2065" idx="3"/>
            <a:endCxn id="2061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90"/>
          <p:cNvCxnSpPr>
            <a:stCxn id="2062" idx="2"/>
            <a:endCxn id="2061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90"/>
          <p:cNvCxnSpPr>
            <a:stCxn id="2063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5" name="Google Shape;2075;p90"/>
          <p:cNvCxnSpPr>
            <a:stCxn id="2065" idx="4"/>
            <a:endCxn id="2063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16)}{8(8-1)}=\frac{32}{8(7)}=\frac{32}{56}=0.57" id="2076" name="Google Shape;207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275" y="4346951"/>
            <a:ext cx="5623952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7" name="Google Shape;2077;p90"/>
          <p:cNvCxnSpPr>
            <a:stCxn id="2059" idx="6"/>
            <a:endCxn id="2060" idx="1"/>
          </p:cNvCxnSpPr>
          <p:nvPr/>
        </p:nvCxnSpPr>
        <p:spPr>
          <a:xfrm>
            <a:off x="8145394" y="2812701"/>
            <a:ext cx="400200" cy="259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90"/>
          <p:cNvCxnSpPr>
            <a:stCxn id="2060" idx="4"/>
            <a:endCxn id="2065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90"/>
          <p:cNvCxnSpPr>
            <a:stCxn id="2059" idx="5"/>
            <a:endCxn id="2065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90"/>
          <p:cNvCxnSpPr>
            <a:stCxn id="2063" idx="2"/>
            <a:endCxn id="2061" idx="6"/>
          </p:cNvCxnSpPr>
          <p:nvPr/>
        </p:nvCxnSpPr>
        <p:spPr>
          <a:xfrm rot="10800000">
            <a:off x="7343270" y="4407600"/>
            <a:ext cx="11421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1" name="Google Shape;2081;p90"/>
          <p:cNvCxnSpPr>
            <a:stCxn id="2065" idx="2"/>
            <a:endCxn id="2062" idx="7"/>
          </p:cNvCxnSpPr>
          <p:nvPr/>
        </p:nvCxnSpPr>
        <p:spPr>
          <a:xfrm flipH="1">
            <a:off x="8097984" y="3805837"/>
            <a:ext cx="573900" cy="878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2" name="Google Shape;2082;p90"/>
          <p:cNvCxnSpPr>
            <a:stCxn id="2059" idx="5"/>
            <a:endCxn id="2063" idx="1"/>
          </p:cNvCxnSpPr>
          <p:nvPr/>
        </p:nvCxnSpPr>
        <p:spPr>
          <a:xfrm>
            <a:off x="8085204" y="2944753"/>
            <a:ext cx="460500" cy="133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91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of 1.0 and minimum of 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7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2089" name="Google Shape;2089;p91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0" name="Google Shape;2090;p91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1" name="Google Shape;2091;p91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2" name="Google Shape;2092;p91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3" name="Google Shape;2093;p91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4" name="Google Shape;2094;p91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5" name="Google Shape;2095;p91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6" name="Google Shape;2096;p91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7" name="Google Shape;2097;p91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098" name="Google Shape;2098;p91"/>
          <p:cNvCxnSpPr>
            <a:stCxn id="2091" idx="3"/>
            <a:endCxn id="2096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9" name="Google Shape;2099;p91"/>
          <p:cNvCxnSpPr>
            <a:stCxn id="2096" idx="4"/>
            <a:endCxn id="2093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0" name="Google Shape;2100;p91"/>
          <p:cNvCxnSpPr>
            <a:stCxn id="2090" idx="5"/>
            <a:endCxn id="2093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1" name="Google Shape;2101;p91"/>
          <p:cNvCxnSpPr>
            <a:stCxn id="2094" idx="2"/>
            <a:endCxn id="2093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2" name="Google Shape;2102;p91"/>
          <p:cNvCxnSpPr>
            <a:stCxn id="2097" idx="4"/>
            <a:endCxn id="2095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7)}{8(8-1)}=\frac{14}{8(7)}=\frac{14}{56}=0.25" id="2103" name="Google Shape;210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15" y="4353459"/>
            <a:ext cx="5498870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4" name="Google Shape;2104;p91"/>
          <p:cNvCxnSpPr>
            <a:stCxn id="2092" idx="4"/>
            <a:endCxn id="2097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5" name="Google Shape;2105;p91"/>
          <p:cNvCxnSpPr>
            <a:stCxn id="2091" idx="5"/>
            <a:endCxn id="2097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92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Maximum of 1.0</a:t>
            </a:r>
            <a:r>
              <a:rPr lang="en"/>
              <a:t> (Every one of your friends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28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2112" name="Google Shape;2112;p92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3" name="Google Shape;2113;p92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4" name="Google Shape;2114;p92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5" name="Google Shape;2115;p92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6" name="Google Shape;2116;p92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7" name="Google Shape;2117;p92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8" name="Google Shape;2118;p92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9" name="Google Shape;2119;p92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120" name="Google Shape;2120;p92"/>
          <p:cNvCxnSpPr>
            <a:stCxn id="2113" idx="3"/>
            <a:endCxn id="2118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1" name="Google Shape;2121;p92"/>
          <p:cNvCxnSpPr>
            <a:stCxn id="2118" idx="4"/>
            <a:endCxn id="2115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92"/>
          <p:cNvCxnSpPr>
            <a:stCxn id="2112" idx="5"/>
            <a:endCxn id="2115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3" name="Google Shape;2123;p92"/>
          <p:cNvCxnSpPr>
            <a:stCxn id="2116" idx="2"/>
            <a:endCxn id="2115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92"/>
          <p:cNvCxnSpPr>
            <a:stCxn id="2119" idx="4"/>
            <a:endCxn id="2117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28)}{8(8-1)}=\frac{56}{8(7)}=\frac{56}{56}=1.0" id="2125" name="Google Shape;21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450" y="4353459"/>
            <a:ext cx="5375601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6" name="Google Shape;2126;p92"/>
          <p:cNvCxnSpPr>
            <a:stCxn id="2114" idx="4"/>
            <a:endCxn id="2119" idx="0"/>
          </p:cNvCxnSpPr>
          <p:nvPr/>
        </p:nvCxnSpPr>
        <p:spPr>
          <a:xfrm>
            <a:off x="8690870" y="3390805"/>
            <a:ext cx="1866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92"/>
          <p:cNvCxnSpPr>
            <a:stCxn id="2113" idx="5"/>
            <a:endCxn id="2119" idx="1"/>
          </p:cNvCxnSpPr>
          <p:nvPr/>
        </p:nvCxnSpPr>
        <p:spPr>
          <a:xfrm>
            <a:off x="8085204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92"/>
          <p:cNvCxnSpPr>
            <a:stCxn id="2113" idx="2"/>
            <a:endCxn id="2112" idx="7"/>
          </p:cNvCxnSpPr>
          <p:nvPr/>
        </p:nvCxnSpPr>
        <p:spPr>
          <a:xfrm flipH="1">
            <a:off x="7283194" y="2812701"/>
            <a:ext cx="451200" cy="259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9" name="Google Shape;2129;p92"/>
          <p:cNvCxnSpPr>
            <a:stCxn id="2112" idx="4"/>
            <a:endCxn id="2118" idx="0"/>
          </p:cNvCxnSpPr>
          <p:nvPr/>
        </p:nvCxnSpPr>
        <p:spPr>
          <a:xfrm flipH="1">
            <a:off x="7002495" y="3390805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92"/>
          <p:cNvCxnSpPr>
            <a:stCxn id="2117" idx="3"/>
            <a:endCxn id="2116" idx="6"/>
          </p:cNvCxnSpPr>
          <p:nvPr/>
        </p:nvCxnSpPr>
        <p:spPr>
          <a:xfrm flipH="1">
            <a:off x="8158260" y="4539653"/>
            <a:ext cx="3873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1" name="Google Shape;2131;p92"/>
          <p:cNvCxnSpPr>
            <a:stCxn id="2114" idx="1"/>
            <a:endCxn id="2113" idx="6"/>
          </p:cNvCxnSpPr>
          <p:nvPr/>
        </p:nvCxnSpPr>
        <p:spPr>
          <a:xfrm rot="10800000">
            <a:off x="8145360" y="2812803"/>
            <a:ext cx="400200" cy="259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2" name="Google Shape;2132;p92"/>
          <p:cNvCxnSpPr>
            <a:stCxn id="2113" idx="5"/>
            <a:endCxn id="2117" idx="1"/>
          </p:cNvCxnSpPr>
          <p:nvPr/>
        </p:nvCxnSpPr>
        <p:spPr>
          <a:xfrm>
            <a:off x="8085204" y="2944753"/>
            <a:ext cx="460500" cy="133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92"/>
          <p:cNvCxnSpPr>
            <a:stCxn id="2113" idx="4"/>
            <a:endCxn id="2116" idx="0"/>
          </p:cNvCxnSpPr>
          <p:nvPr/>
        </p:nvCxnSpPr>
        <p:spPr>
          <a:xfrm>
            <a:off x="7939894" y="2999451"/>
            <a:ext cx="12900" cy="1630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4" name="Google Shape;2134;p92"/>
          <p:cNvCxnSpPr>
            <a:stCxn id="2115" idx="6"/>
            <a:endCxn id="2113" idx="3"/>
          </p:cNvCxnSpPr>
          <p:nvPr/>
        </p:nvCxnSpPr>
        <p:spPr>
          <a:xfrm flipH="1" rot="10800000">
            <a:off x="7343295" y="2944800"/>
            <a:ext cx="451200" cy="1462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5" name="Google Shape;2135;p92"/>
          <p:cNvCxnSpPr>
            <a:stCxn id="2114" idx="2"/>
            <a:endCxn id="2112" idx="6"/>
          </p:cNvCxnSpPr>
          <p:nvPr/>
        </p:nvCxnSpPr>
        <p:spPr>
          <a:xfrm rot="10800000">
            <a:off x="7343270" y="3204055"/>
            <a:ext cx="11421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6" name="Google Shape;2136;p92"/>
          <p:cNvCxnSpPr>
            <a:stCxn id="2117" idx="2"/>
            <a:endCxn id="2115" idx="6"/>
          </p:cNvCxnSpPr>
          <p:nvPr/>
        </p:nvCxnSpPr>
        <p:spPr>
          <a:xfrm rot="10800000">
            <a:off x="7343270" y="4407600"/>
            <a:ext cx="11421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7" name="Google Shape;2137;p92"/>
          <p:cNvCxnSpPr>
            <a:stCxn id="2117" idx="1"/>
            <a:endCxn id="2112" idx="6"/>
          </p:cNvCxnSpPr>
          <p:nvPr/>
        </p:nvCxnSpPr>
        <p:spPr>
          <a:xfrm rot="10800000">
            <a:off x="7343160" y="3203948"/>
            <a:ext cx="1202400" cy="1071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92"/>
          <p:cNvCxnSpPr>
            <a:stCxn id="2114" idx="3"/>
            <a:endCxn id="2115" idx="6"/>
          </p:cNvCxnSpPr>
          <p:nvPr/>
        </p:nvCxnSpPr>
        <p:spPr>
          <a:xfrm flipH="1">
            <a:off x="7343160" y="3336108"/>
            <a:ext cx="1202400" cy="1071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92"/>
          <p:cNvCxnSpPr>
            <a:stCxn id="2112" idx="6"/>
            <a:endCxn id="2119" idx="2"/>
          </p:cNvCxnSpPr>
          <p:nvPr/>
        </p:nvCxnSpPr>
        <p:spPr>
          <a:xfrm>
            <a:off x="7343295" y="3204055"/>
            <a:ext cx="1328700" cy="60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0" name="Google Shape;2140;p92"/>
          <p:cNvCxnSpPr>
            <a:stCxn id="2114" idx="2"/>
            <a:endCxn id="2118" idx="7"/>
          </p:cNvCxnSpPr>
          <p:nvPr/>
        </p:nvCxnSpPr>
        <p:spPr>
          <a:xfrm flipH="1">
            <a:off x="7147670" y="3204055"/>
            <a:ext cx="1337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1" name="Google Shape;2141;p92"/>
          <p:cNvCxnSpPr>
            <a:stCxn id="2115" idx="6"/>
            <a:endCxn id="2119" idx="2"/>
          </p:cNvCxnSpPr>
          <p:nvPr/>
        </p:nvCxnSpPr>
        <p:spPr>
          <a:xfrm flipH="1" rot="10800000">
            <a:off x="7343295" y="3805800"/>
            <a:ext cx="1328700" cy="60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2" name="Google Shape;2142;p92"/>
          <p:cNvCxnSpPr>
            <a:stCxn id="2118" idx="6"/>
            <a:endCxn id="2119" idx="2"/>
          </p:cNvCxnSpPr>
          <p:nvPr/>
        </p:nvCxnSpPr>
        <p:spPr>
          <a:xfrm>
            <a:off x="7207888" y="3805837"/>
            <a:ext cx="14640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3" name="Google Shape;2143;p92"/>
          <p:cNvCxnSpPr>
            <a:stCxn id="2112" idx="5"/>
            <a:endCxn id="2116" idx="1"/>
          </p:cNvCxnSpPr>
          <p:nvPr/>
        </p:nvCxnSpPr>
        <p:spPr>
          <a:xfrm>
            <a:off x="7283105" y="3336108"/>
            <a:ext cx="524400" cy="1348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4" name="Google Shape;2144;p92"/>
          <p:cNvCxnSpPr>
            <a:stCxn id="2114" idx="3"/>
            <a:endCxn id="2116" idx="7"/>
          </p:cNvCxnSpPr>
          <p:nvPr/>
        </p:nvCxnSpPr>
        <p:spPr>
          <a:xfrm flipH="1">
            <a:off x="8097960" y="3336108"/>
            <a:ext cx="447600" cy="1348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5" name="Google Shape;2145;p92"/>
          <p:cNvCxnSpPr>
            <a:stCxn id="2114" idx="3"/>
            <a:endCxn id="2117" idx="1"/>
          </p:cNvCxnSpPr>
          <p:nvPr/>
        </p:nvCxnSpPr>
        <p:spPr>
          <a:xfrm>
            <a:off x="8545560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6" name="Google Shape;2146;p92"/>
          <p:cNvCxnSpPr>
            <a:stCxn id="2118" idx="6"/>
            <a:endCxn id="2117" idx="2"/>
          </p:cNvCxnSpPr>
          <p:nvPr/>
        </p:nvCxnSpPr>
        <p:spPr>
          <a:xfrm>
            <a:off x="7207888" y="3805837"/>
            <a:ext cx="1277400" cy="60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7" name="Google Shape;2147;p92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93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Minimum of 0</a:t>
            </a:r>
            <a:r>
              <a:rPr lang="en"/>
              <a:t> (None of your friends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2154" name="Google Shape;2154;p93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55" name="Google Shape;2155;p93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56" name="Google Shape;2156;p93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57" name="Google Shape;2157;p93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58" name="Google Shape;2158;p93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59" name="Google Shape;2159;p93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60" name="Google Shape;2160;p93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61" name="Google Shape;2161;p93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62" name="Google Shape;2162;p93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CC_i=\frac{2m}{n(n-1)}=\frac{2(0)}{8(8-1)}=\frac{0}{8(7)}=\frac{0}{56}=0" id="2163" name="Google Shape;216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17" y="4360289"/>
            <a:ext cx="5059268" cy="613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94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clustering coefficient is equivalent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density</a:t>
            </a:r>
            <a:r>
              <a:rPr lang="en"/>
              <a:t> of the network formed among your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Without counting people you don’t know!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7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2170" name="Google Shape;2170;p94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1" name="Google Shape;2171;p94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2" name="Google Shape;2172;p94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3" name="Google Shape;2173;p94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4" name="Google Shape;2174;p94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5" name="Google Shape;2175;p94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6" name="Google Shape;2176;p94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7" name="Google Shape;2177;p94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78" name="Google Shape;2178;p94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179" name="Google Shape;2179;p94"/>
          <p:cNvCxnSpPr>
            <a:stCxn id="2172" idx="3"/>
            <a:endCxn id="2177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0" name="Google Shape;2180;p94"/>
          <p:cNvCxnSpPr>
            <a:stCxn id="2177" idx="4"/>
            <a:endCxn id="2174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1" name="Google Shape;2181;p94"/>
          <p:cNvCxnSpPr>
            <a:stCxn id="2171" idx="5"/>
            <a:endCxn id="2174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94"/>
          <p:cNvCxnSpPr>
            <a:stCxn id="2175" idx="2"/>
            <a:endCxn id="2174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3" name="Google Shape;2183;p94"/>
          <p:cNvCxnSpPr>
            <a:stCxn id="2178" idx="4"/>
            <a:endCxn id="2176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7)}{8(8-1)}=\frac{14}{8(7)}=\frac{14}{56}=0.25" id="2184" name="Google Shape;218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15" y="4353459"/>
            <a:ext cx="5498870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5" name="Google Shape;2185;p94"/>
          <p:cNvCxnSpPr>
            <a:stCxn id="2173" idx="4"/>
            <a:endCxn id="2178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6" name="Google Shape;2186;p94"/>
          <p:cNvCxnSpPr>
            <a:stCxn id="2172" idx="5"/>
            <a:endCxn id="2178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95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clustering coefficient is equivalent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probability</a:t>
            </a:r>
            <a:r>
              <a:rPr lang="en"/>
              <a:t> that two randomly chosen people you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know one another!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7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2193" name="Google Shape;2193;p95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94" name="Google Shape;2194;p95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95" name="Google Shape;2195;p95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96" name="Google Shape;2196;p95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97" name="Google Shape;2197;p95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98" name="Google Shape;2198;p95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99" name="Google Shape;2199;p95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00" name="Google Shape;2200;p95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01" name="Google Shape;2201;p95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202" name="Google Shape;2202;p95"/>
          <p:cNvCxnSpPr>
            <a:stCxn id="2195" idx="3"/>
            <a:endCxn id="2200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3" name="Google Shape;2203;p95"/>
          <p:cNvCxnSpPr>
            <a:stCxn id="2200" idx="4"/>
            <a:endCxn id="2197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4" name="Google Shape;2204;p95"/>
          <p:cNvCxnSpPr>
            <a:stCxn id="2194" idx="5"/>
            <a:endCxn id="2197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5" name="Google Shape;2205;p95"/>
          <p:cNvCxnSpPr>
            <a:stCxn id="2198" idx="2"/>
            <a:endCxn id="2197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6" name="Google Shape;2206;p95"/>
          <p:cNvCxnSpPr>
            <a:stCxn id="2201" idx="4"/>
            <a:endCxn id="2199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7)}{8(8-1)}=\frac{14}{8(7)}=\frac{14}{56}=0.25" id="2207" name="Google Shape;220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15" y="4353459"/>
            <a:ext cx="5498870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8" name="Google Shape;2208;p95"/>
          <p:cNvCxnSpPr>
            <a:stCxn id="2196" idx="4"/>
            <a:endCxn id="2201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9" name="Google Shape;2209;p95"/>
          <p:cNvCxnSpPr>
            <a:stCxn id="2195" idx="5"/>
            <a:endCxn id="2201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96"/>
          <p:cNvSpPr txBox="1"/>
          <p:nvPr>
            <p:ph idx="1" type="body"/>
          </p:nvPr>
        </p:nvSpPr>
        <p:spPr>
          <a:xfrm>
            <a:off x="311700" y="1225225"/>
            <a:ext cx="86349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clustering coefficient is equivalent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probability</a:t>
            </a:r>
            <a:r>
              <a:rPr lang="en"/>
              <a:t> that two randomly chosen people you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know one another!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 = 10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2216" name="Google Shape;2216;p96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17" name="Google Shape;2217;p96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18" name="Google Shape;2218;p96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19" name="Google Shape;2219;p96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20" name="Google Shape;2220;p96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21" name="Google Shape;2221;p96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22" name="Google Shape;2222;p96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23" name="Google Shape;2223;p96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24" name="Google Shape;2224;p96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225" name="Google Shape;2225;p96"/>
          <p:cNvCxnSpPr>
            <a:stCxn id="2218" idx="2"/>
            <a:endCxn id="2217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96"/>
          <p:cNvCxnSpPr>
            <a:stCxn id="2217" idx="3"/>
            <a:endCxn id="2223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7" name="Google Shape;2227;p96"/>
          <p:cNvCxnSpPr>
            <a:stCxn id="2218" idx="3"/>
            <a:endCxn id="2223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96"/>
          <p:cNvCxnSpPr>
            <a:stCxn id="2218" idx="3"/>
            <a:endCxn id="2220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96"/>
          <p:cNvCxnSpPr>
            <a:stCxn id="2223" idx="4"/>
            <a:endCxn id="2220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96"/>
          <p:cNvCxnSpPr>
            <a:stCxn id="2217" idx="5"/>
            <a:endCxn id="2220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96"/>
          <p:cNvCxnSpPr>
            <a:stCxn id="2224" idx="3"/>
            <a:endCxn id="2220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2" name="Google Shape;2232;p96"/>
          <p:cNvCxnSpPr>
            <a:stCxn id="2221" idx="2"/>
            <a:endCxn id="2220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3" name="Google Shape;2233;p96"/>
          <p:cNvCxnSpPr>
            <a:stCxn id="2222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4" name="Google Shape;2234;p96"/>
          <p:cNvCxnSpPr>
            <a:stCxn id="2224" idx="4"/>
            <a:endCxn id="2222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10)}{8(8-1)}=\frac{20}{8(7)}=\frac{20}{56}=0.38" id="2235" name="Google Shape;223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894" y="4346951"/>
            <a:ext cx="569671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