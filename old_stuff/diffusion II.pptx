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715000" cx="9144000"/>
  <p:notesSz cx="6858000" cy="9144000"/>
  <p:embeddedFontLst>
    <p:embeddedFont>
      <p:font typeface="Josefin Slab"/>
      <p:regular r:id="rId30"/>
      <p:bold r:id="rId31"/>
      <p:italic r:id="rId32"/>
      <p:boldItalic r:id="rId33"/>
    </p:embeddedFont>
    <p:embeddedFont>
      <p:font typeface="Economica"/>
      <p:regular r:id="rId34"/>
      <p:bold r:id="rId35"/>
      <p:italic r:id="rId36"/>
      <p:boldItalic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73CC90-21C3-48E0-AB13-EC758DEEFBAC}">
  <a:tblStyle styleId="{DC73CC90-21C3-48E0-AB13-EC758DEEFBAC}"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5.xml"/><Relationship Id="rId41" Type="http://schemas.openxmlformats.org/officeDocument/2006/relationships/font" Target="fonts/OpenSans-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JosefinSlab-bold.fntdata"/><Relationship Id="rId30" Type="http://schemas.openxmlformats.org/officeDocument/2006/relationships/font" Target="fonts/JosefinSlab-regular.fntdata"/><Relationship Id="rId11" Type="http://schemas.openxmlformats.org/officeDocument/2006/relationships/slide" Target="slides/slide6.xml"/><Relationship Id="rId33" Type="http://schemas.openxmlformats.org/officeDocument/2006/relationships/font" Target="fonts/JosefinSlab-boldItalic.fntdata"/><Relationship Id="rId10" Type="http://schemas.openxmlformats.org/officeDocument/2006/relationships/slide" Target="slides/slide5.xml"/><Relationship Id="rId32" Type="http://schemas.openxmlformats.org/officeDocument/2006/relationships/font" Target="fonts/JosefinSlab-italic.fntdata"/><Relationship Id="rId13" Type="http://schemas.openxmlformats.org/officeDocument/2006/relationships/slide" Target="slides/slide8.xml"/><Relationship Id="rId35" Type="http://schemas.openxmlformats.org/officeDocument/2006/relationships/font" Target="fonts/Economica-bold.fntdata"/><Relationship Id="rId12" Type="http://schemas.openxmlformats.org/officeDocument/2006/relationships/slide" Target="slides/slide7.xml"/><Relationship Id="rId34" Type="http://schemas.openxmlformats.org/officeDocument/2006/relationships/font" Target="fonts/Economica-regular.fntdata"/><Relationship Id="rId15" Type="http://schemas.openxmlformats.org/officeDocument/2006/relationships/slide" Target="slides/slide10.xml"/><Relationship Id="rId37" Type="http://schemas.openxmlformats.org/officeDocument/2006/relationships/font" Target="fonts/Economica-boldItalic.fntdata"/><Relationship Id="rId14" Type="http://schemas.openxmlformats.org/officeDocument/2006/relationships/slide" Target="slides/slide9.xml"/><Relationship Id="rId36" Type="http://schemas.openxmlformats.org/officeDocument/2006/relationships/font" Target="fonts/Economica-italic.fntdata"/><Relationship Id="rId17" Type="http://schemas.openxmlformats.org/officeDocument/2006/relationships/slide" Target="slides/slide12.xml"/><Relationship Id="rId39" Type="http://schemas.openxmlformats.org/officeDocument/2006/relationships/font" Target="fonts/OpenSans-bold.fntdata"/><Relationship Id="rId16" Type="http://schemas.openxmlformats.org/officeDocument/2006/relationships/slide" Target="slides/slide11.xml"/><Relationship Id="rId38" Type="http://schemas.openxmlformats.org/officeDocument/2006/relationships/font" Target="fonts/OpenSans-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686002" y="685800"/>
            <a:ext cx="5486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686002"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9b53bab3_025: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9b53bab3_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9b53bab3_030: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9b53bab3_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9b53bab3_044: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9b53bab3_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9b53bab3_050: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9b53bab3_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9b53bab3_072: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9b53bab3_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9b53bab3_066: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9b53bab3_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9b53bab3_0127: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9b53bab3_0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9b53bab3_038: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9b53bab3_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9b53bab3_095: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9b53bab3_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9b53bab3_0103: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9b53bab3_0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9b53bab3_0109: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9b53bab3_0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9b53bab3_0115: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9b53bab3_0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9b53bab3_0121: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9b53bab3_0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9b53bab3_0135: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9b53bab3_0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9b53bab3_0141: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9b53bab3_0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9b53bab3_0152: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9b53bab3_0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9b53bab3_0162: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9b53bab3_0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9b53bab3_0168: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9b53bab3_0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e10755db_10: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e10755db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9b53bab3_0174: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9b53bab3_0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9b53bab3_0187: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9b53bab3_0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9b53bab3_0193: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9b53bab3_0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bdb117ef_00:notes"/>
          <p:cNvSpPr/>
          <p:nvPr>
            <p:ph idx="2" type="sldImg"/>
          </p:nvPr>
        </p:nvSpPr>
        <p:spPr>
          <a:xfrm>
            <a:off x="685995" y="685800"/>
            <a:ext cx="54867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bdb117ef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840778"/>
            <a:ext cx="1081625" cy="1249932"/>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629707"/>
            <a:ext cx="1081625" cy="1249932"/>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604728"/>
            <a:ext cx="3054600" cy="17079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462867"/>
            <a:ext cx="3054600" cy="779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511361"/>
            <a:ext cx="1081625" cy="1249932"/>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953707"/>
            <a:ext cx="1081625" cy="1249932"/>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2007167"/>
            <a:ext cx="7596600" cy="1700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606333"/>
            <a:ext cx="9144000" cy="108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361361"/>
            <a:ext cx="8520600" cy="37266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361361"/>
            <a:ext cx="3999900" cy="3726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361361"/>
            <a:ext cx="3999900" cy="3726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617333"/>
            <a:ext cx="2808000" cy="839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554889"/>
            <a:ext cx="2808000" cy="3094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606333"/>
            <a:ext cx="9144000" cy="108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500167"/>
            <a:ext cx="5878800" cy="4545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8"/>
            <a:ext cx="4572000" cy="571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9950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1032528"/>
            <a:ext cx="4045200" cy="19848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3076667"/>
            <a:ext cx="4045200" cy="174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804667"/>
            <a:ext cx="3837000" cy="41058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687694"/>
            <a:ext cx="5998800" cy="6654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606333"/>
            <a:ext cx="9144000" cy="108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1063472"/>
            <a:ext cx="8520600" cy="2365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513333"/>
            <a:ext cx="8520600" cy="11907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51028"/>
            <a:ext cx="8520600" cy="923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361361"/>
            <a:ext cx="8520600" cy="37266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network models of diffusion</a:t>
            </a:r>
            <a:endParaRPr/>
          </a:p>
        </p:txBody>
      </p:sp>
      <p:sp>
        <p:nvSpPr>
          <p:cNvPr id="63" name="Google Shape;63;p13"/>
          <p:cNvSpPr txBox="1"/>
          <p:nvPr>
            <p:ph idx="1" type="body"/>
          </p:nvPr>
        </p:nvSpPr>
        <p:spPr>
          <a:xfrm>
            <a:off x="311700" y="1361361"/>
            <a:ext cx="8520600" cy="37266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Font typeface="Josefin Slab"/>
              <a:buChar char="●"/>
            </a:pPr>
            <a:r>
              <a:rPr lang="en" sz="2800">
                <a:latin typeface="Josefin Slab"/>
                <a:ea typeface="Josefin Slab"/>
                <a:cs typeface="Josefin Slab"/>
                <a:sym typeface="Josefin Slab"/>
              </a:rPr>
              <a:t>(Global) Threshold models (Granovetter 1978; Macy 1991)</a:t>
            </a:r>
            <a:endParaRPr sz="2800">
              <a:latin typeface="Josefin Slab"/>
              <a:ea typeface="Josefin Slab"/>
              <a:cs typeface="Josefin Slab"/>
              <a:sym typeface="Josefin Slab"/>
            </a:endParaRPr>
          </a:p>
          <a:p>
            <a:pPr indent="-406400" lvl="0" marL="457200" rtl="0" algn="l">
              <a:spcBef>
                <a:spcPts val="1600"/>
              </a:spcBef>
              <a:spcAft>
                <a:spcPts val="0"/>
              </a:spcAft>
              <a:buSzPts val="2800"/>
              <a:buFont typeface="Josefin Slab"/>
              <a:buChar char="●"/>
            </a:pPr>
            <a:r>
              <a:rPr lang="en" sz="2800">
                <a:latin typeface="Josefin Slab"/>
                <a:ea typeface="Josefin Slab"/>
                <a:cs typeface="Josefin Slab"/>
                <a:sym typeface="Josefin Slab"/>
              </a:rPr>
              <a:t>Critical Mass Models (Marwell et al 1988; Macy 1990)</a:t>
            </a:r>
            <a:endParaRPr sz="2800">
              <a:latin typeface="Josefin Slab"/>
              <a:ea typeface="Josefin Slab"/>
              <a:cs typeface="Josefin Slab"/>
              <a:sym typeface="Josefin Slab"/>
            </a:endParaRPr>
          </a:p>
          <a:p>
            <a:pPr indent="-406400" lvl="0" marL="457200" rtl="0" algn="l">
              <a:spcBef>
                <a:spcPts val="1600"/>
              </a:spcBef>
              <a:spcAft>
                <a:spcPts val="0"/>
              </a:spcAft>
              <a:buSzPts val="2800"/>
              <a:buFont typeface="Josefin Slab"/>
              <a:buChar char="●"/>
            </a:pPr>
            <a:r>
              <a:rPr lang="en" sz="2800">
                <a:latin typeface="Josefin Slab"/>
                <a:ea typeface="Josefin Slab"/>
                <a:cs typeface="Josefin Slab"/>
                <a:sym typeface="Josefin Slab"/>
              </a:rPr>
              <a:t>Diffusion via cohesion and opinion leaders (Coleman et al 1966; Rogers 1962)</a:t>
            </a:r>
            <a:endParaRPr sz="2800">
              <a:latin typeface="Josefin Slab"/>
              <a:ea typeface="Josefin Slab"/>
              <a:cs typeface="Josefin Slab"/>
              <a:sym typeface="Josefin Slab"/>
            </a:endParaRPr>
          </a:p>
          <a:p>
            <a:pPr indent="-406400" lvl="0" marL="457200" rtl="0" algn="l">
              <a:spcBef>
                <a:spcPts val="1600"/>
              </a:spcBef>
              <a:spcAft>
                <a:spcPts val="0"/>
              </a:spcAft>
              <a:buSzPts val="2800"/>
              <a:buFont typeface="Josefin Slab"/>
              <a:buChar char="●"/>
            </a:pPr>
            <a:r>
              <a:rPr lang="en" sz="2800">
                <a:latin typeface="Josefin Slab"/>
                <a:ea typeface="Josefin Slab"/>
                <a:cs typeface="Josefin Slab"/>
                <a:sym typeface="Josefin Slab"/>
              </a:rPr>
              <a:t>Diffusion via positional equivalence (Burt 1987)</a:t>
            </a:r>
            <a:endParaRPr sz="2800">
              <a:latin typeface="Josefin Slab"/>
              <a:ea typeface="Josefin Slab"/>
              <a:cs typeface="Josefin Slab"/>
              <a:sym typeface="Josefin Slab"/>
            </a:endParaRPr>
          </a:p>
          <a:p>
            <a:pPr indent="-406400" lvl="0" marL="457200" rtl="0" algn="l">
              <a:spcBef>
                <a:spcPts val="1600"/>
              </a:spcBef>
              <a:spcAft>
                <a:spcPts val="0"/>
              </a:spcAft>
              <a:buSzPts val="2800"/>
              <a:buFont typeface="Josefin Slab"/>
              <a:buChar char="●"/>
            </a:pPr>
            <a:r>
              <a:rPr lang="en" sz="2800">
                <a:latin typeface="Josefin Slab"/>
                <a:ea typeface="Josefin Slab"/>
                <a:cs typeface="Josefin Slab"/>
                <a:sym typeface="Josefin Slab"/>
              </a:rPr>
              <a:t>Weak ties as necessary for diffusion (Granovetter 1982)</a:t>
            </a:r>
            <a:endParaRPr sz="2800">
              <a:latin typeface="Josefin Slab"/>
              <a:ea typeface="Josefin Slab"/>
              <a:cs typeface="Josefin Slab"/>
              <a:sym typeface="Josefin Slab"/>
            </a:endParaRPr>
          </a:p>
          <a:p>
            <a:pPr indent="-406400" lvl="0" marL="457200" rtl="0" algn="l">
              <a:spcBef>
                <a:spcPts val="1600"/>
              </a:spcBef>
              <a:spcAft>
                <a:spcPts val="1600"/>
              </a:spcAft>
              <a:buSzPts val="2800"/>
              <a:buFont typeface="Josefin Slab"/>
              <a:buChar char="●"/>
            </a:pPr>
            <a:r>
              <a:rPr lang="en" sz="2800">
                <a:latin typeface="Josefin Slab"/>
                <a:ea typeface="Josefin Slab"/>
                <a:cs typeface="Josefin Slab"/>
                <a:sym typeface="Josefin Slab"/>
              </a:rPr>
              <a:t>Network Threshold Models (Valente 1996)</a:t>
            </a:r>
            <a:endParaRPr sz="2800">
              <a:latin typeface="Josefin Slab"/>
              <a:ea typeface="Josefin Slab"/>
              <a:cs typeface="Josefin Slab"/>
              <a:sym typeface="Josefin Slab"/>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network models of diffusion</a:t>
            </a:r>
            <a:endParaRPr/>
          </a:p>
        </p:txBody>
      </p:sp>
      <p:sp>
        <p:nvSpPr>
          <p:cNvPr id="69" name="Google Shape;69;p14"/>
          <p:cNvSpPr txBox="1"/>
          <p:nvPr>
            <p:ph idx="1" type="body"/>
          </p:nvPr>
        </p:nvSpPr>
        <p:spPr>
          <a:xfrm>
            <a:off x="311700" y="1361361"/>
            <a:ext cx="8520600" cy="3726600"/>
          </a:xfrm>
          <a:prstGeom prst="rect">
            <a:avLst/>
          </a:prstGeom>
          <a:ln>
            <a:noFill/>
          </a:ln>
        </p:spPr>
        <p:txBody>
          <a:bodyPr anchorCtr="0" anchor="t" bIns="91425" lIns="91425" spcFirstLastPara="1" rIns="91425" wrap="square" tIns="91425">
            <a:noAutofit/>
          </a:bodyPr>
          <a:lstStyle/>
          <a:p>
            <a:pPr indent="-406400" lvl="0" marL="457200" rtl="0" algn="l">
              <a:spcBef>
                <a:spcPts val="0"/>
              </a:spcBef>
              <a:spcAft>
                <a:spcPts val="0"/>
              </a:spcAft>
              <a:buSzPts val="2800"/>
              <a:buFont typeface="Josefin Slab"/>
              <a:buChar char="●"/>
            </a:pPr>
            <a:r>
              <a:rPr lang="en" sz="2800">
                <a:latin typeface="Josefin Slab"/>
                <a:ea typeface="Josefin Slab"/>
                <a:cs typeface="Josefin Slab"/>
                <a:sym typeface="Josefin Slab"/>
              </a:rPr>
              <a:t>(Global) Threshold models (Granovetter 1978; Macy 1991)</a:t>
            </a:r>
            <a:endParaRPr sz="2800">
              <a:latin typeface="Josefin Slab"/>
              <a:ea typeface="Josefin Slab"/>
              <a:cs typeface="Josefin Slab"/>
              <a:sym typeface="Josefin Slab"/>
            </a:endParaRPr>
          </a:p>
          <a:p>
            <a:pPr indent="-406400" lvl="0" marL="457200" rtl="0" algn="l">
              <a:spcBef>
                <a:spcPts val="1600"/>
              </a:spcBef>
              <a:spcAft>
                <a:spcPts val="0"/>
              </a:spcAft>
              <a:buSzPts val="2800"/>
              <a:buFont typeface="Josefin Slab"/>
              <a:buChar char="●"/>
            </a:pPr>
            <a:r>
              <a:rPr lang="en" sz="2800">
                <a:latin typeface="Josefin Slab"/>
                <a:ea typeface="Josefin Slab"/>
                <a:cs typeface="Josefin Slab"/>
                <a:sym typeface="Josefin Slab"/>
              </a:rPr>
              <a:t>Critical Mass Models (Marwell et al 1988; Macy 1990)</a:t>
            </a:r>
            <a:endParaRPr sz="2800">
              <a:latin typeface="Josefin Slab"/>
              <a:ea typeface="Josefin Slab"/>
              <a:cs typeface="Josefin Slab"/>
              <a:sym typeface="Josefin Slab"/>
            </a:endParaRPr>
          </a:p>
          <a:p>
            <a:pPr indent="-406400" lvl="0" marL="457200" rtl="0" algn="l">
              <a:spcBef>
                <a:spcPts val="1600"/>
              </a:spcBef>
              <a:spcAft>
                <a:spcPts val="0"/>
              </a:spcAft>
              <a:buSzPts val="2800"/>
              <a:buFont typeface="Josefin Slab"/>
              <a:buChar char="●"/>
            </a:pPr>
            <a:r>
              <a:rPr lang="en" sz="2800">
                <a:latin typeface="Josefin Slab"/>
                <a:ea typeface="Josefin Slab"/>
                <a:cs typeface="Josefin Slab"/>
                <a:sym typeface="Josefin Slab"/>
              </a:rPr>
              <a:t>Diffusion via cohesion and opinion leaders (Coleman et al 1966; Rogers 1962)</a:t>
            </a:r>
            <a:endParaRPr sz="2800">
              <a:latin typeface="Josefin Slab"/>
              <a:ea typeface="Josefin Slab"/>
              <a:cs typeface="Josefin Slab"/>
              <a:sym typeface="Josefin Slab"/>
            </a:endParaRPr>
          </a:p>
          <a:p>
            <a:pPr indent="-406400" lvl="0" marL="457200" rtl="0" algn="l">
              <a:spcBef>
                <a:spcPts val="1600"/>
              </a:spcBef>
              <a:spcAft>
                <a:spcPts val="0"/>
              </a:spcAft>
              <a:buSzPts val="2800"/>
              <a:buFont typeface="Josefin Slab"/>
              <a:buChar char="●"/>
            </a:pPr>
            <a:r>
              <a:rPr lang="en" sz="2800">
                <a:latin typeface="Josefin Slab"/>
                <a:ea typeface="Josefin Slab"/>
                <a:cs typeface="Josefin Slab"/>
                <a:sym typeface="Josefin Slab"/>
              </a:rPr>
              <a:t>Diffusion via positional equivalence (Burt 1987)</a:t>
            </a:r>
            <a:endParaRPr sz="2800">
              <a:latin typeface="Josefin Slab"/>
              <a:ea typeface="Josefin Slab"/>
              <a:cs typeface="Josefin Slab"/>
              <a:sym typeface="Josefin Slab"/>
            </a:endParaRPr>
          </a:p>
          <a:p>
            <a:pPr indent="-406400" lvl="0" marL="457200" rtl="0" algn="l">
              <a:spcBef>
                <a:spcPts val="1600"/>
              </a:spcBef>
              <a:spcAft>
                <a:spcPts val="0"/>
              </a:spcAft>
              <a:buSzPts val="2800"/>
              <a:buFont typeface="Josefin Slab"/>
              <a:buChar char="●"/>
            </a:pPr>
            <a:r>
              <a:rPr lang="en" sz="2800">
                <a:latin typeface="Josefin Slab"/>
                <a:ea typeface="Josefin Slab"/>
                <a:cs typeface="Josefin Slab"/>
                <a:sym typeface="Josefin Slab"/>
              </a:rPr>
              <a:t>Weak ties as necessary for diffusion (Granovetter 1982)</a:t>
            </a:r>
            <a:endParaRPr sz="2800">
              <a:latin typeface="Josefin Slab"/>
              <a:ea typeface="Josefin Slab"/>
              <a:cs typeface="Josefin Slab"/>
              <a:sym typeface="Josefin Slab"/>
            </a:endParaRPr>
          </a:p>
          <a:p>
            <a:pPr indent="-406400" lvl="0" marL="457200" rtl="0" algn="l">
              <a:spcBef>
                <a:spcPts val="1600"/>
              </a:spcBef>
              <a:spcAft>
                <a:spcPts val="1600"/>
              </a:spcAft>
              <a:buSzPts val="2800"/>
              <a:buFont typeface="Josefin Slab"/>
              <a:buChar char="●"/>
            </a:pPr>
            <a:r>
              <a:rPr b="1" lang="en" sz="2800">
                <a:solidFill>
                  <a:srgbClr val="FF0000"/>
                </a:solidFill>
                <a:latin typeface="Josefin Slab"/>
                <a:ea typeface="Josefin Slab"/>
                <a:cs typeface="Josefin Slab"/>
                <a:sym typeface="Josefin Slab"/>
              </a:rPr>
              <a:t>Network Threshold Models (Valente 1996)</a:t>
            </a:r>
            <a:endParaRPr b="1" sz="2800">
              <a:solidFill>
                <a:srgbClr val="FF0000"/>
              </a:solidFill>
              <a:latin typeface="Josefin Slab"/>
              <a:ea typeface="Josefin Slab"/>
              <a:cs typeface="Josefin Slab"/>
              <a:sym typeface="Josefin Slab"/>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sp>
        <p:nvSpPr>
          <p:cNvPr id="75" name="Google Shape;75;p15"/>
          <p:cNvSpPr txBox="1"/>
          <p:nvPr>
            <p:ph idx="1" type="body"/>
          </p:nvPr>
        </p:nvSpPr>
        <p:spPr>
          <a:xfrm>
            <a:off x="457200" y="1321354"/>
            <a:ext cx="8229600" cy="413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Josefin Slab"/>
              <a:buChar char="●"/>
            </a:pPr>
            <a:r>
              <a:rPr lang="en">
                <a:latin typeface="Josefin Slab"/>
                <a:ea typeface="Josefin Slab"/>
                <a:cs typeface="Josefin Slab"/>
                <a:sym typeface="Josefin Slab"/>
              </a:rPr>
              <a:t>In the (global) threshold model of diffusion (Granovetter 1978) takes </a:t>
            </a:r>
            <a:r>
              <a:rPr i="1" lang="en">
                <a:latin typeface="Josefin Slab"/>
                <a:ea typeface="Josefin Slab"/>
                <a:cs typeface="Josefin Slab"/>
                <a:sym typeface="Josefin Slab"/>
              </a:rPr>
              <a:t>q</a:t>
            </a:r>
            <a:r>
              <a:rPr lang="en">
                <a:latin typeface="Josefin Slab"/>
                <a:ea typeface="Josefin Slab"/>
                <a:cs typeface="Josefin Slab"/>
                <a:sym typeface="Josefin Slab"/>
              </a:rPr>
              <a:t> (the probability of adoption/participation):</a:t>
            </a:r>
            <a:endParaRPr>
              <a:latin typeface="Josefin Slab"/>
              <a:ea typeface="Josefin Slab"/>
              <a:cs typeface="Josefin Slab"/>
              <a:sym typeface="Josefin Slab"/>
            </a:endParaRPr>
          </a:p>
          <a:p>
            <a:pPr indent="-317500" lvl="1" marL="914400" rtl="0" algn="l">
              <a:spcBef>
                <a:spcPts val="1600"/>
              </a:spcBef>
              <a:spcAft>
                <a:spcPts val="0"/>
              </a:spcAft>
              <a:buSzPts val="1400"/>
              <a:buFont typeface="Josefin Slab"/>
              <a:buChar char="○"/>
            </a:pPr>
            <a:r>
              <a:rPr lang="en">
                <a:latin typeface="Josefin Slab"/>
                <a:ea typeface="Josefin Slab"/>
                <a:cs typeface="Josefin Slab"/>
                <a:sym typeface="Josefin Slab"/>
              </a:rPr>
              <a:t>is equivalent to the proportion of persons in the system that have already adopted/participated</a:t>
            </a:r>
            <a:endParaRPr>
              <a:latin typeface="Josefin Slab"/>
              <a:ea typeface="Josefin Slab"/>
              <a:cs typeface="Josefin Slab"/>
              <a:sym typeface="Josefin Slab"/>
            </a:endParaRPr>
          </a:p>
          <a:p>
            <a:pPr indent="-317500" lvl="1" marL="914400" rtl="0" algn="l">
              <a:spcBef>
                <a:spcPts val="1600"/>
              </a:spcBef>
              <a:spcAft>
                <a:spcPts val="1600"/>
              </a:spcAft>
              <a:buSzPts val="1400"/>
              <a:buFont typeface="Josefin Slab"/>
              <a:buChar char="○"/>
            </a:pPr>
            <a:r>
              <a:rPr lang="en">
                <a:latin typeface="Josefin Slab"/>
                <a:ea typeface="Josefin Slab"/>
                <a:cs typeface="Josefin Slab"/>
                <a:sym typeface="Josefin Slab"/>
              </a:rPr>
              <a:t>is unique for each person in the system q(i) subject to some distribution</a:t>
            </a:r>
            <a:endParaRPr>
              <a:latin typeface="Josefin Slab"/>
              <a:ea typeface="Josefin Slab"/>
              <a:cs typeface="Josefin Slab"/>
              <a:sym typeface="Josefin Slab"/>
            </a:endParaRPr>
          </a:p>
        </p:txBody>
      </p:sp>
      <p:pic>
        <p:nvPicPr>
          <p:cNvPr id="76" name="Google Shape;76;p15"/>
          <p:cNvPicPr preferRelativeResize="0"/>
          <p:nvPr/>
        </p:nvPicPr>
        <p:blipFill>
          <a:blip r:embed="rId3">
            <a:alphaModFix/>
          </a:blip>
          <a:stretch>
            <a:fillRect/>
          </a:stretch>
        </p:blipFill>
        <p:spPr>
          <a:xfrm>
            <a:off x="2260527" y="3808902"/>
            <a:ext cx="3852455" cy="171289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sp>
        <p:nvSpPr>
          <p:cNvPr id="82" name="Google Shape;82;p16"/>
          <p:cNvSpPr txBox="1"/>
          <p:nvPr>
            <p:ph idx="1" type="body"/>
          </p:nvPr>
        </p:nvSpPr>
        <p:spPr>
          <a:xfrm>
            <a:off x="457200" y="1321354"/>
            <a:ext cx="8229600" cy="413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Josefin Slab"/>
              <a:buChar char="●"/>
            </a:pPr>
            <a:r>
              <a:rPr lang="en">
                <a:latin typeface="Josefin Slab"/>
                <a:ea typeface="Josefin Slab"/>
                <a:cs typeface="Josefin Slab"/>
                <a:sym typeface="Josefin Slab"/>
              </a:rPr>
              <a:t>In the (global) threshold model of diffusion (Granovetter 1978) takes </a:t>
            </a:r>
            <a:r>
              <a:rPr i="1" lang="en">
                <a:latin typeface="Josefin Slab"/>
                <a:ea typeface="Josefin Slab"/>
                <a:cs typeface="Josefin Slab"/>
                <a:sym typeface="Josefin Slab"/>
              </a:rPr>
              <a:t>q</a:t>
            </a:r>
            <a:r>
              <a:rPr lang="en">
                <a:latin typeface="Josefin Slab"/>
                <a:ea typeface="Josefin Slab"/>
                <a:cs typeface="Josefin Slab"/>
                <a:sym typeface="Josefin Slab"/>
              </a:rPr>
              <a:t> (the probability of adoption/participation):</a:t>
            </a:r>
            <a:endParaRPr>
              <a:latin typeface="Josefin Slab"/>
              <a:ea typeface="Josefin Slab"/>
              <a:cs typeface="Josefin Slab"/>
              <a:sym typeface="Josefin Slab"/>
            </a:endParaRPr>
          </a:p>
          <a:p>
            <a:pPr indent="-317500" lvl="1" marL="914400" rtl="0" algn="l">
              <a:spcBef>
                <a:spcPts val="1600"/>
              </a:spcBef>
              <a:spcAft>
                <a:spcPts val="0"/>
              </a:spcAft>
              <a:buSzPts val="1400"/>
              <a:buFont typeface="Josefin Slab"/>
              <a:buChar char="○"/>
            </a:pPr>
            <a:r>
              <a:rPr lang="en">
                <a:latin typeface="Josefin Slab"/>
                <a:ea typeface="Josefin Slab"/>
                <a:cs typeface="Josefin Slab"/>
                <a:sym typeface="Josefin Slab"/>
              </a:rPr>
              <a:t>Persons with </a:t>
            </a:r>
            <a:r>
              <a:rPr b="1" lang="en">
                <a:latin typeface="Josefin Slab"/>
                <a:ea typeface="Josefin Slab"/>
                <a:cs typeface="Josefin Slab"/>
                <a:sym typeface="Josefin Slab"/>
              </a:rPr>
              <a:t>low</a:t>
            </a:r>
            <a:r>
              <a:rPr lang="en">
                <a:latin typeface="Josefin Slab"/>
                <a:ea typeface="Josefin Slab"/>
                <a:cs typeface="Josefin Slab"/>
                <a:sym typeface="Josefin Slab"/>
              </a:rPr>
              <a:t> thresholds are </a:t>
            </a:r>
            <a:r>
              <a:rPr b="1" lang="en">
                <a:latin typeface="Josefin Slab"/>
                <a:ea typeface="Josefin Slab"/>
                <a:cs typeface="Josefin Slab"/>
                <a:sym typeface="Josefin Slab"/>
              </a:rPr>
              <a:t>high</a:t>
            </a:r>
            <a:r>
              <a:rPr lang="en">
                <a:latin typeface="Josefin Slab"/>
                <a:ea typeface="Josefin Slab"/>
                <a:cs typeface="Josefin Slab"/>
                <a:sym typeface="Josefin Slab"/>
              </a:rPr>
              <a:t> </a:t>
            </a:r>
            <a:r>
              <a:rPr b="1" lang="en">
                <a:latin typeface="Josefin Slab"/>
                <a:ea typeface="Josefin Slab"/>
                <a:cs typeface="Josefin Slab"/>
                <a:sym typeface="Josefin Slab"/>
              </a:rPr>
              <a:t>risk</a:t>
            </a:r>
            <a:r>
              <a:rPr lang="en">
                <a:latin typeface="Josefin Slab"/>
                <a:ea typeface="Josefin Slab"/>
                <a:cs typeface="Josefin Slab"/>
                <a:sym typeface="Josefin Slab"/>
              </a:rPr>
              <a:t> </a:t>
            </a:r>
            <a:r>
              <a:rPr i="1" lang="en">
                <a:latin typeface="Josefin Slab"/>
                <a:ea typeface="Josefin Slab"/>
                <a:cs typeface="Josefin Slab"/>
                <a:sym typeface="Josefin Slab"/>
              </a:rPr>
              <a:t>early adopters</a:t>
            </a:r>
            <a:endParaRPr>
              <a:latin typeface="Josefin Slab"/>
              <a:ea typeface="Josefin Slab"/>
              <a:cs typeface="Josefin Slab"/>
              <a:sym typeface="Josefin Slab"/>
            </a:endParaRPr>
          </a:p>
          <a:p>
            <a:pPr indent="-317500" lvl="1" marL="914400" rtl="0" algn="l">
              <a:spcBef>
                <a:spcPts val="1600"/>
              </a:spcBef>
              <a:spcAft>
                <a:spcPts val="1600"/>
              </a:spcAft>
              <a:buSzPts val="1400"/>
              <a:buFont typeface="Josefin Slab"/>
              <a:buChar char="○"/>
            </a:pPr>
            <a:r>
              <a:rPr lang="en">
                <a:latin typeface="Josefin Slab"/>
                <a:ea typeface="Josefin Slab"/>
                <a:cs typeface="Josefin Slab"/>
                <a:sym typeface="Josefin Slab"/>
              </a:rPr>
              <a:t>Persons with </a:t>
            </a:r>
            <a:r>
              <a:rPr b="1" lang="en">
                <a:latin typeface="Josefin Slab"/>
                <a:ea typeface="Josefin Slab"/>
                <a:cs typeface="Josefin Slab"/>
                <a:sym typeface="Josefin Slab"/>
              </a:rPr>
              <a:t>high</a:t>
            </a:r>
            <a:r>
              <a:rPr lang="en">
                <a:latin typeface="Josefin Slab"/>
                <a:ea typeface="Josefin Slab"/>
                <a:cs typeface="Josefin Slab"/>
                <a:sym typeface="Josefin Slab"/>
              </a:rPr>
              <a:t> thresholds are </a:t>
            </a:r>
            <a:r>
              <a:rPr b="1" lang="en">
                <a:latin typeface="Josefin Slab"/>
                <a:ea typeface="Josefin Slab"/>
                <a:cs typeface="Josefin Slab"/>
                <a:sym typeface="Josefin Slab"/>
              </a:rPr>
              <a:t>risk</a:t>
            </a:r>
            <a:r>
              <a:rPr lang="en">
                <a:latin typeface="Josefin Slab"/>
                <a:ea typeface="Josefin Slab"/>
                <a:cs typeface="Josefin Slab"/>
                <a:sym typeface="Josefin Slab"/>
              </a:rPr>
              <a:t> </a:t>
            </a:r>
            <a:r>
              <a:rPr b="1" lang="en">
                <a:latin typeface="Josefin Slab"/>
                <a:ea typeface="Josefin Slab"/>
                <a:cs typeface="Josefin Slab"/>
                <a:sym typeface="Josefin Slab"/>
              </a:rPr>
              <a:t>averse</a:t>
            </a:r>
            <a:r>
              <a:rPr lang="en">
                <a:latin typeface="Josefin Slab"/>
                <a:ea typeface="Josefin Slab"/>
                <a:cs typeface="Josefin Slab"/>
                <a:sym typeface="Josefin Slab"/>
              </a:rPr>
              <a:t> </a:t>
            </a:r>
            <a:r>
              <a:rPr i="1" lang="en">
                <a:latin typeface="Josefin Slab"/>
                <a:ea typeface="Josefin Slab"/>
                <a:cs typeface="Josefin Slab"/>
                <a:sym typeface="Josefin Slab"/>
              </a:rPr>
              <a:t>late adopters</a:t>
            </a:r>
            <a:endParaRPr i="1">
              <a:latin typeface="Josefin Slab"/>
              <a:ea typeface="Josefin Slab"/>
              <a:cs typeface="Josefin Slab"/>
              <a:sym typeface="Josefin Slab"/>
            </a:endParaRPr>
          </a:p>
        </p:txBody>
      </p:sp>
      <p:pic>
        <p:nvPicPr>
          <p:cNvPr id="83" name="Google Shape;83;p16"/>
          <p:cNvPicPr preferRelativeResize="0"/>
          <p:nvPr/>
        </p:nvPicPr>
        <p:blipFill>
          <a:blip r:embed="rId3">
            <a:alphaModFix/>
          </a:blip>
          <a:stretch>
            <a:fillRect/>
          </a:stretch>
        </p:blipFill>
        <p:spPr>
          <a:xfrm>
            <a:off x="2260527" y="3808902"/>
            <a:ext cx="3852455" cy="171289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sp>
        <p:nvSpPr>
          <p:cNvPr id="89" name="Google Shape;89;p17"/>
          <p:cNvSpPr txBox="1"/>
          <p:nvPr>
            <p:ph idx="1" type="body"/>
          </p:nvPr>
        </p:nvSpPr>
        <p:spPr>
          <a:xfrm>
            <a:off x="457200" y="1321354"/>
            <a:ext cx="8229600" cy="413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Josefin Slab"/>
              <a:buChar char="●"/>
            </a:pPr>
            <a:r>
              <a:rPr lang="en">
                <a:latin typeface="Josefin Slab"/>
                <a:ea typeface="Josefin Slab"/>
                <a:cs typeface="Josefin Slab"/>
                <a:sym typeface="Josefin Slab"/>
              </a:rPr>
              <a:t>In the (global) threshold model of diffusion (Granovetter 1978) takes </a:t>
            </a:r>
            <a:r>
              <a:rPr i="1" lang="en">
                <a:latin typeface="Josefin Slab"/>
                <a:ea typeface="Josefin Slab"/>
                <a:cs typeface="Josefin Slab"/>
                <a:sym typeface="Josefin Slab"/>
              </a:rPr>
              <a:t>q</a:t>
            </a:r>
            <a:r>
              <a:rPr lang="en">
                <a:latin typeface="Josefin Slab"/>
                <a:ea typeface="Josefin Slab"/>
                <a:cs typeface="Josefin Slab"/>
                <a:sym typeface="Josefin Slab"/>
              </a:rPr>
              <a:t> (the probability of adoption/participation):</a:t>
            </a:r>
            <a:endParaRPr>
              <a:latin typeface="Josefin Slab"/>
              <a:ea typeface="Josefin Slab"/>
              <a:cs typeface="Josefin Slab"/>
              <a:sym typeface="Josefin Slab"/>
            </a:endParaRPr>
          </a:p>
          <a:p>
            <a:pPr indent="-317500" lvl="1" marL="914400" rtl="0" algn="l">
              <a:spcBef>
                <a:spcPts val="1600"/>
              </a:spcBef>
              <a:spcAft>
                <a:spcPts val="1600"/>
              </a:spcAft>
              <a:buSzPts val="1400"/>
              <a:buFont typeface="Josefin Slab"/>
              <a:buChar char="○"/>
            </a:pPr>
            <a:r>
              <a:rPr lang="en">
                <a:latin typeface="Josefin Slab"/>
                <a:ea typeface="Josefin Slab"/>
                <a:cs typeface="Josefin Slab"/>
                <a:sym typeface="Josefin Slab"/>
              </a:rPr>
              <a:t>Variance in thresholds explains the typical S-shaped pattern of cumulative adoptions with initial slow uptake, rapid spread and slow saturation.</a:t>
            </a:r>
            <a:endParaRPr i="1">
              <a:latin typeface="Josefin Slab"/>
              <a:ea typeface="Josefin Slab"/>
              <a:cs typeface="Josefin Slab"/>
              <a:sym typeface="Josefin Slab"/>
            </a:endParaRPr>
          </a:p>
        </p:txBody>
      </p:sp>
      <p:pic>
        <p:nvPicPr>
          <p:cNvPr id="90" name="Google Shape;90;p17"/>
          <p:cNvPicPr preferRelativeResize="0"/>
          <p:nvPr/>
        </p:nvPicPr>
        <p:blipFill>
          <a:blip r:embed="rId3">
            <a:alphaModFix/>
          </a:blip>
          <a:stretch>
            <a:fillRect/>
          </a:stretch>
        </p:blipFill>
        <p:spPr>
          <a:xfrm>
            <a:off x="2260527" y="3808902"/>
            <a:ext cx="3852455" cy="171289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network models of diffusion</a:t>
            </a:r>
            <a:endParaRPr/>
          </a:p>
        </p:txBody>
      </p:sp>
      <p:pic>
        <p:nvPicPr>
          <p:cNvPr id="96" name="Google Shape;96;p18"/>
          <p:cNvPicPr preferRelativeResize="0"/>
          <p:nvPr/>
        </p:nvPicPr>
        <p:blipFill>
          <a:blip r:embed="rId3">
            <a:alphaModFix/>
          </a:blip>
          <a:stretch>
            <a:fillRect/>
          </a:stretch>
        </p:blipFill>
        <p:spPr>
          <a:xfrm>
            <a:off x="2518591" y="1397698"/>
            <a:ext cx="3562778" cy="3532381"/>
          </a:xfrm>
          <a:prstGeom prst="rect">
            <a:avLst/>
          </a:prstGeom>
          <a:noFill/>
          <a:ln>
            <a:noFill/>
          </a:ln>
        </p:spPr>
      </p:pic>
      <p:sp>
        <p:nvSpPr>
          <p:cNvPr id="97" name="Google Shape;97;p18"/>
          <p:cNvSpPr txBox="1"/>
          <p:nvPr/>
        </p:nvSpPr>
        <p:spPr>
          <a:xfrm>
            <a:off x="1127553" y="4881417"/>
            <a:ext cx="6984600" cy="5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highlight>
                  <a:srgbClr val="FFFFFF"/>
                </a:highlight>
                <a:latin typeface="Josefin Slab"/>
                <a:ea typeface="Josefin Slab"/>
                <a:cs typeface="Josefin Slab"/>
                <a:sym typeface="Josefin Slab"/>
              </a:rPr>
              <a:t>Ryan, B. and N.C. Gross (1943) The Diffusion of Hybrid Seed Corn in Two Iowa Communities, </a:t>
            </a:r>
            <a:r>
              <a:rPr i="1" lang="en" sz="1800">
                <a:highlight>
                  <a:srgbClr val="FFFFFF"/>
                </a:highlight>
                <a:latin typeface="Josefin Slab"/>
                <a:ea typeface="Josefin Slab"/>
                <a:cs typeface="Josefin Slab"/>
                <a:sym typeface="Josefin Slab"/>
              </a:rPr>
              <a:t>Rural Sociolog</a:t>
            </a:r>
            <a:r>
              <a:rPr lang="en" sz="1800">
                <a:highlight>
                  <a:srgbClr val="FFFFFF"/>
                </a:highlight>
                <a:latin typeface="Josefin Slab"/>
                <a:ea typeface="Josefin Slab"/>
                <a:cs typeface="Josefin Slab"/>
                <a:sym typeface="Josefin Slab"/>
              </a:rPr>
              <a:t>y, 8: 15-24.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network models of diffusion</a:t>
            </a:r>
            <a:endParaRPr/>
          </a:p>
        </p:txBody>
      </p:sp>
      <p:pic>
        <p:nvPicPr>
          <p:cNvPr id="103" name="Google Shape;103;p19"/>
          <p:cNvPicPr preferRelativeResize="0"/>
          <p:nvPr/>
        </p:nvPicPr>
        <p:blipFill>
          <a:blip r:embed="rId3">
            <a:alphaModFix/>
          </a:blip>
          <a:stretch>
            <a:fillRect/>
          </a:stretch>
        </p:blipFill>
        <p:spPr>
          <a:xfrm>
            <a:off x="1538266" y="1386231"/>
            <a:ext cx="5056223" cy="3526534"/>
          </a:xfrm>
          <a:prstGeom prst="rect">
            <a:avLst/>
          </a:prstGeom>
          <a:noFill/>
          <a:ln>
            <a:noFill/>
          </a:ln>
        </p:spPr>
      </p:pic>
      <p:sp>
        <p:nvSpPr>
          <p:cNvPr id="104" name="Google Shape;104;p19"/>
          <p:cNvSpPr txBox="1"/>
          <p:nvPr/>
        </p:nvSpPr>
        <p:spPr>
          <a:xfrm>
            <a:off x="784799" y="4912765"/>
            <a:ext cx="76692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highlight>
                  <a:srgbClr val="FFFFFF"/>
                </a:highlight>
                <a:latin typeface="Josefin Slab"/>
                <a:ea typeface="Josefin Slab"/>
                <a:cs typeface="Josefin Slab"/>
                <a:sym typeface="Josefin Slab"/>
              </a:rPr>
              <a:t>Rogers, E.M.(1962) </a:t>
            </a:r>
            <a:r>
              <a:rPr i="1" lang="en" sz="1800">
                <a:highlight>
                  <a:srgbClr val="FFFFFF"/>
                </a:highlight>
                <a:latin typeface="Josefin Slab"/>
                <a:ea typeface="Josefin Slab"/>
                <a:cs typeface="Josefin Slab"/>
                <a:sym typeface="Josefin Slab"/>
              </a:rPr>
              <a:t>The Diffusion of Innovations</a:t>
            </a:r>
            <a:r>
              <a:rPr lang="en" sz="1800">
                <a:highlight>
                  <a:srgbClr val="FFFFFF"/>
                </a:highlight>
                <a:latin typeface="Josefin Slab"/>
                <a:ea typeface="Josefin Slab"/>
                <a:cs typeface="Josefin Slab"/>
                <a:sym typeface="Josefin Slab"/>
              </a:rPr>
              <a:t>, Free Press, New York.</a:t>
            </a:r>
            <a:endParaRPr sz="1800">
              <a:highlight>
                <a:srgbClr val="FFFFFF"/>
              </a:highlight>
              <a:latin typeface="Josefin Slab"/>
              <a:ea typeface="Josefin Slab"/>
              <a:cs typeface="Josefin Slab"/>
              <a:sym typeface="Josefin Slab"/>
            </a:endParaRPr>
          </a:p>
          <a:p>
            <a:pPr indent="0" lvl="0" marL="0" rtl="0" algn="l">
              <a:spcBef>
                <a:spcPts val="0"/>
              </a:spcBef>
              <a:spcAft>
                <a:spcPts val="0"/>
              </a:spcAft>
              <a:buNone/>
            </a:pPr>
            <a:r>
              <a:t/>
            </a:r>
            <a:endParaRPr sz="1800">
              <a:highlight>
                <a:srgbClr val="FFFFFF"/>
              </a:highlight>
              <a:latin typeface="Josefin Slab"/>
              <a:ea typeface="Josefin Slab"/>
              <a:cs typeface="Josefin Slab"/>
              <a:sym typeface="Josefin Slab"/>
            </a:endParaRPr>
          </a:p>
          <a:p>
            <a:pPr indent="0" lvl="0" marL="0" rtl="0" algn="l">
              <a:spcBef>
                <a:spcPts val="0"/>
              </a:spcBef>
              <a:spcAft>
                <a:spcPts val="0"/>
              </a:spcAft>
              <a:buNone/>
            </a:pPr>
            <a:r>
              <a:t/>
            </a:r>
            <a:endParaRPr sz="1800">
              <a:latin typeface="Josefin Slab"/>
              <a:ea typeface="Josefin Slab"/>
              <a:cs typeface="Josefin Slab"/>
              <a:sym typeface="Josefin Slab"/>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network models of diffusion</a:t>
            </a:r>
            <a:endParaRPr/>
          </a:p>
        </p:txBody>
      </p:sp>
      <p:sp>
        <p:nvSpPr>
          <p:cNvPr id="110" name="Google Shape;110;p20"/>
          <p:cNvSpPr txBox="1"/>
          <p:nvPr>
            <p:ph idx="1" type="body"/>
          </p:nvPr>
        </p:nvSpPr>
        <p:spPr>
          <a:xfrm>
            <a:off x="457200" y="1333500"/>
            <a:ext cx="81951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a:latin typeface="Josefin Slab"/>
                <a:ea typeface="Josefin Slab"/>
                <a:cs typeface="Josefin Slab"/>
                <a:sym typeface="Josefin Slab"/>
              </a:rPr>
              <a:t>The Innovators and Early adopters</a:t>
            </a:r>
            <a:r>
              <a:rPr lang="en">
                <a:latin typeface="Josefin Slab"/>
                <a:ea typeface="Josefin Slab"/>
                <a:cs typeface="Josefin Slab"/>
                <a:sym typeface="Josefin Slab"/>
              </a:rPr>
              <a:t> are individuals whose time-of-adoption is greater than one standard deviation earlier than the average time-of-adoption. </a:t>
            </a:r>
            <a:endParaRPr>
              <a:latin typeface="Josefin Slab"/>
              <a:ea typeface="Josefin Slab"/>
              <a:cs typeface="Josefin Slab"/>
              <a:sym typeface="Josefin Slab"/>
            </a:endParaRPr>
          </a:p>
          <a:p>
            <a:pPr indent="-317500" lvl="0" marL="457200" rtl="0" algn="l">
              <a:spcBef>
                <a:spcPts val="1600"/>
              </a:spcBef>
              <a:spcAft>
                <a:spcPts val="0"/>
              </a:spcAft>
              <a:buSzPts val="1400"/>
              <a:buChar char="●"/>
            </a:pPr>
            <a:r>
              <a:rPr b="1" lang="en">
                <a:latin typeface="Josefin Slab"/>
                <a:ea typeface="Josefin Slab"/>
                <a:cs typeface="Josefin Slab"/>
                <a:sym typeface="Josefin Slab"/>
              </a:rPr>
              <a:t>The early and late majorities </a:t>
            </a:r>
            <a:r>
              <a:rPr lang="en">
                <a:latin typeface="Josefin Slab"/>
                <a:ea typeface="Josefin Slab"/>
                <a:cs typeface="Josefin Slab"/>
                <a:sym typeface="Josefin Slab"/>
              </a:rPr>
              <a:t>are individuals whose time-of-adoption is bounded by one  standard deviation earlier and later than the average.</a:t>
            </a:r>
            <a:endParaRPr>
              <a:latin typeface="Josefin Slab"/>
              <a:ea typeface="Josefin Slab"/>
              <a:cs typeface="Josefin Slab"/>
              <a:sym typeface="Josefin Slab"/>
            </a:endParaRPr>
          </a:p>
          <a:p>
            <a:pPr indent="-317500" lvl="0" marL="457200" rtl="0" algn="l">
              <a:spcBef>
                <a:spcPts val="1600"/>
              </a:spcBef>
              <a:spcAft>
                <a:spcPts val="1600"/>
              </a:spcAft>
              <a:buSzPts val="1400"/>
              <a:buChar char="●"/>
            </a:pPr>
            <a:r>
              <a:rPr b="1" lang="en">
                <a:latin typeface="Josefin Slab"/>
                <a:ea typeface="Josefin Slab"/>
                <a:cs typeface="Josefin Slab"/>
                <a:sym typeface="Josefin Slab"/>
              </a:rPr>
              <a:t>Laggards</a:t>
            </a:r>
            <a:r>
              <a:rPr lang="en">
                <a:latin typeface="Josefin Slab"/>
                <a:ea typeface="Josefin Slab"/>
                <a:cs typeface="Josefin Slab"/>
                <a:sym typeface="Josefin Slab"/>
              </a:rPr>
              <a:t> are those individuals who adopted later than one standard deviation from the mean</a:t>
            </a:r>
            <a:endParaRPr>
              <a:latin typeface="Josefin Slab"/>
              <a:ea typeface="Josefin Slab"/>
              <a:cs typeface="Josefin Slab"/>
              <a:sym typeface="Josefin Slab"/>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sp>
        <p:nvSpPr>
          <p:cNvPr id="116" name="Google Shape;116;p21"/>
          <p:cNvSpPr txBox="1"/>
          <p:nvPr>
            <p:ph idx="1" type="body"/>
          </p:nvPr>
        </p:nvSpPr>
        <p:spPr>
          <a:xfrm>
            <a:off x="457200" y="1321354"/>
            <a:ext cx="4582200" cy="4139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Josefin Slab"/>
              <a:buChar char="●"/>
            </a:pPr>
            <a:r>
              <a:rPr lang="en">
                <a:latin typeface="Josefin Slab"/>
                <a:ea typeface="Josefin Slab"/>
                <a:cs typeface="Josefin Slab"/>
                <a:sym typeface="Josefin Slab"/>
              </a:rPr>
              <a:t>The network threshold model relaxes the assumption that persons have global information on all adoptions in the system</a:t>
            </a:r>
            <a:endParaRPr>
              <a:latin typeface="Josefin Slab"/>
              <a:ea typeface="Josefin Slab"/>
              <a:cs typeface="Josefin Slab"/>
              <a:sym typeface="Josefin Slab"/>
            </a:endParaRPr>
          </a:p>
          <a:p>
            <a:pPr indent="-317500" lvl="1" marL="914400" rtl="0" algn="l">
              <a:spcBef>
                <a:spcPts val="1600"/>
              </a:spcBef>
              <a:spcAft>
                <a:spcPts val="1600"/>
              </a:spcAft>
              <a:buSzPts val="1400"/>
              <a:buFont typeface="Josefin Slab"/>
              <a:buChar char="○"/>
            </a:pPr>
            <a:r>
              <a:rPr lang="en">
                <a:latin typeface="Josefin Slab"/>
                <a:ea typeface="Josefin Slab"/>
                <a:cs typeface="Josefin Slab"/>
                <a:sym typeface="Josefin Slab"/>
              </a:rPr>
              <a:t>Global threshold models are appropriate for adoptions of behaviors that are public and observable</a:t>
            </a:r>
            <a:endParaRPr>
              <a:latin typeface="Josefin Slab"/>
              <a:ea typeface="Josefin Slab"/>
              <a:cs typeface="Josefin Slab"/>
              <a:sym typeface="Josefin Slab"/>
            </a:endParaRPr>
          </a:p>
        </p:txBody>
      </p:sp>
      <p:pic>
        <p:nvPicPr>
          <p:cNvPr id="117" name="Google Shape;117;p21"/>
          <p:cNvPicPr preferRelativeResize="0"/>
          <p:nvPr/>
        </p:nvPicPr>
        <p:blipFill>
          <a:blip r:embed="rId3">
            <a:alphaModFix/>
          </a:blip>
          <a:stretch>
            <a:fillRect/>
          </a:stretch>
        </p:blipFill>
        <p:spPr>
          <a:xfrm>
            <a:off x="5039400" y="1934698"/>
            <a:ext cx="2778125" cy="29130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pic>
        <p:nvPicPr>
          <p:cNvPr id="123" name="Google Shape;123;p22"/>
          <p:cNvPicPr preferRelativeResize="0"/>
          <p:nvPr/>
        </p:nvPicPr>
        <p:blipFill>
          <a:blip r:embed="rId3">
            <a:alphaModFix/>
          </a:blip>
          <a:stretch>
            <a:fillRect/>
          </a:stretch>
        </p:blipFill>
        <p:spPr>
          <a:xfrm>
            <a:off x="5039400" y="1934698"/>
            <a:ext cx="2778125" cy="2913063"/>
          </a:xfrm>
          <a:prstGeom prst="rect">
            <a:avLst/>
          </a:prstGeom>
          <a:noFill/>
          <a:ln>
            <a:noFill/>
          </a:ln>
        </p:spPr>
      </p:pic>
      <p:sp>
        <p:nvSpPr>
          <p:cNvPr id="124" name="Google Shape;124;p22"/>
          <p:cNvSpPr txBox="1"/>
          <p:nvPr>
            <p:ph idx="1" type="body"/>
          </p:nvPr>
        </p:nvSpPr>
        <p:spPr>
          <a:xfrm>
            <a:off x="457200" y="1333500"/>
            <a:ext cx="43803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Josefin Slab"/>
              <a:buChar char="●"/>
            </a:pPr>
            <a:r>
              <a:rPr lang="en">
                <a:latin typeface="Josefin Slab"/>
                <a:ea typeface="Josefin Slab"/>
                <a:cs typeface="Josefin Slab"/>
                <a:sym typeface="Josefin Slab"/>
              </a:rPr>
              <a:t>However, may be inappropriate for the adoption of innovations that are not directly observable</a:t>
            </a:r>
            <a:endParaRPr>
              <a:latin typeface="Josefin Slab"/>
              <a:ea typeface="Josefin Slab"/>
              <a:cs typeface="Josefin Slab"/>
              <a:sym typeface="Josefin Slab"/>
            </a:endParaRPr>
          </a:p>
          <a:p>
            <a:pPr indent="-317500" lvl="0" marL="457200" rtl="0" algn="l">
              <a:spcBef>
                <a:spcPts val="1600"/>
              </a:spcBef>
              <a:spcAft>
                <a:spcPts val="1600"/>
              </a:spcAft>
              <a:buSzPts val="1400"/>
              <a:buFont typeface="Josefin Slab"/>
              <a:buChar char="●"/>
            </a:pPr>
            <a:r>
              <a:rPr lang="en">
                <a:latin typeface="Josefin Slab"/>
                <a:ea typeface="Josefin Slab"/>
                <a:cs typeface="Josefin Slab"/>
                <a:sym typeface="Josefin Slab"/>
              </a:rPr>
              <a:t>Individuals may monitor only a subset of actors in the system, namely those that they are connected to</a:t>
            </a:r>
            <a:endParaRPr>
              <a:latin typeface="Josefin Slab"/>
              <a:ea typeface="Josefin Slab"/>
              <a:cs typeface="Josefin Slab"/>
              <a:sym typeface="Josefin Slab"/>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pic>
        <p:nvPicPr>
          <p:cNvPr id="130" name="Google Shape;130;p23"/>
          <p:cNvPicPr preferRelativeResize="0"/>
          <p:nvPr/>
        </p:nvPicPr>
        <p:blipFill>
          <a:blip r:embed="rId3">
            <a:alphaModFix/>
          </a:blip>
          <a:stretch>
            <a:fillRect/>
          </a:stretch>
        </p:blipFill>
        <p:spPr>
          <a:xfrm>
            <a:off x="5039400" y="1934698"/>
            <a:ext cx="2778125" cy="2913063"/>
          </a:xfrm>
          <a:prstGeom prst="rect">
            <a:avLst/>
          </a:prstGeom>
          <a:noFill/>
          <a:ln>
            <a:noFill/>
          </a:ln>
        </p:spPr>
      </p:pic>
      <p:sp>
        <p:nvSpPr>
          <p:cNvPr id="131" name="Google Shape;131;p23"/>
          <p:cNvSpPr txBox="1"/>
          <p:nvPr>
            <p:ph idx="1" type="body"/>
          </p:nvPr>
        </p:nvSpPr>
        <p:spPr>
          <a:xfrm>
            <a:off x="457200" y="1333500"/>
            <a:ext cx="43803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Josefin Slab"/>
              <a:buChar char="●"/>
            </a:pPr>
            <a:r>
              <a:rPr lang="en">
                <a:latin typeface="Josefin Slab"/>
                <a:ea typeface="Josefin Slab"/>
                <a:cs typeface="Josefin Slab"/>
                <a:sym typeface="Josefin Slab"/>
              </a:rPr>
              <a:t>Particularly appropriate when adoption behavior entails uncertainty and risk</a:t>
            </a:r>
            <a:endParaRPr>
              <a:latin typeface="Josefin Slab"/>
              <a:ea typeface="Josefin Slab"/>
              <a:cs typeface="Josefin Slab"/>
              <a:sym typeface="Josefin Slab"/>
            </a:endParaRPr>
          </a:p>
          <a:p>
            <a:pPr indent="-317500" lvl="0" marL="457200" rtl="0" algn="l">
              <a:spcBef>
                <a:spcPts val="1600"/>
              </a:spcBef>
              <a:spcAft>
                <a:spcPts val="1600"/>
              </a:spcAft>
              <a:buSzPts val="1400"/>
              <a:buFont typeface="Josefin Slab"/>
              <a:buChar char="●"/>
            </a:pPr>
            <a:r>
              <a:rPr lang="en">
                <a:latin typeface="Josefin Slab"/>
                <a:ea typeface="Josefin Slab"/>
                <a:cs typeface="Josefin Slab"/>
                <a:sym typeface="Josefin Slab"/>
              </a:rPr>
              <a:t>An individual's </a:t>
            </a:r>
            <a:r>
              <a:rPr b="1" lang="en">
                <a:latin typeface="Josefin Slab"/>
                <a:ea typeface="Josefin Slab"/>
                <a:cs typeface="Josefin Slab"/>
                <a:sym typeface="Josefin Slab"/>
              </a:rPr>
              <a:t>exposure</a:t>
            </a:r>
            <a:r>
              <a:rPr lang="en">
                <a:latin typeface="Josefin Slab"/>
                <a:ea typeface="Josefin Slab"/>
                <a:cs typeface="Josefin Slab"/>
                <a:sym typeface="Josefin Slab"/>
              </a:rPr>
              <a:t> is given by the proportion of her neighbors that have already adopted</a:t>
            </a:r>
            <a:endParaRPr>
              <a:latin typeface="Josefin Slab"/>
              <a:ea typeface="Josefin Slab"/>
              <a:cs typeface="Josefin Slab"/>
              <a:sym typeface="Josefin Slab"/>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pic>
        <p:nvPicPr>
          <p:cNvPr id="137" name="Google Shape;137;p24"/>
          <p:cNvPicPr preferRelativeResize="0"/>
          <p:nvPr/>
        </p:nvPicPr>
        <p:blipFill>
          <a:blip r:embed="rId3">
            <a:alphaModFix/>
          </a:blip>
          <a:stretch>
            <a:fillRect/>
          </a:stretch>
        </p:blipFill>
        <p:spPr>
          <a:xfrm>
            <a:off x="5039400" y="1934698"/>
            <a:ext cx="2778125" cy="2913063"/>
          </a:xfrm>
          <a:prstGeom prst="rect">
            <a:avLst/>
          </a:prstGeom>
          <a:noFill/>
          <a:ln>
            <a:noFill/>
          </a:ln>
        </p:spPr>
      </p:pic>
      <p:sp>
        <p:nvSpPr>
          <p:cNvPr id="138" name="Google Shape;138;p24"/>
          <p:cNvSpPr txBox="1"/>
          <p:nvPr>
            <p:ph idx="1" type="body"/>
          </p:nvPr>
        </p:nvSpPr>
        <p:spPr>
          <a:xfrm>
            <a:off x="457200" y="1333500"/>
            <a:ext cx="43803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Josefin Slab"/>
              <a:buChar char="●"/>
            </a:pPr>
            <a:r>
              <a:rPr lang="en">
                <a:latin typeface="Josefin Slab"/>
                <a:ea typeface="Josefin Slab"/>
                <a:cs typeface="Josefin Slab"/>
                <a:sym typeface="Josefin Slab"/>
              </a:rPr>
              <a:t>Each individual is endowed with a given threshold q(i)</a:t>
            </a:r>
            <a:endParaRPr>
              <a:latin typeface="Josefin Slab"/>
              <a:ea typeface="Josefin Slab"/>
              <a:cs typeface="Josefin Slab"/>
              <a:sym typeface="Josefin Slab"/>
            </a:endParaRPr>
          </a:p>
          <a:p>
            <a:pPr indent="-304800" lvl="1" marL="914400" rtl="0" algn="l">
              <a:spcBef>
                <a:spcPts val="1600"/>
              </a:spcBef>
              <a:spcAft>
                <a:spcPts val="0"/>
              </a:spcAft>
              <a:buSzPts val="1200"/>
              <a:buFont typeface="Josefin Slab"/>
              <a:buChar char="○"/>
            </a:pPr>
            <a:r>
              <a:rPr lang="en">
                <a:latin typeface="Josefin Slab"/>
                <a:ea typeface="Josefin Slab"/>
                <a:cs typeface="Josefin Slab"/>
                <a:sym typeface="Josefin Slab"/>
              </a:rPr>
              <a:t>When the proportion of neighbors who have adopted equals q(i), the person adopts</a:t>
            </a:r>
            <a:endParaRPr>
              <a:latin typeface="Josefin Slab"/>
              <a:ea typeface="Josefin Slab"/>
              <a:cs typeface="Josefin Slab"/>
              <a:sym typeface="Josefin Slab"/>
            </a:endParaRPr>
          </a:p>
          <a:p>
            <a:pPr indent="-304800" lvl="1" marL="914400" rtl="0" algn="l">
              <a:spcBef>
                <a:spcPts val="1600"/>
              </a:spcBef>
              <a:spcAft>
                <a:spcPts val="0"/>
              </a:spcAft>
              <a:buSzPts val="1200"/>
              <a:buFont typeface="Josefin Slab"/>
              <a:buChar char="○"/>
            </a:pPr>
            <a:r>
              <a:rPr lang="en">
                <a:latin typeface="Josefin Slab"/>
                <a:ea typeface="Josefin Slab"/>
                <a:cs typeface="Josefin Slab"/>
                <a:sym typeface="Josefin Slab"/>
              </a:rPr>
              <a:t>We can then redefine adopter categories (e.g. innovators) as either</a:t>
            </a:r>
            <a:endParaRPr>
              <a:latin typeface="Josefin Slab"/>
              <a:ea typeface="Josefin Slab"/>
              <a:cs typeface="Josefin Slab"/>
              <a:sym typeface="Josefin Slab"/>
            </a:endParaRPr>
          </a:p>
          <a:p>
            <a:pPr indent="-304800" lvl="2" marL="1371600" rtl="0" algn="l">
              <a:spcBef>
                <a:spcPts val="1600"/>
              </a:spcBef>
              <a:spcAft>
                <a:spcPts val="0"/>
              </a:spcAft>
              <a:buSzPts val="1200"/>
              <a:buFont typeface="Josefin Slab"/>
              <a:buChar char="■"/>
            </a:pPr>
            <a:r>
              <a:rPr lang="en">
                <a:latin typeface="Josefin Slab"/>
                <a:ea typeface="Josefin Slab"/>
                <a:cs typeface="Josefin Slab"/>
                <a:sym typeface="Josefin Slab"/>
              </a:rPr>
              <a:t>System relative</a:t>
            </a:r>
            <a:endParaRPr>
              <a:latin typeface="Josefin Slab"/>
              <a:ea typeface="Josefin Slab"/>
              <a:cs typeface="Josefin Slab"/>
              <a:sym typeface="Josefin Slab"/>
            </a:endParaRPr>
          </a:p>
          <a:p>
            <a:pPr indent="-304800" lvl="2" marL="1371600" rtl="0" algn="l">
              <a:spcBef>
                <a:spcPts val="1600"/>
              </a:spcBef>
              <a:spcAft>
                <a:spcPts val="1600"/>
              </a:spcAft>
              <a:buSzPts val="1200"/>
              <a:buFont typeface="Josefin Slab"/>
              <a:buChar char="■"/>
            </a:pPr>
            <a:r>
              <a:rPr lang="en">
                <a:latin typeface="Josefin Slab"/>
                <a:ea typeface="Josefin Slab"/>
                <a:cs typeface="Josefin Slab"/>
                <a:sym typeface="Josefin Slab"/>
              </a:rPr>
              <a:t>Network relative</a:t>
            </a:r>
            <a:endParaRPr>
              <a:latin typeface="Josefin Slab"/>
              <a:ea typeface="Josefin Slab"/>
              <a:cs typeface="Josefin Slab"/>
              <a:sym typeface="Josefin Slab"/>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pic>
        <p:nvPicPr>
          <p:cNvPr id="144" name="Google Shape;144;p25"/>
          <p:cNvPicPr preferRelativeResize="0"/>
          <p:nvPr/>
        </p:nvPicPr>
        <p:blipFill>
          <a:blip r:embed="rId3">
            <a:alphaModFix/>
          </a:blip>
          <a:stretch>
            <a:fillRect/>
          </a:stretch>
        </p:blipFill>
        <p:spPr>
          <a:xfrm>
            <a:off x="5039400" y="1934698"/>
            <a:ext cx="2778125" cy="2913063"/>
          </a:xfrm>
          <a:prstGeom prst="rect">
            <a:avLst/>
          </a:prstGeom>
          <a:noFill/>
          <a:ln>
            <a:noFill/>
          </a:ln>
        </p:spPr>
      </p:pic>
      <p:sp>
        <p:nvSpPr>
          <p:cNvPr id="145" name="Google Shape;145;p25"/>
          <p:cNvSpPr txBox="1"/>
          <p:nvPr>
            <p:ph idx="1" type="body"/>
          </p:nvPr>
        </p:nvSpPr>
        <p:spPr>
          <a:xfrm>
            <a:off x="457200" y="1333500"/>
            <a:ext cx="43803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Josefin Slab"/>
              <a:buChar char="●"/>
            </a:pPr>
            <a:r>
              <a:rPr lang="en">
                <a:latin typeface="Josefin Slab"/>
                <a:ea typeface="Josefin Slab"/>
                <a:cs typeface="Josefin Slab"/>
                <a:sym typeface="Josefin Slab"/>
              </a:rPr>
              <a:t>Early adopters (or laggards) relative to their network may not be early adopters relative to the system</a:t>
            </a:r>
            <a:endParaRPr>
              <a:latin typeface="Josefin Slab"/>
              <a:ea typeface="Josefin Slab"/>
              <a:cs typeface="Josefin Slab"/>
              <a:sym typeface="Josefin Slab"/>
            </a:endParaRPr>
          </a:p>
          <a:p>
            <a:pPr indent="-304800" lvl="1" marL="914400" rtl="0" algn="l">
              <a:spcBef>
                <a:spcPts val="1600"/>
              </a:spcBef>
              <a:spcAft>
                <a:spcPts val="1600"/>
              </a:spcAft>
              <a:buSzPts val="1200"/>
              <a:buFont typeface="Josefin Slab"/>
              <a:buChar char="○"/>
            </a:pPr>
            <a:r>
              <a:rPr lang="en">
                <a:latin typeface="Josefin Slab"/>
                <a:ea typeface="Josefin Slab"/>
                <a:cs typeface="Josefin Slab"/>
                <a:sym typeface="Josefin Slab"/>
              </a:rPr>
              <a:t>For instance, if a </a:t>
            </a:r>
            <a:r>
              <a:rPr b="1" lang="en">
                <a:latin typeface="Josefin Slab"/>
                <a:ea typeface="Josefin Slab"/>
                <a:cs typeface="Josefin Slab"/>
                <a:sym typeface="Josefin Slab"/>
              </a:rPr>
              <a:t>high </a:t>
            </a:r>
            <a:r>
              <a:rPr b="1" i="1" lang="en">
                <a:latin typeface="Josefin Slab"/>
                <a:ea typeface="Josefin Slab"/>
                <a:cs typeface="Josefin Slab"/>
                <a:sym typeface="Josefin Slab"/>
              </a:rPr>
              <a:t>q</a:t>
            </a:r>
            <a:r>
              <a:rPr lang="en">
                <a:latin typeface="Josefin Slab"/>
                <a:ea typeface="Josefin Slab"/>
                <a:cs typeface="Josefin Slab"/>
                <a:sym typeface="Josefin Slab"/>
              </a:rPr>
              <a:t> individual's network is composed entirely of innovators, he will be a </a:t>
            </a:r>
            <a:r>
              <a:rPr b="1" lang="en">
                <a:latin typeface="Josefin Slab"/>
                <a:ea typeface="Josefin Slab"/>
                <a:cs typeface="Josefin Slab"/>
                <a:sym typeface="Josefin Slab"/>
              </a:rPr>
              <a:t>laggard</a:t>
            </a:r>
            <a:r>
              <a:rPr lang="en">
                <a:latin typeface="Josefin Slab"/>
                <a:ea typeface="Josefin Slab"/>
                <a:cs typeface="Josefin Slab"/>
                <a:sym typeface="Josefin Slab"/>
              </a:rPr>
              <a:t> relative to his peers but an </a:t>
            </a:r>
            <a:r>
              <a:rPr b="1" lang="en">
                <a:latin typeface="Josefin Slab"/>
                <a:ea typeface="Josefin Slab"/>
                <a:cs typeface="Josefin Slab"/>
                <a:sym typeface="Josefin Slab"/>
              </a:rPr>
              <a:t>innovator</a:t>
            </a:r>
            <a:r>
              <a:rPr lang="en">
                <a:latin typeface="Josefin Slab"/>
                <a:ea typeface="Josefin Slab"/>
                <a:cs typeface="Josefin Slab"/>
                <a:sym typeface="Josefin Slab"/>
              </a:rPr>
              <a:t> relative to the system</a:t>
            </a:r>
            <a:endParaRPr>
              <a:latin typeface="Josefin Slab"/>
              <a:ea typeface="Josefin Slab"/>
              <a:cs typeface="Josefin Slab"/>
              <a:sym typeface="Josefin Slab"/>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pic>
        <p:nvPicPr>
          <p:cNvPr id="151" name="Google Shape;151;p26"/>
          <p:cNvPicPr preferRelativeResize="0"/>
          <p:nvPr/>
        </p:nvPicPr>
        <p:blipFill>
          <a:blip r:embed="rId3">
            <a:alphaModFix/>
          </a:blip>
          <a:stretch>
            <a:fillRect/>
          </a:stretch>
        </p:blipFill>
        <p:spPr>
          <a:xfrm>
            <a:off x="5039400" y="1934698"/>
            <a:ext cx="2778125" cy="2913063"/>
          </a:xfrm>
          <a:prstGeom prst="rect">
            <a:avLst/>
          </a:prstGeom>
          <a:noFill/>
          <a:ln>
            <a:noFill/>
          </a:ln>
        </p:spPr>
      </p:pic>
      <p:sp>
        <p:nvSpPr>
          <p:cNvPr id="152" name="Google Shape;152;p26"/>
          <p:cNvSpPr txBox="1"/>
          <p:nvPr>
            <p:ph idx="1" type="body"/>
          </p:nvPr>
        </p:nvSpPr>
        <p:spPr>
          <a:xfrm>
            <a:off x="457200" y="1333500"/>
            <a:ext cx="43803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Josefin Slab"/>
              <a:buChar char="●"/>
            </a:pPr>
            <a:r>
              <a:rPr lang="en">
                <a:latin typeface="Josefin Slab"/>
                <a:ea typeface="Josefin Slab"/>
                <a:cs typeface="Josefin Slab"/>
                <a:sym typeface="Josefin Slab"/>
              </a:rPr>
              <a:t>Early adopters (or laggards) relative to their network may not be early adopters relative to the system</a:t>
            </a:r>
            <a:endParaRPr>
              <a:latin typeface="Josefin Slab"/>
              <a:ea typeface="Josefin Slab"/>
              <a:cs typeface="Josefin Slab"/>
              <a:sym typeface="Josefin Slab"/>
            </a:endParaRPr>
          </a:p>
          <a:p>
            <a:pPr indent="-304800" lvl="1" marL="914400" rtl="0" algn="l">
              <a:spcBef>
                <a:spcPts val="1600"/>
              </a:spcBef>
              <a:spcAft>
                <a:spcPts val="1600"/>
              </a:spcAft>
              <a:buSzPts val="1200"/>
              <a:buFont typeface="Josefin Slab"/>
              <a:buChar char="○"/>
            </a:pPr>
            <a:r>
              <a:rPr lang="en">
                <a:latin typeface="Josefin Slab"/>
                <a:ea typeface="Josefin Slab"/>
                <a:cs typeface="Josefin Slab"/>
                <a:sym typeface="Josefin Slab"/>
              </a:rPr>
              <a:t>In the same way a low-q individual who belongs to an isolated clique will be a </a:t>
            </a:r>
            <a:r>
              <a:rPr b="1" lang="en">
                <a:latin typeface="Josefin Slab"/>
                <a:ea typeface="Josefin Slab"/>
                <a:cs typeface="Josefin Slab"/>
                <a:sym typeface="Josefin Slab"/>
              </a:rPr>
              <a:t>laggard</a:t>
            </a:r>
            <a:r>
              <a:rPr lang="en">
                <a:latin typeface="Josefin Slab"/>
                <a:ea typeface="Josefin Slab"/>
                <a:cs typeface="Josefin Slab"/>
                <a:sym typeface="Josefin Slab"/>
              </a:rPr>
              <a:t> relative to the system but an </a:t>
            </a:r>
            <a:r>
              <a:rPr b="1" lang="en">
                <a:latin typeface="Josefin Slab"/>
                <a:ea typeface="Josefin Slab"/>
                <a:cs typeface="Josefin Slab"/>
                <a:sym typeface="Josefin Slab"/>
              </a:rPr>
              <a:t>early adopter</a:t>
            </a:r>
            <a:r>
              <a:rPr lang="en">
                <a:latin typeface="Josefin Slab"/>
                <a:ea typeface="Josefin Slab"/>
                <a:cs typeface="Josefin Slab"/>
                <a:sym typeface="Josefin Slab"/>
              </a:rPr>
              <a:t> relative to his peers</a:t>
            </a:r>
            <a:endParaRPr>
              <a:latin typeface="Josefin Slab"/>
              <a:ea typeface="Josefin Slab"/>
              <a:cs typeface="Josefin Slab"/>
              <a:sym typeface="Josefin Slab"/>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sp>
        <p:nvSpPr>
          <p:cNvPr id="158" name="Google Shape;158;p27"/>
          <p:cNvSpPr txBox="1"/>
          <p:nvPr>
            <p:ph idx="1" type="body"/>
          </p:nvPr>
        </p:nvSpPr>
        <p:spPr>
          <a:xfrm>
            <a:off x="457200" y="1333500"/>
            <a:ext cx="81879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Josefin Slab"/>
              <a:buChar char="●"/>
            </a:pPr>
            <a:r>
              <a:rPr lang="en">
                <a:latin typeface="Josefin Slab"/>
                <a:ea typeface="Josefin Slab"/>
                <a:cs typeface="Josefin Slab"/>
                <a:sym typeface="Josefin Slab"/>
              </a:rPr>
              <a:t>A key finding in classic diffusion research is that early adopters are more likely to have external (media, weak ties) sources of influence, while late adopters are more subject to network effects (Rogers 1962)</a:t>
            </a:r>
            <a:endParaRPr>
              <a:latin typeface="Josefin Slab"/>
              <a:ea typeface="Josefin Slab"/>
              <a:cs typeface="Josefin Slab"/>
              <a:sym typeface="Josefin Slab"/>
            </a:endParaRPr>
          </a:p>
          <a:p>
            <a:pPr indent="-304800" lvl="1" marL="914400" rtl="0" algn="l">
              <a:spcBef>
                <a:spcPts val="1600"/>
              </a:spcBef>
              <a:spcAft>
                <a:spcPts val="0"/>
              </a:spcAft>
              <a:buSzPts val="1200"/>
              <a:buFont typeface="Josefin Slab"/>
              <a:buChar char="○"/>
            </a:pPr>
            <a:r>
              <a:rPr lang="en">
                <a:latin typeface="Josefin Slab"/>
                <a:ea typeface="Josefin Slab"/>
                <a:cs typeface="Josefin Slab"/>
                <a:sym typeface="Josefin Slab"/>
              </a:rPr>
              <a:t>This seems to reflect a </a:t>
            </a:r>
            <a:r>
              <a:rPr i="1" lang="en">
                <a:latin typeface="Josefin Slab"/>
                <a:ea typeface="Josefin Slab"/>
                <a:cs typeface="Josefin Slab"/>
                <a:sym typeface="Josefin Slab"/>
              </a:rPr>
              <a:t>local/Cosmopolitan </a:t>
            </a:r>
            <a:r>
              <a:rPr lang="en">
                <a:latin typeface="Josefin Slab"/>
                <a:ea typeface="Josefin Slab"/>
                <a:cs typeface="Josefin Slab"/>
                <a:sym typeface="Josefin Slab"/>
              </a:rPr>
              <a:t>split</a:t>
            </a:r>
            <a:endParaRPr>
              <a:latin typeface="Josefin Slab"/>
              <a:ea typeface="Josefin Slab"/>
              <a:cs typeface="Josefin Slab"/>
              <a:sym typeface="Josefin Slab"/>
            </a:endParaRPr>
          </a:p>
          <a:p>
            <a:pPr indent="-317500" lvl="0" marL="457200" rtl="0" algn="l">
              <a:spcBef>
                <a:spcPts val="1600"/>
              </a:spcBef>
              <a:spcAft>
                <a:spcPts val="0"/>
              </a:spcAft>
              <a:buSzPts val="1400"/>
              <a:buFont typeface="Josefin Slab"/>
              <a:buChar char="●"/>
            </a:pPr>
            <a:r>
              <a:rPr lang="en">
                <a:latin typeface="Josefin Slab"/>
                <a:ea typeface="Josefin Slab"/>
                <a:cs typeface="Josefin Slab"/>
                <a:sym typeface="Josefin Slab"/>
              </a:rPr>
              <a:t>Considering both system-level and personal network threshold clarify this relationship</a:t>
            </a:r>
            <a:endParaRPr>
              <a:latin typeface="Josefin Slab"/>
              <a:ea typeface="Josefin Slab"/>
              <a:cs typeface="Josefin Slab"/>
              <a:sym typeface="Josefin Slab"/>
            </a:endParaRPr>
          </a:p>
          <a:p>
            <a:pPr indent="-304800" lvl="1" marL="914400" rtl="0" algn="l">
              <a:spcBef>
                <a:spcPts val="1600"/>
              </a:spcBef>
              <a:spcAft>
                <a:spcPts val="1600"/>
              </a:spcAft>
              <a:buSzPts val="1200"/>
              <a:buFont typeface="Josefin Slab"/>
              <a:buChar char="○"/>
            </a:pPr>
            <a:r>
              <a:rPr lang="en">
                <a:latin typeface="Josefin Slab"/>
                <a:ea typeface="Josefin Slab"/>
                <a:cs typeface="Josefin Slab"/>
                <a:sym typeface="Josefin Slab"/>
              </a:rPr>
              <a:t>Cosmopolitan innovators tend to be early adopters relative to the system and have very low threshold relative to their network</a:t>
            </a:r>
            <a:endParaRPr>
              <a:latin typeface="Josefin Slab"/>
              <a:ea typeface="Josefin Slab"/>
              <a:cs typeface="Josefin Slab"/>
              <a:sym typeface="Josefin Slab"/>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sp>
        <p:nvSpPr>
          <p:cNvPr id="164" name="Google Shape;164;p28"/>
          <p:cNvSpPr txBox="1"/>
          <p:nvPr>
            <p:ph idx="1" type="body"/>
          </p:nvPr>
        </p:nvSpPr>
        <p:spPr>
          <a:xfrm>
            <a:off x="457200" y="1333500"/>
            <a:ext cx="81879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1600"/>
              </a:spcAft>
              <a:buSzPts val="1400"/>
              <a:buFont typeface="Josefin Slab"/>
              <a:buChar char="●"/>
            </a:pPr>
            <a:r>
              <a:rPr lang="en">
                <a:latin typeface="Josefin Slab"/>
                <a:ea typeface="Josefin Slab"/>
                <a:cs typeface="Josefin Slab"/>
                <a:sym typeface="Josefin Slab"/>
              </a:rPr>
              <a:t>The network threshold model allows to come up with a more nuanced classification of early and late adopters</a:t>
            </a:r>
            <a:endParaRPr>
              <a:latin typeface="Josefin Slab"/>
              <a:ea typeface="Josefin Slab"/>
              <a:cs typeface="Josefin Slab"/>
              <a:sym typeface="Josefin Slab"/>
            </a:endParaRPr>
          </a:p>
        </p:txBody>
      </p:sp>
      <p:graphicFrame>
        <p:nvGraphicFramePr>
          <p:cNvPr id="165" name="Google Shape;165;p28"/>
          <p:cNvGraphicFramePr/>
          <p:nvPr/>
        </p:nvGraphicFramePr>
        <p:xfrm>
          <a:off x="3180250" y="3451042"/>
          <a:ext cx="3000000" cy="3000000"/>
        </p:xfrm>
        <a:graphic>
          <a:graphicData uri="http://schemas.openxmlformats.org/drawingml/2006/table">
            <a:tbl>
              <a:tblPr>
                <a:noFill/>
                <a:tableStyleId>{DC73CC90-21C3-48E0-AB13-EC758DEEFBAC}</a:tableStyleId>
              </a:tblPr>
              <a:tblGrid>
                <a:gridCol w="2327250"/>
                <a:gridCol w="2327250"/>
              </a:tblGrid>
              <a:tr h="951500">
                <a:tc>
                  <a:txBody>
                    <a:bodyPr/>
                    <a:lstStyle/>
                    <a:p>
                      <a:pPr indent="0" lvl="0" marL="0" rtl="0" algn="ctr">
                        <a:spcBef>
                          <a:spcPts val="0"/>
                        </a:spcBef>
                        <a:spcAft>
                          <a:spcPts val="0"/>
                        </a:spcAft>
                        <a:buNone/>
                      </a:pPr>
                      <a:r>
                        <a:rPr i="1" lang="en" sz="2000">
                          <a:latin typeface="Josefin Slab"/>
                          <a:ea typeface="Josefin Slab"/>
                          <a:cs typeface="Josefin Slab"/>
                          <a:sym typeface="Josefin Slab"/>
                        </a:rPr>
                        <a:t>True innovators (influentials)</a:t>
                      </a:r>
                      <a:endParaRPr i="1" sz="2000">
                        <a:latin typeface="Josefin Slab"/>
                        <a:ea typeface="Josefin Slab"/>
                        <a:cs typeface="Josefin Slab"/>
                        <a:sym typeface="Josefin Slab"/>
                      </a:endParaRPr>
                    </a:p>
                  </a:txBody>
                  <a:tcPr marT="76200" marB="76200" marR="91425" marL="91425" anchor="ctr"/>
                </a:tc>
                <a:tc>
                  <a:txBody>
                    <a:bodyPr/>
                    <a:lstStyle/>
                    <a:p>
                      <a:pPr indent="0" lvl="0" marL="0" rtl="0" algn="ctr">
                        <a:spcBef>
                          <a:spcPts val="0"/>
                        </a:spcBef>
                        <a:spcAft>
                          <a:spcPts val="0"/>
                        </a:spcAft>
                        <a:buNone/>
                      </a:pPr>
                      <a:r>
                        <a:rPr i="1" lang="en" sz="2000">
                          <a:latin typeface="Josefin Slab"/>
                          <a:ea typeface="Josefin Slab"/>
                          <a:cs typeface="Josefin Slab"/>
                          <a:sym typeface="Josefin Slab"/>
                        </a:rPr>
                        <a:t>Isolates</a:t>
                      </a:r>
                      <a:endParaRPr i="1" sz="2000">
                        <a:latin typeface="Josefin Slab"/>
                        <a:ea typeface="Josefin Slab"/>
                        <a:cs typeface="Josefin Slab"/>
                        <a:sym typeface="Josefin Slab"/>
                      </a:endParaRPr>
                    </a:p>
                  </a:txBody>
                  <a:tcPr marT="76200" marB="76200" marR="91425" marL="91425" anchor="ctr"/>
                </a:tc>
              </a:tr>
              <a:tr h="951500">
                <a:tc>
                  <a:txBody>
                    <a:bodyPr/>
                    <a:lstStyle/>
                    <a:p>
                      <a:pPr indent="0" lvl="0" marL="0" rtl="0" algn="ctr">
                        <a:spcBef>
                          <a:spcPts val="0"/>
                        </a:spcBef>
                        <a:spcAft>
                          <a:spcPts val="0"/>
                        </a:spcAft>
                        <a:buNone/>
                      </a:pPr>
                      <a:r>
                        <a:rPr i="1" lang="en" sz="2000">
                          <a:latin typeface="Josefin Slab"/>
                          <a:ea typeface="Josefin Slab"/>
                          <a:cs typeface="Josefin Slab"/>
                          <a:sym typeface="Josefin Slab"/>
                        </a:rPr>
                        <a:t>Connected Bandwagon</a:t>
                      </a:r>
                      <a:endParaRPr i="1" sz="2000">
                        <a:latin typeface="Josefin Slab"/>
                        <a:ea typeface="Josefin Slab"/>
                        <a:cs typeface="Josefin Slab"/>
                        <a:sym typeface="Josefin Slab"/>
                      </a:endParaRPr>
                    </a:p>
                  </a:txBody>
                  <a:tcPr marT="76200" marB="76200" marR="91425" marL="91425" anchor="ctr"/>
                </a:tc>
                <a:tc>
                  <a:txBody>
                    <a:bodyPr/>
                    <a:lstStyle/>
                    <a:p>
                      <a:pPr indent="0" lvl="0" marL="0" rtl="0" algn="ctr">
                        <a:spcBef>
                          <a:spcPts val="0"/>
                        </a:spcBef>
                        <a:spcAft>
                          <a:spcPts val="0"/>
                        </a:spcAft>
                        <a:buNone/>
                      </a:pPr>
                      <a:r>
                        <a:rPr i="1" lang="en" sz="2000">
                          <a:latin typeface="Josefin Slab"/>
                          <a:ea typeface="Josefin Slab"/>
                          <a:cs typeface="Josefin Slab"/>
                          <a:sym typeface="Josefin Slab"/>
                        </a:rPr>
                        <a:t>Resistant rearguard</a:t>
                      </a:r>
                      <a:endParaRPr i="1" sz="2000">
                        <a:latin typeface="Josefin Slab"/>
                        <a:ea typeface="Josefin Slab"/>
                        <a:cs typeface="Josefin Slab"/>
                        <a:sym typeface="Josefin Slab"/>
                      </a:endParaRPr>
                    </a:p>
                  </a:txBody>
                  <a:tcPr marT="76200" marB="76200" marR="91425" marL="91425" anchor="ctr"/>
                </a:tc>
              </a:tr>
            </a:tbl>
          </a:graphicData>
        </a:graphic>
      </p:graphicFrame>
      <p:sp>
        <p:nvSpPr>
          <p:cNvPr id="166" name="Google Shape;166;p28"/>
          <p:cNvSpPr txBox="1"/>
          <p:nvPr/>
        </p:nvSpPr>
        <p:spPr>
          <a:xfrm>
            <a:off x="2430550" y="3453042"/>
            <a:ext cx="939000" cy="189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rPr lang="en" sz="2400">
                <a:latin typeface="Josefin Slab"/>
                <a:ea typeface="Josefin Slab"/>
                <a:cs typeface="Josefin Slab"/>
                <a:sym typeface="Josefin Slab"/>
              </a:rPr>
              <a:t>Low</a:t>
            </a:r>
            <a:endParaRPr sz="2400">
              <a:latin typeface="Josefin Slab"/>
              <a:ea typeface="Josefin Slab"/>
              <a:cs typeface="Josefin Slab"/>
              <a:sym typeface="Josefin Slab"/>
            </a:endParaRPr>
          </a:p>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rPr lang="en" sz="2400">
                <a:latin typeface="Josefin Slab"/>
                <a:ea typeface="Josefin Slab"/>
                <a:cs typeface="Josefin Slab"/>
                <a:sym typeface="Josefin Slab"/>
              </a:rPr>
              <a:t>High</a:t>
            </a:r>
            <a:endParaRPr sz="2400">
              <a:latin typeface="Josefin Slab"/>
              <a:ea typeface="Josefin Slab"/>
              <a:cs typeface="Josefin Slab"/>
              <a:sym typeface="Josefin Slab"/>
            </a:endParaRPr>
          </a:p>
        </p:txBody>
      </p:sp>
      <p:sp>
        <p:nvSpPr>
          <p:cNvPr id="167" name="Google Shape;167;p28"/>
          <p:cNvSpPr txBox="1"/>
          <p:nvPr/>
        </p:nvSpPr>
        <p:spPr>
          <a:xfrm>
            <a:off x="945955" y="3586542"/>
            <a:ext cx="1579800" cy="163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Josefin Slab"/>
                <a:ea typeface="Josefin Slab"/>
                <a:cs typeface="Josefin Slab"/>
                <a:sym typeface="Josefin Slab"/>
              </a:rPr>
              <a:t>Network Threshold</a:t>
            </a:r>
            <a:endParaRPr b="1" sz="2400">
              <a:latin typeface="Josefin Slab"/>
              <a:ea typeface="Josefin Slab"/>
              <a:cs typeface="Josefin Slab"/>
              <a:sym typeface="Josefin Slab"/>
            </a:endParaRPr>
          </a:p>
        </p:txBody>
      </p:sp>
      <p:sp>
        <p:nvSpPr>
          <p:cNvPr id="168" name="Google Shape;168;p28"/>
          <p:cNvSpPr txBox="1"/>
          <p:nvPr/>
        </p:nvSpPr>
        <p:spPr>
          <a:xfrm>
            <a:off x="3849700" y="3006095"/>
            <a:ext cx="3712800" cy="4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Josefin Slab"/>
                <a:ea typeface="Josefin Slab"/>
                <a:cs typeface="Josefin Slab"/>
                <a:sym typeface="Josefin Slab"/>
              </a:rPr>
              <a:t>Low				High</a:t>
            </a:r>
            <a:endParaRPr sz="2400">
              <a:latin typeface="Josefin Slab"/>
              <a:ea typeface="Josefin Slab"/>
              <a:cs typeface="Josefin Slab"/>
              <a:sym typeface="Josefin Slab"/>
            </a:endParaRPr>
          </a:p>
        </p:txBody>
      </p:sp>
      <p:sp>
        <p:nvSpPr>
          <p:cNvPr id="169" name="Google Shape;169;p28"/>
          <p:cNvSpPr txBox="1"/>
          <p:nvPr/>
        </p:nvSpPr>
        <p:spPr>
          <a:xfrm>
            <a:off x="4160650" y="2787678"/>
            <a:ext cx="2693700" cy="31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Josefin Slab"/>
                <a:ea typeface="Josefin Slab"/>
                <a:cs typeface="Josefin Slab"/>
                <a:sym typeface="Josefin Slab"/>
              </a:rPr>
              <a:t>System Threshold</a:t>
            </a:r>
            <a:endParaRPr b="1" sz="2400">
              <a:latin typeface="Josefin Slab"/>
              <a:ea typeface="Josefin Slab"/>
              <a:cs typeface="Josefin Slab"/>
              <a:sym typeface="Josefin Slab"/>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Network threshold models</a:t>
            </a:r>
            <a:endParaRPr/>
          </a:p>
        </p:txBody>
      </p:sp>
      <p:sp>
        <p:nvSpPr>
          <p:cNvPr id="175" name="Google Shape;175;p29"/>
          <p:cNvSpPr txBox="1"/>
          <p:nvPr>
            <p:ph idx="1" type="body"/>
          </p:nvPr>
        </p:nvSpPr>
        <p:spPr>
          <a:xfrm>
            <a:off x="457200" y="1333500"/>
            <a:ext cx="81879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Josefin Slab"/>
              <a:buChar char="●"/>
            </a:pPr>
            <a:r>
              <a:rPr lang="en">
                <a:latin typeface="Josefin Slab"/>
                <a:ea typeface="Josefin Slab"/>
                <a:cs typeface="Josefin Slab"/>
                <a:sym typeface="Josefin Slab"/>
              </a:rPr>
              <a:t>Opinion leaders are relative to their system-level adopter category:</a:t>
            </a:r>
            <a:endParaRPr>
              <a:latin typeface="Josefin Slab"/>
              <a:ea typeface="Josefin Slab"/>
              <a:cs typeface="Josefin Slab"/>
              <a:sym typeface="Josefin Slab"/>
            </a:endParaRPr>
          </a:p>
          <a:p>
            <a:pPr indent="-304800" lvl="1" marL="914400" rtl="0" algn="l">
              <a:spcBef>
                <a:spcPts val="1600"/>
              </a:spcBef>
              <a:spcAft>
                <a:spcPts val="1600"/>
              </a:spcAft>
              <a:buSzPts val="1200"/>
              <a:buFont typeface="Josefin Slab"/>
              <a:buChar char="○"/>
            </a:pPr>
            <a:r>
              <a:rPr lang="en">
                <a:latin typeface="Josefin Slab"/>
                <a:ea typeface="Josefin Slab"/>
                <a:cs typeface="Josefin Slab"/>
                <a:sym typeface="Josefin Slab"/>
              </a:rPr>
              <a:t>Early adopters who convince those with high network thresholds (but similar system threshold) to adopt</a:t>
            </a:r>
            <a:endParaRPr>
              <a:latin typeface="Josefin Slab"/>
              <a:ea typeface="Josefin Slab"/>
              <a:cs typeface="Josefin Slab"/>
              <a:sym typeface="Josefin Slab"/>
            </a:endParaRPr>
          </a:p>
        </p:txBody>
      </p:sp>
      <p:graphicFrame>
        <p:nvGraphicFramePr>
          <p:cNvPr id="176" name="Google Shape;176;p29"/>
          <p:cNvGraphicFramePr/>
          <p:nvPr/>
        </p:nvGraphicFramePr>
        <p:xfrm>
          <a:off x="3180250" y="3451042"/>
          <a:ext cx="3000000" cy="3000000"/>
        </p:xfrm>
        <a:graphic>
          <a:graphicData uri="http://schemas.openxmlformats.org/drawingml/2006/table">
            <a:tbl>
              <a:tblPr>
                <a:noFill/>
                <a:tableStyleId>{DC73CC90-21C3-48E0-AB13-EC758DEEFBAC}</a:tableStyleId>
              </a:tblPr>
              <a:tblGrid>
                <a:gridCol w="2327250"/>
                <a:gridCol w="2327250"/>
              </a:tblGrid>
              <a:tr h="951500">
                <a:tc>
                  <a:txBody>
                    <a:bodyPr/>
                    <a:lstStyle/>
                    <a:p>
                      <a:pPr indent="0" lvl="0" marL="0" rtl="0" algn="ctr">
                        <a:spcBef>
                          <a:spcPts val="0"/>
                        </a:spcBef>
                        <a:spcAft>
                          <a:spcPts val="0"/>
                        </a:spcAft>
                        <a:buNone/>
                      </a:pPr>
                      <a:r>
                        <a:rPr i="1" lang="en" sz="2000">
                          <a:latin typeface="Josefin Slab"/>
                          <a:ea typeface="Josefin Slab"/>
                          <a:cs typeface="Josefin Slab"/>
                          <a:sym typeface="Josefin Slab"/>
                        </a:rPr>
                        <a:t>True innovators (influentials)</a:t>
                      </a:r>
                      <a:endParaRPr i="1" sz="2000">
                        <a:latin typeface="Josefin Slab"/>
                        <a:ea typeface="Josefin Slab"/>
                        <a:cs typeface="Josefin Slab"/>
                        <a:sym typeface="Josefin Slab"/>
                      </a:endParaRPr>
                    </a:p>
                  </a:txBody>
                  <a:tcPr marT="76200" marB="76200" marR="91425" marL="91425" anchor="ctr"/>
                </a:tc>
                <a:tc>
                  <a:txBody>
                    <a:bodyPr/>
                    <a:lstStyle/>
                    <a:p>
                      <a:pPr indent="0" lvl="0" marL="0" rtl="0" algn="ctr">
                        <a:spcBef>
                          <a:spcPts val="0"/>
                        </a:spcBef>
                        <a:spcAft>
                          <a:spcPts val="0"/>
                        </a:spcAft>
                        <a:buNone/>
                      </a:pPr>
                      <a:r>
                        <a:rPr i="1" lang="en" sz="2000">
                          <a:latin typeface="Josefin Slab"/>
                          <a:ea typeface="Josefin Slab"/>
                          <a:cs typeface="Josefin Slab"/>
                          <a:sym typeface="Josefin Slab"/>
                        </a:rPr>
                        <a:t>Isolates</a:t>
                      </a:r>
                      <a:endParaRPr i="1" sz="2000">
                        <a:latin typeface="Josefin Slab"/>
                        <a:ea typeface="Josefin Slab"/>
                        <a:cs typeface="Josefin Slab"/>
                        <a:sym typeface="Josefin Slab"/>
                      </a:endParaRPr>
                    </a:p>
                  </a:txBody>
                  <a:tcPr marT="76200" marB="76200" marR="91425" marL="91425" anchor="ctr"/>
                </a:tc>
              </a:tr>
              <a:tr h="951500">
                <a:tc>
                  <a:txBody>
                    <a:bodyPr/>
                    <a:lstStyle/>
                    <a:p>
                      <a:pPr indent="0" lvl="0" marL="0" rtl="0" algn="ctr">
                        <a:spcBef>
                          <a:spcPts val="0"/>
                        </a:spcBef>
                        <a:spcAft>
                          <a:spcPts val="0"/>
                        </a:spcAft>
                        <a:buNone/>
                      </a:pPr>
                      <a:r>
                        <a:rPr i="1" lang="en" sz="2000">
                          <a:latin typeface="Josefin Slab"/>
                          <a:ea typeface="Josefin Slab"/>
                          <a:cs typeface="Josefin Slab"/>
                          <a:sym typeface="Josefin Slab"/>
                        </a:rPr>
                        <a:t>Connected Bandwagon</a:t>
                      </a:r>
                      <a:endParaRPr i="1" sz="2000">
                        <a:latin typeface="Josefin Slab"/>
                        <a:ea typeface="Josefin Slab"/>
                        <a:cs typeface="Josefin Slab"/>
                        <a:sym typeface="Josefin Slab"/>
                      </a:endParaRPr>
                    </a:p>
                  </a:txBody>
                  <a:tcPr marT="76200" marB="76200" marR="91425" marL="91425" anchor="ctr"/>
                </a:tc>
                <a:tc>
                  <a:txBody>
                    <a:bodyPr/>
                    <a:lstStyle/>
                    <a:p>
                      <a:pPr indent="0" lvl="0" marL="0" rtl="0" algn="ctr">
                        <a:spcBef>
                          <a:spcPts val="0"/>
                        </a:spcBef>
                        <a:spcAft>
                          <a:spcPts val="0"/>
                        </a:spcAft>
                        <a:buNone/>
                      </a:pPr>
                      <a:r>
                        <a:rPr i="1" lang="en" sz="2000">
                          <a:latin typeface="Josefin Slab"/>
                          <a:ea typeface="Josefin Slab"/>
                          <a:cs typeface="Josefin Slab"/>
                          <a:sym typeface="Josefin Slab"/>
                        </a:rPr>
                        <a:t>Resistant rearguard</a:t>
                      </a:r>
                      <a:endParaRPr i="1" sz="2000">
                        <a:latin typeface="Josefin Slab"/>
                        <a:ea typeface="Josefin Slab"/>
                        <a:cs typeface="Josefin Slab"/>
                        <a:sym typeface="Josefin Slab"/>
                      </a:endParaRPr>
                    </a:p>
                  </a:txBody>
                  <a:tcPr marT="76200" marB="76200" marR="91425" marL="91425" anchor="ctr"/>
                </a:tc>
              </a:tr>
            </a:tbl>
          </a:graphicData>
        </a:graphic>
      </p:graphicFrame>
      <p:sp>
        <p:nvSpPr>
          <p:cNvPr id="177" name="Google Shape;177;p29"/>
          <p:cNvSpPr txBox="1"/>
          <p:nvPr/>
        </p:nvSpPr>
        <p:spPr>
          <a:xfrm>
            <a:off x="2430550" y="3453042"/>
            <a:ext cx="939000" cy="189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rPr lang="en" sz="2400">
                <a:latin typeface="Josefin Slab"/>
                <a:ea typeface="Josefin Slab"/>
                <a:cs typeface="Josefin Slab"/>
                <a:sym typeface="Josefin Slab"/>
              </a:rPr>
              <a:t>Low</a:t>
            </a:r>
            <a:endParaRPr sz="2400">
              <a:latin typeface="Josefin Slab"/>
              <a:ea typeface="Josefin Slab"/>
              <a:cs typeface="Josefin Slab"/>
              <a:sym typeface="Josefin Slab"/>
            </a:endParaRPr>
          </a:p>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t/>
            </a:r>
            <a:endParaRPr sz="2400">
              <a:latin typeface="Josefin Slab"/>
              <a:ea typeface="Josefin Slab"/>
              <a:cs typeface="Josefin Slab"/>
              <a:sym typeface="Josefin Slab"/>
            </a:endParaRPr>
          </a:p>
          <a:p>
            <a:pPr indent="0" lvl="0" marL="0" rtl="0" algn="l">
              <a:spcBef>
                <a:spcPts val="0"/>
              </a:spcBef>
              <a:spcAft>
                <a:spcPts val="0"/>
              </a:spcAft>
              <a:buNone/>
            </a:pPr>
            <a:r>
              <a:rPr lang="en" sz="2400">
                <a:latin typeface="Josefin Slab"/>
                <a:ea typeface="Josefin Slab"/>
                <a:cs typeface="Josefin Slab"/>
                <a:sym typeface="Josefin Slab"/>
              </a:rPr>
              <a:t>High</a:t>
            </a:r>
            <a:endParaRPr sz="2400">
              <a:latin typeface="Josefin Slab"/>
              <a:ea typeface="Josefin Slab"/>
              <a:cs typeface="Josefin Slab"/>
              <a:sym typeface="Josefin Slab"/>
            </a:endParaRPr>
          </a:p>
        </p:txBody>
      </p:sp>
      <p:sp>
        <p:nvSpPr>
          <p:cNvPr id="178" name="Google Shape;178;p29"/>
          <p:cNvSpPr txBox="1"/>
          <p:nvPr/>
        </p:nvSpPr>
        <p:spPr>
          <a:xfrm>
            <a:off x="945955" y="3586542"/>
            <a:ext cx="1579800" cy="163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Josefin Slab"/>
                <a:ea typeface="Josefin Slab"/>
                <a:cs typeface="Josefin Slab"/>
                <a:sym typeface="Josefin Slab"/>
              </a:rPr>
              <a:t>Network Threshold</a:t>
            </a:r>
            <a:endParaRPr b="1" sz="2400">
              <a:latin typeface="Josefin Slab"/>
              <a:ea typeface="Josefin Slab"/>
              <a:cs typeface="Josefin Slab"/>
              <a:sym typeface="Josefin Slab"/>
            </a:endParaRPr>
          </a:p>
        </p:txBody>
      </p:sp>
      <p:sp>
        <p:nvSpPr>
          <p:cNvPr id="179" name="Google Shape;179;p29"/>
          <p:cNvSpPr txBox="1"/>
          <p:nvPr/>
        </p:nvSpPr>
        <p:spPr>
          <a:xfrm>
            <a:off x="3849700" y="3006095"/>
            <a:ext cx="3712800" cy="4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Josefin Slab"/>
                <a:ea typeface="Josefin Slab"/>
                <a:cs typeface="Josefin Slab"/>
                <a:sym typeface="Josefin Slab"/>
              </a:rPr>
              <a:t>Low				High</a:t>
            </a:r>
            <a:endParaRPr sz="2400">
              <a:latin typeface="Josefin Slab"/>
              <a:ea typeface="Josefin Slab"/>
              <a:cs typeface="Josefin Slab"/>
              <a:sym typeface="Josefin Slab"/>
            </a:endParaRPr>
          </a:p>
        </p:txBody>
      </p:sp>
      <p:sp>
        <p:nvSpPr>
          <p:cNvPr id="180" name="Google Shape;180;p29"/>
          <p:cNvSpPr txBox="1"/>
          <p:nvPr/>
        </p:nvSpPr>
        <p:spPr>
          <a:xfrm>
            <a:off x="4160650" y="2787678"/>
            <a:ext cx="2693700" cy="31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latin typeface="Josefin Slab"/>
                <a:ea typeface="Josefin Slab"/>
                <a:cs typeface="Josefin Slab"/>
                <a:sym typeface="Josefin Slab"/>
              </a:rPr>
              <a:t>System Threshold</a:t>
            </a:r>
            <a:endParaRPr b="1" sz="2400">
              <a:latin typeface="Josefin Slab"/>
              <a:ea typeface="Josefin Slab"/>
              <a:cs typeface="Josefin Slab"/>
              <a:sym typeface="Josefin Slab"/>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versus simplex contagion</a:t>
            </a:r>
            <a:endParaRPr/>
          </a:p>
        </p:txBody>
      </p:sp>
      <p:sp>
        <p:nvSpPr>
          <p:cNvPr id="186" name="Google Shape;186;p30"/>
          <p:cNvSpPr txBox="1"/>
          <p:nvPr>
            <p:ph idx="1" type="body"/>
          </p:nvPr>
        </p:nvSpPr>
        <p:spPr>
          <a:xfrm>
            <a:off x="457200" y="1333500"/>
            <a:ext cx="82389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latin typeface="Josefin Slab"/>
                <a:ea typeface="Josefin Slab"/>
                <a:cs typeface="Josefin Slab"/>
                <a:sym typeface="Josefin Slab"/>
              </a:rPr>
              <a:t>We have seen that heterogeneity in the propensity to adopt an innovation can be modeled as a threshold process</a:t>
            </a:r>
            <a:endParaRPr>
              <a:latin typeface="Josefin Slab"/>
              <a:ea typeface="Josefin Slab"/>
              <a:cs typeface="Josefin Slab"/>
              <a:sym typeface="Josefin Slab"/>
            </a:endParaRPr>
          </a:p>
          <a:p>
            <a:pPr indent="-317500" lvl="0" marL="457200" rtl="0" algn="l">
              <a:spcBef>
                <a:spcPts val="1600"/>
              </a:spcBef>
              <a:spcAft>
                <a:spcPts val="0"/>
              </a:spcAft>
              <a:buSzPts val="1400"/>
              <a:buChar char="●"/>
            </a:pPr>
            <a:r>
              <a:rPr lang="en">
                <a:latin typeface="Josefin Slab"/>
                <a:ea typeface="Josefin Slab"/>
                <a:cs typeface="Josefin Slab"/>
                <a:sym typeface="Josefin Slab"/>
              </a:rPr>
              <a:t>However, thresholds may not be fixed for individuals regardless of what is being diffused</a:t>
            </a:r>
            <a:endParaRPr>
              <a:latin typeface="Josefin Slab"/>
              <a:ea typeface="Josefin Slab"/>
              <a:cs typeface="Josefin Slab"/>
              <a:sym typeface="Josefin Slab"/>
            </a:endParaRPr>
          </a:p>
          <a:p>
            <a:pPr indent="-317500" lvl="0" marL="457200" rtl="0" algn="l">
              <a:spcBef>
                <a:spcPts val="1600"/>
              </a:spcBef>
              <a:spcAft>
                <a:spcPts val="1600"/>
              </a:spcAft>
              <a:buSzPts val="1400"/>
              <a:buChar char="●"/>
            </a:pPr>
            <a:r>
              <a:rPr lang="en">
                <a:latin typeface="Josefin Slab"/>
                <a:ea typeface="Josefin Slab"/>
                <a:cs typeface="Josefin Slab"/>
                <a:sym typeface="Josefin Slab"/>
              </a:rPr>
              <a:t>Instead, persons may modulate their thresholds depending on characteristics of the innovation that is being transmitted through the network</a:t>
            </a:r>
            <a:endParaRPr>
              <a:latin typeface="Josefin Slab"/>
              <a:ea typeface="Josefin Slab"/>
              <a:cs typeface="Josefin Slab"/>
              <a:sym typeface="Josefin Slab"/>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versus simplex contagion</a:t>
            </a:r>
            <a:endParaRPr/>
          </a:p>
        </p:txBody>
      </p:sp>
      <p:sp>
        <p:nvSpPr>
          <p:cNvPr id="192" name="Google Shape;192;p31"/>
          <p:cNvSpPr txBox="1"/>
          <p:nvPr>
            <p:ph idx="1" type="body"/>
          </p:nvPr>
        </p:nvSpPr>
        <p:spPr>
          <a:xfrm>
            <a:off x="457200" y="1333500"/>
            <a:ext cx="82389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latin typeface="Josefin Slab"/>
                <a:ea typeface="Josefin Slab"/>
                <a:cs typeface="Josefin Slab"/>
                <a:sym typeface="Josefin Slab"/>
              </a:rPr>
              <a:t>Innovations that entail risk, ostracism, potential loss of resources, may elicit higher thresholds </a:t>
            </a:r>
            <a:r>
              <a:rPr i="1" lang="en">
                <a:latin typeface="Josefin Slab"/>
                <a:ea typeface="Josefin Slab"/>
                <a:cs typeface="Josefin Slab"/>
                <a:sym typeface="Josefin Slab"/>
              </a:rPr>
              <a:t>from all </a:t>
            </a:r>
            <a:r>
              <a:rPr lang="en">
                <a:latin typeface="Josefin Slab"/>
                <a:ea typeface="Josefin Slab"/>
                <a:cs typeface="Josefin Slab"/>
                <a:sym typeface="Josefin Slab"/>
              </a:rPr>
              <a:t>actors in the network</a:t>
            </a:r>
            <a:endParaRPr>
              <a:latin typeface="Josefin Slab"/>
              <a:ea typeface="Josefin Slab"/>
              <a:cs typeface="Josefin Slab"/>
              <a:sym typeface="Josefin Slab"/>
            </a:endParaRPr>
          </a:p>
          <a:p>
            <a:pPr indent="-304800" lvl="1" marL="914400" rtl="0" algn="l">
              <a:spcBef>
                <a:spcPts val="1600"/>
              </a:spcBef>
              <a:spcAft>
                <a:spcPts val="0"/>
              </a:spcAft>
              <a:buSzPts val="1200"/>
              <a:buChar char="○"/>
            </a:pPr>
            <a:r>
              <a:rPr lang="en">
                <a:latin typeface="Josefin Slab"/>
                <a:ea typeface="Josefin Slab"/>
                <a:cs typeface="Josefin Slab"/>
                <a:sym typeface="Josefin Slab"/>
              </a:rPr>
              <a:t>Persons require exposure to multiple sources to adopt</a:t>
            </a:r>
            <a:endParaRPr>
              <a:latin typeface="Josefin Slab"/>
              <a:ea typeface="Josefin Slab"/>
              <a:cs typeface="Josefin Slab"/>
              <a:sym typeface="Josefin Slab"/>
            </a:endParaRPr>
          </a:p>
          <a:p>
            <a:pPr indent="-317500" lvl="0" marL="457200" rtl="0" algn="l">
              <a:spcBef>
                <a:spcPts val="1600"/>
              </a:spcBef>
              <a:spcAft>
                <a:spcPts val="0"/>
              </a:spcAft>
              <a:buSzPts val="1400"/>
              <a:buChar char="●"/>
            </a:pPr>
            <a:r>
              <a:rPr lang="en">
                <a:latin typeface="Josefin Slab"/>
                <a:ea typeface="Josefin Slab"/>
                <a:cs typeface="Josefin Slab"/>
                <a:sym typeface="Josefin Slab"/>
              </a:rPr>
              <a:t>Innovations (e.g. gossip) that carry little risk may in their turn elicit a very low threshold</a:t>
            </a:r>
            <a:endParaRPr>
              <a:latin typeface="Josefin Slab"/>
              <a:ea typeface="Josefin Slab"/>
              <a:cs typeface="Josefin Slab"/>
              <a:sym typeface="Josefin Slab"/>
            </a:endParaRPr>
          </a:p>
          <a:p>
            <a:pPr indent="-304800" lvl="1" marL="914400" rtl="0" algn="l">
              <a:spcBef>
                <a:spcPts val="1600"/>
              </a:spcBef>
              <a:spcAft>
                <a:spcPts val="0"/>
              </a:spcAft>
              <a:buSzPts val="1200"/>
              <a:buChar char="○"/>
            </a:pPr>
            <a:r>
              <a:rPr lang="en">
                <a:latin typeface="Josefin Slab"/>
                <a:ea typeface="Josefin Slab"/>
                <a:cs typeface="Josefin Slab"/>
                <a:sym typeface="Josefin Slab"/>
              </a:rPr>
              <a:t>In the limiting case, the person adopts as soon as one of their neighbors adopts</a:t>
            </a:r>
            <a:endParaRPr>
              <a:latin typeface="Josefin Slab"/>
              <a:ea typeface="Josefin Slab"/>
              <a:cs typeface="Josefin Slab"/>
              <a:sym typeface="Josefin Slab"/>
            </a:endParaRPr>
          </a:p>
          <a:p>
            <a:pPr indent="0" lvl="0" marL="0" marR="0" rtl="0" algn="l">
              <a:lnSpc>
                <a:spcPct val="100000"/>
              </a:lnSpc>
              <a:spcBef>
                <a:spcPts val="1600"/>
              </a:spcBef>
              <a:spcAft>
                <a:spcPts val="0"/>
              </a:spcAft>
              <a:buNone/>
            </a:pPr>
            <a:r>
              <a:t/>
            </a:r>
            <a:endParaRPr>
              <a:latin typeface="Josefin Slab"/>
              <a:ea typeface="Josefin Slab"/>
              <a:cs typeface="Josefin Slab"/>
              <a:sym typeface="Josefin Slab"/>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versus simplex contagion</a:t>
            </a:r>
            <a:endParaRPr/>
          </a:p>
        </p:txBody>
      </p:sp>
      <p:sp>
        <p:nvSpPr>
          <p:cNvPr id="198" name="Google Shape;198;p32"/>
          <p:cNvSpPr txBox="1"/>
          <p:nvPr>
            <p:ph idx="1" type="body"/>
          </p:nvPr>
        </p:nvSpPr>
        <p:spPr>
          <a:xfrm>
            <a:off x="457200" y="1333500"/>
            <a:ext cx="82389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latin typeface="Josefin Slab"/>
                <a:ea typeface="Josefin Slab"/>
                <a:cs typeface="Josefin Slab"/>
                <a:sym typeface="Josefin Slab"/>
              </a:rPr>
              <a:t>Innovations that entail risk, ostracism, potential loss of resources, may elicit higher thresholds </a:t>
            </a:r>
            <a:r>
              <a:rPr i="1" lang="en">
                <a:latin typeface="Josefin Slab"/>
                <a:ea typeface="Josefin Slab"/>
                <a:cs typeface="Josefin Slab"/>
                <a:sym typeface="Josefin Slab"/>
              </a:rPr>
              <a:t>from all </a:t>
            </a:r>
            <a:r>
              <a:rPr lang="en">
                <a:latin typeface="Josefin Slab"/>
                <a:ea typeface="Josefin Slab"/>
                <a:cs typeface="Josefin Slab"/>
                <a:sym typeface="Josefin Slab"/>
              </a:rPr>
              <a:t>actors in the network</a:t>
            </a:r>
            <a:endParaRPr>
              <a:latin typeface="Josefin Slab"/>
              <a:ea typeface="Josefin Slab"/>
              <a:cs typeface="Josefin Slab"/>
              <a:sym typeface="Josefin Slab"/>
            </a:endParaRPr>
          </a:p>
          <a:p>
            <a:pPr indent="-304800" lvl="1" marL="914400" rtl="0" algn="l">
              <a:spcBef>
                <a:spcPts val="1600"/>
              </a:spcBef>
              <a:spcAft>
                <a:spcPts val="0"/>
              </a:spcAft>
              <a:buSzPts val="1200"/>
              <a:buChar char="○"/>
            </a:pPr>
            <a:r>
              <a:rPr lang="en">
                <a:latin typeface="Josefin Slab"/>
                <a:ea typeface="Josefin Slab"/>
                <a:cs typeface="Josefin Slab"/>
                <a:sym typeface="Josefin Slab"/>
              </a:rPr>
              <a:t>Persons require exposure to multiple sources to adopt</a:t>
            </a:r>
            <a:endParaRPr>
              <a:latin typeface="Josefin Slab"/>
              <a:ea typeface="Josefin Slab"/>
              <a:cs typeface="Josefin Slab"/>
              <a:sym typeface="Josefin Slab"/>
            </a:endParaRPr>
          </a:p>
          <a:p>
            <a:pPr indent="-317500" lvl="0" marL="457200" rtl="0" algn="l">
              <a:spcBef>
                <a:spcPts val="1600"/>
              </a:spcBef>
              <a:spcAft>
                <a:spcPts val="0"/>
              </a:spcAft>
              <a:buSzPts val="1400"/>
              <a:buChar char="●"/>
            </a:pPr>
            <a:r>
              <a:rPr lang="en">
                <a:latin typeface="Josefin Slab"/>
                <a:ea typeface="Josefin Slab"/>
                <a:cs typeface="Josefin Slab"/>
                <a:sym typeface="Josefin Slab"/>
              </a:rPr>
              <a:t>This is the difference between </a:t>
            </a:r>
            <a:r>
              <a:rPr b="1" lang="en">
                <a:latin typeface="Josefin Slab"/>
                <a:ea typeface="Josefin Slab"/>
                <a:cs typeface="Josefin Slab"/>
                <a:sym typeface="Josefin Slab"/>
              </a:rPr>
              <a:t>simplex</a:t>
            </a:r>
            <a:r>
              <a:rPr lang="en">
                <a:latin typeface="Josefin Slab"/>
                <a:ea typeface="Josefin Slab"/>
                <a:cs typeface="Josefin Slab"/>
                <a:sym typeface="Josefin Slab"/>
              </a:rPr>
              <a:t> and </a:t>
            </a:r>
            <a:r>
              <a:rPr b="1" lang="en">
                <a:latin typeface="Josefin Slab"/>
                <a:ea typeface="Josefin Slab"/>
                <a:cs typeface="Josefin Slab"/>
                <a:sym typeface="Josefin Slab"/>
              </a:rPr>
              <a:t>complex</a:t>
            </a:r>
            <a:r>
              <a:rPr lang="en">
                <a:latin typeface="Josefin Slab"/>
                <a:ea typeface="Josefin Slab"/>
                <a:cs typeface="Josefin Slab"/>
                <a:sym typeface="Josefin Slab"/>
              </a:rPr>
              <a:t> contagion</a:t>
            </a:r>
            <a:endParaRPr>
              <a:latin typeface="Josefin Slab"/>
              <a:ea typeface="Josefin Slab"/>
              <a:cs typeface="Josefin Slab"/>
              <a:sym typeface="Josefin Slab"/>
            </a:endParaRPr>
          </a:p>
          <a:p>
            <a:pPr indent="-304800" lvl="1" marL="914400" rtl="0" algn="l">
              <a:spcBef>
                <a:spcPts val="1600"/>
              </a:spcBef>
              <a:spcAft>
                <a:spcPts val="1600"/>
              </a:spcAft>
              <a:buSzPts val="1200"/>
              <a:buChar char="○"/>
            </a:pPr>
            <a:r>
              <a:rPr lang="en">
                <a:latin typeface="Josefin Slab"/>
                <a:ea typeface="Josefin Slab"/>
                <a:cs typeface="Josefin Slab"/>
                <a:sym typeface="Josefin Slab"/>
              </a:rPr>
              <a:t>The basic idea is that certain innovations can </a:t>
            </a:r>
            <a:r>
              <a:rPr b="1" lang="en">
                <a:latin typeface="Josefin Slab"/>
                <a:ea typeface="Josefin Slab"/>
                <a:cs typeface="Josefin Slab"/>
                <a:sym typeface="Josefin Slab"/>
              </a:rPr>
              <a:t>only</a:t>
            </a:r>
            <a:r>
              <a:rPr lang="en">
                <a:latin typeface="Josefin Slab"/>
                <a:ea typeface="Josefin Slab"/>
                <a:cs typeface="Josefin Slab"/>
                <a:sym typeface="Josefin Slab"/>
              </a:rPr>
              <a:t> diffuse via complex contagion</a:t>
            </a:r>
            <a:endParaRPr>
              <a:latin typeface="Josefin Slab"/>
              <a:ea typeface="Josefin Slab"/>
              <a:cs typeface="Josefin Slab"/>
              <a:sym typeface="Josefin Slab"/>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versus simplex contagion</a:t>
            </a:r>
            <a:endParaRPr/>
          </a:p>
        </p:txBody>
      </p:sp>
      <p:sp>
        <p:nvSpPr>
          <p:cNvPr id="204" name="Google Shape;204;p33"/>
          <p:cNvSpPr txBox="1"/>
          <p:nvPr>
            <p:ph idx="1" type="body"/>
          </p:nvPr>
        </p:nvSpPr>
        <p:spPr>
          <a:xfrm>
            <a:off x="457200" y="1333500"/>
            <a:ext cx="41040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latin typeface="Josefin Slab"/>
                <a:ea typeface="Josefin Slab"/>
                <a:cs typeface="Josefin Slab"/>
                <a:sym typeface="Josefin Slab"/>
              </a:rPr>
              <a:t>Examples of simplex contagion: </a:t>
            </a:r>
            <a:endParaRPr>
              <a:latin typeface="Josefin Slab"/>
              <a:ea typeface="Josefin Slab"/>
              <a:cs typeface="Josefin Slab"/>
              <a:sym typeface="Josefin Slab"/>
            </a:endParaRPr>
          </a:p>
          <a:p>
            <a:pPr indent="-304800" lvl="1" marL="914400" rtl="0" algn="l">
              <a:spcBef>
                <a:spcPts val="1600"/>
              </a:spcBef>
              <a:spcAft>
                <a:spcPts val="0"/>
              </a:spcAft>
              <a:buSzPts val="1200"/>
              <a:buChar char="○"/>
            </a:pPr>
            <a:r>
              <a:rPr lang="en">
                <a:latin typeface="Josefin Slab"/>
                <a:ea typeface="Josefin Slab"/>
                <a:cs typeface="Josefin Slab"/>
                <a:sym typeface="Josefin Slab"/>
              </a:rPr>
              <a:t>Information, disease</a:t>
            </a:r>
            <a:endParaRPr>
              <a:latin typeface="Josefin Slab"/>
              <a:ea typeface="Josefin Slab"/>
              <a:cs typeface="Josefin Slab"/>
              <a:sym typeface="Josefin Slab"/>
            </a:endParaRPr>
          </a:p>
          <a:p>
            <a:pPr indent="-317500" lvl="0" marL="457200" rtl="0" algn="l">
              <a:spcBef>
                <a:spcPts val="1600"/>
              </a:spcBef>
              <a:spcAft>
                <a:spcPts val="0"/>
              </a:spcAft>
              <a:buSzPts val="1400"/>
              <a:buChar char="●"/>
            </a:pPr>
            <a:r>
              <a:rPr lang="en">
                <a:latin typeface="Josefin Slab"/>
                <a:ea typeface="Josefin Slab"/>
                <a:cs typeface="Josefin Slab"/>
                <a:sym typeface="Josefin Slab"/>
              </a:rPr>
              <a:t>Examples of complex contagion: </a:t>
            </a:r>
            <a:endParaRPr>
              <a:latin typeface="Josefin Slab"/>
              <a:ea typeface="Josefin Slab"/>
              <a:cs typeface="Josefin Slab"/>
              <a:sym typeface="Josefin Slab"/>
            </a:endParaRPr>
          </a:p>
          <a:p>
            <a:pPr indent="-304800" lvl="1" marL="914400" rtl="0" algn="l">
              <a:spcBef>
                <a:spcPts val="1600"/>
              </a:spcBef>
              <a:spcAft>
                <a:spcPts val="1600"/>
              </a:spcAft>
              <a:buSzPts val="1200"/>
              <a:buChar char="○"/>
            </a:pPr>
            <a:r>
              <a:rPr lang="en">
                <a:latin typeface="Josefin Slab"/>
                <a:ea typeface="Josefin Slab"/>
                <a:cs typeface="Josefin Slab"/>
                <a:sym typeface="Josefin Slab"/>
              </a:rPr>
              <a:t>High risk social movement participation, religious conversion, migration, etc.</a:t>
            </a:r>
            <a:endParaRPr>
              <a:latin typeface="Josefin Slab"/>
              <a:ea typeface="Josefin Slab"/>
              <a:cs typeface="Josefin Slab"/>
              <a:sym typeface="Josefin Slab"/>
            </a:endParaRPr>
          </a:p>
        </p:txBody>
      </p:sp>
      <p:pic>
        <p:nvPicPr>
          <p:cNvPr id="205" name="Google Shape;205;p33"/>
          <p:cNvPicPr preferRelativeResize="0"/>
          <p:nvPr/>
        </p:nvPicPr>
        <p:blipFill>
          <a:blip r:embed="rId3">
            <a:alphaModFix/>
          </a:blip>
          <a:stretch>
            <a:fillRect/>
          </a:stretch>
        </p:blipFill>
        <p:spPr>
          <a:xfrm>
            <a:off x="5641425" y="1289070"/>
            <a:ext cx="2537813" cy="422860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versus simplex contagion</a:t>
            </a:r>
            <a:endParaRPr/>
          </a:p>
        </p:txBody>
      </p:sp>
      <p:sp>
        <p:nvSpPr>
          <p:cNvPr id="211" name="Google Shape;211;p34"/>
          <p:cNvSpPr txBox="1"/>
          <p:nvPr>
            <p:ph idx="1" type="body"/>
          </p:nvPr>
        </p:nvSpPr>
        <p:spPr>
          <a:xfrm>
            <a:off x="457200" y="1333500"/>
            <a:ext cx="52758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latin typeface="Josefin Slab"/>
                <a:ea typeface="Josefin Slab"/>
                <a:cs typeface="Josefin Slab"/>
                <a:sym typeface="Josefin Slab"/>
              </a:rPr>
              <a:t>Four social mechanisms that require that innovations diffuse via complex contagion:</a:t>
            </a:r>
            <a:endParaRPr>
              <a:latin typeface="Josefin Slab"/>
              <a:ea typeface="Josefin Slab"/>
              <a:cs typeface="Josefin Slab"/>
              <a:sym typeface="Josefin Slab"/>
            </a:endParaRPr>
          </a:p>
          <a:p>
            <a:pPr indent="-304800" lvl="1" marL="914400" rtl="0" algn="l">
              <a:spcBef>
                <a:spcPts val="1600"/>
              </a:spcBef>
              <a:spcAft>
                <a:spcPts val="0"/>
              </a:spcAft>
              <a:buSzPts val="1200"/>
              <a:buChar char="○"/>
            </a:pPr>
            <a:r>
              <a:rPr b="1" lang="en">
                <a:latin typeface="Josefin Slab"/>
                <a:ea typeface="Josefin Slab"/>
                <a:cs typeface="Josefin Slab"/>
                <a:sym typeface="Josefin Slab"/>
              </a:rPr>
              <a:t>Strategic</a:t>
            </a:r>
            <a:r>
              <a:rPr lang="en">
                <a:latin typeface="Josefin Slab"/>
                <a:ea typeface="Josefin Slab"/>
                <a:cs typeface="Josefin Slab"/>
                <a:sym typeface="Josefin Slab"/>
              </a:rPr>
              <a:t> </a:t>
            </a:r>
            <a:r>
              <a:rPr b="1" lang="en">
                <a:latin typeface="Josefin Slab"/>
                <a:ea typeface="Josefin Slab"/>
                <a:cs typeface="Josefin Slab"/>
                <a:sym typeface="Josefin Slab"/>
              </a:rPr>
              <a:t>complementarity</a:t>
            </a:r>
            <a:r>
              <a:rPr lang="en">
                <a:latin typeface="Josefin Slab"/>
                <a:ea typeface="Josefin Slab"/>
                <a:cs typeface="Josefin Slab"/>
                <a:sym typeface="Josefin Slab"/>
              </a:rPr>
              <a:t>: (adoption cost declines as a function of existing adopters)</a:t>
            </a:r>
            <a:endParaRPr>
              <a:latin typeface="Josefin Slab"/>
              <a:ea typeface="Josefin Slab"/>
              <a:cs typeface="Josefin Slab"/>
              <a:sym typeface="Josefin Slab"/>
            </a:endParaRPr>
          </a:p>
          <a:p>
            <a:pPr indent="-304800" lvl="1" marL="914400" rtl="0" algn="l">
              <a:spcBef>
                <a:spcPts val="1600"/>
              </a:spcBef>
              <a:spcAft>
                <a:spcPts val="1600"/>
              </a:spcAft>
              <a:buSzPts val="1200"/>
              <a:buChar char="○"/>
            </a:pPr>
            <a:r>
              <a:rPr b="1" lang="en">
                <a:latin typeface="Josefin Slab"/>
                <a:ea typeface="Josefin Slab"/>
                <a:cs typeface="Josefin Slab"/>
                <a:sym typeface="Josefin Slab"/>
              </a:rPr>
              <a:t>Legitimacy</a:t>
            </a:r>
            <a:r>
              <a:rPr lang="en">
                <a:latin typeface="Josefin Slab"/>
                <a:ea typeface="Josefin Slab"/>
                <a:cs typeface="Josefin Slab"/>
                <a:sym typeface="Josefin Slab"/>
              </a:rPr>
              <a:t>: Resistance to challenge, collective acceptance, and taken-for-grantedness increases in the number of adopters</a:t>
            </a:r>
            <a:endParaRPr>
              <a:latin typeface="Josefin Slab"/>
              <a:ea typeface="Josefin Slab"/>
              <a:cs typeface="Josefin Slab"/>
              <a:sym typeface="Josefin Slab"/>
            </a:endParaRPr>
          </a:p>
        </p:txBody>
      </p:sp>
      <p:pic>
        <p:nvPicPr>
          <p:cNvPr id="212" name="Google Shape;212;p34"/>
          <p:cNvPicPr preferRelativeResize="0"/>
          <p:nvPr/>
        </p:nvPicPr>
        <p:blipFill>
          <a:blip r:embed="rId3">
            <a:alphaModFix/>
          </a:blip>
          <a:stretch>
            <a:fillRect/>
          </a:stretch>
        </p:blipFill>
        <p:spPr>
          <a:xfrm>
            <a:off x="5641425" y="1289070"/>
            <a:ext cx="2537813" cy="422860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versus simplex contagion</a:t>
            </a:r>
            <a:endParaRPr/>
          </a:p>
        </p:txBody>
      </p:sp>
      <p:sp>
        <p:nvSpPr>
          <p:cNvPr id="218" name="Google Shape;218;p35"/>
          <p:cNvSpPr txBox="1"/>
          <p:nvPr>
            <p:ph idx="1" type="body"/>
          </p:nvPr>
        </p:nvSpPr>
        <p:spPr>
          <a:xfrm>
            <a:off x="457200" y="1333500"/>
            <a:ext cx="52758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latin typeface="Josefin Slab"/>
                <a:ea typeface="Josefin Slab"/>
                <a:cs typeface="Josefin Slab"/>
                <a:sym typeface="Josefin Slab"/>
              </a:rPr>
              <a:t>Four social mechanisms that require that innovations diffuse via complex contagion:</a:t>
            </a:r>
            <a:endParaRPr>
              <a:latin typeface="Josefin Slab"/>
              <a:ea typeface="Josefin Slab"/>
              <a:cs typeface="Josefin Slab"/>
              <a:sym typeface="Josefin Slab"/>
            </a:endParaRPr>
          </a:p>
          <a:p>
            <a:pPr indent="-304800" lvl="1" marL="914400" rtl="0" algn="l">
              <a:spcBef>
                <a:spcPts val="1600"/>
              </a:spcBef>
              <a:spcAft>
                <a:spcPts val="0"/>
              </a:spcAft>
              <a:buSzPts val="1200"/>
              <a:buChar char="○"/>
            </a:pPr>
            <a:r>
              <a:rPr b="1" lang="en">
                <a:latin typeface="Josefin Slab"/>
                <a:ea typeface="Josefin Slab"/>
                <a:cs typeface="Josefin Slab"/>
                <a:sym typeface="Josefin Slab"/>
              </a:rPr>
              <a:t>Credibility: </a:t>
            </a:r>
            <a:r>
              <a:rPr lang="en">
                <a:latin typeface="Josefin Slab"/>
                <a:ea typeface="Josefin Slab"/>
                <a:cs typeface="Josefin Slab"/>
                <a:sym typeface="Josefin Slab"/>
              </a:rPr>
              <a:t>Innovations appears are more trustworthy and less risky when high status members of the community also adopt</a:t>
            </a:r>
            <a:endParaRPr>
              <a:latin typeface="Josefin Slab"/>
              <a:ea typeface="Josefin Slab"/>
              <a:cs typeface="Josefin Slab"/>
              <a:sym typeface="Josefin Slab"/>
            </a:endParaRPr>
          </a:p>
          <a:p>
            <a:pPr indent="-304800" lvl="1" marL="914400" rtl="0" algn="l">
              <a:spcBef>
                <a:spcPts val="1600"/>
              </a:spcBef>
              <a:spcAft>
                <a:spcPts val="1600"/>
              </a:spcAft>
              <a:buSzPts val="1200"/>
              <a:buChar char="○"/>
            </a:pPr>
            <a:r>
              <a:rPr b="1" lang="en">
                <a:latin typeface="Josefin Slab"/>
                <a:ea typeface="Josefin Slab"/>
                <a:cs typeface="Josefin Slab"/>
                <a:sym typeface="Josefin Slab"/>
              </a:rPr>
              <a:t>Emotional contagion</a:t>
            </a:r>
            <a:r>
              <a:rPr lang="en">
                <a:latin typeface="Josefin Slab"/>
                <a:ea typeface="Josefin Slab"/>
                <a:cs typeface="Josefin Slab"/>
                <a:sym typeface="Josefin Slab"/>
              </a:rPr>
              <a:t>: Cumulative interaction with a large number of adopters leads persons to adopt</a:t>
            </a:r>
            <a:endParaRPr>
              <a:latin typeface="Josefin Slab"/>
              <a:ea typeface="Josefin Slab"/>
              <a:cs typeface="Josefin Slab"/>
              <a:sym typeface="Josefin Slab"/>
            </a:endParaRPr>
          </a:p>
        </p:txBody>
      </p:sp>
      <p:pic>
        <p:nvPicPr>
          <p:cNvPr id="219" name="Google Shape;219;p35"/>
          <p:cNvPicPr preferRelativeResize="0"/>
          <p:nvPr/>
        </p:nvPicPr>
        <p:blipFill>
          <a:blip r:embed="rId3">
            <a:alphaModFix/>
          </a:blip>
          <a:stretch>
            <a:fillRect/>
          </a:stretch>
        </p:blipFill>
        <p:spPr>
          <a:xfrm>
            <a:off x="5641425" y="1289070"/>
            <a:ext cx="2537813" cy="422860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6"/>
          <p:cNvSpPr txBox="1"/>
          <p:nvPr>
            <p:ph type="title"/>
          </p:nvPr>
        </p:nvSpPr>
        <p:spPr>
          <a:xfrm>
            <a:off x="311700" y="351028"/>
            <a:ext cx="8520600" cy="92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Complex versus simplex contagion</a:t>
            </a:r>
            <a:endParaRPr/>
          </a:p>
        </p:txBody>
      </p:sp>
      <p:sp>
        <p:nvSpPr>
          <p:cNvPr id="225" name="Google Shape;225;p36"/>
          <p:cNvSpPr txBox="1"/>
          <p:nvPr>
            <p:ph idx="1" type="body"/>
          </p:nvPr>
        </p:nvSpPr>
        <p:spPr>
          <a:xfrm>
            <a:off x="457200" y="1333500"/>
            <a:ext cx="5275800" cy="4139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latin typeface="Josefin Slab"/>
                <a:ea typeface="Josefin Slab"/>
                <a:cs typeface="Josefin Slab"/>
                <a:sym typeface="Josefin Slab"/>
              </a:rPr>
              <a:t>Weakness of long ties argument:</a:t>
            </a:r>
            <a:endParaRPr>
              <a:latin typeface="Josefin Slab"/>
              <a:ea typeface="Josefin Slab"/>
              <a:cs typeface="Josefin Slab"/>
              <a:sym typeface="Josefin Slab"/>
            </a:endParaRPr>
          </a:p>
          <a:p>
            <a:pPr indent="-304800" lvl="1" marL="914400" rtl="0" algn="l">
              <a:spcBef>
                <a:spcPts val="1600"/>
              </a:spcBef>
              <a:spcAft>
                <a:spcPts val="0"/>
              </a:spcAft>
              <a:buSzPts val="1200"/>
              <a:buChar char="○"/>
            </a:pPr>
            <a:r>
              <a:rPr lang="en">
                <a:latin typeface="Josefin Slab"/>
                <a:ea typeface="Josefin Slab"/>
                <a:cs typeface="Josefin Slab"/>
                <a:sym typeface="Josefin Slab"/>
              </a:rPr>
              <a:t>Long ties might be appropriate for simplex diffusion</a:t>
            </a:r>
            <a:endParaRPr>
              <a:latin typeface="Josefin Slab"/>
              <a:ea typeface="Josefin Slab"/>
              <a:cs typeface="Josefin Slab"/>
              <a:sym typeface="Josefin Slab"/>
            </a:endParaRPr>
          </a:p>
          <a:p>
            <a:pPr indent="-304800" lvl="1" marL="914400" rtl="0" algn="l">
              <a:spcBef>
                <a:spcPts val="1600"/>
              </a:spcBef>
              <a:spcAft>
                <a:spcPts val="0"/>
              </a:spcAft>
              <a:buSzPts val="1200"/>
              <a:buChar char="○"/>
            </a:pPr>
            <a:r>
              <a:rPr lang="en">
                <a:latin typeface="Josefin Slab"/>
                <a:ea typeface="Josefin Slab"/>
                <a:cs typeface="Josefin Slab"/>
                <a:sym typeface="Josefin Slab"/>
              </a:rPr>
              <a:t>However, they are not up to task when it comes to complex contagion</a:t>
            </a:r>
            <a:endParaRPr>
              <a:latin typeface="Josefin Slab"/>
              <a:ea typeface="Josefin Slab"/>
              <a:cs typeface="Josefin Slab"/>
              <a:sym typeface="Josefin Slab"/>
            </a:endParaRPr>
          </a:p>
          <a:p>
            <a:pPr indent="-304800" lvl="1" marL="914400" rtl="0" algn="l">
              <a:spcBef>
                <a:spcPts val="1600"/>
              </a:spcBef>
              <a:spcAft>
                <a:spcPts val="1600"/>
              </a:spcAft>
              <a:buSzPts val="1200"/>
              <a:buChar char="○"/>
            </a:pPr>
            <a:r>
              <a:rPr lang="en">
                <a:latin typeface="Josefin Slab"/>
                <a:ea typeface="Josefin Slab"/>
                <a:cs typeface="Josefin Slab"/>
                <a:sym typeface="Josefin Slab"/>
              </a:rPr>
              <a:t>The reason for this is that in addition to length, complex contagions require bridges to be wide </a:t>
            </a:r>
            <a:endParaRPr>
              <a:latin typeface="Josefin Slab"/>
              <a:ea typeface="Josefin Slab"/>
              <a:cs typeface="Josefin Slab"/>
              <a:sym typeface="Josefin Slab"/>
            </a:endParaRPr>
          </a:p>
        </p:txBody>
      </p:sp>
      <p:pic>
        <p:nvPicPr>
          <p:cNvPr id="226" name="Google Shape;226;p36"/>
          <p:cNvPicPr preferRelativeResize="0"/>
          <p:nvPr/>
        </p:nvPicPr>
        <p:blipFill>
          <a:blip r:embed="rId3">
            <a:alphaModFix/>
          </a:blip>
          <a:stretch>
            <a:fillRect/>
          </a:stretch>
        </p:blipFill>
        <p:spPr>
          <a:xfrm>
            <a:off x="5641425" y="1289070"/>
            <a:ext cx="2537813" cy="422860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