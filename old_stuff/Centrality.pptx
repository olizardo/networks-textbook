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5"/>
    <p:sldMasterId id="214748367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Lst>
  <p:sldSz cy="5143500" cx="9144000"/>
  <p:notesSz cx="6858000" cy="9144000"/>
  <p:embeddedFontLst>
    <p:embeddedFont>
      <p:font typeface="Economica"/>
      <p:regular r:id="rId125"/>
      <p:bold r:id="rId126"/>
      <p:italic r:id="rId127"/>
      <p:boldItalic r:id="rId128"/>
    </p:embeddedFont>
    <p:embeddedFont>
      <p:font typeface="Roboto"/>
      <p:regular r:id="rId129"/>
      <p:bold r:id="rId130"/>
      <p:italic r:id="rId131"/>
      <p:boldItalic r:id="rId132"/>
    </p:embeddedFont>
    <p:embeddedFont>
      <p:font typeface="Cantarell"/>
      <p:regular r:id="rId133"/>
      <p:bold r:id="rId134"/>
      <p:italic r:id="rId135"/>
      <p:boldItalic r:id="rId136"/>
    </p:embeddedFont>
    <p:embeddedFont>
      <p:font typeface="Open Sans"/>
      <p:regular r:id="rId137"/>
      <p:bold r:id="rId138"/>
      <p:italic r:id="rId139"/>
      <p:boldItalic r:id="rId1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D36BE5A-9069-42A2-BAD7-CD2C23C4D617}">
  <a:tblStyle styleId="{4D36BE5A-9069-42A2-BAD7-CD2C23C4D61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D533A967-1B24-4C1F-A5BD-666CA7F43D67}"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slide" Target="slides/slide100.xml"/><Relationship Id="rId106" Type="http://schemas.openxmlformats.org/officeDocument/2006/relationships/slide" Target="slides/slide99.xml"/><Relationship Id="rId105" Type="http://schemas.openxmlformats.org/officeDocument/2006/relationships/slide" Target="slides/slide98.xml"/><Relationship Id="rId104" Type="http://schemas.openxmlformats.org/officeDocument/2006/relationships/slide" Target="slides/slide97.xml"/><Relationship Id="rId109" Type="http://schemas.openxmlformats.org/officeDocument/2006/relationships/slide" Target="slides/slide102.xml"/><Relationship Id="rId108" Type="http://schemas.openxmlformats.org/officeDocument/2006/relationships/slide" Target="slides/slide101.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slide" Target="slides/slide96.xml"/><Relationship Id="rId102" Type="http://schemas.openxmlformats.org/officeDocument/2006/relationships/slide" Target="slides/slide95.xml"/><Relationship Id="rId101" Type="http://schemas.openxmlformats.org/officeDocument/2006/relationships/slide" Target="slides/slide94.xml"/><Relationship Id="rId100" Type="http://schemas.openxmlformats.org/officeDocument/2006/relationships/slide" Target="slides/slide93.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29" Type="http://schemas.openxmlformats.org/officeDocument/2006/relationships/font" Target="fonts/Roboto-regular.fntdata"/><Relationship Id="rId128" Type="http://schemas.openxmlformats.org/officeDocument/2006/relationships/font" Target="fonts/Economica-boldItalic.fntdata"/><Relationship Id="rId127" Type="http://schemas.openxmlformats.org/officeDocument/2006/relationships/font" Target="fonts/Economica-italic.fntdata"/><Relationship Id="rId126" Type="http://schemas.openxmlformats.org/officeDocument/2006/relationships/font" Target="fonts/Economica-bold.fntdata"/><Relationship Id="rId26" Type="http://schemas.openxmlformats.org/officeDocument/2006/relationships/slide" Target="slides/slide19.xml"/><Relationship Id="rId121" Type="http://schemas.openxmlformats.org/officeDocument/2006/relationships/slide" Target="slides/slide114.xml"/><Relationship Id="rId25" Type="http://schemas.openxmlformats.org/officeDocument/2006/relationships/slide" Target="slides/slide18.xml"/><Relationship Id="rId120" Type="http://schemas.openxmlformats.org/officeDocument/2006/relationships/slide" Target="slides/slide113.xml"/><Relationship Id="rId28" Type="http://schemas.openxmlformats.org/officeDocument/2006/relationships/slide" Target="slides/slide21.xml"/><Relationship Id="rId27" Type="http://schemas.openxmlformats.org/officeDocument/2006/relationships/slide" Target="slides/slide20.xml"/><Relationship Id="rId125" Type="http://schemas.openxmlformats.org/officeDocument/2006/relationships/font" Target="fonts/Economica-regular.fntdata"/><Relationship Id="rId29" Type="http://schemas.openxmlformats.org/officeDocument/2006/relationships/slide" Target="slides/slide22.xml"/><Relationship Id="rId124" Type="http://schemas.openxmlformats.org/officeDocument/2006/relationships/slide" Target="slides/slide117.xml"/><Relationship Id="rId123" Type="http://schemas.openxmlformats.org/officeDocument/2006/relationships/slide" Target="slides/slide116.xml"/><Relationship Id="rId122" Type="http://schemas.openxmlformats.org/officeDocument/2006/relationships/slide" Target="slides/slide115.xml"/><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11" Type="http://schemas.openxmlformats.org/officeDocument/2006/relationships/slide" Target="slides/slide4.xml"/><Relationship Id="rId99" Type="http://schemas.openxmlformats.org/officeDocument/2006/relationships/slide" Target="slides/slide92.xml"/><Relationship Id="rId10" Type="http://schemas.openxmlformats.org/officeDocument/2006/relationships/slide" Target="slides/slide3.xml"/><Relationship Id="rId98" Type="http://schemas.openxmlformats.org/officeDocument/2006/relationships/slide" Target="slides/slide91.xml"/><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18" Type="http://schemas.openxmlformats.org/officeDocument/2006/relationships/slide" Target="slides/slide111.xml"/><Relationship Id="rId117" Type="http://schemas.openxmlformats.org/officeDocument/2006/relationships/slide" Target="slides/slide110.xml"/><Relationship Id="rId116" Type="http://schemas.openxmlformats.org/officeDocument/2006/relationships/slide" Target="slides/slide109.xml"/><Relationship Id="rId115" Type="http://schemas.openxmlformats.org/officeDocument/2006/relationships/slide" Target="slides/slide108.xml"/><Relationship Id="rId119" Type="http://schemas.openxmlformats.org/officeDocument/2006/relationships/slide" Target="slides/slide112.xml"/><Relationship Id="rId15" Type="http://schemas.openxmlformats.org/officeDocument/2006/relationships/slide" Target="slides/slide8.xml"/><Relationship Id="rId110" Type="http://schemas.openxmlformats.org/officeDocument/2006/relationships/slide" Target="slides/slide103.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14" Type="http://schemas.openxmlformats.org/officeDocument/2006/relationships/slide" Target="slides/slide107.xml"/><Relationship Id="rId18" Type="http://schemas.openxmlformats.org/officeDocument/2006/relationships/slide" Target="slides/slide11.xml"/><Relationship Id="rId113" Type="http://schemas.openxmlformats.org/officeDocument/2006/relationships/slide" Target="slides/slide106.xml"/><Relationship Id="rId112" Type="http://schemas.openxmlformats.org/officeDocument/2006/relationships/slide" Target="slides/slide105.xml"/><Relationship Id="rId111" Type="http://schemas.openxmlformats.org/officeDocument/2006/relationships/slide" Target="slides/slide104.xml"/><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40" Type="http://schemas.openxmlformats.org/officeDocument/2006/relationships/font" Target="fonts/OpenSans-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139" Type="http://schemas.openxmlformats.org/officeDocument/2006/relationships/font" Target="fonts/OpenSans-italic.fntdata"/><Relationship Id="rId138" Type="http://schemas.openxmlformats.org/officeDocument/2006/relationships/font" Target="fonts/OpenSans-bold.fntdata"/><Relationship Id="rId137" Type="http://schemas.openxmlformats.org/officeDocument/2006/relationships/font" Target="fonts/OpenSans-regular.fntdata"/><Relationship Id="rId132" Type="http://schemas.openxmlformats.org/officeDocument/2006/relationships/font" Target="fonts/Roboto-boldItalic.fntdata"/><Relationship Id="rId131" Type="http://schemas.openxmlformats.org/officeDocument/2006/relationships/font" Target="fonts/Roboto-italic.fntdata"/><Relationship Id="rId130" Type="http://schemas.openxmlformats.org/officeDocument/2006/relationships/font" Target="fonts/Roboto-bold.fntdata"/><Relationship Id="rId136" Type="http://schemas.openxmlformats.org/officeDocument/2006/relationships/font" Target="fonts/Cantarell-boldItalic.fntdata"/><Relationship Id="rId135" Type="http://schemas.openxmlformats.org/officeDocument/2006/relationships/font" Target="fonts/Cantarell-italic.fntdata"/><Relationship Id="rId134" Type="http://schemas.openxmlformats.org/officeDocument/2006/relationships/font" Target="fonts/Cantarell-bold.fntdata"/><Relationship Id="rId133" Type="http://schemas.openxmlformats.org/officeDocument/2006/relationships/font" Target="fonts/Cantarell-regular.fntdata"/><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bac7000a63_0_19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bac7000a63_0_19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bac7000a63_0_19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bac7000a63_0_19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bac7000a63_0_20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bac7000a63_0_20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bac7000a63_0_20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bac7000a63_0_20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bac7000a63_0_20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bac7000a63_0_20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bac7000a63_0_20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bac7000a63_0_20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11440cdf3da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11440cdf3da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11440cdf3da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11440cdf3da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11440cdf3da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11440cdf3da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bac7000a63_0_20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bac7000a63_0_20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5118a9ec4f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5118a9ec4f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4fb5b5e0dd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4fb5b5e0dd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4fb5b5e0dd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4fb5b5e0dd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4fb5b5e0dd_0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34fb5b5e0dd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4fb5b5e0dd_0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34fb5b5e0dd_0_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4fb5b5e0dd_0_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34fb5b5e0dd_0_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4fb5b5e0dd_0_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4" name="Google Shape;634;g34fb5b5e0dd_0_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4fb5b5e0dd_0_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34fb5b5e0dd_0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4fb5b5e0dd_0_6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34fb5b5e0dd_0_6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34fb5b5e0dd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7" name="Google Shape;807;g34fb5b5e0dd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g3500482c146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3" name="Google Shape;863;g3500482c14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g3500482c146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2" name="Google Shape;892;g3500482c146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g3500482c146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4" name="Google Shape;924;g3500482c146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g3500482c146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7" name="Google Shape;957;g3500482c146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g3500482c146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2" name="Google Shape;992;g3500482c146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500482c146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5" name="Google Shape;1025;g3500482c146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3500482c146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0" name="Google Shape;1060;g3500482c146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3500482c146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1" name="Google Shape;1091;g3500482c146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g35118a9ec4f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4" name="Google Shape;1124;g35118a9ec4f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bac7000a63_0_2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0" name="Google Shape;1130;gbac7000a63_0_2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gbac7000a63_0_2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5" name="Google Shape;1185;gbac7000a63_0_25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gbac7000a63_0_2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1" name="Google Shape;1241;gbac7000a63_0_2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6" name="Shape 1296"/>
        <p:cNvGrpSpPr/>
        <p:nvPr/>
      </p:nvGrpSpPr>
      <p:grpSpPr>
        <a:xfrm>
          <a:off x="0" y="0"/>
          <a:ext cx="0" cy="0"/>
          <a:chOff x="0" y="0"/>
          <a:chExt cx="0" cy="0"/>
        </a:xfrm>
      </p:grpSpPr>
      <p:sp>
        <p:nvSpPr>
          <p:cNvPr id="1297" name="Google Shape;1297;gbac7000a63_0_26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8" name="Google Shape;1298;gbac7000a63_0_26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3" name="Shape 1353"/>
        <p:cNvGrpSpPr/>
        <p:nvPr/>
      </p:nvGrpSpPr>
      <p:grpSpPr>
        <a:xfrm>
          <a:off x="0" y="0"/>
          <a:ext cx="0" cy="0"/>
          <a:chOff x="0" y="0"/>
          <a:chExt cx="0" cy="0"/>
        </a:xfrm>
      </p:grpSpPr>
      <p:sp>
        <p:nvSpPr>
          <p:cNvPr id="1354" name="Google Shape;1354;g11440cdf3da_1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5" name="Google Shape;1355;g11440cdf3da_1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0" name="Shape 1410"/>
        <p:cNvGrpSpPr/>
        <p:nvPr/>
      </p:nvGrpSpPr>
      <p:grpSpPr>
        <a:xfrm>
          <a:off x="0" y="0"/>
          <a:ext cx="0" cy="0"/>
          <a:chOff x="0" y="0"/>
          <a:chExt cx="0" cy="0"/>
        </a:xfrm>
      </p:grpSpPr>
      <p:sp>
        <p:nvSpPr>
          <p:cNvPr id="1411" name="Google Shape;1411;g11440cdf3da_1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2" name="Google Shape;1412;g11440cdf3da_1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7" name="Shape 1467"/>
        <p:cNvGrpSpPr/>
        <p:nvPr/>
      </p:nvGrpSpPr>
      <p:grpSpPr>
        <a:xfrm>
          <a:off x="0" y="0"/>
          <a:ext cx="0" cy="0"/>
          <a:chOff x="0" y="0"/>
          <a:chExt cx="0" cy="0"/>
        </a:xfrm>
      </p:grpSpPr>
      <p:sp>
        <p:nvSpPr>
          <p:cNvPr id="1468" name="Google Shape;1468;g11440cdf3da_1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9" name="Google Shape;1469;g11440cdf3da_1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4" name="Shape 1524"/>
        <p:cNvGrpSpPr/>
        <p:nvPr/>
      </p:nvGrpSpPr>
      <p:grpSpPr>
        <a:xfrm>
          <a:off x="0" y="0"/>
          <a:ext cx="0" cy="0"/>
          <a:chOff x="0" y="0"/>
          <a:chExt cx="0" cy="0"/>
        </a:xfrm>
      </p:grpSpPr>
      <p:sp>
        <p:nvSpPr>
          <p:cNvPr id="1525" name="Google Shape;1525;gbac7000a63_0_28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6" name="Google Shape;1526;gbac7000a63_0_28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1" name="Shape 1581"/>
        <p:cNvGrpSpPr/>
        <p:nvPr/>
      </p:nvGrpSpPr>
      <p:grpSpPr>
        <a:xfrm>
          <a:off x="0" y="0"/>
          <a:ext cx="0" cy="0"/>
          <a:chOff x="0" y="0"/>
          <a:chExt cx="0" cy="0"/>
        </a:xfrm>
      </p:grpSpPr>
      <p:sp>
        <p:nvSpPr>
          <p:cNvPr id="1582" name="Google Shape;1582;g11440cdf4ea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3" name="Google Shape;1583;g11440cdf4ea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8" name="Shape 1638"/>
        <p:cNvGrpSpPr/>
        <p:nvPr/>
      </p:nvGrpSpPr>
      <p:grpSpPr>
        <a:xfrm>
          <a:off x="0" y="0"/>
          <a:ext cx="0" cy="0"/>
          <a:chOff x="0" y="0"/>
          <a:chExt cx="0" cy="0"/>
        </a:xfrm>
      </p:grpSpPr>
      <p:sp>
        <p:nvSpPr>
          <p:cNvPr id="1639" name="Google Shape;1639;g2696a10616b_2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0" name="Google Shape;1640;g2696a10616b_2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4" name="Shape 1644"/>
        <p:cNvGrpSpPr/>
        <p:nvPr/>
      </p:nvGrpSpPr>
      <p:grpSpPr>
        <a:xfrm>
          <a:off x="0" y="0"/>
          <a:ext cx="0" cy="0"/>
          <a:chOff x="0" y="0"/>
          <a:chExt cx="0" cy="0"/>
        </a:xfrm>
      </p:grpSpPr>
      <p:sp>
        <p:nvSpPr>
          <p:cNvPr id="1645" name="Google Shape;1645;g35118a9ec4f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6" name="Google Shape;1646;g35118a9ec4f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1" name="Shape 1651"/>
        <p:cNvGrpSpPr/>
        <p:nvPr/>
      </p:nvGrpSpPr>
      <p:grpSpPr>
        <a:xfrm>
          <a:off x="0" y="0"/>
          <a:ext cx="0" cy="0"/>
          <a:chOff x="0" y="0"/>
          <a:chExt cx="0" cy="0"/>
        </a:xfrm>
      </p:grpSpPr>
      <p:sp>
        <p:nvSpPr>
          <p:cNvPr id="1652" name="Google Shape;1652;g2696a10616b_2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3" name="Google Shape;1653;g2696a10616b_2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0" name="Shape 1660"/>
        <p:cNvGrpSpPr/>
        <p:nvPr/>
      </p:nvGrpSpPr>
      <p:grpSpPr>
        <a:xfrm>
          <a:off x="0" y="0"/>
          <a:ext cx="0" cy="0"/>
          <a:chOff x="0" y="0"/>
          <a:chExt cx="0" cy="0"/>
        </a:xfrm>
      </p:grpSpPr>
      <p:sp>
        <p:nvSpPr>
          <p:cNvPr id="1661" name="Google Shape;1661;g35118a9ec4f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2" name="Google Shape;1662;g35118a9ec4f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0" name="Shape 1670"/>
        <p:cNvGrpSpPr/>
        <p:nvPr/>
      </p:nvGrpSpPr>
      <p:grpSpPr>
        <a:xfrm>
          <a:off x="0" y="0"/>
          <a:ext cx="0" cy="0"/>
          <a:chOff x="0" y="0"/>
          <a:chExt cx="0" cy="0"/>
        </a:xfrm>
      </p:grpSpPr>
      <p:sp>
        <p:nvSpPr>
          <p:cNvPr id="1671" name="Google Shape;1671;g35118a9ec4f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2" name="Google Shape;1672;g35118a9ec4f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2" name="Shape 1682"/>
        <p:cNvGrpSpPr/>
        <p:nvPr/>
      </p:nvGrpSpPr>
      <p:grpSpPr>
        <a:xfrm>
          <a:off x="0" y="0"/>
          <a:ext cx="0" cy="0"/>
          <a:chOff x="0" y="0"/>
          <a:chExt cx="0" cy="0"/>
        </a:xfrm>
      </p:grpSpPr>
      <p:sp>
        <p:nvSpPr>
          <p:cNvPr id="1683" name="Google Shape;1683;g35118a9ec4f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4" name="Google Shape;1684;g35118a9ec4f_0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2" name="Shape 1692"/>
        <p:cNvGrpSpPr/>
        <p:nvPr/>
      </p:nvGrpSpPr>
      <p:grpSpPr>
        <a:xfrm>
          <a:off x="0" y="0"/>
          <a:ext cx="0" cy="0"/>
          <a:chOff x="0" y="0"/>
          <a:chExt cx="0" cy="0"/>
        </a:xfrm>
      </p:grpSpPr>
      <p:sp>
        <p:nvSpPr>
          <p:cNvPr id="1693" name="Google Shape;1693;g11440cdf4e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4" name="Google Shape;1694;g11440cdf4e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8" name="Shape 1748"/>
        <p:cNvGrpSpPr/>
        <p:nvPr/>
      </p:nvGrpSpPr>
      <p:grpSpPr>
        <a:xfrm>
          <a:off x="0" y="0"/>
          <a:ext cx="0" cy="0"/>
          <a:chOff x="0" y="0"/>
          <a:chExt cx="0" cy="0"/>
        </a:xfrm>
      </p:grpSpPr>
      <p:sp>
        <p:nvSpPr>
          <p:cNvPr id="1749" name="Google Shape;1749;g34daebf62fc_1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0" name="Google Shape;1750;g34daebf62fc_1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4" name="Shape 1804"/>
        <p:cNvGrpSpPr/>
        <p:nvPr/>
      </p:nvGrpSpPr>
      <p:grpSpPr>
        <a:xfrm>
          <a:off x="0" y="0"/>
          <a:ext cx="0" cy="0"/>
          <a:chOff x="0" y="0"/>
          <a:chExt cx="0" cy="0"/>
        </a:xfrm>
      </p:grpSpPr>
      <p:sp>
        <p:nvSpPr>
          <p:cNvPr id="1805" name="Google Shape;1805;g1145313d7f8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6" name="Google Shape;1806;g1145313d7f8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0" name="Shape 1860"/>
        <p:cNvGrpSpPr/>
        <p:nvPr/>
      </p:nvGrpSpPr>
      <p:grpSpPr>
        <a:xfrm>
          <a:off x="0" y="0"/>
          <a:ext cx="0" cy="0"/>
          <a:chOff x="0" y="0"/>
          <a:chExt cx="0" cy="0"/>
        </a:xfrm>
      </p:grpSpPr>
      <p:sp>
        <p:nvSpPr>
          <p:cNvPr id="1861" name="Google Shape;1861;g34daebf62fc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2" name="Google Shape;1862;g34daebf62fc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6" name="Shape 1916"/>
        <p:cNvGrpSpPr/>
        <p:nvPr/>
      </p:nvGrpSpPr>
      <p:grpSpPr>
        <a:xfrm>
          <a:off x="0" y="0"/>
          <a:ext cx="0" cy="0"/>
          <a:chOff x="0" y="0"/>
          <a:chExt cx="0" cy="0"/>
        </a:xfrm>
      </p:grpSpPr>
      <p:sp>
        <p:nvSpPr>
          <p:cNvPr id="1917" name="Google Shape;1917;g34daebf62f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8" name="Google Shape;1918;g34daebf62f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3" name="Shape 1973"/>
        <p:cNvGrpSpPr/>
        <p:nvPr/>
      </p:nvGrpSpPr>
      <p:grpSpPr>
        <a:xfrm>
          <a:off x="0" y="0"/>
          <a:ext cx="0" cy="0"/>
          <a:chOff x="0" y="0"/>
          <a:chExt cx="0" cy="0"/>
        </a:xfrm>
      </p:grpSpPr>
      <p:sp>
        <p:nvSpPr>
          <p:cNvPr id="1974" name="Google Shape;1974;g34daebf62fc_1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5" name="Google Shape;1975;g34daebf62fc_1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0" name="Shape 2030"/>
        <p:cNvGrpSpPr/>
        <p:nvPr/>
      </p:nvGrpSpPr>
      <p:grpSpPr>
        <a:xfrm>
          <a:off x="0" y="0"/>
          <a:ext cx="0" cy="0"/>
          <a:chOff x="0" y="0"/>
          <a:chExt cx="0" cy="0"/>
        </a:xfrm>
      </p:grpSpPr>
      <p:sp>
        <p:nvSpPr>
          <p:cNvPr id="2031" name="Google Shape;2031;g35118a9ec4f_0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2" name="Google Shape;2032;g35118a9ec4f_0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6" name="Shape 2086"/>
        <p:cNvGrpSpPr/>
        <p:nvPr/>
      </p:nvGrpSpPr>
      <p:grpSpPr>
        <a:xfrm>
          <a:off x="0" y="0"/>
          <a:ext cx="0" cy="0"/>
          <a:chOff x="0" y="0"/>
          <a:chExt cx="0" cy="0"/>
        </a:xfrm>
      </p:grpSpPr>
      <p:sp>
        <p:nvSpPr>
          <p:cNvPr id="2087" name="Google Shape;2087;g35118a9ec4f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8" name="Google Shape;2088;g35118a9ec4f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3" name="Shape 2143"/>
        <p:cNvGrpSpPr/>
        <p:nvPr/>
      </p:nvGrpSpPr>
      <p:grpSpPr>
        <a:xfrm>
          <a:off x="0" y="0"/>
          <a:ext cx="0" cy="0"/>
          <a:chOff x="0" y="0"/>
          <a:chExt cx="0" cy="0"/>
        </a:xfrm>
      </p:grpSpPr>
      <p:sp>
        <p:nvSpPr>
          <p:cNvPr id="2144" name="Google Shape;2144;g35118a9ec4f_0_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5" name="Google Shape;2145;g35118a9ec4f_0_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2" name="Shape 2172"/>
        <p:cNvGrpSpPr/>
        <p:nvPr/>
      </p:nvGrpSpPr>
      <p:grpSpPr>
        <a:xfrm>
          <a:off x="0" y="0"/>
          <a:ext cx="0" cy="0"/>
          <a:chOff x="0" y="0"/>
          <a:chExt cx="0" cy="0"/>
        </a:xfrm>
      </p:grpSpPr>
      <p:sp>
        <p:nvSpPr>
          <p:cNvPr id="2173" name="Google Shape;2173;g35118a9ec4f_0_6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4" name="Google Shape;2174;g35118a9ec4f_0_6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2" name="Shape 2202"/>
        <p:cNvGrpSpPr/>
        <p:nvPr/>
      </p:nvGrpSpPr>
      <p:grpSpPr>
        <a:xfrm>
          <a:off x="0" y="0"/>
          <a:ext cx="0" cy="0"/>
          <a:chOff x="0" y="0"/>
          <a:chExt cx="0" cy="0"/>
        </a:xfrm>
      </p:grpSpPr>
      <p:sp>
        <p:nvSpPr>
          <p:cNvPr id="2203" name="Google Shape;2203;g35118a9ec4f_0_6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4" name="Google Shape;2204;g35118a9ec4f_0_6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3" name="Shape 2233"/>
        <p:cNvGrpSpPr/>
        <p:nvPr/>
      </p:nvGrpSpPr>
      <p:grpSpPr>
        <a:xfrm>
          <a:off x="0" y="0"/>
          <a:ext cx="0" cy="0"/>
          <a:chOff x="0" y="0"/>
          <a:chExt cx="0" cy="0"/>
        </a:xfrm>
      </p:grpSpPr>
      <p:sp>
        <p:nvSpPr>
          <p:cNvPr id="2234" name="Google Shape;2234;g3500482c146_0_8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5" name="Google Shape;2235;g3500482c146_0_8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5" name="Shape 2265"/>
        <p:cNvGrpSpPr/>
        <p:nvPr/>
      </p:nvGrpSpPr>
      <p:grpSpPr>
        <a:xfrm>
          <a:off x="0" y="0"/>
          <a:ext cx="0" cy="0"/>
          <a:chOff x="0" y="0"/>
          <a:chExt cx="0" cy="0"/>
        </a:xfrm>
      </p:grpSpPr>
      <p:sp>
        <p:nvSpPr>
          <p:cNvPr id="2266" name="Google Shape;2266;g35118a9ec4f_0_6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7" name="Google Shape;2267;g35118a9ec4f_0_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8" name="Shape 2298"/>
        <p:cNvGrpSpPr/>
        <p:nvPr/>
      </p:nvGrpSpPr>
      <p:grpSpPr>
        <a:xfrm>
          <a:off x="0" y="0"/>
          <a:ext cx="0" cy="0"/>
          <a:chOff x="0" y="0"/>
          <a:chExt cx="0" cy="0"/>
        </a:xfrm>
      </p:grpSpPr>
      <p:sp>
        <p:nvSpPr>
          <p:cNvPr id="2299" name="Google Shape;2299;g35118a9ec4f_0_6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0" name="Google Shape;2300;g35118a9ec4f_0_6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1" name="Shape 2331"/>
        <p:cNvGrpSpPr/>
        <p:nvPr/>
      </p:nvGrpSpPr>
      <p:grpSpPr>
        <a:xfrm>
          <a:off x="0" y="0"/>
          <a:ext cx="0" cy="0"/>
          <a:chOff x="0" y="0"/>
          <a:chExt cx="0" cy="0"/>
        </a:xfrm>
      </p:grpSpPr>
      <p:sp>
        <p:nvSpPr>
          <p:cNvPr id="2332" name="Google Shape;2332;g35118a9ec4f_0_7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3" name="Google Shape;2333;g35118a9ec4f_0_7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3" name="Shape 2363"/>
        <p:cNvGrpSpPr/>
        <p:nvPr/>
      </p:nvGrpSpPr>
      <p:grpSpPr>
        <a:xfrm>
          <a:off x="0" y="0"/>
          <a:ext cx="0" cy="0"/>
          <a:chOff x="0" y="0"/>
          <a:chExt cx="0" cy="0"/>
        </a:xfrm>
      </p:grpSpPr>
      <p:sp>
        <p:nvSpPr>
          <p:cNvPr id="2364" name="Google Shape;2364;g35118a9ec4f_0_7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5" name="Google Shape;2365;g35118a9ec4f_0_7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5" name="Shape 2395"/>
        <p:cNvGrpSpPr/>
        <p:nvPr/>
      </p:nvGrpSpPr>
      <p:grpSpPr>
        <a:xfrm>
          <a:off x="0" y="0"/>
          <a:ext cx="0" cy="0"/>
          <a:chOff x="0" y="0"/>
          <a:chExt cx="0" cy="0"/>
        </a:xfrm>
      </p:grpSpPr>
      <p:sp>
        <p:nvSpPr>
          <p:cNvPr id="2396" name="Google Shape;2396;g35118a9ec4f_0_7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7" name="Google Shape;2397;g35118a9ec4f_0_7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7" name="Shape 2427"/>
        <p:cNvGrpSpPr/>
        <p:nvPr/>
      </p:nvGrpSpPr>
      <p:grpSpPr>
        <a:xfrm>
          <a:off x="0" y="0"/>
          <a:ext cx="0" cy="0"/>
          <a:chOff x="0" y="0"/>
          <a:chExt cx="0" cy="0"/>
        </a:xfrm>
      </p:grpSpPr>
      <p:sp>
        <p:nvSpPr>
          <p:cNvPr id="2428" name="Google Shape;2428;g35118a9ec4f_0_8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9" name="Google Shape;2429;g35118a9ec4f_0_8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9" name="Shape 2459"/>
        <p:cNvGrpSpPr/>
        <p:nvPr/>
      </p:nvGrpSpPr>
      <p:grpSpPr>
        <a:xfrm>
          <a:off x="0" y="0"/>
          <a:ext cx="0" cy="0"/>
          <a:chOff x="0" y="0"/>
          <a:chExt cx="0" cy="0"/>
        </a:xfrm>
      </p:grpSpPr>
      <p:sp>
        <p:nvSpPr>
          <p:cNvPr id="2460" name="Google Shape;2460;g3500482c146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1" name="Google Shape;2461;g3500482c146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9" name="Shape 2489"/>
        <p:cNvGrpSpPr/>
        <p:nvPr/>
      </p:nvGrpSpPr>
      <p:grpSpPr>
        <a:xfrm>
          <a:off x="0" y="0"/>
          <a:ext cx="0" cy="0"/>
          <a:chOff x="0" y="0"/>
          <a:chExt cx="0" cy="0"/>
        </a:xfrm>
      </p:grpSpPr>
      <p:sp>
        <p:nvSpPr>
          <p:cNvPr id="2490" name="Google Shape;2490;g3500482c146_0_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1" name="Google Shape;2491;g3500482c146_0_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0" name="Shape 2520"/>
        <p:cNvGrpSpPr/>
        <p:nvPr/>
      </p:nvGrpSpPr>
      <p:grpSpPr>
        <a:xfrm>
          <a:off x="0" y="0"/>
          <a:ext cx="0" cy="0"/>
          <a:chOff x="0" y="0"/>
          <a:chExt cx="0" cy="0"/>
        </a:xfrm>
      </p:grpSpPr>
      <p:sp>
        <p:nvSpPr>
          <p:cNvPr id="2521" name="Google Shape;2521;g3500482c146_0_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2" name="Google Shape;2522;g3500482c146_0_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5" name="Shape 2555"/>
        <p:cNvGrpSpPr/>
        <p:nvPr/>
      </p:nvGrpSpPr>
      <p:grpSpPr>
        <a:xfrm>
          <a:off x="0" y="0"/>
          <a:ext cx="0" cy="0"/>
          <a:chOff x="0" y="0"/>
          <a:chExt cx="0" cy="0"/>
        </a:xfrm>
      </p:grpSpPr>
      <p:sp>
        <p:nvSpPr>
          <p:cNvPr id="2556" name="Google Shape;2556;g3500482c146_0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7" name="Google Shape;2557;g3500482c146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8" name="Shape 2588"/>
        <p:cNvGrpSpPr/>
        <p:nvPr/>
      </p:nvGrpSpPr>
      <p:grpSpPr>
        <a:xfrm>
          <a:off x="0" y="0"/>
          <a:ext cx="0" cy="0"/>
          <a:chOff x="0" y="0"/>
          <a:chExt cx="0" cy="0"/>
        </a:xfrm>
      </p:grpSpPr>
      <p:sp>
        <p:nvSpPr>
          <p:cNvPr id="2589" name="Google Shape;2589;g3500482c146_0_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0" name="Google Shape;2590;g3500482c146_0_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9" name="Shape 2619"/>
        <p:cNvGrpSpPr/>
        <p:nvPr/>
      </p:nvGrpSpPr>
      <p:grpSpPr>
        <a:xfrm>
          <a:off x="0" y="0"/>
          <a:ext cx="0" cy="0"/>
          <a:chOff x="0" y="0"/>
          <a:chExt cx="0" cy="0"/>
        </a:xfrm>
      </p:grpSpPr>
      <p:sp>
        <p:nvSpPr>
          <p:cNvPr id="2620" name="Google Shape;2620;g3500482c146_0_4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1" name="Google Shape;2621;g3500482c146_0_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3" name="Shape 2653"/>
        <p:cNvGrpSpPr/>
        <p:nvPr/>
      </p:nvGrpSpPr>
      <p:grpSpPr>
        <a:xfrm>
          <a:off x="0" y="0"/>
          <a:ext cx="0" cy="0"/>
          <a:chOff x="0" y="0"/>
          <a:chExt cx="0" cy="0"/>
        </a:xfrm>
      </p:grpSpPr>
      <p:sp>
        <p:nvSpPr>
          <p:cNvPr id="2654" name="Google Shape;2654;g3500482c146_0_4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5" name="Google Shape;2655;g3500482c146_0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3" name="Shape 2683"/>
        <p:cNvGrpSpPr/>
        <p:nvPr/>
      </p:nvGrpSpPr>
      <p:grpSpPr>
        <a:xfrm>
          <a:off x="0" y="0"/>
          <a:ext cx="0" cy="0"/>
          <a:chOff x="0" y="0"/>
          <a:chExt cx="0" cy="0"/>
        </a:xfrm>
      </p:grpSpPr>
      <p:sp>
        <p:nvSpPr>
          <p:cNvPr id="2684" name="Google Shape;2684;g3500482c146_0_6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5" name="Google Shape;2685;g3500482c146_0_6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3" name="Shape 2713"/>
        <p:cNvGrpSpPr/>
        <p:nvPr/>
      </p:nvGrpSpPr>
      <p:grpSpPr>
        <a:xfrm>
          <a:off x="0" y="0"/>
          <a:ext cx="0" cy="0"/>
          <a:chOff x="0" y="0"/>
          <a:chExt cx="0" cy="0"/>
        </a:xfrm>
      </p:grpSpPr>
      <p:sp>
        <p:nvSpPr>
          <p:cNvPr id="2714" name="Google Shape;2714;g3500482c146_0_6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5" name="Google Shape;2715;g3500482c146_0_6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4" name="Shape 2744"/>
        <p:cNvGrpSpPr/>
        <p:nvPr/>
      </p:nvGrpSpPr>
      <p:grpSpPr>
        <a:xfrm>
          <a:off x="0" y="0"/>
          <a:ext cx="0" cy="0"/>
          <a:chOff x="0" y="0"/>
          <a:chExt cx="0" cy="0"/>
        </a:xfrm>
      </p:grpSpPr>
      <p:sp>
        <p:nvSpPr>
          <p:cNvPr id="2745" name="Google Shape;2745;g3500482c146_0_6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6" name="Google Shape;2746;g3500482c146_0_6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5" name="Shape 2775"/>
        <p:cNvGrpSpPr/>
        <p:nvPr/>
      </p:nvGrpSpPr>
      <p:grpSpPr>
        <a:xfrm>
          <a:off x="0" y="0"/>
          <a:ext cx="0" cy="0"/>
          <a:chOff x="0" y="0"/>
          <a:chExt cx="0" cy="0"/>
        </a:xfrm>
      </p:grpSpPr>
      <p:sp>
        <p:nvSpPr>
          <p:cNvPr id="2776" name="Google Shape;2776;g3500482c146_0_7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7" name="Google Shape;2777;g3500482c146_0_7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8" name="Shape 2808"/>
        <p:cNvGrpSpPr/>
        <p:nvPr/>
      </p:nvGrpSpPr>
      <p:grpSpPr>
        <a:xfrm>
          <a:off x="0" y="0"/>
          <a:ext cx="0" cy="0"/>
          <a:chOff x="0" y="0"/>
          <a:chExt cx="0" cy="0"/>
        </a:xfrm>
      </p:grpSpPr>
      <p:sp>
        <p:nvSpPr>
          <p:cNvPr id="2809" name="Google Shape;2809;g3500482c146_0_7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0" name="Google Shape;2810;g3500482c146_0_7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1" name="Shape 2841"/>
        <p:cNvGrpSpPr/>
        <p:nvPr/>
      </p:nvGrpSpPr>
      <p:grpSpPr>
        <a:xfrm>
          <a:off x="0" y="0"/>
          <a:ext cx="0" cy="0"/>
          <a:chOff x="0" y="0"/>
          <a:chExt cx="0" cy="0"/>
        </a:xfrm>
      </p:grpSpPr>
      <p:sp>
        <p:nvSpPr>
          <p:cNvPr id="2842" name="Google Shape;2842;g3500482c146_0_7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3" name="Google Shape;2843;g3500482c146_0_7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3" name="Shape 2873"/>
        <p:cNvGrpSpPr/>
        <p:nvPr/>
      </p:nvGrpSpPr>
      <p:grpSpPr>
        <a:xfrm>
          <a:off x="0" y="0"/>
          <a:ext cx="0" cy="0"/>
          <a:chOff x="0" y="0"/>
          <a:chExt cx="0" cy="0"/>
        </a:xfrm>
      </p:grpSpPr>
      <p:sp>
        <p:nvSpPr>
          <p:cNvPr id="2874" name="Google Shape;2874;g35118a9ec4f_0_8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5" name="Google Shape;2875;g35118a9ec4f_0_8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9" name="Shape 2879"/>
        <p:cNvGrpSpPr/>
        <p:nvPr/>
      </p:nvGrpSpPr>
      <p:grpSpPr>
        <a:xfrm>
          <a:off x="0" y="0"/>
          <a:ext cx="0" cy="0"/>
          <a:chOff x="0" y="0"/>
          <a:chExt cx="0" cy="0"/>
        </a:xfrm>
      </p:grpSpPr>
      <p:sp>
        <p:nvSpPr>
          <p:cNvPr id="2880" name="Google Shape;2880;gbac7000a63_0_29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1" name="Google Shape;2881;gbac7000a63_0_29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5" name="Shape 2935"/>
        <p:cNvGrpSpPr/>
        <p:nvPr/>
      </p:nvGrpSpPr>
      <p:grpSpPr>
        <a:xfrm>
          <a:off x="0" y="0"/>
          <a:ext cx="0" cy="0"/>
          <a:chOff x="0" y="0"/>
          <a:chExt cx="0" cy="0"/>
        </a:xfrm>
      </p:grpSpPr>
      <p:sp>
        <p:nvSpPr>
          <p:cNvPr id="2936" name="Google Shape;2936;gbac7000a63_0_29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7" name="Google Shape;2937;gbac7000a63_0_29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2" name="Shape 2992"/>
        <p:cNvGrpSpPr/>
        <p:nvPr/>
      </p:nvGrpSpPr>
      <p:grpSpPr>
        <a:xfrm>
          <a:off x="0" y="0"/>
          <a:ext cx="0" cy="0"/>
          <a:chOff x="0" y="0"/>
          <a:chExt cx="0" cy="0"/>
        </a:xfrm>
      </p:grpSpPr>
      <p:sp>
        <p:nvSpPr>
          <p:cNvPr id="2993" name="Google Shape;2993;gbac7000a63_0_30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4" name="Google Shape;2994;gbac7000a63_0_30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8" name="Shape 3048"/>
        <p:cNvGrpSpPr/>
        <p:nvPr/>
      </p:nvGrpSpPr>
      <p:grpSpPr>
        <a:xfrm>
          <a:off x="0" y="0"/>
          <a:ext cx="0" cy="0"/>
          <a:chOff x="0" y="0"/>
          <a:chExt cx="0" cy="0"/>
        </a:xfrm>
      </p:grpSpPr>
      <p:sp>
        <p:nvSpPr>
          <p:cNvPr id="3049" name="Google Shape;3049;gbac7000a63_0_30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0" name="Google Shape;3050;gbac7000a63_0_30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4" name="Shape 3104"/>
        <p:cNvGrpSpPr/>
        <p:nvPr/>
      </p:nvGrpSpPr>
      <p:grpSpPr>
        <a:xfrm>
          <a:off x="0" y="0"/>
          <a:ext cx="0" cy="0"/>
          <a:chOff x="0" y="0"/>
          <a:chExt cx="0" cy="0"/>
        </a:xfrm>
      </p:grpSpPr>
      <p:sp>
        <p:nvSpPr>
          <p:cNvPr id="3105" name="Google Shape;3105;gbac7000a63_0_3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6" name="Google Shape;3106;gbac7000a63_0_3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0" name="Shape 3160"/>
        <p:cNvGrpSpPr/>
        <p:nvPr/>
      </p:nvGrpSpPr>
      <p:grpSpPr>
        <a:xfrm>
          <a:off x="0" y="0"/>
          <a:ext cx="0" cy="0"/>
          <a:chOff x="0" y="0"/>
          <a:chExt cx="0" cy="0"/>
        </a:xfrm>
      </p:grpSpPr>
      <p:sp>
        <p:nvSpPr>
          <p:cNvPr id="3161" name="Google Shape;3161;gbac7000a63_0_3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2" name="Google Shape;3162;gbac7000a63_0_3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6" name="Shape 3216"/>
        <p:cNvGrpSpPr/>
        <p:nvPr/>
      </p:nvGrpSpPr>
      <p:grpSpPr>
        <a:xfrm>
          <a:off x="0" y="0"/>
          <a:ext cx="0" cy="0"/>
          <a:chOff x="0" y="0"/>
          <a:chExt cx="0" cy="0"/>
        </a:xfrm>
      </p:grpSpPr>
      <p:sp>
        <p:nvSpPr>
          <p:cNvPr id="3217" name="Google Shape;3217;gbac7000a63_0_3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8" name="Google Shape;3218;gbac7000a63_0_3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2" name="Shape 3272"/>
        <p:cNvGrpSpPr/>
        <p:nvPr/>
      </p:nvGrpSpPr>
      <p:grpSpPr>
        <a:xfrm>
          <a:off x="0" y="0"/>
          <a:ext cx="0" cy="0"/>
          <a:chOff x="0" y="0"/>
          <a:chExt cx="0" cy="0"/>
        </a:xfrm>
      </p:grpSpPr>
      <p:sp>
        <p:nvSpPr>
          <p:cNvPr id="3273" name="Google Shape;3273;gbac7000a63_0_3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4" name="Google Shape;3274;gbac7000a63_0_3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8" name="Shape 3328"/>
        <p:cNvGrpSpPr/>
        <p:nvPr/>
      </p:nvGrpSpPr>
      <p:grpSpPr>
        <a:xfrm>
          <a:off x="0" y="0"/>
          <a:ext cx="0" cy="0"/>
          <a:chOff x="0" y="0"/>
          <a:chExt cx="0" cy="0"/>
        </a:xfrm>
      </p:grpSpPr>
      <p:sp>
        <p:nvSpPr>
          <p:cNvPr id="3329" name="Google Shape;3329;gbac7000a63_0_3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0" name="Google Shape;3330;gbac7000a63_0_3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5" name="Shape 3385"/>
        <p:cNvGrpSpPr/>
        <p:nvPr/>
      </p:nvGrpSpPr>
      <p:grpSpPr>
        <a:xfrm>
          <a:off x="0" y="0"/>
          <a:ext cx="0" cy="0"/>
          <a:chOff x="0" y="0"/>
          <a:chExt cx="0" cy="0"/>
        </a:xfrm>
      </p:grpSpPr>
      <p:sp>
        <p:nvSpPr>
          <p:cNvPr id="3386" name="Google Shape;3386;g1145313d7f8_2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7" name="Google Shape;3387;g1145313d7f8_2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2" name="Shape 3442"/>
        <p:cNvGrpSpPr/>
        <p:nvPr/>
      </p:nvGrpSpPr>
      <p:grpSpPr>
        <a:xfrm>
          <a:off x="0" y="0"/>
          <a:ext cx="0" cy="0"/>
          <a:chOff x="0" y="0"/>
          <a:chExt cx="0" cy="0"/>
        </a:xfrm>
      </p:grpSpPr>
      <p:sp>
        <p:nvSpPr>
          <p:cNvPr id="3443" name="Google Shape;3443;g350937edee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4" name="Google Shape;3444;g350937edee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8" name="Shape 3498"/>
        <p:cNvGrpSpPr/>
        <p:nvPr/>
      </p:nvGrpSpPr>
      <p:grpSpPr>
        <a:xfrm>
          <a:off x="0" y="0"/>
          <a:ext cx="0" cy="0"/>
          <a:chOff x="0" y="0"/>
          <a:chExt cx="0" cy="0"/>
        </a:xfrm>
      </p:grpSpPr>
      <p:sp>
        <p:nvSpPr>
          <p:cNvPr id="3499" name="Google Shape;3499;g350937edee3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0" name="Google Shape;3500;g350937edee3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5" name="Shape 3555"/>
        <p:cNvGrpSpPr/>
        <p:nvPr/>
      </p:nvGrpSpPr>
      <p:grpSpPr>
        <a:xfrm>
          <a:off x="0" y="0"/>
          <a:ext cx="0" cy="0"/>
          <a:chOff x="0" y="0"/>
          <a:chExt cx="0" cy="0"/>
        </a:xfrm>
      </p:grpSpPr>
      <p:sp>
        <p:nvSpPr>
          <p:cNvPr id="3556" name="Google Shape;3556;g350937edee3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7" name="Google Shape;3557;g350937edee3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2" name="Shape 3612"/>
        <p:cNvGrpSpPr/>
        <p:nvPr/>
      </p:nvGrpSpPr>
      <p:grpSpPr>
        <a:xfrm>
          <a:off x="0" y="0"/>
          <a:ext cx="0" cy="0"/>
          <a:chOff x="0" y="0"/>
          <a:chExt cx="0" cy="0"/>
        </a:xfrm>
      </p:grpSpPr>
      <p:sp>
        <p:nvSpPr>
          <p:cNvPr id="3613" name="Google Shape;3613;g350937edee3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4" name="Google Shape;3614;g350937edee3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1" name="Shape 3671"/>
        <p:cNvGrpSpPr/>
        <p:nvPr/>
      </p:nvGrpSpPr>
      <p:grpSpPr>
        <a:xfrm>
          <a:off x="0" y="0"/>
          <a:ext cx="0" cy="0"/>
          <a:chOff x="0" y="0"/>
          <a:chExt cx="0" cy="0"/>
        </a:xfrm>
      </p:grpSpPr>
      <p:sp>
        <p:nvSpPr>
          <p:cNvPr id="3672" name="Google Shape;3672;g350937edee3_0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3" name="Google Shape;3673;g350937edee3_0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0" name="Shape 3730"/>
        <p:cNvGrpSpPr/>
        <p:nvPr/>
      </p:nvGrpSpPr>
      <p:grpSpPr>
        <a:xfrm>
          <a:off x="0" y="0"/>
          <a:ext cx="0" cy="0"/>
          <a:chOff x="0" y="0"/>
          <a:chExt cx="0" cy="0"/>
        </a:xfrm>
      </p:grpSpPr>
      <p:sp>
        <p:nvSpPr>
          <p:cNvPr id="3731" name="Google Shape;3731;g350937edee3_0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2" name="Google Shape;3732;g350937edee3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9" name="Shape 3789"/>
        <p:cNvGrpSpPr/>
        <p:nvPr/>
      </p:nvGrpSpPr>
      <p:grpSpPr>
        <a:xfrm>
          <a:off x="0" y="0"/>
          <a:ext cx="0" cy="0"/>
          <a:chOff x="0" y="0"/>
          <a:chExt cx="0" cy="0"/>
        </a:xfrm>
      </p:grpSpPr>
      <p:sp>
        <p:nvSpPr>
          <p:cNvPr id="3790" name="Google Shape;3790;g350937edee3_0_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1" name="Google Shape;3791;g350937edee3_0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8" name="Shape 3848"/>
        <p:cNvGrpSpPr/>
        <p:nvPr/>
      </p:nvGrpSpPr>
      <p:grpSpPr>
        <a:xfrm>
          <a:off x="0" y="0"/>
          <a:ext cx="0" cy="0"/>
          <a:chOff x="0" y="0"/>
          <a:chExt cx="0" cy="0"/>
        </a:xfrm>
      </p:grpSpPr>
      <p:sp>
        <p:nvSpPr>
          <p:cNvPr id="3849" name="Google Shape;3849;g350937edee3_0_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0" name="Google Shape;3850;g350937edee3_0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7" name="Shape 3907"/>
        <p:cNvGrpSpPr/>
        <p:nvPr/>
      </p:nvGrpSpPr>
      <p:grpSpPr>
        <a:xfrm>
          <a:off x="0" y="0"/>
          <a:ext cx="0" cy="0"/>
          <a:chOff x="0" y="0"/>
          <a:chExt cx="0" cy="0"/>
        </a:xfrm>
      </p:grpSpPr>
      <p:sp>
        <p:nvSpPr>
          <p:cNvPr id="3908" name="Google Shape;3908;g350937edee3_0_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9" name="Google Shape;3909;g350937edee3_0_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7" name="Shape 3967"/>
        <p:cNvGrpSpPr/>
        <p:nvPr/>
      </p:nvGrpSpPr>
      <p:grpSpPr>
        <a:xfrm>
          <a:off x="0" y="0"/>
          <a:ext cx="0" cy="0"/>
          <a:chOff x="0" y="0"/>
          <a:chExt cx="0" cy="0"/>
        </a:xfrm>
      </p:grpSpPr>
      <p:sp>
        <p:nvSpPr>
          <p:cNvPr id="3968" name="Google Shape;3968;g350937edee3_0_6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9" name="Google Shape;3969;g350937edee3_0_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7" name="Shape 4027"/>
        <p:cNvGrpSpPr/>
        <p:nvPr/>
      </p:nvGrpSpPr>
      <p:grpSpPr>
        <a:xfrm>
          <a:off x="0" y="0"/>
          <a:ext cx="0" cy="0"/>
          <a:chOff x="0" y="0"/>
          <a:chExt cx="0" cy="0"/>
        </a:xfrm>
      </p:grpSpPr>
      <p:sp>
        <p:nvSpPr>
          <p:cNvPr id="4028" name="Google Shape;4028;g350937edee3_0_6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9" name="Google Shape;4029;g350937edee3_0_6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7" name="Shape 4087"/>
        <p:cNvGrpSpPr/>
        <p:nvPr/>
      </p:nvGrpSpPr>
      <p:grpSpPr>
        <a:xfrm>
          <a:off x="0" y="0"/>
          <a:ext cx="0" cy="0"/>
          <a:chOff x="0" y="0"/>
          <a:chExt cx="0" cy="0"/>
        </a:xfrm>
      </p:grpSpPr>
      <p:sp>
        <p:nvSpPr>
          <p:cNvPr id="4088" name="Google Shape;4088;g2696a10616b_2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9" name="Google Shape;4089;g2696a10616b_2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4" name="Shape 4094"/>
        <p:cNvGrpSpPr/>
        <p:nvPr/>
      </p:nvGrpSpPr>
      <p:grpSpPr>
        <a:xfrm>
          <a:off x="0" y="0"/>
          <a:ext cx="0" cy="0"/>
          <a:chOff x="0" y="0"/>
          <a:chExt cx="0" cy="0"/>
        </a:xfrm>
      </p:grpSpPr>
      <p:sp>
        <p:nvSpPr>
          <p:cNvPr id="4095" name="Google Shape;4095;g350937edee3_0_7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6" name="Google Shape;4096;g350937edee3_0_7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0" name="Shape 4100"/>
        <p:cNvGrpSpPr/>
        <p:nvPr/>
      </p:nvGrpSpPr>
      <p:grpSpPr>
        <a:xfrm>
          <a:off x="0" y="0"/>
          <a:ext cx="0" cy="0"/>
          <a:chOff x="0" y="0"/>
          <a:chExt cx="0" cy="0"/>
        </a:xfrm>
      </p:grpSpPr>
      <p:sp>
        <p:nvSpPr>
          <p:cNvPr id="4101" name="Google Shape;4101;g350937edee3_0_7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2" name="Google Shape;4102;g350937edee3_0_7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6" name="Shape 4106"/>
        <p:cNvGrpSpPr/>
        <p:nvPr/>
      </p:nvGrpSpPr>
      <p:grpSpPr>
        <a:xfrm>
          <a:off x="0" y="0"/>
          <a:ext cx="0" cy="0"/>
          <a:chOff x="0" y="0"/>
          <a:chExt cx="0" cy="0"/>
        </a:xfrm>
      </p:grpSpPr>
      <p:sp>
        <p:nvSpPr>
          <p:cNvPr id="4107" name="Google Shape;4107;g350937edee3_0_7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8" name="Google Shape;4108;g350937edee3_0_7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2" name="Shape 4112"/>
        <p:cNvGrpSpPr/>
        <p:nvPr/>
      </p:nvGrpSpPr>
      <p:grpSpPr>
        <a:xfrm>
          <a:off x="0" y="0"/>
          <a:ext cx="0" cy="0"/>
          <a:chOff x="0" y="0"/>
          <a:chExt cx="0" cy="0"/>
        </a:xfrm>
      </p:grpSpPr>
      <p:sp>
        <p:nvSpPr>
          <p:cNvPr id="4113" name="Google Shape;4113;g350937edee3_0_7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4" name="Google Shape;4114;g350937edee3_0_7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9" name="Shape 4169"/>
        <p:cNvGrpSpPr/>
        <p:nvPr/>
      </p:nvGrpSpPr>
      <p:grpSpPr>
        <a:xfrm>
          <a:off x="0" y="0"/>
          <a:ext cx="0" cy="0"/>
          <a:chOff x="0" y="0"/>
          <a:chExt cx="0" cy="0"/>
        </a:xfrm>
      </p:grpSpPr>
      <p:sp>
        <p:nvSpPr>
          <p:cNvPr id="4170" name="Google Shape;4170;g350937edee3_0_8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1" name="Google Shape;4171;g350937edee3_0_8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6" name="Shape 4226"/>
        <p:cNvGrpSpPr/>
        <p:nvPr/>
      </p:nvGrpSpPr>
      <p:grpSpPr>
        <a:xfrm>
          <a:off x="0" y="0"/>
          <a:ext cx="0" cy="0"/>
          <a:chOff x="0" y="0"/>
          <a:chExt cx="0" cy="0"/>
        </a:xfrm>
      </p:grpSpPr>
      <p:sp>
        <p:nvSpPr>
          <p:cNvPr id="4227" name="Google Shape;4227;g350937edee3_0_8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8" name="Google Shape;4228;g350937edee3_0_8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3" name="Shape 4283"/>
        <p:cNvGrpSpPr/>
        <p:nvPr/>
      </p:nvGrpSpPr>
      <p:grpSpPr>
        <a:xfrm>
          <a:off x="0" y="0"/>
          <a:ext cx="0" cy="0"/>
          <a:chOff x="0" y="0"/>
          <a:chExt cx="0" cy="0"/>
        </a:xfrm>
      </p:grpSpPr>
      <p:sp>
        <p:nvSpPr>
          <p:cNvPr id="4284" name="Google Shape;4284;g350937edee3_0_9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5" name="Google Shape;4285;g350937edee3_0_9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0" name="Shape 4340"/>
        <p:cNvGrpSpPr/>
        <p:nvPr/>
      </p:nvGrpSpPr>
      <p:grpSpPr>
        <a:xfrm>
          <a:off x="0" y="0"/>
          <a:ext cx="0" cy="0"/>
          <a:chOff x="0" y="0"/>
          <a:chExt cx="0" cy="0"/>
        </a:xfrm>
      </p:grpSpPr>
      <p:sp>
        <p:nvSpPr>
          <p:cNvPr id="4341" name="Google Shape;4341;g350937edee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2" name="Google Shape;4342;g350937edee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6" name="Shape 4346"/>
        <p:cNvGrpSpPr/>
        <p:nvPr/>
      </p:nvGrpSpPr>
      <p:grpSpPr>
        <a:xfrm>
          <a:off x="0" y="0"/>
          <a:ext cx="0" cy="0"/>
          <a:chOff x="0" y="0"/>
          <a:chExt cx="0" cy="0"/>
        </a:xfrm>
      </p:grpSpPr>
      <p:sp>
        <p:nvSpPr>
          <p:cNvPr id="4347" name="Google Shape;4347;gbac7000a63_0_3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8" name="Google Shape;4348;gbac7000a63_0_3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9" name="Shape 4369"/>
        <p:cNvGrpSpPr/>
        <p:nvPr/>
      </p:nvGrpSpPr>
      <p:grpSpPr>
        <a:xfrm>
          <a:off x="0" y="0"/>
          <a:ext cx="0" cy="0"/>
          <a:chOff x="0" y="0"/>
          <a:chExt cx="0" cy="0"/>
        </a:xfrm>
      </p:grpSpPr>
      <p:sp>
        <p:nvSpPr>
          <p:cNvPr id="4370" name="Google Shape;4370;gbac7000a63_0_3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1" name="Google Shape;4371;gbac7000a63_0_3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2" name="Shape 4392"/>
        <p:cNvGrpSpPr/>
        <p:nvPr/>
      </p:nvGrpSpPr>
      <p:grpSpPr>
        <a:xfrm>
          <a:off x="0" y="0"/>
          <a:ext cx="0" cy="0"/>
          <a:chOff x="0" y="0"/>
          <a:chExt cx="0" cy="0"/>
        </a:xfrm>
      </p:grpSpPr>
      <p:sp>
        <p:nvSpPr>
          <p:cNvPr id="4393" name="Google Shape;4393;gbac7000a63_0_3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4" name="Google Shape;4394;gbac7000a63_0_3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5" name="Shape 4415"/>
        <p:cNvGrpSpPr/>
        <p:nvPr/>
      </p:nvGrpSpPr>
      <p:grpSpPr>
        <a:xfrm>
          <a:off x="0" y="0"/>
          <a:ext cx="0" cy="0"/>
          <a:chOff x="0" y="0"/>
          <a:chExt cx="0" cy="0"/>
        </a:xfrm>
      </p:grpSpPr>
      <p:sp>
        <p:nvSpPr>
          <p:cNvPr id="4416" name="Google Shape;4416;gbac7000a63_0_3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7" name="Google Shape;4417;gbac7000a63_0_3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8" name="Shape 4438"/>
        <p:cNvGrpSpPr/>
        <p:nvPr/>
      </p:nvGrpSpPr>
      <p:grpSpPr>
        <a:xfrm>
          <a:off x="0" y="0"/>
          <a:ext cx="0" cy="0"/>
          <a:chOff x="0" y="0"/>
          <a:chExt cx="0" cy="0"/>
        </a:xfrm>
      </p:grpSpPr>
      <p:sp>
        <p:nvSpPr>
          <p:cNvPr id="4439" name="Google Shape;4439;g35169ed2a8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0" name="Google Shape;4440;g35169ed2a8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3" name="Shape 4443"/>
        <p:cNvGrpSpPr/>
        <p:nvPr/>
      </p:nvGrpSpPr>
      <p:grpSpPr>
        <a:xfrm>
          <a:off x="0" y="0"/>
          <a:ext cx="0" cy="0"/>
          <a:chOff x="0" y="0"/>
          <a:chExt cx="0" cy="0"/>
        </a:xfrm>
      </p:grpSpPr>
      <p:sp>
        <p:nvSpPr>
          <p:cNvPr id="4444" name="Google Shape;4444;g35169ed2a8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5" name="Google Shape;4445;g35169ed2a8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8" name="Shape 4478"/>
        <p:cNvGrpSpPr/>
        <p:nvPr/>
      </p:nvGrpSpPr>
      <p:grpSpPr>
        <a:xfrm>
          <a:off x="0" y="0"/>
          <a:ext cx="0" cy="0"/>
          <a:chOff x="0" y="0"/>
          <a:chExt cx="0" cy="0"/>
        </a:xfrm>
      </p:grpSpPr>
      <p:sp>
        <p:nvSpPr>
          <p:cNvPr id="4479" name="Google Shape;4479;g35169ed2a8c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0" name="Google Shape;4480;g35169ed2a8c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3" name="Shape 4513"/>
        <p:cNvGrpSpPr/>
        <p:nvPr/>
      </p:nvGrpSpPr>
      <p:grpSpPr>
        <a:xfrm>
          <a:off x="0" y="0"/>
          <a:ext cx="0" cy="0"/>
          <a:chOff x="0" y="0"/>
          <a:chExt cx="0" cy="0"/>
        </a:xfrm>
      </p:grpSpPr>
      <p:sp>
        <p:nvSpPr>
          <p:cNvPr id="4514" name="Google Shape;4514;g35169ed2a8c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5" name="Google Shape;4515;g35169ed2a8c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0" name="Shape 4550"/>
        <p:cNvGrpSpPr/>
        <p:nvPr/>
      </p:nvGrpSpPr>
      <p:grpSpPr>
        <a:xfrm>
          <a:off x="0" y="0"/>
          <a:ext cx="0" cy="0"/>
          <a:chOff x="0" y="0"/>
          <a:chExt cx="0" cy="0"/>
        </a:xfrm>
      </p:grpSpPr>
      <p:sp>
        <p:nvSpPr>
          <p:cNvPr id="4551" name="Google Shape;4551;g35169ed2a8c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2" name="Google Shape;4552;g35169ed2a8c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7" name="Shape 4587"/>
        <p:cNvGrpSpPr/>
        <p:nvPr/>
      </p:nvGrpSpPr>
      <p:grpSpPr>
        <a:xfrm>
          <a:off x="0" y="0"/>
          <a:ext cx="0" cy="0"/>
          <a:chOff x="0" y="0"/>
          <a:chExt cx="0" cy="0"/>
        </a:xfrm>
      </p:grpSpPr>
      <p:sp>
        <p:nvSpPr>
          <p:cNvPr id="4588" name="Google Shape;4588;g35169ed2a8c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9" name="Google Shape;4589;g35169ed2a8c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1" name="Shape 4621"/>
        <p:cNvGrpSpPr/>
        <p:nvPr/>
      </p:nvGrpSpPr>
      <p:grpSpPr>
        <a:xfrm>
          <a:off x="0" y="0"/>
          <a:ext cx="0" cy="0"/>
          <a:chOff x="0" y="0"/>
          <a:chExt cx="0" cy="0"/>
        </a:xfrm>
      </p:grpSpPr>
      <p:sp>
        <p:nvSpPr>
          <p:cNvPr id="4622" name="Google Shape;4622;g35169ed2a8c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3" name="Google Shape;4623;g35169ed2a8c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56" name="Google Shape;56;p14"/>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57" name="Google Shape;57;p14"/>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a:lvl1pPr>
            <a:lvl2pPr lvl="1" rtl="0" algn="ctr">
              <a:spcBef>
                <a:spcPts val="0"/>
              </a:spcBef>
              <a:spcAft>
                <a:spcPts val="0"/>
              </a:spcAft>
              <a:buSzPts val="4200"/>
              <a:buNone/>
              <a:defRPr/>
            </a:lvl2pPr>
            <a:lvl3pPr lvl="2" rtl="0" algn="ctr">
              <a:spcBef>
                <a:spcPts val="0"/>
              </a:spcBef>
              <a:spcAft>
                <a:spcPts val="0"/>
              </a:spcAft>
              <a:buSzPts val="4200"/>
              <a:buNone/>
              <a:defRPr/>
            </a:lvl3pPr>
            <a:lvl4pPr lvl="3" rtl="0" algn="ctr">
              <a:spcBef>
                <a:spcPts val="0"/>
              </a:spcBef>
              <a:spcAft>
                <a:spcPts val="0"/>
              </a:spcAft>
              <a:buSzPts val="4200"/>
              <a:buNone/>
              <a:defRPr/>
            </a:lvl4pPr>
            <a:lvl5pPr lvl="4" rtl="0" algn="ctr">
              <a:spcBef>
                <a:spcPts val="0"/>
              </a:spcBef>
              <a:spcAft>
                <a:spcPts val="0"/>
              </a:spcAft>
              <a:buSzPts val="4200"/>
              <a:buNone/>
              <a:defRPr/>
            </a:lvl5pPr>
            <a:lvl6pPr lvl="5" rtl="0" algn="ctr">
              <a:spcBef>
                <a:spcPts val="0"/>
              </a:spcBef>
              <a:spcAft>
                <a:spcPts val="0"/>
              </a:spcAft>
              <a:buSzPts val="4200"/>
              <a:buNone/>
              <a:defRPr/>
            </a:lvl6pPr>
            <a:lvl7pPr lvl="6" rtl="0" algn="ctr">
              <a:spcBef>
                <a:spcPts val="0"/>
              </a:spcBef>
              <a:spcAft>
                <a:spcPts val="0"/>
              </a:spcAft>
              <a:buSzPts val="4200"/>
              <a:buNone/>
              <a:defRPr/>
            </a:lvl7pPr>
            <a:lvl8pPr lvl="7" rtl="0" algn="ctr">
              <a:spcBef>
                <a:spcPts val="0"/>
              </a:spcBef>
              <a:spcAft>
                <a:spcPts val="0"/>
              </a:spcAft>
              <a:buSzPts val="4200"/>
              <a:buNone/>
              <a:defRPr/>
            </a:lvl8pPr>
            <a:lvl9pPr lvl="8" rtl="0" algn="ctr">
              <a:spcBef>
                <a:spcPts val="0"/>
              </a:spcBef>
              <a:spcAft>
                <a:spcPts val="0"/>
              </a:spcAft>
              <a:buSzPts val="4200"/>
              <a:buNone/>
              <a:defRPr/>
            </a:lvl9pPr>
          </a:lstStyle>
          <a:p/>
        </p:txBody>
      </p:sp>
      <p:sp>
        <p:nvSpPr>
          <p:cNvPr id="58" name="Google Shape;58;p14"/>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rtl="0"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rtl="0"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rtl="0"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rtl="0"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rtl="0"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rtl="0"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rtl="0"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rtl="0"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0" name="Shape 60"/>
        <p:cNvGrpSpPr/>
        <p:nvPr/>
      </p:nvGrpSpPr>
      <p:grpSpPr>
        <a:xfrm>
          <a:off x="0" y="0"/>
          <a:ext cx="0" cy="0"/>
          <a:chOff x="0" y="0"/>
          <a:chExt cx="0" cy="0"/>
        </a:xfrm>
      </p:grpSpPr>
      <p:sp>
        <p:nvSpPr>
          <p:cNvPr id="61" name="Google Shape;61;p15"/>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62" name="Google Shape;62;p15"/>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63" name="Google Shape;63;p15"/>
          <p:cNvSpPr txBox="1"/>
          <p:nvPr>
            <p:ph type="title"/>
          </p:nvPr>
        </p:nvSpPr>
        <p:spPr>
          <a:xfrm>
            <a:off x="773700" y="1806450"/>
            <a:ext cx="7596600" cy="1530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200"/>
              <a:buNone/>
              <a:defRPr/>
            </a:lvl1pPr>
            <a:lvl2pPr lvl="1" rtl="0" algn="ctr">
              <a:spcBef>
                <a:spcPts val="0"/>
              </a:spcBef>
              <a:spcAft>
                <a:spcPts val="0"/>
              </a:spcAft>
              <a:buSzPts val="4200"/>
              <a:buNone/>
              <a:defRPr/>
            </a:lvl2pPr>
            <a:lvl3pPr lvl="2" rtl="0" algn="ctr">
              <a:spcBef>
                <a:spcPts val="0"/>
              </a:spcBef>
              <a:spcAft>
                <a:spcPts val="0"/>
              </a:spcAft>
              <a:buSzPts val="4200"/>
              <a:buNone/>
              <a:defRPr/>
            </a:lvl3pPr>
            <a:lvl4pPr lvl="3" rtl="0" algn="ctr">
              <a:spcBef>
                <a:spcPts val="0"/>
              </a:spcBef>
              <a:spcAft>
                <a:spcPts val="0"/>
              </a:spcAft>
              <a:buSzPts val="4200"/>
              <a:buNone/>
              <a:defRPr/>
            </a:lvl4pPr>
            <a:lvl5pPr lvl="4" rtl="0" algn="ctr">
              <a:spcBef>
                <a:spcPts val="0"/>
              </a:spcBef>
              <a:spcAft>
                <a:spcPts val="0"/>
              </a:spcAft>
              <a:buSzPts val="4200"/>
              <a:buNone/>
              <a:defRPr/>
            </a:lvl5pPr>
            <a:lvl6pPr lvl="5" rtl="0" algn="ctr">
              <a:spcBef>
                <a:spcPts val="0"/>
              </a:spcBef>
              <a:spcAft>
                <a:spcPts val="0"/>
              </a:spcAft>
              <a:buSzPts val="4200"/>
              <a:buNone/>
              <a:defRPr/>
            </a:lvl6pPr>
            <a:lvl7pPr lvl="6" rtl="0" algn="ctr">
              <a:spcBef>
                <a:spcPts val="0"/>
              </a:spcBef>
              <a:spcAft>
                <a:spcPts val="0"/>
              </a:spcAft>
              <a:buSzPts val="4200"/>
              <a:buNone/>
              <a:defRPr/>
            </a:lvl7pPr>
            <a:lvl8pPr lvl="7" rtl="0" algn="ctr">
              <a:spcBef>
                <a:spcPts val="0"/>
              </a:spcBef>
              <a:spcAft>
                <a:spcPts val="0"/>
              </a:spcAft>
              <a:buSzPts val="4200"/>
              <a:buNone/>
              <a:defRPr/>
            </a:lvl8pPr>
            <a:lvl9pPr lvl="8" rtl="0" algn="ctr">
              <a:spcBef>
                <a:spcPts val="0"/>
              </a:spcBef>
              <a:spcAft>
                <a:spcPts val="0"/>
              </a:spcAft>
              <a:buSzPts val="4200"/>
              <a:buNone/>
              <a:defRPr/>
            </a:lvl9pPr>
          </a:lstStyle>
          <a:p/>
        </p:txBody>
      </p:sp>
      <p:sp>
        <p:nvSpPr>
          <p:cNvPr id="64" name="Google Shape;64;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5" name="Shape 65"/>
        <p:cNvGrpSpPr/>
        <p:nvPr/>
      </p:nvGrpSpPr>
      <p:grpSpPr>
        <a:xfrm>
          <a:off x="0" y="0"/>
          <a:ext cx="0" cy="0"/>
          <a:chOff x="0" y="0"/>
          <a:chExt cx="0" cy="0"/>
        </a:xfrm>
      </p:grpSpPr>
      <p:sp>
        <p:nvSpPr>
          <p:cNvPr id="66" name="Google Shape;66;p16"/>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rtl="0">
              <a:spcBef>
                <a:spcPts val="0"/>
              </a:spcBef>
              <a:spcAft>
                <a:spcPts val="0"/>
              </a:spcAft>
              <a:buSzPts val="42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p:txBody>
      </p:sp>
      <p:sp>
        <p:nvSpPr>
          <p:cNvPr id="68" name="Google Shape;68;p16"/>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69" name="Google Shape;69;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0" name="Shape 70"/>
        <p:cNvGrpSpPr/>
        <p:nvPr/>
      </p:nvGrpSpPr>
      <p:grpSpPr>
        <a:xfrm>
          <a:off x="0" y="0"/>
          <a:ext cx="0" cy="0"/>
          <a:chOff x="0" y="0"/>
          <a:chExt cx="0" cy="0"/>
        </a:xfrm>
      </p:grpSpPr>
      <p:sp>
        <p:nvSpPr>
          <p:cNvPr id="71" name="Google Shape;71;p1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rtl="0">
              <a:spcBef>
                <a:spcPts val="0"/>
              </a:spcBef>
              <a:spcAft>
                <a:spcPts val="0"/>
              </a:spcAft>
              <a:buSzPts val="42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p:txBody>
      </p:sp>
      <p:sp>
        <p:nvSpPr>
          <p:cNvPr id="72" name="Google Shape;72;p17"/>
          <p:cNvSpPr txBox="1"/>
          <p:nvPr>
            <p:ph idx="1" type="body"/>
          </p:nvPr>
        </p:nvSpPr>
        <p:spPr>
          <a:xfrm>
            <a:off x="311700" y="1225225"/>
            <a:ext cx="3999900" cy="3354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3" name="Google Shape;73;p17"/>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4" name="Google Shape;74;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1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rtl="0">
              <a:spcBef>
                <a:spcPts val="0"/>
              </a:spcBef>
              <a:spcAft>
                <a:spcPts val="0"/>
              </a:spcAft>
              <a:buSzPts val="42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p:txBody>
      </p:sp>
      <p:sp>
        <p:nvSpPr>
          <p:cNvPr id="77" name="Google Shape;77;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8" name="Shape 78"/>
        <p:cNvGrpSpPr/>
        <p:nvPr/>
      </p:nvGrpSpPr>
      <p:grpSpPr>
        <a:xfrm>
          <a:off x="0" y="0"/>
          <a:ext cx="0" cy="0"/>
          <a:chOff x="0" y="0"/>
          <a:chExt cx="0" cy="0"/>
        </a:xfrm>
      </p:grpSpPr>
      <p:sp>
        <p:nvSpPr>
          <p:cNvPr id="79" name="Google Shape;79;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
        <p:nvSpPr>
          <p:cNvPr id="80" name="Google Shape;80;p19"/>
          <p:cNvSpPr txBox="1"/>
          <p:nvPr>
            <p:ph idx="1" type="body"/>
          </p:nvPr>
        </p:nvSpPr>
        <p:spPr>
          <a:xfrm>
            <a:off x="311700" y="1399400"/>
            <a:ext cx="2808000" cy="2784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81" name="Google Shape;81;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2" name="Shape 82"/>
        <p:cNvGrpSpPr/>
        <p:nvPr/>
      </p:nvGrpSpPr>
      <p:grpSpPr>
        <a:xfrm>
          <a:off x="0" y="0"/>
          <a:ext cx="0" cy="0"/>
          <a:chOff x="0" y="0"/>
          <a:chExt cx="0" cy="0"/>
        </a:xfrm>
      </p:grpSpPr>
      <p:sp>
        <p:nvSpPr>
          <p:cNvPr id="83" name="Google Shape;83;p20"/>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0"/>
          <p:cNvSpPr txBox="1"/>
          <p:nvPr>
            <p:ph type="title"/>
          </p:nvPr>
        </p:nvSpPr>
        <p:spPr>
          <a:xfrm>
            <a:off x="490250" y="450150"/>
            <a:ext cx="5878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5" name="Google Shape;85;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6" name="Shape 86"/>
        <p:cNvGrpSpPr/>
        <p:nvPr/>
      </p:nvGrpSpPr>
      <p:grpSpPr>
        <a:xfrm>
          <a:off x="0" y="0"/>
          <a:ext cx="0" cy="0"/>
          <a:chOff x="0" y="0"/>
          <a:chExt cx="0" cy="0"/>
        </a:xfrm>
      </p:grpSpPr>
      <p:sp>
        <p:nvSpPr>
          <p:cNvPr id="87" name="Google Shape;87;p21"/>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8" name="Google Shape;88;p2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89" name="Google Shape;89;p21"/>
          <p:cNvSpPr txBox="1"/>
          <p:nvPr>
            <p:ph type="title"/>
          </p:nvPr>
        </p:nvSpPr>
        <p:spPr>
          <a:xfrm>
            <a:off x="265500" y="929275"/>
            <a:ext cx="4045200" cy="17862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2"/>
              </a:buClr>
              <a:buSzPts val="4200"/>
              <a:buNone/>
              <a:defRPr>
                <a:solidFill>
                  <a:schemeClr val="lt2"/>
                </a:solidFill>
              </a:defRPr>
            </a:lvl1pPr>
            <a:lvl2pPr lvl="1" rtl="0" algn="ctr">
              <a:spcBef>
                <a:spcPts val="0"/>
              </a:spcBef>
              <a:spcAft>
                <a:spcPts val="0"/>
              </a:spcAft>
              <a:buClr>
                <a:schemeClr val="lt2"/>
              </a:buClr>
              <a:buSzPts val="4200"/>
              <a:buNone/>
              <a:defRPr>
                <a:solidFill>
                  <a:schemeClr val="lt2"/>
                </a:solidFill>
              </a:defRPr>
            </a:lvl2pPr>
            <a:lvl3pPr lvl="2" rtl="0" algn="ctr">
              <a:spcBef>
                <a:spcPts val="0"/>
              </a:spcBef>
              <a:spcAft>
                <a:spcPts val="0"/>
              </a:spcAft>
              <a:buClr>
                <a:schemeClr val="lt2"/>
              </a:buClr>
              <a:buSzPts val="4200"/>
              <a:buNone/>
              <a:defRPr>
                <a:solidFill>
                  <a:schemeClr val="lt2"/>
                </a:solidFill>
              </a:defRPr>
            </a:lvl3pPr>
            <a:lvl4pPr lvl="3" rtl="0" algn="ctr">
              <a:spcBef>
                <a:spcPts val="0"/>
              </a:spcBef>
              <a:spcAft>
                <a:spcPts val="0"/>
              </a:spcAft>
              <a:buClr>
                <a:schemeClr val="lt2"/>
              </a:buClr>
              <a:buSzPts val="4200"/>
              <a:buNone/>
              <a:defRPr>
                <a:solidFill>
                  <a:schemeClr val="lt2"/>
                </a:solidFill>
              </a:defRPr>
            </a:lvl4pPr>
            <a:lvl5pPr lvl="4" rtl="0" algn="ctr">
              <a:spcBef>
                <a:spcPts val="0"/>
              </a:spcBef>
              <a:spcAft>
                <a:spcPts val="0"/>
              </a:spcAft>
              <a:buClr>
                <a:schemeClr val="lt2"/>
              </a:buClr>
              <a:buSzPts val="4200"/>
              <a:buNone/>
              <a:defRPr>
                <a:solidFill>
                  <a:schemeClr val="lt2"/>
                </a:solidFill>
              </a:defRPr>
            </a:lvl5pPr>
            <a:lvl6pPr lvl="5" rtl="0" algn="ctr">
              <a:spcBef>
                <a:spcPts val="0"/>
              </a:spcBef>
              <a:spcAft>
                <a:spcPts val="0"/>
              </a:spcAft>
              <a:buClr>
                <a:schemeClr val="lt2"/>
              </a:buClr>
              <a:buSzPts val="4200"/>
              <a:buNone/>
              <a:defRPr>
                <a:solidFill>
                  <a:schemeClr val="lt2"/>
                </a:solidFill>
              </a:defRPr>
            </a:lvl6pPr>
            <a:lvl7pPr lvl="6" rtl="0" algn="ctr">
              <a:spcBef>
                <a:spcPts val="0"/>
              </a:spcBef>
              <a:spcAft>
                <a:spcPts val="0"/>
              </a:spcAft>
              <a:buClr>
                <a:schemeClr val="lt2"/>
              </a:buClr>
              <a:buSzPts val="4200"/>
              <a:buNone/>
              <a:defRPr>
                <a:solidFill>
                  <a:schemeClr val="lt2"/>
                </a:solidFill>
              </a:defRPr>
            </a:lvl7pPr>
            <a:lvl8pPr lvl="7" rtl="0" algn="ctr">
              <a:spcBef>
                <a:spcPts val="0"/>
              </a:spcBef>
              <a:spcAft>
                <a:spcPts val="0"/>
              </a:spcAft>
              <a:buClr>
                <a:schemeClr val="lt2"/>
              </a:buClr>
              <a:buSzPts val="4200"/>
              <a:buNone/>
              <a:defRPr>
                <a:solidFill>
                  <a:schemeClr val="lt2"/>
                </a:solidFill>
              </a:defRPr>
            </a:lvl8pPr>
            <a:lvl9pPr lvl="8" rtl="0" algn="ctr">
              <a:spcBef>
                <a:spcPts val="0"/>
              </a:spcBef>
              <a:spcAft>
                <a:spcPts val="0"/>
              </a:spcAft>
              <a:buClr>
                <a:schemeClr val="lt2"/>
              </a:buClr>
              <a:buSzPts val="4200"/>
              <a:buNone/>
              <a:defRPr>
                <a:solidFill>
                  <a:schemeClr val="lt2"/>
                </a:solidFill>
              </a:defRPr>
            </a:lvl9pPr>
          </a:lstStyle>
          <a:p/>
        </p:txBody>
      </p:sp>
      <p:sp>
        <p:nvSpPr>
          <p:cNvPr id="90" name="Google Shape;90;p21"/>
          <p:cNvSpPr txBox="1"/>
          <p:nvPr>
            <p:ph idx="1" type="subTitle"/>
          </p:nvPr>
        </p:nvSpPr>
        <p:spPr>
          <a:xfrm>
            <a:off x="265500" y="2769001"/>
            <a:ext cx="4045200" cy="157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rtl="0"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rtl="0"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rtl="0"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rtl="0"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rtl="0"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rtl="0"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rtl="0"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rtl="0"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91" name="Google Shape;91;p21"/>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92" name="Google Shape;92;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3" name="Shape 93"/>
        <p:cNvGrpSpPr/>
        <p:nvPr/>
      </p:nvGrpSpPr>
      <p:grpSpPr>
        <a:xfrm>
          <a:off x="0" y="0"/>
          <a:ext cx="0" cy="0"/>
          <a:chOff x="0" y="0"/>
          <a:chExt cx="0" cy="0"/>
        </a:xfrm>
      </p:grpSpPr>
      <p:sp>
        <p:nvSpPr>
          <p:cNvPr id="94" name="Google Shape;94;p22"/>
          <p:cNvSpPr txBox="1"/>
          <p:nvPr>
            <p:ph idx="1" type="body"/>
          </p:nvPr>
        </p:nvSpPr>
        <p:spPr>
          <a:xfrm>
            <a:off x="319500" y="4218925"/>
            <a:ext cx="5998800" cy="5988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95" name="Google Shape;95;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6" name="Shape 96"/>
        <p:cNvGrpSpPr/>
        <p:nvPr/>
      </p:nvGrpSpPr>
      <p:grpSpPr>
        <a:xfrm>
          <a:off x="0" y="0"/>
          <a:ext cx="0" cy="0"/>
          <a:chOff x="0" y="0"/>
          <a:chExt cx="0" cy="0"/>
        </a:xfrm>
      </p:grpSpPr>
      <p:sp>
        <p:nvSpPr>
          <p:cNvPr id="97" name="Google Shape;97;p23"/>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3"/>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2"/>
              </a:buClr>
              <a:buSzPts val="16000"/>
              <a:buNone/>
              <a:defRPr sz="16000">
                <a:solidFill>
                  <a:schemeClr val="lt2"/>
                </a:solidFill>
              </a:defRPr>
            </a:lvl1pPr>
            <a:lvl2pPr lvl="1" rtl="0" algn="ctr">
              <a:spcBef>
                <a:spcPts val="0"/>
              </a:spcBef>
              <a:spcAft>
                <a:spcPts val="0"/>
              </a:spcAft>
              <a:buClr>
                <a:schemeClr val="lt2"/>
              </a:buClr>
              <a:buSzPts val="16000"/>
              <a:buNone/>
              <a:defRPr sz="16000">
                <a:solidFill>
                  <a:schemeClr val="lt2"/>
                </a:solidFill>
              </a:defRPr>
            </a:lvl2pPr>
            <a:lvl3pPr lvl="2" rtl="0" algn="ctr">
              <a:spcBef>
                <a:spcPts val="0"/>
              </a:spcBef>
              <a:spcAft>
                <a:spcPts val="0"/>
              </a:spcAft>
              <a:buClr>
                <a:schemeClr val="lt2"/>
              </a:buClr>
              <a:buSzPts val="16000"/>
              <a:buNone/>
              <a:defRPr sz="16000">
                <a:solidFill>
                  <a:schemeClr val="lt2"/>
                </a:solidFill>
              </a:defRPr>
            </a:lvl3pPr>
            <a:lvl4pPr lvl="3" rtl="0" algn="ctr">
              <a:spcBef>
                <a:spcPts val="0"/>
              </a:spcBef>
              <a:spcAft>
                <a:spcPts val="0"/>
              </a:spcAft>
              <a:buClr>
                <a:schemeClr val="lt2"/>
              </a:buClr>
              <a:buSzPts val="16000"/>
              <a:buNone/>
              <a:defRPr sz="16000">
                <a:solidFill>
                  <a:schemeClr val="lt2"/>
                </a:solidFill>
              </a:defRPr>
            </a:lvl4pPr>
            <a:lvl5pPr lvl="4" rtl="0" algn="ctr">
              <a:spcBef>
                <a:spcPts val="0"/>
              </a:spcBef>
              <a:spcAft>
                <a:spcPts val="0"/>
              </a:spcAft>
              <a:buClr>
                <a:schemeClr val="lt2"/>
              </a:buClr>
              <a:buSzPts val="16000"/>
              <a:buNone/>
              <a:defRPr sz="16000">
                <a:solidFill>
                  <a:schemeClr val="lt2"/>
                </a:solidFill>
              </a:defRPr>
            </a:lvl5pPr>
            <a:lvl6pPr lvl="5" rtl="0" algn="ctr">
              <a:spcBef>
                <a:spcPts val="0"/>
              </a:spcBef>
              <a:spcAft>
                <a:spcPts val="0"/>
              </a:spcAft>
              <a:buClr>
                <a:schemeClr val="lt2"/>
              </a:buClr>
              <a:buSzPts val="16000"/>
              <a:buNone/>
              <a:defRPr sz="16000">
                <a:solidFill>
                  <a:schemeClr val="lt2"/>
                </a:solidFill>
              </a:defRPr>
            </a:lvl6pPr>
            <a:lvl7pPr lvl="6" rtl="0" algn="ctr">
              <a:spcBef>
                <a:spcPts val="0"/>
              </a:spcBef>
              <a:spcAft>
                <a:spcPts val="0"/>
              </a:spcAft>
              <a:buClr>
                <a:schemeClr val="lt2"/>
              </a:buClr>
              <a:buSzPts val="16000"/>
              <a:buNone/>
              <a:defRPr sz="16000">
                <a:solidFill>
                  <a:schemeClr val="lt2"/>
                </a:solidFill>
              </a:defRPr>
            </a:lvl7pPr>
            <a:lvl8pPr lvl="7" rtl="0" algn="ctr">
              <a:spcBef>
                <a:spcPts val="0"/>
              </a:spcBef>
              <a:spcAft>
                <a:spcPts val="0"/>
              </a:spcAft>
              <a:buClr>
                <a:schemeClr val="lt2"/>
              </a:buClr>
              <a:buSzPts val="16000"/>
              <a:buNone/>
              <a:defRPr sz="16000">
                <a:solidFill>
                  <a:schemeClr val="lt2"/>
                </a:solidFill>
              </a:defRPr>
            </a:lvl8pPr>
            <a:lvl9pPr lvl="8" rtl="0" algn="ctr">
              <a:spcBef>
                <a:spcPts val="0"/>
              </a:spcBef>
              <a:spcAft>
                <a:spcPts val="0"/>
              </a:spcAft>
              <a:buClr>
                <a:schemeClr val="lt2"/>
              </a:buClr>
              <a:buSzPts val="16000"/>
              <a:buNone/>
              <a:defRPr sz="16000">
                <a:solidFill>
                  <a:schemeClr val="lt2"/>
                </a:solidFill>
              </a:defRPr>
            </a:lvl9pPr>
          </a:lstStyle>
          <a:p>
            <a:r>
              <a:t>xx%</a:t>
            </a:r>
          </a:p>
        </p:txBody>
      </p:sp>
      <p:sp>
        <p:nvSpPr>
          <p:cNvPr id="99" name="Google Shape;99;p23"/>
          <p:cNvSpPr txBox="1"/>
          <p:nvPr>
            <p:ph idx="1" type="body"/>
          </p:nvPr>
        </p:nvSpPr>
        <p:spPr>
          <a:xfrm>
            <a:off x="311700" y="3162000"/>
            <a:ext cx="8520600" cy="10716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00" name="Google Shape;100;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1" name="Shape 101"/>
        <p:cNvGrpSpPr/>
        <p:nvPr/>
      </p:nvGrpSpPr>
      <p:grpSpPr>
        <a:xfrm>
          <a:off x="0" y="0"/>
          <a:ext cx="0" cy="0"/>
          <a:chOff x="0" y="0"/>
          <a:chExt cx="0" cy="0"/>
        </a:xfrm>
      </p:grpSpPr>
      <p:sp>
        <p:nvSpPr>
          <p:cNvPr id="102" name="Google Shape;102;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 type="obj">
  <p:cSld name="OBJECT">
    <p:spTree>
      <p:nvGrpSpPr>
        <p:cNvPr id="103" name="Shape 103"/>
        <p:cNvGrpSpPr/>
        <p:nvPr/>
      </p:nvGrpSpPr>
      <p:grpSpPr>
        <a:xfrm>
          <a:off x="0" y="0"/>
          <a:ext cx="0" cy="0"/>
          <a:chOff x="0" y="0"/>
          <a:chExt cx="0" cy="0"/>
        </a:xfrm>
      </p:grpSpPr>
      <p:sp>
        <p:nvSpPr>
          <p:cNvPr id="104" name="Google Shape;104;p25"/>
          <p:cNvSpPr txBox="1"/>
          <p:nvPr>
            <p:ph type="title"/>
          </p:nvPr>
        </p:nvSpPr>
        <p:spPr>
          <a:xfrm>
            <a:off x="457200" y="205978"/>
            <a:ext cx="8229600" cy="857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SzPts val="4200"/>
              <a:buNone/>
              <a:defRPr sz="4400">
                <a:solidFill>
                  <a:schemeClr val="dk1"/>
                </a:solidFill>
                <a:latin typeface="Calibri"/>
                <a:ea typeface="Calibri"/>
                <a:cs typeface="Calibri"/>
                <a:sym typeface="Calibri"/>
              </a:defRPr>
            </a:lvl1pPr>
            <a:lvl2pPr lvl="1" rtl="0" algn="ctr">
              <a:spcBef>
                <a:spcPts val="0"/>
              </a:spcBef>
              <a:spcAft>
                <a:spcPts val="0"/>
              </a:spcAft>
              <a:buSzPts val="4200"/>
              <a:buNone/>
              <a:defRPr sz="4400">
                <a:solidFill>
                  <a:schemeClr val="dk1"/>
                </a:solidFill>
                <a:latin typeface="Calibri"/>
                <a:ea typeface="Calibri"/>
                <a:cs typeface="Calibri"/>
                <a:sym typeface="Calibri"/>
              </a:defRPr>
            </a:lvl2pPr>
            <a:lvl3pPr lvl="2" rtl="0" algn="ctr">
              <a:spcBef>
                <a:spcPts val="0"/>
              </a:spcBef>
              <a:spcAft>
                <a:spcPts val="0"/>
              </a:spcAft>
              <a:buSzPts val="4200"/>
              <a:buNone/>
              <a:defRPr sz="4400">
                <a:solidFill>
                  <a:schemeClr val="dk1"/>
                </a:solidFill>
                <a:latin typeface="Calibri"/>
                <a:ea typeface="Calibri"/>
                <a:cs typeface="Calibri"/>
                <a:sym typeface="Calibri"/>
              </a:defRPr>
            </a:lvl3pPr>
            <a:lvl4pPr lvl="3" rtl="0" algn="ctr">
              <a:spcBef>
                <a:spcPts val="0"/>
              </a:spcBef>
              <a:spcAft>
                <a:spcPts val="0"/>
              </a:spcAft>
              <a:buSzPts val="4200"/>
              <a:buNone/>
              <a:defRPr sz="4400">
                <a:solidFill>
                  <a:schemeClr val="dk1"/>
                </a:solidFill>
                <a:latin typeface="Calibri"/>
                <a:ea typeface="Calibri"/>
                <a:cs typeface="Calibri"/>
                <a:sym typeface="Calibri"/>
              </a:defRPr>
            </a:lvl4pPr>
            <a:lvl5pPr lvl="4" rtl="0" algn="ctr">
              <a:spcBef>
                <a:spcPts val="0"/>
              </a:spcBef>
              <a:spcAft>
                <a:spcPts val="0"/>
              </a:spcAft>
              <a:buSzPts val="4200"/>
              <a:buNone/>
              <a:defRPr sz="4400">
                <a:solidFill>
                  <a:schemeClr val="dk1"/>
                </a:solidFill>
                <a:latin typeface="Calibri"/>
                <a:ea typeface="Calibri"/>
                <a:cs typeface="Calibri"/>
                <a:sym typeface="Calibri"/>
              </a:defRPr>
            </a:lvl5pPr>
            <a:lvl6pPr lvl="5" marL="457200" rtl="0" algn="ctr">
              <a:spcBef>
                <a:spcPts val="0"/>
              </a:spcBef>
              <a:spcAft>
                <a:spcPts val="0"/>
              </a:spcAft>
              <a:buSzPts val="4200"/>
              <a:buNone/>
              <a:defRPr sz="4400">
                <a:solidFill>
                  <a:schemeClr val="dk1"/>
                </a:solidFill>
                <a:latin typeface="Calibri"/>
                <a:ea typeface="Calibri"/>
                <a:cs typeface="Calibri"/>
                <a:sym typeface="Calibri"/>
              </a:defRPr>
            </a:lvl6pPr>
            <a:lvl7pPr lvl="6" marL="914400" rtl="0" algn="ctr">
              <a:spcBef>
                <a:spcPts val="0"/>
              </a:spcBef>
              <a:spcAft>
                <a:spcPts val="0"/>
              </a:spcAft>
              <a:buSzPts val="4200"/>
              <a:buNone/>
              <a:defRPr sz="4400">
                <a:solidFill>
                  <a:schemeClr val="dk1"/>
                </a:solidFill>
                <a:latin typeface="Calibri"/>
                <a:ea typeface="Calibri"/>
                <a:cs typeface="Calibri"/>
                <a:sym typeface="Calibri"/>
              </a:defRPr>
            </a:lvl7pPr>
            <a:lvl8pPr lvl="7" marL="1371600" rtl="0" algn="ctr">
              <a:spcBef>
                <a:spcPts val="0"/>
              </a:spcBef>
              <a:spcAft>
                <a:spcPts val="0"/>
              </a:spcAft>
              <a:buSzPts val="4200"/>
              <a:buNone/>
              <a:defRPr sz="4400">
                <a:solidFill>
                  <a:schemeClr val="dk1"/>
                </a:solidFill>
                <a:latin typeface="Calibri"/>
                <a:ea typeface="Calibri"/>
                <a:cs typeface="Calibri"/>
                <a:sym typeface="Calibri"/>
              </a:defRPr>
            </a:lvl8pPr>
            <a:lvl9pPr lvl="8" marL="1828800" rtl="0" algn="ctr">
              <a:spcBef>
                <a:spcPts val="0"/>
              </a:spcBef>
              <a:spcAft>
                <a:spcPts val="0"/>
              </a:spcAft>
              <a:buSzPts val="4200"/>
              <a:buNone/>
              <a:defRPr sz="4400">
                <a:solidFill>
                  <a:schemeClr val="dk1"/>
                </a:solidFill>
                <a:latin typeface="Calibri"/>
                <a:ea typeface="Calibri"/>
                <a:cs typeface="Calibri"/>
                <a:sym typeface="Calibri"/>
              </a:defRPr>
            </a:lvl9pPr>
          </a:lstStyle>
          <a:p/>
        </p:txBody>
      </p:sp>
      <p:sp>
        <p:nvSpPr>
          <p:cNvPr id="105" name="Google Shape;105;p25"/>
          <p:cNvSpPr txBox="1"/>
          <p:nvPr>
            <p:ph idx="1" type="body"/>
          </p:nvPr>
        </p:nvSpPr>
        <p:spPr>
          <a:xfrm>
            <a:off x="457200" y="1200150"/>
            <a:ext cx="8229600" cy="3394500"/>
          </a:xfrm>
          <a:prstGeom prst="rect">
            <a:avLst/>
          </a:prstGeom>
          <a:noFill/>
          <a:ln>
            <a:noFill/>
          </a:ln>
        </p:spPr>
        <p:txBody>
          <a:bodyPr anchorCtr="0" anchor="t" bIns="91425" lIns="91425" spcFirstLastPara="1" rIns="91425" wrap="square" tIns="91425">
            <a:noAutofit/>
          </a:bodyPr>
          <a:lstStyle>
            <a:lvl1pPr indent="-342900" lvl="0" marL="457200" rtl="0" algn="l">
              <a:spcBef>
                <a:spcPts val="640"/>
              </a:spcBef>
              <a:spcAft>
                <a:spcPts val="0"/>
              </a:spcAft>
              <a:buClr>
                <a:schemeClr val="dk1"/>
              </a:buClr>
              <a:buSzPts val="1800"/>
              <a:buFont typeface="Calibri"/>
              <a:buChar char="●"/>
              <a:defRPr sz="3200">
                <a:solidFill>
                  <a:schemeClr val="dk1"/>
                </a:solidFill>
                <a:latin typeface="Calibri"/>
                <a:ea typeface="Calibri"/>
                <a:cs typeface="Calibri"/>
                <a:sym typeface="Calibri"/>
              </a:defRPr>
            </a:lvl1pPr>
            <a:lvl2pPr indent="-317500" lvl="1" marL="914400" rtl="0" algn="l">
              <a:spcBef>
                <a:spcPts val="560"/>
              </a:spcBef>
              <a:spcAft>
                <a:spcPts val="0"/>
              </a:spcAft>
              <a:buClr>
                <a:schemeClr val="dk1"/>
              </a:buClr>
              <a:buSzPts val="1400"/>
              <a:buFont typeface="Calibri"/>
              <a:buChar char="●"/>
              <a:defRPr sz="2800">
                <a:solidFill>
                  <a:schemeClr val="dk1"/>
                </a:solidFill>
                <a:latin typeface="Calibri"/>
                <a:ea typeface="Calibri"/>
                <a:cs typeface="Calibri"/>
                <a:sym typeface="Calibri"/>
              </a:defRPr>
            </a:lvl2pPr>
            <a:lvl3pPr indent="-317500" lvl="2" marL="1371600" rtl="0" algn="l">
              <a:spcBef>
                <a:spcPts val="480"/>
              </a:spcBef>
              <a:spcAft>
                <a:spcPts val="0"/>
              </a:spcAft>
              <a:buClr>
                <a:schemeClr val="dk1"/>
              </a:buClr>
              <a:buSzPts val="1400"/>
              <a:buFont typeface="Calibri"/>
              <a:buChar char="●"/>
              <a:defRPr sz="2400">
                <a:solidFill>
                  <a:schemeClr val="dk1"/>
                </a:solidFill>
                <a:latin typeface="Calibri"/>
                <a:ea typeface="Calibri"/>
                <a:cs typeface="Calibri"/>
                <a:sym typeface="Calibri"/>
              </a:defRPr>
            </a:lvl3pPr>
            <a:lvl4pPr indent="-317500" lvl="3" marL="1828800" rtl="0" algn="l">
              <a:spcBef>
                <a:spcPts val="400"/>
              </a:spcBef>
              <a:spcAft>
                <a:spcPts val="0"/>
              </a:spcAft>
              <a:buClr>
                <a:schemeClr val="dk1"/>
              </a:buClr>
              <a:buSzPts val="1400"/>
              <a:buFont typeface="Calibri"/>
              <a:buChar char="●"/>
              <a:defRPr sz="2000">
                <a:solidFill>
                  <a:schemeClr val="dk1"/>
                </a:solidFill>
                <a:latin typeface="Calibri"/>
                <a:ea typeface="Calibri"/>
                <a:cs typeface="Calibri"/>
                <a:sym typeface="Calibri"/>
              </a:defRPr>
            </a:lvl4pPr>
            <a:lvl5pPr indent="-317500" lvl="4" marL="2286000" rtl="0" algn="l">
              <a:spcBef>
                <a:spcPts val="400"/>
              </a:spcBef>
              <a:spcAft>
                <a:spcPts val="0"/>
              </a:spcAft>
              <a:buClr>
                <a:schemeClr val="dk1"/>
              </a:buClr>
              <a:buSzPts val="1400"/>
              <a:buFont typeface="Calibri"/>
              <a:buChar char="●"/>
              <a:defRPr sz="2000">
                <a:solidFill>
                  <a:schemeClr val="dk1"/>
                </a:solidFill>
                <a:latin typeface="Calibri"/>
                <a:ea typeface="Calibri"/>
                <a:cs typeface="Calibri"/>
                <a:sym typeface="Calibri"/>
              </a:defRPr>
            </a:lvl5pPr>
            <a:lvl6pPr indent="-317500" lvl="5" marL="2743200" rtl="0" algn="l">
              <a:spcBef>
                <a:spcPts val="400"/>
              </a:spcBef>
              <a:spcAft>
                <a:spcPts val="0"/>
              </a:spcAft>
              <a:buClr>
                <a:schemeClr val="dk1"/>
              </a:buClr>
              <a:buSzPts val="1400"/>
              <a:buFont typeface="Calibri"/>
              <a:buChar char="●"/>
              <a:defRPr sz="2000">
                <a:solidFill>
                  <a:schemeClr val="dk1"/>
                </a:solidFill>
                <a:latin typeface="Calibri"/>
                <a:ea typeface="Calibri"/>
                <a:cs typeface="Calibri"/>
                <a:sym typeface="Calibri"/>
              </a:defRPr>
            </a:lvl6pPr>
            <a:lvl7pPr indent="-317500" lvl="6" marL="3200400" rtl="0" algn="l">
              <a:spcBef>
                <a:spcPts val="1600"/>
              </a:spcBef>
              <a:spcAft>
                <a:spcPts val="0"/>
              </a:spcAft>
              <a:buClr>
                <a:schemeClr val="dk1"/>
              </a:buClr>
              <a:buSzPts val="1400"/>
              <a:buFont typeface="Calibri"/>
              <a:buChar char="●"/>
              <a:defRPr sz="2000">
                <a:solidFill>
                  <a:schemeClr val="dk1"/>
                </a:solidFill>
                <a:latin typeface="Calibri"/>
                <a:ea typeface="Calibri"/>
                <a:cs typeface="Calibri"/>
                <a:sym typeface="Calibri"/>
              </a:defRPr>
            </a:lvl7pPr>
            <a:lvl8pPr indent="-317500" lvl="7" marL="3657600" rtl="0" algn="l">
              <a:spcBef>
                <a:spcPts val="1600"/>
              </a:spcBef>
              <a:spcAft>
                <a:spcPts val="0"/>
              </a:spcAft>
              <a:buClr>
                <a:schemeClr val="dk1"/>
              </a:buClr>
              <a:buSzPts val="1400"/>
              <a:buFont typeface="Calibri"/>
              <a:buChar char="●"/>
              <a:defRPr sz="2000">
                <a:solidFill>
                  <a:schemeClr val="dk1"/>
                </a:solidFill>
                <a:latin typeface="Calibri"/>
                <a:ea typeface="Calibri"/>
                <a:cs typeface="Calibri"/>
                <a:sym typeface="Calibri"/>
              </a:defRPr>
            </a:lvl8pPr>
            <a:lvl9pPr indent="-317500" lvl="8" marL="4114800" rtl="0" algn="l">
              <a:spcBef>
                <a:spcPts val="1600"/>
              </a:spcBef>
              <a:spcAft>
                <a:spcPts val="1600"/>
              </a:spcAft>
              <a:buClr>
                <a:schemeClr val="dk1"/>
              </a:buClr>
              <a:buSzPts val="1400"/>
              <a:buFont typeface="Calibri"/>
              <a:buChar char="●"/>
              <a:defRPr sz="2000">
                <a:solidFill>
                  <a:schemeClr val="dk1"/>
                </a:solidFill>
                <a:latin typeface="Calibri"/>
                <a:ea typeface="Calibri"/>
                <a:cs typeface="Calibri"/>
                <a:sym typeface="Calibri"/>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3.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52" name="Google Shape;52;p13"/>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rtl="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Economica"/>
                <a:ea typeface="Economica"/>
                <a:cs typeface="Economica"/>
                <a:sym typeface="Economica"/>
              </a:defRPr>
            </a:lvl1pPr>
            <a:lvl2pPr lvl="1" rtl="0" algn="r">
              <a:buNone/>
              <a:defRPr sz="1000">
                <a:solidFill>
                  <a:schemeClr val="dk1"/>
                </a:solidFill>
                <a:latin typeface="Economica"/>
                <a:ea typeface="Economica"/>
                <a:cs typeface="Economica"/>
                <a:sym typeface="Economica"/>
              </a:defRPr>
            </a:lvl2pPr>
            <a:lvl3pPr lvl="2" rtl="0" algn="r">
              <a:buNone/>
              <a:defRPr sz="1000">
                <a:solidFill>
                  <a:schemeClr val="dk1"/>
                </a:solidFill>
                <a:latin typeface="Economica"/>
                <a:ea typeface="Economica"/>
                <a:cs typeface="Economica"/>
                <a:sym typeface="Economica"/>
              </a:defRPr>
            </a:lvl3pPr>
            <a:lvl4pPr lvl="3" rtl="0" algn="r">
              <a:buNone/>
              <a:defRPr sz="1000">
                <a:solidFill>
                  <a:schemeClr val="dk1"/>
                </a:solidFill>
                <a:latin typeface="Economica"/>
                <a:ea typeface="Economica"/>
                <a:cs typeface="Economica"/>
                <a:sym typeface="Economica"/>
              </a:defRPr>
            </a:lvl4pPr>
            <a:lvl5pPr lvl="4" rtl="0" algn="r">
              <a:buNone/>
              <a:defRPr sz="1000">
                <a:solidFill>
                  <a:schemeClr val="dk1"/>
                </a:solidFill>
                <a:latin typeface="Economica"/>
                <a:ea typeface="Economica"/>
                <a:cs typeface="Economica"/>
                <a:sym typeface="Economica"/>
              </a:defRPr>
            </a:lvl5pPr>
            <a:lvl6pPr lvl="5" rtl="0" algn="r">
              <a:buNone/>
              <a:defRPr sz="1000">
                <a:solidFill>
                  <a:schemeClr val="dk1"/>
                </a:solidFill>
                <a:latin typeface="Economica"/>
                <a:ea typeface="Economica"/>
                <a:cs typeface="Economica"/>
                <a:sym typeface="Economica"/>
              </a:defRPr>
            </a:lvl6pPr>
            <a:lvl7pPr lvl="6" rtl="0" algn="r">
              <a:buNone/>
              <a:defRPr sz="1000">
                <a:solidFill>
                  <a:schemeClr val="dk1"/>
                </a:solidFill>
                <a:latin typeface="Economica"/>
                <a:ea typeface="Economica"/>
                <a:cs typeface="Economica"/>
                <a:sym typeface="Economica"/>
              </a:defRPr>
            </a:lvl7pPr>
            <a:lvl8pPr lvl="7" rtl="0" algn="r">
              <a:buNone/>
              <a:defRPr sz="1000">
                <a:solidFill>
                  <a:schemeClr val="dk1"/>
                </a:solidFill>
                <a:latin typeface="Economica"/>
                <a:ea typeface="Economica"/>
                <a:cs typeface="Economica"/>
                <a:sym typeface="Economica"/>
              </a:defRPr>
            </a:lvl8pPr>
            <a:lvl9pPr lvl="8" rtl="0"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 Id="rId3" Type="http://schemas.openxmlformats.org/officeDocument/2006/relationships/image" Target="../media/image2.gif"/><Relationship Id="rId4" Type="http://schemas.openxmlformats.org/officeDocument/2006/relationships/image" Target="../media/image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3.xml"/><Relationship Id="rId3" Type="http://schemas.openxmlformats.org/officeDocument/2006/relationships/image" Target="../media/image2.gif"/><Relationship Id="rId4" Type="http://schemas.openxmlformats.org/officeDocument/2006/relationships/image" Target="../media/image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4.xml"/><Relationship Id="rId3" Type="http://schemas.openxmlformats.org/officeDocument/2006/relationships/image" Target="../media/image2.gif"/><Relationship Id="rId4" Type="http://schemas.openxmlformats.org/officeDocument/2006/relationships/image" Target="../media/image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5.xml"/><Relationship Id="rId3" Type="http://schemas.openxmlformats.org/officeDocument/2006/relationships/image" Target="../media/image1.jpg"/><Relationship Id="rId4" Type="http://schemas.openxmlformats.org/officeDocument/2006/relationships/image" Target="../media/image3.gi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1.jpg"/><Relationship Id="rId4" Type="http://schemas.openxmlformats.org/officeDocument/2006/relationships/image" Target="../media/image3.gi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7.xml"/><Relationship Id="rId3" Type="http://schemas.openxmlformats.org/officeDocument/2006/relationships/image" Target="../media/image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8.xml"/><Relationship Id="rId3" Type="http://schemas.openxmlformats.org/officeDocument/2006/relationships/image" Target="../media/image1.jpg"/><Relationship Id="rId4" Type="http://schemas.openxmlformats.org/officeDocument/2006/relationships/image" Target="../media/image9.png"/><Relationship Id="rId5"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7.xml"/><Relationship Id="rId3"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8.xml"/><Relationship Id="rId3" Type="http://schemas.openxmlformats.org/officeDocument/2006/relationships/image" Target="../media/image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1.xml"/><Relationship Id="rId3" Type="http://schemas.openxmlformats.org/officeDocument/2006/relationships/image" Target="../media/image1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2.xml"/><Relationship Id="rId3" Type="http://schemas.openxmlformats.org/officeDocument/2006/relationships/image" Target="../media/image1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3.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4.xml"/><Relationship Id="rId3" Type="http://schemas.openxmlformats.org/officeDocument/2006/relationships/image" Target="../media/image10.png"/><Relationship Id="rId4" Type="http://schemas.openxmlformats.org/officeDocument/2006/relationships/image" Target="../media/image1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7.xml"/><Relationship Id="rId3" Type="http://schemas.openxmlformats.org/officeDocument/2006/relationships/image" Target="../media/image1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8.xml"/><Relationship Id="rId3" Type="http://schemas.openxmlformats.org/officeDocument/2006/relationships/image" Target="../media/image1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9.xml"/><Relationship Id="rId3" Type="http://schemas.openxmlformats.org/officeDocument/2006/relationships/image" Target="../media/image1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1.xml"/><Relationship Id="rId3" Type="http://schemas.openxmlformats.org/officeDocument/2006/relationships/image" Target="../media/image1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2.xml"/><Relationship Id="rId3" Type="http://schemas.openxmlformats.org/officeDocument/2006/relationships/image" Target="../media/image1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7.xml"/><Relationship Id="rId3" Type="http://schemas.openxmlformats.org/officeDocument/2006/relationships/image" Target="../media/image1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8.xml"/><Relationship Id="rId3" Type="http://schemas.openxmlformats.org/officeDocument/2006/relationships/image" Target="../media/image1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2.xml"/><Relationship Id="rId3" Type="http://schemas.openxmlformats.org/officeDocument/2006/relationships/image" Target="../media/image13.png"/><Relationship Id="rId4" Type="http://schemas.openxmlformats.org/officeDocument/2006/relationships/image" Target="../media/image1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8.xml"/><Relationship Id="rId3" Type="http://schemas.openxmlformats.org/officeDocument/2006/relationships/image" Target="../media/image16.png"/><Relationship Id="rId4" Type="http://schemas.openxmlformats.org/officeDocument/2006/relationships/image" Target="../media/image1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9.xml"/><Relationship Id="rId3" Type="http://schemas.openxmlformats.org/officeDocument/2006/relationships/image" Target="../media/image17.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0.xml"/><Relationship Id="rId3" Type="http://schemas.openxmlformats.org/officeDocument/2006/relationships/image" Target="../media/image18.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3.xml"/><Relationship Id="rId3" Type="http://schemas.openxmlformats.org/officeDocument/2006/relationships/image" Target="../media/image28.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4.xml"/><Relationship Id="rId3" Type="http://schemas.openxmlformats.org/officeDocument/2006/relationships/image" Target="../media/image29.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5.xml"/><Relationship Id="rId3" Type="http://schemas.openxmlformats.org/officeDocument/2006/relationships/image" Target="../media/image28.png"/><Relationship Id="rId4" Type="http://schemas.openxmlformats.org/officeDocument/2006/relationships/image" Target="../media/image29.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5.xml"/><Relationship Id="rId3" Type="http://schemas.openxmlformats.org/officeDocument/2006/relationships/image" Target="../media/image27.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6.xml"/><Relationship Id="rId3" Type="http://schemas.openxmlformats.org/officeDocument/2006/relationships/image" Target="../media/image27.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7.xml"/><Relationship Id="rId3" Type="http://schemas.openxmlformats.org/officeDocument/2006/relationships/image" Target="../media/image27.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8.xml"/><Relationship Id="rId3" Type="http://schemas.openxmlformats.org/officeDocument/2006/relationships/image" Target="../media/image25.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2.xml"/><Relationship Id="rId3" Type="http://schemas.openxmlformats.org/officeDocument/2006/relationships/image" Target="../media/image20.gif"/></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3.xml"/><Relationship Id="rId3" Type="http://schemas.openxmlformats.org/officeDocument/2006/relationships/image" Target="../media/image20.gif"/></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4.xml"/><Relationship Id="rId3" Type="http://schemas.openxmlformats.org/officeDocument/2006/relationships/image" Target="../media/image23.png"/><Relationship Id="rId4" Type="http://schemas.openxmlformats.org/officeDocument/2006/relationships/image" Target="../media/image22.gif"/><Relationship Id="rId5" Type="http://schemas.openxmlformats.org/officeDocument/2006/relationships/image" Target="../media/image20.gif"/></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5.xml"/><Relationship Id="rId3" Type="http://schemas.openxmlformats.org/officeDocument/2006/relationships/image" Target="../media/image23.png"/><Relationship Id="rId4" Type="http://schemas.openxmlformats.org/officeDocument/2006/relationships/image" Target="../media/image22.gif"/><Relationship Id="rId5" Type="http://schemas.openxmlformats.org/officeDocument/2006/relationships/image" Target="../media/image21.gif"/></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6.xml"/><Relationship Id="rId3" Type="http://schemas.openxmlformats.org/officeDocument/2006/relationships/image" Target="../media/image24.png"/><Relationship Id="rId4" Type="http://schemas.openxmlformats.org/officeDocument/2006/relationships/image" Target="../media/image21.gif"/></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7.xml"/><Relationship Id="rId3" Type="http://schemas.openxmlformats.org/officeDocument/2006/relationships/image" Target="../media/image21.gif"/><Relationship Id="rId4" Type="http://schemas.openxmlformats.org/officeDocument/2006/relationships/image" Target="../media/image26.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109" name="Shape 109"/>
        <p:cNvGrpSpPr/>
        <p:nvPr/>
      </p:nvGrpSpPr>
      <p:grpSpPr>
        <a:xfrm>
          <a:off x="0" y="0"/>
          <a:ext cx="0" cy="0"/>
          <a:chOff x="0" y="0"/>
          <a:chExt cx="0" cy="0"/>
        </a:xfrm>
      </p:grpSpPr>
      <p:sp>
        <p:nvSpPr>
          <p:cNvPr id="110" name="Google Shape;110;p26"/>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Centrality in Networks</a:t>
            </a:r>
            <a:endParaRPr/>
          </a:p>
        </p:txBody>
      </p:sp>
      <p:sp>
        <p:nvSpPr>
          <p:cNvPr id="111" name="Google Shape;111;p26"/>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grpSp>
        <p:nvGrpSpPr>
          <p:cNvPr id="116" name="Google Shape;116;p27"/>
          <p:cNvGrpSpPr/>
          <p:nvPr/>
        </p:nvGrpSpPr>
        <p:grpSpPr>
          <a:xfrm>
            <a:off x="4725650" y="1479057"/>
            <a:ext cx="3820529" cy="747300"/>
            <a:chOff x="4530625" y="1206568"/>
            <a:chExt cx="3820529" cy="747300"/>
          </a:xfrm>
        </p:grpSpPr>
        <p:cxnSp>
          <p:nvCxnSpPr>
            <p:cNvPr id="117" name="Google Shape;117;p27"/>
            <p:cNvCxnSpPr/>
            <p:nvPr/>
          </p:nvCxnSpPr>
          <p:spPr>
            <a:xfrm>
              <a:off x="4530625" y="1582195"/>
              <a:ext cx="1652700" cy="0"/>
            </a:xfrm>
            <a:prstGeom prst="straightConnector1">
              <a:avLst/>
            </a:prstGeom>
            <a:noFill/>
            <a:ln cap="flat" cmpd="sng" w="9525">
              <a:solidFill>
                <a:srgbClr val="BDBDBD"/>
              </a:solidFill>
              <a:prstDash val="solid"/>
              <a:round/>
              <a:headEnd len="sm" w="sm" type="none"/>
              <a:tailEnd len="sm" w="sm" type="none"/>
            </a:ln>
          </p:spPr>
        </p:cxnSp>
        <p:sp>
          <p:nvSpPr>
            <p:cNvPr id="118" name="Google Shape;118;p27"/>
            <p:cNvSpPr/>
            <p:nvPr/>
          </p:nvSpPr>
          <p:spPr>
            <a:xfrm>
              <a:off x="6014671" y="1481782"/>
              <a:ext cx="198600" cy="198300"/>
            </a:xfrm>
            <a:prstGeom prst="ellipse">
              <a:avLst/>
            </a:prstGeom>
            <a:solidFill>
              <a:srgbClr val="701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7"/>
            <p:cNvSpPr txBox="1"/>
            <p:nvPr/>
          </p:nvSpPr>
          <p:spPr>
            <a:xfrm>
              <a:off x="5990215" y="142376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1</a:t>
              </a:r>
              <a:endParaRPr>
                <a:solidFill>
                  <a:srgbClr val="FFFFFF"/>
                </a:solidFill>
              </a:endParaRPr>
            </a:p>
          </p:txBody>
        </p:sp>
        <p:sp>
          <p:nvSpPr>
            <p:cNvPr id="120" name="Google Shape;120;p27"/>
            <p:cNvSpPr txBox="1"/>
            <p:nvPr/>
          </p:nvSpPr>
          <p:spPr>
            <a:xfrm>
              <a:off x="6223854" y="1206568"/>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Individual</a:t>
              </a:r>
              <a:endParaRPr b="1" sz="1800">
                <a:latin typeface="Roboto"/>
                <a:ea typeface="Roboto"/>
                <a:cs typeface="Roboto"/>
                <a:sym typeface="Roboto"/>
              </a:endParaRPr>
            </a:p>
          </p:txBody>
        </p:sp>
      </p:grpSp>
      <p:grpSp>
        <p:nvGrpSpPr>
          <p:cNvPr id="121" name="Google Shape;121;p27"/>
          <p:cNvGrpSpPr/>
          <p:nvPr/>
        </p:nvGrpSpPr>
        <p:grpSpPr>
          <a:xfrm>
            <a:off x="5259475" y="2411864"/>
            <a:ext cx="3286704" cy="747300"/>
            <a:chOff x="5064450" y="2086419"/>
            <a:chExt cx="3286704" cy="747300"/>
          </a:xfrm>
        </p:grpSpPr>
        <p:cxnSp>
          <p:nvCxnSpPr>
            <p:cNvPr id="122" name="Google Shape;122;p27"/>
            <p:cNvCxnSpPr/>
            <p:nvPr/>
          </p:nvCxnSpPr>
          <p:spPr>
            <a:xfrm>
              <a:off x="5064450" y="2460069"/>
              <a:ext cx="1119000" cy="0"/>
            </a:xfrm>
            <a:prstGeom prst="straightConnector1">
              <a:avLst/>
            </a:prstGeom>
            <a:noFill/>
            <a:ln cap="flat" cmpd="sng" w="9525">
              <a:solidFill>
                <a:srgbClr val="BDBDBD"/>
              </a:solidFill>
              <a:prstDash val="solid"/>
              <a:round/>
              <a:headEnd len="sm" w="sm" type="none"/>
              <a:tailEnd len="sm" w="sm" type="none"/>
            </a:ln>
          </p:spPr>
        </p:cxnSp>
        <p:sp>
          <p:nvSpPr>
            <p:cNvPr id="123" name="Google Shape;123;p27"/>
            <p:cNvSpPr/>
            <p:nvPr/>
          </p:nvSpPr>
          <p:spPr>
            <a:xfrm>
              <a:off x="6014671" y="2353882"/>
              <a:ext cx="198600" cy="198300"/>
            </a:xfrm>
            <a:prstGeom prst="ellipse">
              <a:avLst/>
            </a:prstGeom>
            <a:solidFill>
              <a:srgbClr val="761E8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7"/>
            <p:cNvSpPr txBox="1"/>
            <p:nvPr/>
          </p:nvSpPr>
          <p:spPr>
            <a:xfrm>
              <a:off x="5991690" y="2295028"/>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3</a:t>
              </a:r>
              <a:endParaRPr>
                <a:solidFill>
                  <a:srgbClr val="FFFFFF"/>
                </a:solidFill>
              </a:endParaRPr>
            </a:p>
          </p:txBody>
        </p:sp>
        <p:sp>
          <p:nvSpPr>
            <p:cNvPr id="125" name="Google Shape;125;p27"/>
            <p:cNvSpPr txBox="1"/>
            <p:nvPr/>
          </p:nvSpPr>
          <p:spPr>
            <a:xfrm>
              <a:off x="6223854" y="2086419"/>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Triads</a:t>
              </a:r>
              <a:endParaRPr b="1" sz="1800">
                <a:latin typeface="Roboto"/>
                <a:ea typeface="Roboto"/>
                <a:cs typeface="Roboto"/>
                <a:sym typeface="Roboto"/>
              </a:endParaRPr>
            </a:p>
          </p:txBody>
        </p:sp>
      </p:grpSp>
      <p:grpSp>
        <p:nvGrpSpPr>
          <p:cNvPr id="126" name="Google Shape;126;p27"/>
          <p:cNvGrpSpPr/>
          <p:nvPr/>
        </p:nvGrpSpPr>
        <p:grpSpPr>
          <a:xfrm>
            <a:off x="5769175" y="3491301"/>
            <a:ext cx="2777004" cy="747300"/>
            <a:chOff x="5574150" y="3083456"/>
            <a:chExt cx="2777004" cy="747300"/>
          </a:xfrm>
        </p:grpSpPr>
        <p:cxnSp>
          <p:nvCxnSpPr>
            <p:cNvPr id="127" name="Google Shape;127;p27"/>
            <p:cNvCxnSpPr/>
            <p:nvPr/>
          </p:nvCxnSpPr>
          <p:spPr>
            <a:xfrm>
              <a:off x="5574150" y="3449448"/>
              <a:ext cx="609300" cy="0"/>
            </a:xfrm>
            <a:prstGeom prst="straightConnector1">
              <a:avLst/>
            </a:prstGeom>
            <a:noFill/>
            <a:ln cap="flat" cmpd="sng" w="9525">
              <a:solidFill>
                <a:srgbClr val="BDBDBD"/>
              </a:solidFill>
              <a:prstDash val="solid"/>
              <a:round/>
              <a:headEnd len="sm" w="sm" type="none"/>
              <a:tailEnd len="sm" w="sm" type="none"/>
            </a:ln>
          </p:spPr>
        </p:cxnSp>
        <p:sp>
          <p:nvSpPr>
            <p:cNvPr id="128" name="Google Shape;128;p27"/>
            <p:cNvSpPr/>
            <p:nvPr/>
          </p:nvSpPr>
          <p:spPr>
            <a:xfrm>
              <a:off x="6014671" y="3349032"/>
              <a:ext cx="198600" cy="198300"/>
            </a:xfrm>
            <a:prstGeom prst="ellipse">
              <a:avLst/>
            </a:prstGeom>
            <a:solidFill>
              <a:srgbClr val="9225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7"/>
            <p:cNvSpPr txBox="1"/>
            <p:nvPr/>
          </p:nvSpPr>
          <p:spPr>
            <a:xfrm>
              <a:off x="5991690" y="329111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5</a:t>
              </a:r>
              <a:endParaRPr>
                <a:solidFill>
                  <a:srgbClr val="FFFFFF"/>
                </a:solidFill>
              </a:endParaRPr>
            </a:p>
          </p:txBody>
        </p:sp>
        <p:sp>
          <p:nvSpPr>
            <p:cNvPr id="130" name="Google Shape;130;p27"/>
            <p:cNvSpPr txBox="1"/>
            <p:nvPr/>
          </p:nvSpPr>
          <p:spPr>
            <a:xfrm>
              <a:off x="6223854" y="3083456"/>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Whole Network</a:t>
              </a:r>
              <a:endParaRPr b="1" sz="1800">
                <a:latin typeface="Roboto"/>
                <a:ea typeface="Roboto"/>
                <a:cs typeface="Roboto"/>
                <a:sym typeface="Roboto"/>
              </a:endParaRPr>
            </a:p>
          </p:txBody>
        </p:sp>
      </p:grpSp>
      <p:grpSp>
        <p:nvGrpSpPr>
          <p:cNvPr id="131" name="Google Shape;131;p27"/>
          <p:cNvGrpSpPr/>
          <p:nvPr/>
        </p:nvGrpSpPr>
        <p:grpSpPr>
          <a:xfrm>
            <a:off x="597801" y="1980193"/>
            <a:ext cx="3468724" cy="747300"/>
            <a:chOff x="744101" y="1672393"/>
            <a:chExt cx="3468724" cy="747300"/>
          </a:xfrm>
        </p:grpSpPr>
        <p:cxnSp>
          <p:nvCxnSpPr>
            <p:cNvPr id="132" name="Google Shape;132;p27"/>
            <p:cNvCxnSpPr/>
            <p:nvPr/>
          </p:nvCxnSpPr>
          <p:spPr>
            <a:xfrm rot="10800000">
              <a:off x="2921325" y="2046050"/>
              <a:ext cx="1291500" cy="0"/>
            </a:xfrm>
            <a:prstGeom prst="straightConnector1">
              <a:avLst/>
            </a:prstGeom>
            <a:noFill/>
            <a:ln cap="flat" cmpd="sng" w="9525">
              <a:solidFill>
                <a:srgbClr val="BDBDBD"/>
              </a:solidFill>
              <a:prstDash val="solid"/>
              <a:round/>
              <a:headEnd len="sm" w="sm" type="none"/>
              <a:tailEnd len="sm" w="sm" type="none"/>
            </a:ln>
          </p:spPr>
        </p:cxnSp>
        <p:sp>
          <p:nvSpPr>
            <p:cNvPr id="133" name="Google Shape;133;p27"/>
            <p:cNvSpPr/>
            <p:nvPr/>
          </p:nvSpPr>
          <p:spPr>
            <a:xfrm>
              <a:off x="2874851" y="1943786"/>
              <a:ext cx="198600" cy="198300"/>
            </a:xfrm>
            <a:prstGeom prst="ellipse">
              <a:avLst/>
            </a:prstGeom>
            <a:solidFill>
              <a:srgbClr val="701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7"/>
            <p:cNvSpPr txBox="1"/>
            <p:nvPr/>
          </p:nvSpPr>
          <p:spPr>
            <a:xfrm>
              <a:off x="2849841" y="1884747"/>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2</a:t>
              </a:r>
              <a:endParaRPr>
                <a:solidFill>
                  <a:srgbClr val="FFFFFF"/>
                </a:solidFill>
              </a:endParaRPr>
            </a:p>
          </p:txBody>
        </p:sp>
        <p:sp>
          <p:nvSpPr>
            <p:cNvPr id="135" name="Google Shape;135;p27"/>
            <p:cNvSpPr txBox="1"/>
            <p:nvPr/>
          </p:nvSpPr>
          <p:spPr>
            <a:xfrm>
              <a:off x="744101" y="1672393"/>
              <a:ext cx="2127300" cy="7473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1600"/>
                </a:spcAft>
                <a:buNone/>
              </a:pPr>
              <a:r>
                <a:rPr b="1" lang="en" sz="1800">
                  <a:latin typeface="Roboto"/>
                  <a:ea typeface="Roboto"/>
                  <a:cs typeface="Roboto"/>
                  <a:sym typeface="Roboto"/>
                </a:rPr>
                <a:t>Dyads</a:t>
              </a:r>
              <a:endParaRPr b="1" sz="1800">
                <a:latin typeface="Roboto"/>
                <a:ea typeface="Roboto"/>
                <a:cs typeface="Roboto"/>
                <a:sym typeface="Roboto"/>
              </a:endParaRPr>
            </a:p>
          </p:txBody>
        </p:sp>
      </p:grpSp>
      <p:grpSp>
        <p:nvGrpSpPr>
          <p:cNvPr id="136" name="Google Shape;136;p27"/>
          <p:cNvGrpSpPr/>
          <p:nvPr/>
        </p:nvGrpSpPr>
        <p:grpSpPr>
          <a:xfrm>
            <a:off x="597801" y="2897769"/>
            <a:ext cx="3021694" cy="747300"/>
            <a:chOff x="744101" y="2507609"/>
            <a:chExt cx="3021694" cy="747300"/>
          </a:xfrm>
        </p:grpSpPr>
        <p:cxnSp>
          <p:nvCxnSpPr>
            <p:cNvPr id="137" name="Google Shape;137;p27"/>
            <p:cNvCxnSpPr/>
            <p:nvPr/>
          </p:nvCxnSpPr>
          <p:spPr>
            <a:xfrm rot="10800000">
              <a:off x="2915895" y="2881250"/>
              <a:ext cx="849900" cy="0"/>
            </a:xfrm>
            <a:prstGeom prst="straightConnector1">
              <a:avLst/>
            </a:prstGeom>
            <a:noFill/>
            <a:ln cap="flat" cmpd="sng" w="9525">
              <a:solidFill>
                <a:srgbClr val="BDBDBD"/>
              </a:solidFill>
              <a:prstDash val="solid"/>
              <a:round/>
              <a:headEnd len="sm" w="sm" type="none"/>
              <a:tailEnd len="sm" w="sm" type="none"/>
            </a:ln>
          </p:spPr>
        </p:cxnSp>
        <p:sp>
          <p:nvSpPr>
            <p:cNvPr id="138" name="Google Shape;138;p27"/>
            <p:cNvSpPr/>
            <p:nvPr/>
          </p:nvSpPr>
          <p:spPr>
            <a:xfrm>
              <a:off x="2874851" y="2780836"/>
              <a:ext cx="198600" cy="198300"/>
            </a:xfrm>
            <a:prstGeom prst="ellipse">
              <a:avLst/>
            </a:prstGeom>
            <a:solidFill>
              <a:srgbClr val="7F2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7"/>
            <p:cNvSpPr txBox="1"/>
            <p:nvPr/>
          </p:nvSpPr>
          <p:spPr>
            <a:xfrm>
              <a:off x="2849841" y="272479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4</a:t>
              </a:r>
              <a:endParaRPr>
                <a:solidFill>
                  <a:srgbClr val="FFFFFF"/>
                </a:solidFill>
              </a:endParaRPr>
            </a:p>
          </p:txBody>
        </p:sp>
        <p:sp>
          <p:nvSpPr>
            <p:cNvPr id="140" name="Google Shape;140;p27"/>
            <p:cNvSpPr txBox="1"/>
            <p:nvPr/>
          </p:nvSpPr>
          <p:spPr>
            <a:xfrm>
              <a:off x="744101" y="2507609"/>
              <a:ext cx="2127300" cy="7473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1600"/>
                </a:spcAft>
                <a:buNone/>
              </a:pPr>
              <a:r>
                <a:rPr b="1" lang="en" sz="1800">
                  <a:latin typeface="Roboto"/>
                  <a:ea typeface="Roboto"/>
                  <a:cs typeface="Roboto"/>
                  <a:sym typeface="Roboto"/>
                </a:rPr>
                <a:t>Cliques, Communities</a:t>
              </a:r>
              <a:endParaRPr b="1" sz="1800">
                <a:latin typeface="Roboto"/>
                <a:ea typeface="Roboto"/>
                <a:cs typeface="Roboto"/>
                <a:sym typeface="Roboto"/>
              </a:endParaRPr>
            </a:p>
          </p:txBody>
        </p:sp>
      </p:grpSp>
      <p:grpSp>
        <p:nvGrpSpPr>
          <p:cNvPr id="141" name="Google Shape;141;p27"/>
          <p:cNvGrpSpPr/>
          <p:nvPr/>
        </p:nvGrpSpPr>
        <p:grpSpPr>
          <a:xfrm>
            <a:off x="2811509" y="1603902"/>
            <a:ext cx="3509178" cy="3257208"/>
            <a:chOff x="3318063" y="1368287"/>
            <a:chExt cx="2408000" cy="2993482"/>
          </a:xfrm>
        </p:grpSpPr>
        <p:sp>
          <p:nvSpPr>
            <p:cNvPr id="142" name="Google Shape;142;p27"/>
            <p:cNvSpPr/>
            <p:nvPr/>
          </p:nvSpPr>
          <p:spPr>
            <a:xfrm>
              <a:off x="3595785" y="2775241"/>
              <a:ext cx="1853168" cy="919151"/>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43" name="Google Shape;143;p27"/>
            <p:cNvSpPr/>
            <p:nvPr/>
          </p:nvSpPr>
          <p:spPr>
            <a:xfrm>
              <a:off x="3318063" y="3194383"/>
              <a:ext cx="1203867" cy="1167385"/>
            </a:xfrm>
            <a:custGeom>
              <a:rect b="b" l="l" r="r" t="t"/>
              <a:pathLst>
                <a:path extrusionOk="0" h="20822" w="31954">
                  <a:moveTo>
                    <a:pt x="7355" y="0"/>
                  </a:moveTo>
                  <a:lnTo>
                    <a:pt x="31954" y="8796"/>
                  </a:lnTo>
                  <a:lnTo>
                    <a:pt x="31954" y="20822"/>
                  </a:lnTo>
                  <a:lnTo>
                    <a:pt x="0" y="8895"/>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44" name="Google Shape;144;p27"/>
            <p:cNvSpPr/>
            <p:nvPr/>
          </p:nvSpPr>
          <p:spPr>
            <a:xfrm flipH="1">
              <a:off x="4522196" y="3194383"/>
              <a:ext cx="1203867" cy="1167385"/>
            </a:xfrm>
            <a:custGeom>
              <a:rect b="b" l="l" r="r" t="t"/>
              <a:pathLst>
                <a:path extrusionOk="0" h="20822" w="31954">
                  <a:moveTo>
                    <a:pt x="7355" y="0"/>
                  </a:moveTo>
                  <a:lnTo>
                    <a:pt x="31954" y="8796"/>
                  </a:lnTo>
                  <a:lnTo>
                    <a:pt x="31954" y="20822"/>
                  </a:lnTo>
                  <a:lnTo>
                    <a:pt x="0" y="8895"/>
                  </a:lnTo>
                  <a:close/>
                </a:path>
              </a:pathLst>
            </a:custGeom>
            <a:solidFill>
              <a:srgbClr val="9225A5"/>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45" name="Google Shape;145;p27"/>
            <p:cNvSpPr/>
            <p:nvPr/>
          </p:nvSpPr>
          <p:spPr>
            <a:xfrm>
              <a:off x="3844034" y="2401368"/>
              <a:ext cx="1356545" cy="672851"/>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46" name="Google Shape;146;p27"/>
            <p:cNvSpPr/>
            <p:nvPr/>
          </p:nvSpPr>
          <p:spPr>
            <a:xfrm>
              <a:off x="3930892" y="2272397"/>
              <a:ext cx="1175304" cy="581421"/>
            </a:xfrm>
            <a:custGeom>
              <a:rect b="b" l="l" r="r" t="t"/>
              <a:pathLst>
                <a:path extrusionOk="0" h="16300" w="49248">
                  <a:moveTo>
                    <a:pt x="0" y="7554"/>
                  </a:moveTo>
                  <a:lnTo>
                    <a:pt x="24649" y="16300"/>
                  </a:lnTo>
                  <a:lnTo>
                    <a:pt x="49248" y="7604"/>
                  </a:lnTo>
                  <a:lnTo>
                    <a:pt x="24599"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47" name="Google Shape;147;p27"/>
            <p:cNvSpPr/>
            <p:nvPr/>
          </p:nvSpPr>
          <p:spPr>
            <a:xfrm>
              <a:off x="4052837" y="2081437"/>
              <a:ext cx="931314" cy="460727"/>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48" name="Google Shape;148;p27"/>
            <p:cNvSpPr/>
            <p:nvPr/>
          </p:nvSpPr>
          <p:spPr>
            <a:xfrm>
              <a:off x="4233144" y="1787006"/>
              <a:ext cx="573183" cy="289305"/>
            </a:xfrm>
            <a:custGeom>
              <a:rect b="b" l="l" r="r" t="t"/>
              <a:pathLst>
                <a:path extrusionOk="0" h="8150" w="24053">
                  <a:moveTo>
                    <a:pt x="0" y="3827"/>
                  </a:moveTo>
                  <a:lnTo>
                    <a:pt x="11976" y="8150"/>
                  </a:lnTo>
                  <a:lnTo>
                    <a:pt x="24053" y="3827"/>
                  </a:lnTo>
                  <a:lnTo>
                    <a:pt x="12126"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49" name="Google Shape;149;p27"/>
            <p:cNvSpPr/>
            <p:nvPr/>
          </p:nvSpPr>
          <p:spPr>
            <a:xfrm>
              <a:off x="3640743" y="2708179"/>
              <a:ext cx="881371" cy="854431"/>
            </a:xfrm>
            <a:custGeom>
              <a:rect b="b" l="l" r="r" t="t"/>
              <a:pathLst>
                <a:path extrusionOk="0" h="20822" w="31954">
                  <a:moveTo>
                    <a:pt x="7355" y="0"/>
                  </a:moveTo>
                  <a:lnTo>
                    <a:pt x="31954" y="8796"/>
                  </a:lnTo>
                  <a:lnTo>
                    <a:pt x="31954" y="20822"/>
                  </a:lnTo>
                  <a:lnTo>
                    <a:pt x="0" y="8895"/>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50" name="Google Shape;150;p27"/>
            <p:cNvSpPr/>
            <p:nvPr/>
          </p:nvSpPr>
          <p:spPr>
            <a:xfrm>
              <a:off x="3964720" y="2291507"/>
              <a:ext cx="555203" cy="453658"/>
            </a:xfrm>
            <a:custGeom>
              <a:rect b="b" l="l" r="r" t="t"/>
              <a:pathLst>
                <a:path extrusionOk="0" h="12771" w="23257">
                  <a:moveTo>
                    <a:pt x="3727" y="0"/>
                  </a:moveTo>
                  <a:lnTo>
                    <a:pt x="0" y="4522"/>
                  </a:lnTo>
                  <a:lnTo>
                    <a:pt x="23257" y="12771"/>
                  </a:lnTo>
                  <a:lnTo>
                    <a:pt x="23257" y="7056"/>
                  </a:lnTo>
                  <a:close/>
                </a:path>
              </a:pathLst>
            </a:custGeom>
            <a:gradFill>
              <a:gsLst>
                <a:gs pos="0">
                  <a:srgbClr val="FFCA37"/>
                </a:gs>
                <a:gs pos="100000">
                  <a:srgbClr val="AD8107"/>
                </a:gs>
              </a:gsLst>
              <a:lin ang="5400012" scaled="0"/>
            </a:gra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51" name="Google Shape;151;p27"/>
            <p:cNvSpPr/>
            <p:nvPr/>
          </p:nvSpPr>
          <p:spPr>
            <a:xfrm flipH="1">
              <a:off x="4518736" y="2291507"/>
              <a:ext cx="555203" cy="453658"/>
            </a:xfrm>
            <a:custGeom>
              <a:rect b="b" l="l" r="r" t="t"/>
              <a:pathLst>
                <a:path extrusionOk="0" h="12771" w="23257">
                  <a:moveTo>
                    <a:pt x="3727" y="0"/>
                  </a:moveTo>
                  <a:lnTo>
                    <a:pt x="0" y="4522"/>
                  </a:lnTo>
                  <a:lnTo>
                    <a:pt x="23257" y="12771"/>
                  </a:lnTo>
                  <a:lnTo>
                    <a:pt x="23257" y="7056"/>
                  </a:lnTo>
                  <a:close/>
                </a:path>
              </a:pathLst>
            </a:custGeom>
            <a:solidFill>
              <a:srgbClr val="F4B400"/>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52" name="Google Shape;152;p27"/>
            <p:cNvSpPr/>
            <p:nvPr/>
          </p:nvSpPr>
          <p:spPr>
            <a:xfrm>
              <a:off x="4084537" y="1922553"/>
              <a:ext cx="435387" cy="501365"/>
            </a:xfrm>
            <a:custGeom>
              <a:rect b="b" l="l" r="r" t="t"/>
              <a:pathLst>
                <a:path extrusionOk="0" h="14114" w="18238">
                  <a:moveTo>
                    <a:pt x="6262" y="0"/>
                  </a:moveTo>
                  <a:lnTo>
                    <a:pt x="18238" y="4324"/>
                  </a:lnTo>
                  <a:lnTo>
                    <a:pt x="18238" y="14114"/>
                  </a:lnTo>
                  <a:lnTo>
                    <a:pt x="0" y="7554"/>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53" name="Google Shape;153;p27"/>
            <p:cNvSpPr/>
            <p:nvPr/>
          </p:nvSpPr>
          <p:spPr>
            <a:xfrm flipH="1">
              <a:off x="4518735" y="1922553"/>
              <a:ext cx="435387" cy="501365"/>
            </a:xfrm>
            <a:custGeom>
              <a:rect b="b" l="l" r="r" t="t"/>
              <a:pathLst>
                <a:path extrusionOk="0" h="14114" w="18238">
                  <a:moveTo>
                    <a:pt x="6262" y="0"/>
                  </a:moveTo>
                  <a:lnTo>
                    <a:pt x="18238" y="4324"/>
                  </a:lnTo>
                  <a:lnTo>
                    <a:pt x="18238" y="14114"/>
                  </a:lnTo>
                  <a:lnTo>
                    <a:pt x="0" y="7554"/>
                  </a:lnTo>
                  <a:close/>
                </a:path>
              </a:pathLst>
            </a:custGeom>
            <a:solidFill>
              <a:srgbClr val="701C7F"/>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54" name="Google Shape;154;p27"/>
            <p:cNvSpPr/>
            <p:nvPr/>
          </p:nvSpPr>
          <p:spPr>
            <a:xfrm>
              <a:off x="4266040" y="1368287"/>
              <a:ext cx="253884" cy="593119"/>
            </a:xfrm>
            <a:custGeom>
              <a:rect b="b" l="l" r="r" t="t"/>
              <a:pathLst>
                <a:path extrusionOk="0" h="16697" w="10635">
                  <a:moveTo>
                    <a:pt x="10635" y="0"/>
                  </a:moveTo>
                  <a:lnTo>
                    <a:pt x="0" y="12722"/>
                  </a:lnTo>
                  <a:lnTo>
                    <a:pt x="10635" y="16697"/>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55" name="Google Shape;155;p27"/>
            <p:cNvSpPr/>
            <p:nvPr/>
          </p:nvSpPr>
          <p:spPr>
            <a:xfrm flipH="1">
              <a:off x="4518734" y="1368287"/>
              <a:ext cx="253884" cy="593119"/>
            </a:xfrm>
            <a:custGeom>
              <a:rect b="b" l="l" r="r" t="t"/>
              <a:pathLst>
                <a:path extrusionOk="0" h="16697" w="10635">
                  <a:moveTo>
                    <a:pt x="10635" y="0"/>
                  </a:moveTo>
                  <a:lnTo>
                    <a:pt x="0" y="12722"/>
                  </a:lnTo>
                  <a:lnTo>
                    <a:pt x="10635" y="16697"/>
                  </a:lnTo>
                  <a:close/>
                </a:path>
              </a:pathLst>
            </a:custGeom>
            <a:solidFill>
              <a:srgbClr val="701C7F"/>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56" name="Google Shape;156;p27"/>
            <p:cNvSpPr/>
            <p:nvPr/>
          </p:nvSpPr>
          <p:spPr>
            <a:xfrm>
              <a:off x="3877348" y="2290728"/>
              <a:ext cx="642683" cy="657851"/>
            </a:xfrm>
            <a:custGeom>
              <a:rect b="b" l="l" r="r" t="t"/>
              <a:pathLst>
                <a:path extrusionOk="0" h="46623" w="65016">
                  <a:moveTo>
                    <a:pt x="17858" y="0"/>
                  </a:moveTo>
                  <a:lnTo>
                    <a:pt x="0" y="22135"/>
                  </a:lnTo>
                  <a:lnTo>
                    <a:pt x="65016" y="46623"/>
                  </a:lnTo>
                  <a:lnTo>
                    <a:pt x="65016" y="17537"/>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57" name="Google Shape;157;p27"/>
            <p:cNvSpPr/>
            <p:nvPr/>
          </p:nvSpPr>
          <p:spPr>
            <a:xfrm flipH="1">
              <a:off x="4518572" y="2291772"/>
              <a:ext cx="642683" cy="657851"/>
            </a:xfrm>
            <a:custGeom>
              <a:rect b="b" l="l" r="r" t="t"/>
              <a:pathLst>
                <a:path extrusionOk="0" h="46623" w="65016">
                  <a:moveTo>
                    <a:pt x="17858" y="0"/>
                  </a:moveTo>
                  <a:lnTo>
                    <a:pt x="0" y="22135"/>
                  </a:lnTo>
                  <a:lnTo>
                    <a:pt x="65016" y="46623"/>
                  </a:lnTo>
                  <a:lnTo>
                    <a:pt x="65016" y="17537"/>
                  </a:lnTo>
                  <a:close/>
                </a:path>
              </a:pathLst>
            </a:custGeom>
            <a:solidFill>
              <a:srgbClr val="761E86"/>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58" name="Google Shape;158;p27"/>
            <p:cNvSpPr/>
            <p:nvPr/>
          </p:nvSpPr>
          <p:spPr>
            <a:xfrm flipH="1">
              <a:off x="4522009" y="2708179"/>
              <a:ext cx="881371" cy="854431"/>
            </a:xfrm>
            <a:custGeom>
              <a:rect b="b" l="l" r="r" t="t"/>
              <a:pathLst>
                <a:path extrusionOk="0" h="20822" w="31954">
                  <a:moveTo>
                    <a:pt x="7355" y="0"/>
                  </a:moveTo>
                  <a:lnTo>
                    <a:pt x="31954" y="8796"/>
                  </a:lnTo>
                  <a:lnTo>
                    <a:pt x="31954" y="20822"/>
                  </a:lnTo>
                  <a:lnTo>
                    <a:pt x="0" y="8895"/>
                  </a:lnTo>
                  <a:close/>
                </a:path>
              </a:pathLst>
            </a:custGeom>
            <a:solidFill>
              <a:srgbClr val="7F2090"/>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grpSp>
      <p:sp>
        <p:nvSpPr>
          <p:cNvPr id="159" name="Google Shape;159;p27"/>
          <p:cNvSpPr txBox="1"/>
          <p:nvPr/>
        </p:nvSpPr>
        <p:spPr>
          <a:xfrm>
            <a:off x="78425" y="3815350"/>
            <a:ext cx="2777100" cy="132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Economica"/>
                <a:ea typeface="Economica"/>
                <a:cs typeface="Economica"/>
                <a:sym typeface="Economica"/>
              </a:rPr>
              <a:t> The first part of the course follows this organization!</a:t>
            </a:r>
            <a:endParaRPr b="1" sz="2400">
              <a:latin typeface="Economica"/>
              <a:ea typeface="Economica"/>
              <a:cs typeface="Economica"/>
              <a:sym typeface="Economica"/>
            </a:endParaRPr>
          </a:p>
        </p:txBody>
      </p:sp>
      <p:sp>
        <p:nvSpPr>
          <p:cNvPr id="160" name="Google Shape;160;p2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Levels of Analysis in social networks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grpSp>
        <p:nvGrpSpPr>
          <p:cNvPr id="165" name="Google Shape;165;p28"/>
          <p:cNvGrpSpPr/>
          <p:nvPr/>
        </p:nvGrpSpPr>
        <p:grpSpPr>
          <a:xfrm>
            <a:off x="4725650" y="1479057"/>
            <a:ext cx="3820529" cy="747300"/>
            <a:chOff x="4530625" y="1206568"/>
            <a:chExt cx="3820529" cy="747300"/>
          </a:xfrm>
        </p:grpSpPr>
        <p:cxnSp>
          <p:nvCxnSpPr>
            <p:cNvPr id="166" name="Google Shape;166;p28"/>
            <p:cNvCxnSpPr/>
            <p:nvPr/>
          </p:nvCxnSpPr>
          <p:spPr>
            <a:xfrm>
              <a:off x="4530625" y="1582195"/>
              <a:ext cx="1652700" cy="0"/>
            </a:xfrm>
            <a:prstGeom prst="straightConnector1">
              <a:avLst/>
            </a:prstGeom>
            <a:noFill/>
            <a:ln cap="flat" cmpd="sng" w="9525">
              <a:solidFill>
                <a:srgbClr val="BDBDBD"/>
              </a:solidFill>
              <a:prstDash val="solid"/>
              <a:round/>
              <a:headEnd len="sm" w="sm" type="none"/>
              <a:tailEnd len="sm" w="sm" type="none"/>
            </a:ln>
          </p:spPr>
        </p:cxnSp>
        <p:sp>
          <p:nvSpPr>
            <p:cNvPr id="167" name="Google Shape;167;p28"/>
            <p:cNvSpPr/>
            <p:nvPr/>
          </p:nvSpPr>
          <p:spPr>
            <a:xfrm>
              <a:off x="6014671" y="1481782"/>
              <a:ext cx="198600" cy="198300"/>
            </a:xfrm>
            <a:prstGeom prst="ellipse">
              <a:avLst/>
            </a:prstGeom>
            <a:solidFill>
              <a:srgbClr val="701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8"/>
            <p:cNvSpPr txBox="1"/>
            <p:nvPr/>
          </p:nvSpPr>
          <p:spPr>
            <a:xfrm>
              <a:off x="5990215" y="142376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1</a:t>
              </a:r>
              <a:endParaRPr>
                <a:solidFill>
                  <a:srgbClr val="FFFFFF"/>
                </a:solidFill>
              </a:endParaRPr>
            </a:p>
          </p:txBody>
        </p:sp>
        <p:sp>
          <p:nvSpPr>
            <p:cNvPr id="169" name="Google Shape;169;p28"/>
            <p:cNvSpPr txBox="1"/>
            <p:nvPr/>
          </p:nvSpPr>
          <p:spPr>
            <a:xfrm>
              <a:off x="6223854" y="1206568"/>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Individual</a:t>
              </a:r>
              <a:endParaRPr b="1" sz="1800">
                <a:latin typeface="Roboto"/>
                <a:ea typeface="Roboto"/>
                <a:cs typeface="Roboto"/>
                <a:sym typeface="Roboto"/>
              </a:endParaRPr>
            </a:p>
          </p:txBody>
        </p:sp>
      </p:grpSp>
      <p:grpSp>
        <p:nvGrpSpPr>
          <p:cNvPr id="170" name="Google Shape;170;p28"/>
          <p:cNvGrpSpPr/>
          <p:nvPr/>
        </p:nvGrpSpPr>
        <p:grpSpPr>
          <a:xfrm>
            <a:off x="5769175" y="3491301"/>
            <a:ext cx="2777004" cy="747300"/>
            <a:chOff x="5574150" y="3083456"/>
            <a:chExt cx="2777004" cy="747300"/>
          </a:xfrm>
        </p:grpSpPr>
        <p:cxnSp>
          <p:nvCxnSpPr>
            <p:cNvPr id="171" name="Google Shape;171;p28"/>
            <p:cNvCxnSpPr/>
            <p:nvPr/>
          </p:nvCxnSpPr>
          <p:spPr>
            <a:xfrm>
              <a:off x="5574150" y="3449448"/>
              <a:ext cx="609300" cy="0"/>
            </a:xfrm>
            <a:prstGeom prst="straightConnector1">
              <a:avLst/>
            </a:prstGeom>
            <a:noFill/>
            <a:ln cap="flat" cmpd="sng" w="9525">
              <a:solidFill>
                <a:srgbClr val="BDBDBD"/>
              </a:solidFill>
              <a:prstDash val="solid"/>
              <a:round/>
              <a:headEnd len="sm" w="sm" type="none"/>
              <a:tailEnd len="sm" w="sm" type="none"/>
            </a:ln>
          </p:spPr>
        </p:cxnSp>
        <p:sp>
          <p:nvSpPr>
            <p:cNvPr id="172" name="Google Shape;172;p28"/>
            <p:cNvSpPr/>
            <p:nvPr/>
          </p:nvSpPr>
          <p:spPr>
            <a:xfrm>
              <a:off x="6014671" y="3349032"/>
              <a:ext cx="198600" cy="198300"/>
            </a:xfrm>
            <a:prstGeom prst="ellipse">
              <a:avLst/>
            </a:prstGeom>
            <a:solidFill>
              <a:srgbClr val="9225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8"/>
            <p:cNvSpPr txBox="1"/>
            <p:nvPr/>
          </p:nvSpPr>
          <p:spPr>
            <a:xfrm>
              <a:off x="5991690" y="329111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5</a:t>
              </a:r>
              <a:endParaRPr>
                <a:solidFill>
                  <a:srgbClr val="FFFFFF"/>
                </a:solidFill>
              </a:endParaRPr>
            </a:p>
          </p:txBody>
        </p:sp>
        <p:sp>
          <p:nvSpPr>
            <p:cNvPr id="174" name="Google Shape;174;p28"/>
            <p:cNvSpPr txBox="1"/>
            <p:nvPr/>
          </p:nvSpPr>
          <p:spPr>
            <a:xfrm>
              <a:off x="6223854" y="3083456"/>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Whole Network</a:t>
              </a:r>
              <a:endParaRPr b="1" sz="1800">
                <a:latin typeface="Roboto"/>
                <a:ea typeface="Roboto"/>
                <a:cs typeface="Roboto"/>
                <a:sym typeface="Roboto"/>
              </a:endParaRPr>
            </a:p>
          </p:txBody>
        </p:sp>
      </p:grpSp>
      <p:grpSp>
        <p:nvGrpSpPr>
          <p:cNvPr id="175" name="Google Shape;175;p28"/>
          <p:cNvGrpSpPr/>
          <p:nvPr/>
        </p:nvGrpSpPr>
        <p:grpSpPr>
          <a:xfrm>
            <a:off x="597801" y="1980193"/>
            <a:ext cx="3468724" cy="747300"/>
            <a:chOff x="744101" y="1672393"/>
            <a:chExt cx="3468724" cy="747300"/>
          </a:xfrm>
        </p:grpSpPr>
        <p:cxnSp>
          <p:nvCxnSpPr>
            <p:cNvPr id="176" name="Google Shape;176;p28"/>
            <p:cNvCxnSpPr/>
            <p:nvPr/>
          </p:nvCxnSpPr>
          <p:spPr>
            <a:xfrm rot="10800000">
              <a:off x="2921325" y="2046050"/>
              <a:ext cx="1291500" cy="0"/>
            </a:xfrm>
            <a:prstGeom prst="straightConnector1">
              <a:avLst/>
            </a:prstGeom>
            <a:noFill/>
            <a:ln cap="flat" cmpd="sng" w="9525">
              <a:solidFill>
                <a:srgbClr val="BDBDBD"/>
              </a:solidFill>
              <a:prstDash val="solid"/>
              <a:round/>
              <a:headEnd len="sm" w="sm" type="none"/>
              <a:tailEnd len="sm" w="sm" type="none"/>
            </a:ln>
          </p:spPr>
        </p:cxnSp>
        <p:sp>
          <p:nvSpPr>
            <p:cNvPr id="177" name="Google Shape;177;p28"/>
            <p:cNvSpPr/>
            <p:nvPr/>
          </p:nvSpPr>
          <p:spPr>
            <a:xfrm>
              <a:off x="2874851" y="1943786"/>
              <a:ext cx="198600" cy="198300"/>
            </a:xfrm>
            <a:prstGeom prst="ellipse">
              <a:avLst/>
            </a:prstGeom>
            <a:solidFill>
              <a:srgbClr val="701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8"/>
            <p:cNvSpPr txBox="1"/>
            <p:nvPr/>
          </p:nvSpPr>
          <p:spPr>
            <a:xfrm>
              <a:off x="2849841" y="1884747"/>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2</a:t>
              </a:r>
              <a:endParaRPr>
                <a:solidFill>
                  <a:srgbClr val="FFFFFF"/>
                </a:solidFill>
              </a:endParaRPr>
            </a:p>
          </p:txBody>
        </p:sp>
        <p:sp>
          <p:nvSpPr>
            <p:cNvPr id="179" name="Google Shape;179;p28"/>
            <p:cNvSpPr txBox="1"/>
            <p:nvPr/>
          </p:nvSpPr>
          <p:spPr>
            <a:xfrm>
              <a:off x="744101" y="1672393"/>
              <a:ext cx="2127300" cy="7473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1600"/>
                </a:spcAft>
                <a:buNone/>
              </a:pPr>
              <a:r>
                <a:rPr b="1" lang="en" sz="1800">
                  <a:latin typeface="Roboto"/>
                  <a:ea typeface="Roboto"/>
                  <a:cs typeface="Roboto"/>
                  <a:sym typeface="Roboto"/>
                </a:rPr>
                <a:t>Dyads</a:t>
              </a:r>
              <a:endParaRPr b="1" sz="1800">
                <a:latin typeface="Roboto"/>
                <a:ea typeface="Roboto"/>
                <a:cs typeface="Roboto"/>
                <a:sym typeface="Roboto"/>
              </a:endParaRPr>
            </a:p>
          </p:txBody>
        </p:sp>
      </p:grpSp>
      <p:grpSp>
        <p:nvGrpSpPr>
          <p:cNvPr id="180" name="Google Shape;180;p28"/>
          <p:cNvGrpSpPr/>
          <p:nvPr/>
        </p:nvGrpSpPr>
        <p:grpSpPr>
          <a:xfrm>
            <a:off x="597801" y="2897769"/>
            <a:ext cx="3021694" cy="747300"/>
            <a:chOff x="744101" y="2507609"/>
            <a:chExt cx="3021694" cy="747300"/>
          </a:xfrm>
        </p:grpSpPr>
        <p:cxnSp>
          <p:nvCxnSpPr>
            <p:cNvPr id="181" name="Google Shape;181;p28"/>
            <p:cNvCxnSpPr/>
            <p:nvPr/>
          </p:nvCxnSpPr>
          <p:spPr>
            <a:xfrm rot="10800000">
              <a:off x="2915895" y="2881250"/>
              <a:ext cx="849900" cy="0"/>
            </a:xfrm>
            <a:prstGeom prst="straightConnector1">
              <a:avLst/>
            </a:prstGeom>
            <a:noFill/>
            <a:ln cap="flat" cmpd="sng" w="9525">
              <a:solidFill>
                <a:srgbClr val="BDBDBD"/>
              </a:solidFill>
              <a:prstDash val="solid"/>
              <a:round/>
              <a:headEnd len="sm" w="sm" type="none"/>
              <a:tailEnd len="sm" w="sm" type="none"/>
            </a:ln>
          </p:spPr>
        </p:cxnSp>
        <p:sp>
          <p:nvSpPr>
            <p:cNvPr id="182" name="Google Shape;182;p28"/>
            <p:cNvSpPr/>
            <p:nvPr/>
          </p:nvSpPr>
          <p:spPr>
            <a:xfrm>
              <a:off x="2874851" y="2780836"/>
              <a:ext cx="198600" cy="198300"/>
            </a:xfrm>
            <a:prstGeom prst="ellipse">
              <a:avLst/>
            </a:prstGeom>
            <a:solidFill>
              <a:srgbClr val="7F2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8"/>
            <p:cNvSpPr txBox="1"/>
            <p:nvPr/>
          </p:nvSpPr>
          <p:spPr>
            <a:xfrm>
              <a:off x="2849841" y="272479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4</a:t>
              </a:r>
              <a:endParaRPr>
                <a:solidFill>
                  <a:srgbClr val="FFFFFF"/>
                </a:solidFill>
              </a:endParaRPr>
            </a:p>
          </p:txBody>
        </p:sp>
        <p:sp>
          <p:nvSpPr>
            <p:cNvPr id="184" name="Google Shape;184;p28"/>
            <p:cNvSpPr txBox="1"/>
            <p:nvPr/>
          </p:nvSpPr>
          <p:spPr>
            <a:xfrm>
              <a:off x="744101" y="2507609"/>
              <a:ext cx="2127300" cy="7473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1600"/>
                </a:spcAft>
                <a:buNone/>
              </a:pPr>
              <a:r>
                <a:rPr b="1" lang="en" sz="1800">
                  <a:latin typeface="Roboto"/>
                  <a:ea typeface="Roboto"/>
                  <a:cs typeface="Roboto"/>
                  <a:sym typeface="Roboto"/>
                </a:rPr>
                <a:t>Cliques, Communities</a:t>
              </a:r>
              <a:endParaRPr b="1" sz="1800">
                <a:latin typeface="Roboto"/>
                <a:ea typeface="Roboto"/>
                <a:cs typeface="Roboto"/>
                <a:sym typeface="Roboto"/>
              </a:endParaRPr>
            </a:p>
          </p:txBody>
        </p:sp>
      </p:grpSp>
      <p:grpSp>
        <p:nvGrpSpPr>
          <p:cNvPr id="185" name="Google Shape;185;p28"/>
          <p:cNvGrpSpPr/>
          <p:nvPr/>
        </p:nvGrpSpPr>
        <p:grpSpPr>
          <a:xfrm>
            <a:off x="2811509" y="1603902"/>
            <a:ext cx="3509178" cy="3257208"/>
            <a:chOff x="3318063" y="1368287"/>
            <a:chExt cx="2408000" cy="2993482"/>
          </a:xfrm>
        </p:grpSpPr>
        <p:sp>
          <p:nvSpPr>
            <p:cNvPr id="186" name="Google Shape;186;p28"/>
            <p:cNvSpPr/>
            <p:nvPr/>
          </p:nvSpPr>
          <p:spPr>
            <a:xfrm>
              <a:off x="3595785" y="2775241"/>
              <a:ext cx="1853168" cy="919151"/>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87" name="Google Shape;187;p28"/>
            <p:cNvSpPr/>
            <p:nvPr/>
          </p:nvSpPr>
          <p:spPr>
            <a:xfrm>
              <a:off x="3318063" y="3194383"/>
              <a:ext cx="1203867" cy="1167385"/>
            </a:xfrm>
            <a:custGeom>
              <a:rect b="b" l="l" r="r" t="t"/>
              <a:pathLst>
                <a:path extrusionOk="0" h="20822" w="31954">
                  <a:moveTo>
                    <a:pt x="7355" y="0"/>
                  </a:moveTo>
                  <a:lnTo>
                    <a:pt x="31954" y="8796"/>
                  </a:lnTo>
                  <a:lnTo>
                    <a:pt x="31954" y="20822"/>
                  </a:lnTo>
                  <a:lnTo>
                    <a:pt x="0" y="8895"/>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88" name="Google Shape;188;p28"/>
            <p:cNvSpPr/>
            <p:nvPr/>
          </p:nvSpPr>
          <p:spPr>
            <a:xfrm flipH="1">
              <a:off x="4522196" y="3194383"/>
              <a:ext cx="1203867" cy="1167385"/>
            </a:xfrm>
            <a:custGeom>
              <a:rect b="b" l="l" r="r" t="t"/>
              <a:pathLst>
                <a:path extrusionOk="0" h="20822" w="31954">
                  <a:moveTo>
                    <a:pt x="7355" y="0"/>
                  </a:moveTo>
                  <a:lnTo>
                    <a:pt x="31954" y="8796"/>
                  </a:lnTo>
                  <a:lnTo>
                    <a:pt x="31954" y="20822"/>
                  </a:lnTo>
                  <a:lnTo>
                    <a:pt x="0" y="8895"/>
                  </a:lnTo>
                  <a:close/>
                </a:path>
              </a:pathLst>
            </a:custGeom>
            <a:solidFill>
              <a:srgbClr val="9225A5"/>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89" name="Google Shape;189;p28"/>
            <p:cNvSpPr/>
            <p:nvPr/>
          </p:nvSpPr>
          <p:spPr>
            <a:xfrm>
              <a:off x="3844034" y="2401368"/>
              <a:ext cx="1356545" cy="672851"/>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90" name="Google Shape;190;p28"/>
            <p:cNvSpPr/>
            <p:nvPr/>
          </p:nvSpPr>
          <p:spPr>
            <a:xfrm>
              <a:off x="3930892" y="2272397"/>
              <a:ext cx="1175304" cy="581421"/>
            </a:xfrm>
            <a:custGeom>
              <a:rect b="b" l="l" r="r" t="t"/>
              <a:pathLst>
                <a:path extrusionOk="0" h="16300" w="49248">
                  <a:moveTo>
                    <a:pt x="0" y="7554"/>
                  </a:moveTo>
                  <a:lnTo>
                    <a:pt x="24649" y="16300"/>
                  </a:lnTo>
                  <a:lnTo>
                    <a:pt x="49248" y="7604"/>
                  </a:lnTo>
                  <a:lnTo>
                    <a:pt x="24599"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91" name="Google Shape;191;p28"/>
            <p:cNvSpPr/>
            <p:nvPr/>
          </p:nvSpPr>
          <p:spPr>
            <a:xfrm>
              <a:off x="4052837" y="2081437"/>
              <a:ext cx="931314" cy="460727"/>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92" name="Google Shape;192;p28"/>
            <p:cNvSpPr/>
            <p:nvPr/>
          </p:nvSpPr>
          <p:spPr>
            <a:xfrm>
              <a:off x="4233144" y="1787006"/>
              <a:ext cx="573183" cy="289305"/>
            </a:xfrm>
            <a:custGeom>
              <a:rect b="b" l="l" r="r" t="t"/>
              <a:pathLst>
                <a:path extrusionOk="0" h="8150" w="24053">
                  <a:moveTo>
                    <a:pt x="0" y="3827"/>
                  </a:moveTo>
                  <a:lnTo>
                    <a:pt x="11976" y="8150"/>
                  </a:lnTo>
                  <a:lnTo>
                    <a:pt x="24053" y="3827"/>
                  </a:lnTo>
                  <a:lnTo>
                    <a:pt x="12126"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93" name="Google Shape;193;p28"/>
            <p:cNvSpPr/>
            <p:nvPr/>
          </p:nvSpPr>
          <p:spPr>
            <a:xfrm>
              <a:off x="3640743" y="2708179"/>
              <a:ext cx="881371" cy="854431"/>
            </a:xfrm>
            <a:custGeom>
              <a:rect b="b" l="l" r="r" t="t"/>
              <a:pathLst>
                <a:path extrusionOk="0" h="20822" w="31954">
                  <a:moveTo>
                    <a:pt x="7355" y="0"/>
                  </a:moveTo>
                  <a:lnTo>
                    <a:pt x="31954" y="8796"/>
                  </a:lnTo>
                  <a:lnTo>
                    <a:pt x="31954" y="20822"/>
                  </a:lnTo>
                  <a:lnTo>
                    <a:pt x="0" y="8895"/>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94" name="Google Shape;194;p28"/>
            <p:cNvSpPr/>
            <p:nvPr/>
          </p:nvSpPr>
          <p:spPr>
            <a:xfrm>
              <a:off x="3964720" y="2291507"/>
              <a:ext cx="555203" cy="453658"/>
            </a:xfrm>
            <a:custGeom>
              <a:rect b="b" l="l" r="r" t="t"/>
              <a:pathLst>
                <a:path extrusionOk="0" h="12771" w="23257">
                  <a:moveTo>
                    <a:pt x="3727" y="0"/>
                  </a:moveTo>
                  <a:lnTo>
                    <a:pt x="0" y="4522"/>
                  </a:lnTo>
                  <a:lnTo>
                    <a:pt x="23257" y="12771"/>
                  </a:lnTo>
                  <a:lnTo>
                    <a:pt x="23257" y="7056"/>
                  </a:lnTo>
                  <a:close/>
                </a:path>
              </a:pathLst>
            </a:custGeom>
            <a:gradFill>
              <a:gsLst>
                <a:gs pos="0">
                  <a:srgbClr val="FFCA37"/>
                </a:gs>
                <a:gs pos="100000">
                  <a:srgbClr val="AD8107"/>
                </a:gs>
              </a:gsLst>
              <a:lin ang="5400012" scaled="0"/>
            </a:gra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95" name="Google Shape;195;p28"/>
            <p:cNvSpPr/>
            <p:nvPr/>
          </p:nvSpPr>
          <p:spPr>
            <a:xfrm flipH="1">
              <a:off x="4518736" y="2291507"/>
              <a:ext cx="555203" cy="453658"/>
            </a:xfrm>
            <a:custGeom>
              <a:rect b="b" l="l" r="r" t="t"/>
              <a:pathLst>
                <a:path extrusionOk="0" h="12771" w="23257">
                  <a:moveTo>
                    <a:pt x="3727" y="0"/>
                  </a:moveTo>
                  <a:lnTo>
                    <a:pt x="0" y="4522"/>
                  </a:lnTo>
                  <a:lnTo>
                    <a:pt x="23257" y="12771"/>
                  </a:lnTo>
                  <a:lnTo>
                    <a:pt x="23257" y="7056"/>
                  </a:lnTo>
                  <a:close/>
                </a:path>
              </a:pathLst>
            </a:custGeom>
            <a:solidFill>
              <a:srgbClr val="F4B400"/>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96" name="Google Shape;196;p28"/>
            <p:cNvSpPr/>
            <p:nvPr/>
          </p:nvSpPr>
          <p:spPr>
            <a:xfrm>
              <a:off x="4084537" y="1922553"/>
              <a:ext cx="435387" cy="501365"/>
            </a:xfrm>
            <a:custGeom>
              <a:rect b="b" l="l" r="r" t="t"/>
              <a:pathLst>
                <a:path extrusionOk="0" h="14114" w="18238">
                  <a:moveTo>
                    <a:pt x="6262" y="0"/>
                  </a:moveTo>
                  <a:lnTo>
                    <a:pt x="18238" y="4324"/>
                  </a:lnTo>
                  <a:lnTo>
                    <a:pt x="18238" y="14114"/>
                  </a:lnTo>
                  <a:lnTo>
                    <a:pt x="0" y="7554"/>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97" name="Google Shape;197;p28"/>
            <p:cNvSpPr/>
            <p:nvPr/>
          </p:nvSpPr>
          <p:spPr>
            <a:xfrm flipH="1">
              <a:off x="4518735" y="1922553"/>
              <a:ext cx="435387" cy="501365"/>
            </a:xfrm>
            <a:custGeom>
              <a:rect b="b" l="l" r="r" t="t"/>
              <a:pathLst>
                <a:path extrusionOk="0" h="14114" w="18238">
                  <a:moveTo>
                    <a:pt x="6262" y="0"/>
                  </a:moveTo>
                  <a:lnTo>
                    <a:pt x="18238" y="4324"/>
                  </a:lnTo>
                  <a:lnTo>
                    <a:pt x="18238" y="14114"/>
                  </a:lnTo>
                  <a:lnTo>
                    <a:pt x="0" y="7554"/>
                  </a:lnTo>
                  <a:close/>
                </a:path>
              </a:pathLst>
            </a:custGeom>
            <a:solidFill>
              <a:srgbClr val="701C7F"/>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98" name="Google Shape;198;p28"/>
            <p:cNvSpPr/>
            <p:nvPr/>
          </p:nvSpPr>
          <p:spPr>
            <a:xfrm>
              <a:off x="4266040" y="1368287"/>
              <a:ext cx="253884" cy="593119"/>
            </a:xfrm>
            <a:custGeom>
              <a:rect b="b" l="l" r="r" t="t"/>
              <a:pathLst>
                <a:path extrusionOk="0" h="16697" w="10635">
                  <a:moveTo>
                    <a:pt x="10635" y="0"/>
                  </a:moveTo>
                  <a:lnTo>
                    <a:pt x="0" y="12722"/>
                  </a:lnTo>
                  <a:lnTo>
                    <a:pt x="10635" y="16697"/>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99" name="Google Shape;199;p28"/>
            <p:cNvSpPr/>
            <p:nvPr/>
          </p:nvSpPr>
          <p:spPr>
            <a:xfrm flipH="1">
              <a:off x="4518734" y="1368287"/>
              <a:ext cx="253884" cy="593119"/>
            </a:xfrm>
            <a:custGeom>
              <a:rect b="b" l="l" r="r" t="t"/>
              <a:pathLst>
                <a:path extrusionOk="0" h="16697" w="10635">
                  <a:moveTo>
                    <a:pt x="10635" y="0"/>
                  </a:moveTo>
                  <a:lnTo>
                    <a:pt x="0" y="12722"/>
                  </a:lnTo>
                  <a:lnTo>
                    <a:pt x="10635" y="16697"/>
                  </a:lnTo>
                  <a:close/>
                </a:path>
              </a:pathLst>
            </a:custGeom>
            <a:solidFill>
              <a:srgbClr val="701C7F"/>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200" name="Google Shape;200;p28"/>
            <p:cNvSpPr/>
            <p:nvPr/>
          </p:nvSpPr>
          <p:spPr>
            <a:xfrm>
              <a:off x="3877348" y="2290728"/>
              <a:ext cx="642683" cy="657851"/>
            </a:xfrm>
            <a:custGeom>
              <a:rect b="b" l="l" r="r" t="t"/>
              <a:pathLst>
                <a:path extrusionOk="0" h="46623" w="65016">
                  <a:moveTo>
                    <a:pt x="17858" y="0"/>
                  </a:moveTo>
                  <a:lnTo>
                    <a:pt x="0" y="22135"/>
                  </a:lnTo>
                  <a:lnTo>
                    <a:pt x="65016" y="46623"/>
                  </a:lnTo>
                  <a:lnTo>
                    <a:pt x="65016" y="17537"/>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201" name="Google Shape;201;p28"/>
            <p:cNvSpPr/>
            <p:nvPr/>
          </p:nvSpPr>
          <p:spPr>
            <a:xfrm flipH="1">
              <a:off x="4518572" y="2291772"/>
              <a:ext cx="642683" cy="657851"/>
            </a:xfrm>
            <a:custGeom>
              <a:rect b="b" l="l" r="r" t="t"/>
              <a:pathLst>
                <a:path extrusionOk="0" h="46623" w="65016">
                  <a:moveTo>
                    <a:pt x="17858" y="0"/>
                  </a:moveTo>
                  <a:lnTo>
                    <a:pt x="0" y="22135"/>
                  </a:lnTo>
                  <a:lnTo>
                    <a:pt x="65016" y="46623"/>
                  </a:lnTo>
                  <a:lnTo>
                    <a:pt x="65016" y="17537"/>
                  </a:lnTo>
                  <a:close/>
                </a:path>
              </a:pathLst>
            </a:custGeom>
            <a:solidFill>
              <a:srgbClr val="761E86"/>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202" name="Google Shape;202;p28"/>
            <p:cNvSpPr/>
            <p:nvPr/>
          </p:nvSpPr>
          <p:spPr>
            <a:xfrm flipH="1">
              <a:off x="4522009" y="2708179"/>
              <a:ext cx="881371" cy="854431"/>
            </a:xfrm>
            <a:custGeom>
              <a:rect b="b" l="l" r="r" t="t"/>
              <a:pathLst>
                <a:path extrusionOk="0" h="20822" w="31954">
                  <a:moveTo>
                    <a:pt x="7355" y="0"/>
                  </a:moveTo>
                  <a:lnTo>
                    <a:pt x="31954" y="8796"/>
                  </a:lnTo>
                  <a:lnTo>
                    <a:pt x="31954" y="20822"/>
                  </a:lnTo>
                  <a:lnTo>
                    <a:pt x="0" y="8895"/>
                  </a:lnTo>
                  <a:close/>
                </a:path>
              </a:pathLst>
            </a:custGeom>
            <a:solidFill>
              <a:srgbClr val="7F2090"/>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grpSp>
      <p:grpSp>
        <p:nvGrpSpPr>
          <p:cNvPr id="203" name="Google Shape;203;p28"/>
          <p:cNvGrpSpPr/>
          <p:nvPr/>
        </p:nvGrpSpPr>
        <p:grpSpPr>
          <a:xfrm>
            <a:off x="5259475" y="2411864"/>
            <a:ext cx="3286704" cy="747300"/>
            <a:chOff x="5064450" y="2086419"/>
            <a:chExt cx="3286704" cy="747300"/>
          </a:xfrm>
        </p:grpSpPr>
        <p:cxnSp>
          <p:nvCxnSpPr>
            <p:cNvPr id="204" name="Google Shape;204;p28"/>
            <p:cNvCxnSpPr/>
            <p:nvPr/>
          </p:nvCxnSpPr>
          <p:spPr>
            <a:xfrm>
              <a:off x="5064450" y="2460069"/>
              <a:ext cx="1119000" cy="0"/>
            </a:xfrm>
            <a:prstGeom prst="straightConnector1">
              <a:avLst/>
            </a:prstGeom>
            <a:noFill/>
            <a:ln cap="flat" cmpd="sng" w="9525">
              <a:solidFill>
                <a:srgbClr val="BDBDBD"/>
              </a:solidFill>
              <a:prstDash val="solid"/>
              <a:round/>
              <a:headEnd len="sm" w="sm" type="none"/>
              <a:tailEnd len="sm" w="sm" type="none"/>
            </a:ln>
          </p:spPr>
        </p:cxnSp>
        <p:sp>
          <p:nvSpPr>
            <p:cNvPr id="205" name="Google Shape;205;p28"/>
            <p:cNvSpPr/>
            <p:nvPr/>
          </p:nvSpPr>
          <p:spPr>
            <a:xfrm>
              <a:off x="6014671" y="2353882"/>
              <a:ext cx="198600" cy="198300"/>
            </a:xfrm>
            <a:prstGeom prst="ellipse">
              <a:avLst/>
            </a:prstGeom>
            <a:solidFill>
              <a:srgbClr val="761E8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8"/>
            <p:cNvSpPr txBox="1"/>
            <p:nvPr/>
          </p:nvSpPr>
          <p:spPr>
            <a:xfrm>
              <a:off x="5991690" y="2295028"/>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3</a:t>
              </a:r>
              <a:endParaRPr>
                <a:solidFill>
                  <a:srgbClr val="FFFFFF"/>
                </a:solidFill>
              </a:endParaRPr>
            </a:p>
          </p:txBody>
        </p:sp>
        <p:sp>
          <p:nvSpPr>
            <p:cNvPr id="207" name="Google Shape;207;p28"/>
            <p:cNvSpPr txBox="1"/>
            <p:nvPr/>
          </p:nvSpPr>
          <p:spPr>
            <a:xfrm>
              <a:off x="6223854" y="2086419"/>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Triads</a:t>
              </a:r>
              <a:endParaRPr b="1" sz="1800">
                <a:latin typeface="Roboto"/>
                <a:ea typeface="Roboto"/>
                <a:cs typeface="Roboto"/>
                <a:sym typeface="Roboto"/>
              </a:endParaRPr>
            </a:p>
          </p:txBody>
        </p:sp>
      </p:grpSp>
      <p:sp>
        <p:nvSpPr>
          <p:cNvPr id="208" name="Google Shape;208;p28"/>
          <p:cNvSpPr txBox="1"/>
          <p:nvPr/>
        </p:nvSpPr>
        <p:spPr>
          <a:xfrm>
            <a:off x="78425" y="3815350"/>
            <a:ext cx="2777100" cy="132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Economica"/>
                <a:ea typeface="Economica"/>
                <a:cs typeface="Economica"/>
                <a:sym typeface="Economica"/>
              </a:rPr>
              <a:t> The first part of the course follows this organization!</a:t>
            </a:r>
            <a:endParaRPr b="1" sz="2400">
              <a:latin typeface="Economica"/>
              <a:ea typeface="Economica"/>
              <a:cs typeface="Economica"/>
              <a:sym typeface="Economica"/>
            </a:endParaRPr>
          </a:p>
        </p:txBody>
      </p:sp>
      <p:sp>
        <p:nvSpPr>
          <p:cNvPr id="209" name="Google Shape;209;p2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Levels of Analysis in social networks</a:t>
            </a:r>
            <a:endParaRPr/>
          </a:p>
        </p:txBody>
      </p:sp>
      <p:sp>
        <p:nvSpPr>
          <p:cNvPr id="210" name="Google Shape;210;p28"/>
          <p:cNvSpPr/>
          <p:nvPr/>
        </p:nvSpPr>
        <p:spPr>
          <a:xfrm>
            <a:off x="3707750" y="1206325"/>
            <a:ext cx="4485000" cy="1014000"/>
          </a:xfrm>
          <a:prstGeom prst="rect">
            <a:avLst/>
          </a:prstGeom>
          <a:noFill/>
          <a:ln cap="flat" cmpd="sng" w="2857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Centrality</a:t>
            </a:r>
            <a:endParaRPr b="1">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What is it?</a:t>
            </a:r>
            <a:endParaRPr/>
          </a:p>
        </p:txBody>
      </p:sp>
      <p:sp>
        <p:nvSpPr>
          <p:cNvPr id="216" name="Google Shape;216;p29"/>
          <p:cNvSpPr txBox="1"/>
          <p:nvPr>
            <p:ph idx="1" type="body"/>
          </p:nvPr>
        </p:nvSpPr>
        <p:spPr>
          <a:xfrm>
            <a:off x="311700" y="1225225"/>
            <a:ext cx="50928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measure of the </a:t>
            </a:r>
            <a:r>
              <a:rPr b="1" lang="en"/>
              <a:t>importance</a:t>
            </a:r>
            <a:r>
              <a:rPr lang="en"/>
              <a:t> or </a:t>
            </a:r>
            <a:r>
              <a:rPr b="1" lang="en"/>
              <a:t>strategic location</a:t>
            </a:r>
            <a:r>
              <a:rPr lang="en"/>
              <a:t> of a node in the network:</a:t>
            </a:r>
            <a:endParaRPr/>
          </a:p>
          <a:p>
            <a:pPr indent="-317500" lvl="1" marL="914400" rtl="0" algn="l">
              <a:spcBef>
                <a:spcPts val="0"/>
              </a:spcBef>
              <a:spcAft>
                <a:spcPts val="0"/>
              </a:spcAft>
              <a:buSzPts val="1400"/>
              <a:buChar char="○"/>
            </a:pPr>
            <a:r>
              <a:rPr b="1" lang="en"/>
              <a:t>Autonomy</a:t>
            </a:r>
            <a:endParaRPr b="1"/>
          </a:p>
          <a:p>
            <a:pPr indent="-317500" lvl="1" marL="914400" rtl="0" algn="l">
              <a:spcBef>
                <a:spcPts val="0"/>
              </a:spcBef>
              <a:spcAft>
                <a:spcPts val="0"/>
              </a:spcAft>
              <a:buSzPts val="1400"/>
              <a:buChar char="○"/>
            </a:pPr>
            <a:r>
              <a:rPr b="1" lang="en"/>
              <a:t>Control</a:t>
            </a:r>
            <a:endParaRPr b="1"/>
          </a:p>
          <a:p>
            <a:pPr indent="-317500" lvl="1" marL="914400" rtl="0" algn="l">
              <a:spcBef>
                <a:spcPts val="0"/>
              </a:spcBef>
              <a:spcAft>
                <a:spcPts val="0"/>
              </a:spcAft>
              <a:buClr>
                <a:srgbClr val="FF0000"/>
              </a:buClr>
              <a:buSzPts val="1400"/>
              <a:buChar char="○"/>
            </a:pPr>
            <a:r>
              <a:rPr b="1" lang="en">
                <a:solidFill>
                  <a:srgbClr val="FF0000"/>
                </a:solidFill>
              </a:rPr>
              <a:t>Risk</a:t>
            </a:r>
            <a:endParaRPr b="1">
              <a:solidFill>
                <a:srgbClr val="FF0000"/>
              </a:solidFill>
            </a:endParaRPr>
          </a:p>
          <a:p>
            <a:pPr indent="-317500" lvl="1" marL="914400" rtl="0" algn="l">
              <a:spcBef>
                <a:spcPts val="0"/>
              </a:spcBef>
              <a:spcAft>
                <a:spcPts val="0"/>
              </a:spcAft>
              <a:buClr>
                <a:srgbClr val="FF0000"/>
              </a:buClr>
              <a:buSzPts val="1400"/>
              <a:buChar char="○"/>
            </a:pPr>
            <a:r>
              <a:rPr b="1" lang="en">
                <a:solidFill>
                  <a:srgbClr val="FF0000"/>
                </a:solidFill>
              </a:rPr>
              <a:t>Exposure</a:t>
            </a:r>
            <a:endParaRPr b="1">
              <a:solidFill>
                <a:srgbClr val="FF0000"/>
              </a:solidFill>
            </a:endParaRPr>
          </a:p>
          <a:p>
            <a:pPr indent="-317500" lvl="1" marL="914400" rtl="0" algn="l">
              <a:spcBef>
                <a:spcPts val="0"/>
              </a:spcBef>
              <a:spcAft>
                <a:spcPts val="0"/>
              </a:spcAft>
              <a:buSzPts val="1400"/>
              <a:buChar char="○"/>
            </a:pPr>
            <a:r>
              <a:rPr b="1" lang="en"/>
              <a:t>Influence</a:t>
            </a:r>
            <a:endParaRPr b="1"/>
          </a:p>
          <a:p>
            <a:pPr indent="-317500" lvl="1" marL="914400" rtl="0" algn="l">
              <a:spcBef>
                <a:spcPts val="0"/>
              </a:spcBef>
              <a:spcAft>
                <a:spcPts val="0"/>
              </a:spcAft>
              <a:buSzPts val="1400"/>
              <a:buChar char="○"/>
            </a:pPr>
            <a:r>
              <a:rPr b="1" lang="en"/>
              <a:t>Belongingness</a:t>
            </a:r>
            <a:endParaRPr b="1"/>
          </a:p>
          <a:p>
            <a:pPr indent="-317500" lvl="1" marL="914400" rtl="0" algn="l">
              <a:spcBef>
                <a:spcPts val="0"/>
              </a:spcBef>
              <a:spcAft>
                <a:spcPts val="0"/>
              </a:spcAft>
              <a:buSzPts val="1400"/>
              <a:buChar char="○"/>
            </a:pPr>
            <a:r>
              <a:rPr b="1" lang="en"/>
              <a:t>Brokerage</a:t>
            </a:r>
            <a:endParaRPr b="1"/>
          </a:p>
          <a:p>
            <a:pPr indent="-317500" lvl="1" marL="914400" rtl="0" algn="l">
              <a:spcBef>
                <a:spcPts val="0"/>
              </a:spcBef>
              <a:spcAft>
                <a:spcPts val="0"/>
              </a:spcAft>
              <a:buSzPts val="1400"/>
              <a:buChar char="○"/>
            </a:pPr>
            <a:r>
              <a:rPr b="1" lang="en"/>
              <a:t>Independence</a:t>
            </a:r>
            <a:endParaRPr b="1"/>
          </a:p>
          <a:p>
            <a:pPr indent="-317500" lvl="1" marL="914400" rtl="0" algn="l">
              <a:spcBef>
                <a:spcPts val="0"/>
              </a:spcBef>
              <a:spcAft>
                <a:spcPts val="0"/>
              </a:spcAft>
              <a:buSzPts val="1400"/>
              <a:buChar char="○"/>
            </a:pPr>
            <a:r>
              <a:rPr b="1" lang="en"/>
              <a:t>Power</a:t>
            </a:r>
            <a:endParaRPr/>
          </a:p>
        </p:txBody>
      </p:sp>
      <p:sp>
        <p:nvSpPr>
          <p:cNvPr id="217" name="Google Shape;217;p29"/>
          <p:cNvSpPr/>
          <p:nvPr/>
        </p:nvSpPr>
        <p:spPr>
          <a:xfrm>
            <a:off x="2679118" y="249504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218" name="Google Shape;218;p29"/>
          <p:cNvSpPr/>
          <p:nvPr/>
        </p:nvSpPr>
        <p:spPr>
          <a:xfrm>
            <a:off x="3997741" y="213291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219" name="Google Shape;219;p29"/>
          <p:cNvSpPr/>
          <p:nvPr/>
        </p:nvSpPr>
        <p:spPr>
          <a:xfrm>
            <a:off x="4675835" y="274682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220" name="Google Shape;220;p29"/>
          <p:cNvSpPr/>
          <p:nvPr/>
        </p:nvSpPr>
        <p:spPr>
          <a:xfrm>
            <a:off x="3475040" y="309128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221" name="Google Shape;221;p29"/>
          <p:cNvSpPr/>
          <p:nvPr/>
        </p:nvSpPr>
        <p:spPr>
          <a:xfrm>
            <a:off x="2642488" y="362926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222" name="Google Shape;222;p29"/>
          <p:cNvSpPr/>
          <p:nvPr/>
        </p:nvSpPr>
        <p:spPr>
          <a:xfrm>
            <a:off x="3834298" y="375011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223" name="Google Shape;223;p29"/>
          <p:cNvSpPr/>
          <p:nvPr/>
        </p:nvSpPr>
        <p:spPr>
          <a:xfrm>
            <a:off x="4239049" y="447234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224" name="Google Shape;224;p29"/>
          <p:cNvSpPr/>
          <p:nvPr/>
        </p:nvSpPr>
        <p:spPr>
          <a:xfrm>
            <a:off x="5112584"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225" name="Google Shape;225;p29"/>
          <p:cNvSpPr/>
          <p:nvPr/>
        </p:nvSpPr>
        <p:spPr>
          <a:xfrm>
            <a:off x="5314997" y="447234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226" name="Google Shape;226;p29"/>
          <p:cNvSpPr/>
          <p:nvPr/>
        </p:nvSpPr>
        <p:spPr>
          <a:xfrm>
            <a:off x="6105538"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227" name="Google Shape;227;p29"/>
          <p:cNvSpPr/>
          <p:nvPr/>
        </p:nvSpPr>
        <p:spPr>
          <a:xfrm>
            <a:off x="6510289" y="285277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228" name="Google Shape;228;p29"/>
          <p:cNvSpPr/>
          <p:nvPr/>
        </p:nvSpPr>
        <p:spPr>
          <a:xfrm>
            <a:off x="6978980"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229" name="Google Shape;229;p29"/>
          <p:cNvSpPr/>
          <p:nvPr/>
        </p:nvSpPr>
        <p:spPr>
          <a:xfrm>
            <a:off x="6510289" y="430140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230" name="Google Shape;230;p29"/>
          <p:cNvSpPr/>
          <p:nvPr/>
        </p:nvSpPr>
        <p:spPr>
          <a:xfrm>
            <a:off x="7537684" y="438259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231" name="Google Shape;231;p29"/>
          <p:cNvSpPr/>
          <p:nvPr/>
        </p:nvSpPr>
        <p:spPr>
          <a:xfrm>
            <a:off x="7955631" y="367542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232" name="Google Shape;232;p29"/>
          <p:cNvSpPr/>
          <p:nvPr/>
        </p:nvSpPr>
        <p:spPr>
          <a:xfrm>
            <a:off x="8638414" y="3062154"/>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233" name="Google Shape;233;p29"/>
          <p:cNvSpPr/>
          <p:nvPr/>
        </p:nvSpPr>
        <p:spPr>
          <a:xfrm>
            <a:off x="7740059" y="2940973"/>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234" name="Google Shape;234;p29"/>
          <p:cNvSpPr/>
          <p:nvPr/>
        </p:nvSpPr>
        <p:spPr>
          <a:xfrm>
            <a:off x="7808697" y="220652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235" name="Google Shape;235;p29"/>
          <p:cNvSpPr/>
          <p:nvPr/>
        </p:nvSpPr>
        <p:spPr>
          <a:xfrm>
            <a:off x="8638414" y="1931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236" name="Google Shape;236;p29"/>
          <p:cNvCxnSpPr>
            <a:stCxn id="235" idx="2"/>
            <a:endCxn id="234" idx="7"/>
          </p:cNvCxnSpPr>
          <p:nvPr/>
        </p:nvCxnSpPr>
        <p:spPr>
          <a:xfrm flipH="1">
            <a:off x="8154514" y="2132800"/>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237" name="Google Shape;237;p29"/>
          <p:cNvCxnSpPr>
            <a:stCxn id="233" idx="0"/>
            <a:endCxn id="234" idx="4"/>
          </p:cNvCxnSpPr>
          <p:nvPr/>
        </p:nvCxnSpPr>
        <p:spPr>
          <a:xfrm flipH="1" rot="10800000">
            <a:off x="7942559" y="2609773"/>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238" name="Google Shape;238;p29"/>
          <p:cNvCxnSpPr>
            <a:stCxn id="232" idx="2"/>
            <a:endCxn id="233" idx="6"/>
          </p:cNvCxnSpPr>
          <p:nvPr/>
        </p:nvCxnSpPr>
        <p:spPr>
          <a:xfrm rot="10800000">
            <a:off x="8144914" y="3142554"/>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239" name="Google Shape;239;p29"/>
          <p:cNvCxnSpPr>
            <a:stCxn id="232" idx="2"/>
            <a:endCxn id="228" idx="6"/>
          </p:cNvCxnSpPr>
          <p:nvPr/>
        </p:nvCxnSpPr>
        <p:spPr>
          <a:xfrm flipH="1">
            <a:off x="7384114" y="3263754"/>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240" name="Google Shape;240;p29"/>
          <p:cNvCxnSpPr>
            <a:stCxn id="232" idx="2"/>
            <a:endCxn id="231" idx="7"/>
          </p:cNvCxnSpPr>
          <p:nvPr/>
        </p:nvCxnSpPr>
        <p:spPr>
          <a:xfrm flipH="1">
            <a:off x="8301214" y="3263754"/>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241" name="Google Shape;241;p29"/>
          <p:cNvCxnSpPr>
            <a:stCxn id="231" idx="2"/>
            <a:endCxn id="228" idx="6"/>
          </p:cNvCxnSpPr>
          <p:nvPr/>
        </p:nvCxnSpPr>
        <p:spPr>
          <a:xfrm rot="10800000">
            <a:off x="7383831" y="3777122"/>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242" name="Google Shape;242;p29"/>
          <p:cNvCxnSpPr>
            <a:stCxn id="231" idx="1"/>
            <a:endCxn id="227" idx="5"/>
          </p:cNvCxnSpPr>
          <p:nvPr/>
        </p:nvCxnSpPr>
        <p:spPr>
          <a:xfrm rot="10800000">
            <a:off x="6856042" y="3196869"/>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243" name="Google Shape;243;p29"/>
          <p:cNvCxnSpPr>
            <a:stCxn id="230" idx="0"/>
            <a:endCxn id="228" idx="4"/>
          </p:cNvCxnSpPr>
          <p:nvPr/>
        </p:nvCxnSpPr>
        <p:spPr>
          <a:xfrm rot="10800000">
            <a:off x="7181584" y="3978791"/>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244" name="Google Shape;244;p29"/>
          <p:cNvCxnSpPr>
            <a:stCxn id="229" idx="7"/>
            <a:endCxn id="228" idx="4"/>
          </p:cNvCxnSpPr>
          <p:nvPr/>
        </p:nvCxnSpPr>
        <p:spPr>
          <a:xfrm flipH="1" rot="10800000">
            <a:off x="6855978" y="3978852"/>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245" name="Google Shape;245;p29"/>
          <p:cNvCxnSpPr>
            <a:stCxn id="230" idx="1"/>
            <a:endCxn id="229" idx="6"/>
          </p:cNvCxnSpPr>
          <p:nvPr/>
        </p:nvCxnSpPr>
        <p:spPr>
          <a:xfrm flipH="1">
            <a:off x="6915395" y="4441638"/>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246" name="Google Shape;246;p29"/>
          <p:cNvCxnSpPr>
            <a:stCxn id="228" idx="2"/>
            <a:endCxn id="226" idx="6"/>
          </p:cNvCxnSpPr>
          <p:nvPr/>
        </p:nvCxnSpPr>
        <p:spPr>
          <a:xfrm rot="10800000">
            <a:off x="6510680" y="3777232"/>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247" name="Google Shape;247;p29"/>
          <p:cNvCxnSpPr>
            <a:stCxn id="229" idx="0"/>
            <a:endCxn id="226" idx="5"/>
          </p:cNvCxnSpPr>
          <p:nvPr/>
        </p:nvCxnSpPr>
        <p:spPr>
          <a:xfrm rot="10800000">
            <a:off x="6451189" y="3919805"/>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248" name="Google Shape;248;p29"/>
          <p:cNvCxnSpPr>
            <a:stCxn id="228" idx="0"/>
            <a:endCxn id="227" idx="5"/>
          </p:cNvCxnSpPr>
          <p:nvPr/>
        </p:nvCxnSpPr>
        <p:spPr>
          <a:xfrm rot="10800000">
            <a:off x="6855980" y="3197032"/>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249" name="Google Shape;249;p29"/>
          <p:cNvCxnSpPr>
            <a:stCxn id="226" idx="7"/>
            <a:endCxn id="227" idx="4"/>
          </p:cNvCxnSpPr>
          <p:nvPr/>
        </p:nvCxnSpPr>
        <p:spPr>
          <a:xfrm flipH="1" rot="10800000">
            <a:off x="6451227" y="3256079"/>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250" name="Google Shape;250;p29"/>
          <p:cNvCxnSpPr>
            <a:stCxn id="226" idx="2"/>
            <a:endCxn id="224" idx="6"/>
          </p:cNvCxnSpPr>
          <p:nvPr/>
        </p:nvCxnSpPr>
        <p:spPr>
          <a:xfrm rot="10800000">
            <a:off x="5517538" y="3777232"/>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251" name="Google Shape;251;p29"/>
          <p:cNvCxnSpPr>
            <a:stCxn id="225" idx="0"/>
            <a:endCxn id="224" idx="4"/>
          </p:cNvCxnSpPr>
          <p:nvPr/>
        </p:nvCxnSpPr>
        <p:spPr>
          <a:xfrm rot="10800000">
            <a:off x="5314997" y="3978840"/>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252" name="Google Shape;252;p29"/>
          <p:cNvCxnSpPr>
            <a:stCxn id="224" idx="3"/>
            <a:endCxn id="223" idx="7"/>
          </p:cNvCxnSpPr>
          <p:nvPr/>
        </p:nvCxnSpPr>
        <p:spPr>
          <a:xfrm flipH="1">
            <a:off x="4584795" y="3919785"/>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253" name="Google Shape;253;p29"/>
          <p:cNvCxnSpPr>
            <a:stCxn id="222" idx="5"/>
            <a:endCxn id="223" idx="0"/>
          </p:cNvCxnSpPr>
          <p:nvPr/>
        </p:nvCxnSpPr>
        <p:spPr>
          <a:xfrm>
            <a:off x="4179987" y="4094263"/>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254" name="Google Shape;254;p29"/>
          <p:cNvCxnSpPr>
            <a:stCxn id="219" idx="4"/>
            <a:endCxn id="222" idx="7"/>
          </p:cNvCxnSpPr>
          <p:nvPr/>
        </p:nvCxnSpPr>
        <p:spPr>
          <a:xfrm flipH="1">
            <a:off x="4179935" y="3150025"/>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255" name="Google Shape;255;p29"/>
          <p:cNvCxnSpPr>
            <a:stCxn id="224" idx="1"/>
            <a:endCxn id="219" idx="4"/>
          </p:cNvCxnSpPr>
          <p:nvPr/>
        </p:nvCxnSpPr>
        <p:spPr>
          <a:xfrm rot="10800000">
            <a:off x="4878195" y="3149879"/>
            <a:ext cx="293700" cy="484800"/>
          </a:xfrm>
          <a:prstGeom prst="straightConnector1">
            <a:avLst/>
          </a:prstGeom>
          <a:noFill/>
          <a:ln cap="flat" cmpd="sng" w="28575">
            <a:solidFill>
              <a:schemeClr val="dk2"/>
            </a:solidFill>
            <a:prstDash val="solid"/>
            <a:round/>
            <a:headEnd len="med" w="med" type="none"/>
            <a:tailEnd len="med" w="med" type="none"/>
          </a:ln>
        </p:spPr>
      </p:cxnSp>
      <p:cxnSp>
        <p:nvCxnSpPr>
          <p:cNvPr id="256" name="Google Shape;256;p29"/>
          <p:cNvCxnSpPr>
            <a:stCxn id="222" idx="2"/>
            <a:endCxn id="221" idx="6"/>
          </p:cNvCxnSpPr>
          <p:nvPr/>
        </p:nvCxnSpPr>
        <p:spPr>
          <a:xfrm rot="10800000">
            <a:off x="3047398" y="3830810"/>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257" name="Google Shape;257;p29"/>
          <p:cNvCxnSpPr>
            <a:stCxn id="222" idx="0"/>
            <a:endCxn id="220" idx="4"/>
          </p:cNvCxnSpPr>
          <p:nvPr/>
        </p:nvCxnSpPr>
        <p:spPr>
          <a:xfrm rot="10800000">
            <a:off x="3677398" y="3494510"/>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258" name="Google Shape;258;p29"/>
          <p:cNvCxnSpPr>
            <a:stCxn id="220" idx="3"/>
            <a:endCxn id="221" idx="7"/>
          </p:cNvCxnSpPr>
          <p:nvPr/>
        </p:nvCxnSpPr>
        <p:spPr>
          <a:xfrm flipH="1">
            <a:off x="2988051" y="3435438"/>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259" name="Google Shape;259;p29"/>
          <p:cNvCxnSpPr>
            <a:stCxn id="217" idx="4"/>
            <a:endCxn id="221" idx="0"/>
          </p:cNvCxnSpPr>
          <p:nvPr/>
        </p:nvCxnSpPr>
        <p:spPr>
          <a:xfrm flipH="1">
            <a:off x="2845018" y="2898241"/>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260" name="Google Shape;260;p29"/>
          <p:cNvCxnSpPr>
            <a:stCxn id="218" idx="2"/>
            <a:endCxn id="217" idx="6"/>
          </p:cNvCxnSpPr>
          <p:nvPr/>
        </p:nvCxnSpPr>
        <p:spPr>
          <a:xfrm flipH="1">
            <a:off x="3084241" y="2334512"/>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261" name="Google Shape;261;p29"/>
          <p:cNvCxnSpPr>
            <a:stCxn id="218" idx="3"/>
            <a:endCxn id="220" idx="0"/>
          </p:cNvCxnSpPr>
          <p:nvPr/>
        </p:nvCxnSpPr>
        <p:spPr>
          <a:xfrm flipH="1">
            <a:off x="3677552" y="2477064"/>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262" name="Google Shape;262;p29"/>
          <p:cNvCxnSpPr>
            <a:stCxn id="219" idx="2"/>
            <a:endCxn id="217" idx="6"/>
          </p:cNvCxnSpPr>
          <p:nvPr/>
        </p:nvCxnSpPr>
        <p:spPr>
          <a:xfrm rot="10800000">
            <a:off x="3084035" y="2696725"/>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263" name="Google Shape;263;p29"/>
          <p:cNvCxnSpPr>
            <a:stCxn id="219" idx="1"/>
            <a:endCxn id="218" idx="5"/>
          </p:cNvCxnSpPr>
          <p:nvPr/>
        </p:nvCxnSpPr>
        <p:spPr>
          <a:xfrm rot="10800000">
            <a:off x="4343346" y="2477072"/>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264" name="Google Shape;264;p29"/>
          <p:cNvCxnSpPr>
            <a:stCxn id="219" idx="2"/>
            <a:endCxn id="220" idx="7"/>
          </p:cNvCxnSpPr>
          <p:nvPr/>
        </p:nvCxnSpPr>
        <p:spPr>
          <a:xfrm flipH="1">
            <a:off x="3820835" y="2948425"/>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265" name="Google Shape;265;p29"/>
          <p:cNvCxnSpPr>
            <a:stCxn id="220" idx="1"/>
            <a:endCxn id="217" idx="5"/>
          </p:cNvCxnSpPr>
          <p:nvPr/>
        </p:nvCxnSpPr>
        <p:spPr>
          <a:xfrm rot="10800000">
            <a:off x="3024951" y="2839232"/>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266" name="Google Shape;266;p29"/>
          <p:cNvCxnSpPr>
            <a:stCxn id="228" idx="6"/>
            <a:endCxn id="233" idx="3"/>
          </p:cNvCxnSpPr>
          <p:nvPr/>
        </p:nvCxnSpPr>
        <p:spPr>
          <a:xfrm flipH="1" rot="10800000">
            <a:off x="7383980" y="3285232"/>
            <a:ext cx="415500" cy="4920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What is it?</a:t>
            </a:r>
            <a:endParaRPr/>
          </a:p>
        </p:txBody>
      </p:sp>
      <p:sp>
        <p:nvSpPr>
          <p:cNvPr id="272" name="Google Shape;272;p30"/>
          <p:cNvSpPr txBox="1"/>
          <p:nvPr>
            <p:ph idx="1" type="body"/>
          </p:nvPr>
        </p:nvSpPr>
        <p:spPr>
          <a:xfrm>
            <a:off x="311700" y="1232125"/>
            <a:ext cx="4339200" cy="3657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a:t>
            </a:r>
            <a:r>
              <a:rPr b="1" lang="en"/>
              <a:t>centrality metric</a:t>
            </a:r>
            <a:r>
              <a:rPr lang="en"/>
              <a:t> is a summary </a:t>
            </a:r>
            <a:r>
              <a:rPr b="1" lang="en"/>
              <a:t>index </a:t>
            </a:r>
            <a:r>
              <a:rPr lang="en"/>
              <a:t>of the centrality of a node </a:t>
            </a:r>
            <a:endParaRPr/>
          </a:p>
          <a:p>
            <a:pPr indent="-317500" lvl="1" marL="914400" rtl="0" algn="l">
              <a:spcBef>
                <a:spcPts val="0"/>
              </a:spcBef>
              <a:spcAft>
                <a:spcPts val="0"/>
              </a:spcAft>
              <a:buSzPts val="1400"/>
              <a:buChar char="○"/>
            </a:pPr>
            <a:r>
              <a:rPr lang="en"/>
              <a:t>Based on </a:t>
            </a:r>
            <a:r>
              <a:rPr i="1" lang="en"/>
              <a:t>sums</a:t>
            </a:r>
            <a:r>
              <a:rPr lang="en"/>
              <a:t> or </a:t>
            </a:r>
            <a:r>
              <a:rPr i="1" lang="en"/>
              <a:t>averages</a:t>
            </a:r>
            <a:r>
              <a:rPr lang="en"/>
              <a:t> of one of three things:</a:t>
            </a:r>
            <a:endParaRPr/>
          </a:p>
          <a:p>
            <a:pPr indent="0" lvl="0" marL="0" rtl="0" algn="l">
              <a:spcBef>
                <a:spcPts val="0"/>
              </a:spcBef>
              <a:spcAft>
                <a:spcPts val="0"/>
              </a:spcAft>
              <a:buNone/>
            </a:pPr>
            <a:r>
              <a:t/>
            </a:r>
            <a:endParaRPr b="1"/>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sp>
        <p:nvSpPr>
          <p:cNvPr id="273" name="Google Shape;273;p30"/>
          <p:cNvSpPr/>
          <p:nvPr/>
        </p:nvSpPr>
        <p:spPr>
          <a:xfrm>
            <a:off x="5218373" y="1855878"/>
            <a:ext cx="481200" cy="478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274" name="Google Shape;274;p30"/>
          <p:cNvSpPr/>
          <p:nvPr/>
        </p:nvSpPr>
        <p:spPr>
          <a:xfrm>
            <a:off x="6785547" y="1425962"/>
            <a:ext cx="481200" cy="478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275" name="Google Shape;275;p30"/>
          <p:cNvSpPr/>
          <p:nvPr/>
        </p:nvSpPr>
        <p:spPr>
          <a:xfrm>
            <a:off x="7591458" y="2154794"/>
            <a:ext cx="481200" cy="478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276" name="Google Shape;276;p30"/>
          <p:cNvSpPr/>
          <p:nvPr/>
        </p:nvSpPr>
        <p:spPr>
          <a:xfrm>
            <a:off x="6164321" y="2563734"/>
            <a:ext cx="481200" cy="478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277" name="Google Shape;277;p30"/>
          <p:cNvSpPr/>
          <p:nvPr/>
        </p:nvSpPr>
        <p:spPr>
          <a:xfrm>
            <a:off x="5174838" y="3202421"/>
            <a:ext cx="481200" cy="478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278" name="Google Shape;278;p30"/>
          <p:cNvSpPr/>
          <p:nvPr/>
        </p:nvSpPr>
        <p:spPr>
          <a:xfrm>
            <a:off x="6591296" y="3345885"/>
            <a:ext cx="481200" cy="478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279" name="Google Shape;279;p30"/>
          <p:cNvSpPr/>
          <p:nvPr/>
        </p:nvSpPr>
        <p:spPr>
          <a:xfrm>
            <a:off x="7072340" y="4203310"/>
            <a:ext cx="481200" cy="478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280" name="Google Shape;280;p30"/>
          <p:cNvSpPr/>
          <p:nvPr/>
        </p:nvSpPr>
        <p:spPr>
          <a:xfrm>
            <a:off x="8110531" y="3138746"/>
            <a:ext cx="481200" cy="478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281" name="Google Shape;281;p30"/>
          <p:cNvSpPr/>
          <p:nvPr/>
        </p:nvSpPr>
        <p:spPr>
          <a:xfrm>
            <a:off x="8351098" y="4203310"/>
            <a:ext cx="481200" cy="478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cxnSp>
        <p:nvCxnSpPr>
          <p:cNvPr id="282" name="Google Shape;282;p30"/>
          <p:cNvCxnSpPr>
            <a:stCxn id="281" idx="0"/>
            <a:endCxn id="280" idx="4"/>
          </p:cNvCxnSpPr>
          <p:nvPr/>
        </p:nvCxnSpPr>
        <p:spPr>
          <a:xfrm rot="10800000">
            <a:off x="8351098" y="3617410"/>
            <a:ext cx="240600" cy="585900"/>
          </a:xfrm>
          <a:prstGeom prst="straightConnector1">
            <a:avLst/>
          </a:prstGeom>
          <a:noFill/>
          <a:ln cap="flat" cmpd="sng" w="28575">
            <a:solidFill>
              <a:schemeClr val="dk2"/>
            </a:solidFill>
            <a:prstDash val="solid"/>
            <a:round/>
            <a:headEnd len="med" w="med" type="none"/>
            <a:tailEnd len="med" w="med" type="none"/>
          </a:ln>
        </p:spPr>
      </p:cxnSp>
      <p:cxnSp>
        <p:nvCxnSpPr>
          <p:cNvPr id="283" name="Google Shape;283;p30"/>
          <p:cNvCxnSpPr>
            <a:stCxn id="280" idx="3"/>
            <a:endCxn id="279" idx="7"/>
          </p:cNvCxnSpPr>
          <p:nvPr/>
        </p:nvCxnSpPr>
        <p:spPr>
          <a:xfrm flipH="1">
            <a:off x="7483201" y="3547428"/>
            <a:ext cx="697800" cy="726000"/>
          </a:xfrm>
          <a:prstGeom prst="straightConnector1">
            <a:avLst/>
          </a:prstGeom>
          <a:noFill/>
          <a:ln cap="flat" cmpd="sng" w="28575">
            <a:solidFill>
              <a:schemeClr val="dk2"/>
            </a:solidFill>
            <a:prstDash val="solid"/>
            <a:round/>
            <a:headEnd len="med" w="med" type="none"/>
            <a:tailEnd len="med" w="med" type="none"/>
          </a:ln>
        </p:spPr>
      </p:cxnSp>
      <p:cxnSp>
        <p:nvCxnSpPr>
          <p:cNvPr id="284" name="Google Shape;284;p30"/>
          <p:cNvCxnSpPr>
            <a:stCxn id="278" idx="5"/>
            <a:endCxn id="279" idx="0"/>
          </p:cNvCxnSpPr>
          <p:nvPr/>
        </p:nvCxnSpPr>
        <p:spPr>
          <a:xfrm>
            <a:off x="7002026" y="3754567"/>
            <a:ext cx="310800" cy="448800"/>
          </a:xfrm>
          <a:prstGeom prst="straightConnector1">
            <a:avLst/>
          </a:prstGeom>
          <a:noFill/>
          <a:ln cap="flat" cmpd="sng" w="28575">
            <a:solidFill>
              <a:schemeClr val="dk2"/>
            </a:solidFill>
            <a:prstDash val="solid"/>
            <a:round/>
            <a:headEnd len="med" w="med" type="none"/>
            <a:tailEnd len="med" w="med" type="none"/>
          </a:ln>
        </p:spPr>
      </p:cxnSp>
      <p:cxnSp>
        <p:nvCxnSpPr>
          <p:cNvPr id="285" name="Google Shape;285;p30"/>
          <p:cNvCxnSpPr>
            <a:stCxn id="275" idx="4"/>
            <a:endCxn id="278" idx="7"/>
          </p:cNvCxnSpPr>
          <p:nvPr/>
        </p:nvCxnSpPr>
        <p:spPr>
          <a:xfrm flipH="1">
            <a:off x="7001958" y="2633594"/>
            <a:ext cx="830100" cy="782400"/>
          </a:xfrm>
          <a:prstGeom prst="straightConnector1">
            <a:avLst/>
          </a:prstGeom>
          <a:noFill/>
          <a:ln cap="flat" cmpd="sng" w="28575">
            <a:solidFill>
              <a:schemeClr val="dk2"/>
            </a:solidFill>
            <a:prstDash val="solid"/>
            <a:round/>
            <a:headEnd len="med" w="med" type="none"/>
            <a:tailEnd len="med" w="med" type="none"/>
          </a:ln>
        </p:spPr>
      </p:cxnSp>
      <p:cxnSp>
        <p:nvCxnSpPr>
          <p:cNvPr id="286" name="Google Shape;286;p30"/>
          <p:cNvCxnSpPr>
            <a:stCxn id="280" idx="1"/>
            <a:endCxn id="275" idx="4"/>
          </p:cNvCxnSpPr>
          <p:nvPr/>
        </p:nvCxnSpPr>
        <p:spPr>
          <a:xfrm rot="10800000">
            <a:off x="7832101" y="2633465"/>
            <a:ext cx="348900" cy="575400"/>
          </a:xfrm>
          <a:prstGeom prst="straightConnector1">
            <a:avLst/>
          </a:prstGeom>
          <a:noFill/>
          <a:ln cap="flat" cmpd="sng" w="28575">
            <a:solidFill>
              <a:schemeClr val="dk2"/>
            </a:solidFill>
            <a:prstDash val="solid"/>
            <a:round/>
            <a:headEnd len="med" w="med" type="none"/>
            <a:tailEnd len="med" w="med" type="none"/>
          </a:ln>
        </p:spPr>
      </p:cxnSp>
      <p:cxnSp>
        <p:nvCxnSpPr>
          <p:cNvPr id="287" name="Google Shape;287;p30"/>
          <p:cNvCxnSpPr>
            <a:stCxn id="278" idx="2"/>
            <a:endCxn id="277" idx="6"/>
          </p:cNvCxnSpPr>
          <p:nvPr/>
        </p:nvCxnSpPr>
        <p:spPr>
          <a:xfrm rot="10800000">
            <a:off x="5655896" y="3441885"/>
            <a:ext cx="935400" cy="143400"/>
          </a:xfrm>
          <a:prstGeom prst="straightConnector1">
            <a:avLst/>
          </a:prstGeom>
          <a:noFill/>
          <a:ln cap="flat" cmpd="sng" w="28575">
            <a:solidFill>
              <a:schemeClr val="dk2"/>
            </a:solidFill>
            <a:prstDash val="solid"/>
            <a:round/>
            <a:headEnd len="med" w="med" type="none"/>
            <a:tailEnd len="med" w="med" type="none"/>
          </a:ln>
        </p:spPr>
      </p:cxnSp>
      <p:cxnSp>
        <p:nvCxnSpPr>
          <p:cNvPr id="288" name="Google Shape;288;p30"/>
          <p:cNvCxnSpPr>
            <a:stCxn id="278" idx="0"/>
            <a:endCxn id="276" idx="4"/>
          </p:cNvCxnSpPr>
          <p:nvPr/>
        </p:nvCxnSpPr>
        <p:spPr>
          <a:xfrm rot="10800000">
            <a:off x="6404996" y="3042585"/>
            <a:ext cx="426900" cy="303300"/>
          </a:xfrm>
          <a:prstGeom prst="straightConnector1">
            <a:avLst/>
          </a:prstGeom>
          <a:noFill/>
          <a:ln cap="flat" cmpd="sng" w="28575">
            <a:solidFill>
              <a:schemeClr val="dk2"/>
            </a:solidFill>
            <a:prstDash val="solid"/>
            <a:round/>
            <a:headEnd len="med" w="med" type="none"/>
            <a:tailEnd len="med" w="med" type="none"/>
          </a:ln>
        </p:spPr>
      </p:cxnSp>
      <p:cxnSp>
        <p:nvCxnSpPr>
          <p:cNvPr id="289" name="Google Shape;289;p30"/>
          <p:cNvCxnSpPr>
            <a:stCxn id="276" idx="3"/>
            <a:endCxn id="277" idx="7"/>
          </p:cNvCxnSpPr>
          <p:nvPr/>
        </p:nvCxnSpPr>
        <p:spPr>
          <a:xfrm flipH="1">
            <a:off x="5585591" y="2972415"/>
            <a:ext cx="649200" cy="300000"/>
          </a:xfrm>
          <a:prstGeom prst="straightConnector1">
            <a:avLst/>
          </a:prstGeom>
          <a:noFill/>
          <a:ln cap="flat" cmpd="sng" w="28575">
            <a:solidFill>
              <a:schemeClr val="dk2"/>
            </a:solidFill>
            <a:prstDash val="solid"/>
            <a:round/>
            <a:headEnd len="med" w="med" type="none"/>
            <a:tailEnd len="med" w="med" type="none"/>
          </a:ln>
        </p:spPr>
      </p:cxnSp>
      <p:cxnSp>
        <p:nvCxnSpPr>
          <p:cNvPr id="290" name="Google Shape;290;p30"/>
          <p:cNvCxnSpPr>
            <a:stCxn id="273" idx="4"/>
            <a:endCxn id="277" idx="0"/>
          </p:cNvCxnSpPr>
          <p:nvPr/>
        </p:nvCxnSpPr>
        <p:spPr>
          <a:xfrm flipH="1">
            <a:off x="5415473" y="2334678"/>
            <a:ext cx="43500" cy="867600"/>
          </a:xfrm>
          <a:prstGeom prst="straightConnector1">
            <a:avLst/>
          </a:prstGeom>
          <a:noFill/>
          <a:ln cap="flat" cmpd="sng" w="28575">
            <a:solidFill>
              <a:schemeClr val="dk2"/>
            </a:solidFill>
            <a:prstDash val="solid"/>
            <a:round/>
            <a:headEnd len="med" w="med" type="none"/>
            <a:tailEnd len="med" w="med" type="none"/>
          </a:ln>
        </p:spPr>
      </p:cxnSp>
      <p:cxnSp>
        <p:nvCxnSpPr>
          <p:cNvPr id="291" name="Google Shape;291;p30"/>
          <p:cNvCxnSpPr>
            <a:stCxn id="274" idx="2"/>
            <a:endCxn id="273" idx="6"/>
          </p:cNvCxnSpPr>
          <p:nvPr/>
        </p:nvCxnSpPr>
        <p:spPr>
          <a:xfrm flipH="1">
            <a:off x="5699547" y="1665362"/>
            <a:ext cx="1086000" cy="429900"/>
          </a:xfrm>
          <a:prstGeom prst="straightConnector1">
            <a:avLst/>
          </a:prstGeom>
          <a:noFill/>
          <a:ln cap="flat" cmpd="sng" w="28575">
            <a:solidFill>
              <a:schemeClr val="dk2"/>
            </a:solidFill>
            <a:prstDash val="solid"/>
            <a:round/>
            <a:headEnd len="med" w="med" type="none"/>
            <a:tailEnd len="med" w="med" type="none"/>
          </a:ln>
        </p:spPr>
      </p:cxnSp>
      <p:cxnSp>
        <p:nvCxnSpPr>
          <p:cNvPr id="292" name="Google Shape;292;p30"/>
          <p:cNvCxnSpPr>
            <a:stCxn id="274" idx="3"/>
            <a:endCxn id="276" idx="0"/>
          </p:cNvCxnSpPr>
          <p:nvPr/>
        </p:nvCxnSpPr>
        <p:spPr>
          <a:xfrm flipH="1">
            <a:off x="6404817" y="1834643"/>
            <a:ext cx="451200" cy="729000"/>
          </a:xfrm>
          <a:prstGeom prst="straightConnector1">
            <a:avLst/>
          </a:prstGeom>
          <a:noFill/>
          <a:ln cap="flat" cmpd="sng" w="28575">
            <a:solidFill>
              <a:schemeClr val="dk2"/>
            </a:solidFill>
            <a:prstDash val="solid"/>
            <a:round/>
            <a:headEnd len="med" w="med" type="none"/>
            <a:tailEnd len="med" w="med" type="none"/>
          </a:ln>
        </p:spPr>
      </p:cxnSp>
      <p:cxnSp>
        <p:nvCxnSpPr>
          <p:cNvPr id="293" name="Google Shape;293;p30"/>
          <p:cNvCxnSpPr>
            <a:stCxn id="275" idx="2"/>
            <a:endCxn id="273" idx="6"/>
          </p:cNvCxnSpPr>
          <p:nvPr/>
        </p:nvCxnSpPr>
        <p:spPr>
          <a:xfrm rot="10800000">
            <a:off x="5699658" y="2095394"/>
            <a:ext cx="1891800" cy="298800"/>
          </a:xfrm>
          <a:prstGeom prst="straightConnector1">
            <a:avLst/>
          </a:prstGeom>
          <a:noFill/>
          <a:ln cap="flat" cmpd="sng" w="28575">
            <a:solidFill>
              <a:schemeClr val="dk2"/>
            </a:solidFill>
            <a:prstDash val="solid"/>
            <a:round/>
            <a:headEnd len="med" w="med" type="none"/>
            <a:tailEnd len="med" w="med" type="none"/>
          </a:ln>
        </p:spPr>
      </p:cxnSp>
      <p:cxnSp>
        <p:nvCxnSpPr>
          <p:cNvPr id="294" name="Google Shape;294;p30"/>
          <p:cNvCxnSpPr>
            <a:stCxn id="275" idx="1"/>
            <a:endCxn id="274" idx="5"/>
          </p:cNvCxnSpPr>
          <p:nvPr/>
        </p:nvCxnSpPr>
        <p:spPr>
          <a:xfrm rot="10800000">
            <a:off x="7196328" y="1834613"/>
            <a:ext cx="465600" cy="390300"/>
          </a:xfrm>
          <a:prstGeom prst="straightConnector1">
            <a:avLst/>
          </a:prstGeom>
          <a:noFill/>
          <a:ln cap="flat" cmpd="sng" w="28575">
            <a:solidFill>
              <a:schemeClr val="dk2"/>
            </a:solidFill>
            <a:prstDash val="solid"/>
            <a:round/>
            <a:headEnd len="med" w="med" type="none"/>
            <a:tailEnd len="med" w="med" type="none"/>
          </a:ln>
        </p:spPr>
      </p:cxnSp>
      <p:cxnSp>
        <p:nvCxnSpPr>
          <p:cNvPr id="295" name="Google Shape;295;p30"/>
          <p:cNvCxnSpPr>
            <a:stCxn id="275" idx="2"/>
            <a:endCxn id="276" idx="7"/>
          </p:cNvCxnSpPr>
          <p:nvPr/>
        </p:nvCxnSpPr>
        <p:spPr>
          <a:xfrm flipH="1">
            <a:off x="6575058" y="2394194"/>
            <a:ext cx="1016400" cy="239700"/>
          </a:xfrm>
          <a:prstGeom prst="straightConnector1">
            <a:avLst/>
          </a:prstGeom>
          <a:noFill/>
          <a:ln cap="flat" cmpd="sng" w="28575">
            <a:solidFill>
              <a:schemeClr val="dk2"/>
            </a:solidFill>
            <a:prstDash val="solid"/>
            <a:round/>
            <a:headEnd len="med" w="med" type="none"/>
            <a:tailEnd len="med" w="med" type="none"/>
          </a:ln>
        </p:spPr>
      </p:cxnSp>
      <p:cxnSp>
        <p:nvCxnSpPr>
          <p:cNvPr id="296" name="Google Shape;296;p30"/>
          <p:cNvCxnSpPr>
            <a:stCxn id="276" idx="1"/>
            <a:endCxn id="273" idx="5"/>
          </p:cNvCxnSpPr>
          <p:nvPr/>
        </p:nvCxnSpPr>
        <p:spPr>
          <a:xfrm rot="10800000">
            <a:off x="5629091" y="2264552"/>
            <a:ext cx="605700" cy="3693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What is it?</a:t>
            </a:r>
            <a:endParaRPr/>
          </a:p>
        </p:txBody>
      </p:sp>
      <p:sp>
        <p:nvSpPr>
          <p:cNvPr id="302" name="Google Shape;302;p31"/>
          <p:cNvSpPr txBox="1"/>
          <p:nvPr>
            <p:ph idx="1" type="body"/>
          </p:nvPr>
        </p:nvSpPr>
        <p:spPr>
          <a:xfrm>
            <a:off x="311700" y="1225225"/>
            <a:ext cx="4343400" cy="3657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a:t>
            </a:r>
            <a:r>
              <a:rPr b="1" lang="en"/>
              <a:t>centrality metric</a:t>
            </a:r>
            <a:r>
              <a:rPr lang="en"/>
              <a:t> is a summary </a:t>
            </a:r>
            <a:r>
              <a:rPr b="1" lang="en"/>
              <a:t>index </a:t>
            </a:r>
            <a:r>
              <a:rPr lang="en"/>
              <a:t>of the centrality of a node </a:t>
            </a:r>
            <a:endParaRPr/>
          </a:p>
          <a:p>
            <a:pPr indent="-317500" lvl="1" marL="914400" rtl="0" algn="l">
              <a:spcBef>
                <a:spcPts val="0"/>
              </a:spcBef>
              <a:spcAft>
                <a:spcPts val="0"/>
              </a:spcAft>
              <a:buSzPts val="1400"/>
              <a:buChar char="○"/>
            </a:pPr>
            <a:r>
              <a:rPr lang="en"/>
              <a:t>Based on </a:t>
            </a:r>
            <a:r>
              <a:rPr i="1" lang="en"/>
              <a:t>sums</a:t>
            </a:r>
            <a:r>
              <a:rPr lang="en"/>
              <a:t> or </a:t>
            </a:r>
            <a:r>
              <a:rPr i="1" lang="en"/>
              <a:t>averages</a:t>
            </a:r>
            <a:r>
              <a:rPr lang="en"/>
              <a:t> of one of three things:</a:t>
            </a:r>
            <a:endParaRPr/>
          </a:p>
          <a:p>
            <a:pPr indent="-317500" lvl="2" marL="1371600" rtl="0" algn="l">
              <a:spcBef>
                <a:spcPts val="0"/>
              </a:spcBef>
              <a:spcAft>
                <a:spcPts val="0"/>
              </a:spcAft>
              <a:buSzPts val="1400"/>
              <a:buChar char="■"/>
            </a:pPr>
            <a:r>
              <a:rPr b="1" lang="en"/>
              <a:t>Number of edges</a:t>
            </a:r>
            <a:r>
              <a:rPr lang="en"/>
              <a:t> that are directly </a:t>
            </a:r>
            <a:r>
              <a:rPr b="1" lang="en"/>
              <a:t>incident</a:t>
            </a:r>
            <a:r>
              <a:rPr lang="en"/>
              <a:t> upon that node.</a:t>
            </a:r>
            <a:endParaRPr/>
          </a:p>
          <a:p>
            <a:pPr indent="0" lvl="0" marL="13716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sp>
        <p:nvSpPr>
          <p:cNvPr id="303" name="Google Shape;303;p31"/>
          <p:cNvSpPr/>
          <p:nvPr/>
        </p:nvSpPr>
        <p:spPr>
          <a:xfrm>
            <a:off x="5218373" y="1855878"/>
            <a:ext cx="481200" cy="4788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04" name="Google Shape;304;p31"/>
          <p:cNvSpPr/>
          <p:nvPr/>
        </p:nvSpPr>
        <p:spPr>
          <a:xfrm>
            <a:off x="6785547" y="1425962"/>
            <a:ext cx="481200" cy="4788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05" name="Google Shape;305;p31"/>
          <p:cNvSpPr/>
          <p:nvPr/>
        </p:nvSpPr>
        <p:spPr>
          <a:xfrm>
            <a:off x="7591458" y="2154794"/>
            <a:ext cx="481200" cy="4788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06" name="Google Shape;306;p31"/>
          <p:cNvSpPr/>
          <p:nvPr/>
        </p:nvSpPr>
        <p:spPr>
          <a:xfrm>
            <a:off x="6164321" y="2563734"/>
            <a:ext cx="481200" cy="4788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07" name="Google Shape;307;p31"/>
          <p:cNvSpPr/>
          <p:nvPr/>
        </p:nvSpPr>
        <p:spPr>
          <a:xfrm>
            <a:off x="5174838" y="3202421"/>
            <a:ext cx="481200" cy="4788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08" name="Google Shape;308;p31"/>
          <p:cNvSpPr/>
          <p:nvPr/>
        </p:nvSpPr>
        <p:spPr>
          <a:xfrm>
            <a:off x="6591296" y="3345885"/>
            <a:ext cx="481200" cy="4788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09" name="Google Shape;309;p31"/>
          <p:cNvSpPr/>
          <p:nvPr/>
        </p:nvSpPr>
        <p:spPr>
          <a:xfrm>
            <a:off x="7072340" y="4203310"/>
            <a:ext cx="481200" cy="4788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10" name="Google Shape;310;p31"/>
          <p:cNvSpPr/>
          <p:nvPr/>
        </p:nvSpPr>
        <p:spPr>
          <a:xfrm>
            <a:off x="8110531" y="3138746"/>
            <a:ext cx="481200" cy="4788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11" name="Google Shape;311;p31"/>
          <p:cNvSpPr/>
          <p:nvPr/>
        </p:nvSpPr>
        <p:spPr>
          <a:xfrm>
            <a:off x="8351098" y="4203310"/>
            <a:ext cx="481200" cy="4788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cxnSp>
        <p:nvCxnSpPr>
          <p:cNvPr id="312" name="Google Shape;312;p31"/>
          <p:cNvCxnSpPr>
            <a:stCxn id="311" idx="0"/>
            <a:endCxn id="310" idx="4"/>
          </p:cNvCxnSpPr>
          <p:nvPr/>
        </p:nvCxnSpPr>
        <p:spPr>
          <a:xfrm rot="10800000">
            <a:off x="8351098" y="3617410"/>
            <a:ext cx="240600" cy="585900"/>
          </a:xfrm>
          <a:prstGeom prst="straightConnector1">
            <a:avLst/>
          </a:prstGeom>
          <a:noFill/>
          <a:ln cap="flat" cmpd="sng" w="28575">
            <a:solidFill>
              <a:schemeClr val="dk2"/>
            </a:solidFill>
            <a:prstDash val="solid"/>
            <a:round/>
            <a:headEnd len="med" w="med" type="none"/>
            <a:tailEnd len="med" w="med" type="none"/>
          </a:ln>
        </p:spPr>
      </p:cxnSp>
      <p:cxnSp>
        <p:nvCxnSpPr>
          <p:cNvPr id="313" name="Google Shape;313;p31"/>
          <p:cNvCxnSpPr>
            <a:stCxn id="310" idx="3"/>
            <a:endCxn id="309" idx="7"/>
          </p:cNvCxnSpPr>
          <p:nvPr/>
        </p:nvCxnSpPr>
        <p:spPr>
          <a:xfrm flipH="1">
            <a:off x="7483201" y="3547428"/>
            <a:ext cx="697800" cy="726000"/>
          </a:xfrm>
          <a:prstGeom prst="straightConnector1">
            <a:avLst/>
          </a:prstGeom>
          <a:noFill/>
          <a:ln cap="flat" cmpd="sng" w="28575">
            <a:solidFill>
              <a:schemeClr val="dk2"/>
            </a:solidFill>
            <a:prstDash val="solid"/>
            <a:round/>
            <a:headEnd len="med" w="med" type="none"/>
            <a:tailEnd len="med" w="med" type="none"/>
          </a:ln>
        </p:spPr>
      </p:cxnSp>
      <p:cxnSp>
        <p:nvCxnSpPr>
          <p:cNvPr id="314" name="Google Shape;314;p31"/>
          <p:cNvCxnSpPr>
            <a:stCxn id="308" idx="5"/>
            <a:endCxn id="309" idx="0"/>
          </p:cNvCxnSpPr>
          <p:nvPr/>
        </p:nvCxnSpPr>
        <p:spPr>
          <a:xfrm>
            <a:off x="7002026" y="3754567"/>
            <a:ext cx="310800" cy="448800"/>
          </a:xfrm>
          <a:prstGeom prst="straightConnector1">
            <a:avLst/>
          </a:prstGeom>
          <a:noFill/>
          <a:ln cap="flat" cmpd="sng" w="28575">
            <a:solidFill>
              <a:schemeClr val="dk2"/>
            </a:solidFill>
            <a:prstDash val="solid"/>
            <a:round/>
            <a:headEnd len="med" w="med" type="none"/>
            <a:tailEnd len="med" w="med" type="none"/>
          </a:ln>
        </p:spPr>
      </p:cxnSp>
      <p:cxnSp>
        <p:nvCxnSpPr>
          <p:cNvPr id="315" name="Google Shape;315;p31"/>
          <p:cNvCxnSpPr>
            <a:stCxn id="305" idx="4"/>
            <a:endCxn id="308" idx="7"/>
          </p:cNvCxnSpPr>
          <p:nvPr/>
        </p:nvCxnSpPr>
        <p:spPr>
          <a:xfrm flipH="1">
            <a:off x="7001958" y="2633594"/>
            <a:ext cx="830100" cy="782400"/>
          </a:xfrm>
          <a:prstGeom prst="straightConnector1">
            <a:avLst/>
          </a:prstGeom>
          <a:noFill/>
          <a:ln cap="flat" cmpd="sng" w="28575">
            <a:solidFill>
              <a:schemeClr val="dk2"/>
            </a:solidFill>
            <a:prstDash val="solid"/>
            <a:round/>
            <a:headEnd len="med" w="med" type="none"/>
            <a:tailEnd len="med" w="med" type="none"/>
          </a:ln>
        </p:spPr>
      </p:cxnSp>
      <p:cxnSp>
        <p:nvCxnSpPr>
          <p:cNvPr id="316" name="Google Shape;316;p31"/>
          <p:cNvCxnSpPr>
            <a:stCxn id="310" idx="1"/>
            <a:endCxn id="305" idx="4"/>
          </p:cNvCxnSpPr>
          <p:nvPr/>
        </p:nvCxnSpPr>
        <p:spPr>
          <a:xfrm rot="10800000">
            <a:off x="7832101" y="2633465"/>
            <a:ext cx="348900" cy="575400"/>
          </a:xfrm>
          <a:prstGeom prst="straightConnector1">
            <a:avLst/>
          </a:prstGeom>
          <a:noFill/>
          <a:ln cap="flat" cmpd="sng" w="28575">
            <a:solidFill>
              <a:schemeClr val="dk2"/>
            </a:solidFill>
            <a:prstDash val="solid"/>
            <a:round/>
            <a:headEnd len="med" w="med" type="none"/>
            <a:tailEnd len="med" w="med" type="none"/>
          </a:ln>
        </p:spPr>
      </p:cxnSp>
      <p:cxnSp>
        <p:nvCxnSpPr>
          <p:cNvPr id="317" name="Google Shape;317;p31"/>
          <p:cNvCxnSpPr>
            <a:stCxn id="308" idx="2"/>
            <a:endCxn id="307" idx="6"/>
          </p:cNvCxnSpPr>
          <p:nvPr/>
        </p:nvCxnSpPr>
        <p:spPr>
          <a:xfrm rot="10800000">
            <a:off x="5655896" y="3441885"/>
            <a:ext cx="935400" cy="143400"/>
          </a:xfrm>
          <a:prstGeom prst="straightConnector1">
            <a:avLst/>
          </a:prstGeom>
          <a:noFill/>
          <a:ln cap="flat" cmpd="sng" w="28575">
            <a:solidFill>
              <a:schemeClr val="dk2"/>
            </a:solidFill>
            <a:prstDash val="solid"/>
            <a:round/>
            <a:headEnd len="med" w="med" type="none"/>
            <a:tailEnd len="med" w="med" type="none"/>
          </a:ln>
        </p:spPr>
      </p:cxnSp>
      <p:cxnSp>
        <p:nvCxnSpPr>
          <p:cNvPr id="318" name="Google Shape;318;p31"/>
          <p:cNvCxnSpPr>
            <a:stCxn id="308" idx="0"/>
            <a:endCxn id="306" idx="4"/>
          </p:cNvCxnSpPr>
          <p:nvPr/>
        </p:nvCxnSpPr>
        <p:spPr>
          <a:xfrm rot="10800000">
            <a:off x="6404996" y="3042585"/>
            <a:ext cx="426900" cy="303300"/>
          </a:xfrm>
          <a:prstGeom prst="straightConnector1">
            <a:avLst/>
          </a:prstGeom>
          <a:noFill/>
          <a:ln cap="flat" cmpd="sng" w="28575">
            <a:solidFill>
              <a:srgbClr val="FF0000"/>
            </a:solidFill>
            <a:prstDash val="solid"/>
            <a:round/>
            <a:headEnd len="med" w="med" type="none"/>
            <a:tailEnd len="med" w="med" type="none"/>
          </a:ln>
        </p:spPr>
      </p:cxnSp>
      <p:cxnSp>
        <p:nvCxnSpPr>
          <p:cNvPr id="319" name="Google Shape;319;p31"/>
          <p:cNvCxnSpPr>
            <a:stCxn id="306" idx="3"/>
            <a:endCxn id="307" idx="7"/>
          </p:cNvCxnSpPr>
          <p:nvPr/>
        </p:nvCxnSpPr>
        <p:spPr>
          <a:xfrm flipH="1">
            <a:off x="5585591" y="2972415"/>
            <a:ext cx="649200" cy="300000"/>
          </a:xfrm>
          <a:prstGeom prst="straightConnector1">
            <a:avLst/>
          </a:prstGeom>
          <a:noFill/>
          <a:ln cap="flat" cmpd="sng" w="28575">
            <a:solidFill>
              <a:srgbClr val="FF0000"/>
            </a:solidFill>
            <a:prstDash val="solid"/>
            <a:round/>
            <a:headEnd len="med" w="med" type="none"/>
            <a:tailEnd len="med" w="med" type="none"/>
          </a:ln>
        </p:spPr>
      </p:cxnSp>
      <p:cxnSp>
        <p:nvCxnSpPr>
          <p:cNvPr id="320" name="Google Shape;320;p31"/>
          <p:cNvCxnSpPr>
            <a:stCxn id="303" idx="4"/>
            <a:endCxn id="307" idx="0"/>
          </p:cNvCxnSpPr>
          <p:nvPr/>
        </p:nvCxnSpPr>
        <p:spPr>
          <a:xfrm flipH="1">
            <a:off x="5415473" y="2334678"/>
            <a:ext cx="43500" cy="867600"/>
          </a:xfrm>
          <a:prstGeom prst="straightConnector1">
            <a:avLst/>
          </a:prstGeom>
          <a:noFill/>
          <a:ln cap="flat" cmpd="sng" w="28575">
            <a:solidFill>
              <a:schemeClr val="dk2"/>
            </a:solidFill>
            <a:prstDash val="solid"/>
            <a:round/>
            <a:headEnd len="med" w="med" type="none"/>
            <a:tailEnd len="med" w="med" type="none"/>
          </a:ln>
        </p:spPr>
      </p:cxnSp>
      <p:cxnSp>
        <p:nvCxnSpPr>
          <p:cNvPr id="321" name="Google Shape;321;p31"/>
          <p:cNvCxnSpPr>
            <a:stCxn id="304" idx="2"/>
            <a:endCxn id="303" idx="6"/>
          </p:cNvCxnSpPr>
          <p:nvPr/>
        </p:nvCxnSpPr>
        <p:spPr>
          <a:xfrm flipH="1">
            <a:off x="5699547" y="1665362"/>
            <a:ext cx="1086000" cy="429900"/>
          </a:xfrm>
          <a:prstGeom prst="straightConnector1">
            <a:avLst/>
          </a:prstGeom>
          <a:noFill/>
          <a:ln cap="flat" cmpd="sng" w="28575">
            <a:solidFill>
              <a:schemeClr val="dk2"/>
            </a:solidFill>
            <a:prstDash val="solid"/>
            <a:round/>
            <a:headEnd len="med" w="med" type="none"/>
            <a:tailEnd len="med" w="med" type="none"/>
          </a:ln>
        </p:spPr>
      </p:cxnSp>
      <p:cxnSp>
        <p:nvCxnSpPr>
          <p:cNvPr id="322" name="Google Shape;322;p31"/>
          <p:cNvCxnSpPr>
            <a:stCxn id="304" idx="3"/>
            <a:endCxn id="306" idx="0"/>
          </p:cNvCxnSpPr>
          <p:nvPr/>
        </p:nvCxnSpPr>
        <p:spPr>
          <a:xfrm flipH="1">
            <a:off x="6404817" y="1834643"/>
            <a:ext cx="451200" cy="729000"/>
          </a:xfrm>
          <a:prstGeom prst="straightConnector1">
            <a:avLst/>
          </a:prstGeom>
          <a:noFill/>
          <a:ln cap="flat" cmpd="sng" w="28575">
            <a:solidFill>
              <a:srgbClr val="FF0000"/>
            </a:solidFill>
            <a:prstDash val="solid"/>
            <a:round/>
            <a:headEnd len="med" w="med" type="none"/>
            <a:tailEnd len="med" w="med" type="none"/>
          </a:ln>
        </p:spPr>
      </p:cxnSp>
      <p:cxnSp>
        <p:nvCxnSpPr>
          <p:cNvPr id="323" name="Google Shape;323;p31"/>
          <p:cNvCxnSpPr>
            <a:stCxn id="305" idx="2"/>
            <a:endCxn id="303" idx="6"/>
          </p:cNvCxnSpPr>
          <p:nvPr/>
        </p:nvCxnSpPr>
        <p:spPr>
          <a:xfrm rot="10800000">
            <a:off x="5699658" y="2095394"/>
            <a:ext cx="1891800" cy="298800"/>
          </a:xfrm>
          <a:prstGeom prst="straightConnector1">
            <a:avLst/>
          </a:prstGeom>
          <a:noFill/>
          <a:ln cap="flat" cmpd="sng" w="28575">
            <a:solidFill>
              <a:schemeClr val="dk2"/>
            </a:solidFill>
            <a:prstDash val="solid"/>
            <a:round/>
            <a:headEnd len="med" w="med" type="none"/>
            <a:tailEnd len="med" w="med" type="none"/>
          </a:ln>
        </p:spPr>
      </p:cxnSp>
      <p:cxnSp>
        <p:nvCxnSpPr>
          <p:cNvPr id="324" name="Google Shape;324;p31"/>
          <p:cNvCxnSpPr>
            <a:stCxn id="305" idx="1"/>
            <a:endCxn id="304" idx="5"/>
          </p:cNvCxnSpPr>
          <p:nvPr/>
        </p:nvCxnSpPr>
        <p:spPr>
          <a:xfrm rot="10800000">
            <a:off x="7196328" y="1834613"/>
            <a:ext cx="465600" cy="390300"/>
          </a:xfrm>
          <a:prstGeom prst="straightConnector1">
            <a:avLst/>
          </a:prstGeom>
          <a:noFill/>
          <a:ln cap="flat" cmpd="sng" w="28575">
            <a:solidFill>
              <a:schemeClr val="dk2"/>
            </a:solidFill>
            <a:prstDash val="solid"/>
            <a:round/>
            <a:headEnd len="med" w="med" type="none"/>
            <a:tailEnd len="med" w="med" type="none"/>
          </a:ln>
        </p:spPr>
      </p:cxnSp>
      <p:cxnSp>
        <p:nvCxnSpPr>
          <p:cNvPr id="325" name="Google Shape;325;p31"/>
          <p:cNvCxnSpPr>
            <a:stCxn id="305" idx="2"/>
            <a:endCxn id="306" idx="7"/>
          </p:cNvCxnSpPr>
          <p:nvPr/>
        </p:nvCxnSpPr>
        <p:spPr>
          <a:xfrm flipH="1">
            <a:off x="6575058" y="2394194"/>
            <a:ext cx="1016400" cy="239700"/>
          </a:xfrm>
          <a:prstGeom prst="straightConnector1">
            <a:avLst/>
          </a:prstGeom>
          <a:noFill/>
          <a:ln cap="flat" cmpd="sng" w="28575">
            <a:solidFill>
              <a:srgbClr val="FF0000"/>
            </a:solidFill>
            <a:prstDash val="solid"/>
            <a:round/>
            <a:headEnd len="med" w="med" type="none"/>
            <a:tailEnd len="med" w="med" type="none"/>
          </a:ln>
        </p:spPr>
      </p:cxnSp>
      <p:cxnSp>
        <p:nvCxnSpPr>
          <p:cNvPr id="326" name="Google Shape;326;p31"/>
          <p:cNvCxnSpPr>
            <a:stCxn id="306" idx="1"/>
            <a:endCxn id="303" idx="5"/>
          </p:cNvCxnSpPr>
          <p:nvPr/>
        </p:nvCxnSpPr>
        <p:spPr>
          <a:xfrm rot="10800000">
            <a:off x="5629091" y="2264552"/>
            <a:ext cx="605700" cy="369300"/>
          </a:xfrm>
          <a:prstGeom prst="straightConnector1">
            <a:avLst/>
          </a:prstGeom>
          <a:noFill/>
          <a:ln cap="flat" cmpd="sng" w="28575">
            <a:solidFill>
              <a:srgbClr val="FF0000"/>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What is it?</a:t>
            </a:r>
            <a:endParaRPr/>
          </a:p>
        </p:txBody>
      </p:sp>
      <p:sp>
        <p:nvSpPr>
          <p:cNvPr id="332" name="Google Shape;332;p32"/>
          <p:cNvSpPr txBox="1"/>
          <p:nvPr>
            <p:ph idx="1" type="body"/>
          </p:nvPr>
        </p:nvSpPr>
        <p:spPr>
          <a:xfrm>
            <a:off x="311700" y="1225225"/>
            <a:ext cx="4343400" cy="3657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a:t>
            </a:r>
            <a:r>
              <a:rPr b="1" lang="en"/>
              <a:t>centrality metric</a:t>
            </a:r>
            <a:r>
              <a:rPr lang="en"/>
              <a:t> is a summary </a:t>
            </a:r>
            <a:r>
              <a:rPr b="1" lang="en"/>
              <a:t>index </a:t>
            </a:r>
            <a:r>
              <a:rPr lang="en"/>
              <a:t>of the centrality of a node </a:t>
            </a:r>
            <a:endParaRPr/>
          </a:p>
          <a:p>
            <a:pPr indent="-317500" lvl="1" marL="914400" rtl="0" algn="l">
              <a:spcBef>
                <a:spcPts val="0"/>
              </a:spcBef>
              <a:spcAft>
                <a:spcPts val="0"/>
              </a:spcAft>
              <a:buSzPts val="1400"/>
              <a:buChar char="○"/>
            </a:pPr>
            <a:r>
              <a:rPr lang="en"/>
              <a:t>Based on </a:t>
            </a:r>
            <a:r>
              <a:rPr i="1" lang="en"/>
              <a:t>sums</a:t>
            </a:r>
            <a:r>
              <a:rPr lang="en"/>
              <a:t> or </a:t>
            </a:r>
            <a:r>
              <a:rPr i="1" lang="en"/>
              <a:t>averages</a:t>
            </a:r>
            <a:r>
              <a:rPr lang="en"/>
              <a:t> of one of three things:</a:t>
            </a:r>
            <a:endParaRPr/>
          </a:p>
          <a:p>
            <a:pPr indent="-317500" lvl="2" marL="1371600" rtl="0" algn="l">
              <a:spcBef>
                <a:spcPts val="0"/>
              </a:spcBef>
              <a:spcAft>
                <a:spcPts val="0"/>
              </a:spcAft>
              <a:buSzPts val="1400"/>
              <a:buChar char="■"/>
            </a:pPr>
            <a:r>
              <a:rPr b="1" lang="en"/>
              <a:t>Number of edges</a:t>
            </a:r>
            <a:r>
              <a:rPr lang="en"/>
              <a:t> that are directly </a:t>
            </a:r>
            <a:r>
              <a:rPr b="1" lang="en"/>
              <a:t>incident</a:t>
            </a:r>
            <a:r>
              <a:rPr lang="en"/>
              <a:t> upon that node.</a:t>
            </a:r>
            <a:endParaRPr/>
          </a:p>
          <a:p>
            <a:pPr indent="-317500" lvl="2" marL="1371600" rtl="0" algn="l">
              <a:spcBef>
                <a:spcPts val="0"/>
              </a:spcBef>
              <a:spcAft>
                <a:spcPts val="0"/>
              </a:spcAft>
              <a:buSzPts val="1400"/>
              <a:buChar char="■"/>
            </a:pPr>
            <a:r>
              <a:rPr b="1" lang="en"/>
              <a:t>The length of the shortest paths</a:t>
            </a:r>
            <a:r>
              <a:rPr lang="en"/>
              <a:t> (smaller is better) having that node as one of their ends</a:t>
            </a:r>
            <a:endParaRPr/>
          </a:p>
          <a:p>
            <a:pPr indent="0" lvl="0" marL="13716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sp>
        <p:nvSpPr>
          <p:cNvPr id="333" name="Google Shape;333;p32"/>
          <p:cNvSpPr/>
          <p:nvPr/>
        </p:nvSpPr>
        <p:spPr>
          <a:xfrm>
            <a:off x="5218373" y="1855878"/>
            <a:ext cx="481200" cy="4788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34" name="Google Shape;334;p32"/>
          <p:cNvSpPr/>
          <p:nvPr/>
        </p:nvSpPr>
        <p:spPr>
          <a:xfrm>
            <a:off x="6785547" y="1425962"/>
            <a:ext cx="481200" cy="4788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35" name="Google Shape;335;p32"/>
          <p:cNvSpPr/>
          <p:nvPr/>
        </p:nvSpPr>
        <p:spPr>
          <a:xfrm>
            <a:off x="7591458" y="2154794"/>
            <a:ext cx="481200" cy="4788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36" name="Google Shape;336;p32"/>
          <p:cNvSpPr/>
          <p:nvPr/>
        </p:nvSpPr>
        <p:spPr>
          <a:xfrm>
            <a:off x="6164321" y="2563734"/>
            <a:ext cx="481200" cy="4788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37" name="Google Shape;337;p32"/>
          <p:cNvSpPr/>
          <p:nvPr/>
        </p:nvSpPr>
        <p:spPr>
          <a:xfrm>
            <a:off x="5174838" y="3202421"/>
            <a:ext cx="481200" cy="4788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38" name="Google Shape;338;p32"/>
          <p:cNvSpPr/>
          <p:nvPr/>
        </p:nvSpPr>
        <p:spPr>
          <a:xfrm>
            <a:off x="6591296" y="3345885"/>
            <a:ext cx="481200" cy="4788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39" name="Google Shape;339;p32"/>
          <p:cNvSpPr/>
          <p:nvPr/>
        </p:nvSpPr>
        <p:spPr>
          <a:xfrm>
            <a:off x="7072340" y="4203310"/>
            <a:ext cx="481200" cy="4788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40" name="Google Shape;340;p32"/>
          <p:cNvSpPr/>
          <p:nvPr/>
        </p:nvSpPr>
        <p:spPr>
          <a:xfrm>
            <a:off x="8110531" y="3138746"/>
            <a:ext cx="481200" cy="4788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41" name="Google Shape;341;p32"/>
          <p:cNvSpPr/>
          <p:nvPr/>
        </p:nvSpPr>
        <p:spPr>
          <a:xfrm>
            <a:off x="8351098" y="4203310"/>
            <a:ext cx="481200" cy="4788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cxnSp>
        <p:nvCxnSpPr>
          <p:cNvPr id="342" name="Google Shape;342;p32"/>
          <p:cNvCxnSpPr>
            <a:stCxn id="341" idx="0"/>
            <a:endCxn id="340" idx="4"/>
          </p:cNvCxnSpPr>
          <p:nvPr/>
        </p:nvCxnSpPr>
        <p:spPr>
          <a:xfrm rot="10800000">
            <a:off x="8351098" y="3617410"/>
            <a:ext cx="240600" cy="585900"/>
          </a:xfrm>
          <a:prstGeom prst="straightConnector1">
            <a:avLst/>
          </a:prstGeom>
          <a:noFill/>
          <a:ln cap="flat" cmpd="sng" w="28575">
            <a:solidFill>
              <a:srgbClr val="FF0000"/>
            </a:solidFill>
            <a:prstDash val="solid"/>
            <a:round/>
            <a:headEnd len="med" w="med" type="none"/>
            <a:tailEnd len="med" w="med" type="none"/>
          </a:ln>
        </p:spPr>
      </p:cxnSp>
      <p:cxnSp>
        <p:nvCxnSpPr>
          <p:cNvPr id="343" name="Google Shape;343;p32"/>
          <p:cNvCxnSpPr>
            <a:stCxn id="340" idx="3"/>
            <a:endCxn id="339" idx="7"/>
          </p:cNvCxnSpPr>
          <p:nvPr/>
        </p:nvCxnSpPr>
        <p:spPr>
          <a:xfrm flipH="1">
            <a:off x="7483201" y="3547428"/>
            <a:ext cx="697800" cy="726000"/>
          </a:xfrm>
          <a:prstGeom prst="straightConnector1">
            <a:avLst/>
          </a:prstGeom>
          <a:noFill/>
          <a:ln cap="flat" cmpd="sng" w="28575">
            <a:solidFill>
              <a:schemeClr val="dk2"/>
            </a:solidFill>
            <a:prstDash val="solid"/>
            <a:round/>
            <a:headEnd len="med" w="med" type="none"/>
            <a:tailEnd len="med" w="med" type="none"/>
          </a:ln>
        </p:spPr>
      </p:cxnSp>
      <p:cxnSp>
        <p:nvCxnSpPr>
          <p:cNvPr id="344" name="Google Shape;344;p32"/>
          <p:cNvCxnSpPr>
            <a:stCxn id="338" idx="5"/>
            <a:endCxn id="339" idx="0"/>
          </p:cNvCxnSpPr>
          <p:nvPr/>
        </p:nvCxnSpPr>
        <p:spPr>
          <a:xfrm>
            <a:off x="7002026" y="3754567"/>
            <a:ext cx="310800" cy="448800"/>
          </a:xfrm>
          <a:prstGeom prst="straightConnector1">
            <a:avLst/>
          </a:prstGeom>
          <a:noFill/>
          <a:ln cap="flat" cmpd="sng" w="28575">
            <a:solidFill>
              <a:srgbClr val="FF0000"/>
            </a:solidFill>
            <a:prstDash val="solid"/>
            <a:round/>
            <a:headEnd len="med" w="med" type="none"/>
            <a:tailEnd len="med" w="med" type="none"/>
          </a:ln>
        </p:spPr>
      </p:cxnSp>
      <p:cxnSp>
        <p:nvCxnSpPr>
          <p:cNvPr id="345" name="Google Shape;345;p32"/>
          <p:cNvCxnSpPr>
            <a:stCxn id="335" idx="4"/>
            <a:endCxn id="338" idx="7"/>
          </p:cNvCxnSpPr>
          <p:nvPr/>
        </p:nvCxnSpPr>
        <p:spPr>
          <a:xfrm flipH="1">
            <a:off x="7001958" y="2633594"/>
            <a:ext cx="830100" cy="782400"/>
          </a:xfrm>
          <a:prstGeom prst="straightConnector1">
            <a:avLst/>
          </a:prstGeom>
          <a:noFill/>
          <a:ln cap="flat" cmpd="sng" w="28575">
            <a:solidFill>
              <a:schemeClr val="dk2"/>
            </a:solidFill>
            <a:prstDash val="solid"/>
            <a:round/>
            <a:headEnd len="med" w="med" type="none"/>
            <a:tailEnd len="med" w="med" type="none"/>
          </a:ln>
        </p:spPr>
      </p:cxnSp>
      <p:cxnSp>
        <p:nvCxnSpPr>
          <p:cNvPr id="346" name="Google Shape;346;p32"/>
          <p:cNvCxnSpPr>
            <a:stCxn id="340" idx="1"/>
            <a:endCxn id="335" idx="4"/>
          </p:cNvCxnSpPr>
          <p:nvPr/>
        </p:nvCxnSpPr>
        <p:spPr>
          <a:xfrm rot="10800000">
            <a:off x="7832101" y="2633465"/>
            <a:ext cx="348900" cy="575400"/>
          </a:xfrm>
          <a:prstGeom prst="straightConnector1">
            <a:avLst/>
          </a:prstGeom>
          <a:noFill/>
          <a:ln cap="flat" cmpd="sng" w="28575">
            <a:solidFill>
              <a:srgbClr val="FF0000"/>
            </a:solidFill>
            <a:prstDash val="solid"/>
            <a:round/>
            <a:headEnd len="med" w="med" type="none"/>
            <a:tailEnd len="med" w="med" type="none"/>
          </a:ln>
        </p:spPr>
      </p:cxnSp>
      <p:cxnSp>
        <p:nvCxnSpPr>
          <p:cNvPr id="347" name="Google Shape;347;p32"/>
          <p:cNvCxnSpPr>
            <a:stCxn id="338" idx="2"/>
            <a:endCxn id="337" idx="6"/>
          </p:cNvCxnSpPr>
          <p:nvPr/>
        </p:nvCxnSpPr>
        <p:spPr>
          <a:xfrm rot="10800000">
            <a:off x="5655896" y="3441885"/>
            <a:ext cx="935400" cy="143400"/>
          </a:xfrm>
          <a:prstGeom prst="straightConnector1">
            <a:avLst/>
          </a:prstGeom>
          <a:noFill/>
          <a:ln cap="flat" cmpd="sng" w="28575">
            <a:solidFill>
              <a:schemeClr val="dk2"/>
            </a:solidFill>
            <a:prstDash val="solid"/>
            <a:round/>
            <a:headEnd len="med" w="med" type="none"/>
            <a:tailEnd len="med" w="med" type="none"/>
          </a:ln>
        </p:spPr>
      </p:cxnSp>
      <p:cxnSp>
        <p:nvCxnSpPr>
          <p:cNvPr id="348" name="Google Shape;348;p32"/>
          <p:cNvCxnSpPr>
            <a:stCxn id="338" idx="0"/>
            <a:endCxn id="336" idx="4"/>
          </p:cNvCxnSpPr>
          <p:nvPr/>
        </p:nvCxnSpPr>
        <p:spPr>
          <a:xfrm rot="10800000">
            <a:off x="6404996" y="3042585"/>
            <a:ext cx="426900" cy="303300"/>
          </a:xfrm>
          <a:prstGeom prst="straightConnector1">
            <a:avLst/>
          </a:prstGeom>
          <a:noFill/>
          <a:ln cap="flat" cmpd="sng" w="28575">
            <a:solidFill>
              <a:srgbClr val="FF0000"/>
            </a:solidFill>
            <a:prstDash val="solid"/>
            <a:round/>
            <a:headEnd len="med" w="med" type="none"/>
            <a:tailEnd len="med" w="med" type="none"/>
          </a:ln>
        </p:spPr>
      </p:cxnSp>
      <p:cxnSp>
        <p:nvCxnSpPr>
          <p:cNvPr id="349" name="Google Shape;349;p32"/>
          <p:cNvCxnSpPr>
            <a:stCxn id="336" idx="3"/>
            <a:endCxn id="337" idx="7"/>
          </p:cNvCxnSpPr>
          <p:nvPr/>
        </p:nvCxnSpPr>
        <p:spPr>
          <a:xfrm flipH="1">
            <a:off x="5585591" y="2972415"/>
            <a:ext cx="649200" cy="300000"/>
          </a:xfrm>
          <a:prstGeom prst="straightConnector1">
            <a:avLst/>
          </a:prstGeom>
          <a:noFill/>
          <a:ln cap="flat" cmpd="sng" w="28575">
            <a:solidFill>
              <a:srgbClr val="FF0000"/>
            </a:solidFill>
            <a:prstDash val="solid"/>
            <a:round/>
            <a:headEnd len="med" w="med" type="none"/>
            <a:tailEnd len="med" w="med" type="none"/>
          </a:ln>
        </p:spPr>
      </p:cxnSp>
      <p:cxnSp>
        <p:nvCxnSpPr>
          <p:cNvPr id="350" name="Google Shape;350;p32"/>
          <p:cNvCxnSpPr>
            <a:stCxn id="333" idx="4"/>
            <a:endCxn id="337" idx="0"/>
          </p:cNvCxnSpPr>
          <p:nvPr/>
        </p:nvCxnSpPr>
        <p:spPr>
          <a:xfrm flipH="1">
            <a:off x="5415473" y="2334678"/>
            <a:ext cx="43500" cy="867600"/>
          </a:xfrm>
          <a:prstGeom prst="straightConnector1">
            <a:avLst/>
          </a:prstGeom>
          <a:noFill/>
          <a:ln cap="flat" cmpd="sng" w="28575">
            <a:solidFill>
              <a:schemeClr val="dk2"/>
            </a:solidFill>
            <a:prstDash val="solid"/>
            <a:round/>
            <a:headEnd len="med" w="med" type="none"/>
            <a:tailEnd len="med" w="med" type="none"/>
          </a:ln>
        </p:spPr>
      </p:cxnSp>
      <p:cxnSp>
        <p:nvCxnSpPr>
          <p:cNvPr id="351" name="Google Shape;351;p32"/>
          <p:cNvCxnSpPr>
            <a:stCxn id="334" idx="2"/>
            <a:endCxn id="333" idx="6"/>
          </p:cNvCxnSpPr>
          <p:nvPr/>
        </p:nvCxnSpPr>
        <p:spPr>
          <a:xfrm flipH="1">
            <a:off x="5699547" y="1665362"/>
            <a:ext cx="1086000" cy="429900"/>
          </a:xfrm>
          <a:prstGeom prst="straightConnector1">
            <a:avLst/>
          </a:prstGeom>
          <a:noFill/>
          <a:ln cap="flat" cmpd="sng" w="28575">
            <a:solidFill>
              <a:schemeClr val="dk2"/>
            </a:solidFill>
            <a:prstDash val="solid"/>
            <a:round/>
            <a:headEnd len="med" w="med" type="none"/>
            <a:tailEnd len="med" w="med" type="none"/>
          </a:ln>
        </p:spPr>
      </p:cxnSp>
      <p:cxnSp>
        <p:nvCxnSpPr>
          <p:cNvPr id="352" name="Google Shape;352;p32"/>
          <p:cNvCxnSpPr>
            <a:stCxn id="334" idx="3"/>
            <a:endCxn id="336" idx="0"/>
          </p:cNvCxnSpPr>
          <p:nvPr/>
        </p:nvCxnSpPr>
        <p:spPr>
          <a:xfrm flipH="1">
            <a:off x="6404817" y="1834643"/>
            <a:ext cx="451200" cy="729000"/>
          </a:xfrm>
          <a:prstGeom prst="straightConnector1">
            <a:avLst/>
          </a:prstGeom>
          <a:noFill/>
          <a:ln cap="flat" cmpd="sng" w="28575">
            <a:solidFill>
              <a:srgbClr val="FF0000"/>
            </a:solidFill>
            <a:prstDash val="solid"/>
            <a:round/>
            <a:headEnd len="med" w="med" type="none"/>
            <a:tailEnd len="med" w="med" type="none"/>
          </a:ln>
        </p:spPr>
      </p:cxnSp>
      <p:cxnSp>
        <p:nvCxnSpPr>
          <p:cNvPr id="353" name="Google Shape;353;p32"/>
          <p:cNvCxnSpPr>
            <a:stCxn id="335" idx="2"/>
            <a:endCxn id="333" idx="6"/>
          </p:cNvCxnSpPr>
          <p:nvPr/>
        </p:nvCxnSpPr>
        <p:spPr>
          <a:xfrm rot="10800000">
            <a:off x="5699658" y="2095394"/>
            <a:ext cx="1891800" cy="298800"/>
          </a:xfrm>
          <a:prstGeom prst="straightConnector1">
            <a:avLst/>
          </a:prstGeom>
          <a:noFill/>
          <a:ln cap="flat" cmpd="sng" w="28575">
            <a:solidFill>
              <a:schemeClr val="dk2"/>
            </a:solidFill>
            <a:prstDash val="solid"/>
            <a:round/>
            <a:headEnd len="med" w="med" type="none"/>
            <a:tailEnd len="med" w="med" type="none"/>
          </a:ln>
        </p:spPr>
      </p:cxnSp>
      <p:cxnSp>
        <p:nvCxnSpPr>
          <p:cNvPr id="354" name="Google Shape;354;p32"/>
          <p:cNvCxnSpPr>
            <a:stCxn id="335" idx="1"/>
            <a:endCxn id="334" idx="5"/>
          </p:cNvCxnSpPr>
          <p:nvPr/>
        </p:nvCxnSpPr>
        <p:spPr>
          <a:xfrm rot="10800000">
            <a:off x="7196328" y="1834613"/>
            <a:ext cx="465600" cy="390300"/>
          </a:xfrm>
          <a:prstGeom prst="straightConnector1">
            <a:avLst/>
          </a:prstGeom>
          <a:noFill/>
          <a:ln cap="flat" cmpd="sng" w="28575">
            <a:solidFill>
              <a:schemeClr val="dk2"/>
            </a:solidFill>
            <a:prstDash val="solid"/>
            <a:round/>
            <a:headEnd len="med" w="med" type="none"/>
            <a:tailEnd len="med" w="med" type="none"/>
          </a:ln>
        </p:spPr>
      </p:cxnSp>
      <p:cxnSp>
        <p:nvCxnSpPr>
          <p:cNvPr id="355" name="Google Shape;355;p32"/>
          <p:cNvCxnSpPr>
            <a:stCxn id="335" idx="2"/>
            <a:endCxn id="336" idx="7"/>
          </p:cNvCxnSpPr>
          <p:nvPr/>
        </p:nvCxnSpPr>
        <p:spPr>
          <a:xfrm flipH="1">
            <a:off x="6575058" y="2394194"/>
            <a:ext cx="1016400" cy="239700"/>
          </a:xfrm>
          <a:prstGeom prst="straightConnector1">
            <a:avLst/>
          </a:prstGeom>
          <a:noFill/>
          <a:ln cap="flat" cmpd="sng" w="28575">
            <a:solidFill>
              <a:srgbClr val="FF0000"/>
            </a:solidFill>
            <a:prstDash val="solid"/>
            <a:round/>
            <a:headEnd len="med" w="med" type="none"/>
            <a:tailEnd len="med" w="med" type="none"/>
          </a:ln>
        </p:spPr>
      </p:cxnSp>
      <p:cxnSp>
        <p:nvCxnSpPr>
          <p:cNvPr id="356" name="Google Shape;356;p32"/>
          <p:cNvCxnSpPr>
            <a:stCxn id="336" idx="1"/>
            <a:endCxn id="333" idx="5"/>
          </p:cNvCxnSpPr>
          <p:nvPr/>
        </p:nvCxnSpPr>
        <p:spPr>
          <a:xfrm rot="10800000">
            <a:off x="5629091" y="2264552"/>
            <a:ext cx="605700" cy="369300"/>
          </a:xfrm>
          <a:prstGeom prst="straightConnector1">
            <a:avLst/>
          </a:prstGeom>
          <a:noFill/>
          <a:ln cap="flat" cmpd="sng" w="28575">
            <a:solidFill>
              <a:srgbClr val="FF0000"/>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What is it?</a:t>
            </a:r>
            <a:endParaRPr/>
          </a:p>
        </p:txBody>
      </p:sp>
      <p:sp>
        <p:nvSpPr>
          <p:cNvPr id="362" name="Google Shape;362;p33"/>
          <p:cNvSpPr txBox="1"/>
          <p:nvPr>
            <p:ph idx="1" type="body"/>
          </p:nvPr>
        </p:nvSpPr>
        <p:spPr>
          <a:xfrm>
            <a:off x="311700" y="1225225"/>
            <a:ext cx="4343400" cy="3657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a:t>
            </a:r>
            <a:r>
              <a:rPr b="1" lang="en"/>
              <a:t>centrality metric</a:t>
            </a:r>
            <a:r>
              <a:rPr lang="en"/>
              <a:t> is a summary </a:t>
            </a:r>
            <a:r>
              <a:rPr b="1" lang="en"/>
              <a:t>index </a:t>
            </a:r>
            <a:r>
              <a:rPr lang="en"/>
              <a:t>of the centrality of a node </a:t>
            </a:r>
            <a:endParaRPr/>
          </a:p>
          <a:p>
            <a:pPr indent="-317500" lvl="1" marL="914400" rtl="0" algn="l">
              <a:spcBef>
                <a:spcPts val="0"/>
              </a:spcBef>
              <a:spcAft>
                <a:spcPts val="0"/>
              </a:spcAft>
              <a:buSzPts val="1400"/>
              <a:buChar char="○"/>
            </a:pPr>
            <a:r>
              <a:rPr lang="en"/>
              <a:t>Based on </a:t>
            </a:r>
            <a:r>
              <a:rPr i="1" lang="en"/>
              <a:t>sums</a:t>
            </a:r>
            <a:r>
              <a:rPr lang="en"/>
              <a:t> or </a:t>
            </a:r>
            <a:r>
              <a:rPr i="1" lang="en"/>
              <a:t>averages</a:t>
            </a:r>
            <a:r>
              <a:rPr lang="en"/>
              <a:t> of one of three things:</a:t>
            </a:r>
            <a:endParaRPr/>
          </a:p>
          <a:p>
            <a:pPr indent="-317500" lvl="2" marL="1371600" rtl="0" algn="l">
              <a:spcBef>
                <a:spcPts val="0"/>
              </a:spcBef>
              <a:spcAft>
                <a:spcPts val="0"/>
              </a:spcAft>
              <a:buSzPts val="1400"/>
              <a:buChar char="■"/>
            </a:pPr>
            <a:r>
              <a:rPr b="1" lang="en"/>
              <a:t>Number of edges</a:t>
            </a:r>
            <a:r>
              <a:rPr lang="en"/>
              <a:t> that are directly </a:t>
            </a:r>
            <a:r>
              <a:rPr b="1" lang="en"/>
              <a:t>incident</a:t>
            </a:r>
            <a:r>
              <a:rPr lang="en"/>
              <a:t> upon that node.</a:t>
            </a:r>
            <a:endParaRPr/>
          </a:p>
          <a:p>
            <a:pPr indent="-317500" lvl="2" marL="1371600" rtl="0" algn="l">
              <a:spcBef>
                <a:spcPts val="0"/>
              </a:spcBef>
              <a:spcAft>
                <a:spcPts val="0"/>
              </a:spcAft>
              <a:buSzPts val="1400"/>
              <a:buChar char="■"/>
            </a:pPr>
            <a:r>
              <a:rPr b="1" lang="en"/>
              <a:t>The length of the shortest paths</a:t>
            </a:r>
            <a:r>
              <a:rPr lang="en"/>
              <a:t> (smaller is better) having that node as one of their ends</a:t>
            </a:r>
            <a:endParaRPr/>
          </a:p>
          <a:p>
            <a:pPr indent="-317500" lvl="2" marL="1371600" rtl="0" algn="l">
              <a:spcBef>
                <a:spcPts val="0"/>
              </a:spcBef>
              <a:spcAft>
                <a:spcPts val="0"/>
              </a:spcAft>
              <a:buSzPts val="1400"/>
              <a:buChar char="■"/>
            </a:pPr>
            <a:r>
              <a:rPr lang="en"/>
              <a:t>The proportion of </a:t>
            </a:r>
            <a:r>
              <a:rPr b="1" lang="en"/>
              <a:t>the shortest paths </a:t>
            </a:r>
            <a:r>
              <a:rPr lang="en"/>
              <a:t>that have that node as one </a:t>
            </a:r>
            <a:r>
              <a:rPr lang="en"/>
              <a:t>of their</a:t>
            </a:r>
            <a:r>
              <a:rPr lang="en"/>
              <a:t> </a:t>
            </a:r>
            <a:r>
              <a:rPr b="1" lang="en"/>
              <a:t>inner nodes</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sp>
        <p:nvSpPr>
          <p:cNvPr id="363" name="Google Shape;363;p33"/>
          <p:cNvSpPr/>
          <p:nvPr/>
        </p:nvSpPr>
        <p:spPr>
          <a:xfrm>
            <a:off x="5218373" y="1855878"/>
            <a:ext cx="481200" cy="4788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64" name="Google Shape;364;p33"/>
          <p:cNvSpPr/>
          <p:nvPr/>
        </p:nvSpPr>
        <p:spPr>
          <a:xfrm>
            <a:off x="6785547" y="1425962"/>
            <a:ext cx="481200" cy="4788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65" name="Google Shape;365;p33"/>
          <p:cNvSpPr/>
          <p:nvPr/>
        </p:nvSpPr>
        <p:spPr>
          <a:xfrm>
            <a:off x="7591458" y="2154794"/>
            <a:ext cx="481200" cy="4788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66" name="Google Shape;366;p33"/>
          <p:cNvSpPr/>
          <p:nvPr/>
        </p:nvSpPr>
        <p:spPr>
          <a:xfrm>
            <a:off x="6164321" y="2563734"/>
            <a:ext cx="481200" cy="4788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67" name="Google Shape;367;p33"/>
          <p:cNvSpPr/>
          <p:nvPr/>
        </p:nvSpPr>
        <p:spPr>
          <a:xfrm>
            <a:off x="5174838" y="3202421"/>
            <a:ext cx="481200" cy="4788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68" name="Google Shape;368;p33"/>
          <p:cNvSpPr/>
          <p:nvPr/>
        </p:nvSpPr>
        <p:spPr>
          <a:xfrm>
            <a:off x="6591296" y="3345885"/>
            <a:ext cx="481200" cy="4788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69" name="Google Shape;369;p33"/>
          <p:cNvSpPr/>
          <p:nvPr/>
        </p:nvSpPr>
        <p:spPr>
          <a:xfrm>
            <a:off x="7072340" y="4203310"/>
            <a:ext cx="481200" cy="4788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70" name="Google Shape;370;p33"/>
          <p:cNvSpPr/>
          <p:nvPr/>
        </p:nvSpPr>
        <p:spPr>
          <a:xfrm>
            <a:off x="8110531" y="3138746"/>
            <a:ext cx="481200" cy="4788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71" name="Google Shape;371;p33"/>
          <p:cNvSpPr/>
          <p:nvPr/>
        </p:nvSpPr>
        <p:spPr>
          <a:xfrm>
            <a:off x="8351098" y="4203310"/>
            <a:ext cx="481200" cy="4788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cxnSp>
        <p:nvCxnSpPr>
          <p:cNvPr id="372" name="Google Shape;372;p33"/>
          <p:cNvCxnSpPr>
            <a:stCxn id="371" idx="0"/>
            <a:endCxn id="370" idx="4"/>
          </p:cNvCxnSpPr>
          <p:nvPr/>
        </p:nvCxnSpPr>
        <p:spPr>
          <a:xfrm rot="10800000">
            <a:off x="8351098" y="3617410"/>
            <a:ext cx="240600" cy="585900"/>
          </a:xfrm>
          <a:prstGeom prst="straightConnector1">
            <a:avLst/>
          </a:prstGeom>
          <a:noFill/>
          <a:ln cap="flat" cmpd="sng" w="28575">
            <a:solidFill>
              <a:srgbClr val="FF0000"/>
            </a:solidFill>
            <a:prstDash val="solid"/>
            <a:round/>
            <a:headEnd len="med" w="med" type="none"/>
            <a:tailEnd len="med" w="med" type="none"/>
          </a:ln>
        </p:spPr>
      </p:cxnSp>
      <p:cxnSp>
        <p:nvCxnSpPr>
          <p:cNvPr id="373" name="Google Shape;373;p33"/>
          <p:cNvCxnSpPr>
            <a:stCxn id="370" idx="3"/>
            <a:endCxn id="369" idx="7"/>
          </p:cNvCxnSpPr>
          <p:nvPr/>
        </p:nvCxnSpPr>
        <p:spPr>
          <a:xfrm flipH="1">
            <a:off x="7483201" y="3547428"/>
            <a:ext cx="697800" cy="726000"/>
          </a:xfrm>
          <a:prstGeom prst="straightConnector1">
            <a:avLst/>
          </a:prstGeom>
          <a:noFill/>
          <a:ln cap="flat" cmpd="sng" w="28575">
            <a:solidFill>
              <a:schemeClr val="dk2"/>
            </a:solidFill>
            <a:prstDash val="solid"/>
            <a:round/>
            <a:headEnd len="med" w="med" type="none"/>
            <a:tailEnd len="med" w="med" type="none"/>
          </a:ln>
        </p:spPr>
      </p:cxnSp>
      <p:cxnSp>
        <p:nvCxnSpPr>
          <p:cNvPr id="374" name="Google Shape;374;p33"/>
          <p:cNvCxnSpPr>
            <a:stCxn id="368" idx="5"/>
            <a:endCxn id="369" idx="0"/>
          </p:cNvCxnSpPr>
          <p:nvPr/>
        </p:nvCxnSpPr>
        <p:spPr>
          <a:xfrm>
            <a:off x="7002026" y="3754567"/>
            <a:ext cx="310800" cy="448800"/>
          </a:xfrm>
          <a:prstGeom prst="straightConnector1">
            <a:avLst/>
          </a:prstGeom>
          <a:noFill/>
          <a:ln cap="flat" cmpd="sng" w="28575">
            <a:solidFill>
              <a:srgbClr val="FF0000"/>
            </a:solidFill>
            <a:prstDash val="solid"/>
            <a:round/>
            <a:headEnd len="med" w="med" type="none"/>
            <a:tailEnd len="med" w="med" type="none"/>
          </a:ln>
        </p:spPr>
      </p:cxnSp>
      <p:cxnSp>
        <p:nvCxnSpPr>
          <p:cNvPr id="375" name="Google Shape;375;p33"/>
          <p:cNvCxnSpPr>
            <a:stCxn id="365" idx="4"/>
            <a:endCxn id="368" idx="7"/>
          </p:cNvCxnSpPr>
          <p:nvPr/>
        </p:nvCxnSpPr>
        <p:spPr>
          <a:xfrm flipH="1">
            <a:off x="7001958" y="2633594"/>
            <a:ext cx="830100" cy="782400"/>
          </a:xfrm>
          <a:prstGeom prst="straightConnector1">
            <a:avLst/>
          </a:prstGeom>
          <a:noFill/>
          <a:ln cap="flat" cmpd="sng" w="28575">
            <a:solidFill>
              <a:srgbClr val="FF0000"/>
            </a:solidFill>
            <a:prstDash val="solid"/>
            <a:round/>
            <a:headEnd len="med" w="med" type="none"/>
            <a:tailEnd len="med" w="med" type="none"/>
          </a:ln>
        </p:spPr>
      </p:cxnSp>
      <p:cxnSp>
        <p:nvCxnSpPr>
          <p:cNvPr id="376" name="Google Shape;376;p33"/>
          <p:cNvCxnSpPr>
            <a:stCxn id="370" idx="1"/>
            <a:endCxn id="365" idx="4"/>
          </p:cNvCxnSpPr>
          <p:nvPr/>
        </p:nvCxnSpPr>
        <p:spPr>
          <a:xfrm rot="10800000">
            <a:off x="7832101" y="2633465"/>
            <a:ext cx="348900" cy="575400"/>
          </a:xfrm>
          <a:prstGeom prst="straightConnector1">
            <a:avLst/>
          </a:prstGeom>
          <a:noFill/>
          <a:ln cap="flat" cmpd="sng" w="28575">
            <a:solidFill>
              <a:srgbClr val="FF0000"/>
            </a:solidFill>
            <a:prstDash val="solid"/>
            <a:round/>
            <a:headEnd len="med" w="med" type="none"/>
            <a:tailEnd len="med" w="med" type="none"/>
          </a:ln>
        </p:spPr>
      </p:cxnSp>
      <p:cxnSp>
        <p:nvCxnSpPr>
          <p:cNvPr id="377" name="Google Shape;377;p33"/>
          <p:cNvCxnSpPr>
            <a:stCxn id="368" idx="2"/>
            <a:endCxn id="367" idx="6"/>
          </p:cNvCxnSpPr>
          <p:nvPr/>
        </p:nvCxnSpPr>
        <p:spPr>
          <a:xfrm rot="10800000">
            <a:off x="5655896" y="3441885"/>
            <a:ext cx="935400" cy="143400"/>
          </a:xfrm>
          <a:prstGeom prst="straightConnector1">
            <a:avLst/>
          </a:prstGeom>
          <a:noFill/>
          <a:ln cap="flat" cmpd="sng" w="28575">
            <a:solidFill>
              <a:schemeClr val="dk2"/>
            </a:solidFill>
            <a:prstDash val="solid"/>
            <a:round/>
            <a:headEnd len="med" w="med" type="none"/>
            <a:tailEnd len="med" w="med" type="none"/>
          </a:ln>
        </p:spPr>
      </p:cxnSp>
      <p:cxnSp>
        <p:nvCxnSpPr>
          <p:cNvPr id="378" name="Google Shape;378;p33"/>
          <p:cNvCxnSpPr>
            <a:stCxn id="368" idx="0"/>
            <a:endCxn id="366" idx="4"/>
          </p:cNvCxnSpPr>
          <p:nvPr/>
        </p:nvCxnSpPr>
        <p:spPr>
          <a:xfrm rot="10800000">
            <a:off x="6404996" y="3042585"/>
            <a:ext cx="426900" cy="303300"/>
          </a:xfrm>
          <a:prstGeom prst="straightConnector1">
            <a:avLst/>
          </a:prstGeom>
          <a:noFill/>
          <a:ln cap="flat" cmpd="sng" w="28575">
            <a:solidFill>
              <a:srgbClr val="FF0000"/>
            </a:solidFill>
            <a:prstDash val="solid"/>
            <a:round/>
            <a:headEnd len="med" w="med" type="none"/>
            <a:tailEnd len="med" w="med" type="none"/>
          </a:ln>
        </p:spPr>
      </p:cxnSp>
      <p:cxnSp>
        <p:nvCxnSpPr>
          <p:cNvPr id="379" name="Google Shape;379;p33"/>
          <p:cNvCxnSpPr>
            <a:stCxn id="366" idx="3"/>
            <a:endCxn id="367" idx="7"/>
          </p:cNvCxnSpPr>
          <p:nvPr/>
        </p:nvCxnSpPr>
        <p:spPr>
          <a:xfrm flipH="1">
            <a:off x="5585591" y="2972415"/>
            <a:ext cx="649200" cy="300000"/>
          </a:xfrm>
          <a:prstGeom prst="straightConnector1">
            <a:avLst/>
          </a:prstGeom>
          <a:noFill/>
          <a:ln cap="flat" cmpd="sng" w="28575">
            <a:solidFill>
              <a:srgbClr val="FF0000"/>
            </a:solidFill>
            <a:prstDash val="solid"/>
            <a:round/>
            <a:headEnd len="med" w="med" type="none"/>
            <a:tailEnd len="med" w="med" type="none"/>
          </a:ln>
        </p:spPr>
      </p:cxnSp>
      <p:cxnSp>
        <p:nvCxnSpPr>
          <p:cNvPr id="380" name="Google Shape;380;p33"/>
          <p:cNvCxnSpPr>
            <a:stCxn id="363" idx="4"/>
            <a:endCxn id="367" idx="0"/>
          </p:cNvCxnSpPr>
          <p:nvPr/>
        </p:nvCxnSpPr>
        <p:spPr>
          <a:xfrm flipH="1">
            <a:off x="5415473" y="2334678"/>
            <a:ext cx="43500" cy="867600"/>
          </a:xfrm>
          <a:prstGeom prst="straightConnector1">
            <a:avLst/>
          </a:prstGeom>
          <a:noFill/>
          <a:ln cap="flat" cmpd="sng" w="28575">
            <a:solidFill>
              <a:schemeClr val="dk2"/>
            </a:solidFill>
            <a:prstDash val="solid"/>
            <a:round/>
            <a:headEnd len="med" w="med" type="none"/>
            <a:tailEnd len="med" w="med" type="none"/>
          </a:ln>
        </p:spPr>
      </p:cxnSp>
      <p:cxnSp>
        <p:nvCxnSpPr>
          <p:cNvPr id="381" name="Google Shape;381;p33"/>
          <p:cNvCxnSpPr>
            <a:stCxn id="364" idx="2"/>
            <a:endCxn id="363" idx="6"/>
          </p:cNvCxnSpPr>
          <p:nvPr/>
        </p:nvCxnSpPr>
        <p:spPr>
          <a:xfrm flipH="1">
            <a:off x="5699547" y="1665362"/>
            <a:ext cx="1086000" cy="429900"/>
          </a:xfrm>
          <a:prstGeom prst="straightConnector1">
            <a:avLst/>
          </a:prstGeom>
          <a:noFill/>
          <a:ln cap="flat" cmpd="sng" w="28575">
            <a:solidFill>
              <a:schemeClr val="dk2"/>
            </a:solidFill>
            <a:prstDash val="solid"/>
            <a:round/>
            <a:headEnd len="med" w="med" type="none"/>
            <a:tailEnd len="med" w="med" type="none"/>
          </a:ln>
        </p:spPr>
      </p:cxnSp>
      <p:cxnSp>
        <p:nvCxnSpPr>
          <p:cNvPr id="382" name="Google Shape;382;p33"/>
          <p:cNvCxnSpPr>
            <a:stCxn id="364" idx="3"/>
            <a:endCxn id="366" idx="0"/>
          </p:cNvCxnSpPr>
          <p:nvPr/>
        </p:nvCxnSpPr>
        <p:spPr>
          <a:xfrm flipH="1">
            <a:off x="6404817" y="1834643"/>
            <a:ext cx="451200" cy="729000"/>
          </a:xfrm>
          <a:prstGeom prst="straightConnector1">
            <a:avLst/>
          </a:prstGeom>
          <a:noFill/>
          <a:ln cap="flat" cmpd="sng" w="28575">
            <a:solidFill>
              <a:srgbClr val="FF0000"/>
            </a:solidFill>
            <a:prstDash val="solid"/>
            <a:round/>
            <a:headEnd len="med" w="med" type="none"/>
            <a:tailEnd len="med" w="med" type="none"/>
          </a:ln>
        </p:spPr>
      </p:cxnSp>
      <p:cxnSp>
        <p:nvCxnSpPr>
          <p:cNvPr id="383" name="Google Shape;383;p33"/>
          <p:cNvCxnSpPr>
            <a:stCxn id="365" idx="2"/>
            <a:endCxn id="363" idx="6"/>
          </p:cNvCxnSpPr>
          <p:nvPr/>
        </p:nvCxnSpPr>
        <p:spPr>
          <a:xfrm rot="10800000">
            <a:off x="5699658" y="2095394"/>
            <a:ext cx="1891800" cy="298800"/>
          </a:xfrm>
          <a:prstGeom prst="straightConnector1">
            <a:avLst/>
          </a:prstGeom>
          <a:noFill/>
          <a:ln cap="flat" cmpd="sng" w="28575">
            <a:solidFill>
              <a:schemeClr val="dk2"/>
            </a:solidFill>
            <a:prstDash val="solid"/>
            <a:round/>
            <a:headEnd len="med" w="med" type="none"/>
            <a:tailEnd len="med" w="med" type="none"/>
          </a:ln>
        </p:spPr>
      </p:cxnSp>
      <p:cxnSp>
        <p:nvCxnSpPr>
          <p:cNvPr id="384" name="Google Shape;384;p33"/>
          <p:cNvCxnSpPr>
            <a:stCxn id="365" idx="1"/>
            <a:endCxn id="364" idx="5"/>
          </p:cNvCxnSpPr>
          <p:nvPr/>
        </p:nvCxnSpPr>
        <p:spPr>
          <a:xfrm rot="10800000">
            <a:off x="7196328" y="1834613"/>
            <a:ext cx="465600" cy="390300"/>
          </a:xfrm>
          <a:prstGeom prst="straightConnector1">
            <a:avLst/>
          </a:prstGeom>
          <a:noFill/>
          <a:ln cap="flat" cmpd="sng" w="28575">
            <a:solidFill>
              <a:schemeClr val="dk2"/>
            </a:solidFill>
            <a:prstDash val="solid"/>
            <a:round/>
            <a:headEnd len="med" w="med" type="none"/>
            <a:tailEnd len="med" w="med" type="none"/>
          </a:ln>
        </p:spPr>
      </p:cxnSp>
      <p:cxnSp>
        <p:nvCxnSpPr>
          <p:cNvPr id="385" name="Google Shape;385;p33"/>
          <p:cNvCxnSpPr>
            <a:stCxn id="365" idx="2"/>
            <a:endCxn id="366" idx="7"/>
          </p:cNvCxnSpPr>
          <p:nvPr/>
        </p:nvCxnSpPr>
        <p:spPr>
          <a:xfrm flipH="1">
            <a:off x="6575058" y="2394194"/>
            <a:ext cx="1016400" cy="239700"/>
          </a:xfrm>
          <a:prstGeom prst="straightConnector1">
            <a:avLst/>
          </a:prstGeom>
          <a:noFill/>
          <a:ln cap="flat" cmpd="sng" w="28575">
            <a:solidFill>
              <a:srgbClr val="FF0000"/>
            </a:solidFill>
            <a:prstDash val="solid"/>
            <a:round/>
            <a:headEnd len="med" w="med" type="none"/>
            <a:tailEnd len="med" w="med" type="none"/>
          </a:ln>
        </p:spPr>
      </p:cxnSp>
      <p:cxnSp>
        <p:nvCxnSpPr>
          <p:cNvPr id="386" name="Google Shape;386;p33"/>
          <p:cNvCxnSpPr>
            <a:stCxn id="366" idx="1"/>
            <a:endCxn id="363" idx="5"/>
          </p:cNvCxnSpPr>
          <p:nvPr/>
        </p:nvCxnSpPr>
        <p:spPr>
          <a:xfrm rot="10800000">
            <a:off x="5629091" y="2264552"/>
            <a:ext cx="605700" cy="369300"/>
          </a:xfrm>
          <a:prstGeom prst="straightConnector1">
            <a:avLst/>
          </a:prstGeom>
          <a:noFill/>
          <a:ln cap="flat" cmpd="sng" w="28575">
            <a:solidFill>
              <a:srgbClr val="FF0000"/>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3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What is it?</a:t>
            </a:r>
            <a:endParaRPr/>
          </a:p>
        </p:txBody>
      </p:sp>
      <p:sp>
        <p:nvSpPr>
          <p:cNvPr id="392" name="Google Shape;392;p34"/>
          <p:cNvSpPr txBox="1"/>
          <p:nvPr>
            <p:ph idx="1" type="body"/>
          </p:nvPr>
        </p:nvSpPr>
        <p:spPr>
          <a:xfrm>
            <a:off x="311700" y="1225225"/>
            <a:ext cx="4343400" cy="3657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a:t>
            </a:r>
            <a:r>
              <a:rPr b="1" lang="en"/>
              <a:t>centrality metric</a:t>
            </a:r>
            <a:r>
              <a:rPr lang="en"/>
              <a:t> is a summary index of the centrality of a node </a:t>
            </a:r>
            <a:endParaRPr/>
          </a:p>
          <a:p>
            <a:pPr indent="-317500" lvl="1" marL="914400" rtl="0" algn="l">
              <a:spcBef>
                <a:spcPts val="0"/>
              </a:spcBef>
              <a:spcAft>
                <a:spcPts val="0"/>
              </a:spcAft>
              <a:buSzPts val="1400"/>
              <a:buChar char="○"/>
            </a:pPr>
            <a:r>
              <a:rPr lang="en"/>
              <a:t>Based on </a:t>
            </a:r>
            <a:r>
              <a:rPr i="1" lang="en"/>
              <a:t>sums</a:t>
            </a:r>
            <a:r>
              <a:rPr lang="en"/>
              <a:t> or </a:t>
            </a:r>
            <a:r>
              <a:rPr i="1" lang="en"/>
              <a:t>averages</a:t>
            </a:r>
            <a:r>
              <a:rPr lang="en"/>
              <a:t> of one of three things:</a:t>
            </a:r>
            <a:endParaRPr/>
          </a:p>
          <a:p>
            <a:pPr indent="-317500" lvl="2" marL="1371600" rtl="0" algn="l">
              <a:spcBef>
                <a:spcPts val="0"/>
              </a:spcBef>
              <a:spcAft>
                <a:spcPts val="0"/>
              </a:spcAft>
              <a:buSzPts val="1400"/>
              <a:buChar char="■"/>
            </a:pPr>
            <a:r>
              <a:rPr b="1" lang="en"/>
              <a:t>Number of edges</a:t>
            </a:r>
            <a:r>
              <a:rPr lang="en"/>
              <a:t> that are directly </a:t>
            </a:r>
            <a:r>
              <a:rPr b="1" lang="en"/>
              <a:t>incident</a:t>
            </a:r>
            <a:r>
              <a:rPr lang="en"/>
              <a:t> upon that node.</a:t>
            </a:r>
            <a:endParaRPr/>
          </a:p>
          <a:p>
            <a:pPr indent="-317500" lvl="2" marL="1371600" rtl="0" algn="l">
              <a:spcBef>
                <a:spcPts val="0"/>
              </a:spcBef>
              <a:spcAft>
                <a:spcPts val="0"/>
              </a:spcAft>
              <a:buSzPts val="1400"/>
              <a:buChar char="■"/>
            </a:pPr>
            <a:r>
              <a:rPr b="1" lang="en"/>
              <a:t>The length of the shortest paths</a:t>
            </a:r>
            <a:r>
              <a:rPr lang="en"/>
              <a:t> (smaller is better) having that node as one of their ends</a:t>
            </a:r>
            <a:endParaRPr/>
          </a:p>
          <a:p>
            <a:pPr indent="-317500" lvl="2" marL="1371600" rtl="0" algn="l">
              <a:spcBef>
                <a:spcPts val="0"/>
              </a:spcBef>
              <a:spcAft>
                <a:spcPts val="0"/>
              </a:spcAft>
              <a:buSzPts val="1400"/>
              <a:buChar char="■"/>
            </a:pPr>
            <a:r>
              <a:rPr lang="en"/>
              <a:t>The proportion of </a:t>
            </a:r>
            <a:r>
              <a:rPr b="1" lang="en"/>
              <a:t>the shortest paths </a:t>
            </a:r>
            <a:r>
              <a:rPr lang="en"/>
              <a:t>that have that node as one of their </a:t>
            </a:r>
            <a:r>
              <a:rPr b="1" lang="en"/>
              <a:t>inner nodes</a:t>
            </a:r>
            <a:endParaRPr b="1"/>
          </a:p>
          <a:p>
            <a:pPr indent="0" lvl="0" marL="457200" rtl="0" algn="l">
              <a:spcBef>
                <a:spcPts val="0"/>
              </a:spcBef>
              <a:spcAft>
                <a:spcPts val="0"/>
              </a:spcAft>
              <a:buNone/>
            </a:pPr>
            <a:r>
              <a:t/>
            </a:r>
            <a:endParaRPr b="1"/>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sp>
        <p:nvSpPr>
          <p:cNvPr id="393" name="Google Shape;393;p34"/>
          <p:cNvSpPr txBox="1"/>
          <p:nvPr/>
        </p:nvSpPr>
        <p:spPr>
          <a:xfrm>
            <a:off x="4509550" y="1225225"/>
            <a:ext cx="4343400" cy="9573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Font typeface="Open Sans"/>
              <a:buChar char="●"/>
            </a:pPr>
            <a:r>
              <a:rPr lang="en" sz="1800">
                <a:solidFill>
                  <a:schemeClr val="dk1"/>
                </a:solidFill>
                <a:latin typeface="Open Sans"/>
                <a:ea typeface="Open Sans"/>
                <a:cs typeface="Open Sans"/>
                <a:sym typeface="Open Sans"/>
              </a:rPr>
              <a:t>The</a:t>
            </a:r>
            <a:r>
              <a:rPr b="1" lang="en" sz="1800">
                <a:solidFill>
                  <a:schemeClr val="dk1"/>
                </a:solidFill>
                <a:latin typeface="Open Sans"/>
                <a:ea typeface="Open Sans"/>
                <a:cs typeface="Open Sans"/>
                <a:sym typeface="Open Sans"/>
              </a:rPr>
              <a:t> more/more</a:t>
            </a:r>
            <a:r>
              <a:rPr lang="en" sz="1800">
                <a:solidFill>
                  <a:schemeClr val="dk1"/>
                </a:solidFill>
                <a:latin typeface="Open Sans"/>
                <a:ea typeface="Open Sans"/>
                <a:cs typeface="Open Sans"/>
                <a:sym typeface="Open Sans"/>
              </a:rPr>
              <a:t> principle:</a:t>
            </a:r>
            <a:endParaRPr sz="1800">
              <a:solidFill>
                <a:schemeClr val="dk1"/>
              </a:solidFill>
              <a:latin typeface="Open Sans"/>
              <a:ea typeface="Open Sans"/>
              <a:cs typeface="Open Sans"/>
              <a:sym typeface="Open Sans"/>
            </a:endParaRPr>
          </a:p>
          <a:p>
            <a:pPr indent="-317500" lvl="1" marL="914400" rtl="0" algn="l">
              <a:lnSpc>
                <a:spcPct val="115000"/>
              </a:lnSpc>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The more a node has of these things the more central it is!</a:t>
            </a:r>
            <a:endParaRPr/>
          </a:p>
        </p:txBody>
      </p:sp>
      <p:sp>
        <p:nvSpPr>
          <p:cNvPr id="394" name="Google Shape;394;p34"/>
          <p:cNvSpPr/>
          <p:nvPr/>
        </p:nvSpPr>
        <p:spPr>
          <a:xfrm>
            <a:off x="5136651" y="3259239"/>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95" name="Google Shape;395;p34"/>
          <p:cNvSpPr/>
          <p:nvPr/>
        </p:nvSpPr>
        <p:spPr>
          <a:xfrm>
            <a:off x="5640558" y="2360176"/>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96" name="Google Shape;396;p34"/>
          <p:cNvSpPr/>
          <p:nvPr/>
        </p:nvSpPr>
        <p:spPr>
          <a:xfrm>
            <a:off x="6224069" y="3259239"/>
            <a:ext cx="504300" cy="5016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97" name="Google Shape;397;p34"/>
          <p:cNvSpPr/>
          <p:nvPr/>
        </p:nvSpPr>
        <p:spPr>
          <a:xfrm>
            <a:off x="5640558" y="4161931"/>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98" name="Google Shape;398;p34"/>
          <p:cNvSpPr/>
          <p:nvPr/>
        </p:nvSpPr>
        <p:spPr>
          <a:xfrm>
            <a:off x="6919645" y="4262907"/>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99" name="Google Shape;399;p34"/>
          <p:cNvSpPr/>
          <p:nvPr/>
        </p:nvSpPr>
        <p:spPr>
          <a:xfrm>
            <a:off x="7439981" y="3383355"/>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400" name="Google Shape;400;p34"/>
          <p:cNvSpPr/>
          <p:nvPr/>
        </p:nvSpPr>
        <p:spPr>
          <a:xfrm>
            <a:off x="8290033" y="2620593"/>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401" name="Google Shape;401;p34"/>
          <p:cNvSpPr/>
          <p:nvPr/>
        </p:nvSpPr>
        <p:spPr>
          <a:xfrm>
            <a:off x="7171599" y="2469873"/>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cxnSp>
        <p:nvCxnSpPr>
          <p:cNvPr id="402" name="Google Shape;402;p34"/>
          <p:cNvCxnSpPr>
            <a:stCxn id="400" idx="2"/>
            <a:endCxn id="401" idx="6"/>
          </p:cNvCxnSpPr>
          <p:nvPr/>
        </p:nvCxnSpPr>
        <p:spPr>
          <a:xfrm rot="10800000">
            <a:off x="7675933" y="2720793"/>
            <a:ext cx="614100" cy="150600"/>
          </a:xfrm>
          <a:prstGeom prst="straightConnector1">
            <a:avLst/>
          </a:prstGeom>
          <a:noFill/>
          <a:ln cap="flat" cmpd="sng" w="28575">
            <a:solidFill>
              <a:schemeClr val="dk2"/>
            </a:solidFill>
            <a:prstDash val="solid"/>
            <a:round/>
            <a:headEnd len="med" w="med" type="none"/>
            <a:tailEnd len="med" w="med" type="none"/>
          </a:ln>
        </p:spPr>
      </p:cxnSp>
      <p:cxnSp>
        <p:nvCxnSpPr>
          <p:cNvPr id="403" name="Google Shape;403;p34"/>
          <p:cNvCxnSpPr>
            <a:stCxn id="400" idx="2"/>
            <a:endCxn id="396" idx="6"/>
          </p:cNvCxnSpPr>
          <p:nvPr/>
        </p:nvCxnSpPr>
        <p:spPr>
          <a:xfrm flipH="1">
            <a:off x="6728233" y="2871393"/>
            <a:ext cx="1561800" cy="638700"/>
          </a:xfrm>
          <a:prstGeom prst="straightConnector1">
            <a:avLst/>
          </a:prstGeom>
          <a:noFill/>
          <a:ln cap="flat" cmpd="sng" w="28575">
            <a:solidFill>
              <a:schemeClr val="dk2"/>
            </a:solidFill>
            <a:prstDash val="solid"/>
            <a:round/>
            <a:headEnd len="med" w="med" type="none"/>
            <a:tailEnd len="med" w="med" type="none"/>
          </a:ln>
        </p:spPr>
      </p:cxnSp>
      <p:cxnSp>
        <p:nvCxnSpPr>
          <p:cNvPr id="404" name="Google Shape;404;p34"/>
          <p:cNvCxnSpPr>
            <a:stCxn id="400" idx="2"/>
            <a:endCxn id="399" idx="7"/>
          </p:cNvCxnSpPr>
          <p:nvPr/>
        </p:nvCxnSpPr>
        <p:spPr>
          <a:xfrm flipH="1">
            <a:off x="7870333" y="2871393"/>
            <a:ext cx="419700" cy="585300"/>
          </a:xfrm>
          <a:prstGeom prst="straightConnector1">
            <a:avLst/>
          </a:prstGeom>
          <a:noFill/>
          <a:ln cap="flat" cmpd="sng" w="28575">
            <a:solidFill>
              <a:schemeClr val="dk2"/>
            </a:solidFill>
            <a:prstDash val="solid"/>
            <a:round/>
            <a:headEnd len="med" w="med" type="none"/>
            <a:tailEnd len="med" w="med" type="none"/>
          </a:ln>
        </p:spPr>
      </p:cxnSp>
      <p:cxnSp>
        <p:nvCxnSpPr>
          <p:cNvPr id="405" name="Google Shape;405;p34"/>
          <p:cNvCxnSpPr>
            <a:stCxn id="399" idx="2"/>
            <a:endCxn id="396" idx="6"/>
          </p:cNvCxnSpPr>
          <p:nvPr/>
        </p:nvCxnSpPr>
        <p:spPr>
          <a:xfrm rot="10800000">
            <a:off x="6728381" y="3509955"/>
            <a:ext cx="711600" cy="124200"/>
          </a:xfrm>
          <a:prstGeom prst="straightConnector1">
            <a:avLst/>
          </a:prstGeom>
          <a:noFill/>
          <a:ln cap="flat" cmpd="sng" w="28575">
            <a:solidFill>
              <a:schemeClr val="dk2"/>
            </a:solidFill>
            <a:prstDash val="solid"/>
            <a:round/>
            <a:headEnd len="med" w="med" type="none"/>
            <a:tailEnd len="med" w="med" type="none"/>
          </a:ln>
        </p:spPr>
      </p:cxnSp>
      <p:cxnSp>
        <p:nvCxnSpPr>
          <p:cNvPr id="406" name="Google Shape;406;p34"/>
          <p:cNvCxnSpPr>
            <a:stCxn id="399" idx="1"/>
            <a:endCxn id="395" idx="5"/>
          </p:cNvCxnSpPr>
          <p:nvPr/>
        </p:nvCxnSpPr>
        <p:spPr>
          <a:xfrm rot="10800000">
            <a:off x="6071134" y="2788412"/>
            <a:ext cx="1442700" cy="668400"/>
          </a:xfrm>
          <a:prstGeom prst="straightConnector1">
            <a:avLst/>
          </a:prstGeom>
          <a:noFill/>
          <a:ln cap="flat" cmpd="sng" w="28575">
            <a:solidFill>
              <a:schemeClr val="dk2"/>
            </a:solidFill>
            <a:prstDash val="solid"/>
            <a:round/>
            <a:headEnd len="med" w="med" type="none"/>
            <a:tailEnd len="med" w="med" type="none"/>
          </a:ln>
        </p:spPr>
      </p:cxnSp>
      <p:cxnSp>
        <p:nvCxnSpPr>
          <p:cNvPr id="407" name="Google Shape;407;p34"/>
          <p:cNvCxnSpPr>
            <a:stCxn id="398" idx="0"/>
            <a:endCxn id="396" idx="4"/>
          </p:cNvCxnSpPr>
          <p:nvPr/>
        </p:nvCxnSpPr>
        <p:spPr>
          <a:xfrm rot="10800000">
            <a:off x="6476095" y="3760707"/>
            <a:ext cx="695700" cy="502200"/>
          </a:xfrm>
          <a:prstGeom prst="straightConnector1">
            <a:avLst/>
          </a:prstGeom>
          <a:noFill/>
          <a:ln cap="flat" cmpd="sng" w="28575">
            <a:solidFill>
              <a:schemeClr val="dk2"/>
            </a:solidFill>
            <a:prstDash val="solid"/>
            <a:round/>
            <a:headEnd len="med" w="med" type="none"/>
            <a:tailEnd len="med" w="med" type="none"/>
          </a:ln>
        </p:spPr>
      </p:cxnSp>
      <p:cxnSp>
        <p:nvCxnSpPr>
          <p:cNvPr id="408" name="Google Shape;408;p34"/>
          <p:cNvCxnSpPr>
            <a:stCxn id="397" idx="7"/>
            <a:endCxn id="396" idx="4"/>
          </p:cNvCxnSpPr>
          <p:nvPr/>
        </p:nvCxnSpPr>
        <p:spPr>
          <a:xfrm flipH="1" rot="10800000">
            <a:off x="6071005" y="3760788"/>
            <a:ext cx="405300" cy="474600"/>
          </a:xfrm>
          <a:prstGeom prst="straightConnector1">
            <a:avLst/>
          </a:prstGeom>
          <a:noFill/>
          <a:ln cap="flat" cmpd="sng" w="28575">
            <a:solidFill>
              <a:schemeClr val="dk2"/>
            </a:solidFill>
            <a:prstDash val="solid"/>
            <a:round/>
            <a:headEnd len="med" w="med" type="none"/>
            <a:tailEnd len="med" w="med" type="none"/>
          </a:ln>
        </p:spPr>
      </p:cxnSp>
      <p:cxnSp>
        <p:nvCxnSpPr>
          <p:cNvPr id="409" name="Google Shape;409;p34"/>
          <p:cNvCxnSpPr>
            <a:stCxn id="398" idx="1"/>
            <a:endCxn id="397" idx="6"/>
          </p:cNvCxnSpPr>
          <p:nvPr/>
        </p:nvCxnSpPr>
        <p:spPr>
          <a:xfrm flipH="1">
            <a:off x="6144798" y="4336364"/>
            <a:ext cx="848700" cy="76500"/>
          </a:xfrm>
          <a:prstGeom prst="straightConnector1">
            <a:avLst/>
          </a:prstGeom>
          <a:noFill/>
          <a:ln cap="flat" cmpd="sng" w="28575">
            <a:solidFill>
              <a:schemeClr val="dk2"/>
            </a:solidFill>
            <a:prstDash val="solid"/>
            <a:round/>
            <a:headEnd len="med" w="med" type="none"/>
            <a:tailEnd len="med" w="med" type="none"/>
          </a:ln>
        </p:spPr>
      </p:cxnSp>
      <p:cxnSp>
        <p:nvCxnSpPr>
          <p:cNvPr id="410" name="Google Shape;410;p34"/>
          <p:cNvCxnSpPr>
            <a:stCxn id="396" idx="2"/>
            <a:endCxn id="394" idx="6"/>
          </p:cNvCxnSpPr>
          <p:nvPr/>
        </p:nvCxnSpPr>
        <p:spPr>
          <a:xfrm rot="10800000">
            <a:off x="5640869" y="3510039"/>
            <a:ext cx="583200" cy="0"/>
          </a:xfrm>
          <a:prstGeom prst="straightConnector1">
            <a:avLst/>
          </a:prstGeom>
          <a:noFill/>
          <a:ln cap="flat" cmpd="sng" w="28575">
            <a:solidFill>
              <a:schemeClr val="dk2"/>
            </a:solidFill>
            <a:prstDash val="solid"/>
            <a:round/>
            <a:headEnd len="med" w="med" type="none"/>
            <a:tailEnd len="med" w="med" type="none"/>
          </a:ln>
        </p:spPr>
      </p:cxnSp>
      <p:cxnSp>
        <p:nvCxnSpPr>
          <p:cNvPr id="411" name="Google Shape;411;p34"/>
          <p:cNvCxnSpPr>
            <a:stCxn id="397" idx="0"/>
            <a:endCxn id="394" idx="5"/>
          </p:cNvCxnSpPr>
          <p:nvPr/>
        </p:nvCxnSpPr>
        <p:spPr>
          <a:xfrm rot="10800000">
            <a:off x="5567208" y="3687331"/>
            <a:ext cx="325500" cy="474600"/>
          </a:xfrm>
          <a:prstGeom prst="straightConnector1">
            <a:avLst/>
          </a:prstGeom>
          <a:noFill/>
          <a:ln cap="flat" cmpd="sng" w="28575">
            <a:solidFill>
              <a:schemeClr val="dk2"/>
            </a:solidFill>
            <a:prstDash val="solid"/>
            <a:round/>
            <a:headEnd len="med" w="med" type="none"/>
            <a:tailEnd len="med" w="med" type="none"/>
          </a:ln>
        </p:spPr>
      </p:cxnSp>
      <p:cxnSp>
        <p:nvCxnSpPr>
          <p:cNvPr id="412" name="Google Shape;412;p34"/>
          <p:cNvCxnSpPr>
            <a:stCxn id="396" idx="0"/>
            <a:endCxn id="395" idx="5"/>
          </p:cNvCxnSpPr>
          <p:nvPr/>
        </p:nvCxnSpPr>
        <p:spPr>
          <a:xfrm rot="10800000">
            <a:off x="6070919" y="2788239"/>
            <a:ext cx="405300" cy="471000"/>
          </a:xfrm>
          <a:prstGeom prst="straightConnector1">
            <a:avLst/>
          </a:prstGeom>
          <a:noFill/>
          <a:ln cap="flat" cmpd="sng" w="28575">
            <a:solidFill>
              <a:schemeClr val="dk2"/>
            </a:solidFill>
            <a:prstDash val="solid"/>
            <a:round/>
            <a:headEnd len="med" w="med" type="none"/>
            <a:tailEnd len="med" w="med" type="none"/>
          </a:ln>
        </p:spPr>
      </p:cxnSp>
      <p:cxnSp>
        <p:nvCxnSpPr>
          <p:cNvPr id="413" name="Google Shape;413;p34"/>
          <p:cNvCxnSpPr>
            <a:stCxn id="394" idx="7"/>
            <a:endCxn id="395" idx="4"/>
          </p:cNvCxnSpPr>
          <p:nvPr/>
        </p:nvCxnSpPr>
        <p:spPr>
          <a:xfrm flipH="1" rot="10800000">
            <a:off x="5567098" y="2861697"/>
            <a:ext cx="325500" cy="471000"/>
          </a:xfrm>
          <a:prstGeom prst="straightConnector1">
            <a:avLst/>
          </a:prstGeom>
          <a:noFill/>
          <a:ln cap="flat" cmpd="sng" w="28575">
            <a:solidFill>
              <a:schemeClr val="dk2"/>
            </a:solidFill>
            <a:prstDash val="solid"/>
            <a:round/>
            <a:headEnd len="med" w="med" type="none"/>
            <a:tailEnd len="med" w="med" type="none"/>
          </a:ln>
        </p:spPr>
      </p:cxnSp>
      <p:cxnSp>
        <p:nvCxnSpPr>
          <p:cNvPr id="414" name="Google Shape;414;p34"/>
          <p:cNvCxnSpPr>
            <a:stCxn id="396" idx="6"/>
            <a:endCxn id="401" idx="3"/>
          </p:cNvCxnSpPr>
          <p:nvPr/>
        </p:nvCxnSpPr>
        <p:spPr>
          <a:xfrm flipH="1" rot="10800000">
            <a:off x="6728369" y="2898039"/>
            <a:ext cx="517200" cy="6120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3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What is it?</a:t>
            </a:r>
            <a:endParaRPr/>
          </a:p>
        </p:txBody>
      </p:sp>
      <p:sp>
        <p:nvSpPr>
          <p:cNvPr id="420" name="Google Shape;420;p35"/>
          <p:cNvSpPr txBox="1"/>
          <p:nvPr>
            <p:ph idx="1" type="body"/>
          </p:nvPr>
        </p:nvSpPr>
        <p:spPr>
          <a:xfrm>
            <a:off x="311700" y="1225225"/>
            <a:ext cx="4343400" cy="3657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a:t>
            </a:r>
            <a:r>
              <a:rPr b="1" lang="en"/>
              <a:t>centrality metric</a:t>
            </a:r>
            <a:r>
              <a:rPr lang="en"/>
              <a:t> is a summary index of the centrality of a node </a:t>
            </a:r>
            <a:endParaRPr/>
          </a:p>
          <a:p>
            <a:pPr indent="-317500" lvl="1" marL="914400" rtl="0" algn="l">
              <a:spcBef>
                <a:spcPts val="0"/>
              </a:spcBef>
              <a:spcAft>
                <a:spcPts val="0"/>
              </a:spcAft>
              <a:buSzPts val="1400"/>
              <a:buChar char="○"/>
            </a:pPr>
            <a:r>
              <a:rPr lang="en"/>
              <a:t>Based on </a:t>
            </a:r>
            <a:r>
              <a:rPr i="1" lang="en"/>
              <a:t>sums</a:t>
            </a:r>
            <a:r>
              <a:rPr lang="en"/>
              <a:t> or </a:t>
            </a:r>
            <a:r>
              <a:rPr i="1" lang="en"/>
              <a:t>averages</a:t>
            </a:r>
            <a:r>
              <a:rPr lang="en"/>
              <a:t> of one of three things:</a:t>
            </a:r>
            <a:endParaRPr/>
          </a:p>
          <a:p>
            <a:pPr indent="-317500" lvl="2" marL="1371600" rtl="0" algn="l">
              <a:spcBef>
                <a:spcPts val="0"/>
              </a:spcBef>
              <a:spcAft>
                <a:spcPts val="0"/>
              </a:spcAft>
              <a:buSzPts val="1400"/>
              <a:buChar char="■"/>
            </a:pPr>
            <a:r>
              <a:rPr b="1" lang="en"/>
              <a:t>Number of edges</a:t>
            </a:r>
            <a:r>
              <a:rPr lang="en"/>
              <a:t> that are directly </a:t>
            </a:r>
            <a:r>
              <a:rPr b="1" lang="en"/>
              <a:t>incident</a:t>
            </a:r>
            <a:r>
              <a:rPr lang="en"/>
              <a:t> upon that node.</a:t>
            </a:r>
            <a:endParaRPr/>
          </a:p>
          <a:p>
            <a:pPr indent="-317500" lvl="2" marL="1371600" rtl="0" algn="l">
              <a:spcBef>
                <a:spcPts val="0"/>
              </a:spcBef>
              <a:spcAft>
                <a:spcPts val="0"/>
              </a:spcAft>
              <a:buSzPts val="1400"/>
              <a:buChar char="■"/>
            </a:pPr>
            <a:r>
              <a:rPr b="1" lang="en"/>
              <a:t>The length of the shortest paths</a:t>
            </a:r>
            <a:r>
              <a:rPr lang="en"/>
              <a:t> (smaller is better) having that node as one of their ends</a:t>
            </a:r>
            <a:endParaRPr/>
          </a:p>
          <a:p>
            <a:pPr indent="-317500" lvl="2" marL="1371600" rtl="0" algn="l">
              <a:spcBef>
                <a:spcPts val="0"/>
              </a:spcBef>
              <a:spcAft>
                <a:spcPts val="0"/>
              </a:spcAft>
              <a:buSzPts val="1400"/>
              <a:buChar char="■"/>
            </a:pPr>
            <a:r>
              <a:rPr lang="en"/>
              <a:t>The proportion of </a:t>
            </a:r>
            <a:r>
              <a:rPr b="1" lang="en"/>
              <a:t>the shortest paths </a:t>
            </a:r>
            <a:r>
              <a:rPr lang="en"/>
              <a:t>that have that node as one </a:t>
            </a:r>
            <a:r>
              <a:rPr lang="en"/>
              <a:t>of their</a:t>
            </a:r>
            <a:r>
              <a:rPr lang="en"/>
              <a:t> </a:t>
            </a:r>
            <a:r>
              <a:rPr b="1" lang="en"/>
              <a:t>inner nodes</a:t>
            </a:r>
            <a:endParaRPr b="1"/>
          </a:p>
          <a:p>
            <a:pPr indent="0" lvl="0" marL="457200" rtl="0" algn="l">
              <a:spcBef>
                <a:spcPts val="0"/>
              </a:spcBef>
              <a:spcAft>
                <a:spcPts val="0"/>
              </a:spcAft>
              <a:buNone/>
            </a:pPr>
            <a:r>
              <a:t/>
            </a:r>
            <a:endParaRPr b="1"/>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sp>
        <p:nvSpPr>
          <p:cNvPr id="421" name="Google Shape;421;p35"/>
          <p:cNvSpPr txBox="1"/>
          <p:nvPr/>
        </p:nvSpPr>
        <p:spPr>
          <a:xfrm>
            <a:off x="4509550" y="1225225"/>
            <a:ext cx="4343400" cy="9573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Font typeface="Open Sans"/>
              <a:buChar char="●"/>
            </a:pPr>
            <a:r>
              <a:rPr lang="en" sz="1800">
                <a:solidFill>
                  <a:schemeClr val="dk1"/>
                </a:solidFill>
                <a:latin typeface="Open Sans"/>
                <a:ea typeface="Open Sans"/>
                <a:cs typeface="Open Sans"/>
                <a:sym typeface="Open Sans"/>
              </a:rPr>
              <a:t>Result is a </a:t>
            </a:r>
            <a:r>
              <a:rPr b="1" lang="en" sz="1800">
                <a:solidFill>
                  <a:schemeClr val="dk1"/>
                </a:solidFill>
                <a:latin typeface="Open Sans"/>
                <a:ea typeface="Open Sans"/>
                <a:cs typeface="Open Sans"/>
                <a:sym typeface="Open Sans"/>
              </a:rPr>
              <a:t>ranking</a:t>
            </a:r>
            <a:r>
              <a:rPr lang="en" sz="1800">
                <a:solidFill>
                  <a:schemeClr val="dk1"/>
                </a:solidFill>
                <a:latin typeface="Open Sans"/>
                <a:ea typeface="Open Sans"/>
                <a:cs typeface="Open Sans"/>
                <a:sym typeface="Open Sans"/>
              </a:rPr>
              <a:t> of all nodes</a:t>
            </a:r>
            <a:endParaRPr sz="1800">
              <a:solidFill>
                <a:schemeClr val="dk1"/>
              </a:solidFill>
              <a:latin typeface="Open Sans"/>
              <a:ea typeface="Open Sans"/>
              <a:cs typeface="Open Sans"/>
              <a:sym typeface="Open Sans"/>
            </a:endParaRPr>
          </a:p>
          <a:p>
            <a:pPr indent="-317500" lvl="1" marL="914400" rtl="0" algn="l">
              <a:lnSpc>
                <a:spcPct val="115000"/>
              </a:lnSpc>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From most central (top) to least central (bottom)</a:t>
            </a:r>
            <a:endParaRPr sz="1800">
              <a:solidFill>
                <a:schemeClr val="dk1"/>
              </a:solidFill>
              <a:latin typeface="Open Sans"/>
              <a:ea typeface="Open Sans"/>
              <a:cs typeface="Open Sans"/>
              <a:sym typeface="Open Sans"/>
            </a:endParaRPr>
          </a:p>
        </p:txBody>
      </p:sp>
      <p:sp>
        <p:nvSpPr>
          <p:cNvPr id="422" name="Google Shape;422;p35"/>
          <p:cNvSpPr/>
          <p:nvPr/>
        </p:nvSpPr>
        <p:spPr>
          <a:xfrm>
            <a:off x="5136651" y="3259239"/>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423" name="Google Shape;423;p35"/>
          <p:cNvSpPr/>
          <p:nvPr/>
        </p:nvSpPr>
        <p:spPr>
          <a:xfrm>
            <a:off x="5640558" y="2360176"/>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424" name="Google Shape;424;p35"/>
          <p:cNvSpPr/>
          <p:nvPr/>
        </p:nvSpPr>
        <p:spPr>
          <a:xfrm>
            <a:off x="6224069" y="3259239"/>
            <a:ext cx="504300" cy="5016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425" name="Google Shape;425;p35"/>
          <p:cNvSpPr/>
          <p:nvPr/>
        </p:nvSpPr>
        <p:spPr>
          <a:xfrm>
            <a:off x="5640558" y="4161931"/>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426" name="Google Shape;426;p35"/>
          <p:cNvSpPr/>
          <p:nvPr/>
        </p:nvSpPr>
        <p:spPr>
          <a:xfrm>
            <a:off x="6919645" y="4262907"/>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427" name="Google Shape;427;p35"/>
          <p:cNvSpPr/>
          <p:nvPr/>
        </p:nvSpPr>
        <p:spPr>
          <a:xfrm>
            <a:off x="7439981" y="3383355"/>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428" name="Google Shape;428;p35"/>
          <p:cNvSpPr/>
          <p:nvPr/>
        </p:nvSpPr>
        <p:spPr>
          <a:xfrm>
            <a:off x="8290033" y="2620593"/>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429" name="Google Shape;429;p35"/>
          <p:cNvSpPr/>
          <p:nvPr/>
        </p:nvSpPr>
        <p:spPr>
          <a:xfrm>
            <a:off x="7171599" y="2469873"/>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cxnSp>
        <p:nvCxnSpPr>
          <p:cNvPr id="430" name="Google Shape;430;p35"/>
          <p:cNvCxnSpPr>
            <a:stCxn id="428" idx="2"/>
            <a:endCxn id="429" idx="6"/>
          </p:cNvCxnSpPr>
          <p:nvPr/>
        </p:nvCxnSpPr>
        <p:spPr>
          <a:xfrm rot="10800000">
            <a:off x="7675933" y="2720793"/>
            <a:ext cx="614100" cy="150600"/>
          </a:xfrm>
          <a:prstGeom prst="straightConnector1">
            <a:avLst/>
          </a:prstGeom>
          <a:noFill/>
          <a:ln cap="flat" cmpd="sng" w="28575">
            <a:solidFill>
              <a:schemeClr val="dk2"/>
            </a:solidFill>
            <a:prstDash val="solid"/>
            <a:round/>
            <a:headEnd len="med" w="med" type="none"/>
            <a:tailEnd len="med" w="med" type="none"/>
          </a:ln>
        </p:spPr>
      </p:cxnSp>
      <p:cxnSp>
        <p:nvCxnSpPr>
          <p:cNvPr id="431" name="Google Shape;431;p35"/>
          <p:cNvCxnSpPr>
            <a:stCxn id="428" idx="2"/>
            <a:endCxn id="424" idx="6"/>
          </p:cNvCxnSpPr>
          <p:nvPr/>
        </p:nvCxnSpPr>
        <p:spPr>
          <a:xfrm flipH="1">
            <a:off x="6728233" y="2871393"/>
            <a:ext cx="1561800" cy="638700"/>
          </a:xfrm>
          <a:prstGeom prst="straightConnector1">
            <a:avLst/>
          </a:prstGeom>
          <a:noFill/>
          <a:ln cap="flat" cmpd="sng" w="28575">
            <a:solidFill>
              <a:schemeClr val="dk2"/>
            </a:solidFill>
            <a:prstDash val="solid"/>
            <a:round/>
            <a:headEnd len="med" w="med" type="none"/>
            <a:tailEnd len="med" w="med" type="none"/>
          </a:ln>
        </p:spPr>
      </p:cxnSp>
      <p:cxnSp>
        <p:nvCxnSpPr>
          <p:cNvPr id="432" name="Google Shape;432;p35"/>
          <p:cNvCxnSpPr>
            <a:stCxn id="428" idx="2"/>
            <a:endCxn id="427" idx="7"/>
          </p:cNvCxnSpPr>
          <p:nvPr/>
        </p:nvCxnSpPr>
        <p:spPr>
          <a:xfrm flipH="1">
            <a:off x="7870333" y="2871393"/>
            <a:ext cx="419700" cy="585300"/>
          </a:xfrm>
          <a:prstGeom prst="straightConnector1">
            <a:avLst/>
          </a:prstGeom>
          <a:noFill/>
          <a:ln cap="flat" cmpd="sng" w="28575">
            <a:solidFill>
              <a:schemeClr val="dk2"/>
            </a:solidFill>
            <a:prstDash val="solid"/>
            <a:round/>
            <a:headEnd len="med" w="med" type="none"/>
            <a:tailEnd len="med" w="med" type="none"/>
          </a:ln>
        </p:spPr>
      </p:cxnSp>
      <p:cxnSp>
        <p:nvCxnSpPr>
          <p:cNvPr id="433" name="Google Shape;433;p35"/>
          <p:cNvCxnSpPr>
            <a:stCxn id="427" idx="2"/>
            <a:endCxn id="424" idx="6"/>
          </p:cNvCxnSpPr>
          <p:nvPr/>
        </p:nvCxnSpPr>
        <p:spPr>
          <a:xfrm rot="10800000">
            <a:off x="6728381" y="3509955"/>
            <a:ext cx="711600" cy="124200"/>
          </a:xfrm>
          <a:prstGeom prst="straightConnector1">
            <a:avLst/>
          </a:prstGeom>
          <a:noFill/>
          <a:ln cap="flat" cmpd="sng" w="28575">
            <a:solidFill>
              <a:schemeClr val="dk2"/>
            </a:solidFill>
            <a:prstDash val="solid"/>
            <a:round/>
            <a:headEnd len="med" w="med" type="none"/>
            <a:tailEnd len="med" w="med" type="none"/>
          </a:ln>
        </p:spPr>
      </p:cxnSp>
      <p:cxnSp>
        <p:nvCxnSpPr>
          <p:cNvPr id="434" name="Google Shape;434;p35"/>
          <p:cNvCxnSpPr>
            <a:stCxn id="427" idx="1"/>
            <a:endCxn id="423" idx="5"/>
          </p:cNvCxnSpPr>
          <p:nvPr/>
        </p:nvCxnSpPr>
        <p:spPr>
          <a:xfrm rot="10800000">
            <a:off x="6071134" y="2788412"/>
            <a:ext cx="1442700" cy="668400"/>
          </a:xfrm>
          <a:prstGeom prst="straightConnector1">
            <a:avLst/>
          </a:prstGeom>
          <a:noFill/>
          <a:ln cap="flat" cmpd="sng" w="28575">
            <a:solidFill>
              <a:schemeClr val="dk2"/>
            </a:solidFill>
            <a:prstDash val="solid"/>
            <a:round/>
            <a:headEnd len="med" w="med" type="none"/>
            <a:tailEnd len="med" w="med" type="none"/>
          </a:ln>
        </p:spPr>
      </p:cxnSp>
      <p:cxnSp>
        <p:nvCxnSpPr>
          <p:cNvPr id="435" name="Google Shape;435;p35"/>
          <p:cNvCxnSpPr>
            <a:stCxn id="426" idx="0"/>
            <a:endCxn id="424" idx="4"/>
          </p:cNvCxnSpPr>
          <p:nvPr/>
        </p:nvCxnSpPr>
        <p:spPr>
          <a:xfrm rot="10800000">
            <a:off x="6476095" y="3760707"/>
            <a:ext cx="695700" cy="502200"/>
          </a:xfrm>
          <a:prstGeom prst="straightConnector1">
            <a:avLst/>
          </a:prstGeom>
          <a:noFill/>
          <a:ln cap="flat" cmpd="sng" w="28575">
            <a:solidFill>
              <a:schemeClr val="dk2"/>
            </a:solidFill>
            <a:prstDash val="solid"/>
            <a:round/>
            <a:headEnd len="med" w="med" type="none"/>
            <a:tailEnd len="med" w="med" type="none"/>
          </a:ln>
        </p:spPr>
      </p:cxnSp>
      <p:cxnSp>
        <p:nvCxnSpPr>
          <p:cNvPr id="436" name="Google Shape;436;p35"/>
          <p:cNvCxnSpPr>
            <a:stCxn id="425" idx="7"/>
            <a:endCxn id="424" idx="4"/>
          </p:cNvCxnSpPr>
          <p:nvPr/>
        </p:nvCxnSpPr>
        <p:spPr>
          <a:xfrm flipH="1" rot="10800000">
            <a:off x="6071005" y="3760788"/>
            <a:ext cx="405300" cy="474600"/>
          </a:xfrm>
          <a:prstGeom prst="straightConnector1">
            <a:avLst/>
          </a:prstGeom>
          <a:noFill/>
          <a:ln cap="flat" cmpd="sng" w="28575">
            <a:solidFill>
              <a:schemeClr val="dk2"/>
            </a:solidFill>
            <a:prstDash val="solid"/>
            <a:round/>
            <a:headEnd len="med" w="med" type="none"/>
            <a:tailEnd len="med" w="med" type="none"/>
          </a:ln>
        </p:spPr>
      </p:cxnSp>
      <p:cxnSp>
        <p:nvCxnSpPr>
          <p:cNvPr id="437" name="Google Shape;437;p35"/>
          <p:cNvCxnSpPr>
            <a:stCxn id="426" idx="1"/>
            <a:endCxn id="425" idx="6"/>
          </p:cNvCxnSpPr>
          <p:nvPr/>
        </p:nvCxnSpPr>
        <p:spPr>
          <a:xfrm flipH="1">
            <a:off x="6144798" y="4336364"/>
            <a:ext cx="848700" cy="76500"/>
          </a:xfrm>
          <a:prstGeom prst="straightConnector1">
            <a:avLst/>
          </a:prstGeom>
          <a:noFill/>
          <a:ln cap="flat" cmpd="sng" w="28575">
            <a:solidFill>
              <a:schemeClr val="dk2"/>
            </a:solidFill>
            <a:prstDash val="solid"/>
            <a:round/>
            <a:headEnd len="med" w="med" type="none"/>
            <a:tailEnd len="med" w="med" type="none"/>
          </a:ln>
        </p:spPr>
      </p:cxnSp>
      <p:cxnSp>
        <p:nvCxnSpPr>
          <p:cNvPr id="438" name="Google Shape;438;p35"/>
          <p:cNvCxnSpPr>
            <a:stCxn id="424" idx="2"/>
            <a:endCxn id="422" idx="6"/>
          </p:cNvCxnSpPr>
          <p:nvPr/>
        </p:nvCxnSpPr>
        <p:spPr>
          <a:xfrm rot="10800000">
            <a:off x="5640869" y="3510039"/>
            <a:ext cx="583200" cy="0"/>
          </a:xfrm>
          <a:prstGeom prst="straightConnector1">
            <a:avLst/>
          </a:prstGeom>
          <a:noFill/>
          <a:ln cap="flat" cmpd="sng" w="28575">
            <a:solidFill>
              <a:schemeClr val="dk2"/>
            </a:solidFill>
            <a:prstDash val="solid"/>
            <a:round/>
            <a:headEnd len="med" w="med" type="none"/>
            <a:tailEnd len="med" w="med" type="none"/>
          </a:ln>
        </p:spPr>
      </p:cxnSp>
      <p:cxnSp>
        <p:nvCxnSpPr>
          <p:cNvPr id="439" name="Google Shape;439;p35"/>
          <p:cNvCxnSpPr>
            <a:stCxn id="425" idx="0"/>
            <a:endCxn id="422" idx="5"/>
          </p:cNvCxnSpPr>
          <p:nvPr/>
        </p:nvCxnSpPr>
        <p:spPr>
          <a:xfrm rot="10800000">
            <a:off x="5567208" y="3687331"/>
            <a:ext cx="325500" cy="474600"/>
          </a:xfrm>
          <a:prstGeom prst="straightConnector1">
            <a:avLst/>
          </a:prstGeom>
          <a:noFill/>
          <a:ln cap="flat" cmpd="sng" w="28575">
            <a:solidFill>
              <a:schemeClr val="dk2"/>
            </a:solidFill>
            <a:prstDash val="solid"/>
            <a:round/>
            <a:headEnd len="med" w="med" type="none"/>
            <a:tailEnd len="med" w="med" type="none"/>
          </a:ln>
        </p:spPr>
      </p:cxnSp>
      <p:cxnSp>
        <p:nvCxnSpPr>
          <p:cNvPr id="440" name="Google Shape;440;p35"/>
          <p:cNvCxnSpPr>
            <a:stCxn id="424" idx="0"/>
            <a:endCxn id="423" idx="5"/>
          </p:cNvCxnSpPr>
          <p:nvPr/>
        </p:nvCxnSpPr>
        <p:spPr>
          <a:xfrm rot="10800000">
            <a:off x="6070919" y="2788239"/>
            <a:ext cx="405300" cy="471000"/>
          </a:xfrm>
          <a:prstGeom prst="straightConnector1">
            <a:avLst/>
          </a:prstGeom>
          <a:noFill/>
          <a:ln cap="flat" cmpd="sng" w="28575">
            <a:solidFill>
              <a:schemeClr val="dk2"/>
            </a:solidFill>
            <a:prstDash val="solid"/>
            <a:round/>
            <a:headEnd len="med" w="med" type="none"/>
            <a:tailEnd len="med" w="med" type="none"/>
          </a:ln>
        </p:spPr>
      </p:cxnSp>
      <p:cxnSp>
        <p:nvCxnSpPr>
          <p:cNvPr id="441" name="Google Shape;441;p35"/>
          <p:cNvCxnSpPr>
            <a:stCxn id="422" idx="7"/>
            <a:endCxn id="423" idx="4"/>
          </p:cNvCxnSpPr>
          <p:nvPr/>
        </p:nvCxnSpPr>
        <p:spPr>
          <a:xfrm flipH="1" rot="10800000">
            <a:off x="5567098" y="2861697"/>
            <a:ext cx="325500" cy="471000"/>
          </a:xfrm>
          <a:prstGeom prst="straightConnector1">
            <a:avLst/>
          </a:prstGeom>
          <a:noFill/>
          <a:ln cap="flat" cmpd="sng" w="28575">
            <a:solidFill>
              <a:schemeClr val="dk2"/>
            </a:solidFill>
            <a:prstDash val="solid"/>
            <a:round/>
            <a:headEnd len="med" w="med" type="none"/>
            <a:tailEnd len="med" w="med" type="none"/>
          </a:ln>
        </p:spPr>
      </p:cxnSp>
      <p:cxnSp>
        <p:nvCxnSpPr>
          <p:cNvPr id="442" name="Google Shape;442;p35"/>
          <p:cNvCxnSpPr>
            <a:stCxn id="424" idx="6"/>
            <a:endCxn id="429" idx="3"/>
          </p:cNvCxnSpPr>
          <p:nvPr/>
        </p:nvCxnSpPr>
        <p:spPr>
          <a:xfrm flipH="1" rot="10800000">
            <a:off x="6728369" y="2898039"/>
            <a:ext cx="517200" cy="612000"/>
          </a:xfrm>
          <a:prstGeom prst="straightConnector1">
            <a:avLst/>
          </a:prstGeom>
          <a:noFill/>
          <a:ln cap="flat" cmpd="sng" w="28575">
            <a:solidFill>
              <a:schemeClr val="dk2"/>
            </a:solidFill>
            <a:prstDash val="solid"/>
            <a:round/>
            <a:headEnd len="med" w="med" type="none"/>
            <a:tailEnd len="med" w="med" type="none"/>
          </a:ln>
        </p:spPr>
      </p:cxnSp>
      <p:graphicFrame>
        <p:nvGraphicFramePr>
          <p:cNvPr id="443" name="Google Shape;443;p35"/>
          <p:cNvGraphicFramePr/>
          <p:nvPr/>
        </p:nvGraphicFramePr>
        <p:xfrm>
          <a:off x="4619063" y="1687188"/>
          <a:ext cx="3000000" cy="3000000"/>
        </p:xfrm>
        <a:graphic>
          <a:graphicData uri="http://schemas.openxmlformats.org/drawingml/2006/table">
            <a:tbl>
              <a:tblPr>
                <a:noFill/>
                <a:tableStyleId>{4D36BE5A-9069-42A2-BAD7-CD2C23C4D617}</a:tableStyleId>
              </a:tblPr>
              <a:tblGrid>
                <a:gridCol w="421425"/>
              </a:tblGrid>
              <a:tr h="307125">
                <a:tc>
                  <a:txBody>
                    <a:bodyPr/>
                    <a:lstStyle/>
                    <a:p>
                      <a:pPr indent="0" lvl="0" marL="0" rtl="0" algn="ctr">
                        <a:spcBef>
                          <a:spcPts val="0"/>
                        </a:spcBef>
                        <a:spcAft>
                          <a:spcPts val="0"/>
                        </a:spcAft>
                        <a:buNone/>
                      </a:pPr>
                      <a:r>
                        <a:rPr lang="en"/>
                        <a:t>j</a:t>
                      </a:r>
                      <a:endParaRPr/>
                    </a:p>
                  </a:txBody>
                  <a:tcPr marT="91425" marB="91425" marR="91425" marL="91425" anchor="ctr"/>
                </a:tc>
              </a:tr>
              <a:tr h="307125">
                <a:tc>
                  <a:txBody>
                    <a:bodyPr/>
                    <a:lstStyle/>
                    <a:p>
                      <a:pPr indent="0" lvl="0" marL="0" rtl="0" algn="ctr">
                        <a:spcBef>
                          <a:spcPts val="0"/>
                        </a:spcBef>
                        <a:spcAft>
                          <a:spcPts val="0"/>
                        </a:spcAft>
                        <a:buNone/>
                      </a:pPr>
                      <a:r>
                        <a:rPr lang="en"/>
                        <a:t>k</a:t>
                      </a:r>
                      <a:endParaRPr/>
                    </a:p>
                  </a:txBody>
                  <a:tcPr marT="91425" marB="91425" marR="91425" marL="91425" anchor="ctr"/>
                </a:tc>
              </a:tr>
              <a:tr h="307125">
                <a:tc>
                  <a:txBody>
                    <a:bodyPr/>
                    <a:lstStyle/>
                    <a:p>
                      <a:pPr indent="0" lvl="0" marL="0" rtl="0" algn="ctr">
                        <a:spcBef>
                          <a:spcPts val="0"/>
                        </a:spcBef>
                        <a:spcAft>
                          <a:spcPts val="0"/>
                        </a:spcAft>
                        <a:buNone/>
                      </a:pPr>
                      <a:r>
                        <a:rPr lang="en"/>
                        <a:t>m</a:t>
                      </a:r>
                      <a:endParaRPr/>
                    </a:p>
                  </a:txBody>
                  <a:tcPr marT="91425" marB="91425" marR="91425" marL="91425" anchor="ctr"/>
                </a:tc>
              </a:tr>
              <a:tr h="307125">
                <a:tc>
                  <a:txBody>
                    <a:bodyPr/>
                    <a:lstStyle/>
                    <a:p>
                      <a:pPr indent="0" lvl="0" marL="0" rtl="0" algn="ctr">
                        <a:spcBef>
                          <a:spcPts val="0"/>
                        </a:spcBef>
                        <a:spcAft>
                          <a:spcPts val="0"/>
                        </a:spcAft>
                        <a:buNone/>
                      </a:pPr>
                      <a:r>
                        <a:rPr lang="en"/>
                        <a:t>p</a:t>
                      </a:r>
                      <a:endParaRPr/>
                    </a:p>
                  </a:txBody>
                  <a:tcPr marT="91425" marB="91425" marR="91425" marL="91425" anchor="ctr"/>
                </a:tc>
              </a:tr>
              <a:tr h="307125">
                <a:tc>
                  <a:txBody>
                    <a:bodyPr/>
                    <a:lstStyle/>
                    <a:p>
                      <a:pPr indent="0" lvl="0" marL="0" rtl="0" algn="ctr">
                        <a:spcBef>
                          <a:spcPts val="0"/>
                        </a:spcBef>
                        <a:spcAft>
                          <a:spcPts val="0"/>
                        </a:spcAft>
                        <a:buNone/>
                      </a:pPr>
                      <a:r>
                        <a:rPr lang="en"/>
                        <a:t>i</a:t>
                      </a:r>
                      <a:endParaRPr/>
                    </a:p>
                  </a:txBody>
                  <a:tcPr marT="91425" marB="91425" marR="91425" marL="91425" anchor="ctr"/>
                </a:tc>
              </a:tr>
              <a:tr h="307125">
                <a:tc>
                  <a:txBody>
                    <a:bodyPr/>
                    <a:lstStyle/>
                    <a:p>
                      <a:pPr indent="0" lvl="0" marL="0" rtl="0" algn="ctr">
                        <a:spcBef>
                          <a:spcPts val="0"/>
                        </a:spcBef>
                        <a:spcAft>
                          <a:spcPts val="0"/>
                        </a:spcAft>
                        <a:buNone/>
                      </a:pPr>
                      <a:r>
                        <a:rPr lang="en"/>
                        <a:t>n</a:t>
                      </a:r>
                      <a:endParaRPr/>
                    </a:p>
                  </a:txBody>
                  <a:tcPr marT="91425" marB="91425" marR="91425" marL="91425" anchor="ctr"/>
                </a:tc>
              </a:tr>
              <a:tr h="307125">
                <a:tc>
                  <a:txBody>
                    <a:bodyPr/>
                    <a:lstStyle/>
                    <a:p>
                      <a:pPr indent="0" lvl="0" marL="0" rtl="0" algn="ctr">
                        <a:spcBef>
                          <a:spcPts val="0"/>
                        </a:spcBef>
                        <a:spcAft>
                          <a:spcPts val="0"/>
                        </a:spcAft>
                        <a:buNone/>
                      </a:pPr>
                      <a:r>
                        <a:rPr lang="en"/>
                        <a:t>o</a:t>
                      </a:r>
                      <a:endParaRPr/>
                    </a:p>
                  </a:txBody>
                  <a:tcPr marT="91425" marB="91425" marR="91425" marL="91425" anchor="ctr"/>
                </a:tc>
              </a:tr>
              <a:tr h="307125">
                <a:tc>
                  <a:txBody>
                    <a:bodyPr/>
                    <a:lstStyle/>
                    <a:p>
                      <a:pPr indent="0" lvl="0" marL="0" rtl="0" algn="ctr">
                        <a:spcBef>
                          <a:spcPts val="0"/>
                        </a:spcBef>
                        <a:spcAft>
                          <a:spcPts val="0"/>
                        </a:spcAft>
                        <a:buNone/>
                      </a:pPr>
                      <a:r>
                        <a:rPr lang="en"/>
                        <a:t>l</a:t>
                      </a:r>
                      <a:endParaRPr/>
                    </a:p>
                  </a:txBody>
                  <a:tcPr marT="91425" marB="91425" marR="91425" marL="91425" anchor="ct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447" name="Shape 447"/>
        <p:cNvGrpSpPr/>
        <p:nvPr/>
      </p:nvGrpSpPr>
      <p:grpSpPr>
        <a:xfrm>
          <a:off x="0" y="0"/>
          <a:ext cx="0" cy="0"/>
          <a:chOff x="0" y="0"/>
          <a:chExt cx="0" cy="0"/>
        </a:xfrm>
      </p:grpSpPr>
      <p:sp>
        <p:nvSpPr>
          <p:cNvPr id="448" name="Google Shape;448;p36"/>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Centralities Based on Degrees</a:t>
            </a:r>
            <a:endParaRPr/>
          </a:p>
        </p:txBody>
      </p:sp>
      <p:sp>
        <p:nvSpPr>
          <p:cNvPr id="449" name="Google Shape;449;p36"/>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3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Centrality (Undirected)</a:t>
            </a:r>
            <a:endParaRPr/>
          </a:p>
        </p:txBody>
      </p:sp>
      <p:sp>
        <p:nvSpPr>
          <p:cNvPr id="455" name="Google Shape;455;p37"/>
          <p:cNvSpPr txBox="1"/>
          <p:nvPr>
            <p:ph idx="1" type="body"/>
          </p:nvPr>
        </p:nvSpPr>
        <p:spPr>
          <a:xfrm>
            <a:off x="311700" y="1225225"/>
            <a:ext cx="2569800" cy="3479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Simplest (local) centrality measure to compute</a:t>
            </a:r>
            <a:endParaRPr/>
          </a:p>
          <a:p>
            <a:pPr indent="-342900" lvl="0" marL="457200" rtl="0" algn="l">
              <a:spcBef>
                <a:spcPts val="0"/>
              </a:spcBef>
              <a:spcAft>
                <a:spcPts val="0"/>
              </a:spcAft>
              <a:buSzPts val="1800"/>
              <a:buChar char="●"/>
            </a:pPr>
            <a:r>
              <a:rPr lang="en"/>
              <a:t>Graph theory definition:</a:t>
            </a:r>
            <a:endParaRPr/>
          </a:p>
          <a:p>
            <a:pPr indent="-317500" lvl="1" marL="914400" rtl="0" algn="l">
              <a:spcBef>
                <a:spcPts val="0"/>
              </a:spcBef>
              <a:spcAft>
                <a:spcPts val="0"/>
              </a:spcAft>
              <a:buSzPts val="1400"/>
              <a:buChar char="○"/>
            </a:pPr>
            <a:r>
              <a:rPr lang="en"/>
              <a:t>Number of </a:t>
            </a:r>
            <a:r>
              <a:rPr b="1" lang="en"/>
              <a:t>edges</a:t>
            </a:r>
            <a:r>
              <a:rPr lang="en"/>
              <a:t> </a:t>
            </a:r>
            <a:r>
              <a:rPr b="1" lang="en"/>
              <a:t>incident</a:t>
            </a:r>
            <a:r>
              <a:rPr lang="en"/>
              <a:t> to a node</a:t>
            </a:r>
            <a:endParaRPr/>
          </a:p>
          <a:p>
            <a:pPr indent="-317500" lvl="1" marL="914400" rtl="0" algn="l">
              <a:spcBef>
                <a:spcPts val="0"/>
              </a:spcBef>
              <a:spcAft>
                <a:spcPts val="0"/>
              </a:spcAft>
              <a:buSzPts val="1400"/>
              <a:buChar char="○"/>
            </a:pPr>
            <a:r>
              <a:rPr lang="en"/>
              <a:t>Number of </a:t>
            </a:r>
            <a:r>
              <a:rPr b="1" lang="en"/>
              <a:t>nodes</a:t>
            </a:r>
            <a:r>
              <a:rPr lang="en"/>
              <a:t> </a:t>
            </a:r>
            <a:r>
              <a:rPr b="1" lang="en"/>
              <a:t>adjacent </a:t>
            </a:r>
            <a:r>
              <a:rPr lang="en"/>
              <a:t>to a node</a:t>
            </a:r>
            <a:endParaRPr/>
          </a:p>
          <a:p>
            <a:pPr indent="0" lvl="0" marL="914400" rtl="0" algn="l">
              <a:spcBef>
                <a:spcPts val="0"/>
              </a:spcBef>
              <a:spcAft>
                <a:spcPts val="0"/>
              </a:spcAft>
              <a:buNone/>
            </a:pPr>
            <a:r>
              <a:t/>
            </a:r>
            <a:endParaRPr/>
          </a:p>
        </p:txBody>
      </p:sp>
      <p:sp>
        <p:nvSpPr>
          <p:cNvPr id="456" name="Google Shape;456;p37"/>
          <p:cNvSpPr/>
          <p:nvPr/>
        </p:nvSpPr>
        <p:spPr>
          <a:xfrm>
            <a:off x="2679118" y="249504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457" name="Google Shape;457;p37"/>
          <p:cNvSpPr/>
          <p:nvPr/>
        </p:nvSpPr>
        <p:spPr>
          <a:xfrm>
            <a:off x="3997741" y="213291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458" name="Google Shape;458;p37"/>
          <p:cNvSpPr/>
          <p:nvPr/>
        </p:nvSpPr>
        <p:spPr>
          <a:xfrm>
            <a:off x="4675835" y="274682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459" name="Google Shape;459;p37"/>
          <p:cNvSpPr/>
          <p:nvPr/>
        </p:nvSpPr>
        <p:spPr>
          <a:xfrm>
            <a:off x="3475040" y="309128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460" name="Google Shape;460;p37"/>
          <p:cNvSpPr/>
          <p:nvPr/>
        </p:nvSpPr>
        <p:spPr>
          <a:xfrm>
            <a:off x="2642488" y="362926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461" name="Google Shape;461;p37"/>
          <p:cNvSpPr/>
          <p:nvPr/>
        </p:nvSpPr>
        <p:spPr>
          <a:xfrm>
            <a:off x="3834298" y="375011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462" name="Google Shape;462;p37"/>
          <p:cNvSpPr/>
          <p:nvPr/>
        </p:nvSpPr>
        <p:spPr>
          <a:xfrm>
            <a:off x="4239049" y="447234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463" name="Google Shape;463;p37"/>
          <p:cNvSpPr/>
          <p:nvPr/>
        </p:nvSpPr>
        <p:spPr>
          <a:xfrm>
            <a:off x="5112584"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464" name="Google Shape;464;p37"/>
          <p:cNvSpPr/>
          <p:nvPr/>
        </p:nvSpPr>
        <p:spPr>
          <a:xfrm>
            <a:off x="5314997" y="447234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465" name="Google Shape;465;p37"/>
          <p:cNvSpPr/>
          <p:nvPr/>
        </p:nvSpPr>
        <p:spPr>
          <a:xfrm>
            <a:off x="6105538"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466" name="Google Shape;466;p37"/>
          <p:cNvSpPr/>
          <p:nvPr/>
        </p:nvSpPr>
        <p:spPr>
          <a:xfrm>
            <a:off x="6510289" y="285277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467" name="Google Shape;467;p37"/>
          <p:cNvSpPr/>
          <p:nvPr/>
        </p:nvSpPr>
        <p:spPr>
          <a:xfrm>
            <a:off x="6978980"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468" name="Google Shape;468;p37"/>
          <p:cNvSpPr/>
          <p:nvPr/>
        </p:nvSpPr>
        <p:spPr>
          <a:xfrm>
            <a:off x="6510289" y="430140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469" name="Google Shape;469;p37"/>
          <p:cNvSpPr/>
          <p:nvPr/>
        </p:nvSpPr>
        <p:spPr>
          <a:xfrm>
            <a:off x="7537684" y="438259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470" name="Google Shape;470;p37"/>
          <p:cNvSpPr/>
          <p:nvPr/>
        </p:nvSpPr>
        <p:spPr>
          <a:xfrm>
            <a:off x="7955631" y="367542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471" name="Google Shape;471;p37"/>
          <p:cNvSpPr/>
          <p:nvPr/>
        </p:nvSpPr>
        <p:spPr>
          <a:xfrm>
            <a:off x="8638414" y="3062154"/>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472" name="Google Shape;472;p37"/>
          <p:cNvSpPr/>
          <p:nvPr/>
        </p:nvSpPr>
        <p:spPr>
          <a:xfrm>
            <a:off x="7740059" y="2940973"/>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473" name="Google Shape;473;p37"/>
          <p:cNvSpPr/>
          <p:nvPr/>
        </p:nvSpPr>
        <p:spPr>
          <a:xfrm>
            <a:off x="7808697" y="220652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474" name="Google Shape;474;p37"/>
          <p:cNvSpPr/>
          <p:nvPr/>
        </p:nvSpPr>
        <p:spPr>
          <a:xfrm>
            <a:off x="8638414" y="1931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475" name="Google Shape;475;p37"/>
          <p:cNvCxnSpPr>
            <a:stCxn id="474" idx="2"/>
            <a:endCxn id="473" idx="7"/>
          </p:cNvCxnSpPr>
          <p:nvPr/>
        </p:nvCxnSpPr>
        <p:spPr>
          <a:xfrm flipH="1">
            <a:off x="8154514" y="2132800"/>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476" name="Google Shape;476;p37"/>
          <p:cNvCxnSpPr>
            <a:stCxn id="472" idx="0"/>
            <a:endCxn id="473" idx="4"/>
          </p:cNvCxnSpPr>
          <p:nvPr/>
        </p:nvCxnSpPr>
        <p:spPr>
          <a:xfrm flipH="1" rot="10800000">
            <a:off x="7942559" y="2609773"/>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477" name="Google Shape;477;p37"/>
          <p:cNvCxnSpPr>
            <a:stCxn id="471" idx="2"/>
            <a:endCxn id="472" idx="6"/>
          </p:cNvCxnSpPr>
          <p:nvPr/>
        </p:nvCxnSpPr>
        <p:spPr>
          <a:xfrm rot="10800000">
            <a:off x="8144914" y="3142554"/>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478" name="Google Shape;478;p37"/>
          <p:cNvCxnSpPr>
            <a:stCxn id="471" idx="2"/>
            <a:endCxn id="467" idx="6"/>
          </p:cNvCxnSpPr>
          <p:nvPr/>
        </p:nvCxnSpPr>
        <p:spPr>
          <a:xfrm flipH="1">
            <a:off x="7384114" y="3263754"/>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479" name="Google Shape;479;p37"/>
          <p:cNvCxnSpPr>
            <a:stCxn id="471" idx="2"/>
            <a:endCxn id="470" idx="7"/>
          </p:cNvCxnSpPr>
          <p:nvPr/>
        </p:nvCxnSpPr>
        <p:spPr>
          <a:xfrm flipH="1">
            <a:off x="8301214" y="3263754"/>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480" name="Google Shape;480;p37"/>
          <p:cNvCxnSpPr>
            <a:stCxn id="470" idx="2"/>
            <a:endCxn id="467" idx="6"/>
          </p:cNvCxnSpPr>
          <p:nvPr/>
        </p:nvCxnSpPr>
        <p:spPr>
          <a:xfrm rot="10800000">
            <a:off x="7383831" y="3777122"/>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481" name="Google Shape;481;p37"/>
          <p:cNvCxnSpPr>
            <a:stCxn id="470" idx="1"/>
            <a:endCxn id="466" idx="5"/>
          </p:cNvCxnSpPr>
          <p:nvPr/>
        </p:nvCxnSpPr>
        <p:spPr>
          <a:xfrm rot="10800000">
            <a:off x="6856042" y="3196869"/>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482" name="Google Shape;482;p37"/>
          <p:cNvCxnSpPr>
            <a:stCxn id="469" idx="0"/>
            <a:endCxn id="467" idx="4"/>
          </p:cNvCxnSpPr>
          <p:nvPr/>
        </p:nvCxnSpPr>
        <p:spPr>
          <a:xfrm rot="10800000">
            <a:off x="7181584" y="3978791"/>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483" name="Google Shape;483;p37"/>
          <p:cNvCxnSpPr>
            <a:stCxn id="468" idx="7"/>
            <a:endCxn id="467" idx="4"/>
          </p:cNvCxnSpPr>
          <p:nvPr/>
        </p:nvCxnSpPr>
        <p:spPr>
          <a:xfrm flipH="1" rot="10800000">
            <a:off x="6855978" y="3978852"/>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484" name="Google Shape;484;p37"/>
          <p:cNvCxnSpPr>
            <a:stCxn id="469" idx="1"/>
            <a:endCxn id="468" idx="6"/>
          </p:cNvCxnSpPr>
          <p:nvPr/>
        </p:nvCxnSpPr>
        <p:spPr>
          <a:xfrm flipH="1">
            <a:off x="6915395" y="4441638"/>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485" name="Google Shape;485;p37"/>
          <p:cNvCxnSpPr>
            <a:stCxn id="467" idx="2"/>
            <a:endCxn id="465" idx="6"/>
          </p:cNvCxnSpPr>
          <p:nvPr/>
        </p:nvCxnSpPr>
        <p:spPr>
          <a:xfrm rot="10800000">
            <a:off x="6510680" y="3777232"/>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486" name="Google Shape;486;p37"/>
          <p:cNvCxnSpPr>
            <a:stCxn id="468" idx="0"/>
            <a:endCxn id="465" idx="5"/>
          </p:cNvCxnSpPr>
          <p:nvPr/>
        </p:nvCxnSpPr>
        <p:spPr>
          <a:xfrm rot="10800000">
            <a:off x="6451189" y="3919805"/>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487" name="Google Shape;487;p37"/>
          <p:cNvCxnSpPr>
            <a:stCxn id="467" idx="0"/>
            <a:endCxn id="466" idx="5"/>
          </p:cNvCxnSpPr>
          <p:nvPr/>
        </p:nvCxnSpPr>
        <p:spPr>
          <a:xfrm rot="10800000">
            <a:off x="6855980" y="3197032"/>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488" name="Google Shape;488;p37"/>
          <p:cNvCxnSpPr>
            <a:stCxn id="465" idx="7"/>
            <a:endCxn id="466" idx="4"/>
          </p:cNvCxnSpPr>
          <p:nvPr/>
        </p:nvCxnSpPr>
        <p:spPr>
          <a:xfrm flipH="1" rot="10800000">
            <a:off x="6451227" y="3256079"/>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489" name="Google Shape;489;p37"/>
          <p:cNvCxnSpPr>
            <a:stCxn id="465" idx="2"/>
            <a:endCxn id="463" idx="6"/>
          </p:cNvCxnSpPr>
          <p:nvPr/>
        </p:nvCxnSpPr>
        <p:spPr>
          <a:xfrm rot="10800000">
            <a:off x="5517538" y="3777232"/>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490" name="Google Shape;490;p37"/>
          <p:cNvCxnSpPr>
            <a:stCxn id="464" idx="0"/>
            <a:endCxn id="463" idx="4"/>
          </p:cNvCxnSpPr>
          <p:nvPr/>
        </p:nvCxnSpPr>
        <p:spPr>
          <a:xfrm rot="10800000">
            <a:off x="5314997" y="3978840"/>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491" name="Google Shape;491;p37"/>
          <p:cNvCxnSpPr>
            <a:stCxn id="463" idx="3"/>
            <a:endCxn id="462" idx="7"/>
          </p:cNvCxnSpPr>
          <p:nvPr/>
        </p:nvCxnSpPr>
        <p:spPr>
          <a:xfrm flipH="1">
            <a:off x="4584795" y="3919785"/>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492" name="Google Shape;492;p37"/>
          <p:cNvCxnSpPr>
            <a:stCxn id="461" idx="5"/>
            <a:endCxn id="462" idx="0"/>
          </p:cNvCxnSpPr>
          <p:nvPr/>
        </p:nvCxnSpPr>
        <p:spPr>
          <a:xfrm>
            <a:off x="4179987" y="4094263"/>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493" name="Google Shape;493;p37"/>
          <p:cNvCxnSpPr>
            <a:stCxn id="458" idx="4"/>
            <a:endCxn id="461" idx="7"/>
          </p:cNvCxnSpPr>
          <p:nvPr/>
        </p:nvCxnSpPr>
        <p:spPr>
          <a:xfrm flipH="1">
            <a:off x="4179935" y="3150025"/>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494" name="Google Shape;494;p37"/>
          <p:cNvCxnSpPr>
            <a:stCxn id="463" idx="1"/>
            <a:endCxn id="458" idx="4"/>
          </p:cNvCxnSpPr>
          <p:nvPr/>
        </p:nvCxnSpPr>
        <p:spPr>
          <a:xfrm rot="10800000">
            <a:off x="4878195" y="3149879"/>
            <a:ext cx="293700" cy="484800"/>
          </a:xfrm>
          <a:prstGeom prst="straightConnector1">
            <a:avLst/>
          </a:prstGeom>
          <a:noFill/>
          <a:ln cap="flat" cmpd="sng" w="28575">
            <a:solidFill>
              <a:schemeClr val="dk2"/>
            </a:solidFill>
            <a:prstDash val="solid"/>
            <a:round/>
            <a:headEnd len="med" w="med" type="none"/>
            <a:tailEnd len="med" w="med" type="none"/>
          </a:ln>
        </p:spPr>
      </p:cxnSp>
      <p:cxnSp>
        <p:nvCxnSpPr>
          <p:cNvPr id="495" name="Google Shape;495;p37"/>
          <p:cNvCxnSpPr>
            <a:stCxn id="461" idx="2"/>
            <a:endCxn id="460" idx="6"/>
          </p:cNvCxnSpPr>
          <p:nvPr/>
        </p:nvCxnSpPr>
        <p:spPr>
          <a:xfrm rot="10800000">
            <a:off x="3047398" y="3830810"/>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496" name="Google Shape;496;p37"/>
          <p:cNvCxnSpPr>
            <a:stCxn id="461" idx="0"/>
            <a:endCxn id="459" idx="4"/>
          </p:cNvCxnSpPr>
          <p:nvPr/>
        </p:nvCxnSpPr>
        <p:spPr>
          <a:xfrm rot="10800000">
            <a:off x="3677398" y="3494510"/>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497" name="Google Shape;497;p37"/>
          <p:cNvCxnSpPr>
            <a:stCxn id="459" idx="3"/>
            <a:endCxn id="460" idx="7"/>
          </p:cNvCxnSpPr>
          <p:nvPr/>
        </p:nvCxnSpPr>
        <p:spPr>
          <a:xfrm flipH="1">
            <a:off x="2988051" y="3435438"/>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498" name="Google Shape;498;p37"/>
          <p:cNvCxnSpPr>
            <a:stCxn id="456" idx="4"/>
            <a:endCxn id="460" idx="0"/>
          </p:cNvCxnSpPr>
          <p:nvPr/>
        </p:nvCxnSpPr>
        <p:spPr>
          <a:xfrm flipH="1">
            <a:off x="2845018" y="2898241"/>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499" name="Google Shape;499;p37"/>
          <p:cNvCxnSpPr>
            <a:stCxn id="457" idx="2"/>
            <a:endCxn id="456" idx="6"/>
          </p:cNvCxnSpPr>
          <p:nvPr/>
        </p:nvCxnSpPr>
        <p:spPr>
          <a:xfrm flipH="1">
            <a:off x="3084241" y="2334512"/>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500" name="Google Shape;500;p37"/>
          <p:cNvCxnSpPr>
            <a:stCxn id="457" idx="3"/>
            <a:endCxn id="459" idx="0"/>
          </p:cNvCxnSpPr>
          <p:nvPr/>
        </p:nvCxnSpPr>
        <p:spPr>
          <a:xfrm flipH="1">
            <a:off x="3677552" y="2477064"/>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501" name="Google Shape;501;p37"/>
          <p:cNvCxnSpPr>
            <a:stCxn id="458" idx="2"/>
            <a:endCxn id="456" idx="6"/>
          </p:cNvCxnSpPr>
          <p:nvPr/>
        </p:nvCxnSpPr>
        <p:spPr>
          <a:xfrm rot="10800000">
            <a:off x="3084035" y="2696725"/>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502" name="Google Shape;502;p37"/>
          <p:cNvCxnSpPr>
            <a:stCxn id="458" idx="1"/>
            <a:endCxn id="457" idx="5"/>
          </p:cNvCxnSpPr>
          <p:nvPr/>
        </p:nvCxnSpPr>
        <p:spPr>
          <a:xfrm rot="10800000">
            <a:off x="4343346" y="2477072"/>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503" name="Google Shape;503;p37"/>
          <p:cNvCxnSpPr>
            <a:stCxn id="458" idx="2"/>
            <a:endCxn id="459" idx="7"/>
          </p:cNvCxnSpPr>
          <p:nvPr/>
        </p:nvCxnSpPr>
        <p:spPr>
          <a:xfrm flipH="1">
            <a:off x="3820835" y="2948425"/>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504" name="Google Shape;504;p37"/>
          <p:cNvCxnSpPr>
            <a:stCxn id="459" idx="1"/>
            <a:endCxn id="456" idx="5"/>
          </p:cNvCxnSpPr>
          <p:nvPr/>
        </p:nvCxnSpPr>
        <p:spPr>
          <a:xfrm rot="10800000">
            <a:off x="3024951" y="2839232"/>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505" name="Google Shape;505;p37"/>
          <p:cNvCxnSpPr>
            <a:stCxn id="467" idx="6"/>
            <a:endCxn id="472" idx="3"/>
          </p:cNvCxnSpPr>
          <p:nvPr/>
        </p:nvCxnSpPr>
        <p:spPr>
          <a:xfrm flipH="1" rot="10800000">
            <a:off x="7383980" y="3285232"/>
            <a:ext cx="415500" cy="4920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3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Centrality (Undirected)</a:t>
            </a:r>
            <a:endParaRPr/>
          </a:p>
        </p:txBody>
      </p:sp>
      <p:sp>
        <p:nvSpPr>
          <p:cNvPr id="511" name="Google Shape;511;p38"/>
          <p:cNvSpPr txBox="1"/>
          <p:nvPr>
            <p:ph idx="1" type="body"/>
          </p:nvPr>
        </p:nvSpPr>
        <p:spPr>
          <a:xfrm>
            <a:off x="311700" y="1225225"/>
            <a:ext cx="2569800" cy="3479400"/>
          </a:xfrm>
          <a:prstGeom prst="rect">
            <a:avLst/>
          </a:prstGeom>
        </p:spPr>
        <p:txBody>
          <a:bodyPr anchorCtr="0" anchor="t" bIns="91425" lIns="91425" spcFirstLastPara="1" rIns="91425" wrap="square" tIns="91425">
            <a:noAutofit/>
          </a:bodyPr>
          <a:lstStyle/>
          <a:p>
            <a:pPr indent="-317500" lvl="1" marL="914400" rtl="0" algn="l">
              <a:spcBef>
                <a:spcPts val="0"/>
              </a:spcBef>
              <a:spcAft>
                <a:spcPts val="0"/>
              </a:spcAft>
              <a:buSzPts val="1400"/>
              <a:buChar char="○"/>
            </a:pPr>
            <a:r>
              <a:rPr b="1" lang="en"/>
              <a:t>Cardinality of the set of neighbors </a:t>
            </a:r>
            <a:r>
              <a:rPr lang="en"/>
              <a:t>of a node</a:t>
            </a:r>
            <a:endParaRPr/>
          </a:p>
          <a:p>
            <a:pPr indent="-342900" lvl="0" marL="457200" rtl="0" algn="l">
              <a:spcBef>
                <a:spcPts val="0"/>
              </a:spcBef>
              <a:spcAft>
                <a:spcPts val="0"/>
              </a:spcAft>
              <a:buSzPts val="1800"/>
              <a:buChar char="●"/>
            </a:pPr>
            <a:r>
              <a:rPr lang="en"/>
              <a:t>In </a:t>
            </a:r>
            <a:r>
              <a:rPr b="1" lang="en"/>
              <a:t>undirected</a:t>
            </a:r>
            <a:r>
              <a:rPr lang="en"/>
              <a:t> graphs:</a:t>
            </a:r>
            <a:endParaRPr/>
          </a:p>
          <a:p>
            <a:pPr indent="-317500" lvl="1" marL="914400" rtl="0" algn="l">
              <a:spcBef>
                <a:spcPts val="0"/>
              </a:spcBef>
              <a:spcAft>
                <a:spcPts val="0"/>
              </a:spcAft>
              <a:buSzPts val="1400"/>
              <a:buChar char="○"/>
            </a:pPr>
            <a:r>
              <a:rPr lang="en"/>
              <a:t>Given by </a:t>
            </a:r>
            <a:r>
              <a:rPr b="1" lang="en"/>
              <a:t>either</a:t>
            </a:r>
            <a:r>
              <a:rPr lang="en"/>
              <a:t> </a:t>
            </a:r>
            <a:r>
              <a:rPr b="1" lang="en"/>
              <a:t>row</a:t>
            </a:r>
            <a:r>
              <a:rPr lang="en"/>
              <a:t> </a:t>
            </a:r>
            <a:r>
              <a:rPr b="1" lang="en"/>
              <a:t>or</a:t>
            </a:r>
            <a:r>
              <a:rPr lang="en"/>
              <a:t> </a:t>
            </a:r>
            <a:r>
              <a:rPr b="1" lang="en"/>
              <a:t>column</a:t>
            </a:r>
            <a:r>
              <a:rPr lang="en"/>
              <a:t> </a:t>
            </a:r>
            <a:r>
              <a:rPr b="1" lang="en"/>
              <a:t>sum</a:t>
            </a:r>
            <a:r>
              <a:rPr lang="en"/>
              <a:t> vector of corresponding </a:t>
            </a:r>
            <a:r>
              <a:rPr b="1" lang="en"/>
              <a:t>adjacency matrix</a:t>
            </a:r>
            <a:endParaRPr/>
          </a:p>
          <a:p>
            <a:pPr indent="0" lvl="0" marL="914400" rtl="0" algn="l">
              <a:spcBef>
                <a:spcPts val="0"/>
              </a:spcBef>
              <a:spcAft>
                <a:spcPts val="0"/>
              </a:spcAft>
              <a:buNone/>
            </a:pPr>
            <a:r>
              <a:t/>
            </a:r>
            <a:endParaRPr/>
          </a:p>
        </p:txBody>
      </p:sp>
      <p:sp>
        <p:nvSpPr>
          <p:cNvPr id="512" name="Google Shape;512;p38"/>
          <p:cNvSpPr/>
          <p:nvPr/>
        </p:nvSpPr>
        <p:spPr>
          <a:xfrm>
            <a:off x="2679118" y="249504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513" name="Google Shape;513;p38"/>
          <p:cNvSpPr/>
          <p:nvPr/>
        </p:nvSpPr>
        <p:spPr>
          <a:xfrm>
            <a:off x="3997741" y="213291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514" name="Google Shape;514;p38"/>
          <p:cNvSpPr/>
          <p:nvPr/>
        </p:nvSpPr>
        <p:spPr>
          <a:xfrm>
            <a:off x="4675835" y="274682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515" name="Google Shape;515;p38"/>
          <p:cNvSpPr/>
          <p:nvPr/>
        </p:nvSpPr>
        <p:spPr>
          <a:xfrm>
            <a:off x="3475040" y="309128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516" name="Google Shape;516;p38"/>
          <p:cNvSpPr/>
          <p:nvPr/>
        </p:nvSpPr>
        <p:spPr>
          <a:xfrm>
            <a:off x="2642488" y="362926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517" name="Google Shape;517;p38"/>
          <p:cNvSpPr/>
          <p:nvPr/>
        </p:nvSpPr>
        <p:spPr>
          <a:xfrm>
            <a:off x="3834298" y="375011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518" name="Google Shape;518;p38"/>
          <p:cNvSpPr/>
          <p:nvPr/>
        </p:nvSpPr>
        <p:spPr>
          <a:xfrm>
            <a:off x="4239049" y="447234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519" name="Google Shape;519;p38"/>
          <p:cNvSpPr/>
          <p:nvPr/>
        </p:nvSpPr>
        <p:spPr>
          <a:xfrm>
            <a:off x="5112584"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520" name="Google Shape;520;p38"/>
          <p:cNvSpPr/>
          <p:nvPr/>
        </p:nvSpPr>
        <p:spPr>
          <a:xfrm>
            <a:off x="5314997" y="447234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521" name="Google Shape;521;p38"/>
          <p:cNvSpPr/>
          <p:nvPr/>
        </p:nvSpPr>
        <p:spPr>
          <a:xfrm>
            <a:off x="6105538"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522" name="Google Shape;522;p38"/>
          <p:cNvSpPr/>
          <p:nvPr/>
        </p:nvSpPr>
        <p:spPr>
          <a:xfrm>
            <a:off x="6510289" y="285277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523" name="Google Shape;523;p38"/>
          <p:cNvSpPr/>
          <p:nvPr/>
        </p:nvSpPr>
        <p:spPr>
          <a:xfrm>
            <a:off x="6978980"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524" name="Google Shape;524;p38"/>
          <p:cNvSpPr/>
          <p:nvPr/>
        </p:nvSpPr>
        <p:spPr>
          <a:xfrm>
            <a:off x="6510289" y="430140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525" name="Google Shape;525;p38"/>
          <p:cNvSpPr/>
          <p:nvPr/>
        </p:nvSpPr>
        <p:spPr>
          <a:xfrm>
            <a:off x="7537684" y="438259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526" name="Google Shape;526;p38"/>
          <p:cNvSpPr/>
          <p:nvPr/>
        </p:nvSpPr>
        <p:spPr>
          <a:xfrm>
            <a:off x="7955631" y="367542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527" name="Google Shape;527;p38"/>
          <p:cNvSpPr/>
          <p:nvPr/>
        </p:nvSpPr>
        <p:spPr>
          <a:xfrm>
            <a:off x="8638414" y="3062154"/>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528" name="Google Shape;528;p38"/>
          <p:cNvSpPr/>
          <p:nvPr/>
        </p:nvSpPr>
        <p:spPr>
          <a:xfrm>
            <a:off x="7740059" y="2940973"/>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529" name="Google Shape;529;p38"/>
          <p:cNvSpPr/>
          <p:nvPr/>
        </p:nvSpPr>
        <p:spPr>
          <a:xfrm>
            <a:off x="7808697" y="220652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530" name="Google Shape;530;p38"/>
          <p:cNvSpPr/>
          <p:nvPr/>
        </p:nvSpPr>
        <p:spPr>
          <a:xfrm>
            <a:off x="8638414" y="1931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531" name="Google Shape;531;p38"/>
          <p:cNvCxnSpPr>
            <a:stCxn id="530" idx="2"/>
            <a:endCxn id="529" idx="7"/>
          </p:cNvCxnSpPr>
          <p:nvPr/>
        </p:nvCxnSpPr>
        <p:spPr>
          <a:xfrm flipH="1">
            <a:off x="8154514" y="2132800"/>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532" name="Google Shape;532;p38"/>
          <p:cNvCxnSpPr>
            <a:stCxn id="528" idx="0"/>
            <a:endCxn id="529" idx="4"/>
          </p:cNvCxnSpPr>
          <p:nvPr/>
        </p:nvCxnSpPr>
        <p:spPr>
          <a:xfrm flipH="1" rot="10800000">
            <a:off x="7942559" y="2609773"/>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533" name="Google Shape;533;p38"/>
          <p:cNvCxnSpPr>
            <a:stCxn id="527" idx="2"/>
            <a:endCxn id="528" idx="6"/>
          </p:cNvCxnSpPr>
          <p:nvPr/>
        </p:nvCxnSpPr>
        <p:spPr>
          <a:xfrm rot="10800000">
            <a:off x="8144914" y="3142554"/>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534" name="Google Shape;534;p38"/>
          <p:cNvCxnSpPr>
            <a:stCxn id="527" idx="2"/>
            <a:endCxn id="523" idx="6"/>
          </p:cNvCxnSpPr>
          <p:nvPr/>
        </p:nvCxnSpPr>
        <p:spPr>
          <a:xfrm flipH="1">
            <a:off x="7384114" y="3263754"/>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535" name="Google Shape;535;p38"/>
          <p:cNvCxnSpPr>
            <a:stCxn id="527" idx="2"/>
            <a:endCxn id="526" idx="7"/>
          </p:cNvCxnSpPr>
          <p:nvPr/>
        </p:nvCxnSpPr>
        <p:spPr>
          <a:xfrm flipH="1">
            <a:off x="8301214" y="3263754"/>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536" name="Google Shape;536;p38"/>
          <p:cNvCxnSpPr>
            <a:stCxn id="526" idx="2"/>
            <a:endCxn id="523" idx="6"/>
          </p:cNvCxnSpPr>
          <p:nvPr/>
        </p:nvCxnSpPr>
        <p:spPr>
          <a:xfrm rot="10800000">
            <a:off x="7383831" y="3777122"/>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537" name="Google Shape;537;p38"/>
          <p:cNvCxnSpPr>
            <a:stCxn id="526" idx="1"/>
            <a:endCxn id="522" idx="5"/>
          </p:cNvCxnSpPr>
          <p:nvPr/>
        </p:nvCxnSpPr>
        <p:spPr>
          <a:xfrm rot="10800000">
            <a:off x="6856042" y="3196869"/>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538" name="Google Shape;538;p38"/>
          <p:cNvCxnSpPr>
            <a:stCxn id="525" idx="0"/>
            <a:endCxn id="523" idx="4"/>
          </p:cNvCxnSpPr>
          <p:nvPr/>
        </p:nvCxnSpPr>
        <p:spPr>
          <a:xfrm rot="10800000">
            <a:off x="7181584" y="3978791"/>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539" name="Google Shape;539;p38"/>
          <p:cNvCxnSpPr>
            <a:stCxn id="524" idx="7"/>
            <a:endCxn id="523" idx="4"/>
          </p:cNvCxnSpPr>
          <p:nvPr/>
        </p:nvCxnSpPr>
        <p:spPr>
          <a:xfrm flipH="1" rot="10800000">
            <a:off x="6855978" y="3978852"/>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540" name="Google Shape;540;p38"/>
          <p:cNvCxnSpPr>
            <a:stCxn id="525" idx="1"/>
            <a:endCxn id="524" idx="6"/>
          </p:cNvCxnSpPr>
          <p:nvPr/>
        </p:nvCxnSpPr>
        <p:spPr>
          <a:xfrm flipH="1">
            <a:off x="6915395" y="4441638"/>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541" name="Google Shape;541;p38"/>
          <p:cNvCxnSpPr>
            <a:stCxn id="523" idx="2"/>
            <a:endCxn id="521" idx="6"/>
          </p:cNvCxnSpPr>
          <p:nvPr/>
        </p:nvCxnSpPr>
        <p:spPr>
          <a:xfrm rot="10800000">
            <a:off x="6510680" y="3777232"/>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542" name="Google Shape;542;p38"/>
          <p:cNvCxnSpPr>
            <a:stCxn id="524" idx="0"/>
            <a:endCxn id="521" idx="5"/>
          </p:cNvCxnSpPr>
          <p:nvPr/>
        </p:nvCxnSpPr>
        <p:spPr>
          <a:xfrm rot="10800000">
            <a:off x="6451189" y="3919805"/>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543" name="Google Shape;543;p38"/>
          <p:cNvCxnSpPr>
            <a:stCxn id="523" idx="0"/>
            <a:endCxn id="522" idx="5"/>
          </p:cNvCxnSpPr>
          <p:nvPr/>
        </p:nvCxnSpPr>
        <p:spPr>
          <a:xfrm rot="10800000">
            <a:off x="6855980" y="3197032"/>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544" name="Google Shape;544;p38"/>
          <p:cNvCxnSpPr>
            <a:stCxn id="521" idx="7"/>
            <a:endCxn id="522" idx="4"/>
          </p:cNvCxnSpPr>
          <p:nvPr/>
        </p:nvCxnSpPr>
        <p:spPr>
          <a:xfrm flipH="1" rot="10800000">
            <a:off x="6451227" y="3256079"/>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545" name="Google Shape;545;p38"/>
          <p:cNvCxnSpPr>
            <a:stCxn id="521" idx="2"/>
            <a:endCxn id="519" idx="6"/>
          </p:cNvCxnSpPr>
          <p:nvPr/>
        </p:nvCxnSpPr>
        <p:spPr>
          <a:xfrm rot="10800000">
            <a:off x="5517538" y="3777232"/>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546" name="Google Shape;546;p38"/>
          <p:cNvCxnSpPr>
            <a:stCxn id="520" idx="0"/>
            <a:endCxn id="519" idx="4"/>
          </p:cNvCxnSpPr>
          <p:nvPr/>
        </p:nvCxnSpPr>
        <p:spPr>
          <a:xfrm rot="10800000">
            <a:off x="5314997" y="3978840"/>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547" name="Google Shape;547;p38"/>
          <p:cNvCxnSpPr>
            <a:stCxn id="519" idx="3"/>
            <a:endCxn id="518" idx="7"/>
          </p:cNvCxnSpPr>
          <p:nvPr/>
        </p:nvCxnSpPr>
        <p:spPr>
          <a:xfrm flipH="1">
            <a:off x="4584795" y="3919785"/>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548" name="Google Shape;548;p38"/>
          <p:cNvCxnSpPr>
            <a:stCxn id="517" idx="5"/>
            <a:endCxn id="518" idx="0"/>
          </p:cNvCxnSpPr>
          <p:nvPr/>
        </p:nvCxnSpPr>
        <p:spPr>
          <a:xfrm>
            <a:off x="4179987" y="4094263"/>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549" name="Google Shape;549;p38"/>
          <p:cNvCxnSpPr>
            <a:stCxn id="514" idx="4"/>
            <a:endCxn id="517" idx="7"/>
          </p:cNvCxnSpPr>
          <p:nvPr/>
        </p:nvCxnSpPr>
        <p:spPr>
          <a:xfrm flipH="1">
            <a:off x="4179935" y="3150025"/>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550" name="Google Shape;550;p38"/>
          <p:cNvCxnSpPr>
            <a:stCxn id="519" idx="1"/>
            <a:endCxn id="514" idx="4"/>
          </p:cNvCxnSpPr>
          <p:nvPr/>
        </p:nvCxnSpPr>
        <p:spPr>
          <a:xfrm rot="10800000">
            <a:off x="4878195" y="3149879"/>
            <a:ext cx="293700" cy="484800"/>
          </a:xfrm>
          <a:prstGeom prst="straightConnector1">
            <a:avLst/>
          </a:prstGeom>
          <a:noFill/>
          <a:ln cap="flat" cmpd="sng" w="28575">
            <a:solidFill>
              <a:schemeClr val="dk2"/>
            </a:solidFill>
            <a:prstDash val="solid"/>
            <a:round/>
            <a:headEnd len="med" w="med" type="none"/>
            <a:tailEnd len="med" w="med" type="none"/>
          </a:ln>
        </p:spPr>
      </p:cxnSp>
      <p:cxnSp>
        <p:nvCxnSpPr>
          <p:cNvPr id="551" name="Google Shape;551;p38"/>
          <p:cNvCxnSpPr>
            <a:stCxn id="517" idx="2"/>
            <a:endCxn id="516" idx="6"/>
          </p:cNvCxnSpPr>
          <p:nvPr/>
        </p:nvCxnSpPr>
        <p:spPr>
          <a:xfrm rot="10800000">
            <a:off x="3047398" y="3830810"/>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552" name="Google Shape;552;p38"/>
          <p:cNvCxnSpPr>
            <a:stCxn id="517" idx="0"/>
            <a:endCxn id="515" idx="4"/>
          </p:cNvCxnSpPr>
          <p:nvPr/>
        </p:nvCxnSpPr>
        <p:spPr>
          <a:xfrm rot="10800000">
            <a:off x="3677398" y="3494510"/>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553" name="Google Shape;553;p38"/>
          <p:cNvCxnSpPr>
            <a:stCxn id="515" idx="3"/>
            <a:endCxn id="516" idx="7"/>
          </p:cNvCxnSpPr>
          <p:nvPr/>
        </p:nvCxnSpPr>
        <p:spPr>
          <a:xfrm flipH="1">
            <a:off x="2988051" y="3435438"/>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554" name="Google Shape;554;p38"/>
          <p:cNvCxnSpPr>
            <a:stCxn id="512" idx="4"/>
            <a:endCxn id="516" idx="0"/>
          </p:cNvCxnSpPr>
          <p:nvPr/>
        </p:nvCxnSpPr>
        <p:spPr>
          <a:xfrm flipH="1">
            <a:off x="2845018" y="2898241"/>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555" name="Google Shape;555;p38"/>
          <p:cNvCxnSpPr>
            <a:stCxn id="513" idx="2"/>
            <a:endCxn id="512" idx="6"/>
          </p:cNvCxnSpPr>
          <p:nvPr/>
        </p:nvCxnSpPr>
        <p:spPr>
          <a:xfrm flipH="1">
            <a:off x="3084241" y="2334512"/>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556" name="Google Shape;556;p38"/>
          <p:cNvCxnSpPr>
            <a:stCxn id="513" idx="3"/>
            <a:endCxn id="515" idx="0"/>
          </p:cNvCxnSpPr>
          <p:nvPr/>
        </p:nvCxnSpPr>
        <p:spPr>
          <a:xfrm flipH="1">
            <a:off x="3677552" y="2477064"/>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557" name="Google Shape;557;p38"/>
          <p:cNvCxnSpPr>
            <a:stCxn id="514" idx="2"/>
            <a:endCxn id="512" idx="6"/>
          </p:cNvCxnSpPr>
          <p:nvPr/>
        </p:nvCxnSpPr>
        <p:spPr>
          <a:xfrm rot="10800000">
            <a:off x="3084035" y="2696725"/>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558" name="Google Shape;558;p38"/>
          <p:cNvCxnSpPr>
            <a:stCxn id="514" idx="1"/>
            <a:endCxn id="513" idx="5"/>
          </p:cNvCxnSpPr>
          <p:nvPr/>
        </p:nvCxnSpPr>
        <p:spPr>
          <a:xfrm rot="10800000">
            <a:off x="4343346" y="2477072"/>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559" name="Google Shape;559;p38"/>
          <p:cNvCxnSpPr>
            <a:stCxn id="514" idx="2"/>
            <a:endCxn id="515" idx="7"/>
          </p:cNvCxnSpPr>
          <p:nvPr/>
        </p:nvCxnSpPr>
        <p:spPr>
          <a:xfrm flipH="1">
            <a:off x="3820835" y="2948425"/>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560" name="Google Shape;560;p38"/>
          <p:cNvCxnSpPr>
            <a:stCxn id="515" idx="1"/>
            <a:endCxn id="512" idx="5"/>
          </p:cNvCxnSpPr>
          <p:nvPr/>
        </p:nvCxnSpPr>
        <p:spPr>
          <a:xfrm rot="10800000">
            <a:off x="3024951" y="2839232"/>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561" name="Google Shape;561;p38"/>
          <p:cNvCxnSpPr>
            <a:stCxn id="523" idx="6"/>
            <a:endCxn id="528" idx="3"/>
          </p:cNvCxnSpPr>
          <p:nvPr/>
        </p:nvCxnSpPr>
        <p:spPr>
          <a:xfrm flipH="1" rot="10800000">
            <a:off x="7383980" y="3285232"/>
            <a:ext cx="415500" cy="4920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3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Centrality (Undirected)</a:t>
            </a:r>
            <a:endParaRPr/>
          </a:p>
        </p:txBody>
      </p:sp>
      <p:sp>
        <p:nvSpPr>
          <p:cNvPr id="567" name="Google Shape;567;p39"/>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568" name="Google Shape;568;p39"/>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569" name="Google Shape;569;p39"/>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570" name="Google Shape;570;p39"/>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571" name="Google Shape;571;p39"/>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572" name="Google Shape;572;p39"/>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573" name="Google Shape;573;p39"/>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574" name="Google Shape;574;p39"/>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575" name="Google Shape;575;p39"/>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576" name="Google Shape;576;p39"/>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577" name="Google Shape;577;p39"/>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578" name="Google Shape;578;p39"/>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579" name="Google Shape;579;p39"/>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580" name="Google Shape;580;p39"/>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581" name="Google Shape;581;p39"/>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582" name="Google Shape;582;p39"/>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583" name="Google Shape;583;p39"/>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584" name="Google Shape;584;p39"/>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585" name="Google Shape;585;p39"/>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586" name="Google Shape;586;p39"/>
          <p:cNvCxnSpPr>
            <a:stCxn id="585" idx="2"/>
            <a:endCxn id="584"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587" name="Google Shape;587;p39"/>
          <p:cNvCxnSpPr>
            <a:stCxn id="583" idx="0"/>
            <a:endCxn id="584"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588" name="Google Shape;588;p39"/>
          <p:cNvCxnSpPr>
            <a:stCxn id="582" idx="2"/>
            <a:endCxn id="583"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589" name="Google Shape;589;p39"/>
          <p:cNvCxnSpPr>
            <a:stCxn id="582" idx="2"/>
            <a:endCxn id="578"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590" name="Google Shape;590;p39"/>
          <p:cNvCxnSpPr>
            <a:stCxn id="582" idx="2"/>
            <a:endCxn id="581"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591" name="Google Shape;591;p39"/>
          <p:cNvCxnSpPr>
            <a:stCxn id="581" idx="2"/>
            <a:endCxn id="578"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592" name="Google Shape;592;p39"/>
          <p:cNvCxnSpPr>
            <a:stCxn id="581" idx="1"/>
            <a:endCxn id="577"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593" name="Google Shape;593;p39"/>
          <p:cNvCxnSpPr>
            <a:stCxn id="580" idx="0"/>
            <a:endCxn id="578"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594" name="Google Shape;594;p39"/>
          <p:cNvCxnSpPr>
            <a:stCxn id="579" idx="7"/>
            <a:endCxn id="578"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595" name="Google Shape;595;p39"/>
          <p:cNvCxnSpPr>
            <a:stCxn id="580" idx="1"/>
            <a:endCxn id="579"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596" name="Google Shape;596;p39"/>
          <p:cNvCxnSpPr>
            <a:stCxn id="578" idx="2"/>
            <a:endCxn id="576"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597" name="Google Shape;597;p39"/>
          <p:cNvCxnSpPr>
            <a:stCxn id="579" idx="0"/>
            <a:endCxn id="576"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598" name="Google Shape;598;p39"/>
          <p:cNvCxnSpPr>
            <a:stCxn id="578" idx="0"/>
            <a:endCxn id="577"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599" name="Google Shape;599;p39"/>
          <p:cNvCxnSpPr>
            <a:stCxn id="576" idx="7"/>
            <a:endCxn id="577"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600" name="Google Shape;600;p39"/>
          <p:cNvCxnSpPr>
            <a:stCxn id="576" idx="2"/>
            <a:endCxn id="574"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601" name="Google Shape;601;p39"/>
          <p:cNvCxnSpPr>
            <a:stCxn id="575" idx="0"/>
            <a:endCxn id="574"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602" name="Google Shape;602;p39"/>
          <p:cNvCxnSpPr>
            <a:stCxn id="574" idx="3"/>
            <a:endCxn id="573"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603" name="Google Shape;603;p39"/>
          <p:cNvCxnSpPr>
            <a:stCxn id="572" idx="5"/>
            <a:endCxn id="573"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604" name="Google Shape;604;p39"/>
          <p:cNvCxnSpPr>
            <a:stCxn id="569" idx="4"/>
            <a:endCxn id="572"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605" name="Google Shape;605;p39"/>
          <p:cNvCxnSpPr>
            <a:stCxn id="574" idx="1"/>
            <a:endCxn id="569"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606" name="Google Shape;606;p39"/>
          <p:cNvCxnSpPr>
            <a:stCxn id="572" idx="2"/>
            <a:endCxn id="571"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607" name="Google Shape;607;p39"/>
          <p:cNvCxnSpPr>
            <a:stCxn id="572" idx="0"/>
            <a:endCxn id="570"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608" name="Google Shape;608;p39"/>
          <p:cNvCxnSpPr>
            <a:stCxn id="570" idx="3"/>
            <a:endCxn id="571"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609" name="Google Shape;609;p39"/>
          <p:cNvCxnSpPr>
            <a:stCxn id="567" idx="4"/>
            <a:endCxn id="571"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610" name="Google Shape;610;p39"/>
          <p:cNvCxnSpPr>
            <a:stCxn id="568" idx="2"/>
            <a:endCxn id="567"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611" name="Google Shape;611;p39"/>
          <p:cNvCxnSpPr>
            <a:stCxn id="568" idx="3"/>
            <a:endCxn id="570"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612" name="Google Shape;612;p39"/>
          <p:cNvCxnSpPr>
            <a:stCxn id="569" idx="2"/>
            <a:endCxn id="567"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613" name="Google Shape;613;p39"/>
          <p:cNvCxnSpPr>
            <a:stCxn id="569" idx="1"/>
            <a:endCxn id="568"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614" name="Google Shape;614;p39"/>
          <p:cNvCxnSpPr>
            <a:stCxn id="569" idx="2"/>
            <a:endCxn id="570"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615" name="Google Shape;615;p39"/>
          <p:cNvCxnSpPr>
            <a:stCxn id="570" idx="1"/>
            <a:endCxn id="567"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616" name="Google Shape;616;p39"/>
          <p:cNvCxnSpPr>
            <a:stCxn id="578" idx="6"/>
            <a:endCxn id="583"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graphicFrame>
        <p:nvGraphicFramePr>
          <p:cNvPr id="621" name="Google Shape;621;p40"/>
          <p:cNvGraphicFramePr/>
          <p:nvPr/>
        </p:nvGraphicFramePr>
        <p:xfrm>
          <a:off x="1024600" y="285745"/>
          <a:ext cx="3000000" cy="3000000"/>
        </p:xfrm>
        <a:graphic>
          <a:graphicData uri="http://schemas.openxmlformats.org/drawingml/2006/table">
            <a:tbl>
              <a:tblPr>
                <a:noFill/>
                <a:tableStyleId>{D533A967-1B24-4C1F-A5BD-666CA7F43D67}</a:tableStyleId>
              </a:tblPr>
              <a:tblGrid>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tblGrid>
              <a:tr h="205200">
                <a:tc>
                  <a:txBody>
                    <a:bodyPr/>
                    <a:lstStyle/>
                    <a:p>
                      <a:pPr indent="0" lvl="0" marL="0" rtl="0" algn="l">
                        <a:lnSpc>
                          <a:spcPct val="115000"/>
                        </a:lnSpc>
                        <a:spcBef>
                          <a:spcPts val="0"/>
                        </a:spcBef>
                        <a:spcAft>
                          <a:spcPts val="0"/>
                        </a:spcAft>
                        <a:buNone/>
                      </a:pPr>
                      <a:r>
                        <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solidFill>
                            <a:schemeClr val="dk1"/>
                          </a:solidFill>
                          <a:latin typeface="Economica"/>
                          <a:ea typeface="Economica"/>
                          <a:cs typeface="Economica"/>
                          <a:sym typeface="Economica"/>
                        </a:rPr>
                        <a:t>a</a:t>
                      </a:r>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a</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bl>
          </a:graphicData>
        </a:graphic>
      </p:graphicFrame>
      <p:sp>
        <p:nvSpPr>
          <p:cNvPr id="622" name="Google Shape;622;p40"/>
          <p:cNvSpPr txBox="1"/>
          <p:nvPr/>
        </p:nvSpPr>
        <p:spPr>
          <a:xfrm>
            <a:off x="2523475" y="0"/>
            <a:ext cx="4233300" cy="28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Open Sans"/>
                <a:ea typeface="Open Sans"/>
                <a:cs typeface="Open Sans"/>
                <a:sym typeface="Open Sans"/>
              </a:rPr>
              <a:t>Adjacency Matrix</a:t>
            </a:r>
            <a:endParaRPr sz="1800">
              <a:solidFill>
                <a:schemeClr val="dk1"/>
              </a:solidFill>
              <a:latin typeface="Open Sans"/>
              <a:ea typeface="Open Sans"/>
              <a:cs typeface="Open Sans"/>
              <a:sym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graphicFrame>
        <p:nvGraphicFramePr>
          <p:cNvPr id="627" name="Google Shape;627;p41"/>
          <p:cNvGraphicFramePr/>
          <p:nvPr/>
        </p:nvGraphicFramePr>
        <p:xfrm>
          <a:off x="1024600" y="285745"/>
          <a:ext cx="3000000" cy="3000000"/>
        </p:xfrm>
        <a:graphic>
          <a:graphicData uri="http://schemas.openxmlformats.org/drawingml/2006/table">
            <a:tbl>
              <a:tblPr>
                <a:noFill/>
                <a:tableStyleId>{D533A967-1B24-4C1F-A5BD-666CA7F43D67}</a:tableStyleId>
              </a:tblPr>
              <a:tblGrid>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tblGrid>
              <a:tr h="205200">
                <a:tc>
                  <a:txBody>
                    <a:bodyPr/>
                    <a:lstStyle/>
                    <a:p>
                      <a:pPr indent="0" lvl="0" marL="0" rtl="0" algn="l">
                        <a:lnSpc>
                          <a:spcPct val="115000"/>
                        </a:lnSpc>
                        <a:spcBef>
                          <a:spcPts val="0"/>
                        </a:spcBef>
                        <a:spcAft>
                          <a:spcPts val="0"/>
                        </a:spcAft>
                        <a:buNone/>
                      </a:pPr>
                      <a:r>
                        <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solidFill>
                            <a:schemeClr val="dk1"/>
                          </a:solidFill>
                          <a:latin typeface="Economica"/>
                          <a:ea typeface="Economica"/>
                          <a:cs typeface="Economica"/>
                          <a:sym typeface="Economica"/>
                        </a:rPr>
                        <a:t>a</a:t>
                      </a:r>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a</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bl>
          </a:graphicData>
        </a:graphic>
      </p:graphicFrame>
      <p:sp>
        <p:nvSpPr>
          <p:cNvPr id="628" name="Google Shape;628;p41"/>
          <p:cNvSpPr txBox="1"/>
          <p:nvPr/>
        </p:nvSpPr>
        <p:spPr>
          <a:xfrm>
            <a:off x="2523475" y="0"/>
            <a:ext cx="4233300" cy="28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Open Sans"/>
                <a:ea typeface="Open Sans"/>
                <a:cs typeface="Open Sans"/>
                <a:sym typeface="Open Sans"/>
              </a:rPr>
              <a:t>Adjacency Matrix</a:t>
            </a:r>
            <a:endParaRPr sz="1800">
              <a:solidFill>
                <a:schemeClr val="dk1"/>
              </a:solidFill>
              <a:latin typeface="Open Sans"/>
              <a:ea typeface="Open Sans"/>
              <a:cs typeface="Open Sans"/>
              <a:sym typeface="Open Sans"/>
            </a:endParaRPr>
          </a:p>
        </p:txBody>
      </p:sp>
      <p:graphicFrame>
        <p:nvGraphicFramePr>
          <p:cNvPr id="629" name="Google Shape;629;p41"/>
          <p:cNvGraphicFramePr/>
          <p:nvPr/>
        </p:nvGraphicFramePr>
        <p:xfrm>
          <a:off x="8151575" y="514345"/>
          <a:ext cx="3000000" cy="3000000"/>
        </p:xfrm>
        <a:graphic>
          <a:graphicData uri="http://schemas.openxmlformats.org/drawingml/2006/table">
            <a:tbl>
              <a:tblPr>
                <a:noFill/>
                <a:tableStyleId>{D533A967-1B24-4C1F-A5BD-666CA7F43D67}</a:tableStyleId>
              </a:tblPr>
              <a:tblGrid>
                <a:gridCol w="341425"/>
              </a:tblGrid>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3</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4</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2</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5</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3</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4</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5</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4</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4</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7</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3</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3</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3</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3</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2</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3</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2</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1</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1</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bl>
          </a:graphicData>
        </a:graphic>
      </p:graphicFrame>
      <p:pic>
        <p:nvPicPr>
          <p:cNvPr descr="C^{Deg}_i= \sum_i a_{ij}&#10;%6cd6edf0-7586-47ef-910d-6b14bf6d9364" id="630" name="Google Shape;630;p41"/>
          <p:cNvPicPr preferRelativeResize="0"/>
          <p:nvPr/>
        </p:nvPicPr>
        <p:blipFill>
          <a:blip r:embed="rId3">
            <a:alphaModFix/>
          </a:blip>
          <a:stretch>
            <a:fillRect/>
          </a:stretch>
        </p:blipFill>
        <p:spPr>
          <a:xfrm>
            <a:off x="44200" y="34300"/>
            <a:ext cx="1097280" cy="379828"/>
          </a:xfrm>
          <a:prstGeom prst="rect">
            <a:avLst/>
          </a:prstGeom>
          <a:noFill/>
          <a:ln>
            <a:noFill/>
          </a:ln>
        </p:spPr>
      </p:pic>
      <p:sp>
        <p:nvSpPr>
          <p:cNvPr id="631" name="Google Shape;631;p41"/>
          <p:cNvSpPr/>
          <p:nvPr/>
        </p:nvSpPr>
        <p:spPr>
          <a:xfrm>
            <a:off x="-44450" y="742950"/>
            <a:ext cx="4141800" cy="10347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We can obtain the degree centrality of each node by summing up the rows of the adjacency matrix!</a:t>
            </a:r>
            <a:endParaRPr b="1">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42"/>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637" name="Google Shape;637;p42"/>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638" name="Google Shape;638;p42"/>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639" name="Google Shape;639;p42"/>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640" name="Google Shape;640;p42"/>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641" name="Google Shape;641;p42"/>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642" name="Google Shape;642;p42"/>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643" name="Google Shape;643;p42"/>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644" name="Google Shape;644;p42"/>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645" name="Google Shape;645;p42"/>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646" name="Google Shape;646;p42"/>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647" name="Google Shape;647;p42"/>
          <p:cNvSpPr/>
          <p:nvPr/>
        </p:nvSpPr>
        <p:spPr>
          <a:xfrm>
            <a:off x="6089488"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648" name="Google Shape;648;p42"/>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649" name="Google Shape;649;p42"/>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650" name="Google Shape;650;p42"/>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651" name="Google Shape;651;p42"/>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652" name="Google Shape;652;p42"/>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653" name="Google Shape;653;p42"/>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654" name="Google Shape;654;p42"/>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655" name="Google Shape;655;p42"/>
          <p:cNvCxnSpPr>
            <a:stCxn id="654" idx="2"/>
            <a:endCxn id="653"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656" name="Google Shape;656;p42"/>
          <p:cNvCxnSpPr>
            <a:stCxn id="652" idx="0"/>
            <a:endCxn id="653"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657" name="Google Shape;657;p42"/>
          <p:cNvCxnSpPr>
            <a:stCxn id="651" idx="2"/>
            <a:endCxn id="652"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658" name="Google Shape;658;p42"/>
          <p:cNvCxnSpPr>
            <a:stCxn id="651" idx="2"/>
            <a:endCxn id="647" idx="6"/>
          </p:cNvCxnSpPr>
          <p:nvPr/>
        </p:nvCxnSpPr>
        <p:spPr>
          <a:xfrm flipH="1">
            <a:off x="6630088" y="2929075"/>
            <a:ext cx="1675800" cy="686700"/>
          </a:xfrm>
          <a:prstGeom prst="straightConnector1">
            <a:avLst/>
          </a:prstGeom>
          <a:noFill/>
          <a:ln cap="flat" cmpd="sng" w="28575">
            <a:solidFill>
              <a:srgbClr val="0D5DDF"/>
            </a:solidFill>
            <a:prstDash val="solid"/>
            <a:round/>
            <a:headEnd len="med" w="med" type="none"/>
            <a:tailEnd len="med" w="med" type="none"/>
          </a:ln>
        </p:spPr>
      </p:cxnSp>
      <p:cxnSp>
        <p:nvCxnSpPr>
          <p:cNvPr id="659" name="Google Shape;659;p42"/>
          <p:cNvCxnSpPr>
            <a:stCxn id="651" idx="2"/>
            <a:endCxn id="650"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660" name="Google Shape;660;p42"/>
          <p:cNvCxnSpPr>
            <a:stCxn id="650" idx="2"/>
            <a:endCxn id="647" idx="6"/>
          </p:cNvCxnSpPr>
          <p:nvPr/>
        </p:nvCxnSpPr>
        <p:spPr>
          <a:xfrm rot="10800000">
            <a:off x="6630138" y="3615550"/>
            <a:ext cx="763800" cy="133500"/>
          </a:xfrm>
          <a:prstGeom prst="straightConnector1">
            <a:avLst/>
          </a:prstGeom>
          <a:noFill/>
          <a:ln cap="flat" cmpd="sng" w="28575">
            <a:solidFill>
              <a:srgbClr val="0D5DDF"/>
            </a:solidFill>
            <a:prstDash val="solid"/>
            <a:round/>
            <a:headEnd len="med" w="med" type="none"/>
            <a:tailEnd len="med" w="med" type="none"/>
          </a:ln>
        </p:spPr>
      </p:cxnSp>
      <p:cxnSp>
        <p:nvCxnSpPr>
          <p:cNvPr id="661" name="Google Shape;661;p42"/>
          <p:cNvCxnSpPr>
            <a:stCxn id="650" idx="1"/>
            <a:endCxn id="646"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662" name="Google Shape;662;p42"/>
          <p:cNvCxnSpPr>
            <a:stCxn id="649" idx="0"/>
            <a:endCxn id="647" idx="4"/>
          </p:cNvCxnSpPr>
          <p:nvPr/>
        </p:nvCxnSpPr>
        <p:spPr>
          <a:xfrm rot="10800000">
            <a:off x="6359913" y="3885475"/>
            <a:ext cx="746100" cy="539400"/>
          </a:xfrm>
          <a:prstGeom prst="straightConnector1">
            <a:avLst/>
          </a:prstGeom>
          <a:noFill/>
          <a:ln cap="flat" cmpd="sng" w="28575">
            <a:solidFill>
              <a:srgbClr val="0D5DDF"/>
            </a:solidFill>
            <a:prstDash val="solid"/>
            <a:round/>
            <a:headEnd len="med" w="med" type="none"/>
            <a:tailEnd len="med" w="med" type="none"/>
          </a:ln>
        </p:spPr>
      </p:cxnSp>
      <p:cxnSp>
        <p:nvCxnSpPr>
          <p:cNvPr id="663" name="Google Shape;663;p42"/>
          <p:cNvCxnSpPr>
            <a:stCxn id="648" idx="7"/>
            <a:endCxn id="647" idx="4"/>
          </p:cNvCxnSpPr>
          <p:nvPr/>
        </p:nvCxnSpPr>
        <p:spPr>
          <a:xfrm flipH="1" rot="10800000">
            <a:off x="5924918" y="3885318"/>
            <a:ext cx="435000" cy="510000"/>
          </a:xfrm>
          <a:prstGeom prst="straightConnector1">
            <a:avLst/>
          </a:prstGeom>
          <a:noFill/>
          <a:ln cap="flat" cmpd="sng" w="28575">
            <a:solidFill>
              <a:srgbClr val="0D5DDF"/>
            </a:solidFill>
            <a:prstDash val="solid"/>
            <a:round/>
            <a:headEnd len="med" w="med" type="none"/>
            <a:tailEnd len="med" w="med" type="none"/>
          </a:ln>
        </p:spPr>
      </p:cxnSp>
      <p:cxnSp>
        <p:nvCxnSpPr>
          <p:cNvPr id="664" name="Google Shape;664;p42"/>
          <p:cNvCxnSpPr>
            <a:stCxn id="649" idx="1"/>
            <a:endCxn id="648"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665" name="Google Shape;665;p42"/>
          <p:cNvCxnSpPr>
            <a:stCxn id="647" idx="2"/>
            <a:endCxn id="645" idx="6"/>
          </p:cNvCxnSpPr>
          <p:nvPr/>
        </p:nvCxnSpPr>
        <p:spPr>
          <a:xfrm rot="10800000">
            <a:off x="5463388" y="3615625"/>
            <a:ext cx="626100" cy="0"/>
          </a:xfrm>
          <a:prstGeom prst="straightConnector1">
            <a:avLst/>
          </a:prstGeom>
          <a:noFill/>
          <a:ln cap="flat" cmpd="sng" w="28575">
            <a:solidFill>
              <a:srgbClr val="0D5DDF"/>
            </a:solidFill>
            <a:prstDash val="solid"/>
            <a:round/>
            <a:headEnd len="med" w="med" type="none"/>
            <a:tailEnd len="med" w="med" type="none"/>
          </a:ln>
        </p:spPr>
      </p:cxnSp>
      <p:cxnSp>
        <p:nvCxnSpPr>
          <p:cNvPr id="666" name="Google Shape;666;p42"/>
          <p:cNvCxnSpPr>
            <a:stCxn id="648" idx="0"/>
            <a:endCxn id="645"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667" name="Google Shape;667;p42"/>
          <p:cNvCxnSpPr>
            <a:stCxn id="647" idx="0"/>
            <a:endCxn id="646" idx="5"/>
          </p:cNvCxnSpPr>
          <p:nvPr/>
        </p:nvCxnSpPr>
        <p:spPr>
          <a:xfrm rot="10800000">
            <a:off x="5924788" y="2839825"/>
            <a:ext cx="435000" cy="506100"/>
          </a:xfrm>
          <a:prstGeom prst="straightConnector1">
            <a:avLst/>
          </a:prstGeom>
          <a:noFill/>
          <a:ln cap="flat" cmpd="sng" w="28575">
            <a:solidFill>
              <a:srgbClr val="0D5DDF"/>
            </a:solidFill>
            <a:prstDash val="solid"/>
            <a:round/>
            <a:headEnd len="med" w="med" type="none"/>
            <a:tailEnd len="med" w="med" type="none"/>
          </a:ln>
        </p:spPr>
      </p:cxnSp>
      <p:cxnSp>
        <p:nvCxnSpPr>
          <p:cNvPr id="668" name="Google Shape;668;p42"/>
          <p:cNvCxnSpPr>
            <a:stCxn id="645" idx="7"/>
            <a:endCxn id="646"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669" name="Google Shape;669;p42"/>
          <p:cNvCxnSpPr>
            <a:stCxn id="645" idx="2"/>
            <a:endCxn id="643"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670" name="Google Shape;670;p42"/>
          <p:cNvCxnSpPr>
            <a:stCxn id="644" idx="0"/>
            <a:endCxn id="643"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671" name="Google Shape;671;p42"/>
          <p:cNvCxnSpPr>
            <a:stCxn id="643" idx="3"/>
            <a:endCxn id="642"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672" name="Google Shape;672;p42"/>
          <p:cNvCxnSpPr>
            <a:stCxn id="641" idx="5"/>
            <a:endCxn id="642"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673" name="Google Shape;673;p42"/>
          <p:cNvCxnSpPr>
            <a:stCxn id="638" idx="4"/>
            <a:endCxn id="641"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674" name="Google Shape;674;p42"/>
          <p:cNvCxnSpPr>
            <a:stCxn id="643" idx="1"/>
            <a:endCxn id="638"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675" name="Google Shape;675;p42"/>
          <p:cNvCxnSpPr>
            <a:stCxn id="641" idx="2"/>
            <a:endCxn id="640"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676" name="Google Shape;676;p42"/>
          <p:cNvCxnSpPr>
            <a:stCxn id="641" idx="0"/>
            <a:endCxn id="639"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677" name="Google Shape;677;p42"/>
          <p:cNvCxnSpPr>
            <a:stCxn id="639" idx="3"/>
            <a:endCxn id="640"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678" name="Google Shape;678;p42"/>
          <p:cNvCxnSpPr>
            <a:stCxn id="636" idx="4"/>
            <a:endCxn id="640"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679" name="Google Shape;679;p42"/>
          <p:cNvCxnSpPr>
            <a:stCxn id="637" idx="2"/>
            <a:endCxn id="636"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680" name="Google Shape;680;p42"/>
          <p:cNvCxnSpPr>
            <a:stCxn id="637" idx="3"/>
            <a:endCxn id="639"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681" name="Google Shape;681;p42"/>
          <p:cNvCxnSpPr>
            <a:stCxn id="638" idx="2"/>
            <a:endCxn id="636"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682" name="Google Shape;682;p42"/>
          <p:cNvCxnSpPr>
            <a:stCxn id="638" idx="1"/>
            <a:endCxn id="637"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683" name="Google Shape;683;p42"/>
          <p:cNvCxnSpPr>
            <a:stCxn id="638" idx="2"/>
            <a:endCxn id="639"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684" name="Google Shape;684;p42"/>
          <p:cNvCxnSpPr>
            <a:stCxn id="639" idx="1"/>
            <a:endCxn id="636"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685" name="Google Shape;685;p42"/>
          <p:cNvCxnSpPr>
            <a:stCxn id="647" idx="6"/>
            <a:endCxn id="652" idx="3"/>
          </p:cNvCxnSpPr>
          <p:nvPr/>
        </p:nvCxnSpPr>
        <p:spPr>
          <a:xfrm flipH="1" rot="10800000">
            <a:off x="6630088" y="2957725"/>
            <a:ext cx="555000" cy="657900"/>
          </a:xfrm>
          <a:prstGeom prst="straightConnector1">
            <a:avLst/>
          </a:prstGeom>
          <a:noFill/>
          <a:ln cap="flat" cmpd="sng" w="28575">
            <a:solidFill>
              <a:srgbClr val="0D5DDF"/>
            </a:solidFill>
            <a:prstDash val="solid"/>
            <a:round/>
            <a:headEnd len="med" w="med" type="none"/>
            <a:tailEnd len="med" w="med" type="none"/>
          </a:ln>
        </p:spPr>
      </p:cxnSp>
      <p:sp>
        <p:nvSpPr>
          <p:cNvPr id="686" name="Google Shape;686;p42"/>
          <p:cNvSpPr/>
          <p:nvPr/>
        </p:nvSpPr>
        <p:spPr>
          <a:xfrm>
            <a:off x="4217650" y="1001275"/>
            <a:ext cx="3117600" cy="8313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In this graph this node has the largest degree centrality!</a:t>
            </a:r>
            <a:endParaRPr b="1">
              <a:solidFill>
                <a:srgbClr val="FF0000"/>
              </a:solidFill>
            </a:endParaRPr>
          </a:p>
        </p:txBody>
      </p:sp>
      <p:cxnSp>
        <p:nvCxnSpPr>
          <p:cNvPr id="687" name="Google Shape;687;p42"/>
          <p:cNvCxnSpPr>
            <a:stCxn id="686" idx="4"/>
            <a:endCxn id="647" idx="0"/>
          </p:cNvCxnSpPr>
          <p:nvPr/>
        </p:nvCxnSpPr>
        <p:spPr>
          <a:xfrm>
            <a:off x="5776450" y="1832575"/>
            <a:ext cx="583200" cy="1513500"/>
          </a:xfrm>
          <a:prstGeom prst="straightConnector1">
            <a:avLst/>
          </a:prstGeom>
          <a:noFill/>
          <a:ln cap="flat" cmpd="sng" w="19050">
            <a:solidFill>
              <a:srgbClr val="FF0000"/>
            </a:solidFill>
            <a:prstDash val="solid"/>
            <a:round/>
            <a:headEnd len="med" w="med" type="none"/>
            <a:tailEnd len="med" w="med" type="triangle"/>
          </a:ln>
        </p:spPr>
      </p:cxnSp>
      <p:graphicFrame>
        <p:nvGraphicFramePr>
          <p:cNvPr id="688" name="Google Shape;688;p42"/>
          <p:cNvGraphicFramePr/>
          <p:nvPr/>
        </p:nvGraphicFramePr>
        <p:xfrm>
          <a:off x="892975" y="96100"/>
          <a:ext cx="3000000" cy="3000000"/>
        </p:xfrm>
        <a:graphic>
          <a:graphicData uri="http://schemas.openxmlformats.org/drawingml/2006/table">
            <a:tbl>
              <a:tblPr>
                <a:noFill/>
                <a:tableStyleId>{4D36BE5A-9069-42A2-BAD7-CD2C23C4D617}</a:tableStyleId>
              </a:tblPr>
              <a:tblGrid>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tblGrid>
              <a:tr h="381000">
                <a:tc>
                  <a:txBody>
                    <a:bodyPr/>
                    <a:lstStyle/>
                    <a:p>
                      <a:pPr indent="0" lvl="0" marL="0" rtl="0" algn="ctr">
                        <a:spcBef>
                          <a:spcPts val="0"/>
                        </a:spcBef>
                        <a:spcAft>
                          <a:spcPts val="0"/>
                        </a:spcAft>
                        <a:buNone/>
                      </a:pPr>
                      <a:r>
                        <a:rPr b="1" lang="en" sz="1600">
                          <a:latin typeface="Economica"/>
                          <a:ea typeface="Economica"/>
                          <a:cs typeface="Economica"/>
                          <a:sym typeface="Economica"/>
                        </a:rPr>
                        <a:t>a</a:t>
                      </a:r>
                      <a:endParaRPr b="1"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b</a:t>
                      </a:r>
                      <a:endParaRPr b="1"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c</a:t>
                      </a:r>
                      <a:endParaRPr b="1"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d</a:t>
                      </a:r>
                      <a:endParaRPr b="1"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e</a:t>
                      </a:r>
                      <a:endParaRPr b="1"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f</a:t>
                      </a:r>
                      <a:endParaRPr b="1"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g</a:t>
                      </a:r>
                      <a:endParaRPr b="1"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h</a:t>
                      </a:r>
                      <a:endParaRPr b="1"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i</a:t>
                      </a:r>
                      <a:endParaRPr b="1"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j</a:t>
                      </a:r>
                      <a:endParaRPr b="1" sz="1600">
                        <a:latin typeface="Economica"/>
                        <a:ea typeface="Economica"/>
                        <a:cs typeface="Economica"/>
                        <a:sym typeface="Economica"/>
                      </a:endParaRPr>
                    </a:p>
                  </a:txBody>
                  <a:tcPr marT="0" marB="0" marR="0" marL="0" anchor="ctr">
                    <a:solidFill>
                      <a:schemeClr val="accent5"/>
                    </a:solidFill>
                  </a:tcPr>
                </a:tc>
                <a:tc>
                  <a:txBody>
                    <a:bodyPr/>
                    <a:lstStyle/>
                    <a:p>
                      <a:pPr indent="0" lvl="0" marL="0" rtl="0" algn="ctr">
                        <a:spcBef>
                          <a:spcPts val="0"/>
                        </a:spcBef>
                        <a:spcAft>
                          <a:spcPts val="0"/>
                        </a:spcAft>
                        <a:buNone/>
                      </a:pPr>
                      <a:r>
                        <a:rPr b="1" lang="en" sz="1600">
                          <a:latin typeface="Economica"/>
                          <a:ea typeface="Economica"/>
                          <a:cs typeface="Economica"/>
                          <a:sym typeface="Economica"/>
                        </a:rPr>
                        <a:t>k</a:t>
                      </a:r>
                      <a:endParaRPr b="1"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l</a:t>
                      </a:r>
                      <a:endParaRPr b="1"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m</a:t>
                      </a:r>
                      <a:endParaRPr b="1"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n</a:t>
                      </a:r>
                      <a:endParaRPr b="1"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o</a:t>
                      </a:r>
                      <a:endParaRPr b="1"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p</a:t>
                      </a:r>
                      <a:endParaRPr b="1"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q</a:t>
                      </a:r>
                      <a:endParaRPr b="1"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r</a:t>
                      </a:r>
                      <a:endParaRPr b="1"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s</a:t>
                      </a:r>
                      <a:endParaRPr b="1" sz="1600">
                        <a:latin typeface="Economica"/>
                        <a:ea typeface="Economica"/>
                        <a:cs typeface="Economica"/>
                        <a:sym typeface="Economica"/>
                      </a:endParaRPr>
                    </a:p>
                  </a:txBody>
                  <a:tcPr marT="0" marB="0" marR="0" marL="0" anchor="ctr"/>
                </a:tc>
              </a:tr>
              <a:tr h="381000">
                <a:tc>
                  <a:txBody>
                    <a:bodyPr/>
                    <a:lstStyle/>
                    <a:p>
                      <a:pPr indent="0" lvl="0" marL="0" rtl="0" algn="ctr">
                        <a:spcBef>
                          <a:spcPts val="0"/>
                        </a:spcBef>
                        <a:spcAft>
                          <a:spcPts val="0"/>
                        </a:spcAft>
                        <a:buNone/>
                      </a:pPr>
                      <a:r>
                        <a:rPr lang="en" sz="1600">
                          <a:latin typeface="Economica"/>
                          <a:ea typeface="Economica"/>
                          <a:cs typeface="Economica"/>
                          <a:sym typeface="Economica"/>
                        </a:rPr>
                        <a:t>3</a:t>
                      </a:r>
                      <a:endParaRPr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lang="en" sz="1600">
                          <a:latin typeface="Economica"/>
                          <a:ea typeface="Economica"/>
                          <a:cs typeface="Economica"/>
                          <a:sym typeface="Economica"/>
                        </a:rPr>
                        <a:t>4</a:t>
                      </a:r>
                      <a:endParaRPr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lang="en" sz="1600">
                          <a:latin typeface="Economica"/>
                          <a:ea typeface="Economica"/>
                          <a:cs typeface="Economica"/>
                          <a:sym typeface="Economica"/>
                        </a:rPr>
                        <a:t>2</a:t>
                      </a:r>
                      <a:endParaRPr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lang="en" sz="1600">
                          <a:latin typeface="Economica"/>
                          <a:ea typeface="Economica"/>
                          <a:cs typeface="Economica"/>
                          <a:sym typeface="Economica"/>
                        </a:rPr>
                        <a:t>5</a:t>
                      </a:r>
                      <a:endParaRPr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lang="en" sz="1600">
                          <a:latin typeface="Economica"/>
                          <a:ea typeface="Economica"/>
                          <a:cs typeface="Economica"/>
                          <a:sym typeface="Economica"/>
                        </a:rPr>
                        <a:t>3</a:t>
                      </a:r>
                      <a:endParaRPr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lang="en" sz="1600">
                          <a:latin typeface="Economica"/>
                          <a:ea typeface="Economica"/>
                          <a:cs typeface="Economica"/>
                          <a:sym typeface="Economica"/>
                        </a:rPr>
                        <a:t>4</a:t>
                      </a:r>
                      <a:endParaRPr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lang="en" sz="1600">
                          <a:latin typeface="Economica"/>
                          <a:ea typeface="Economica"/>
                          <a:cs typeface="Economica"/>
                          <a:sym typeface="Economica"/>
                        </a:rPr>
                        <a:t>5</a:t>
                      </a:r>
                      <a:endParaRPr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lang="en" sz="1600">
                          <a:latin typeface="Economica"/>
                          <a:ea typeface="Economica"/>
                          <a:cs typeface="Economica"/>
                          <a:sym typeface="Economica"/>
                        </a:rPr>
                        <a:t>4</a:t>
                      </a:r>
                      <a:endParaRPr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lang="en" sz="1600">
                          <a:latin typeface="Economica"/>
                          <a:ea typeface="Economica"/>
                          <a:cs typeface="Economica"/>
                          <a:sym typeface="Economica"/>
                        </a:rPr>
                        <a:t>4</a:t>
                      </a:r>
                      <a:endParaRPr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7</a:t>
                      </a:r>
                      <a:endParaRPr b="1" sz="1600">
                        <a:latin typeface="Economica"/>
                        <a:ea typeface="Economica"/>
                        <a:cs typeface="Economica"/>
                        <a:sym typeface="Economica"/>
                      </a:endParaRPr>
                    </a:p>
                  </a:txBody>
                  <a:tcPr marT="0" marB="0" marR="0" marL="0" anchor="ctr">
                    <a:solidFill>
                      <a:schemeClr val="accent5"/>
                    </a:solidFill>
                  </a:tcPr>
                </a:tc>
                <a:tc>
                  <a:txBody>
                    <a:bodyPr/>
                    <a:lstStyle/>
                    <a:p>
                      <a:pPr indent="0" lvl="0" marL="0" rtl="0" algn="ctr">
                        <a:spcBef>
                          <a:spcPts val="0"/>
                        </a:spcBef>
                        <a:spcAft>
                          <a:spcPts val="0"/>
                        </a:spcAft>
                        <a:buNone/>
                      </a:pPr>
                      <a:r>
                        <a:rPr lang="en" sz="1600">
                          <a:latin typeface="Economica"/>
                          <a:ea typeface="Economica"/>
                          <a:cs typeface="Economica"/>
                          <a:sym typeface="Economica"/>
                        </a:rPr>
                        <a:t>3</a:t>
                      </a:r>
                      <a:endParaRPr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lang="en" sz="1600">
                          <a:latin typeface="Economica"/>
                          <a:ea typeface="Economica"/>
                          <a:cs typeface="Economica"/>
                          <a:sym typeface="Economica"/>
                        </a:rPr>
                        <a:t>3</a:t>
                      </a:r>
                      <a:endParaRPr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lang="en" sz="1600">
                          <a:latin typeface="Economica"/>
                          <a:ea typeface="Economica"/>
                          <a:cs typeface="Economica"/>
                          <a:sym typeface="Economica"/>
                        </a:rPr>
                        <a:t>3</a:t>
                      </a:r>
                      <a:endParaRPr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lang="en" sz="1600">
                          <a:latin typeface="Economica"/>
                          <a:ea typeface="Economica"/>
                          <a:cs typeface="Economica"/>
                          <a:sym typeface="Economica"/>
                        </a:rPr>
                        <a:t>3</a:t>
                      </a:r>
                      <a:endParaRPr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lang="en" sz="1600">
                          <a:latin typeface="Economica"/>
                          <a:ea typeface="Economica"/>
                          <a:cs typeface="Economica"/>
                          <a:sym typeface="Economica"/>
                        </a:rPr>
                        <a:t>2</a:t>
                      </a:r>
                      <a:endParaRPr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lang="en" sz="1600">
                          <a:latin typeface="Economica"/>
                          <a:ea typeface="Economica"/>
                          <a:cs typeface="Economica"/>
                          <a:sym typeface="Economica"/>
                        </a:rPr>
                        <a:t>3</a:t>
                      </a:r>
                      <a:endParaRPr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lang="en" sz="1600">
                          <a:latin typeface="Economica"/>
                          <a:ea typeface="Economica"/>
                          <a:cs typeface="Economica"/>
                          <a:sym typeface="Economica"/>
                        </a:rPr>
                        <a:t>2</a:t>
                      </a:r>
                      <a:endParaRPr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lang="en" sz="1600">
                          <a:latin typeface="Economica"/>
                          <a:ea typeface="Economica"/>
                          <a:cs typeface="Economica"/>
                          <a:sym typeface="Economica"/>
                        </a:rPr>
                        <a:t>1</a:t>
                      </a:r>
                      <a:endParaRPr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lang="en" sz="1600">
                          <a:latin typeface="Economica"/>
                          <a:ea typeface="Economica"/>
                          <a:cs typeface="Economica"/>
                          <a:sym typeface="Economica"/>
                        </a:rPr>
                        <a:t>1</a:t>
                      </a:r>
                      <a:endParaRPr sz="1600">
                        <a:latin typeface="Economica"/>
                        <a:ea typeface="Economica"/>
                        <a:cs typeface="Economica"/>
                        <a:sym typeface="Economica"/>
                      </a:endParaRPr>
                    </a:p>
                  </a:txBody>
                  <a:tcPr marT="0" marB="0" marR="0" marL="0" anchor="ct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cxnSp>
        <p:nvCxnSpPr>
          <p:cNvPr id="693" name="Google Shape;693;p43"/>
          <p:cNvCxnSpPr>
            <a:stCxn id="694" idx="4"/>
            <a:endCxn id="695"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sp>
        <p:nvSpPr>
          <p:cNvPr id="696" name="Google Shape;696;p43"/>
          <p:cNvSpPr/>
          <p:nvPr/>
        </p:nvSpPr>
        <p:spPr>
          <a:xfrm>
            <a:off x="4217650" y="1001275"/>
            <a:ext cx="3117600" cy="8313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And here’s the final centrality ranking by degree!</a:t>
            </a:r>
            <a:endParaRPr b="1">
              <a:solidFill>
                <a:srgbClr val="FF0000"/>
              </a:solidFill>
            </a:endParaRPr>
          </a:p>
        </p:txBody>
      </p:sp>
      <p:graphicFrame>
        <p:nvGraphicFramePr>
          <p:cNvPr id="697" name="Google Shape;697;p43"/>
          <p:cNvGraphicFramePr/>
          <p:nvPr/>
        </p:nvGraphicFramePr>
        <p:xfrm>
          <a:off x="68550" y="38100"/>
          <a:ext cx="3000000" cy="3000000"/>
        </p:xfrm>
        <a:graphic>
          <a:graphicData uri="http://schemas.openxmlformats.org/drawingml/2006/table">
            <a:tbl>
              <a:tblPr>
                <a:noFill/>
                <a:tableStyleId>{D533A967-1B24-4C1F-A5BD-666CA7F43D67}</a:tableStyleId>
              </a:tblPr>
              <a:tblGrid>
                <a:gridCol w="952500"/>
                <a:gridCol w="952500"/>
              </a:tblGrid>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j</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7</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d</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5</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g</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5</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b</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4</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f</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4</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h</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4</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i</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4</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a</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e</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k</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l</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m</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n</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p</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c</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2</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o</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2</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q</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2</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r</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1</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s</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1</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bl>
          </a:graphicData>
        </a:graphic>
      </p:graphicFrame>
      <p:sp>
        <p:nvSpPr>
          <p:cNvPr id="698" name="Google Shape;698;p43"/>
          <p:cNvSpPr/>
          <p:nvPr/>
        </p:nvSpPr>
        <p:spPr>
          <a:xfrm>
            <a:off x="2679118" y="249504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699" name="Google Shape;699;p43"/>
          <p:cNvSpPr/>
          <p:nvPr/>
        </p:nvSpPr>
        <p:spPr>
          <a:xfrm>
            <a:off x="3997741" y="213291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700" name="Google Shape;700;p43"/>
          <p:cNvSpPr/>
          <p:nvPr/>
        </p:nvSpPr>
        <p:spPr>
          <a:xfrm>
            <a:off x="4675835" y="2746825"/>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701" name="Google Shape;701;p43"/>
          <p:cNvSpPr/>
          <p:nvPr/>
        </p:nvSpPr>
        <p:spPr>
          <a:xfrm>
            <a:off x="3475040" y="3091285"/>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702" name="Google Shape;702;p43"/>
          <p:cNvSpPr/>
          <p:nvPr/>
        </p:nvSpPr>
        <p:spPr>
          <a:xfrm>
            <a:off x="2642488" y="362926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703" name="Google Shape;703;p43"/>
          <p:cNvSpPr/>
          <p:nvPr/>
        </p:nvSpPr>
        <p:spPr>
          <a:xfrm>
            <a:off x="3834298" y="375011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704" name="Google Shape;704;p43"/>
          <p:cNvSpPr/>
          <p:nvPr/>
        </p:nvSpPr>
        <p:spPr>
          <a:xfrm>
            <a:off x="4239049" y="4472340"/>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705" name="Google Shape;705;p43"/>
          <p:cNvSpPr/>
          <p:nvPr/>
        </p:nvSpPr>
        <p:spPr>
          <a:xfrm>
            <a:off x="5112584"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706" name="Google Shape;706;p43"/>
          <p:cNvSpPr/>
          <p:nvPr/>
        </p:nvSpPr>
        <p:spPr>
          <a:xfrm>
            <a:off x="5314997" y="4472340"/>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707" name="Google Shape;707;p43"/>
          <p:cNvSpPr/>
          <p:nvPr/>
        </p:nvSpPr>
        <p:spPr>
          <a:xfrm>
            <a:off x="6105538"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708" name="Google Shape;708;p43"/>
          <p:cNvSpPr/>
          <p:nvPr/>
        </p:nvSpPr>
        <p:spPr>
          <a:xfrm>
            <a:off x="6510289" y="285277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709" name="Google Shape;709;p43"/>
          <p:cNvSpPr/>
          <p:nvPr/>
        </p:nvSpPr>
        <p:spPr>
          <a:xfrm>
            <a:off x="6978980" y="3575632"/>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710" name="Google Shape;710;p43"/>
          <p:cNvSpPr/>
          <p:nvPr/>
        </p:nvSpPr>
        <p:spPr>
          <a:xfrm>
            <a:off x="6510289" y="430140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711" name="Google Shape;711;p43"/>
          <p:cNvSpPr/>
          <p:nvPr/>
        </p:nvSpPr>
        <p:spPr>
          <a:xfrm>
            <a:off x="7537684" y="4382591"/>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712" name="Google Shape;712;p43"/>
          <p:cNvSpPr/>
          <p:nvPr/>
        </p:nvSpPr>
        <p:spPr>
          <a:xfrm>
            <a:off x="7955631" y="367542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713" name="Google Shape;713;p43"/>
          <p:cNvSpPr/>
          <p:nvPr/>
        </p:nvSpPr>
        <p:spPr>
          <a:xfrm>
            <a:off x="8638414" y="3062154"/>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714" name="Google Shape;714;p43"/>
          <p:cNvSpPr/>
          <p:nvPr/>
        </p:nvSpPr>
        <p:spPr>
          <a:xfrm>
            <a:off x="7740059" y="2940973"/>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715" name="Google Shape;715;p43"/>
          <p:cNvSpPr/>
          <p:nvPr/>
        </p:nvSpPr>
        <p:spPr>
          <a:xfrm>
            <a:off x="7808697" y="2206525"/>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716" name="Google Shape;716;p43"/>
          <p:cNvSpPr/>
          <p:nvPr/>
        </p:nvSpPr>
        <p:spPr>
          <a:xfrm>
            <a:off x="8638414" y="1931200"/>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717" name="Google Shape;717;p43"/>
          <p:cNvCxnSpPr>
            <a:stCxn id="716" idx="2"/>
            <a:endCxn id="715" idx="7"/>
          </p:cNvCxnSpPr>
          <p:nvPr/>
        </p:nvCxnSpPr>
        <p:spPr>
          <a:xfrm flipH="1">
            <a:off x="8154514" y="2132800"/>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718" name="Google Shape;718;p43"/>
          <p:cNvCxnSpPr>
            <a:stCxn id="714" idx="0"/>
            <a:endCxn id="715" idx="4"/>
          </p:cNvCxnSpPr>
          <p:nvPr/>
        </p:nvCxnSpPr>
        <p:spPr>
          <a:xfrm flipH="1" rot="10800000">
            <a:off x="7942559" y="2609773"/>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719" name="Google Shape;719;p43"/>
          <p:cNvCxnSpPr>
            <a:stCxn id="713" idx="2"/>
            <a:endCxn id="714" idx="6"/>
          </p:cNvCxnSpPr>
          <p:nvPr/>
        </p:nvCxnSpPr>
        <p:spPr>
          <a:xfrm rot="10800000">
            <a:off x="8144914" y="3142554"/>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720" name="Google Shape;720;p43"/>
          <p:cNvCxnSpPr>
            <a:stCxn id="713" idx="2"/>
            <a:endCxn id="709" idx="6"/>
          </p:cNvCxnSpPr>
          <p:nvPr/>
        </p:nvCxnSpPr>
        <p:spPr>
          <a:xfrm flipH="1">
            <a:off x="7384114" y="3263754"/>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721" name="Google Shape;721;p43"/>
          <p:cNvCxnSpPr>
            <a:stCxn id="713" idx="2"/>
            <a:endCxn id="712" idx="7"/>
          </p:cNvCxnSpPr>
          <p:nvPr/>
        </p:nvCxnSpPr>
        <p:spPr>
          <a:xfrm flipH="1">
            <a:off x="8301214" y="3263754"/>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722" name="Google Shape;722;p43"/>
          <p:cNvCxnSpPr>
            <a:stCxn id="712" idx="2"/>
            <a:endCxn id="709" idx="6"/>
          </p:cNvCxnSpPr>
          <p:nvPr/>
        </p:nvCxnSpPr>
        <p:spPr>
          <a:xfrm rot="10800000">
            <a:off x="7383831" y="3777122"/>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723" name="Google Shape;723;p43"/>
          <p:cNvCxnSpPr>
            <a:stCxn id="712" idx="1"/>
            <a:endCxn id="708" idx="5"/>
          </p:cNvCxnSpPr>
          <p:nvPr/>
        </p:nvCxnSpPr>
        <p:spPr>
          <a:xfrm rot="10800000">
            <a:off x="6856042" y="3196869"/>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724" name="Google Shape;724;p43"/>
          <p:cNvCxnSpPr>
            <a:stCxn id="711" idx="0"/>
            <a:endCxn id="709" idx="4"/>
          </p:cNvCxnSpPr>
          <p:nvPr/>
        </p:nvCxnSpPr>
        <p:spPr>
          <a:xfrm rot="10800000">
            <a:off x="7181584" y="3978791"/>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725" name="Google Shape;725;p43"/>
          <p:cNvCxnSpPr>
            <a:stCxn id="710" idx="7"/>
            <a:endCxn id="709" idx="4"/>
          </p:cNvCxnSpPr>
          <p:nvPr/>
        </p:nvCxnSpPr>
        <p:spPr>
          <a:xfrm flipH="1" rot="10800000">
            <a:off x="6855978" y="3978852"/>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726" name="Google Shape;726;p43"/>
          <p:cNvCxnSpPr>
            <a:stCxn id="711" idx="1"/>
            <a:endCxn id="710" idx="6"/>
          </p:cNvCxnSpPr>
          <p:nvPr/>
        </p:nvCxnSpPr>
        <p:spPr>
          <a:xfrm flipH="1">
            <a:off x="6915395" y="4441638"/>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727" name="Google Shape;727;p43"/>
          <p:cNvCxnSpPr>
            <a:stCxn id="709" idx="2"/>
            <a:endCxn id="707" idx="6"/>
          </p:cNvCxnSpPr>
          <p:nvPr/>
        </p:nvCxnSpPr>
        <p:spPr>
          <a:xfrm rot="10800000">
            <a:off x="6510680" y="3777232"/>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728" name="Google Shape;728;p43"/>
          <p:cNvCxnSpPr>
            <a:stCxn id="710" idx="0"/>
            <a:endCxn id="707" idx="5"/>
          </p:cNvCxnSpPr>
          <p:nvPr/>
        </p:nvCxnSpPr>
        <p:spPr>
          <a:xfrm rot="10800000">
            <a:off x="6451189" y="3919805"/>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729" name="Google Shape;729;p43"/>
          <p:cNvCxnSpPr>
            <a:stCxn id="709" idx="0"/>
            <a:endCxn id="708" idx="5"/>
          </p:cNvCxnSpPr>
          <p:nvPr/>
        </p:nvCxnSpPr>
        <p:spPr>
          <a:xfrm rot="10800000">
            <a:off x="6855980" y="3197032"/>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730" name="Google Shape;730;p43"/>
          <p:cNvCxnSpPr>
            <a:stCxn id="707" idx="7"/>
            <a:endCxn id="708" idx="4"/>
          </p:cNvCxnSpPr>
          <p:nvPr/>
        </p:nvCxnSpPr>
        <p:spPr>
          <a:xfrm flipH="1" rot="10800000">
            <a:off x="6451227" y="3256079"/>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731" name="Google Shape;731;p43"/>
          <p:cNvCxnSpPr>
            <a:stCxn id="707" idx="2"/>
            <a:endCxn id="705" idx="6"/>
          </p:cNvCxnSpPr>
          <p:nvPr/>
        </p:nvCxnSpPr>
        <p:spPr>
          <a:xfrm rot="10800000">
            <a:off x="5517538" y="3777232"/>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732" name="Google Shape;732;p43"/>
          <p:cNvCxnSpPr>
            <a:stCxn id="706" idx="0"/>
            <a:endCxn id="705" idx="4"/>
          </p:cNvCxnSpPr>
          <p:nvPr/>
        </p:nvCxnSpPr>
        <p:spPr>
          <a:xfrm rot="10800000">
            <a:off x="5314997" y="3978840"/>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733" name="Google Shape;733;p43"/>
          <p:cNvCxnSpPr>
            <a:stCxn id="705" idx="3"/>
            <a:endCxn id="704" idx="7"/>
          </p:cNvCxnSpPr>
          <p:nvPr/>
        </p:nvCxnSpPr>
        <p:spPr>
          <a:xfrm flipH="1">
            <a:off x="4584795" y="3919785"/>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734" name="Google Shape;734;p43"/>
          <p:cNvCxnSpPr>
            <a:stCxn id="703" idx="5"/>
            <a:endCxn id="704" idx="0"/>
          </p:cNvCxnSpPr>
          <p:nvPr/>
        </p:nvCxnSpPr>
        <p:spPr>
          <a:xfrm>
            <a:off x="4179987" y="4094263"/>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735" name="Google Shape;735;p43"/>
          <p:cNvCxnSpPr>
            <a:stCxn id="700" idx="4"/>
            <a:endCxn id="703" idx="7"/>
          </p:cNvCxnSpPr>
          <p:nvPr/>
        </p:nvCxnSpPr>
        <p:spPr>
          <a:xfrm flipH="1">
            <a:off x="4179935" y="3150025"/>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736" name="Google Shape;736;p43"/>
          <p:cNvCxnSpPr>
            <a:stCxn id="705" idx="1"/>
            <a:endCxn id="700" idx="4"/>
          </p:cNvCxnSpPr>
          <p:nvPr/>
        </p:nvCxnSpPr>
        <p:spPr>
          <a:xfrm rot="10800000">
            <a:off x="4878195" y="3149879"/>
            <a:ext cx="293700" cy="484800"/>
          </a:xfrm>
          <a:prstGeom prst="straightConnector1">
            <a:avLst/>
          </a:prstGeom>
          <a:noFill/>
          <a:ln cap="flat" cmpd="sng" w="28575">
            <a:solidFill>
              <a:schemeClr val="dk2"/>
            </a:solidFill>
            <a:prstDash val="solid"/>
            <a:round/>
            <a:headEnd len="med" w="med" type="none"/>
            <a:tailEnd len="med" w="med" type="none"/>
          </a:ln>
        </p:spPr>
      </p:cxnSp>
      <p:cxnSp>
        <p:nvCxnSpPr>
          <p:cNvPr id="737" name="Google Shape;737;p43"/>
          <p:cNvCxnSpPr>
            <a:stCxn id="703" idx="2"/>
            <a:endCxn id="702" idx="6"/>
          </p:cNvCxnSpPr>
          <p:nvPr/>
        </p:nvCxnSpPr>
        <p:spPr>
          <a:xfrm rot="10800000">
            <a:off x="3047398" y="3830810"/>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738" name="Google Shape;738;p43"/>
          <p:cNvCxnSpPr>
            <a:stCxn id="703" idx="0"/>
            <a:endCxn id="701" idx="4"/>
          </p:cNvCxnSpPr>
          <p:nvPr/>
        </p:nvCxnSpPr>
        <p:spPr>
          <a:xfrm rot="10800000">
            <a:off x="3677398" y="3494510"/>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739" name="Google Shape;739;p43"/>
          <p:cNvCxnSpPr>
            <a:stCxn id="701" idx="3"/>
            <a:endCxn id="702" idx="7"/>
          </p:cNvCxnSpPr>
          <p:nvPr/>
        </p:nvCxnSpPr>
        <p:spPr>
          <a:xfrm flipH="1">
            <a:off x="2988051" y="3435438"/>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740" name="Google Shape;740;p43"/>
          <p:cNvCxnSpPr>
            <a:stCxn id="698" idx="4"/>
            <a:endCxn id="702" idx="0"/>
          </p:cNvCxnSpPr>
          <p:nvPr/>
        </p:nvCxnSpPr>
        <p:spPr>
          <a:xfrm flipH="1">
            <a:off x="2845018" y="2898241"/>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741" name="Google Shape;741;p43"/>
          <p:cNvCxnSpPr>
            <a:stCxn id="699" idx="2"/>
            <a:endCxn id="698" idx="6"/>
          </p:cNvCxnSpPr>
          <p:nvPr/>
        </p:nvCxnSpPr>
        <p:spPr>
          <a:xfrm flipH="1">
            <a:off x="3084241" y="2334512"/>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742" name="Google Shape;742;p43"/>
          <p:cNvCxnSpPr>
            <a:stCxn id="699" idx="3"/>
            <a:endCxn id="701" idx="0"/>
          </p:cNvCxnSpPr>
          <p:nvPr/>
        </p:nvCxnSpPr>
        <p:spPr>
          <a:xfrm flipH="1">
            <a:off x="3677552" y="2477064"/>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743" name="Google Shape;743;p43"/>
          <p:cNvCxnSpPr>
            <a:stCxn id="700" idx="2"/>
            <a:endCxn id="698" idx="6"/>
          </p:cNvCxnSpPr>
          <p:nvPr/>
        </p:nvCxnSpPr>
        <p:spPr>
          <a:xfrm rot="10800000">
            <a:off x="3084035" y="2696725"/>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744" name="Google Shape;744;p43"/>
          <p:cNvCxnSpPr>
            <a:stCxn id="700" idx="1"/>
            <a:endCxn id="699" idx="5"/>
          </p:cNvCxnSpPr>
          <p:nvPr/>
        </p:nvCxnSpPr>
        <p:spPr>
          <a:xfrm rot="10800000">
            <a:off x="4343346" y="2477072"/>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745" name="Google Shape;745;p43"/>
          <p:cNvCxnSpPr>
            <a:stCxn id="700" idx="2"/>
            <a:endCxn id="701" idx="7"/>
          </p:cNvCxnSpPr>
          <p:nvPr/>
        </p:nvCxnSpPr>
        <p:spPr>
          <a:xfrm flipH="1">
            <a:off x="3820835" y="2948425"/>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746" name="Google Shape;746;p43"/>
          <p:cNvCxnSpPr>
            <a:stCxn id="701" idx="1"/>
            <a:endCxn id="698" idx="5"/>
          </p:cNvCxnSpPr>
          <p:nvPr/>
        </p:nvCxnSpPr>
        <p:spPr>
          <a:xfrm rot="10800000">
            <a:off x="3024951" y="2839232"/>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747" name="Google Shape;747;p43"/>
          <p:cNvCxnSpPr>
            <a:stCxn id="709" idx="6"/>
            <a:endCxn id="714" idx="3"/>
          </p:cNvCxnSpPr>
          <p:nvPr/>
        </p:nvCxnSpPr>
        <p:spPr>
          <a:xfrm flipH="1" rot="10800000">
            <a:off x="7383980" y="3285232"/>
            <a:ext cx="415500" cy="4920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4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Normalized</a:t>
            </a:r>
            <a:r>
              <a:rPr lang="en"/>
              <a:t> Degree Centrality</a:t>
            </a:r>
            <a:r>
              <a:rPr lang="en"/>
              <a:t> </a:t>
            </a:r>
            <a:endParaRPr/>
          </a:p>
        </p:txBody>
      </p:sp>
      <p:sp>
        <p:nvSpPr>
          <p:cNvPr id="753" name="Google Shape;753;p44"/>
          <p:cNvSpPr txBox="1"/>
          <p:nvPr>
            <p:ph idx="1" type="body"/>
          </p:nvPr>
        </p:nvSpPr>
        <p:spPr>
          <a:xfrm>
            <a:off x="311700" y="1225225"/>
            <a:ext cx="2330700" cy="3479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a:t>
            </a:r>
            <a:r>
              <a:rPr lang="en"/>
              <a:t>he degree centrality of each node divided by the order of the graph minus one</a:t>
            </a:r>
            <a:endParaRPr/>
          </a:p>
          <a:p>
            <a:pPr indent="0" lvl="0" marL="457200" rtl="0" algn="l">
              <a:spcBef>
                <a:spcPts val="0"/>
              </a:spcBef>
              <a:spcAft>
                <a:spcPts val="0"/>
              </a:spcAft>
              <a:buNone/>
            </a:pPr>
            <a:r>
              <a:t/>
            </a:r>
            <a:endParaRPr/>
          </a:p>
          <a:p>
            <a:pPr indent="0" lvl="0" marL="914400" rtl="0" algn="l">
              <a:spcBef>
                <a:spcPts val="0"/>
              </a:spcBef>
              <a:spcAft>
                <a:spcPts val="0"/>
              </a:spcAft>
              <a:buNone/>
            </a:pPr>
            <a:r>
              <a:t/>
            </a:r>
            <a:endParaRPr/>
          </a:p>
        </p:txBody>
      </p:sp>
      <p:sp>
        <p:nvSpPr>
          <p:cNvPr id="754" name="Google Shape;754;p44"/>
          <p:cNvSpPr/>
          <p:nvPr/>
        </p:nvSpPr>
        <p:spPr>
          <a:xfrm>
            <a:off x="2679118" y="249504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755" name="Google Shape;755;p44"/>
          <p:cNvSpPr/>
          <p:nvPr/>
        </p:nvSpPr>
        <p:spPr>
          <a:xfrm>
            <a:off x="3997741" y="213291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756" name="Google Shape;756;p44"/>
          <p:cNvSpPr/>
          <p:nvPr/>
        </p:nvSpPr>
        <p:spPr>
          <a:xfrm>
            <a:off x="4675835" y="274682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757" name="Google Shape;757;p44"/>
          <p:cNvSpPr/>
          <p:nvPr/>
        </p:nvSpPr>
        <p:spPr>
          <a:xfrm>
            <a:off x="3475040" y="309128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758" name="Google Shape;758;p44"/>
          <p:cNvSpPr/>
          <p:nvPr/>
        </p:nvSpPr>
        <p:spPr>
          <a:xfrm>
            <a:off x="2642488" y="362926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759" name="Google Shape;759;p44"/>
          <p:cNvSpPr/>
          <p:nvPr/>
        </p:nvSpPr>
        <p:spPr>
          <a:xfrm>
            <a:off x="3834298" y="375011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760" name="Google Shape;760;p44"/>
          <p:cNvSpPr/>
          <p:nvPr/>
        </p:nvSpPr>
        <p:spPr>
          <a:xfrm>
            <a:off x="4239049" y="447234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761" name="Google Shape;761;p44"/>
          <p:cNvSpPr/>
          <p:nvPr/>
        </p:nvSpPr>
        <p:spPr>
          <a:xfrm>
            <a:off x="5112584"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762" name="Google Shape;762;p44"/>
          <p:cNvSpPr/>
          <p:nvPr/>
        </p:nvSpPr>
        <p:spPr>
          <a:xfrm>
            <a:off x="5314997" y="447234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763" name="Google Shape;763;p44"/>
          <p:cNvSpPr/>
          <p:nvPr/>
        </p:nvSpPr>
        <p:spPr>
          <a:xfrm>
            <a:off x="6105538"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764" name="Google Shape;764;p44"/>
          <p:cNvSpPr/>
          <p:nvPr/>
        </p:nvSpPr>
        <p:spPr>
          <a:xfrm>
            <a:off x="6510289" y="285277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765" name="Google Shape;765;p44"/>
          <p:cNvSpPr/>
          <p:nvPr/>
        </p:nvSpPr>
        <p:spPr>
          <a:xfrm>
            <a:off x="6978980"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766" name="Google Shape;766;p44"/>
          <p:cNvSpPr/>
          <p:nvPr/>
        </p:nvSpPr>
        <p:spPr>
          <a:xfrm>
            <a:off x="6510289" y="430140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767" name="Google Shape;767;p44"/>
          <p:cNvSpPr/>
          <p:nvPr/>
        </p:nvSpPr>
        <p:spPr>
          <a:xfrm>
            <a:off x="7537684" y="438259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768" name="Google Shape;768;p44"/>
          <p:cNvSpPr/>
          <p:nvPr/>
        </p:nvSpPr>
        <p:spPr>
          <a:xfrm>
            <a:off x="7955631" y="367542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769" name="Google Shape;769;p44"/>
          <p:cNvSpPr/>
          <p:nvPr/>
        </p:nvSpPr>
        <p:spPr>
          <a:xfrm>
            <a:off x="8638414" y="3062154"/>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770" name="Google Shape;770;p44"/>
          <p:cNvSpPr/>
          <p:nvPr/>
        </p:nvSpPr>
        <p:spPr>
          <a:xfrm>
            <a:off x="7740059" y="2940973"/>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771" name="Google Shape;771;p44"/>
          <p:cNvSpPr/>
          <p:nvPr/>
        </p:nvSpPr>
        <p:spPr>
          <a:xfrm>
            <a:off x="7808697" y="220652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772" name="Google Shape;772;p44"/>
          <p:cNvSpPr/>
          <p:nvPr/>
        </p:nvSpPr>
        <p:spPr>
          <a:xfrm>
            <a:off x="8638414" y="1931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773" name="Google Shape;773;p44"/>
          <p:cNvCxnSpPr>
            <a:stCxn id="772" idx="2"/>
            <a:endCxn id="771" idx="7"/>
          </p:cNvCxnSpPr>
          <p:nvPr/>
        </p:nvCxnSpPr>
        <p:spPr>
          <a:xfrm flipH="1">
            <a:off x="8154514" y="2132800"/>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774" name="Google Shape;774;p44"/>
          <p:cNvCxnSpPr>
            <a:stCxn id="770" idx="0"/>
            <a:endCxn id="771" idx="4"/>
          </p:cNvCxnSpPr>
          <p:nvPr/>
        </p:nvCxnSpPr>
        <p:spPr>
          <a:xfrm flipH="1" rot="10800000">
            <a:off x="7942559" y="2609773"/>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775" name="Google Shape;775;p44"/>
          <p:cNvCxnSpPr>
            <a:stCxn id="769" idx="2"/>
            <a:endCxn id="770" idx="6"/>
          </p:cNvCxnSpPr>
          <p:nvPr/>
        </p:nvCxnSpPr>
        <p:spPr>
          <a:xfrm rot="10800000">
            <a:off x="8144914" y="3142554"/>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776" name="Google Shape;776;p44"/>
          <p:cNvCxnSpPr>
            <a:stCxn id="769" idx="2"/>
            <a:endCxn id="765" idx="6"/>
          </p:cNvCxnSpPr>
          <p:nvPr/>
        </p:nvCxnSpPr>
        <p:spPr>
          <a:xfrm flipH="1">
            <a:off x="7384114" y="3263754"/>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777" name="Google Shape;777;p44"/>
          <p:cNvCxnSpPr>
            <a:stCxn id="769" idx="2"/>
            <a:endCxn id="768" idx="7"/>
          </p:cNvCxnSpPr>
          <p:nvPr/>
        </p:nvCxnSpPr>
        <p:spPr>
          <a:xfrm flipH="1">
            <a:off x="8301214" y="3263754"/>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778" name="Google Shape;778;p44"/>
          <p:cNvCxnSpPr>
            <a:stCxn id="768" idx="2"/>
            <a:endCxn id="765" idx="6"/>
          </p:cNvCxnSpPr>
          <p:nvPr/>
        </p:nvCxnSpPr>
        <p:spPr>
          <a:xfrm rot="10800000">
            <a:off x="7383831" y="3777122"/>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779" name="Google Shape;779;p44"/>
          <p:cNvCxnSpPr>
            <a:stCxn id="768" idx="1"/>
            <a:endCxn id="764" idx="5"/>
          </p:cNvCxnSpPr>
          <p:nvPr/>
        </p:nvCxnSpPr>
        <p:spPr>
          <a:xfrm rot="10800000">
            <a:off x="6856042" y="3196869"/>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780" name="Google Shape;780;p44"/>
          <p:cNvCxnSpPr>
            <a:stCxn id="767" idx="0"/>
            <a:endCxn id="765" idx="4"/>
          </p:cNvCxnSpPr>
          <p:nvPr/>
        </p:nvCxnSpPr>
        <p:spPr>
          <a:xfrm rot="10800000">
            <a:off x="7181584" y="3978791"/>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781" name="Google Shape;781;p44"/>
          <p:cNvCxnSpPr>
            <a:stCxn id="766" idx="7"/>
            <a:endCxn id="765" idx="4"/>
          </p:cNvCxnSpPr>
          <p:nvPr/>
        </p:nvCxnSpPr>
        <p:spPr>
          <a:xfrm flipH="1" rot="10800000">
            <a:off x="6855978" y="3978852"/>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782" name="Google Shape;782;p44"/>
          <p:cNvCxnSpPr>
            <a:stCxn id="767" idx="1"/>
            <a:endCxn id="766" idx="6"/>
          </p:cNvCxnSpPr>
          <p:nvPr/>
        </p:nvCxnSpPr>
        <p:spPr>
          <a:xfrm flipH="1">
            <a:off x="6915395" y="4441638"/>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783" name="Google Shape;783;p44"/>
          <p:cNvCxnSpPr>
            <a:stCxn id="765" idx="2"/>
            <a:endCxn id="763" idx="6"/>
          </p:cNvCxnSpPr>
          <p:nvPr/>
        </p:nvCxnSpPr>
        <p:spPr>
          <a:xfrm rot="10800000">
            <a:off x="6510680" y="3777232"/>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784" name="Google Shape;784;p44"/>
          <p:cNvCxnSpPr>
            <a:stCxn id="766" idx="0"/>
            <a:endCxn id="763" idx="5"/>
          </p:cNvCxnSpPr>
          <p:nvPr/>
        </p:nvCxnSpPr>
        <p:spPr>
          <a:xfrm rot="10800000">
            <a:off x="6451189" y="3919805"/>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785" name="Google Shape;785;p44"/>
          <p:cNvCxnSpPr>
            <a:stCxn id="765" idx="0"/>
            <a:endCxn id="764" idx="5"/>
          </p:cNvCxnSpPr>
          <p:nvPr/>
        </p:nvCxnSpPr>
        <p:spPr>
          <a:xfrm rot="10800000">
            <a:off x="6855980" y="3197032"/>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786" name="Google Shape;786;p44"/>
          <p:cNvCxnSpPr>
            <a:stCxn id="763" idx="7"/>
            <a:endCxn id="764" idx="4"/>
          </p:cNvCxnSpPr>
          <p:nvPr/>
        </p:nvCxnSpPr>
        <p:spPr>
          <a:xfrm flipH="1" rot="10800000">
            <a:off x="6451227" y="3256079"/>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787" name="Google Shape;787;p44"/>
          <p:cNvCxnSpPr>
            <a:stCxn id="763" idx="2"/>
            <a:endCxn id="761" idx="6"/>
          </p:cNvCxnSpPr>
          <p:nvPr/>
        </p:nvCxnSpPr>
        <p:spPr>
          <a:xfrm rot="10800000">
            <a:off x="5517538" y="3777232"/>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788" name="Google Shape;788;p44"/>
          <p:cNvCxnSpPr>
            <a:stCxn id="762" idx="0"/>
            <a:endCxn id="761" idx="4"/>
          </p:cNvCxnSpPr>
          <p:nvPr/>
        </p:nvCxnSpPr>
        <p:spPr>
          <a:xfrm rot="10800000">
            <a:off x="5314997" y="3978840"/>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789" name="Google Shape;789;p44"/>
          <p:cNvCxnSpPr>
            <a:stCxn id="761" idx="3"/>
            <a:endCxn id="760" idx="7"/>
          </p:cNvCxnSpPr>
          <p:nvPr/>
        </p:nvCxnSpPr>
        <p:spPr>
          <a:xfrm flipH="1">
            <a:off x="4584795" y="3919785"/>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790" name="Google Shape;790;p44"/>
          <p:cNvCxnSpPr>
            <a:stCxn id="759" idx="5"/>
            <a:endCxn id="760" idx="0"/>
          </p:cNvCxnSpPr>
          <p:nvPr/>
        </p:nvCxnSpPr>
        <p:spPr>
          <a:xfrm>
            <a:off x="4179987" y="4094263"/>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791" name="Google Shape;791;p44"/>
          <p:cNvCxnSpPr>
            <a:stCxn id="756" idx="4"/>
            <a:endCxn id="759" idx="7"/>
          </p:cNvCxnSpPr>
          <p:nvPr/>
        </p:nvCxnSpPr>
        <p:spPr>
          <a:xfrm flipH="1">
            <a:off x="4179935" y="3150025"/>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792" name="Google Shape;792;p44"/>
          <p:cNvCxnSpPr>
            <a:stCxn id="761" idx="1"/>
            <a:endCxn id="756" idx="4"/>
          </p:cNvCxnSpPr>
          <p:nvPr/>
        </p:nvCxnSpPr>
        <p:spPr>
          <a:xfrm rot="10800000">
            <a:off x="4878195" y="3149879"/>
            <a:ext cx="293700" cy="484800"/>
          </a:xfrm>
          <a:prstGeom prst="straightConnector1">
            <a:avLst/>
          </a:prstGeom>
          <a:noFill/>
          <a:ln cap="flat" cmpd="sng" w="28575">
            <a:solidFill>
              <a:schemeClr val="dk2"/>
            </a:solidFill>
            <a:prstDash val="solid"/>
            <a:round/>
            <a:headEnd len="med" w="med" type="none"/>
            <a:tailEnd len="med" w="med" type="none"/>
          </a:ln>
        </p:spPr>
      </p:cxnSp>
      <p:cxnSp>
        <p:nvCxnSpPr>
          <p:cNvPr id="793" name="Google Shape;793;p44"/>
          <p:cNvCxnSpPr>
            <a:stCxn id="759" idx="2"/>
            <a:endCxn id="758" idx="6"/>
          </p:cNvCxnSpPr>
          <p:nvPr/>
        </p:nvCxnSpPr>
        <p:spPr>
          <a:xfrm rot="10800000">
            <a:off x="3047398" y="3830810"/>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794" name="Google Shape;794;p44"/>
          <p:cNvCxnSpPr>
            <a:stCxn id="759" idx="0"/>
            <a:endCxn id="757" idx="4"/>
          </p:cNvCxnSpPr>
          <p:nvPr/>
        </p:nvCxnSpPr>
        <p:spPr>
          <a:xfrm rot="10800000">
            <a:off x="3677398" y="3494510"/>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795" name="Google Shape;795;p44"/>
          <p:cNvCxnSpPr>
            <a:stCxn id="757" idx="3"/>
            <a:endCxn id="758" idx="7"/>
          </p:cNvCxnSpPr>
          <p:nvPr/>
        </p:nvCxnSpPr>
        <p:spPr>
          <a:xfrm flipH="1">
            <a:off x="2988051" y="3435438"/>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796" name="Google Shape;796;p44"/>
          <p:cNvCxnSpPr>
            <a:stCxn id="754" idx="4"/>
            <a:endCxn id="758" idx="0"/>
          </p:cNvCxnSpPr>
          <p:nvPr/>
        </p:nvCxnSpPr>
        <p:spPr>
          <a:xfrm flipH="1">
            <a:off x="2845018" y="2898241"/>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797" name="Google Shape;797;p44"/>
          <p:cNvCxnSpPr>
            <a:stCxn id="755" idx="2"/>
            <a:endCxn id="754" idx="6"/>
          </p:cNvCxnSpPr>
          <p:nvPr/>
        </p:nvCxnSpPr>
        <p:spPr>
          <a:xfrm flipH="1">
            <a:off x="3084241" y="2334512"/>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798" name="Google Shape;798;p44"/>
          <p:cNvCxnSpPr>
            <a:stCxn id="755" idx="3"/>
            <a:endCxn id="757" idx="0"/>
          </p:cNvCxnSpPr>
          <p:nvPr/>
        </p:nvCxnSpPr>
        <p:spPr>
          <a:xfrm flipH="1">
            <a:off x="3677552" y="2477064"/>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799" name="Google Shape;799;p44"/>
          <p:cNvCxnSpPr>
            <a:stCxn id="756" idx="2"/>
            <a:endCxn id="754" idx="6"/>
          </p:cNvCxnSpPr>
          <p:nvPr/>
        </p:nvCxnSpPr>
        <p:spPr>
          <a:xfrm rot="10800000">
            <a:off x="3084035" y="2696725"/>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800" name="Google Shape;800;p44"/>
          <p:cNvCxnSpPr>
            <a:stCxn id="756" idx="1"/>
            <a:endCxn id="755" idx="5"/>
          </p:cNvCxnSpPr>
          <p:nvPr/>
        </p:nvCxnSpPr>
        <p:spPr>
          <a:xfrm rot="10800000">
            <a:off x="4343346" y="2477072"/>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801" name="Google Shape;801;p44"/>
          <p:cNvCxnSpPr>
            <a:stCxn id="756" idx="2"/>
            <a:endCxn id="757" idx="7"/>
          </p:cNvCxnSpPr>
          <p:nvPr/>
        </p:nvCxnSpPr>
        <p:spPr>
          <a:xfrm flipH="1">
            <a:off x="3820835" y="2948425"/>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802" name="Google Shape;802;p44"/>
          <p:cNvCxnSpPr>
            <a:stCxn id="757" idx="1"/>
            <a:endCxn id="754" idx="5"/>
          </p:cNvCxnSpPr>
          <p:nvPr/>
        </p:nvCxnSpPr>
        <p:spPr>
          <a:xfrm rot="10800000">
            <a:off x="3024951" y="2839232"/>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803" name="Google Shape;803;p44"/>
          <p:cNvCxnSpPr>
            <a:stCxn id="765" idx="6"/>
            <a:endCxn id="770" idx="3"/>
          </p:cNvCxnSpPr>
          <p:nvPr/>
        </p:nvCxnSpPr>
        <p:spPr>
          <a:xfrm flipH="1" rot="10800000">
            <a:off x="7383980" y="3285232"/>
            <a:ext cx="415500" cy="492000"/>
          </a:xfrm>
          <a:prstGeom prst="straightConnector1">
            <a:avLst/>
          </a:prstGeom>
          <a:noFill/>
          <a:ln cap="flat" cmpd="sng" w="28575">
            <a:solidFill>
              <a:schemeClr val="dk2"/>
            </a:solidFill>
            <a:prstDash val="solid"/>
            <a:round/>
            <a:headEnd len="med" w="med" type="none"/>
            <a:tailEnd len="med" w="med" type="none"/>
          </a:ln>
        </p:spPr>
      </p:cxnSp>
      <p:pic>
        <p:nvPicPr>
          <p:cNvPr descr="C_{i(norm)}^{Deg}=\frac{\sum_i^{ }a_{ij}}{N-1}&#10;%3ccb2b5c-fba1-4c36-acd8-5ed5a20c540c" id="804" name="Google Shape;804;p44"/>
          <p:cNvPicPr preferRelativeResize="0"/>
          <p:nvPr/>
        </p:nvPicPr>
        <p:blipFill>
          <a:blip r:embed="rId3">
            <a:alphaModFix/>
          </a:blip>
          <a:stretch>
            <a:fillRect/>
          </a:stretch>
        </p:blipFill>
        <p:spPr>
          <a:xfrm>
            <a:off x="500738" y="3665950"/>
            <a:ext cx="1952625" cy="5715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graphicFrame>
        <p:nvGraphicFramePr>
          <p:cNvPr id="809" name="Google Shape;809;p45"/>
          <p:cNvGraphicFramePr/>
          <p:nvPr/>
        </p:nvGraphicFramePr>
        <p:xfrm>
          <a:off x="68550" y="38100"/>
          <a:ext cx="3000000" cy="3000000"/>
        </p:xfrm>
        <a:graphic>
          <a:graphicData uri="http://schemas.openxmlformats.org/drawingml/2006/table">
            <a:tbl>
              <a:tblPr>
                <a:noFill/>
                <a:tableStyleId>{D533A967-1B24-4C1F-A5BD-666CA7F43D67}</a:tableStyleId>
              </a:tblPr>
              <a:tblGrid>
                <a:gridCol w="952500"/>
                <a:gridCol w="952500"/>
                <a:gridCol w="952500"/>
              </a:tblGrid>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j</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7</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0.37</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d</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5</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0.26</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g</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5</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0.26</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b</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4</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0.21</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f</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4</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0.21</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h</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4</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0.21</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i</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4</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0.21</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a</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0.16</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e</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0.16</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k</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0.16</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l</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0.16</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m</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0.16</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n</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0.16</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p</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0.16</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c</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2</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0.11</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o</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2</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0.11</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q</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2</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0.11</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r</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1</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0.05</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s</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1</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0.05</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bl>
          </a:graphicData>
        </a:graphic>
      </p:graphicFrame>
      <p:sp>
        <p:nvSpPr>
          <p:cNvPr id="810" name="Google Shape;810;p45"/>
          <p:cNvSpPr/>
          <p:nvPr/>
        </p:nvSpPr>
        <p:spPr>
          <a:xfrm>
            <a:off x="2679118" y="249504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811" name="Google Shape;811;p45"/>
          <p:cNvSpPr/>
          <p:nvPr/>
        </p:nvSpPr>
        <p:spPr>
          <a:xfrm>
            <a:off x="3997741" y="213291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812" name="Google Shape;812;p45"/>
          <p:cNvSpPr/>
          <p:nvPr/>
        </p:nvSpPr>
        <p:spPr>
          <a:xfrm>
            <a:off x="4675835" y="2746825"/>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813" name="Google Shape;813;p45"/>
          <p:cNvSpPr/>
          <p:nvPr/>
        </p:nvSpPr>
        <p:spPr>
          <a:xfrm>
            <a:off x="3475040" y="3091285"/>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814" name="Google Shape;814;p45"/>
          <p:cNvSpPr/>
          <p:nvPr/>
        </p:nvSpPr>
        <p:spPr>
          <a:xfrm>
            <a:off x="2642488" y="362926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815" name="Google Shape;815;p45"/>
          <p:cNvSpPr/>
          <p:nvPr/>
        </p:nvSpPr>
        <p:spPr>
          <a:xfrm>
            <a:off x="3834298" y="375011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816" name="Google Shape;816;p45"/>
          <p:cNvSpPr/>
          <p:nvPr/>
        </p:nvSpPr>
        <p:spPr>
          <a:xfrm>
            <a:off x="4239049" y="4472340"/>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817" name="Google Shape;817;p45"/>
          <p:cNvSpPr/>
          <p:nvPr/>
        </p:nvSpPr>
        <p:spPr>
          <a:xfrm>
            <a:off x="5112584"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818" name="Google Shape;818;p45"/>
          <p:cNvSpPr/>
          <p:nvPr/>
        </p:nvSpPr>
        <p:spPr>
          <a:xfrm>
            <a:off x="5314997" y="4472340"/>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819" name="Google Shape;819;p45"/>
          <p:cNvSpPr/>
          <p:nvPr/>
        </p:nvSpPr>
        <p:spPr>
          <a:xfrm>
            <a:off x="6105538"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820" name="Google Shape;820;p45"/>
          <p:cNvSpPr/>
          <p:nvPr/>
        </p:nvSpPr>
        <p:spPr>
          <a:xfrm>
            <a:off x="6510289" y="285277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821" name="Google Shape;821;p45"/>
          <p:cNvSpPr/>
          <p:nvPr/>
        </p:nvSpPr>
        <p:spPr>
          <a:xfrm>
            <a:off x="6978980" y="3575632"/>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822" name="Google Shape;822;p45"/>
          <p:cNvSpPr/>
          <p:nvPr/>
        </p:nvSpPr>
        <p:spPr>
          <a:xfrm>
            <a:off x="6510289" y="430140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823" name="Google Shape;823;p45"/>
          <p:cNvSpPr/>
          <p:nvPr/>
        </p:nvSpPr>
        <p:spPr>
          <a:xfrm>
            <a:off x="7537684" y="4382591"/>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824" name="Google Shape;824;p45"/>
          <p:cNvSpPr/>
          <p:nvPr/>
        </p:nvSpPr>
        <p:spPr>
          <a:xfrm>
            <a:off x="7955631" y="367542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825" name="Google Shape;825;p45"/>
          <p:cNvSpPr/>
          <p:nvPr/>
        </p:nvSpPr>
        <p:spPr>
          <a:xfrm>
            <a:off x="8638414" y="3062154"/>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826" name="Google Shape;826;p45"/>
          <p:cNvSpPr/>
          <p:nvPr/>
        </p:nvSpPr>
        <p:spPr>
          <a:xfrm>
            <a:off x="7740059" y="2940973"/>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827" name="Google Shape;827;p45"/>
          <p:cNvSpPr/>
          <p:nvPr/>
        </p:nvSpPr>
        <p:spPr>
          <a:xfrm>
            <a:off x="7808697" y="2206525"/>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828" name="Google Shape;828;p45"/>
          <p:cNvSpPr/>
          <p:nvPr/>
        </p:nvSpPr>
        <p:spPr>
          <a:xfrm>
            <a:off x="8638414" y="1931200"/>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829" name="Google Shape;829;p45"/>
          <p:cNvCxnSpPr>
            <a:stCxn id="828" idx="2"/>
            <a:endCxn id="827" idx="7"/>
          </p:cNvCxnSpPr>
          <p:nvPr/>
        </p:nvCxnSpPr>
        <p:spPr>
          <a:xfrm flipH="1">
            <a:off x="8154514" y="2132800"/>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830" name="Google Shape;830;p45"/>
          <p:cNvCxnSpPr>
            <a:stCxn id="826" idx="0"/>
            <a:endCxn id="827" idx="4"/>
          </p:cNvCxnSpPr>
          <p:nvPr/>
        </p:nvCxnSpPr>
        <p:spPr>
          <a:xfrm flipH="1" rot="10800000">
            <a:off x="7942559" y="2609773"/>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831" name="Google Shape;831;p45"/>
          <p:cNvCxnSpPr>
            <a:stCxn id="825" idx="2"/>
            <a:endCxn id="826" idx="6"/>
          </p:cNvCxnSpPr>
          <p:nvPr/>
        </p:nvCxnSpPr>
        <p:spPr>
          <a:xfrm rot="10800000">
            <a:off x="8144914" y="3142554"/>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832" name="Google Shape;832;p45"/>
          <p:cNvCxnSpPr>
            <a:stCxn id="825" idx="2"/>
            <a:endCxn id="821" idx="6"/>
          </p:cNvCxnSpPr>
          <p:nvPr/>
        </p:nvCxnSpPr>
        <p:spPr>
          <a:xfrm flipH="1">
            <a:off x="7384114" y="3263754"/>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833" name="Google Shape;833;p45"/>
          <p:cNvCxnSpPr>
            <a:stCxn id="825" idx="2"/>
            <a:endCxn id="824" idx="7"/>
          </p:cNvCxnSpPr>
          <p:nvPr/>
        </p:nvCxnSpPr>
        <p:spPr>
          <a:xfrm flipH="1">
            <a:off x="8301214" y="3263754"/>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834" name="Google Shape;834;p45"/>
          <p:cNvCxnSpPr>
            <a:stCxn id="824" idx="2"/>
            <a:endCxn id="821" idx="6"/>
          </p:cNvCxnSpPr>
          <p:nvPr/>
        </p:nvCxnSpPr>
        <p:spPr>
          <a:xfrm rot="10800000">
            <a:off x="7383831" y="3777122"/>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835" name="Google Shape;835;p45"/>
          <p:cNvCxnSpPr>
            <a:stCxn id="824" idx="1"/>
            <a:endCxn id="820" idx="5"/>
          </p:cNvCxnSpPr>
          <p:nvPr/>
        </p:nvCxnSpPr>
        <p:spPr>
          <a:xfrm rot="10800000">
            <a:off x="6856042" y="3196869"/>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836" name="Google Shape;836;p45"/>
          <p:cNvCxnSpPr>
            <a:stCxn id="823" idx="0"/>
            <a:endCxn id="821" idx="4"/>
          </p:cNvCxnSpPr>
          <p:nvPr/>
        </p:nvCxnSpPr>
        <p:spPr>
          <a:xfrm rot="10800000">
            <a:off x="7181584" y="3978791"/>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837" name="Google Shape;837;p45"/>
          <p:cNvCxnSpPr>
            <a:stCxn id="822" idx="7"/>
            <a:endCxn id="821" idx="4"/>
          </p:cNvCxnSpPr>
          <p:nvPr/>
        </p:nvCxnSpPr>
        <p:spPr>
          <a:xfrm flipH="1" rot="10800000">
            <a:off x="6855978" y="3978852"/>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838" name="Google Shape;838;p45"/>
          <p:cNvCxnSpPr>
            <a:stCxn id="823" idx="1"/>
            <a:endCxn id="822" idx="6"/>
          </p:cNvCxnSpPr>
          <p:nvPr/>
        </p:nvCxnSpPr>
        <p:spPr>
          <a:xfrm flipH="1">
            <a:off x="6915395" y="4441638"/>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839" name="Google Shape;839;p45"/>
          <p:cNvCxnSpPr>
            <a:stCxn id="821" idx="2"/>
            <a:endCxn id="819" idx="6"/>
          </p:cNvCxnSpPr>
          <p:nvPr/>
        </p:nvCxnSpPr>
        <p:spPr>
          <a:xfrm rot="10800000">
            <a:off x="6510680" y="3777232"/>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840" name="Google Shape;840;p45"/>
          <p:cNvCxnSpPr>
            <a:stCxn id="822" idx="0"/>
            <a:endCxn id="819" idx="5"/>
          </p:cNvCxnSpPr>
          <p:nvPr/>
        </p:nvCxnSpPr>
        <p:spPr>
          <a:xfrm rot="10800000">
            <a:off x="6451189" y="3919805"/>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841" name="Google Shape;841;p45"/>
          <p:cNvCxnSpPr>
            <a:stCxn id="821" idx="0"/>
            <a:endCxn id="820" idx="5"/>
          </p:cNvCxnSpPr>
          <p:nvPr/>
        </p:nvCxnSpPr>
        <p:spPr>
          <a:xfrm rot="10800000">
            <a:off x="6855980" y="3197032"/>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842" name="Google Shape;842;p45"/>
          <p:cNvCxnSpPr>
            <a:stCxn id="819" idx="7"/>
            <a:endCxn id="820" idx="4"/>
          </p:cNvCxnSpPr>
          <p:nvPr/>
        </p:nvCxnSpPr>
        <p:spPr>
          <a:xfrm flipH="1" rot="10800000">
            <a:off x="6451227" y="3256079"/>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843" name="Google Shape;843;p45"/>
          <p:cNvCxnSpPr>
            <a:stCxn id="819" idx="2"/>
            <a:endCxn id="817" idx="6"/>
          </p:cNvCxnSpPr>
          <p:nvPr/>
        </p:nvCxnSpPr>
        <p:spPr>
          <a:xfrm rot="10800000">
            <a:off x="5517538" y="3777232"/>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844" name="Google Shape;844;p45"/>
          <p:cNvCxnSpPr>
            <a:stCxn id="818" idx="0"/>
            <a:endCxn id="817" idx="4"/>
          </p:cNvCxnSpPr>
          <p:nvPr/>
        </p:nvCxnSpPr>
        <p:spPr>
          <a:xfrm rot="10800000">
            <a:off x="5314997" y="3978840"/>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845" name="Google Shape;845;p45"/>
          <p:cNvCxnSpPr>
            <a:stCxn id="817" idx="3"/>
            <a:endCxn id="816" idx="7"/>
          </p:cNvCxnSpPr>
          <p:nvPr/>
        </p:nvCxnSpPr>
        <p:spPr>
          <a:xfrm flipH="1">
            <a:off x="4584795" y="3919785"/>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846" name="Google Shape;846;p45"/>
          <p:cNvCxnSpPr>
            <a:stCxn id="815" idx="5"/>
            <a:endCxn id="816" idx="0"/>
          </p:cNvCxnSpPr>
          <p:nvPr/>
        </p:nvCxnSpPr>
        <p:spPr>
          <a:xfrm>
            <a:off x="4179987" y="4094263"/>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847" name="Google Shape;847;p45"/>
          <p:cNvCxnSpPr>
            <a:stCxn id="812" idx="4"/>
            <a:endCxn id="815" idx="7"/>
          </p:cNvCxnSpPr>
          <p:nvPr/>
        </p:nvCxnSpPr>
        <p:spPr>
          <a:xfrm flipH="1">
            <a:off x="4179935" y="3150025"/>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848" name="Google Shape;848;p45"/>
          <p:cNvCxnSpPr>
            <a:stCxn id="817" idx="1"/>
            <a:endCxn id="812" idx="4"/>
          </p:cNvCxnSpPr>
          <p:nvPr/>
        </p:nvCxnSpPr>
        <p:spPr>
          <a:xfrm rot="10800000">
            <a:off x="4878195" y="3149879"/>
            <a:ext cx="293700" cy="484800"/>
          </a:xfrm>
          <a:prstGeom prst="straightConnector1">
            <a:avLst/>
          </a:prstGeom>
          <a:noFill/>
          <a:ln cap="flat" cmpd="sng" w="28575">
            <a:solidFill>
              <a:schemeClr val="dk2"/>
            </a:solidFill>
            <a:prstDash val="solid"/>
            <a:round/>
            <a:headEnd len="med" w="med" type="none"/>
            <a:tailEnd len="med" w="med" type="none"/>
          </a:ln>
        </p:spPr>
      </p:cxnSp>
      <p:cxnSp>
        <p:nvCxnSpPr>
          <p:cNvPr id="849" name="Google Shape;849;p45"/>
          <p:cNvCxnSpPr>
            <a:stCxn id="815" idx="2"/>
            <a:endCxn id="814" idx="6"/>
          </p:cNvCxnSpPr>
          <p:nvPr/>
        </p:nvCxnSpPr>
        <p:spPr>
          <a:xfrm rot="10800000">
            <a:off x="3047398" y="3830810"/>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850" name="Google Shape;850;p45"/>
          <p:cNvCxnSpPr>
            <a:stCxn id="815" idx="0"/>
            <a:endCxn id="813" idx="4"/>
          </p:cNvCxnSpPr>
          <p:nvPr/>
        </p:nvCxnSpPr>
        <p:spPr>
          <a:xfrm rot="10800000">
            <a:off x="3677398" y="3494510"/>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851" name="Google Shape;851;p45"/>
          <p:cNvCxnSpPr>
            <a:stCxn id="813" idx="3"/>
            <a:endCxn id="814" idx="7"/>
          </p:cNvCxnSpPr>
          <p:nvPr/>
        </p:nvCxnSpPr>
        <p:spPr>
          <a:xfrm flipH="1">
            <a:off x="2988051" y="3435438"/>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852" name="Google Shape;852;p45"/>
          <p:cNvCxnSpPr>
            <a:stCxn id="810" idx="4"/>
            <a:endCxn id="814" idx="0"/>
          </p:cNvCxnSpPr>
          <p:nvPr/>
        </p:nvCxnSpPr>
        <p:spPr>
          <a:xfrm flipH="1">
            <a:off x="2845018" y="2898241"/>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853" name="Google Shape;853;p45"/>
          <p:cNvCxnSpPr>
            <a:stCxn id="811" idx="2"/>
            <a:endCxn id="810" idx="6"/>
          </p:cNvCxnSpPr>
          <p:nvPr/>
        </p:nvCxnSpPr>
        <p:spPr>
          <a:xfrm flipH="1">
            <a:off x="3084241" y="2334512"/>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854" name="Google Shape;854;p45"/>
          <p:cNvCxnSpPr>
            <a:stCxn id="811" idx="3"/>
            <a:endCxn id="813" idx="0"/>
          </p:cNvCxnSpPr>
          <p:nvPr/>
        </p:nvCxnSpPr>
        <p:spPr>
          <a:xfrm flipH="1">
            <a:off x="3677552" y="2477064"/>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855" name="Google Shape;855;p45"/>
          <p:cNvCxnSpPr>
            <a:stCxn id="812" idx="2"/>
            <a:endCxn id="810" idx="6"/>
          </p:cNvCxnSpPr>
          <p:nvPr/>
        </p:nvCxnSpPr>
        <p:spPr>
          <a:xfrm rot="10800000">
            <a:off x="3084035" y="2696725"/>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856" name="Google Shape;856;p45"/>
          <p:cNvCxnSpPr>
            <a:stCxn id="812" idx="1"/>
            <a:endCxn id="811" idx="5"/>
          </p:cNvCxnSpPr>
          <p:nvPr/>
        </p:nvCxnSpPr>
        <p:spPr>
          <a:xfrm rot="10800000">
            <a:off x="4343346" y="2477072"/>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857" name="Google Shape;857;p45"/>
          <p:cNvCxnSpPr>
            <a:stCxn id="812" idx="2"/>
            <a:endCxn id="813" idx="7"/>
          </p:cNvCxnSpPr>
          <p:nvPr/>
        </p:nvCxnSpPr>
        <p:spPr>
          <a:xfrm flipH="1">
            <a:off x="3820835" y="2948425"/>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858" name="Google Shape;858;p45"/>
          <p:cNvCxnSpPr>
            <a:stCxn id="813" idx="1"/>
            <a:endCxn id="810" idx="5"/>
          </p:cNvCxnSpPr>
          <p:nvPr/>
        </p:nvCxnSpPr>
        <p:spPr>
          <a:xfrm rot="10800000">
            <a:off x="3024951" y="2839232"/>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859" name="Google Shape;859;p45"/>
          <p:cNvCxnSpPr>
            <a:stCxn id="821" idx="6"/>
            <a:endCxn id="826" idx="3"/>
          </p:cNvCxnSpPr>
          <p:nvPr/>
        </p:nvCxnSpPr>
        <p:spPr>
          <a:xfrm flipH="1" rot="10800000">
            <a:off x="7383980" y="3285232"/>
            <a:ext cx="415500" cy="492000"/>
          </a:xfrm>
          <a:prstGeom prst="straightConnector1">
            <a:avLst/>
          </a:prstGeom>
          <a:noFill/>
          <a:ln cap="flat" cmpd="sng" w="28575">
            <a:solidFill>
              <a:schemeClr val="dk2"/>
            </a:solidFill>
            <a:prstDash val="solid"/>
            <a:round/>
            <a:headEnd len="med" w="med" type="none"/>
            <a:tailEnd len="med" w="med" type="none"/>
          </a:ln>
        </p:spPr>
      </p:cxnSp>
      <p:sp>
        <p:nvSpPr>
          <p:cNvPr id="860" name="Google Shape;860;p45"/>
          <p:cNvSpPr/>
          <p:nvPr/>
        </p:nvSpPr>
        <p:spPr>
          <a:xfrm>
            <a:off x="4217650" y="1001275"/>
            <a:ext cx="3117600" cy="12054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And here’s the final centrality ranking by degree normalized by the order of the graph!</a:t>
            </a:r>
            <a:endParaRPr b="1">
              <a:solidFill>
                <a:srgbClr val="FF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46"/>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866" name="Google Shape;866;p46"/>
          <p:cNvSpPr/>
          <p:nvPr/>
        </p:nvSpPr>
        <p:spPr>
          <a:xfrm>
            <a:off x="1542374"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867" name="Google Shape;867;p46"/>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868" name="Google Shape;868;p46"/>
          <p:cNvSpPr/>
          <p:nvPr/>
        </p:nvSpPr>
        <p:spPr>
          <a:xfrm>
            <a:off x="1542347" y="1546450"/>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869" name="Google Shape;869;p46"/>
          <p:cNvSpPr/>
          <p:nvPr/>
        </p:nvSpPr>
        <p:spPr>
          <a:xfrm>
            <a:off x="15422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870" name="Google Shape;870;p46"/>
          <p:cNvSpPr/>
          <p:nvPr/>
        </p:nvSpPr>
        <p:spPr>
          <a:xfrm>
            <a:off x="2785146"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871" name="Google Shape;871;p46"/>
          <p:cNvSpPr/>
          <p:nvPr/>
        </p:nvSpPr>
        <p:spPr>
          <a:xfrm>
            <a:off x="4240467"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872" name="Google Shape;872;p46"/>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873" name="Google Shape;873;p46"/>
          <p:cNvCxnSpPr>
            <a:stCxn id="865" idx="7"/>
            <a:endCxn id="868"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874" name="Google Shape;874;p46"/>
          <p:cNvCxnSpPr>
            <a:stCxn id="870" idx="6"/>
            <a:endCxn id="871" idx="2"/>
          </p:cNvCxnSpPr>
          <p:nvPr/>
        </p:nvCxnSpPr>
        <p:spPr>
          <a:xfrm>
            <a:off x="3203646"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875" name="Google Shape;875;p46"/>
          <p:cNvCxnSpPr>
            <a:stCxn id="867" idx="6"/>
            <a:endCxn id="872"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876" name="Google Shape;876;p46"/>
          <p:cNvCxnSpPr>
            <a:stCxn id="870" idx="4"/>
            <a:endCxn id="867" idx="0"/>
          </p:cNvCxnSpPr>
          <p:nvPr/>
        </p:nvCxnSpPr>
        <p:spPr>
          <a:xfrm>
            <a:off x="2994396" y="32400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877" name="Google Shape;877;p46"/>
          <p:cNvCxnSpPr>
            <a:stCxn id="866" idx="4"/>
            <a:endCxn id="869"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878" name="Google Shape;878;p46"/>
          <p:cNvCxnSpPr>
            <a:stCxn id="865" idx="5"/>
            <a:endCxn id="869" idx="2"/>
          </p:cNvCxnSpPr>
          <p:nvPr/>
        </p:nvCxnSpPr>
        <p:spPr>
          <a:xfrm>
            <a:off x="444175" y="3180603"/>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879" name="Google Shape;879;p46"/>
          <p:cNvCxnSpPr>
            <a:stCxn id="865" idx="6"/>
            <a:endCxn id="866"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880" name="Google Shape;880;p46"/>
          <p:cNvCxnSpPr>
            <a:stCxn id="867" idx="2"/>
            <a:endCxn id="869" idx="6"/>
          </p:cNvCxnSpPr>
          <p:nvPr/>
        </p:nvCxnSpPr>
        <p:spPr>
          <a:xfrm rot="10800000">
            <a:off x="1960698" y="4324785"/>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881" name="Google Shape;881;p46"/>
          <p:cNvCxnSpPr>
            <a:stCxn id="872" idx="1"/>
            <a:endCxn id="870"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882" name="Google Shape;882;p46"/>
          <p:cNvCxnSpPr>
            <a:stCxn id="871" idx="1"/>
            <a:endCxn id="868"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883" name="Google Shape;883;p46"/>
          <p:cNvCxnSpPr>
            <a:stCxn id="868" idx="5"/>
            <a:endCxn id="870"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884" name="Google Shape;884;p46"/>
          <p:cNvCxnSpPr>
            <a:stCxn id="866" idx="0"/>
            <a:endCxn id="868"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885" name="Google Shape;885;p46"/>
          <p:cNvCxnSpPr>
            <a:stCxn id="870" idx="3"/>
            <a:endCxn id="869" idx="7"/>
          </p:cNvCxnSpPr>
          <p:nvPr/>
        </p:nvCxnSpPr>
        <p:spPr>
          <a:xfrm flipH="1">
            <a:off x="1899634" y="318060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886" name="Google Shape;886;p46"/>
          <p:cNvCxnSpPr>
            <a:stCxn id="866" idx="6"/>
            <a:endCxn id="870"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887" name="Google Shape;887;p46"/>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sp>
        <p:nvSpPr>
          <p:cNvPr id="888" name="Google Shape;888;p46"/>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C</a:t>
            </a:r>
            <a:r>
              <a:rPr baseline="-25000" lang="en"/>
              <a:t>deg</a:t>
            </a:r>
            <a:r>
              <a:rPr lang="en"/>
              <a:t>(v): Directed</a:t>
            </a:r>
            <a:endParaRPr/>
          </a:p>
        </p:txBody>
      </p:sp>
      <p:sp>
        <p:nvSpPr>
          <p:cNvPr id="889" name="Google Shape;889;p46"/>
          <p:cNvSpPr txBox="1"/>
          <p:nvPr>
            <p:ph idx="4294967295" type="body"/>
          </p:nvPr>
        </p:nvSpPr>
        <p:spPr>
          <a:xfrm>
            <a:off x="4923250" y="1147225"/>
            <a:ext cx="4220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a:t>
            </a:r>
            <a:r>
              <a:rPr b="1" lang="en"/>
              <a:t>directed</a:t>
            </a:r>
            <a:r>
              <a:rPr lang="en"/>
              <a:t> graphs nodes have two separate types of degree centrality:</a:t>
            </a:r>
            <a:endParaRPr/>
          </a:p>
          <a:p>
            <a:pPr indent="-317500" lvl="1" marL="914400" rtl="0" algn="l">
              <a:spcBef>
                <a:spcPts val="0"/>
              </a:spcBef>
              <a:spcAft>
                <a:spcPts val="0"/>
              </a:spcAft>
              <a:buSzPts val="1400"/>
              <a:buChar char="○"/>
            </a:pPr>
            <a:r>
              <a:rPr b="1" lang="en"/>
              <a:t>Outdegree centrality</a:t>
            </a:r>
            <a:endParaRPr b="1"/>
          </a:p>
          <a:p>
            <a:pPr indent="-317500" lvl="1" marL="914400" rtl="0" algn="l">
              <a:spcBef>
                <a:spcPts val="0"/>
              </a:spcBef>
              <a:spcAft>
                <a:spcPts val="0"/>
              </a:spcAft>
              <a:buSzPts val="1400"/>
              <a:buChar char="○"/>
            </a:pPr>
            <a:r>
              <a:rPr b="1" lang="en"/>
              <a:t>Indegree centrality</a:t>
            </a:r>
            <a:endParaRPr b="1"/>
          </a:p>
          <a:p>
            <a:pPr indent="-342900" lvl="0" marL="457200" rtl="0" algn="l">
              <a:spcBef>
                <a:spcPts val="0"/>
              </a:spcBef>
              <a:spcAft>
                <a:spcPts val="0"/>
              </a:spcAft>
              <a:buSzPts val="1800"/>
              <a:buChar char="●"/>
            </a:pPr>
            <a:r>
              <a:rPr lang="en"/>
              <a:t>Graph theory definition:</a:t>
            </a:r>
            <a:endParaRPr/>
          </a:p>
          <a:p>
            <a:pPr indent="-317500" lvl="1" marL="914400" rtl="0" algn="l">
              <a:spcBef>
                <a:spcPts val="0"/>
              </a:spcBef>
              <a:spcAft>
                <a:spcPts val="0"/>
              </a:spcAft>
              <a:buSzPts val="1400"/>
              <a:buChar char="○"/>
            </a:pPr>
            <a:r>
              <a:rPr i="1" lang="en"/>
              <a:t>Outdegree</a:t>
            </a:r>
            <a:r>
              <a:rPr lang="en"/>
              <a:t>: </a:t>
            </a:r>
            <a:endParaRPr/>
          </a:p>
          <a:p>
            <a:pPr indent="-317500" lvl="2" marL="1371600" rtl="0" algn="l">
              <a:spcBef>
                <a:spcPts val="0"/>
              </a:spcBef>
              <a:spcAft>
                <a:spcPts val="0"/>
              </a:spcAft>
              <a:buSzPts val="1400"/>
              <a:buChar char="■"/>
            </a:pPr>
            <a:r>
              <a:rPr lang="en"/>
              <a:t>Cardinality of the set of out-neighbors</a:t>
            </a:r>
            <a:endParaRPr/>
          </a:p>
          <a:p>
            <a:pPr indent="-317500" lvl="1" marL="914400" rtl="0" algn="l">
              <a:spcBef>
                <a:spcPts val="0"/>
              </a:spcBef>
              <a:spcAft>
                <a:spcPts val="0"/>
              </a:spcAft>
              <a:buSzPts val="1400"/>
              <a:buChar char="○"/>
            </a:pPr>
            <a:r>
              <a:rPr i="1" lang="en"/>
              <a:t>Indegree</a:t>
            </a:r>
            <a:r>
              <a:rPr lang="en"/>
              <a:t>: </a:t>
            </a:r>
            <a:endParaRPr/>
          </a:p>
          <a:p>
            <a:pPr indent="-317500" lvl="2" marL="1371600" rtl="0" algn="l">
              <a:spcBef>
                <a:spcPts val="0"/>
              </a:spcBef>
              <a:spcAft>
                <a:spcPts val="0"/>
              </a:spcAft>
              <a:buSzPts val="1400"/>
              <a:buChar char="■"/>
            </a:pPr>
            <a:r>
              <a:rPr lang="en"/>
              <a:t>Cardinality of the set of in-neighbors</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47"/>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895" name="Google Shape;895;p47"/>
          <p:cNvSpPr/>
          <p:nvPr/>
        </p:nvSpPr>
        <p:spPr>
          <a:xfrm>
            <a:off x="1542374"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896" name="Google Shape;896;p47"/>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897" name="Google Shape;897;p47"/>
          <p:cNvSpPr/>
          <p:nvPr/>
        </p:nvSpPr>
        <p:spPr>
          <a:xfrm>
            <a:off x="1542347" y="1546450"/>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898" name="Google Shape;898;p47"/>
          <p:cNvSpPr/>
          <p:nvPr/>
        </p:nvSpPr>
        <p:spPr>
          <a:xfrm>
            <a:off x="15422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899" name="Google Shape;899;p47"/>
          <p:cNvSpPr/>
          <p:nvPr/>
        </p:nvSpPr>
        <p:spPr>
          <a:xfrm>
            <a:off x="2785146"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900" name="Google Shape;900;p47"/>
          <p:cNvSpPr/>
          <p:nvPr/>
        </p:nvSpPr>
        <p:spPr>
          <a:xfrm>
            <a:off x="4240467"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901" name="Google Shape;901;p47"/>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902" name="Google Shape;902;p47"/>
          <p:cNvCxnSpPr>
            <a:stCxn id="894" idx="7"/>
            <a:endCxn id="897"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903" name="Google Shape;903;p47"/>
          <p:cNvCxnSpPr>
            <a:stCxn id="899" idx="6"/>
            <a:endCxn id="900" idx="2"/>
          </p:cNvCxnSpPr>
          <p:nvPr/>
        </p:nvCxnSpPr>
        <p:spPr>
          <a:xfrm>
            <a:off x="3203646"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904" name="Google Shape;904;p47"/>
          <p:cNvCxnSpPr>
            <a:stCxn id="896" idx="6"/>
            <a:endCxn id="901"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905" name="Google Shape;905;p47"/>
          <p:cNvCxnSpPr>
            <a:stCxn id="899" idx="4"/>
            <a:endCxn id="896" idx="0"/>
          </p:cNvCxnSpPr>
          <p:nvPr/>
        </p:nvCxnSpPr>
        <p:spPr>
          <a:xfrm>
            <a:off x="2994396" y="32400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906" name="Google Shape;906;p47"/>
          <p:cNvCxnSpPr>
            <a:stCxn id="895" idx="4"/>
            <a:endCxn id="898"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907" name="Google Shape;907;p47"/>
          <p:cNvCxnSpPr>
            <a:stCxn id="894" idx="5"/>
            <a:endCxn id="898" idx="2"/>
          </p:cNvCxnSpPr>
          <p:nvPr/>
        </p:nvCxnSpPr>
        <p:spPr>
          <a:xfrm>
            <a:off x="444175" y="3180603"/>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908" name="Google Shape;908;p47"/>
          <p:cNvCxnSpPr>
            <a:stCxn id="894" idx="6"/>
            <a:endCxn id="895"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909" name="Google Shape;909;p47"/>
          <p:cNvCxnSpPr>
            <a:stCxn id="896" idx="2"/>
            <a:endCxn id="898" idx="6"/>
          </p:cNvCxnSpPr>
          <p:nvPr/>
        </p:nvCxnSpPr>
        <p:spPr>
          <a:xfrm rot="10800000">
            <a:off x="1960698" y="4324785"/>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910" name="Google Shape;910;p47"/>
          <p:cNvCxnSpPr>
            <a:stCxn id="901" idx="1"/>
            <a:endCxn id="899"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911" name="Google Shape;911;p47"/>
          <p:cNvCxnSpPr>
            <a:stCxn id="900" idx="1"/>
            <a:endCxn id="897"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912" name="Google Shape;912;p47"/>
          <p:cNvCxnSpPr>
            <a:stCxn id="897" idx="5"/>
            <a:endCxn id="899"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913" name="Google Shape;913;p47"/>
          <p:cNvCxnSpPr>
            <a:stCxn id="895" idx="0"/>
            <a:endCxn id="897"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914" name="Google Shape;914;p47"/>
          <p:cNvCxnSpPr>
            <a:stCxn id="899" idx="3"/>
            <a:endCxn id="898" idx="7"/>
          </p:cNvCxnSpPr>
          <p:nvPr/>
        </p:nvCxnSpPr>
        <p:spPr>
          <a:xfrm flipH="1">
            <a:off x="1899634" y="318060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915" name="Google Shape;915;p47"/>
          <p:cNvCxnSpPr>
            <a:stCxn id="895" idx="6"/>
            <a:endCxn id="899"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916" name="Google Shape;916;p47"/>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sp>
        <p:nvSpPr>
          <p:cNvPr id="917" name="Google Shape;917;p47"/>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C</a:t>
            </a:r>
            <a:r>
              <a:rPr baseline="-25000" lang="en"/>
              <a:t>deg</a:t>
            </a:r>
            <a:r>
              <a:rPr lang="en"/>
              <a:t>(v): Directed</a:t>
            </a:r>
            <a:endParaRPr/>
          </a:p>
        </p:txBody>
      </p:sp>
      <p:graphicFrame>
        <p:nvGraphicFramePr>
          <p:cNvPr id="918" name="Google Shape;918;p47"/>
          <p:cNvGraphicFramePr/>
          <p:nvPr/>
        </p:nvGraphicFramePr>
        <p:xfrm>
          <a:off x="4868513" y="1147225"/>
          <a:ext cx="3000000" cy="3000000"/>
        </p:xfrm>
        <a:graphic>
          <a:graphicData uri="http://schemas.openxmlformats.org/drawingml/2006/table">
            <a:tbl>
              <a:tblPr>
                <a:noFill/>
                <a:tableStyleId>{4D36BE5A-9069-42A2-BAD7-CD2C23C4D617}</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tc>
                <a:tc>
                  <a:txBody>
                    <a:bodyPr/>
                    <a:lstStyle/>
                    <a:p>
                      <a:pPr indent="0" lvl="0" marL="0" rtl="0" algn="l">
                        <a:spcBef>
                          <a:spcPts val="0"/>
                        </a:spcBef>
                        <a:spcAft>
                          <a:spcPts val="0"/>
                        </a:spcAft>
                        <a:buNone/>
                      </a:pPr>
                      <a:r>
                        <a:rPr b="1" lang="en"/>
                        <a:t>v2</a:t>
                      </a:r>
                      <a:endParaRPr b="1"/>
                    </a:p>
                  </a:txBody>
                  <a:tcPr marT="91425" marB="91425" marR="91425" marL="91425"/>
                </a:tc>
                <a:tc>
                  <a:txBody>
                    <a:bodyPr/>
                    <a:lstStyle/>
                    <a:p>
                      <a:pPr indent="0" lvl="0" marL="0" rtl="0" algn="l">
                        <a:spcBef>
                          <a:spcPts val="0"/>
                        </a:spcBef>
                        <a:spcAft>
                          <a:spcPts val="0"/>
                        </a:spcAft>
                        <a:buNone/>
                      </a:pPr>
                      <a:r>
                        <a:rPr b="1" lang="en"/>
                        <a:t>v3</a:t>
                      </a:r>
                      <a:endParaRPr b="1"/>
                    </a:p>
                  </a:txBody>
                  <a:tcPr marT="91425" marB="91425" marR="91425" marL="91425"/>
                </a:tc>
                <a:tc>
                  <a:txBody>
                    <a:bodyPr/>
                    <a:lstStyle/>
                    <a:p>
                      <a:pPr indent="0" lvl="0" marL="0" rtl="0" algn="l">
                        <a:spcBef>
                          <a:spcPts val="0"/>
                        </a:spcBef>
                        <a:spcAft>
                          <a:spcPts val="0"/>
                        </a:spcAft>
                        <a:buNone/>
                      </a:pPr>
                      <a:r>
                        <a:rPr b="1" lang="en"/>
                        <a:t>v4</a:t>
                      </a:r>
                      <a:endParaRPr b="1"/>
                    </a:p>
                  </a:txBody>
                  <a:tcPr marT="91425" marB="91425" marR="91425" marL="91425"/>
                </a:tc>
                <a:tc>
                  <a:txBody>
                    <a:bodyPr/>
                    <a:lstStyle/>
                    <a:p>
                      <a:pPr indent="0" lvl="0" marL="0" rtl="0" algn="l">
                        <a:spcBef>
                          <a:spcPts val="0"/>
                        </a:spcBef>
                        <a:spcAft>
                          <a:spcPts val="0"/>
                        </a:spcAft>
                        <a:buNone/>
                      </a:pPr>
                      <a:r>
                        <a:rPr b="1" lang="en"/>
                        <a:t>v5</a:t>
                      </a:r>
                      <a:endParaRPr b="1"/>
                    </a:p>
                  </a:txBody>
                  <a:tcPr marT="91425" marB="91425" marR="91425" marL="91425"/>
                </a:tc>
                <a:tc>
                  <a:txBody>
                    <a:bodyPr/>
                    <a:lstStyle/>
                    <a:p>
                      <a:pPr indent="0" lvl="0" marL="0" rtl="0" algn="l">
                        <a:spcBef>
                          <a:spcPts val="0"/>
                        </a:spcBef>
                        <a:spcAft>
                          <a:spcPts val="0"/>
                        </a:spcAft>
                        <a:buNone/>
                      </a:pPr>
                      <a:r>
                        <a:rPr b="1" lang="en"/>
                        <a:t>v6</a:t>
                      </a:r>
                      <a:endParaRPr b="1"/>
                    </a:p>
                  </a:txBody>
                  <a:tcPr marT="91425" marB="91425" marR="91425" marL="91425"/>
                </a:tc>
                <a:tc>
                  <a:txBody>
                    <a:bodyPr/>
                    <a:lstStyle/>
                    <a:p>
                      <a:pPr indent="0" lvl="0" marL="0" rtl="0" algn="l">
                        <a:spcBef>
                          <a:spcPts val="0"/>
                        </a:spcBef>
                        <a:spcAft>
                          <a:spcPts val="0"/>
                        </a:spcAft>
                        <a:buNone/>
                      </a:pPr>
                      <a:r>
                        <a:rPr b="1" lang="en"/>
                        <a:t>v7</a:t>
                      </a:r>
                      <a:endParaRPr b="1"/>
                    </a:p>
                  </a:txBody>
                  <a:tcPr marT="91425" marB="91425" marR="91425" marL="91425"/>
                </a:tc>
                <a:tc>
                  <a:txBody>
                    <a:bodyPr/>
                    <a:lstStyle/>
                    <a:p>
                      <a:pPr indent="0" lvl="0" marL="0" rtl="0" algn="l">
                        <a:spcBef>
                          <a:spcPts val="0"/>
                        </a:spcBef>
                        <a:spcAft>
                          <a:spcPts val="0"/>
                        </a:spcAft>
                        <a:buNone/>
                      </a:pPr>
                      <a:r>
                        <a:rPr b="1" lang="en"/>
                        <a:t>v8</a:t>
                      </a:r>
                      <a:endParaRPr b="1"/>
                    </a:p>
                  </a:txBody>
                  <a:tcPr marT="91425" marB="91425" marR="91425" marL="91425"/>
                </a:tc>
              </a:tr>
              <a:tr h="381000">
                <a:tc>
                  <a:txBody>
                    <a:bodyPr/>
                    <a:lstStyle/>
                    <a:p>
                      <a:pPr indent="0" lvl="0" marL="0" rtl="0" algn="ctr">
                        <a:spcBef>
                          <a:spcPts val="0"/>
                        </a:spcBef>
                        <a:spcAft>
                          <a:spcPts val="0"/>
                        </a:spcAft>
                        <a:buNone/>
                      </a:pPr>
                      <a:r>
                        <a:rPr b="1" lang="en"/>
                        <a:t>v1</a:t>
                      </a:r>
                      <a:endParaRPr b="1"/>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chemeClr val="dk1"/>
                          </a:solidFill>
                        </a:rPr>
                        <a:t>1</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chemeClr val="dk1"/>
                          </a:solidFill>
                        </a:rPr>
                        <a:t>1</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v2</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v3</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v4</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v5</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v6</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v7</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v8</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919" name="Google Shape;919;p47"/>
          <p:cNvSpPr/>
          <p:nvPr/>
        </p:nvSpPr>
        <p:spPr>
          <a:xfrm>
            <a:off x="1491475" y="71250"/>
            <a:ext cx="3759900" cy="18810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Outdegree calculated by summing the rows of the asymmetric adjacency matrix</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p:txBody>
      </p:sp>
      <p:pic>
        <p:nvPicPr>
          <p:cNvPr descr="\textrm{Outdegree} = \sum_j^N A_{ij}}" id="920" name="Google Shape;920;p47"/>
          <p:cNvPicPr preferRelativeResize="0"/>
          <p:nvPr/>
        </p:nvPicPr>
        <p:blipFill>
          <a:blip r:embed="rId3">
            <a:alphaModFix/>
          </a:blip>
          <a:stretch>
            <a:fillRect/>
          </a:stretch>
        </p:blipFill>
        <p:spPr>
          <a:xfrm>
            <a:off x="2549800" y="1147225"/>
            <a:ext cx="1828800" cy="717217"/>
          </a:xfrm>
          <a:prstGeom prst="rect">
            <a:avLst/>
          </a:prstGeom>
          <a:noFill/>
          <a:ln>
            <a:noFill/>
          </a:ln>
        </p:spPr>
      </p:pic>
      <p:pic>
        <p:nvPicPr>
          <p:cNvPr id="921" name="Google Shape;921;p47"/>
          <p:cNvPicPr preferRelativeResize="0"/>
          <p:nvPr/>
        </p:nvPicPr>
        <p:blipFill>
          <a:blip r:embed="rId4">
            <a:alphaModFix/>
          </a:blip>
          <a:stretch>
            <a:fillRect/>
          </a:stretch>
        </p:blipFill>
        <p:spPr>
          <a:xfrm>
            <a:off x="7006925" y="315925"/>
            <a:ext cx="1957900" cy="6663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p48"/>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927" name="Google Shape;927;p48"/>
          <p:cNvSpPr/>
          <p:nvPr/>
        </p:nvSpPr>
        <p:spPr>
          <a:xfrm>
            <a:off x="1542374"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928" name="Google Shape;928;p48"/>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929" name="Google Shape;929;p48"/>
          <p:cNvSpPr/>
          <p:nvPr/>
        </p:nvSpPr>
        <p:spPr>
          <a:xfrm>
            <a:off x="1542347" y="1546450"/>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930" name="Google Shape;930;p48"/>
          <p:cNvSpPr/>
          <p:nvPr/>
        </p:nvSpPr>
        <p:spPr>
          <a:xfrm>
            <a:off x="15422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931" name="Google Shape;931;p48"/>
          <p:cNvSpPr/>
          <p:nvPr/>
        </p:nvSpPr>
        <p:spPr>
          <a:xfrm>
            <a:off x="2785146"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932" name="Google Shape;932;p48"/>
          <p:cNvSpPr/>
          <p:nvPr/>
        </p:nvSpPr>
        <p:spPr>
          <a:xfrm>
            <a:off x="4240467"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933" name="Google Shape;933;p48"/>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934" name="Google Shape;934;p48"/>
          <p:cNvCxnSpPr>
            <a:stCxn id="926" idx="7"/>
            <a:endCxn id="929"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935" name="Google Shape;935;p48"/>
          <p:cNvCxnSpPr>
            <a:stCxn id="931" idx="6"/>
            <a:endCxn id="932" idx="2"/>
          </p:cNvCxnSpPr>
          <p:nvPr/>
        </p:nvCxnSpPr>
        <p:spPr>
          <a:xfrm>
            <a:off x="3203646"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936" name="Google Shape;936;p48"/>
          <p:cNvCxnSpPr>
            <a:stCxn id="928" idx="6"/>
            <a:endCxn id="933"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937" name="Google Shape;937;p48"/>
          <p:cNvCxnSpPr>
            <a:stCxn id="931" idx="4"/>
            <a:endCxn id="928" idx="0"/>
          </p:cNvCxnSpPr>
          <p:nvPr/>
        </p:nvCxnSpPr>
        <p:spPr>
          <a:xfrm>
            <a:off x="2994396" y="32400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938" name="Google Shape;938;p48"/>
          <p:cNvCxnSpPr>
            <a:stCxn id="927" idx="4"/>
            <a:endCxn id="930"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939" name="Google Shape;939;p48"/>
          <p:cNvCxnSpPr>
            <a:stCxn id="926" idx="5"/>
            <a:endCxn id="930" idx="2"/>
          </p:cNvCxnSpPr>
          <p:nvPr/>
        </p:nvCxnSpPr>
        <p:spPr>
          <a:xfrm>
            <a:off x="444175" y="3180603"/>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940" name="Google Shape;940;p48"/>
          <p:cNvCxnSpPr>
            <a:stCxn id="926" idx="6"/>
            <a:endCxn id="927"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941" name="Google Shape;941;p48"/>
          <p:cNvCxnSpPr>
            <a:stCxn id="928" idx="2"/>
            <a:endCxn id="930" idx="6"/>
          </p:cNvCxnSpPr>
          <p:nvPr/>
        </p:nvCxnSpPr>
        <p:spPr>
          <a:xfrm rot="10800000">
            <a:off x="1960698" y="4324785"/>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942" name="Google Shape;942;p48"/>
          <p:cNvCxnSpPr>
            <a:stCxn id="933" idx="1"/>
            <a:endCxn id="931"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943" name="Google Shape;943;p48"/>
          <p:cNvCxnSpPr>
            <a:stCxn id="932" idx="1"/>
            <a:endCxn id="929"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944" name="Google Shape;944;p48"/>
          <p:cNvCxnSpPr>
            <a:stCxn id="929" idx="5"/>
            <a:endCxn id="931"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945" name="Google Shape;945;p48"/>
          <p:cNvCxnSpPr>
            <a:stCxn id="927" idx="0"/>
            <a:endCxn id="929"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946" name="Google Shape;946;p48"/>
          <p:cNvCxnSpPr>
            <a:stCxn id="931" idx="3"/>
            <a:endCxn id="930" idx="7"/>
          </p:cNvCxnSpPr>
          <p:nvPr/>
        </p:nvCxnSpPr>
        <p:spPr>
          <a:xfrm flipH="1">
            <a:off x="1899634" y="318060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947" name="Google Shape;947;p48"/>
          <p:cNvCxnSpPr>
            <a:stCxn id="927" idx="6"/>
            <a:endCxn id="931"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948" name="Google Shape;948;p48"/>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sp>
        <p:nvSpPr>
          <p:cNvPr id="949" name="Google Shape;949;p48"/>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C</a:t>
            </a:r>
            <a:r>
              <a:rPr baseline="-25000" lang="en"/>
              <a:t>deg</a:t>
            </a:r>
            <a:r>
              <a:rPr lang="en"/>
              <a:t>(v): Directed</a:t>
            </a:r>
            <a:endParaRPr/>
          </a:p>
        </p:txBody>
      </p:sp>
      <p:graphicFrame>
        <p:nvGraphicFramePr>
          <p:cNvPr id="950" name="Google Shape;950;p48"/>
          <p:cNvGraphicFramePr/>
          <p:nvPr/>
        </p:nvGraphicFramePr>
        <p:xfrm>
          <a:off x="4868513" y="1147225"/>
          <a:ext cx="3000000" cy="3000000"/>
        </p:xfrm>
        <a:graphic>
          <a:graphicData uri="http://schemas.openxmlformats.org/drawingml/2006/table">
            <a:tbl>
              <a:tblPr>
                <a:noFill/>
                <a:tableStyleId>{4D36BE5A-9069-42A2-BAD7-CD2C23C4D617}</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tc>
                <a:tc>
                  <a:txBody>
                    <a:bodyPr/>
                    <a:lstStyle/>
                    <a:p>
                      <a:pPr indent="0" lvl="0" marL="0" rtl="0" algn="l">
                        <a:spcBef>
                          <a:spcPts val="0"/>
                        </a:spcBef>
                        <a:spcAft>
                          <a:spcPts val="0"/>
                        </a:spcAft>
                        <a:buNone/>
                      </a:pPr>
                      <a:r>
                        <a:rPr b="1" lang="en"/>
                        <a:t>v2</a:t>
                      </a:r>
                      <a:endParaRPr b="1"/>
                    </a:p>
                  </a:txBody>
                  <a:tcPr marT="91425" marB="91425" marR="91425" marL="91425"/>
                </a:tc>
                <a:tc>
                  <a:txBody>
                    <a:bodyPr/>
                    <a:lstStyle/>
                    <a:p>
                      <a:pPr indent="0" lvl="0" marL="0" rtl="0" algn="l">
                        <a:spcBef>
                          <a:spcPts val="0"/>
                        </a:spcBef>
                        <a:spcAft>
                          <a:spcPts val="0"/>
                        </a:spcAft>
                        <a:buNone/>
                      </a:pPr>
                      <a:r>
                        <a:rPr b="1" lang="en"/>
                        <a:t>v3</a:t>
                      </a:r>
                      <a:endParaRPr b="1"/>
                    </a:p>
                  </a:txBody>
                  <a:tcPr marT="91425" marB="91425" marR="91425" marL="91425"/>
                </a:tc>
                <a:tc>
                  <a:txBody>
                    <a:bodyPr/>
                    <a:lstStyle/>
                    <a:p>
                      <a:pPr indent="0" lvl="0" marL="0" rtl="0" algn="l">
                        <a:spcBef>
                          <a:spcPts val="0"/>
                        </a:spcBef>
                        <a:spcAft>
                          <a:spcPts val="0"/>
                        </a:spcAft>
                        <a:buNone/>
                      </a:pPr>
                      <a:r>
                        <a:rPr b="1" lang="en"/>
                        <a:t>v4</a:t>
                      </a:r>
                      <a:endParaRPr b="1"/>
                    </a:p>
                  </a:txBody>
                  <a:tcPr marT="91425" marB="91425" marR="91425" marL="91425"/>
                </a:tc>
                <a:tc>
                  <a:txBody>
                    <a:bodyPr/>
                    <a:lstStyle/>
                    <a:p>
                      <a:pPr indent="0" lvl="0" marL="0" rtl="0" algn="l">
                        <a:spcBef>
                          <a:spcPts val="0"/>
                        </a:spcBef>
                        <a:spcAft>
                          <a:spcPts val="0"/>
                        </a:spcAft>
                        <a:buNone/>
                      </a:pPr>
                      <a:r>
                        <a:rPr b="1" lang="en"/>
                        <a:t>v5</a:t>
                      </a:r>
                      <a:endParaRPr b="1"/>
                    </a:p>
                  </a:txBody>
                  <a:tcPr marT="91425" marB="91425" marR="91425" marL="91425"/>
                </a:tc>
                <a:tc>
                  <a:txBody>
                    <a:bodyPr/>
                    <a:lstStyle/>
                    <a:p>
                      <a:pPr indent="0" lvl="0" marL="0" rtl="0" algn="l">
                        <a:spcBef>
                          <a:spcPts val="0"/>
                        </a:spcBef>
                        <a:spcAft>
                          <a:spcPts val="0"/>
                        </a:spcAft>
                        <a:buNone/>
                      </a:pPr>
                      <a:r>
                        <a:rPr b="1" lang="en"/>
                        <a:t>v6</a:t>
                      </a:r>
                      <a:endParaRPr b="1"/>
                    </a:p>
                  </a:txBody>
                  <a:tcPr marT="91425" marB="91425" marR="91425" marL="91425"/>
                </a:tc>
                <a:tc>
                  <a:txBody>
                    <a:bodyPr/>
                    <a:lstStyle/>
                    <a:p>
                      <a:pPr indent="0" lvl="0" marL="0" rtl="0" algn="l">
                        <a:spcBef>
                          <a:spcPts val="0"/>
                        </a:spcBef>
                        <a:spcAft>
                          <a:spcPts val="0"/>
                        </a:spcAft>
                        <a:buNone/>
                      </a:pPr>
                      <a:r>
                        <a:rPr b="1" lang="en"/>
                        <a:t>v7</a:t>
                      </a:r>
                      <a:endParaRPr b="1"/>
                    </a:p>
                  </a:txBody>
                  <a:tcPr marT="91425" marB="91425" marR="91425" marL="91425"/>
                </a:tc>
                <a:tc>
                  <a:txBody>
                    <a:bodyPr/>
                    <a:lstStyle/>
                    <a:p>
                      <a:pPr indent="0" lvl="0" marL="0" rtl="0" algn="l">
                        <a:spcBef>
                          <a:spcPts val="0"/>
                        </a:spcBef>
                        <a:spcAft>
                          <a:spcPts val="0"/>
                        </a:spcAft>
                        <a:buNone/>
                      </a:pPr>
                      <a:r>
                        <a:rPr b="1" lang="en"/>
                        <a:t>v8</a:t>
                      </a:r>
                      <a:endParaRPr b="1"/>
                    </a:p>
                  </a:txBody>
                  <a:tcPr marT="91425" marB="91425" marR="91425" marL="91425"/>
                </a:tc>
              </a:tr>
              <a:tr h="381000">
                <a:tc>
                  <a:txBody>
                    <a:bodyPr/>
                    <a:lstStyle/>
                    <a:p>
                      <a:pPr indent="0" lvl="0" marL="0" rtl="0" algn="ctr">
                        <a:spcBef>
                          <a:spcPts val="0"/>
                        </a:spcBef>
                        <a:spcAft>
                          <a:spcPts val="0"/>
                        </a:spcAft>
                        <a:buNone/>
                      </a:pPr>
                      <a:r>
                        <a:rPr b="1" lang="en"/>
                        <a:t>v1</a:t>
                      </a:r>
                      <a:endParaRPr b="1"/>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v2</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v3</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v4</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v5</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v6</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v7</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v8</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951" name="Google Shape;951;p48"/>
          <p:cNvSpPr/>
          <p:nvPr/>
        </p:nvSpPr>
        <p:spPr>
          <a:xfrm>
            <a:off x="1491475" y="71250"/>
            <a:ext cx="3759900" cy="18810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Outdegree calculated by summing the rows of the asymmetric adjacency matrix</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p:txBody>
      </p:sp>
      <p:pic>
        <p:nvPicPr>
          <p:cNvPr descr="\textrm{Outdegree} = \sum_j^N A_{ij}}" id="952" name="Google Shape;952;p48"/>
          <p:cNvPicPr preferRelativeResize="0"/>
          <p:nvPr/>
        </p:nvPicPr>
        <p:blipFill>
          <a:blip r:embed="rId3">
            <a:alphaModFix/>
          </a:blip>
          <a:stretch>
            <a:fillRect/>
          </a:stretch>
        </p:blipFill>
        <p:spPr>
          <a:xfrm>
            <a:off x="2549800" y="1147225"/>
            <a:ext cx="1828800" cy="717217"/>
          </a:xfrm>
          <a:prstGeom prst="rect">
            <a:avLst/>
          </a:prstGeom>
          <a:noFill/>
          <a:ln>
            <a:noFill/>
          </a:ln>
        </p:spPr>
      </p:pic>
      <p:graphicFrame>
        <p:nvGraphicFramePr>
          <p:cNvPr id="953" name="Google Shape;953;p48"/>
          <p:cNvGraphicFramePr/>
          <p:nvPr/>
        </p:nvGraphicFramePr>
        <p:xfrm>
          <a:off x="8523725" y="1543500"/>
          <a:ext cx="3000000" cy="3000000"/>
        </p:xfrm>
        <a:graphic>
          <a:graphicData uri="http://schemas.openxmlformats.org/drawingml/2006/table">
            <a:tbl>
              <a:tblPr>
                <a:noFill/>
                <a:tableStyleId>{D533A967-1B24-4C1F-A5BD-666CA7F43D67}</a:tableStyleId>
              </a:tblPr>
              <a:tblGrid>
                <a:gridCol w="308575"/>
              </a:tblGrid>
              <a:tr h="396200">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3</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id="954" name="Google Shape;954;p48"/>
          <p:cNvPicPr preferRelativeResize="0"/>
          <p:nvPr/>
        </p:nvPicPr>
        <p:blipFill>
          <a:blip r:embed="rId4">
            <a:alphaModFix/>
          </a:blip>
          <a:stretch>
            <a:fillRect/>
          </a:stretch>
        </p:blipFill>
        <p:spPr>
          <a:xfrm>
            <a:off x="7006925" y="315925"/>
            <a:ext cx="1957900" cy="6663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p49"/>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960" name="Google Shape;960;p49"/>
          <p:cNvSpPr/>
          <p:nvPr/>
        </p:nvSpPr>
        <p:spPr>
          <a:xfrm>
            <a:off x="1542374"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961" name="Google Shape;961;p49"/>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962" name="Google Shape;962;p49"/>
          <p:cNvSpPr/>
          <p:nvPr/>
        </p:nvSpPr>
        <p:spPr>
          <a:xfrm>
            <a:off x="1542347" y="1546450"/>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963" name="Google Shape;963;p49"/>
          <p:cNvSpPr/>
          <p:nvPr/>
        </p:nvSpPr>
        <p:spPr>
          <a:xfrm>
            <a:off x="15422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964" name="Google Shape;964;p49"/>
          <p:cNvSpPr/>
          <p:nvPr/>
        </p:nvSpPr>
        <p:spPr>
          <a:xfrm>
            <a:off x="2785146"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965" name="Google Shape;965;p49"/>
          <p:cNvSpPr/>
          <p:nvPr/>
        </p:nvSpPr>
        <p:spPr>
          <a:xfrm>
            <a:off x="4240467"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966" name="Google Shape;966;p49"/>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967" name="Google Shape;967;p49"/>
          <p:cNvCxnSpPr>
            <a:stCxn id="959" idx="7"/>
            <a:endCxn id="962"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968" name="Google Shape;968;p49"/>
          <p:cNvCxnSpPr>
            <a:stCxn id="964" idx="6"/>
            <a:endCxn id="965" idx="2"/>
          </p:cNvCxnSpPr>
          <p:nvPr/>
        </p:nvCxnSpPr>
        <p:spPr>
          <a:xfrm>
            <a:off x="3203646" y="3037096"/>
            <a:ext cx="1036800" cy="0"/>
          </a:xfrm>
          <a:prstGeom prst="straightConnector1">
            <a:avLst/>
          </a:prstGeom>
          <a:noFill/>
          <a:ln cap="flat" cmpd="sng" w="19050">
            <a:solidFill>
              <a:srgbClr val="FF0000"/>
            </a:solidFill>
            <a:prstDash val="solid"/>
            <a:round/>
            <a:headEnd len="med" w="med" type="none"/>
            <a:tailEnd len="med" w="med" type="triangle"/>
          </a:ln>
        </p:spPr>
      </p:cxnSp>
      <p:cxnSp>
        <p:nvCxnSpPr>
          <p:cNvPr id="969" name="Google Shape;969;p49"/>
          <p:cNvCxnSpPr>
            <a:stCxn id="961" idx="6"/>
            <a:endCxn id="966"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970" name="Google Shape;970;p49"/>
          <p:cNvCxnSpPr>
            <a:stCxn id="964" idx="4"/>
            <a:endCxn id="961" idx="0"/>
          </p:cNvCxnSpPr>
          <p:nvPr/>
        </p:nvCxnSpPr>
        <p:spPr>
          <a:xfrm>
            <a:off x="2994396" y="3240046"/>
            <a:ext cx="0" cy="881700"/>
          </a:xfrm>
          <a:prstGeom prst="straightConnector1">
            <a:avLst/>
          </a:prstGeom>
          <a:noFill/>
          <a:ln cap="flat" cmpd="sng" w="19050">
            <a:solidFill>
              <a:srgbClr val="FF0000"/>
            </a:solidFill>
            <a:prstDash val="solid"/>
            <a:round/>
            <a:headEnd len="med" w="med" type="none"/>
            <a:tailEnd len="med" w="med" type="triangle"/>
          </a:ln>
        </p:spPr>
      </p:cxnSp>
      <p:cxnSp>
        <p:nvCxnSpPr>
          <p:cNvPr id="971" name="Google Shape;971;p49"/>
          <p:cNvCxnSpPr>
            <a:stCxn id="960" idx="4"/>
            <a:endCxn id="963"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972" name="Google Shape;972;p49"/>
          <p:cNvCxnSpPr>
            <a:stCxn id="959" idx="5"/>
            <a:endCxn id="963" idx="2"/>
          </p:cNvCxnSpPr>
          <p:nvPr/>
        </p:nvCxnSpPr>
        <p:spPr>
          <a:xfrm>
            <a:off x="444175" y="3180603"/>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973" name="Google Shape;973;p49"/>
          <p:cNvCxnSpPr>
            <a:stCxn id="959" idx="6"/>
            <a:endCxn id="960"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974" name="Google Shape;974;p49"/>
          <p:cNvCxnSpPr>
            <a:stCxn id="961" idx="2"/>
            <a:endCxn id="963" idx="6"/>
          </p:cNvCxnSpPr>
          <p:nvPr/>
        </p:nvCxnSpPr>
        <p:spPr>
          <a:xfrm rot="10800000">
            <a:off x="1960698" y="4324785"/>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975" name="Google Shape;975;p49"/>
          <p:cNvCxnSpPr>
            <a:stCxn id="966" idx="1"/>
            <a:endCxn id="964"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976" name="Google Shape;976;p49"/>
          <p:cNvCxnSpPr>
            <a:stCxn id="965" idx="1"/>
            <a:endCxn id="962"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977" name="Google Shape;977;p49"/>
          <p:cNvCxnSpPr>
            <a:stCxn id="962" idx="5"/>
            <a:endCxn id="964"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978" name="Google Shape;978;p49"/>
          <p:cNvCxnSpPr>
            <a:stCxn id="960" idx="0"/>
            <a:endCxn id="962"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979" name="Google Shape;979;p49"/>
          <p:cNvCxnSpPr>
            <a:stCxn id="964" idx="3"/>
            <a:endCxn id="963" idx="7"/>
          </p:cNvCxnSpPr>
          <p:nvPr/>
        </p:nvCxnSpPr>
        <p:spPr>
          <a:xfrm flipH="1">
            <a:off x="1899634" y="3180603"/>
            <a:ext cx="946800" cy="1000800"/>
          </a:xfrm>
          <a:prstGeom prst="straightConnector1">
            <a:avLst/>
          </a:prstGeom>
          <a:noFill/>
          <a:ln cap="flat" cmpd="sng" w="19050">
            <a:solidFill>
              <a:srgbClr val="FF0000"/>
            </a:solidFill>
            <a:prstDash val="solid"/>
            <a:round/>
            <a:headEnd len="med" w="med" type="none"/>
            <a:tailEnd len="med" w="med" type="triangle"/>
          </a:ln>
        </p:spPr>
      </p:cxnSp>
      <p:cxnSp>
        <p:nvCxnSpPr>
          <p:cNvPr id="980" name="Google Shape;980;p49"/>
          <p:cNvCxnSpPr>
            <a:stCxn id="960" idx="6"/>
            <a:endCxn id="964"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981" name="Google Shape;981;p49"/>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sp>
        <p:nvSpPr>
          <p:cNvPr id="982" name="Google Shape;982;p49"/>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C</a:t>
            </a:r>
            <a:r>
              <a:rPr baseline="-25000" lang="en"/>
              <a:t>deg</a:t>
            </a:r>
            <a:r>
              <a:rPr lang="en"/>
              <a:t>(v): Directed</a:t>
            </a:r>
            <a:endParaRPr/>
          </a:p>
        </p:txBody>
      </p:sp>
      <p:graphicFrame>
        <p:nvGraphicFramePr>
          <p:cNvPr id="983" name="Google Shape;983;p49"/>
          <p:cNvGraphicFramePr/>
          <p:nvPr/>
        </p:nvGraphicFramePr>
        <p:xfrm>
          <a:off x="4868513" y="1147225"/>
          <a:ext cx="3000000" cy="3000000"/>
        </p:xfrm>
        <a:graphic>
          <a:graphicData uri="http://schemas.openxmlformats.org/drawingml/2006/table">
            <a:tbl>
              <a:tblPr>
                <a:noFill/>
                <a:tableStyleId>{4D36BE5A-9069-42A2-BAD7-CD2C23C4D617}</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tc>
                <a:tc>
                  <a:txBody>
                    <a:bodyPr/>
                    <a:lstStyle/>
                    <a:p>
                      <a:pPr indent="0" lvl="0" marL="0" rtl="0" algn="l">
                        <a:spcBef>
                          <a:spcPts val="0"/>
                        </a:spcBef>
                        <a:spcAft>
                          <a:spcPts val="0"/>
                        </a:spcAft>
                        <a:buNone/>
                      </a:pPr>
                      <a:r>
                        <a:rPr b="1" lang="en"/>
                        <a:t>v2</a:t>
                      </a:r>
                      <a:endParaRPr b="1"/>
                    </a:p>
                  </a:txBody>
                  <a:tcPr marT="91425" marB="91425" marR="91425" marL="91425"/>
                </a:tc>
                <a:tc>
                  <a:txBody>
                    <a:bodyPr/>
                    <a:lstStyle/>
                    <a:p>
                      <a:pPr indent="0" lvl="0" marL="0" rtl="0" algn="l">
                        <a:spcBef>
                          <a:spcPts val="0"/>
                        </a:spcBef>
                        <a:spcAft>
                          <a:spcPts val="0"/>
                        </a:spcAft>
                        <a:buNone/>
                      </a:pPr>
                      <a:r>
                        <a:rPr b="1" lang="en"/>
                        <a:t>v3</a:t>
                      </a:r>
                      <a:endParaRPr b="1"/>
                    </a:p>
                  </a:txBody>
                  <a:tcPr marT="91425" marB="91425" marR="91425" marL="91425"/>
                </a:tc>
                <a:tc>
                  <a:txBody>
                    <a:bodyPr/>
                    <a:lstStyle/>
                    <a:p>
                      <a:pPr indent="0" lvl="0" marL="0" rtl="0" algn="l">
                        <a:spcBef>
                          <a:spcPts val="0"/>
                        </a:spcBef>
                        <a:spcAft>
                          <a:spcPts val="0"/>
                        </a:spcAft>
                        <a:buNone/>
                      </a:pPr>
                      <a:r>
                        <a:rPr b="1" lang="en"/>
                        <a:t>v4</a:t>
                      </a:r>
                      <a:endParaRPr b="1"/>
                    </a:p>
                  </a:txBody>
                  <a:tcPr marT="91425" marB="91425" marR="91425" marL="91425"/>
                </a:tc>
                <a:tc>
                  <a:txBody>
                    <a:bodyPr/>
                    <a:lstStyle/>
                    <a:p>
                      <a:pPr indent="0" lvl="0" marL="0" rtl="0" algn="l">
                        <a:spcBef>
                          <a:spcPts val="0"/>
                        </a:spcBef>
                        <a:spcAft>
                          <a:spcPts val="0"/>
                        </a:spcAft>
                        <a:buNone/>
                      </a:pPr>
                      <a:r>
                        <a:rPr b="1" lang="en"/>
                        <a:t>v5</a:t>
                      </a:r>
                      <a:endParaRPr b="1"/>
                    </a:p>
                  </a:txBody>
                  <a:tcPr marT="91425" marB="91425" marR="91425" marL="91425"/>
                </a:tc>
                <a:tc>
                  <a:txBody>
                    <a:bodyPr/>
                    <a:lstStyle/>
                    <a:p>
                      <a:pPr indent="0" lvl="0" marL="0" rtl="0" algn="l">
                        <a:spcBef>
                          <a:spcPts val="0"/>
                        </a:spcBef>
                        <a:spcAft>
                          <a:spcPts val="0"/>
                        </a:spcAft>
                        <a:buNone/>
                      </a:pPr>
                      <a:r>
                        <a:rPr b="1" lang="en"/>
                        <a:t>v6</a:t>
                      </a:r>
                      <a:endParaRPr b="1"/>
                    </a:p>
                  </a:txBody>
                  <a:tcPr marT="91425" marB="91425" marR="91425" marL="91425"/>
                </a:tc>
                <a:tc>
                  <a:txBody>
                    <a:bodyPr/>
                    <a:lstStyle/>
                    <a:p>
                      <a:pPr indent="0" lvl="0" marL="0" rtl="0" algn="l">
                        <a:spcBef>
                          <a:spcPts val="0"/>
                        </a:spcBef>
                        <a:spcAft>
                          <a:spcPts val="0"/>
                        </a:spcAft>
                        <a:buNone/>
                      </a:pPr>
                      <a:r>
                        <a:rPr b="1" lang="en"/>
                        <a:t>v7</a:t>
                      </a:r>
                      <a:endParaRPr b="1"/>
                    </a:p>
                  </a:txBody>
                  <a:tcPr marT="91425" marB="91425" marR="91425" marL="91425"/>
                </a:tc>
                <a:tc>
                  <a:txBody>
                    <a:bodyPr/>
                    <a:lstStyle/>
                    <a:p>
                      <a:pPr indent="0" lvl="0" marL="0" rtl="0" algn="l">
                        <a:spcBef>
                          <a:spcPts val="0"/>
                        </a:spcBef>
                        <a:spcAft>
                          <a:spcPts val="0"/>
                        </a:spcAft>
                        <a:buNone/>
                      </a:pPr>
                      <a:r>
                        <a:rPr b="1" lang="en"/>
                        <a:t>v8</a:t>
                      </a:r>
                      <a:endParaRPr b="1"/>
                    </a:p>
                  </a:txBody>
                  <a:tcPr marT="91425" marB="91425" marR="91425" marL="91425"/>
                </a:tc>
              </a:tr>
              <a:tr h="381000">
                <a:tc>
                  <a:txBody>
                    <a:bodyPr/>
                    <a:lstStyle/>
                    <a:p>
                      <a:pPr indent="0" lvl="0" marL="0" rtl="0" algn="ctr">
                        <a:spcBef>
                          <a:spcPts val="0"/>
                        </a:spcBef>
                        <a:spcAft>
                          <a:spcPts val="0"/>
                        </a:spcAft>
                        <a:buNone/>
                      </a:pPr>
                      <a:r>
                        <a:rPr b="1" lang="en"/>
                        <a:t>v1</a:t>
                      </a:r>
                      <a:endParaRPr b="1"/>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v2</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v3</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v4</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v5</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v6</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v7</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v8</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984" name="Google Shape;984;p49"/>
          <p:cNvSpPr/>
          <p:nvPr/>
        </p:nvSpPr>
        <p:spPr>
          <a:xfrm>
            <a:off x="1491475" y="71250"/>
            <a:ext cx="3759900" cy="18810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Outdegree calculated by summing the rows of the asymmetric adjacency matrix</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p:txBody>
      </p:sp>
      <p:pic>
        <p:nvPicPr>
          <p:cNvPr descr="\textrm{Outdegree} = \sum_j^N A_{ij}}" id="985" name="Google Shape;985;p49"/>
          <p:cNvPicPr preferRelativeResize="0"/>
          <p:nvPr/>
        </p:nvPicPr>
        <p:blipFill>
          <a:blip r:embed="rId3">
            <a:alphaModFix/>
          </a:blip>
          <a:stretch>
            <a:fillRect/>
          </a:stretch>
        </p:blipFill>
        <p:spPr>
          <a:xfrm>
            <a:off x="2549800" y="1147225"/>
            <a:ext cx="1828800" cy="717217"/>
          </a:xfrm>
          <a:prstGeom prst="rect">
            <a:avLst/>
          </a:prstGeom>
          <a:noFill/>
          <a:ln>
            <a:noFill/>
          </a:ln>
        </p:spPr>
      </p:pic>
      <p:graphicFrame>
        <p:nvGraphicFramePr>
          <p:cNvPr id="986" name="Google Shape;986;p49"/>
          <p:cNvGraphicFramePr/>
          <p:nvPr/>
        </p:nvGraphicFramePr>
        <p:xfrm>
          <a:off x="8523725" y="1543500"/>
          <a:ext cx="3000000" cy="3000000"/>
        </p:xfrm>
        <a:graphic>
          <a:graphicData uri="http://schemas.openxmlformats.org/drawingml/2006/table">
            <a:tbl>
              <a:tblPr>
                <a:noFill/>
                <a:tableStyleId>{D533A967-1B24-4C1F-A5BD-666CA7F43D67}</a:tableStyleId>
              </a:tblPr>
              <a:tblGrid>
                <a:gridCol w="308575"/>
              </a:tblGrid>
              <a:tr h="396200">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3</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id="987" name="Google Shape;987;p49"/>
          <p:cNvPicPr preferRelativeResize="0"/>
          <p:nvPr/>
        </p:nvPicPr>
        <p:blipFill>
          <a:blip r:embed="rId4">
            <a:alphaModFix/>
          </a:blip>
          <a:stretch>
            <a:fillRect/>
          </a:stretch>
        </p:blipFill>
        <p:spPr>
          <a:xfrm>
            <a:off x="7006925" y="315925"/>
            <a:ext cx="1957900" cy="666350"/>
          </a:xfrm>
          <a:prstGeom prst="rect">
            <a:avLst/>
          </a:prstGeom>
          <a:noFill/>
          <a:ln>
            <a:noFill/>
          </a:ln>
        </p:spPr>
      </p:pic>
      <p:sp>
        <p:nvSpPr>
          <p:cNvPr id="988" name="Google Shape;988;p49"/>
          <p:cNvSpPr/>
          <p:nvPr/>
        </p:nvSpPr>
        <p:spPr>
          <a:xfrm>
            <a:off x="2659425" y="2713950"/>
            <a:ext cx="694500" cy="637500"/>
          </a:xfrm>
          <a:prstGeom prst="rect">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49"/>
          <p:cNvSpPr/>
          <p:nvPr/>
        </p:nvSpPr>
        <p:spPr>
          <a:xfrm>
            <a:off x="4685850" y="2713950"/>
            <a:ext cx="4278900" cy="405900"/>
          </a:xfrm>
          <a:prstGeom prst="rect">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p50"/>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995" name="Google Shape;995;p50"/>
          <p:cNvSpPr/>
          <p:nvPr/>
        </p:nvSpPr>
        <p:spPr>
          <a:xfrm>
            <a:off x="1542374"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996" name="Google Shape;996;p50"/>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997" name="Google Shape;997;p50"/>
          <p:cNvSpPr/>
          <p:nvPr/>
        </p:nvSpPr>
        <p:spPr>
          <a:xfrm>
            <a:off x="1542347" y="1546450"/>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998" name="Google Shape;998;p50"/>
          <p:cNvSpPr/>
          <p:nvPr/>
        </p:nvSpPr>
        <p:spPr>
          <a:xfrm>
            <a:off x="15422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999" name="Google Shape;999;p50"/>
          <p:cNvSpPr/>
          <p:nvPr/>
        </p:nvSpPr>
        <p:spPr>
          <a:xfrm>
            <a:off x="2785146"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1000" name="Google Shape;1000;p50"/>
          <p:cNvSpPr/>
          <p:nvPr/>
        </p:nvSpPr>
        <p:spPr>
          <a:xfrm>
            <a:off x="4240467"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1001" name="Google Shape;1001;p50"/>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1002" name="Google Shape;1002;p50"/>
          <p:cNvCxnSpPr>
            <a:stCxn id="994" idx="7"/>
            <a:endCxn id="997"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1003" name="Google Shape;1003;p50"/>
          <p:cNvCxnSpPr>
            <a:stCxn id="999" idx="6"/>
            <a:endCxn id="1000" idx="2"/>
          </p:cNvCxnSpPr>
          <p:nvPr/>
        </p:nvCxnSpPr>
        <p:spPr>
          <a:xfrm>
            <a:off x="3203646"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1004" name="Google Shape;1004;p50"/>
          <p:cNvCxnSpPr>
            <a:stCxn id="996" idx="6"/>
            <a:endCxn id="1001"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1005" name="Google Shape;1005;p50"/>
          <p:cNvCxnSpPr>
            <a:stCxn id="999" idx="4"/>
            <a:endCxn id="996" idx="0"/>
          </p:cNvCxnSpPr>
          <p:nvPr/>
        </p:nvCxnSpPr>
        <p:spPr>
          <a:xfrm>
            <a:off x="2994396" y="32400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1006" name="Google Shape;1006;p50"/>
          <p:cNvCxnSpPr>
            <a:stCxn id="995" idx="4"/>
            <a:endCxn id="998"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1007" name="Google Shape;1007;p50"/>
          <p:cNvCxnSpPr>
            <a:stCxn id="994" idx="5"/>
            <a:endCxn id="998" idx="2"/>
          </p:cNvCxnSpPr>
          <p:nvPr/>
        </p:nvCxnSpPr>
        <p:spPr>
          <a:xfrm>
            <a:off x="444175" y="3180603"/>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1008" name="Google Shape;1008;p50"/>
          <p:cNvCxnSpPr>
            <a:stCxn id="994" idx="6"/>
            <a:endCxn id="995"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1009" name="Google Shape;1009;p50"/>
          <p:cNvCxnSpPr>
            <a:stCxn id="996" idx="2"/>
            <a:endCxn id="998" idx="6"/>
          </p:cNvCxnSpPr>
          <p:nvPr/>
        </p:nvCxnSpPr>
        <p:spPr>
          <a:xfrm rot="10800000">
            <a:off x="1960698" y="4324785"/>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1010" name="Google Shape;1010;p50"/>
          <p:cNvCxnSpPr>
            <a:stCxn id="1001" idx="1"/>
            <a:endCxn id="999"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1011" name="Google Shape;1011;p50"/>
          <p:cNvCxnSpPr>
            <a:stCxn id="1000" idx="1"/>
            <a:endCxn id="997"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1012" name="Google Shape;1012;p50"/>
          <p:cNvCxnSpPr>
            <a:stCxn id="997" idx="5"/>
            <a:endCxn id="999"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1013" name="Google Shape;1013;p50"/>
          <p:cNvCxnSpPr>
            <a:stCxn id="995" idx="0"/>
            <a:endCxn id="997"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1014" name="Google Shape;1014;p50"/>
          <p:cNvCxnSpPr>
            <a:stCxn id="999" idx="3"/>
            <a:endCxn id="998" idx="7"/>
          </p:cNvCxnSpPr>
          <p:nvPr/>
        </p:nvCxnSpPr>
        <p:spPr>
          <a:xfrm flipH="1">
            <a:off x="1899634" y="318060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1015" name="Google Shape;1015;p50"/>
          <p:cNvCxnSpPr>
            <a:stCxn id="995" idx="6"/>
            <a:endCxn id="999"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1016" name="Google Shape;1016;p50"/>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sp>
        <p:nvSpPr>
          <p:cNvPr id="1017" name="Google Shape;1017;p50"/>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C</a:t>
            </a:r>
            <a:r>
              <a:rPr baseline="-25000" lang="en"/>
              <a:t>deg</a:t>
            </a:r>
            <a:r>
              <a:rPr lang="en"/>
              <a:t>(v): Directed</a:t>
            </a:r>
            <a:endParaRPr/>
          </a:p>
        </p:txBody>
      </p:sp>
      <p:graphicFrame>
        <p:nvGraphicFramePr>
          <p:cNvPr id="1018" name="Google Shape;1018;p50"/>
          <p:cNvGraphicFramePr/>
          <p:nvPr/>
        </p:nvGraphicFramePr>
        <p:xfrm>
          <a:off x="4868513" y="1147225"/>
          <a:ext cx="3000000" cy="3000000"/>
        </p:xfrm>
        <a:graphic>
          <a:graphicData uri="http://schemas.openxmlformats.org/drawingml/2006/table">
            <a:tbl>
              <a:tblPr>
                <a:noFill/>
                <a:tableStyleId>{4D36BE5A-9069-42A2-BAD7-CD2C23C4D617}</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tc>
                <a:tc>
                  <a:txBody>
                    <a:bodyPr/>
                    <a:lstStyle/>
                    <a:p>
                      <a:pPr indent="0" lvl="0" marL="0" rtl="0" algn="l">
                        <a:spcBef>
                          <a:spcPts val="0"/>
                        </a:spcBef>
                        <a:spcAft>
                          <a:spcPts val="0"/>
                        </a:spcAft>
                        <a:buNone/>
                      </a:pPr>
                      <a:r>
                        <a:rPr b="1" lang="en"/>
                        <a:t>v2</a:t>
                      </a:r>
                      <a:endParaRPr b="1"/>
                    </a:p>
                  </a:txBody>
                  <a:tcPr marT="91425" marB="91425" marR="91425" marL="91425"/>
                </a:tc>
                <a:tc>
                  <a:txBody>
                    <a:bodyPr/>
                    <a:lstStyle/>
                    <a:p>
                      <a:pPr indent="0" lvl="0" marL="0" rtl="0" algn="l">
                        <a:spcBef>
                          <a:spcPts val="0"/>
                        </a:spcBef>
                        <a:spcAft>
                          <a:spcPts val="0"/>
                        </a:spcAft>
                        <a:buNone/>
                      </a:pPr>
                      <a:r>
                        <a:rPr b="1" lang="en"/>
                        <a:t>v3</a:t>
                      </a:r>
                      <a:endParaRPr b="1"/>
                    </a:p>
                  </a:txBody>
                  <a:tcPr marT="91425" marB="91425" marR="91425" marL="91425"/>
                </a:tc>
                <a:tc>
                  <a:txBody>
                    <a:bodyPr/>
                    <a:lstStyle/>
                    <a:p>
                      <a:pPr indent="0" lvl="0" marL="0" rtl="0" algn="l">
                        <a:spcBef>
                          <a:spcPts val="0"/>
                        </a:spcBef>
                        <a:spcAft>
                          <a:spcPts val="0"/>
                        </a:spcAft>
                        <a:buNone/>
                      </a:pPr>
                      <a:r>
                        <a:rPr b="1" lang="en"/>
                        <a:t>v4</a:t>
                      </a:r>
                      <a:endParaRPr b="1"/>
                    </a:p>
                  </a:txBody>
                  <a:tcPr marT="91425" marB="91425" marR="91425" marL="91425"/>
                </a:tc>
                <a:tc>
                  <a:txBody>
                    <a:bodyPr/>
                    <a:lstStyle/>
                    <a:p>
                      <a:pPr indent="0" lvl="0" marL="0" rtl="0" algn="l">
                        <a:spcBef>
                          <a:spcPts val="0"/>
                        </a:spcBef>
                        <a:spcAft>
                          <a:spcPts val="0"/>
                        </a:spcAft>
                        <a:buNone/>
                      </a:pPr>
                      <a:r>
                        <a:rPr b="1" lang="en"/>
                        <a:t>v5</a:t>
                      </a:r>
                      <a:endParaRPr b="1"/>
                    </a:p>
                  </a:txBody>
                  <a:tcPr marT="91425" marB="91425" marR="91425" marL="91425"/>
                </a:tc>
                <a:tc>
                  <a:txBody>
                    <a:bodyPr/>
                    <a:lstStyle/>
                    <a:p>
                      <a:pPr indent="0" lvl="0" marL="0" rtl="0" algn="l">
                        <a:spcBef>
                          <a:spcPts val="0"/>
                        </a:spcBef>
                        <a:spcAft>
                          <a:spcPts val="0"/>
                        </a:spcAft>
                        <a:buNone/>
                      </a:pPr>
                      <a:r>
                        <a:rPr b="1" lang="en"/>
                        <a:t>v6</a:t>
                      </a:r>
                      <a:endParaRPr b="1"/>
                    </a:p>
                  </a:txBody>
                  <a:tcPr marT="91425" marB="91425" marR="91425" marL="91425"/>
                </a:tc>
                <a:tc>
                  <a:txBody>
                    <a:bodyPr/>
                    <a:lstStyle/>
                    <a:p>
                      <a:pPr indent="0" lvl="0" marL="0" rtl="0" algn="l">
                        <a:spcBef>
                          <a:spcPts val="0"/>
                        </a:spcBef>
                        <a:spcAft>
                          <a:spcPts val="0"/>
                        </a:spcAft>
                        <a:buNone/>
                      </a:pPr>
                      <a:r>
                        <a:rPr b="1" lang="en"/>
                        <a:t>v7</a:t>
                      </a:r>
                      <a:endParaRPr b="1"/>
                    </a:p>
                  </a:txBody>
                  <a:tcPr marT="91425" marB="91425" marR="91425" marL="91425"/>
                </a:tc>
                <a:tc>
                  <a:txBody>
                    <a:bodyPr/>
                    <a:lstStyle/>
                    <a:p>
                      <a:pPr indent="0" lvl="0" marL="0" rtl="0" algn="l">
                        <a:spcBef>
                          <a:spcPts val="0"/>
                        </a:spcBef>
                        <a:spcAft>
                          <a:spcPts val="0"/>
                        </a:spcAft>
                        <a:buNone/>
                      </a:pPr>
                      <a:r>
                        <a:rPr b="1" lang="en"/>
                        <a:t>v8</a:t>
                      </a:r>
                      <a:endParaRPr b="1"/>
                    </a:p>
                  </a:txBody>
                  <a:tcPr marT="91425" marB="91425" marR="91425" marL="91425"/>
                </a:tc>
              </a:tr>
              <a:tr h="381000">
                <a:tc>
                  <a:txBody>
                    <a:bodyPr/>
                    <a:lstStyle/>
                    <a:p>
                      <a:pPr indent="0" lvl="0" marL="0" rtl="0" algn="ctr">
                        <a:spcBef>
                          <a:spcPts val="0"/>
                        </a:spcBef>
                        <a:spcAft>
                          <a:spcPts val="0"/>
                        </a:spcAft>
                        <a:buNone/>
                      </a:pPr>
                      <a:r>
                        <a:rPr b="1" lang="en"/>
                        <a:t>v1</a:t>
                      </a:r>
                      <a:endParaRPr b="1"/>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v2</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v3</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v4</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v5</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v6</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v7</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v8</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019" name="Google Shape;1019;p50"/>
          <p:cNvSpPr/>
          <p:nvPr/>
        </p:nvSpPr>
        <p:spPr>
          <a:xfrm>
            <a:off x="1491475" y="71250"/>
            <a:ext cx="3759900" cy="18810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Indegree</a:t>
            </a:r>
            <a:r>
              <a:rPr b="1" lang="en">
                <a:solidFill>
                  <a:srgbClr val="FF0000"/>
                </a:solidFill>
              </a:rPr>
              <a:t> calculated by summing the columns of the asymmetric adjacency matrix</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p:txBody>
      </p:sp>
      <p:pic>
        <p:nvPicPr>
          <p:cNvPr id="1020" name="Google Shape;1020;p50"/>
          <p:cNvPicPr preferRelativeResize="0"/>
          <p:nvPr/>
        </p:nvPicPr>
        <p:blipFill>
          <a:blip r:embed="rId3">
            <a:alphaModFix/>
          </a:blip>
          <a:stretch>
            <a:fillRect/>
          </a:stretch>
        </p:blipFill>
        <p:spPr>
          <a:xfrm>
            <a:off x="7006925" y="315925"/>
            <a:ext cx="1957900" cy="666350"/>
          </a:xfrm>
          <a:prstGeom prst="rect">
            <a:avLst/>
          </a:prstGeom>
          <a:noFill/>
          <a:ln>
            <a:noFill/>
          </a:ln>
        </p:spPr>
      </p:pic>
      <p:pic>
        <p:nvPicPr>
          <p:cNvPr descr="\textnormal{Indegree} = \sum_i^N A_{ij}" id="1021" name="Google Shape;1021;p50"/>
          <p:cNvPicPr preferRelativeResize="0"/>
          <p:nvPr/>
        </p:nvPicPr>
        <p:blipFill>
          <a:blip r:embed="rId4">
            <a:alphaModFix/>
          </a:blip>
          <a:stretch>
            <a:fillRect/>
          </a:stretch>
        </p:blipFill>
        <p:spPr>
          <a:xfrm>
            <a:off x="2500275" y="1147225"/>
            <a:ext cx="1828801" cy="747227"/>
          </a:xfrm>
          <a:prstGeom prst="rect">
            <a:avLst/>
          </a:prstGeom>
          <a:noFill/>
          <a:ln>
            <a:noFill/>
          </a:ln>
        </p:spPr>
      </p:pic>
      <p:graphicFrame>
        <p:nvGraphicFramePr>
          <p:cNvPr id="1022" name="Google Shape;1022;p50"/>
          <p:cNvGraphicFramePr/>
          <p:nvPr/>
        </p:nvGraphicFramePr>
        <p:xfrm>
          <a:off x="5251300" y="4790625"/>
          <a:ext cx="3000000" cy="3000000"/>
        </p:xfrm>
        <a:graphic>
          <a:graphicData uri="http://schemas.openxmlformats.org/drawingml/2006/table">
            <a:tbl>
              <a:tblPr>
                <a:noFill/>
                <a:tableStyleId>{D533A967-1B24-4C1F-A5BD-666CA7F43D67}</a:tableStyleId>
              </a:tblPr>
              <a:tblGrid>
                <a:gridCol w="382925"/>
                <a:gridCol w="382850"/>
                <a:gridCol w="382850"/>
                <a:gridCol w="382850"/>
                <a:gridCol w="382850"/>
                <a:gridCol w="382850"/>
                <a:gridCol w="382850"/>
                <a:gridCol w="382825"/>
              </a:tblGrid>
              <a:tr h="292500">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3</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3</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51"/>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1028" name="Google Shape;1028;p51"/>
          <p:cNvSpPr/>
          <p:nvPr/>
        </p:nvSpPr>
        <p:spPr>
          <a:xfrm>
            <a:off x="1542374"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1029" name="Google Shape;1029;p51"/>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1030" name="Google Shape;1030;p51"/>
          <p:cNvSpPr/>
          <p:nvPr/>
        </p:nvSpPr>
        <p:spPr>
          <a:xfrm>
            <a:off x="1542347" y="1546450"/>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1031" name="Google Shape;1031;p51"/>
          <p:cNvSpPr/>
          <p:nvPr/>
        </p:nvSpPr>
        <p:spPr>
          <a:xfrm>
            <a:off x="15422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1032" name="Google Shape;1032;p51"/>
          <p:cNvSpPr/>
          <p:nvPr/>
        </p:nvSpPr>
        <p:spPr>
          <a:xfrm>
            <a:off x="2785146"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1033" name="Google Shape;1033;p51"/>
          <p:cNvSpPr/>
          <p:nvPr/>
        </p:nvSpPr>
        <p:spPr>
          <a:xfrm>
            <a:off x="4240467"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1034" name="Google Shape;1034;p51"/>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1035" name="Google Shape;1035;p51"/>
          <p:cNvCxnSpPr>
            <a:stCxn id="1027" idx="7"/>
            <a:endCxn id="1030"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1036" name="Google Shape;1036;p51"/>
          <p:cNvCxnSpPr>
            <a:stCxn id="1032" idx="6"/>
            <a:endCxn id="1033" idx="2"/>
          </p:cNvCxnSpPr>
          <p:nvPr/>
        </p:nvCxnSpPr>
        <p:spPr>
          <a:xfrm>
            <a:off x="3203646"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1037" name="Google Shape;1037;p51"/>
          <p:cNvCxnSpPr>
            <a:stCxn id="1029" idx="6"/>
            <a:endCxn id="1034"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1038" name="Google Shape;1038;p51"/>
          <p:cNvCxnSpPr>
            <a:stCxn id="1032" idx="4"/>
            <a:endCxn id="1029" idx="0"/>
          </p:cNvCxnSpPr>
          <p:nvPr/>
        </p:nvCxnSpPr>
        <p:spPr>
          <a:xfrm>
            <a:off x="2994396" y="32400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1039" name="Google Shape;1039;p51"/>
          <p:cNvCxnSpPr>
            <a:stCxn id="1028" idx="4"/>
            <a:endCxn id="1031"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1040" name="Google Shape;1040;p51"/>
          <p:cNvCxnSpPr>
            <a:stCxn id="1027" idx="5"/>
            <a:endCxn id="1031" idx="2"/>
          </p:cNvCxnSpPr>
          <p:nvPr/>
        </p:nvCxnSpPr>
        <p:spPr>
          <a:xfrm>
            <a:off x="444175" y="3180603"/>
            <a:ext cx="1098000" cy="1144200"/>
          </a:xfrm>
          <a:prstGeom prst="straightConnector1">
            <a:avLst/>
          </a:prstGeom>
          <a:noFill/>
          <a:ln cap="flat" cmpd="sng" w="19050">
            <a:solidFill>
              <a:srgbClr val="FF0000"/>
            </a:solidFill>
            <a:prstDash val="solid"/>
            <a:round/>
            <a:headEnd len="med" w="med" type="none"/>
            <a:tailEnd len="med" w="med" type="triangle"/>
          </a:ln>
        </p:spPr>
      </p:cxnSp>
      <p:cxnSp>
        <p:nvCxnSpPr>
          <p:cNvPr id="1041" name="Google Shape;1041;p51"/>
          <p:cNvCxnSpPr>
            <a:stCxn id="1027" idx="6"/>
            <a:endCxn id="1028"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1042" name="Google Shape;1042;p51"/>
          <p:cNvCxnSpPr>
            <a:stCxn id="1029" idx="2"/>
            <a:endCxn id="1031" idx="6"/>
          </p:cNvCxnSpPr>
          <p:nvPr/>
        </p:nvCxnSpPr>
        <p:spPr>
          <a:xfrm rot="10800000">
            <a:off x="1960698" y="4324785"/>
            <a:ext cx="824400" cy="0"/>
          </a:xfrm>
          <a:prstGeom prst="straightConnector1">
            <a:avLst/>
          </a:prstGeom>
          <a:noFill/>
          <a:ln cap="flat" cmpd="sng" w="19050">
            <a:solidFill>
              <a:srgbClr val="FF0000"/>
            </a:solidFill>
            <a:prstDash val="solid"/>
            <a:round/>
            <a:headEnd len="med" w="med" type="none"/>
            <a:tailEnd len="med" w="med" type="triangle"/>
          </a:ln>
        </p:spPr>
      </p:cxnSp>
      <p:cxnSp>
        <p:nvCxnSpPr>
          <p:cNvPr id="1043" name="Google Shape;1043;p51"/>
          <p:cNvCxnSpPr>
            <a:stCxn id="1034" idx="1"/>
            <a:endCxn id="1032"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1044" name="Google Shape;1044;p51"/>
          <p:cNvCxnSpPr>
            <a:stCxn id="1033" idx="1"/>
            <a:endCxn id="1030"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1045" name="Google Shape;1045;p51"/>
          <p:cNvCxnSpPr>
            <a:stCxn id="1030" idx="5"/>
            <a:endCxn id="1032"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1046" name="Google Shape;1046;p51"/>
          <p:cNvCxnSpPr>
            <a:stCxn id="1028" idx="0"/>
            <a:endCxn id="1030"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1047" name="Google Shape;1047;p51"/>
          <p:cNvCxnSpPr>
            <a:stCxn id="1032" idx="3"/>
            <a:endCxn id="1031" idx="7"/>
          </p:cNvCxnSpPr>
          <p:nvPr/>
        </p:nvCxnSpPr>
        <p:spPr>
          <a:xfrm flipH="1">
            <a:off x="1899634" y="3180603"/>
            <a:ext cx="946800" cy="1000800"/>
          </a:xfrm>
          <a:prstGeom prst="straightConnector1">
            <a:avLst/>
          </a:prstGeom>
          <a:noFill/>
          <a:ln cap="flat" cmpd="sng" w="19050">
            <a:solidFill>
              <a:srgbClr val="FF0000"/>
            </a:solidFill>
            <a:prstDash val="solid"/>
            <a:round/>
            <a:headEnd len="med" w="med" type="none"/>
            <a:tailEnd len="med" w="med" type="triangle"/>
          </a:ln>
        </p:spPr>
      </p:cxnSp>
      <p:cxnSp>
        <p:nvCxnSpPr>
          <p:cNvPr id="1048" name="Google Shape;1048;p51"/>
          <p:cNvCxnSpPr>
            <a:stCxn id="1028" idx="6"/>
            <a:endCxn id="1032"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1049" name="Google Shape;1049;p51"/>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sp>
        <p:nvSpPr>
          <p:cNvPr id="1050" name="Google Shape;1050;p51"/>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C</a:t>
            </a:r>
            <a:r>
              <a:rPr baseline="-25000" lang="en"/>
              <a:t>deg</a:t>
            </a:r>
            <a:r>
              <a:rPr lang="en"/>
              <a:t>(v): Directed</a:t>
            </a:r>
            <a:endParaRPr/>
          </a:p>
        </p:txBody>
      </p:sp>
      <p:graphicFrame>
        <p:nvGraphicFramePr>
          <p:cNvPr id="1051" name="Google Shape;1051;p51"/>
          <p:cNvGraphicFramePr/>
          <p:nvPr/>
        </p:nvGraphicFramePr>
        <p:xfrm>
          <a:off x="4868513" y="1147225"/>
          <a:ext cx="3000000" cy="3000000"/>
        </p:xfrm>
        <a:graphic>
          <a:graphicData uri="http://schemas.openxmlformats.org/drawingml/2006/table">
            <a:tbl>
              <a:tblPr>
                <a:noFill/>
                <a:tableStyleId>{4D36BE5A-9069-42A2-BAD7-CD2C23C4D617}</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tc>
                <a:tc>
                  <a:txBody>
                    <a:bodyPr/>
                    <a:lstStyle/>
                    <a:p>
                      <a:pPr indent="0" lvl="0" marL="0" rtl="0" algn="l">
                        <a:spcBef>
                          <a:spcPts val="0"/>
                        </a:spcBef>
                        <a:spcAft>
                          <a:spcPts val="0"/>
                        </a:spcAft>
                        <a:buNone/>
                      </a:pPr>
                      <a:r>
                        <a:rPr b="1" lang="en"/>
                        <a:t>v2</a:t>
                      </a:r>
                      <a:endParaRPr b="1"/>
                    </a:p>
                  </a:txBody>
                  <a:tcPr marT="91425" marB="91425" marR="91425" marL="91425"/>
                </a:tc>
                <a:tc>
                  <a:txBody>
                    <a:bodyPr/>
                    <a:lstStyle/>
                    <a:p>
                      <a:pPr indent="0" lvl="0" marL="0" rtl="0" algn="l">
                        <a:spcBef>
                          <a:spcPts val="0"/>
                        </a:spcBef>
                        <a:spcAft>
                          <a:spcPts val="0"/>
                        </a:spcAft>
                        <a:buNone/>
                      </a:pPr>
                      <a:r>
                        <a:rPr b="1" lang="en"/>
                        <a:t>v3</a:t>
                      </a:r>
                      <a:endParaRPr b="1"/>
                    </a:p>
                  </a:txBody>
                  <a:tcPr marT="91425" marB="91425" marR="91425" marL="91425"/>
                </a:tc>
                <a:tc>
                  <a:txBody>
                    <a:bodyPr/>
                    <a:lstStyle/>
                    <a:p>
                      <a:pPr indent="0" lvl="0" marL="0" rtl="0" algn="l">
                        <a:spcBef>
                          <a:spcPts val="0"/>
                        </a:spcBef>
                        <a:spcAft>
                          <a:spcPts val="0"/>
                        </a:spcAft>
                        <a:buNone/>
                      </a:pPr>
                      <a:r>
                        <a:rPr b="1" lang="en"/>
                        <a:t>v4</a:t>
                      </a:r>
                      <a:endParaRPr b="1"/>
                    </a:p>
                  </a:txBody>
                  <a:tcPr marT="91425" marB="91425" marR="91425" marL="91425"/>
                </a:tc>
                <a:tc>
                  <a:txBody>
                    <a:bodyPr/>
                    <a:lstStyle/>
                    <a:p>
                      <a:pPr indent="0" lvl="0" marL="0" rtl="0" algn="l">
                        <a:spcBef>
                          <a:spcPts val="0"/>
                        </a:spcBef>
                        <a:spcAft>
                          <a:spcPts val="0"/>
                        </a:spcAft>
                        <a:buNone/>
                      </a:pPr>
                      <a:r>
                        <a:rPr b="1" lang="en"/>
                        <a:t>v5</a:t>
                      </a:r>
                      <a:endParaRPr b="1"/>
                    </a:p>
                  </a:txBody>
                  <a:tcPr marT="91425" marB="91425" marR="91425" marL="91425"/>
                </a:tc>
                <a:tc>
                  <a:txBody>
                    <a:bodyPr/>
                    <a:lstStyle/>
                    <a:p>
                      <a:pPr indent="0" lvl="0" marL="0" rtl="0" algn="l">
                        <a:spcBef>
                          <a:spcPts val="0"/>
                        </a:spcBef>
                        <a:spcAft>
                          <a:spcPts val="0"/>
                        </a:spcAft>
                        <a:buNone/>
                      </a:pPr>
                      <a:r>
                        <a:rPr b="1" lang="en"/>
                        <a:t>v6</a:t>
                      </a:r>
                      <a:endParaRPr b="1"/>
                    </a:p>
                  </a:txBody>
                  <a:tcPr marT="91425" marB="91425" marR="91425" marL="91425"/>
                </a:tc>
                <a:tc>
                  <a:txBody>
                    <a:bodyPr/>
                    <a:lstStyle/>
                    <a:p>
                      <a:pPr indent="0" lvl="0" marL="0" rtl="0" algn="l">
                        <a:spcBef>
                          <a:spcPts val="0"/>
                        </a:spcBef>
                        <a:spcAft>
                          <a:spcPts val="0"/>
                        </a:spcAft>
                        <a:buNone/>
                      </a:pPr>
                      <a:r>
                        <a:rPr b="1" lang="en"/>
                        <a:t>v7</a:t>
                      </a:r>
                      <a:endParaRPr b="1"/>
                    </a:p>
                  </a:txBody>
                  <a:tcPr marT="91425" marB="91425" marR="91425" marL="91425"/>
                </a:tc>
                <a:tc>
                  <a:txBody>
                    <a:bodyPr/>
                    <a:lstStyle/>
                    <a:p>
                      <a:pPr indent="0" lvl="0" marL="0" rtl="0" algn="l">
                        <a:spcBef>
                          <a:spcPts val="0"/>
                        </a:spcBef>
                        <a:spcAft>
                          <a:spcPts val="0"/>
                        </a:spcAft>
                        <a:buNone/>
                      </a:pPr>
                      <a:r>
                        <a:rPr b="1" lang="en"/>
                        <a:t>v8</a:t>
                      </a:r>
                      <a:endParaRPr b="1"/>
                    </a:p>
                  </a:txBody>
                  <a:tcPr marT="91425" marB="91425" marR="91425" marL="91425"/>
                </a:tc>
              </a:tr>
              <a:tr h="381000">
                <a:tc>
                  <a:txBody>
                    <a:bodyPr/>
                    <a:lstStyle/>
                    <a:p>
                      <a:pPr indent="0" lvl="0" marL="0" rtl="0" algn="ctr">
                        <a:spcBef>
                          <a:spcPts val="0"/>
                        </a:spcBef>
                        <a:spcAft>
                          <a:spcPts val="0"/>
                        </a:spcAft>
                        <a:buNone/>
                      </a:pPr>
                      <a:r>
                        <a:rPr b="1" lang="en"/>
                        <a:t>v1</a:t>
                      </a:r>
                      <a:endParaRPr b="1"/>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v2</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v3</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v4</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v5</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v6</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v7</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v8</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052" name="Google Shape;1052;p51"/>
          <p:cNvSpPr/>
          <p:nvPr/>
        </p:nvSpPr>
        <p:spPr>
          <a:xfrm>
            <a:off x="1491475" y="71250"/>
            <a:ext cx="3759900" cy="18810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Indegree calculated by summing the columns of the asymmetric adjacency matrix</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p:txBody>
      </p:sp>
      <p:pic>
        <p:nvPicPr>
          <p:cNvPr id="1053" name="Google Shape;1053;p51"/>
          <p:cNvPicPr preferRelativeResize="0"/>
          <p:nvPr/>
        </p:nvPicPr>
        <p:blipFill>
          <a:blip r:embed="rId3">
            <a:alphaModFix/>
          </a:blip>
          <a:stretch>
            <a:fillRect/>
          </a:stretch>
        </p:blipFill>
        <p:spPr>
          <a:xfrm>
            <a:off x="7006925" y="315925"/>
            <a:ext cx="1957900" cy="666350"/>
          </a:xfrm>
          <a:prstGeom prst="rect">
            <a:avLst/>
          </a:prstGeom>
          <a:noFill/>
          <a:ln>
            <a:noFill/>
          </a:ln>
        </p:spPr>
      </p:pic>
      <p:pic>
        <p:nvPicPr>
          <p:cNvPr descr="\textnormal{Indegree} = \sum_i^N A_{ij}" id="1054" name="Google Shape;1054;p51"/>
          <p:cNvPicPr preferRelativeResize="0"/>
          <p:nvPr/>
        </p:nvPicPr>
        <p:blipFill>
          <a:blip r:embed="rId4">
            <a:alphaModFix/>
          </a:blip>
          <a:stretch>
            <a:fillRect/>
          </a:stretch>
        </p:blipFill>
        <p:spPr>
          <a:xfrm>
            <a:off x="2500275" y="1147225"/>
            <a:ext cx="1828801" cy="747227"/>
          </a:xfrm>
          <a:prstGeom prst="rect">
            <a:avLst/>
          </a:prstGeom>
          <a:noFill/>
          <a:ln>
            <a:noFill/>
          </a:ln>
        </p:spPr>
      </p:pic>
      <p:graphicFrame>
        <p:nvGraphicFramePr>
          <p:cNvPr id="1055" name="Google Shape;1055;p51"/>
          <p:cNvGraphicFramePr/>
          <p:nvPr/>
        </p:nvGraphicFramePr>
        <p:xfrm>
          <a:off x="5251300" y="4790625"/>
          <a:ext cx="3000000" cy="3000000"/>
        </p:xfrm>
        <a:graphic>
          <a:graphicData uri="http://schemas.openxmlformats.org/drawingml/2006/table">
            <a:tbl>
              <a:tblPr>
                <a:noFill/>
                <a:tableStyleId>{D533A967-1B24-4C1F-A5BD-666CA7F43D67}</a:tableStyleId>
              </a:tblPr>
              <a:tblGrid>
                <a:gridCol w="382925"/>
                <a:gridCol w="382850"/>
                <a:gridCol w="382850"/>
                <a:gridCol w="382850"/>
                <a:gridCol w="382850"/>
                <a:gridCol w="382850"/>
                <a:gridCol w="382850"/>
                <a:gridCol w="382825"/>
              </a:tblGrid>
              <a:tr h="292500">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3</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3</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1056" name="Google Shape;1056;p51"/>
          <p:cNvSpPr/>
          <p:nvPr/>
        </p:nvSpPr>
        <p:spPr>
          <a:xfrm>
            <a:off x="1404300" y="4006025"/>
            <a:ext cx="694500" cy="637500"/>
          </a:xfrm>
          <a:prstGeom prst="rect">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51"/>
          <p:cNvSpPr/>
          <p:nvPr/>
        </p:nvSpPr>
        <p:spPr>
          <a:xfrm rot="5400000">
            <a:off x="4975575" y="2856625"/>
            <a:ext cx="4020300" cy="405900"/>
          </a:xfrm>
          <a:prstGeom prst="rect">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52"/>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1063" name="Google Shape;1063;p52"/>
          <p:cNvSpPr/>
          <p:nvPr/>
        </p:nvSpPr>
        <p:spPr>
          <a:xfrm>
            <a:off x="1542374" y="2834146"/>
            <a:ext cx="418500" cy="405900"/>
          </a:xfrm>
          <a:prstGeom prst="ellipse">
            <a:avLst/>
          </a:prstGeom>
          <a:solidFill>
            <a:schemeClr val="accent3"/>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1064" name="Google Shape;1064;p52"/>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1065" name="Google Shape;1065;p52"/>
          <p:cNvSpPr/>
          <p:nvPr/>
        </p:nvSpPr>
        <p:spPr>
          <a:xfrm>
            <a:off x="1542347" y="1546450"/>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1066" name="Google Shape;1066;p52"/>
          <p:cNvSpPr/>
          <p:nvPr/>
        </p:nvSpPr>
        <p:spPr>
          <a:xfrm>
            <a:off x="1542298" y="4121835"/>
            <a:ext cx="418500" cy="405900"/>
          </a:xfrm>
          <a:prstGeom prst="ellipse">
            <a:avLst/>
          </a:prstGeom>
          <a:solidFill>
            <a:schemeClr val="accent5"/>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1067" name="Google Shape;1067;p52"/>
          <p:cNvSpPr/>
          <p:nvPr/>
        </p:nvSpPr>
        <p:spPr>
          <a:xfrm>
            <a:off x="2785146" y="2834146"/>
            <a:ext cx="418500" cy="405900"/>
          </a:xfrm>
          <a:prstGeom prst="ellipse">
            <a:avLst/>
          </a:prstGeom>
          <a:solidFill>
            <a:schemeClr val="accent6"/>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1068" name="Google Shape;1068;p52"/>
          <p:cNvSpPr/>
          <p:nvPr/>
        </p:nvSpPr>
        <p:spPr>
          <a:xfrm>
            <a:off x="4240467"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1069" name="Google Shape;1069;p52"/>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1070" name="Google Shape;1070;p52"/>
          <p:cNvCxnSpPr>
            <a:stCxn id="1062" idx="7"/>
            <a:endCxn id="1065"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1071" name="Google Shape;1071;p52"/>
          <p:cNvCxnSpPr>
            <a:stCxn id="1067" idx="6"/>
            <a:endCxn id="1068" idx="2"/>
          </p:cNvCxnSpPr>
          <p:nvPr/>
        </p:nvCxnSpPr>
        <p:spPr>
          <a:xfrm>
            <a:off x="3203646"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1072" name="Google Shape;1072;p52"/>
          <p:cNvCxnSpPr>
            <a:stCxn id="1064" idx="6"/>
            <a:endCxn id="1069"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1073" name="Google Shape;1073;p52"/>
          <p:cNvCxnSpPr>
            <a:stCxn id="1067" idx="4"/>
            <a:endCxn id="1064" idx="0"/>
          </p:cNvCxnSpPr>
          <p:nvPr/>
        </p:nvCxnSpPr>
        <p:spPr>
          <a:xfrm>
            <a:off x="2994396" y="32400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1074" name="Google Shape;1074;p52"/>
          <p:cNvCxnSpPr>
            <a:stCxn id="1063" idx="4"/>
            <a:endCxn id="1066"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1075" name="Google Shape;1075;p52"/>
          <p:cNvCxnSpPr>
            <a:stCxn id="1062" idx="5"/>
            <a:endCxn id="1066" idx="2"/>
          </p:cNvCxnSpPr>
          <p:nvPr/>
        </p:nvCxnSpPr>
        <p:spPr>
          <a:xfrm>
            <a:off x="444175" y="3180603"/>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1076" name="Google Shape;1076;p52"/>
          <p:cNvCxnSpPr>
            <a:stCxn id="1062" idx="6"/>
            <a:endCxn id="1063"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1077" name="Google Shape;1077;p52"/>
          <p:cNvCxnSpPr>
            <a:stCxn id="1064" idx="2"/>
            <a:endCxn id="1066" idx="6"/>
          </p:cNvCxnSpPr>
          <p:nvPr/>
        </p:nvCxnSpPr>
        <p:spPr>
          <a:xfrm rot="10800000">
            <a:off x="1960698" y="4324785"/>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1078" name="Google Shape;1078;p52"/>
          <p:cNvCxnSpPr>
            <a:stCxn id="1069" idx="1"/>
            <a:endCxn id="1067"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1079" name="Google Shape;1079;p52"/>
          <p:cNvCxnSpPr>
            <a:stCxn id="1068" idx="1"/>
            <a:endCxn id="1065"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1080" name="Google Shape;1080;p52"/>
          <p:cNvCxnSpPr>
            <a:stCxn id="1065" idx="5"/>
            <a:endCxn id="1067"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1081" name="Google Shape;1081;p52"/>
          <p:cNvCxnSpPr>
            <a:stCxn id="1063" idx="0"/>
            <a:endCxn id="1065"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1082" name="Google Shape;1082;p52"/>
          <p:cNvCxnSpPr>
            <a:stCxn id="1067" idx="3"/>
            <a:endCxn id="1066" idx="7"/>
          </p:cNvCxnSpPr>
          <p:nvPr/>
        </p:nvCxnSpPr>
        <p:spPr>
          <a:xfrm flipH="1">
            <a:off x="1899634" y="318060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1083" name="Google Shape;1083;p52"/>
          <p:cNvCxnSpPr>
            <a:stCxn id="1063" idx="6"/>
            <a:endCxn id="1067"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1084" name="Google Shape;1084;p52"/>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sp>
        <p:nvSpPr>
          <p:cNvPr id="1085" name="Google Shape;1085;p52"/>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C</a:t>
            </a:r>
            <a:r>
              <a:rPr baseline="-25000" lang="en"/>
              <a:t>deg</a:t>
            </a:r>
            <a:r>
              <a:rPr lang="en"/>
              <a:t>(v): Directed</a:t>
            </a:r>
            <a:endParaRPr/>
          </a:p>
        </p:txBody>
      </p:sp>
      <p:pic>
        <p:nvPicPr>
          <p:cNvPr id="1086" name="Google Shape;1086;p52"/>
          <p:cNvPicPr preferRelativeResize="0"/>
          <p:nvPr/>
        </p:nvPicPr>
        <p:blipFill>
          <a:blip r:embed="rId3">
            <a:alphaModFix/>
          </a:blip>
          <a:stretch>
            <a:fillRect/>
          </a:stretch>
        </p:blipFill>
        <p:spPr>
          <a:xfrm>
            <a:off x="7006925" y="315925"/>
            <a:ext cx="1957900" cy="666350"/>
          </a:xfrm>
          <a:prstGeom prst="rect">
            <a:avLst/>
          </a:prstGeom>
          <a:noFill/>
          <a:ln>
            <a:noFill/>
          </a:ln>
        </p:spPr>
      </p:pic>
      <p:graphicFrame>
        <p:nvGraphicFramePr>
          <p:cNvPr id="1087" name="Google Shape;1087;p52"/>
          <p:cNvGraphicFramePr/>
          <p:nvPr/>
        </p:nvGraphicFramePr>
        <p:xfrm>
          <a:off x="5301938" y="1322600"/>
          <a:ext cx="3000000" cy="3000000"/>
        </p:xfrm>
        <a:graphic>
          <a:graphicData uri="http://schemas.openxmlformats.org/drawingml/2006/table">
            <a:tbl>
              <a:tblPr>
                <a:noFill/>
                <a:tableStyleId>{4D36BE5A-9069-42A2-BAD7-CD2C23C4D617}</a:tableStyleId>
              </a:tblPr>
              <a:tblGrid>
                <a:gridCol w="915725"/>
                <a:gridCol w="915725"/>
                <a:gridCol w="915725"/>
                <a:gridCol w="915725"/>
              </a:tblGrid>
              <a:tr h="381000">
                <a:tc>
                  <a:txBody>
                    <a:bodyPr/>
                    <a:lstStyle/>
                    <a:p>
                      <a:pPr indent="0" lvl="0" marL="0" rtl="0" algn="ctr">
                        <a:lnSpc>
                          <a:spcPct val="115000"/>
                        </a:lnSpc>
                        <a:spcBef>
                          <a:spcPts val="0"/>
                        </a:spcBef>
                        <a:spcAft>
                          <a:spcPts val="0"/>
                        </a:spcAft>
                        <a:buNone/>
                      </a:pPr>
                      <a:r>
                        <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Outdegree</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Indegree</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b="1" lang="en"/>
                        <a:t>V4</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3</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V4</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3</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b="1" lang="en"/>
                        <a:t>V1</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V5</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3</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b="1" lang="en"/>
                        <a:t>V2</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V1</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b="1" lang="en"/>
                        <a:t>V3</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V3</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b="1" lang="en"/>
                        <a:t>V6</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V2</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b="1" lang="en"/>
                        <a:t>V5</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V6</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b="1" lang="en"/>
                        <a:t>V7</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V7</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b="1" lang="en"/>
                        <a:t>V8</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V8</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1088" name="Google Shape;1088;p52"/>
          <p:cNvSpPr/>
          <p:nvPr/>
        </p:nvSpPr>
        <p:spPr>
          <a:xfrm>
            <a:off x="2158700" y="1114225"/>
            <a:ext cx="3276300" cy="10761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rPr b="1" lang="en">
                <a:solidFill>
                  <a:srgbClr val="FF0000"/>
                </a:solidFill>
              </a:rPr>
              <a:t>We have separate node rankings by outdegree and indegree!</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p53"/>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1094" name="Google Shape;1094;p53"/>
          <p:cNvSpPr/>
          <p:nvPr/>
        </p:nvSpPr>
        <p:spPr>
          <a:xfrm>
            <a:off x="1542374"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1095" name="Google Shape;1095;p53"/>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1096" name="Google Shape;1096;p53"/>
          <p:cNvSpPr/>
          <p:nvPr/>
        </p:nvSpPr>
        <p:spPr>
          <a:xfrm>
            <a:off x="1542347" y="1546450"/>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1097" name="Google Shape;1097;p53"/>
          <p:cNvSpPr/>
          <p:nvPr/>
        </p:nvSpPr>
        <p:spPr>
          <a:xfrm>
            <a:off x="15422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1098" name="Google Shape;1098;p53"/>
          <p:cNvSpPr/>
          <p:nvPr/>
        </p:nvSpPr>
        <p:spPr>
          <a:xfrm>
            <a:off x="2785146"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1099" name="Google Shape;1099;p53"/>
          <p:cNvSpPr/>
          <p:nvPr/>
        </p:nvSpPr>
        <p:spPr>
          <a:xfrm>
            <a:off x="4240467"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1100" name="Google Shape;1100;p53"/>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1101" name="Google Shape;1101;p53"/>
          <p:cNvCxnSpPr>
            <a:stCxn id="1093" idx="7"/>
            <a:endCxn id="1096"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1102" name="Google Shape;1102;p53"/>
          <p:cNvCxnSpPr>
            <a:stCxn id="1098" idx="6"/>
            <a:endCxn id="1099" idx="2"/>
          </p:cNvCxnSpPr>
          <p:nvPr/>
        </p:nvCxnSpPr>
        <p:spPr>
          <a:xfrm>
            <a:off x="3203646"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1103" name="Google Shape;1103;p53"/>
          <p:cNvCxnSpPr>
            <a:stCxn id="1095" idx="6"/>
            <a:endCxn id="1100"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1104" name="Google Shape;1104;p53"/>
          <p:cNvCxnSpPr>
            <a:stCxn id="1098" idx="4"/>
            <a:endCxn id="1095" idx="0"/>
          </p:cNvCxnSpPr>
          <p:nvPr/>
        </p:nvCxnSpPr>
        <p:spPr>
          <a:xfrm>
            <a:off x="2994396" y="32400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1105" name="Google Shape;1105;p53"/>
          <p:cNvCxnSpPr>
            <a:stCxn id="1094" idx="4"/>
            <a:endCxn id="1097"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1106" name="Google Shape;1106;p53"/>
          <p:cNvCxnSpPr>
            <a:stCxn id="1093" idx="5"/>
            <a:endCxn id="1097" idx="2"/>
          </p:cNvCxnSpPr>
          <p:nvPr/>
        </p:nvCxnSpPr>
        <p:spPr>
          <a:xfrm>
            <a:off x="444175" y="3180603"/>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1107" name="Google Shape;1107;p53"/>
          <p:cNvCxnSpPr>
            <a:stCxn id="1093" idx="6"/>
            <a:endCxn id="1094"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1108" name="Google Shape;1108;p53"/>
          <p:cNvCxnSpPr>
            <a:stCxn id="1095" idx="2"/>
            <a:endCxn id="1097" idx="6"/>
          </p:cNvCxnSpPr>
          <p:nvPr/>
        </p:nvCxnSpPr>
        <p:spPr>
          <a:xfrm rot="10800000">
            <a:off x="1960698" y="4324785"/>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1109" name="Google Shape;1109;p53"/>
          <p:cNvCxnSpPr>
            <a:stCxn id="1100" idx="1"/>
            <a:endCxn id="1098"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1110" name="Google Shape;1110;p53"/>
          <p:cNvCxnSpPr>
            <a:stCxn id="1099" idx="1"/>
            <a:endCxn id="1096"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1111" name="Google Shape;1111;p53"/>
          <p:cNvCxnSpPr>
            <a:stCxn id="1096" idx="5"/>
            <a:endCxn id="1098"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1112" name="Google Shape;1112;p53"/>
          <p:cNvCxnSpPr>
            <a:stCxn id="1094" idx="0"/>
            <a:endCxn id="1096"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1113" name="Google Shape;1113;p53"/>
          <p:cNvCxnSpPr>
            <a:stCxn id="1098" idx="3"/>
            <a:endCxn id="1097" idx="7"/>
          </p:cNvCxnSpPr>
          <p:nvPr/>
        </p:nvCxnSpPr>
        <p:spPr>
          <a:xfrm flipH="1">
            <a:off x="1899634" y="318060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1114" name="Google Shape;1114;p53"/>
          <p:cNvCxnSpPr>
            <a:stCxn id="1094" idx="6"/>
            <a:endCxn id="1098"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1115" name="Google Shape;1115;p53"/>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pic>
        <p:nvPicPr>
          <p:cNvPr id="1116" name="Google Shape;1116;p53"/>
          <p:cNvPicPr preferRelativeResize="0"/>
          <p:nvPr/>
        </p:nvPicPr>
        <p:blipFill>
          <a:blip r:embed="rId3">
            <a:alphaModFix/>
          </a:blip>
          <a:stretch>
            <a:fillRect/>
          </a:stretch>
        </p:blipFill>
        <p:spPr>
          <a:xfrm>
            <a:off x="7006925" y="315925"/>
            <a:ext cx="1957900" cy="666350"/>
          </a:xfrm>
          <a:prstGeom prst="rect">
            <a:avLst/>
          </a:prstGeom>
          <a:noFill/>
          <a:ln>
            <a:noFill/>
          </a:ln>
        </p:spPr>
      </p:pic>
      <p:graphicFrame>
        <p:nvGraphicFramePr>
          <p:cNvPr id="1117" name="Google Shape;1117;p53"/>
          <p:cNvGraphicFramePr/>
          <p:nvPr/>
        </p:nvGraphicFramePr>
        <p:xfrm>
          <a:off x="5301938" y="1322600"/>
          <a:ext cx="3000000" cy="3000000"/>
        </p:xfrm>
        <a:graphic>
          <a:graphicData uri="http://schemas.openxmlformats.org/drawingml/2006/table">
            <a:tbl>
              <a:tblPr>
                <a:noFill/>
                <a:tableStyleId>{4D36BE5A-9069-42A2-BAD7-CD2C23C4D617}</a:tableStyleId>
              </a:tblPr>
              <a:tblGrid>
                <a:gridCol w="915725"/>
                <a:gridCol w="915725"/>
                <a:gridCol w="915725"/>
                <a:gridCol w="915725"/>
              </a:tblGrid>
              <a:tr h="381000">
                <a:tc>
                  <a:txBody>
                    <a:bodyPr/>
                    <a:lstStyle/>
                    <a:p>
                      <a:pPr indent="0" lvl="0" marL="0" rtl="0" algn="ctr">
                        <a:lnSpc>
                          <a:spcPct val="115000"/>
                        </a:lnSpc>
                        <a:spcBef>
                          <a:spcPts val="0"/>
                        </a:spcBef>
                        <a:spcAft>
                          <a:spcPts val="0"/>
                        </a:spcAft>
                        <a:buNone/>
                      </a:pPr>
                      <a:r>
                        <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Outdegree</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Indegree</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b="1" lang="en"/>
                        <a:t>V4</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0.43</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V4</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0.43</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b="1" lang="en"/>
                        <a:t>V1</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0.29</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V5</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0.43</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b="1" lang="en"/>
                        <a:t>V2</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0.29</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V1</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0.29</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b="1" lang="en"/>
                        <a:t>V3</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0.29</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V3</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0.29</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b="1" lang="en"/>
                        <a:t>V6</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0.29</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V2</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0.14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b="1" lang="en"/>
                        <a:t>V5</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0.14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V6</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0.14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b="1" lang="en"/>
                        <a:t>V7</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0.14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V7</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0.14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b="1" lang="en"/>
                        <a:t>V8</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0.14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V8</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0.14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1118" name="Google Shape;1118;p53"/>
          <p:cNvSpPr/>
          <p:nvPr/>
        </p:nvSpPr>
        <p:spPr>
          <a:xfrm>
            <a:off x="2158700" y="1114225"/>
            <a:ext cx="3276300" cy="10761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rPr b="1" lang="en">
                <a:solidFill>
                  <a:srgbClr val="FF0000"/>
                </a:solidFill>
              </a:rPr>
              <a:t>We can also normalize by dividing by the graph order minus one!</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p:txBody>
      </p:sp>
      <p:sp>
        <p:nvSpPr>
          <p:cNvPr id="1119" name="Google Shape;1119;p53"/>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C</a:t>
            </a:r>
            <a:r>
              <a:rPr baseline="-25000" lang="en"/>
              <a:t>deg</a:t>
            </a:r>
            <a:r>
              <a:rPr lang="en"/>
              <a:t>(v): Directed</a:t>
            </a:r>
            <a:endParaRPr/>
          </a:p>
        </p:txBody>
      </p:sp>
      <p:pic>
        <p:nvPicPr>
          <p:cNvPr descr="&#10;C^{odeg}_{i(norm)}=\frac{\sum_i a_{ij}}{N-1}&#10;&#10;&#10;%e953eb92-8e31-4506-a41d-dbe4f14580ed" id="1120" name="Google Shape;1120;p53"/>
          <p:cNvPicPr preferRelativeResize="0"/>
          <p:nvPr/>
        </p:nvPicPr>
        <p:blipFill>
          <a:blip r:embed="rId4">
            <a:alphaModFix/>
          </a:blip>
          <a:stretch>
            <a:fillRect/>
          </a:stretch>
        </p:blipFill>
        <p:spPr>
          <a:xfrm>
            <a:off x="5301950" y="65625"/>
            <a:ext cx="1571625" cy="457200"/>
          </a:xfrm>
          <a:prstGeom prst="rect">
            <a:avLst/>
          </a:prstGeom>
          <a:noFill/>
          <a:ln>
            <a:noFill/>
          </a:ln>
        </p:spPr>
      </p:pic>
      <p:pic>
        <p:nvPicPr>
          <p:cNvPr descr="&#10;C^{ideg}_{i(norm)}=\frac{\sum_j a_{ij}}{N-1}&#10;&#10;&#10;%bca9e9af-d2c2-42a7-b131-4ddcc84ec568" id="1121" name="Google Shape;1121;p53"/>
          <p:cNvPicPr preferRelativeResize="0"/>
          <p:nvPr/>
        </p:nvPicPr>
        <p:blipFill>
          <a:blip r:embed="rId5">
            <a:alphaModFix/>
          </a:blip>
          <a:stretch>
            <a:fillRect/>
          </a:stretch>
        </p:blipFill>
        <p:spPr>
          <a:xfrm>
            <a:off x="5297175" y="748950"/>
            <a:ext cx="1581150" cy="4857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1125" name="Shape 1125"/>
        <p:cNvGrpSpPr/>
        <p:nvPr/>
      </p:nvGrpSpPr>
      <p:grpSpPr>
        <a:xfrm>
          <a:off x="0" y="0"/>
          <a:ext cx="0" cy="0"/>
          <a:chOff x="0" y="0"/>
          <a:chExt cx="0" cy="0"/>
        </a:xfrm>
      </p:grpSpPr>
      <p:sp>
        <p:nvSpPr>
          <p:cNvPr id="1126" name="Google Shape;1126;p54"/>
          <p:cNvSpPr txBox="1"/>
          <p:nvPr>
            <p:ph type="ctrTitle"/>
          </p:nvPr>
        </p:nvSpPr>
        <p:spPr>
          <a:xfrm>
            <a:off x="2765950" y="1444250"/>
            <a:ext cx="3604800" cy="153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Centralities Based on the Geodesic Distance</a:t>
            </a:r>
            <a:endParaRPr/>
          </a:p>
        </p:txBody>
      </p:sp>
      <p:sp>
        <p:nvSpPr>
          <p:cNvPr id="1127" name="Google Shape;1127;p54"/>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p5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Closeness (C</a:t>
            </a:r>
            <a:r>
              <a:rPr baseline="-25000" lang="en"/>
              <a:t>Clos</a:t>
            </a:r>
            <a:r>
              <a:rPr lang="en"/>
              <a:t>)</a:t>
            </a:r>
            <a:endParaRPr/>
          </a:p>
        </p:txBody>
      </p:sp>
      <p:sp>
        <p:nvSpPr>
          <p:cNvPr id="1133" name="Google Shape;1133;p55"/>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134" name="Google Shape;1134;p55"/>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135" name="Google Shape;1135;p55"/>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136" name="Google Shape;1136;p55"/>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137" name="Google Shape;1137;p55"/>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138" name="Google Shape;1138;p55"/>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139" name="Google Shape;1139;p55"/>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140" name="Google Shape;1140;p55"/>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141" name="Google Shape;1141;p55"/>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142" name="Google Shape;1142;p55"/>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143" name="Google Shape;1143;p55"/>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144" name="Google Shape;1144;p55"/>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145" name="Google Shape;1145;p55"/>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146" name="Google Shape;1146;p55"/>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147" name="Google Shape;1147;p55"/>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148" name="Google Shape;1148;p55"/>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149" name="Google Shape;1149;p55"/>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150" name="Google Shape;1150;p55"/>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151" name="Google Shape;1151;p55"/>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152" name="Google Shape;1152;p55"/>
          <p:cNvCxnSpPr>
            <a:stCxn id="1151" idx="2"/>
            <a:endCxn id="1150"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153" name="Google Shape;1153;p55"/>
          <p:cNvCxnSpPr>
            <a:stCxn id="1149" idx="0"/>
            <a:endCxn id="1150"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154" name="Google Shape;1154;p55"/>
          <p:cNvCxnSpPr>
            <a:stCxn id="1148" idx="2"/>
            <a:endCxn id="1149"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155" name="Google Shape;1155;p55"/>
          <p:cNvCxnSpPr>
            <a:stCxn id="1148" idx="2"/>
            <a:endCxn id="1144"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156" name="Google Shape;1156;p55"/>
          <p:cNvCxnSpPr>
            <a:stCxn id="1148" idx="2"/>
            <a:endCxn id="1147"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157" name="Google Shape;1157;p55"/>
          <p:cNvCxnSpPr>
            <a:stCxn id="1147" idx="2"/>
            <a:endCxn id="1144"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158" name="Google Shape;1158;p55"/>
          <p:cNvCxnSpPr>
            <a:stCxn id="1147" idx="1"/>
            <a:endCxn id="1143"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159" name="Google Shape;1159;p55"/>
          <p:cNvCxnSpPr>
            <a:stCxn id="1146" idx="0"/>
            <a:endCxn id="1144"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160" name="Google Shape;1160;p55"/>
          <p:cNvCxnSpPr>
            <a:stCxn id="1145" idx="7"/>
            <a:endCxn id="1144"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161" name="Google Shape;1161;p55"/>
          <p:cNvCxnSpPr>
            <a:stCxn id="1146" idx="1"/>
            <a:endCxn id="1145"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162" name="Google Shape;1162;p55"/>
          <p:cNvCxnSpPr>
            <a:stCxn id="1144" idx="2"/>
            <a:endCxn id="1142"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163" name="Google Shape;1163;p55"/>
          <p:cNvCxnSpPr>
            <a:stCxn id="1145" idx="0"/>
            <a:endCxn id="1142"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164" name="Google Shape;1164;p55"/>
          <p:cNvCxnSpPr>
            <a:stCxn id="1144" idx="0"/>
            <a:endCxn id="1143"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165" name="Google Shape;1165;p55"/>
          <p:cNvCxnSpPr>
            <a:stCxn id="1142" idx="7"/>
            <a:endCxn id="1143"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1166" name="Google Shape;1166;p55"/>
          <p:cNvCxnSpPr>
            <a:stCxn id="1142" idx="2"/>
            <a:endCxn id="1140"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1167" name="Google Shape;1167;p55"/>
          <p:cNvCxnSpPr>
            <a:stCxn id="1141" idx="0"/>
            <a:endCxn id="1140"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168" name="Google Shape;1168;p55"/>
          <p:cNvCxnSpPr>
            <a:stCxn id="1140" idx="3"/>
            <a:endCxn id="1139"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1169" name="Google Shape;1169;p55"/>
          <p:cNvCxnSpPr>
            <a:stCxn id="1138" idx="5"/>
            <a:endCxn id="1139"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170" name="Google Shape;1170;p55"/>
          <p:cNvCxnSpPr>
            <a:stCxn id="1135" idx="4"/>
            <a:endCxn id="1138"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171" name="Google Shape;1171;p55"/>
          <p:cNvCxnSpPr>
            <a:stCxn id="1140" idx="1"/>
            <a:endCxn id="1135"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172" name="Google Shape;1172;p55"/>
          <p:cNvCxnSpPr>
            <a:stCxn id="1138" idx="2"/>
            <a:endCxn id="1137"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173" name="Google Shape;1173;p55"/>
          <p:cNvCxnSpPr>
            <a:stCxn id="1138" idx="0"/>
            <a:endCxn id="1136"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174" name="Google Shape;1174;p55"/>
          <p:cNvCxnSpPr>
            <a:stCxn id="1136" idx="3"/>
            <a:endCxn id="1137"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175" name="Google Shape;1175;p55"/>
          <p:cNvCxnSpPr>
            <a:stCxn id="1133" idx="4"/>
            <a:endCxn id="1137"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176" name="Google Shape;1176;p55"/>
          <p:cNvCxnSpPr>
            <a:stCxn id="1134" idx="2"/>
            <a:endCxn id="1133"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177" name="Google Shape;1177;p55"/>
          <p:cNvCxnSpPr>
            <a:stCxn id="1134" idx="3"/>
            <a:endCxn id="1136"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178" name="Google Shape;1178;p55"/>
          <p:cNvCxnSpPr>
            <a:stCxn id="1135" idx="2"/>
            <a:endCxn id="1133"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179" name="Google Shape;1179;p55"/>
          <p:cNvCxnSpPr>
            <a:stCxn id="1135" idx="1"/>
            <a:endCxn id="1134"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180" name="Google Shape;1180;p55"/>
          <p:cNvCxnSpPr>
            <a:stCxn id="1135" idx="2"/>
            <a:endCxn id="1136"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181" name="Google Shape;1181;p55"/>
          <p:cNvCxnSpPr>
            <a:stCxn id="1136" idx="1"/>
            <a:endCxn id="1133"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182" name="Google Shape;1182;p55"/>
          <p:cNvCxnSpPr>
            <a:stCxn id="1144" idx="6"/>
            <a:endCxn id="1149"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sp>
        <p:nvSpPr>
          <p:cNvPr id="1187" name="Google Shape;1187;p5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Closeness (C</a:t>
            </a:r>
            <a:r>
              <a:rPr baseline="-25000" lang="en"/>
              <a:t>Clos</a:t>
            </a:r>
            <a:r>
              <a:rPr lang="en"/>
              <a:t>)</a:t>
            </a:r>
            <a:endParaRPr/>
          </a:p>
        </p:txBody>
      </p:sp>
      <p:sp>
        <p:nvSpPr>
          <p:cNvPr id="1188" name="Google Shape;1188;p56"/>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189" name="Google Shape;1189;p56"/>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190" name="Google Shape;1190;p56"/>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191" name="Google Shape;1191;p56"/>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192" name="Google Shape;1192;p56"/>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193" name="Google Shape;1193;p56"/>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194" name="Google Shape;1194;p56"/>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195" name="Google Shape;1195;p56"/>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196" name="Google Shape;1196;p56"/>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197" name="Google Shape;1197;p56"/>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198" name="Google Shape;1198;p56"/>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199" name="Google Shape;1199;p56"/>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200" name="Google Shape;1200;p56"/>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201" name="Google Shape;1201;p56"/>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202" name="Google Shape;1202;p56"/>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203" name="Google Shape;1203;p56"/>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204" name="Google Shape;1204;p56"/>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205" name="Google Shape;1205;p56"/>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206" name="Google Shape;1206;p56"/>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207" name="Google Shape;1207;p56"/>
          <p:cNvCxnSpPr>
            <a:stCxn id="1206" idx="2"/>
            <a:endCxn id="1205"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208" name="Google Shape;1208;p56"/>
          <p:cNvCxnSpPr>
            <a:stCxn id="1204" idx="0"/>
            <a:endCxn id="1205"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209" name="Google Shape;1209;p56"/>
          <p:cNvCxnSpPr>
            <a:stCxn id="1203" idx="2"/>
            <a:endCxn id="1204"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210" name="Google Shape;1210;p56"/>
          <p:cNvCxnSpPr>
            <a:stCxn id="1203" idx="2"/>
            <a:endCxn id="1199"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211" name="Google Shape;1211;p56"/>
          <p:cNvCxnSpPr>
            <a:stCxn id="1203" idx="2"/>
            <a:endCxn id="1202"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212" name="Google Shape;1212;p56"/>
          <p:cNvCxnSpPr>
            <a:stCxn id="1202" idx="2"/>
            <a:endCxn id="1199"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213" name="Google Shape;1213;p56"/>
          <p:cNvCxnSpPr>
            <a:stCxn id="1202" idx="1"/>
            <a:endCxn id="1198"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214" name="Google Shape;1214;p56"/>
          <p:cNvCxnSpPr>
            <a:stCxn id="1201" idx="0"/>
            <a:endCxn id="1199"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215" name="Google Shape;1215;p56"/>
          <p:cNvCxnSpPr>
            <a:stCxn id="1200" idx="7"/>
            <a:endCxn id="1199"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216" name="Google Shape;1216;p56"/>
          <p:cNvCxnSpPr>
            <a:stCxn id="1201" idx="1"/>
            <a:endCxn id="1200"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217" name="Google Shape;1217;p56"/>
          <p:cNvCxnSpPr>
            <a:stCxn id="1199" idx="2"/>
            <a:endCxn id="1197"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218" name="Google Shape;1218;p56"/>
          <p:cNvCxnSpPr>
            <a:stCxn id="1200" idx="0"/>
            <a:endCxn id="1197"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219" name="Google Shape;1219;p56"/>
          <p:cNvCxnSpPr>
            <a:stCxn id="1199" idx="0"/>
            <a:endCxn id="1198"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220" name="Google Shape;1220;p56"/>
          <p:cNvCxnSpPr>
            <a:stCxn id="1197" idx="7"/>
            <a:endCxn id="1198"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1221" name="Google Shape;1221;p56"/>
          <p:cNvCxnSpPr>
            <a:stCxn id="1197" idx="2"/>
            <a:endCxn id="1195"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1222" name="Google Shape;1222;p56"/>
          <p:cNvCxnSpPr>
            <a:stCxn id="1196" idx="0"/>
            <a:endCxn id="1195"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223" name="Google Shape;1223;p56"/>
          <p:cNvCxnSpPr>
            <a:stCxn id="1195" idx="3"/>
            <a:endCxn id="1194"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1224" name="Google Shape;1224;p56"/>
          <p:cNvCxnSpPr>
            <a:stCxn id="1193" idx="5"/>
            <a:endCxn id="1194"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225" name="Google Shape;1225;p56"/>
          <p:cNvCxnSpPr>
            <a:stCxn id="1190" idx="4"/>
            <a:endCxn id="1193"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226" name="Google Shape;1226;p56"/>
          <p:cNvCxnSpPr>
            <a:stCxn id="1195" idx="1"/>
            <a:endCxn id="1190"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227" name="Google Shape;1227;p56"/>
          <p:cNvCxnSpPr>
            <a:stCxn id="1193" idx="2"/>
            <a:endCxn id="1192"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228" name="Google Shape;1228;p56"/>
          <p:cNvCxnSpPr>
            <a:stCxn id="1193" idx="0"/>
            <a:endCxn id="1191"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229" name="Google Shape;1229;p56"/>
          <p:cNvCxnSpPr>
            <a:stCxn id="1191" idx="3"/>
            <a:endCxn id="1192"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230" name="Google Shape;1230;p56"/>
          <p:cNvCxnSpPr>
            <a:stCxn id="1188" idx="4"/>
            <a:endCxn id="1192"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231" name="Google Shape;1231;p56"/>
          <p:cNvCxnSpPr>
            <a:stCxn id="1189" idx="2"/>
            <a:endCxn id="1188"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232" name="Google Shape;1232;p56"/>
          <p:cNvCxnSpPr>
            <a:stCxn id="1189" idx="3"/>
            <a:endCxn id="1191"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233" name="Google Shape;1233;p56"/>
          <p:cNvCxnSpPr>
            <a:stCxn id="1190" idx="2"/>
            <a:endCxn id="1188"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234" name="Google Shape;1234;p56"/>
          <p:cNvCxnSpPr>
            <a:stCxn id="1190" idx="1"/>
            <a:endCxn id="1189"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235" name="Google Shape;1235;p56"/>
          <p:cNvCxnSpPr>
            <a:stCxn id="1190" idx="2"/>
            <a:endCxn id="1191"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236" name="Google Shape;1236;p56"/>
          <p:cNvCxnSpPr>
            <a:stCxn id="1191" idx="1"/>
            <a:endCxn id="1188"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237" name="Google Shape;1237;p56"/>
          <p:cNvCxnSpPr>
            <a:stCxn id="1199" idx="6"/>
            <a:endCxn id="1204"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1238" name="Google Shape;1238;p56"/>
          <p:cNvSpPr txBox="1"/>
          <p:nvPr/>
        </p:nvSpPr>
        <p:spPr>
          <a:xfrm>
            <a:off x="3405450" y="1246250"/>
            <a:ext cx="30501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A node that can </a:t>
            </a:r>
            <a:r>
              <a:rPr b="1" lang="en">
                <a:latin typeface="Open Sans"/>
                <a:ea typeface="Open Sans"/>
                <a:cs typeface="Open Sans"/>
                <a:sym typeface="Open Sans"/>
              </a:rPr>
              <a:t>reach</a:t>
            </a:r>
            <a:r>
              <a:rPr lang="en">
                <a:latin typeface="Open Sans"/>
                <a:ea typeface="Open Sans"/>
                <a:cs typeface="Open Sans"/>
                <a:sym typeface="Open Sans"/>
              </a:rPr>
              <a:t> all the other nodes in the graph </a:t>
            </a:r>
            <a:r>
              <a:rPr lang="en">
                <a:latin typeface="Open Sans"/>
                <a:ea typeface="Open Sans"/>
                <a:cs typeface="Open Sans"/>
                <a:sym typeface="Open Sans"/>
              </a:rPr>
              <a:t>via the </a:t>
            </a:r>
            <a:r>
              <a:rPr b="1" lang="en">
                <a:latin typeface="Open Sans"/>
                <a:ea typeface="Open Sans"/>
                <a:cs typeface="Open Sans"/>
                <a:sym typeface="Open Sans"/>
              </a:rPr>
              <a:t>shortest paths</a:t>
            </a:r>
            <a:r>
              <a:rPr lang="en">
                <a:latin typeface="Open Sans"/>
                <a:ea typeface="Open Sans"/>
                <a:cs typeface="Open Sans"/>
                <a:sym typeface="Open Sans"/>
              </a:rPr>
              <a:t> (on average) has the </a:t>
            </a:r>
            <a:r>
              <a:rPr i="1" lang="en">
                <a:latin typeface="Open Sans"/>
                <a:ea typeface="Open Sans"/>
                <a:cs typeface="Open Sans"/>
                <a:sym typeface="Open Sans"/>
              </a:rPr>
              <a:t>largest</a:t>
            </a:r>
            <a:r>
              <a:rPr lang="en">
                <a:latin typeface="Open Sans"/>
                <a:ea typeface="Open Sans"/>
                <a:cs typeface="Open Sans"/>
                <a:sym typeface="Open Sans"/>
              </a:rPr>
              <a:t> </a:t>
            </a:r>
            <a:r>
              <a:rPr b="1" lang="en">
                <a:latin typeface="Open Sans"/>
                <a:ea typeface="Open Sans"/>
                <a:cs typeface="Open Sans"/>
                <a:sym typeface="Open Sans"/>
              </a:rPr>
              <a:t>closeness</a:t>
            </a:r>
            <a:r>
              <a:rPr lang="en">
                <a:latin typeface="Open Sans"/>
                <a:ea typeface="Open Sans"/>
                <a:cs typeface="Open Sans"/>
                <a:sym typeface="Open Sans"/>
              </a:rPr>
              <a:t> </a:t>
            </a:r>
            <a:r>
              <a:rPr b="1" lang="en">
                <a:latin typeface="Open Sans"/>
                <a:ea typeface="Open Sans"/>
                <a:cs typeface="Open Sans"/>
                <a:sym typeface="Open Sans"/>
              </a:rPr>
              <a:t>centrality</a:t>
            </a:r>
            <a:r>
              <a:rPr lang="en">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p5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Closeness (C</a:t>
            </a:r>
            <a:r>
              <a:rPr baseline="-25000" lang="en"/>
              <a:t>Clos</a:t>
            </a:r>
            <a:r>
              <a:rPr lang="en"/>
              <a:t>)</a:t>
            </a:r>
            <a:endParaRPr/>
          </a:p>
        </p:txBody>
      </p:sp>
      <p:sp>
        <p:nvSpPr>
          <p:cNvPr id="1244" name="Google Shape;1244;p57"/>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245" name="Google Shape;1245;p57"/>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246" name="Google Shape;1246;p57"/>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247" name="Google Shape;1247;p57"/>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248" name="Google Shape;1248;p57"/>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249" name="Google Shape;1249;p57"/>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250" name="Google Shape;1250;p57"/>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251" name="Google Shape;1251;p57"/>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252" name="Google Shape;1252;p57"/>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253" name="Google Shape;1253;p57"/>
          <p:cNvSpPr/>
          <p:nvPr/>
        </p:nvSpPr>
        <p:spPr>
          <a:xfrm>
            <a:off x="4922888"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254" name="Google Shape;1254;p57"/>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255" name="Google Shape;1255;p57"/>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256" name="Google Shape;1256;p57"/>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257" name="Google Shape;1257;p57"/>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258" name="Google Shape;1258;p57"/>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259" name="Google Shape;1259;p57"/>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260" name="Google Shape;1260;p57"/>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261" name="Google Shape;1261;p57"/>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262" name="Google Shape;1262;p57"/>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263" name="Google Shape;1263;p57"/>
          <p:cNvCxnSpPr>
            <a:stCxn id="1262" idx="2"/>
            <a:endCxn id="1261"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264" name="Google Shape;1264;p57"/>
          <p:cNvCxnSpPr>
            <a:stCxn id="1260" idx="0"/>
            <a:endCxn id="1261"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265" name="Google Shape;1265;p57"/>
          <p:cNvCxnSpPr>
            <a:stCxn id="1259" idx="2"/>
            <a:endCxn id="1260"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266" name="Google Shape;1266;p57"/>
          <p:cNvCxnSpPr>
            <a:stCxn id="1259" idx="2"/>
            <a:endCxn id="1255"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267" name="Google Shape;1267;p57"/>
          <p:cNvCxnSpPr>
            <a:stCxn id="1259" idx="2"/>
            <a:endCxn id="1258"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268" name="Google Shape;1268;p57"/>
          <p:cNvCxnSpPr>
            <a:stCxn id="1258" idx="2"/>
            <a:endCxn id="1255"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269" name="Google Shape;1269;p57"/>
          <p:cNvCxnSpPr>
            <a:stCxn id="1258" idx="1"/>
            <a:endCxn id="1254"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270" name="Google Shape;1270;p57"/>
          <p:cNvCxnSpPr>
            <a:stCxn id="1257" idx="0"/>
            <a:endCxn id="1255"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271" name="Google Shape;1271;p57"/>
          <p:cNvCxnSpPr>
            <a:stCxn id="1256" idx="7"/>
            <a:endCxn id="1255"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272" name="Google Shape;1272;p57"/>
          <p:cNvCxnSpPr>
            <a:stCxn id="1257" idx="1"/>
            <a:endCxn id="1256"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273" name="Google Shape;1273;p57"/>
          <p:cNvCxnSpPr>
            <a:stCxn id="1255" idx="2"/>
            <a:endCxn id="1253"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274" name="Google Shape;1274;p57"/>
          <p:cNvCxnSpPr>
            <a:stCxn id="1256" idx="0"/>
            <a:endCxn id="1253"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275" name="Google Shape;1275;p57"/>
          <p:cNvCxnSpPr>
            <a:stCxn id="1255" idx="0"/>
            <a:endCxn id="1254"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276" name="Google Shape;1276;p57"/>
          <p:cNvCxnSpPr>
            <a:stCxn id="1253" idx="7"/>
            <a:endCxn id="1254"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1277" name="Google Shape;1277;p57"/>
          <p:cNvCxnSpPr>
            <a:stCxn id="1253" idx="2"/>
            <a:endCxn id="1251"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1278" name="Google Shape;1278;p57"/>
          <p:cNvCxnSpPr>
            <a:stCxn id="1252" idx="0"/>
            <a:endCxn id="1251"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279" name="Google Shape;1279;p57"/>
          <p:cNvCxnSpPr>
            <a:stCxn id="1251" idx="3"/>
            <a:endCxn id="1250"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1280" name="Google Shape;1280;p57"/>
          <p:cNvCxnSpPr>
            <a:stCxn id="1249" idx="5"/>
            <a:endCxn id="1250"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281" name="Google Shape;1281;p57"/>
          <p:cNvCxnSpPr>
            <a:stCxn id="1246" idx="4"/>
            <a:endCxn id="1249"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282" name="Google Shape;1282;p57"/>
          <p:cNvCxnSpPr>
            <a:stCxn id="1251" idx="1"/>
            <a:endCxn id="1246"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283" name="Google Shape;1283;p57"/>
          <p:cNvCxnSpPr>
            <a:stCxn id="1249" idx="2"/>
            <a:endCxn id="1248"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284" name="Google Shape;1284;p57"/>
          <p:cNvCxnSpPr>
            <a:stCxn id="1249" idx="0"/>
            <a:endCxn id="1247"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285" name="Google Shape;1285;p57"/>
          <p:cNvCxnSpPr>
            <a:stCxn id="1247" idx="3"/>
            <a:endCxn id="1248"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286" name="Google Shape;1286;p57"/>
          <p:cNvCxnSpPr>
            <a:stCxn id="1244" idx="4"/>
            <a:endCxn id="1248"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287" name="Google Shape;1287;p57"/>
          <p:cNvCxnSpPr>
            <a:stCxn id="1245" idx="2"/>
            <a:endCxn id="1244"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288" name="Google Shape;1288;p57"/>
          <p:cNvCxnSpPr>
            <a:stCxn id="1245" idx="3"/>
            <a:endCxn id="1247"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289" name="Google Shape;1289;p57"/>
          <p:cNvCxnSpPr>
            <a:stCxn id="1246" idx="2"/>
            <a:endCxn id="1244"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290" name="Google Shape;1290;p57"/>
          <p:cNvCxnSpPr>
            <a:stCxn id="1246" idx="1"/>
            <a:endCxn id="1245"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291" name="Google Shape;1291;p57"/>
          <p:cNvCxnSpPr>
            <a:stCxn id="1246" idx="2"/>
            <a:endCxn id="1247"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292" name="Google Shape;1292;p57"/>
          <p:cNvCxnSpPr>
            <a:stCxn id="1247" idx="1"/>
            <a:endCxn id="1244"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293" name="Google Shape;1293;p57"/>
          <p:cNvCxnSpPr>
            <a:stCxn id="1255" idx="6"/>
            <a:endCxn id="1260"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1294" name="Google Shape;1294;p57"/>
          <p:cNvSpPr/>
          <p:nvPr/>
        </p:nvSpPr>
        <p:spPr>
          <a:xfrm>
            <a:off x="2807325" y="1196125"/>
            <a:ext cx="3117600" cy="8313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In this </a:t>
            </a:r>
            <a:r>
              <a:rPr b="1" lang="en">
                <a:solidFill>
                  <a:srgbClr val="FF0000"/>
                </a:solidFill>
              </a:rPr>
              <a:t>graph,</a:t>
            </a:r>
            <a:r>
              <a:rPr b="1" lang="en">
                <a:solidFill>
                  <a:srgbClr val="FF0000"/>
                </a:solidFill>
              </a:rPr>
              <a:t> this node has the largest closeness centrality!</a:t>
            </a:r>
            <a:endParaRPr b="1">
              <a:solidFill>
                <a:srgbClr val="FF0000"/>
              </a:solidFill>
            </a:endParaRPr>
          </a:p>
        </p:txBody>
      </p:sp>
      <p:cxnSp>
        <p:nvCxnSpPr>
          <p:cNvPr id="1295" name="Google Shape;1295;p57"/>
          <p:cNvCxnSpPr>
            <a:stCxn id="1294" idx="4"/>
            <a:endCxn id="1253" idx="0"/>
          </p:cNvCxnSpPr>
          <p:nvPr/>
        </p:nvCxnSpPr>
        <p:spPr>
          <a:xfrm>
            <a:off x="4366125" y="2027425"/>
            <a:ext cx="827100" cy="131850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9" name="Shape 1299"/>
        <p:cNvGrpSpPr/>
        <p:nvPr/>
      </p:nvGrpSpPr>
      <p:grpSpPr>
        <a:xfrm>
          <a:off x="0" y="0"/>
          <a:ext cx="0" cy="0"/>
          <a:chOff x="0" y="0"/>
          <a:chExt cx="0" cy="0"/>
        </a:xfrm>
      </p:grpSpPr>
      <p:sp>
        <p:nvSpPr>
          <p:cNvPr id="1300" name="Google Shape;1300;p5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Closeness (C</a:t>
            </a:r>
            <a:r>
              <a:rPr baseline="-25000" lang="en"/>
              <a:t>Clos</a:t>
            </a:r>
            <a:r>
              <a:rPr lang="en"/>
              <a:t>)</a:t>
            </a:r>
            <a:endParaRPr/>
          </a:p>
        </p:txBody>
      </p:sp>
      <p:sp>
        <p:nvSpPr>
          <p:cNvPr id="1301" name="Google Shape;1301;p58"/>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302" name="Google Shape;1302;p58"/>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303" name="Google Shape;1303;p58"/>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304" name="Google Shape;1304;p58"/>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305" name="Google Shape;1305;p58"/>
          <p:cNvSpPr/>
          <p:nvPr/>
        </p:nvSpPr>
        <p:spPr>
          <a:xfrm>
            <a:off x="297513" y="3417638"/>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306" name="Google Shape;1306;p58"/>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307" name="Google Shape;1307;p58"/>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308" name="Google Shape;1308;p58"/>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309" name="Google Shape;1309;p58"/>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310" name="Google Shape;1310;p58"/>
          <p:cNvSpPr/>
          <p:nvPr/>
        </p:nvSpPr>
        <p:spPr>
          <a:xfrm>
            <a:off x="4922888"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311" name="Google Shape;1311;p58"/>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312" name="Google Shape;1312;p58"/>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313" name="Google Shape;1313;p58"/>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314" name="Google Shape;1314;p58"/>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315" name="Google Shape;1315;p58"/>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316" name="Google Shape;1316;p58"/>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317" name="Google Shape;1317;p58"/>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318" name="Google Shape;1318;p58"/>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319" name="Google Shape;1319;p58"/>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320" name="Google Shape;1320;p58"/>
          <p:cNvCxnSpPr>
            <a:stCxn id="1319" idx="2"/>
            <a:endCxn id="1318"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321" name="Google Shape;1321;p58"/>
          <p:cNvCxnSpPr>
            <a:stCxn id="1317" idx="0"/>
            <a:endCxn id="1318"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322" name="Google Shape;1322;p58"/>
          <p:cNvCxnSpPr>
            <a:stCxn id="1316" idx="2"/>
            <a:endCxn id="1317"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323" name="Google Shape;1323;p58"/>
          <p:cNvCxnSpPr>
            <a:stCxn id="1316" idx="2"/>
            <a:endCxn id="1312"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324" name="Google Shape;1324;p58"/>
          <p:cNvCxnSpPr>
            <a:stCxn id="1316" idx="2"/>
            <a:endCxn id="1315"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325" name="Google Shape;1325;p58"/>
          <p:cNvCxnSpPr>
            <a:stCxn id="1315" idx="2"/>
            <a:endCxn id="1312"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326" name="Google Shape;1326;p58"/>
          <p:cNvCxnSpPr>
            <a:stCxn id="1315" idx="1"/>
            <a:endCxn id="1311"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327" name="Google Shape;1327;p58"/>
          <p:cNvCxnSpPr>
            <a:stCxn id="1314" idx="0"/>
            <a:endCxn id="1312"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328" name="Google Shape;1328;p58"/>
          <p:cNvCxnSpPr>
            <a:stCxn id="1313" idx="7"/>
            <a:endCxn id="1312"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329" name="Google Shape;1329;p58"/>
          <p:cNvCxnSpPr>
            <a:stCxn id="1314" idx="1"/>
            <a:endCxn id="1313"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330" name="Google Shape;1330;p58"/>
          <p:cNvCxnSpPr>
            <a:stCxn id="1312" idx="2"/>
            <a:endCxn id="1310"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331" name="Google Shape;1331;p58"/>
          <p:cNvCxnSpPr>
            <a:stCxn id="1313" idx="0"/>
            <a:endCxn id="1310"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332" name="Google Shape;1332;p58"/>
          <p:cNvCxnSpPr>
            <a:stCxn id="1312" idx="0"/>
            <a:endCxn id="1311"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333" name="Google Shape;1333;p58"/>
          <p:cNvCxnSpPr>
            <a:stCxn id="1310" idx="7"/>
            <a:endCxn id="1311" idx="4"/>
          </p:cNvCxnSpPr>
          <p:nvPr/>
        </p:nvCxnSpPr>
        <p:spPr>
          <a:xfrm flipH="1" rot="10800000">
            <a:off x="5384318" y="2918818"/>
            <a:ext cx="349500" cy="506100"/>
          </a:xfrm>
          <a:prstGeom prst="straightConnector1">
            <a:avLst/>
          </a:prstGeom>
          <a:noFill/>
          <a:ln cap="flat" cmpd="sng" w="38100">
            <a:solidFill>
              <a:schemeClr val="dk2"/>
            </a:solidFill>
            <a:prstDash val="solid"/>
            <a:round/>
            <a:headEnd len="med" w="med" type="none"/>
            <a:tailEnd len="med" w="med" type="none"/>
          </a:ln>
        </p:spPr>
      </p:cxnSp>
      <p:cxnSp>
        <p:nvCxnSpPr>
          <p:cNvPr id="1334" name="Google Shape;1334;p58"/>
          <p:cNvCxnSpPr>
            <a:stCxn id="1310" idx="2"/>
            <a:endCxn id="1308" idx="6"/>
          </p:cNvCxnSpPr>
          <p:nvPr/>
        </p:nvCxnSpPr>
        <p:spPr>
          <a:xfrm rot="10800000">
            <a:off x="4137188" y="3615625"/>
            <a:ext cx="785700" cy="0"/>
          </a:xfrm>
          <a:prstGeom prst="straightConnector1">
            <a:avLst/>
          </a:prstGeom>
          <a:noFill/>
          <a:ln cap="flat" cmpd="sng" w="38100">
            <a:solidFill>
              <a:srgbClr val="FF0000"/>
            </a:solidFill>
            <a:prstDash val="solid"/>
            <a:round/>
            <a:headEnd len="med" w="med" type="none"/>
            <a:tailEnd len="med" w="med" type="none"/>
          </a:ln>
        </p:spPr>
      </p:cxnSp>
      <p:cxnSp>
        <p:nvCxnSpPr>
          <p:cNvPr id="1335" name="Google Shape;1335;p58"/>
          <p:cNvCxnSpPr>
            <a:stCxn id="1309" idx="0"/>
            <a:endCxn id="1308"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336" name="Google Shape;1336;p58"/>
          <p:cNvCxnSpPr>
            <a:stCxn id="1308" idx="3"/>
            <a:endCxn id="1307" idx="7"/>
          </p:cNvCxnSpPr>
          <p:nvPr/>
        </p:nvCxnSpPr>
        <p:spPr>
          <a:xfrm flipH="1">
            <a:off x="2891332" y="3806332"/>
            <a:ext cx="784500" cy="817500"/>
          </a:xfrm>
          <a:prstGeom prst="straightConnector1">
            <a:avLst/>
          </a:prstGeom>
          <a:noFill/>
          <a:ln cap="flat" cmpd="sng" w="38100">
            <a:solidFill>
              <a:srgbClr val="FF0000"/>
            </a:solidFill>
            <a:prstDash val="solid"/>
            <a:round/>
            <a:headEnd len="med" w="med" type="none"/>
            <a:tailEnd len="med" w="med" type="none"/>
          </a:ln>
        </p:spPr>
      </p:cxnSp>
      <p:cxnSp>
        <p:nvCxnSpPr>
          <p:cNvPr id="1337" name="Google Shape;1337;p58"/>
          <p:cNvCxnSpPr>
            <a:stCxn id="1306" idx="5"/>
            <a:endCxn id="1307" idx="0"/>
          </p:cNvCxnSpPr>
          <p:nvPr/>
        </p:nvCxnSpPr>
        <p:spPr>
          <a:xfrm>
            <a:off x="2350768" y="4039619"/>
            <a:ext cx="349500" cy="505200"/>
          </a:xfrm>
          <a:prstGeom prst="straightConnector1">
            <a:avLst/>
          </a:prstGeom>
          <a:noFill/>
          <a:ln cap="flat" cmpd="sng" w="38100">
            <a:solidFill>
              <a:srgbClr val="FF0000"/>
            </a:solidFill>
            <a:prstDash val="solid"/>
            <a:round/>
            <a:headEnd len="med" w="med" type="none"/>
            <a:tailEnd len="med" w="med" type="none"/>
          </a:ln>
        </p:spPr>
      </p:cxnSp>
      <p:cxnSp>
        <p:nvCxnSpPr>
          <p:cNvPr id="1338" name="Google Shape;1338;p58"/>
          <p:cNvCxnSpPr>
            <a:stCxn id="1303" idx="4"/>
            <a:endCxn id="1306"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339" name="Google Shape;1339;p58"/>
          <p:cNvCxnSpPr>
            <a:stCxn id="1308" idx="1"/>
            <a:endCxn id="1303"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340" name="Google Shape;1340;p58"/>
          <p:cNvCxnSpPr>
            <a:stCxn id="1306" idx="2"/>
            <a:endCxn id="1305" idx="6"/>
          </p:cNvCxnSpPr>
          <p:nvPr/>
        </p:nvCxnSpPr>
        <p:spPr>
          <a:xfrm rot="10800000">
            <a:off x="838138" y="3687213"/>
            <a:ext cx="1051200" cy="161700"/>
          </a:xfrm>
          <a:prstGeom prst="straightConnector1">
            <a:avLst/>
          </a:prstGeom>
          <a:noFill/>
          <a:ln cap="flat" cmpd="sng" w="38100">
            <a:solidFill>
              <a:srgbClr val="FF0000"/>
            </a:solidFill>
            <a:prstDash val="solid"/>
            <a:round/>
            <a:headEnd len="med" w="med" type="none"/>
            <a:tailEnd len="med" w="med" type="none"/>
          </a:ln>
        </p:spPr>
      </p:cxnSp>
      <p:cxnSp>
        <p:nvCxnSpPr>
          <p:cNvPr id="1341" name="Google Shape;1341;p58"/>
          <p:cNvCxnSpPr>
            <a:stCxn id="1306" idx="0"/>
            <a:endCxn id="1304"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342" name="Google Shape;1342;p58"/>
          <p:cNvCxnSpPr>
            <a:stCxn id="1304" idx="3"/>
            <a:endCxn id="1305"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343" name="Google Shape;1343;p58"/>
          <p:cNvCxnSpPr>
            <a:stCxn id="1301" idx="4"/>
            <a:endCxn id="1305"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344" name="Google Shape;1344;p58"/>
          <p:cNvCxnSpPr>
            <a:stCxn id="1302" idx="2"/>
            <a:endCxn id="1301"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345" name="Google Shape;1345;p58"/>
          <p:cNvCxnSpPr>
            <a:stCxn id="1302" idx="3"/>
            <a:endCxn id="1304"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346" name="Google Shape;1346;p58"/>
          <p:cNvCxnSpPr>
            <a:stCxn id="1303" idx="2"/>
            <a:endCxn id="1301"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347" name="Google Shape;1347;p58"/>
          <p:cNvCxnSpPr>
            <a:stCxn id="1303" idx="1"/>
            <a:endCxn id="1302"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348" name="Google Shape;1348;p58"/>
          <p:cNvCxnSpPr>
            <a:stCxn id="1303" idx="2"/>
            <a:endCxn id="1304"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349" name="Google Shape;1349;p58"/>
          <p:cNvCxnSpPr>
            <a:stCxn id="1304" idx="1"/>
            <a:endCxn id="1301"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350" name="Google Shape;1350;p58"/>
          <p:cNvCxnSpPr>
            <a:stCxn id="1312" idx="6"/>
            <a:endCxn id="1317"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1351" name="Google Shape;1351;p58"/>
          <p:cNvSpPr txBox="1"/>
          <p:nvPr/>
        </p:nvSpPr>
        <p:spPr>
          <a:xfrm>
            <a:off x="3513413" y="1147225"/>
            <a:ext cx="9879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Economica"/>
                <a:ea typeface="Economica"/>
                <a:cs typeface="Economica"/>
                <a:sym typeface="Economica"/>
              </a:rPr>
              <a:t>SP(</a:t>
            </a:r>
            <a:r>
              <a:rPr lang="en">
                <a:latin typeface="Economica"/>
                <a:ea typeface="Economica"/>
                <a:cs typeface="Economica"/>
                <a:sym typeface="Economica"/>
              </a:rPr>
              <a:t>i--</a:t>
            </a:r>
            <a:r>
              <a:rPr lang="en">
                <a:latin typeface="Economica"/>
                <a:ea typeface="Economica"/>
                <a:cs typeface="Economica"/>
                <a:sym typeface="Economica"/>
              </a:rPr>
              <a:t>a) = 4</a:t>
            </a:r>
            <a:endParaRPr>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a:t>
            </a:r>
            <a:r>
              <a:rPr lang="en">
                <a:solidFill>
                  <a:schemeClr val="dk1"/>
                </a:solidFill>
                <a:latin typeface="Economica"/>
                <a:ea typeface="Economica"/>
                <a:cs typeface="Economica"/>
                <a:sym typeface="Economica"/>
              </a:rPr>
              <a:t>i--</a:t>
            </a:r>
            <a:r>
              <a:rPr lang="en">
                <a:solidFill>
                  <a:schemeClr val="dk1"/>
                </a:solidFill>
                <a:latin typeface="Economica"/>
                <a:ea typeface="Economica"/>
                <a:cs typeface="Economica"/>
                <a:sym typeface="Economica"/>
              </a:rPr>
              <a:t>b)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a:t>
            </a:r>
            <a:r>
              <a:rPr lang="en">
                <a:solidFill>
                  <a:schemeClr val="dk1"/>
                </a:solidFill>
                <a:latin typeface="Economica"/>
                <a:ea typeface="Economica"/>
                <a:cs typeface="Economica"/>
                <a:sym typeface="Economica"/>
              </a:rPr>
              <a:t>i--</a:t>
            </a:r>
            <a:r>
              <a:rPr lang="en">
                <a:solidFill>
                  <a:schemeClr val="dk1"/>
                </a:solidFill>
                <a:latin typeface="Economica"/>
                <a:ea typeface="Economica"/>
                <a:cs typeface="Economica"/>
                <a:sym typeface="Economica"/>
              </a:rPr>
              <a:t>c)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a:t>
            </a:r>
            <a:r>
              <a:rPr lang="en">
                <a:solidFill>
                  <a:schemeClr val="dk1"/>
                </a:solidFill>
                <a:latin typeface="Economica"/>
                <a:ea typeface="Economica"/>
                <a:cs typeface="Economica"/>
                <a:sym typeface="Economica"/>
              </a:rPr>
              <a:t>i--</a:t>
            </a:r>
            <a:r>
              <a:rPr lang="en">
                <a:solidFill>
                  <a:schemeClr val="dk1"/>
                </a:solidFill>
                <a:latin typeface="Economica"/>
                <a:ea typeface="Economica"/>
                <a:cs typeface="Economica"/>
                <a:sym typeface="Economica"/>
              </a:rPr>
              <a:t>d)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a:t>
            </a:r>
            <a:r>
              <a:rPr lang="en">
                <a:solidFill>
                  <a:schemeClr val="dk1"/>
                </a:solidFill>
                <a:latin typeface="Economica"/>
                <a:ea typeface="Economica"/>
                <a:cs typeface="Economica"/>
                <a:sym typeface="Economica"/>
              </a:rPr>
              <a:t>i--</a:t>
            </a:r>
            <a:r>
              <a:rPr lang="en">
                <a:solidFill>
                  <a:schemeClr val="dk1"/>
                </a:solidFill>
                <a:latin typeface="Economica"/>
                <a:ea typeface="Economica"/>
                <a:cs typeface="Economica"/>
                <a:sym typeface="Economica"/>
              </a:rPr>
              <a:t>e)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a:t>
            </a:r>
            <a:r>
              <a:rPr lang="en">
                <a:solidFill>
                  <a:schemeClr val="dk1"/>
                </a:solidFill>
                <a:latin typeface="Economica"/>
                <a:ea typeface="Economica"/>
                <a:cs typeface="Economica"/>
                <a:sym typeface="Economica"/>
              </a:rPr>
              <a:t>i--</a:t>
            </a:r>
            <a:r>
              <a:rPr lang="en">
                <a:solidFill>
                  <a:schemeClr val="dk1"/>
                </a:solidFill>
                <a:latin typeface="Economica"/>
                <a:ea typeface="Economica"/>
                <a:cs typeface="Economica"/>
                <a:sym typeface="Economica"/>
              </a:rPr>
              <a:t>f)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a:t>
            </a:r>
            <a:r>
              <a:rPr lang="en">
                <a:solidFill>
                  <a:schemeClr val="dk1"/>
                </a:solidFill>
                <a:latin typeface="Economica"/>
                <a:ea typeface="Economica"/>
                <a:cs typeface="Economica"/>
                <a:sym typeface="Economica"/>
              </a:rPr>
              <a:t>i--</a:t>
            </a:r>
            <a:r>
              <a:rPr lang="en">
                <a:solidFill>
                  <a:schemeClr val="dk1"/>
                </a:solidFill>
                <a:latin typeface="Economica"/>
                <a:ea typeface="Economica"/>
                <a:cs typeface="Economica"/>
                <a:sym typeface="Economica"/>
              </a:rPr>
              <a:t>g)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a:t>
            </a:r>
            <a:r>
              <a:rPr lang="en">
                <a:solidFill>
                  <a:schemeClr val="dk1"/>
                </a:solidFill>
                <a:latin typeface="Economica"/>
                <a:ea typeface="Economica"/>
                <a:cs typeface="Economica"/>
                <a:sym typeface="Economica"/>
              </a:rPr>
              <a:t>i--</a:t>
            </a:r>
            <a:r>
              <a:rPr lang="en">
                <a:solidFill>
                  <a:schemeClr val="dk1"/>
                </a:solidFill>
                <a:latin typeface="Economica"/>
                <a:ea typeface="Economica"/>
                <a:cs typeface="Economica"/>
                <a:sym typeface="Economica"/>
              </a:rPr>
              <a:t>h)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a:t>
            </a:r>
            <a:r>
              <a:rPr lang="en">
                <a:solidFill>
                  <a:schemeClr val="dk1"/>
                </a:solidFill>
                <a:latin typeface="Economica"/>
                <a:ea typeface="Economica"/>
                <a:cs typeface="Economica"/>
                <a:sym typeface="Economica"/>
              </a:rPr>
              <a:t>i--</a:t>
            </a:r>
            <a:r>
              <a:rPr lang="en">
                <a:solidFill>
                  <a:schemeClr val="dk1"/>
                </a:solidFill>
                <a:latin typeface="Economica"/>
                <a:ea typeface="Economica"/>
                <a:cs typeface="Economica"/>
                <a:sym typeface="Economica"/>
              </a:rPr>
              <a:t>i) =</a:t>
            </a:r>
            <a:endParaRPr>
              <a:latin typeface="Economica"/>
              <a:ea typeface="Economica"/>
              <a:cs typeface="Economica"/>
              <a:sym typeface="Economica"/>
            </a:endParaRPr>
          </a:p>
        </p:txBody>
      </p:sp>
      <p:sp>
        <p:nvSpPr>
          <p:cNvPr id="1352" name="Google Shape;1352;p58"/>
          <p:cNvSpPr txBox="1"/>
          <p:nvPr/>
        </p:nvSpPr>
        <p:spPr>
          <a:xfrm>
            <a:off x="4515975" y="1147225"/>
            <a:ext cx="9879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Economica"/>
                <a:ea typeface="Economica"/>
                <a:cs typeface="Economica"/>
                <a:sym typeface="Economica"/>
              </a:rPr>
              <a:t>SP(i--j)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SP(i--k)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SP(i--l)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SP(i--m)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SP(i--n)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SP(i--o)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SP(i--p)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SP(i--q)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SP(i--r)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SP(i--s) =</a:t>
            </a:r>
            <a:endParaRPr>
              <a:solidFill>
                <a:schemeClr val="dk1"/>
              </a:solidFill>
              <a:latin typeface="Economica"/>
              <a:ea typeface="Economica"/>
              <a:cs typeface="Economica"/>
              <a:sym typeface="Economica"/>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6" name="Shape 1356"/>
        <p:cNvGrpSpPr/>
        <p:nvPr/>
      </p:nvGrpSpPr>
      <p:grpSpPr>
        <a:xfrm>
          <a:off x="0" y="0"/>
          <a:ext cx="0" cy="0"/>
          <a:chOff x="0" y="0"/>
          <a:chExt cx="0" cy="0"/>
        </a:xfrm>
      </p:grpSpPr>
      <p:sp>
        <p:nvSpPr>
          <p:cNvPr id="1357" name="Google Shape;1357;p5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Closeness (C</a:t>
            </a:r>
            <a:r>
              <a:rPr baseline="-25000" lang="en"/>
              <a:t>Clos</a:t>
            </a:r>
            <a:r>
              <a:rPr lang="en"/>
              <a:t>)</a:t>
            </a:r>
            <a:endParaRPr/>
          </a:p>
        </p:txBody>
      </p:sp>
      <p:sp>
        <p:nvSpPr>
          <p:cNvPr id="1358" name="Google Shape;1358;p59"/>
          <p:cNvSpPr/>
          <p:nvPr/>
        </p:nvSpPr>
        <p:spPr>
          <a:xfrm>
            <a:off x="346438" y="19011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359" name="Google Shape;1359;p59"/>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360" name="Google Shape;1360;p59"/>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361" name="Google Shape;1361;p59"/>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362" name="Google Shape;1362;p59"/>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363" name="Google Shape;1363;p59"/>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364" name="Google Shape;1364;p59"/>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365" name="Google Shape;1365;p59"/>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366" name="Google Shape;1366;p59"/>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367" name="Google Shape;1367;p59"/>
          <p:cNvSpPr/>
          <p:nvPr/>
        </p:nvSpPr>
        <p:spPr>
          <a:xfrm>
            <a:off x="4922888"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368" name="Google Shape;1368;p59"/>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369" name="Google Shape;1369;p59"/>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370" name="Google Shape;1370;p59"/>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371" name="Google Shape;1371;p59"/>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372" name="Google Shape;1372;p59"/>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373" name="Google Shape;1373;p59"/>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374" name="Google Shape;1374;p59"/>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375" name="Google Shape;1375;p59"/>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376" name="Google Shape;1376;p59"/>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377" name="Google Shape;1377;p59"/>
          <p:cNvCxnSpPr>
            <a:stCxn id="1376" idx="2"/>
            <a:endCxn id="1375"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378" name="Google Shape;1378;p59"/>
          <p:cNvCxnSpPr>
            <a:stCxn id="1374" idx="0"/>
            <a:endCxn id="1375"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379" name="Google Shape;1379;p59"/>
          <p:cNvCxnSpPr>
            <a:stCxn id="1373" idx="2"/>
            <a:endCxn id="1374"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380" name="Google Shape;1380;p59"/>
          <p:cNvCxnSpPr>
            <a:stCxn id="1373" idx="2"/>
            <a:endCxn id="1369"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381" name="Google Shape;1381;p59"/>
          <p:cNvCxnSpPr>
            <a:stCxn id="1373" idx="2"/>
            <a:endCxn id="1372"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382" name="Google Shape;1382;p59"/>
          <p:cNvCxnSpPr>
            <a:stCxn id="1372" idx="2"/>
            <a:endCxn id="1369"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383" name="Google Shape;1383;p59"/>
          <p:cNvCxnSpPr>
            <a:stCxn id="1372" idx="1"/>
            <a:endCxn id="1368"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384" name="Google Shape;1384;p59"/>
          <p:cNvCxnSpPr>
            <a:stCxn id="1371" idx="0"/>
            <a:endCxn id="1369"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385" name="Google Shape;1385;p59"/>
          <p:cNvCxnSpPr>
            <a:stCxn id="1370" idx="7"/>
            <a:endCxn id="1369"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386" name="Google Shape;1386;p59"/>
          <p:cNvCxnSpPr>
            <a:stCxn id="1371" idx="1"/>
            <a:endCxn id="1370"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387" name="Google Shape;1387;p59"/>
          <p:cNvCxnSpPr>
            <a:stCxn id="1369" idx="2"/>
            <a:endCxn id="1367"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388" name="Google Shape;1388;p59"/>
          <p:cNvCxnSpPr>
            <a:stCxn id="1370" idx="0"/>
            <a:endCxn id="1367"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389" name="Google Shape;1389;p59"/>
          <p:cNvCxnSpPr>
            <a:stCxn id="1369" idx="0"/>
            <a:endCxn id="1368"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390" name="Google Shape;1390;p59"/>
          <p:cNvCxnSpPr>
            <a:stCxn id="1367" idx="7"/>
            <a:endCxn id="1368" idx="4"/>
          </p:cNvCxnSpPr>
          <p:nvPr/>
        </p:nvCxnSpPr>
        <p:spPr>
          <a:xfrm flipH="1" rot="10800000">
            <a:off x="5384318" y="2918818"/>
            <a:ext cx="349500" cy="506100"/>
          </a:xfrm>
          <a:prstGeom prst="straightConnector1">
            <a:avLst/>
          </a:prstGeom>
          <a:noFill/>
          <a:ln cap="flat" cmpd="sng" w="38100">
            <a:solidFill>
              <a:schemeClr val="dk2"/>
            </a:solidFill>
            <a:prstDash val="solid"/>
            <a:round/>
            <a:headEnd len="med" w="med" type="none"/>
            <a:tailEnd len="med" w="med" type="none"/>
          </a:ln>
        </p:spPr>
      </p:cxnSp>
      <p:cxnSp>
        <p:nvCxnSpPr>
          <p:cNvPr id="1391" name="Google Shape;1391;p59"/>
          <p:cNvCxnSpPr>
            <a:stCxn id="1367" idx="2"/>
            <a:endCxn id="1365" idx="6"/>
          </p:cNvCxnSpPr>
          <p:nvPr/>
        </p:nvCxnSpPr>
        <p:spPr>
          <a:xfrm rot="10800000">
            <a:off x="4137188" y="3615625"/>
            <a:ext cx="785700" cy="0"/>
          </a:xfrm>
          <a:prstGeom prst="straightConnector1">
            <a:avLst/>
          </a:prstGeom>
          <a:noFill/>
          <a:ln cap="flat" cmpd="sng" w="38100">
            <a:solidFill>
              <a:srgbClr val="FF0000"/>
            </a:solidFill>
            <a:prstDash val="solid"/>
            <a:round/>
            <a:headEnd len="med" w="med" type="none"/>
            <a:tailEnd len="med" w="med" type="none"/>
          </a:ln>
        </p:spPr>
      </p:cxnSp>
      <p:cxnSp>
        <p:nvCxnSpPr>
          <p:cNvPr id="1392" name="Google Shape;1392;p59"/>
          <p:cNvCxnSpPr>
            <a:stCxn id="1366" idx="0"/>
            <a:endCxn id="1365"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393" name="Google Shape;1393;p59"/>
          <p:cNvCxnSpPr>
            <a:stCxn id="1365" idx="3"/>
            <a:endCxn id="1364" idx="7"/>
          </p:cNvCxnSpPr>
          <p:nvPr/>
        </p:nvCxnSpPr>
        <p:spPr>
          <a:xfrm flipH="1">
            <a:off x="2891332" y="3806332"/>
            <a:ext cx="784500" cy="817500"/>
          </a:xfrm>
          <a:prstGeom prst="straightConnector1">
            <a:avLst/>
          </a:prstGeom>
          <a:noFill/>
          <a:ln cap="flat" cmpd="sng" w="38100">
            <a:solidFill>
              <a:srgbClr val="BDBDBD"/>
            </a:solidFill>
            <a:prstDash val="solid"/>
            <a:round/>
            <a:headEnd len="med" w="med" type="none"/>
            <a:tailEnd len="med" w="med" type="none"/>
          </a:ln>
        </p:spPr>
      </p:cxnSp>
      <p:cxnSp>
        <p:nvCxnSpPr>
          <p:cNvPr id="1394" name="Google Shape;1394;p59"/>
          <p:cNvCxnSpPr>
            <a:stCxn id="1363" idx="5"/>
            <a:endCxn id="1364" idx="0"/>
          </p:cNvCxnSpPr>
          <p:nvPr/>
        </p:nvCxnSpPr>
        <p:spPr>
          <a:xfrm>
            <a:off x="2350768" y="4039619"/>
            <a:ext cx="349500" cy="505200"/>
          </a:xfrm>
          <a:prstGeom prst="straightConnector1">
            <a:avLst/>
          </a:prstGeom>
          <a:noFill/>
          <a:ln cap="flat" cmpd="sng" w="38100">
            <a:solidFill>
              <a:srgbClr val="BDBDBD"/>
            </a:solidFill>
            <a:prstDash val="solid"/>
            <a:round/>
            <a:headEnd len="med" w="med" type="none"/>
            <a:tailEnd len="med" w="med" type="none"/>
          </a:ln>
        </p:spPr>
      </p:cxnSp>
      <p:cxnSp>
        <p:nvCxnSpPr>
          <p:cNvPr id="1395" name="Google Shape;1395;p59"/>
          <p:cNvCxnSpPr>
            <a:stCxn id="1360" idx="4"/>
            <a:endCxn id="1363"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396" name="Google Shape;1396;p59"/>
          <p:cNvCxnSpPr>
            <a:stCxn id="1365" idx="1"/>
            <a:endCxn id="1360" idx="4"/>
          </p:cNvCxnSpPr>
          <p:nvPr/>
        </p:nvCxnSpPr>
        <p:spPr>
          <a:xfrm rot="10800000">
            <a:off x="3283732" y="2777218"/>
            <a:ext cx="392100" cy="647700"/>
          </a:xfrm>
          <a:prstGeom prst="straightConnector1">
            <a:avLst/>
          </a:prstGeom>
          <a:noFill/>
          <a:ln cap="flat" cmpd="sng" w="28575">
            <a:solidFill>
              <a:srgbClr val="FF0000"/>
            </a:solidFill>
            <a:prstDash val="solid"/>
            <a:round/>
            <a:headEnd len="med" w="med" type="none"/>
            <a:tailEnd len="med" w="med" type="none"/>
          </a:ln>
        </p:spPr>
      </p:cxnSp>
      <p:cxnSp>
        <p:nvCxnSpPr>
          <p:cNvPr id="1397" name="Google Shape;1397;p59"/>
          <p:cNvCxnSpPr>
            <a:stCxn id="1363" idx="2"/>
            <a:endCxn id="1362" idx="6"/>
          </p:cNvCxnSpPr>
          <p:nvPr/>
        </p:nvCxnSpPr>
        <p:spPr>
          <a:xfrm rot="10800000">
            <a:off x="838138" y="3687213"/>
            <a:ext cx="1051200" cy="161700"/>
          </a:xfrm>
          <a:prstGeom prst="straightConnector1">
            <a:avLst/>
          </a:prstGeom>
          <a:noFill/>
          <a:ln cap="flat" cmpd="sng" w="38100">
            <a:solidFill>
              <a:srgbClr val="BDBDBD"/>
            </a:solidFill>
            <a:prstDash val="solid"/>
            <a:round/>
            <a:headEnd len="med" w="med" type="none"/>
            <a:tailEnd len="med" w="med" type="none"/>
          </a:ln>
        </p:spPr>
      </p:cxnSp>
      <p:cxnSp>
        <p:nvCxnSpPr>
          <p:cNvPr id="1398" name="Google Shape;1398;p59"/>
          <p:cNvCxnSpPr>
            <a:stCxn id="1363" idx="0"/>
            <a:endCxn id="1361"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399" name="Google Shape;1399;p59"/>
          <p:cNvCxnSpPr>
            <a:stCxn id="1361" idx="3"/>
            <a:endCxn id="1362"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400" name="Google Shape;1400;p59"/>
          <p:cNvCxnSpPr>
            <a:stCxn id="1358" idx="4"/>
            <a:endCxn id="1362"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401" name="Google Shape;1401;p59"/>
          <p:cNvCxnSpPr>
            <a:stCxn id="1359" idx="2"/>
            <a:endCxn id="1358"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402" name="Google Shape;1402;p59"/>
          <p:cNvCxnSpPr>
            <a:stCxn id="1359" idx="3"/>
            <a:endCxn id="1361"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403" name="Google Shape;1403;p59"/>
          <p:cNvCxnSpPr>
            <a:stCxn id="1360" idx="2"/>
            <a:endCxn id="1358" idx="6"/>
          </p:cNvCxnSpPr>
          <p:nvPr/>
        </p:nvCxnSpPr>
        <p:spPr>
          <a:xfrm rot="10800000">
            <a:off x="886925" y="2170863"/>
            <a:ext cx="2126400" cy="336600"/>
          </a:xfrm>
          <a:prstGeom prst="straightConnector1">
            <a:avLst/>
          </a:prstGeom>
          <a:noFill/>
          <a:ln cap="flat" cmpd="sng" w="28575">
            <a:solidFill>
              <a:srgbClr val="FF0000"/>
            </a:solidFill>
            <a:prstDash val="solid"/>
            <a:round/>
            <a:headEnd len="med" w="med" type="none"/>
            <a:tailEnd len="med" w="med" type="none"/>
          </a:ln>
        </p:spPr>
      </p:cxnSp>
      <p:cxnSp>
        <p:nvCxnSpPr>
          <p:cNvPr id="1404" name="Google Shape;1404;p59"/>
          <p:cNvCxnSpPr>
            <a:stCxn id="1360" idx="1"/>
            <a:endCxn id="1359"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405" name="Google Shape;1405;p59"/>
          <p:cNvCxnSpPr>
            <a:stCxn id="1360" idx="2"/>
            <a:endCxn id="1361"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406" name="Google Shape;1406;p59"/>
          <p:cNvCxnSpPr>
            <a:stCxn id="1361" idx="1"/>
            <a:endCxn id="1358"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407" name="Google Shape;1407;p59"/>
          <p:cNvCxnSpPr>
            <a:stCxn id="1369" idx="6"/>
            <a:endCxn id="1374"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1408" name="Google Shape;1408;p59"/>
          <p:cNvSpPr txBox="1"/>
          <p:nvPr/>
        </p:nvSpPr>
        <p:spPr>
          <a:xfrm>
            <a:off x="3513413" y="1147225"/>
            <a:ext cx="9879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Economica"/>
                <a:ea typeface="Economica"/>
                <a:cs typeface="Economica"/>
                <a:sym typeface="Economica"/>
              </a:rPr>
              <a:t>SP(i--a) = 4</a:t>
            </a:r>
            <a:endParaRPr>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SP(i--b) = 3</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SP(i--c)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SP(i--d)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SP(i--e)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SP(i--f)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SP(i--g)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SP(i--h)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SP(i--i) =</a:t>
            </a:r>
            <a:endParaRPr>
              <a:latin typeface="Economica"/>
              <a:ea typeface="Economica"/>
              <a:cs typeface="Economica"/>
              <a:sym typeface="Economica"/>
            </a:endParaRPr>
          </a:p>
        </p:txBody>
      </p:sp>
      <p:sp>
        <p:nvSpPr>
          <p:cNvPr id="1409" name="Google Shape;1409;p59"/>
          <p:cNvSpPr txBox="1"/>
          <p:nvPr/>
        </p:nvSpPr>
        <p:spPr>
          <a:xfrm>
            <a:off x="4515975" y="1147225"/>
            <a:ext cx="9879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Economica"/>
                <a:ea typeface="Economica"/>
                <a:cs typeface="Economica"/>
                <a:sym typeface="Economica"/>
              </a:rPr>
              <a:t>SP(i--j)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SP(i--k)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SP(i--l)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SP(i--m)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SP(i--n)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SP(i--o)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SP(i--p)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SP(i--q)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SP(i--r)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SP(i--s) =</a:t>
            </a:r>
            <a:endParaRPr>
              <a:solidFill>
                <a:schemeClr val="dk1"/>
              </a:solidFill>
              <a:latin typeface="Economica"/>
              <a:ea typeface="Economica"/>
              <a:cs typeface="Economica"/>
              <a:sym typeface="Economica"/>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3" name="Shape 1413"/>
        <p:cNvGrpSpPr/>
        <p:nvPr/>
      </p:nvGrpSpPr>
      <p:grpSpPr>
        <a:xfrm>
          <a:off x="0" y="0"/>
          <a:ext cx="0" cy="0"/>
          <a:chOff x="0" y="0"/>
          <a:chExt cx="0" cy="0"/>
        </a:xfrm>
      </p:grpSpPr>
      <p:sp>
        <p:nvSpPr>
          <p:cNvPr id="1414" name="Google Shape;1414;p6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Closeness (C</a:t>
            </a:r>
            <a:r>
              <a:rPr baseline="-25000" lang="en"/>
              <a:t>Clos</a:t>
            </a:r>
            <a:r>
              <a:rPr lang="en"/>
              <a:t>)</a:t>
            </a:r>
            <a:endParaRPr sz="4100"/>
          </a:p>
        </p:txBody>
      </p:sp>
      <p:sp>
        <p:nvSpPr>
          <p:cNvPr id="1415" name="Google Shape;1415;p60"/>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416" name="Google Shape;1416;p60"/>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417" name="Google Shape;1417;p60"/>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418" name="Google Shape;1418;p60"/>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419" name="Google Shape;1419;p60"/>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420" name="Google Shape;1420;p60"/>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421" name="Google Shape;1421;p60"/>
          <p:cNvSpPr/>
          <p:nvPr/>
        </p:nvSpPr>
        <p:spPr>
          <a:xfrm>
            <a:off x="2429938" y="454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422" name="Google Shape;1422;p60"/>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423" name="Google Shape;1423;p60"/>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424" name="Google Shape;1424;p60"/>
          <p:cNvSpPr/>
          <p:nvPr/>
        </p:nvSpPr>
        <p:spPr>
          <a:xfrm>
            <a:off x="4922888"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425" name="Google Shape;1425;p60"/>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426" name="Google Shape;1426;p60"/>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427" name="Google Shape;1427;p60"/>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428" name="Google Shape;1428;p60"/>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429" name="Google Shape;1429;p60"/>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430" name="Google Shape;1430;p60"/>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431" name="Google Shape;1431;p60"/>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432" name="Google Shape;1432;p60"/>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433" name="Google Shape;1433;p60"/>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434" name="Google Shape;1434;p60"/>
          <p:cNvCxnSpPr>
            <a:stCxn id="1433" idx="2"/>
            <a:endCxn id="1432"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435" name="Google Shape;1435;p60"/>
          <p:cNvCxnSpPr>
            <a:stCxn id="1431" idx="0"/>
            <a:endCxn id="1432"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436" name="Google Shape;1436;p60"/>
          <p:cNvCxnSpPr>
            <a:stCxn id="1430" idx="2"/>
            <a:endCxn id="1431"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437" name="Google Shape;1437;p60"/>
          <p:cNvCxnSpPr>
            <a:stCxn id="1430" idx="2"/>
            <a:endCxn id="1426"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438" name="Google Shape;1438;p60"/>
          <p:cNvCxnSpPr>
            <a:stCxn id="1430" idx="2"/>
            <a:endCxn id="1429"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439" name="Google Shape;1439;p60"/>
          <p:cNvCxnSpPr>
            <a:stCxn id="1429" idx="2"/>
            <a:endCxn id="1426"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440" name="Google Shape;1440;p60"/>
          <p:cNvCxnSpPr>
            <a:stCxn id="1429" idx="1"/>
            <a:endCxn id="1425"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441" name="Google Shape;1441;p60"/>
          <p:cNvCxnSpPr>
            <a:stCxn id="1428" idx="0"/>
            <a:endCxn id="1426"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442" name="Google Shape;1442;p60"/>
          <p:cNvCxnSpPr>
            <a:stCxn id="1427" idx="7"/>
            <a:endCxn id="1426"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443" name="Google Shape;1443;p60"/>
          <p:cNvCxnSpPr>
            <a:stCxn id="1428" idx="1"/>
            <a:endCxn id="1427"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444" name="Google Shape;1444;p60"/>
          <p:cNvCxnSpPr>
            <a:stCxn id="1426" idx="2"/>
            <a:endCxn id="1424"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445" name="Google Shape;1445;p60"/>
          <p:cNvCxnSpPr>
            <a:stCxn id="1427" idx="0"/>
            <a:endCxn id="1424"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446" name="Google Shape;1446;p60"/>
          <p:cNvCxnSpPr>
            <a:stCxn id="1426" idx="0"/>
            <a:endCxn id="1425"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447" name="Google Shape;1447;p60"/>
          <p:cNvCxnSpPr>
            <a:stCxn id="1424" idx="7"/>
            <a:endCxn id="1425" idx="4"/>
          </p:cNvCxnSpPr>
          <p:nvPr/>
        </p:nvCxnSpPr>
        <p:spPr>
          <a:xfrm flipH="1" rot="10800000">
            <a:off x="5384318" y="2918818"/>
            <a:ext cx="349500" cy="506100"/>
          </a:xfrm>
          <a:prstGeom prst="straightConnector1">
            <a:avLst/>
          </a:prstGeom>
          <a:noFill/>
          <a:ln cap="flat" cmpd="sng" w="38100">
            <a:solidFill>
              <a:schemeClr val="dk2"/>
            </a:solidFill>
            <a:prstDash val="solid"/>
            <a:round/>
            <a:headEnd len="med" w="med" type="none"/>
            <a:tailEnd len="med" w="med" type="none"/>
          </a:ln>
        </p:spPr>
      </p:cxnSp>
      <p:cxnSp>
        <p:nvCxnSpPr>
          <p:cNvPr id="1448" name="Google Shape;1448;p60"/>
          <p:cNvCxnSpPr>
            <a:stCxn id="1424" idx="2"/>
            <a:endCxn id="1422" idx="6"/>
          </p:cNvCxnSpPr>
          <p:nvPr/>
        </p:nvCxnSpPr>
        <p:spPr>
          <a:xfrm rot="10800000">
            <a:off x="4137188" y="3615625"/>
            <a:ext cx="785700" cy="0"/>
          </a:xfrm>
          <a:prstGeom prst="straightConnector1">
            <a:avLst/>
          </a:prstGeom>
          <a:noFill/>
          <a:ln cap="flat" cmpd="sng" w="38100">
            <a:solidFill>
              <a:srgbClr val="FF0000"/>
            </a:solidFill>
            <a:prstDash val="solid"/>
            <a:round/>
            <a:headEnd len="med" w="med" type="none"/>
            <a:tailEnd len="med" w="med" type="none"/>
          </a:ln>
        </p:spPr>
      </p:cxnSp>
      <p:cxnSp>
        <p:nvCxnSpPr>
          <p:cNvPr id="1449" name="Google Shape;1449;p60"/>
          <p:cNvCxnSpPr>
            <a:stCxn id="1423" idx="0"/>
            <a:endCxn id="1422"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450" name="Google Shape;1450;p60"/>
          <p:cNvCxnSpPr>
            <a:stCxn id="1422" idx="3"/>
            <a:endCxn id="1421" idx="7"/>
          </p:cNvCxnSpPr>
          <p:nvPr/>
        </p:nvCxnSpPr>
        <p:spPr>
          <a:xfrm flipH="1">
            <a:off x="2891332" y="3806332"/>
            <a:ext cx="784500" cy="817500"/>
          </a:xfrm>
          <a:prstGeom prst="straightConnector1">
            <a:avLst/>
          </a:prstGeom>
          <a:noFill/>
          <a:ln cap="flat" cmpd="sng" w="38100">
            <a:solidFill>
              <a:srgbClr val="FF0000"/>
            </a:solidFill>
            <a:prstDash val="solid"/>
            <a:round/>
            <a:headEnd len="med" w="med" type="none"/>
            <a:tailEnd len="med" w="med" type="none"/>
          </a:ln>
        </p:spPr>
      </p:cxnSp>
      <p:cxnSp>
        <p:nvCxnSpPr>
          <p:cNvPr id="1451" name="Google Shape;1451;p60"/>
          <p:cNvCxnSpPr>
            <a:stCxn id="1420" idx="5"/>
            <a:endCxn id="1421" idx="0"/>
          </p:cNvCxnSpPr>
          <p:nvPr/>
        </p:nvCxnSpPr>
        <p:spPr>
          <a:xfrm>
            <a:off x="2350768" y="4039619"/>
            <a:ext cx="349500" cy="505200"/>
          </a:xfrm>
          <a:prstGeom prst="straightConnector1">
            <a:avLst/>
          </a:prstGeom>
          <a:noFill/>
          <a:ln cap="flat" cmpd="sng" w="38100">
            <a:solidFill>
              <a:srgbClr val="BDBDBD"/>
            </a:solidFill>
            <a:prstDash val="solid"/>
            <a:round/>
            <a:headEnd len="med" w="med" type="none"/>
            <a:tailEnd len="med" w="med" type="none"/>
          </a:ln>
        </p:spPr>
      </p:cxnSp>
      <p:cxnSp>
        <p:nvCxnSpPr>
          <p:cNvPr id="1452" name="Google Shape;1452;p60"/>
          <p:cNvCxnSpPr>
            <a:stCxn id="1417" idx="4"/>
            <a:endCxn id="1420"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453" name="Google Shape;1453;p60"/>
          <p:cNvCxnSpPr>
            <a:stCxn id="1422" idx="1"/>
            <a:endCxn id="1417"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454" name="Google Shape;1454;p60"/>
          <p:cNvCxnSpPr>
            <a:stCxn id="1420" idx="2"/>
            <a:endCxn id="1419" idx="6"/>
          </p:cNvCxnSpPr>
          <p:nvPr/>
        </p:nvCxnSpPr>
        <p:spPr>
          <a:xfrm rot="10800000">
            <a:off x="838138" y="3687213"/>
            <a:ext cx="1051200" cy="161700"/>
          </a:xfrm>
          <a:prstGeom prst="straightConnector1">
            <a:avLst/>
          </a:prstGeom>
          <a:noFill/>
          <a:ln cap="flat" cmpd="sng" w="38100">
            <a:solidFill>
              <a:srgbClr val="BDBDBD"/>
            </a:solidFill>
            <a:prstDash val="solid"/>
            <a:round/>
            <a:headEnd len="med" w="med" type="none"/>
            <a:tailEnd len="med" w="med" type="none"/>
          </a:ln>
        </p:spPr>
      </p:cxnSp>
      <p:cxnSp>
        <p:nvCxnSpPr>
          <p:cNvPr id="1455" name="Google Shape;1455;p60"/>
          <p:cNvCxnSpPr>
            <a:stCxn id="1420" idx="0"/>
            <a:endCxn id="1418"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456" name="Google Shape;1456;p60"/>
          <p:cNvCxnSpPr>
            <a:stCxn id="1418" idx="3"/>
            <a:endCxn id="1419"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457" name="Google Shape;1457;p60"/>
          <p:cNvCxnSpPr>
            <a:stCxn id="1415" idx="4"/>
            <a:endCxn id="1419"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458" name="Google Shape;1458;p60"/>
          <p:cNvCxnSpPr>
            <a:stCxn id="1416" idx="2"/>
            <a:endCxn id="1415"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459" name="Google Shape;1459;p60"/>
          <p:cNvCxnSpPr>
            <a:stCxn id="1416" idx="3"/>
            <a:endCxn id="1418"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460" name="Google Shape;1460;p60"/>
          <p:cNvCxnSpPr>
            <a:stCxn id="1417" idx="2"/>
            <a:endCxn id="1415"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461" name="Google Shape;1461;p60"/>
          <p:cNvCxnSpPr>
            <a:stCxn id="1417" idx="1"/>
            <a:endCxn id="1416"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462" name="Google Shape;1462;p60"/>
          <p:cNvCxnSpPr>
            <a:stCxn id="1417" idx="2"/>
            <a:endCxn id="1418"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463" name="Google Shape;1463;p60"/>
          <p:cNvCxnSpPr>
            <a:stCxn id="1418" idx="1"/>
            <a:endCxn id="1415"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464" name="Google Shape;1464;p60"/>
          <p:cNvCxnSpPr>
            <a:stCxn id="1426" idx="6"/>
            <a:endCxn id="1431"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1465" name="Google Shape;1465;p60"/>
          <p:cNvSpPr txBox="1"/>
          <p:nvPr/>
        </p:nvSpPr>
        <p:spPr>
          <a:xfrm>
            <a:off x="3513413" y="1147225"/>
            <a:ext cx="9879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Economica"/>
                <a:ea typeface="Economica"/>
                <a:cs typeface="Economica"/>
                <a:sym typeface="Economica"/>
              </a:rPr>
              <a:t>SP(i--a) = 4</a:t>
            </a:r>
            <a:endParaRPr>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SP(i--b) = 3</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SP(i--c) = 2</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SP(i--d)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SP(i--e)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SP(i--f)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SP(i--g)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SP(i--h)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SP(i--i) =</a:t>
            </a:r>
            <a:endParaRPr>
              <a:latin typeface="Economica"/>
              <a:ea typeface="Economica"/>
              <a:cs typeface="Economica"/>
              <a:sym typeface="Economica"/>
            </a:endParaRPr>
          </a:p>
        </p:txBody>
      </p:sp>
      <p:sp>
        <p:nvSpPr>
          <p:cNvPr id="1466" name="Google Shape;1466;p60"/>
          <p:cNvSpPr txBox="1"/>
          <p:nvPr/>
        </p:nvSpPr>
        <p:spPr>
          <a:xfrm>
            <a:off x="4515975" y="1147225"/>
            <a:ext cx="9879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Economica"/>
                <a:ea typeface="Economica"/>
                <a:cs typeface="Economica"/>
                <a:sym typeface="Economica"/>
              </a:rPr>
              <a:t>SP(i--j)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SP(i--k)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SP(i--l)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SP(i--m)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SP(i--n)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SP(i--o)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SP(i--p)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SP(i--q)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SP(i--r)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SP(i--s) =</a:t>
            </a:r>
            <a:endParaRPr>
              <a:solidFill>
                <a:schemeClr val="dk1"/>
              </a:solidFill>
              <a:latin typeface="Economica"/>
              <a:ea typeface="Economica"/>
              <a:cs typeface="Economica"/>
              <a:sym typeface="Economica"/>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0" name="Shape 1470"/>
        <p:cNvGrpSpPr/>
        <p:nvPr/>
      </p:nvGrpSpPr>
      <p:grpSpPr>
        <a:xfrm>
          <a:off x="0" y="0"/>
          <a:ext cx="0" cy="0"/>
          <a:chOff x="0" y="0"/>
          <a:chExt cx="0" cy="0"/>
        </a:xfrm>
      </p:grpSpPr>
      <p:sp>
        <p:nvSpPr>
          <p:cNvPr id="1471" name="Google Shape;1471;p6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Closeness (C</a:t>
            </a:r>
            <a:r>
              <a:rPr baseline="-25000" lang="en"/>
              <a:t>Clos</a:t>
            </a:r>
            <a:r>
              <a:rPr lang="en"/>
              <a:t>)</a:t>
            </a:r>
            <a:endParaRPr/>
          </a:p>
        </p:txBody>
      </p:sp>
      <p:sp>
        <p:nvSpPr>
          <p:cNvPr id="1472" name="Google Shape;1472;p61"/>
          <p:cNvSpPr/>
          <p:nvPr/>
        </p:nvSpPr>
        <p:spPr>
          <a:xfrm>
            <a:off x="346438" y="19011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473" name="Google Shape;1473;p61"/>
          <p:cNvSpPr/>
          <p:nvPr/>
        </p:nvSpPr>
        <p:spPr>
          <a:xfrm>
            <a:off x="2107638" y="1416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474" name="Google Shape;1474;p61"/>
          <p:cNvSpPr/>
          <p:nvPr/>
        </p:nvSpPr>
        <p:spPr>
          <a:xfrm>
            <a:off x="3013325" y="223776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475" name="Google Shape;1475;p61"/>
          <p:cNvSpPr/>
          <p:nvPr/>
        </p:nvSpPr>
        <p:spPr>
          <a:xfrm>
            <a:off x="1409500" y="26983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476" name="Google Shape;1476;p61"/>
          <p:cNvSpPr/>
          <p:nvPr/>
        </p:nvSpPr>
        <p:spPr>
          <a:xfrm>
            <a:off x="297513" y="3417638"/>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477" name="Google Shape;1477;p61"/>
          <p:cNvSpPr/>
          <p:nvPr/>
        </p:nvSpPr>
        <p:spPr>
          <a:xfrm>
            <a:off x="1889338" y="35792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478" name="Google Shape;1478;p61"/>
          <p:cNvSpPr/>
          <p:nvPr/>
        </p:nvSpPr>
        <p:spPr>
          <a:xfrm>
            <a:off x="2429938" y="454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479" name="Google Shape;1479;p61"/>
          <p:cNvSpPr/>
          <p:nvPr/>
        </p:nvSpPr>
        <p:spPr>
          <a:xfrm>
            <a:off x="3596663"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480" name="Google Shape;1480;p61"/>
          <p:cNvSpPr/>
          <p:nvPr/>
        </p:nvSpPr>
        <p:spPr>
          <a:xfrm>
            <a:off x="3867013" y="454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481" name="Google Shape;1481;p61"/>
          <p:cNvSpPr/>
          <p:nvPr/>
        </p:nvSpPr>
        <p:spPr>
          <a:xfrm>
            <a:off x="4922888"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482" name="Google Shape;1482;p61"/>
          <p:cNvSpPr/>
          <p:nvPr/>
        </p:nvSpPr>
        <p:spPr>
          <a:xfrm>
            <a:off x="5463488" y="23794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483" name="Google Shape;1483;p61"/>
          <p:cNvSpPr/>
          <p:nvPr/>
        </p:nvSpPr>
        <p:spPr>
          <a:xfrm>
            <a:off x="6089488"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484" name="Google Shape;1484;p61"/>
          <p:cNvSpPr/>
          <p:nvPr/>
        </p:nvSpPr>
        <p:spPr>
          <a:xfrm>
            <a:off x="5463488" y="43163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485" name="Google Shape;1485;p61"/>
          <p:cNvSpPr/>
          <p:nvPr/>
        </p:nvSpPr>
        <p:spPr>
          <a:xfrm>
            <a:off x="6835713" y="442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486" name="Google Shape;1486;p61"/>
          <p:cNvSpPr/>
          <p:nvPr/>
        </p:nvSpPr>
        <p:spPr>
          <a:xfrm>
            <a:off x="7393938" y="3479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487" name="Google Shape;1487;p61"/>
          <p:cNvSpPr/>
          <p:nvPr/>
        </p:nvSpPr>
        <p:spPr>
          <a:xfrm>
            <a:off x="8305888" y="26593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488" name="Google Shape;1488;p61"/>
          <p:cNvSpPr/>
          <p:nvPr/>
        </p:nvSpPr>
        <p:spPr>
          <a:xfrm>
            <a:off x="7106013" y="2497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489" name="Google Shape;1489;p61"/>
          <p:cNvSpPr/>
          <p:nvPr/>
        </p:nvSpPr>
        <p:spPr>
          <a:xfrm>
            <a:off x="7197688" y="1515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490" name="Google Shape;1490;p61"/>
          <p:cNvSpPr/>
          <p:nvPr/>
        </p:nvSpPr>
        <p:spPr>
          <a:xfrm>
            <a:off x="8305888" y="11472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491" name="Google Shape;1491;p61"/>
          <p:cNvCxnSpPr>
            <a:stCxn id="1490" idx="2"/>
            <a:endCxn id="1489"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492" name="Google Shape;1492;p61"/>
          <p:cNvCxnSpPr>
            <a:stCxn id="1488" idx="0"/>
            <a:endCxn id="1489"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493" name="Google Shape;1493;p61"/>
          <p:cNvCxnSpPr>
            <a:stCxn id="1487" idx="2"/>
            <a:endCxn id="1488"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494" name="Google Shape;1494;p61"/>
          <p:cNvCxnSpPr>
            <a:stCxn id="1487" idx="2"/>
            <a:endCxn id="1483"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495" name="Google Shape;1495;p61"/>
          <p:cNvCxnSpPr>
            <a:stCxn id="1487" idx="2"/>
            <a:endCxn id="1486"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496" name="Google Shape;1496;p61"/>
          <p:cNvCxnSpPr>
            <a:stCxn id="1486" idx="2"/>
            <a:endCxn id="1483"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497" name="Google Shape;1497;p61"/>
          <p:cNvCxnSpPr>
            <a:stCxn id="1486" idx="1"/>
            <a:endCxn id="1482"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498" name="Google Shape;1498;p61"/>
          <p:cNvCxnSpPr>
            <a:stCxn id="1485" idx="0"/>
            <a:endCxn id="1483"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499" name="Google Shape;1499;p61"/>
          <p:cNvCxnSpPr>
            <a:stCxn id="1484" idx="7"/>
            <a:endCxn id="1483"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500" name="Google Shape;1500;p61"/>
          <p:cNvCxnSpPr>
            <a:stCxn id="1485" idx="1"/>
            <a:endCxn id="1484"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501" name="Google Shape;1501;p61"/>
          <p:cNvCxnSpPr>
            <a:stCxn id="1483" idx="2"/>
            <a:endCxn id="1481"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502" name="Google Shape;1502;p61"/>
          <p:cNvCxnSpPr>
            <a:stCxn id="1484" idx="0"/>
            <a:endCxn id="1481"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503" name="Google Shape;1503;p61"/>
          <p:cNvCxnSpPr>
            <a:stCxn id="1483" idx="0"/>
            <a:endCxn id="1482"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504" name="Google Shape;1504;p61"/>
          <p:cNvCxnSpPr>
            <a:stCxn id="1481" idx="7"/>
            <a:endCxn id="1482" idx="4"/>
          </p:cNvCxnSpPr>
          <p:nvPr/>
        </p:nvCxnSpPr>
        <p:spPr>
          <a:xfrm flipH="1" rot="10800000">
            <a:off x="5384318" y="2918818"/>
            <a:ext cx="349500" cy="506100"/>
          </a:xfrm>
          <a:prstGeom prst="straightConnector1">
            <a:avLst/>
          </a:prstGeom>
          <a:noFill/>
          <a:ln cap="flat" cmpd="sng" w="38100">
            <a:solidFill>
              <a:schemeClr val="dk2"/>
            </a:solidFill>
            <a:prstDash val="solid"/>
            <a:round/>
            <a:headEnd len="med" w="med" type="none"/>
            <a:tailEnd len="med" w="med" type="none"/>
          </a:ln>
        </p:spPr>
      </p:cxnSp>
      <p:cxnSp>
        <p:nvCxnSpPr>
          <p:cNvPr id="1505" name="Google Shape;1505;p61"/>
          <p:cNvCxnSpPr>
            <a:stCxn id="1481" idx="2"/>
            <a:endCxn id="1479" idx="6"/>
          </p:cNvCxnSpPr>
          <p:nvPr/>
        </p:nvCxnSpPr>
        <p:spPr>
          <a:xfrm rot="10800000">
            <a:off x="4137188" y="3615625"/>
            <a:ext cx="785700" cy="0"/>
          </a:xfrm>
          <a:prstGeom prst="straightConnector1">
            <a:avLst/>
          </a:prstGeom>
          <a:noFill/>
          <a:ln cap="flat" cmpd="sng" w="38100">
            <a:solidFill>
              <a:schemeClr val="dk2"/>
            </a:solidFill>
            <a:prstDash val="solid"/>
            <a:round/>
            <a:headEnd len="med" w="med" type="none"/>
            <a:tailEnd len="med" w="med" type="none"/>
          </a:ln>
        </p:spPr>
      </p:cxnSp>
      <p:cxnSp>
        <p:nvCxnSpPr>
          <p:cNvPr id="1506" name="Google Shape;1506;p61"/>
          <p:cNvCxnSpPr>
            <a:stCxn id="1480" idx="0"/>
            <a:endCxn id="1479"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507" name="Google Shape;1507;p61"/>
          <p:cNvCxnSpPr>
            <a:stCxn id="1479" idx="3"/>
            <a:endCxn id="1478" idx="7"/>
          </p:cNvCxnSpPr>
          <p:nvPr/>
        </p:nvCxnSpPr>
        <p:spPr>
          <a:xfrm flipH="1">
            <a:off x="2891332" y="3806332"/>
            <a:ext cx="784500" cy="817500"/>
          </a:xfrm>
          <a:prstGeom prst="straightConnector1">
            <a:avLst/>
          </a:prstGeom>
          <a:noFill/>
          <a:ln cap="flat" cmpd="sng" w="38100">
            <a:solidFill>
              <a:schemeClr val="dk2"/>
            </a:solidFill>
            <a:prstDash val="solid"/>
            <a:round/>
            <a:headEnd len="med" w="med" type="none"/>
            <a:tailEnd len="med" w="med" type="none"/>
          </a:ln>
        </p:spPr>
      </p:cxnSp>
      <p:cxnSp>
        <p:nvCxnSpPr>
          <p:cNvPr id="1508" name="Google Shape;1508;p61"/>
          <p:cNvCxnSpPr>
            <a:stCxn id="1477" idx="5"/>
            <a:endCxn id="1478" idx="0"/>
          </p:cNvCxnSpPr>
          <p:nvPr/>
        </p:nvCxnSpPr>
        <p:spPr>
          <a:xfrm>
            <a:off x="2350768" y="4039619"/>
            <a:ext cx="349500" cy="505200"/>
          </a:xfrm>
          <a:prstGeom prst="straightConnector1">
            <a:avLst/>
          </a:prstGeom>
          <a:noFill/>
          <a:ln cap="flat" cmpd="sng" w="38100">
            <a:solidFill>
              <a:srgbClr val="BDBDBD"/>
            </a:solidFill>
            <a:prstDash val="solid"/>
            <a:round/>
            <a:headEnd len="med" w="med" type="none"/>
            <a:tailEnd len="med" w="med" type="none"/>
          </a:ln>
        </p:spPr>
      </p:cxnSp>
      <p:cxnSp>
        <p:nvCxnSpPr>
          <p:cNvPr id="1509" name="Google Shape;1509;p61"/>
          <p:cNvCxnSpPr>
            <a:stCxn id="1474" idx="4"/>
            <a:endCxn id="1477"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510" name="Google Shape;1510;p61"/>
          <p:cNvCxnSpPr>
            <a:stCxn id="1479" idx="1"/>
            <a:endCxn id="1474"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511" name="Google Shape;1511;p61"/>
          <p:cNvCxnSpPr>
            <a:stCxn id="1477" idx="2"/>
            <a:endCxn id="1476" idx="6"/>
          </p:cNvCxnSpPr>
          <p:nvPr/>
        </p:nvCxnSpPr>
        <p:spPr>
          <a:xfrm rot="10800000">
            <a:off x="838138" y="3687213"/>
            <a:ext cx="1051200" cy="161700"/>
          </a:xfrm>
          <a:prstGeom prst="straightConnector1">
            <a:avLst/>
          </a:prstGeom>
          <a:noFill/>
          <a:ln cap="flat" cmpd="sng" w="38100">
            <a:solidFill>
              <a:srgbClr val="BDBDBD"/>
            </a:solidFill>
            <a:prstDash val="solid"/>
            <a:round/>
            <a:headEnd len="med" w="med" type="none"/>
            <a:tailEnd len="med" w="med" type="none"/>
          </a:ln>
        </p:spPr>
      </p:cxnSp>
      <p:cxnSp>
        <p:nvCxnSpPr>
          <p:cNvPr id="1512" name="Google Shape;1512;p61"/>
          <p:cNvCxnSpPr>
            <a:stCxn id="1477" idx="0"/>
            <a:endCxn id="1475"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513" name="Google Shape;1513;p61"/>
          <p:cNvCxnSpPr>
            <a:stCxn id="1475" idx="3"/>
            <a:endCxn id="1476"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514" name="Google Shape;1514;p61"/>
          <p:cNvCxnSpPr>
            <a:stCxn id="1472" idx="4"/>
            <a:endCxn id="1476"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515" name="Google Shape;1515;p61"/>
          <p:cNvCxnSpPr>
            <a:stCxn id="1473" idx="2"/>
            <a:endCxn id="1472"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516" name="Google Shape;1516;p61"/>
          <p:cNvCxnSpPr>
            <a:stCxn id="1473" idx="3"/>
            <a:endCxn id="1475"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517" name="Google Shape;1517;p61"/>
          <p:cNvCxnSpPr>
            <a:stCxn id="1474" idx="2"/>
            <a:endCxn id="1472"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518" name="Google Shape;1518;p61"/>
          <p:cNvCxnSpPr>
            <a:stCxn id="1474" idx="1"/>
            <a:endCxn id="1473"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519" name="Google Shape;1519;p61"/>
          <p:cNvCxnSpPr>
            <a:stCxn id="1474" idx="2"/>
            <a:endCxn id="1475"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520" name="Google Shape;1520;p61"/>
          <p:cNvCxnSpPr>
            <a:stCxn id="1475" idx="1"/>
            <a:endCxn id="1472"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521" name="Google Shape;1521;p61"/>
          <p:cNvCxnSpPr>
            <a:stCxn id="1483" idx="6"/>
            <a:endCxn id="1488"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1522" name="Google Shape;1522;p61"/>
          <p:cNvSpPr txBox="1"/>
          <p:nvPr/>
        </p:nvSpPr>
        <p:spPr>
          <a:xfrm>
            <a:off x="3513413" y="1147225"/>
            <a:ext cx="9879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Economica"/>
                <a:ea typeface="Economica"/>
                <a:cs typeface="Economica"/>
                <a:sym typeface="Economica"/>
              </a:rPr>
              <a:t>SP(i--a) = 4</a:t>
            </a:r>
            <a:endParaRPr>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SP(i--b) = 3</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SP(i--c) = 2</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SP(i--d) = 3</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SP(i--e) = 3</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SP(i--f) = 3</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SP(i--g) = 2</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SP(i--h) = 1</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SP(i--i) = 0</a:t>
            </a:r>
            <a:endParaRPr>
              <a:latin typeface="Economica"/>
              <a:ea typeface="Economica"/>
              <a:cs typeface="Economica"/>
              <a:sym typeface="Economica"/>
            </a:endParaRPr>
          </a:p>
        </p:txBody>
      </p:sp>
      <p:sp>
        <p:nvSpPr>
          <p:cNvPr id="1523" name="Google Shape;1523;p61"/>
          <p:cNvSpPr txBox="1"/>
          <p:nvPr/>
        </p:nvSpPr>
        <p:spPr>
          <a:xfrm>
            <a:off x="4515975" y="1147225"/>
            <a:ext cx="9879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Economica"/>
                <a:ea typeface="Economica"/>
                <a:cs typeface="Economica"/>
                <a:sym typeface="Economica"/>
              </a:rPr>
              <a:t>SP(i--j) = 1</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SP(i--k) = 2</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SP(i--l) = 2</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SP(i--m) = 2</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SP(i--n) =1</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SP(i--o) = 2</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SP(i--p) = 1</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SP(i--q) = 3</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SP(i--r) = 2</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SP(i--s) = 4</a:t>
            </a:r>
            <a:endParaRPr>
              <a:solidFill>
                <a:schemeClr val="dk1"/>
              </a:solidFill>
              <a:latin typeface="Economica"/>
              <a:ea typeface="Economica"/>
              <a:cs typeface="Economica"/>
              <a:sym typeface="Economica"/>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7" name="Shape 1527"/>
        <p:cNvGrpSpPr/>
        <p:nvPr/>
      </p:nvGrpSpPr>
      <p:grpSpPr>
        <a:xfrm>
          <a:off x="0" y="0"/>
          <a:ext cx="0" cy="0"/>
          <a:chOff x="0" y="0"/>
          <a:chExt cx="0" cy="0"/>
        </a:xfrm>
      </p:grpSpPr>
      <p:sp>
        <p:nvSpPr>
          <p:cNvPr id="1528" name="Google Shape;1528;p6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Closeness (C</a:t>
            </a:r>
            <a:r>
              <a:rPr baseline="-25000" lang="en"/>
              <a:t>Clos</a:t>
            </a:r>
            <a:r>
              <a:rPr lang="en"/>
              <a:t>)</a:t>
            </a:r>
            <a:endParaRPr/>
          </a:p>
        </p:txBody>
      </p:sp>
      <p:sp>
        <p:nvSpPr>
          <p:cNvPr id="1529" name="Google Shape;1529;p62"/>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530" name="Google Shape;1530;p62"/>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531" name="Google Shape;1531;p62"/>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532" name="Google Shape;1532;p62"/>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533" name="Google Shape;1533;p62"/>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534" name="Google Shape;1534;p62"/>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535" name="Google Shape;1535;p62"/>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536" name="Google Shape;1536;p62"/>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537" name="Google Shape;1537;p62"/>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538" name="Google Shape;1538;p62"/>
          <p:cNvSpPr/>
          <p:nvPr/>
        </p:nvSpPr>
        <p:spPr>
          <a:xfrm>
            <a:off x="4922888"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539" name="Google Shape;1539;p62"/>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540" name="Google Shape;1540;p62"/>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541" name="Google Shape;1541;p62"/>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542" name="Google Shape;1542;p62"/>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543" name="Google Shape;1543;p62"/>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544" name="Google Shape;1544;p62"/>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545" name="Google Shape;1545;p62"/>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546" name="Google Shape;1546;p62"/>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547" name="Google Shape;1547;p62"/>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548" name="Google Shape;1548;p62"/>
          <p:cNvCxnSpPr>
            <a:stCxn id="1547" idx="2"/>
            <a:endCxn id="1546"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549" name="Google Shape;1549;p62"/>
          <p:cNvCxnSpPr>
            <a:stCxn id="1545" idx="0"/>
            <a:endCxn id="1546"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550" name="Google Shape;1550;p62"/>
          <p:cNvCxnSpPr>
            <a:stCxn id="1544" idx="2"/>
            <a:endCxn id="1545"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551" name="Google Shape;1551;p62"/>
          <p:cNvCxnSpPr>
            <a:stCxn id="1544" idx="2"/>
            <a:endCxn id="1540"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552" name="Google Shape;1552;p62"/>
          <p:cNvCxnSpPr>
            <a:stCxn id="1544" idx="2"/>
            <a:endCxn id="1543"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553" name="Google Shape;1553;p62"/>
          <p:cNvCxnSpPr>
            <a:stCxn id="1543" idx="2"/>
            <a:endCxn id="1540"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554" name="Google Shape;1554;p62"/>
          <p:cNvCxnSpPr>
            <a:stCxn id="1543" idx="1"/>
            <a:endCxn id="1539"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555" name="Google Shape;1555;p62"/>
          <p:cNvCxnSpPr>
            <a:stCxn id="1542" idx="0"/>
            <a:endCxn id="1540"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556" name="Google Shape;1556;p62"/>
          <p:cNvCxnSpPr>
            <a:stCxn id="1541" idx="7"/>
            <a:endCxn id="1540"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557" name="Google Shape;1557;p62"/>
          <p:cNvCxnSpPr>
            <a:stCxn id="1542" idx="1"/>
            <a:endCxn id="1541"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558" name="Google Shape;1558;p62"/>
          <p:cNvCxnSpPr>
            <a:stCxn id="1540" idx="2"/>
            <a:endCxn id="1538"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559" name="Google Shape;1559;p62"/>
          <p:cNvCxnSpPr>
            <a:stCxn id="1541" idx="0"/>
            <a:endCxn id="1538"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560" name="Google Shape;1560;p62"/>
          <p:cNvCxnSpPr>
            <a:stCxn id="1540" idx="0"/>
            <a:endCxn id="1539"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561" name="Google Shape;1561;p62"/>
          <p:cNvCxnSpPr>
            <a:stCxn id="1538" idx="7"/>
            <a:endCxn id="1539"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1562" name="Google Shape;1562;p62"/>
          <p:cNvCxnSpPr>
            <a:stCxn id="1538" idx="2"/>
            <a:endCxn id="1536"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1563" name="Google Shape;1563;p62"/>
          <p:cNvCxnSpPr>
            <a:stCxn id="1537" idx="0"/>
            <a:endCxn id="1536"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564" name="Google Shape;1564;p62"/>
          <p:cNvCxnSpPr>
            <a:stCxn id="1536" idx="3"/>
            <a:endCxn id="1535"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1565" name="Google Shape;1565;p62"/>
          <p:cNvCxnSpPr>
            <a:stCxn id="1534" idx="5"/>
            <a:endCxn id="1535"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566" name="Google Shape;1566;p62"/>
          <p:cNvCxnSpPr>
            <a:stCxn id="1531" idx="4"/>
            <a:endCxn id="1534"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567" name="Google Shape;1567;p62"/>
          <p:cNvCxnSpPr>
            <a:stCxn id="1536" idx="1"/>
            <a:endCxn id="1531"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568" name="Google Shape;1568;p62"/>
          <p:cNvCxnSpPr>
            <a:stCxn id="1534" idx="2"/>
            <a:endCxn id="1533"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569" name="Google Shape;1569;p62"/>
          <p:cNvCxnSpPr>
            <a:stCxn id="1534" idx="0"/>
            <a:endCxn id="1532"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570" name="Google Shape;1570;p62"/>
          <p:cNvCxnSpPr>
            <a:stCxn id="1532" idx="3"/>
            <a:endCxn id="1533"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571" name="Google Shape;1571;p62"/>
          <p:cNvCxnSpPr>
            <a:stCxn id="1529" idx="4"/>
            <a:endCxn id="1533"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572" name="Google Shape;1572;p62"/>
          <p:cNvCxnSpPr>
            <a:stCxn id="1530" idx="2"/>
            <a:endCxn id="1529"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573" name="Google Shape;1573;p62"/>
          <p:cNvCxnSpPr>
            <a:stCxn id="1530" idx="3"/>
            <a:endCxn id="1532"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574" name="Google Shape;1574;p62"/>
          <p:cNvCxnSpPr>
            <a:stCxn id="1531" idx="2"/>
            <a:endCxn id="1529"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575" name="Google Shape;1575;p62"/>
          <p:cNvCxnSpPr>
            <a:stCxn id="1531" idx="1"/>
            <a:endCxn id="1530"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576" name="Google Shape;1576;p62"/>
          <p:cNvCxnSpPr>
            <a:stCxn id="1531" idx="2"/>
            <a:endCxn id="1532"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577" name="Google Shape;1577;p62"/>
          <p:cNvCxnSpPr>
            <a:stCxn id="1532" idx="1"/>
            <a:endCxn id="1529"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578" name="Google Shape;1578;p62"/>
          <p:cNvCxnSpPr>
            <a:stCxn id="1540" idx="6"/>
            <a:endCxn id="1545"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1579" name="Google Shape;1579;p62"/>
          <p:cNvSpPr txBox="1"/>
          <p:nvPr/>
        </p:nvSpPr>
        <p:spPr>
          <a:xfrm>
            <a:off x="2891325" y="1062825"/>
            <a:ext cx="5391300" cy="4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Economica"/>
                <a:ea typeface="Economica"/>
                <a:cs typeface="Economica"/>
                <a:sym typeface="Economica"/>
              </a:rPr>
              <a:t>C</a:t>
            </a:r>
            <a:r>
              <a:rPr baseline="-25000" lang="en" sz="1600">
                <a:latin typeface="Economica"/>
                <a:ea typeface="Economica"/>
                <a:cs typeface="Economica"/>
                <a:sym typeface="Economica"/>
              </a:rPr>
              <a:t>clos</a:t>
            </a:r>
            <a:r>
              <a:rPr lang="en" sz="1600">
                <a:latin typeface="Economica"/>
                <a:ea typeface="Economica"/>
                <a:cs typeface="Economica"/>
                <a:sym typeface="Economica"/>
              </a:rPr>
              <a:t>(i) = (19-1)/(4 + 3 + 2 + 3 + 3 + 3 + 2 + 1+ 1 + 2 + 2 + 2+ 1 + 2 + 1 + 3 + 2 + 4)</a:t>
            </a:r>
            <a:endParaRPr sz="1600">
              <a:latin typeface="Economica"/>
              <a:ea typeface="Economica"/>
              <a:cs typeface="Economica"/>
              <a:sym typeface="Economica"/>
            </a:endParaRPr>
          </a:p>
        </p:txBody>
      </p:sp>
      <p:pic>
        <p:nvPicPr>
          <p:cNvPr descr="C_{clos}(i)=\frac{N-1}{\sum_j^{ }d_{ij}}&#10;%2c47b055-573a-492d-8d53-6bd3b0ed494c" id="1580" name="Google Shape;1580;p62"/>
          <p:cNvPicPr preferRelativeResize="0"/>
          <p:nvPr/>
        </p:nvPicPr>
        <p:blipFill>
          <a:blip r:embed="rId3">
            <a:alphaModFix/>
          </a:blip>
          <a:stretch>
            <a:fillRect/>
          </a:stretch>
        </p:blipFill>
        <p:spPr>
          <a:xfrm>
            <a:off x="393150" y="1050000"/>
            <a:ext cx="1714500" cy="3905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4" name="Shape 1584"/>
        <p:cNvGrpSpPr/>
        <p:nvPr/>
      </p:nvGrpSpPr>
      <p:grpSpPr>
        <a:xfrm>
          <a:off x="0" y="0"/>
          <a:ext cx="0" cy="0"/>
          <a:chOff x="0" y="0"/>
          <a:chExt cx="0" cy="0"/>
        </a:xfrm>
      </p:grpSpPr>
      <p:sp>
        <p:nvSpPr>
          <p:cNvPr id="1585" name="Google Shape;1585;p6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Closeness (C</a:t>
            </a:r>
            <a:r>
              <a:rPr baseline="-25000" lang="en"/>
              <a:t>Clos</a:t>
            </a:r>
            <a:r>
              <a:rPr lang="en"/>
              <a:t>)</a:t>
            </a:r>
            <a:endParaRPr/>
          </a:p>
        </p:txBody>
      </p:sp>
      <p:sp>
        <p:nvSpPr>
          <p:cNvPr id="1586" name="Google Shape;1586;p63"/>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587" name="Google Shape;1587;p63"/>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588" name="Google Shape;1588;p63"/>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589" name="Google Shape;1589;p63"/>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590" name="Google Shape;1590;p63"/>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591" name="Google Shape;1591;p63"/>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592" name="Google Shape;1592;p63"/>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593" name="Google Shape;1593;p63"/>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594" name="Google Shape;1594;p63"/>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595" name="Google Shape;1595;p63"/>
          <p:cNvSpPr/>
          <p:nvPr/>
        </p:nvSpPr>
        <p:spPr>
          <a:xfrm>
            <a:off x="4922888"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596" name="Google Shape;1596;p63"/>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597" name="Google Shape;1597;p63"/>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598" name="Google Shape;1598;p63"/>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599" name="Google Shape;1599;p63"/>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600" name="Google Shape;1600;p63"/>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601" name="Google Shape;1601;p63"/>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602" name="Google Shape;1602;p63"/>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603" name="Google Shape;1603;p63"/>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604" name="Google Shape;1604;p63"/>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605" name="Google Shape;1605;p63"/>
          <p:cNvCxnSpPr>
            <a:stCxn id="1604" idx="2"/>
            <a:endCxn id="1603"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606" name="Google Shape;1606;p63"/>
          <p:cNvCxnSpPr>
            <a:stCxn id="1602" idx="0"/>
            <a:endCxn id="1603"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607" name="Google Shape;1607;p63"/>
          <p:cNvCxnSpPr>
            <a:stCxn id="1601" idx="2"/>
            <a:endCxn id="1602"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608" name="Google Shape;1608;p63"/>
          <p:cNvCxnSpPr>
            <a:stCxn id="1601" idx="2"/>
            <a:endCxn id="1597"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609" name="Google Shape;1609;p63"/>
          <p:cNvCxnSpPr>
            <a:stCxn id="1601" idx="2"/>
            <a:endCxn id="1600"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610" name="Google Shape;1610;p63"/>
          <p:cNvCxnSpPr>
            <a:stCxn id="1600" idx="2"/>
            <a:endCxn id="1597"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611" name="Google Shape;1611;p63"/>
          <p:cNvCxnSpPr>
            <a:stCxn id="1600" idx="1"/>
            <a:endCxn id="1596"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612" name="Google Shape;1612;p63"/>
          <p:cNvCxnSpPr>
            <a:stCxn id="1599" idx="0"/>
            <a:endCxn id="1597"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613" name="Google Shape;1613;p63"/>
          <p:cNvCxnSpPr>
            <a:stCxn id="1598" idx="7"/>
            <a:endCxn id="1597"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614" name="Google Shape;1614;p63"/>
          <p:cNvCxnSpPr>
            <a:stCxn id="1599" idx="1"/>
            <a:endCxn id="1598"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615" name="Google Shape;1615;p63"/>
          <p:cNvCxnSpPr>
            <a:stCxn id="1597" idx="2"/>
            <a:endCxn id="1595"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616" name="Google Shape;1616;p63"/>
          <p:cNvCxnSpPr>
            <a:stCxn id="1598" idx="0"/>
            <a:endCxn id="1595"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617" name="Google Shape;1617;p63"/>
          <p:cNvCxnSpPr>
            <a:stCxn id="1597" idx="0"/>
            <a:endCxn id="1596"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618" name="Google Shape;1618;p63"/>
          <p:cNvCxnSpPr>
            <a:stCxn id="1595" idx="7"/>
            <a:endCxn id="1596"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1619" name="Google Shape;1619;p63"/>
          <p:cNvCxnSpPr>
            <a:stCxn id="1595" idx="2"/>
            <a:endCxn id="1593"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1620" name="Google Shape;1620;p63"/>
          <p:cNvCxnSpPr>
            <a:stCxn id="1594" idx="0"/>
            <a:endCxn id="1593"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621" name="Google Shape;1621;p63"/>
          <p:cNvCxnSpPr>
            <a:stCxn id="1593" idx="3"/>
            <a:endCxn id="1592"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1622" name="Google Shape;1622;p63"/>
          <p:cNvCxnSpPr>
            <a:stCxn id="1591" idx="5"/>
            <a:endCxn id="1592"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623" name="Google Shape;1623;p63"/>
          <p:cNvCxnSpPr>
            <a:stCxn id="1588" idx="4"/>
            <a:endCxn id="1591"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624" name="Google Shape;1624;p63"/>
          <p:cNvCxnSpPr>
            <a:stCxn id="1593" idx="1"/>
            <a:endCxn id="1588"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625" name="Google Shape;1625;p63"/>
          <p:cNvCxnSpPr>
            <a:stCxn id="1591" idx="2"/>
            <a:endCxn id="1590"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626" name="Google Shape;1626;p63"/>
          <p:cNvCxnSpPr>
            <a:stCxn id="1591" idx="0"/>
            <a:endCxn id="1589"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627" name="Google Shape;1627;p63"/>
          <p:cNvCxnSpPr>
            <a:stCxn id="1589" idx="3"/>
            <a:endCxn id="1590"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628" name="Google Shape;1628;p63"/>
          <p:cNvCxnSpPr>
            <a:stCxn id="1586" idx="4"/>
            <a:endCxn id="1590"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629" name="Google Shape;1629;p63"/>
          <p:cNvCxnSpPr>
            <a:stCxn id="1587" idx="2"/>
            <a:endCxn id="1586"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630" name="Google Shape;1630;p63"/>
          <p:cNvCxnSpPr>
            <a:stCxn id="1587" idx="3"/>
            <a:endCxn id="1589"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631" name="Google Shape;1631;p63"/>
          <p:cNvCxnSpPr>
            <a:stCxn id="1588" idx="2"/>
            <a:endCxn id="1586"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632" name="Google Shape;1632;p63"/>
          <p:cNvCxnSpPr>
            <a:stCxn id="1588" idx="1"/>
            <a:endCxn id="1587"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633" name="Google Shape;1633;p63"/>
          <p:cNvCxnSpPr>
            <a:stCxn id="1588" idx="2"/>
            <a:endCxn id="1589"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634" name="Google Shape;1634;p63"/>
          <p:cNvCxnSpPr>
            <a:stCxn id="1589" idx="1"/>
            <a:endCxn id="1586"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635" name="Google Shape;1635;p63"/>
          <p:cNvCxnSpPr>
            <a:stCxn id="1597" idx="6"/>
            <a:endCxn id="1602"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1636" name="Google Shape;1636;p63"/>
          <p:cNvSpPr txBox="1"/>
          <p:nvPr/>
        </p:nvSpPr>
        <p:spPr>
          <a:xfrm>
            <a:off x="3615650" y="1060704"/>
            <a:ext cx="1828800" cy="4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Economica"/>
                <a:ea typeface="Economica"/>
                <a:cs typeface="Economica"/>
                <a:sym typeface="Economica"/>
              </a:rPr>
              <a:t>C</a:t>
            </a:r>
            <a:r>
              <a:rPr baseline="-25000" lang="en" sz="1600">
                <a:latin typeface="Economica"/>
                <a:ea typeface="Economica"/>
                <a:cs typeface="Economica"/>
                <a:sym typeface="Economica"/>
              </a:rPr>
              <a:t>clos</a:t>
            </a:r>
            <a:r>
              <a:rPr lang="en" sz="1600">
                <a:latin typeface="Economica"/>
                <a:ea typeface="Economica"/>
                <a:cs typeface="Economica"/>
                <a:sym typeface="Economica"/>
              </a:rPr>
              <a:t>(i) = 18/41 = </a:t>
            </a:r>
            <a:r>
              <a:rPr lang="en" sz="1600">
                <a:solidFill>
                  <a:schemeClr val="dk1"/>
                </a:solidFill>
                <a:latin typeface="Economica"/>
                <a:ea typeface="Economica"/>
                <a:cs typeface="Economica"/>
                <a:sym typeface="Economica"/>
              </a:rPr>
              <a:t>0.43</a:t>
            </a:r>
            <a:endParaRPr sz="1600">
              <a:latin typeface="Economica"/>
              <a:ea typeface="Economica"/>
              <a:cs typeface="Economica"/>
              <a:sym typeface="Economica"/>
            </a:endParaRPr>
          </a:p>
        </p:txBody>
      </p:sp>
      <p:pic>
        <p:nvPicPr>
          <p:cNvPr descr="C_{clos}(i)=\frac{N-1}{\sum_j^{ }d_{ij}}&#10;%2c47b055-573a-492d-8d53-6bd3b0ed494c" id="1637" name="Google Shape;1637;p63"/>
          <p:cNvPicPr preferRelativeResize="0"/>
          <p:nvPr/>
        </p:nvPicPr>
        <p:blipFill>
          <a:blip r:embed="rId3">
            <a:alphaModFix/>
          </a:blip>
          <a:stretch>
            <a:fillRect/>
          </a:stretch>
        </p:blipFill>
        <p:spPr>
          <a:xfrm>
            <a:off x="393150" y="1050000"/>
            <a:ext cx="1714500" cy="3905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1" name="Shape 1641"/>
        <p:cNvGrpSpPr/>
        <p:nvPr/>
      </p:nvGrpSpPr>
      <p:grpSpPr>
        <a:xfrm>
          <a:off x="0" y="0"/>
          <a:ext cx="0" cy="0"/>
          <a:chOff x="0" y="0"/>
          <a:chExt cx="0" cy="0"/>
        </a:xfrm>
      </p:grpSpPr>
      <p:graphicFrame>
        <p:nvGraphicFramePr>
          <p:cNvPr id="1642" name="Google Shape;1642;p64"/>
          <p:cNvGraphicFramePr/>
          <p:nvPr/>
        </p:nvGraphicFramePr>
        <p:xfrm>
          <a:off x="1024600" y="285745"/>
          <a:ext cx="3000000" cy="3000000"/>
        </p:xfrm>
        <a:graphic>
          <a:graphicData uri="http://schemas.openxmlformats.org/drawingml/2006/table">
            <a:tbl>
              <a:tblPr>
                <a:noFill/>
                <a:tableStyleId>{D533A967-1B24-4C1F-A5BD-666CA7F43D67}</a:tableStyleId>
              </a:tblPr>
              <a:tblGrid>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tblGrid>
              <a:tr h="205200">
                <a:tc>
                  <a:txBody>
                    <a:bodyPr/>
                    <a:lstStyle/>
                    <a:p>
                      <a:pPr indent="0" lvl="0" marL="0" rtl="0" algn="l">
                        <a:lnSpc>
                          <a:spcPct val="115000"/>
                        </a:lnSpc>
                        <a:spcBef>
                          <a:spcPts val="0"/>
                        </a:spcBef>
                        <a:spcAft>
                          <a:spcPts val="0"/>
                        </a:spcAft>
                        <a:buNone/>
                      </a:pPr>
                      <a:r>
                        <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solidFill>
                            <a:schemeClr val="dk1"/>
                          </a:solidFill>
                          <a:latin typeface="Economica"/>
                          <a:ea typeface="Economica"/>
                          <a:cs typeface="Economica"/>
                          <a:sym typeface="Economica"/>
                        </a:rPr>
                        <a:t>a</a:t>
                      </a:r>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a</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8</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8</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1643" name="Google Shape;1643;p64"/>
          <p:cNvSpPr txBox="1"/>
          <p:nvPr/>
        </p:nvSpPr>
        <p:spPr>
          <a:xfrm>
            <a:off x="2523475" y="0"/>
            <a:ext cx="4233300" cy="28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Open Sans"/>
                <a:ea typeface="Open Sans"/>
                <a:cs typeface="Open Sans"/>
                <a:sym typeface="Open Sans"/>
              </a:rPr>
              <a:t>Geodesic Distance Matrix</a:t>
            </a:r>
            <a:endParaRPr sz="1800">
              <a:solidFill>
                <a:schemeClr val="dk1"/>
              </a:solidFill>
              <a:latin typeface="Open Sans"/>
              <a:ea typeface="Open Sans"/>
              <a:cs typeface="Open Sans"/>
              <a:sym typeface="Open San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7" name="Shape 1647"/>
        <p:cNvGrpSpPr/>
        <p:nvPr/>
      </p:nvGrpSpPr>
      <p:grpSpPr>
        <a:xfrm>
          <a:off x="0" y="0"/>
          <a:ext cx="0" cy="0"/>
          <a:chOff x="0" y="0"/>
          <a:chExt cx="0" cy="0"/>
        </a:xfrm>
      </p:grpSpPr>
      <p:graphicFrame>
        <p:nvGraphicFramePr>
          <p:cNvPr id="1648" name="Google Shape;1648;p65"/>
          <p:cNvGraphicFramePr/>
          <p:nvPr/>
        </p:nvGraphicFramePr>
        <p:xfrm>
          <a:off x="1024600" y="285745"/>
          <a:ext cx="3000000" cy="3000000"/>
        </p:xfrm>
        <a:graphic>
          <a:graphicData uri="http://schemas.openxmlformats.org/drawingml/2006/table">
            <a:tbl>
              <a:tblPr>
                <a:noFill/>
                <a:tableStyleId>{D533A967-1B24-4C1F-A5BD-666CA7F43D67}</a:tableStyleId>
              </a:tblPr>
              <a:tblGrid>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tblGrid>
              <a:tr h="205200">
                <a:tc>
                  <a:txBody>
                    <a:bodyPr/>
                    <a:lstStyle/>
                    <a:p>
                      <a:pPr indent="0" lvl="0" marL="0" rtl="0" algn="l">
                        <a:lnSpc>
                          <a:spcPct val="115000"/>
                        </a:lnSpc>
                        <a:spcBef>
                          <a:spcPts val="0"/>
                        </a:spcBef>
                        <a:spcAft>
                          <a:spcPts val="0"/>
                        </a:spcAft>
                        <a:buNone/>
                      </a:pPr>
                      <a:r>
                        <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solidFill>
                            <a:schemeClr val="dk1"/>
                          </a:solidFill>
                          <a:latin typeface="Economica"/>
                          <a:ea typeface="Economica"/>
                          <a:cs typeface="Economica"/>
                          <a:sym typeface="Economica"/>
                        </a:rPr>
                        <a:t>a</a:t>
                      </a:r>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a</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8</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8</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1649" name="Google Shape;1649;p65"/>
          <p:cNvSpPr txBox="1"/>
          <p:nvPr/>
        </p:nvSpPr>
        <p:spPr>
          <a:xfrm>
            <a:off x="2523475" y="0"/>
            <a:ext cx="4233300" cy="28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Open Sans"/>
                <a:ea typeface="Open Sans"/>
                <a:cs typeface="Open Sans"/>
                <a:sym typeface="Open Sans"/>
              </a:rPr>
              <a:t>Geodesic Distance Matrix</a:t>
            </a:r>
            <a:endParaRPr sz="1800">
              <a:solidFill>
                <a:schemeClr val="dk1"/>
              </a:solidFill>
              <a:latin typeface="Open Sans"/>
              <a:ea typeface="Open Sans"/>
              <a:cs typeface="Open Sans"/>
              <a:sym typeface="Open Sans"/>
            </a:endParaRPr>
          </a:p>
        </p:txBody>
      </p:sp>
      <p:sp>
        <p:nvSpPr>
          <p:cNvPr id="1650" name="Google Shape;1650;p65"/>
          <p:cNvSpPr/>
          <p:nvPr/>
        </p:nvSpPr>
        <p:spPr>
          <a:xfrm>
            <a:off x="61325" y="2057325"/>
            <a:ext cx="3162300" cy="20028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We can obtain the closeness centrality of each node directly from the geodesic distance matrix!</a:t>
            </a:r>
            <a:endParaRPr b="1">
              <a:solidFill>
                <a:srgbClr val="FF00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4" name="Shape 1654"/>
        <p:cNvGrpSpPr/>
        <p:nvPr/>
      </p:nvGrpSpPr>
      <p:grpSpPr>
        <a:xfrm>
          <a:off x="0" y="0"/>
          <a:ext cx="0" cy="0"/>
          <a:chOff x="0" y="0"/>
          <a:chExt cx="0" cy="0"/>
        </a:xfrm>
      </p:grpSpPr>
      <p:graphicFrame>
        <p:nvGraphicFramePr>
          <p:cNvPr id="1655" name="Google Shape;1655;p66"/>
          <p:cNvGraphicFramePr/>
          <p:nvPr/>
        </p:nvGraphicFramePr>
        <p:xfrm>
          <a:off x="1024600" y="285745"/>
          <a:ext cx="3000000" cy="3000000"/>
        </p:xfrm>
        <a:graphic>
          <a:graphicData uri="http://schemas.openxmlformats.org/drawingml/2006/table">
            <a:tbl>
              <a:tblPr>
                <a:noFill/>
                <a:tableStyleId>{D533A967-1B24-4C1F-A5BD-666CA7F43D67}</a:tableStyleId>
              </a:tblPr>
              <a:tblGrid>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tblGrid>
              <a:tr h="205200">
                <a:tc>
                  <a:txBody>
                    <a:bodyPr/>
                    <a:lstStyle/>
                    <a:p>
                      <a:pPr indent="0" lvl="0" marL="0" rtl="0" algn="l">
                        <a:lnSpc>
                          <a:spcPct val="115000"/>
                        </a:lnSpc>
                        <a:spcBef>
                          <a:spcPts val="0"/>
                        </a:spcBef>
                        <a:spcAft>
                          <a:spcPts val="0"/>
                        </a:spcAft>
                        <a:buNone/>
                      </a:pPr>
                      <a:r>
                        <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solidFill>
                            <a:schemeClr val="dk1"/>
                          </a:solidFill>
                          <a:latin typeface="Economica"/>
                          <a:ea typeface="Economica"/>
                          <a:cs typeface="Economica"/>
                          <a:sym typeface="Economica"/>
                        </a:rPr>
                        <a:t>a</a:t>
                      </a:r>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a</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8</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8</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graphicFrame>
        <p:nvGraphicFramePr>
          <p:cNvPr id="1656" name="Google Shape;1656;p66"/>
          <p:cNvGraphicFramePr/>
          <p:nvPr/>
        </p:nvGraphicFramePr>
        <p:xfrm>
          <a:off x="7915925" y="285750"/>
          <a:ext cx="3000000" cy="3000000"/>
        </p:xfrm>
        <a:graphic>
          <a:graphicData uri="http://schemas.openxmlformats.org/drawingml/2006/table">
            <a:tbl>
              <a:tblPr>
                <a:noFill/>
                <a:tableStyleId>{D533A967-1B24-4C1F-A5BD-666CA7F43D67}</a:tableStyleId>
              </a:tblPr>
              <a:tblGrid>
                <a:gridCol w="381375"/>
                <a:gridCol w="381375"/>
              </a:tblGrid>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a</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74</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b</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62</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c</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54</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d</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60</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e</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63</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f</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61</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g</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49</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h</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42</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i</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41</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j</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44</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k</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59</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l</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57</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m</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56</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n</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50</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o</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60</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p</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50</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q</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71</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r</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59</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s</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88</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descr="\sum d_{ij}&#10;%d7a1aee4-e8ea-45d7-8827-460b62c4b081" id="1657" name="Google Shape;1657;p66"/>
          <p:cNvPicPr preferRelativeResize="0"/>
          <p:nvPr/>
        </p:nvPicPr>
        <p:blipFill>
          <a:blip r:embed="rId3">
            <a:alphaModFix/>
          </a:blip>
          <a:stretch>
            <a:fillRect/>
          </a:stretch>
        </p:blipFill>
        <p:spPr>
          <a:xfrm>
            <a:off x="8278625" y="62875"/>
            <a:ext cx="400050" cy="180975"/>
          </a:xfrm>
          <a:prstGeom prst="rect">
            <a:avLst/>
          </a:prstGeom>
          <a:noFill/>
          <a:ln>
            <a:noFill/>
          </a:ln>
        </p:spPr>
      </p:pic>
      <p:sp>
        <p:nvSpPr>
          <p:cNvPr id="1658" name="Google Shape;1658;p66"/>
          <p:cNvSpPr txBox="1"/>
          <p:nvPr/>
        </p:nvSpPr>
        <p:spPr>
          <a:xfrm>
            <a:off x="2523475" y="0"/>
            <a:ext cx="4233300" cy="28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Open Sans"/>
                <a:ea typeface="Open Sans"/>
                <a:cs typeface="Open Sans"/>
                <a:sym typeface="Open Sans"/>
              </a:rPr>
              <a:t>Geodesic Distance Matrix</a:t>
            </a:r>
            <a:endParaRPr sz="1800">
              <a:solidFill>
                <a:schemeClr val="dk1"/>
              </a:solidFill>
              <a:latin typeface="Open Sans"/>
              <a:ea typeface="Open Sans"/>
              <a:cs typeface="Open Sans"/>
              <a:sym typeface="Open Sans"/>
            </a:endParaRPr>
          </a:p>
        </p:txBody>
      </p:sp>
      <p:sp>
        <p:nvSpPr>
          <p:cNvPr id="1659" name="Google Shape;1659;p66"/>
          <p:cNvSpPr/>
          <p:nvPr/>
        </p:nvSpPr>
        <p:spPr>
          <a:xfrm>
            <a:off x="61325" y="2057325"/>
            <a:ext cx="3759900" cy="20028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First we obtain the row sums of </a:t>
            </a:r>
            <a:r>
              <a:rPr b="1" lang="en">
                <a:solidFill>
                  <a:srgbClr val="FF0000"/>
                </a:solidFill>
              </a:rPr>
              <a:t>the</a:t>
            </a:r>
            <a:r>
              <a:rPr b="1" lang="en">
                <a:solidFill>
                  <a:srgbClr val="FF0000"/>
                </a:solidFill>
              </a:rPr>
              <a:t> geodesic distance matrix. This tells us the sum of the shortest paths from each node in the rows to each other node in the columns</a:t>
            </a:r>
            <a:endParaRPr b="1">
              <a:solidFill>
                <a:srgbClr val="FF0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3" name="Shape 1663"/>
        <p:cNvGrpSpPr/>
        <p:nvPr/>
      </p:nvGrpSpPr>
      <p:grpSpPr>
        <a:xfrm>
          <a:off x="0" y="0"/>
          <a:ext cx="0" cy="0"/>
          <a:chOff x="0" y="0"/>
          <a:chExt cx="0" cy="0"/>
        </a:xfrm>
      </p:grpSpPr>
      <p:graphicFrame>
        <p:nvGraphicFramePr>
          <p:cNvPr id="1664" name="Google Shape;1664;p67"/>
          <p:cNvGraphicFramePr/>
          <p:nvPr/>
        </p:nvGraphicFramePr>
        <p:xfrm>
          <a:off x="1024600" y="285745"/>
          <a:ext cx="3000000" cy="3000000"/>
        </p:xfrm>
        <a:graphic>
          <a:graphicData uri="http://schemas.openxmlformats.org/drawingml/2006/table">
            <a:tbl>
              <a:tblPr>
                <a:noFill/>
                <a:tableStyleId>{D533A967-1B24-4C1F-A5BD-666CA7F43D67}</a:tableStyleId>
              </a:tblPr>
              <a:tblGrid>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tblGrid>
              <a:tr h="205200">
                <a:tc>
                  <a:txBody>
                    <a:bodyPr/>
                    <a:lstStyle/>
                    <a:p>
                      <a:pPr indent="0" lvl="0" marL="0" rtl="0" algn="l">
                        <a:lnSpc>
                          <a:spcPct val="115000"/>
                        </a:lnSpc>
                        <a:spcBef>
                          <a:spcPts val="0"/>
                        </a:spcBef>
                        <a:spcAft>
                          <a:spcPts val="0"/>
                        </a:spcAft>
                        <a:buNone/>
                      </a:pPr>
                      <a:r>
                        <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solidFill>
                            <a:schemeClr val="dk1"/>
                          </a:solidFill>
                          <a:latin typeface="Economica"/>
                          <a:ea typeface="Economica"/>
                          <a:cs typeface="Economica"/>
                          <a:sym typeface="Economica"/>
                        </a:rPr>
                        <a:t>a</a:t>
                      </a:r>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a</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8</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8</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graphicFrame>
        <p:nvGraphicFramePr>
          <p:cNvPr id="1665" name="Google Shape;1665;p67"/>
          <p:cNvGraphicFramePr/>
          <p:nvPr/>
        </p:nvGraphicFramePr>
        <p:xfrm>
          <a:off x="7915925" y="285750"/>
          <a:ext cx="3000000" cy="3000000"/>
        </p:xfrm>
        <a:graphic>
          <a:graphicData uri="http://schemas.openxmlformats.org/drawingml/2006/table">
            <a:tbl>
              <a:tblPr>
                <a:noFill/>
                <a:tableStyleId>{D533A967-1B24-4C1F-A5BD-666CA7F43D67}</a:tableStyleId>
              </a:tblPr>
              <a:tblGrid>
                <a:gridCol w="381375"/>
                <a:gridCol w="381375"/>
              </a:tblGrid>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a</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74</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b</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62</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c</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54</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d</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60</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e</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63</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f</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61</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g</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49</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h</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42</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i</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41</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j</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44</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k</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59</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l</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57</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m</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56</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n</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50</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o</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60</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p</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50</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q</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71</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r</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59</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s</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88</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descr="\sum d_{ij}&#10;%d7a1aee4-e8ea-45d7-8827-460b62c4b081" id="1666" name="Google Shape;1666;p67"/>
          <p:cNvPicPr preferRelativeResize="0"/>
          <p:nvPr/>
        </p:nvPicPr>
        <p:blipFill>
          <a:blip r:embed="rId3">
            <a:alphaModFix/>
          </a:blip>
          <a:stretch>
            <a:fillRect/>
          </a:stretch>
        </p:blipFill>
        <p:spPr>
          <a:xfrm>
            <a:off x="8278625" y="62875"/>
            <a:ext cx="400050" cy="180975"/>
          </a:xfrm>
          <a:prstGeom prst="rect">
            <a:avLst/>
          </a:prstGeom>
          <a:noFill/>
          <a:ln>
            <a:noFill/>
          </a:ln>
        </p:spPr>
      </p:pic>
      <p:sp>
        <p:nvSpPr>
          <p:cNvPr id="1667" name="Google Shape;1667;p67"/>
          <p:cNvSpPr txBox="1"/>
          <p:nvPr/>
        </p:nvSpPr>
        <p:spPr>
          <a:xfrm>
            <a:off x="2523475" y="0"/>
            <a:ext cx="4233300" cy="28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Open Sans"/>
                <a:ea typeface="Open Sans"/>
                <a:cs typeface="Open Sans"/>
                <a:sym typeface="Open Sans"/>
              </a:rPr>
              <a:t>Geodesic Distance Matrix</a:t>
            </a:r>
            <a:endParaRPr sz="1800">
              <a:solidFill>
                <a:schemeClr val="dk1"/>
              </a:solidFill>
              <a:latin typeface="Open Sans"/>
              <a:ea typeface="Open Sans"/>
              <a:cs typeface="Open Sans"/>
              <a:sym typeface="Open Sans"/>
            </a:endParaRPr>
          </a:p>
        </p:txBody>
      </p:sp>
      <p:sp>
        <p:nvSpPr>
          <p:cNvPr id="1668" name="Google Shape;1668;p67"/>
          <p:cNvSpPr/>
          <p:nvPr/>
        </p:nvSpPr>
        <p:spPr>
          <a:xfrm>
            <a:off x="61325" y="2057325"/>
            <a:ext cx="3759900" cy="20028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First we obtain the row sums of the geodesic distance matrix. This tells us the sum of the shortest paths from each node in the rows to each other node in the columns</a:t>
            </a:r>
            <a:endParaRPr b="1">
              <a:solidFill>
                <a:srgbClr val="FF0000"/>
              </a:solidFill>
            </a:endParaRPr>
          </a:p>
        </p:txBody>
      </p:sp>
      <p:sp>
        <p:nvSpPr>
          <p:cNvPr id="1669" name="Google Shape;1669;p67"/>
          <p:cNvSpPr/>
          <p:nvPr/>
        </p:nvSpPr>
        <p:spPr>
          <a:xfrm>
            <a:off x="4039150" y="2114550"/>
            <a:ext cx="3759900" cy="20028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Note that this is a measure of </a:t>
            </a:r>
            <a:r>
              <a:rPr b="1" lang="en">
                <a:solidFill>
                  <a:srgbClr val="0D5DDF"/>
                </a:solidFill>
              </a:rPr>
              <a:t>farness</a:t>
            </a:r>
            <a:r>
              <a:rPr b="1" lang="en">
                <a:solidFill>
                  <a:srgbClr val="FF0000"/>
                </a:solidFill>
              </a:rPr>
              <a:t> not closeness because bigger numbers means that a node can only reach other nodes via longer paths</a:t>
            </a:r>
            <a:endParaRPr b="1">
              <a:solidFill>
                <a:srgbClr val="FF000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3" name="Shape 1673"/>
        <p:cNvGrpSpPr/>
        <p:nvPr/>
      </p:nvGrpSpPr>
      <p:grpSpPr>
        <a:xfrm>
          <a:off x="0" y="0"/>
          <a:ext cx="0" cy="0"/>
          <a:chOff x="0" y="0"/>
          <a:chExt cx="0" cy="0"/>
        </a:xfrm>
      </p:grpSpPr>
      <p:graphicFrame>
        <p:nvGraphicFramePr>
          <p:cNvPr id="1674" name="Google Shape;1674;p68"/>
          <p:cNvGraphicFramePr/>
          <p:nvPr/>
        </p:nvGraphicFramePr>
        <p:xfrm>
          <a:off x="1024600" y="285745"/>
          <a:ext cx="3000000" cy="3000000"/>
        </p:xfrm>
        <a:graphic>
          <a:graphicData uri="http://schemas.openxmlformats.org/drawingml/2006/table">
            <a:tbl>
              <a:tblPr>
                <a:noFill/>
                <a:tableStyleId>{D533A967-1B24-4C1F-A5BD-666CA7F43D67}</a:tableStyleId>
              </a:tblPr>
              <a:tblGrid>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tblGrid>
              <a:tr h="205200">
                <a:tc>
                  <a:txBody>
                    <a:bodyPr/>
                    <a:lstStyle/>
                    <a:p>
                      <a:pPr indent="0" lvl="0" marL="0" rtl="0" algn="l">
                        <a:lnSpc>
                          <a:spcPct val="115000"/>
                        </a:lnSpc>
                        <a:spcBef>
                          <a:spcPts val="0"/>
                        </a:spcBef>
                        <a:spcAft>
                          <a:spcPts val="0"/>
                        </a:spcAft>
                        <a:buNone/>
                      </a:pPr>
                      <a:r>
                        <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solidFill>
                            <a:schemeClr val="dk1"/>
                          </a:solidFill>
                          <a:latin typeface="Economica"/>
                          <a:ea typeface="Economica"/>
                          <a:cs typeface="Economica"/>
                          <a:sym typeface="Economica"/>
                        </a:rPr>
                        <a:t>a</a:t>
                      </a:r>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a</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8</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8</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graphicFrame>
        <p:nvGraphicFramePr>
          <p:cNvPr id="1675" name="Google Shape;1675;p68"/>
          <p:cNvGraphicFramePr/>
          <p:nvPr/>
        </p:nvGraphicFramePr>
        <p:xfrm>
          <a:off x="7915925" y="285750"/>
          <a:ext cx="3000000" cy="3000000"/>
        </p:xfrm>
        <a:graphic>
          <a:graphicData uri="http://schemas.openxmlformats.org/drawingml/2006/table">
            <a:tbl>
              <a:tblPr>
                <a:noFill/>
                <a:tableStyleId>{D533A967-1B24-4C1F-A5BD-666CA7F43D67}</a:tableStyleId>
              </a:tblPr>
              <a:tblGrid>
                <a:gridCol w="381375"/>
                <a:gridCol w="381375"/>
                <a:gridCol w="381375"/>
              </a:tblGrid>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a</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74</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0.24</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b</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62</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0.29</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c</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54</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0.33</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d</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60</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0.30</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e</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63</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0.29</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f</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61</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0.30</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g</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49</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0.37</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h</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42</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0.43</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i</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41</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0.44</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j</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44</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0.41</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k</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59</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0.31</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l</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57</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0.32</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m</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56</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0.32</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n</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50</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0.36</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o</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60</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0.30</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p</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50</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0.36</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q</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71</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0.25</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r</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59</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0.31</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s</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88</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0.20</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descr="\sum d_{ij}&#10;%d7a1aee4-e8ea-45d7-8827-460b62c4b081" id="1676" name="Google Shape;1676;p68"/>
          <p:cNvPicPr preferRelativeResize="0"/>
          <p:nvPr/>
        </p:nvPicPr>
        <p:blipFill>
          <a:blip r:embed="rId3">
            <a:alphaModFix/>
          </a:blip>
          <a:stretch>
            <a:fillRect/>
          </a:stretch>
        </p:blipFill>
        <p:spPr>
          <a:xfrm>
            <a:off x="8278625" y="62875"/>
            <a:ext cx="400050" cy="180975"/>
          </a:xfrm>
          <a:prstGeom prst="rect">
            <a:avLst/>
          </a:prstGeom>
          <a:noFill/>
          <a:ln>
            <a:noFill/>
          </a:ln>
        </p:spPr>
      </p:pic>
      <p:sp>
        <p:nvSpPr>
          <p:cNvPr id="1677" name="Google Shape;1677;p68"/>
          <p:cNvSpPr txBox="1"/>
          <p:nvPr/>
        </p:nvSpPr>
        <p:spPr>
          <a:xfrm>
            <a:off x="2523475" y="0"/>
            <a:ext cx="4233300" cy="28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Open Sans"/>
                <a:ea typeface="Open Sans"/>
                <a:cs typeface="Open Sans"/>
                <a:sym typeface="Open Sans"/>
              </a:rPr>
              <a:t>Geodesic Distance Matrix</a:t>
            </a:r>
            <a:endParaRPr sz="1800">
              <a:solidFill>
                <a:schemeClr val="dk1"/>
              </a:solidFill>
              <a:latin typeface="Open Sans"/>
              <a:ea typeface="Open Sans"/>
              <a:cs typeface="Open Sans"/>
              <a:sym typeface="Open Sans"/>
            </a:endParaRPr>
          </a:p>
        </p:txBody>
      </p:sp>
      <p:pic>
        <p:nvPicPr>
          <p:cNvPr descr="\frac{N-1}{\sum d_{ij}}&#10;%b65a6bd7-b65f-4b05-be73-e754c603c1a8" id="1678" name="Google Shape;1678;p68"/>
          <p:cNvPicPr preferRelativeResize="0"/>
          <p:nvPr/>
        </p:nvPicPr>
        <p:blipFill>
          <a:blip r:embed="rId4">
            <a:alphaModFix/>
          </a:blip>
          <a:stretch>
            <a:fillRect/>
          </a:stretch>
        </p:blipFill>
        <p:spPr>
          <a:xfrm>
            <a:off x="8698100" y="24775"/>
            <a:ext cx="361950" cy="257175"/>
          </a:xfrm>
          <a:prstGeom prst="rect">
            <a:avLst/>
          </a:prstGeom>
          <a:noFill/>
          <a:ln>
            <a:noFill/>
          </a:ln>
        </p:spPr>
      </p:pic>
      <p:sp>
        <p:nvSpPr>
          <p:cNvPr id="1679" name="Google Shape;1679;p68"/>
          <p:cNvSpPr/>
          <p:nvPr/>
        </p:nvSpPr>
        <p:spPr>
          <a:xfrm>
            <a:off x="61325" y="1488875"/>
            <a:ext cx="4275900" cy="25713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rPr b="1" lang="en">
                <a:solidFill>
                  <a:srgbClr val="FF0000"/>
                </a:solidFill>
              </a:rPr>
              <a:t>To get </a:t>
            </a:r>
            <a:r>
              <a:rPr b="1" lang="en">
                <a:solidFill>
                  <a:srgbClr val="0000FF"/>
                </a:solidFill>
              </a:rPr>
              <a:t>closeness</a:t>
            </a:r>
            <a:r>
              <a:rPr b="1" lang="en">
                <a:solidFill>
                  <a:srgbClr val="FF0000"/>
                </a:solidFill>
              </a:rPr>
              <a:t>, we reverse and normalize the scores by </a:t>
            </a:r>
            <a:r>
              <a:rPr b="1" lang="en">
                <a:solidFill>
                  <a:srgbClr val="FF0000"/>
                </a:solidFill>
              </a:rPr>
              <a:t>dividing</a:t>
            </a:r>
            <a:r>
              <a:rPr b="1" lang="en">
                <a:solidFill>
                  <a:srgbClr val="FF0000"/>
                </a:solidFill>
              </a:rPr>
              <a:t> N-1 by each row sum, which equals 19-1 = 18 in this case</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p:txBody>
      </p:sp>
      <p:pic>
        <p:nvPicPr>
          <p:cNvPr descr="C_{clos}(i)=\frac{N-1}{\sum_j^{ }d_{ij}}&#10;%2c47b055-573a-492d-8d53-6bd3b0ed494c" id="1680" name="Google Shape;1680;p68"/>
          <p:cNvPicPr preferRelativeResize="0"/>
          <p:nvPr/>
        </p:nvPicPr>
        <p:blipFill>
          <a:blip r:embed="rId5">
            <a:alphaModFix/>
          </a:blip>
          <a:stretch>
            <a:fillRect/>
          </a:stretch>
        </p:blipFill>
        <p:spPr>
          <a:xfrm>
            <a:off x="1000500" y="2972075"/>
            <a:ext cx="2397557" cy="548640"/>
          </a:xfrm>
          <a:prstGeom prst="rect">
            <a:avLst/>
          </a:prstGeom>
          <a:noFill/>
          <a:ln>
            <a:noFill/>
          </a:ln>
        </p:spPr>
      </p:pic>
      <p:sp>
        <p:nvSpPr>
          <p:cNvPr id="1681" name="Google Shape;1681;p68"/>
          <p:cNvSpPr txBox="1"/>
          <p:nvPr/>
        </p:nvSpPr>
        <p:spPr>
          <a:xfrm>
            <a:off x="2709075" y="4607550"/>
            <a:ext cx="4095600" cy="47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5" name="Shape 1685"/>
        <p:cNvGrpSpPr/>
        <p:nvPr/>
      </p:nvGrpSpPr>
      <p:grpSpPr>
        <a:xfrm>
          <a:off x="0" y="0"/>
          <a:ext cx="0" cy="0"/>
          <a:chOff x="0" y="0"/>
          <a:chExt cx="0" cy="0"/>
        </a:xfrm>
      </p:grpSpPr>
      <p:graphicFrame>
        <p:nvGraphicFramePr>
          <p:cNvPr id="1686" name="Google Shape;1686;p69"/>
          <p:cNvGraphicFramePr/>
          <p:nvPr/>
        </p:nvGraphicFramePr>
        <p:xfrm>
          <a:off x="1024600" y="285745"/>
          <a:ext cx="3000000" cy="3000000"/>
        </p:xfrm>
        <a:graphic>
          <a:graphicData uri="http://schemas.openxmlformats.org/drawingml/2006/table">
            <a:tbl>
              <a:tblPr>
                <a:noFill/>
                <a:tableStyleId>{D533A967-1B24-4C1F-A5BD-666CA7F43D67}</a:tableStyleId>
              </a:tblPr>
              <a:tblGrid>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tblGrid>
              <a:tr h="205200">
                <a:tc>
                  <a:txBody>
                    <a:bodyPr/>
                    <a:lstStyle/>
                    <a:p>
                      <a:pPr indent="0" lvl="0" marL="0" rtl="0" algn="l">
                        <a:lnSpc>
                          <a:spcPct val="115000"/>
                        </a:lnSpc>
                        <a:spcBef>
                          <a:spcPts val="0"/>
                        </a:spcBef>
                        <a:spcAft>
                          <a:spcPts val="0"/>
                        </a:spcAft>
                        <a:buNone/>
                      </a:pPr>
                      <a:r>
                        <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solidFill>
                            <a:schemeClr val="dk1"/>
                          </a:solidFill>
                          <a:latin typeface="Economica"/>
                          <a:ea typeface="Economica"/>
                          <a:cs typeface="Economica"/>
                          <a:sym typeface="Economica"/>
                        </a:rPr>
                        <a:t>a</a:t>
                      </a:r>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a</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8</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8</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r>
            </a:tbl>
          </a:graphicData>
        </a:graphic>
      </p:graphicFrame>
      <p:graphicFrame>
        <p:nvGraphicFramePr>
          <p:cNvPr id="1687" name="Google Shape;1687;p69"/>
          <p:cNvGraphicFramePr/>
          <p:nvPr/>
        </p:nvGraphicFramePr>
        <p:xfrm>
          <a:off x="7915925" y="285750"/>
          <a:ext cx="3000000" cy="3000000"/>
        </p:xfrm>
        <a:graphic>
          <a:graphicData uri="http://schemas.openxmlformats.org/drawingml/2006/table">
            <a:tbl>
              <a:tblPr>
                <a:noFill/>
                <a:tableStyleId>{D533A967-1B24-4C1F-A5BD-666CA7F43D67}</a:tableStyleId>
              </a:tblPr>
              <a:tblGrid>
                <a:gridCol w="381375"/>
                <a:gridCol w="381375"/>
                <a:gridCol w="381375"/>
              </a:tblGrid>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a</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74</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0.24</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b</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62</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0.29</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c</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54</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0.33</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d</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60</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0.30</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e</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63</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0.29</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f</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61</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0.30</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g</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49</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0.37</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h</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42</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0.43</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i</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41</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0.44</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j</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44</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0.41</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k</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59</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0.31</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l</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57</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0.32</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m</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56</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0.32</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n</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50</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0.36</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o</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60</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0.30</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p</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50</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0.36</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q</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71</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0.25</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r</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59</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0.31</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s</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88</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0.20</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r>
            </a:tbl>
          </a:graphicData>
        </a:graphic>
      </p:graphicFrame>
      <p:pic>
        <p:nvPicPr>
          <p:cNvPr descr="\sum d_{ij}&#10;%d7a1aee4-e8ea-45d7-8827-460b62c4b081" id="1688" name="Google Shape;1688;p69"/>
          <p:cNvPicPr preferRelativeResize="0"/>
          <p:nvPr/>
        </p:nvPicPr>
        <p:blipFill>
          <a:blip r:embed="rId3">
            <a:alphaModFix/>
          </a:blip>
          <a:stretch>
            <a:fillRect/>
          </a:stretch>
        </p:blipFill>
        <p:spPr>
          <a:xfrm>
            <a:off x="8278625" y="62875"/>
            <a:ext cx="400050" cy="180975"/>
          </a:xfrm>
          <a:prstGeom prst="rect">
            <a:avLst/>
          </a:prstGeom>
          <a:noFill/>
          <a:ln>
            <a:noFill/>
          </a:ln>
        </p:spPr>
      </p:pic>
      <p:sp>
        <p:nvSpPr>
          <p:cNvPr id="1689" name="Google Shape;1689;p69"/>
          <p:cNvSpPr txBox="1"/>
          <p:nvPr/>
        </p:nvSpPr>
        <p:spPr>
          <a:xfrm>
            <a:off x="2523475" y="0"/>
            <a:ext cx="4233300" cy="28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Open Sans"/>
                <a:ea typeface="Open Sans"/>
                <a:cs typeface="Open Sans"/>
                <a:sym typeface="Open Sans"/>
              </a:rPr>
              <a:t>Geodesic Distance Matrix</a:t>
            </a:r>
            <a:endParaRPr sz="1800">
              <a:solidFill>
                <a:schemeClr val="dk1"/>
              </a:solidFill>
              <a:latin typeface="Open Sans"/>
              <a:ea typeface="Open Sans"/>
              <a:cs typeface="Open Sans"/>
              <a:sym typeface="Open Sans"/>
            </a:endParaRPr>
          </a:p>
        </p:txBody>
      </p:sp>
      <p:sp>
        <p:nvSpPr>
          <p:cNvPr id="1690" name="Google Shape;1690;p69"/>
          <p:cNvSpPr/>
          <p:nvPr/>
        </p:nvSpPr>
        <p:spPr>
          <a:xfrm>
            <a:off x="61325" y="2057325"/>
            <a:ext cx="1725600" cy="20028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In this graph, node s node has the smallest closeness centrality!</a:t>
            </a:r>
            <a:endParaRPr b="1">
              <a:solidFill>
                <a:srgbClr val="FF0000"/>
              </a:solidFill>
            </a:endParaRPr>
          </a:p>
        </p:txBody>
      </p:sp>
      <p:pic>
        <p:nvPicPr>
          <p:cNvPr descr="\frac{N-1}{\sum d_{ij}}&#10;%b65a6bd7-b65f-4b05-be73-e754c603c1a8" id="1691" name="Google Shape;1691;p69"/>
          <p:cNvPicPr preferRelativeResize="0"/>
          <p:nvPr/>
        </p:nvPicPr>
        <p:blipFill>
          <a:blip r:embed="rId4">
            <a:alphaModFix/>
          </a:blip>
          <a:stretch>
            <a:fillRect/>
          </a:stretch>
        </p:blipFill>
        <p:spPr>
          <a:xfrm>
            <a:off x="8698100" y="24775"/>
            <a:ext cx="361950" cy="2571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5" name="Shape 1695"/>
        <p:cNvGrpSpPr/>
        <p:nvPr/>
      </p:nvGrpSpPr>
      <p:grpSpPr>
        <a:xfrm>
          <a:off x="0" y="0"/>
          <a:ext cx="0" cy="0"/>
          <a:chOff x="0" y="0"/>
          <a:chExt cx="0" cy="0"/>
        </a:xfrm>
      </p:grpSpPr>
      <p:sp>
        <p:nvSpPr>
          <p:cNvPr id="1696" name="Google Shape;1696;p7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Closeness (C</a:t>
            </a:r>
            <a:r>
              <a:rPr baseline="-25000" lang="en"/>
              <a:t>Clos</a:t>
            </a:r>
            <a:r>
              <a:rPr lang="en"/>
              <a:t>)</a:t>
            </a:r>
            <a:endParaRPr/>
          </a:p>
        </p:txBody>
      </p:sp>
      <p:sp>
        <p:nvSpPr>
          <p:cNvPr id="1697" name="Google Shape;1697;p70"/>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698" name="Google Shape;1698;p70"/>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699" name="Google Shape;1699;p70"/>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700" name="Google Shape;1700;p70"/>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701" name="Google Shape;1701;p70"/>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702" name="Google Shape;1702;p70"/>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703" name="Google Shape;1703;p70"/>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704" name="Google Shape;1704;p70"/>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705" name="Google Shape;1705;p70"/>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706" name="Google Shape;1706;p70"/>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707" name="Google Shape;1707;p70"/>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708" name="Google Shape;1708;p70"/>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709" name="Google Shape;1709;p70"/>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710" name="Google Shape;1710;p70"/>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711" name="Google Shape;1711;p70"/>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712" name="Google Shape;1712;p70"/>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713" name="Google Shape;1713;p70"/>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714" name="Google Shape;1714;p70"/>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715" name="Google Shape;1715;p70"/>
          <p:cNvSpPr/>
          <p:nvPr/>
        </p:nvSpPr>
        <p:spPr>
          <a:xfrm>
            <a:off x="8305888" y="11472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716" name="Google Shape;1716;p70"/>
          <p:cNvCxnSpPr>
            <a:stCxn id="1715" idx="2"/>
            <a:endCxn id="1714"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717" name="Google Shape;1717;p70"/>
          <p:cNvCxnSpPr>
            <a:stCxn id="1713" idx="0"/>
            <a:endCxn id="1714"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718" name="Google Shape;1718;p70"/>
          <p:cNvCxnSpPr>
            <a:stCxn id="1712" idx="2"/>
            <a:endCxn id="1713"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719" name="Google Shape;1719;p70"/>
          <p:cNvCxnSpPr>
            <a:stCxn id="1712" idx="2"/>
            <a:endCxn id="1708"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720" name="Google Shape;1720;p70"/>
          <p:cNvCxnSpPr>
            <a:stCxn id="1712" idx="2"/>
            <a:endCxn id="1711"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721" name="Google Shape;1721;p70"/>
          <p:cNvCxnSpPr>
            <a:stCxn id="1711" idx="2"/>
            <a:endCxn id="1708"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722" name="Google Shape;1722;p70"/>
          <p:cNvCxnSpPr>
            <a:stCxn id="1711" idx="1"/>
            <a:endCxn id="1707"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723" name="Google Shape;1723;p70"/>
          <p:cNvCxnSpPr>
            <a:stCxn id="1710" idx="0"/>
            <a:endCxn id="1708"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724" name="Google Shape;1724;p70"/>
          <p:cNvCxnSpPr>
            <a:stCxn id="1709" idx="7"/>
            <a:endCxn id="1708"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725" name="Google Shape;1725;p70"/>
          <p:cNvCxnSpPr>
            <a:stCxn id="1710" idx="1"/>
            <a:endCxn id="1709"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726" name="Google Shape;1726;p70"/>
          <p:cNvCxnSpPr>
            <a:stCxn id="1708" idx="2"/>
            <a:endCxn id="1706"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727" name="Google Shape;1727;p70"/>
          <p:cNvCxnSpPr>
            <a:stCxn id="1709" idx="0"/>
            <a:endCxn id="1706"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728" name="Google Shape;1728;p70"/>
          <p:cNvCxnSpPr>
            <a:stCxn id="1708" idx="0"/>
            <a:endCxn id="1707"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729" name="Google Shape;1729;p70"/>
          <p:cNvCxnSpPr>
            <a:stCxn id="1706" idx="7"/>
            <a:endCxn id="1707"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1730" name="Google Shape;1730;p70"/>
          <p:cNvCxnSpPr>
            <a:stCxn id="1706" idx="2"/>
            <a:endCxn id="1704"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1731" name="Google Shape;1731;p70"/>
          <p:cNvCxnSpPr>
            <a:stCxn id="1705" idx="0"/>
            <a:endCxn id="1704"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732" name="Google Shape;1732;p70"/>
          <p:cNvCxnSpPr>
            <a:stCxn id="1704" idx="3"/>
            <a:endCxn id="1703"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1733" name="Google Shape;1733;p70"/>
          <p:cNvCxnSpPr>
            <a:stCxn id="1702" idx="5"/>
            <a:endCxn id="1703"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734" name="Google Shape;1734;p70"/>
          <p:cNvCxnSpPr>
            <a:stCxn id="1699" idx="4"/>
            <a:endCxn id="1702"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735" name="Google Shape;1735;p70"/>
          <p:cNvCxnSpPr>
            <a:stCxn id="1704" idx="1"/>
            <a:endCxn id="1699"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736" name="Google Shape;1736;p70"/>
          <p:cNvCxnSpPr>
            <a:stCxn id="1702" idx="2"/>
            <a:endCxn id="1701"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737" name="Google Shape;1737;p70"/>
          <p:cNvCxnSpPr>
            <a:stCxn id="1702" idx="0"/>
            <a:endCxn id="1700"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738" name="Google Shape;1738;p70"/>
          <p:cNvCxnSpPr>
            <a:stCxn id="1700" idx="3"/>
            <a:endCxn id="1701"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739" name="Google Shape;1739;p70"/>
          <p:cNvCxnSpPr>
            <a:stCxn id="1697" idx="4"/>
            <a:endCxn id="1701"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740" name="Google Shape;1740;p70"/>
          <p:cNvCxnSpPr>
            <a:stCxn id="1698" idx="2"/>
            <a:endCxn id="1697"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741" name="Google Shape;1741;p70"/>
          <p:cNvCxnSpPr>
            <a:stCxn id="1698" idx="3"/>
            <a:endCxn id="1700"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742" name="Google Shape;1742;p70"/>
          <p:cNvCxnSpPr>
            <a:stCxn id="1699" idx="2"/>
            <a:endCxn id="1697"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743" name="Google Shape;1743;p70"/>
          <p:cNvCxnSpPr>
            <a:stCxn id="1699" idx="1"/>
            <a:endCxn id="1698"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744" name="Google Shape;1744;p70"/>
          <p:cNvCxnSpPr>
            <a:stCxn id="1699" idx="2"/>
            <a:endCxn id="1700"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745" name="Google Shape;1745;p70"/>
          <p:cNvCxnSpPr>
            <a:stCxn id="1700" idx="1"/>
            <a:endCxn id="1697"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746" name="Google Shape;1746;p70"/>
          <p:cNvCxnSpPr>
            <a:stCxn id="1708" idx="6"/>
            <a:endCxn id="1713"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1747" name="Google Shape;1747;p70"/>
          <p:cNvSpPr/>
          <p:nvPr/>
        </p:nvSpPr>
        <p:spPr>
          <a:xfrm>
            <a:off x="3776375" y="1033950"/>
            <a:ext cx="1725600" cy="20028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Node s is far away from most other nodes!</a:t>
            </a:r>
            <a:endParaRPr b="1">
              <a:solidFill>
                <a:srgbClr val="FF00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1" name="Shape 1751"/>
        <p:cNvGrpSpPr/>
        <p:nvPr/>
      </p:nvGrpSpPr>
      <p:grpSpPr>
        <a:xfrm>
          <a:off x="0" y="0"/>
          <a:ext cx="0" cy="0"/>
          <a:chOff x="0" y="0"/>
          <a:chExt cx="0" cy="0"/>
        </a:xfrm>
      </p:grpSpPr>
      <p:sp>
        <p:nvSpPr>
          <p:cNvPr id="1752" name="Google Shape;1752;p7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Closeness (C</a:t>
            </a:r>
            <a:r>
              <a:rPr baseline="-25000" lang="en"/>
              <a:t>Clos</a:t>
            </a:r>
            <a:r>
              <a:rPr lang="en"/>
              <a:t>)</a:t>
            </a:r>
            <a:endParaRPr/>
          </a:p>
        </p:txBody>
      </p:sp>
      <p:sp>
        <p:nvSpPr>
          <p:cNvPr id="1753" name="Google Shape;1753;p71"/>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754" name="Google Shape;1754;p71"/>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755" name="Google Shape;1755;p71"/>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756" name="Google Shape;1756;p71"/>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757" name="Google Shape;1757;p71"/>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758" name="Google Shape;1758;p71"/>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759" name="Google Shape;1759;p71"/>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760" name="Google Shape;1760;p71"/>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761" name="Google Shape;1761;p71"/>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762" name="Google Shape;1762;p71"/>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763" name="Google Shape;1763;p71"/>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764" name="Google Shape;1764;p71"/>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765" name="Google Shape;1765;p71"/>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766" name="Google Shape;1766;p71"/>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767" name="Google Shape;1767;p71"/>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768" name="Google Shape;1768;p71"/>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769" name="Google Shape;1769;p71"/>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770" name="Google Shape;1770;p71"/>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771" name="Google Shape;1771;p71"/>
          <p:cNvSpPr/>
          <p:nvPr/>
        </p:nvSpPr>
        <p:spPr>
          <a:xfrm>
            <a:off x="8305888" y="11472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772" name="Google Shape;1772;p71"/>
          <p:cNvCxnSpPr>
            <a:stCxn id="1771" idx="2"/>
            <a:endCxn id="1770" idx="7"/>
          </p:cNvCxnSpPr>
          <p:nvPr/>
        </p:nvCxnSpPr>
        <p:spPr>
          <a:xfrm flipH="1">
            <a:off x="7659088" y="1416925"/>
            <a:ext cx="646800" cy="177300"/>
          </a:xfrm>
          <a:prstGeom prst="straightConnector1">
            <a:avLst/>
          </a:prstGeom>
          <a:noFill/>
          <a:ln cap="flat" cmpd="sng" w="28575">
            <a:solidFill>
              <a:srgbClr val="FF0000"/>
            </a:solidFill>
            <a:prstDash val="solid"/>
            <a:round/>
            <a:headEnd len="med" w="med" type="none"/>
            <a:tailEnd len="med" w="med" type="none"/>
          </a:ln>
        </p:spPr>
      </p:cxnSp>
      <p:cxnSp>
        <p:nvCxnSpPr>
          <p:cNvPr id="1773" name="Google Shape;1773;p71"/>
          <p:cNvCxnSpPr>
            <a:stCxn id="1769" idx="0"/>
            <a:endCxn id="1770" idx="4"/>
          </p:cNvCxnSpPr>
          <p:nvPr/>
        </p:nvCxnSpPr>
        <p:spPr>
          <a:xfrm flipH="1" rot="10800000">
            <a:off x="7376313" y="2054850"/>
            <a:ext cx="91800" cy="442500"/>
          </a:xfrm>
          <a:prstGeom prst="straightConnector1">
            <a:avLst/>
          </a:prstGeom>
          <a:noFill/>
          <a:ln cap="flat" cmpd="sng" w="28575">
            <a:solidFill>
              <a:srgbClr val="FF0000"/>
            </a:solidFill>
            <a:prstDash val="solid"/>
            <a:round/>
            <a:headEnd len="med" w="med" type="none"/>
            <a:tailEnd len="med" w="med" type="none"/>
          </a:ln>
        </p:spPr>
      </p:cxnSp>
      <p:cxnSp>
        <p:nvCxnSpPr>
          <p:cNvPr id="1774" name="Google Shape;1774;p71"/>
          <p:cNvCxnSpPr>
            <a:stCxn id="1768" idx="2"/>
            <a:endCxn id="1769"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775" name="Google Shape;1775;p71"/>
          <p:cNvCxnSpPr>
            <a:stCxn id="1768" idx="2"/>
            <a:endCxn id="1764"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776" name="Google Shape;1776;p71"/>
          <p:cNvCxnSpPr>
            <a:stCxn id="1768" idx="2"/>
            <a:endCxn id="1767"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777" name="Google Shape;1777;p71"/>
          <p:cNvCxnSpPr>
            <a:stCxn id="1767" idx="2"/>
            <a:endCxn id="1764"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778" name="Google Shape;1778;p71"/>
          <p:cNvCxnSpPr>
            <a:stCxn id="1767" idx="1"/>
            <a:endCxn id="1763"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779" name="Google Shape;1779;p71"/>
          <p:cNvCxnSpPr>
            <a:stCxn id="1766" idx="0"/>
            <a:endCxn id="1764"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780" name="Google Shape;1780;p71"/>
          <p:cNvCxnSpPr>
            <a:stCxn id="1765" idx="7"/>
            <a:endCxn id="1764"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781" name="Google Shape;1781;p71"/>
          <p:cNvCxnSpPr>
            <a:stCxn id="1766" idx="1"/>
            <a:endCxn id="1765"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782" name="Google Shape;1782;p71"/>
          <p:cNvCxnSpPr>
            <a:stCxn id="1764" idx="2"/>
            <a:endCxn id="1762" idx="6"/>
          </p:cNvCxnSpPr>
          <p:nvPr/>
        </p:nvCxnSpPr>
        <p:spPr>
          <a:xfrm rot="10800000">
            <a:off x="5463388" y="3615625"/>
            <a:ext cx="626100" cy="0"/>
          </a:xfrm>
          <a:prstGeom prst="straightConnector1">
            <a:avLst/>
          </a:prstGeom>
          <a:noFill/>
          <a:ln cap="flat" cmpd="sng" w="28575">
            <a:solidFill>
              <a:srgbClr val="FF0000"/>
            </a:solidFill>
            <a:prstDash val="solid"/>
            <a:round/>
            <a:headEnd len="med" w="med" type="none"/>
            <a:tailEnd len="med" w="med" type="none"/>
          </a:ln>
        </p:spPr>
      </p:cxnSp>
      <p:cxnSp>
        <p:nvCxnSpPr>
          <p:cNvPr id="1783" name="Google Shape;1783;p71"/>
          <p:cNvCxnSpPr>
            <a:stCxn id="1765" idx="0"/>
            <a:endCxn id="1762"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784" name="Google Shape;1784;p71"/>
          <p:cNvCxnSpPr>
            <a:stCxn id="1764" idx="0"/>
            <a:endCxn id="1763"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785" name="Google Shape;1785;p71"/>
          <p:cNvCxnSpPr>
            <a:stCxn id="1762" idx="7"/>
            <a:endCxn id="1763"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1786" name="Google Shape;1786;p71"/>
          <p:cNvCxnSpPr>
            <a:stCxn id="1762" idx="2"/>
            <a:endCxn id="1760" idx="6"/>
          </p:cNvCxnSpPr>
          <p:nvPr/>
        </p:nvCxnSpPr>
        <p:spPr>
          <a:xfrm rot="10800000">
            <a:off x="4137188" y="3615625"/>
            <a:ext cx="785700" cy="0"/>
          </a:xfrm>
          <a:prstGeom prst="straightConnector1">
            <a:avLst/>
          </a:prstGeom>
          <a:noFill/>
          <a:ln cap="flat" cmpd="sng" w="28575">
            <a:solidFill>
              <a:srgbClr val="FF0000"/>
            </a:solidFill>
            <a:prstDash val="solid"/>
            <a:round/>
            <a:headEnd len="med" w="med" type="none"/>
            <a:tailEnd len="med" w="med" type="none"/>
          </a:ln>
        </p:spPr>
      </p:cxnSp>
      <p:cxnSp>
        <p:nvCxnSpPr>
          <p:cNvPr id="1787" name="Google Shape;1787;p71"/>
          <p:cNvCxnSpPr>
            <a:stCxn id="1761" idx="0"/>
            <a:endCxn id="1760"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788" name="Google Shape;1788;p71"/>
          <p:cNvCxnSpPr>
            <a:stCxn id="1760" idx="3"/>
            <a:endCxn id="1759"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1789" name="Google Shape;1789;p71"/>
          <p:cNvCxnSpPr>
            <a:stCxn id="1758" idx="5"/>
            <a:endCxn id="1759"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790" name="Google Shape;1790;p71"/>
          <p:cNvCxnSpPr>
            <a:stCxn id="1755" idx="4"/>
            <a:endCxn id="1758"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791" name="Google Shape;1791;p71"/>
          <p:cNvCxnSpPr>
            <a:stCxn id="1760" idx="1"/>
            <a:endCxn id="1755" idx="4"/>
          </p:cNvCxnSpPr>
          <p:nvPr/>
        </p:nvCxnSpPr>
        <p:spPr>
          <a:xfrm rot="10800000">
            <a:off x="3283732" y="2777218"/>
            <a:ext cx="392100" cy="647700"/>
          </a:xfrm>
          <a:prstGeom prst="straightConnector1">
            <a:avLst/>
          </a:prstGeom>
          <a:noFill/>
          <a:ln cap="flat" cmpd="sng" w="28575">
            <a:solidFill>
              <a:srgbClr val="FF0000"/>
            </a:solidFill>
            <a:prstDash val="solid"/>
            <a:round/>
            <a:headEnd len="med" w="med" type="none"/>
            <a:tailEnd len="med" w="med" type="none"/>
          </a:ln>
        </p:spPr>
      </p:cxnSp>
      <p:cxnSp>
        <p:nvCxnSpPr>
          <p:cNvPr id="1792" name="Google Shape;1792;p71"/>
          <p:cNvCxnSpPr>
            <a:stCxn id="1758" idx="2"/>
            <a:endCxn id="1757"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793" name="Google Shape;1793;p71"/>
          <p:cNvCxnSpPr>
            <a:stCxn id="1758" idx="0"/>
            <a:endCxn id="1756"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794" name="Google Shape;1794;p71"/>
          <p:cNvCxnSpPr>
            <a:stCxn id="1756" idx="3"/>
            <a:endCxn id="1757"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795" name="Google Shape;1795;p71"/>
          <p:cNvCxnSpPr>
            <a:stCxn id="1753" idx="4"/>
            <a:endCxn id="1757"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796" name="Google Shape;1796;p71"/>
          <p:cNvCxnSpPr>
            <a:stCxn id="1754" idx="2"/>
            <a:endCxn id="1753"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797" name="Google Shape;1797;p71"/>
          <p:cNvCxnSpPr>
            <a:stCxn id="1754" idx="3"/>
            <a:endCxn id="1756"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798" name="Google Shape;1798;p71"/>
          <p:cNvCxnSpPr>
            <a:stCxn id="1755" idx="2"/>
            <a:endCxn id="1753" idx="6"/>
          </p:cNvCxnSpPr>
          <p:nvPr/>
        </p:nvCxnSpPr>
        <p:spPr>
          <a:xfrm rot="10800000">
            <a:off x="886925" y="2170863"/>
            <a:ext cx="2126400" cy="336600"/>
          </a:xfrm>
          <a:prstGeom prst="straightConnector1">
            <a:avLst/>
          </a:prstGeom>
          <a:noFill/>
          <a:ln cap="flat" cmpd="sng" w="28575">
            <a:solidFill>
              <a:srgbClr val="FF0000"/>
            </a:solidFill>
            <a:prstDash val="solid"/>
            <a:round/>
            <a:headEnd len="med" w="med" type="none"/>
            <a:tailEnd len="med" w="med" type="none"/>
          </a:ln>
        </p:spPr>
      </p:cxnSp>
      <p:cxnSp>
        <p:nvCxnSpPr>
          <p:cNvPr id="1799" name="Google Shape;1799;p71"/>
          <p:cNvCxnSpPr>
            <a:stCxn id="1755" idx="1"/>
            <a:endCxn id="1754"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800" name="Google Shape;1800;p71"/>
          <p:cNvCxnSpPr>
            <a:stCxn id="1755" idx="2"/>
            <a:endCxn id="1756"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801" name="Google Shape;1801;p71"/>
          <p:cNvCxnSpPr>
            <a:stCxn id="1756" idx="1"/>
            <a:endCxn id="1753"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802" name="Google Shape;1802;p71"/>
          <p:cNvCxnSpPr>
            <a:stCxn id="1764" idx="6"/>
            <a:endCxn id="1769" idx="3"/>
          </p:cNvCxnSpPr>
          <p:nvPr/>
        </p:nvCxnSpPr>
        <p:spPr>
          <a:xfrm flipH="1" rot="10800000">
            <a:off x="6630088" y="2957725"/>
            <a:ext cx="555000" cy="657900"/>
          </a:xfrm>
          <a:prstGeom prst="straightConnector1">
            <a:avLst/>
          </a:prstGeom>
          <a:noFill/>
          <a:ln cap="flat" cmpd="sng" w="28575">
            <a:solidFill>
              <a:srgbClr val="FF0000"/>
            </a:solidFill>
            <a:prstDash val="solid"/>
            <a:round/>
            <a:headEnd len="med" w="med" type="none"/>
            <a:tailEnd len="med" w="med" type="none"/>
          </a:ln>
        </p:spPr>
      </p:cxnSp>
      <p:sp>
        <p:nvSpPr>
          <p:cNvPr id="1803" name="Google Shape;1803;p71"/>
          <p:cNvSpPr/>
          <p:nvPr/>
        </p:nvSpPr>
        <p:spPr>
          <a:xfrm>
            <a:off x="3776375" y="1033950"/>
            <a:ext cx="1725600" cy="20028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Node s is far away from most other nodes!</a:t>
            </a:r>
            <a:endParaRPr b="1">
              <a:solidFill>
                <a:srgbClr val="FF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7" name="Shape 1807"/>
        <p:cNvGrpSpPr/>
        <p:nvPr/>
      </p:nvGrpSpPr>
      <p:grpSpPr>
        <a:xfrm>
          <a:off x="0" y="0"/>
          <a:ext cx="0" cy="0"/>
          <a:chOff x="0" y="0"/>
          <a:chExt cx="0" cy="0"/>
        </a:xfrm>
      </p:grpSpPr>
      <p:sp>
        <p:nvSpPr>
          <p:cNvPr id="1808" name="Google Shape;1808;p72"/>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809" name="Google Shape;1809;p72"/>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810" name="Google Shape;1810;p72"/>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811" name="Google Shape;1811;p72"/>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812" name="Google Shape;1812;p72"/>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813" name="Google Shape;1813;p72"/>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814" name="Google Shape;1814;p72"/>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815" name="Google Shape;1815;p72"/>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816" name="Google Shape;1816;p72"/>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817" name="Google Shape;1817;p72"/>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818" name="Google Shape;1818;p72"/>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819" name="Google Shape;1819;p72"/>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820" name="Google Shape;1820;p72"/>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821" name="Google Shape;1821;p72"/>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822" name="Google Shape;1822;p72"/>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823" name="Google Shape;1823;p72"/>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824" name="Google Shape;1824;p72"/>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825" name="Google Shape;1825;p72"/>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826" name="Google Shape;1826;p72"/>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827" name="Google Shape;1827;p72"/>
          <p:cNvCxnSpPr>
            <a:stCxn id="1826" idx="2"/>
            <a:endCxn id="1825"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828" name="Google Shape;1828;p72"/>
          <p:cNvCxnSpPr>
            <a:stCxn id="1824" idx="0"/>
            <a:endCxn id="1825"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829" name="Google Shape;1829;p72"/>
          <p:cNvCxnSpPr>
            <a:stCxn id="1823" idx="2"/>
            <a:endCxn id="1824"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830" name="Google Shape;1830;p72"/>
          <p:cNvCxnSpPr>
            <a:stCxn id="1823" idx="2"/>
            <a:endCxn id="1819"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831" name="Google Shape;1831;p72"/>
          <p:cNvCxnSpPr>
            <a:stCxn id="1823" idx="2"/>
            <a:endCxn id="1822"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832" name="Google Shape;1832;p72"/>
          <p:cNvCxnSpPr>
            <a:stCxn id="1822" idx="2"/>
            <a:endCxn id="1819"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833" name="Google Shape;1833;p72"/>
          <p:cNvCxnSpPr>
            <a:stCxn id="1822" idx="1"/>
            <a:endCxn id="1818"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834" name="Google Shape;1834;p72"/>
          <p:cNvCxnSpPr>
            <a:stCxn id="1821" idx="0"/>
            <a:endCxn id="1819"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835" name="Google Shape;1835;p72"/>
          <p:cNvCxnSpPr>
            <a:stCxn id="1820" idx="7"/>
            <a:endCxn id="1819"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836" name="Google Shape;1836;p72"/>
          <p:cNvCxnSpPr>
            <a:stCxn id="1821" idx="1"/>
            <a:endCxn id="1820"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837" name="Google Shape;1837;p72"/>
          <p:cNvCxnSpPr>
            <a:stCxn id="1819" idx="2"/>
            <a:endCxn id="1817"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838" name="Google Shape;1838;p72"/>
          <p:cNvCxnSpPr>
            <a:stCxn id="1820" idx="0"/>
            <a:endCxn id="1817"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839" name="Google Shape;1839;p72"/>
          <p:cNvCxnSpPr>
            <a:stCxn id="1819" idx="0"/>
            <a:endCxn id="1818"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840" name="Google Shape;1840;p72"/>
          <p:cNvCxnSpPr>
            <a:stCxn id="1817" idx="7"/>
            <a:endCxn id="1818"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1841" name="Google Shape;1841;p72"/>
          <p:cNvCxnSpPr>
            <a:stCxn id="1817" idx="2"/>
            <a:endCxn id="1815"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1842" name="Google Shape;1842;p72"/>
          <p:cNvCxnSpPr>
            <a:stCxn id="1816" idx="0"/>
            <a:endCxn id="1815"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843" name="Google Shape;1843;p72"/>
          <p:cNvCxnSpPr>
            <a:stCxn id="1815" idx="3"/>
            <a:endCxn id="1814"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1844" name="Google Shape;1844;p72"/>
          <p:cNvCxnSpPr>
            <a:stCxn id="1813" idx="5"/>
            <a:endCxn id="1814"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845" name="Google Shape;1845;p72"/>
          <p:cNvCxnSpPr>
            <a:stCxn id="1810" idx="4"/>
            <a:endCxn id="1813"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846" name="Google Shape;1846;p72"/>
          <p:cNvCxnSpPr>
            <a:stCxn id="1815" idx="1"/>
            <a:endCxn id="1810"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847" name="Google Shape;1847;p72"/>
          <p:cNvCxnSpPr>
            <a:stCxn id="1813" idx="2"/>
            <a:endCxn id="1812"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848" name="Google Shape;1848;p72"/>
          <p:cNvCxnSpPr>
            <a:stCxn id="1813" idx="0"/>
            <a:endCxn id="1811"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849" name="Google Shape;1849;p72"/>
          <p:cNvCxnSpPr>
            <a:stCxn id="1811" idx="3"/>
            <a:endCxn id="1812"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850" name="Google Shape;1850;p72"/>
          <p:cNvCxnSpPr>
            <a:stCxn id="1808" idx="4"/>
            <a:endCxn id="1812"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851" name="Google Shape;1851;p72"/>
          <p:cNvCxnSpPr>
            <a:stCxn id="1809" idx="2"/>
            <a:endCxn id="1808"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852" name="Google Shape;1852;p72"/>
          <p:cNvCxnSpPr>
            <a:stCxn id="1809" idx="3"/>
            <a:endCxn id="1811"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853" name="Google Shape;1853;p72"/>
          <p:cNvCxnSpPr>
            <a:stCxn id="1810" idx="2"/>
            <a:endCxn id="1808"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854" name="Google Shape;1854;p72"/>
          <p:cNvCxnSpPr>
            <a:stCxn id="1810" idx="1"/>
            <a:endCxn id="1809"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855" name="Google Shape;1855;p72"/>
          <p:cNvCxnSpPr>
            <a:stCxn id="1810" idx="2"/>
            <a:endCxn id="1811"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856" name="Google Shape;1856;p72"/>
          <p:cNvCxnSpPr>
            <a:stCxn id="1811" idx="1"/>
            <a:endCxn id="1808"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857" name="Google Shape;1857;p72"/>
          <p:cNvCxnSpPr>
            <a:stCxn id="1819" idx="6"/>
            <a:endCxn id="1824"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graphicFrame>
        <p:nvGraphicFramePr>
          <p:cNvPr id="1858" name="Google Shape;1858;p72"/>
          <p:cNvGraphicFramePr/>
          <p:nvPr/>
        </p:nvGraphicFramePr>
        <p:xfrm>
          <a:off x="633450" y="236375"/>
          <a:ext cx="3000000" cy="3000000"/>
        </p:xfrm>
        <a:graphic>
          <a:graphicData uri="http://schemas.openxmlformats.org/drawingml/2006/table">
            <a:tbl>
              <a:tblPr>
                <a:noFill/>
                <a:tableStyleId>{D533A967-1B24-4C1F-A5BD-666CA7F43D67}</a:tableStyleId>
              </a:tblPr>
              <a:tblGrid>
                <a:gridCol w="414800"/>
                <a:gridCol w="414800"/>
                <a:gridCol w="414800"/>
                <a:gridCol w="414800"/>
                <a:gridCol w="326800"/>
                <a:gridCol w="414800"/>
                <a:gridCol w="414800"/>
                <a:gridCol w="414800"/>
                <a:gridCol w="414800"/>
                <a:gridCol w="414800"/>
                <a:gridCol w="414800"/>
                <a:gridCol w="414800"/>
                <a:gridCol w="414800"/>
                <a:gridCol w="414800"/>
                <a:gridCol w="414800"/>
                <a:gridCol w="414800"/>
                <a:gridCol w="414800"/>
                <a:gridCol w="414800"/>
                <a:gridCol w="414800"/>
              </a:tblGrid>
              <a:tr h="314700">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a</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b</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c</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d</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e</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f</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g</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h</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i</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j</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k</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l</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m</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n</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o</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p</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q</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r</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s</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14700">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0.24</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0.29</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0.33</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0.30</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0.29</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0.30</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0.37</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0.43</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0.44</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0.41</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0.31</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0.32</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0.32</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0.36</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0.30</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0.36</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0.25</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0.31</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0.20</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descr="C_{clos}(i)=\frac{(N-1)}{\sum_j^{ }d_{ij}}&#10;%39cfe88f-89f9-4ab1-acdf-1c885009498c" id="1859" name="Google Shape;1859;p72"/>
          <p:cNvPicPr preferRelativeResize="0"/>
          <p:nvPr/>
        </p:nvPicPr>
        <p:blipFill>
          <a:blip r:embed="rId3">
            <a:alphaModFix/>
          </a:blip>
          <a:stretch>
            <a:fillRect/>
          </a:stretch>
        </p:blipFill>
        <p:spPr>
          <a:xfrm>
            <a:off x="3720175" y="1467550"/>
            <a:ext cx="1752600" cy="4381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3" name="Shape 1863"/>
        <p:cNvGrpSpPr/>
        <p:nvPr/>
      </p:nvGrpSpPr>
      <p:grpSpPr>
        <a:xfrm>
          <a:off x="0" y="0"/>
          <a:ext cx="0" cy="0"/>
          <a:chOff x="0" y="0"/>
          <a:chExt cx="0" cy="0"/>
        </a:xfrm>
      </p:grpSpPr>
      <p:sp>
        <p:nvSpPr>
          <p:cNvPr id="1864" name="Google Shape;1864;p73"/>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865" name="Google Shape;1865;p73"/>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866" name="Google Shape;1866;p73"/>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867" name="Google Shape;1867;p73"/>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868" name="Google Shape;1868;p73"/>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869" name="Google Shape;1869;p73"/>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870" name="Google Shape;1870;p73"/>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871" name="Google Shape;1871;p73"/>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872" name="Google Shape;1872;p73"/>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873" name="Google Shape;1873;p73"/>
          <p:cNvSpPr/>
          <p:nvPr/>
        </p:nvSpPr>
        <p:spPr>
          <a:xfrm>
            <a:off x="4922888" y="3345925"/>
            <a:ext cx="540600" cy="539400"/>
          </a:xfrm>
          <a:prstGeom prst="ellipse">
            <a:avLst/>
          </a:prstGeom>
          <a:solidFill>
            <a:srgbClr val="EA9999"/>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874" name="Google Shape;1874;p73"/>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875" name="Google Shape;1875;p73"/>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876" name="Google Shape;1876;p73"/>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877" name="Google Shape;1877;p73"/>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878" name="Google Shape;1878;p73"/>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879" name="Google Shape;1879;p73"/>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880" name="Google Shape;1880;p73"/>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881" name="Google Shape;1881;p73"/>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882" name="Google Shape;1882;p73"/>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883" name="Google Shape;1883;p73"/>
          <p:cNvCxnSpPr>
            <a:stCxn id="1882" idx="2"/>
            <a:endCxn id="1881"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884" name="Google Shape;1884;p73"/>
          <p:cNvCxnSpPr>
            <a:stCxn id="1880" idx="0"/>
            <a:endCxn id="1881"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885" name="Google Shape;1885;p73"/>
          <p:cNvCxnSpPr>
            <a:stCxn id="1879" idx="2"/>
            <a:endCxn id="1880"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886" name="Google Shape;1886;p73"/>
          <p:cNvCxnSpPr>
            <a:stCxn id="1879" idx="2"/>
            <a:endCxn id="1875"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887" name="Google Shape;1887;p73"/>
          <p:cNvCxnSpPr>
            <a:stCxn id="1879" idx="2"/>
            <a:endCxn id="1878"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888" name="Google Shape;1888;p73"/>
          <p:cNvCxnSpPr>
            <a:stCxn id="1878" idx="2"/>
            <a:endCxn id="1875"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889" name="Google Shape;1889;p73"/>
          <p:cNvCxnSpPr>
            <a:stCxn id="1878" idx="1"/>
            <a:endCxn id="1874"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890" name="Google Shape;1890;p73"/>
          <p:cNvCxnSpPr>
            <a:stCxn id="1877" idx="0"/>
            <a:endCxn id="1875"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891" name="Google Shape;1891;p73"/>
          <p:cNvCxnSpPr>
            <a:stCxn id="1876" idx="7"/>
            <a:endCxn id="1875"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892" name="Google Shape;1892;p73"/>
          <p:cNvCxnSpPr>
            <a:stCxn id="1877" idx="1"/>
            <a:endCxn id="1876"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893" name="Google Shape;1893;p73"/>
          <p:cNvCxnSpPr>
            <a:stCxn id="1875" idx="2"/>
            <a:endCxn id="1873"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894" name="Google Shape;1894;p73"/>
          <p:cNvCxnSpPr>
            <a:stCxn id="1876" idx="0"/>
            <a:endCxn id="1873"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895" name="Google Shape;1895;p73"/>
          <p:cNvCxnSpPr>
            <a:stCxn id="1875" idx="0"/>
            <a:endCxn id="1874"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896" name="Google Shape;1896;p73"/>
          <p:cNvCxnSpPr>
            <a:stCxn id="1873" idx="7"/>
            <a:endCxn id="1874"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1897" name="Google Shape;1897;p73"/>
          <p:cNvCxnSpPr>
            <a:stCxn id="1873" idx="2"/>
            <a:endCxn id="1871"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1898" name="Google Shape;1898;p73"/>
          <p:cNvCxnSpPr>
            <a:stCxn id="1872" idx="0"/>
            <a:endCxn id="1871"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899" name="Google Shape;1899;p73"/>
          <p:cNvCxnSpPr>
            <a:stCxn id="1871" idx="3"/>
            <a:endCxn id="1870"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1900" name="Google Shape;1900;p73"/>
          <p:cNvCxnSpPr>
            <a:stCxn id="1869" idx="5"/>
            <a:endCxn id="1870"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901" name="Google Shape;1901;p73"/>
          <p:cNvCxnSpPr>
            <a:stCxn id="1866" idx="4"/>
            <a:endCxn id="1869"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902" name="Google Shape;1902;p73"/>
          <p:cNvCxnSpPr>
            <a:stCxn id="1871" idx="1"/>
            <a:endCxn id="1866"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903" name="Google Shape;1903;p73"/>
          <p:cNvCxnSpPr>
            <a:stCxn id="1869" idx="2"/>
            <a:endCxn id="1868"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904" name="Google Shape;1904;p73"/>
          <p:cNvCxnSpPr>
            <a:stCxn id="1869" idx="0"/>
            <a:endCxn id="1867"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905" name="Google Shape;1905;p73"/>
          <p:cNvCxnSpPr>
            <a:stCxn id="1867" idx="3"/>
            <a:endCxn id="1868"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906" name="Google Shape;1906;p73"/>
          <p:cNvCxnSpPr>
            <a:stCxn id="1864" idx="4"/>
            <a:endCxn id="1868"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907" name="Google Shape;1907;p73"/>
          <p:cNvCxnSpPr>
            <a:stCxn id="1865" idx="2"/>
            <a:endCxn id="1864"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908" name="Google Shape;1908;p73"/>
          <p:cNvCxnSpPr>
            <a:stCxn id="1865" idx="3"/>
            <a:endCxn id="1867"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909" name="Google Shape;1909;p73"/>
          <p:cNvCxnSpPr>
            <a:stCxn id="1866" idx="2"/>
            <a:endCxn id="1864"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910" name="Google Shape;1910;p73"/>
          <p:cNvCxnSpPr>
            <a:stCxn id="1866" idx="1"/>
            <a:endCxn id="1865"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911" name="Google Shape;1911;p73"/>
          <p:cNvCxnSpPr>
            <a:stCxn id="1866" idx="2"/>
            <a:endCxn id="1867"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912" name="Google Shape;1912;p73"/>
          <p:cNvCxnSpPr>
            <a:stCxn id="1867" idx="1"/>
            <a:endCxn id="1864"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913" name="Google Shape;1913;p73"/>
          <p:cNvCxnSpPr>
            <a:stCxn id="1875" idx="6"/>
            <a:endCxn id="1880"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graphicFrame>
        <p:nvGraphicFramePr>
          <p:cNvPr id="1914" name="Google Shape;1914;p73"/>
          <p:cNvGraphicFramePr/>
          <p:nvPr/>
        </p:nvGraphicFramePr>
        <p:xfrm>
          <a:off x="633450" y="236375"/>
          <a:ext cx="3000000" cy="3000000"/>
        </p:xfrm>
        <a:graphic>
          <a:graphicData uri="http://schemas.openxmlformats.org/drawingml/2006/table">
            <a:tbl>
              <a:tblPr>
                <a:noFill/>
                <a:tableStyleId>{D533A967-1B24-4C1F-A5BD-666CA7F43D67}</a:tableStyleId>
              </a:tblPr>
              <a:tblGrid>
                <a:gridCol w="414800"/>
                <a:gridCol w="414800"/>
                <a:gridCol w="414800"/>
                <a:gridCol w="414800"/>
                <a:gridCol w="326800"/>
                <a:gridCol w="414800"/>
                <a:gridCol w="414800"/>
                <a:gridCol w="414800"/>
                <a:gridCol w="414800"/>
                <a:gridCol w="414800"/>
                <a:gridCol w="414800"/>
                <a:gridCol w="414800"/>
                <a:gridCol w="414800"/>
                <a:gridCol w="414800"/>
                <a:gridCol w="414800"/>
                <a:gridCol w="414800"/>
                <a:gridCol w="414800"/>
                <a:gridCol w="414800"/>
                <a:gridCol w="414800"/>
              </a:tblGrid>
              <a:tr h="314700">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a</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b</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c</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d</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e</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f</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g</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h</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i</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j</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k</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l</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m</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n</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o</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p</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q</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r</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s</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14700">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0.24</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0.29</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0.33</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0.30</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0.29</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0.30</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0.37</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0.43</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0.44</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0.41</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0.31</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0.32</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0.32</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0.36</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0.30</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0.36</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0.25</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0.31</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0.20</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descr="C_{clos}(i)=\frac{(N-1)}{\sum_j^{ }d_{ij}}&#10;%39cfe88f-89f9-4ab1-acdf-1c885009498c" id="1915" name="Google Shape;1915;p73"/>
          <p:cNvPicPr preferRelativeResize="0"/>
          <p:nvPr/>
        </p:nvPicPr>
        <p:blipFill>
          <a:blip r:embed="rId3">
            <a:alphaModFix/>
          </a:blip>
          <a:stretch>
            <a:fillRect/>
          </a:stretch>
        </p:blipFill>
        <p:spPr>
          <a:xfrm>
            <a:off x="3720175" y="1467550"/>
            <a:ext cx="1752600" cy="4381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9" name="Shape 1919"/>
        <p:cNvGrpSpPr/>
        <p:nvPr/>
      </p:nvGrpSpPr>
      <p:grpSpPr>
        <a:xfrm>
          <a:off x="0" y="0"/>
          <a:ext cx="0" cy="0"/>
          <a:chOff x="0" y="0"/>
          <a:chExt cx="0" cy="0"/>
        </a:xfrm>
      </p:grpSpPr>
      <p:sp>
        <p:nvSpPr>
          <p:cNvPr id="1920" name="Google Shape;1920;p74"/>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921" name="Google Shape;1921;p74"/>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922" name="Google Shape;1922;p74"/>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923" name="Google Shape;1923;p74"/>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924" name="Google Shape;1924;p74"/>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925" name="Google Shape;1925;p74"/>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926" name="Google Shape;1926;p74"/>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927" name="Google Shape;1927;p74"/>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928" name="Google Shape;1928;p74"/>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929" name="Google Shape;1929;p74"/>
          <p:cNvSpPr/>
          <p:nvPr/>
        </p:nvSpPr>
        <p:spPr>
          <a:xfrm>
            <a:off x="4922888" y="3345925"/>
            <a:ext cx="540600" cy="539400"/>
          </a:xfrm>
          <a:prstGeom prst="ellipse">
            <a:avLst/>
          </a:prstGeom>
          <a:solidFill>
            <a:srgbClr val="EA9999"/>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930" name="Google Shape;1930;p74"/>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931" name="Google Shape;1931;p74"/>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932" name="Google Shape;1932;p74"/>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933" name="Google Shape;1933;p74"/>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934" name="Google Shape;1934;p74"/>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935" name="Google Shape;1935;p74"/>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936" name="Google Shape;1936;p74"/>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937" name="Google Shape;1937;p74"/>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938" name="Google Shape;1938;p74"/>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939" name="Google Shape;1939;p74"/>
          <p:cNvCxnSpPr>
            <a:stCxn id="1938" idx="2"/>
            <a:endCxn id="1937"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940" name="Google Shape;1940;p74"/>
          <p:cNvCxnSpPr>
            <a:stCxn id="1936" idx="0"/>
            <a:endCxn id="1937"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941" name="Google Shape;1941;p74"/>
          <p:cNvCxnSpPr>
            <a:stCxn id="1935" idx="2"/>
            <a:endCxn id="1936"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942" name="Google Shape;1942;p74"/>
          <p:cNvCxnSpPr>
            <a:stCxn id="1935" idx="2"/>
            <a:endCxn id="1931"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943" name="Google Shape;1943;p74"/>
          <p:cNvCxnSpPr>
            <a:stCxn id="1935" idx="2"/>
            <a:endCxn id="1934"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944" name="Google Shape;1944;p74"/>
          <p:cNvCxnSpPr>
            <a:stCxn id="1934" idx="2"/>
            <a:endCxn id="1931"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945" name="Google Shape;1945;p74"/>
          <p:cNvCxnSpPr>
            <a:stCxn id="1934" idx="1"/>
            <a:endCxn id="1930"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946" name="Google Shape;1946;p74"/>
          <p:cNvCxnSpPr>
            <a:stCxn id="1933" idx="0"/>
            <a:endCxn id="1931"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947" name="Google Shape;1947;p74"/>
          <p:cNvCxnSpPr>
            <a:stCxn id="1932" idx="7"/>
            <a:endCxn id="1931"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948" name="Google Shape;1948;p74"/>
          <p:cNvCxnSpPr>
            <a:stCxn id="1933" idx="1"/>
            <a:endCxn id="1932"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949" name="Google Shape;1949;p74"/>
          <p:cNvCxnSpPr>
            <a:stCxn id="1931" idx="2"/>
            <a:endCxn id="1929"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950" name="Google Shape;1950;p74"/>
          <p:cNvCxnSpPr>
            <a:stCxn id="1932" idx="0"/>
            <a:endCxn id="1929"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951" name="Google Shape;1951;p74"/>
          <p:cNvCxnSpPr>
            <a:stCxn id="1931" idx="0"/>
            <a:endCxn id="1930"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952" name="Google Shape;1952;p74"/>
          <p:cNvCxnSpPr>
            <a:stCxn id="1929" idx="7"/>
            <a:endCxn id="1930"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1953" name="Google Shape;1953;p74"/>
          <p:cNvCxnSpPr>
            <a:stCxn id="1929" idx="2"/>
            <a:endCxn id="1927"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1954" name="Google Shape;1954;p74"/>
          <p:cNvCxnSpPr>
            <a:stCxn id="1928" idx="0"/>
            <a:endCxn id="1927"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955" name="Google Shape;1955;p74"/>
          <p:cNvCxnSpPr>
            <a:stCxn id="1927" idx="3"/>
            <a:endCxn id="1926"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1956" name="Google Shape;1956;p74"/>
          <p:cNvCxnSpPr>
            <a:stCxn id="1925" idx="5"/>
            <a:endCxn id="1926"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957" name="Google Shape;1957;p74"/>
          <p:cNvCxnSpPr>
            <a:stCxn id="1922" idx="4"/>
            <a:endCxn id="1925"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958" name="Google Shape;1958;p74"/>
          <p:cNvCxnSpPr>
            <a:stCxn id="1927" idx="1"/>
            <a:endCxn id="1922"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959" name="Google Shape;1959;p74"/>
          <p:cNvCxnSpPr>
            <a:stCxn id="1925" idx="2"/>
            <a:endCxn id="1924"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960" name="Google Shape;1960;p74"/>
          <p:cNvCxnSpPr>
            <a:stCxn id="1925" idx="0"/>
            <a:endCxn id="1923"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961" name="Google Shape;1961;p74"/>
          <p:cNvCxnSpPr>
            <a:stCxn id="1923" idx="3"/>
            <a:endCxn id="1924"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962" name="Google Shape;1962;p74"/>
          <p:cNvCxnSpPr>
            <a:stCxn id="1920" idx="4"/>
            <a:endCxn id="1924"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963" name="Google Shape;1963;p74"/>
          <p:cNvCxnSpPr>
            <a:stCxn id="1921" idx="2"/>
            <a:endCxn id="1920"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964" name="Google Shape;1964;p74"/>
          <p:cNvCxnSpPr>
            <a:stCxn id="1921" idx="3"/>
            <a:endCxn id="1923"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965" name="Google Shape;1965;p74"/>
          <p:cNvCxnSpPr>
            <a:stCxn id="1922" idx="2"/>
            <a:endCxn id="1920"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966" name="Google Shape;1966;p74"/>
          <p:cNvCxnSpPr>
            <a:stCxn id="1922" idx="1"/>
            <a:endCxn id="1921"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967" name="Google Shape;1967;p74"/>
          <p:cNvCxnSpPr>
            <a:stCxn id="1922" idx="2"/>
            <a:endCxn id="1923"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968" name="Google Shape;1968;p74"/>
          <p:cNvCxnSpPr>
            <a:stCxn id="1923" idx="1"/>
            <a:endCxn id="1920"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969" name="Google Shape;1969;p74"/>
          <p:cNvCxnSpPr>
            <a:stCxn id="1931" idx="6"/>
            <a:endCxn id="1936"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graphicFrame>
        <p:nvGraphicFramePr>
          <p:cNvPr id="1970" name="Google Shape;1970;p74"/>
          <p:cNvGraphicFramePr/>
          <p:nvPr/>
        </p:nvGraphicFramePr>
        <p:xfrm>
          <a:off x="633450" y="236375"/>
          <a:ext cx="3000000" cy="3000000"/>
        </p:xfrm>
        <a:graphic>
          <a:graphicData uri="http://schemas.openxmlformats.org/drawingml/2006/table">
            <a:tbl>
              <a:tblPr>
                <a:noFill/>
                <a:tableStyleId>{D533A967-1B24-4C1F-A5BD-666CA7F43D67}</a:tableStyleId>
              </a:tblPr>
              <a:tblGrid>
                <a:gridCol w="414800"/>
                <a:gridCol w="414800"/>
                <a:gridCol w="414800"/>
                <a:gridCol w="414800"/>
                <a:gridCol w="326800"/>
                <a:gridCol w="414800"/>
                <a:gridCol w="414800"/>
                <a:gridCol w="414800"/>
                <a:gridCol w="414800"/>
                <a:gridCol w="414800"/>
                <a:gridCol w="414800"/>
                <a:gridCol w="414800"/>
                <a:gridCol w="414800"/>
                <a:gridCol w="414800"/>
                <a:gridCol w="414800"/>
                <a:gridCol w="414800"/>
                <a:gridCol w="414800"/>
                <a:gridCol w="414800"/>
                <a:gridCol w="414800"/>
              </a:tblGrid>
              <a:tr h="314700">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a</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b</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c</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d</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e</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f</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g</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h</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i</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j</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k</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l</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m</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n</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o</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p</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q</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r</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s</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14700">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0.24</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0.29</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0.33</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0.30</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0.29</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0.30</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0.37</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0.43</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0.44</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0.41</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0.31</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0.32</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0.32</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0.36</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0.30</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0.36</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0.25</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0.31</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0.20</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descr="C_{clos}(i)=\frac{(N-1)}{\sum_j^{ }d_{ij}}&#10;%39cfe88f-89f9-4ab1-acdf-1c885009498c" id="1971" name="Google Shape;1971;p74"/>
          <p:cNvPicPr preferRelativeResize="0"/>
          <p:nvPr/>
        </p:nvPicPr>
        <p:blipFill>
          <a:blip r:embed="rId3">
            <a:alphaModFix/>
          </a:blip>
          <a:stretch>
            <a:fillRect/>
          </a:stretch>
        </p:blipFill>
        <p:spPr>
          <a:xfrm>
            <a:off x="3720175" y="1467550"/>
            <a:ext cx="1752600" cy="438150"/>
          </a:xfrm>
          <a:prstGeom prst="rect">
            <a:avLst/>
          </a:prstGeom>
          <a:noFill/>
          <a:ln>
            <a:noFill/>
          </a:ln>
        </p:spPr>
      </p:pic>
      <p:sp>
        <p:nvSpPr>
          <p:cNvPr id="1972" name="Google Shape;1972;p74"/>
          <p:cNvSpPr/>
          <p:nvPr/>
        </p:nvSpPr>
        <p:spPr>
          <a:xfrm>
            <a:off x="61325" y="2057325"/>
            <a:ext cx="2952000" cy="20028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In this graph, node i node has the largest closeness centrality even though it doesn’t have the largest degree!</a:t>
            </a:r>
            <a:endParaRPr b="1">
              <a:solidFill>
                <a:srgbClr val="FF000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6" name="Shape 1976"/>
        <p:cNvGrpSpPr/>
        <p:nvPr/>
      </p:nvGrpSpPr>
      <p:grpSpPr>
        <a:xfrm>
          <a:off x="0" y="0"/>
          <a:ext cx="0" cy="0"/>
          <a:chOff x="0" y="0"/>
          <a:chExt cx="0" cy="0"/>
        </a:xfrm>
      </p:grpSpPr>
      <p:sp>
        <p:nvSpPr>
          <p:cNvPr id="1977" name="Google Shape;1977;p75"/>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978" name="Google Shape;1978;p75"/>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979" name="Google Shape;1979;p75"/>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980" name="Google Shape;1980;p75"/>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981" name="Google Shape;1981;p75"/>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982" name="Google Shape;1982;p75"/>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983" name="Google Shape;1983;p75"/>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984" name="Google Shape;1984;p75"/>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985" name="Google Shape;1985;p75"/>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986" name="Google Shape;1986;p75"/>
          <p:cNvSpPr/>
          <p:nvPr/>
        </p:nvSpPr>
        <p:spPr>
          <a:xfrm>
            <a:off x="4922888" y="3345925"/>
            <a:ext cx="540600" cy="539400"/>
          </a:xfrm>
          <a:prstGeom prst="ellipse">
            <a:avLst/>
          </a:prstGeom>
          <a:solidFill>
            <a:srgbClr val="EA9999"/>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987" name="Google Shape;1987;p75"/>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988" name="Google Shape;1988;p75"/>
          <p:cNvSpPr/>
          <p:nvPr/>
        </p:nvSpPr>
        <p:spPr>
          <a:xfrm>
            <a:off x="6089488"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989" name="Google Shape;1989;p75"/>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990" name="Google Shape;1990;p75"/>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991" name="Google Shape;1991;p75"/>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992" name="Google Shape;1992;p75"/>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993" name="Google Shape;1993;p75"/>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994" name="Google Shape;1994;p75"/>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995" name="Google Shape;1995;p75"/>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996" name="Google Shape;1996;p75"/>
          <p:cNvCxnSpPr>
            <a:stCxn id="1995" idx="2"/>
            <a:endCxn id="1994"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997" name="Google Shape;1997;p75"/>
          <p:cNvCxnSpPr>
            <a:stCxn id="1993" idx="0"/>
            <a:endCxn id="1994"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998" name="Google Shape;1998;p75"/>
          <p:cNvCxnSpPr>
            <a:stCxn id="1992" idx="2"/>
            <a:endCxn id="1993"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999" name="Google Shape;1999;p75"/>
          <p:cNvCxnSpPr>
            <a:stCxn id="1992" idx="2"/>
            <a:endCxn id="1988"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2000" name="Google Shape;2000;p75"/>
          <p:cNvCxnSpPr>
            <a:stCxn id="1992" idx="2"/>
            <a:endCxn id="1991"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2001" name="Google Shape;2001;p75"/>
          <p:cNvCxnSpPr>
            <a:stCxn id="1991" idx="2"/>
            <a:endCxn id="1988"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2002" name="Google Shape;2002;p75"/>
          <p:cNvCxnSpPr>
            <a:stCxn id="1991" idx="1"/>
            <a:endCxn id="1987"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2003" name="Google Shape;2003;p75"/>
          <p:cNvCxnSpPr>
            <a:stCxn id="1990" idx="0"/>
            <a:endCxn id="1988"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2004" name="Google Shape;2004;p75"/>
          <p:cNvCxnSpPr>
            <a:stCxn id="1989" idx="7"/>
            <a:endCxn id="1988"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2005" name="Google Shape;2005;p75"/>
          <p:cNvCxnSpPr>
            <a:stCxn id="1990" idx="1"/>
            <a:endCxn id="1989"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2006" name="Google Shape;2006;p75"/>
          <p:cNvCxnSpPr>
            <a:stCxn id="1988" idx="2"/>
            <a:endCxn id="1986"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2007" name="Google Shape;2007;p75"/>
          <p:cNvCxnSpPr>
            <a:stCxn id="1989" idx="0"/>
            <a:endCxn id="1986"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2008" name="Google Shape;2008;p75"/>
          <p:cNvCxnSpPr>
            <a:stCxn id="1988" idx="0"/>
            <a:endCxn id="1987"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2009" name="Google Shape;2009;p75"/>
          <p:cNvCxnSpPr>
            <a:stCxn id="1986" idx="7"/>
            <a:endCxn id="1987"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2010" name="Google Shape;2010;p75"/>
          <p:cNvCxnSpPr>
            <a:stCxn id="1986" idx="2"/>
            <a:endCxn id="1984"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2011" name="Google Shape;2011;p75"/>
          <p:cNvCxnSpPr>
            <a:stCxn id="1985" idx="0"/>
            <a:endCxn id="1984"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2012" name="Google Shape;2012;p75"/>
          <p:cNvCxnSpPr>
            <a:stCxn id="1984" idx="3"/>
            <a:endCxn id="1983"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2013" name="Google Shape;2013;p75"/>
          <p:cNvCxnSpPr>
            <a:stCxn id="1982" idx="5"/>
            <a:endCxn id="1983"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2014" name="Google Shape;2014;p75"/>
          <p:cNvCxnSpPr>
            <a:stCxn id="1979" idx="4"/>
            <a:endCxn id="1982"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2015" name="Google Shape;2015;p75"/>
          <p:cNvCxnSpPr>
            <a:stCxn id="1984" idx="1"/>
            <a:endCxn id="1979"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2016" name="Google Shape;2016;p75"/>
          <p:cNvCxnSpPr>
            <a:stCxn id="1982" idx="2"/>
            <a:endCxn id="1981"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2017" name="Google Shape;2017;p75"/>
          <p:cNvCxnSpPr>
            <a:stCxn id="1982" idx="0"/>
            <a:endCxn id="1980"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2018" name="Google Shape;2018;p75"/>
          <p:cNvCxnSpPr>
            <a:stCxn id="1980" idx="3"/>
            <a:endCxn id="1981"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2019" name="Google Shape;2019;p75"/>
          <p:cNvCxnSpPr>
            <a:stCxn id="1977" idx="4"/>
            <a:endCxn id="1981"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2020" name="Google Shape;2020;p75"/>
          <p:cNvCxnSpPr>
            <a:stCxn id="1978" idx="2"/>
            <a:endCxn id="1977"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2021" name="Google Shape;2021;p75"/>
          <p:cNvCxnSpPr>
            <a:stCxn id="1978" idx="3"/>
            <a:endCxn id="1980"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2022" name="Google Shape;2022;p75"/>
          <p:cNvCxnSpPr>
            <a:stCxn id="1979" idx="2"/>
            <a:endCxn id="1977"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2023" name="Google Shape;2023;p75"/>
          <p:cNvCxnSpPr>
            <a:stCxn id="1979" idx="1"/>
            <a:endCxn id="1978"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2024" name="Google Shape;2024;p75"/>
          <p:cNvCxnSpPr>
            <a:stCxn id="1979" idx="2"/>
            <a:endCxn id="1980"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2025" name="Google Shape;2025;p75"/>
          <p:cNvCxnSpPr>
            <a:stCxn id="1980" idx="1"/>
            <a:endCxn id="1977"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2026" name="Google Shape;2026;p75"/>
          <p:cNvCxnSpPr>
            <a:stCxn id="1988" idx="6"/>
            <a:endCxn id="1993"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2027" name="Google Shape;2027;p75"/>
          <p:cNvSpPr/>
          <p:nvPr/>
        </p:nvSpPr>
        <p:spPr>
          <a:xfrm>
            <a:off x="61325" y="2057325"/>
            <a:ext cx="2952000" cy="20028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In this graph, node i node has the largest closeness centrality even though it doesn’t have the largest degree!</a:t>
            </a:r>
            <a:endParaRPr b="1">
              <a:solidFill>
                <a:srgbClr val="FF0000"/>
              </a:solidFill>
            </a:endParaRPr>
          </a:p>
        </p:txBody>
      </p:sp>
      <p:graphicFrame>
        <p:nvGraphicFramePr>
          <p:cNvPr id="2028" name="Google Shape;2028;p75"/>
          <p:cNvGraphicFramePr/>
          <p:nvPr/>
        </p:nvGraphicFramePr>
        <p:xfrm>
          <a:off x="633450" y="236375"/>
          <a:ext cx="3000000" cy="3000000"/>
        </p:xfrm>
        <a:graphic>
          <a:graphicData uri="http://schemas.openxmlformats.org/drawingml/2006/table">
            <a:tbl>
              <a:tblPr>
                <a:noFill/>
                <a:tableStyleId>{D533A967-1B24-4C1F-A5BD-666CA7F43D67}</a:tableStyleId>
              </a:tblPr>
              <a:tblGrid>
                <a:gridCol w="414800"/>
                <a:gridCol w="414800"/>
                <a:gridCol w="414800"/>
                <a:gridCol w="414800"/>
                <a:gridCol w="326800"/>
                <a:gridCol w="414800"/>
                <a:gridCol w="414800"/>
                <a:gridCol w="414800"/>
                <a:gridCol w="414800"/>
                <a:gridCol w="414800"/>
                <a:gridCol w="414800"/>
                <a:gridCol w="414800"/>
                <a:gridCol w="414800"/>
                <a:gridCol w="414800"/>
                <a:gridCol w="414800"/>
                <a:gridCol w="414800"/>
                <a:gridCol w="414800"/>
                <a:gridCol w="414800"/>
                <a:gridCol w="414800"/>
              </a:tblGrid>
              <a:tr h="314700">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a</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b</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c</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d</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e</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f</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g</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h</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i</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j</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k</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l</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m</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n</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o</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p</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q</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r</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s</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14700">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0.24</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0.29</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0.33</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0.30</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0.29</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0.30</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0.37</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0.43</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0.44</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0.41</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0.31</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0.32</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0.32</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0.36</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0.30</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0.36</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0.25</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0.31</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0.20</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graphicFrame>
        <p:nvGraphicFramePr>
          <p:cNvPr id="2029" name="Google Shape;2029;p75"/>
          <p:cNvGraphicFramePr/>
          <p:nvPr/>
        </p:nvGraphicFramePr>
        <p:xfrm>
          <a:off x="633450" y="922650"/>
          <a:ext cx="3000000" cy="3000000"/>
        </p:xfrm>
        <a:graphic>
          <a:graphicData uri="http://schemas.openxmlformats.org/drawingml/2006/table">
            <a:tbl>
              <a:tblPr>
                <a:noFill/>
                <a:tableStyleId>{D533A967-1B24-4C1F-A5BD-666CA7F43D67}</a:tableStyleId>
              </a:tblPr>
              <a:tblGrid>
                <a:gridCol w="414800"/>
                <a:gridCol w="414800"/>
                <a:gridCol w="414800"/>
                <a:gridCol w="414800"/>
                <a:gridCol w="326800"/>
                <a:gridCol w="414800"/>
                <a:gridCol w="414800"/>
                <a:gridCol w="414800"/>
                <a:gridCol w="414800"/>
                <a:gridCol w="414800"/>
                <a:gridCol w="414800"/>
                <a:gridCol w="414800"/>
                <a:gridCol w="414800"/>
                <a:gridCol w="414800"/>
                <a:gridCol w="414800"/>
                <a:gridCol w="414800"/>
                <a:gridCol w="414800"/>
                <a:gridCol w="414800"/>
                <a:gridCol w="414800"/>
              </a:tblGrid>
              <a:tr h="314700">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a</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b</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c</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d</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e</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f</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g</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h</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i</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j</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k</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l</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m</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n</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o</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p</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q</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r</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s</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tcPr>
                </a:tc>
              </a:tr>
              <a:tr h="150475">
                <a:tc>
                  <a:txBody>
                    <a:bodyPr/>
                    <a:lstStyle/>
                    <a:p>
                      <a:pPr indent="0" lvl="0" marL="0" rtl="0" algn="ctr">
                        <a:spcBef>
                          <a:spcPts val="0"/>
                        </a:spcBef>
                        <a:spcAft>
                          <a:spcPts val="0"/>
                        </a:spcAft>
                        <a:buNone/>
                      </a:pPr>
                      <a:r>
                        <a:rPr lang="en">
                          <a:latin typeface="Economica"/>
                          <a:ea typeface="Economica"/>
                          <a:cs typeface="Economica"/>
                          <a:sym typeface="Economica"/>
                        </a:rPr>
                        <a:t>3</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conomica"/>
                          <a:ea typeface="Economica"/>
                          <a:cs typeface="Economica"/>
                          <a:sym typeface="Economica"/>
                        </a:rPr>
                        <a:t>4</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conomica"/>
                          <a:ea typeface="Economica"/>
                          <a:cs typeface="Economica"/>
                          <a:sym typeface="Economica"/>
                        </a:rPr>
                        <a:t>2</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conomica"/>
                          <a:ea typeface="Economica"/>
                          <a:cs typeface="Economica"/>
                          <a:sym typeface="Economica"/>
                        </a:rPr>
                        <a:t>5</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conomica"/>
                          <a:ea typeface="Economica"/>
                          <a:cs typeface="Economica"/>
                          <a:sym typeface="Economica"/>
                        </a:rPr>
                        <a:t>3</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conomica"/>
                          <a:ea typeface="Economica"/>
                          <a:cs typeface="Economica"/>
                          <a:sym typeface="Economica"/>
                        </a:rPr>
                        <a:t>4</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conomica"/>
                          <a:ea typeface="Economica"/>
                          <a:cs typeface="Economica"/>
                          <a:sym typeface="Economica"/>
                        </a:rPr>
                        <a:t>5</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latin typeface="Economica"/>
                          <a:ea typeface="Economica"/>
                          <a:cs typeface="Economica"/>
                          <a:sym typeface="Economica"/>
                        </a:rPr>
                        <a:t>4</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conomica"/>
                          <a:ea typeface="Economica"/>
                          <a:cs typeface="Economica"/>
                          <a:sym typeface="Economica"/>
                        </a:rPr>
                        <a:t>4</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A9999"/>
                    </a:solidFill>
                  </a:tcPr>
                </a:tc>
                <a:tc>
                  <a:txBody>
                    <a:bodyPr/>
                    <a:lstStyle/>
                    <a:p>
                      <a:pPr indent="0" lvl="0" marL="0" rtl="0" algn="ctr">
                        <a:spcBef>
                          <a:spcPts val="0"/>
                        </a:spcBef>
                        <a:spcAft>
                          <a:spcPts val="0"/>
                        </a:spcAft>
                        <a:buNone/>
                      </a:pPr>
                      <a:r>
                        <a:rPr b="1" lang="en">
                          <a:latin typeface="Economica"/>
                          <a:ea typeface="Economica"/>
                          <a:cs typeface="Economica"/>
                          <a:sym typeface="Economica"/>
                        </a:rPr>
                        <a:t>7</a:t>
                      </a:r>
                      <a:endParaRPr b="1">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
                          <a:latin typeface="Economica"/>
                          <a:ea typeface="Economica"/>
                          <a:cs typeface="Economica"/>
                          <a:sym typeface="Economica"/>
                        </a:rPr>
                        <a:t>3</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conomica"/>
                          <a:ea typeface="Economica"/>
                          <a:cs typeface="Economica"/>
                          <a:sym typeface="Economica"/>
                        </a:rPr>
                        <a:t>3</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conomica"/>
                          <a:ea typeface="Economica"/>
                          <a:cs typeface="Economica"/>
                          <a:sym typeface="Economica"/>
                        </a:rPr>
                        <a:t>3</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conomica"/>
                          <a:ea typeface="Economica"/>
                          <a:cs typeface="Economica"/>
                          <a:sym typeface="Economica"/>
                        </a:rPr>
                        <a:t>3</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conomica"/>
                          <a:ea typeface="Economica"/>
                          <a:cs typeface="Economica"/>
                          <a:sym typeface="Economica"/>
                        </a:rPr>
                        <a:t>2</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conomica"/>
                          <a:ea typeface="Economica"/>
                          <a:cs typeface="Economica"/>
                          <a:sym typeface="Economica"/>
                        </a:rPr>
                        <a:t>3</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conomica"/>
                          <a:ea typeface="Economica"/>
                          <a:cs typeface="Economica"/>
                          <a:sym typeface="Economica"/>
                        </a:rPr>
                        <a:t>2</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conomica"/>
                          <a:ea typeface="Economica"/>
                          <a:cs typeface="Economica"/>
                          <a:sym typeface="Economica"/>
                        </a:rPr>
                        <a:t>1</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conomica"/>
                          <a:ea typeface="Economica"/>
                          <a:cs typeface="Economica"/>
                          <a:sym typeface="Economica"/>
                        </a:rPr>
                        <a:t>1</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3" name="Shape 2033"/>
        <p:cNvGrpSpPr/>
        <p:nvPr/>
      </p:nvGrpSpPr>
      <p:grpSpPr>
        <a:xfrm>
          <a:off x="0" y="0"/>
          <a:ext cx="0" cy="0"/>
          <a:chOff x="0" y="0"/>
          <a:chExt cx="0" cy="0"/>
        </a:xfrm>
      </p:grpSpPr>
      <p:pic>
        <p:nvPicPr>
          <p:cNvPr descr="C_{clos}(i)=\frac{(N-1)}{\sum_j^{ }d_{ij}}&#10;%39cfe88f-89f9-4ab1-acdf-1c885009498c" id="2034" name="Google Shape;2034;p76"/>
          <p:cNvPicPr preferRelativeResize="0"/>
          <p:nvPr/>
        </p:nvPicPr>
        <p:blipFill>
          <a:blip r:embed="rId3">
            <a:alphaModFix/>
          </a:blip>
          <a:stretch>
            <a:fillRect/>
          </a:stretch>
        </p:blipFill>
        <p:spPr>
          <a:xfrm>
            <a:off x="5226375" y="1311100"/>
            <a:ext cx="1752600" cy="438150"/>
          </a:xfrm>
          <a:prstGeom prst="rect">
            <a:avLst/>
          </a:prstGeom>
          <a:noFill/>
          <a:ln>
            <a:noFill/>
          </a:ln>
        </p:spPr>
      </p:pic>
      <p:sp>
        <p:nvSpPr>
          <p:cNvPr id="2035" name="Google Shape;2035;p76"/>
          <p:cNvSpPr/>
          <p:nvPr/>
        </p:nvSpPr>
        <p:spPr>
          <a:xfrm>
            <a:off x="2679118" y="249504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2036" name="Google Shape;2036;p76"/>
          <p:cNvSpPr/>
          <p:nvPr/>
        </p:nvSpPr>
        <p:spPr>
          <a:xfrm>
            <a:off x="3997741" y="213291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2037" name="Google Shape;2037;p76"/>
          <p:cNvSpPr/>
          <p:nvPr/>
        </p:nvSpPr>
        <p:spPr>
          <a:xfrm>
            <a:off x="4675835" y="274682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2038" name="Google Shape;2038;p76"/>
          <p:cNvSpPr/>
          <p:nvPr/>
        </p:nvSpPr>
        <p:spPr>
          <a:xfrm>
            <a:off x="3475040" y="309128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2039" name="Google Shape;2039;p76"/>
          <p:cNvSpPr/>
          <p:nvPr/>
        </p:nvSpPr>
        <p:spPr>
          <a:xfrm>
            <a:off x="2642488" y="362926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2040" name="Google Shape;2040;p76"/>
          <p:cNvSpPr/>
          <p:nvPr/>
        </p:nvSpPr>
        <p:spPr>
          <a:xfrm>
            <a:off x="3834298" y="375011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2041" name="Google Shape;2041;p76"/>
          <p:cNvSpPr/>
          <p:nvPr/>
        </p:nvSpPr>
        <p:spPr>
          <a:xfrm>
            <a:off x="4239049" y="447234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2042" name="Google Shape;2042;p76"/>
          <p:cNvSpPr/>
          <p:nvPr/>
        </p:nvSpPr>
        <p:spPr>
          <a:xfrm>
            <a:off x="5112584"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2043" name="Google Shape;2043;p76"/>
          <p:cNvSpPr/>
          <p:nvPr/>
        </p:nvSpPr>
        <p:spPr>
          <a:xfrm>
            <a:off x="5314997" y="447234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2044" name="Google Shape;2044;p76"/>
          <p:cNvSpPr/>
          <p:nvPr/>
        </p:nvSpPr>
        <p:spPr>
          <a:xfrm>
            <a:off x="6105538"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2045" name="Google Shape;2045;p76"/>
          <p:cNvSpPr/>
          <p:nvPr/>
        </p:nvSpPr>
        <p:spPr>
          <a:xfrm>
            <a:off x="6510289" y="285277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2046" name="Google Shape;2046;p76"/>
          <p:cNvSpPr/>
          <p:nvPr/>
        </p:nvSpPr>
        <p:spPr>
          <a:xfrm>
            <a:off x="6978980"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2047" name="Google Shape;2047;p76"/>
          <p:cNvSpPr/>
          <p:nvPr/>
        </p:nvSpPr>
        <p:spPr>
          <a:xfrm>
            <a:off x="6510289" y="430140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2048" name="Google Shape;2048;p76"/>
          <p:cNvSpPr/>
          <p:nvPr/>
        </p:nvSpPr>
        <p:spPr>
          <a:xfrm>
            <a:off x="7537684" y="438259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2049" name="Google Shape;2049;p76"/>
          <p:cNvSpPr/>
          <p:nvPr/>
        </p:nvSpPr>
        <p:spPr>
          <a:xfrm>
            <a:off x="7955631" y="367542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2050" name="Google Shape;2050;p76"/>
          <p:cNvSpPr/>
          <p:nvPr/>
        </p:nvSpPr>
        <p:spPr>
          <a:xfrm>
            <a:off x="8638414" y="3062154"/>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2051" name="Google Shape;2051;p76"/>
          <p:cNvSpPr/>
          <p:nvPr/>
        </p:nvSpPr>
        <p:spPr>
          <a:xfrm>
            <a:off x="7740059" y="2940973"/>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2052" name="Google Shape;2052;p76"/>
          <p:cNvSpPr/>
          <p:nvPr/>
        </p:nvSpPr>
        <p:spPr>
          <a:xfrm>
            <a:off x="7808697" y="220652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2053" name="Google Shape;2053;p76"/>
          <p:cNvSpPr/>
          <p:nvPr/>
        </p:nvSpPr>
        <p:spPr>
          <a:xfrm>
            <a:off x="8638414" y="1931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2054" name="Google Shape;2054;p76"/>
          <p:cNvCxnSpPr>
            <a:stCxn id="2053" idx="2"/>
            <a:endCxn id="2052" idx="7"/>
          </p:cNvCxnSpPr>
          <p:nvPr/>
        </p:nvCxnSpPr>
        <p:spPr>
          <a:xfrm flipH="1">
            <a:off x="8154514" y="2132800"/>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2055" name="Google Shape;2055;p76"/>
          <p:cNvCxnSpPr>
            <a:stCxn id="2051" idx="0"/>
            <a:endCxn id="2052" idx="4"/>
          </p:cNvCxnSpPr>
          <p:nvPr/>
        </p:nvCxnSpPr>
        <p:spPr>
          <a:xfrm flipH="1" rot="10800000">
            <a:off x="7942559" y="2609773"/>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2056" name="Google Shape;2056;p76"/>
          <p:cNvCxnSpPr>
            <a:stCxn id="2050" idx="2"/>
            <a:endCxn id="2051" idx="6"/>
          </p:cNvCxnSpPr>
          <p:nvPr/>
        </p:nvCxnSpPr>
        <p:spPr>
          <a:xfrm rot="10800000">
            <a:off x="8144914" y="3142554"/>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2057" name="Google Shape;2057;p76"/>
          <p:cNvCxnSpPr>
            <a:stCxn id="2050" idx="2"/>
            <a:endCxn id="2046" idx="6"/>
          </p:cNvCxnSpPr>
          <p:nvPr/>
        </p:nvCxnSpPr>
        <p:spPr>
          <a:xfrm flipH="1">
            <a:off x="7384114" y="3263754"/>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2058" name="Google Shape;2058;p76"/>
          <p:cNvCxnSpPr>
            <a:stCxn id="2050" idx="2"/>
            <a:endCxn id="2049" idx="7"/>
          </p:cNvCxnSpPr>
          <p:nvPr/>
        </p:nvCxnSpPr>
        <p:spPr>
          <a:xfrm flipH="1">
            <a:off x="8301214" y="3263754"/>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2059" name="Google Shape;2059;p76"/>
          <p:cNvCxnSpPr>
            <a:stCxn id="2049" idx="2"/>
            <a:endCxn id="2046" idx="6"/>
          </p:cNvCxnSpPr>
          <p:nvPr/>
        </p:nvCxnSpPr>
        <p:spPr>
          <a:xfrm rot="10800000">
            <a:off x="7383831" y="3777122"/>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2060" name="Google Shape;2060;p76"/>
          <p:cNvCxnSpPr>
            <a:stCxn id="2049" idx="1"/>
            <a:endCxn id="2045" idx="5"/>
          </p:cNvCxnSpPr>
          <p:nvPr/>
        </p:nvCxnSpPr>
        <p:spPr>
          <a:xfrm rot="10800000">
            <a:off x="6856042" y="3196869"/>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2061" name="Google Shape;2061;p76"/>
          <p:cNvCxnSpPr>
            <a:stCxn id="2048" idx="0"/>
            <a:endCxn id="2046" idx="4"/>
          </p:cNvCxnSpPr>
          <p:nvPr/>
        </p:nvCxnSpPr>
        <p:spPr>
          <a:xfrm rot="10800000">
            <a:off x="7181584" y="3978791"/>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2062" name="Google Shape;2062;p76"/>
          <p:cNvCxnSpPr>
            <a:stCxn id="2047" idx="7"/>
            <a:endCxn id="2046" idx="4"/>
          </p:cNvCxnSpPr>
          <p:nvPr/>
        </p:nvCxnSpPr>
        <p:spPr>
          <a:xfrm flipH="1" rot="10800000">
            <a:off x="6855978" y="3978852"/>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2063" name="Google Shape;2063;p76"/>
          <p:cNvCxnSpPr>
            <a:stCxn id="2048" idx="1"/>
            <a:endCxn id="2047" idx="6"/>
          </p:cNvCxnSpPr>
          <p:nvPr/>
        </p:nvCxnSpPr>
        <p:spPr>
          <a:xfrm flipH="1">
            <a:off x="6915395" y="4441638"/>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2064" name="Google Shape;2064;p76"/>
          <p:cNvCxnSpPr>
            <a:stCxn id="2046" idx="2"/>
            <a:endCxn id="2044" idx="6"/>
          </p:cNvCxnSpPr>
          <p:nvPr/>
        </p:nvCxnSpPr>
        <p:spPr>
          <a:xfrm rot="10800000">
            <a:off x="6510680" y="3777232"/>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2065" name="Google Shape;2065;p76"/>
          <p:cNvCxnSpPr>
            <a:stCxn id="2047" idx="0"/>
            <a:endCxn id="2044" idx="5"/>
          </p:cNvCxnSpPr>
          <p:nvPr/>
        </p:nvCxnSpPr>
        <p:spPr>
          <a:xfrm rot="10800000">
            <a:off x="6451189" y="3919805"/>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2066" name="Google Shape;2066;p76"/>
          <p:cNvCxnSpPr>
            <a:stCxn id="2046" idx="0"/>
            <a:endCxn id="2045" idx="5"/>
          </p:cNvCxnSpPr>
          <p:nvPr/>
        </p:nvCxnSpPr>
        <p:spPr>
          <a:xfrm rot="10800000">
            <a:off x="6855980" y="3197032"/>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2067" name="Google Shape;2067;p76"/>
          <p:cNvCxnSpPr>
            <a:stCxn id="2044" idx="7"/>
            <a:endCxn id="2045" idx="4"/>
          </p:cNvCxnSpPr>
          <p:nvPr/>
        </p:nvCxnSpPr>
        <p:spPr>
          <a:xfrm flipH="1" rot="10800000">
            <a:off x="6451227" y="3256079"/>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2068" name="Google Shape;2068;p76"/>
          <p:cNvCxnSpPr>
            <a:stCxn id="2044" idx="2"/>
            <a:endCxn id="2042" idx="6"/>
          </p:cNvCxnSpPr>
          <p:nvPr/>
        </p:nvCxnSpPr>
        <p:spPr>
          <a:xfrm rot="10800000">
            <a:off x="5517538" y="3777232"/>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2069" name="Google Shape;2069;p76"/>
          <p:cNvCxnSpPr>
            <a:stCxn id="2043" idx="0"/>
            <a:endCxn id="2042" idx="4"/>
          </p:cNvCxnSpPr>
          <p:nvPr/>
        </p:nvCxnSpPr>
        <p:spPr>
          <a:xfrm rot="10800000">
            <a:off x="5314997" y="3978840"/>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2070" name="Google Shape;2070;p76"/>
          <p:cNvCxnSpPr>
            <a:stCxn id="2042" idx="3"/>
            <a:endCxn id="2041" idx="7"/>
          </p:cNvCxnSpPr>
          <p:nvPr/>
        </p:nvCxnSpPr>
        <p:spPr>
          <a:xfrm flipH="1">
            <a:off x="4584795" y="3919785"/>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2071" name="Google Shape;2071;p76"/>
          <p:cNvCxnSpPr>
            <a:stCxn id="2040" idx="5"/>
            <a:endCxn id="2041" idx="0"/>
          </p:cNvCxnSpPr>
          <p:nvPr/>
        </p:nvCxnSpPr>
        <p:spPr>
          <a:xfrm>
            <a:off x="4179987" y="4094263"/>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2072" name="Google Shape;2072;p76"/>
          <p:cNvCxnSpPr>
            <a:stCxn id="2037" idx="4"/>
            <a:endCxn id="2040" idx="7"/>
          </p:cNvCxnSpPr>
          <p:nvPr/>
        </p:nvCxnSpPr>
        <p:spPr>
          <a:xfrm flipH="1">
            <a:off x="4179935" y="3150025"/>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2073" name="Google Shape;2073;p76"/>
          <p:cNvCxnSpPr>
            <a:stCxn id="2042" idx="1"/>
            <a:endCxn id="2037" idx="4"/>
          </p:cNvCxnSpPr>
          <p:nvPr/>
        </p:nvCxnSpPr>
        <p:spPr>
          <a:xfrm rot="10800000">
            <a:off x="4878195" y="3149879"/>
            <a:ext cx="293700" cy="484800"/>
          </a:xfrm>
          <a:prstGeom prst="straightConnector1">
            <a:avLst/>
          </a:prstGeom>
          <a:noFill/>
          <a:ln cap="flat" cmpd="sng" w="28575">
            <a:solidFill>
              <a:schemeClr val="dk2"/>
            </a:solidFill>
            <a:prstDash val="solid"/>
            <a:round/>
            <a:headEnd len="med" w="med" type="none"/>
            <a:tailEnd len="med" w="med" type="none"/>
          </a:ln>
        </p:spPr>
      </p:cxnSp>
      <p:cxnSp>
        <p:nvCxnSpPr>
          <p:cNvPr id="2074" name="Google Shape;2074;p76"/>
          <p:cNvCxnSpPr>
            <a:stCxn id="2040" idx="2"/>
            <a:endCxn id="2039" idx="6"/>
          </p:cNvCxnSpPr>
          <p:nvPr/>
        </p:nvCxnSpPr>
        <p:spPr>
          <a:xfrm rot="10800000">
            <a:off x="3047398" y="3830810"/>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2075" name="Google Shape;2075;p76"/>
          <p:cNvCxnSpPr>
            <a:stCxn id="2040" idx="0"/>
            <a:endCxn id="2038" idx="4"/>
          </p:cNvCxnSpPr>
          <p:nvPr/>
        </p:nvCxnSpPr>
        <p:spPr>
          <a:xfrm rot="10800000">
            <a:off x="3677398" y="3494510"/>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2076" name="Google Shape;2076;p76"/>
          <p:cNvCxnSpPr>
            <a:stCxn id="2038" idx="3"/>
            <a:endCxn id="2039" idx="7"/>
          </p:cNvCxnSpPr>
          <p:nvPr/>
        </p:nvCxnSpPr>
        <p:spPr>
          <a:xfrm flipH="1">
            <a:off x="2988051" y="3435438"/>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2077" name="Google Shape;2077;p76"/>
          <p:cNvCxnSpPr>
            <a:stCxn id="2035" idx="4"/>
            <a:endCxn id="2039" idx="0"/>
          </p:cNvCxnSpPr>
          <p:nvPr/>
        </p:nvCxnSpPr>
        <p:spPr>
          <a:xfrm flipH="1">
            <a:off x="2845018" y="2898241"/>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2078" name="Google Shape;2078;p76"/>
          <p:cNvCxnSpPr>
            <a:stCxn id="2036" idx="2"/>
            <a:endCxn id="2035" idx="6"/>
          </p:cNvCxnSpPr>
          <p:nvPr/>
        </p:nvCxnSpPr>
        <p:spPr>
          <a:xfrm flipH="1">
            <a:off x="3084241" y="2334512"/>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2079" name="Google Shape;2079;p76"/>
          <p:cNvCxnSpPr>
            <a:stCxn id="2036" idx="3"/>
            <a:endCxn id="2038" idx="0"/>
          </p:cNvCxnSpPr>
          <p:nvPr/>
        </p:nvCxnSpPr>
        <p:spPr>
          <a:xfrm flipH="1">
            <a:off x="3677552" y="2477064"/>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2080" name="Google Shape;2080;p76"/>
          <p:cNvCxnSpPr>
            <a:stCxn id="2037" idx="2"/>
            <a:endCxn id="2035" idx="6"/>
          </p:cNvCxnSpPr>
          <p:nvPr/>
        </p:nvCxnSpPr>
        <p:spPr>
          <a:xfrm rot="10800000">
            <a:off x="3084035" y="2696725"/>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2081" name="Google Shape;2081;p76"/>
          <p:cNvCxnSpPr>
            <a:stCxn id="2037" idx="1"/>
            <a:endCxn id="2036" idx="5"/>
          </p:cNvCxnSpPr>
          <p:nvPr/>
        </p:nvCxnSpPr>
        <p:spPr>
          <a:xfrm rot="10800000">
            <a:off x="4343346" y="2477072"/>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2082" name="Google Shape;2082;p76"/>
          <p:cNvCxnSpPr>
            <a:stCxn id="2037" idx="2"/>
            <a:endCxn id="2038" idx="7"/>
          </p:cNvCxnSpPr>
          <p:nvPr/>
        </p:nvCxnSpPr>
        <p:spPr>
          <a:xfrm flipH="1">
            <a:off x="3820835" y="2948425"/>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2083" name="Google Shape;2083;p76"/>
          <p:cNvCxnSpPr>
            <a:stCxn id="2038" idx="1"/>
            <a:endCxn id="2035" idx="5"/>
          </p:cNvCxnSpPr>
          <p:nvPr/>
        </p:nvCxnSpPr>
        <p:spPr>
          <a:xfrm rot="10800000">
            <a:off x="3024951" y="2839232"/>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2084" name="Google Shape;2084;p76"/>
          <p:cNvCxnSpPr>
            <a:stCxn id="2046" idx="6"/>
            <a:endCxn id="2051" idx="3"/>
          </p:cNvCxnSpPr>
          <p:nvPr/>
        </p:nvCxnSpPr>
        <p:spPr>
          <a:xfrm flipH="1" rot="10800000">
            <a:off x="7383980" y="3285232"/>
            <a:ext cx="415500" cy="492000"/>
          </a:xfrm>
          <a:prstGeom prst="straightConnector1">
            <a:avLst/>
          </a:prstGeom>
          <a:noFill/>
          <a:ln cap="flat" cmpd="sng" w="28575">
            <a:solidFill>
              <a:schemeClr val="dk2"/>
            </a:solidFill>
            <a:prstDash val="solid"/>
            <a:round/>
            <a:headEnd len="med" w="med" type="none"/>
            <a:tailEnd len="med" w="med" type="none"/>
          </a:ln>
        </p:spPr>
      </p:cxnSp>
      <p:graphicFrame>
        <p:nvGraphicFramePr>
          <p:cNvPr id="2085" name="Google Shape;2085;p76"/>
          <p:cNvGraphicFramePr/>
          <p:nvPr/>
        </p:nvGraphicFramePr>
        <p:xfrm>
          <a:off x="265350" y="81350"/>
          <a:ext cx="3000000" cy="3000000"/>
        </p:xfrm>
        <a:graphic>
          <a:graphicData uri="http://schemas.openxmlformats.org/drawingml/2006/table">
            <a:tbl>
              <a:tblPr>
                <a:noFill/>
                <a:tableStyleId>{D533A967-1B24-4C1F-A5BD-666CA7F43D67}</a:tableStyleId>
              </a:tblPr>
              <a:tblGrid>
                <a:gridCol w="952500"/>
                <a:gridCol w="952500"/>
              </a:tblGrid>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i</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0.44</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h</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0.43</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j</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0.41</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g</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0.37</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n</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0.36</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p</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0.36</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c</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0.33</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l</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0.32</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m</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0.32</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k</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0.31</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r</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0.31</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d</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0.30</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f</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0.30</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o</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0.30</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b</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0.29</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e</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0.29</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q</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0.25</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a</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0.24</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s</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0.20</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9" name="Shape 2089"/>
        <p:cNvGrpSpPr/>
        <p:nvPr/>
      </p:nvGrpSpPr>
      <p:grpSpPr>
        <a:xfrm>
          <a:off x="0" y="0"/>
          <a:ext cx="0" cy="0"/>
          <a:chOff x="0" y="0"/>
          <a:chExt cx="0" cy="0"/>
        </a:xfrm>
      </p:grpSpPr>
      <p:pic>
        <p:nvPicPr>
          <p:cNvPr descr="C_{clos}(i)=\frac{(N-1)}{\sum_j^{ }d_{ij}}&#10;%39cfe88f-89f9-4ab1-acdf-1c885009498c" id="2090" name="Google Shape;2090;p77"/>
          <p:cNvPicPr preferRelativeResize="0"/>
          <p:nvPr/>
        </p:nvPicPr>
        <p:blipFill>
          <a:blip r:embed="rId3">
            <a:alphaModFix/>
          </a:blip>
          <a:stretch>
            <a:fillRect/>
          </a:stretch>
        </p:blipFill>
        <p:spPr>
          <a:xfrm>
            <a:off x="5226375" y="1311100"/>
            <a:ext cx="1752600" cy="438150"/>
          </a:xfrm>
          <a:prstGeom prst="rect">
            <a:avLst/>
          </a:prstGeom>
          <a:noFill/>
          <a:ln>
            <a:noFill/>
          </a:ln>
        </p:spPr>
      </p:pic>
      <p:sp>
        <p:nvSpPr>
          <p:cNvPr id="2091" name="Google Shape;2091;p77"/>
          <p:cNvSpPr/>
          <p:nvPr/>
        </p:nvSpPr>
        <p:spPr>
          <a:xfrm>
            <a:off x="2679118" y="2495041"/>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2092" name="Google Shape;2092;p77"/>
          <p:cNvSpPr/>
          <p:nvPr/>
        </p:nvSpPr>
        <p:spPr>
          <a:xfrm>
            <a:off x="3997741" y="2132912"/>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2093" name="Google Shape;2093;p77"/>
          <p:cNvSpPr/>
          <p:nvPr/>
        </p:nvSpPr>
        <p:spPr>
          <a:xfrm>
            <a:off x="4675835" y="274682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2094" name="Google Shape;2094;p77"/>
          <p:cNvSpPr/>
          <p:nvPr/>
        </p:nvSpPr>
        <p:spPr>
          <a:xfrm>
            <a:off x="3475040" y="309128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2095" name="Google Shape;2095;p77"/>
          <p:cNvSpPr/>
          <p:nvPr/>
        </p:nvSpPr>
        <p:spPr>
          <a:xfrm>
            <a:off x="2642488" y="3629267"/>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2096" name="Google Shape;2096;p77"/>
          <p:cNvSpPr/>
          <p:nvPr/>
        </p:nvSpPr>
        <p:spPr>
          <a:xfrm>
            <a:off x="3834298" y="375011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2097" name="Google Shape;2097;p77"/>
          <p:cNvSpPr/>
          <p:nvPr/>
        </p:nvSpPr>
        <p:spPr>
          <a:xfrm>
            <a:off x="4239049" y="447234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2098" name="Google Shape;2098;p77"/>
          <p:cNvSpPr/>
          <p:nvPr/>
        </p:nvSpPr>
        <p:spPr>
          <a:xfrm>
            <a:off x="5112584" y="3575632"/>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2099" name="Google Shape;2099;p77"/>
          <p:cNvSpPr/>
          <p:nvPr/>
        </p:nvSpPr>
        <p:spPr>
          <a:xfrm>
            <a:off x="5314997" y="447234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2100" name="Google Shape;2100;p77"/>
          <p:cNvSpPr/>
          <p:nvPr/>
        </p:nvSpPr>
        <p:spPr>
          <a:xfrm>
            <a:off x="6105538" y="3575632"/>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2101" name="Google Shape;2101;p77"/>
          <p:cNvSpPr/>
          <p:nvPr/>
        </p:nvSpPr>
        <p:spPr>
          <a:xfrm>
            <a:off x="6510289" y="285277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2102" name="Google Shape;2102;p77"/>
          <p:cNvSpPr/>
          <p:nvPr/>
        </p:nvSpPr>
        <p:spPr>
          <a:xfrm>
            <a:off x="6978980" y="3575632"/>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2103" name="Google Shape;2103;p77"/>
          <p:cNvSpPr/>
          <p:nvPr/>
        </p:nvSpPr>
        <p:spPr>
          <a:xfrm>
            <a:off x="6510289" y="430140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2104" name="Google Shape;2104;p77"/>
          <p:cNvSpPr/>
          <p:nvPr/>
        </p:nvSpPr>
        <p:spPr>
          <a:xfrm>
            <a:off x="7537684" y="438259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2105" name="Google Shape;2105;p77"/>
          <p:cNvSpPr/>
          <p:nvPr/>
        </p:nvSpPr>
        <p:spPr>
          <a:xfrm>
            <a:off x="7955631" y="367542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2106" name="Google Shape;2106;p77"/>
          <p:cNvSpPr/>
          <p:nvPr/>
        </p:nvSpPr>
        <p:spPr>
          <a:xfrm>
            <a:off x="8638414" y="3062154"/>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2107" name="Google Shape;2107;p77"/>
          <p:cNvSpPr/>
          <p:nvPr/>
        </p:nvSpPr>
        <p:spPr>
          <a:xfrm>
            <a:off x="7740059" y="2940973"/>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2108" name="Google Shape;2108;p77"/>
          <p:cNvSpPr/>
          <p:nvPr/>
        </p:nvSpPr>
        <p:spPr>
          <a:xfrm>
            <a:off x="7808697" y="2206525"/>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2109" name="Google Shape;2109;p77"/>
          <p:cNvSpPr/>
          <p:nvPr/>
        </p:nvSpPr>
        <p:spPr>
          <a:xfrm>
            <a:off x="8638414" y="1931200"/>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2110" name="Google Shape;2110;p77"/>
          <p:cNvCxnSpPr>
            <a:stCxn id="2109" idx="2"/>
            <a:endCxn id="2108" idx="7"/>
          </p:cNvCxnSpPr>
          <p:nvPr/>
        </p:nvCxnSpPr>
        <p:spPr>
          <a:xfrm flipH="1">
            <a:off x="8154514" y="2132800"/>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2111" name="Google Shape;2111;p77"/>
          <p:cNvCxnSpPr>
            <a:stCxn id="2107" idx="0"/>
            <a:endCxn id="2108" idx="4"/>
          </p:cNvCxnSpPr>
          <p:nvPr/>
        </p:nvCxnSpPr>
        <p:spPr>
          <a:xfrm flipH="1" rot="10800000">
            <a:off x="7942559" y="2609773"/>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2112" name="Google Shape;2112;p77"/>
          <p:cNvCxnSpPr>
            <a:stCxn id="2106" idx="2"/>
            <a:endCxn id="2107" idx="6"/>
          </p:cNvCxnSpPr>
          <p:nvPr/>
        </p:nvCxnSpPr>
        <p:spPr>
          <a:xfrm rot="10800000">
            <a:off x="8144914" y="3142554"/>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2113" name="Google Shape;2113;p77"/>
          <p:cNvCxnSpPr>
            <a:stCxn id="2106" idx="2"/>
            <a:endCxn id="2102" idx="6"/>
          </p:cNvCxnSpPr>
          <p:nvPr/>
        </p:nvCxnSpPr>
        <p:spPr>
          <a:xfrm flipH="1">
            <a:off x="7384114" y="3263754"/>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2114" name="Google Shape;2114;p77"/>
          <p:cNvCxnSpPr>
            <a:stCxn id="2106" idx="2"/>
            <a:endCxn id="2105" idx="7"/>
          </p:cNvCxnSpPr>
          <p:nvPr/>
        </p:nvCxnSpPr>
        <p:spPr>
          <a:xfrm flipH="1">
            <a:off x="8301214" y="3263754"/>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2115" name="Google Shape;2115;p77"/>
          <p:cNvCxnSpPr>
            <a:stCxn id="2105" idx="2"/>
            <a:endCxn id="2102" idx="6"/>
          </p:cNvCxnSpPr>
          <p:nvPr/>
        </p:nvCxnSpPr>
        <p:spPr>
          <a:xfrm rot="10800000">
            <a:off x="7383831" y="3777122"/>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2116" name="Google Shape;2116;p77"/>
          <p:cNvCxnSpPr>
            <a:stCxn id="2105" idx="1"/>
            <a:endCxn id="2101" idx="5"/>
          </p:cNvCxnSpPr>
          <p:nvPr/>
        </p:nvCxnSpPr>
        <p:spPr>
          <a:xfrm rot="10800000">
            <a:off x="6856042" y="3196869"/>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2117" name="Google Shape;2117;p77"/>
          <p:cNvCxnSpPr>
            <a:stCxn id="2104" idx="0"/>
            <a:endCxn id="2102" idx="4"/>
          </p:cNvCxnSpPr>
          <p:nvPr/>
        </p:nvCxnSpPr>
        <p:spPr>
          <a:xfrm rot="10800000">
            <a:off x="7181584" y="3978791"/>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2118" name="Google Shape;2118;p77"/>
          <p:cNvCxnSpPr>
            <a:stCxn id="2103" idx="7"/>
            <a:endCxn id="2102" idx="4"/>
          </p:cNvCxnSpPr>
          <p:nvPr/>
        </p:nvCxnSpPr>
        <p:spPr>
          <a:xfrm flipH="1" rot="10800000">
            <a:off x="6855978" y="3978852"/>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2119" name="Google Shape;2119;p77"/>
          <p:cNvCxnSpPr>
            <a:stCxn id="2104" idx="1"/>
            <a:endCxn id="2103" idx="6"/>
          </p:cNvCxnSpPr>
          <p:nvPr/>
        </p:nvCxnSpPr>
        <p:spPr>
          <a:xfrm flipH="1">
            <a:off x="6915395" y="4441638"/>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2120" name="Google Shape;2120;p77"/>
          <p:cNvCxnSpPr>
            <a:stCxn id="2102" idx="2"/>
            <a:endCxn id="2100" idx="6"/>
          </p:cNvCxnSpPr>
          <p:nvPr/>
        </p:nvCxnSpPr>
        <p:spPr>
          <a:xfrm rot="10800000">
            <a:off x="6510680" y="3777232"/>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2121" name="Google Shape;2121;p77"/>
          <p:cNvCxnSpPr>
            <a:stCxn id="2103" idx="0"/>
            <a:endCxn id="2100" idx="5"/>
          </p:cNvCxnSpPr>
          <p:nvPr/>
        </p:nvCxnSpPr>
        <p:spPr>
          <a:xfrm rot="10800000">
            <a:off x="6451189" y="3919805"/>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2122" name="Google Shape;2122;p77"/>
          <p:cNvCxnSpPr>
            <a:stCxn id="2102" idx="0"/>
            <a:endCxn id="2101" idx="5"/>
          </p:cNvCxnSpPr>
          <p:nvPr/>
        </p:nvCxnSpPr>
        <p:spPr>
          <a:xfrm rot="10800000">
            <a:off x="6855980" y="3197032"/>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2123" name="Google Shape;2123;p77"/>
          <p:cNvCxnSpPr>
            <a:stCxn id="2100" idx="7"/>
            <a:endCxn id="2101" idx="4"/>
          </p:cNvCxnSpPr>
          <p:nvPr/>
        </p:nvCxnSpPr>
        <p:spPr>
          <a:xfrm flipH="1" rot="10800000">
            <a:off x="6451227" y="3256079"/>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2124" name="Google Shape;2124;p77"/>
          <p:cNvCxnSpPr>
            <a:stCxn id="2100" idx="2"/>
            <a:endCxn id="2098" idx="6"/>
          </p:cNvCxnSpPr>
          <p:nvPr/>
        </p:nvCxnSpPr>
        <p:spPr>
          <a:xfrm rot="10800000">
            <a:off x="5517538" y="3777232"/>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2125" name="Google Shape;2125;p77"/>
          <p:cNvCxnSpPr>
            <a:stCxn id="2099" idx="0"/>
            <a:endCxn id="2098" idx="4"/>
          </p:cNvCxnSpPr>
          <p:nvPr/>
        </p:nvCxnSpPr>
        <p:spPr>
          <a:xfrm rot="10800000">
            <a:off x="5314997" y="3978840"/>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2126" name="Google Shape;2126;p77"/>
          <p:cNvCxnSpPr>
            <a:stCxn id="2098" idx="3"/>
            <a:endCxn id="2097" idx="7"/>
          </p:cNvCxnSpPr>
          <p:nvPr/>
        </p:nvCxnSpPr>
        <p:spPr>
          <a:xfrm flipH="1">
            <a:off x="4584795" y="3919785"/>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2127" name="Google Shape;2127;p77"/>
          <p:cNvCxnSpPr>
            <a:stCxn id="2096" idx="5"/>
            <a:endCxn id="2097" idx="0"/>
          </p:cNvCxnSpPr>
          <p:nvPr/>
        </p:nvCxnSpPr>
        <p:spPr>
          <a:xfrm>
            <a:off x="4179987" y="4094263"/>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2128" name="Google Shape;2128;p77"/>
          <p:cNvCxnSpPr>
            <a:stCxn id="2093" idx="4"/>
            <a:endCxn id="2096" idx="7"/>
          </p:cNvCxnSpPr>
          <p:nvPr/>
        </p:nvCxnSpPr>
        <p:spPr>
          <a:xfrm flipH="1">
            <a:off x="4179935" y="3150025"/>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2129" name="Google Shape;2129;p77"/>
          <p:cNvCxnSpPr>
            <a:stCxn id="2098" idx="1"/>
            <a:endCxn id="2093" idx="4"/>
          </p:cNvCxnSpPr>
          <p:nvPr/>
        </p:nvCxnSpPr>
        <p:spPr>
          <a:xfrm rot="10800000">
            <a:off x="4878195" y="3149879"/>
            <a:ext cx="293700" cy="484800"/>
          </a:xfrm>
          <a:prstGeom prst="straightConnector1">
            <a:avLst/>
          </a:prstGeom>
          <a:noFill/>
          <a:ln cap="flat" cmpd="sng" w="28575">
            <a:solidFill>
              <a:schemeClr val="dk2"/>
            </a:solidFill>
            <a:prstDash val="solid"/>
            <a:round/>
            <a:headEnd len="med" w="med" type="none"/>
            <a:tailEnd len="med" w="med" type="none"/>
          </a:ln>
        </p:spPr>
      </p:cxnSp>
      <p:cxnSp>
        <p:nvCxnSpPr>
          <p:cNvPr id="2130" name="Google Shape;2130;p77"/>
          <p:cNvCxnSpPr>
            <a:stCxn id="2096" idx="2"/>
            <a:endCxn id="2095" idx="6"/>
          </p:cNvCxnSpPr>
          <p:nvPr/>
        </p:nvCxnSpPr>
        <p:spPr>
          <a:xfrm rot="10800000">
            <a:off x="3047398" y="3830810"/>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2131" name="Google Shape;2131;p77"/>
          <p:cNvCxnSpPr>
            <a:stCxn id="2096" idx="0"/>
            <a:endCxn id="2094" idx="4"/>
          </p:cNvCxnSpPr>
          <p:nvPr/>
        </p:nvCxnSpPr>
        <p:spPr>
          <a:xfrm rot="10800000">
            <a:off x="3677398" y="3494510"/>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2132" name="Google Shape;2132;p77"/>
          <p:cNvCxnSpPr>
            <a:stCxn id="2094" idx="3"/>
            <a:endCxn id="2095" idx="7"/>
          </p:cNvCxnSpPr>
          <p:nvPr/>
        </p:nvCxnSpPr>
        <p:spPr>
          <a:xfrm flipH="1">
            <a:off x="2988051" y="3435438"/>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2133" name="Google Shape;2133;p77"/>
          <p:cNvCxnSpPr>
            <a:stCxn id="2091" idx="4"/>
            <a:endCxn id="2095" idx="0"/>
          </p:cNvCxnSpPr>
          <p:nvPr/>
        </p:nvCxnSpPr>
        <p:spPr>
          <a:xfrm flipH="1">
            <a:off x="2845018" y="2898241"/>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2134" name="Google Shape;2134;p77"/>
          <p:cNvCxnSpPr>
            <a:stCxn id="2092" idx="2"/>
            <a:endCxn id="2091" idx="6"/>
          </p:cNvCxnSpPr>
          <p:nvPr/>
        </p:nvCxnSpPr>
        <p:spPr>
          <a:xfrm flipH="1">
            <a:off x="3084241" y="2334512"/>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2135" name="Google Shape;2135;p77"/>
          <p:cNvCxnSpPr>
            <a:stCxn id="2092" idx="3"/>
            <a:endCxn id="2094" idx="0"/>
          </p:cNvCxnSpPr>
          <p:nvPr/>
        </p:nvCxnSpPr>
        <p:spPr>
          <a:xfrm flipH="1">
            <a:off x="3677552" y="2477064"/>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2136" name="Google Shape;2136;p77"/>
          <p:cNvCxnSpPr>
            <a:stCxn id="2093" idx="2"/>
            <a:endCxn id="2091" idx="6"/>
          </p:cNvCxnSpPr>
          <p:nvPr/>
        </p:nvCxnSpPr>
        <p:spPr>
          <a:xfrm rot="10800000">
            <a:off x="3084035" y="2696725"/>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2137" name="Google Shape;2137;p77"/>
          <p:cNvCxnSpPr>
            <a:stCxn id="2093" idx="1"/>
            <a:endCxn id="2092" idx="5"/>
          </p:cNvCxnSpPr>
          <p:nvPr/>
        </p:nvCxnSpPr>
        <p:spPr>
          <a:xfrm rot="10800000">
            <a:off x="4343346" y="2477072"/>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2138" name="Google Shape;2138;p77"/>
          <p:cNvCxnSpPr>
            <a:stCxn id="2093" idx="2"/>
            <a:endCxn id="2094" idx="7"/>
          </p:cNvCxnSpPr>
          <p:nvPr/>
        </p:nvCxnSpPr>
        <p:spPr>
          <a:xfrm flipH="1">
            <a:off x="3820835" y="2948425"/>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2139" name="Google Shape;2139;p77"/>
          <p:cNvCxnSpPr>
            <a:stCxn id="2094" idx="1"/>
            <a:endCxn id="2091" idx="5"/>
          </p:cNvCxnSpPr>
          <p:nvPr/>
        </p:nvCxnSpPr>
        <p:spPr>
          <a:xfrm rot="10800000">
            <a:off x="3024951" y="2839232"/>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2140" name="Google Shape;2140;p77"/>
          <p:cNvCxnSpPr>
            <a:stCxn id="2102" idx="6"/>
            <a:endCxn id="2107" idx="3"/>
          </p:cNvCxnSpPr>
          <p:nvPr/>
        </p:nvCxnSpPr>
        <p:spPr>
          <a:xfrm flipH="1" rot="10800000">
            <a:off x="7383980" y="3285232"/>
            <a:ext cx="415500" cy="492000"/>
          </a:xfrm>
          <a:prstGeom prst="straightConnector1">
            <a:avLst/>
          </a:prstGeom>
          <a:noFill/>
          <a:ln cap="flat" cmpd="sng" w="28575">
            <a:solidFill>
              <a:schemeClr val="dk2"/>
            </a:solidFill>
            <a:prstDash val="solid"/>
            <a:round/>
            <a:headEnd len="med" w="med" type="none"/>
            <a:tailEnd len="med" w="med" type="none"/>
          </a:ln>
        </p:spPr>
      </p:cxnSp>
      <p:sp>
        <p:nvSpPr>
          <p:cNvPr id="2141" name="Google Shape;2141;p77"/>
          <p:cNvSpPr/>
          <p:nvPr/>
        </p:nvSpPr>
        <p:spPr>
          <a:xfrm>
            <a:off x="4650475" y="1802113"/>
            <a:ext cx="2952000" cy="9978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These are the final closeness centrality rankings for this graph!</a:t>
            </a:r>
            <a:endParaRPr b="1">
              <a:solidFill>
                <a:srgbClr val="FF0000"/>
              </a:solidFill>
            </a:endParaRPr>
          </a:p>
        </p:txBody>
      </p:sp>
      <p:graphicFrame>
        <p:nvGraphicFramePr>
          <p:cNvPr id="2142" name="Google Shape;2142;p77"/>
          <p:cNvGraphicFramePr/>
          <p:nvPr/>
        </p:nvGraphicFramePr>
        <p:xfrm>
          <a:off x="265350" y="81350"/>
          <a:ext cx="3000000" cy="3000000"/>
        </p:xfrm>
        <a:graphic>
          <a:graphicData uri="http://schemas.openxmlformats.org/drawingml/2006/table">
            <a:tbl>
              <a:tblPr>
                <a:noFill/>
                <a:tableStyleId>{D533A967-1B24-4C1F-A5BD-666CA7F43D67}</a:tableStyleId>
              </a:tblPr>
              <a:tblGrid>
                <a:gridCol w="952500"/>
                <a:gridCol w="952500"/>
              </a:tblGrid>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i</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0.44</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h</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0.43</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j</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0.41</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g</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0.37</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n</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0.36</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p</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0.36</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c</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0.33</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l</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0.32</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m</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0.32</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k</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0.31</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r</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0.31</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d</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0.30</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f</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0.30</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o</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0.30</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b</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0.29</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e</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0.29</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q</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0.25</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a</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0.24</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s</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0.20</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6" name="Shape 2146"/>
        <p:cNvGrpSpPr/>
        <p:nvPr/>
      </p:nvGrpSpPr>
      <p:grpSpPr>
        <a:xfrm>
          <a:off x="0" y="0"/>
          <a:ext cx="0" cy="0"/>
          <a:chOff x="0" y="0"/>
          <a:chExt cx="0" cy="0"/>
        </a:xfrm>
      </p:grpSpPr>
      <p:sp>
        <p:nvSpPr>
          <p:cNvPr id="2147" name="Google Shape;2147;p78"/>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148" name="Google Shape;2148;p78"/>
          <p:cNvSpPr/>
          <p:nvPr/>
        </p:nvSpPr>
        <p:spPr>
          <a:xfrm>
            <a:off x="1542374"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149" name="Google Shape;2149;p78"/>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150" name="Google Shape;2150;p78"/>
          <p:cNvSpPr/>
          <p:nvPr/>
        </p:nvSpPr>
        <p:spPr>
          <a:xfrm>
            <a:off x="1542347" y="1546450"/>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151" name="Google Shape;2151;p78"/>
          <p:cNvSpPr/>
          <p:nvPr/>
        </p:nvSpPr>
        <p:spPr>
          <a:xfrm>
            <a:off x="15422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152" name="Google Shape;2152;p78"/>
          <p:cNvSpPr/>
          <p:nvPr/>
        </p:nvSpPr>
        <p:spPr>
          <a:xfrm>
            <a:off x="2785146"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153" name="Google Shape;2153;p78"/>
          <p:cNvSpPr/>
          <p:nvPr/>
        </p:nvSpPr>
        <p:spPr>
          <a:xfrm>
            <a:off x="4240467"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154" name="Google Shape;2154;p78"/>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155" name="Google Shape;2155;p78"/>
          <p:cNvCxnSpPr>
            <a:stCxn id="2147" idx="7"/>
            <a:endCxn id="2150"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2156" name="Google Shape;2156;p78"/>
          <p:cNvCxnSpPr>
            <a:stCxn id="2152" idx="6"/>
            <a:endCxn id="2153" idx="2"/>
          </p:cNvCxnSpPr>
          <p:nvPr/>
        </p:nvCxnSpPr>
        <p:spPr>
          <a:xfrm>
            <a:off x="3203646"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157" name="Google Shape;2157;p78"/>
          <p:cNvCxnSpPr>
            <a:stCxn id="2149" idx="6"/>
            <a:endCxn id="2154"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158" name="Google Shape;2158;p78"/>
          <p:cNvCxnSpPr>
            <a:stCxn id="2152" idx="4"/>
            <a:endCxn id="2149" idx="0"/>
          </p:cNvCxnSpPr>
          <p:nvPr/>
        </p:nvCxnSpPr>
        <p:spPr>
          <a:xfrm>
            <a:off x="2994396" y="32400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159" name="Google Shape;2159;p78"/>
          <p:cNvCxnSpPr>
            <a:stCxn id="2148" idx="4"/>
            <a:endCxn id="2151"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160" name="Google Shape;2160;p78"/>
          <p:cNvCxnSpPr>
            <a:stCxn id="2147" idx="5"/>
            <a:endCxn id="2151" idx="2"/>
          </p:cNvCxnSpPr>
          <p:nvPr/>
        </p:nvCxnSpPr>
        <p:spPr>
          <a:xfrm>
            <a:off x="444175" y="3180603"/>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161" name="Google Shape;2161;p78"/>
          <p:cNvCxnSpPr>
            <a:stCxn id="2147" idx="6"/>
            <a:endCxn id="2148"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162" name="Google Shape;2162;p78"/>
          <p:cNvCxnSpPr>
            <a:stCxn id="2149" idx="2"/>
            <a:endCxn id="2151" idx="6"/>
          </p:cNvCxnSpPr>
          <p:nvPr/>
        </p:nvCxnSpPr>
        <p:spPr>
          <a:xfrm rot="10800000">
            <a:off x="1960698" y="4324785"/>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163" name="Google Shape;2163;p78"/>
          <p:cNvCxnSpPr>
            <a:stCxn id="2154" idx="1"/>
            <a:endCxn id="2152"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164" name="Google Shape;2164;p78"/>
          <p:cNvCxnSpPr>
            <a:stCxn id="2153" idx="1"/>
            <a:endCxn id="2150"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165" name="Google Shape;2165;p78"/>
          <p:cNvCxnSpPr>
            <a:stCxn id="2150" idx="5"/>
            <a:endCxn id="2152"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166" name="Google Shape;2166;p78"/>
          <p:cNvCxnSpPr>
            <a:stCxn id="2148" idx="0"/>
            <a:endCxn id="2150"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167" name="Google Shape;2167;p78"/>
          <p:cNvCxnSpPr>
            <a:stCxn id="2152" idx="3"/>
            <a:endCxn id="2151" idx="7"/>
          </p:cNvCxnSpPr>
          <p:nvPr/>
        </p:nvCxnSpPr>
        <p:spPr>
          <a:xfrm flipH="1">
            <a:off x="1899634" y="318060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168" name="Google Shape;2168;p78"/>
          <p:cNvCxnSpPr>
            <a:stCxn id="2148" idx="6"/>
            <a:endCxn id="2152"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169" name="Google Shape;2169;p78"/>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sp>
        <p:nvSpPr>
          <p:cNvPr id="2170" name="Google Shape;2170;p78"/>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graphicFrame>
        <p:nvGraphicFramePr>
          <p:cNvPr id="2171" name="Google Shape;2171;p78"/>
          <p:cNvGraphicFramePr/>
          <p:nvPr/>
        </p:nvGraphicFramePr>
        <p:xfrm>
          <a:off x="4894413" y="1254200"/>
          <a:ext cx="3000000" cy="3000000"/>
        </p:xfrm>
        <a:graphic>
          <a:graphicData uri="http://schemas.openxmlformats.org/drawingml/2006/table">
            <a:tbl>
              <a:tblPr>
                <a:noFill/>
                <a:tableStyleId>{4D36BE5A-9069-42A2-BAD7-CD2C23C4D617}</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tc>
                <a:tc>
                  <a:txBody>
                    <a:bodyPr/>
                    <a:lstStyle/>
                    <a:p>
                      <a:pPr indent="0" lvl="0" marL="0" rtl="0" algn="l">
                        <a:spcBef>
                          <a:spcPts val="0"/>
                        </a:spcBef>
                        <a:spcAft>
                          <a:spcPts val="0"/>
                        </a:spcAft>
                        <a:buNone/>
                      </a:pPr>
                      <a:r>
                        <a:rPr b="1" lang="en"/>
                        <a:t>v2</a:t>
                      </a:r>
                      <a:endParaRPr b="1"/>
                    </a:p>
                  </a:txBody>
                  <a:tcPr marT="91425" marB="91425" marR="91425" marL="91425"/>
                </a:tc>
                <a:tc>
                  <a:txBody>
                    <a:bodyPr/>
                    <a:lstStyle/>
                    <a:p>
                      <a:pPr indent="0" lvl="0" marL="0" rtl="0" algn="l">
                        <a:spcBef>
                          <a:spcPts val="0"/>
                        </a:spcBef>
                        <a:spcAft>
                          <a:spcPts val="0"/>
                        </a:spcAft>
                        <a:buNone/>
                      </a:pPr>
                      <a:r>
                        <a:rPr b="1" lang="en"/>
                        <a:t>v3</a:t>
                      </a:r>
                      <a:endParaRPr b="1"/>
                    </a:p>
                  </a:txBody>
                  <a:tcPr marT="91425" marB="91425" marR="91425" marL="91425"/>
                </a:tc>
                <a:tc>
                  <a:txBody>
                    <a:bodyPr/>
                    <a:lstStyle/>
                    <a:p>
                      <a:pPr indent="0" lvl="0" marL="0" rtl="0" algn="l">
                        <a:spcBef>
                          <a:spcPts val="0"/>
                        </a:spcBef>
                        <a:spcAft>
                          <a:spcPts val="0"/>
                        </a:spcAft>
                        <a:buNone/>
                      </a:pPr>
                      <a:r>
                        <a:rPr b="1" lang="en"/>
                        <a:t>v4</a:t>
                      </a:r>
                      <a:endParaRPr b="1"/>
                    </a:p>
                  </a:txBody>
                  <a:tcPr marT="91425" marB="91425" marR="91425" marL="91425"/>
                </a:tc>
                <a:tc>
                  <a:txBody>
                    <a:bodyPr/>
                    <a:lstStyle/>
                    <a:p>
                      <a:pPr indent="0" lvl="0" marL="0" rtl="0" algn="l">
                        <a:spcBef>
                          <a:spcPts val="0"/>
                        </a:spcBef>
                        <a:spcAft>
                          <a:spcPts val="0"/>
                        </a:spcAft>
                        <a:buNone/>
                      </a:pPr>
                      <a:r>
                        <a:rPr b="1" lang="en"/>
                        <a:t>v5</a:t>
                      </a:r>
                      <a:endParaRPr b="1"/>
                    </a:p>
                  </a:txBody>
                  <a:tcPr marT="91425" marB="91425" marR="91425" marL="91425"/>
                </a:tc>
                <a:tc>
                  <a:txBody>
                    <a:bodyPr/>
                    <a:lstStyle/>
                    <a:p>
                      <a:pPr indent="0" lvl="0" marL="0" rtl="0" algn="l">
                        <a:spcBef>
                          <a:spcPts val="0"/>
                        </a:spcBef>
                        <a:spcAft>
                          <a:spcPts val="0"/>
                        </a:spcAft>
                        <a:buNone/>
                      </a:pPr>
                      <a:r>
                        <a:rPr b="1" lang="en"/>
                        <a:t>v6</a:t>
                      </a:r>
                      <a:endParaRPr b="1"/>
                    </a:p>
                  </a:txBody>
                  <a:tcPr marT="91425" marB="91425" marR="91425" marL="91425"/>
                </a:tc>
                <a:tc>
                  <a:txBody>
                    <a:bodyPr/>
                    <a:lstStyle/>
                    <a:p>
                      <a:pPr indent="0" lvl="0" marL="0" rtl="0" algn="l">
                        <a:spcBef>
                          <a:spcPts val="0"/>
                        </a:spcBef>
                        <a:spcAft>
                          <a:spcPts val="0"/>
                        </a:spcAft>
                        <a:buNone/>
                      </a:pPr>
                      <a:r>
                        <a:rPr b="1" lang="en"/>
                        <a:t>v7</a:t>
                      </a:r>
                      <a:endParaRPr b="1"/>
                    </a:p>
                  </a:txBody>
                  <a:tcPr marT="91425" marB="91425" marR="91425" marL="91425"/>
                </a:tc>
                <a:tc>
                  <a:txBody>
                    <a:bodyPr/>
                    <a:lstStyle/>
                    <a:p>
                      <a:pPr indent="0" lvl="0" marL="0" rtl="0" algn="l">
                        <a:spcBef>
                          <a:spcPts val="0"/>
                        </a:spcBef>
                        <a:spcAft>
                          <a:spcPts val="0"/>
                        </a:spcAft>
                        <a:buNone/>
                      </a:pPr>
                      <a:r>
                        <a:rPr b="1" lang="en"/>
                        <a:t>v8</a:t>
                      </a:r>
                      <a:endParaRPr b="1"/>
                    </a:p>
                  </a:txBody>
                  <a:tcPr marT="91425" marB="91425" marR="91425" marL="91425"/>
                </a:tc>
              </a:tr>
              <a:tr h="381000">
                <a:tc>
                  <a:txBody>
                    <a:bodyPr/>
                    <a:lstStyle/>
                    <a:p>
                      <a:pPr indent="0" lvl="0" marL="0" rtl="0" algn="ctr">
                        <a:spcBef>
                          <a:spcPts val="0"/>
                        </a:spcBef>
                        <a:spcAft>
                          <a:spcPts val="0"/>
                        </a:spcAft>
                        <a:buNone/>
                      </a:pPr>
                      <a:r>
                        <a:rPr b="1" lang="en"/>
                        <a:t>v1</a:t>
                      </a:r>
                      <a:endParaRPr b="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rPr b="1" lang="en"/>
                        <a:t>v2</a:t>
                      </a:r>
                      <a:endParaRPr b="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rPr b="1" lang="en"/>
                        <a:t>v3</a:t>
                      </a:r>
                      <a:endParaRPr b="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rPr b="1" lang="en"/>
                        <a:t>v4</a:t>
                      </a:r>
                      <a:endParaRPr b="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rPr b="1" lang="en"/>
                        <a:t>v5</a:t>
                      </a:r>
                      <a:endParaRPr b="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rPr b="1" lang="en"/>
                        <a:t>v6</a:t>
                      </a:r>
                      <a:endParaRPr b="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rPr b="1" lang="en"/>
                        <a:t>v7</a:t>
                      </a:r>
                      <a:endParaRPr b="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rPr b="1" lang="en"/>
                        <a:t>v8</a:t>
                      </a:r>
                      <a:endParaRPr b="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5" name="Shape 2175"/>
        <p:cNvGrpSpPr/>
        <p:nvPr/>
      </p:nvGrpSpPr>
      <p:grpSpPr>
        <a:xfrm>
          <a:off x="0" y="0"/>
          <a:ext cx="0" cy="0"/>
          <a:chOff x="0" y="0"/>
          <a:chExt cx="0" cy="0"/>
        </a:xfrm>
      </p:grpSpPr>
      <p:graphicFrame>
        <p:nvGraphicFramePr>
          <p:cNvPr id="2176" name="Google Shape;2176;p79"/>
          <p:cNvGraphicFramePr/>
          <p:nvPr/>
        </p:nvGraphicFramePr>
        <p:xfrm>
          <a:off x="4894413" y="1254200"/>
          <a:ext cx="3000000" cy="3000000"/>
        </p:xfrm>
        <a:graphic>
          <a:graphicData uri="http://schemas.openxmlformats.org/drawingml/2006/table">
            <a:tbl>
              <a:tblPr>
                <a:noFill/>
                <a:tableStyleId>{4D36BE5A-9069-42A2-BAD7-CD2C23C4D617}</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tc>
                <a:tc>
                  <a:txBody>
                    <a:bodyPr/>
                    <a:lstStyle/>
                    <a:p>
                      <a:pPr indent="0" lvl="0" marL="0" rtl="0" algn="l">
                        <a:spcBef>
                          <a:spcPts val="0"/>
                        </a:spcBef>
                        <a:spcAft>
                          <a:spcPts val="0"/>
                        </a:spcAft>
                        <a:buNone/>
                      </a:pPr>
                      <a:r>
                        <a:rPr b="1" lang="en"/>
                        <a:t>v2</a:t>
                      </a:r>
                      <a:endParaRPr b="1"/>
                    </a:p>
                  </a:txBody>
                  <a:tcPr marT="91425" marB="91425" marR="91425" marL="91425"/>
                </a:tc>
                <a:tc>
                  <a:txBody>
                    <a:bodyPr/>
                    <a:lstStyle/>
                    <a:p>
                      <a:pPr indent="0" lvl="0" marL="0" rtl="0" algn="l">
                        <a:spcBef>
                          <a:spcPts val="0"/>
                        </a:spcBef>
                        <a:spcAft>
                          <a:spcPts val="0"/>
                        </a:spcAft>
                        <a:buNone/>
                      </a:pPr>
                      <a:r>
                        <a:rPr b="1" lang="en"/>
                        <a:t>v3</a:t>
                      </a:r>
                      <a:endParaRPr b="1"/>
                    </a:p>
                  </a:txBody>
                  <a:tcPr marT="91425" marB="91425" marR="91425" marL="91425"/>
                </a:tc>
                <a:tc>
                  <a:txBody>
                    <a:bodyPr/>
                    <a:lstStyle/>
                    <a:p>
                      <a:pPr indent="0" lvl="0" marL="0" rtl="0" algn="l">
                        <a:spcBef>
                          <a:spcPts val="0"/>
                        </a:spcBef>
                        <a:spcAft>
                          <a:spcPts val="0"/>
                        </a:spcAft>
                        <a:buNone/>
                      </a:pPr>
                      <a:r>
                        <a:rPr b="1" lang="en"/>
                        <a:t>v4</a:t>
                      </a:r>
                      <a:endParaRPr b="1"/>
                    </a:p>
                  </a:txBody>
                  <a:tcPr marT="91425" marB="91425" marR="91425" marL="91425"/>
                </a:tc>
                <a:tc>
                  <a:txBody>
                    <a:bodyPr/>
                    <a:lstStyle/>
                    <a:p>
                      <a:pPr indent="0" lvl="0" marL="0" rtl="0" algn="l">
                        <a:spcBef>
                          <a:spcPts val="0"/>
                        </a:spcBef>
                        <a:spcAft>
                          <a:spcPts val="0"/>
                        </a:spcAft>
                        <a:buNone/>
                      </a:pPr>
                      <a:r>
                        <a:rPr b="1" lang="en"/>
                        <a:t>v5</a:t>
                      </a:r>
                      <a:endParaRPr b="1"/>
                    </a:p>
                  </a:txBody>
                  <a:tcPr marT="91425" marB="91425" marR="91425" marL="91425"/>
                </a:tc>
                <a:tc>
                  <a:txBody>
                    <a:bodyPr/>
                    <a:lstStyle/>
                    <a:p>
                      <a:pPr indent="0" lvl="0" marL="0" rtl="0" algn="l">
                        <a:spcBef>
                          <a:spcPts val="0"/>
                        </a:spcBef>
                        <a:spcAft>
                          <a:spcPts val="0"/>
                        </a:spcAft>
                        <a:buNone/>
                      </a:pPr>
                      <a:r>
                        <a:rPr b="1" lang="en"/>
                        <a:t>v6</a:t>
                      </a:r>
                      <a:endParaRPr b="1"/>
                    </a:p>
                  </a:txBody>
                  <a:tcPr marT="91425" marB="91425" marR="91425" marL="91425"/>
                </a:tc>
                <a:tc>
                  <a:txBody>
                    <a:bodyPr/>
                    <a:lstStyle/>
                    <a:p>
                      <a:pPr indent="0" lvl="0" marL="0" rtl="0" algn="l">
                        <a:spcBef>
                          <a:spcPts val="0"/>
                        </a:spcBef>
                        <a:spcAft>
                          <a:spcPts val="0"/>
                        </a:spcAft>
                        <a:buNone/>
                      </a:pPr>
                      <a:r>
                        <a:rPr b="1" lang="en"/>
                        <a:t>v7</a:t>
                      </a:r>
                      <a:endParaRPr b="1"/>
                    </a:p>
                  </a:txBody>
                  <a:tcPr marT="91425" marB="91425" marR="91425" marL="91425"/>
                </a:tc>
                <a:tc>
                  <a:txBody>
                    <a:bodyPr/>
                    <a:lstStyle/>
                    <a:p>
                      <a:pPr indent="0" lvl="0" marL="0" rtl="0" algn="l">
                        <a:spcBef>
                          <a:spcPts val="0"/>
                        </a:spcBef>
                        <a:spcAft>
                          <a:spcPts val="0"/>
                        </a:spcAft>
                        <a:buNone/>
                      </a:pPr>
                      <a:r>
                        <a:rPr b="1" lang="en"/>
                        <a:t>v8</a:t>
                      </a:r>
                      <a:endParaRPr b="1"/>
                    </a:p>
                  </a:txBody>
                  <a:tcPr marT="91425" marB="91425" marR="91425" marL="91425"/>
                </a:tc>
              </a:tr>
              <a:tr h="381000">
                <a:tc>
                  <a:txBody>
                    <a:bodyPr/>
                    <a:lstStyle/>
                    <a:p>
                      <a:pPr indent="0" lvl="0" marL="0" rtl="0" algn="ctr">
                        <a:spcBef>
                          <a:spcPts val="0"/>
                        </a:spcBef>
                        <a:spcAft>
                          <a:spcPts val="0"/>
                        </a:spcAft>
                        <a:buNone/>
                      </a:pPr>
                      <a:r>
                        <a:rPr b="1" lang="en"/>
                        <a:t>v1</a:t>
                      </a:r>
                      <a:endParaRPr b="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rPr b="1" lang="en"/>
                        <a:t>v2</a:t>
                      </a:r>
                      <a:endParaRPr b="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rPr b="1" lang="en"/>
                        <a:t>v3</a:t>
                      </a:r>
                      <a:endParaRPr b="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rPr b="1" lang="en"/>
                        <a:t>v4</a:t>
                      </a:r>
                      <a:endParaRPr b="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rPr b="1" lang="en"/>
                        <a:t>v5</a:t>
                      </a:r>
                      <a:endParaRPr b="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rPr b="1" lang="en"/>
                        <a:t>v6</a:t>
                      </a:r>
                      <a:endParaRPr b="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rPr b="1" lang="en"/>
                        <a:t>v7</a:t>
                      </a:r>
                      <a:endParaRPr b="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rPr b="1" lang="en"/>
                        <a:t>v8</a:t>
                      </a:r>
                      <a:endParaRPr b="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r>
            </a:tbl>
          </a:graphicData>
        </a:graphic>
      </p:graphicFrame>
      <p:sp>
        <p:nvSpPr>
          <p:cNvPr id="2177" name="Google Shape;2177;p79"/>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178" name="Google Shape;2178;p79"/>
          <p:cNvSpPr/>
          <p:nvPr/>
        </p:nvSpPr>
        <p:spPr>
          <a:xfrm>
            <a:off x="1542374"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179" name="Google Shape;2179;p79"/>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180" name="Google Shape;2180;p79"/>
          <p:cNvSpPr/>
          <p:nvPr/>
        </p:nvSpPr>
        <p:spPr>
          <a:xfrm>
            <a:off x="1542347" y="1546450"/>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181" name="Google Shape;2181;p79"/>
          <p:cNvSpPr/>
          <p:nvPr/>
        </p:nvSpPr>
        <p:spPr>
          <a:xfrm>
            <a:off x="15422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182" name="Google Shape;2182;p79"/>
          <p:cNvSpPr/>
          <p:nvPr/>
        </p:nvSpPr>
        <p:spPr>
          <a:xfrm>
            <a:off x="2785146"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183" name="Google Shape;2183;p79"/>
          <p:cNvSpPr/>
          <p:nvPr/>
        </p:nvSpPr>
        <p:spPr>
          <a:xfrm>
            <a:off x="4240467"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184" name="Google Shape;2184;p79"/>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185" name="Google Shape;2185;p79"/>
          <p:cNvCxnSpPr>
            <a:stCxn id="2177" idx="7"/>
            <a:endCxn id="2180"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2186" name="Google Shape;2186;p79"/>
          <p:cNvCxnSpPr>
            <a:stCxn id="2182" idx="6"/>
            <a:endCxn id="2183" idx="2"/>
          </p:cNvCxnSpPr>
          <p:nvPr/>
        </p:nvCxnSpPr>
        <p:spPr>
          <a:xfrm>
            <a:off x="3203646"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187" name="Google Shape;2187;p79"/>
          <p:cNvCxnSpPr>
            <a:stCxn id="2179" idx="6"/>
            <a:endCxn id="2184"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188" name="Google Shape;2188;p79"/>
          <p:cNvCxnSpPr>
            <a:stCxn id="2182" idx="4"/>
            <a:endCxn id="2179" idx="0"/>
          </p:cNvCxnSpPr>
          <p:nvPr/>
        </p:nvCxnSpPr>
        <p:spPr>
          <a:xfrm>
            <a:off x="2994396" y="32400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189" name="Google Shape;2189;p79"/>
          <p:cNvCxnSpPr>
            <a:stCxn id="2178" idx="4"/>
            <a:endCxn id="2181"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190" name="Google Shape;2190;p79"/>
          <p:cNvCxnSpPr>
            <a:stCxn id="2177" idx="5"/>
            <a:endCxn id="2181" idx="2"/>
          </p:cNvCxnSpPr>
          <p:nvPr/>
        </p:nvCxnSpPr>
        <p:spPr>
          <a:xfrm>
            <a:off x="444175" y="3180603"/>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191" name="Google Shape;2191;p79"/>
          <p:cNvCxnSpPr>
            <a:stCxn id="2177" idx="6"/>
            <a:endCxn id="2178"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192" name="Google Shape;2192;p79"/>
          <p:cNvCxnSpPr>
            <a:stCxn id="2179" idx="2"/>
            <a:endCxn id="2181" idx="6"/>
          </p:cNvCxnSpPr>
          <p:nvPr/>
        </p:nvCxnSpPr>
        <p:spPr>
          <a:xfrm rot="10800000">
            <a:off x="1960698" y="4324785"/>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193" name="Google Shape;2193;p79"/>
          <p:cNvCxnSpPr>
            <a:stCxn id="2184" idx="1"/>
            <a:endCxn id="2182"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194" name="Google Shape;2194;p79"/>
          <p:cNvCxnSpPr>
            <a:stCxn id="2183" idx="1"/>
            <a:endCxn id="2180"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195" name="Google Shape;2195;p79"/>
          <p:cNvCxnSpPr>
            <a:stCxn id="2180" idx="5"/>
            <a:endCxn id="2182"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196" name="Google Shape;2196;p79"/>
          <p:cNvCxnSpPr>
            <a:stCxn id="2178" idx="0"/>
            <a:endCxn id="2180"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197" name="Google Shape;2197;p79"/>
          <p:cNvCxnSpPr>
            <a:stCxn id="2182" idx="3"/>
            <a:endCxn id="2181" idx="7"/>
          </p:cNvCxnSpPr>
          <p:nvPr/>
        </p:nvCxnSpPr>
        <p:spPr>
          <a:xfrm flipH="1">
            <a:off x="1899634" y="318060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198" name="Google Shape;2198;p79"/>
          <p:cNvCxnSpPr>
            <a:stCxn id="2178" idx="6"/>
            <a:endCxn id="2182"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199" name="Google Shape;2199;p79"/>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sp>
        <p:nvSpPr>
          <p:cNvPr id="2200" name="Google Shape;2200;p79"/>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sp>
        <p:nvSpPr>
          <p:cNvPr id="2201" name="Google Shape;2201;p79"/>
          <p:cNvSpPr/>
          <p:nvPr/>
        </p:nvSpPr>
        <p:spPr>
          <a:xfrm>
            <a:off x="2785275" y="1237175"/>
            <a:ext cx="2952000" cy="20028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We can compute the closeness centrality of a directed graph as long as the graph is Strongly Connected!</a:t>
            </a:r>
            <a:endParaRPr b="1">
              <a:solidFill>
                <a:srgbClr val="FF0000"/>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5" name="Shape 2205"/>
        <p:cNvGrpSpPr/>
        <p:nvPr/>
      </p:nvGrpSpPr>
      <p:grpSpPr>
        <a:xfrm>
          <a:off x="0" y="0"/>
          <a:ext cx="0" cy="0"/>
          <a:chOff x="0" y="0"/>
          <a:chExt cx="0" cy="0"/>
        </a:xfrm>
      </p:grpSpPr>
      <p:sp>
        <p:nvSpPr>
          <p:cNvPr id="2206" name="Google Shape;2206;p80"/>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207" name="Google Shape;2207;p80"/>
          <p:cNvSpPr/>
          <p:nvPr/>
        </p:nvSpPr>
        <p:spPr>
          <a:xfrm>
            <a:off x="1542374"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208" name="Google Shape;2208;p80"/>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209" name="Google Shape;2209;p80"/>
          <p:cNvSpPr/>
          <p:nvPr/>
        </p:nvSpPr>
        <p:spPr>
          <a:xfrm>
            <a:off x="1542347" y="1546450"/>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210" name="Google Shape;2210;p80"/>
          <p:cNvSpPr/>
          <p:nvPr/>
        </p:nvSpPr>
        <p:spPr>
          <a:xfrm>
            <a:off x="15422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211" name="Google Shape;2211;p80"/>
          <p:cNvSpPr/>
          <p:nvPr/>
        </p:nvSpPr>
        <p:spPr>
          <a:xfrm>
            <a:off x="2785146"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212" name="Google Shape;2212;p80"/>
          <p:cNvSpPr/>
          <p:nvPr/>
        </p:nvSpPr>
        <p:spPr>
          <a:xfrm>
            <a:off x="4240467"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213" name="Google Shape;2213;p80"/>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214" name="Google Shape;2214;p80"/>
          <p:cNvCxnSpPr>
            <a:stCxn id="2206" idx="7"/>
            <a:endCxn id="2209"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2215" name="Google Shape;2215;p80"/>
          <p:cNvCxnSpPr>
            <a:stCxn id="2211" idx="6"/>
            <a:endCxn id="2212" idx="2"/>
          </p:cNvCxnSpPr>
          <p:nvPr/>
        </p:nvCxnSpPr>
        <p:spPr>
          <a:xfrm>
            <a:off x="3203646"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216" name="Google Shape;2216;p80"/>
          <p:cNvCxnSpPr>
            <a:stCxn id="2208" idx="6"/>
            <a:endCxn id="2213"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217" name="Google Shape;2217;p80"/>
          <p:cNvCxnSpPr>
            <a:stCxn id="2211" idx="4"/>
            <a:endCxn id="2208" idx="0"/>
          </p:cNvCxnSpPr>
          <p:nvPr/>
        </p:nvCxnSpPr>
        <p:spPr>
          <a:xfrm>
            <a:off x="2994396" y="32400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218" name="Google Shape;2218;p80"/>
          <p:cNvCxnSpPr>
            <a:stCxn id="2207" idx="4"/>
            <a:endCxn id="2210"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219" name="Google Shape;2219;p80"/>
          <p:cNvCxnSpPr>
            <a:stCxn id="2206" idx="5"/>
            <a:endCxn id="2210" idx="2"/>
          </p:cNvCxnSpPr>
          <p:nvPr/>
        </p:nvCxnSpPr>
        <p:spPr>
          <a:xfrm>
            <a:off x="444175" y="3180603"/>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220" name="Google Shape;2220;p80"/>
          <p:cNvCxnSpPr>
            <a:stCxn id="2206" idx="6"/>
            <a:endCxn id="2207"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221" name="Google Shape;2221;p80"/>
          <p:cNvCxnSpPr>
            <a:stCxn id="2208" idx="2"/>
            <a:endCxn id="2210" idx="6"/>
          </p:cNvCxnSpPr>
          <p:nvPr/>
        </p:nvCxnSpPr>
        <p:spPr>
          <a:xfrm rot="10800000">
            <a:off x="1960698" y="4324785"/>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222" name="Google Shape;2222;p80"/>
          <p:cNvCxnSpPr>
            <a:stCxn id="2213" idx="1"/>
            <a:endCxn id="2211"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223" name="Google Shape;2223;p80"/>
          <p:cNvCxnSpPr>
            <a:stCxn id="2212" idx="1"/>
            <a:endCxn id="2209"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224" name="Google Shape;2224;p80"/>
          <p:cNvCxnSpPr>
            <a:stCxn id="2209" idx="5"/>
            <a:endCxn id="2211"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225" name="Google Shape;2225;p80"/>
          <p:cNvCxnSpPr>
            <a:stCxn id="2207" idx="0"/>
            <a:endCxn id="2209"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226" name="Google Shape;2226;p80"/>
          <p:cNvCxnSpPr>
            <a:stCxn id="2211" idx="3"/>
            <a:endCxn id="2210" idx="7"/>
          </p:cNvCxnSpPr>
          <p:nvPr/>
        </p:nvCxnSpPr>
        <p:spPr>
          <a:xfrm flipH="1">
            <a:off x="1899634" y="318060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227" name="Google Shape;2227;p80"/>
          <p:cNvCxnSpPr>
            <a:stCxn id="2207" idx="6"/>
            <a:endCxn id="2211"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228" name="Google Shape;2228;p80"/>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sp>
        <p:nvSpPr>
          <p:cNvPr id="2229" name="Google Shape;2229;p80"/>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graphicFrame>
        <p:nvGraphicFramePr>
          <p:cNvPr id="2230" name="Google Shape;2230;p80"/>
          <p:cNvGraphicFramePr/>
          <p:nvPr/>
        </p:nvGraphicFramePr>
        <p:xfrm>
          <a:off x="4894413" y="1254200"/>
          <a:ext cx="3000000" cy="3000000"/>
        </p:xfrm>
        <a:graphic>
          <a:graphicData uri="http://schemas.openxmlformats.org/drawingml/2006/table">
            <a:tbl>
              <a:tblPr>
                <a:noFill/>
                <a:tableStyleId>{4D36BE5A-9069-42A2-BAD7-CD2C23C4D617}</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tc>
                <a:tc>
                  <a:txBody>
                    <a:bodyPr/>
                    <a:lstStyle/>
                    <a:p>
                      <a:pPr indent="0" lvl="0" marL="0" rtl="0" algn="l">
                        <a:spcBef>
                          <a:spcPts val="0"/>
                        </a:spcBef>
                        <a:spcAft>
                          <a:spcPts val="0"/>
                        </a:spcAft>
                        <a:buNone/>
                      </a:pPr>
                      <a:r>
                        <a:rPr b="1" lang="en"/>
                        <a:t>v2</a:t>
                      </a:r>
                      <a:endParaRPr b="1"/>
                    </a:p>
                  </a:txBody>
                  <a:tcPr marT="91425" marB="91425" marR="91425" marL="91425"/>
                </a:tc>
                <a:tc>
                  <a:txBody>
                    <a:bodyPr/>
                    <a:lstStyle/>
                    <a:p>
                      <a:pPr indent="0" lvl="0" marL="0" rtl="0" algn="l">
                        <a:spcBef>
                          <a:spcPts val="0"/>
                        </a:spcBef>
                        <a:spcAft>
                          <a:spcPts val="0"/>
                        </a:spcAft>
                        <a:buNone/>
                      </a:pPr>
                      <a:r>
                        <a:rPr b="1" lang="en"/>
                        <a:t>v3</a:t>
                      </a:r>
                      <a:endParaRPr b="1"/>
                    </a:p>
                  </a:txBody>
                  <a:tcPr marT="91425" marB="91425" marR="91425" marL="91425"/>
                </a:tc>
                <a:tc>
                  <a:txBody>
                    <a:bodyPr/>
                    <a:lstStyle/>
                    <a:p>
                      <a:pPr indent="0" lvl="0" marL="0" rtl="0" algn="l">
                        <a:spcBef>
                          <a:spcPts val="0"/>
                        </a:spcBef>
                        <a:spcAft>
                          <a:spcPts val="0"/>
                        </a:spcAft>
                        <a:buNone/>
                      </a:pPr>
                      <a:r>
                        <a:rPr b="1" lang="en"/>
                        <a:t>v4</a:t>
                      </a:r>
                      <a:endParaRPr b="1"/>
                    </a:p>
                  </a:txBody>
                  <a:tcPr marT="91425" marB="91425" marR="91425" marL="91425"/>
                </a:tc>
                <a:tc>
                  <a:txBody>
                    <a:bodyPr/>
                    <a:lstStyle/>
                    <a:p>
                      <a:pPr indent="0" lvl="0" marL="0" rtl="0" algn="l">
                        <a:spcBef>
                          <a:spcPts val="0"/>
                        </a:spcBef>
                        <a:spcAft>
                          <a:spcPts val="0"/>
                        </a:spcAft>
                        <a:buNone/>
                      </a:pPr>
                      <a:r>
                        <a:rPr b="1" lang="en"/>
                        <a:t>v5</a:t>
                      </a:r>
                      <a:endParaRPr b="1"/>
                    </a:p>
                  </a:txBody>
                  <a:tcPr marT="91425" marB="91425" marR="91425" marL="91425"/>
                </a:tc>
                <a:tc>
                  <a:txBody>
                    <a:bodyPr/>
                    <a:lstStyle/>
                    <a:p>
                      <a:pPr indent="0" lvl="0" marL="0" rtl="0" algn="l">
                        <a:spcBef>
                          <a:spcPts val="0"/>
                        </a:spcBef>
                        <a:spcAft>
                          <a:spcPts val="0"/>
                        </a:spcAft>
                        <a:buNone/>
                      </a:pPr>
                      <a:r>
                        <a:rPr b="1" lang="en"/>
                        <a:t>v6</a:t>
                      </a:r>
                      <a:endParaRPr b="1"/>
                    </a:p>
                  </a:txBody>
                  <a:tcPr marT="91425" marB="91425" marR="91425" marL="91425"/>
                </a:tc>
                <a:tc>
                  <a:txBody>
                    <a:bodyPr/>
                    <a:lstStyle/>
                    <a:p>
                      <a:pPr indent="0" lvl="0" marL="0" rtl="0" algn="l">
                        <a:spcBef>
                          <a:spcPts val="0"/>
                        </a:spcBef>
                        <a:spcAft>
                          <a:spcPts val="0"/>
                        </a:spcAft>
                        <a:buNone/>
                      </a:pPr>
                      <a:r>
                        <a:rPr b="1" lang="en"/>
                        <a:t>v7</a:t>
                      </a:r>
                      <a:endParaRPr b="1"/>
                    </a:p>
                  </a:txBody>
                  <a:tcPr marT="91425" marB="91425" marR="91425" marL="91425"/>
                </a:tc>
                <a:tc>
                  <a:txBody>
                    <a:bodyPr/>
                    <a:lstStyle/>
                    <a:p>
                      <a:pPr indent="0" lvl="0" marL="0" rtl="0" algn="l">
                        <a:spcBef>
                          <a:spcPts val="0"/>
                        </a:spcBef>
                        <a:spcAft>
                          <a:spcPts val="0"/>
                        </a:spcAft>
                        <a:buNone/>
                      </a:pPr>
                      <a:r>
                        <a:rPr b="1" lang="en"/>
                        <a:t>v8</a:t>
                      </a:r>
                      <a:endParaRPr b="1"/>
                    </a:p>
                  </a:txBody>
                  <a:tcPr marT="91425" marB="91425" marR="91425" marL="91425"/>
                </a:tc>
              </a:tr>
              <a:tr h="381000">
                <a:tc>
                  <a:txBody>
                    <a:bodyPr/>
                    <a:lstStyle/>
                    <a:p>
                      <a:pPr indent="0" lvl="0" marL="0" rtl="0" algn="ctr">
                        <a:spcBef>
                          <a:spcPts val="0"/>
                        </a:spcBef>
                        <a:spcAft>
                          <a:spcPts val="0"/>
                        </a:spcAft>
                        <a:buNone/>
                      </a:pPr>
                      <a:r>
                        <a:rPr b="1" lang="en"/>
                        <a:t>v1</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v2</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v3</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v4</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v5</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v6</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v7</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v8</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r>
            </a:tbl>
          </a:graphicData>
        </a:graphic>
      </p:graphicFrame>
      <p:sp>
        <p:nvSpPr>
          <p:cNvPr id="2231" name="Google Shape;2231;p80"/>
          <p:cNvSpPr txBox="1"/>
          <p:nvPr/>
        </p:nvSpPr>
        <p:spPr>
          <a:xfrm>
            <a:off x="5084125" y="4820000"/>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Geodesic Distance Matrix</a:t>
            </a:r>
            <a:endParaRPr b="1" sz="1800">
              <a:solidFill>
                <a:srgbClr val="0000FF"/>
              </a:solidFill>
              <a:latin typeface="Economica"/>
              <a:ea typeface="Economica"/>
              <a:cs typeface="Economica"/>
              <a:sym typeface="Economica"/>
            </a:endParaRPr>
          </a:p>
        </p:txBody>
      </p:sp>
      <p:sp>
        <p:nvSpPr>
          <p:cNvPr id="2232" name="Google Shape;2232;p80"/>
          <p:cNvSpPr/>
          <p:nvPr/>
        </p:nvSpPr>
        <p:spPr>
          <a:xfrm>
            <a:off x="1518400" y="1087750"/>
            <a:ext cx="2952000" cy="11442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We just fill up the geodesic distance matrix as usual</a:t>
            </a:r>
            <a:endParaRPr b="1">
              <a:solidFill>
                <a:srgbClr val="FF0000"/>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6" name="Shape 2236"/>
        <p:cNvGrpSpPr/>
        <p:nvPr/>
      </p:nvGrpSpPr>
      <p:grpSpPr>
        <a:xfrm>
          <a:off x="0" y="0"/>
          <a:ext cx="0" cy="0"/>
          <a:chOff x="0" y="0"/>
          <a:chExt cx="0" cy="0"/>
        </a:xfrm>
      </p:grpSpPr>
      <p:sp>
        <p:nvSpPr>
          <p:cNvPr id="2237" name="Google Shape;2237;p81"/>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238" name="Google Shape;2238;p81"/>
          <p:cNvSpPr/>
          <p:nvPr/>
        </p:nvSpPr>
        <p:spPr>
          <a:xfrm>
            <a:off x="1542374"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239" name="Google Shape;2239;p81"/>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240" name="Google Shape;2240;p81"/>
          <p:cNvSpPr/>
          <p:nvPr/>
        </p:nvSpPr>
        <p:spPr>
          <a:xfrm>
            <a:off x="1542347" y="1546450"/>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241" name="Google Shape;2241;p81"/>
          <p:cNvSpPr/>
          <p:nvPr/>
        </p:nvSpPr>
        <p:spPr>
          <a:xfrm>
            <a:off x="15422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242" name="Google Shape;2242;p81"/>
          <p:cNvSpPr/>
          <p:nvPr/>
        </p:nvSpPr>
        <p:spPr>
          <a:xfrm>
            <a:off x="2785146"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243" name="Google Shape;2243;p81"/>
          <p:cNvSpPr/>
          <p:nvPr/>
        </p:nvSpPr>
        <p:spPr>
          <a:xfrm>
            <a:off x="4240467"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244" name="Google Shape;2244;p81"/>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245" name="Google Shape;2245;p81"/>
          <p:cNvCxnSpPr>
            <a:stCxn id="2237" idx="7"/>
            <a:endCxn id="2240"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2246" name="Google Shape;2246;p81"/>
          <p:cNvCxnSpPr>
            <a:stCxn id="2242" idx="6"/>
            <a:endCxn id="2243" idx="2"/>
          </p:cNvCxnSpPr>
          <p:nvPr/>
        </p:nvCxnSpPr>
        <p:spPr>
          <a:xfrm>
            <a:off x="3203646"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247" name="Google Shape;2247;p81"/>
          <p:cNvCxnSpPr>
            <a:stCxn id="2239" idx="6"/>
            <a:endCxn id="2244"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248" name="Google Shape;2248;p81"/>
          <p:cNvCxnSpPr>
            <a:stCxn id="2242" idx="4"/>
            <a:endCxn id="2239" idx="0"/>
          </p:cNvCxnSpPr>
          <p:nvPr/>
        </p:nvCxnSpPr>
        <p:spPr>
          <a:xfrm>
            <a:off x="2994396" y="32400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249" name="Google Shape;2249;p81"/>
          <p:cNvCxnSpPr>
            <a:stCxn id="2238" idx="4"/>
            <a:endCxn id="2241"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250" name="Google Shape;2250;p81"/>
          <p:cNvCxnSpPr>
            <a:stCxn id="2237" idx="5"/>
            <a:endCxn id="2241" idx="2"/>
          </p:cNvCxnSpPr>
          <p:nvPr/>
        </p:nvCxnSpPr>
        <p:spPr>
          <a:xfrm>
            <a:off x="444175" y="3180603"/>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251" name="Google Shape;2251;p81"/>
          <p:cNvCxnSpPr>
            <a:stCxn id="2237" idx="6"/>
            <a:endCxn id="2238"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252" name="Google Shape;2252;p81"/>
          <p:cNvCxnSpPr>
            <a:stCxn id="2239" idx="2"/>
            <a:endCxn id="2241" idx="6"/>
          </p:cNvCxnSpPr>
          <p:nvPr/>
        </p:nvCxnSpPr>
        <p:spPr>
          <a:xfrm rot="10800000">
            <a:off x="1960698" y="4324785"/>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253" name="Google Shape;2253;p81"/>
          <p:cNvCxnSpPr>
            <a:stCxn id="2244" idx="1"/>
            <a:endCxn id="2242"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254" name="Google Shape;2254;p81"/>
          <p:cNvCxnSpPr>
            <a:stCxn id="2243" idx="1"/>
            <a:endCxn id="2240"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255" name="Google Shape;2255;p81"/>
          <p:cNvCxnSpPr>
            <a:stCxn id="2240" idx="5"/>
            <a:endCxn id="2242"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256" name="Google Shape;2256;p81"/>
          <p:cNvCxnSpPr>
            <a:stCxn id="2238" idx="0"/>
            <a:endCxn id="2240"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257" name="Google Shape;2257;p81"/>
          <p:cNvCxnSpPr>
            <a:stCxn id="2242" idx="3"/>
            <a:endCxn id="2241" idx="7"/>
          </p:cNvCxnSpPr>
          <p:nvPr/>
        </p:nvCxnSpPr>
        <p:spPr>
          <a:xfrm flipH="1">
            <a:off x="1899634" y="318060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258" name="Google Shape;2258;p81"/>
          <p:cNvCxnSpPr>
            <a:stCxn id="2238" idx="6"/>
            <a:endCxn id="2242"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259" name="Google Shape;2259;p81"/>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sp>
        <p:nvSpPr>
          <p:cNvPr id="2260" name="Google Shape;2260;p81"/>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graphicFrame>
        <p:nvGraphicFramePr>
          <p:cNvPr id="2261" name="Google Shape;2261;p81"/>
          <p:cNvGraphicFramePr/>
          <p:nvPr/>
        </p:nvGraphicFramePr>
        <p:xfrm>
          <a:off x="4894413" y="1254200"/>
          <a:ext cx="3000000" cy="3000000"/>
        </p:xfrm>
        <a:graphic>
          <a:graphicData uri="http://schemas.openxmlformats.org/drawingml/2006/table">
            <a:tbl>
              <a:tblPr>
                <a:noFill/>
                <a:tableStyleId>{4D36BE5A-9069-42A2-BAD7-CD2C23C4D617}</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tc>
                <a:tc>
                  <a:txBody>
                    <a:bodyPr/>
                    <a:lstStyle/>
                    <a:p>
                      <a:pPr indent="0" lvl="0" marL="0" rtl="0" algn="l">
                        <a:spcBef>
                          <a:spcPts val="0"/>
                        </a:spcBef>
                        <a:spcAft>
                          <a:spcPts val="0"/>
                        </a:spcAft>
                        <a:buNone/>
                      </a:pPr>
                      <a:r>
                        <a:rPr b="1" lang="en"/>
                        <a:t>v2</a:t>
                      </a:r>
                      <a:endParaRPr b="1"/>
                    </a:p>
                  </a:txBody>
                  <a:tcPr marT="91425" marB="91425" marR="91425" marL="91425"/>
                </a:tc>
                <a:tc>
                  <a:txBody>
                    <a:bodyPr/>
                    <a:lstStyle/>
                    <a:p>
                      <a:pPr indent="0" lvl="0" marL="0" rtl="0" algn="l">
                        <a:spcBef>
                          <a:spcPts val="0"/>
                        </a:spcBef>
                        <a:spcAft>
                          <a:spcPts val="0"/>
                        </a:spcAft>
                        <a:buNone/>
                      </a:pPr>
                      <a:r>
                        <a:rPr b="1" lang="en"/>
                        <a:t>v3</a:t>
                      </a:r>
                      <a:endParaRPr b="1"/>
                    </a:p>
                  </a:txBody>
                  <a:tcPr marT="91425" marB="91425" marR="91425" marL="91425"/>
                </a:tc>
                <a:tc>
                  <a:txBody>
                    <a:bodyPr/>
                    <a:lstStyle/>
                    <a:p>
                      <a:pPr indent="0" lvl="0" marL="0" rtl="0" algn="l">
                        <a:spcBef>
                          <a:spcPts val="0"/>
                        </a:spcBef>
                        <a:spcAft>
                          <a:spcPts val="0"/>
                        </a:spcAft>
                        <a:buNone/>
                      </a:pPr>
                      <a:r>
                        <a:rPr b="1" lang="en"/>
                        <a:t>v4</a:t>
                      </a:r>
                      <a:endParaRPr b="1"/>
                    </a:p>
                  </a:txBody>
                  <a:tcPr marT="91425" marB="91425" marR="91425" marL="91425"/>
                </a:tc>
                <a:tc>
                  <a:txBody>
                    <a:bodyPr/>
                    <a:lstStyle/>
                    <a:p>
                      <a:pPr indent="0" lvl="0" marL="0" rtl="0" algn="l">
                        <a:spcBef>
                          <a:spcPts val="0"/>
                        </a:spcBef>
                        <a:spcAft>
                          <a:spcPts val="0"/>
                        </a:spcAft>
                        <a:buNone/>
                      </a:pPr>
                      <a:r>
                        <a:rPr b="1" lang="en"/>
                        <a:t>v5</a:t>
                      </a:r>
                      <a:endParaRPr b="1"/>
                    </a:p>
                  </a:txBody>
                  <a:tcPr marT="91425" marB="91425" marR="91425" marL="91425"/>
                </a:tc>
                <a:tc>
                  <a:txBody>
                    <a:bodyPr/>
                    <a:lstStyle/>
                    <a:p>
                      <a:pPr indent="0" lvl="0" marL="0" rtl="0" algn="l">
                        <a:spcBef>
                          <a:spcPts val="0"/>
                        </a:spcBef>
                        <a:spcAft>
                          <a:spcPts val="0"/>
                        </a:spcAft>
                        <a:buNone/>
                      </a:pPr>
                      <a:r>
                        <a:rPr b="1" lang="en"/>
                        <a:t>v6</a:t>
                      </a:r>
                      <a:endParaRPr b="1"/>
                    </a:p>
                  </a:txBody>
                  <a:tcPr marT="91425" marB="91425" marR="91425" marL="91425"/>
                </a:tc>
                <a:tc>
                  <a:txBody>
                    <a:bodyPr/>
                    <a:lstStyle/>
                    <a:p>
                      <a:pPr indent="0" lvl="0" marL="0" rtl="0" algn="l">
                        <a:spcBef>
                          <a:spcPts val="0"/>
                        </a:spcBef>
                        <a:spcAft>
                          <a:spcPts val="0"/>
                        </a:spcAft>
                        <a:buNone/>
                      </a:pPr>
                      <a:r>
                        <a:rPr b="1" lang="en"/>
                        <a:t>v7</a:t>
                      </a:r>
                      <a:endParaRPr b="1"/>
                    </a:p>
                  </a:txBody>
                  <a:tcPr marT="91425" marB="91425" marR="91425" marL="91425"/>
                </a:tc>
                <a:tc>
                  <a:txBody>
                    <a:bodyPr/>
                    <a:lstStyle/>
                    <a:p>
                      <a:pPr indent="0" lvl="0" marL="0" rtl="0" algn="l">
                        <a:spcBef>
                          <a:spcPts val="0"/>
                        </a:spcBef>
                        <a:spcAft>
                          <a:spcPts val="0"/>
                        </a:spcAft>
                        <a:buNone/>
                      </a:pPr>
                      <a:r>
                        <a:rPr b="1" lang="en"/>
                        <a:t>v8</a:t>
                      </a:r>
                      <a:endParaRPr b="1"/>
                    </a:p>
                  </a:txBody>
                  <a:tcPr marT="91425" marB="91425" marR="91425" marL="91425"/>
                </a:tc>
              </a:tr>
              <a:tr h="381000">
                <a:tc>
                  <a:txBody>
                    <a:bodyPr/>
                    <a:lstStyle/>
                    <a:p>
                      <a:pPr indent="0" lvl="0" marL="0" rtl="0" algn="ctr">
                        <a:spcBef>
                          <a:spcPts val="0"/>
                        </a:spcBef>
                        <a:spcAft>
                          <a:spcPts val="0"/>
                        </a:spcAft>
                        <a:buNone/>
                      </a:pPr>
                      <a:r>
                        <a:rPr b="1" lang="en"/>
                        <a:t>v1</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v2</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v3</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v4</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v5</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v6</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v7</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v8</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r>
            </a:tbl>
          </a:graphicData>
        </a:graphic>
      </p:graphicFrame>
      <p:sp>
        <p:nvSpPr>
          <p:cNvPr id="2262" name="Google Shape;2262;p81"/>
          <p:cNvSpPr txBox="1"/>
          <p:nvPr/>
        </p:nvSpPr>
        <p:spPr>
          <a:xfrm>
            <a:off x="5084125" y="4820000"/>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Geodesic Distance Matrix</a:t>
            </a:r>
            <a:endParaRPr b="1" sz="1800">
              <a:solidFill>
                <a:srgbClr val="0000FF"/>
              </a:solidFill>
              <a:latin typeface="Economica"/>
              <a:ea typeface="Economica"/>
              <a:cs typeface="Economica"/>
              <a:sym typeface="Economica"/>
            </a:endParaRPr>
          </a:p>
        </p:txBody>
      </p:sp>
      <p:sp>
        <p:nvSpPr>
          <p:cNvPr id="2263" name="Google Shape;2263;p81"/>
          <p:cNvSpPr/>
          <p:nvPr/>
        </p:nvSpPr>
        <p:spPr>
          <a:xfrm>
            <a:off x="1518400" y="1087750"/>
            <a:ext cx="2952000" cy="11442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Except that in the directed graph this matrix will be asymmetric!</a:t>
            </a:r>
            <a:endParaRPr b="1">
              <a:solidFill>
                <a:srgbClr val="FF0000"/>
              </a:solidFill>
            </a:endParaRPr>
          </a:p>
        </p:txBody>
      </p:sp>
      <p:cxnSp>
        <p:nvCxnSpPr>
          <p:cNvPr id="2264" name="Google Shape;2264;p81"/>
          <p:cNvCxnSpPr/>
          <p:nvPr/>
        </p:nvCxnSpPr>
        <p:spPr>
          <a:xfrm>
            <a:off x="4931350" y="1280875"/>
            <a:ext cx="3401400" cy="3529500"/>
          </a:xfrm>
          <a:prstGeom prst="straightConnector1">
            <a:avLst/>
          </a:prstGeom>
          <a:noFill/>
          <a:ln cap="flat" cmpd="sng" w="19050">
            <a:solidFill>
              <a:srgbClr val="FF0000"/>
            </a:solidFill>
            <a:prstDash val="solid"/>
            <a:round/>
            <a:headEnd len="med" w="med" type="none"/>
            <a:tailEnd len="med" w="med" type="none"/>
          </a:ln>
        </p:spPr>
      </p:cxn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8" name="Shape 2268"/>
        <p:cNvGrpSpPr/>
        <p:nvPr/>
      </p:nvGrpSpPr>
      <p:grpSpPr>
        <a:xfrm>
          <a:off x="0" y="0"/>
          <a:ext cx="0" cy="0"/>
          <a:chOff x="0" y="0"/>
          <a:chExt cx="0" cy="0"/>
        </a:xfrm>
      </p:grpSpPr>
      <p:sp>
        <p:nvSpPr>
          <p:cNvPr id="2269" name="Google Shape;2269;p82"/>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270" name="Google Shape;2270;p82"/>
          <p:cNvSpPr/>
          <p:nvPr/>
        </p:nvSpPr>
        <p:spPr>
          <a:xfrm>
            <a:off x="1542374"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271" name="Google Shape;2271;p82"/>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272" name="Google Shape;2272;p82"/>
          <p:cNvSpPr/>
          <p:nvPr/>
        </p:nvSpPr>
        <p:spPr>
          <a:xfrm>
            <a:off x="1542347" y="1546450"/>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273" name="Google Shape;2273;p82"/>
          <p:cNvSpPr/>
          <p:nvPr/>
        </p:nvSpPr>
        <p:spPr>
          <a:xfrm>
            <a:off x="15422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274" name="Google Shape;2274;p82"/>
          <p:cNvSpPr/>
          <p:nvPr/>
        </p:nvSpPr>
        <p:spPr>
          <a:xfrm>
            <a:off x="2785146"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275" name="Google Shape;2275;p82"/>
          <p:cNvSpPr/>
          <p:nvPr/>
        </p:nvSpPr>
        <p:spPr>
          <a:xfrm>
            <a:off x="4240467"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276" name="Google Shape;2276;p82"/>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277" name="Google Shape;2277;p82"/>
          <p:cNvCxnSpPr>
            <a:stCxn id="2269" idx="7"/>
            <a:endCxn id="2272"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2278" name="Google Shape;2278;p82"/>
          <p:cNvCxnSpPr>
            <a:stCxn id="2274" idx="6"/>
            <a:endCxn id="2275" idx="2"/>
          </p:cNvCxnSpPr>
          <p:nvPr/>
        </p:nvCxnSpPr>
        <p:spPr>
          <a:xfrm>
            <a:off x="3203646"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279" name="Google Shape;2279;p82"/>
          <p:cNvCxnSpPr>
            <a:stCxn id="2271" idx="6"/>
            <a:endCxn id="2276"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280" name="Google Shape;2280;p82"/>
          <p:cNvCxnSpPr>
            <a:stCxn id="2274" idx="4"/>
            <a:endCxn id="2271" idx="0"/>
          </p:cNvCxnSpPr>
          <p:nvPr/>
        </p:nvCxnSpPr>
        <p:spPr>
          <a:xfrm>
            <a:off x="2994396" y="32400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281" name="Google Shape;2281;p82"/>
          <p:cNvCxnSpPr>
            <a:stCxn id="2270" idx="4"/>
            <a:endCxn id="2273"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282" name="Google Shape;2282;p82"/>
          <p:cNvCxnSpPr>
            <a:stCxn id="2269" idx="5"/>
            <a:endCxn id="2273" idx="2"/>
          </p:cNvCxnSpPr>
          <p:nvPr/>
        </p:nvCxnSpPr>
        <p:spPr>
          <a:xfrm>
            <a:off x="444175" y="3180603"/>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283" name="Google Shape;2283;p82"/>
          <p:cNvCxnSpPr>
            <a:stCxn id="2269" idx="6"/>
            <a:endCxn id="2270"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284" name="Google Shape;2284;p82"/>
          <p:cNvCxnSpPr>
            <a:stCxn id="2271" idx="2"/>
            <a:endCxn id="2273" idx="6"/>
          </p:cNvCxnSpPr>
          <p:nvPr/>
        </p:nvCxnSpPr>
        <p:spPr>
          <a:xfrm rot="10800000">
            <a:off x="1960698" y="4324785"/>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285" name="Google Shape;2285;p82"/>
          <p:cNvCxnSpPr>
            <a:stCxn id="2276" idx="1"/>
            <a:endCxn id="2274"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286" name="Google Shape;2286;p82"/>
          <p:cNvCxnSpPr>
            <a:stCxn id="2275" idx="1"/>
            <a:endCxn id="2272"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287" name="Google Shape;2287;p82"/>
          <p:cNvCxnSpPr>
            <a:stCxn id="2272" idx="5"/>
            <a:endCxn id="2274"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288" name="Google Shape;2288;p82"/>
          <p:cNvCxnSpPr>
            <a:stCxn id="2270" idx="0"/>
            <a:endCxn id="2272"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289" name="Google Shape;2289;p82"/>
          <p:cNvCxnSpPr>
            <a:stCxn id="2274" idx="3"/>
            <a:endCxn id="2273" idx="7"/>
          </p:cNvCxnSpPr>
          <p:nvPr/>
        </p:nvCxnSpPr>
        <p:spPr>
          <a:xfrm flipH="1">
            <a:off x="1899634" y="318060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290" name="Google Shape;2290;p82"/>
          <p:cNvCxnSpPr>
            <a:stCxn id="2270" idx="6"/>
            <a:endCxn id="2274"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291" name="Google Shape;2291;p82"/>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sp>
        <p:nvSpPr>
          <p:cNvPr id="2292" name="Google Shape;2292;p82"/>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graphicFrame>
        <p:nvGraphicFramePr>
          <p:cNvPr id="2293" name="Google Shape;2293;p82"/>
          <p:cNvGraphicFramePr/>
          <p:nvPr/>
        </p:nvGraphicFramePr>
        <p:xfrm>
          <a:off x="4894413" y="1254200"/>
          <a:ext cx="3000000" cy="3000000"/>
        </p:xfrm>
        <a:graphic>
          <a:graphicData uri="http://schemas.openxmlformats.org/drawingml/2006/table">
            <a:tbl>
              <a:tblPr>
                <a:noFill/>
                <a:tableStyleId>{4D36BE5A-9069-42A2-BAD7-CD2C23C4D617}</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tc>
                <a:tc>
                  <a:txBody>
                    <a:bodyPr/>
                    <a:lstStyle/>
                    <a:p>
                      <a:pPr indent="0" lvl="0" marL="0" rtl="0" algn="l">
                        <a:spcBef>
                          <a:spcPts val="0"/>
                        </a:spcBef>
                        <a:spcAft>
                          <a:spcPts val="0"/>
                        </a:spcAft>
                        <a:buNone/>
                      </a:pPr>
                      <a:r>
                        <a:rPr b="1" lang="en"/>
                        <a:t>v2</a:t>
                      </a:r>
                      <a:endParaRPr b="1"/>
                    </a:p>
                  </a:txBody>
                  <a:tcPr marT="91425" marB="91425" marR="91425" marL="91425"/>
                </a:tc>
                <a:tc>
                  <a:txBody>
                    <a:bodyPr/>
                    <a:lstStyle/>
                    <a:p>
                      <a:pPr indent="0" lvl="0" marL="0" rtl="0" algn="l">
                        <a:spcBef>
                          <a:spcPts val="0"/>
                        </a:spcBef>
                        <a:spcAft>
                          <a:spcPts val="0"/>
                        </a:spcAft>
                        <a:buNone/>
                      </a:pPr>
                      <a:r>
                        <a:rPr b="1" lang="en"/>
                        <a:t>v3</a:t>
                      </a:r>
                      <a:endParaRPr b="1"/>
                    </a:p>
                  </a:txBody>
                  <a:tcPr marT="91425" marB="91425" marR="91425" marL="91425"/>
                </a:tc>
                <a:tc>
                  <a:txBody>
                    <a:bodyPr/>
                    <a:lstStyle/>
                    <a:p>
                      <a:pPr indent="0" lvl="0" marL="0" rtl="0" algn="l">
                        <a:spcBef>
                          <a:spcPts val="0"/>
                        </a:spcBef>
                        <a:spcAft>
                          <a:spcPts val="0"/>
                        </a:spcAft>
                        <a:buNone/>
                      </a:pPr>
                      <a:r>
                        <a:rPr b="1" lang="en"/>
                        <a:t>v4</a:t>
                      </a:r>
                      <a:endParaRPr b="1"/>
                    </a:p>
                  </a:txBody>
                  <a:tcPr marT="91425" marB="91425" marR="91425" marL="91425"/>
                </a:tc>
                <a:tc>
                  <a:txBody>
                    <a:bodyPr/>
                    <a:lstStyle/>
                    <a:p>
                      <a:pPr indent="0" lvl="0" marL="0" rtl="0" algn="l">
                        <a:spcBef>
                          <a:spcPts val="0"/>
                        </a:spcBef>
                        <a:spcAft>
                          <a:spcPts val="0"/>
                        </a:spcAft>
                        <a:buNone/>
                      </a:pPr>
                      <a:r>
                        <a:rPr b="1" lang="en"/>
                        <a:t>v5</a:t>
                      </a:r>
                      <a:endParaRPr b="1"/>
                    </a:p>
                  </a:txBody>
                  <a:tcPr marT="91425" marB="91425" marR="91425" marL="91425"/>
                </a:tc>
                <a:tc>
                  <a:txBody>
                    <a:bodyPr/>
                    <a:lstStyle/>
                    <a:p>
                      <a:pPr indent="0" lvl="0" marL="0" rtl="0" algn="l">
                        <a:spcBef>
                          <a:spcPts val="0"/>
                        </a:spcBef>
                        <a:spcAft>
                          <a:spcPts val="0"/>
                        </a:spcAft>
                        <a:buNone/>
                      </a:pPr>
                      <a:r>
                        <a:rPr b="1" lang="en"/>
                        <a:t>v6</a:t>
                      </a:r>
                      <a:endParaRPr b="1"/>
                    </a:p>
                  </a:txBody>
                  <a:tcPr marT="91425" marB="91425" marR="91425" marL="91425"/>
                </a:tc>
                <a:tc>
                  <a:txBody>
                    <a:bodyPr/>
                    <a:lstStyle/>
                    <a:p>
                      <a:pPr indent="0" lvl="0" marL="0" rtl="0" algn="l">
                        <a:spcBef>
                          <a:spcPts val="0"/>
                        </a:spcBef>
                        <a:spcAft>
                          <a:spcPts val="0"/>
                        </a:spcAft>
                        <a:buNone/>
                      </a:pPr>
                      <a:r>
                        <a:rPr b="1" lang="en"/>
                        <a:t>v7</a:t>
                      </a:r>
                      <a:endParaRPr b="1"/>
                    </a:p>
                  </a:txBody>
                  <a:tcPr marT="91425" marB="91425" marR="91425" marL="91425"/>
                </a:tc>
                <a:tc>
                  <a:txBody>
                    <a:bodyPr/>
                    <a:lstStyle/>
                    <a:p>
                      <a:pPr indent="0" lvl="0" marL="0" rtl="0" algn="l">
                        <a:spcBef>
                          <a:spcPts val="0"/>
                        </a:spcBef>
                        <a:spcAft>
                          <a:spcPts val="0"/>
                        </a:spcAft>
                        <a:buNone/>
                      </a:pPr>
                      <a:r>
                        <a:rPr b="1" lang="en"/>
                        <a:t>v8</a:t>
                      </a:r>
                      <a:endParaRPr b="1"/>
                    </a:p>
                  </a:txBody>
                  <a:tcPr marT="91425" marB="91425" marR="91425" marL="91425"/>
                </a:tc>
              </a:tr>
              <a:tr h="381000">
                <a:tc>
                  <a:txBody>
                    <a:bodyPr/>
                    <a:lstStyle/>
                    <a:p>
                      <a:pPr indent="0" lvl="0" marL="0" rtl="0" algn="ctr">
                        <a:spcBef>
                          <a:spcPts val="0"/>
                        </a:spcBef>
                        <a:spcAft>
                          <a:spcPts val="0"/>
                        </a:spcAft>
                        <a:buNone/>
                      </a:pPr>
                      <a:r>
                        <a:rPr b="1" lang="en"/>
                        <a:t>v1</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v2</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v3</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v4</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v5</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v6</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v7</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v8</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r>
            </a:tbl>
          </a:graphicData>
        </a:graphic>
      </p:graphicFrame>
      <p:sp>
        <p:nvSpPr>
          <p:cNvPr id="2294" name="Google Shape;2294;p82"/>
          <p:cNvSpPr txBox="1"/>
          <p:nvPr/>
        </p:nvSpPr>
        <p:spPr>
          <a:xfrm>
            <a:off x="5084125" y="4820000"/>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Geodesic Distance Matrix</a:t>
            </a:r>
            <a:endParaRPr b="1" sz="1800">
              <a:solidFill>
                <a:srgbClr val="0000FF"/>
              </a:solidFill>
              <a:latin typeface="Economica"/>
              <a:ea typeface="Economica"/>
              <a:cs typeface="Economica"/>
              <a:sym typeface="Economica"/>
            </a:endParaRPr>
          </a:p>
        </p:txBody>
      </p:sp>
      <p:graphicFrame>
        <p:nvGraphicFramePr>
          <p:cNvPr id="2295" name="Google Shape;2295;p82"/>
          <p:cNvGraphicFramePr/>
          <p:nvPr/>
        </p:nvGraphicFramePr>
        <p:xfrm>
          <a:off x="8393975" y="1650400"/>
          <a:ext cx="3000000" cy="3000000"/>
        </p:xfrm>
        <a:graphic>
          <a:graphicData uri="http://schemas.openxmlformats.org/drawingml/2006/table">
            <a:tbl>
              <a:tblPr>
                <a:noFill/>
                <a:tableStyleId>{D533A967-1B24-4C1F-A5BD-666CA7F43D67}</a:tableStyleId>
              </a:tblPr>
              <a:tblGrid>
                <a:gridCol w="438325"/>
              </a:tblGrid>
              <a:tr h="396200">
                <a:tc>
                  <a:txBody>
                    <a:bodyPr/>
                    <a:lstStyle/>
                    <a:p>
                      <a:pPr indent="0" lvl="0" marL="0" rtl="0" algn="ctr">
                        <a:lnSpc>
                          <a:spcPct val="115000"/>
                        </a:lnSpc>
                        <a:spcBef>
                          <a:spcPts val="0"/>
                        </a:spcBef>
                        <a:spcAft>
                          <a:spcPts val="0"/>
                        </a:spcAft>
                        <a:buNone/>
                      </a:pPr>
                      <a:r>
                        <a:rPr lang="en"/>
                        <a:t>14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16</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13</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12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18</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16</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19</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17</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2296" name="Google Shape;2296;p82"/>
          <p:cNvSpPr/>
          <p:nvPr/>
        </p:nvSpPr>
        <p:spPr>
          <a:xfrm>
            <a:off x="1518400" y="1087750"/>
            <a:ext cx="2952000" cy="6618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We then compute the row sums as usual</a:t>
            </a:r>
            <a:endParaRPr b="1">
              <a:solidFill>
                <a:srgbClr val="FF0000"/>
              </a:solidFill>
            </a:endParaRPr>
          </a:p>
        </p:txBody>
      </p:sp>
      <p:pic>
        <p:nvPicPr>
          <p:cNvPr descr="\sum_j d_{ij}&#10;%abbd7cd5-ad50-4af0-b0f5-b8a65678d49f" id="2297" name="Google Shape;2297;p82"/>
          <p:cNvPicPr preferRelativeResize="0"/>
          <p:nvPr/>
        </p:nvPicPr>
        <p:blipFill>
          <a:blip r:embed="rId3">
            <a:alphaModFix/>
          </a:blip>
          <a:stretch>
            <a:fillRect/>
          </a:stretch>
        </p:blipFill>
        <p:spPr>
          <a:xfrm>
            <a:off x="8393975" y="1170213"/>
            <a:ext cx="555171" cy="45720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1" name="Shape 2301"/>
        <p:cNvGrpSpPr/>
        <p:nvPr/>
      </p:nvGrpSpPr>
      <p:grpSpPr>
        <a:xfrm>
          <a:off x="0" y="0"/>
          <a:ext cx="0" cy="0"/>
          <a:chOff x="0" y="0"/>
          <a:chExt cx="0" cy="0"/>
        </a:xfrm>
      </p:grpSpPr>
      <p:sp>
        <p:nvSpPr>
          <p:cNvPr id="2302" name="Google Shape;2302;p83"/>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303" name="Google Shape;2303;p83"/>
          <p:cNvSpPr/>
          <p:nvPr/>
        </p:nvSpPr>
        <p:spPr>
          <a:xfrm>
            <a:off x="1542374"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304" name="Google Shape;2304;p83"/>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305" name="Google Shape;2305;p83"/>
          <p:cNvSpPr/>
          <p:nvPr/>
        </p:nvSpPr>
        <p:spPr>
          <a:xfrm>
            <a:off x="1542347" y="1546450"/>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306" name="Google Shape;2306;p83"/>
          <p:cNvSpPr/>
          <p:nvPr/>
        </p:nvSpPr>
        <p:spPr>
          <a:xfrm>
            <a:off x="15422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307" name="Google Shape;2307;p83"/>
          <p:cNvSpPr/>
          <p:nvPr/>
        </p:nvSpPr>
        <p:spPr>
          <a:xfrm>
            <a:off x="2785146"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308" name="Google Shape;2308;p83"/>
          <p:cNvSpPr/>
          <p:nvPr/>
        </p:nvSpPr>
        <p:spPr>
          <a:xfrm>
            <a:off x="4240467"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309" name="Google Shape;2309;p83"/>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310" name="Google Shape;2310;p83"/>
          <p:cNvCxnSpPr>
            <a:stCxn id="2302" idx="7"/>
            <a:endCxn id="2305"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2311" name="Google Shape;2311;p83"/>
          <p:cNvCxnSpPr>
            <a:stCxn id="2307" idx="6"/>
            <a:endCxn id="2308" idx="2"/>
          </p:cNvCxnSpPr>
          <p:nvPr/>
        </p:nvCxnSpPr>
        <p:spPr>
          <a:xfrm>
            <a:off x="3203646"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312" name="Google Shape;2312;p83"/>
          <p:cNvCxnSpPr>
            <a:stCxn id="2304" idx="6"/>
            <a:endCxn id="2309"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313" name="Google Shape;2313;p83"/>
          <p:cNvCxnSpPr>
            <a:stCxn id="2307" idx="4"/>
            <a:endCxn id="2304" idx="0"/>
          </p:cNvCxnSpPr>
          <p:nvPr/>
        </p:nvCxnSpPr>
        <p:spPr>
          <a:xfrm>
            <a:off x="2994396" y="32400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314" name="Google Shape;2314;p83"/>
          <p:cNvCxnSpPr>
            <a:stCxn id="2303" idx="4"/>
            <a:endCxn id="2306"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315" name="Google Shape;2315;p83"/>
          <p:cNvCxnSpPr>
            <a:stCxn id="2302" idx="5"/>
            <a:endCxn id="2306" idx="2"/>
          </p:cNvCxnSpPr>
          <p:nvPr/>
        </p:nvCxnSpPr>
        <p:spPr>
          <a:xfrm>
            <a:off x="444175" y="3180603"/>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316" name="Google Shape;2316;p83"/>
          <p:cNvCxnSpPr>
            <a:stCxn id="2302" idx="6"/>
            <a:endCxn id="2303"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317" name="Google Shape;2317;p83"/>
          <p:cNvCxnSpPr>
            <a:stCxn id="2304" idx="2"/>
            <a:endCxn id="2306" idx="6"/>
          </p:cNvCxnSpPr>
          <p:nvPr/>
        </p:nvCxnSpPr>
        <p:spPr>
          <a:xfrm rot="10800000">
            <a:off x="1960698" y="4324785"/>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318" name="Google Shape;2318;p83"/>
          <p:cNvCxnSpPr>
            <a:stCxn id="2309" idx="1"/>
            <a:endCxn id="2307"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319" name="Google Shape;2319;p83"/>
          <p:cNvCxnSpPr>
            <a:stCxn id="2308" idx="1"/>
            <a:endCxn id="2305"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320" name="Google Shape;2320;p83"/>
          <p:cNvCxnSpPr>
            <a:stCxn id="2305" idx="5"/>
            <a:endCxn id="2307"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321" name="Google Shape;2321;p83"/>
          <p:cNvCxnSpPr>
            <a:stCxn id="2303" idx="0"/>
            <a:endCxn id="2305"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322" name="Google Shape;2322;p83"/>
          <p:cNvCxnSpPr>
            <a:stCxn id="2307" idx="3"/>
            <a:endCxn id="2306" idx="7"/>
          </p:cNvCxnSpPr>
          <p:nvPr/>
        </p:nvCxnSpPr>
        <p:spPr>
          <a:xfrm flipH="1">
            <a:off x="1899634" y="318060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323" name="Google Shape;2323;p83"/>
          <p:cNvCxnSpPr>
            <a:stCxn id="2303" idx="6"/>
            <a:endCxn id="2307"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324" name="Google Shape;2324;p83"/>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sp>
        <p:nvSpPr>
          <p:cNvPr id="2325" name="Google Shape;2325;p83"/>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graphicFrame>
        <p:nvGraphicFramePr>
          <p:cNvPr id="2326" name="Google Shape;2326;p83"/>
          <p:cNvGraphicFramePr/>
          <p:nvPr/>
        </p:nvGraphicFramePr>
        <p:xfrm>
          <a:off x="4894413" y="1254200"/>
          <a:ext cx="3000000" cy="3000000"/>
        </p:xfrm>
        <a:graphic>
          <a:graphicData uri="http://schemas.openxmlformats.org/drawingml/2006/table">
            <a:tbl>
              <a:tblPr>
                <a:noFill/>
                <a:tableStyleId>{4D36BE5A-9069-42A2-BAD7-CD2C23C4D617}</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tc>
                <a:tc>
                  <a:txBody>
                    <a:bodyPr/>
                    <a:lstStyle/>
                    <a:p>
                      <a:pPr indent="0" lvl="0" marL="0" rtl="0" algn="l">
                        <a:spcBef>
                          <a:spcPts val="0"/>
                        </a:spcBef>
                        <a:spcAft>
                          <a:spcPts val="0"/>
                        </a:spcAft>
                        <a:buNone/>
                      </a:pPr>
                      <a:r>
                        <a:rPr b="1" lang="en"/>
                        <a:t>v2</a:t>
                      </a:r>
                      <a:endParaRPr b="1"/>
                    </a:p>
                  </a:txBody>
                  <a:tcPr marT="91425" marB="91425" marR="91425" marL="91425"/>
                </a:tc>
                <a:tc>
                  <a:txBody>
                    <a:bodyPr/>
                    <a:lstStyle/>
                    <a:p>
                      <a:pPr indent="0" lvl="0" marL="0" rtl="0" algn="l">
                        <a:spcBef>
                          <a:spcPts val="0"/>
                        </a:spcBef>
                        <a:spcAft>
                          <a:spcPts val="0"/>
                        </a:spcAft>
                        <a:buNone/>
                      </a:pPr>
                      <a:r>
                        <a:rPr b="1" lang="en"/>
                        <a:t>v3</a:t>
                      </a:r>
                      <a:endParaRPr b="1"/>
                    </a:p>
                  </a:txBody>
                  <a:tcPr marT="91425" marB="91425" marR="91425" marL="91425"/>
                </a:tc>
                <a:tc>
                  <a:txBody>
                    <a:bodyPr/>
                    <a:lstStyle/>
                    <a:p>
                      <a:pPr indent="0" lvl="0" marL="0" rtl="0" algn="l">
                        <a:spcBef>
                          <a:spcPts val="0"/>
                        </a:spcBef>
                        <a:spcAft>
                          <a:spcPts val="0"/>
                        </a:spcAft>
                        <a:buNone/>
                      </a:pPr>
                      <a:r>
                        <a:rPr b="1" lang="en"/>
                        <a:t>v4</a:t>
                      </a:r>
                      <a:endParaRPr b="1"/>
                    </a:p>
                  </a:txBody>
                  <a:tcPr marT="91425" marB="91425" marR="91425" marL="91425"/>
                </a:tc>
                <a:tc>
                  <a:txBody>
                    <a:bodyPr/>
                    <a:lstStyle/>
                    <a:p>
                      <a:pPr indent="0" lvl="0" marL="0" rtl="0" algn="l">
                        <a:spcBef>
                          <a:spcPts val="0"/>
                        </a:spcBef>
                        <a:spcAft>
                          <a:spcPts val="0"/>
                        </a:spcAft>
                        <a:buNone/>
                      </a:pPr>
                      <a:r>
                        <a:rPr b="1" lang="en"/>
                        <a:t>v5</a:t>
                      </a:r>
                      <a:endParaRPr b="1"/>
                    </a:p>
                  </a:txBody>
                  <a:tcPr marT="91425" marB="91425" marR="91425" marL="91425"/>
                </a:tc>
                <a:tc>
                  <a:txBody>
                    <a:bodyPr/>
                    <a:lstStyle/>
                    <a:p>
                      <a:pPr indent="0" lvl="0" marL="0" rtl="0" algn="l">
                        <a:spcBef>
                          <a:spcPts val="0"/>
                        </a:spcBef>
                        <a:spcAft>
                          <a:spcPts val="0"/>
                        </a:spcAft>
                        <a:buNone/>
                      </a:pPr>
                      <a:r>
                        <a:rPr b="1" lang="en"/>
                        <a:t>v6</a:t>
                      </a:r>
                      <a:endParaRPr b="1"/>
                    </a:p>
                  </a:txBody>
                  <a:tcPr marT="91425" marB="91425" marR="91425" marL="91425"/>
                </a:tc>
                <a:tc>
                  <a:txBody>
                    <a:bodyPr/>
                    <a:lstStyle/>
                    <a:p>
                      <a:pPr indent="0" lvl="0" marL="0" rtl="0" algn="l">
                        <a:spcBef>
                          <a:spcPts val="0"/>
                        </a:spcBef>
                        <a:spcAft>
                          <a:spcPts val="0"/>
                        </a:spcAft>
                        <a:buNone/>
                      </a:pPr>
                      <a:r>
                        <a:rPr b="1" lang="en"/>
                        <a:t>v7</a:t>
                      </a:r>
                      <a:endParaRPr b="1"/>
                    </a:p>
                  </a:txBody>
                  <a:tcPr marT="91425" marB="91425" marR="91425" marL="91425"/>
                </a:tc>
                <a:tc>
                  <a:txBody>
                    <a:bodyPr/>
                    <a:lstStyle/>
                    <a:p>
                      <a:pPr indent="0" lvl="0" marL="0" rtl="0" algn="l">
                        <a:spcBef>
                          <a:spcPts val="0"/>
                        </a:spcBef>
                        <a:spcAft>
                          <a:spcPts val="0"/>
                        </a:spcAft>
                        <a:buNone/>
                      </a:pPr>
                      <a:r>
                        <a:rPr b="1" lang="en"/>
                        <a:t>v8</a:t>
                      </a:r>
                      <a:endParaRPr b="1"/>
                    </a:p>
                  </a:txBody>
                  <a:tcPr marT="91425" marB="91425" marR="91425" marL="91425"/>
                </a:tc>
              </a:tr>
              <a:tr h="381000">
                <a:tc>
                  <a:txBody>
                    <a:bodyPr/>
                    <a:lstStyle/>
                    <a:p>
                      <a:pPr indent="0" lvl="0" marL="0" rtl="0" algn="ctr">
                        <a:spcBef>
                          <a:spcPts val="0"/>
                        </a:spcBef>
                        <a:spcAft>
                          <a:spcPts val="0"/>
                        </a:spcAft>
                        <a:buNone/>
                      </a:pPr>
                      <a:r>
                        <a:rPr b="1" lang="en"/>
                        <a:t>v1</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v2</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v3</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v4</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v5</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v6</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v7</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v8</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r>
            </a:tbl>
          </a:graphicData>
        </a:graphic>
      </p:graphicFrame>
      <p:sp>
        <p:nvSpPr>
          <p:cNvPr id="2327" name="Google Shape;2327;p83"/>
          <p:cNvSpPr txBox="1"/>
          <p:nvPr/>
        </p:nvSpPr>
        <p:spPr>
          <a:xfrm>
            <a:off x="5084125" y="4820000"/>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Geodesic Distance Matrix</a:t>
            </a:r>
            <a:endParaRPr b="1" sz="1800">
              <a:solidFill>
                <a:srgbClr val="0000FF"/>
              </a:solidFill>
              <a:latin typeface="Economica"/>
              <a:ea typeface="Economica"/>
              <a:cs typeface="Economica"/>
              <a:sym typeface="Economica"/>
            </a:endParaRPr>
          </a:p>
        </p:txBody>
      </p:sp>
      <p:graphicFrame>
        <p:nvGraphicFramePr>
          <p:cNvPr id="2328" name="Google Shape;2328;p83"/>
          <p:cNvGraphicFramePr/>
          <p:nvPr/>
        </p:nvGraphicFramePr>
        <p:xfrm>
          <a:off x="8393975" y="1650400"/>
          <a:ext cx="3000000" cy="3000000"/>
        </p:xfrm>
        <a:graphic>
          <a:graphicData uri="http://schemas.openxmlformats.org/drawingml/2006/table">
            <a:tbl>
              <a:tblPr>
                <a:noFill/>
                <a:tableStyleId>{D533A967-1B24-4C1F-A5BD-666CA7F43D67}</a:tableStyleId>
              </a:tblPr>
              <a:tblGrid>
                <a:gridCol w="438325"/>
              </a:tblGrid>
              <a:tr h="396200">
                <a:tc>
                  <a:txBody>
                    <a:bodyPr/>
                    <a:lstStyle/>
                    <a:p>
                      <a:pPr indent="0" lvl="0" marL="0" rtl="0" algn="ctr">
                        <a:lnSpc>
                          <a:spcPct val="115000"/>
                        </a:lnSpc>
                        <a:spcBef>
                          <a:spcPts val="0"/>
                        </a:spcBef>
                        <a:spcAft>
                          <a:spcPts val="0"/>
                        </a:spcAft>
                        <a:buNone/>
                      </a:pPr>
                      <a:r>
                        <a:rPr lang="en"/>
                        <a:t>0.50</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0.44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0.54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0.58</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0.39</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0.44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0.37</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0.41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descr="C_{clos}(i)=\frac{(N-1)}{\sum_j^{ }d_{ij}}&#10;%39cfe88f-89f9-4ab1-acdf-1c885009498c" id="2329" name="Google Shape;2329;p83"/>
          <p:cNvPicPr preferRelativeResize="0"/>
          <p:nvPr/>
        </p:nvPicPr>
        <p:blipFill rotWithShape="1">
          <a:blip r:embed="rId3">
            <a:alphaModFix/>
          </a:blip>
          <a:srcRect b="0" l="63123" r="0" t="0"/>
          <a:stretch/>
        </p:blipFill>
        <p:spPr>
          <a:xfrm>
            <a:off x="8386525" y="1179750"/>
            <a:ext cx="646300" cy="438150"/>
          </a:xfrm>
          <a:prstGeom prst="rect">
            <a:avLst/>
          </a:prstGeom>
          <a:noFill/>
          <a:ln>
            <a:noFill/>
          </a:ln>
        </p:spPr>
      </p:pic>
      <p:sp>
        <p:nvSpPr>
          <p:cNvPr id="2330" name="Google Shape;2330;p83"/>
          <p:cNvSpPr/>
          <p:nvPr/>
        </p:nvSpPr>
        <p:spPr>
          <a:xfrm>
            <a:off x="1518400" y="1087750"/>
            <a:ext cx="2952000" cy="11442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And normalize the same way as the undirected graph!</a:t>
            </a:r>
            <a:endParaRPr b="1">
              <a:solidFill>
                <a:srgbClr val="FF0000"/>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4" name="Shape 2334"/>
        <p:cNvGrpSpPr/>
        <p:nvPr/>
      </p:nvGrpSpPr>
      <p:grpSpPr>
        <a:xfrm>
          <a:off x="0" y="0"/>
          <a:ext cx="0" cy="0"/>
          <a:chOff x="0" y="0"/>
          <a:chExt cx="0" cy="0"/>
        </a:xfrm>
      </p:grpSpPr>
      <p:sp>
        <p:nvSpPr>
          <p:cNvPr id="2335" name="Google Shape;2335;p84"/>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336" name="Google Shape;2336;p84"/>
          <p:cNvSpPr/>
          <p:nvPr/>
        </p:nvSpPr>
        <p:spPr>
          <a:xfrm>
            <a:off x="1542374"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337" name="Google Shape;2337;p84"/>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338" name="Google Shape;2338;p84"/>
          <p:cNvSpPr/>
          <p:nvPr/>
        </p:nvSpPr>
        <p:spPr>
          <a:xfrm>
            <a:off x="1542347" y="1546450"/>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339" name="Google Shape;2339;p84"/>
          <p:cNvSpPr/>
          <p:nvPr/>
        </p:nvSpPr>
        <p:spPr>
          <a:xfrm>
            <a:off x="15422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340" name="Google Shape;2340;p84"/>
          <p:cNvSpPr/>
          <p:nvPr/>
        </p:nvSpPr>
        <p:spPr>
          <a:xfrm>
            <a:off x="2785146" y="2834146"/>
            <a:ext cx="418500" cy="405900"/>
          </a:xfrm>
          <a:prstGeom prst="ellipse">
            <a:avLst/>
          </a:prstGeom>
          <a:solidFill>
            <a:schemeClr val="accent6"/>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341" name="Google Shape;2341;p84"/>
          <p:cNvSpPr/>
          <p:nvPr/>
        </p:nvSpPr>
        <p:spPr>
          <a:xfrm>
            <a:off x="4240467"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342" name="Google Shape;2342;p84"/>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343" name="Google Shape;2343;p84"/>
          <p:cNvCxnSpPr>
            <a:stCxn id="2335" idx="7"/>
            <a:endCxn id="2338"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2344" name="Google Shape;2344;p84"/>
          <p:cNvCxnSpPr>
            <a:stCxn id="2340" idx="6"/>
            <a:endCxn id="2341" idx="2"/>
          </p:cNvCxnSpPr>
          <p:nvPr/>
        </p:nvCxnSpPr>
        <p:spPr>
          <a:xfrm>
            <a:off x="3203646"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345" name="Google Shape;2345;p84"/>
          <p:cNvCxnSpPr>
            <a:stCxn id="2337" idx="6"/>
            <a:endCxn id="2342"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346" name="Google Shape;2346;p84"/>
          <p:cNvCxnSpPr>
            <a:stCxn id="2340" idx="4"/>
            <a:endCxn id="2337" idx="0"/>
          </p:cNvCxnSpPr>
          <p:nvPr/>
        </p:nvCxnSpPr>
        <p:spPr>
          <a:xfrm>
            <a:off x="2994396" y="32400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347" name="Google Shape;2347;p84"/>
          <p:cNvCxnSpPr>
            <a:stCxn id="2336" idx="4"/>
            <a:endCxn id="2339"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348" name="Google Shape;2348;p84"/>
          <p:cNvCxnSpPr>
            <a:stCxn id="2335" idx="5"/>
            <a:endCxn id="2339" idx="2"/>
          </p:cNvCxnSpPr>
          <p:nvPr/>
        </p:nvCxnSpPr>
        <p:spPr>
          <a:xfrm>
            <a:off x="444175" y="3180603"/>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349" name="Google Shape;2349;p84"/>
          <p:cNvCxnSpPr>
            <a:stCxn id="2335" idx="6"/>
            <a:endCxn id="2336"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350" name="Google Shape;2350;p84"/>
          <p:cNvCxnSpPr>
            <a:stCxn id="2337" idx="2"/>
            <a:endCxn id="2339" idx="6"/>
          </p:cNvCxnSpPr>
          <p:nvPr/>
        </p:nvCxnSpPr>
        <p:spPr>
          <a:xfrm rot="10800000">
            <a:off x="1960698" y="4324785"/>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351" name="Google Shape;2351;p84"/>
          <p:cNvCxnSpPr>
            <a:stCxn id="2342" idx="1"/>
            <a:endCxn id="2340"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352" name="Google Shape;2352;p84"/>
          <p:cNvCxnSpPr>
            <a:stCxn id="2341" idx="1"/>
            <a:endCxn id="2338"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353" name="Google Shape;2353;p84"/>
          <p:cNvCxnSpPr>
            <a:stCxn id="2338" idx="5"/>
            <a:endCxn id="2340"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354" name="Google Shape;2354;p84"/>
          <p:cNvCxnSpPr>
            <a:stCxn id="2336" idx="0"/>
            <a:endCxn id="2338"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355" name="Google Shape;2355;p84"/>
          <p:cNvCxnSpPr>
            <a:stCxn id="2340" idx="3"/>
            <a:endCxn id="2339" idx="7"/>
          </p:cNvCxnSpPr>
          <p:nvPr/>
        </p:nvCxnSpPr>
        <p:spPr>
          <a:xfrm flipH="1">
            <a:off x="1899634" y="318060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356" name="Google Shape;2356;p84"/>
          <p:cNvCxnSpPr>
            <a:stCxn id="2336" idx="6"/>
            <a:endCxn id="2340"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357" name="Google Shape;2357;p84"/>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sp>
        <p:nvSpPr>
          <p:cNvPr id="2358" name="Google Shape;2358;p84"/>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graphicFrame>
        <p:nvGraphicFramePr>
          <p:cNvPr id="2359" name="Google Shape;2359;p84"/>
          <p:cNvGraphicFramePr/>
          <p:nvPr/>
        </p:nvGraphicFramePr>
        <p:xfrm>
          <a:off x="4894413" y="1254200"/>
          <a:ext cx="3000000" cy="3000000"/>
        </p:xfrm>
        <a:graphic>
          <a:graphicData uri="http://schemas.openxmlformats.org/drawingml/2006/table">
            <a:tbl>
              <a:tblPr>
                <a:noFill/>
                <a:tableStyleId>{4D36BE5A-9069-42A2-BAD7-CD2C23C4D617}</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tc>
                <a:tc>
                  <a:txBody>
                    <a:bodyPr/>
                    <a:lstStyle/>
                    <a:p>
                      <a:pPr indent="0" lvl="0" marL="0" rtl="0" algn="l">
                        <a:spcBef>
                          <a:spcPts val="0"/>
                        </a:spcBef>
                        <a:spcAft>
                          <a:spcPts val="0"/>
                        </a:spcAft>
                        <a:buNone/>
                      </a:pPr>
                      <a:r>
                        <a:rPr b="1" lang="en"/>
                        <a:t>v2</a:t>
                      </a:r>
                      <a:endParaRPr b="1"/>
                    </a:p>
                  </a:txBody>
                  <a:tcPr marT="91425" marB="91425" marR="91425" marL="91425"/>
                </a:tc>
                <a:tc>
                  <a:txBody>
                    <a:bodyPr/>
                    <a:lstStyle/>
                    <a:p>
                      <a:pPr indent="0" lvl="0" marL="0" rtl="0" algn="l">
                        <a:spcBef>
                          <a:spcPts val="0"/>
                        </a:spcBef>
                        <a:spcAft>
                          <a:spcPts val="0"/>
                        </a:spcAft>
                        <a:buNone/>
                      </a:pPr>
                      <a:r>
                        <a:rPr b="1" lang="en"/>
                        <a:t>v3</a:t>
                      </a:r>
                      <a:endParaRPr b="1"/>
                    </a:p>
                  </a:txBody>
                  <a:tcPr marT="91425" marB="91425" marR="91425" marL="91425"/>
                </a:tc>
                <a:tc>
                  <a:txBody>
                    <a:bodyPr/>
                    <a:lstStyle/>
                    <a:p>
                      <a:pPr indent="0" lvl="0" marL="0" rtl="0" algn="l">
                        <a:spcBef>
                          <a:spcPts val="0"/>
                        </a:spcBef>
                        <a:spcAft>
                          <a:spcPts val="0"/>
                        </a:spcAft>
                        <a:buNone/>
                      </a:pPr>
                      <a:r>
                        <a:rPr b="1" lang="en"/>
                        <a:t>v4</a:t>
                      </a:r>
                      <a:endParaRPr b="1"/>
                    </a:p>
                  </a:txBody>
                  <a:tcPr marT="91425" marB="91425" marR="91425" marL="91425"/>
                </a:tc>
                <a:tc>
                  <a:txBody>
                    <a:bodyPr/>
                    <a:lstStyle/>
                    <a:p>
                      <a:pPr indent="0" lvl="0" marL="0" rtl="0" algn="l">
                        <a:spcBef>
                          <a:spcPts val="0"/>
                        </a:spcBef>
                        <a:spcAft>
                          <a:spcPts val="0"/>
                        </a:spcAft>
                        <a:buNone/>
                      </a:pPr>
                      <a:r>
                        <a:rPr b="1" lang="en"/>
                        <a:t>v5</a:t>
                      </a:r>
                      <a:endParaRPr b="1"/>
                    </a:p>
                  </a:txBody>
                  <a:tcPr marT="91425" marB="91425" marR="91425" marL="91425"/>
                </a:tc>
                <a:tc>
                  <a:txBody>
                    <a:bodyPr/>
                    <a:lstStyle/>
                    <a:p>
                      <a:pPr indent="0" lvl="0" marL="0" rtl="0" algn="l">
                        <a:spcBef>
                          <a:spcPts val="0"/>
                        </a:spcBef>
                        <a:spcAft>
                          <a:spcPts val="0"/>
                        </a:spcAft>
                        <a:buNone/>
                      </a:pPr>
                      <a:r>
                        <a:rPr b="1" lang="en"/>
                        <a:t>v6</a:t>
                      </a:r>
                      <a:endParaRPr b="1"/>
                    </a:p>
                  </a:txBody>
                  <a:tcPr marT="91425" marB="91425" marR="91425" marL="91425"/>
                </a:tc>
                <a:tc>
                  <a:txBody>
                    <a:bodyPr/>
                    <a:lstStyle/>
                    <a:p>
                      <a:pPr indent="0" lvl="0" marL="0" rtl="0" algn="l">
                        <a:spcBef>
                          <a:spcPts val="0"/>
                        </a:spcBef>
                        <a:spcAft>
                          <a:spcPts val="0"/>
                        </a:spcAft>
                        <a:buNone/>
                      </a:pPr>
                      <a:r>
                        <a:rPr b="1" lang="en"/>
                        <a:t>v7</a:t>
                      </a:r>
                      <a:endParaRPr b="1"/>
                    </a:p>
                  </a:txBody>
                  <a:tcPr marT="91425" marB="91425" marR="91425" marL="91425"/>
                </a:tc>
                <a:tc>
                  <a:txBody>
                    <a:bodyPr/>
                    <a:lstStyle/>
                    <a:p>
                      <a:pPr indent="0" lvl="0" marL="0" rtl="0" algn="l">
                        <a:spcBef>
                          <a:spcPts val="0"/>
                        </a:spcBef>
                        <a:spcAft>
                          <a:spcPts val="0"/>
                        </a:spcAft>
                        <a:buNone/>
                      </a:pPr>
                      <a:r>
                        <a:rPr b="1" lang="en"/>
                        <a:t>v8</a:t>
                      </a:r>
                      <a:endParaRPr b="1"/>
                    </a:p>
                  </a:txBody>
                  <a:tcPr marT="91425" marB="91425" marR="91425" marL="91425"/>
                </a:tc>
              </a:tr>
              <a:tr h="381000">
                <a:tc>
                  <a:txBody>
                    <a:bodyPr/>
                    <a:lstStyle/>
                    <a:p>
                      <a:pPr indent="0" lvl="0" marL="0" rtl="0" algn="ctr">
                        <a:spcBef>
                          <a:spcPts val="0"/>
                        </a:spcBef>
                        <a:spcAft>
                          <a:spcPts val="0"/>
                        </a:spcAft>
                        <a:buNone/>
                      </a:pPr>
                      <a:r>
                        <a:rPr b="1" lang="en"/>
                        <a:t>v1</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v2</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v3</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v4</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solidFill>
                      <a:schemeClr val="accent6"/>
                    </a:solidFill>
                  </a:tcPr>
                </a:tc>
              </a:tr>
              <a:tr h="381000">
                <a:tc>
                  <a:txBody>
                    <a:bodyPr/>
                    <a:lstStyle/>
                    <a:p>
                      <a:pPr indent="0" lvl="0" marL="0" rtl="0" algn="ctr">
                        <a:spcBef>
                          <a:spcPts val="0"/>
                        </a:spcBef>
                        <a:spcAft>
                          <a:spcPts val="0"/>
                        </a:spcAft>
                        <a:buNone/>
                      </a:pPr>
                      <a:r>
                        <a:rPr b="1" lang="en"/>
                        <a:t>v5</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v6</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v7</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v8</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r>
            </a:tbl>
          </a:graphicData>
        </a:graphic>
      </p:graphicFrame>
      <p:sp>
        <p:nvSpPr>
          <p:cNvPr id="2360" name="Google Shape;2360;p84"/>
          <p:cNvSpPr txBox="1"/>
          <p:nvPr/>
        </p:nvSpPr>
        <p:spPr>
          <a:xfrm>
            <a:off x="5084125" y="4820000"/>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Geodesic Distance Matrix</a:t>
            </a:r>
            <a:endParaRPr b="1" sz="1800">
              <a:solidFill>
                <a:srgbClr val="0000FF"/>
              </a:solidFill>
              <a:latin typeface="Economica"/>
              <a:ea typeface="Economica"/>
              <a:cs typeface="Economica"/>
              <a:sym typeface="Economica"/>
            </a:endParaRPr>
          </a:p>
        </p:txBody>
      </p:sp>
      <p:graphicFrame>
        <p:nvGraphicFramePr>
          <p:cNvPr id="2361" name="Google Shape;2361;p84"/>
          <p:cNvGraphicFramePr/>
          <p:nvPr/>
        </p:nvGraphicFramePr>
        <p:xfrm>
          <a:off x="8393975" y="1650400"/>
          <a:ext cx="3000000" cy="3000000"/>
        </p:xfrm>
        <a:graphic>
          <a:graphicData uri="http://schemas.openxmlformats.org/drawingml/2006/table">
            <a:tbl>
              <a:tblPr>
                <a:noFill/>
                <a:tableStyleId>{D533A967-1B24-4C1F-A5BD-666CA7F43D67}</a:tableStyleId>
              </a:tblPr>
              <a:tblGrid>
                <a:gridCol w="438325"/>
              </a:tblGrid>
              <a:tr h="396200">
                <a:tc>
                  <a:txBody>
                    <a:bodyPr/>
                    <a:lstStyle/>
                    <a:p>
                      <a:pPr indent="0" lvl="0" marL="0" rtl="0" algn="ctr">
                        <a:lnSpc>
                          <a:spcPct val="115000"/>
                        </a:lnSpc>
                        <a:spcBef>
                          <a:spcPts val="0"/>
                        </a:spcBef>
                        <a:spcAft>
                          <a:spcPts val="0"/>
                        </a:spcAft>
                        <a:buNone/>
                      </a:pPr>
                      <a:r>
                        <a:rPr lang="en"/>
                        <a:t>0.50</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0.44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0.54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0.58</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396200">
                <a:tc>
                  <a:txBody>
                    <a:bodyPr/>
                    <a:lstStyle/>
                    <a:p>
                      <a:pPr indent="0" lvl="0" marL="0" rtl="0" algn="ctr">
                        <a:lnSpc>
                          <a:spcPct val="115000"/>
                        </a:lnSpc>
                        <a:spcBef>
                          <a:spcPts val="0"/>
                        </a:spcBef>
                        <a:spcAft>
                          <a:spcPts val="0"/>
                        </a:spcAft>
                        <a:buNone/>
                      </a:pPr>
                      <a:r>
                        <a:rPr lang="en"/>
                        <a:t>0.39</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0.44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0.37</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0.41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2362" name="Google Shape;2362;p84"/>
          <p:cNvSpPr/>
          <p:nvPr/>
        </p:nvSpPr>
        <p:spPr>
          <a:xfrm>
            <a:off x="1960700" y="1147225"/>
            <a:ext cx="2952000" cy="7467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Node 4 is the highest in closeness centrality!</a:t>
            </a:r>
            <a:endParaRPr b="1">
              <a:solidFill>
                <a:srgbClr val="FF0000"/>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6" name="Shape 2366"/>
        <p:cNvGrpSpPr/>
        <p:nvPr/>
      </p:nvGrpSpPr>
      <p:grpSpPr>
        <a:xfrm>
          <a:off x="0" y="0"/>
          <a:ext cx="0" cy="0"/>
          <a:chOff x="0" y="0"/>
          <a:chExt cx="0" cy="0"/>
        </a:xfrm>
      </p:grpSpPr>
      <p:sp>
        <p:nvSpPr>
          <p:cNvPr id="2367" name="Google Shape;2367;p85"/>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368" name="Google Shape;2368;p85"/>
          <p:cNvSpPr/>
          <p:nvPr/>
        </p:nvSpPr>
        <p:spPr>
          <a:xfrm>
            <a:off x="1542374"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369" name="Google Shape;2369;p85"/>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370" name="Google Shape;2370;p85"/>
          <p:cNvSpPr/>
          <p:nvPr/>
        </p:nvSpPr>
        <p:spPr>
          <a:xfrm>
            <a:off x="1542347" y="1546450"/>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371" name="Google Shape;2371;p85"/>
          <p:cNvSpPr/>
          <p:nvPr/>
        </p:nvSpPr>
        <p:spPr>
          <a:xfrm>
            <a:off x="15422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372" name="Google Shape;2372;p85"/>
          <p:cNvSpPr/>
          <p:nvPr/>
        </p:nvSpPr>
        <p:spPr>
          <a:xfrm>
            <a:off x="2785146" y="2834146"/>
            <a:ext cx="418500" cy="405900"/>
          </a:xfrm>
          <a:prstGeom prst="ellipse">
            <a:avLst/>
          </a:prstGeom>
          <a:solidFill>
            <a:schemeClr val="accent6"/>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373" name="Google Shape;2373;p85"/>
          <p:cNvSpPr/>
          <p:nvPr/>
        </p:nvSpPr>
        <p:spPr>
          <a:xfrm>
            <a:off x="4240467"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374" name="Google Shape;2374;p85"/>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375" name="Google Shape;2375;p85"/>
          <p:cNvCxnSpPr>
            <a:stCxn id="2367" idx="7"/>
            <a:endCxn id="2370"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2376" name="Google Shape;2376;p85"/>
          <p:cNvCxnSpPr>
            <a:stCxn id="2372" idx="6"/>
            <a:endCxn id="2373" idx="2"/>
          </p:cNvCxnSpPr>
          <p:nvPr/>
        </p:nvCxnSpPr>
        <p:spPr>
          <a:xfrm>
            <a:off x="3203646"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377" name="Google Shape;2377;p85"/>
          <p:cNvCxnSpPr>
            <a:stCxn id="2369" idx="6"/>
            <a:endCxn id="2374"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378" name="Google Shape;2378;p85"/>
          <p:cNvCxnSpPr>
            <a:stCxn id="2372" idx="4"/>
            <a:endCxn id="2369" idx="0"/>
          </p:cNvCxnSpPr>
          <p:nvPr/>
        </p:nvCxnSpPr>
        <p:spPr>
          <a:xfrm>
            <a:off x="2994396" y="32400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379" name="Google Shape;2379;p85"/>
          <p:cNvCxnSpPr>
            <a:stCxn id="2368" idx="4"/>
            <a:endCxn id="2371"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380" name="Google Shape;2380;p85"/>
          <p:cNvCxnSpPr>
            <a:stCxn id="2367" idx="5"/>
            <a:endCxn id="2371" idx="2"/>
          </p:cNvCxnSpPr>
          <p:nvPr/>
        </p:nvCxnSpPr>
        <p:spPr>
          <a:xfrm>
            <a:off x="444175" y="3180603"/>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381" name="Google Shape;2381;p85"/>
          <p:cNvCxnSpPr>
            <a:stCxn id="2367" idx="6"/>
            <a:endCxn id="2368"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382" name="Google Shape;2382;p85"/>
          <p:cNvCxnSpPr>
            <a:stCxn id="2369" idx="2"/>
            <a:endCxn id="2371" idx="6"/>
          </p:cNvCxnSpPr>
          <p:nvPr/>
        </p:nvCxnSpPr>
        <p:spPr>
          <a:xfrm rot="10800000">
            <a:off x="1960698" y="4324785"/>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383" name="Google Shape;2383;p85"/>
          <p:cNvCxnSpPr>
            <a:stCxn id="2374" idx="1"/>
            <a:endCxn id="2372"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384" name="Google Shape;2384;p85"/>
          <p:cNvCxnSpPr>
            <a:stCxn id="2373" idx="1"/>
            <a:endCxn id="2370"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385" name="Google Shape;2385;p85"/>
          <p:cNvCxnSpPr>
            <a:stCxn id="2370" idx="5"/>
            <a:endCxn id="2372"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386" name="Google Shape;2386;p85"/>
          <p:cNvCxnSpPr>
            <a:stCxn id="2368" idx="0"/>
            <a:endCxn id="2370"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387" name="Google Shape;2387;p85"/>
          <p:cNvCxnSpPr>
            <a:stCxn id="2372" idx="3"/>
            <a:endCxn id="2371" idx="7"/>
          </p:cNvCxnSpPr>
          <p:nvPr/>
        </p:nvCxnSpPr>
        <p:spPr>
          <a:xfrm flipH="1">
            <a:off x="1899634" y="318060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388" name="Google Shape;2388;p85"/>
          <p:cNvCxnSpPr>
            <a:stCxn id="2368" idx="6"/>
            <a:endCxn id="2372"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389" name="Google Shape;2389;p85"/>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sp>
        <p:nvSpPr>
          <p:cNvPr id="2390" name="Google Shape;2390;p85"/>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graphicFrame>
        <p:nvGraphicFramePr>
          <p:cNvPr id="2391" name="Google Shape;2391;p85"/>
          <p:cNvGraphicFramePr/>
          <p:nvPr/>
        </p:nvGraphicFramePr>
        <p:xfrm>
          <a:off x="4894413" y="1254200"/>
          <a:ext cx="3000000" cy="3000000"/>
        </p:xfrm>
        <a:graphic>
          <a:graphicData uri="http://schemas.openxmlformats.org/drawingml/2006/table">
            <a:tbl>
              <a:tblPr>
                <a:noFill/>
                <a:tableStyleId>{4D36BE5A-9069-42A2-BAD7-CD2C23C4D617}</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tc>
                <a:tc>
                  <a:txBody>
                    <a:bodyPr/>
                    <a:lstStyle/>
                    <a:p>
                      <a:pPr indent="0" lvl="0" marL="0" rtl="0" algn="l">
                        <a:spcBef>
                          <a:spcPts val="0"/>
                        </a:spcBef>
                        <a:spcAft>
                          <a:spcPts val="0"/>
                        </a:spcAft>
                        <a:buNone/>
                      </a:pPr>
                      <a:r>
                        <a:rPr b="1" lang="en"/>
                        <a:t>v2</a:t>
                      </a:r>
                      <a:endParaRPr b="1"/>
                    </a:p>
                  </a:txBody>
                  <a:tcPr marT="91425" marB="91425" marR="91425" marL="91425"/>
                </a:tc>
                <a:tc>
                  <a:txBody>
                    <a:bodyPr/>
                    <a:lstStyle/>
                    <a:p>
                      <a:pPr indent="0" lvl="0" marL="0" rtl="0" algn="l">
                        <a:spcBef>
                          <a:spcPts val="0"/>
                        </a:spcBef>
                        <a:spcAft>
                          <a:spcPts val="0"/>
                        </a:spcAft>
                        <a:buNone/>
                      </a:pPr>
                      <a:r>
                        <a:rPr b="1" lang="en"/>
                        <a:t>v3</a:t>
                      </a:r>
                      <a:endParaRPr b="1"/>
                    </a:p>
                  </a:txBody>
                  <a:tcPr marT="91425" marB="91425" marR="91425" marL="91425"/>
                </a:tc>
                <a:tc>
                  <a:txBody>
                    <a:bodyPr/>
                    <a:lstStyle/>
                    <a:p>
                      <a:pPr indent="0" lvl="0" marL="0" rtl="0" algn="l">
                        <a:spcBef>
                          <a:spcPts val="0"/>
                        </a:spcBef>
                        <a:spcAft>
                          <a:spcPts val="0"/>
                        </a:spcAft>
                        <a:buNone/>
                      </a:pPr>
                      <a:r>
                        <a:rPr b="1" lang="en"/>
                        <a:t>v4</a:t>
                      </a:r>
                      <a:endParaRPr b="1"/>
                    </a:p>
                  </a:txBody>
                  <a:tcPr marT="91425" marB="91425" marR="91425" marL="91425"/>
                </a:tc>
                <a:tc>
                  <a:txBody>
                    <a:bodyPr/>
                    <a:lstStyle/>
                    <a:p>
                      <a:pPr indent="0" lvl="0" marL="0" rtl="0" algn="l">
                        <a:spcBef>
                          <a:spcPts val="0"/>
                        </a:spcBef>
                        <a:spcAft>
                          <a:spcPts val="0"/>
                        </a:spcAft>
                        <a:buNone/>
                      </a:pPr>
                      <a:r>
                        <a:rPr b="1" lang="en"/>
                        <a:t>v5</a:t>
                      </a:r>
                      <a:endParaRPr b="1"/>
                    </a:p>
                  </a:txBody>
                  <a:tcPr marT="91425" marB="91425" marR="91425" marL="91425"/>
                </a:tc>
                <a:tc>
                  <a:txBody>
                    <a:bodyPr/>
                    <a:lstStyle/>
                    <a:p>
                      <a:pPr indent="0" lvl="0" marL="0" rtl="0" algn="l">
                        <a:spcBef>
                          <a:spcPts val="0"/>
                        </a:spcBef>
                        <a:spcAft>
                          <a:spcPts val="0"/>
                        </a:spcAft>
                        <a:buNone/>
                      </a:pPr>
                      <a:r>
                        <a:rPr b="1" lang="en"/>
                        <a:t>v6</a:t>
                      </a:r>
                      <a:endParaRPr b="1"/>
                    </a:p>
                  </a:txBody>
                  <a:tcPr marT="91425" marB="91425" marR="91425" marL="91425"/>
                </a:tc>
                <a:tc>
                  <a:txBody>
                    <a:bodyPr/>
                    <a:lstStyle/>
                    <a:p>
                      <a:pPr indent="0" lvl="0" marL="0" rtl="0" algn="l">
                        <a:spcBef>
                          <a:spcPts val="0"/>
                        </a:spcBef>
                        <a:spcAft>
                          <a:spcPts val="0"/>
                        </a:spcAft>
                        <a:buNone/>
                      </a:pPr>
                      <a:r>
                        <a:rPr b="1" lang="en"/>
                        <a:t>v7</a:t>
                      </a:r>
                      <a:endParaRPr b="1"/>
                    </a:p>
                  </a:txBody>
                  <a:tcPr marT="91425" marB="91425" marR="91425" marL="91425"/>
                </a:tc>
                <a:tc>
                  <a:txBody>
                    <a:bodyPr/>
                    <a:lstStyle/>
                    <a:p>
                      <a:pPr indent="0" lvl="0" marL="0" rtl="0" algn="l">
                        <a:spcBef>
                          <a:spcPts val="0"/>
                        </a:spcBef>
                        <a:spcAft>
                          <a:spcPts val="0"/>
                        </a:spcAft>
                        <a:buNone/>
                      </a:pPr>
                      <a:r>
                        <a:rPr b="1" lang="en"/>
                        <a:t>v8</a:t>
                      </a:r>
                      <a:endParaRPr b="1"/>
                    </a:p>
                  </a:txBody>
                  <a:tcPr marT="91425" marB="91425" marR="91425" marL="91425"/>
                </a:tc>
              </a:tr>
              <a:tr h="381000">
                <a:tc>
                  <a:txBody>
                    <a:bodyPr/>
                    <a:lstStyle/>
                    <a:p>
                      <a:pPr indent="0" lvl="0" marL="0" rtl="0" algn="ctr">
                        <a:spcBef>
                          <a:spcPts val="0"/>
                        </a:spcBef>
                        <a:spcAft>
                          <a:spcPts val="0"/>
                        </a:spcAft>
                        <a:buNone/>
                      </a:pPr>
                      <a:r>
                        <a:rPr b="1" lang="en"/>
                        <a:t>v1</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v2</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v3</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v4</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solidFill>
                      <a:schemeClr val="accent6"/>
                    </a:solidFill>
                  </a:tcPr>
                </a:tc>
              </a:tr>
              <a:tr h="381000">
                <a:tc>
                  <a:txBody>
                    <a:bodyPr/>
                    <a:lstStyle/>
                    <a:p>
                      <a:pPr indent="0" lvl="0" marL="0" rtl="0" algn="ctr">
                        <a:spcBef>
                          <a:spcPts val="0"/>
                        </a:spcBef>
                        <a:spcAft>
                          <a:spcPts val="0"/>
                        </a:spcAft>
                        <a:buNone/>
                      </a:pPr>
                      <a:r>
                        <a:rPr b="1" lang="en"/>
                        <a:t>v5</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v6</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v7</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v8</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r>
            </a:tbl>
          </a:graphicData>
        </a:graphic>
      </p:graphicFrame>
      <p:sp>
        <p:nvSpPr>
          <p:cNvPr id="2392" name="Google Shape;2392;p85"/>
          <p:cNvSpPr txBox="1"/>
          <p:nvPr/>
        </p:nvSpPr>
        <p:spPr>
          <a:xfrm>
            <a:off x="5084125" y="4820000"/>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Geodesic Distance Matrix</a:t>
            </a:r>
            <a:endParaRPr b="1" sz="1800">
              <a:solidFill>
                <a:srgbClr val="0000FF"/>
              </a:solidFill>
              <a:latin typeface="Economica"/>
              <a:ea typeface="Economica"/>
              <a:cs typeface="Economica"/>
              <a:sym typeface="Economica"/>
            </a:endParaRPr>
          </a:p>
        </p:txBody>
      </p:sp>
      <p:graphicFrame>
        <p:nvGraphicFramePr>
          <p:cNvPr id="2393" name="Google Shape;2393;p85"/>
          <p:cNvGraphicFramePr/>
          <p:nvPr/>
        </p:nvGraphicFramePr>
        <p:xfrm>
          <a:off x="8393975" y="1650400"/>
          <a:ext cx="3000000" cy="3000000"/>
        </p:xfrm>
        <a:graphic>
          <a:graphicData uri="http://schemas.openxmlformats.org/drawingml/2006/table">
            <a:tbl>
              <a:tblPr>
                <a:noFill/>
                <a:tableStyleId>{D533A967-1B24-4C1F-A5BD-666CA7F43D67}</a:tableStyleId>
              </a:tblPr>
              <a:tblGrid>
                <a:gridCol w="438325"/>
              </a:tblGrid>
              <a:tr h="396200">
                <a:tc>
                  <a:txBody>
                    <a:bodyPr/>
                    <a:lstStyle/>
                    <a:p>
                      <a:pPr indent="0" lvl="0" marL="0" rtl="0" algn="ctr">
                        <a:lnSpc>
                          <a:spcPct val="115000"/>
                        </a:lnSpc>
                        <a:spcBef>
                          <a:spcPts val="0"/>
                        </a:spcBef>
                        <a:spcAft>
                          <a:spcPts val="0"/>
                        </a:spcAft>
                        <a:buNone/>
                      </a:pPr>
                      <a:r>
                        <a:rPr lang="en"/>
                        <a:t>0.50</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0.44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0.54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0.58</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396200">
                <a:tc>
                  <a:txBody>
                    <a:bodyPr/>
                    <a:lstStyle/>
                    <a:p>
                      <a:pPr indent="0" lvl="0" marL="0" rtl="0" algn="ctr">
                        <a:lnSpc>
                          <a:spcPct val="115000"/>
                        </a:lnSpc>
                        <a:spcBef>
                          <a:spcPts val="0"/>
                        </a:spcBef>
                        <a:spcAft>
                          <a:spcPts val="0"/>
                        </a:spcAft>
                        <a:buNone/>
                      </a:pPr>
                      <a:r>
                        <a:rPr lang="en"/>
                        <a:t>0.39</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0.44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0.37</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0.41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2394" name="Google Shape;2394;p85"/>
          <p:cNvSpPr/>
          <p:nvPr/>
        </p:nvSpPr>
        <p:spPr>
          <a:xfrm>
            <a:off x="2752475" y="831350"/>
            <a:ext cx="1725600" cy="20028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Node 4 has the largest closeness because it is nearest most nodes!</a:t>
            </a:r>
            <a:endParaRPr b="1">
              <a:solidFill>
                <a:srgbClr val="FF0000"/>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8" name="Shape 2398"/>
        <p:cNvGrpSpPr/>
        <p:nvPr/>
      </p:nvGrpSpPr>
      <p:grpSpPr>
        <a:xfrm>
          <a:off x="0" y="0"/>
          <a:ext cx="0" cy="0"/>
          <a:chOff x="0" y="0"/>
          <a:chExt cx="0" cy="0"/>
        </a:xfrm>
      </p:grpSpPr>
      <p:sp>
        <p:nvSpPr>
          <p:cNvPr id="2399" name="Google Shape;2399;p86"/>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400" name="Google Shape;2400;p86"/>
          <p:cNvSpPr/>
          <p:nvPr/>
        </p:nvSpPr>
        <p:spPr>
          <a:xfrm>
            <a:off x="1542374"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401" name="Google Shape;2401;p86"/>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402" name="Google Shape;2402;p86"/>
          <p:cNvSpPr/>
          <p:nvPr/>
        </p:nvSpPr>
        <p:spPr>
          <a:xfrm>
            <a:off x="1542347" y="1546450"/>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403" name="Google Shape;2403;p86"/>
          <p:cNvSpPr/>
          <p:nvPr/>
        </p:nvSpPr>
        <p:spPr>
          <a:xfrm>
            <a:off x="15422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404" name="Google Shape;2404;p86"/>
          <p:cNvSpPr/>
          <p:nvPr/>
        </p:nvSpPr>
        <p:spPr>
          <a:xfrm>
            <a:off x="2785146" y="2834146"/>
            <a:ext cx="418500" cy="405900"/>
          </a:xfrm>
          <a:prstGeom prst="ellipse">
            <a:avLst/>
          </a:prstGeom>
          <a:solidFill>
            <a:schemeClr val="accent6"/>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405" name="Google Shape;2405;p86"/>
          <p:cNvSpPr/>
          <p:nvPr/>
        </p:nvSpPr>
        <p:spPr>
          <a:xfrm>
            <a:off x="4240467" y="2834146"/>
            <a:ext cx="418500" cy="405900"/>
          </a:xfrm>
          <a:prstGeom prst="ellipse">
            <a:avLst/>
          </a:prstGeom>
          <a:solidFill>
            <a:schemeClr val="accent5"/>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406" name="Google Shape;2406;p86"/>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407" name="Google Shape;2407;p86"/>
          <p:cNvCxnSpPr>
            <a:stCxn id="2399" idx="7"/>
            <a:endCxn id="2402"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2408" name="Google Shape;2408;p86"/>
          <p:cNvCxnSpPr>
            <a:stCxn id="2404" idx="6"/>
            <a:endCxn id="2405" idx="2"/>
          </p:cNvCxnSpPr>
          <p:nvPr/>
        </p:nvCxnSpPr>
        <p:spPr>
          <a:xfrm>
            <a:off x="3203646"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409" name="Google Shape;2409;p86"/>
          <p:cNvCxnSpPr>
            <a:stCxn id="2401" idx="6"/>
            <a:endCxn id="2406"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410" name="Google Shape;2410;p86"/>
          <p:cNvCxnSpPr>
            <a:stCxn id="2404" idx="4"/>
            <a:endCxn id="2401" idx="0"/>
          </p:cNvCxnSpPr>
          <p:nvPr/>
        </p:nvCxnSpPr>
        <p:spPr>
          <a:xfrm>
            <a:off x="2994396" y="32400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411" name="Google Shape;2411;p86"/>
          <p:cNvCxnSpPr>
            <a:stCxn id="2400" idx="4"/>
            <a:endCxn id="2403"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412" name="Google Shape;2412;p86"/>
          <p:cNvCxnSpPr>
            <a:stCxn id="2399" idx="5"/>
            <a:endCxn id="2403" idx="2"/>
          </p:cNvCxnSpPr>
          <p:nvPr/>
        </p:nvCxnSpPr>
        <p:spPr>
          <a:xfrm>
            <a:off x="444175" y="3180603"/>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413" name="Google Shape;2413;p86"/>
          <p:cNvCxnSpPr>
            <a:stCxn id="2399" idx="6"/>
            <a:endCxn id="2400"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414" name="Google Shape;2414;p86"/>
          <p:cNvCxnSpPr>
            <a:stCxn id="2401" idx="2"/>
            <a:endCxn id="2403" idx="6"/>
          </p:cNvCxnSpPr>
          <p:nvPr/>
        </p:nvCxnSpPr>
        <p:spPr>
          <a:xfrm rot="10800000">
            <a:off x="1960698" y="4324785"/>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415" name="Google Shape;2415;p86"/>
          <p:cNvCxnSpPr>
            <a:stCxn id="2406" idx="1"/>
            <a:endCxn id="2404"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416" name="Google Shape;2416;p86"/>
          <p:cNvCxnSpPr>
            <a:stCxn id="2405" idx="1"/>
            <a:endCxn id="2402"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417" name="Google Shape;2417;p86"/>
          <p:cNvCxnSpPr>
            <a:stCxn id="2402" idx="5"/>
            <a:endCxn id="2404"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418" name="Google Shape;2418;p86"/>
          <p:cNvCxnSpPr>
            <a:stCxn id="2400" idx="0"/>
            <a:endCxn id="2402"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419" name="Google Shape;2419;p86"/>
          <p:cNvCxnSpPr>
            <a:stCxn id="2404" idx="3"/>
            <a:endCxn id="2403" idx="7"/>
          </p:cNvCxnSpPr>
          <p:nvPr/>
        </p:nvCxnSpPr>
        <p:spPr>
          <a:xfrm flipH="1">
            <a:off x="1899634" y="318060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420" name="Google Shape;2420;p86"/>
          <p:cNvCxnSpPr>
            <a:stCxn id="2400" idx="6"/>
            <a:endCxn id="2404"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421" name="Google Shape;2421;p86"/>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sp>
        <p:nvSpPr>
          <p:cNvPr id="2422" name="Google Shape;2422;p86"/>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graphicFrame>
        <p:nvGraphicFramePr>
          <p:cNvPr id="2423" name="Google Shape;2423;p86"/>
          <p:cNvGraphicFramePr/>
          <p:nvPr/>
        </p:nvGraphicFramePr>
        <p:xfrm>
          <a:off x="4894413" y="1254200"/>
          <a:ext cx="3000000" cy="3000000"/>
        </p:xfrm>
        <a:graphic>
          <a:graphicData uri="http://schemas.openxmlformats.org/drawingml/2006/table">
            <a:tbl>
              <a:tblPr>
                <a:noFill/>
                <a:tableStyleId>{4D36BE5A-9069-42A2-BAD7-CD2C23C4D617}</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tc>
                <a:tc>
                  <a:txBody>
                    <a:bodyPr/>
                    <a:lstStyle/>
                    <a:p>
                      <a:pPr indent="0" lvl="0" marL="0" rtl="0" algn="l">
                        <a:spcBef>
                          <a:spcPts val="0"/>
                        </a:spcBef>
                        <a:spcAft>
                          <a:spcPts val="0"/>
                        </a:spcAft>
                        <a:buNone/>
                      </a:pPr>
                      <a:r>
                        <a:rPr b="1" lang="en"/>
                        <a:t>v2</a:t>
                      </a:r>
                      <a:endParaRPr b="1"/>
                    </a:p>
                  </a:txBody>
                  <a:tcPr marT="91425" marB="91425" marR="91425" marL="91425"/>
                </a:tc>
                <a:tc>
                  <a:txBody>
                    <a:bodyPr/>
                    <a:lstStyle/>
                    <a:p>
                      <a:pPr indent="0" lvl="0" marL="0" rtl="0" algn="l">
                        <a:spcBef>
                          <a:spcPts val="0"/>
                        </a:spcBef>
                        <a:spcAft>
                          <a:spcPts val="0"/>
                        </a:spcAft>
                        <a:buNone/>
                      </a:pPr>
                      <a:r>
                        <a:rPr b="1" lang="en"/>
                        <a:t>v3</a:t>
                      </a:r>
                      <a:endParaRPr b="1"/>
                    </a:p>
                  </a:txBody>
                  <a:tcPr marT="91425" marB="91425" marR="91425" marL="91425"/>
                </a:tc>
                <a:tc>
                  <a:txBody>
                    <a:bodyPr/>
                    <a:lstStyle/>
                    <a:p>
                      <a:pPr indent="0" lvl="0" marL="0" rtl="0" algn="l">
                        <a:spcBef>
                          <a:spcPts val="0"/>
                        </a:spcBef>
                        <a:spcAft>
                          <a:spcPts val="0"/>
                        </a:spcAft>
                        <a:buNone/>
                      </a:pPr>
                      <a:r>
                        <a:rPr b="1" lang="en"/>
                        <a:t>v4</a:t>
                      </a:r>
                      <a:endParaRPr b="1"/>
                    </a:p>
                  </a:txBody>
                  <a:tcPr marT="91425" marB="91425" marR="91425" marL="91425"/>
                </a:tc>
                <a:tc>
                  <a:txBody>
                    <a:bodyPr/>
                    <a:lstStyle/>
                    <a:p>
                      <a:pPr indent="0" lvl="0" marL="0" rtl="0" algn="l">
                        <a:spcBef>
                          <a:spcPts val="0"/>
                        </a:spcBef>
                        <a:spcAft>
                          <a:spcPts val="0"/>
                        </a:spcAft>
                        <a:buNone/>
                      </a:pPr>
                      <a:r>
                        <a:rPr b="1" lang="en"/>
                        <a:t>v5</a:t>
                      </a:r>
                      <a:endParaRPr b="1"/>
                    </a:p>
                  </a:txBody>
                  <a:tcPr marT="91425" marB="91425" marR="91425" marL="91425"/>
                </a:tc>
                <a:tc>
                  <a:txBody>
                    <a:bodyPr/>
                    <a:lstStyle/>
                    <a:p>
                      <a:pPr indent="0" lvl="0" marL="0" rtl="0" algn="l">
                        <a:spcBef>
                          <a:spcPts val="0"/>
                        </a:spcBef>
                        <a:spcAft>
                          <a:spcPts val="0"/>
                        </a:spcAft>
                        <a:buNone/>
                      </a:pPr>
                      <a:r>
                        <a:rPr b="1" lang="en"/>
                        <a:t>v6</a:t>
                      </a:r>
                      <a:endParaRPr b="1"/>
                    </a:p>
                  </a:txBody>
                  <a:tcPr marT="91425" marB="91425" marR="91425" marL="91425"/>
                </a:tc>
                <a:tc>
                  <a:txBody>
                    <a:bodyPr/>
                    <a:lstStyle/>
                    <a:p>
                      <a:pPr indent="0" lvl="0" marL="0" rtl="0" algn="l">
                        <a:spcBef>
                          <a:spcPts val="0"/>
                        </a:spcBef>
                        <a:spcAft>
                          <a:spcPts val="0"/>
                        </a:spcAft>
                        <a:buNone/>
                      </a:pPr>
                      <a:r>
                        <a:rPr b="1" lang="en"/>
                        <a:t>v7</a:t>
                      </a:r>
                      <a:endParaRPr b="1"/>
                    </a:p>
                  </a:txBody>
                  <a:tcPr marT="91425" marB="91425" marR="91425" marL="91425"/>
                </a:tc>
                <a:tc>
                  <a:txBody>
                    <a:bodyPr/>
                    <a:lstStyle/>
                    <a:p>
                      <a:pPr indent="0" lvl="0" marL="0" rtl="0" algn="l">
                        <a:spcBef>
                          <a:spcPts val="0"/>
                        </a:spcBef>
                        <a:spcAft>
                          <a:spcPts val="0"/>
                        </a:spcAft>
                        <a:buNone/>
                      </a:pPr>
                      <a:r>
                        <a:rPr b="1" lang="en"/>
                        <a:t>v8</a:t>
                      </a:r>
                      <a:endParaRPr b="1"/>
                    </a:p>
                  </a:txBody>
                  <a:tcPr marT="91425" marB="91425" marR="91425" marL="91425"/>
                </a:tc>
              </a:tr>
              <a:tr h="381000">
                <a:tc>
                  <a:txBody>
                    <a:bodyPr/>
                    <a:lstStyle/>
                    <a:p>
                      <a:pPr indent="0" lvl="0" marL="0" rtl="0" algn="ctr">
                        <a:spcBef>
                          <a:spcPts val="0"/>
                        </a:spcBef>
                        <a:spcAft>
                          <a:spcPts val="0"/>
                        </a:spcAft>
                        <a:buNone/>
                      </a:pPr>
                      <a:r>
                        <a:rPr b="1" lang="en"/>
                        <a:t>v1</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v2</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v3</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v4</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solidFill>
                      <a:schemeClr val="accent6"/>
                    </a:solidFill>
                  </a:tcPr>
                </a:tc>
              </a:tr>
              <a:tr h="381000">
                <a:tc>
                  <a:txBody>
                    <a:bodyPr/>
                    <a:lstStyle/>
                    <a:p>
                      <a:pPr indent="0" lvl="0" marL="0" rtl="0" algn="ctr">
                        <a:spcBef>
                          <a:spcPts val="0"/>
                        </a:spcBef>
                        <a:spcAft>
                          <a:spcPts val="0"/>
                        </a:spcAft>
                        <a:buNone/>
                      </a:pPr>
                      <a:r>
                        <a:rPr b="1" lang="en"/>
                        <a:t>v5</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v6</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v7</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solidFill>
                      <a:schemeClr val="accent5"/>
                    </a:solidFill>
                  </a:tcPr>
                </a:tc>
              </a:tr>
              <a:tr h="381000">
                <a:tc>
                  <a:txBody>
                    <a:bodyPr/>
                    <a:lstStyle/>
                    <a:p>
                      <a:pPr indent="0" lvl="0" marL="0" rtl="0" algn="ctr">
                        <a:spcBef>
                          <a:spcPts val="0"/>
                        </a:spcBef>
                        <a:spcAft>
                          <a:spcPts val="0"/>
                        </a:spcAft>
                        <a:buNone/>
                      </a:pPr>
                      <a:r>
                        <a:rPr b="1" lang="en"/>
                        <a:t>v8</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r>
            </a:tbl>
          </a:graphicData>
        </a:graphic>
      </p:graphicFrame>
      <p:sp>
        <p:nvSpPr>
          <p:cNvPr id="2424" name="Google Shape;2424;p86"/>
          <p:cNvSpPr txBox="1"/>
          <p:nvPr/>
        </p:nvSpPr>
        <p:spPr>
          <a:xfrm>
            <a:off x="5084125" y="4820000"/>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Geodesic Distance Matrix</a:t>
            </a:r>
            <a:endParaRPr b="1" sz="1800">
              <a:solidFill>
                <a:srgbClr val="0000FF"/>
              </a:solidFill>
              <a:latin typeface="Economica"/>
              <a:ea typeface="Economica"/>
              <a:cs typeface="Economica"/>
              <a:sym typeface="Economica"/>
            </a:endParaRPr>
          </a:p>
        </p:txBody>
      </p:sp>
      <p:graphicFrame>
        <p:nvGraphicFramePr>
          <p:cNvPr id="2425" name="Google Shape;2425;p86"/>
          <p:cNvGraphicFramePr/>
          <p:nvPr/>
        </p:nvGraphicFramePr>
        <p:xfrm>
          <a:off x="8393975" y="1650400"/>
          <a:ext cx="3000000" cy="3000000"/>
        </p:xfrm>
        <a:graphic>
          <a:graphicData uri="http://schemas.openxmlformats.org/drawingml/2006/table">
            <a:tbl>
              <a:tblPr>
                <a:noFill/>
                <a:tableStyleId>{D533A967-1B24-4C1F-A5BD-666CA7F43D67}</a:tableStyleId>
              </a:tblPr>
              <a:tblGrid>
                <a:gridCol w="438325"/>
              </a:tblGrid>
              <a:tr h="396200">
                <a:tc>
                  <a:txBody>
                    <a:bodyPr/>
                    <a:lstStyle/>
                    <a:p>
                      <a:pPr indent="0" lvl="0" marL="0" rtl="0" algn="ctr">
                        <a:lnSpc>
                          <a:spcPct val="115000"/>
                        </a:lnSpc>
                        <a:spcBef>
                          <a:spcPts val="0"/>
                        </a:spcBef>
                        <a:spcAft>
                          <a:spcPts val="0"/>
                        </a:spcAft>
                        <a:buNone/>
                      </a:pPr>
                      <a:r>
                        <a:rPr lang="en"/>
                        <a:t>0.50</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0.44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0.54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0.58</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396200">
                <a:tc>
                  <a:txBody>
                    <a:bodyPr/>
                    <a:lstStyle/>
                    <a:p>
                      <a:pPr indent="0" lvl="0" marL="0" rtl="0" algn="ctr">
                        <a:lnSpc>
                          <a:spcPct val="115000"/>
                        </a:lnSpc>
                        <a:spcBef>
                          <a:spcPts val="0"/>
                        </a:spcBef>
                        <a:spcAft>
                          <a:spcPts val="0"/>
                        </a:spcAft>
                        <a:buNone/>
                      </a:pPr>
                      <a:r>
                        <a:rPr lang="en"/>
                        <a:t>0.39</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0.44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0.37</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396200">
                <a:tc>
                  <a:txBody>
                    <a:bodyPr/>
                    <a:lstStyle/>
                    <a:p>
                      <a:pPr indent="0" lvl="0" marL="0" rtl="0" algn="ctr">
                        <a:lnSpc>
                          <a:spcPct val="115000"/>
                        </a:lnSpc>
                        <a:spcBef>
                          <a:spcPts val="0"/>
                        </a:spcBef>
                        <a:spcAft>
                          <a:spcPts val="0"/>
                        </a:spcAft>
                        <a:buNone/>
                      </a:pPr>
                      <a:r>
                        <a:rPr lang="en"/>
                        <a:t>0.41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2426" name="Google Shape;2426;p86"/>
          <p:cNvSpPr/>
          <p:nvPr/>
        </p:nvSpPr>
        <p:spPr>
          <a:xfrm>
            <a:off x="2752344" y="832104"/>
            <a:ext cx="1725600" cy="20028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Node 7 has the lowest closeness because it is farthest from most nodes!</a:t>
            </a:r>
            <a:endParaRPr b="1">
              <a:solidFill>
                <a:srgbClr val="FF0000"/>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0" name="Shape 2430"/>
        <p:cNvGrpSpPr/>
        <p:nvPr/>
      </p:nvGrpSpPr>
      <p:grpSpPr>
        <a:xfrm>
          <a:off x="0" y="0"/>
          <a:ext cx="0" cy="0"/>
          <a:chOff x="0" y="0"/>
          <a:chExt cx="0" cy="0"/>
        </a:xfrm>
      </p:grpSpPr>
      <p:sp>
        <p:nvSpPr>
          <p:cNvPr id="2431" name="Google Shape;2431;p87"/>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432" name="Google Shape;2432;p87"/>
          <p:cNvSpPr/>
          <p:nvPr/>
        </p:nvSpPr>
        <p:spPr>
          <a:xfrm>
            <a:off x="1542374" y="2834146"/>
            <a:ext cx="418500" cy="405900"/>
          </a:xfrm>
          <a:prstGeom prst="ellipse">
            <a:avLst/>
          </a:prstGeom>
          <a:solidFill>
            <a:schemeClr val="accent6"/>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433" name="Google Shape;2433;p87"/>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434" name="Google Shape;2434;p87"/>
          <p:cNvSpPr/>
          <p:nvPr/>
        </p:nvSpPr>
        <p:spPr>
          <a:xfrm>
            <a:off x="1542347" y="1546450"/>
            <a:ext cx="418500" cy="405900"/>
          </a:xfrm>
          <a:prstGeom prst="ellipse">
            <a:avLst/>
          </a:prstGeom>
          <a:solidFill>
            <a:schemeClr val="accent6"/>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435" name="Google Shape;2435;p87"/>
          <p:cNvSpPr/>
          <p:nvPr/>
        </p:nvSpPr>
        <p:spPr>
          <a:xfrm>
            <a:off x="1542298" y="4121835"/>
            <a:ext cx="418500" cy="405900"/>
          </a:xfrm>
          <a:prstGeom prst="ellipse">
            <a:avLst/>
          </a:prstGeom>
          <a:solidFill>
            <a:schemeClr val="accent5"/>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436" name="Google Shape;2436;p87"/>
          <p:cNvSpPr/>
          <p:nvPr/>
        </p:nvSpPr>
        <p:spPr>
          <a:xfrm>
            <a:off x="2785146" y="2834146"/>
            <a:ext cx="418500" cy="405900"/>
          </a:xfrm>
          <a:prstGeom prst="ellipse">
            <a:avLst/>
          </a:prstGeom>
          <a:solidFill>
            <a:schemeClr val="accent6"/>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437" name="Google Shape;2437;p87"/>
          <p:cNvSpPr/>
          <p:nvPr/>
        </p:nvSpPr>
        <p:spPr>
          <a:xfrm>
            <a:off x="4240467" y="2834146"/>
            <a:ext cx="418500" cy="405900"/>
          </a:xfrm>
          <a:prstGeom prst="ellipse">
            <a:avLst/>
          </a:prstGeom>
          <a:solidFill>
            <a:schemeClr val="accent5"/>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438" name="Google Shape;2438;p87"/>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439" name="Google Shape;2439;p87"/>
          <p:cNvCxnSpPr>
            <a:stCxn id="2431" idx="7"/>
            <a:endCxn id="2434"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2440" name="Google Shape;2440;p87"/>
          <p:cNvCxnSpPr>
            <a:stCxn id="2436" idx="6"/>
            <a:endCxn id="2437" idx="2"/>
          </p:cNvCxnSpPr>
          <p:nvPr/>
        </p:nvCxnSpPr>
        <p:spPr>
          <a:xfrm>
            <a:off x="3203646"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441" name="Google Shape;2441;p87"/>
          <p:cNvCxnSpPr>
            <a:stCxn id="2433" idx="6"/>
            <a:endCxn id="2438"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442" name="Google Shape;2442;p87"/>
          <p:cNvCxnSpPr>
            <a:stCxn id="2436" idx="4"/>
            <a:endCxn id="2433" idx="0"/>
          </p:cNvCxnSpPr>
          <p:nvPr/>
        </p:nvCxnSpPr>
        <p:spPr>
          <a:xfrm>
            <a:off x="2994396" y="32400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443" name="Google Shape;2443;p87"/>
          <p:cNvCxnSpPr>
            <a:stCxn id="2432" idx="4"/>
            <a:endCxn id="2435"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444" name="Google Shape;2444;p87"/>
          <p:cNvCxnSpPr>
            <a:stCxn id="2431" idx="5"/>
            <a:endCxn id="2435" idx="2"/>
          </p:cNvCxnSpPr>
          <p:nvPr/>
        </p:nvCxnSpPr>
        <p:spPr>
          <a:xfrm>
            <a:off x="444175" y="3180603"/>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445" name="Google Shape;2445;p87"/>
          <p:cNvCxnSpPr>
            <a:stCxn id="2431" idx="6"/>
            <a:endCxn id="2432"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446" name="Google Shape;2446;p87"/>
          <p:cNvCxnSpPr>
            <a:stCxn id="2433" idx="2"/>
            <a:endCxn id="2435" idx="6"/>
          </p:cNvCxnSpPr>
          <p:nvPr/>
        </p:nvCxnSpPr>
        <p:spPr>
          <a:xfrm rot="10800000">
            <a:off x="1960698" y="4324785"/>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447" name="Google Shape;2447;p87"/>
          <p:cNvCxnSpPr>
            <a:stCxn id="2438" idx="1"/>
            <a:endCxn id="2436"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448" name="Google Shape;2448;p87"/>
          <p:cNvCxnSpPr>
            <a:stCxn id="2437" idx="1"/>
            <a:endCxn id="2434"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449" name="Google Shape;2449;p87"/>
          <p:cNvCxnSpPr>
            <a:stCxn id="2434" idx="5"/>
            <a:endCxn id="2436"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450" name="Google Shape;2450;p87"/>
          <p:cNvCxnSpPr>
            <a:stCxn id="2432" idx="0"/>
            <a:endCxn id="2434"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451" name="Google Shape;2451;p87"/>
          <p:cNvCxnSpPr>
            <a:stCxn id="2436" idx="3"/>
            <a:endCxn id="2435" idx="7"/>
          </p:cNvCxnSpPr>
          <p:nvPr/>
        </p:nvCxnSpPr>
        <p:spPr>
          <a:xfrm flipH="1">
            <a:off x="1899634" y="318060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452" name="Google Shape;2452;p87"/>
          <p:cNvCxnSpPr>
            <a:stCxn id="2432" idx="6"/>
            <a:endCxn id="2436"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453" name="Google Shape;2453;p87"/>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sp>
        <p:nvSpPr>
          <p:cNvPr id="2454" name="Google Shape;2454;p87"/>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sp>
        <p:nvSpPr>
          <p:cNvPr id="2455" name="Google Shape;2455;p87"/>
          <p:cNvSpPr/>
          <p:nvPr/>
        </p:nvSpPr>
        <p:spPr>
          <a:xfrm>
            <a:off x="2752344" y="832104"/>
            <a:ext cx="1725600" cy="20028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Here’s the final closeness centrality ranking!</a:t>
            </a:r>
            <a:endParaRPr b="1">
              <a:solidFill>
                <a:srgbClr val="FF0000"/>
              </a:solidFill>
            </a:endParaRPr>
          </a:p>
        </p:txBody>
      </p:sp>
      <p:graphicFrame>
        <p:nvGraphicFramePr>
          <p:cNvPr id="2456" name="Google Shape;2456;p87"/>
          <p:cNvGraphicFramePr/>
          <p:nvPr/>
        </p:nvGraphicFramePr>
        <p:xfrm>
          <a:off x="5619800" y="1652375"/>
          <a:ext cx="3000000" cy="3000000"/>
        </p:xfrm>
        <a:graphic>
          <a:graphicData uri="http://schemas.openxmlformats.org/drawingml/2006/table">
            <a:tbl>
              <a:tblPr>
                <a:noFill/>
                <a:tableStyleId>{D533A967-1B24-4C1F-A5BD-666CA7F43D67}</a:tableStyleId>
              </a:tblPr>
              <a:tblGrid>
                <a:gridCol w="846700"/>
                <a:gridCol w="846700"/>
                <a:gridCol w="846700"/>
              </a:tblGrid>
              <a:tr h="416850">
                <a:tc>
                  <a:txBody>
                    <a:bodyPr/>
                    <a:lstStyle/>
                    <a:p>
                      <a:pPr indent="0" lvl="0" marL="0" rtl="0" algn="ctr">
                        <a:lnSpc>
                          <a:spcPct val="115000"/>
                        </a:lnSpc>
                        <a:spcBef>
                          <a:spcPts val="0"/>
                        </a:spcBef>
                        <a:spcAft>
                          <a:spcPts val="0"/>
                        </a:spcAft>
                        <a:buNone/>
                      </a:pPr>
                      <a:r>
                        <a:rPr b="1" lang="en"/>
                        <a:t>V4</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t>12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t>0.58</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416850">
                <a:tc>
                  <a:txBody>
                    <a:bodyPr/>
                    <a:lstStyle/>
                    <a:p>
                      <a:pPr indent="0" lvl="0" marL="0" rtl="0" algn="ctr">
                        <a:lnSpc>
                          <a:spcPct val="115000"/>
                        </a:lnSpc>
                        <a:spcBef>
                          <a:spcPts val="0"/>
                        </a:spcBef>
                        <a:spcAft>
                          <a:spcPts val="0"/>
                        </a:spcAft>
                        <a:buNone/>
                      </a:pPr>
                      <a:r>
                        <a:rPr b="1" lang="en"/>
                        <a:t>V3</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t>13</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t>0.54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416850">
                <a:tc>
                  <a:txBody>
                    <a:bodyPr/>
                    <a:lstStyle/>
                    <a:p>
                      <a:pPr indent="0" lvl="0" marL="0" rtl="0" algn="ctr">
                        <a:lnSpc>
                          <a:spcPct val="115000"/>
                        </a:lnSpc>
                        <a:spcBef>
                          <a:spcPts val="0"/>
                        </a:spcBef>
                        <a:spcAft>
                          <a:spcPts val="0"/>
                        </a:spcAft>
                        <a:buNone/>
                      </a:pPr>
                      <a:r>
                        <a:rPr b="1" lang="en"/>
                        <a:t>V1</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t>14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t>0.50</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416850">
                <a:tc>
                  <a:txBody>
                    <a:bodyPr/>
                    <a:lstStyle/>
                    <a:p>
                      <a:pPr indent="0" lvl="0" marL="0" rtl="0" algn="ctr">
                        <a:lnSpc>
                          <a:spcPct val="115000"/>
                        </a:lnSpc>
                        <a:spcBef>
                          <a:spcPts val="0"/>
                        </a:spcBef>
                        <a:spcAft>
                          <a:spcPts val="0"/>
                        </a:spcAft>
                        <a:buNone/>
                      </a:pPr>
                      <a:r>
                        <a:rPr b="1" lang="en"/>
                        <a:t>V2</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16</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0.44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6850">
                <a:tc>
                  <a:txBody>
                    <a:bodyPr/>
                    <a:lstStyle/>
                    <a:p>
                      <a:pPr indent="0" lvl="0" marL="0" rtl="0" algn="ctr">
                        <a:lnSpc>
                          <a:spcPct val="115000"/>
                        </a:lnSpc>
                        <a:spcBef>
                          <a:spcPts val="0"/>
                        </a:spcBef>
                        <a:spcAft>
                          <a:spcPts val="0"/>
                        </a:spcAft>
                        <a:buNone/>
                      </a:pPr>
                      <a:r>
                        <a:rPr b="1" lang="en"/>
                        <a:t>V6</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16</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0.44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6850">
                <a:tc>
                  <a:txBody>
                    <a:bodyPr/>
                    <a:lstStyle/>
                    <a:p>
                      <a:pPr indent="0" lvl="0" marL="0" rtl="0" algn="ctr">
                        <a:lnSpc>
                          <a:spcPct val="115000"/>
                        </a:lnSpc>
                        <a:spcBef>
                          <a:spcPts val="0"/>
                        </a:spcBef>
                        <a:spcAft>
                          <a:spcPts val="0"/>
                        </a:spcAft>
                        <a:buNone/>
                      </a:pPr>
                      <a:r>
                        <a:rPr b="1" lang="en"/>
                        <a:t>V8</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17</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0.41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6850">
                <a:tc>
                  <a:txBody>
                    <a:bodyPr/>
                    <a:lstStyle/>
                    <a:p>
                      <a:pPr indent="0" lvl="0" marL="0" rtl="0" algn="ctr">
                        <a:lnSpc>
                          <a:spcPct val="115000"/>
                        </a:lnSpc>
                        <a:spcBef>
                          <a:spcPts val="0"/>
                        </a:spcBef>
                        <a:spcAft>
                          <a:spcPts val="0"/>
                        </a:spcAft>
                        <a:buNone/>
                      </a:pPr>
                      <a:r>
                        <a:rPr b="1" lang="en"/>
                        <a:t>V5</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a:t>18</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a:t>0.39</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416850">
                <a:tc>
                  <a:txBody>
                    <a:bodyPr/>
                    <a:lstStyle/>
                    <a:p>
                      <a:pPr indent="0" lvl="0" marL="0" rtl="0" algn="ctr">
                        <a:lnSpc>
                          <a:spcPct val="115000"/>
                        </a:lnSpc>
                        <a:spcBef>
                          <a:spcPts val="0"/>
                        </a:spcBef>
                        <a:spcAft>
                          <a:spcPts val="0"/>
                        </a:spcAft>
                        <a:buNone/>
                      </a:pPr>
                      <a:r>
                        <a:rPr b="1" lang="en"/>
                        <a:t>V7</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a:t>19</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a:t>0.37</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bl>
          </a:graphicData>
        </a:graphic>
      </p:graphicFrame>
      <p:pic>
        <p:nvPicPr>
          <p:cNvPr descr="\frac{(N-1)}{\sum_j^{ }d_{ij}}&#10;%f32e07d9-f8d5-4613-acf3-ab13606200b0" id="2457" name="Google Shape;2457;p87"/>
          <p:cNvPicPr preferRelativeResize="0"/>
          <p:nvPr/>
        </p:nvPicPr>
        <p:blipFill>
          <a:blip r:embed="rId3">
            <a:alphaModFix/>
          </a:blip>
          <a:stretch>
            <a:fillRect/>
          </a:stretch>
        </p:blipFill>
        <p:spPr>
          <a:xfrm>
            <a:off x="7320325" y="1068175"/>
            <a:ext cx="799447" cy="548640"/>
          </a:xfrm>
          <a:prstGeom prst="rect">
            <a:avLst/>
          </a:prstGeom>
          <a:noFill/>
          <a:ln>
            <a:noFill/>
          </a:ln>
        </p:spPr>
      </p:pic>
      <p:pic>
        <p:nvPicPr>
          <p:cNvPr descr="\sum_j^{ }d_{ij}&#10;%62ad3615-08ed-48ce-9b2c-d67763f6158e" id="2458" name="Google Shape;2458;p87"/>
          <p:cNvPicPr preferRelativeResize="0"/>
          <p:nvPr/>
        </p:nvPicPr>
        <p:blipFill>
          <a:blip r:embed="rId4">
            <a:alphaModFix/>
          </a:blip>
          <a:stretch>
            <a:fillRect/>
          </a:stretch>
        </p:blipFill>
        <p:spPr>
          <a:xfrm>
            <a:off x="6570638" y="1068175"/>
            <a:ext cx="587828" cy="54864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2" name="Shape 2462"/>
        <p:cNvGrpSpPr/>
        <p:nvPr/>
      </p:nvGrpSpPr>
      <p:grpSpPr>
        <a:xfrm>
          <a:off x="0" y="0"/>
          <a:ext cx="0" cy="0"/>
          <a:chOff x="0" y="0"/>
          <a:chExt cx="0" cy="0"/>
        </a:xfrm>
      </p:grpSpPr>
      <p:sp>
        <p:nvSpPr>
          <p:cNvPr id="2463" name="Google Shape;2463;p8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sp>
        <p:nvSpPr>
          <p:cNvPr id="2464" name="Google Shape;2464;p88"/>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Weakly Connected Directed Graph</a:t>
            </a:r>
            <a:endParaRPr b="1" sz="1800">
              <a:solidFill>
                <a:srgbClr val="0000FF"/>
              </a:solidFill>
              <a:latin typeface="Economica"/>
              <a:ea typeface="Economica"/>
              <a:cs typeface="Economica"/>
              <a:sym typeface="Economica"/>
            </a:endParaRPr>
          </a:p>
        </p:txBody>
      </p:sp>
      <p:graphicFrame>
        <p:nvGraphicFramePr>
          <p:cNvPr id="2465" name="Google Shape;2465;p88"/>
          <p:cNvGraphicFramePr/>
          <p:nvPr/>
        </p:nvGraphicFramePr>
        <p:xfrm>
          <a:off x="4892040" y="1161288"/>
          <a:ext cx="3000000" cy="3000000"/>
        </p:xfrm>
        <a:graphic>
          <a:graphicData uri="http://schemas.openxmlformats.org/drawingml/2006/table">
            <a:tbl>
              <a:tblPr>
                <a:noFill/>
                <a:tableStyleId>{4D36BE5A-9069-42A2-BAD7-CD2C23C4D617}</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v2</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v3</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v4</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v5</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v6</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v7</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v8</a:t>
                      </a:r>
                      <a:endParaRPr b="1"/>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v1</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v2</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v3</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v4</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v5</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v6</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v7</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v8</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466" name="Google Shape;2466;p88"/>
          <p:cNvSpPr/>
          <p:nvPr/>
        </p:nvSpPr>
        <p:spPr>
          <a:xfrm>
            <a:off x="91440"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467" name="Google Shape;2467;p88"/>
          <p:cNvSpPr/>
          <p:nvPr/>
        </p:nvSpPr>
        <p:spPr>
          <a:xfrm>
            <a:off x="1546851"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468" name="Google Shape;2468;p88"/>
          <p:cNvSpPr/>
          <p:nvPr/>
        </p:nvSpPr>
        <p:spPr>
          <a:xfrm>
            <a:off x="2789575"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469" name="Google Shape;2469;p88"/>
          <p:cNvSpPr/>
          <p:nvPr/>
        </p:nvSpPr>
        <p:spPr>
          <a:xfrm>
            <a:off x="1546824" y="154533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470" name="Google Shape;2470;p88"/>
          <p:cNvSpPr/>
          <p:nvPr/>
        </p:nvSpPr>
        <p:spPr>
          <a:xfrm>
            <a:off x="154677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471" name="Google Shape;2471;p88"/>
          <p:cNvSpPr/>
          <p:nvPr/>
        </p:nvSpPr>
        <p:spPr>
          <a:xfrm>
            <a:off x="278962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472" name="Google Shape;2472;p88"/>
          <p:cNvSpPr/>
          <p:nvPr/>
        </p:nvSpPr>
        <p:spPr>
          <a:xfrm>
            <a:off x="424494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473" name="Google Shape;2473;p88"/>
          <p:cNvSpPr/>
          <p:nvPr/>
        </p:nvSpPr>
        <p:spPr>
          <a:xfrm>
            <a:off x="424489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474" name="Google Shape;2474;p88"/>
          <p:cNvCxnSpPr>
            <a:stCxn id="2466" idx="7"/>
            <a:endCxn id="2469" idx="2"/>
          </p:cNvCxnSpPr>
          <p:nvPr/>
        </p:nvCxnSpPr>
        <p:spPr>
          <a:xfrm flipH="1" rot="10800000">
            <a:off x="448652" y="1748275"/>
            <a:ext cx="10983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475" name="Google Shape;2475;p88"/>
          <p:cNvCxnSpPr>
            <a:stCxn id="2471" idx="6"/>
            <a:endCxn id="2472" idx="2"/>
          </p:cNvCxnSpPr>
          <p:nvPr/>
        </p:nvCxnSpPr>
        <p:spPr>
          <a:xfrm>
            <a:off x="3208124" y="3035982"/>
            <a:ext cx="1036800" cy="0"/>
          </a:xfrm>
          <a:prstGeom prst="straightConnector1">
            <a:avLst/>
          </a:prstGeom>
          <a:noFill/>
          <a:ln cap="flat" cmpd="sng" w="19050">
            <a:solidFill>
              <a:srgbClr val="B7B7B7"/>
            </a:solidFill>
            <a:prstDash val="solid"/>
            <a:round/>
            <a:headEnd len="med" w="med" type="triangle"/>
            <a:tailEnd len="med" w="med" type="none"/>
          </a:ln>
        </p:spPr>
      </p:cxnSp>
      <p:cxnSp>
        <p:nvCxnSpPr>
          <p:cNvPr id="2476" name="Google Shape;2476;p88"/>
          <p:cNvCxnSpPr>
            <a:stCxn id="2468" idx="6"/>
            <a:endCxn id="2473" idx="2"/>
          </p:cNvCxnSpPr>
          <p:nvPr/>
        </p:nvCxnSpPr>
        <p:spPr>
          <a:xfrm>
            <a:off x="3208075" y="4323671"/>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477" name="Google Shape;2477;p88"/>
          <p:cNvCxnSpPr>
            <a:stCxn id="2471" idx="4"/>
            <a:endCxn id="2468" idx="0"/>
          </p:cNvCxnSpPr>
          <p:nvPr/>
        </p:nvCxnSpPr>
        <p:spPr>
          <a:xfrm>
            <a:off x="2998874" y="32389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478" name="Google Shape;2478;p88"/>
          <p:cNvCxnSpPr>
            <a:stCxn id="2470" idx="0"/>
            <a:endCxn id="2467" idx="4"/>
          </p:cNvCxnSpPr>
          <p:nvPr/>
        </p:nvCxnSpPr>
        <p:spPr>
          <a:xfrm rot="10800000">
            <a:off x="1756026" y="3239021"/>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479" name="Google Shape;2479;p88"/>
          <p:cNvCxnSpPr>
            <a:stCxn id="2466" idx="5"/>
            <a:endCxn id="2470" idx="2"/>
          </p:cNvCxnSpPr>
          <p:nvPr/>
        </p:nvCxnSpPr>
        <p:spPr>
          <a:xfrm>
            <a:off x="448652" y="3179489"/>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480" name="Google Shape;2480;p88"/>
          <p:cNvCxnSpPr>
            <a:stCxn id="2466" idx="6"/>
            <a:endCxn id="2467" idx="2"/>
          </p:cNvCxnSpPr>
          <p:nvPr/>
        </p:nvCxnSpPr>
        <p:spPr>
          <a:xfrm>
            <a:off x="509940" y="3035982"/>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481" name="Google Shape;2481;p88"/>
          <p:cNvCxnSpPr>
            <a:stCxn id="2468" idx="2"/>
            <a:endCxn id="2470" idx="6"/>
          </p:cNvCxnSpPr>
          <p:nvPr/>
        </p:nvCxnSpPr>
        <p:spPr>
          <a:xfrm rot="10800000">
            <a:off x="1965175" y="4323671"/>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482" name="Google Shape;2482;p88"/>
          <p:cNvCxnSpPr>
            <a:stCxn id="2473" idx="1"/>
            <a:endCxn id="2471" idx="5"/>
          </p:cNvCxnSpPr>
          <p:nvPr/>
        </p:nvCxnSpPr>
        <p:spPr>
          <a:xfrm rot="10800000">
            <a:off x="3146984" y="3179363"/>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483" name="Google Shape;2483;p88"/>
          <p:cNvCxnSpPr>
            <a:stCxn id="2472" idx="1"/>
            <a:endCxn id="2469" idx="6"/>
          </p:cNvCxnSpPr>
          <p:nvPr/>
        </p:nvCxnSpPr>
        <p:spPr>
          <a:xfrm rot="10800000">
            <a:off x="1965332" y="1748275"/>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484" name="Google Shape;2484;p88"/>
          <p:cNvCxnSpPr>
            <a:stCxn id="2469" idx="5"/>
            <a:endCxn id="2471" idx="1"/>
          </p:cNvCxnSpPr>
          <p:nvPr/>
        </p:nvCxnSpPr>
        <p:spPr>
          <a:xfrm>
            <a:off x="1904036" y="189179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485" name="Google Shape;2485;p88"/>
          <p:cNvCxnSpPr>
            <a:stCxn id="2467" idx="0"/>
            <a:endCxn id="2469" idx="4"/>
          </p:cNvCxnSpPr>
          <p:nvPr/>
        </p:nvCxnSpPr>
        <p:spPr>
          <a:xfrm rot="10800000">
            <a:off x="1756101" y="19513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486" name="Google Shape;2486;p88"/>
          <p:cNvCxnSpPr>
            <a:stCxn id="2471" idx="3"/>
            <a:endCxn id="2470" idx="7"/>
          </p:cNvCxnSpPr>
          <p:nvPr/>
        </p:nvCxnSpPr>
        <p:spPr>
          <a:xfrm flipH="1">
            <a:off x="1904111" y="3179489"/>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487" name="Google Shape;2487;p88"/>
          <p:cNvCxnSpPr>
            <a:stCxn id="2467" idx="6"/>
            <a:endCxn id="2471" idx="2"/>
          </p:cNvCxnSpPr>
          <p:nvPr/>
        </p:nvCxnSpPr>
        <p:spPr>
          <a:xfrm>
            <a:off x="1965351" y="3035982"/>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488" name="Google Shape;2488;p88"/>
          <p:cNvSpPr txBox="1"/>
          <p:nvPr/>
        </p:nvSpPr>
        <p:spPr>
          <a:xfrm>
            <a:off x="5096050" y="47411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Geodesic Distance Matrix</a:t>
            </a:r>
            <a:endParaRPr b="1" sz="1800">
              <a:solidFill>
                <a:srgbClr val="0000FF"/>
              </a:solidFill>
              <a:latin typeface="Economica"/>
              <a:ea typeface="Economica"/>
              <a:cs typeface="Economica"/>
              <a:sym typeface="Economica"/>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2" name="Shape 2492"/>
        <p:cNvGrpSpPr/>
        <p:nvPr/>
      </p:nvGrpSpPr>
      <p:grpSpPr>
        <a:xfrm>
          <a:off x="0" y="0"/>
          <a:ext cx="0" cy="0"/>
          <a:chOff x="0" y="0"/>
          <a:chExt cx="0" cy="0"/>
        </a:xfrm>
      </p:grpSpPr>
      <p:sp>
        <p:nvSpPr>
          <p:cNvPr id="2493" name="Google Shape;2493;p8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sp>
        <p:nvSpPr>
          <p:cNvPr id="2494" name="Google Shape;2494;p89"/>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Weakly Connected Directed Graph</a:t>
            </a:r>
            <a:endParaRPr b="1" sz="1800">
              <a:solidFill>
                <a:srgbClr val="0000FF"/>
              </a:solidFill>
              <a:latin typeface="Economica"/>
              <a:ea typeface="Economica"/>
              <a:cs typeface="Economica"/>
              <a:sym typeface="Economica"/>
            </a:endParaRPr>
          </a:p>
        </p:txBody>
      </p:sp>
      <p:graphicFrame>
        <p:nvGraphicFramePr>
          <p:cNvPr id="2495" name="Google Shape;2495;p89"/>
          <p:cNvGraphicFramePr/>
          <p:nvPr/>
        </p:nvGraphicFramePr>
        <p:xfrm>
          <a:off x="4892040" y="1161288"/>
          <a:ext cx="3000000" cy="3000000"/>
        </p:xfrm>
        <a:graphic>
          <a:graphicData uri="http://schemas.openxmlformats.org/drawingml/2006/table">
            <a:tbl>
              <a:tblPr>
                <a:noFill/>
                <a:tableStyleId>{4D36BE5A-9069-42A2-BAD7-CD2C23C4D617}</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v2</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v3</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v4</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v5</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v6</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v7</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v8</a:t>
                      </a:r>
                      <a:endParaRPr b="1"/>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v1</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v2</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v3</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v4</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v5</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v6</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v7</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v8</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496" name="Google Shape;2496;p89"/>
          <p:cNvSpPr/>
          <p:nvPr/>
        </p:nvSpPr>
        <p:spPr>
          <a:xfrm>
            <a:off x="91440"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497" name="Google Shape;2497;p89"/>
          <p:cNvSpPr/>
          <p:nvPr/>
        </p:nvSpPr>
        <p:spPr>
          <a:xfrm>
            <a:off x="1546851"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498" name="Google Shape;2498;p89"/>
          <p:cNvSpPr/>
          <p:nvPr/>
        </p:nvSpPr>
        <p:spPr>
          <a:xfrm>
            <a:off x="2789575"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499" name="Google Shape;2499;p89"/>
          <p:cNvSpPr/>
          <p:nvPr/>
        </p:nvSpPr>
        <p:spPr>
          <a:xfrm>
            <a:off x="1546824" y="154533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500" name="Google Shape;2500;p89"/>
          <p:cNvSpPr/>
          <p:nvPr/>
        </p:nvSpPr>
        <p:spPr>
          <a:xfrm>
            <a:off x="154677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501" name="Google Shape;2501;p89"/>
          <p:cNvSpPr/>
          <p:nvPr/>
        </p:nvSpPr>
        <p:spPr>
          <a:xfrm>
            <a:off x="278962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502" name="Google Shape;2502;p89"/>
          <p:cNvSpPr/>
          <p:nvPr/>
        </p:nvSpPr>
        <p:spPr>
          <a:xfrm>
            <a:off x="424494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503" name="Google Shape;2503;p89"/>
          <p:cNvSpPr/>
          <p:nvPr/>
        </p:nvSpPr>
        <p:spPr>
          <a:xfrm>
            <a:off x="424489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504" name="Google Shape;2504;p89"/>
          <p:cNvCxnSpPr>
            <a:stCxn id="2496" idx="7"/>
            <a:endCxn id="2499" idx="2"/>
          </p:cNvCxnSpPr>
          <p:nvPr/>
        </p:nvCxnSpPr>
        <p:spPr>
          <a:xfrm flipH="1" rot="10800000">
            <a:off x="448652" y="1748275"/>
            <a:ext cx="10983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505" name="Google Shape;2505;p89"/>
          <p:cNvCxnSpPr>
            <a:stCxn id="2501" idx="6"/>
            <a:endCxn id="2502" idx="2"/>
          </p:cNvCxnSpPr>
          <p:nvPr/>
        </p:nvCxnSpPr>
        <p:spPr>
          <a:xfrm>
            <a:off x="3208124" y="3035982"/>
            <a:ext cx="1036800" cy="0"/>
          </a:xfrm>
          <a:prstGeom prst="straightConnector1">
            <a:avLst/>
          </a:prstGeom>
          <a:noFill/>
          <a:ln cap="flat" cmpd="sng" w="19050">
            <a:solidFill>
              <a:srgbClr val="B7B7B7"/>
            </a:solidFill>
            <a:prstDash val="solid"/>
            <a:round/>
            <a:headEnd len="med" w="med" type="triangle"/>
            <a:tailEnd len="med" w="med" type="none"/>
          </a:ln>
        </p:spPr>
      </p:cxnSp>
      <p:cxnSp>
        <p:nvCxnSpPr>
          <p:cNvPr id="2506" name="Google Shape;2506;p89"/>
          <p:cNvCxnSpPr>
            <a:stCxn id="2498" idx="6"/>
            <a:endCxn id="2503" idx="2"/>
          </p:cNvCxnSpPr>
          <p:nvPr/>
        </p:nvCxnSpPr>
        <p:spPr>
          <a:xfrm>
            <a:off x="3208075" y="4323671"/>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507" name="Google Shape;2507;p89"/>
          <p:cNvCxnSpPr>
            <a:stCxn id="2501" idx="4"/>
            <a:endCxn id="2498" idx="0"/>
          </p:cNvCxnSpPr>
          <p:nvPr/>
        </p:nvCxnSpPr>
        <p:spPr>
          <a:xfrm>
            <a:off x="2998874" y="32389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508" name="Google Shape;2508;p89"/>
          <p:cNvCxnSpPr>
            <a:stCxn id="2500" idx="0"/>
            <a:endCxn id="2497" idx="4"/>
          </p:cNvCxnSpPr>
          <p:nvPr/>
        </p:nvCxnSpPr>
        <p:spPr>
          <a:xfrm rot="10800000">
            <a:off x="1756026" y="3239021"/>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509" name="Google Shape;2509;p89"/>
          <p:cNvCxnSpPr>
            <a:stCxn id="2496" idx="5"/>
            <a:endCxn id="2500" idx="2"/>
          </p:cNvCxnSpPr>
          <p:nvPr/>
        </p:nvCxnSpPr>
        <p:spPr>
          <a:xfrm>
            <a:off x="448652" y="3179489"/>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510" name="Google Shape;2510;p89"/>
          <p:cNvCxnSpPr>
            <a:stCxn id="2496" idx="6"/>
            <a:endCxn id="2497" idx="2"/>
          </p:cNvCxnSpPr>
          <p:nvPr/>
        </p:nvCxnSpPr>
        <p:spPr>
          <a:xfrm>
            <a:off x="509940" y="3035982"/>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511" name="Google Shape;2511;p89"/>
          <p:cNvCxnSpPr>
            <a:stCxn id="2498" idx="2"/>
            <a:endCxn id="2500" idx="6"/>
          </p:cNvCxnSpPr>
          <p:nvPr/>
        </p:nvCxnSpPr>
        <p:spPr>
          <a:xfrm rot="10800000">
            <a:off x="1965175" y="4323671"/>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512" name="Google Shape;2512;p89"/>
          <p:cNvCxnSpPr>
            <a:stCxn id="2503" idx="1"/>
            <a:endCxn id="2501" idx="5"/>
          </p:cNvCxnSpPr>
          <p:nvPr/>
        </p:nvCxnSpPr>
        <p:spPr>
          <a:xfrm rot="10800000">
            <a:off x="3146984" y="3179363"/>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513" name="Google Shape;2513;p89"/>
          <p:cNvCxnSpPr>
            <a:stCxn id="2502" idx="1"/>
            <a:endCxn id="2499" idx="6"/>
          </p:cNvCxnSpPr>
          <p:nvPr/>
        </p:nvCxnSpPr>
        <p:spPr>
          <a:xfrm rot="10800000">
            <a:off x="1965332" y="1748275"/>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514" name="Google Shape;2514;p89"/>
          <p:cNvCxnSpPr>
            <a:stCxn id="2499" idx="5"/>
            <a:endCxn id="2501" idx="1"/>
          </p:cNvCxnSpPr>
          <p:nvPr/>
        </p:nvCxnSpPr>
        <p:spPr>
          <a:xfrm>
            <a:off x="1904036" y="189179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515" name="Google Shape;2515;p89"/>
          <p:cNvCxnSpPr>
            <a:stCxn id="2497" idx="0"/>
            <a:endCxn id="2499" idx="4"/>
          </p:cNvCxnSpPr>
          <p:nvPr/>
        </p:nvCxnSpPr>
        <p:spPr>
          <a:xfrm rot="10800000">
            <a:off x="1756101" y="19513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516" name="Google Shape;2516;p89"/>
          <p:cNvCxnSpPr>
            <a:stCxn id="2501" idx="3"/>
            <a:endCxn id="2500" idx="7"/>
          </p:cNvCxnSpPr>
          <p:nvPr/>
        </p:nvCxnSpPr>
        <p:spPr>
          <a:xfrm flipH="1">
            <a:off x="1904111" y="3179489"/>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517" name="Google Shape;2517;p89"/>
          <p:cNvCxnSpPr>
            <a:stCxn id="2497" idx="6"/>
            <a:endCxn id="2501" idx="2"/>
          </p:cNvCxnSpPr>
          <p:nvPr/>
        </p:nvCxnSpPr>
        <p:spPr>
          <a:xfrm>
            <a:off x="1965351" y="3035982"/>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518" name="Google Shape;2518;p89"/>
          <p:cNvSpPr txBox="1"/>
          <p:nvPr/>
        </p:nvSpPr>
        <p:spPr>
          <a:xfrm>
            <a:off x="5096050" y="47411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Geodesic Distance Matrix</a:t>
            </a:r>
            <a:endParaRPr b="1" sz="1800">
              <a:solidFill>
                <a:srgbClr val="0000FF"/>
              </a:solidFill>
              <a:latin typeface="Economica"/>
              <a:ea typeface="Economica"/>
              <a:cs typeface="Economica"/>
              <a:sym typeface="Economica"/>
            </a:endParaRPr>
          </a:p>
        </p:txBody>
      </p:sp>
      <p:sp>
        <p:nvSpPr>
          <p:cNvPr id="2519" name="Google Shape;2519;p89"/>
          <p:cNvSpPr/>
          <p:nvPr/>
        </p:nvSpPr>
        <p:spPr>
          <a:xfrm>
            <a:off x="367450" y="931475"/>
            <a:ext cx="4728600" cy="8313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In a weakly connected graph the geodesic </a:t>
            </a:r>
            <a:r>
              <a:rPr b="1" lang="en">
                <a:solidFill>
                  <a:srgbClr val="FF0000"/>
                </a:solidFill>
              </a:rPr>
              <a:t>distance</a:t>
            </a:r>
            <a:r>
              <a:rPr b="1" lang="en">
                <a:solidFill>
                  <a:srgbClr val="FF0000"/>
                </a:solidFill>
              </a:rPr>
              <a:t> between some pairs of nodes is infinity!</a:t>
            </a:r>
            <a:endParaRPr b="1">
              <a:solidFill>
                <a:srgbClr val="FF0000"/>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3" name="Shape 2523"/>
        <p:cNvGrpSpPr/>
        <p:nvPr/>
      </p:nvGrpSpPr>
      <p:grpSpPr>
        <a:xfrm>
          <a:off x="0" y="0"/>
          <a:ext cx="0" cy="0"/>
          <a:chOff x="0" y="0"/>
          <a:chExt cx="0" cy="0"/>
        </a:xfrm>
      </p:grpSpPr>
      <p:sp>
        <p:nvSpPr>
          <p:cNvPr id="2524" name="Google Shape;2524;p9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sp>
        <p:nvSpPr>
          <p:cNvPr id="2525" name="Google Shape;2525;p90"/>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Weakly Connected Directed Graph</a:t>
            </a:r>
            <a:endParaRPr b="1" sz="1800">
              <a:solidFill>
                <a:srgbClr val="0000FF"/>
              </a:solidFill>
              <a:latin typeface="Economica"/>
              <a:ea typeface="Economica"/>
              <a:cs typeface="Economica"/>
              <a:sym typeface="Economica"/>
            </a:endParaRPr>
          </a:p>
        </p:txBody>
      </p:sp>
      <p:graphicFrame>
        <p:nvGraphicFramePr>
          <p:cNvPr id="2526" name="Google Shape;2526;p90"/>
          <p:cNvGraphicFramePr/>
          <p:nvPr/>
        </p:nvGraphicFramePr>
        <p:xfrm>
          <a:off x="4892040" y="1161288"/>
          <a:ext cx="3000000" cy="3000000"/>
        </p:xfrm>
        <a:graphic>
          <a:graphicData uri="http://schemas.openxmlformats.org/drawingml/2006/table">
            <a:tbl>
              <a:tblPr>
                <a:noFill/>
                <a:tableStyleId>{4D36BE5A-9069-42A2-BAD7-CD2C23C4D617}</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v2</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v3</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v4</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v5</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v6</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v7</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v8</a:t>
                      </a:r>
                      <a:endParaRPr b="1"/>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v1</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v2</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v3</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v4</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v5</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v6</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v7</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v8</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527" name="Google Shape;2527;p90"/>
          <p:cNvSpPr/>
          <p:nvPr/>
        </p:nvSpPr>
        <p:spPr>
          <a:xfrm>
            <a:off x="91440"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528" name="Google Shape;2528;p90"/>
          <p:cNvSpPr/>
          <p:nvPr/>
        </p:nvSpPr>
        <p:spPr>
          <a:xfrm>
            <a:off x="1546851"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529" name="Google Shape;2529;p90"/>
          <p:cNvSpPr/>
          <p:nvPr/>
        </p:nvSpPr>
        <p:spPr>
          <a:xfrm>
            <a:off x="2789575"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530" name="Google Shape;2530;p90"/>
          <p:cNvSpPr/>
          <p:nvPr/>
        </p:nvSpPr>
        <p:spPr>
          <a:xfrm>
            <a:off x="1546824" y="154533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531" name="Google Shape;2531;p90"/>
          <p:cNvSpPr/>
          <p:nvPr/>
        </p:nvSpPr>
        <p:spPr>
          <a:xfrm>
            <a:off x="154677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532" name="Google Shape;2532;p90"/>
          <p:cNvSpPr/>
          <p:nvPr/>
        </p:nvSpPr>
        <p:spPr>
          <a:xfrm>
            <a:off x="278962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533" name="Google Shape;2533;p90"/>
          <p:cNvSpPr/>
          <p:nvPr/>
        </p:nvSpPr>
        <p:spPr>
          <a:xfrm>
            <a:off x="424494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534" name="Google Shape;2534;p90"/>
          <p:cNvSpPr/>
          <p:nvPr/>
        </p:nvSpPr>
        <p:spPr>
          <a:xfrm>
            <a:off x="424489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535" name="Google Shape;2535;p90"/>
          <p:cNvCxnSpPr>
            <a:stCxn id="2527" idx="7"/>
            <a:endCxn id="2530" idx="2"/>
          </p:cNvCxnSpPr>
          <p:nvPr/>
        </p:nvCxnSpPr>
        <p:spPr>
          <a:xfrm flipH="1" rot="10800000">
            <a:off x="448652" y="1748275"/>
            <a:ext cx="10983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536" name="Google Shape;2536;p90"/>
          <p:cNvCxnSpPr>
            <a:stCxn id="2532" idx="6"/>
            <a:endCxn id="2533" idx="2"/>
          </p:cNvCxnSpPr>
          <p:nvPr/>
        </p:nvCxnSpPr>
        <p:spPr>
          <a:xfrm>
            <a:off x="3208124" y="3035982"/>
            <a:ext cx="1036800" cy="0"/>
          </a:xfrm>
          <a:prstGeom prst="straightConnector1">
            <a:avLst/>
          </a:prstGeom>
          <a:noFill/>
          <a:ln cap="flat" cmpd="sng" w="19050">
            <a:solidFill>
              <a:srgbClr val="B7B7B7"/>
            </a:solidFill>
            <a:prstDash val="solid"/>
            <a:round/>
            <a:headEnd len="med" w="med" type="triangle"/>
            <a:tailEnd len="med" w="med" type="none"/>
          </a:ln>
        </p:spPr>
      </p:cxnSp>
      <p:cxnSp>
        <p:nvCxnSpPr>
          <p:cNvPr id="2537" name="Google Shape;2537;p90"/>
          <p:cNvCxnSpPr>
            <a:stCxn id="2529" idx="6"/>
            <a:endCxn id="2534" idx="2"/>
          </p:cNvCxnSpPr>
          <p:nvPr/>
        </p:nvCxnSpPr>
        <p:spPr>
          <a:xfrm>
            <a:off x="3208075" y="4323671"/>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538" name="Google Shape;2538;p90"/>
          <p:cNvCxnSpPr>
            <a:stCxn id="2532" idx="4"/>
            <a:endCxn id="2529" idx="0"/>
          </p:cNvCxnSpPr>
          <p:nvPr/>
        </p:nvCxnSpPr>
        <p:spPr>
          <a:xfrm>
            <a:off x="2998874" y="32389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539" name="Google Shape;2539;p90"/>
          <p:cNvCxnSpPr>
            <a:stCxn id="2531" idx="0"/>
            <a:endCxn id="2528" idx="4"/>
          </p:cNvCxnSpPr>
          <p:nvPr/>
        </p:nvCxnSpPr>
        <p:spPr>
          <a:xfrm rot="10800000">
            <a:off x="1756026" y="3239021"/>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540" name="Google Shape;2540;p90"/>
          <p:cNvCxnSpPr>
            <a:stCxn id="2527" idx="5"/>
            <a:endCxn id="2531" idx="2"/>
          </p:cNvCxnSpPr>
          <p:nvPr/>
        </p:nvCxnSpPr>
        <p:spPr>
          <a:xfrm>
            <a:off x="448652" y="3179489"/>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541" name="Google Shape;2541;p90"/>
          <p:cNvCxnSpPr>
            <a:stCxn id="2527" idx="6"/>
            <a:endCxn id="2528" idx="2"/>
          </p:cNvCxnSpPr>
          <p:nvPr/>
        </p:nvCxnSpPr>
        <p:spPr>
          <a:xfrm>
            <a:off x="509940" y="3035982"/>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542" name="Google Shape;2542;p90"/>
          <p:cNvCxnSpPr>
            <a:stCxn id="2529" idx="2"/>
            <a:endCxn id="2531" idx="6"/>
          </p:cNvCxnSpPr>
          <p:nvPr/>
        </p:nvCxnSpPr>
        <p:spPr>
          <a:xfrm rot="10800000">
            <a:off x="1965175" y="4323671"/>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543" name="Google Shape;2543;p90"/>
          <p:cNvCxnSpPr>
            <a:stCxn id="2534" idx="1"/>
            <a:endCxn id="2532" idx="5"/>
          </p:cNvCxnSpPr>
          <p:nvPr/>
        </p:nvCxnSpPr>
        <p:spPr>
          <a:xfrm rot="10800000">
            <a:off x="3146984" y="3179363"/>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544" name="Google Shape;2544;p90"/>
          <p:cNvCxnSpPr>
            <a:stCxn id="2533" idx="1"/>
            <a:endCxn id="2530" idx="6"/>
          </p:cNvCxnSpPr>
          <p:nvPr/>
        </p:nvCxnSpPr>
        <p:spPr>
          <a:xfrm rot="10800000">
            <a:off x="1965332" y="1748275"/>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545" name="Google Shape;2545;p90"/>
          <p:cNvCxnSpPr>
            <a:stCxn id="2530" idx="5"/>
            <a:endCxn id="2532" idx="1"/>
          </p:cNvCxnSpPr>
          <p:nvPr/>
        </p:nvCxnSpPr>
        <p:spPr>
          <a:xfrm>
            <a:off x="1904036" y="189179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546" name="Google Shape;2546;p90"/>
          <p:cNvCxnSpPr>
            <a:stCxn id="2528" idx="0"/>
            <a:endCxn id="2530" idx="4"/>
          </p:cNvCxnSpPr>
          <p:nvPr/>
        </p:nvCxnSpPr>
        <p:spPr>
          <a:xfrm rot="10800000">
            <a:off x="1756101" y="19513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547" name="Google Shape;2547;p90"/>
          <p:cNvCxnSpPr>
            <a:stCxn id="2532" idx="3"/>
            <a:endCxn id="2531" idx="7"/>
          </p:cNvCxnSpPr>
          <p:nvPr/>
        </p:nvCxnSpPr>
        <p:spPr>
          <a:xfrm flipH="1">
            <a:off x="1904111" y="3179489"/>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548" name="Google Shape;2548;p90"/>
          <p:cNvCxnSpPr>
            <a:stCxn id="2528" idx="6"/>
            <a:endCxn id="2532" idx="2"/>
          </p:cNvCxnSpPr>
          <p:nvPr/>
        </p:nvCxnSpPr>
        <p:spPr>
          <a:xfrm>
            <a:off x="1965351" y="3035982"/>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549" name="Google Shape;2549;p90"/>
          <p:cNvSpPr txBox="1"/>
          <p:nvPr/>
        </p:nvSpPr>
        <p:spPr>
          <a:xfrm>
            <a:off x="5096050" y="47411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Geodesic Distance Matrix</a:t>
            </a:r>
            <a:endParaRPr b="1" sz="1800">
              <a:solidFill>
                <a:srgbClr val="0000FF"/>
              </a:solidFill>
              <a:latin typeface="Economica"/>
              <a:ea typeface="Economica"/>
              <a:cs typeface="Economica"/>
              <a:sym typeface="Economica"/>
            </a:endParaRPr>
          </a:p>
        </p:txBody>
      </p:sp>
      <p:sp>
        <p:nvSpPr>
          <p:cNvPr id="2550" name="Google Shape;2550;p90"/>
          <p:cNvSpPr/>
          <p:nvPr/>
        </p:nvSpPr>
        <p:spPr>
          <a:xfrm>
            <a:off x="611400" y="149325"/>
            <a:ext cx="4728600" cy="12777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No one can read nodes 2 and 7!</a:t>
            </a:r>
            <a:endParaRPr b="1">
              <a:solidFill>
                <a:srgbClr val="FF0000"/>
              </a:solidFill>
            </a:endParaRPr>
          </a:p>
          <a:p>
            <a:pPr indent="0" lvl="0" marL="0" rtl="0" algn="ctr">
              <a:spcBef>
                <a:spcPts val="0"/>
              </a:spcBef>
              <a:spcAft>
                <a:spcPts val="0"/>
              </a:spcAft>
              <a:buNone/>
            </a:pPr>
            <a:r>
              <a:rPr b="1" lang="en">
                <a:solidFill>
                  <a:srgbClr val="FF0000"/>
                </a:solidFill>
              </a:rPr>
              <a:t>(they are transmitter nodes)</a:t>
            </a:r>
            <a:endParaRPr b="1">
              <a:solidFill>
                <a:srgbClr val="FF0000"/>
              </a:solidFill>
            </a:endParaRPr>
          </a:p>
          <a:p>
            <a:pPr indent="0" lvl="0" marL="0" rtl="0" algn="ctr">
              <a:spcBef>
                <a:spcPts val="0"/>
              </a:spcBef>
              <a:spcAft>
                <a:spcPts val="0"/>
              </a:spcAft>
              <a:buNone/>
            </a:pPr>
            <a:r>
              <a:rPr b="1" lang="en">
                <a:solidFill>
                  <a:srgbClr val="FF0000"/>
                </a:solidFill>
              </a:rPr>
              <a:t>The geodesic distance between every node in the graph and them is infinity (Inf)</a:t>
            </a:r>
            <a:endParaRPr b="1">
              <a:solidFill>
                <a:srgbClr val="FF0000"/>
              </a:solidFill>
            </a:endParaRPr>
          </a:p>
        </p:txBody>
      </p:sp>
      <p:sp>
        <p:nvSpPr>
          <p:cNvPr id="2551" name="Google Shape;2551;p90"/>
          <p:cNvSpPr/>
          <p:nvPr/>
        </p:nvSpPr>
        <p:spPr>
          <a:xfrm rot="5400000">
            <a:off x="3997850" y="2726475"/>
            <a:ext cx="3725700" cy="405900"/>
          </a:xfrm>
          <a:prstGeom prst="rect">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90"/>
          <p:cNvSpPr/>
          <p:nvPr/>
        </p:nvSpPr>
        <p:spPr>
          <a:xfrm rot="5400000">
            <a:off x="5876100" y="2726475"/>
            <a:ext cx="3725700" cy="405900"/>
          </a:xfrm>
          <a:prstGeom prst="rect">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90"/>
          <p:cNvSpPr/>
          <p:nvPr/>
        </p:nvSpPr>
        <p:spPr>
          <a:xfrm rot="5400000">
            <a:off x="65650" y="2739275"/>
            <a:ext cx="580800" cy="653100"/>
          </a:xfrm>
          <a:prstGeom prst="rect">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90"/>
          <p:cNvSpPr/>
          <p:nvPr/>
        </p:nvSpPr>
        <p:spPr>
          <a:xfrm rot="5400000">
            <a:off x="4142538" y="2734275"/>
            <a:ext cx="580800" cy="653100"/>
          </a:xfrm>
          <a:prstGeom prst="rect">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8" name="Shape 2558"/>
        <p:cNvGrpSpPr/>
        <p:nvPr/>
      </p:nvGrpSpPr>
      <p:grpSpPr>
        <a:xfrm>
          <a:off x="0" y="0"/>
          <a:ext cx="0" cy="0"/>
          <a:chOff x="0" y="0"/>
          <a:chExt cx="0" cy="0"/>
        </a:xfrm>
      </p:grpSpPr>
      <p:sp>
        <p:nvSpPr>
          <p:cNvPr id="2559" name="Google Shape;2559;p9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sp>
        <p:nvSpPr>
          <p:cNvPr id="2560" name="Google Shape;2560;p91"/>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Weakly Connected Directed Graph</a:t>
            </a:r>
            <a:endParaRPr b="1" sz="1800">
              <a:solidFill>
                <a:srgbClr val="0000FF"/>
              </a:solidFill>
              <a:latin typeface="Economica"/>
              <a:ea typeface="Economica"/>
              <a:cs typeface="Economica"/>
              <a:sym typeface="Economica"/>
            </a:endParaRPr>
          </a:p>
        </p:txBody>
      </p:sp>
      <p:graphicFrame>
        <p:nvGraphicFramePr>
          <p:cNvPr id="2561" name="Google Shape;2561;p91"/>
          <p:cNvGraphicFramePr/>
          <p:nvPr/>
        </p:nvGraphicFramePr>
        <p:xfrm>
          <a:off x="4892040" y="1161288"/>
          <a:ext cx="3000000" cy="3000000"/>
        </p:xfrm>
        <a:graphic>
          <a:graphicData uri="http://schemas.openxmlformats.org/drawingml/2006/table">
            <a:tbl>
              <a:tblPr>
                <a:noFill/>
                <a:tableStyleId>{4D36BE5A-9069-42A2-BAD7-CD2C23C4D617}</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v2</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v3</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v4</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v5</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v6</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v7</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v8</a:t>
                      </a:r>
                      <a:endParaRPr b="1"/>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v1</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v2</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v3</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v4</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v5</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v6</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v7</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v8</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562" name="Google Shape;2562;p91"/>
          <p:cNvSpPr/>
          <p:nvPr/>
        </p:nvSpPr>
        <p:spPr>
          <a:xfrm>
            <a:off x="91440"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563" name="Google Shape;2563;p91"/>
          <p:cNvSpPr/>
          <p:nvPr/>
        </p:nvSpPr>
        <p:spPr>
          <a:xfrm>
            <a:off x="1546851"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564" name="Google Shape;2564;p91"/>
          <p:cNvSpPr/>
          <p:nvPr/>
        </p:nvSpPr>
        <p:spPr>
          <a:xfrm>
            <a:off x="2789575"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565" name="Google Shape;2565;p91"/>
          <p:cNvSpPr/>
          <p:nvPr/>
        </p:nvSpPr>
        <p:spPr>
          <a:xfrm>
            <a:off x="1546824" y="154533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566" name="Google Shape;2566;p91"/>
          <p:cNvSpPr/>
          <p:nvPr/>
        </p:nvSpPr>
        <p:spPr>
          <a:xfrm>
            <a:off x="154677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567" name="Google Shape;2567;p91"/>
          <p:cNvSpPr/>
          <p:nvPr/>
        </p:nvSpPr>
        <p:spPr>
          <a:xfrm>
            <a:off x="278962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568" name="Google Shape;2568;p91"/>
          <p:cNvSpPr/>
          <p:nvPr/>
        </p:nvSpPr>
        <p:spPr>
          <a:xfrm>
            <a:off x="424494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569" name="Google Shape;2569;p91"/>
          <p:cNvSpPr/>
          <p:nvPr/>
        </p:nvSpPr>
        <p:spPr>
          <a:xfrm>
            <a:off x="424489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570" name="Google Shape;2570;p91"/>
          <p:cNvCxnSpPr>
            <a:stCxn id="2562" idx="7"/>
            <a:endCxn id="2565" idx="2"/>
          </p:cNvCxnSpPr>
          <p:nvPr/>
        </p:nvCxnSpPr>
        <p:spPr>
          <a:xfrm flipH="1" rot="10800000">
            <a:off x="448652" y="1748275"/>
            <a:ext cx="10983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571" name="Google Shape;2571;p91"/>
          <p:cNvCxnSpPr>
            <a:stCxn id="2567" idx="6"/>
            <a:endCxn id="2568" idx="2"/>
          </p:cNvCxnSpPr>
          <p:nvPr/>
        </p:nvCxnSpPr>
        <p:spPr>
          <a:xfrm>
            <a:off x="3208124" y="3035982"/>
            <a:ext cx="1036800" cy="0"/>
          </a:xfrm>
          <a:prstGeom prst="straightConnector1">
            <a:avLst/>
          </a:prstGeom>
          <a:noFill/>
          <a:ln cap="flat" cmpd="sng" w="19050">
            <a:solidFill>
              <a:srgbClr val="B7B7B7"/>
            </a:solidFill>
            <a:prstDash val="solid"/>
            <a:round/>
            <a:headEnd len="med" w="med" type="triangle"/>
            <a:tailEnd len="med" w="med" type="none"/>
          </a:ln>
        </p:spPr>
      </p:cxnSp>
      <p:cxnSp>
        <p:nvCxnSpPr>
          <p:cNvPr id="2572" name="Google Shape;2572;p91"/>
          <p:cNvCxnSpPr>
            <a:stCxn id="2564" idx="6"/>
            <a:endCxn id="2569" idx="2"/>
          </p:cNvCxnSpPr>
          <p:nvPr/>
        </p:nvCxnSpPr>
        <p:spPr>
          <a:xfrm>
            <a:off x="3208075" y="4323671"/>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573" name="Google Shape;2573;p91"/>
          <p:cNvCxnSpPr>
            <a:stCxn id="2567" idx="4"/>
            <a:endCxn id="2564" idx="0"/>
          </p:cNvCxnSpPr>
          <p:nvPr/>
        </p:nvCxnSpPr>
        <p:spPr>
          <a:xfrm>
            <a:off x="2998874" y="32389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574" name="Google Shape;2574;p91"/>
          <p:cNvCxnSpPr>
            <a:stCxn id="2566" idx="0"/>
            <a:endCxn id="2563" idx="4"/>
          </p:cNvCxnSpPr>
          <p:nvPr/>
        </p:nvCxnSpPr>
        <p:spPr>
          <a:xfrm rot="10800000">
            <a:off x="1756026" y="3239021"/>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575" name="Google Shape;2575;p91"/>
          <p:cNvCxnSpPr>
            <a:stCxn id="2562" idx="5"/>
            <a:endCxn id="2566" idx="2"/>
          </p:cNvCxnSpPr>
          <p:nvPr/>
        </p:nvCxnSpPr>
        <p:spPr>
          <a:xfrm>
            <a:off x="448652" y="3179489"/>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576" name="Google Shape;2576;p91"/>
          <p:cNvCxnSpPr>
            <a:stCxn id="2562" idx="6"/>
            <a:endCxn id="2563" idx="2"/>
          </p:cNvCxnSpPr>
          <p:nvPr/>
        </p:nvCxnSpPr>
        <p:spPr>
          <a:xfrm>
            <a:off x="509940" y="3035982"/>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577" name="Google Shape;2577;p91"/>
          <p:cNvCxnSpPr>
            <a:stCxn id="2564" idx="2"/>
            <a:endCxn id="2566" idx="6"/>
          </p:cNvCxnSpPr>
          <p:nvPr/>
        </p:nvCxnSpPr>
        <p:spPr>
          <a:xfrm rot="10800000">
            <a:off x="1965175" y="4323671"/>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578" name="Google Shape;2578;p91"/>
          <p:cNvCxnSpPr>
            <a:stCxn id="2569" idx="1"/>
            <a:endCxn id="2567" idx="5"/>
          </p:cNvCxnSpPr>
          <p:nvPr/>
        </p:nvCxnSpPr>
        <p:spPr>
          <a:xfrm rot="10800000">
            <a:off x="3146984" y="3179363"/>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579" name="Google Shape;2579;p91"/>
          <p:cNvCxnSpPr>
            <a:stCxn id="2568" idx="1"/>
            <a:endCxn id="2565" idx="6"/>
          </p:cNvCxnSpPr>
          <p:nvPr/>
        </p:nvCxnSpPr>
        <p:spPr>
          <a:xfrm rot="10800000">
            <a:off x="1965332" y="1748275"/>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580" name="Google Shape;2580;p91"/>
          <p:cNvCxnSpPr>
            <a:stCxn id="2565" idx="5"/>
            <a:endCxn id="2567" idx="1"/>
          </p:cNvCxnSpPr>
          <p:nvPr/>
        </p:nvCxnSpPr>
        <p:spPr>
          <a:xfrm>
            <a:off x="1904036" y="189179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581" name="Google Shape;2581;p91"/>
          <p:cNvCxnSpPr>
            <a:stCxn id="2563" idx="0"/>
            <a:endCxn id="2565" idx="4"/>
          </p:cNvCxnSpPr>
          <p:nvPr/>
        </p:nvCxnSpPr>
        <p:spPr>
          <a:xfrm rot="10800000">
            <a:off x="1756101" y="19513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582" name="Google Shape;2582;p91"/>
          <p:cNvCxnSpPr>
            <a:stCxn id="2567" idx="3"/>
            <a:endCxn id="2566" idx="7"/>
          </p:cNvCxnSpPr>
          <p:nvPr/>
        </p:nvCxnSpPr>
        <p:spPr>
          <a:xfrm flipH="1">
            <a:off x="1904111" y="3179489"/>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583" name="Google Shape;2583;p91"/>
          <p:cNvCxnSpPr>
            <a:stCxn id="2563" idx="6"/>
            <a:endCxn id="2567" idx="2"/>
          </p:cNvCxnSpPr>
          <p:nvPr/>
        </p:nvCxnSpPr>
        <p:spPr>
          <a:xfrm>
            <a:off x="1965351" y="3035982"/>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584" name="Google Shape;2584;p91"/>
          <p:cNvSpPr txBox="1"/>
          <p:nvPr/>
        </p:nvSpPr>
        <p:spPr>
          <a:xfrm>
            <a:off x="5096050" y="47411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Geodesic Distance Matrix</a:t>
            </a:r>
            <a:endParaRPr b="1" sz="1800">
              <a:solidFill>
                <a:srgbClr val="0000FF"/>
              </a:solidFill>
              <a:latin typeface="Economica"/>
              <a:ea typeface="Economica"/>
              <a:cs typeface="Economica"/>
              <a:sym typeface="Economica"/>
            </a:endParaRPr>
          </a:p>
        </p:txBody>
      </p:sp>
      <p:sp>
        <p:nvSpPr>
          <p:cNvPr id="2585" name="Google Shape;2585;p91"/>
          <p:cNvSpPr/>
          <p:nvPr/>
        </p:nvSpPr>
        <p:spPr>
          <a:xfrm>
            <a:off x="611400" y="282775"/>
            <a:ext cx="4565100" cy="11442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Node 5 can reach no one!</a:t>
            </a:r>
            <a:endParaRPr b="1">
              <a:solidFill>
                <a:srgbClr val="FF0000"/>
              </a:solidFill>
            </a:endParaRPr>
          </a:p>
          <a:p>
            <a:pPr indent="0" lvl="0" marL="0" rtl="0" algn="ctr">
              <a:spcBef>
                <a:spcPts val="0"/>
              </a:spcBef>
              <a:spcAft>
                <a:spcPts val="0"/>
              </a:spcAft>
              <a:buNone/>
            </a:pPr>
            <a:r>
              <a:rPr b="1" lang="en">
                <a:solidFill>
                  <a:srgbClr val="FF0000"/>
                </a:solidFill>
              </a:rPr>
              <a:t>(it is a receiver node)</a:t>
            </a:r>
            <a:endParaRPr b="1">
              <a:solidFill>
                <a:srgbClr val="FF0000"/>
              </a:solidFill>
            </a:endParaRPr>
          </a:p>
          <a:p>
            <a:pPr indent="0" lvl="0" marL="0" rtl="0" algn="ctr">
              <a:spcBef>
                <a:spcPts val="0"/>
              </a:spcBef>
              <a:spcAft>
                <a:spcPts val="0"/>
              </a:spcAft>
              <a:buNone/>
            </a:pPr>
            <a:r>
              <a:rPr b="1" lang="en">
                <a:solidFill>
                  <a:srgbClr val="FF0000"/>
                </a:solidFill>
              </a:rPr>
              <a:t>The geodesic distance between 5 and everyone else is also </a:t>
            </a:r>
            <a:r>
              <a:rPr b="1" lang="en">
                <a:solidFill>
                  <a:srgbClr val="FF0000"/>
                </a:solidFill>
              </a:rPr>
              <a:t>infinity</a:t>
            </a:r>
            <a:r>
              <a:rPr b="1" lang="en">
                <a:solidFill>
                  <a:srgbClr val="FF0000"/>
                </a:solidFill>
              </a:rPr>
              <a:t>!</a:t>
            </a:r>
            <a:endParaRPr b="1">
              <a:solidFill>
                <a:srgbClr val="FF0000"/>
              </a:solidFill>
            </a:endParaRPr>
          </a:p>
        </p:txBody>
      </p:sp>
      <p:sp>
        <p:nvSpPr>
          <p:cNvPr id="2586" name="Google Shape;2586;p91"/>
          <p:cNvSpPr/>
          <p:nvPr/>
        </p:nvSpPr>
        <p:spPr>
          <a:xfrm>
            <a:off x="4884400" y="3142300"/>
            <a:ext cx="3453300" cy="405900"/>
          </a:xfrm>
          <a:prstGeom prst="rect">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91"/>
          <p:cNvSpPr/>
          <p:nvPr/>
        </p:nvSpPr>
        <p:spPr>
          <a:xfrm rot="5400000">
            <a:off x="1465688" y="3943050"/>
            <a:ext cx="580800" cy="653100"/>
          </a:xfrm>
          <a:prstGeom prst="rect">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1" name="Shape 2591"/>
        <p:cNvGrpSpPr/>
        <p:nvPr/>
      </p:nvGrpSpPr>
      <p:grpSpPr>
        <a:xfrm>
          <a:off x="0" y="0"/>
          <a:ext cx="0" cy="0"/>
          <a:chOff x="0" y="0"/>
          <a:chExt cx="0" cy="0"/>
        </a:xfrm>
      </p:grpSpPr>
      <p:sp>
        <p:nvSpPr>
          <p:cNvPr id="2592" name="Google Shape;2592;p9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sp>
        <p:nvSpPr>
          <p:cNvPr id="2593" name="Google Shape;2593;p92"/>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Weakly Connected Directed Graph</a:t>
            </a:r>
            <a:endParaRPr b="1" sz="1800">
              <a:solidFill>
                <a:srgbClr val="0000FF"/>
              </a:solidFill>
              <a:latin typeface="Economica"/>
              <a:ea typeface="Economica"/>
              <a:cs typeface="Economica"/>
              <a:sym typeface="Economica"/>
            </a:endParaRPr>
          </a:p>
        </p:txBody>
      </p:sp>
      <p:graphicFrame>
        <p:nvGraphicFramePr>
          <p:cNvPr id="2594" name="Google Shape;2594;p92"/>
          <p:cNvGraphicFramePr/>
          <p:nvPr/>
        </p:nvGraphicFramePr>
        <p:xfrm>
          <a:off x="4892040" y="1161288"/>
          <a:ext cx="3000000" cy="3000000"/>
        </p:xfrm>
        <a:graphic>
          <a:graphicData uri="http://schemas.openxmlformats.org/drawingml/2006/table">
            <a:tbl>
              <a:tblPr>
                <a:noFill/>
                <a:tableStyleId>{4D36BE5A-9069-42A2-BAD7-CD2C23C4D617}</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v2</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v3</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v4</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v5</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v6</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v7</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v8</a:t>
                      </a:r>
                      <a:endParaRPr b="1"/>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v1</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v2</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v3</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v4</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v5</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v6</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v7</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v8</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595" name="Google Shape;2595;p92"/>
          <p:cNvSpPr/>
          <p:nvPr/>
        </p:nvSpPr>
        <p:spPr>
          <a:xfrm>
            <a:off x="91440"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596" name="Google Shape;2596;p92"/>
          <p:cNvSpPr/>
          <p:nvPr/>
        </p:nvSpPr>
        <p:spPr>
          <a:xfrm>
            <a:off x="1546851"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597" name="Google Shape;2597;p92"/>
          <p:cNvSpPr/>
          <p:nvPr/>
        </p:nvSpPr>
        <p:spPr>
          <a:xfrm>
            <a:off x="2789575"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598" name="Google Shape;2598;p92"/>
          <p:cNvSpPr/>
          <p:nvPr/>
        </p:nvSpPr>
        <p:spPr>
          <a:xfrm>
            <a:off x="1546824" y="154533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599" name="Google Shape;2599;p92"/>
          <p:cNvSpPr/>
          <p:nvPr/>
        </p:nvSpPr>
        <p:spPr>
          <a:xfrm>
            <a:off x="154677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600" name="Google Shape;2600;p92"/>
          <p:cNvSpPr/>
          <p:nvPr/>
        </p:nvSpPr>
        <p:spPr>
          <a:xfrm>
            <a:off x="278962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601" name="Google Shape;2601;p92"/>
          <p:cNvSpPr/>
          <p:nvPr/>
        </p:nvSpPr>
        <p:spPr>
          <a:xfrm>
            <a:off x="424494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602" name="Google Shape;2602;p92"/>
          <p:cNvSpPr/>
          <p:nvPr/>
        </p:nvSpPr>
        <p:spPr>
          <a:xfrm>
            <a:off x="424489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603" name="Google Shape;2603;p92"/>
          <p:cNvCxnSpPr>
            <a:stCxn id="2595" idx="7"/>
            <a:endCxn id="2598" idx="2"/>
          </p:cNvCxnSpPr>
          <p:nvPr/>
        </p:nvCxnSpPr>
        <p:spPr>
          <a:xfrm flipH="1" rot="10800000">
            <a:off x="448652" y="1748275"/>
            <a:ext cx="10983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604" name="Google Shape;2604;p92"/>
          <p:cNvCxnSpPr>
            <a:stCxn id="2600" idx="6"/>
            <a:endCxn id="2601" idx="2"/>
          </p:cNvCxnSpPr>
          <p:nvPr/>
        </p:nvCxnSpPr>
        <p:spPr>
          <a:xfrm>
            <a:off x="3208124" y="3035982"/>
            <a:ext cx="1036800" cy="0"/>
          </a:xfrm>
          <a:prstGeom prst="straightConnector1">
            <a:avLst/>
          </a:prstGeom>
          <a:noFill/>
          <a:ln cap="flat" cmpd="sng" w="19050">
            <a:solidFill>
              <a:srgbClr val="B7B7B7"/>
            </a:solidFill>
            <a:prstDash val="solid"/>
            <a:round/>
            <a:headEnd len="med" w="med" type="triangle"/>
            <a:tailEnd len="med" w="med" type="none"/>
          </a:ln>
        </p:spPr>
      </p:cxnSp>
      <p:cxnSp>
        <p:nvCxnSpPr>
          <p:cNvPr id="2605" name="Google Shape;2605;p92"/>
          <p:cNvCxnSpPr>
            <a:stCxn id="2597" idx="6"/>
            <a:endCxn id="2602" idx="2"/>
          </p:cNvCxnSpPr>
          <p:nvPr/>
        </p:nvCxnSpPr>
        <p:spPr>
          <a:xfrm>
            <a:off x="3208075" y="4323671"/>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606" name="Google Shape;2606;p92"/>
          <p:cNvCxnSpPr>
            <a:stCxn id="2600" idx="4"/>
            <a:endCxn id="2597" idx="0"/>
          </p:cNvCxnSpPr>
          <p:nvPr/>
        </p:nvCxnSpPr>
        <p:spPr>
          <a:xfrm>
            <a:off x="2998874" y="32389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607" name="Google Shape;2607;p92"/>
          <p:cNvCxnSpPr>
            <a:stCxn id="2599" idx="0"/>
            <a:endCxn id="2596" idx="4"/>
          </p:cNvCxnSpPr>
          <p:nvPr/>
        </p:nvCxnSpPr>
        <p:spPr>
          <a:xfrm rot="10800000">
            <a:off x="1756026" y="3239021"/>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608" name="Google Shape;2608;p92"/>
          <p:cNvCxnSpPr>
            <a:stCxn id="2595" idx="5"/>
            <a:endCxn id="2599" idx="2"/>
          </p:cNvCxnSpPr>
          <p:nvPr/>
        </p:nvCxnSpPr>
        <p:spPr>
          <a:xfrm>
            <a:off x="448652" y="3179489"/>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609" name="Google Shape;2609;p92"/>
          <p:cNvCxnSpPr>
            <a:stCxn id="2595" idx="6"/>
            <a:endCxn id="2596" idx="2"/>
          </p:cNvCxnSpPr>
          <p:nvPr/>
        </p:nvCxnSpPr>
        <p:spPr>
          <a:xfrm>
            <a:off x="509940" y="3035982"/>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610" name="Google Shape;2610;p92"/>
          <p:cNvCxnSpPr>
            <a:stCxn id="2597" idx="2"/>
            <a:endCxn id="2599" idx="6"/>
          </p:cNvCxnSpPr>
          <p:nvPr/>
        </p:nvCxnSpPr>
        <p:spPr>
          <a:xfrm rot="10800000">
            <a:off x="1965175" y="4323671"/>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611" name="Google Shape;2611;p92"/>
          <p:cNvCxnSpPr>
            <a:stCxn id="2602" idx="1"/>
            <a:endCxn id="2600" idx="5"/>
          </p:cNvCxnSpPr>
          <p:nvPr/>
        </p:nvCxnSpPr>
        <p:spPr>
          <a:xfrm rot="10800000">
            <a:off x="3146984" y="3179363"/>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612" name="Google Shape;2612;p92"/>
          <p:cNvCxnSpPr>
            <a:stCxn id="2601" idx="1"/>
            <a:endCxn id="2598" idx="6"/>
          </p:cNvCxnSpPr>
          <p:nvPr/>
        </p:nvCxnSpPr>
        <p:spPr>
          <a:xfrm rot="10800000">
            <a:off x="1965332" y="1748275"/>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613" name="Google Shape;2613;p92"/>
          <p:cNvCxnSpPr>
            <a:stCxn id="2598" idx="5"/>
            <a:endCxn id="2600" idx="1"/>
          </p:cNvCxnSpPr>
          <p:nvPr/>
        </p:nvCxnSpPr>
        <p:spPr>
          <a:xfrm>
            <a:off x="1904036" y="189179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614" name="Google Shape;2614;p92"/>
          <p:cNvCxnSpPr>
            <a:stCxn id="2596" idx="0"/>
            <a:endCxn id="2598" idx="4"/>
          </p:cNvCxnSpPr>
          <p:nvPr/>
        </p:nvCxnSpPr>
        <p:spPr>
          <a:xfrm rot="10800000">
            <a:off x="1756101" y="19513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615" name="Google Shape;2615;p92"/>
          <p:cNvCxnSpPr>
            <a:stCxn id="2600" idx="3"/>
            <a:endCxn id="2599" idx="7"/>
          </p:cNvCxnSpPr>
          <p:nvPr/>
        </p:nvCxnSpPr>
        <p:spPr>
          <a:xfrm flipH="1">
            <a:off x="1904111" y="3179489"/>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616" name="Google Shape;2616;p92"/>
          <p:cNvCxnSpPr>
            <a:stCxn id="2596" idx="6"/>
            <a:endCxn id="2600" idx="2"/>
          </p:cNvCxnSpPr>
          <p:nvPr/>
        </p:nvCxnSpPr>
        <p:spPr>
          <a:xfrm>
            <a:off x="1965351" y="3035982"/>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617" name="Google Shape;2617;p92"/>
          <p:cNvSpPr/>
          <p:nvPr/>
        </p:nvSpPr>
        <p:spPr>
          <a:xfrm>
            <a:off x="611400" y="282775"/>
            <a:ext cx="3960600" cy="11442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What happens when we try to compute closeness in a weakly connected directed graph?</a:t>
            </a:r>
            <a:endParaRPr b="1">
              <a:solidFill>
                <a:srgbClr val="FF0000"/>
              </a:solidFill>
            </a:endParaRPr>
          </a:p>
        </p:txBody>
      </p:sp>
      <p:sp>
        <p:nvSpPr>
          <p:cNvPr id="2618" name="Google Shape;2618;p92"/>
          <p:cNvSpPr txBox="1"/>
          <p:nvPr/>
        </p:nvSpPr>
        <p:spPr>
          <a:xfrm>
            <a:off x="5096050" y="47411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Geodesic Distance Matrix</a:t>
            </a:r>
            <a:endParaRPr b="1" sz="1800">
              <a:solidFill>
                <a:srgbClr val="0000FF"/>
              </a:solidFill>
              <a:latin typeface="Economica"/>
              <a:ea typeface="Economica"/>
              <a:cs typeface="Economica"/>
              <a:sym typeface="Economica"/>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2" name="Shape 2622"/>
        <p:cNvGrpSpPr/>
        <p:nvPr/>
      </p:nvGrpSpPr>
      <p:grpSpPr>
        <a:xfrm>
          <a:off x="0" y="0"/>
          <a:ext cx="0" cy="0"/>
          <a:chOff x="0" y="0"/>
          <a:chExt cx="0" cy="0"/>
        </a:xfrm>
      </p:grpSpPr>
      <p:sp>
        <p:nvSpPr>
          <p:cNvPr id="2623" name="Google Shape;2623;p9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sp>
        <p:nvSpPr>
          <p:cNvPr id="2624" name="Google Shape;2624;p93"/>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Weakly Connected Directed Graph</a:t>
            </a:r>
            <a:endParaRPr b="1" sz="1800">
              <a:solidFill>
                <a:srgbClr val="0000FF"/>
              </a:solidFill>
              <a:latin typeface="Economica"/>
              <a:ea typeface="Economica"/>
              <a:cs typeface="Economica"/>
              <a:sym typeface="Economica"/>
            </a:endParaRPr>
          </a:p>
        </p:txBody>
      </p:sp>
      <p:graphicFrame>
        <p:nvGraphicFramePr>
          <p:cNvPr id="2625" name="Google Shape;2625;p93"/>
          <p:cNvGraphicFramePr/>
          <p:nvPr/>
        </p:nvGraphicFramePr>
        <p:xfrm>
          <a:off x="4892040" y="1161288"/>
          <a:ext cx="3000000" cy="3000000"/>
        </p:xfrm>
        <a:graphic>
          <a:graphicData uri="http://schemas.openxmlformats.org/drawingml/2006/table">
            <a:tbl>
              <a:tblPr>
                <a:noFill/>
                <a:tableStyleId>{4D36BE5A-9069-42A2-BAD7-CD2C23C4D617}</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v2</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v3</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v4</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v5</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v6</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v7</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v8</a:t>
                      </a:r>
                      <a:endParaRPr b="1"/>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v1</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v2</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v3</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v4</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v5</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v6</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v7</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v8</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626" name="Google Shape;2626;p93"/>
          <p:cNvSpPr/>
          <p:nvPr/>
        </p:nvSpPr>
        <p:spPr>
          <a:xfrm>
            <a:off x="91440"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627" name="Google Shape;2627;p93"/>
          <p:cNvSpPr/>
          <p:nvPr/>
        </p:nvSpPr>
        <p:spPr>
          <a:xfrm>
            <a:off x="1546851"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628" name="Google Shape;2628;p93"/>
          <p:cNvSpPr/>
          <p:nvPr/>
        </p:nvSpPr>
        <p:spPr>
          <a:xfrm>
            <a:off x="2789575"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629" name="Google Shape;2629;p93"/>
          <p:cNvSpPr/>
          <p:nvPr/>
        </p:nvSpPr>
        <p:spPr>
          <a:xfrm>
            <a:off x="1546824" y="154533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630" name="Google Shape;2630;p93"/>
          <p:cNvSpPr/>
          <p:nvPr/>
        </p:nvSpPr>
        <p:spPr>
          <a:xfrm>
            <a:off x="154677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631" name="Google Shape;2631;p93"/>
          <p:cNvSpPr/>
          <p:nvPr/>
        </p:nvSpPr>
        <p:spPr>
          <a:xfrm>
            <a:off x="278962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632" name="Google Shape;2632;p93"/>
          <p:cNvSpPr/>
          <p:nvPr/>
        </p:nvSpPr>
        <p:spPr>
          <a:xfrm>
            <a:off x="424494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633" name="Google Shape;2633;p93"/>
          <p:cNvSpPr/>
          <p:nvPr/>
        </p:nvSpPr>
        <p:spPr>
          <a:xfrm>
            <a:off x="424489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634" name="Google Shape;2634;p93"/>
          <p:cNvCxnSpPr>
            <a:stCxn id="2626" idx="7"/>
            <a:endCxn id="2629" idx="2"/>
          </p:cNvCxnSpPr>
          <p:nvPr/>
        </p:nvCxnSpPr>
        <p:spPr>
          <a:xfrm flipH="1" rot="10800000">
            <a:off x="448652" y="1748275"/>
            <a:ext cx="10983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635" name="Google Shape;2635;p93"/>
          <p:cNvCxnSpPr>
            <a:stCxn id="2631" idx="6"/>
            <a:endCxn id="2632" idx="2"/>
          </p:cNvCxnSpPr>
          <p:nvPr/>
        </p:nvCxnSpPr>
        <p:spPr>
          <a:xfrm>
            <a:off x="3208124" y="3035982"/>
            <a:ext cx="1036800" cy="0"/>
          </a:xfrm>
          <a:prstGeom prst="straightConnector1">
            <a:avLst/>
          </a:prstGeom>
          <a:noFill/>
          <a:ln cap="flat" cmpd="sng" w="19050">
            <a:solidFill>
              <a:srgbClr val="B7B7B7"/>
            </a:solidFill>
            <a:prstDash val="solid"/>
            <a:round/>
            <a:headEnd len="med" w="med" type="triangle"/>
            <a:tailEnd len="med" w="med" type="none"/>
          </a:ln>
        </p:spPr>
      </p:cxnSp>
      <p:cxnSp>
        <p:nvCxnSpPr>
          <p:cNvPr id="2636" name="Google Shape;2636;p93"/>
          <p:cNvCxnSpPr>
            <a:stCxn id="2628" idx="6"/>
            <a:endCxn id="2633" idx="2"/>
          </p:cNvCxnSpPr>
          <p:nvPr/>
        </p:nvCxnSpPr>
        <p:spPr>
          <a:xfrm>
            <a:off x="3208075" y="4323671"/>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637" name="Google Shape;2637;p93"/>
          <p:cNvCxnSpPr>
            <a:stCxn id="2631" idx="4"/>
            <a:endCxn id="2628" idx="0"/>
          </p:cNvCxnSpPr>
          <p:nvPr/>
        </p:nvCxnSpPr>
        <p:spPr>
          <a:xfrm>
            <a:off x="2998874" y="32389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638" name="Google Shape;2638;p93"/>
          <p:cNvCxnSpPr>
            <a:stCxn id="2630" idx="0"/>
            <a:endCxn id="2627" idx="4"/>
          </p:cNvCxnSpPr>
          <p:nvPr/>
        </p:nvCxnSpPr>
        <p:spPr>
          <a:xfrm rot="10800000">
            <a:off x="1756026" y="3239021"/>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639" name="Google Shape;2639;p93"/>
          <p:cNvCxnSpPr>
            <a:stCxn id="2626" idx="5"/>
            <a:endCxn id="2630" idx="2"/>
          </p:cNvCxnSpPr>
          <p:nvPr/>
        </p:nvCxnSpPr>
        <p:spPr>
          <a:xfrm>
            <a:off x="448652" y="3179489"/>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640" name="Google Shape;2640;p93"/>
          <p:cNvCxnSpPr>
            <a:stCxn id="2626" idx="6"/>
            <a:endCxn id="2627" idx="2"/>
          </p:cNvCxnSpPr>
          <p:nvPr/>
        </p:nvCxnSpPr>
        <p:spPr>
          <a:xfrm>
            <a:off x="509940" y="3035982"/>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641" name="Google Shape;2641;p93"/>
          <p:cNvCxnSpPr>
            <a:stCxn id="2628" idx="2"/>
            <a:endCxn id="2630" idx="6"/>
          </p:cNvCxnSpPr>
          <p:nvPr/>
        </p:nvCxnSpPr>
        <p:spPr>
          <a:xfrm rot="10800000">
            <a:off x="1965175" y="4323671"/>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642" name="Google Shape;2642;p93"/>
          <p:cNvCxnSpPr>
            <a:stCxn id="2633" idx="1"/>
            <a:endCxn id="2631" idx="5"/>
          </p:cNvCxnSpPr>
          <p:nvPr/>
        </p:nvCxnSpPr>
        <p:spPr>
          <a:xfrm rot="10800000">
            <a:off x="3146984" y="3179363"/>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643" name="Google Shape;2643;p93"/>
          <p:cNvCxnSpPr>
            <a:stCxn id="2632" idx="1"/>
            <a:endCxn id="2629" idx="6"/>
          </p:cNvCxnSpPr>
          <p:nvPr/>
        </p:nvCxnSpPr>
        <p:spPr>
          <a:xfrm rot="10800000">
            <a:off x="1965332" y="1748275"/>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644" name="Google Shape;2644;p93"/>
          <p:cNvCxnSpPr>
            <a:stCxn id="2629" idx="5"/>
            <a:endCxn id="2631" idx="1"/>
          </p:cNvCxnSpPr>
          <p:nvPr/>
        </p:nvCxnSpPr>
        <p:spPr>
          <a:xfrm>
            <a:off x="1904036" y="189179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645" name="Google Shape;2645;p93"/>
          <p:cNvCxnSpPr>
            <a:stCxn id="2627" idx="0"/>
            <a:endCxn id="2629" idx="4"/>
          </p:cNvCxnSpPr>
          <p:nvPr/>
        </p:nvCxnSpPr>
        <p:spPr>
          <a:xfrm rot="10800000">
            <a:off x="1756101" y="19513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646" name="Google Shape;2646;p93"/>
          <p:cNvCxnSpPr>
            <a:stCxn id="2631" idx="3"/>
            <a:endCxn id="2630" idx="7"/>
          </p:cNvCxnSpPr>
          <p:nvPr/>
        </p:nvCxnSpPr>
        <p:spPr>
          <a:xfrm flipH="1">
            <a:off x="1904111" y="3179489"/>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647" name="Google Shape;2647;p93"/>
          <p:cNvCxnSpPr>
            <a:stCxn id="2627" idx="6"/>
            <a:endCxn id="2631" idx="2"/>
          </p:cNvCxnSpPr>
          <p:nvPr/>
        </p:nvCxnSpPr>
        <p:spPr>
          <a:xfrm>
            <a:off x="1965351" y="3035982"/>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648" name="Google Shape;2648;p93"/>
          <p:cNvSpPr/>
          <p:nvPr/>
        </p:nvSpPr>
        <p:spPr>
          <a:xfrm>
            <a:off x="611400" y="282775"/>
            <a:ext cx="3960600" cy="17382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The row sums of the geodesic distance matrix turn </a:t>
            </a:r>
            <a:r>
              <a:rPr b="1" lang="en">
                <a:solidFill>
                  <a:srgbClr val="FF0000"/>
                </a:solidFill>
              </a:rPr>
              <a:t>into</a:t>
            </a:r>
            <a:r>
              <a:rPr b="1" lang="en">
                <a:solidFill>
                  <a:srgbClr val="FF0000"/>
                </a:solidFill>
              </a:rPr>
              <a:t> Infs!</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rPr b="1" lang="en">
                <a:solidFill>
                  <a:srgbClr val="FF0000"/>
                </a:solidFill>
              </a:rPr>
              <a:t>The problem is that for any number x:</a:t>
            </a:r>
            <a:endParaRPr b="1">
              <a:solidFill>
                <a:srgbClr val="FF0000"/>
              </a:solidFill>
            </a:endParaRPr>
          </a:p>
          <a:p>
            <a:pPr indent="0" lvl="0" marL="0" rtl="0" algn="ctr">
              <a:spcBef>
                <a:spcPts val="0"/>
              </a:spcBef>
              <a:spcAft>
                <a:spcPts val="0"/>
              </a:spcAft>
              <a:buNone/>
            </a:pPr>
            <a:r>
              <a:t/>
            </a:r>
            <a:endParaRPr b="1">
              <a:solidFill>
                <a:srgbClr val="FF0000"/>
              </a:solidFill>
            </a:endParaRPr>
          </a:p>
        </p:txBody>
      </p:sp>
      <p:graphicFrame>
        <p:nvGraphicFramePr>
          <p:cNvPr id="2649" name="Google Shape;2649;p93"/>
          <p:cNvGraphicFramePr/>
          <p:nvPr/>
        </p:nvGraphicFramePr>
        <p:xfrm>
          <a:off x="8398450" y="1557500"/>
          <a:ext cx="3000000" cy="3000000"/>
        </p:xfrm>
        <a:graphic>
          <a:graphicData uri="http://schemas.openxmlformats.org/drawingml/2006/table">
            <a:tbl>
              <a:tblPr>
                <a:noFill/>
                <a:tableStyleId>{D533A967-1B24-4C1F-A5BD-666CA7F43D67}</a:tableStyleId>
              </a:tblPr>
              <a:tblGrid>
                <a:gridCol w="438325"/>
              </a:tblGrid>
              <a:tr h="396200">
                <a:tc>
                  <a:txBody>
                    <a:bodyPr/>
                    <a:lstStyle/>
                    <a:p>
                      <a:pPr indent="0" lvl="0" marL="0" rtl="0" algn="ctr">
                        <a:lnSpc>
                          <a:spcPct val="115000"/>
                        </a:lnSpc>
                        <a:spcBef>
                          <a:spcPts val="0"/>
                        </a:spcBef>
                        <a:spcAft>
                          <a:spcPts val="0"/>
                        </a:spcAft>
                        <a:buNone/>
                      </a:pPr>
                      <a:r>
                        <a:rPr lang="en"/>
                        <a:t>Inf</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Clr>
                          <a:schemeClr val="dk1"/>
                        </a:buClr>
                        <a:buSzPts val="1100"/>
                        <a:buFont typeface="Arial"/>
                        <a:buNone/>
                      </a:pPr>
                      <a:r>
                        <a:rPr lang="en">
                          <a:solidFill>
                            <a:schemeClr val="dk1"/>
                          </a:solidFill>
                        </a:rPr>
                        <a:t>Inf</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Clr>
                          <a:schemeClr val="dk1"/>
                        </a:buClr>
                        <a:buSzPts val="1100"/>
                        <a:buFont typeface="Arial"/>
                        <a:buNone/>
                      </a:pPr>
                      <a:r>
                        <a:rPr lang="en">
                          <a:solidFill>
                            <a:schemeClr val="dk1"/>
                          </a:solidFill>
                        </a:rPr>
                        <a:t>Inf</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Clr>
                          <a:schemeClr val="dk1"/>
                        </a:buClr>
                        <a:buSzPts val="1100"/>
                        <a:buFont typeface="Arial"/>
                        <a:buNone/>
                      </a:pPr>
                      <a:r>
                        <a:rPr lang="en">
                          <a:solidFill>
                            <a:schemeClr val="dk1"/>
                          </a:solidFill>
                        </a:rPr>
                        <a:t>Inf</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Clr>
                          <a:schemeClr val="dk1"/>
                        </a:buClr>
                        <a:buSzPts val="1100"/>
                        <a:buFont typeface="Arial"/>
                        <a:buNone/>
                      </a:pPr>
                      <a:r>
                        <a:rPr lang="en">
                          <a:solidFill>
                            <a:schemeClr val="dk1"/>
                          </a:solidFill>
                        </a:rPr>
                        <a:t>Inf</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Clr>
                          <a:schemeClr val="dk1"/>
                        </a:buClr>
                        <a:buSzPts val="1100"/>
                        <a:buFont typeface="Arial"/>
                        <a:buNone/>
                      </a:pPr>
                      <a:r>
                        <a:rPr lang="en">
                          <a:solidFill>
                            <a:schemeClr val="dk1"/>
                          </a:solidFill>
                        </a:rPr>
                        <a:t>Inf</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Clr>
                          <a:schemeClr val="dk1"/>
                        </a:buClr>
                        <a:buSzPts val="1100"/>
                        <a:buFont typeface="Arial"/>
                        <a:buNone/>
                      </a:pPr>
                      <a:r>
                        <a:rPr lang="en">
                          <a:solidFill>
                            <a:schemeClr val="dk1"/>
                          </a:solidFill>
                        </a:rPr>
                        <a:t>Inf</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Clr>
                          <a:schemeClr val="dk1"/>
                        </a:buClr>
                        <a:buSzPts val="1100"/>
                        <a:buFont typeface="Arial"/>
                        <a:buNone/>
                      </a:pPr>
                      <a:r>
                        <a:rPr lang="en">
                          <a:solidFill>
                            <a:schemeClr val="dk1"/>
                          </a:solidFill>
                        </a:rPr>
                        <a:t>Inf</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2650" name="Google Shape;2650;p93"/>
          <p:cNvSpPr txBox="1"/>
          <p:nvPr/>
        </p:nvSpPr>
        <p:spPr>
          <a:xfrm>
            <a:off x="5096050" y="47411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Geodesic Distance Matrix</a:t>
            </a:r>
            <a:endParaRPr b="1" sz="1800">
              <a:solidFill>
                <a:srgbClr val="0000FF"/>
              </a:solidFill>
              <a:latin typeface="Economica"/>
              <a:ea typeface="Economica"/>
              <a:cs typeface="Economica"/>
              <a:sym typeface="Economica"/>
            </a:endParaRPr>
          </a:p>
        </p:txBody>
      </p:sp>
      <p:pic>
        <p:nvPicPr>
          <p:cNvPr descr="x + \infty = \infty&#10;%dfe4399f-4bb2-4f56-a094-7bd8cd181e67" id="2651" name="Google Shape;2651;p93"/>
          <p:cNvPicPr preferRelativeResize="0"/>
          <p:nvPr/>
        </p:nvPicPr>
        <p:blipFill>
          <a:blip r:embed="rId3">
            <a:alphaModFix/>
          </a:blip>
          <a:stretch>
            <a:fillRect/>
          </a:stretch>
        </p:blipFill>
        <p:spPr>
          <a:xfrm>
            <a:off x="1965175" y="1648263"/>
            <a:ext cx="1524000" cy="200025"/>
          </a:xfrm>
          <a:prstGeom prst="rect">
            <a:avLst/>
          </a:prstGeom>
          <a:noFill/>
          <a:ln>
            <a:noFill/>
          </a:ln>
        </p:spPr>
      </p:pic>
      <p:pic>
        <p:nvPicPr>
          <p:cNvPr descr="x + \infty = \infty&#10;%0638096c-c9bc-46fd-9e73-7b4c5988da2a" id="2652" name="Google Shape;2652;p93"/>
          <p:cNvPicPr preferRelativeResize="0"/>
          <p:nvPr/>
        </p:nvPicPr>
        <p:blipFill>
          <a:blip r:embed="rId4">
            <a:alphaModFix/>
          </a:blip>
          <a:stretch>
            <a:fillRect/>
          </a:stretch>
        </p:blipFill>
        <p:spPr>
          <a:xfrm>
            <a:off x="0" y="0"/>
            <a:ext cx="704850" cy="9525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6" name="Shape 2656"/>
        <p:cNvGrpSpPr/>
        <p:nvPr/>
      </p:nvGrpSpPr>
      <p:grpSpPr>
        <a:xfrm>
          <a:off x="0" y="0"/>
          <a:ext cx="0" cy="0"/>
          <a:chOff x="0" y="0"/>
          <a:chExt cx="0" cy="0"/>
        </a:xfrm>
      </p:grpSpPr>
      <p:sp>
        <p:nvSpPr>
          <p:cNvPr id="2657" name="Google Shape;2657;p9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sp>
        <p:nvSpPr>
          <p:cNvPr id="2658" name="Google Shape;2658;p94"/>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Weakly Connected Directed Graph</a:t>
            </a:r>
            <a:endParaRPr b="1" sz="1800">
              <a:solidFill>
                <a:srgbClr val="0000FF"/>
              </a:solidFill>
              <a:latin typeface="Economica"/>
              <a:ea typeface="Economica"/>
              <a:cs typeface="Economica"/>
              <a:sym typeface="Economica"/>
            </a:endParaRPr>
          </a:p>
        </p:txBody>
      </p:sp>
      <p:sp>
        <p:nvSpPr>
          <p:cNvPr id="2659" name="Google Shape;2659;p94"/>
          <p:cNvSpPr/>
          <p:nvPr/>
        </p:nvSpPr>
        <p:spPr>
          <a:xfrm>
            <a:off x="91440"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660" name="Google Shape;2660;p94"/>
          <p:cNvSpPr/>
          <p:nvPr/>
        </p:nvSpPr>
        <p:spPr>
          <a:xfrm>
            <a:off x="1546851"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661" name="Google Shape;2661;p94"/>
          <p:cNvSpPr/>
          <p:nvPr/>
        </p:nvSpPr>
        <p:spPr>
          <a:xfrm>
            <a:off x="2789575"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662" name="Google Shape;2662;p94"/>
          <p:cNvSpPr/>
          <p:nvPr/>
        </p:nvSpPr>
        <p:spPr>
          <a:xfrm>
            <a:off x="1546824" y="154533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663" name="Google Shape;2663;p94"/>
          <p:cNvSpPr/>
          <p:nvPr/>
        </p:nvSpPr>
        <p:spPr>
          <a:xfrm>
            <a:off x="154677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664" name="Google Shape;2664;p94"/>
          <p:cNvSpPr/>
          <p:nvPr/>
        </p:nvSpPr>
        <p:spPr>
          <a:xfrm>
            <a:off x="278962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665" name="Google Shape;2665;p94"/>
          <p:cNvSpPr/>
          <p:nvPr/>
        </p:nvSpPr>
        <p:spPr>
          <a:xfrm>
            <a:off x="424494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666" name="Google Shape;2666;p94"/>
          <p:cNvSpPr/>
          <p:nvPr/>
        </p:nvSpPr>
        <p:spPr>
          <a:xfrm>
            <a:off x="424489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667" name="Google Shape;2667;p94"/>
          <p:cNvCxnSpPr>
            <a:stCxn id="2659" idx="7"/>
            <a:endCxn id="2662" idx="2"/>
          </p:cNvCxnSpPr>
          <p:nvPr/>
        </p:nvCxnSpPr>
        <p:spPr>
          <a:xfrm flipH="1" rot="10800000">
            <a:off x="448652" y="1748275"/>
            <a:ext cx="10983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668" name="Google Shape;2668;p94"/>
          <p:cNvCxnSpPr>
            <a:stCxn id="2664" idx="6"/>
            <a:endCxn id="2665" idx="2"/>
          </p:cNvCxnSpPr>
          <p:nvPr/>
        </p:nvCxnSpPr>
        <p:spPr>
          <a:xfrm>
            <a:off x="3208124" y="3035982"/>
            <a:ext cx="1036800" cy="0"/>
          </a:xfrm>
          <a:prstGeom prst="straightConnector1">
            <a:avLst/>
          </a:prstGeom>
          <a:noFill/>
          <a:ln cap="flat" cmpd="sng" w="19050">
            <a:solidFill>
              <a:srgbClr val="B7B7B7"/>
            </a:solidFill>
            <a:prstDash val="solid"/>
            <a:round/>
            <a:headEnd len="med" w="med" type="triangle"/>
            <a:tailEnd len="med" w="med" type="none"/>
          </a:ln>
        </p:spPr>
      </p:cxnSp>
      <p:cxnSp>
        <p:nvCxnSpPr>
          <p:cNvPr id="2669" name="Google Shape;2669;p94"/>
          <p:cNvCxnSpPr>
            <a:stCxn id="2661" idx="6"/>
            <a:endCxn id="2666" idx="2"/>
          </p:cNvCxnSpPr>
          <p:nvPr/>
        </p:nvCxnSpPr>
        <p:spPr>
          <a:xfrm>
            <a:off x="3208075" y="4323671"/>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670" name="Google Shape;2670;p94"/>
          <p:cNvCxnSpPr>
            <a:stCxn id="2664" idx="4"/>
            <a:endCxn id="2661" idx="0"/>
          </p:cNvCxnSpPr>
          <p:nvPr/>
        </p:nvCxnSpPr>
        <p:spPr>
          <a:xfrm>
            <a:off x="2998874" y="32389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671" name="Google Shape;2671;p94"/>
          <p:cNvCxnSpPr>
            <a:stCxn id="2663" idx="0"/>
            <a:endCxn id="2660" idx="4"/>
          </p:cNvCxnSpPr>
          <p:nvPr/>
        </p:nvCxnSpPr>
        <p:spPr>
          <a:xfrm rot="10800000">
            <a:off x="1756026" y="3239021"/>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672" name="Google Shape;2672;p94"/>
          <p:cNvCxnSpPr>
            <a:stCxn id="2659" idx="5"/>
            <a:endCxn id="2663" idx="2"/>
          </p:cNvCxnSpPr>
          <p:nvPr/>
        </p:nvCxnSpPr>
        <p:spPr>
          <a:xfrm>
            <a:off x="448652" y="3179489"/>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673" name="Google Shape;2673;p94"/>
          <p:cNvCxnSpPr>
            <a:stCxn id="2659" idx="6"/>
            <a:endCxn id="2660" idx="2"/>
          </p:cNvCxnSpPr>
          <p:nvPr/>
        </p:nvCxnSpPr>
        <p:spPr>
          <a:xfrm>
            <a:off x="509940" y="3035982"/>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674" name="Google Shape;2674;p94"/>
          <p:cNvCxnSpPr>
            <a:stCxn id="2661" idx="2"/>
            <a:endCxn id="2663" idx="6"/>
          </p:cNvCxnSpPr>
          <p:nvPr/>
        </p:nvCxnSpPr>
        <p:spPr>
          <a:xfrm rot="10800000">
            <a:off x="1965175" y="4323671"/>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675" name="Google Shape;2675;p94"/>
          <p:cNvCxnSpPr>
            <a:stCxn id="2666" idx="1"/>
            <a:endCxn id="2664" idx="5"/>
          </p:cNvCxnSpPr>
          <p:nvPr/>
        </p:nvCxnSpPr>
        <p:spPr>
          <a:xfrm rot="10800000">
            <a:off x="3146984" y="3179363"/>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676" name="Google Shape;2676;p94"/>
          <p:cNvCxnSpPr>
            <a:stCxn id="2665" idx="1"/>
            <a:endCxn id="2662" idx="6"/>
          </p:cNvCxnSpPr>
          <p:nvPr/>
        </p:nvCxnSpPr>
        <p:spPr>
          <a:xfrm rot="10800000">
            <a:off x="1965332" y="1748275"/>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677" name="Google Shape;2677;p94"/>
          <p:cNvCxnSpPr>
            <a:stCxn id="2662" idx="5"/>
            <a:endCxn id="2664" idx="1"/>
          </p:cNvCxnSpPr>
          <p:nvPr/>
        </p:nvCxnSpPr>
        <p:spPr>
          <a:xfrm>
            <a:off x="1904036" y="189179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678" name="Google Shape;2678;p94"/>
          <p:cNvCxnSpPr>
            <a:stCxn id="2660" idx="0"/>
            <a:endCxn id="2662" idx="4"/>
          </p:cNvCxnSpPr>
          <p:nvPr/>
        </p:nvCxnSpPr>
        <p:spPr>
          <a:xfrm rot="10800000">
            <a:off x="1756101" y="19513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679" name="Google Shape;2679;p94"/>
          <p:cNvCxnSpPr>
            <a:stCxn id="2664" idx="3"/>
            <a:endCxn id="2663" idx="7"/>
          </p:cNvCxnSpPr>
          <p:nvPr/>
        </p:nvCxnSpPr>
        <p:spPr>
          <a:xfrm flipH="1">
            <a:off x="1904111" y="3179489"/>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680" name="Google Shape;2680;p94"/>
          <p:cNvCxnSpPr>
            <a:stCxn id="2660" idx="6"/>
            <a:endCxn id="2664" idx="2"/>
          </p:cNvCxnSpPr>
          <p:nvPr/>
        </p:nvCxnSpPr>
        <p:spPr>
          <a:xfrm>
            <a:off x="1965351" y="3035982"/>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681" name="Google Shape;2681;p94"/>
          <p:cNvSpPr txBox="1"/>
          <p:nvPr>
            <p:ph idx="1" type="body"/>
          </p:nvPr>
        </p:nvSpPr>
        <p:spPr>
          <a:xfrm>
            <a:off x="4923250" y="1147225"/>
            <a:ext cx="4220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standard </a:t>
            </a:r>
            <a:r>
              <a:rPr b="1" lang="en"/>
              <a:t>closeness centrality</a:t>
            </a:r>
            <a:r>
              <a:rPr lang="en"/>
              <a:t> measure is not defined for </a:t>
            </a:r>
            <a:r>
              <a:rPr b="1" lang="en"/>
              <a:t>weakly </a:t>
            </a:r>
            <a:r>
              <a:rPr b="1" lang="en"/>
              <a:t>connected</a:t>
            </a:r>
            <a:r>
              <a:rPr b="1" lang="en"/>
              <a:t> </a:t>
            </a:r>
            <a:r>
              <a:rPr lang="en"/>
              <a:t>directed graphs</a:t>
            </a:r>
            <a:endParaRPr/>
          </a:p>
          <a:p>
            <a:pPr indent="-342900" lvl="0" marL="457200" rtl="0" algn="l">
              <a:spcBef>
                <a:spcPts val="0"/>
              </a:spcBef>
              <a:spcAft>
                <a:spcPts val="0"/>
              </a:spcAft>
              <a:buSzPts val="1800"/>
              <a:buChar char="●"/>
            </a:pPr>
            <a:r>
              <a:rPr lang="en"/>
              <a:t>We need to use an alternative called the </a:t>
            </a:r>
            <a:r>
              <a:rPr b="1" lang="en"/>
              <a:t>H</a:t>
            </a:r>
            <a:r>
              <a:rPr b="1" lang="en"/>
              <a:t>armonic Centrality</a:t>
            </a:r>
            <a:r>
              <a:rPr lang="en"/>
              <a:t>:</a:t>
            </a:r>
            <a:endParaRPr/>
          </a:p>
          <a:p>
            <a:pPr indent="0" lvl="0" marL="91440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descr="C_{harm}(i)=\sum_j \frac{1}{d_{ij}}&#10;%9e16535e-6204-470f-ad33-114be681e922" id="2682" name="Google Shape;2682;p94"/>
          <p:cNvPicPr preferRelativeResize="0"/>
          <p:nvPr/>
        </p:nvPicPr>
        <p:blipFill>
          <a:blip r:embed="rId3">
            <a:alphaModFix/>
          </a:blip>
          <a:stretch>
            <a:fillRect/>
          </a:stretch>
        </p:blipFill>
        <p:spPr>
          <a:xfrm>
            <a:off x="5906500" y="3365850"/>
            <a:ext cx="2609850" cy="85725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6" name="Shape 2686"/>
        <p:cNvGrpSpPr/>
        <p:nvPr/>
      </p:nvGrpSpPr>
      <p:grpSpPr>
        <a:xfrm>
          <a:off x="0" y="0"/>
          <a:ext cx="0" cy="0"/>
          <a:chOff x="0" y="0"/>
          <a:chExt cx="0" cy="0"/>
        </a:xfrm>
      </p:grpSpPr>
      <p:sp>
        <p:nvSpPr>
          <p:cNvPr id="2687" name="Google Shape;2687;p9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sp>
        <p:nvSpPr>
          <p:cNvPr id="2688" name="Google Shape;2688;p95"/>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Weakly Connected Directed Graph</a:t>
            </a:r>
            <a:endParaRPr b="1" sz="1800">
              <a:solidFill>
                <a:srgbClr val="0000FF"/>
              </a:solidFill>
              <a:latin typeface="Economica"/>
              <a:ea typeface="Economica"/>
              <a:cs typeface="Economica"/>
              <a:sym typeface="Economica"/>
            </a:endParaRPr>
          </a:p>
        </p:txBody>
      </p:sp>
      <p:sp>
        <p:nvSpPr>
          <p:cNvPr id="2689" name="Google Shape;2689;p95"/>
          <p:cNvSpPr/>
          <p:nvPr/>
        </p:nvSpPr>
        <p:spPr>
          <a:xfrm>
            <a:off x="91440"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690" name="Google Shape;2690;p95"/>
          <p:cNvSpPr/>
          <p:nvPr/>
        </p:nvSpPr>
        <p:spPr>
          <a:xfrm>
            <a:off x="1546851"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691" name="Google Shape;2691;p95"/>
          <p:cNvSpPr/>
          <p:nvPr/>
        </p:nvSpPr>
        <p:spPr>
          <a:xfrm>
            <a:off x="2789575"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692" name="Google Shape;2692;p95"/>
          <p:cNvSpPr/>
          <p:nvPr/>
        </p:nvSpPr>
        <p:spPr>
          <a:xfrm>
            <a:off x="1546824" y="154533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693" name="Google Shape;2693;p95"/>
          <p:cNvSpPr/>
          <p:nvPr/>
        </p:nvSpPr>
        <p:spPr>
          <a:xfrm>
            <a:off x="154677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694" name="Google Shape;2694;p95"/>
          <p:cNvSpPr/>
          <p:nvPr/>
        </p:nvSpPr>
        <p:spPr>
          <a:xfrm>
            <a:off x="278962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695" name="Google Shape;2695;p95"/>
          <p:cNvSpPr/>
          <p:nvPr/>
        </p:nvSpPr>
        <p:spPr>
          <a:xfrm>
            <a:off x="424494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696" name="Google Shape;2696;p95"/>
          <p:cNvSpPr/>
          <p:nvPr/>
        </p:nvSpPr>
        <p:spPr>
          <a:xfrm>
            <a:off x="424489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697" name="Google Shape;2697;p95"/>
          <p:cNvCxnSpPr>
            <a:stCxn id="2689" idx="7"/>
            <a:endCxn id="2692" idx="2"/>
          </p:cNvCxnSpPr>
          <p:nvPr/>
        </p:nvCxnSpPr>
        <p:spPr>
          <a:xfrm flipH="1" rot="10800000">
            <a:off x="448652" y="1748275"/>
            <a:ext cx="10983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698" name="Google Shape;2698;p95"/>
          <p:cNvCxnSpPr>
            <a:stCxn id="2694" idx="6"/>
            <a:endCxn id="2695" idx="2"/>
          </p:cNvCxnSpPr>
          <p:nvPr/>
        </p:nvCxnSpPr>
        <p:spPr>
          <a:xfrm>
            <a:off x="3208124" y="3035982"/>
            <a:ext cx="1036800" cy="0"/>
          </a:xfrm>
          <a:prstGeom prst="straightConnector1">
            <a:avLst/>
          </a:prstGeom>
          <a:noFill/>
          <a:ln cap="flat" cmpd="sng" w="19050">
            <a:solidFill>
              <a:srgbClr val="B7B7B7"/>
            </a:solidFill>
            <a:prstDash val="solid"/>
            <a:round/>
            <a:headEnd len="med" w="med" type="triangle"/>
            <a:tailEnd len="med" w="med" type="none"/>
          </a:ln>
        </p:spPr>
      </p:cxnSp>
      <p:cxnSp>
        <p:nvCxnSpPr>
          <p:cNvPr id="2699" name="Google Shape;2699;p95"/>
          <p:cNvCxnSpPr>
            <a:stCxn id="2691" idx="6"/>
            <a:endCxn id="2696" idx="2"/>
          </p:cNvCxnSpPr>
          <p:nvPr/>
        </p:nvCxnSpPr>
        <p:spPr>
          <a:xfrm>
            <a:off x="3208075" y="4323671"/>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700" name="Google Shape;2700;p95"/>
          <p:cNvCxnSpPr>
            <a:stCxn id="2694" idx="4"/>
            <a:endCxn id="2691" idx="0"/>
          </p:cNvCxnSpPr>
          <p:nvPr/>
        </p:nvCxnSpPr>
        <p:spPr>
          <a:xfrm>
            <a:off x="2998874" y="32389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701" name="Google Shape;2701;p95"/>
          <p:cNvCxnSpPr>
            <a:stCxn id="2693" idx="0"/>
            <a:endCxn id="2690" idx="4"/>
          </p:cNvCxnSpPr>
          <p:nvPr/>
        </p:nvCxnSpPr>
        <p:spPr>
          <a:xfrm rot="10800000">
            <a:off x="1756026" y="3239021"/>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702" name="Google Shape;2702;p95"/>
          <p:cNvCxnSpPr>
            <a:stCxn id="2689" idx="5"/>
            <a:endCxn id="2693" idx="2"/>
          </p:cNvCxnSpPr>
          <p:nvPr/>
        </p:nvCxnSpPr>
        <p:spPr>
          <a:xfrm>
            <a:off x="448652" y="3179489"/>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703" name="Google Shape;2703;p95"/>
          <p:cNvCxnSpPr>
            <a:stCxn id="2689" idx="6"/>
            <a:endCxn id="2690" idx="2"/>
          </p:cNvCxnSpPr>
          <p:nvPr/>
        </p:nvCxnSpPr>
        <p:spPr>
          <a:xfrm>
            <a:off x="509940" y="3035982"/>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704" name="Google Shape;2704;p95"/>
          <p:cNvCxnSpPr>
            <a:stCxn id="2691" idx="2"/>
            <a:endCxn id="2693" idx="6"/>
          </p:cNvCxnSpPr>
          <p:nvPr/>
        </p:nvCxnSpPr>
        <p:spPr>
          <a:xfrm rot="10800000">
            <a:off x="1965175" y="4323671"/>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705" name="Google Shape;2705;p95"/>
          <p:cNvCxnSpPr>
            <a:stCxn id="2696" idx="1"/>
            <a:endCxn id="2694" idx="5"/>
          </p:cNvCxnSpPr>
          <p:nvPr/>
        </p:nvCxnSpPr>
        <p:spPr>
          <a:xfrm rot="10800000">
            <a:off x="3146984" y="3179363"/>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706" name="Google Shape;2706;p95"/>
          <p:cNvCxnSpPr>
            <a:stCxn id="2695" idx="1"/>
            <a:endCxn id="2692" idx="6"/>
          </p:cNvCxnSpPr>
          <p:nvPr/>
        </p:nvCxnSpPr>
        <p:spPr>
          <a:xfrm rot="10800000">
            <a:off x="1965332" y="1748275"/>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707" name="Google Shape;2707;p95"/>
          <p:cNvCxnSpPr>
            <a:stCxn id="2692" idx="5"/>
            <a:endCxn id="2694" idx="1"/>
          </p:cNvCxnSpPr>
          <p:nvPr/>
        </p:nvCxnSpPr>
        <p:spPr>
          <a:xfrm>
            <a:off x="1904036" y="189179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708" name="Google Shape;2708;p95"/>
          <p:cNvCxnSpPr>
            <a:stCxn id="2690" idx="0"/>
            <a:endCxn id="2692" idx="4"/>
          </p:cNvCxnSpPr>
          <p:nvPr/>
        </p:nvCxnSpPr>
        <p:spPr>
          <a:xfrm rot="10800000">
            <a:off x="1756101" y="19513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709" name="Google Shape;2709;p95"/>
          <p:cNvCxnSpPr>
            <a:stCxn id="2694" idx="3"/>
            <a:endCxn id="2693" idx="7"/>
          </p:cNvCxnSpPr>
          <p:nvPr/>
        </p:nvCxnSpPr>
        <p:spPr>
          <a:xfrm flipH="1">
            <a:off x="1904111" y="3179489"/>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710" name="Google Shape;2710;p95"/>
          <p:cNvCxnSpPr>
            <a:stCxn id="2690" idx="6"/>
            <a:endCxn id="2694" idx="2"/>
          </p:cNvCxnSpPr>
          <p:nvPr/>
        </p:nvCxnSpPr>
        <p:spPr>
          <a:xfrm>
            <a:off x="1965351" y="3035982"/>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711" name="Google Shape;2711;p95"/>
          <p:cNvSpPr txBox="1"/>
          <p:nvPr>
            <p:ph idx="1" type="body"/>
          </p:nvPr>
        </p:nvSpPr>
        <p:spPr>
          <a:xfrm>
            <a:off x="4923250" y="1147225"/>
            <a:ext cx="4220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a:t>
            </a:r>
            <a:r>
              <a:rPr b="1" lang="en"/>
              <a:t>Harmonic Centrality</a:t>
            </a:r>
            <a:r>
              <a:rPr lang="en"/>
              <a:t> is defined as the </a:t>
            </a:r>
            <a:r>
              <a:rPr i="1" lang="en"/>
              <a:t>sum of </a:t>
            </a:r>
            <a:r>
              <a:rPr i="1" lang="en"/>
              <a:t>the</a:t>
            </a:r>
            <a:r>
              <a:rPr i="1" lang="en"/>
              <a:t> inverse of the geodesic distances</a:t>
            </a:r>
            <a:endParaRPr/>
          </a:p>
          <a:p>
            <a:pPr indent="-342900" lvl="0" marL="457200" rtl="0" algn="l">
              <a:spcBef>
                <a:spcPts val="0"/>
              </a:spcBef>
              <a:spcAft>
                <a:spcPts val="0"/>
              </a:spcAft>
              <a:buSzPts val="1800"/>
              <a:buChar char="●"/>
            </a:pPr>
            <a:r>
              <a:rPr lang="en"/>
              <a:t>This solves the “Infinity” problem in weakly connected directed graphs </a:t>
            </a:r>
            <a:r>
              <a:rPr lang="en"/>
              <a:t>because:</a:t>
            </a:r>
            <a:endParaRPr/>
          </a:p>
          <a:p>
            <a:pPr indent="0" lvl="0" marL="91440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descr="\frac{1}{\infty} = 0&#10;%cd4e82c2-2a51-4447-b77b-a52732764c9b" id="2712" name="Google Shape;2712;p95"/>
          <p:cNvPicPr preferRelativeResize="0"/>
          <p:nvPr/>
        </p:nvPicPr>
        <p:blipFill>
          <a:blip r:embed="rId3">
            <a:alphaModFix/>
          </a:blip>
          <a:stretch>
            <a:fillRect/>
          </a:stretch>
        </p:blipFill>
        <p:spPr>
          <a:xfrm>
            <a:off x="6802850" y="3238925"/>
            <a:ext cx="1047750" cy="657225"/>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6" name="Shape 2716"/>
        <p:cNvGrpSpPr/>
        <p:nvPr/>
      </p:nvGrpSpPr>
      <p:grpSpPr>
        <a:xfrm>
          <a:off x="0" y="0"/>
          <a:ext cx="0" cy="0"/>
          <a:chOff x="0" y="0"/>
          <a:chExt cx="0" cy="0"/>
        </a:xfrm>
      </p:grpSpPr>
      <p:sp>
        <p:nvSpPr>
          <p:cNvPr id="2717" name="Google Shape;2717;p9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sp>
        <p:nvSpPr>
          <p:cNvPr id="2718" name="Google Shape;2718;p96"/>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Weakly Connected Directed Graph</a:t>
            </a:r>
            <a:endParaRPr b="1" sz="1800">
              <a:solidFill>
                <a:srgbClr val="0000FF"/>
              </a:solidFill>
              <a:latin typeface="Economica"/>
              <a:ea typeface="Economica"/>
              <a:cs typeface="Economica"/>
              <a:sym typeface="Economica"/>
            </a:endParaRPr>
          </a:p>
        </p:txBody>
      </p:sp>
      <p:graphicFrame>
        <p:nvGraphicFramePr>
          <p:cNvPr id="2719" name="Google Shape;2719;p96"/>
          <p:cNvGraphicFramePr/>
          <p:nvPr/>
        </p:nvGraphicFramePr>
        <p:xfrm>
          <a:off x="4892040" y="1161288"/>
          <a:ext cx="3000000" cy="3000000"/>
        </p:xfrm>
        <a:graphic>
          <a:graphicData uri="http://schemas.openxmlformats.org/drawingml/2006/table">
            <a:tbl>
              <a:tblPr>
                <a:noFill/>
                <a:tableStyleId>{4D36BE5A-9069-42A2-BAD7-CD2C23C4D617}</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v2</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v3</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v4</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v5</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v6</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v7</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v8</a:t>
                      </a:r>
                      <a:endParaRPr b="1"/>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v1</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v2</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v3</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v4</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v5</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v6</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v7</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v8</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720" name="Google Shape;2720;p96"/>
          <p:cNvSpPr/>
          <p:nvPr/>
        </p:nvSpPr>
        <p:spPr>
          <a:xfrm>
            <a:off x="91440"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721" name="Google Shape;2721;p96"/>
          <p:cNvSpPr/>
          <p:nvPr/>
        </p:nvSpPr>
        <p:spPr>
          <a:xfrm>
            <a:off x="1546851"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722" name="Google Shape;2722;p96"/>
          <p:cNvSpPr/>
          <p:nvPr/>
        </p:nvSpPr>
        <p:spPr>
          <a:xfrm>
            <a:off x="2789575"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723" name="Google Shape;2723;p96"/>
          <p:cNvSpPr/>
          <p:nvPr/>
        </p:nvSpPr>
        <p:spPr>
          <a:xfrm>
            <a:off x="1546824" y="154533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724" name="Google Shape;2724;p96"/>
          <p:cNvSpPr/>
          <p:nvPr/>
        </p:nvSpPr>
        <p:spPr>
          <a:xfrm>
            <a:off x="154677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725" name="Google Shape;2725;p96"/>
          <p:cNvSpPr/>
          <p:nvPr/>
        </p:nvSpPr>
        <p:spPr>
          <a:xfrm>
            <a:off x="278962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726" name="Google Shape;2726;p96"/>
          <p:cNvSpPr/>
          <p:nvPr/>
        </p:nvSpPr>
        <p:spPr>
          <a:xfrm>
            <a:off x="424494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727" name="Google Shape;2727;p96"/>
          <p:cNvSpPr/>
          <p:nvPr/>
        </p:nvSpPr>
        <p:spPr>
          <a:xfrm>
            <a:off x="424489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728" name="Google Shape;2728;p96"/>
          <p:cNvCxnSpPr>
            <a:stCxn id="2720" idx="7"/>
            <a:endCxn id="2723" idx="2"/>
          </p:cNvCxnSpPr>
          <p:nvPr/>
        </p:nvCxnSpPr>
        <p:spPr>
          <a:xfrm flipH="1" rot="10800000">
            <a:off x="448652" y="1748275"/>
            <a:ext cx="10983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729" name="Google Shape;2729;p96"/>
          <p:cNvCxnSpPr>
            <a:stCxn id="2725" idx="6"/>
            <a:endCxn id="2726" idx="2"/>
          </p:cNvCxnSpPr>
          <p:nvPr/>
        </p:nvCxnSpPr>
        <p:spPr>
          <a:xfrm>
            <a:off x="3208124" y="3035982"/>
            <a:ext cx="1036800" cy="0"/>
          </a:xfrm>
          <a:prstGeom prst="straightConnector1">
            <a:avLst/>
          </a:prstGeom>
          <a:noFill/>
          <a:ln cap="flat" cmpd="sng" w="19050">
            <a:solidFill>
              <a:srgbClr val="B7B7B7"/>
            </a:solidFill>
            <a:prstDash val="solid"/>
            <a:round/>
            <a:headEnd len="med" w="med" type="triangle"/>
            <a:tailEnd len="med" w="med" type="none"/>
          </a:ln>
        </p:spPr>
      </p:cxnSp>
      <p:cxnSp>
        <p:nvCxnSpPr>
          <p:cNvPr id="2730" name="Google Shape;2730;p96"/>
          <p:cNvCxnSpPr>
            <a:stCxn id="2722" idx="6"/>
            <a:endCxn id="2727" idx="2"/>
          </p:cNvCxnSpPr>
          <p:nvPr/>
        </p:nvCxnSpPr>
        <p:spPr>
          <a:xfrm>
            <a:off x="3208075" y="4323671"/>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731" name="Google Shape;2731;p96"/>
          <p:cNvCxnSpPr>
            <a:stCxn id="2725" idx="4"/>
            <a:endCxn id="2722" idx="0"/>
          </p:cNvCxnSpPr>
          <p:nvPr/>
        </p:nvCxnSpPr>
        <p:spPr>
          <a:xfrm>
            <a:off x="2998874" y="32389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732" name="Google Shape;2732;p96"/>
          <p:cNvCxnSpPr>
            <a:stCxn id="2724" idx="0"/>
            <a:endCxn id="2721" idx="4"/>
          </p:cNvCxnSpPr>
          <p:nvPr/>
        </p:nvCxnSpPr>
        <p:spPr>
          <a:xfrm rot="10800000">
            <a:off x="1756026" y="3239021"/>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733" name="Google Shape;2733;p96"/>
          <p:cNvCxnSpPr>
            <a:stCxn id="2720" idx="5"/>
            <a:endCxn id="2724" idx="2"/>
          </p:cNvCxnSpPr>
          <p:nvPr/>
        </p:nvCxnSpPr>
        <p:spPr>
          <a:xfrm>
            <a:off x="448652" y="3179489"/>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734" name="Google Shape;2734;p96"/>
          <p:cNvCxnSpPr>
            <a:stCxn id="2720" idx="6"/>
            <a:endCxn id="2721" idx="2"/>
          </p:cNvCxnSpPr>
          <p:nvPr/>
        </p:nvCxnSpPr>
        <p:spPr>
          <a:xfrm>
            <a:off x="509940" y="3035982"/>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735" name="Google Shape;2735;p96"/>
          <p:cNvCxnSpPr>
            <a:stCxn id="2722" idx="2"/>
            <a:endCxn id="2724" idx="6"/>
          </p:cNvCxnSpPr>
          <p:nvPr/>
        </p:nvCxnSpPr>
        <p:spPr>
          <a:xfrm rot="10800000">
            <a:off x="1965175" y="4323671"/>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736" name="Google Shape;2736;p96"/>
          <p:cNvCxnSpPr>
            <a:stCxn id="2727" idx="1"/>
            <a:endCxn id="2725" idx="5"/>
          </p:cNvCxnSpPr>
          <p:nvPr/>
        </p:nvCxnSpPr>
        <p:spPr>
          <a:xfrm rot="10800000">
            <a:off x="3146984" y="3179363"/>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737" name="Google Shape;2737;p96"/>
          <p:cNvCxnSpPr>
            <a:stCxn id="2726" idx="1"/>
            <a:endCxn id="2723" idx="6"/>
          </p:cNvCxnSpPr>
          <p:nvPr/>
        </p:nvCxnSpPr>
        <p:spPr>
          <a:xfrm rot="10800000">
            <a:off x="1965332" y="1748275"/>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738" name="Google Shape;2738;p96"/>
          <p:cNvCxnSpPr>
            <a:stCxn id="2723" idx="5"/>
            <a:endCxn id="2725" idx="1"/>
          </p:cNvCxnSpPr>
          <p:nvPr/>
        </p:nvCxnSpPr>
        <p:spPr>
          <a:xfrm>
            <a:off x="1904036" y="189179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739" name="Google Shape;2739;p96"/>
          <p:cNvCxnSpPr>
            <a:stCxn id="2721" idx="0"/>
            <a:endCxn id="2723" idx="4"/>
          </p:cNvCxnSpPr>
          <p:nvPr/>
        </p:nvCxnSpPr>
        <p:spPr>
          <a:xfrm rot="10800000">
            <a:off x="1756101" y="19513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740" name="Google Shape;2740;p96"/>
          <p:cNvCxnSpPr>
            <a:stCxn id="2725" idx="3"/>
            <a:endCxn id="2724" idx="7"/>
          </p:cNvCxnSpPr>
          <p:nvPr/>
        </p:nvCxnSpPr>
        <p:spPr>
          <a:xfrm flipH="1">
            <a:off x="1904111" y="3179489"/>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741" name="Google Shape;2741;p96"/>
          <p:cNvCxnSpPr>
            <a:stCxn id="2721" idx="6"/>
            <a:endCxn id="2725" idx="2"/>
          </p:cNvCxnSpPr>
          <p:nvPr/>
        </p:nvCxnSpPr>
        <p:spPr>
          <a:xfrm>
            <a:off x="1965351" y="3035982"/>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742" name="Google Shape;2742;p96"/>
          <p:cNvSpPr/>
          <p:nvPr/>
        </p:nvSpPr>
        <p:spPr>
          <a:xfrm>
            <a:off x="639875" y="713925"/>
            <a:ext cx="3960600" cy="8910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Let’s compute the inverse of each cell of the geodesic distance matrix!</a:t>
            </a:r>
            <a:endParaRPr b="1">
              <a:solidFill>
                <a:srgbClr val="FF0000"/>
              </a:solidFill>
            </a:endParaRPr>
          </a:p>
        </p:txBody>
      </p:sp>
      <p:sp>
        <p:nvSpPr>
          <p:cNvPr id="2743" name="Google Shape;2743;p96"/>
          <p:cNvSpPr txBox="1"/>
          <p:nvPr/>
        </p:nvSpPr>
        <p:spPr>
          <a:xfrm>
            <a:off x="5096050" y="47411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Geodesic Distance Matrix</a:t>
            </a:r>
            <a:endParaRPr b="1" sz="1800">
              <a:solidFill>
                <a:srgbClr val="0000FF"/>
              </a:solidFill>
              <a:latin typeface="Economica"/>
              <a:ea typeface="Economica"/>
              <a:cs typeface="Economica"/>
              <a:sym typeface="Economica"/>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7" name="Shape 2747"/>
        <p:cNvGrpSpPr/>
        <p:nvPr/>
      </p:nvGrpSpPr>
      <p:grpSpPr>
        <a:xfrm>
          <a:off x="0" y="0"/>
          <a:ext cx="0" cy="0"/>
          <a:chOff x="0" y="0"/>
          <a:chExt cx="0" cy="0"/>
        </a:xfrm>
      </p:grpSpPr>
      <p:sp>
        <p:nvSpPr>
          <p:cNvPr id="2748" name="Google Shape;2748;p9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sp>
        <p:nvSpPr>
          <p:cNvPr id="2749" name="Google Shape;2749;p97"/>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Weakly Connected Directed Graph</a:t>
            </a:r>
            <a:endParaRPr b="1" sz="1800">
              <a:solidFill>
                <a:srgbClr val="0000FF"/>
              </a:solidFill>
              <a:latin typeface="Economica"/>
              <a:ea typeface="Economica"/>
              <a:cs typeface="Economica"/>
              <a:sym typeface="Economica"/>
            </a:endParaRPr>
          </a:p>
        </p:txBody>
      </p:sp>
      <p:graphicFrame>
        <p:nvGraphicFramePr>
          <p:cNvPr id="2750" name="Google Shape;2750;p97"/>
          <p:cNvGraphicFramePr/>
          <p:nvPr/>
        </p:nvGraphicFramePr>
        <p:xfrm>
          <a:off x="4892040" y="1161288"/>
          <a:ext cx="3000000" cy="3000000"/>
        </p:xfrm>
        <a:graphic>
          <a:graphicData uri="http://schemas.openxmlformats.org/drawingml/2006/table">
            <a:tbl>
              <a:tblPr>
                <a:noFill/>
                <a:tableStyleId>{4D36BE5A-9069-42A2-BAD7-CD2C23C4D617}</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v2</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v3</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v4</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v5</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v6</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v7</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v8</a:t>
                      </a:r>
                      <a:endParaRPr b="1"/>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v1</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0.33</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v2</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0.33</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0.25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v3</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0.33</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v4</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v5</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v6</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v7</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0.33</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0.33</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0.25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v8</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751" name="Google Shape;2751;p97"/>
          <p:cNvSpPr/>
          <p:nvPr/>
        </p:nvSpPr>
        <p:spPr>
          <a:xfrm>
            <a:off x="91440"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752" name="Google Shape;2752;p97"/>
          <p:cNvSpPr/>
          <p:nvPr/>
        </p:nvSpPr>
        <p:spPr>
          <a:xfrm>
            <a:off x="1546851"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753" name="Google Shape;2753;p97"/>
          <p:cNvSpPr/>
          <p:nvPr/>
        </p:nvSpPr>
        <p:spPr>
          <a:xfrm>
            <a:off x="2789575"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754" name="Google Shape;2754;p97"/>
          <p:cNvSpPr/>
          <p:nvPr/>
        </p:nvSpPr>
        <p:spPr>
          <a:xfrm>
            <a:off x="1546824" y="154533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755" name="Google Shape;2755;p97"/>
          <p:cNvSpPr/>
          <p:nvPr/>
        </p:nvSpPr>
        <p:spPr>
          <a:xfrm>
            <a:off x="154677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756" name="Google Shape;2756;p97"/>
          <p:cNvSpPr/>
          <p:nvPr/>
        </p:nvSpPr>
        <p:spPr>
          <a:xfrm>
            <a:off x="278962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757" name="Google Shape;2757;p97"/>
          <p:cNvSpPr/>
          <p:nvPr/>
        </p:nvSpPr>
        <p:spPr>
          <a:xfrm>
            <a:off x="424494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758" name="Google Shape;2758;p97"/>
          <p:cNvSpPr/>
          <p:nvPr/>
        </p:nvSpPr>
        <p:spPr>
          <a:xfrm>
            <a:off x="424489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759" name="Google Shape;2759;p97"/>
          <p:cNvCxnSpPr>
            <a:stCxn id="2751" idx="7"/>
            <a:endCxn id="2754" idx="2"/>
          </p:cNvCxnSpPr>
          <p:nvPr/>
        </p:nvCxnSpPr>
        <p:spPr>
          <a:xfrm flipH="1" rot="10800000">
            <a:off x="448652" y="1748275"/>
            <a:ext cx="10983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760" name="Google Shape;2760;p97"/>
          <p:cNvCxnSpPr>
            <a:stCxn id="2756" idx="6"/>
            <a:endCxn id="2757" idx="2"/>
          </p:cNvCxnSpPr>
          <p:nvPr/>
        </p:nvCxnSpPr>
        <p:spPr>
          <a:xfrm>
            <a:off x="3208124" y="3035982"/>
            <a:ext cx="1036800" cy="0"/>
          </a:xfrm>
          <a:prstGeom prst="straightConnector1">
            <a:avLst/>
          </a:prstGeom>
          <a:noFill/>
          <a:ln cap="flat" cmpd="sng" w="19050">
            <a:solidFill>
              <a:srgbClr val="B7B7B7"/>
            </a:solidFill>
            <a:prstDash val="solid"/>
            <a:round/>
            <a:headEnd len="med" w="med" type="triangle"/>
            <a:tailEnd len="med" w="med" type="none"/>
          </a:ln>
        </p:spPr>
      </p:cxnSp>
      <p:cxnSp>
        <p:nvCxnSpPr>
          <p:cNvPr id="2761" name="Google Shape;2761;p97"/>
          <p:cNvCxnSpPr>
            <a:stCxn id="2753" idx="6"/>
            <a:endCxn id="2758" idx="2"/>
          </p:cNvCxnSpPr>
          <p:nvPr/>
        </p:nvCxnSpPr>
        <p:spPr>
          <a:xfrm>
            <a:off x="3208075" y="4323671"/>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762" name="Google Shape;2762;p97"/>
          <p:cNvCxnSpPr>
            <a:stCxn id="2756" idx="4"/>
            <a:endCxn id="2753" idx="0"/>
          </p:cNvCxnSpPr>
          <p:nvPr/>
        </p:nvCxnSpPr>
        <p:spPr>
          <a:xfrm>
            <a:off x="2998874" y="32389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763" name="Google Shape;2763;p97"/>
          <p:cNvCxnSpPr>
            <a:stCxn id="2755" idx="0"/>
            <a:endCxn id="2752" idx="4"/>
          </p:cNvCxnSpPr>
          <p:nvPr/>
        </p:nvCxnSpPr>
        <p:spPr>
          <a:xfrm rot="10800000">
            <a:off x="1756026" y="3239021"/>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764" name="Google Shape;2764;p97"/>
          <p:cNvCxnSpPr>
            <a:stCxn id="2751" idx="5"/>
            <a:endCxn id="2755" idx="2"/>
          </p:cNvCxnSpPr>
          <p:nvPr/>
        </p:nvCxnSpPr>
        <p:spPr>
          <a:xfrm>
            <a:off x="448652" y="3179489"/>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765" name="Google Shape;2765;p97"/>
          <p:cNvCxnSpPr>
            <a:stCxn id="2751" idx="6"/>
            <a:endCxn id="2752" idx="2"/>
          </p:cNvCxnSpPr>
          <p:nvPr/>
        </p:nvCxnSpPr>
        <p:spPr>
          <a:xfrm>
            <a:off x="509940" y="3035982"/>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766" name="Google Shape;2766;p97"/>
          <p:cNvCxnSpPr>
            <a:stCxn id="2753" idx="2"/>
            <a:endCxn id="2755" idx="6"/>
          </p:cNvCxnSpPr>
          <p:nvPr/>
        </p:nvCxnSpPr>
        <p:spPr>
          <a:xfrm rot="10800000">
            <a:off x="1965175" y="4323671"/>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767" name="Google Shape;2767;p97"/>
          <p:cNvCxnSpPr>
            <a:stCxn id="2758" idx="1"/>
            <a:endCxn id="2756" idx="5"/>
          </p:cNvCxnSpPr>
          <p:nvPr/>
        </p:nvCxnSpPr>
        <p:spPr>
          <a:xfrm rot="10800000">
            <a:off x="3146984" y="3179363"/>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768" name="Google Shape;2768;p97"/>
          <p:cNvCxnSpPr>
            <a:stCxn id="2757" idx="1"/>
            <a:endCxn id="2754" idx="6"/>
          </p:cNvCxnSpPr>
          <p:nvPr/>
        </p:nvCxnSpPr>
        <p:spPr>
          <a:xfrm rot="10800000">
            <a:off x="1965332" y="1748275"/>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769" name="Google Shape;2769;p97"/>
          <p:cNvCxnSpPr>
            <a:stCxn id="2754" idx="5"/>
            <a:endCxn id="2756" idx="1"/>
          </p:cNvCxnSpPr>
          <p:nvPr/>
        </p:nvCxnSpPr>
        <p:spPr>
          <a:xfrm>
            <a:off x="1904036" y="189179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770" name="Google Shape;2770;p97"/>
          <p:cNvCxnSpPr>
            <a:stCxn id="2752" idx="0"/>
            <a:endCxn id="2754" idx="4"/>
          </p:cNvCxnSpPr>
          <p:nvPr/>
        </p:nvCxnSpPr>
        <p:spPr>
          <a:xfrm rot="10800000">
            <a:off x="1756101" y="19513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771" name="Google Shape;2771;p97"/>
          <p:cNvCxnSpPr>
            <a:stCxn id="2756" idx="3"/>
            <a:endCxn id="2755" idx="7"/>
          </p:cNvCxnSpPr>
          <p:nvPr/>
        </p:nvCxnSpPr>
        <p:spPr>
          <a:xfrm flipH="1">
            <a:off x="1904111" y="3179489"/>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772" name="Google Shape;2772;p97"/>
          <p:cNvCxnSpPr>
            <a:stCxn id="2752" idx="6"/>
            <a:endCxn id="2756" idx="2"/>
          </p:cNvCxnSpPr>
          <p:nvPr/>
        </p:nvCxnSpPr>
        <p:spPr>
          <a:xfrm>
            <a:off x="1965351" y="3035982"/>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773" name="Google Shape;2773;p97"/>
          <p:cNvSpPr/>
          <p:nvPr/>
        </p:nvSpPr>
        <p:spPr>
          <a:xfrm>
            <a:off x="639875" y="713925"/>
            <a:ext cx="3960600" cy="5019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No more Infinities!</a:t>
            </a:r>
            <a:endParaRPr b="1">
              <a:solidFill>
                <a:srgbClr val="FF0000"/>
              </a:solidFill>
            </a:endParaRPr>
          </a:p>
        </p:txBody>
      </p:sp>
      <p:sp>
        <p:nvSpPr>
          <p:cNvPr id="2774" name="Google Shape;2774;p97"/>
          <p:cNvSpPr txBox="1"/>
          <p:nvPr/>
        </p:nvSpPr>
        <p:spPr>
          <a:xfrm>
            <a:off x="5096050" y="47411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Inverse of </a:t>
            </a:r>
            <a:r>
              <a:rPr b="1" lang="en" sz="1800">
                <a:solidFill>
                  <a:srgbClr val="0000FF"/>
                </a:solidFill>
                <a:latin typeface="Economica"/>
                <a:ea typeface="Economica"/>
                <a:cs typeface="Economica"/>
                <a:sym typeface="Economica"/>
              </a:rPr>
              <a:t>Geodesic Distance Matrix</a:t>
            </a:r>
            <a:endParaRPr b="1" sz="1800">
              <a:solidFill>
                <a:srgbClr val="0000FF"/>
              </a:solidFill>
              <a:latin typeface="Economica"/>
              <a:ea typeface="Economica"/>
              <a:cs typeface="Economica"/>
              <a:sym typeface="Economica"/>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8" name="Shape 2778"/>
        <p:cNvGrpSpPr/>
        <p:nvPr/>
      </p:nvGrpSpPr>
      <p:grpSpPr>
        <a:xfrm>
          <a:off x="0" y="0"/>
          <a:ext cx="0" cy="0"/>
          <a:chOff x="0" y="0"/>
          <a:chExt cx="0" cy="0"/>
        </a:xfrm>
      </p:grpSpPr>
      <p:sp>
        <p:nvSpPr>
          <p:cNvPr id="2779" name="Google Shape;2779;p9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sp>
        <p:nvSpPr>
          <p:cNvPr id="2780" name="Google Shape;2780;p98"/>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Weakly Connected Directed Graph</a:t>
            </a:r>
            <a:endParaRPr b="1" sz="1800">
              <a:solidFill>
                <a:srgbClr val="0000FF"/>
              </a:solidFill>
              <a:latin typeface="Economica"/>
              <a:ea typeface="Economica"/>
              <a:cs typeface="Economica"/>
              <a:sym typeface="Economica"/>
            </a:endParaRPr>
          </a:p>
        </p:txBody>
      </p:sp>
      <p:graphicFrame>
        <p:nvGraphicFramePr>
          <p:cNvPr id="2781" name="Google Shape;2781;p98"/>
          <p:cNvGraphicFramePr/>
          <p:nvPr/>
        </p:nvGraphicFramePr>
        <p:xfrm>
          <a:off x="4892040" y="1161288"/>
          <a:ext cx="3000000" cy="3000000"/>
        </p:xfrm>
        <a:graphic>
          <a:graphicData uri="http://schemas.openxmlformats.org/drawingml/2006/table">
            <a:tbl>
              <a:tblPr>
                <a:noFill/>
                <a:tableStyleId>{4D36BE5A-9069-42A2-BAD7-CD2C23C4D617}</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v2</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v3</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v4</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v5</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v6</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v7</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v8</a:t>
                      </a:r>
                      <a:endParaRPr b="1"/>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v1</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0.33</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v2</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0.33</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0.25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v3</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0.33</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v4</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v5</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v6</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v7</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0.33</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0.33</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0.25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v8</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782" name="Google Shape;2782;p98"/>
          <p:cNvSpPr/>
          <p:nvPr/>
        </p:nvSpPr>
        <p:spPr>
          <a:xfrm>
            <a:off x="91440"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783" name="Google Shape;2783;p98"/>
          <p:cNvSpPr/>
          <p:nvPr/>
        </p:nvSpPr>
        <p:spPr>
          <a:xfrm>
            <a:off x="1546851"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784" name="Google Shape;2784;p98"/>
          <p:cNvSpPr/>
          <p:nvPr/>
        </p:nvSpPr>
        <p:spPr>
          <a:xfrm>
            <a:off x="2789575"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785" name="Google Shape;2785;p98"/>
          <p:cNvSpPr/>
          <p:nvPr/>
        </p:nvSpPr>
        <p:spPr>
          <a:xfrm>
            <a:off x="1546824" y="154533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786" name="Google Shape;2786;p98"/>
          <p:cNvSpPr/>
          <p:nvPr/>
        </p:nvSpPr>
        <p:spPr>
          <a:xfrm>
            <a:off x="154677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787" name="Google Shape;2787;p98"/>
          <p:cNvSpPr/>
          <p:nvPr/>
        </p:nvSpPr>
        <p:spPr>
          <a:xfrm>
            <a:off x="278962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788" name="Google Shape;2788;p98"/>
          <p:cNvSpPr/>
          <p:nvPr/>
        </p:nvSpPr>
        <p:spPr>
          <a:xfrm>
            <a:off x="424494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789" name="Google Shape;2789;p98"/>
          <p:cNvSpPr/>
          <p:nvPr/>
        </p:nvSpPr>
        <p:spPr>
          <a:xfrm>
            <a:off x="424489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790" name="Google Shape;2790;p98"/>
          <p:cNvCxnSpPr>
            <a:stCxn id="2782" idx="7"/>
            <a:endCxn id="2785" idx="2"/>
          </p:cNvCxnSpPr>
          <p:nvPr/>
        </p:nvCxnSpPr>
        <p:spPr>
          <a:xfrm flipH="1" rot="10800000">
            <a:off x="448652" y="1748275"/>
            <a:ext cx="10983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791" name="Google Shape;2791;p98"/>
          <p:cNvCxnSpPr>
            <a:stCxn id="2787" idx="6"/>
            <a:endCxn id="2788" idx="2"/>
          </p:cNvCxnSpPr>
          <p:nvPr/>
        </p:nvCxnSpPr>
        <p:spPr>
          <a:xfrm>
            <a:off x="3208124" y="3035982"/>
            <a:ext cx="1036800" cy="0"/>
          </a:xfrm>
          <a:prstGeom prst="straightConnector1">
            <a:avLst/>
          </a:prstGeom>
          <a:noFill/>
          <a:ln cap="flat" cmpd="sng" w="19050">
            <a:solidFill>
              <a:srgbClr val="B7B7B7"/>
            </a:solidFill>
            <a:prstDash val="solid"/>
            <a:round/>
            <a:headEnd len="med" w="med" type="triangle"/>
            <a:tailEnd len="med" w="med" type="none"/>
          </a:ln>
        </p:spPr>
      </p:cxnSp>
      <p:cxnSp>
        <p:nvCxnSpPr>
          <p:cNvPr id="2792" name="Google Shape;2792;p98"/>
          <p:cNvCxnSpPr>
            <a:stCxn id="2784" idx="6"/>
            <a:endCxn id="2789" idx="2"/>
          </p:cNvCxnSpPr>
          <p:nvPr/>
        </p:nvCxnSpPr>
        <p:spPr>
          <a:xfrm>
            <a:off x="3208075" y="4323671"/>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793" name="Google Shape;2793;p98"/>
          <p:cNvCxnSpPr>
            <a:stCxn id="2787" idx="4"/>
            <a:endCxn id="2784" idx="0"/>
          </p:cNvCxnSpPr>
          <p:nvPr/>
        </p:nvCxnSpPr>
        <p:spPr>
          <a:xfrm>
            <a:off x="2998874" y="32389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794" name="Google Shape;2794;p98"/>
          <p:cNvCxnSpPr>
            <a:stCxn id="2786" idx="0"/>
            <a:endCxn id="2783" idx="4"/>
          </p:cNvCxnSpPr>
          <p:nvPr/>
        </p:nvCxnSpPr>
        <p:spPr>
          <a:xfrm rot="10800000">
            <a:off x="1756026" y="3239021"/>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795" name="Google Shape;2795;p98"/>
          <p:cNvCxnSpPr>
            <a:stCxn id="2782" idx="5"/>
            <a:endCxn id="2786" idx="2"/>
          </p:cNvCxnSpPr>
          <p:nvPr/>
        </p:nvCxnSpPr>
        <p:spPr>
          <a:xfrm>
            <a:off x="448652" y="3179489"/>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796" name="Google Shape;2796;p98"/>
          <p:cNvCxnSpPr>
            <a:stCxn id="2782" idx="6"/>
            <a:endCxn id="2783" idx="2"/>
          </p:cNvCxnSpPr>
          <p:nvPr/>
        </p:nvCxnSpPr>
        <p:spPr>
          <a:xfrm>
            <a:off x="509940" y="3035982"/>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797" name="Google Shape;2797;p98"/>
          <p:cNvCxnSpPr>
            <a:stCxn id="2784" idx="2"/>
            <a:endCxn id="2786" idx="6"/>
          </p:cNvCxnSpPr>
          <p:nvPr/>
        </p:nvCxnSpPr>
        <p:spPr>
          <a:xfrm rot="10800000">
            <a:off x="1965175" y="4323671"/>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798" name="Google Shape;2798;p98"/>
          <p:cNvCxnSpPr>
            <a:stCxn id="2789" idx="1"/>
            <a:endCxn id="2787" idx="5"/>
          </p:cNvCxnSpPr>
          <p:nvPr/>
        </p:nvCxnSpPr>
        <p:spPr>
          <a:xfrm rot="10800000">
            <a:off x="3146984" y="3179363"/>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799" name="Google Shape;2799;p98"/>
          <p:cNvCxnSpPr>
            <a:stCxn id="2788" idx="1"/>
            <a:endCxn id="2785" idx="6"/>
          </p:cNvCxnSpPr>
          <p:nvPr/>
        </p:nvCxnSpPr>
        <p:spPr>
          <a:xfrm rot="10800000">
            <a:off x="1965332" y="1748275"/>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800" name="Google Shape;2800;p98"/>
          <p:cNvCxnSpPr>
            <a:stCxn id="2785" idx="5"/>
            <a:endCxn id="2787" idx="1"/>
          </p:cNvCxnSpPr>
          <p:nvPr/>
        </p:nvCxnSpPr>
        <p:spPr>
          <a:xfrm>
            <a:off x="1904036" y="189179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801" name="Google Shape;2801;p98"/>
          <p:cNvCxnSpPr>
            <a:stCxn id="2783" idx="0"/>
            <a:endCxn id="2785" idx="4"/>
          </p:cNvCxnSpPr>
          <p:nvPr/>
        </p:nvCxnSpPr>
        <p:spPr>
          <a:xfrm rot="10800000">
            <a:off x="1756101" y="19513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802" name="Google Shape;2802;p98"/>
          <p:cNvCxnSpPr>
            <a:stCxn id="2787" idx="3"/>
            <a:endCxn id="2786" idx="7"/>
          </p:cNvCxnSpPr>
          <p:nvPr/>
        </p:nvCxnSpPr>
        <p:spPr>
          <a:xfrm flipH="1">
            <a:off x="1904111" y="3179489"/>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803" name="Google Shape;2803;p98"/>
          <p:cNvCxnSpPr>
            <a:stCxn id="2783" idx="6"/>
            <a:endCxn id="2787" idx="2"/>
          </p:cNvCxnSpPr>
          <p:nvPr/>
        </p:nvCxnSpPr>
        <p:spPr>
          <a:xfrm>
            <a:off x="1965351" y="3035982"/>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804" name="Google Shape;2804;p98"/>
          <p:cNvSpPr/>
          <p:nvPr/>
        </p:nvSpPr>
        <p:spPr>
          <a:xfrm>
            <a:off x="639875" y="713925"/>
            <a:ext cx="4456200" cy="8313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We can now compute the row sums of the inverse of the geodesic distance matrix as usual!</a:t>
            </a:r>
            <a:endParaRPr b="1">
              <a:solidFill>
                <a:srgbClr val="FF0000"/>
              </a:solidFill>
            </a:endParaRPr>
          </a:p>
        </p:txBody>
      </p:sp>
      <p:sp>
        <p:nvSpPr>
          <p:cNvPr id="2805" name="Google Shape;2805;p98"/>
          <p:cNvSpPr txBox="1"/>
          <p:nvPr/>
        </p:nvSpPr>
        <p:spPr>
          <a:xfrm>
            <a:off x="5096050" y="47411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Geodesic Distance Matrix</a:t>
            </a:r>
            <a:endParaRPr b="1" sz="1800">
              <a:solidFill>
                <a:srgbClr val="0000FF"/>
              </a:solidFill>
              <a:latin typeface="Economica"/>
              <a:ea typeface="Economica"/>
              <a:cs typeface="Economica"/>
              <a:sym typeface="Economica"/>
            </a:endParaRPr>
          </a:p>
        </p:txBody>
      </p:sp>
      <p:graphicFrame>
        <p:nvGraphicFramePr>
          <p:cNvPr id="2806" name="Google Shape;2806;p98"/>
          <p:cNvGraphicFramePr/>
          <p:nvPr/>
        </p:nvGraphicFramePr>
        <p:xfrm>
          <a:off x="8398450" y="1557500"/>
          <a:ext cx="3000000" cy="3000000"/>
        </p:xfrm>
        <a:graphic>
          <a:graphicData uri="http://schemas.openxmlformats.org/drawingml/2006/table">
            <a:tbl>
              <a:tblPr>
                <a:noFill/>
                <a:tableStyleId>{D533A967-1B24-4C1F-A5BD-666CA7F43D67}</a:tableStyleId>
              </a:tblPr>
              <a:tblGrid>
                <a:gridCol w="438325"/>
              </a:tblGrid>
              <a:tr h="396200">
                <a:tc>
                  <a:txBody>
                    <a:bodyPr/>
                    <a:lstStyle/>
                    <a:p>
                      <a:pPr indent="0" lvl="0" marL="0" rtl="0" algn="ctr">
                        <a:lnSpc>
                          <a:spcPct val="115000"/>
                        </a:lnSpc>
                        <a:spcBef>
                          <a:spcPts val="0"/>
                        </a:spcBef>
                        <a:spcAft>
                          <a:spcPts val="0"/>
                        </a:spcAft>
                        <a:buNone/>
                      </a:pPr>
                      <a:r>
                        <a:rPr lang="en" sz="1300"/>
                        <a:t>2.33</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sz="1300"/>
                        <a:t>4.08</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sz="1300"/>
                        <a:t>3.83</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sz="1300"/>
                        <a:t>2.50</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sz="1300"/>
                        <a:t>0.00</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sz="1300"/>
                        <a:t>2.50</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sz="1300"/>
                        <a:t>2.92</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sz="1300"/>
                        <a:t>2.00</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descr="\sum_j \frac{1}{d_{ij}}&#10;%2cf97931-cea2-413b-9261-f6b99007055f" id="2807" name="Google Shape;2807;p98"/>
          <p:cNvPicPr preferRelativeResize="0"/>
          <p:nvPr/>
        </p:nvPicPr>
        <p:blipFill>
          <a:blip r:embed="rId3">
            <a:alphaModFix/>
          </a:blip>
          <a:stretch>
            <a:fillRect/>
          </a:stretch>
        </p:blipFill>
        <p:spPr>
          <a:xfrm>
            <a:off x="8398438" y="1026525"/>
            <a:ext cx="542109" cy="45720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1" name="Shape 2811"/>
        <p:cNvGrpSpPr/>
        <p:nvPr/>
      </p:nvGrpSpPr>
      <p:grpSpPr>
        <a:xfrm>
          <a:off x="0" y="0"/>
          <a:ext cx="0" cy="0"/>
          <a:chOff x="0" y="0"/>
          <a:chExt cx="0" cy="0"/>
        </a:xfrm>
      </p:grpSpPr>
      <p:sp>
        <p:nvSpPr>
          <p:cNvPr id="2812" name="Google Shape;2812;p9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sp>
        <p:nvSpPr>
          <p:cNvPr id="2813" name="Google Shape;2813;p99"/>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Weakly Connected Directed Graph</a:t>
            </a:r>
            <a:endParaRPr b="1" sz="1800">
              <a:solidFill>
                <a:srgbClr val="0000FF"/>
              </a:solidFill>
              <a:latin typeface="Economica"/>
              <a:ea typeface="Economica"/>
              <a:cs typeface="Economica"/>
              <a:sym typeface="Economica"/>
            </a:endParaRPr>
          </a:p>
        </p:txBody>
      </p:sp>
      <p:graphicFrame>
        <p:nvGraphicFramePr>
          <p:cNvPr id="2814" name="Google Shape;2814;p99"/>
          <p:cNvGraphicFramePr/>
          <p:nvPr/>
        </p:nvGraphicFramePr>
        <p:xfrm>
          <a:off x="4892040" y="1161288"/>
          <a:ext cx="3000000" cy="3000000"/>
        </p:xfrm>
        <a:graphic>
          <a:graphicData uri="http://schemas.openxmlformats.org/drawingml/2006/table">
            <a:tbl>
              <a:tblPr>
                <a:noFill/>
                <a:tableStyleId>{4D36BE5A-9069-42A2-BAD7-CD2C23C4D617}</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v2</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v3</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v4</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v5</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v6</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v7</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v8</a:t>
                      </a:r>
                      <a:endParaRPr b="1"/>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v1</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0.33</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v2</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0.33</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0.25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v3</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0.33</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v4</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v5</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v6</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v7</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0.33</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0.33</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0.25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v8</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815" name="Google Shape;2815;p99"/>
          <p:cNvSpPr/>
          <p:nvPr/>
        </p:nvSpPr>
        <p:spPr>
          <a:xfrm>
            <a:off x="91440"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816" name="Google Shape;2816;p99"/>
          <p:cNvSpPr/>
          <p:nvPr/>
        </p:nvSpPr>
        <p:spPr>
          <a:xfrm>
            <a:off x="1546851"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817" name="Google Shape;2817;p99"/>
          <p:cNvSpPr/>
          <p:nvPr/>
        </p:nvSpPr>
        <p:spPr>
          <a:xfrm>
            <a:off x="2789575"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818" name="Google Shape;2818;p99"/>
          <p:cNvSpPr/>
          <p:nvPr/>
        </p:nvSpPr>
        <p:spPr>
          <a:xfrm>
            <a:off x="1546824" y="154533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819" name="Google Shape;2819;p99"/>
          <p:cNvSpPr/>
          <p:nvPr/>
        </p:nvSpPr>
        <p:spPr>
          <a:xfrm>
            <a:off x="154677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820" name="Google Shape;2820;p99"/>
          <p:cNvSpPr/>
          <p:nvPr/>
        </p:nvSpPr>
        <p:spPr>
          <a:xfrm>
            <a:off x="278962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821" name="Google Shape;2821;p99"/>
          <p:cNvSpPr/>
          <p:nvPr/>
        </p:nvSpPr>
        <p:spPr>
          <a:xfrm>
            <a:off x="424494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822" name="Google Shape;2822;p99"/>
          <p:cNvSpPr/>
          <p:nvPr/>
        </p:nvSpPr>
        <p:spPr>
          <a:xfrm>
            <a:off x="424489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823" name="Google Shape;2823;p99"/>
          <p:cNvCxnSpPr>
            <a:stCxn id="2815" idx="7"/>
            <a:endCxn id="2818" idx="2"/>
          </p:cNvCxnSpPr>
          <p:nvPr/>
        </p:nvCxnSpPr>
        <p:spPr>
          <a:xfrm flipH="1" rot="10800000">
            <a:off x="448652" y="1748275"/>
            <a:ext cx="10983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824" name="Google Shape;2824;p99"/>
          <p:cNvCxnSpPr>
            <a:stCxn id="2820" idx="6"/>
            <a:endCxn id="2821" idx="2"/>
          </p:cNvCxnSpPr>
          <p:nvPr/>
        </p:nvCxnSpPr>
        <p:spPr>
          <a:xfrm>
            <a:off x="3208124" y="3035982"/>
            <a:ext cx="1036800" cy="0"/>
          </a:xfrm>
          <a:prstGeom prst="straightConnector1">
            <a:avLst/>
          </a:prstGeom>
          <a:noFill/>
          <a:ln cap="flat" cmpd="sng" w="19050">
            <a:solidFill>
              <a:srgbClr val="B7B7B7"/>
            </a:solidFill>
            <a:prstDash val="solid"/>
            <a:round/>
            <a:headEnd len="med" w="med" type="triangle"/>
            <a:tailEnd len="med" w="med" type="none"/>
          </a:ln>
        </p:spPr>
      </p:cxnSp>
      <p:cxnSp>
        <p:nvCxnSpPr>
          <p:cNvPr id="2825" name="Google Shape;2825;p99"/>
          <p:cNvCxnSpPr>
            <a:stCxn id="2817" idx="6"/>
            <a:endCxn id="2822" idx="2"/>
          </p:cNvCxnSpPr>
          <p:nvPr/>
        </p:nvCxnSpPr>
        <p:spPr>
          <a:xfrm>
            <a:off x="3208075" y="4323671"/>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826" name="Google Shape;2826;p99"/>
          <p:cNvCxnSpPr>
            <a:stCxn id="2820" idx="4"/>
            <a:endCxn id="2817" idx="0"/>
          </p:cNvCxnSpPr>
          <p:nvPr/>
        </p:nvCxnSpPr>
        <p:spPr>
          <a:xfrm>
            <a:off x="2998874" y="32389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827" name="Google Shape;2827;p99"/>
          <p:cNvCxnSpPr>
            <a:stCxn id="2819" idx="0"/>
            <a:endCxn id="2816" idx="4"/>
          </p:cNvCxnSpPr>
          <p:nvPr/>
        </p:nvCxnSpPr>
        <p:spPr>
          <a:xfrm rot="10800000">
            <a:off x="1756026" y="3239021"/>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828" name="Google Shape;2828;p99"/>
          <p:cNvCxnSpPr>
            <a:stCxn id="2815" idx="5"/>
            <a:endCxn id="2819" idx="2"/>
          </p:cNvCxnSpPr>
          <p:nvPr/>
        </p:nvCxnSpPr>
        <p:spPr>
          <a:xfrm>
            <a:off x="448652" y="3179489"/>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829" name="Google Shape;2829;p99"/>
          <p:cNvCxnSpPr>
            <a:stCxn id="2815" idx="6"/>
            <a:endCxn id="2816" idx="2"/>
          </p:cNvCxnSpPr>
          <p:nvPr/>
        </p:nvCxnSpPr>
        <p:spPr>
          <a:xfrm>
            <a:off x="509940" y="3035982"/>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830" name="Google Shape;2830;p99"/>
          <p:cNvCxnSpPr>
            <a:stCxn id="2817" idx="2"/>
            <a:endCxn id="2819" idx="6"/>
          </p:cNvCxnSpPr>
          <p:nvPr/>
        </p:nvCxnSpPr>
        <p:spPr>
          <a:xfrm rot="10800000">
            <a:off x="1965175" y="4323671"/>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831" name="Google Shape;2831;p99"/>
          <p:cNvCxnSpPr>
            <a:stCxn id="2822" idx="1"/>
            <a:endCxn id="2820" idx="5"/>
          </p:cNvCxnSpPr>
          <p:nvPr/>
        </p:nvCxnSpPr>
        <p:spPr>
          <a:xfrm rot="10800000">
            <a:off x="3146984" y="3179363"/>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832" name="Google Shape;2832;p99"/>
          <p:cNvCxnSpPr>
            <a:stCxn id="2821" idx="1"/>
            <a:endCxn id="2818" idx="6"/>
          </p:cNvCxnSpPr>
          <p:nvPr/>
        </p:nvCxnSpPr>
        <p:spPr>
          <a:xfrm rot="10800000">
            <a:off x="1965332" y="1748275"/>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833" name="Google Shape;2833;p99"/>
          <p:cNvCxnSpPr>
            <a:stCxn id="2818" idx="5"/>
            <a:endCxn id="2820" idx="1"/>
          </p:cNvCxnSpPr>
          <p:nvPr/>
        </p:nvCxnSpPr>
        <p:spPr>
          <a:xfrm>
            <a:off x="1904036" y="189179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834" name="Google Shape;2834;p99"/>
          <p:cNvCxnSpPr>
            <a:stCxn id="2816" idx="0"/>
            <a:endCxn id="2818" idx="4"/>
          </p:cNvCxnSpPr>
          <p:nvPr/>
        </p:nvCxnSpPr>
        <p:spPr>
          <a:xfrm rot="10800000">
            <a:off x="1756101" y="19513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835" name="Google Shape;2835;p99"/>
          <p:cNvCxnSpPr>
            <a:stCxn id="2820" idx="3"/>
            <a:endCxn id="2819" idx="7"/>
          </p:cNvCxnSpPr>
          <p:nvPr/>
        </p:nvCxnSpPr>
        <p:spPr>
          <a:xfrm flipH="1">
            <a:off x="1904111" y="3179489"/>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836" name="Google Shape;2836;p99"/>
          <p:cNvCxnSpPr>
            <a:stCxn id="2816" idx="6"/>
            <a:endCxn id="2820" idx="2"/>
          </p:cNvCxnSpPr>
          <p:nvPr/>
        </p:nvCxnSpPr>
        <p:spPr>
          <a:xfrm>
            <a:off x="1965351" y="3035982"/>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837" name="Google Shape;2837;p99"/>
          <p:cNvSpPr/>
          <p:nvPr/>
        </p:nvSpPr>
        <p:spPr>
          <a:xfrm>
            <a:off x="639875" y="713925"/>
            <a:ext cx="4456200" cy="8313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And we normalize by dividing by the graph order minus one!</a:t>
            </a:r>
            <a:endParaRPr b="1">
              <a:solidFill>
                <a:srgbClr val="FF0000"/>
              </a:solidFill>
            </a:endParaRPr>
          </a:p>
        </p:txBody>
      </p:sp>
      <p:sp>
        <p:nvSpPr>
          <p:cNvPr id="2838" name="Google Shape;2838;p99"/>
          <p:cNvSpPr txBox="1"/>
          <p:nvPr/>
        </p:nvSpPr>
        <p:spPr>
          <a:xfrm>
            <a:off x="5096050" y="47411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Geodesic Distance Matrix</a:t>
            </a:r>
            <a:endParaRPr b="1" sz="1800">
              <a:solidFill>
                <a:srgbClr val="0000FF"/>
              </a:solidFill>
              <a:latin typeface="Economica"/>
              <a:ea typeface="Economica"/>
              <a:cs typeface="Economica"/>
              <a:sym typeface="Economica"/>
            </a:endParaRPr>
          </a:p>
        </p:txBody>
      </p:sp>
      <p:graphicFrame>
        <p:nvGraphicFramePr>
          <p:cNvPr id="2839" name="Google Shape;2839;p99"/>
          <p:cNvGraphicFramePr/>
          <p:nvPr/>
        </p:nvGraphicFramePr>
        <p:xfrm>
          <a:off x="8398450" y="1557500"/>
          <a:ext cx="3000000" cy="3000000"/>
        </p:xfrm>
        <a:graphic>
          <a:graphicData uri="http://schemas.openxmlformats.org/drawingml/2006/table">
            <a:tbl>
              <a:tblPr>
                <a:noFill/>
                <a:tableStyleId>{D533A967-1B24-4C1F-A5BD-666CA7F43D67}</a:tableStyleId>
              </a:tblPr>
              <a:tblGrid>
                <a:gridCol w="438325"/>
              </a:tblGrid>
              <a:tr h="396200">
                <a:tc>
                  <a:txBody>
                    <a:bodyPr/>
                    <a:lstStyle/>
                    <a:p>
                      <a:pPr indent="0" lvl="0" marL="0" rtl="0" algn="ctr">
                        <a:lnSpc>
                          <a:spcPct val="115000"/>
                        </a:lnSpc>
                        <a:spcBef>
                          <a:spcPts val="0"/>
                        </a:spcBef>
                        <a:spcAft>
                          <a:spcPts val="0"/>
                        </a:spcAft>
                        <a:buNone/>
                      </a:pPr>
                      <a:r>
                        <a:rPr lang="en" sz="1300"/>
                        <a:t>0.33</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sz="1300"/>
                        <a:t>0.58</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sz="1300"/>
                        <a:t>0.55</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sz="1300"/>
                        <a:t>0.36</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sz="1300"/>
                        <a:t>0.00</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sz="1300"/>
                        <a:t>0.36</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sz="1300"/>
                        <a:t>0.42</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sz="1300"/>
                        <a:t>0.29</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descr="\frac{\sum_j \frac{1}{d_{ij}}}{N-1}&#10;%5e643d88-2b3e-4acc-87cd-a1979599530f" id="2840" name="Google Shape;2840;p99"/>
          <p:cNvPicPr preferRelativeResize="0"/>
          <p:nvPr/>
        </p:nvPicPr>
        <p:blipFill>
          <a:blip r:embed="rId3">
            <a:alphaModFix/>
          </a:blip>
          <a:stretch>
            <a:fillRect/>
          </a:stretch>
        </p:blipFill>
        <p:spPr>
          <a:xfrm>
            <a:off x="8398444" y="1057781"/>
            <a:ext cx="563880" cy="45720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4" name="Shape 2844"/>
        <p:cNvGrpSpPr/>
        <p:nvPr/>
      </p:nvGrpSpPr>
      <p:grpSpPr>
        <a:xfrm>
          <a:off x="0" y="0"/>
          <a:ext cx="0" cy="0"/>
          <a:chOff x="0" y="0"/>
          <a:chExt cx="0" cy="0"/>
        </a:xfrm>
      </p:grpSpPr>
      <p:sp>
        <p:nvSpPr>
          <p:cNvPr id="2845" name="Google Shape;2845;p10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sp>
        <p:nvSpPr>
          <p:cNvPr id="2846" name="Google Shape;2846;p100"/>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Weakly Connected Directed Graph</a:t>
            </a:r>
            <a:endParaRPr b="1" sz="1800">
              <a:solidFill>
                <a:srgbClr val="0000FF"/>
              </a:solidFill>
              <a:latin typeface="Economica"/>
              <a:ea typeface="Economica"/>
              <a:cs typeface="Economica"/>
              <a:sym typeface="Economica"/>
            </a:endParaRPr>
          </a:p>
        </p:txBody>
      </p:sp>
      <p:sp>
        <p:nvSpPr>
          <p:cNvPr id="2847" name="Google Shape;2847;p100"/>
          <p:cNvSpPr/>
          <p:nvPr/>
        </p:nvSpPr>
        <p:spPr>
          <a:xfrm>
            <a:off x="91440" y="2833032"/>
            <a:ext cx="418500" cy="405900"/>
          </a:xfrm>
          <a:prstGeom prst="ellipse">
            <a:avLst/>
          </a:prstGeom>
          <a:solidFill>
            <a:schemeClr val="accent6"/>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848" name="Google Shape;2848;p100"/>
          <p:cNvSpPr/>
          <p:nvPr/>
        </p:nvSpPr>
        <p:spPr>
          <a:xfrm>
            <a:off x="1546851"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849" name="Google Shape;2849;p100"/>
          <p:cNvSpPr/>
          <p:nvPr/>
        </p:nvSpPr>
        <p:spPr>
          <a:xfrm>
            <a:off x="2789575"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850" name="Google Shape;2850;p100"/>
          <p:cNvSpPr/>
          <p:nvPr/>
        </p:nvSpPr>
        <p:spPr>
          <a:xfrm>
            <a:off x="1546824" y="154533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851" name="Google Shape;2851;p100"/>
          <p:cNvSpPr/>
          <p:nvPr/>
        </p:nvSpPr>
        <p:spPr>
          <a:xfrm>
            <a:off x="1546776" y="4120721"/>
            <a:ext cx="418500" cy="405900"/>
          </a:xfrm>
          <a:prstGeom prst="ellipse">
            <a:avLst/>
          </a:prstGeom>
          <a:solidFill>
            <a:schemeClr val="accent5"/>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852" name="Google Shape;2852;p100"/>
          <p:cNvSpPr/>
          <p:nvPr/>
        </p:nvSpPr>
        <p:spPr>
          <a:xfrm>
            <a:off x="278962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853" name="Google Shape;2853;p100"/>
          <p:cNvSpPr/>
          <p:nvPr/>
        </p:nvSpPr>
        <p:spPr>
          <a:xfrm>
            <a:off x="424494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854" name="Google Shape;2854;p100"/>
          <p:cNvSpPr/>
          <p:nvPr/>
        </p:nvSpPr>
        <p:spPr>
          <a:xfrm>
            <a:off x="424489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855" name="Google Shape;2855;p100"/>
          <p:cNvCxnSpPr>
            <a:stCxn id="2847" idx="7"/>
            <a:endCxn id="2850" idx="2"/>
          </p:cNvCxnSpPr>
          <p:nvPr/>
        </p:nvCxnSpPr>
        <p:spPr>
          <a:xfrm flipH="1" rot="10800000">
            <a:off x="448652" y="1748275"/>
            <a:ext cx="10983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856" name="Google Shape;2856;p100"/>
          <p:cNvCxnSpPr>
            <a:stCxn id="2852" idx="6"/>
            <a:endCxn id="2853" idx="2"/>
          </p:cNvCxnSpPr>
          <p:nvPr/>
        </p:nvCxnSpPr>
        <p:spPr>
          <a:xfrm>
            <a:off x="3208124" y="3035982"/>
            <a:ext cx="1036800" cy="0"/>
          </a:xfrm>
          <a:prstGeom prst="straightConnector1">
            <a:avLst/>
          </a:prstGeom>
          <a:noFill/>
          <a:ln cap="flat" cmpd="sng" w="19050">
            <a:solidFill>
              <a:srgbClr val="B7B7B7"/>
            </a:solidFill>
            <a:prstDash val="solid"/>
            <a:round/>
            <a:headEnd len="med" w="med" type="triangle"/>
            <a:tailEnd len="med" w="med" type="none"/>
          </a:ln>
        </p:spPr>
      </p:cxnSp>
      <p:cxnSp>
        <p:nvCxnSpPr>
          <p:cNvPr id="2857" name="Google Shape;2857;p100"/>
          <p:cNvCxnSpPr>
            <a:stCxn id="2849" idx="6"/>
            <a:endCxn id="2854" idx="2"/>
          </p:cNvCxnSpPr>
          <p:nvPr/>
        </p:nvCxnSpPr>
        <p:spPr>
          <a:xfrm>
            <a:off x="3208075" y="4323671"/>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858" name="Google Shape;2858;p100"/>
          <p:cNvCxnSpPr>
            <a:stCxn id="2852" idx="4"/>
            <a:endCxn id="2849" idx="0"/>
          </p:cNvCxnSpPr>
          <p:nvPr/>
        </p:nvCxnSpPr>
        <p:spPr>
          <a:xfrm>
            <a:off x="2998874" y="32389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859" name="Google Shape;2859;p100"/>
          <p:cNvCxnSpPr>
            <a:stCxn id="2851" idx="0"/>
            <a:endCxn id="2848" idx="4"/>
          </p:cNvCxnSpPr>
          <p:nvPr/>
        </p:nvCxnSpPr>
        <p:spPr>
          <a:xfrm rot="10800000">
            <a:off x="1756026" y="3239021"/>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860" name="Google Shape;2860;p100"/>
          <p:cNvCxnSpPr>
            <a:stCxn id="2847" idx="5"/>
            <a:endCxn id="2851" idx="2"/>
          </p:cNvCxnSpPr>
          <p:nvPr/>
        </p:nvCxnSpPr>
        <p:spPr>
          <a:xfrm>
            <a:off x="448652" y="3179489"/>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861" name="Google Shape;2861;p100"/>
          <p:cNvCxnSpPr>
            <a:stCxn id="2847" idx="6"/>
            <a:endCxn id="2848" idx="2"/>
          </p:cNvCxnSpPr>
          <p:nvPr/>
        </p:nvCxnSpPr>
        <p:spPr>
          <a:xfrm>
            <a:off x="509940" y="3035982"/>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862" name="Google Shape;2862;p100"/>
          <p:cNvCxnSpPr>
            <a:stCxn id="2849" idx="2"/>
            <a:endCxn id="2851" idx="6"/>
          </p:cNvCxnSpPr>
          <p:nvPr/>
        </p:nvCxnSpPr>
        <p:spPr>
          <a:xfrm rot="10800000">
            <a:off x="1965175" y="4323671"/>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863" name="Google Shape;2863;p100"/>
          <p:cNvCxnSpPr>
            <a:stCxn id="2854" idx="1"/>
            <a:endCxn id="2852" idx="5"/>
          </p:cNvCxnSpPr>
          <p:nvPr/>
        </p:nvCxnSpPr>
        <p:spPr>
          <a:xfrm rot="10800000">
            <a:off x="3146984" y="3179363"/>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864" name="Google Shape;2864;p100"/>
          <p:cNvCxnSpPr>
            <a:stCxn id="2853" idx="1"/>
            <a:endCxn id="2850" idx="6"/>
          </p:cNvCxnSpPr>
          <p:nvPr/>
        </p:nvCxnSpPr>
        <p:spPr>
          <a:xfrm rot="10800000">
            <a:off x="1965332" y="1748275"/>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865" name="Google Shape;2865;p100"/>
          <p:cNvCxnSpPr>
            <a:stCxn id="2850" idx="5"/>
            <a:endCxn id="2852" idx="1"/>
          </p:cNvCxnSpPr>
          <p:nvPr/>
        </p:nvCxnSpPr>
        <p:spPr>
          <a:xfrm>
            <a:off x="1904036" y="189179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866" name="Google Shape;2866;p100"/>
          <p:cNvCxnSpPr>
            <a:stCxn id="2848" idx="0"/>
            <a:endCxn id="2850" idx="4"/>
          </p:cNvCxnSpPr>
          <p:nvPr/>
        </p:nvCxnSpPr>
        <p:spPr>
          <a:xfrm rot="10800000">
            <a:off x="1756101" y="19513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867" name="Google Shape;2867;p100"/>
          <p:cNvCxnSpPr>
            <a:stCxn id="2852" idx="3"/>
            <a:endCxn id="2851" idx="7"/>
          </p:cNvCxnSpPr>
          <p:nvPr/>
        </p:nvCxnSpPr>
        <p:spPr>
          <a:xfrm flipH="1">
            <a:off x="1904111" y="3179489"/>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868" name="Google Shape;2868;p100"/>
          <p:cNvCxnSpPr>
            <a:stCxn id="2848" idx="6"/>
            <a:endCxn id="2852" idx="2"/>
          </p:cNvCxnSpPr>
          <p:nvPr/>
        </p:nvCxnSpPr>
        <p:spPr>
          <a:xfrm>
            <a:off x="1965351" y="3035982"/>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869" name="Google Shape;2869;p100"/>
          <p:cNvSpPr/>
          <p:nvPr/>
        </p:nvSpPr>
        <p:spPr>
          <a:xfrm>
            <a:off x="639875" y="713925"/>
            <a:ext cx="4456200" cy="8313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Here’s the final Harmonic Centrality Ranking!</a:t>
            </a:r>
            <a:endParaRPr b="1">
              <a:solidFill>
                <a:srgbClr val="FF0000"/>
              </a:solidFill>
            </a:endParaRPr>
          </a:p>
        </p:txBody>
      </p:sp>
      <p:graphicFrame>
        <p:nvGraphicFramePr>
          <p:cNvPr id="2870" name="Google Shape;2870;p100"/>
          <p:cNvGraphicFramePr/>
          <p:nvPr/>
        </p:nvGraphicFramePr>
        <p:xfrm>
          <a:off x="5619800" y="1652375"/>
          <a:ext cx="3000000" cy="3000000"/>
        </p:xfrm>
        <a:graphic>
          <a:graphicData uri="http://schemas.openxmlformats.org/drawingml/2006/table">
            <a:tbl>
              <a:tblPr>
                <a:noFill/>
                <a:tableStyleId>{D533A967-1B24-4C1F-A5BD-666CA7F43D67}</a:tableStyleId>
              </a:tblPr>
              <a:tblGrid>
                <a:gridCol w="846700"/>
                <a:gridCol w="846700"/>
                <a:gridCol w="846700"/>
              </a:tblGrid>
              <a:tr h="416850">
                <a:tc>
                  <a:txBody>
                    <a:bodyPr/>
                    <a:lstStyle/>
                    <a:p>
                      <a:pPr indent="0" lvl="0" marL="0" rtl="0" algn="ctr">
                        <a:lnSpc>
                          <a:spcPct val="115000"/>
                        </a:lnSpc>
                        <a:spcBef>
                          <a:spcPts val="0"/>
                        </a:spcBef>
                        <a:spcAft>
                          <a:spcPts val="0"/>
                        </a:spcAft>
                        <a:buNone/>
                      </a:pPr>
                      <a:r>
                        <a:rPr b="1" lang="en"/>
                        <a:t>V2</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t>4.08</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t>0.58</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416850">
                <a:tc>
                  <a:txBody>
                    <a:bodyPr/>
                    <a:lstStyle/>
                    <a:p>
                      <a:pPr indent="0" lvl="0" marL="0" rtl="0" algn="ctr">
                        <a:lnSpc>
                          <a:spcPct val="115000"/>
                        </a:lnSpc>
                        <a:spcBef>
                          <a:spcPts val="0"/>
                        </a:spcBef>
                        <a:spcAft>
                          <a:spcPts val="0"/>
                        </a:spcAft>
                        <a:buNone/>
                      </a:pPr>
                      <a:r>
                        <a:rPr b="1" lang="en"/>
                        <a:t>V3</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3.83</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0.55</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6850">
                <a:tc>
                  <a:txBody>
                    <a:bodyPr/>
                    <a:lstStyle/>
                    <a:p>
                      <a:pPr indent="0" lvl="0" marL="0" rtl="0" algn="ctr">
                        <a:lnSpc>
                          <a:spcPct val="115000"/>
                        </a:lnSpc>
                        <a:spcBef>
                          <a:spcPts val="0"/>
                        </a:spcBef>
                        <a:spcAft>
                          <a:spcPts val="0"/>
                        </a:spcAft>
                        <a:buNone/>
                      </a:pPr>
                      <a:r>
                        <a:rPr b="1" lang="en"/>
                        <a:t>V7</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2.92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0.42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6850">
                <a:tc>
                  <a:txBody>
                    <a:bodyPr/>
                    <a:lstStyle/>
                    <a:p>
                      <a:pPr indent="0" lvl="0" marL="0" rtl="0" algn="ctr">
                        <a:lnSpc>
                          <a:spcPct val="115000"/>
                        </a:lnSpc>
                        <a:spcBef>
                          <a:spcPts val="0"/>
                        </a:spcBef>
                        <a:spcAft>
                          <a:spcPts val="0"/>
                        </a:spcAft>
                        <a:buNone/>
                      </a:pPr>
                      <a:r>
                        <a:rPr b="1" lang="en"/>
                        <a:t>V4</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2.50</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0.36</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6850">
                <a:tc>
                  <a:txBody>
                    <a:bodyPr/>
                    <a:lstStyle/>
                    <a:p>
                      <a:pPr indent="0" lvl="0" marL="0" rtl="0" algn="ctr">
                        <a:lnSpc>
                          <a:spcPct val="115000"/>
                        </a:lnSpc>
                        <a:spcBef>
                          <a:spcPts val="0"/>
                        </a:spcBef>
                        <a:spcAft>
                          <a:spcPts val="0"/>
                        </a:spcAft>
                        <a:buNone/>
                      </a:pPr>
                      <a:r>
                        <a:rPr b="1" lang="en"/>
                        <a:t>V6</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2.50</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0.36</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6850">
                <a:tc>
                  <a:txBody>
                    <a:bodyPr/>
                    <a:lstStyle/>
                    <a:p>
                      <a:pPr indent="0" lvl="0" marL="0" rtl="0" algn="ctr">
                        <a:lnSpc>
                          <a:spcPct val="115000"/>
                        </a:lnSpc>
                        <a:spcBef>
                          <a:spcPts val="0"/>
                        </a:spcBef>
                        <a:spcAft>
                          <a:spcPts val="0"/>
                        </a:spcAft>
                        <a:buNone/>
                      </a:pPr>
                      <a:r>
                        <a:rPr b="1" lang="en"/>
                        <a:t>V1</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2.33</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0.33</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6850">
                <a:tc>
                  <a:txBody>
                    <a:bodyPr/>
                    <a:lstStyle/>
                    <a:p>
                      <a:pPr indent="0" lvl="0" marL="0" rtl="0" algn="ctr">
                        <a:lnSpc>
                          <a:spcPct val="115000"/>
                        </a:lnSpc>
                        <a:spcBef>
                          <a:spcPts val="0"/>
                        </a:spcBef>
                        <a:spcAft>
                          <a:spcPts val="0"/>
                        </a:spcAft>
                        <a:buNone/>
                      </a:pPr>
                      <a:r>
                        <a:rPr b="1" lang="en"/>
                        <a:t>V8</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2.00</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0.29</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6850">
                <a:tc>
                  <a:txBody>
                    <a:bodyPr/>
                    <a:lstStyle/>
                    <a:p>
                      <a:pPr indent="0" lvl="0" marL="0" rtl="0" algn="ctr">
                        <a:lnSpc>
                          <a:spcPct val="115000"/>
                        </a:lnSpc>
                        <a:spcBef>
                          <a:spcPts val="0"/>
                        </a:spcBef>
                        <a:spcAft>
                          <a:spcPts val="0"/>
                        </a:spcAft>
                        <a:buNone/>
                      </a:pPr>
                      <a:r>
                        <a:rPr b="1" lang="en"/>
                        <a:t>V5</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a:t>0.00</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a:t>0.00</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bl>
          </a:graphicData>
        </a:graphic>
      </p:graphicFrame>
      <p:pic>
        <p:nvPicPr>
          <p:cNvPr descr="\sum_j \frac{1}{d_{ij}}&#10;%2cf97931-cea2-413b-9261-f6b99007055f" id="2871" name="Google Shape;2871;p100"/>
          <p:cNvPicPr preferRelativeResize="0"/>
          <p:nvPr/>
        </p:nvPicPr>
        <p:blipFill>
          <a:blip r:embed="rId3">
            <a:alphaModFix/>
          </a:blip>
          <a:stretch>
            <a:fillRect/>
          </a:stretch>
        </p:blipFill>
        <p:spPr>
          <a:xfrm>
            <a:off x="6466488" y="962525"/>
            <a:ext cx="757473" cy="640080"/>
          </a:xfrm>
          <a:prstGeom prst="rect">
            <a:avLst/>
          </a:prstGeom>
          <a:noFill/>
          <a:ln>
            <a:noFill/>
          </a:ln>
        </p:spPr>
      </p:pic>
      <p:pic>
        <p:nvPicPr>
          <p:cNvPr descr="\frac{\sum_j \frac{1}{d_{ij}}}{N-1}&#10;%5e643d88-2b3e-4acc-87cd-a1979599530f" id="2872" name="Google Shape;2872;p100"/>
          <p:cNvPicPr preferRelativeResize="0"/>
          <p:nvPr/>
        </p:nvPicPr>
        <p:blipFill>
          <a:blip r:embed="rId4">
            <a:alphaModFix/>
          </a:blip>
          <a:stretch>
            <a:fillRect/>
          </a:stretch>
        </p:blipFill>
        <p:spPr>
          <a:xfrm>
            <a:off x="7313194" y="966081"/>
            <a:ext cx="778710" cy="632968"/>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2876" name="Shape 2876"/>
        <p:cNvGrpSpPr/>
        <p:nvPr/>
      </p:nvGrpSpPr>
      <p:grpSpPr>
        <a:xfrm>
          <a:off x="0" y="0"/>
          <a:ext cx="0" cy="0"/>
          <a:chOff x="0" y="0"/>
          <a:chExt cx="0" cy="0"/>
        </a:xfrm>
      </p:grpSpPr>
      <p:sp>
        <p:nvSpPr>
          <p:cNvPr id="2877" name="Google Shape;2877;p101"/>
          <p:cNvSpPr txBox="1"/>
          <p:nvPr>
            <p:ph type="ctrTitle"/>
          </p:nvPr>
        </p:nvSpPr>
        <p:spPr>
          <a:xfrm>
            <a:off x="2765950" y="1444250"/>
            <a:ext cx="3604800" cy="153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Centralities Based on Shortest Paths</a:t>
            </a:r>
            <a:endParaRPr/>
          </a:p>
        </p:txBody>
      </p:sp>
      <p:sp>
        <p:nvSpPr>
          <p:cNvPr id="2878" name="Google Shape;2878;p101"/>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2" name="Shape 2882"/>
        <p:cNvGrpSpPr/>
        <p:nvPr/>
      </p:nvGrpSpPr>
      <p:grpSpPr>
        <a:xfrm>
          <a:off x="0" y="0"/>
          <a:ext cx="0" cy="0"/>
          <a:chOff x="0" y="0"/>
          <a:chExt cx="0" cy="0"/>
        </a:xfrm>
      </p:grpSpPr>
      <p:sp>
        <p:nvSpPr>
          <p:cNvPr id="2883" name="Google Shape;2883;p10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2884" name="Google Shape;2884;p102"/>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2885" name="Google Shape;2885;p102"/>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2886" name="Google Shape;2886;p102"/>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2887" name="Google Shape;2887;p102"/>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2888" name="Google Shape;2888;p102"/>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2889" name="Google Shape;2889;p102"/>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2890" name="Google Shape;2890;p102"/>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2891" name="Google Shape;2891;p102"/>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2892" name="Google Shape;2892;p102"/>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2893" name="Google Shape;2893;p102"/>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2894" name="Google Shape;2894;p102"/>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2895" name="Google Shape;2895;p102"/>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2896" name="Google Shape;2896;p102"/>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2897" name="Google Shape;2897;p102"/>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2898" name="Google Shape;2898;p102"/>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2899" name="Google Shape;2899;p102"/>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2900" name="Google Shape;2900;p102"/>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2901" name="Google Shape;2901;p102"/>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2902" name="Google Shape;2902;p102"/>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2903" name="Google Shape;2903;p102"/>
          <p:cNvCxnSpPr>
            <a:stCxn id="2902" idx="2"/>
            <a:endCxn id="2901"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2904" name="Google Shape;2904;p102"/>
          <p:cNvCxnSpPr>
            <a:stCxn id="2900" idx="0"/>
            <a:endCxn id="2901"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2905" name="Google Shape;2905;p102"/>
          <p:cNvCxnSpPr>
            <a:stCxn id="2899" idx="2"/>
            <a:endCxn id="2900"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2906" name="Google Shape;2906;p102"/>
          <p:cNvCxnSpPr>
            <a:stCxn id="2899" idx="2"/>
            <a:endCxn id="2895"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2907" name="Google Shape;2907;p102"/>
          <p:cNvCxnSpPr>
            <a:stCxn id="2899" idx="2"/>
            <a:endCxn id="2898"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2908" name="Google Shape;2908;p102"/>
          <p:cNvCxnSpPr>
            <a:stCxn id="2898" idx="2"/>
            <a:endCxn id="2895"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2909" name="Google Shape;2909;p102"/>
          <p:cNvCxnSpPr>
            <a:stCxn id="2898" idx="1"/>
            <a:endCxn id="2894"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2910" name="Google Shape;2910;p102"/>
          <p:cNvCxnSpPr>
            <a:stCxn id="2897" idx="0"/>
            <a:endCxn id="2895"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2911" name="Google Shape;2911;p102"/>
          <p:cNvCxnSpPr>
            <a:stCxn id="2896" idx="7"/>
            <a:endCxn id="2895"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2912" name="Google Shape;2912;p102"/>
          <p:cNvCxnSpPr>
            <a:stCxn id="2897" idx="1"/>
            <a:endCxn id="2896"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2913" name="Google Shape;2913;p102"/>
          <p:cNvCxnSpPr>
            <a:stCxn id="2895" idx="2"/>
            <a:endCxn id="2893"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2914" name="Google Shape;2914;p102"/>
          <p:cNvCxnSpPr>
            <a:stCxn id="2896" idx="0"/>
            <a:endCxn id="2893"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2915" name="Google Shape;2915;p102"/>
          <p:cNvCxnSpPr>
            <a:stCxn id="2895" idx="0"/>
            <a:endCxn id="2894"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2916" name="Google Shape;2916;p102"/>
          <p:cNvCxnSpPr>
            <a:stCxn id="2893" idx="7"/>
            <a:endCxn id="2894"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2917" name="Google Shape;2917;p102"/>
          <p:cNvCxnSpPr>
            <a:stCxn id="2893" idx="2"/>
            <a:endCxn id="2891"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2918" name="Google Shape;2918;p102"/>
          <p:cNvCxnSpPr>
            <a:stCxn id="2892" idx="0"/>
            <a:endCxn id="2891"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2919" name="Google Shape;2919;p102"/>
          <p:cNvCxnSpPr>
            <a:stCxn id="2891" idx="3"/>
            <a:endCxn id="2890"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2920" name="Google Shape;2920;p102"/>
          <p:cNvCxnSpPr>
            <a:stCxn id="2889" idx="5"/>
            <a:endCxn id="2890"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2921" name="Google Shape;2921;p102"/>
          <p:cNvCxnSpPr>
            <a:stCxn id="2886" idx="4"/>
            <a:endCxn id="2889"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2922" name="Google Shape;2922;p102"/>
          <p:cNvCxnSpPr>
            <a:stCxn id="2891" idx="1"/>
            <a:endCxn id="2886"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2923" name="Google Shape;2923;p102"/>
          <p:cNvCxnSpPr>
            <a:stCxn id="2889" idx="2"/>
            <a:endCxn id="2888"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2924" name="Google Shape;2924;p102"/>
          <p:cNvCxnSpPr>
            <a:stCxn id="2889" idx="0"/>
            <a:endCxn id="2887"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2925" name="Google Shape;2925;p102"/>
          <p:cNvCxnSpPr>
            <a:stCxn id="2887" idx="3"/>
            <a:endCxn id="2888"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2926" name="Google Shape;2926;p102"/>
          <p:cNvCxnSpPr>
            <a:stCxn id="2884" idx="4"/>
            <a:endCxn id="2888"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2927" name="Google Shape;2927;p102"/>
          <p:cNvCxnSpPr>
            <a:stCxn id="2885" idx="2"/>
            <a:endCxn id="2884"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2928" name="Google Shape;2928;p102"/>
          <p:cNvCxnSpPr>
            <a:stCxn id="2885" idx="3"/>
            <a:endCxn id="2887"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2929" name="Google Shape;2929;p102"/>
          <p:cNvCxnSpPr>
            <a:stCxn id="2886" idx="2"/>
            <a:endCxn id="2884"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2930" name="Google Shape;2930;p102"/>
          <p:cNvCxnSpPr>
            <a:stCxn id="2886" idx="1"/>
            <a:endCxn id="2885"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2931" name="Google Shape;2931;p102"/>
          <p:cNvCxnSpPr>
            <a:stCxn id="2886" idx="2"/>
            <a:endCxn id="2887"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2932" name="Google Shape;2932;p102"/>
          <p:cNvCxnSpPr>
            <a:stCxn id="2887" idx="1"/>
            <a:endCxn id="2884"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2933" name="Google Shape;2933;p102"/>
          <p:cNvCxnSpPr>
            <a:stCxn id="2895" idx="6"/>
            <a:endCxn id="2900"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2934" name="Google Shape;2934;p102"/>
          <p:cNvSpPr txBox="1"/>
          <p:nvPr/>
        </p:nvSpPr>
        <p:spPr>
          <a:xfrm>
            <a:off x="2891325" y="1178425"/>
            <a:ext cx="42147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A node that is in the </a:t>
            </a:r>
            <a:r>
              <a:rPr b="1" lang="en">
                <a:latin typeface="Open Sans"/>
                <a:ea typeface="Open Sans"/>
                <a:cs typeface="Open Sans"/>
                <a:sym typeface="Open Sans"/>
              </a:rPr>
              <a:t>middle</a:t>
            </a:r>
            <a:r>
              <a:rPr lang="en">
                <a:latin typeface="Open Sans"/>
                <a:ea typeface="Open Sans"/>
                <a:cs typeface="Open Sans"/>
                <a:sym typeface="Open Sans"/>
              </a:rPr>
              <a:t> of the largest number of </a:t>
            </a:r>
            <a:r>
              <a:rPr b="1" lang="en">
                <a:latin typeface="Open Sans"/>
                <a:ea typeface="Open Sans"/>
                <a:cs typeface="Open Sans"/>
                <a:sym typeface="Open Sans"/>
              </a:rPr>
              <a:t>shortest paths</a:t>
            </a:r>
            <a:r>
              <a:rPr lang="en">
                <a:latin typeface="Open Sans"/>
                <a:ea typeface="Open Sans"/>
                <a:cs typeface="Open Sans"/>
                <a:sym typeface="Open Sans"/>
              </a:rPr>
              <a:t> indirectly connecting the </a:t>
            </a:r>
            <a:r>
              <a:rPr b="1" lang="en">
                <a:latin typeface="Open Sans"/>
                <a:ea typeface="Open Sans"/>
                <a:cs typeface="Open Sans"/>
                <a:sym typeface="Open Sans"/>
              </a:rPr>
              <a:t>other pairs of nodes</a:t>
            </a:r>
            <a:r>
              <a:rPr lang="en">
                <a:latin typeface="Open Sans"/>
                <a:ea typeface="Open Sans"/>
                <a:cs typeface="Open Sans"/>
                <a:sym typeface="Open Sans"/>
              </a:rPr>
              <a:t> in the graph has the largest </a:t>
            </a:r>
            <a:r>
              <a:rPr b="1" lang="en">
                <a:latin typeface="Open Sans"/>
                <a:ea typeface="Open Sans"/>
                <a:cs typeface="Open Sans"/>
                <a:sym typeface="Open Sans"/>
              </a:rPr>
              <a:t>betweenness centrality</a:t>
            </a:r>
            <a:r>
              <a:rPr lang="en">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8" name="Shape 2938"/>
        <p:cNvGrpSpPr/>
        <p:nvPr/>
      </p:nvGrpSpPr>
      <p:grpSpPr>
        <a:xfrm>
          <a:off x="0" y="0"/>
          <a:ext cx="0" cy="0"/>
          <a:chOff x="0" y="0"/>
          <a:chExt cx="0" cy="0"/>
        </a:xfrm>
      </p:grpSpPr>
      <p:sp>
        <p:nvSpPr>
          <p:cNvPr id="2939" name="Google Shape;2939;p10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2940" name="Google Shape;2940;p103"/>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2941" name="Google Shape;2941;p103"/>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2942" name="Google Shape;2942;p103"/>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2943" name="Google Shape;2943;p103"/>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2944" name="Google Shape;2944;p103"/>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2945" name="Google Shape;2945;p103"/>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2946" name="Google Shape;2946;p103"/>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2947" name="Google Shape;2947;p103"/>
          <p:cNvSpPr/>
          <p:nvPr/>
        </p:nvSpPr>
        <p:spPr>
          <a:xfrm>
            <a:off x="3596663"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2948" name="Google Shape;2948;p103"/>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2949" name="Google Shape;2949;p103"/>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2950" name="Google Shape;2950;p103"/>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2951" name="Google Shape;2951;p103"/>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2952" name="Google Shape;2952;p103"/>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2953" name="Google Shape;2953;p103"/>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2954" name="Google Shape;2954;p103"/>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2955" name="Google Shape;2955;p103"/>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2956" name="Google Shape;2956;p103"/>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2957" name="Google Shape;2957;p103"/>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2958" name="Google Shape;2958;p103"/>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2959" name="Google Shape;2959;p103"/>
          <p:cNvCxnSpPr>
            <a:stCxn id="2958" idx="2"/>
            <a:endCxn id="2957"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2960" name="Google Shape;2960;p103"/>
          <p:cNvCxnSpPr>
            <a:stCxn id="2956" idx="0"/>
            <a:endCxn id="2957"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2961" name="Google Shape;2961;p103"/>
          <p:cNvCxnSpPr>
            <a:stCxn id="2955" idx="2"/>
            <a:endCxn id="2956"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2962" name="Google Shape;2962;p103"/>
          <p:cNvCxnSpPr>
            <a:stCxn id="2955" idx="2"/>
            <a:endCxn id="2951"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2963" name="Google Shape;2963;p103"/>
          <p:cNvCxnSpPr>
            <a:stCxn id="2955" idx="2"/>
            <a:endCxn id="2954"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2964" name="Google Shape;2964;p103"/>
          <p:cNvCxnSpPr>
            <a:stCxn id="2954" idx="2"/>
            <a:endCxn id="2951"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2965" name="Google Shape;2965;p103"/>
          <p:cNvCxnSpPr>
            <a:stCxn id="2954" idx="1"/>
            <a:endCxn id="2950"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2966" name="Google Shape;2966;p103"/>
          <p:cNvCxnSpPr>
            <a:stCxn id="2953" idx="0"/>
            <a:endCxn id="2951"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2967" name="Google Shape;2967;p103"/>
          <p:cNvCxnSpPr>
            <a:stCxn id="2952" idx="7"/>
            <a:endCxn id="2951"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2968" name="Google Shape;2968;p103"/>
          <p:cNvCxnSpPr>
            <a:stCxn id="2953" idx="1"/>
            <a:endCxn id="2952"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2969" name="Google Shape;2969;p103"/>
          <p:cNvCxnSpPr>
            <a:stCxn id="2951" idx="2"/>
            <a:endCxn id="2949"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2970" name="Google Shape;2970;p103"/>
          <p:cNvCxnSpPr>
            <a:stCxn id="2952" idx="0"/>
            <a:endCxn id="2949"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2971" name="Google Shape;2971;p103"/>
          <p:cNvCxnSpPr>
            <a:stCxn id="2951" idx="0"/>
            <a:endCxn id="2950"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2972" name="Google Shape;2972;p103"/>
          <p:cNvCxnSpPr>
            <a:stCxn id="2949" idx="7"/>
            <a:endCxn id="2950"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2973" name="Google Shape;2973;p103"/>
          <p:cNvCxnSpPr>
            <a:stCxn id="2949" idx="2"/>
            <a:endCxn id="2947"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2974" name="Google Shape;2974;p103"/>
          <p:cNvCxnSpPr>
            <a:stCxn id="2948" idx="0"/>
            <a:endCxn id="2947"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2975" name="Google Shape;2975;p103"/>
          <p:cNvCxnSpPr>
            <a:stCxn id="2947" idx="3"/>
            <a:endCxn id="2946"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2976" name="Google Shape;2976;p103"/>
          <p:cNvCxnSpPr>
            <a:stCxn id="2945" idx="5"/>
            <a:endCxn id="2946"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2977" name="Google Shape;2977;p103"/>
          <p:cNvCxnSpPr>
            <a:stCxn id="2942" idx="4"/>
            <a:endCxn id="2945"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2978" name="Google Shape;2978;p103"/>
          <p:cNvCxnSpPr>
            <a:stCxn id="2947" idx="1"/>
            <a:endCxn id="2942"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2979" name="Google Shape;2979;p103"/>
          <p:cNvCxnSpPr>
            <a:stCxn id="2945" idx="2"/>
            <a:endCxn id="2944"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2980" name="Google Shape;2980;p103"/>
          <p:cNvCxnSpPr>
            <a:stCxn id="2945" idx="0"/>
            <a:endCxn id="2943"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2981" name="Google Shape;2981;p103"/>
          <p:cNvCxnSpPr>
            <a:stCxn id="2943" idx="3"/>
            <a:endCxn id="2944"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2982" name="Google Shape;2982;p103"/>
          <p:cNvCxnSpPr>
            <a:stCxn id="2940" idx="4"/>
            <a:endCxn id="2944"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2983" name="Google Shape;2983;p103"/>
          <p:cNvCxnSpPr>
            <a:stCxn id="2941" idx="2"/>
            <a:endCxn id="2940"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2984" name="Google Shape;2984;p103"/>
          <p:cNvCxnSpPr>
            <a:stCxn id="2941" idx="3"/>
            <a:endCxn id="2943"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2985" name="Google Shape;2985;p103"/>
          <p:cNvCxnSpPr>
            <a:stCxn id="2942" idx="2"/>
            <a:endCxn id="2940"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2986" name="Google Shape;2986;p103"/>
          <p:cNvCxnSpPr>
            <a:stCxn id="2942" idx="1"/>
            <a:endCxn id="2941"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2987" name="Google Shape;2987;p103"/>
          <p:cNvCxnSpPr>
            <a:stCxn id="2942" idx="2"/>
            <a:endCxn id="2943"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2988" name="Google Shape;2988;p103"/>
          <p:cNvCxnSpPr>
            <a:stCxn id="2943" idx="1"/>
            <a:endCxn id="2940"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2989" name="Google Shape;2989;p103"/>
          <p:cNvCxnSpPr>
            <a:stCxn id="2951" idx="6"/>
            <a:endCxn id="2956"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2990" name="Google Shape;2990;p103"/>
          <p:cNvSpPr/>
          <p:nvPr/>
        </p:nvSpPr>
        <p:spPr>
          <a:xfrm>
            <a:off x="2807325" y="1196125"/>
            <a:ext cx="3402300" cy="8313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In this </a:t>
            </a:r>
            <a:r>
              <a:rPr b="1" lang="en">
                <a:solidFill>
                  <a:srgbClr val="FF0000"/>
                </a:solidFill>
              </a:rPr>
              <a:t>graph,</a:t>
            </a:r>
            <a:r>
              <a:rPr b="1" lang="en">
                <a:solidFill>
                  <a:srgbClr val="FF0000"/>
                </a:solidFill>
              </a:rPr>
              <a:t> this node has the largest betweenness centrality!</a:t>
            </a:r>
            <a:endParaRPr b="1">
              <a:solidFill>
                <a:srgbClr val="FF0000"/>
              </a:solidFill>
            </a:endParaRPr>
          </a:p>
        </p:txBody>
      </p:sp>
      <p:cxnSp>
        <p:nvCxnSpPr>
          <p:cNvPr id="2991" name="Google Shape;2991;p103"/>
          <p:cNvCxnSpPr>
            <a:stCxn id="2990" idx="4"/>
            <a:endCxn id="2947" idx="0"/>
          </p:cNvCxnSpPr>
          <p:nvPr/>
        </p:nvCxnSpPr>
        <p:spPr>
          <a:xfrm flipH="1">
            <a:off x="3867075" y="2027425"/>
            <a:ext cx="641400" cy="131850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5" name="Shape 2995"/>
        <p:cNvGrpSpPr/>
        <p:nvPr/>
      </p:nvGrpSpPr>
      <p:grpSpPr>
        <a:xfrm>
          <a:off x="0" y="0"/>
          <a:ext cx="0" cy="0"/>
          <a:chOff x="0" y="0"/>
          <a:chExt cx="0" cy="0"/>
        </a:xfrm>
      </p:grpSpPr>
      <p:sp>
        <p:nvSpPr>
          <p:cNvPr id="2996" name="Google Shape;2996;p10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2997" name="Google Shape;2997;p104"/>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2998" name="Google Shape;2998;p104"/>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2999" name="Google Shape;2999;p104"/>
          <p:cNvSpPr/>
          <p:nvPr/>
        </p:nvSpPr>
        <p:spPr>
          <a:xfrm>
            <a:off x="3013325" y="223776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000" name="Google Shape;3000;p104"/>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001" name="Google Shape;3001;p104"/>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002" name="Google Shape;3002;p104"/>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003" name="Google Shape;3003;p104"/>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004" name="Google Shape;3004;p104"/>
          <p:cNvSpPr/>
          <p:nvPr/>
        </p:nvSpPr>
        <p:spPr>
          <a:xfrm>
            <a:off x="3596663"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005" name="Google Shape;3005;p104"/>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006" name="Google Shape;3006;p104"/>
          <p:cNvSpPr/>
          <p:nvPr/>
        </p:nvSpPr>
        <p:spPr>
          <a:xfrm>
            <a:off x="4922888"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007" name="Google Shape;3007;p104"/>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008" name="Google Shape;3008;p104"/>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009" name="Google Shape;3009;p104"/>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010" name="Google Shape;3010;p104"/>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011" name="Google Shape;3011;p104"/>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012" name="Google Shape;3012;p104"/>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013" name="Google Shape;3013;p104"/>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014" name="Google Shape;3014;p104"/>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015" name="Google Shape;3015;p104"/>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016" name="Google Shape;3016;p104"/>
          <p:cNvCxnSpPr>
            <a:stCxn id="3015" idx="2"/>
            <a:endCxn id="3014"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3017" name="Google Shape;3017;p104"/>
          <p:cNvCxnSpPr>
            <a:stCxn id="3013" idx="0"/>
            <a:endCxn id="3014"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3018" name="Google Shape;3018;p104"/>
          <p:cNvCxnSpPr>
            <a:stCxn id="3012" idx="2"/>
            <a:endCxn id="3013"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3019" name="Google Shape;3019;p104"/>
          <p:cNvCxnSpPr>
            <a:stCxn id="3012" idx="2"/>
            <a:endCxn id="3008"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3020" name="Google Shape;3020;p104"/>
          <p:cNvCxnSpPr>
            <a:stCxn id="3012" idx="2"/>
            <a:endCxn id="3011"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3021" name="Google Shape;3021;p104"/>
          <p:cNvCxnSpPr>
            <a:stCxn id="3011" idx="2"/>
            <a:endCxn id="3008"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3022" name="Google Shape;3022;p104"/>
          <p:cNvCxnSpPr>
            <a:stCxn id="3011" idx="1"/>
            <a:endCxn id="3007"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3023" name="Google Shape;3023;p104"/>
          <p:cNvCxnSpPr>
            <a:stCxn id="3010" idx="0"/>
            <a:endCxn id="3008"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3024" name="Google Shape;3024;p104"/>
          <p:cNvCxnSpPr>
            <a:stCxn id="3009" idx="7"/>
            <a:endCxn id="3008"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3025" name="Google Shape;3025;p104"/>
          <p:cNvCxnSpPr>
            <a:stCxn id="3010" idx="1"/>
            <a:endCxn id="3009"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3026" name="Google Shape;3026;p104"/>
          <p:cNvCxnSpPr>
            <a:stCxn id="3008" idx="2"/>
            <a:endCxn id="3006"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3027" name="Google Shape;3027;p104"/>
          <p:cNvCxnSpPr>
            <a:stCxn id="3009" idx="0"/>
            <a:endCxn id="3006"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3028" name="Google Shape;3028;p104"/>
          <p:cNvCxnSpPr>
            <a:stCxn id="3008" idx="0"/>
            <a:endCxn id="3007"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3029" name="Google Shape;3029;p104"/>
          <p:cNvCxnSpPr>
            <a:stCxn id="3006" idx="7"/>
            <a:endCxn id="3007"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3030" name="Google Shape;3030;p104"/>
          <p:cNvCxnSpPr>
            <a:stCxn id="3006" idx="2"/>
            <a:endCxn id="3004" idx="6"/>
          </p:cNvCxnSpPr>
          <p:nvPr/>
        </p:nvCxnSpPr>
        <p:spPr>
          <a:xfrm rot="10800000">
            <a:off x="4137188" y="3615625"/>
            <a:ext cx="785700" cy="0"/>
          </a:xfrm>
          <a:prstGeom prst="straightConnector1">
            <a:avLst/>
          </a:prstGeom>
          <a:noFill/>
          <a:ln cap="flat" cmpd="sng" w="38100">
            <a:solidFill>
              <a:srgbClr val="FF0000"/>
            </a:solidFill>
            <a:prstDash val="solid"/>
            <a:round/>
            <a:headEnd len="med" w="med" type="none"/>
            <a:tailEnd len="med" w="med" type="none"/>
          </a:ln>
        </p:spPr>
      </p:cxnSp>
      <p:cxnSp>
        <p:nvCxnSpPr>
          <p:cNvPr id="3031" name="Google Shape;3031;p104"/>
          <p:cNvCxnSpPr>
            <a:stCxn id="3005" idx="0"/>
            <a:endCxn id="3004"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3032" name="Google Shape;3032;p104"/>
          <p:cNvCxnSpPr>
            <a:stCxn id="3004" idx="3"/>
            <a:endCxn id="3003"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3033" name="Google Shape;3033;p104"/>
          <p:cNvCxnSpPr>
            <a:stCxn id="3002" idx="5"/>
            <a:endCxn id="3003"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3034" name="Google Shape;3034;p104"/>
          <p:cNvCxnSpPr>
            <a:stCxn id="2999" idx="4"/>
            <a:endCxn id="3002"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3035" name="Google Shape;3035;p104"/>
          <p:cNvCxnSpPr>
            <a:stCxn id="3004" idx="1"/>
            <a:endCxn id="2999" idx="4"/>
          </p:cNvCxnSpPr>
          <p:nvPr/>
        </p:nvCxnSpPr>
        <p:spPr>
          <a:xfrm rot="10800000">
            <a:off x="3283732" y="2777218"/>
            <a:ext cx="392100" cy="647700"/>
          </a:xfrm>
          <a:prstGeom prst="straightConnector1">
            <a:avLst/>
          </a:prstGeom>
          <a:noFill/>
          <a:ln cap="flat" cmpd="sng" w="38100">
            <a:solidFill>
              <a:srgbClr val="FF0000"/>
            </a:solidFill>
            <a:prstDash val="solid"/>
            <a:round/>
            <a:headEnd len="med" w="med" type="none"/>
            <a:tailEnd len="med" w="med" type="none"/>
          </a:ln>
        </p:spPr>
      </p:cxnSp>
      <p:cxnSp>
        <p:nvCxnSpPr>
          <p:cNvPr id="3036" name="Google Shape;3036;p104"/>
          <p:cNvCxnSpPr>
            <a:stCxn id="3002" idx="2"/>
            <a:endCxn id="3001"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3037" name="Google Shape;3037;p104"/>
          <p:cNvCxnSpPr>
            <a:stCxn id="3002" idx="0"/>
            <a:endCxn id="3000"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3038" name="Google Shape;3038;p104"/>
          <p:cNvCxnSpPr>
            <a:stCxn id="3000" idx="3"/>
            <a:endCxn id="3001"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3039" name="Google Shape;3039;p104"/>
          <p:cNvCxnSpPr>
            <a:stCxn id="2997" idx="4"/>
            <a:endCxn id="3001"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3040" name="Google Shape;3040;p104"/>
          <p:cNvCxnSpPr>
            <a:stCxn id="2998" idx="2"/>
            <a:endCxn id="2997"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3041" name="Google Shape;3041;p104"/>
          <p:cNvCxnSpPr>
            <a:stCxn id="2998" idx="3"/>
            <a:endCxn id="3000"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3042" name="Google Shape;3042;p104"/>
          <p:cNvCxnSpPr>
            <a:stCxn id="2999" idx="2"/>
            <a:endCxn id="2997"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3043" name="Google Shape;3043;p104"/>
          <p:cNvCxnSpPr>
            <a:stCxn id="2999" idx="1"/>
            <a:endCxn id="2998"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3044" name="Google Shape;3044;p104"/>
          <p:cNvCxnSpPr>
            <a:stCxn id="2999" idx="2"/>
            <a:endCxn id="3000"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3045" name="Google Shape;3045;p104"/>
          <p:cNvCxnSpPr>
            <a:stCxn id="3000" idx="1"/>
            <a:endCxn id="2997"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3046" name="Google Shape;3046;p104"/>
          <p:cNvCxnSpPr>
            <a:stCxn id="3008" idx="6"/>
            <a:endCxn id="3013"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3047" name="Google Shape;3047;p104"/>
          <p:cNvSpPr txBox="1"/>
          <p:nvPr/>
        </p:nvSpPr>
        <p:spPr>
          <a:xfrm>
            <a:off x="2891325" y="1178425"/>
            <a:ext cx="3702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This is the shortest path between </a:t>
            </a:r>
            <a:r>
              <a:rPr b="1" lang="en">
                <a:latin typeface="Open Sans"/>
                <a:ea typeface="Open Sans"/>
                <a:cs typeface="Open Sans"/>
                <a:sym typeface="Open Sans"/>
              </a:rPr>
              <a:t>g</a:t>
            </a:r>
            <a:r>
              <a:rPr lang="en">
                <a:latin typeface="Open Sans"/>
                <a:ea typeface="Open Sans"/>
                <a:cs typeface="Open Sans"/>
                <a:sym typeface="Open Sans"/>
              </a:rPr>
              <a:t> and </a:t>
            </a:r>
            <a:r>
              <a:rPr b="1" lang="en">
                <a:latin typeface="Open Sans"/>
                <a:ea typeface="Open Sans"/>
                <a:cs typeface="Open Sans"/>
                <a:sym typeface="Open Sans"/>
              </a:rPr>
              <a:t>i</a:t>
            </a:r>
            <a:r>
              <a:rPr lang="en">
                <a:latin typeface="Open Sans"/>
                <a:ea typeface="Open Sans"/>
                <a:cs typeface="Open Sans"/>
                <a:sym typeface="Open Sans"/>
              </a:rPr>
              <a:t>: and </a:t>
            </a:r>
            <a:r>
              <a:rPr b="1" lang="en">
                <a:latin typeface="Open Sans"/>
                <a:ea typeface="Open Sans"/>
                <a:cs typeface="Open Sans"/>
                <a:sym typeface="Open Sans"/>
              </a:rPr>
              <a:t>h</a:t>
            </a:r>
            <a:r>
              <a:rPr lang="en">
                <a:latin typeface="Open Sans"/>
                <a:ea typeface="Open Sans"/>
                <a:cs typeface="Open Sans"/>
                <a:sym typeface="Open Sans"/>
              </a:rPr>
              <a:t> is in the middle of it!</a:t>
            </a:r>
            <a:endParaRPr>
              <a:latin typeface="Open Sans"/>
              <a:ea typeface="Open Sans"/>
              <a:cs typeface="Open Sans"/>
              <a:sym typeface="Open Sans"/>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1" name="Shape 3051"/>
        <p:cNvGrpSpPr/>
        <p:nvPr/>
      </p:nvGrpSpPr>
      <p:grpSpPr>
        <a:xfrm>
          <a:off x="0" y="0"/>
          <a:ext cx="0" cy="0"/>
          <a:chOff x="0" y="0"/>
          <a:chExt cx="0" cy="0"/>
        </a:xfrm>
      </p:grpSpPr>
      <p:sp>
        <p:nvSpPr>
          <p:cNvPr id="3052" name="Google Shape;3052;p10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3053" name="Google Shape;3053;p105"/>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054" name="Google Shape;3054;p105"/>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055" name="Google Shape;3055;p105"/>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056" name="Google Shape;3056;p105"/>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057" name="Google Shape;3057;p105"/>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058" name="Google Shape;3058;p105"/>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059" name="Google Shape;3059;p105"/>
          <p:cNvSpPr/>
          <p:nvPr/>
        </p:nvSpPr>
        <p:spPr>
          <a:xfrm>
            <a:off x="2429938" y="454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060" name="Google Shape;3060;p105"/>
          <p:cNvSpPr/>
          <p:nvPr/>
        </p:nvSpPr>
        <p:spPr>
          <a:xfrm>
            <a:off x="3596663"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061" name="Google Shape;3061;p105"/>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062" name="Google Shape;3062;p105"/>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063" name="Google Shape;3063;p105"/>
          <p:cNvSpPr/>
          <p:nvPr/>
        </p:nvSpPr>
        <p:spPr>
          <a:xfrm>
            <a:off x="5463488" y="23794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064" name="Google Shape;3064;p105"/>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065" name="Google Shape;3065;p105"/>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066" name="Google Shape;3066;p105"/>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067" name="Google Shape;3067;p105"/>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068" name="Google Shape;3068;p105"/>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069" name="Google Shape;3069;p105"/>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070" name="Google Shape;3070;p105"/>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071" name="Google Shape;3071;p105"/>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072" name="Google Shape;3072;p105"/>
          <p:cNvCxnSpPr>
            <a:stCxn id="3071" idx="2"/>
            <a:endCxn id="3070"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3073" name="Google Shape;3073;p105"/>
          <p:cNvCxnSpPr>
            <a:stCxn id="3069" idx="0"/>
            <a:endCxn id="3070"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3074" name="Google Shape;3074;p105"/>
          <p:cNvCxnSpPr>
            <a:stCxn id="3068" idx="2"/>
            <a:endCxn id="3069"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3075" name="Google Shape;3075;p105"/>
          <p:cNvCxnSpPr>
            <a:stCxn id="3068" idx="2"/>
            <a:endCxn id="3064"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3076" name="Google Shape;3076;p105"/>
          <p:cNvCxnSpPr>
            <a:stCxn id="3068" idx="2"/>
            <a:endCxn id="3067"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3077" name="Google Shape;3077;p105"/>
          <p:cNvCxnSpPr>
            <a:stCxn id="3067" idx="2"/>
            <a:endCxn id="3064"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3078" name="Google Shape;3078;p105"/>
          <p:cNvCxnSpPr>
            <a:stCxn id="3067" idx="1"/>
            <a:endCxn id="3063"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3079" name="Google Shape;3079;p105"/>
          <p:cNvCxnSpPr>
            <a:stCxn id="3066" idx="0"/>
            <a:endCxn id="3064"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3080" name="Google Shape;3080;p105"/>
          <p:cNvCxnSpPr>
            <a:stCxn id="3065" idx="7"/>
            <a:endCxn id="3064"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3081" name="Google Shape;3081;p105"/>
          <p:cNvCxnSpPr>
            <a:stCxn id="3066" idx="1"/>
            <a:endCxn id="3065"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3082" name="Google Shape;3082;p105"/>
          <p:cNvCxnSpPr>
            <a:stCxn id="3064" idx="2"/>
            <a:endCxn id="3062"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3083" name="Google Shape;3083;p105"/>
          <p:cNvCxnSpPr>
            <a:stCxn id="3065" idx="0"/>
            <a:endCxn id="3062"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3084" name="Google Shape;3084;p105"/>
          <p:cNvCxnSpPr>
            <a:stCxn id="3064" idx="0"/>
            <a:endCxn id="3063"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3085" name="Google Shape;3085;p105"/>
          <p:cNvCxnSpPr>
            <a:stCxn id="3062" idx="7"/>
            <a:endCxn id="3063" idx="4"/>
          </p:cNvCxnSpPr>
          <p:nvPr/>
        </p:nvCxnSpPr>
        <p:spPr>
          <a:xfrm flipH="1" rot="10800000">
            <a:off x="5384318" y="2918818"/>
            <a:ext cx="349500" cy="506100"/>
          </a:xfrm>
          <a:prstGeom prst="straightConnector1">
            <a:avLst/>
          </a:prstGeom>
          <a:noFill/>
          <a:ln cap="flat" cmpd="sng" w="38100">
            <a:solidFill>
              <a:srgbClr val="FF0000"/>
            </a:solidFill>
            <a:prstDash val="solid"/>
            <a:round/>
            <a:headEnd len="med" w="med" type="none"/>
            <a:tailEnd len="med" w="med" type="none"/>
          </a:ln>
        </p:spPr>
      </p:cxnSp>
      <p:cxnSp>
        <p:nvCxnSpPr>
          <p:cNvPr id="3086" name="Google Shape;3086;p105"/>
          <p:cNvCxnSpPr>
            <a:stCxn id="3062" idx="2"/>
            <a:endCxn id="3060" idx="6"/>
          </p:cNvCxnSpPr>
          <p:nvPr/>
        </p:nvCxnSpPr>
        <p:spPr>
          <a:xfrm rot="10800000">
            <a:off x="4137188" y="3615625"/>
            <a:ext cx="785700" cy="0"/>
          </a:xfrm>
          <a:prstGeom prst="straightConnector1">
            <a:avLst/>
          </a:prstGeom>
          <a:noFill/>
          <a:ln cap="flat" cmpd="sng" w="38100">
            <a:solidFill>
              <a:srgbClr val="FF0000"/>
            </a:solidFill>
            <a:prstDash val="solid"/>
            <a:round/>
            <a:headEnd len="med" w="med" type="none"/>
            <a:tailEnd len="med" w="med" type="none"/>
          </a:ln>
        </p:spPr>
      </p:cxnSp>
      <p:cxnSp>
        <p:nvCxnSpPr>
          <p:cNvPr id="3087" name="Google Shape;3087;p105"/>
          <p:cNvCxnSpPr>
            <a:stCxn id="3061" idx="0"/>
            <a:endCxn id="3060"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3088" name="Google Shape;3088;p105"/>
          <p:cNvCxnSpPr>
            <a:stCxn id="3060" idx="3"/>
            <a:endCxn id="3059" idx="7"/>
          </p:cNvCxnSpPr>
          <p:nvPr/>
        </p:nvCxnSpPr>
        <p:spPr>
          <a:xfrm flipH="1">
            <a:off x="2891332" y="3806332"/>
            <a:ext cx="784500" cy="817500"/>
          </a:xfrm>
          <a:prstGeom prst="straightConnector1">
            <a:avLst/>
          </a:prstGeom>
          <a:noFill/>
          <a:ln cap="flat" cmpd="sng" w="38100">
            <a:solidFill>
              <a:srgbClr val="FF0000"/>
            </a:solidFill>
            <a:prstDash val="solid"/>
            <a:round/>
            <a:headEnd len="med" w="med" type="none"/>
            <a:tailEnd len="med" w="med" type="none"/>
          </a:ln>
        </p:spPr>
      </p:cxnSp>
      <p:cxnSp>
        <p:nvCxnSpPr>
          <p:cNvPr id="3089" name="Google Shape;3089;p105"/>
          <p:cNvCxnSpPr>
            <a:stCxn id="3058" idx="5"/>
            <a:endCxn id="3059"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3090" name="Google Shape;3090;p105"/>
          <p:cNvCxnSpPr>
            <a:stCxn id="3055" idx="4"/>
            <a:endCxn id="3058"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3091" name="Google Shape;3091;p105"/>
          <p:cNvCxnSpPr>
            <a:stCxn id="3060" idx="1"/>
            <a:endCxn id="3055" idx="4"/>
          </p:cNvCxnSpPr>
          <p:nvPr/>
        </p:nvCxnSpPr>
        <p:spPr>
          <a:xfrm rot="10800000">
            <a:off x="3283732" y="2777218"/>
            <a:ext cx="392100" cy="647700"/>
          </a:xfrm>
          <a:prstGeom prst="straightConnector1">
            <a:avLst/>
          </a:prstGeom>
          <a:noFill/>
          <a:ln cap="flat" cmpd="sng" w="28575">
            <a:solidFill>
              <a:srgbClr val="B7B7B7"/>
            </a:solidFill>
            <a:prstDash val="solid"/>
            <a:round/>
            <a:headEnd len="med" w="med" type="none"/>
            <a:tailEnd len="med" w="med" type="none"/>
          </a:ln>
        </p:spPr>
      </p:cxnSp>
      <p:cxnSp>
        <p:nvCxnSpPr>
          <p:cNvPr id="3092" name="Google Shape;3092;p105"/>
          <p:cNvCxnSpPr>
            <a:stCxn id="3058" idx="2"/>
            <a:endCxn id="3057"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3093" name="Google Shape;3093;p105"/>
          <p:cNvCxnSpPr>
            <a:stCxn id="3058" idx="0"/>
            <a:endCxn id="3056"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3094" name="Google Shape;3094;p105"/>
          <p:cNvCxnSpPr>
            <a:stCxn id="3056" idx="3"/>
            <a:endCxn id="3057"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3095" name="Google Shape;3095;p105"/>
          <p:cNvCxnSpPr>
            <a:stCxn id="3053" idx="4"/>
            <a:endCxn id="3057"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3096" name="Google Shape;3096;p105"/>
          <p:cNvCxnSpPr>
            <a:stCxn id="3054" idx="2"/>
            <a:endCxn id="3053"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3097" name="Google Shape;3097;p105"/>
          <p:cNvCxnSpPr>
            <a:stCxn id="3054" idx="3"/>
            <a:endCxn id="3056"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3098" name="Google Shape;3098;p105"/>
          <p:cNvCxnSpPr>
            <a:stCxn id="3055" idx="2"/>
            <a:endCxn id="3053"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3099" name="Google Shape;3099;p105"/>
          <p:cNvCxnSpPr>
            <a:stCxn id="3055" idx="1"/>
            <a:endCxn id="3054"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3100" name="Google Shape;3100;p105"/>
          <p:cNvCxnSpPr>
            <a:stCxn id="3055" idx="2"/>
            <a:endCxn id="3056"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3101" name="Google Shape;3101;p105"/>
          <p:cNvCxnSpPr>
            <a:stCxn id="3056" idx="1"/>
            <a:endCxn id="3053"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3102" name="Google Shape;3102;p105"/>
          <p:cNvCxnSpPr>
            <a:stCxn id="3064" idx="6"/>
            <a:endCxn id="3069"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3103" name="Google Shape;3103;p105"/>
          <p:cNvSpPr txBox="1"/>
          <p:nvPr/>
        </p:nvSpPr>
        <p:spPr>
          <a:xfrm>
            <a:off x="2891325" y="1178425"/>
            <a:ext cx="3680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This is the shortest path between </a:t>
            </a:r>
            <a:r>
              <a:rPr b="1" lang="en">
                <a:latin typeface="Open Sans"/>
                <a:ea typeface="Open Sans"/>
                <a:cs typeface="Open Sans"/>
                <a:sym typeface="Open Sans"/>
              </a:rPr>
              <a:t>p</a:t>
            </a:r>
            <a:r>
              <a:rPr lang="en">
                <a:latin typeface="Open Sans"/>
                <a:ea typeface="Open Sans"/>
                <a:cs typeface="Open Sans"/>
                <a:sym typeface="Open Sans"/>
              </a:rPr>
              <a:t> and </a:t>
            </a:r>
            <a:r>
              <a:rPr b="1" lang="en">
                <a:latin typeface="Open Sans"/>
                <a:ea typeface="Open Sans"/>
                <a:cs typeface="Open Sans"/>
                <a:sym typeface="Open Sans"/>
              </a:rPr>
              <a:t>c</a:t>
            </a:r>
            <a:r>
              <a:rPr lang="en">
                <a:latin typeface="Open Sans"/>
                <a:ea typeface="Open Sans"/>
                <a:cs typeface="Open Sans"/>
                <a:sym typeface="Open Sans"/>
              </a:rPr>
              <a:t>: and </a:t>
            </a:r>
            <a:r>
              <a:rPr b="1" lang="en">
                <a:latin typeface="Open Sans"/>
                <a:ea typeface="Open Sans"/>
                <a:cs typeface="Open Sans"/>
                <a:sym typeface="Open Sans"/>
              </a:rPr>
              <a:t>h</a:t>
            </a:r>
            <a:r>
              <a:rPr lang="en">
                <a:latin typeface="Open Sans"/>
                <a:ea typeface="Open Sans"/>
                <a:cs typeface="Open Sans"/>
                <a:sym typeface="Open Sans"/>
              </a:rPr>
              <a:t> is in the middle of it!</a:t>
            </a:r>
            <a:endParaRPr>
              <a:latin typeface="Open Sans"/>
              <a:ea typeface="Open Sans"/>
              <a:cs typeface="Open Sans"/>
              <a:sym typeface="Open Sans"/>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7" name="Shape 3107"/>
        <p:cNvGrpSpPr/>
        <p:nvPr/>
      </p:nvGrpSpPr>
      <p:grpSpPr>
        <a:xfrm>
          <a:off x="0" y="0"/>
          <a:ext cx="0" cy="0"/>
          <a:chOff x="0" y="0"/>
          <a:chExt cx="0" cy="0"/>
        </a:xfrm>
      </p:grpSpPr>
      <p:sp>
        <p:nvSpPr>
          <p:cNvPr id="3108" name="Google Shape;3108;p10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3109" name="Google Shape;3109;p106"/>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110" name="Google Shape;3110;p106"/>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111" name="Google Shape;3111;p106"/>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112" name="Google Shape;3112;p106"/>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113" name="Google Shape;3113;p106"/>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114" name="Google Shape;3114;p106"/>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115" name="Google Shape;3115;p106"/>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116" name="Google Shape;3116;p106"/>
          <p:cNvSpPr/>
          <p:nvPr/>
        </p:nvSpPr>
        <p:spPr>
          <a:xfrm>
            <a:off x="3596663"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117" name="Google Shape;3117;p106"/>
          <p:cNvSpPr/>
          <p:nvPr/>
        </p:nvSpPr>
        <p:spPr>
          <a:xfrm>
            <a:off x="3867013" y="454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118" name="Google Shape;3118;p106"/>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119" name="Google Shape;3119;p106"/>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120" name="Google Shape;3120;p106"/>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121" name="Google Shape;3121;p106"/>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122" name="Google Shape;3122;p106"/>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123" name="Google Shape;3123;p106"/>
          <p:cNvSpPr/>
          <p:nvPr/>
        </p:nvSpPr>
        <p:spPr>
          <a:xfrm>
            <a:off x="7393938" y="3479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124" name="Google Shape;3124;p106"/>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125" name="Google Shape;3125;p106"/>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126" name="Google Shape;3126;p106"/>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127" name="Google Shape;3127;p106"/>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128" name="Google Shape;3128;p106"/>
          <p:cNvCxnSpPr>
            <a:stCxn id="3127" idx="2"/>
            <a:endCxn id="3126"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3129" name="Google Shape;3129;p106"/>
          <p:cNvCxnSpPr>
            <a:stCxn id="3125" idx="0"/>
            <a:endCxn id="3126"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3130" name="Google Shape;3130;p106"/>
          <p:cNvCxnSpPr>
            <a:stCxn id="3124" idx="2"/>
            <a:endCxn id="3125"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3131" name="Google Shape;3131;p106"/>
          <p:cNvCxnSpPr>
            <a:stCxn id="3124" idx="2"/>
            <a:endCxn id="3120"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3132" name="Google Shape;3132;p106"/>
          <p:cNvCxnSpPr>
            <a:stCxn id="3124" idx="2"/>
            <a:endCxn id="3123"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3133" name="Google Shape;3133;p106"/>
          <p:cNvCxnSpPr>
            <a:stCxn id="3123" idx="2"/>
            <a:endCxn id="3120" idx="6"/>
          </p:cNvCxnSpPr>
          <p:nvPr/>
        </p:nvCxnSpPr>
        <p:spPr>
          <a:xfrm rot="10800000">
            <a:off x="6630138" y="3615550"/>
            <a:ext cx="763800" cy="133500"/>
          </a:xfrm>
          <a:prstGeom prst="straightConnector1">
            <a:avLst/>
          </a:prstGeom>
          <a:noFill/>
          <a:ln cap="flat" cmpd="sng" w="38100">
            <a:solidFill>
              <a:srgbClr val="FF0000"/>
            </a:solidFill>
            <a:prstDash val="solid"/>
            <a:round/>
            <a:headEnd len="med" w="med" type="none"/>
            <a:tailEnd len="med" w="med" type="none"/>
          </a:ln>
        </p:spPr>
      </p:cxnSp>
      <p:cxnSp>
        <p:nvCxnSpPr>
          <p:cNvPr id="3134" name="Google Shape;3134;p106"/>
          <p:cNvCxnSpPr>
            <a:stCxn id="3123" idx="1"/>
            <a:endCxn id="3119"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3135" name="Google Shape;3135;p106"/>
          <p:cNvCxnSpPr>
            <a:stCxn id="3122" idx="0"/>
            <a:endCxn id="3120"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3136" name="Google Shape;3136;p106"/>
          <p:cNvCxnSpPr>
            <a:stCxn id="3121" idx="7"/>
            <a:endCxn id="3120"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3137" name="Google Shape;3137;p106"/>
          <p:cNvCxnSpPr>
            <a:stCxn id="3122" idx="1"/>
            <a:endCxn id="3121"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3138" name="Google Shape;3138;p106"/>
          <p:cNvCxnSpPr>
            <a:stCxn id="3120" idx="2"/>
            <a:endCxn id="3118" idx="6"/>
          </p:cNvCxnSpPr>
          <p:nvPr/>
        </p:nvCxnSpPr>
        <p:spPr>
          <a:xfrm rot="10800000">
            <a:off x="5463388" y="3615625"/>
            <a:ext cx="626100" cy="0"/>
          </a:xfrm>
          <a:prstGeom prst="straightConnector1">
            <a:avLst/>
          </a:prstGeom>
          <a:noFill/>
          <a:ln cap="flat" cmpd="sng" w="38100">
            <a:solidFill>
              <a:srgbClr val="FF0000"/>
            </a:solidFill>
            <a:prstDash val="solid"/>
            <a:round/>
            <a:headEnd len="med" w="med" type="none"/>
            <a:tailEnd len="med" w="med" type="none"/>
          </a:ln>
        </p:spPr>
      </p:cxnSp>
      <p:cxnSp>
        <p:nvCxnSpPr>
          <p:cNvPr id="3139" name="Google Shape;3139;p106"/>
          <p:cNvCxnSpPr>
            <a:stCxn id="3121" idx="0"/>
            <a:endCxn id="3118"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3140" name="Google Shape;3140;p106"/>
          <p:cNvCxnSpPr>
            <a:stCxn id="3120" idx="0"/>
            <a:endCxn id="3119"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3141" name="Google Shape;3141;p106"/>
          <p:cNvCxnSpPr>
            <a:stCxn id="3118" idx="7"/>
            <a:endCxn id="3119" idx="4"/>
          </p:cNvCxnSpPr>
          <p:nvPr/>
        </p:nvCxnSpPr>
        <p:spPr>
          <a:xfrm flipH="1" rot="10800000">
            <a:off x="5384318" y="2918818"/>
            <a:ext cx="349500" cy="506100"/>
          </a:xfrm>
          <a:prstGeom prst="straightConnector1">
            <a:avLst/>
          </a:prstGeom>
          <a:noFill/>
          <a:ln cap="flat" cmpd="sng" w="28575">
            <a:solidFill>
              <a:srgbClr val="B7B7B7"/>
            </a:solidFill>
            <a:prstDash val="solid"/>
            <a:round/>
            <a:headEnd len="med" w="med" type="none"/>
            <a:tailEnd len="med" w="med" type="none"/>
          </a:ln>
        </p:spPr>
      </p:cxnSp>
      <p:cxnSp>
        <p:nvCxnSpPr>
          <p:cNvPr id="3142" name="Google Shape;3142;p106"/>
          <p:cNvCxnSpPr>
            <a:stCxn id="3118" idx="2"/>
            <a:endCxn id="3116" idx="6"/>
          </p:cNvCxnSpPr>
          <p:nvPr/>
        </p:nvCxnSpPr>
        <p:spPr>
          <a:xfrm rot="10800000">
            <a:off x="4137188" y="3615625"/>
            <a:ext cx="785700" cy="0"/>
          </a:xfrm>
          <a:prstGeom prst="straightConnector1">
            <a:avLst/>
          </a:prstGeom>
          <a:noFill/>
          <a:ln cap="flat" cmpd="sng" w="38100">
            <a:solidFill>
              <a:srgbClr val="FF0000"/>
            </a:solidFill>
            <a:prstDash val="solid"/>
            <a:round/>
            <a:headEnd len="med" w="med" type="none"/>
            <a:tailEnd len="med" w="med" type="none"/>
          </a:ln>
        </p:spPr>
      </p:cxnSp>
      <p:cxnSp>
        <p:nvCxnSpPr>
          <p:cNvPr id="3143" name="Google Shape;3143;p106"/>
          <p:cNvCxnSpPr>
            <a:stCxn id="3117" idx="0"/>
            <a:endCxn id="3116" idx="4"/>
          </p:cNvCxnSpPr>
          <p:nvPr/>
        </p:nvCxnSpPr>
        <p:spPr>
          <a:xfrm rot="10800000">
            <a:off x="3867013" y="3885475"/>
            <a:ext cx="270300" cy="659400"/>
          </a:xfrm>
          <a:prstGeom prst="straightConnector1">
            <a:avLst/>
          </a:prstGeom>
          <a:noFill/>
          <a:ln cap="flat" cmpd="sng" w="38100">
            <a:solidFill>
              <a:srgbClr val="FF0000"/>
            </a:solidFill>
            <a:prstDash val="solid"/>
            <a:round/>
            <a:headEnd len="med" w="med" type="none"/>
            <a:tailEnd len="med" w="med" type="none"/>
          </a:ln>
        </p:spPr>
      </p:cxnSp>
      <p:cxnSp>
        <p:nvCxnSpPr>
          <p:cNvPr id="3144" name="Google Shape;3144;p106"/>
          <p:cNvCxnSpPr>
            <a:stCxn id="3116" idx="3"/>
            <a:endCxn id="3115" idx="7"/>
          </p:cNvCxnSpPr>
          <p:nvPr/>
        </p:nvCxnSpPr>
        <p:spPr>
          <a:xfrm flipH="1">
            <a:off x="2891332" y="3806332"/>
            <a:ext cx="784500" cy="817500"/>
          </a:xfrm>
          <a:prstGeom prst="straightConnector1">
            <a:avLst/>
          </a:prstGeom>
          <a:noFill/>
          <a:ln cap="flat" cmpd="sng" w="28575">
            <a:solidFill>
              <a:srgbClr val="B7B7B7"/>
            </a:solidFill>
            <a:prstDash val="solid"/>
            <a:round/>
            <a:headEnd len="med" w="med" type="none"/>
            <a:tailEnd len="med" w="med" type="none"/>
          </a:ln>
        </p:spPr>
      </p:cxnSp>
      <p:cxnSp>
        <p:nvCxnSpPr>
          <p:cNvPr id="3145" name="Google Shape;3145;p106"/>
          <p:cNvCxnSpPr>
            <a:stCxn id="3114" idx="5"/>
            <a:endCxn id="3115"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3146" name="Google Shape;3146;p106"/>
          <p:cNvCxnSpPr>
            <a:stCxn id="3111" idx="4"/>
            <a:endCxn id="3114"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3147" name="Google Shape;3147;p106"/>
          <p:cNvCxnSpPr>
            <a:stCxn id="3116" idx="1"/>
            <a:endCxn id="3111" idx="4"/>
          </p:cNvCxnSpPr>
          <p:nvPr/>
        </p:nvCxnSpPr>
        <p:spPr>
          <a:xfrm rot="10800000">
            <a:off x="3283732" y="2777218"/>
            <a:ext cx="392100" cy="647700"/>
          </a:xfrm>
          <a:prstGeom prst="straightConnector1">
            <a:avLst/>
          </a:prstGeom>
          <a:noFill/>
          <a:ln cap="flat" cmpd="sng" w="28575">
            <a:solidFill>
              <a:srgbClr val="B7B7B7"/>
            </a:solidFill>
            <a:prstDash val="solid"/>
            <a:round/>
            <a:headEnd len="med" w="med" type="none"/>
            <a:tailEnd len="med" w="med" type="none"/>
          </a:ln>
        </p:spPr>
      </p:cxnSp>
      <p:cxnSp>
        <p:nvCxnSpPr>
          <p:cNvPr id="3148" name="Google Shape;3148;p106"/>
          <p:cNvCxnSpPr>
            <a:stCxn id="3114" idx="2"/>
            <a:endCxn id="3113"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3149" name="Google Shape;3149;p106"/>
          <p:cNvCxnSpPr>
            <a:stCxn id="3114" idx="0"/>
            <a:endCxn id="3112"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3150" name="Google Shape;3150;p106"/>
          <p:cNvCxnSpPr>
            <a:stCxn id="3112" idx="3"/>
            <a:endCxn id="3113"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3151" name="Google Shape;3151;p106"/>
          <p:cNvCxnSpPr>
            <a:stCxn id="3109" idx="4"/>
            <a:endCxn id="3113"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3152" name="Google Shape;3152;p106"/>
          <p:cNvCxnSpPr>
            <a:stCxn id="3110" idx="2"/>
            <a:endCxn id="3109"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3153" name="Google Shape;3153;p106"/>
          <p:cNvCxnSpPr>
            <a:stCxn id="3110" idx="3"/>
            <a:endCxn id="3112"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3154" name="Google Shape;3154;p106"/>
          <p:cNvCxnSpPr>
            <a:stCxn id="3111" idx="2"/>
            <a:endCxn id="3109"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3155" name="Google Shape;3155;p106"/>
          <p:cNvCxnSpPr>
            <a:stCxn id="3111" idx="1"/>
            <a:endCxn id="3110"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3156" name="Google Shape;3156;p106"/>
          <p:cNvCxnSpPr>
            <a:stCxn id="3111" idx="2"/>
            <a:endCxn id="3112"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3157" name="Google Shape;3157;p106"/>
          <p:cNvCxnSpPr>
            <a:stCxn id="3112" idx="1"/>
            <a:endCxn id="3109"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3158" name="Google Shape;3158;p106"/>
          <p:cNvCxnSpPr>
            <a:stCxn id="3120" idx="6"/>
            <a:endCxn id="3125"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3159" name="Google Shape;3159;p106"/>
          <p:cNvSpPr txBox="1"/>
          <p:nvPr/>
        </p:nvSpPr>
        <p:spPr>
          <a:xfrm>
            <a:off x="2891325" y="1178425"/>
            <a:ext cx="3680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This is the shortest path between </a:t>
            </a:r>
            <a:r>
              <a:rPr b="1" lang="en">
                <a:latin typeface="Open Sans"/>
                <a:ea typeface="Open Sans"/>
                <a:cs typeface="Open Sans"/>
                <a:sym typeface="Open Sans"/>
              </a:rPr>
              <a:t>k</a:t>
            </a:r>
            <a:r>
              <a:rPr lang="en">
                <a:latin typeface="Open Sans"/>
                <a:ea typeface="Open Sans"/>
                <a:cs typeface="Open Sans"/>
                <a:sym typeface="Open Sans"/>
              </a:rPr>
              <a:t> and </a:t>
            </a:r>
            <a:r>
              <a:rPr b="1" lang="en">
                <a:latin typeface="Open Sans"/>
                <a:ea typeface="Open Sans"/>
                <a:cs typeface="Open Sans"/>
                <a:sym typeface="Open Sans"/>
              </a:rPr>
              <a:t>r</a:t>
            </a:r>
            <a:r>
              <a:rPr lang="en">
                <a:latin typeface="Open Sans"/>
                <a:ea typeface="Open Sans"/>
                <a:cs typeface="Open Sans"/>
                <a:sym typeface="Open Sans"/>
              </a:rPr>
              <a:t>: and </a:t>
            </a:r>
            <a:r>
              <a:rPr b="1" lang="en">
                <a:latin typeface="Open Sans"/>
                <a:ea typeface="Open Sans"/>
                <a:cs typeface="Open Sans"/>
                <a:sym typeface="Open Sans"/>
              </a:rPr>
              <a:t>h</a:t>
            </a:r>
            <a:r>
              <a:rPr lang="en">
                <a:latin typeface="Open Sans"/>
                <a:ea typeface="Open Sans"/>
                <a:cs typeface="Open Sans"/>
                <a:sym typeface="Open Sans"/>
              </a:rPr>
              <a:t> is in the middle of it!</a:t>
            </a:r>
            <a:endParaRPr>
              <a:latin typeface="Open Sans"/>
              <a:ea typeface="Open Sans"/>
              <a:cs typeface="Open Sans"/>
              <a:sym typeface="Open Sans"/>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3" name="Shape 3163"/>
        <p:cNvGrpSpPr/>
        <p:nvPr/>
      </p:nvGrpSpPr>
      <p:grpSpPr>
        <a:xfrm>
          <a:off x="0" y="0"/>
          <a:ext cx="0" cy="0"/>
          <a:chOff x="0" y="0"/>
          <a:chExt cx="0" cy="0"/>
        </a:xfrm>
      </p:grpSpPr>
      <p:sp>
        <p:nvSpPr>
          <p:cNvPr id="3164" name="Google Shape;3164;p10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3165" name="Google Shape;3165;p107"/>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166" name="Google Shape;3166;p107"/>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167" name="Google Shape;3167;p107"/>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168" name="Google Shape;3168;p107"/>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169" name="Google Shape;3169;p107"/>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170" name="Google Shape;3170;p107"/>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171" name="Google Shape;3171;p107"/>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172" name="Google Shape;3172;p107"/>
          <p:cNvSpPr/>
          <p:nvPr/>
        </p:nvSpPr>
        <p:spPr>
          <a:xfrm>
            <a:off x="3596663"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173" name="Google Shape;3173;p107"/>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174" name="Google Shape;3174;p107"/>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175" name="Google Shape;3175;p107"/>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176" name="Google Shape;3176;p107"/>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177" name="Google Shape;3177;p107"/>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178" name="Google Shape;3178;p107"/>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179" name="Google Shape;3179;p107"/>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180" name="Google Shape;3180;p107"/>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181" name="Google Shape;3181;p107"/>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182" name="Google Shape;3182;p107"/>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183" name="Google Shape;3183;p107"/>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184" name="Google Shape;3184;p107"/>
          <p:cNvCxnSpPr>
            <a:stCxn id="3183" idx="2"/>
            <a:endCxn id="3182"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3185" name="Google Shape;3185;p107"/>
          <p:cNvCxnSpPr>
            <a:stCxn id="3181" idx="0"/>
            <a:endCxn id="3182"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3186" name="Google Shape;3186;p107"/>
          <p:cNvCxnSpPr>
            <a:stCxn id="3180" idx="2"/>
            <a:endCxn id="3181"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3187" name="Google Shape;3187;p107"/>
          <p:cNvCxnSpPr>
            <a:stCxn id="3180" idx="2"/>
            <a:endCxn id="3176"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3188" name="Google Shape;3188;p107"/>
          <p:cNvCxnSpPr>
            <a:stCxn id="3180" idx="2"/>
            <a:endCxn id="3179"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3189" name="Google Shape;3189;p107"/>
          <p:cNvCxnSpPr>
            <a:stCxn id="3179" idx="2"/>
            <a:endCxn id="3176" idx="6"/>
          </p:cNvCxnSpPr>
          <p:nvPr/>
        </p:nvCxnSpPr>
        <p:spPr>
          <a:xfrm rot="10800000">
            <a:off x="6630138" y="3615550"/>
            <a:ext cx="763800" cy="133500"/>
          </a:xfrm>
          <a:prstGeom prst="straightConnector1">
            <a:avLst/>
          </a:prstGeom>
          <a:noFill/>
          <a:ln cap="flat" cmpd="sng" w="28575">
            <a:solidFill>
              <a:srgbClr val="B7B7B7"/>
            </a:solidFill>
            <a:prstDash val="solid"/>
            <a:round/>
            <a:headEnd len="med" w="med" type="none"/>
            <a:tailEnd len="med" w="med" type="none"/>
          </a:ln>
        </p:spPr>
      </p:cxnSp>
      <p:cxnSp>
        <p:nvCxnSpPr>
          <p:cNvPr id="3190" name="Google Shape;3190;p107"/>
          <p:cNvCxnSpPr>
            <a:stCxn id="3179" idx="1"/>
            <a:endCxn id="3175"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3191" name="Google Shape;3191;p107"/>
          <p:cNvCxnSpPr>
            <a:stCxn id="3178" idx="0"/>
            <a:endCxn id="3176"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3192" name="Google Shape;3192;p107"/>
          <p:cNvCxnSpPr>
            <a:stCxn id="3177" idx="7"/>
            <a:endCxn id="3176"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3193" name="Google Shape;3193;p107"/>
          <p:cNvCxnSpPr>
            <a:stCxn id="3178" idx="1"/>
            <a:endCxn id="3177"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3194" name="Google Shape;3194;p107"/>
          <p:cNvCxnSpPr>
            <a:stCxn id="3176" idx="2"/>
            <a:endCxn id="3174" idx="6"/>
          </p:cNvCxnSpPr>
          <p:nvPr/>
        </p:nvCxnSpPr>
        <p:spPr>
          <a:xfrm rot="10800000">
            <a:off x="5463388" y="3615625"/>
            <a:ext cx="626100" cy="0"/>
          </a:xfrm>
          <a:prstGeom prst="straightConnector1">
            <a:avLst/>
          </a:prstGeom>
          <a:noFill/>
          <a:ln cap="flat" cmpd="sng" w="28575">
            <a:solidFill>
              <a:srgbClr val="B7B7B7"/>
            </a:solidFill>
            <a:prstDash val="solid"/>
            <a:round/>
            <a:headEnd len="med" w="med" type="none"/>
            <a:tailEnd len="med" w="med" type="none"/>
          </a:ln>
        </p:spPr>
      </p:cxnSp>
      <p:cxnSp>
        <p:nvCxnSpPr>
          <p:cNvPr id="3195" name="Google Shape;3195;p107"/>
          <p:cNvCxnSpPr>
            <a:stCxn id="3177" idx="0"/>
            <a:endCxn id="3174"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3196" name="Google Shape;3196;p107"/>
          <p:cNvCxnSpPr>
            <a:stCxn id="3176" idx="0"/>
            <a:endCxn id="3175"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3197" name="Google Shape;3197;p107"/>
          <p:cNvCxnSpPr>
            <a:stCxn id="3174" idx="7"/>
            <a:endCxn id="3175" idx="4"/>
          </p:cNvCxnSpPr>
          <p:nvPr/>
        </p:nvCxnSpPr>
        <p:spPr>
          <a:xfrm flipH="1" rot="10800000">
            <a:off x="5384318" y="2918818"/>
            <a:ext cx="349500" cy="506100"/>
          </a:xfrm>
          <a:prstGeom prst="straightConnector1">
            <a:avLst/>
          </a:prstGeom>
          <a:noFill/>
          <a:ln cap="flat" cmpd="sng" w="28575">
            <a:solidFill>
              <a:srgbClr val="B7B7B7"/>
            </a:solidFill>
            <a:prstDash val="solid"/>
            <a:round/>
            <a:headEnd len="med" w="med" type="none"/>
            <a:tailEnd len="med" w="med" type="none"/>
          </a:ln>
        </p:spPr>
      </p:cxnSp>
      <p:cxnSp>
        <p:nvCxnSpPr>
          <p:cNvPr id="3198" name="Google Shape;3198;p107"/>
          <p:cNvCxnSpPr>
            <a:stCxn id="3174" idx="2"/>
            <a:endCxn id="3172" idx="6"/>
          </p:cNvCxnSpPr>
          <p:nvPr/>
        </p:nvCxnSpPr>
        <p:spPr>
          <a:xfrm rot="10800000">
            <a:off x="4137188" y="3615625"/>
            <a:ext cx="785700" cy="0"/>
          </a:xfrm>
          <a:prstGeom prst="straightConnector1">
            <a:avLst/>
          </a:prstGeom>
          <a:noFill/>
          <a:ln cap="flat" cmpd="sng" w="28575">
            <a:solidFill>
              <a:srgbClr val="B7B7B7"/>
            </a:solidFill>
            <a:prstDash val="solid"/>
            <a:round/>
            <a:headEnd len="med" w="med" type="none"/>
            <a:tailEnd len="med" w="med" type="none"/>
          </a:ln>
        </p:spPr>
      </p:cxnSp>
      <p:cxnSp>
        <p:nvCxnSpPr>
          <p:cNvPr id="3199" name="Google Shape;3199;p107"/>
          <p:cNvCxnSpPr>
            <a:stCxn id="3173" idx="0"/>
            <a:endCxn id="3172" idx="4"/>
          </p:cNvCxnSpPr>
          <p:nvPr/>
        </p:nvCxnSpPr>
        <p:spPr>
          <a:xfrm rot="10800000">
            <a:off x="3867013" y="3885475"/>
            <a:ext cx="270300" cy="659400"/>
          </a:xfrm>
          <a:prstGeom prst="straightConnector1">
            <a:avLst/>
          </a:prstGeom>
          <a:noFill/>
          <a:ln cap="flat" cmpd="sng" w="28575">
            <a:solidFill>
              <a:srgbClr val="B7B7B7"/>
            </a:solidFill>
            <a:prstDash val="solid"/>
            <a:round/>
            <a:headEnd len="med" w="med" type="none"/>
            <a:tailEnd len="med" w="med" type="none"/>
          </a:ln>
        </p:spPr>
      </p:cxnSp>
      <p:cxnSp>
        <p:nvCxnSpPr>
          <p:cNvPr id="3200" name="Google Shape;3200;p107"/>
          <p:cNvCxnSpPr>
            <a:stCxn id="3172" idx="3"/>
            <a:endCxn id="3171" idx="7"/>
          </p:cNvCxnSpPr>
          <p:nvPr/>
        </p:nvCxnSpPr>
        <p:spPr>
          <a:xfrm flipH="1">
            <a:off x="2891332" y="3806332"/>
            <a:ext cx="784500" cy="817500"/>
          </a:xfrm>
          <a:prstGeom prst="straightConnector1">
            <a:avLst/>
          </a:prstGeom>
          <a:noFill/>
          <a:ln cap="flat" cmpd="sng" w="28575">
            <a:solidFill>
              <a:srgbClr val="B7B7B7"/>
            </a:solidFill>
            <a:prstDash val="solid"/>
            <a:round/>
            <a:headEnd len="med" w="med" type="none"/>
            <a:tailEnd len="med" w="med" type="none"/>
          </a:ln>
        </p:spPr>
      </p:cxnSp>
      <p:cxnSp>
        <p:nvCxnSpPr>
          <p:cNvPr id="3201" name="Google Shape;3201;p107"/>
          <p:cNvCxnSpPr>
            <a:stCxn id="3170" idx="5"/>
            <a:endCxn id="3171"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3202" name="Google Shape;3202;p107"/>
          <p:cNvCxnSpPr>
            <a:stCxn id="3167" idx="4"/>
            <a:endCxn id="3170"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3203" name="Google Shape;3203;p107"/>
          <p:cNvCxnSpPr>
            <a:stCxn id="3172" idx="1"/>
            <a:endCxn id="3167" idx="4"/>
          </p:cNvCxnSpPr>
          <p:nvPr/>
        </p:nvCxnSpPr>
        <p:spPr>
          <a:xfrm rot="10800000">
            <a:off x="3283732" y="2777218"/>
            <a:ext cx="392100" cy="647700"/>
          </a:xfrm>
          <a:prstGeom prst="straightConnector1">
            <a:avLst/>
          </a:prstGeom>
          <a:noFill/>
          <a:ln cap="flat" cmpd="sng" w="28575">
            <a:solidFill>
              <a:srgbClr val="B7B7B7"/>
            </a:solidFill>
            <a:prstDash val="solid"/>
            <a:round/>
            <a:headEnd len="med" w="med" type="none"/>
            <a:tailEnd len="med" w="med" type="none"/>
          </a:ln>
        </p:spPr>
      </p:cxnSp>
      <p:cxnSp>
        <p:nvCxnSpPr>
          <p:cNvPr id="3204" name="Google Shape;3204;p107"/>
          <p:cNvCxnSpPr>
            <a:stCxn id="3170" idx="2"/>
            <a:endCxn id="3169"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3205" name="Google Shape;3205;p107"/>
          <p:cNvCxnSpPr>
            <a:stCxn id="3170" idx="0"/>
            <a:endCxn id="3168"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3206" name="Google Shape;3206;p107"/>
          <p:cNvCxnSpPr>
            <a:stCxn id="3168" idx="3"/>
            <a:endCxn id="3169"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3207" name="Google Shape;3207;p107"/>
          <p:cNvCxnSpPr>
            <a:stCxn id="3165" idx="4"/>
            <a:endCxn id="3169"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3208" name="Google Shape;3208;p107"/>
          <p:cNvCxnSpPr>
            <a:stCxn id="3166" idx="2"/>
            <a:endCxn id="3165"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3209" name="Google Shape;3209;p107"/>
          <p:cNvCxnSpPr>
            <a:stCxn id="3166" idx="3"/>
            <a:endCxn id="3168"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3210" name="Google Shape;3210;p107"/>
          <p:cNvCxnSpPr>
            <a:stCxn id="3167" idx="2"/>
            <a:endCxn id="3165"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3211" name="Google Shape;3211;p107"/>
          <p:cNvCxnSpPr>
            <a:stCxn id="3167" idx="1"/>
            <a:endCxn id="3166"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3212" name="Google Shape;3212;p107"/>
          <p:cNvCxnSpPr>
            <a:stCxn id="3167" idx="2"/>
            <a:endCxn id="3168"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3213" name="Google Shape;3213;p107"/>
          <p:cNvCxnSpPr>
            <a:stCxn id="3168" idx="1"/>
            <a:endCxn id="3165"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3214" name="Google Shape;3214;p107"/>
          <p:cNvCxnSpPr>
            <a:stCxn id="3176" idx="6"/>
            <a:endCxn id="3181"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3215" name="Google Shape;3215;p107"/>
          <p:cNvSpPr txBox="1"/>
          <p:nvPr/>
        </p:nvSpPr>
        <p:spPr>
          <a:xfrm>
            <a:off x="2891325" y="1178425"/>
            <a:ext cx="4071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You can see that </a:t>
            </a:r>
            <a:r>
              <a:rPr b="1" lang="en">
                <a:latin typeface="Open Sans"/>
                <a:ea typeface="Open Sans"/>
                <a:cs typeface="Open Sans"/>
                <a:sym typeface="Open Sans"/>
              </a:rPr>
              <a:t>h</a:t>
            </a:r>
            <a:r>
              <a:rPr lang="en">
                <a:latin typeface="Open Sans"/>
                <a:ea typeface="Open Sans"/>
                <a:cs typeface="Open Sans"/>
                <a:sym typeface="Open Sans"/>
              </a:rPr>
              <a:t> has to be </a:t>
            </a:r>
            <a:r>
              <a:rPr b="1" lang="en">
                <a:latin typeface="Open Sans"/>
                <a:ea typeface="Open Sans"/>
                <a:cs typeface="Open Sans"/>
                <a:sym typeface="Open Sans"/>
              </a:rPr>
              <a:t>high</a:t>
            </a:r>
            <a:r>
              <a:rPr lang="en">
                <a:latin typeface="Open Sans"/>
                <a:ea typeface="Open Sans"/>
                <a:cs typeface="Open Sans"/>
                <a:sym typeface="Open Sans"/>
              </a:rPr>
              <a:t> </a:t>
            </a:r>
            <a:r>
              <a:rPr b="1" lang="en">
                <a:latin typeface="Open Sans"/>
                <a:ea typeface="Open Sans"/>
                <a:cs typeface="Open Sans"/>
                <a:sym typeface="Open Sans"/>
              </a:rPr>
              <a:t>betweenness</a:t>
            </a:r>
            <a:r>
              <a:rPr lang="en">
                <a:latin typeface="Open Sans"/>
                <a:ea typeface="Open Sans"/>
                <a:cs typeface="Open Sans"/>
                <a:sym typeface="Open Sans"/>
              </a:rPr>
              <a:t> because they stand on the shortest paths indirectly connecting the nodes on the </a:t>
            </a:r>
            <a:r>
              <a:rPr b="1" lang="en">
                <a:latin typeface="Open Sans"/>
                <a:ea typeface="Open Sans"/>
                <a:cs typeface="Open Sans"/>
                <a:sym typeface="Open Sans"/>
              </a:rPr>
              <a:t>left</a:t>
            </a:r>
            <a:r>
              <a:rPr lang="en">
                <a:latin typeface="Open Sans"/>
                <a:ea typeface="Open Sans"/>
                <a:cs typeface="Open Sans"/>
                <a:sym typeface="Open Sans"/>
              </a:rPr>
              <a:t> with the nodes on the </a:t>
            </a:r>
            <a:r>
              <a:rPr b="1" lang="en">
                <a:latin typeface="Open Sans"/>
                <a:ea typeface="Open Sans"/>
                <a:cs typeface="Open Sans"/>
                <a:sym typeface="Open Sans"/>
              </a:rPr>
              <a:t>right</a:t>
            </a:r>
            <a:endParaRPr b="1">
              <a:latin typeface="Open Sans"/>
              <a:ea typeface="Open Sans"/>
              <a:cs typeface="Open Sans"/>
              <a:sym typeface="Open Sans"/>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9" name="Shape 3219"/>
        <p:cNvGrpSpPr/>
        <p:nvPr/>
      </p:nvGrpSpPr>
      <p:grpSpPr>
        <a:xfrm>
          <a:off x="0" y="0"/>
          <a:ext cx="0" cy="0"/>
          <a:chOff x="0" y="0"/>
          <a:chExt cx="0" cy="0"/>
        </a:xfrm>
      </p:grpSpPr>
      <p:sp>
        <p:nvSpPr>
          <p:cNvPr id="3220" name="Google Shape;3220;p10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3221" name="Google Shape;3221;p108"/>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222" name="Google Shape;3222;p108"/>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223" name="Google Shape;3223;p108"/>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224" name="Google Shape;3224;p108"/>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225" name="Google Shape;3225;p108"/>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226" name="Google Shape;3226;p108"/>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227" name="Google Shape;3227;p108"/>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228" name="Google Shape;3228;p108"/>
          <p:cNvSpPr/>
          <p:nvPr/>
        </p:nvSpPr>
        <p:spPr>
          <a:xfrm>
            <a:off x="3596663"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229" name="Google Shape;3229;p108"/>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230" name="Google Shape;3230;p108"/>
          <p:cNvSpPr/>
          <p:nvPr/>
        </p:nvSpPr>
        <p:spPr>
          <a:xfrm>
            <a:off x="4922888"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231" name="Google Shape;3231;p108"/>
          <p:cNvSpPr/>
          <p:nvPr/>
        </p:nvSpPr>
        <p:spPr>
          <a:xfrm>
            <a:off x="5463488" y="23794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232" name="Google Shape;3232;p108"/>
          <p:cNvSpPr/>
          <p:nvPr/>
        </p:nvSpPr>
        <p:spPr>
          <a:xfrm>
            <a:off x="6089488"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233" name="Google Shape;3233;p108"/>
          <p:cNvSpPr/>
          <p:nvPr/>
        </p:nvSpPr>
        <p:spPr>
          <a:xfrm>
            <a:off x="5463488" y="43163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234" name="Google Shape;3234;p108"/>
          <p:cNvSpPr/>
          <p:nvPr/>
        </p:nvSpPr>
        <p:spPr>
          <a:xfrm>
            <a:off x="6835713" y="442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235" name="Google Shape;3235;p108"/>
          <p:cNvSpPr/>
          <p:nvPr/>
        </p:nvSpPr>
        <p:spPr>
          <a:xfrm>
            <a:off x="7393938" y="3479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236" name="Google Shape;3236;p108"/>
          <p:cNvSpPr/>
          <p:nvPr/>
        </p:nvSpPr>
        <p:spPr>
          <a:xfrm>
            <a:off x="8305888" y="26593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237" name="Google Shape;3237;p108"/>
          <p:cNvSpPr/>
          <p:nvPr/>
        </p:nvSpPr>
        <p:spPr>
          <a:xfrm>
            <a:off x="7106013" y="2497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238" name="Google Shape;3238;p108"/>
          <p:cNvSpPr/>
          <p:nvPr/>
        </p:nvSpPr>
        <p:spPr>
          <a:xfrm>
            <a:off x="7197688" y="1515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239" name="Google Shape;3239;p108"/>
          <p:cNvSpPr/>
          <p:nvPr/>
        </p:nvSpPr>
        <p:spPr>
          <a:xfrm>
            <a:off x="8305888" y="11472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240" name="Google Shape;3240;p108"/>
          <p:cNvCxnSpPr>
            <a:stCxn id="3239" idx="2"/>
            <a:endCxn id="3238"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3241" name="Google Shape;3241;p108"/>
          <p:cNvCxnSpPr>
            <a:stCxn id="3237" idx="0"/>
            <a:endCxn id="3238"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3242" name="Google Shape;3242;p108"/>
          <p:cNvCxnSpPr>
            <a:stCxn id="3236" idx="2"/>
            <a:endCxn id="3237"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3243" name="Google Shape;3243;p108"/>
          <p:cNvCxnSpPr>
            <a:stCxn id="3236" idx="2"/>
            <a:endCxn id="3232"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3244" name="Google Shape;3244;p108"/>
          <p:cNvCxnSpPr>
            <a:stCxn id="3236" idx="2"/>
            <a:endCxn id="3235"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3245" name="Google Shape;3245;p108"/>
          <p:cNvCxnSpPr>
            <a:stCxn id="3235" idx="2"/>
            <a:endCxn id="3232" idx="6"/>
          </p:cNvCxnSpPr>
          <p:nvPr/>
        </p:nvCxnSpPr>
        <p:spPr>
          <a:xfrm rot="10800000">
            <a:off x="6630138" y="3615550"/>
            <a:ext cx="763800" cy="133500"/>
          </a:xfrm>
          <a:prstGeom prst="straightConnector1">
            <a:avLst/>
          </a:prstGeom>
          <a:noFill/>
          <a:ln cap="flat" cmpd="sng" w="28575">
            <a:solidFill>
              <a:srgbClr val="B7B7B7"/>
            </a:solidFill>
            <a:prstDash val="solid"/>
            <a:round/>
            <a:headEnd len="med" w="med" type="none"/>
            <a:tailEnd len="med" w="med" type="none"/>
          </a:ln>
        </p:spPr>
      </p:cxnSp>
      <p:cxnSp>
        <p:nvCxnSpPr>
          <p:cNvPr id="3246" name="Google Shape;3246;p108"/>
          <p:cNvCxnSpPr>
            <a:stCxn id="3235" idx="1"/>
            <a:endCxn id="3231"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3247" name="Google Shape;3247;p108"/>
          <p:cNvCxnSpPr>
            <a:stCxn id="3234" idx="0"/>
            <a:endCxn id="3232"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3248" name="Google Shape;3248;p108"/>
          <p:cNvCxnSpPr>
            <a:stCxn id="3233" idx="7"/>
            <a:endCxn id="3232"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3249" name="Google Shape;3249;p108"/>
          <p:cNvCxnSpPr>
            <a:stCxn id="3234" idx="1"/>
            <a:endCxn id="3233"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3250" name="Google Shape;3250;p108"/>
          <p:cNvCxnSpPr>
            <a:stCxn id="3232" idx="2"/>
            <a:endCxn id="3230" idx="6"/>
          </p:cNvCxnSpPr>
          <p:nvPr/>
        </p:nvCxnSpPr>
        <p:spPr>
          <a:xfrm rot="10800000">
            <a:off x="5463388" y="3615625"/>
            <a:ext cx="626100" cy="0"/>
          </a:xfrm>
          <a:prstGeom prst="straightConnector1">
            <a:avLst/>
          </a:prstGeom>
          <a:noFill/>
          <a:ln cap="flat" cmpd="sng" w="28575">
            <a:solidFill>
              <a:srgbClr val="B7B7B7"/>
            </a:solidFill>
            <a:prstDash val="solid"/>
            <a:round/>
            <a:headEnd len="med" w="med" type="none"/>
            <a:tailEnd len="med" w="med" type="none"/>
          </a:ln>
        </p:spPr>
      </p:cxnSp>
      <p:cxnSp>
        <p:nvCxnSpPr>
          <p:cNvPr id="3251" name="Google Shape;3251;p108"/>
          <p:cNvCxnSpPr>
            <a:stCxn id="3233" idx="0"/>
            <a:endCxn id="3230"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3252" name="Google Shape;3252;p108"/>
          <p:cNvCxnSpPr>
            <a:stCxn id="3232" idx="0"/>
            <a:endCxn id="3231"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3253" name="Google Shape;3253;p108"/>
          <p:cNvCxnSpPr>
            <a:stCxn id="3230" idx="7"/>
            <a:endCxn id="3231" idx="4"/>
          </p:cNvCxnSpPr>
          <p:nvPr/>
        </p:nvCxnSpPr>
        <p:spPr>
          <a:xfrm flipH="1" rot="10800000">
            <a:off x="5384318" y="2918818"/>
            <a:ext cx="349500" cy="506100"/>
          </a:xfrm>
          <a:prstGeom prst="straightConnector1">
            <a:avLst/>
          </a:prstGeom>
          <a:noFill/>
          <a:ln cap="flat" cmpd="sng" w="28575">
            <a:solidFill>
              <a:srgbClr val="B7B7B7"/>
            </a:solidFill>
            <a:prstDash val="solid"/>
            <a:round/>
            <a:headEnd len="med" w="med" type="none"/>
            <a:tailEnd len="med" w="med" type="none"/>
          </a:ln>
        </p:spPr>
      </p:cxnSp>
      <p:cxnSp>
        <p:nvCxnSpPr>
          <p:cNvPr id="3254" name="Google Shape;3254;p108"/>
          <p:cNvCxnSpPr>
            <a:stCxn id="3230" idx="2"/>
            <a:endCxn id="3228" idx="6"/>
          </p:cNvCxnSpPr>
          <p:nvPr/>
        </p:nvCxnSpPr>
        <p:spPr>
          <a:xfrm rot="10800000">
            <a:off x="4137188" y="3615625"/>
            <a:ext cx="785700" cy="0"/>
          </a:xfrm>
          <a:prstGeom prst="straightConnector1">
            <a:avLst/>
          </a:prstGeom>
          <a:noFill/>
          <a:ln cap="flat" cmpd="sng" w="28575">
            <a:solidFill>
              <a:srgbClr val="B7B7B7"/>
            </a:solidFill>
            <a:prstDash val="solid"/>
            <a:round/>
            <a:headEnd len="med" w="med" type="none"/>
            <a:tailEnd len="med" w="med" type="none"/>
          </a:ln>
        </p:spPr>
      </p:cxnSp>
      <p:cxnSp>
        <p:nvCxnSpPr>
          <p:cNvPr id="3255" name="Google Shape;3255;p108"/>
          <p:cNvCxnSpPr>
            <a:stCxn id="3229" idx="0"/>
            <a:endCxn id="3228" idx="4"/>
          </p:cNvCxnSpPr>
          <p:nvPr/>
        </p:nvCxnSpPr>
        <p:spPr>
          <a:xfrm rot="10800000">
            <a:off x="3867013" y="3885475"/>
            <a:ext cx="270300" cy="659400"/>
          </a:xfrm>
          <a:prstGeom prst="straightConnector1">
            <a:avLst/>
          </a:prstGeom>
          <a:noFill/>
          <a:ln cap="flat" cmpd="sng" w="28575">
            <a:solidFill>
              <a:srgbClr val="B7B7B7"/>
            </a:solidFill>
            <a:prstDash val="solid"/>
            <a:round/>
            <a:headEnd len="med" w="med" type="none"/>
            <a:tailEnd len="med" w="med" type="none"/>
          </a:ln>
        </p:spPr>
      </p:cxnSp>
      <p:cxnSp>
        <p:nvCxnSpPr>
          <p:cNvPr id="3256" name="Google Shape;3256;p108"/>
          <p:cNvCxnSpPr>
            <a:stCxn id="3228" idx="3"/>
            <a:endCxn id="3227" idx="7"/>
          </p:cNvCxnSpPr>
          <p:nvPr/>
        </p:nvCxnSpPr>
        <p:spPr>
          <a:xfrm flipH="1">
            <a:off x="2891332" y="3806332"/>
            <a:ext cx="784500" cy="817500"/>
          </a:xfrm>
          <a:prstGeom prst="straightConnector1">
            <a:avLst/>
          </a:prstGeom>
          <a:noFill/>
          <a:ln cap="flat" cmpd="sng" w="28575">
            <a:solidFill>
              <a:srgbClr val="B7B7B7"/>
            </a:solidFill>
            <a:prstDash val="solid"/>
            <a:round/>
            <a:headEnd len="med" w="med" type="none"/>
            <a:tailEnd len="med" w="med" type="none"/>
          </a:ln>
        </p:spPr>
      </p:cxnSp>
      <p:cxnSp>
        <p:nvCxnSpPr>
          <p:cNvPr id="3257" name="Google Shape;3257;p108"/>
          <p:cNvCxnSpPr>
            <a:stCxn id="3226" idx="5"/>
            <a:endCxn id="3227"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3258" name="Google Shape;3258;p108"/>
          <p:cNvCxnSpPr>
            <a:stCxn id="3223" idx="4"/>
            <a:endCxn id="3226"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3259" name="Google Shape;3259;p108"/>
          <p:cNvCxnSpPr>
            <a:stCxn id="3228" idx="1"/>
            <a:endCxn id="3223" idx="4"/>
          </p:cNvCxnSpPr>
          <p:nvPr/>
        </p:nvCxnSpPr>
        <p:spPr>
          <a:xfrm rot="10800000">
            <a:off x="3283732" y="2777218"/>
            <a:ext cx="392100" cy="647700"/>
          </a:xfrm>
          <a:prstGeom prst="straightConnector1">
            <a:avLst/>
          </a:prstGeom>
          <a:noFill/>
          <a:ln cap="flat" cmpd="sng" w="28575">
            <a:solidFill>
              <a:srgbClr val="B7B7B7"/>
            </a:solidFill>
            <a:prstDash val="solid"/>
            <a:round/>
            <a:headEnd len="med" w="med" type="none"/>
            <a:tailEnd len="med" w="med" type="none"/>
          </a:ln>
        </p:spPr>
      </p:cxnSp>
      <p:cxnSp>
        <p:nvCxnSpPr>
          <p:cNvPr id="3260" name="Google Shape;3260;p108"/>
          <p:cNvCxnSpPr>
            <a:stCxn id="3226" idx="2"/>
            <a:endCxn id="3225"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3261" name="Google Shape;3261;p108"/>
          <p:cNvCxnSpPr>
            <a:stCxn id="3226" idx="0"/>
            <a:endCxn id="3224"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3262" name="Google Shape;3262;p108"/>
          <p:cNvCxnSpPr>
            <a:stCxn id="3224" idx="3"/>
            <a:endCxn id="3225"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3263" name="Google Shape;3263;p108"/>
          <p:cNvCxnSpPr>
            <a:stCxn id="3221" idx="4"/>
            <a:endCxn id="3225"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3264" name="Google Shape;3264;p108"/>
          <p:cNvCxnSpPr>
            <a:stCxn id="3222" idx="2"/>
            <a:endCxn id="3221"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3265" name="Google Shape;3265;p108"/>
          <p:cNvCxnSpPr>
            <a:stCxn id="3222" idx="3"/>
            <a:endCxn id="3224"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3266" name="Google Shape;3266;p108"/>
          <p:cNvCxnSpPr>
            <a:stCxn id="3223" idx="2"/>
            <a:endCxn id="3221"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3267" name="Google Shape;3267;p108"/>
          <p:cNvCxnSpPr>
            <a:stCxn id="3223" idx="1"/>
            <a:endCxn id="3222"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3268" name="Google Shape;3268;p108"/>
          <p:cNvCxnSpPr>
            <a:stCxn id="3223" idx="2"/>
            <a:endCxn id="3224"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3269" name="Google Shape;3269;p108"/>
          <p:cNvCxnSpPr>
            <a:stCxn id="3224" idx="1"/>
            <a:endCxn id="3221"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3270" name="Google Shape;3270;p108"/>
          <p:cNvCxnSpPr>
            <a:stCxn id="3232" idx="6"/>
            <a:endCxn id="3237"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3271" name="Google Shape;3271;p108"/>
          <p:cNvSpPr txBox="1"/>
          <p:nvPr/>
        </p:nvSpPr>
        <p:spPr>
          <a:xfrm>
            <a:off x="2891325" y="1178425"/>
            <a:ext cx="4071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You can see that </a:t>
            </a:r>
            <a:r>
              <a:rPr b="1" lang="en">
                <a:solidFill>
                  <a:schemeClr val="dk1"/>
                </a:solidFill>
                <a:latin typeface="Open Sans"/>
                <a:ea typeface="Open Sans"/>
                <a:cs typeface="Open Sans"/>
                <a:sym typeface="Open Sans"/>
              </a:rPr>
              <a:t>h</a:t>
            </a:r>
            <a:r>
              <a:rPr lang="en">
                <a:solidFill>
                  <a:schemeClr val="dk1"/>
                </a:solidFill>
                <a:latin typeface="Open Sans"/>
                <a:ea typeface="Open Sans"/>
                <a:cs typeface="Open Sans"/>
                <a:sym typeface="Open Sans"/>
              </a:rPr>
              <a:t> has to be </a:t>
            </a:r>
            <a:r>
              <a:rPr b="1" lang="en">
                <a:solidFill>
                  <a:schemeClr val="dk1"/>
                </a:solidFill>
                <a:latin typeface="Open Sans"/>
                <a:ea typeface="Open Sans"/>
                <a:cs typeface="Open Sans"/>
                <a:sym typeface="Open Sans"/>
              </a:rPr>
              <a:t>high</a:t>
            </a:r>
            <a:r>
              <a:rPr lang="en">
                <a:solidFill>
                  <a:schemeClr val="dk1"/>
                </a:solidFill>
                <a:latin typeface="Open Sans"/>
                <a:ea typeface="Open Sans"/>
                <a:cs typeface="Open Sans"/>
                <a:sym typeface="Open Sans"/>
              </a:rPr>
              <a:t> </a:t>
            </a:r>
            <a:r>
              <a:rPr b="1" lang="en">
                <a:solidFill>
                  <a:schemeClr val="dk1"/>
                </a:solidFill>
                <a:latin typeface="Open Sans"/>
                <a:ea typeface="Open Sans"/>
                <a:cs typeface="Open Sans"/>
                <a:sym typeface="Open Sans"/>
              </a:rPr>
              <a:t>betweenness</a:t>
            </a:r>
            <a:r>
              <a:rPr lang="en">
                <a:solidFill>
                  <a:schemeClr val="dk1"/>
                </a:solidFill>
                <a:latin typeface="Open Sans"/>
                <a:ea typeface="Open Sans"/>
                <a:cs typeface="Open Sans"/>
                <a:sym typeface="Open Sans"/>
              </a:rPr>
              <a:t> because they stand on the shortest paths indirectly connecting the nodes on the </a:t>
            </a:r>
            <a:r>
              <a:rPr b="1" lang="en">
                <a:solidFill>
                  <a:schemeClr val="dk1"/>
                </a:solidFill>
                <a:latin typeface="Open Sans"/>
                <a:ea typeface="Open Sans"/>
                <a:cs typeface="Open Sans"/>
                <a:sym typeface="Open Sans"/>
              </a:rPr>
              <a:t>right</a:t>
            </a:r>
            <a:r>
              <a:rPr lang="en">
                <a:solidFill>
                  <a:schemeClr val="dk1"/>
                </a:solidFill>
                <a:latin typeface="Open Sans"/>
                <a:ea typeface="Open Sans"/>
                <a:cs typeface="Open Sans"/>
                <a:sym typeface="Open Sans"/>
              </a:rPr>
              <a:t> with the nodes on the </a:t>
            </a:r>
            <a:r>
              <a:rPr b="1" lang="en">
                <a:solidFill>
                  <a:schemeClr val="dk1"/>
                </a:solidFill>
                <a:latin typeface="Open Sans"/>
                <a:ea typeface="Open Sans"/>
                <a:cs typeface="Open Sans"/>
                <a:sym typeface="Open Sans"/>
              </a:rPr>
              <a:t>left</a:t>
            </a:r>
            <a:endParaRPr>
              <a:latin typeface="Open Sans"/>
              <a:ea typeface="Open Sans"/>
              <a:cs typeface="Open Sans"/>
              <a:sym typeface="Open Sans"/>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5" name="Shape 3275"/>
        <p:cNvGrpSpPr/>
        <p:nvPr/>
      </p:nvGrpSpPr>
      <p:grpSpPr>
        <a:xfrm>
          <a:off x="0" y="0"/>
          <a:ext cx="0" cy="0"/>
          <a:chOff x="0" y="0"/>
          <a:chExt cx="0" cy="0"/>
        </a:xfrm>
      </p:grpSpPr>
      <p:sp>
        <p:nvSpPr>
          <p:cNvPr id="3276" name="Google Shape;3276;p10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3277" name="Google Shape;3277;p109"/>
          <p:cNvSpPr/>
          <p:nvPr/>
        </p:nvSpPr>
        <p:spPr>
          <a:xfrm>
            <a:off x="346438" y="19011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278" name="Google Shape;3278;p109"/>
          <p:cNvSpPr/>
          <p:nvPr/>
        </p:nvSpPr>
        <p:spPr>
          <a:xfrm>
            <a:off x="2107638" y="1416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279" name="Google Shape;3279;p109"/>
          <p:cNvSpPr/>
          <p:nvPr/>
        </p:nvSpPr>
        <p:spPr>
          <a:xfrm>
            <a:off x="3013325" y="223776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280" name="Google Shape;3280;p109"/>
          <p:cNvSpPr/>
          <p:nvPr/>
        </p:nvSpPr>
        <p:spPr>
          <a:xfrm>
            <a:off x="1409500" y="26983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281" name="Google Shape;3281;p109"/>
          <p:cNvSpPr/>
          <p:nvPr/>
        </p:nvSpPr>
        <p:spPr>
          <a:xfrm>
            <a:off x="297513" y="3417638"/>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282" name="Google Shape;3282;p109"/>
          <p:cNvSpPr/>
          <p:nvPr/>
        </p:nvSpPr>
        <p:spPr>
          <a:xfrm>
            <a:off x="1889338" y="35792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283" name="Google Shape;3283;p109"/>
          <p:cNvSpPr/>
          <p:nvPr/>
        </p:nvSpPr>
        <p:spPr>
          <a:xfrm>
            <a:off x="2429938" y="454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284" name="Google Shape;3284;p109"/>
          <p:cNvSpPr/>
          <p:nvPr/>
        </p:nvSpPr>
        <p:spPr>
          <a:xfrm>
            <a:off x="3596663"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285" name="Google Shape;3285;p109"/>
          <p:cNvSpPr/>
          <p:nvPr/>
        </p:nvSpPr>
        <p:spPr>
          <a:xfrm>
            <a:off x="3867013" y="454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286" name="Google Shape;3286;p109"/>
          <p:cNvSpPr/>
          <p:nvPr/>
        </p:nvSpPr>
        <p:spPr>
          <a:xfrm>
            <a:off x="4922888"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287" name="Google Shape;3287;p109"/>
          <p:cNvSpPr/>
          <p:nvPr/>
        </p:nvSpPr>
        <p:spPr>
          <a:xfrm>
            <a:off x="5463488" y="23794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288" name="Google Shape;3288;p109"/>
          <p:cNvSpPr/>
          <p:nvPr/>
        </p:nvSpPr>
        <p:spPr>
          <a:xfrm>
            <a:off x="6089488"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289" name="Google Shape;3289;p109"/>
          <p:cNvSpPr/>
          <p:nvPr/>
        </p:nvSpPr>
        <p:spPr>
          <a:xfrm>
            <a:off x="5463488" y="43163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290" name="Google Shape;3290;p109"/>
          <p:cNvSpPr/>
          <p:nvPr/>
        </p:nvSpPr>
        <p:spPr>
          <a:xfrm>
            <a:off x="6835713" y="442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291" name="Google Shape;3291;p109"/>
          <p:cNvSpPr/>
          <p:nvPr/>
        </p:nvSpPr>
        <p:spPr>
          <a:xfrm>
            <a:off x="7393938" y="3479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292" name="Google Shape;3292;p109"/>
          <p:cNvSpPr/>
          <p:nvPr/>
        </p:nvSpPr>
        <p:spPr>
          <a:xfrm>
            <a:off x="8305888" y="26593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293" name="Google Shape;3293;p109"/>
          <p:cNvSpPr/>
          <p:nvPr/>
        </p:nvSpPr>
        <p:spPr>
          <a:xfrm>
            <a:off x="7106013" y="2497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294" name="Google Shape;3294;p109"/>
          <p:cNvSpPr/>
          <p:nvPr/>
        </p:nvSpPr>
        <p:spPr>
          <a:xfrm>
            <a:off x="7197688" y="1515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295" name="Google Shape;3295;p109"/>
          <p:cNvSpPr/>
          <p:nvPr/>
        </p:nvSpPr>
        <p:spPr>
          <a:xfrm>
            <a:off x="8305888" y="11472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296" name="Google Shape;3296;p109"/>
          <p:cNvCxnSpPr>
            <a:stCxn id="3295" idx="2"/>
            <a:endCxn id="3294"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3297" name="Google Shape;3297;p109"/>
          <p:cNvCxnSpPr>
            <a:stCxn id="3293" idx="0"/>
            <a:endCxn id="3294"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3298" name="Google Shape;3298;p109"/>
          <p:cNvCxnSpPr>
            <a:stCxn id="3292" idx="2"/>
            <a:endCxn id="3293"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3299" name="Google Shape;3299;p109"/>
          <p:cNvCxnSpPr>
            <a:stCxn id="3292" idx="2"/>
            <a:endCxn id="3288"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3300" name="Google Shape;3300;p109"/>
          <p:cNvCxnSpPr>
            <a:stCxn id="3292" idx="2"/>
            <a:endCxn id="3291"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3301" name="Google Shape;3301;p109"/>
          <p:cNvCxnSpPr>
            <a:stCxn id="3291" idx="2"/>
            <a:endCxn id="3288" idx="6"/>
          </p:cNvCxnSpPr>
          <p:nvPr/>
        </p:nvCxnSpPr>
        <p:spPr>
          <a:xfrm rot="10800000">
            <a:off x="6630138" y="3615550"/>
            <a:ext cx="763800" cy="133500"/>
          </a:xfrm>
          <a:prstGeom prst="straightConnector1">
            <a:avLst/>
          </a:prstGeom>
          <a:noFill/>
          <a:ln cap="flat" cmpd="sng" w="28575">
            <a:solidFill>
              <a:srgbClr val="B7B7B7"/>
            </a:solidFill>
            <a:prstDash val="solid"/>
            <a:round/>
            <a:headEnd len="med" w="med" type="none"/>
            <a:tailEnd len="med" w="med" type="none"/>
          </a:ln>
        </p:spPr>
      </p:cxnSp>
      <p:cxnSp>
        <p:nvCxnSpPr>
          <p:cNvPr id="3302" name="Google Shape;3302;p109"/>
          <p:cNvCxnSpPr>
            <a:stCxn id="3291" idx="1"/>
            <a:endCxn id="3287"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3303" name="Google Shape;3303;p109"/>
          <p:cNvCxnSpPr>
            <a:stCxn id="3290" idx="0"/>
            <a:endCxn id="3288"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3304" name="Google Shape;3304;p109"/>
          <p:cNvCxnSpPr>
            <a:stCxn id="3289" idx="7"/>
            <a:endCxn id="3288"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3305" name="Google Shape;3305;p109"/>
          <p:cNvCxnSpPr>
            <a:stCxn id="3290" idx="1"/>
            <a:endCxn id="3289"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3306" name="Google Shape;3306;p109"/>
          <p:cNvCxnSpPr>
            <a:stCxn id="3288" idx="2"/>
            <a:endCxn id="3286" idx="6"/>
          </p:cNvCxnSpPr>
          <p:nvPr/>
        </p:nvCxnSpPr>
        <p:spPr>
          <a:xfrm rot="10800000">
            <a:off x="5463388" y="3615625"/>
            <a:ext cx="626100" cy="0"/>
          </a:xfrm>
          <a:prstGeom prst="straightConnector1">
            <a:avLst/>
          </a:prstGeom>
          <a:noFill/>
          <a:ln cap="flat" cmpd="sng" w="28575">
            <a:solidFill>
              <a:srgbClr val="B7B7B7"/>
            </a:solidFill>
            <a:prstDash val="solid"/>
            <a:round/>
            <a:headEnd len="med" w="med" type="none"/>
            <a:tailEnd len="med" w="med" type="none"/>
          </a:ln>
        </p:spPr>
      </p:cxnSp>
      <p:cxnSp>
        <p:nvCxnSpPr>
          <p:cNvPr id="3307" name="Google Shape;3307;p109"/>
          <p:cNvCxnSpPr>
            <a:stCxn id="3289" idx="0"/>
            <a:endCxn id="3286"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3308" name="Google Shape;3308;p109"/>
          <p:cNvCxnSpPr>
            <a:stCxn id="3288" idx="0"/>
            <a:endCxn id="3287"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3309" name="Google Shape;3309;p109"/>
          <p:cNvCxnSpPr>
            <a:stCxn id="3286" idx="7"/>
            <a:endCxn id="3287" idx="4"/>
          </p:cNvCxnSpPr>
          <p:nvPr/>
        </p:nvCxnSpPr>
        <p:spPr>
          <a:xfrm flipH="1" rot="10800000">
            <a:off x="5384318" y="2918818"/>
            <a:ext cx="349500" cy="506100"/>
          </a:xfrm>
          <a:prstGeom prst="straightConnector1">
            <a:avLst/>
          </a:prstGeom>
          <a:noFill/>
          <a:ln cap="flat" cmpd="sng" w="28575">
            <a:solidFill>
              <a:srgbClr val="B7B7B7"/>
            </a:solidFill>
            <a:prstDash val="solid"/>
            <a:round/>
            <a:headEnd len="med" w="med" type="none"/>
            <a:tailEnd len="med" w="med" type="none"/>
          </a:ln>
        </p:spPr>
      </p:cxnSp>
      <p:cxnSp>
        <p:nvCxnSpPr>
          <p:cNvPr id="3310" name="Google Shape;3310;p109"/>
          <p:cNvCxnSpPr>
            <a:stCxn id="3286" idx="2"/>
            <a:endCxn id="3284" idx="6"/>
          </p:cNvCxnSpPr>
          <p:nvPr/>
        </p:nvCxnSpPr>
        <p:spPr>
          <a:xfrm rot="10800000">
            <a:off x="4137188" y="3615625"/>
            <a:ext cx="785700" cy="0"/>
          </a:xfrm>
          <a:prstGeom prst="straightConnector1">
            <a:avLst/>
          </a:prstGeom>
          <a:noFill/>
          <a:ln cap="flat" cmpd="sng" w="28575">
            <a:solidFill>
              <a:srgbClr val="B7B7B7"/>
            </a:solidFill>
            <a:prstDash val="solid"/>
            <a:round/>
            <a:headEnd len="med" w="med" type="none"/>
            <a:tailEnd len="med" w="med" type="none"/>
          </a:ln>
        </p:spPr>
      </p:cxnSp>
      <p:cxnSp>
        <p:nvCxnSpPr>
          <p:cNvPr id="3311" name="Google Shape;3311;p109"/>
          <p:cNvCxnSpPr>
            <a:stCxn id="3285" idx="0"/>
            <a:endCxn id="3284" idx="4"/>
          </p:cNvCxnSpPr>
          <p:nvPr/>
        </p:nvCxnSpPr>
        <p:spPr>
          <a:xfrm rot="10800000">
            <a:off x="3867013" y="3885475"/>
            <a:ext cx="270300" cy="659400"/>
          </a:xfrm>
          <a:prstGeom prst="straightConnector1">
            <a:avLst/>
          </a:prstGeom>
          <a:noFill/>
          <a:ln cap="flat" cmpd="sng" w="28575">
            <a:solidFill>
              <a:srgbClr val="B7B7B7"/>
            </a:solidFill>
            <a:prstDash val="solid"/>
            <a:round/>
            <a:headEnd len="med" w="med" type="none"/>
            <a:tailEnd len="med" w="med" type="none"/>
          </a:ln>
        </p:spPr>
      </p:cxnSp>
      <p:cxnSp>
        <p:nvCxnSpPr>
          <p:cNvPr id="3312" name="Google Shape;3312;p109"/>
          <p:cNvCxnSpPr>
            <a:stCxn id="3284" idx="3"/>
            <a:endCxn id="3283" idx="7"/>
          </p:cNvCxnSpPr>
          <p:nvPr/>
        </p:nvCxnSpPr>
        <p:spPr>
          <a:xfrm flipH="1">
            <a:off x="2891332" y="3806332"/>
            <a:ext cx="784500" cy="817500"/>
          </a:xfrm>
          <a:prstGeom prst="straightConnector1">
            <a:avLst/>
          </a:prstGeom>
          <a:noFill/>
          <a:ln cap="flat" cmpd="sng" w="28575">
            <a:solidFill>
              <a:srgbClr val="B7B7B7"/>
            </a:solidFill>
            <a:prstDash val="solid"/>
            <a:round/>
            <a:headEnd len="med" w="med" type="none"/>
            <a:tailEnd len="med" w="med" type="none"/>
          </a:ln>
        </p:spPr>
      </p:cxnSp>
      <p:cxnSp>
        <p:nvCxnSpPr>
          <p:cNvPr id="3313" name="Google Shape;3313;p109"/>
          <p:cNvCxnSpPr>
            <a:stCxn id="3282" idx="5"/>
            <a:endCxn id="3283"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3314" name="Google Shape;3314;p109"/>
          <p:cNvCxnSpPr>
            <a:stCxn id="3279" idx="4"/>
            <a:endCxn id="3282"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3315" name="Google Shape;3315;p109"/>
          <p:cNvCxnSpPr>
            <a:stCxn id="3284" idx="1"/>
            <a:endCxn id="3279" idx="4"/>
          </p:cNvCxnSpPr>
          <p:nvPr/>
        </p:nvCxnSpPr>
        <p:spPr>
          <a:xfrm rot="10800000">
            <a:off x="3283732" y="2777218"/>
            <a:ext cx="392100" cy="647700"/>
          </a:xfrm>
          <a:prstGeom prst="straightConnector1">
            <a:avLst/>
          </a:prstGeom>
          <a:noFill/>
          <a:ln cap="flat" cmpd="sng" w="28575">
            <a:solidFill>
              <a:srgbClr val="B7B7B7"/>
            </a:solidFill>
            <a:prstDash val="solid"/>
            <a:round/>
            <a:headEnd len="med" w="med" type="none"/>
            <a:tailEnd len="med" w="med" type="none"/>
          </a:ln>
        </p:spPr>
      </p:cxnSp>
      <p:cxnSp>
        <p:nvCxnSpPr>
          <p:cNvPr id="3316" name="Google Shape;3316;p109"/>
          <p:cNvCxnSpPr>
            <a:stCxn id="3282" idx="2"/>
            <a:endCxn id="3281"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3317" name="Google Shape;3317;p109"/>
          <p:cNvCxnSpPr>
            <a:stCxn id="3282" idx="0"/>
            <a:endCxn id="3280"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3318" name="Google Shape;3318;p109"/>
          <p:cNvCxnSpPr>
            <a:stCxn id="3280" idx="3"/>
            <a:endCxn id="3281"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3319" name="Google Shape;3319;p109"/>
          <p:cNvCxnSpPr>
            <a:stCxn id="3277" idx="4"/>
            <a:endCxn id="3281"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3320" name="Google Shape;3320;p109"/>
          <p:cNvCxnSpPr>
            <a:stCxn id="3278" idx="2"/>
            <a:endCxn id="3277"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3321" name="Google Shape;3321;p109"/>
          <p:cNvCxnSpPr>
            <a:stCxn id="3278" idx="3"/>
            <a:endCxn id="3280"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3322" name="Google Shape;3322;p109"/>
          <p:cNvCxnSpPr>
            <a:stCxn id="3279" idx="2"/>
            <a:endCxn id="3277"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3323" name="Google Shape;3323;p109"/>
          <p:cNvCxnSpPr>
            <a:stCxn id="3279" idx="1"/>
            <a:endCxn id="3278"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3324" name="Google Shape;3324;p109"/>
          <p:cNvCxnSpPr>
            <a:stCxn id="3279" idx="2"/>
            <a:endCxn id="3280"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3325" name="Google Shape;3325;p109"/>
          <p:cNvCxnSpPr>
            <a:stCxn id="3280" idx="1"/>
            <a:endCxn id="3277"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3326" name="Google Shape;3326;p109"/>
          <p:cNvCxnSpPr>
            <a:stCxn id="3288" idx="6"/>
            <a:endCxn id="3293"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3327" name="Google Shape;3327;p109"/>
          <p:cNvSpPr txBox="1"/>
          <p:nvPr/>
        </p:nvSpPr>
        <p:spPr>
          <a:xfrm>
            <a:off x="2891325" y="1178425"/>
            <a:ext cx="4071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You can see that </a:t>
            </a:r>
            <a:r>
              <a:rPr b="1" lang="en">
                <a:latin typeface="Open Sans"/>
                <a:ea typeface="Open Sans"/>
                <a:cs typeface="Open Sans"/>
                <a:sym typeface="Open Sans"/>
              </a:rPr>
              <a:t>h</a:t>
            </a:r>
            <a:r>
              <a:rPr lang="en">
                <a:latin typeface="Open Sans"/>
                <a:ea typeface="Open Sans"/>
                <a:cs typeface="Open Sans"/>
                <a:sym typeface="Open Sans"/>
              </a:rPr>
              <a:t> has to be </a:t>
            </a:r>
            <a:r>
              <a:rPr b="1" lang="en">
                <a:latin typeface="Open Sans"/>
                <a:ea typeface="Open Sans"/>
                <a:cs typeface="Open Sans"/>
                <a:sym typeface="Open Sans"/>
              </a:rPr>
              <a:t>high</a:t>
            </a:r>
            <a:r>
              <a:rPr lang="en">
                <a:latin typeface="Open Sans"/>
                <a:ea typeface="Open Sans"/>
                <a:cs typeface="Open Sans"/>
                <a:sym typeface="Open Sans"/>
              </a:rPr>
              <a:t> </a:t>
            </a:r>
            <a:r>
              <a:rPr b="1" lang="en">
                <a:latin typeface="Open Sans"/>
                <a:ea typeface="Open Sans"/>
                <a:cs typeface="Open Sans"/>
                <a:sym typeface="Open Sans"/>
              </a:rPr>
              <a:t>betweenness</a:t>
            </a:r>
            <a:r>
              <a:rPr lang="en">
                <a:latin typeface="Open Sans"/>
                <a:ea typeface="Open Sans"/>
                <a:cs typeface="Open Sans"/>
                <a:sym typeface="Open Sans"/>
              </a:rPr>
              <a:t> because they stand on the shortest paths indirectly connecting the nodes on the </a:t>
            </a:r>
            <a:r>
              <a:rPr b="1" lang="en">
                <a:latin typeface="Open Sans"/>
                <a:ea typeface="Open Sans"/>
                <a:cs typeface="Open Sans"/>
                <a:sym typeface="Open Sans"/>
              </a:rPr>
              <a:t>right</a:t>
            </a:r>
            <a:r>
              <a:rPr lang="en">
                <a:latin typeface="Open Sans"/>
                <a:ea typeface="Open Sans"/>
                <a:cs typeface="Open Sans"/>
                <a:sym typeface="Open Sans"/>
              </a:rPr>
              <a:t> with the nodes on the </a:t>
            </a:r>
            <a:r>
              <a:rPr b="1" lang="en">
                <a:latin typeface="Open Sans"/>
                <a:ea typeface="Open Sans"/>
                <a:cs typeface="Open Sans"/>
                <a:sym typeface="Open Sans"/>
              </a:rPr>
              <a:t>left</a:t>
            </a:r>
            <a:endParaRPr b="1">
              <a:latin typeface="Open Sans"/>
              <a:ea typeface="Open Sans"/>
              <a:cs typeface="Open Sans"/>
              <a:sym typeface="Open Sans"/>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1" name="Shape 3331"/>
        <p:cNvGrpSpPr/>
        <p:nvPr/>
      </p:nvGrpSpPr>
      <p:grpSpPr>
        <a:xfrm>
          <a:off x="0" y="0"/>
          <a:ext cx="0" cy="0"/>
          <a:chOff x="0" y="0"/>
          <a:chExt cx="0" cy="0"/>
        </a:xfrm>
      </p:grpSpPr>
      <p:sp>
        <p:nvSpPr>
          <p:cNvPr id="3332" name="Google Shape;3332;p11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3333" name="Google Shape;3333;p110"/>
          <p:cNvSpPr/>
          <p:nvPr/>
        </p:nvSpPr>
        <p:spPr>
          <a:xfrm>
            <a:off x="346438" y="19011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334" name="Google Shape;3334;p110"/>
          <p:cNvSpPr/>
          <p:nvPr/>
        </p:nvSpPr>
        <p:spPr>
          <a:xfrm>
            <a:off x="2107638" y="1416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335" name="Google Shape;3335;p110"/>
          <p:cNvSpPr/>
          <p:nvPr/>
        </p:nvSpPr>
        <p:spPr>
          <a:xfrm>
            <a:off x="3013325" y="223776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336" name="Google Shape;3336;p110"/>
          <p:cNvSpPr/>
          <p:nvPr/>
        </p:nvSpPr>
        <p:spPr>
          <a:xfrm>
            <a:off x="1409500" y="26983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337" name="Google Shape;3337;p110"/>
          <p:cNvSpPr/>
          <p:nvPr/>
        </p:nvSpPr>
        <p:spPr>
          <a:xfrm>
            <a:off x="297513" y="3417638"/>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338" name="Google Shape;3338;p110"/>
          <p:cNvSpPr/>
          <p:nvPr/>
        </p:nvSpPr>
        <p:spPr>
          <a:xfrm>
            <a:off x="1889338" y="35792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339" name="Google Shape;3339;p110"/>
          <p:cNvSpPr/>
          <p:nvPr/>
        </p:nvSpPr>
        <p:spPr>
          <a:xfrm>
            <a:off x="2429938" y="454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340" name="Google Shape;3340;p110"/>
          <p:cNvSpPr/>
          <p:nvPr/>
        </p:nvSpPr>
        <p:spPr>
          <a:xfrm>
            <a:off x="3596663"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341" name="Google Shape;3341;p110"/>
          <p:cNvSpPr/>
          <p:nvPr/>
        </p:nvSpPr>
        <p:spPr>
          <a:xfrm>
            <a:off x="3867013" y="454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342" name="Google Shape;3342;p110"/>
          <p:cNvSpPr/>
          <p:nvPr/>
        </p:nvSpPr>
        <p:spPr>
          <a:xfrm>
            <a:off x="4922888"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343" name="Google Shape;3343;p110"/>
          <p:cNvSpPr/>
          <p:nvPr/>
        </p:nvSpPr>
        <p:spPr>
          <a:xfrm>
            <a:off x="5463488" y="23794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344" name="Google Shape;3344;p110"/>
          <p:cNvSpPr/>
          <p:nvPr/>
        </p:nvSpPr>
        <p:spPr>
          <a:xfrm>
            <a:off x="6089488"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345" name="Google Shape;3345;p110"/>
          <p:cNvSpPr/>
          <p:nvPr/>
        </p:nvSpPr>
        <p:spPr>
          <a:xfrm>
            <a:off x="5463488" y="43163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346" name="Google Shape;3346;p110"/>
          <p:cNvSpPr/>
          <p:nvPr/>
        </p:nvSpPr>
        <p:spPr>
          <a:xfrm>
            <a:off x="6835713" y="442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347" name="Google Shape;3347;p110"/>
          <p:cNvSpPr/>
          <p:nvPr/>
        </p:nvSpPr>
        <p:spPr>
          <a:xfrm>
            <a:off x="7393938" y="3479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348" name="Google Shape;3348;p110"/>
          <p:cNvSpPr/>
          <p:nvPr/>
        </p:nvSpPr>
        <p:spPr>
          <a:xfrm>
            <a:off x="8305888" y="26593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349" name="Google Shape;3349;p110"/>
          <p:cNvSpPr/>
          <p:nvPr/>
        </p:nvSpPr>
        <p:spPr>
          <a:xfrm>
            <a:off x="7106013" y="2497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350" name="Google Shape;3350;p110"/>
          <p:cNvSpPr/>
          <p:nvPr/>
        </p:nvSpPr>
        <p:spPr>
          <a:xfrm>
            <a:off x="7197688" y="1515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351" name="Google Shape;3351;p110"/>
          <p:cNvSpPr/>
          <p:nvPr/>
        </p:nvSpPr>
        <p:spPr>
          <a:xfrm>
            <a:off x="8305888" y="11472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352" name="Google Shape;3352;p110"/>
          <p:cNvCxnSpPr>
            <a:stCxn id="3351" idx="2"/>
            <a:endCxn id="3350"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3353" name="Google Shape;3353;p110"/>
          <p:cNvCxnSpPr>
            <a:stCxn id="3349" idx="0"/>
            <a:endCxn id="3350"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3354" name="Google Shape;3354;p110"/>
          <p:cNvCxnSpPr>
            <a:stCxn id="3348" idx="2"/>
            <a:endCxn id="3349"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3355" name="Google Shape;3355;p110"/>
          <p:cNvCxnSpPr>
            <a:stCxn id="3348" idx="2"/>
            <a:endCxn id="3344"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3356" name="Google Shape;3356;p110"/>
          <p:cNvCxnSpPr>
            <a:stCxn id="3348" idx="2"/>
            <a:endCxn id="3347"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3357" name="Google Shape;3357;p110"/>
          <p:cNvCxnSpPr>
            <a:stCxn id="3347" idx="2"/>
            <a:endCxn id="3344" idx="6"/>
          </p:cNvCxnSpPr>
          <p:nvPr/>
        </p:nvCxnSpPr>
        <p:spPr>
          <a:xfrm rot="10800000">
            <a:off x="6630138" y="3615550"/>
            <a:ext cx="763800" cy="133500"/>
          </a:xfrm>
          <a:prstGeom prst="straightConnector1">
            <a:avLst/>
          </a:prstGeom>
          <a:noFill/>
          <a:ln cap="flat" cmpd="sng" w="28575">
            <a:solidFill>
              <a:srgbClr val="B7B7B7"/>
            </a:solidFill>
            <a:prstDash val="solid"/>
            <a:round/>
            <a:headEnd len="med" w="med" type="none"/>
            <a:tailEnd len="med" w="med" type="none"/>
          </a:ln>
        </p:spPr>
      </p:cxnSp>
      <p:cxnSp>
        <p:nvCxnSpPr>
          <p:cNvPr id="3358" name="Google Shape;3358;p110"/>
          <p:cNvCxnSpPr>
            <a:stCxn id="3347" idx="1"/>
            <a:endCxn id="3343"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3359" name="Google Shape;3359;p110"/>
          <p:cNvCxnSpPr>
            <a:stCxn id="3346" idx="0"/>
            <a:endCxn id="3344"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3360" name="Google Shape;3360;p110"/>
          <p:cNvCxnSpPr>
            <a:stCxn id="3345" idx="7"/>
            <a:endCxn id="3344"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3361" name="Google Shape;3361;p110"/>
          <p:cNvCxnSpPr>
            <a:stCxn id="3346" idx="1"/>
            <a:endCxn id="3345"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3362" name="Google Shape;3362;p110"/>
          <p:cNvCxnSpPr>
            <a:stCxn id="3344" idx="2"/>
            <a:endCxn id="3342" idx="6"/>
          </p:cNvCxnSpPr>
          <p:nvPr/>
        </p:nvCxnSpPr>
        <p:spPr>
          <a:xfrm rot="10800000">
            <a:off x="5463388" y="3615625"/>
            <a:ext cx="626100" cy="0"/>
          </a:xfrm>
          <a:prstGeom prst="straightConnector1">
            <a:avLst/>
          </a:prstGeom>
          <a:noFill/>
          <a:ln cap="flat" cmpd="sng" w="28575">
            <a:solidFill>
              <a:srgbClr val="B7B7B7"/>
            </a:solidFill>
            <a:prstDash val="solid"/>
            <a:round/>
            <a:headEnd len="med" w="med" type="none"/>
            <a:tailEnd len="med" w="med" type="none"/>
          </a:ln>
        </p:spPr>
      </p:cxnSp>
      <p:cxnSp>
        <p:nvCxnSpPr>
          <p:cNvPr id="3363" name="Google Shape;3363;p110"/>
          <p:cNvCxnSpPr>
            <a:stCxn id="3345" idx="0"/>
            <a:endCxn id="3342"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3364" name="Google Shape;3364;p110"/>
          <p:cNvCxnSpPr>
            <a:stCxn id="3344" idx="0"/>
            <a:endCxn id="3343"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3365" name="Google Shape;3365;p110"/>
          <p:cNvCxnSpPr>
            <a:stCxn id="3342" idx="7"/>
            <a:endCxn id="3343" idx="4"/>
          </p:cNvCxnSpPr>
          <p:nvPr/>
        </p:nvCxnSpPr>
        <p:spPr>
          <a:xfrm flipH="1" rot="10800000">
            <a:off x="5384318" y="2918818"/>
            <a:ext cx="349500" cy="506100"/>
          </a:xfrm>
          <a:prstGeom prst="straightConnector1">
            <a:avLst/>
          </a:prstGeom>
          <a:noFill/>
          <a:ln cap="flat" cmpd="sng" w="28575">
            <a:solidFill>
              <a:srgbClr val="B7B7B7"/>
            </a:solidFill>
            <a:prstDash val="solid"/>
            <a:round/>
            <a:headEnd len="med" w="med" type="none"/>
            <a:tailEnd len="med" w="med" type="none"/>
          </a:ln>
        </p:spPr>
      </p:cxnSp>
      <p:cxnSp>
        <p:nvCxnSpPr>
          <p:cNvPr id="3366" name="Google Shape;3366;p110"/>
          <p:cNvCxnSpPr>
            <a:stCxn id="3342" idx="2"/>
            <a:endCxn id="3340" idx="6"/>
          </p:cNvCxnSpPr>
          <p:nvPr/>
        </p:nvCxnSpPr>
        <p:spPr>
          <a:xfrm rot="10800000">
            <a:off x="4137188" y="3615625"/>
            <a:ext cx="785700" cy="0"/>
          </a:xfrm>
          <a:prstGeom prst="straightConnector1">
            <a:avLst/>
          </a:prstGeom>
          <a:noFill/>
          <a:ln cap="flat" cmpd="sng" w="28575">
            <a:solidFill>
              <a:srgbClr val="B7B7B7"/>
            </a:solidFill>
            <a:prstDash val="solid"/>
            <a:round/>
            <a:headEnd len="med" w="med" type="none"/>
            <a:tailEnd len="med" w="med" type="none"/>
          </a:ln>
        </p:spPr>
      </p:cxnSp>
      <p:cxnSp>
        <p:nvCxnSpPr>
          <p:cNvPr id="3367" name="Google Shape;3367;p110"/>
          <p:cNvCxnSpPr>
            <a:stCxn id="3341" idx="0"/>
            <a:endCxn id="3340" idx="4"/>
          </p:cNvCxnSpPr>
          <p:nvPr/>
        </p:nvCxnSpPr>
        <p:spPr>
          <a:xfrm rot="10800000">
            <a:off x="3867013" y="3885475"/>
            <a:ext cx="270300" cy="659400"/>
          </a:xfrm>
          <a:prstGeom prst="straightConnector1">
            <a:avLst/>
          </a:prstGeom>
          <a:noFill/>
          <a:ln cap="flat" cmpd="sng" w="28575">
            <a:solidFill>
              <a:srgbClr val="B7B7B7"/>
            </a:solidFill>
            <a:prstDash val="solid"/>
            <a:round/>
            <a:headEnd len="med" w="med" type="none"/>
            <a:tailEnd len="med" w="med" type="none"/>
          </a:ln>
        </p:spPr>
      </p:cxnSp>
      <p:cxnSp>
        <p:nvCxnSpPr>
          <p:cNvPr id="3368" name="Google Shape;3368;p110"/>
          <p:cNvCxnSpPr>
            <a:stCxn id="3340" idx="3"/>
            <a:endCxn id="3339" idx="7"/>
          </p:cNvCxnSpPr>
          <p:nvPr/>
        </p:nvCxnSpPr>
        <p:spPr>
          <a:xfrm flipH="1">
            <a:off x="2891332" y="3806332"/>
            <a:ext cx="784500" cy="817500"/>
          </a:xfrm>
          <a:prstGeom prst="straightConnector1">
            <a:avLst/>
          </a:prstGeom>
          <a:noFill/>
          <a:ln cap="flat" cmpd="sng" w="28575">
            <a:solidFill>
              <a:srgbClr val="B7B7B7"/>
            </a:solidFill>
            <a:prstDash val="solid"/>
            <a:round/>
            <a:headEnd len="med" w="med" type="none"/>
            <a:tailEnd len="med" w="med" type="none"/>
          </a:ln>
        </p:spPr>
      </p:cxnSp>
      <p:cxnSp>
        <p:nvCxnSpPr>
          <p:cNvPr id="3369" name="Google Shape;3369;p110"/>
          <p:cNvCxnSpPr>
            <a:stCxn id="3338" idx="5"/>
            <a:endCxn id="3339"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3370" name="Google Shape;3370;p110"/>
          <p:cNvCxnSpPr>
            <a:stCxn id="3335" idx="4"/>
            <a:endCxn id="3338"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3371" name="Google Shape;3371;p110"/>
          <p:cNvCxnSpPr>
            <a:stCxn id="3340" idx="1"/>
            <a:endCxn id="3335" idx="4"/>
          </p:cNvCxnSpPr>
          <p:nvPr/>
        </p:nvCxnSpPr>
        <p:spPr>
          <a:xfrm rot="10800000">
            <a:off x="3283732" y="2777218"/>
            <a:ext cx="392100" cy="647700"/>
          </a:xfrm>
          <a:prstGeom prst="straightConnector1">
            <a:avLst/>
          </a:prstGeom>
          <a:noFill/>
          <a:ln cap="flat" cmpd="sng" w="28575">
            <a:solidFill>
              <a:srgbClr val="B7B7B7"/>
            </a:solidFill>
            <a:prstDash val="solid"/>
            <a:round/>
            <a:headEnd len="med" w="med" type="none"/>
            <a:tailEnd len="med" w="med" type="none"/>
          </a:ln>
        </p:spPr>
      </p:cxnSp>
      <p:cxnSp>
        <p:nvCxnSpPr>
          <p:cNvPr id="3372" name="Google Shape;3372;p110"/>
          <p:cNvCxnSpPr>
            <a:stCxn id="3338" idx="2"/>
            <a:endCxn id="3337"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3373" name="Google Shape;3373;p110"/>
          <p:cNvCxnSpPr>
            <a:stCxn id="3338" idx="0"/>
            <a:endCxn id="3336"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3374" name="Google Shape;3374;p110"/>
          <p:cNvCxnSpPr>
            <a:stCxn id="3336" idx="3"/>
            <a:endCxn id="3337"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3375" name="Google Shape;3375;p110"/>
          <p:cNvCxnSpPr>
            <a:stCxn id="3333" idx="4"/>
            <a:endCxn id="3337"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3376" name="Google Shape;3376;p110"/>
          <p:cNvCxnSpPr>
            <a:stCxn id="3334" idx="2"/>
            <a:endCxn id="3333"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3377" name="Google Shape;3377;p110"/>
          <p:cNvCxnSpPr>
            <a:stCxn id="3334" idx="3"/>
            <a:endCxn id="3336"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3378" name="Google Shape;3378;p110"/>
          <p:cNvCxnSpPr>
            <a:stCxn id="3335" idx="2"/>
            <a:endCxn id="3333"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3379" name="Google Shape;3379;p110"/>
          <p:cNvCxnSpPr>
            <a:stCxn id="3335" idx="1"/>
            <a:endCxn id="3334"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3380" name="Google Shape;3380;p110"/>
          <p:cNvCxnSpPr>
            <a:stCxn id="3335" idx="2"/>
            <a:endCxn id="3336"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3381" name="Google Shape;3381;p110"/>
          <p:cNvCxnSpPr>
            <a:stCxn id="3336" idx="1"/>
            <a:endCxn id="3333"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3382" name="Google Shape;3382;p110"/>
          <p:cNvCxnSpPr>
            <a:stCxn id="3344" idx="6"/>
            <a:endCxn id="3349"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3383" name="Google Shape;3383;p110"/>
          <p:cNvSpPr/>
          <p:nvPr/>
        </p:nvSpPr>
        <p:spPr>
          <a:xfrm>
            <a:off x="2807325" y="1196125"/>
            <a:ext cx="3402300" cy="8313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This node is probably also high-betweenness but not as high as h!</a:t>
            </a:r>
            <a:endParaRPr b="1">
              <a:solidFill>
                <a:srgbClr val="FF0000"/>
              </a:solidFill>
            </a:endParaRPr>
          </a:p>
        </p:txBody>
      </p:sp>
      <p:cxnSp>
        <p:nvCxnSpPr>
          <p:cNvPr id="3384" name="Google Shape;3384;p110"/>
          <p:cNvCxnSpPr>
            <a:stCxn id="3383" idx="4"/>
            <a:endCxn id="3342" idx="1"/>
          </p:cNvCxnSpPr>
          <p:nvPr/>
        </p:nvCxnSpPr>
        <p:spPr>
          <a:xfrm>
            <a:off x="4508475" y="2027425"/>
            <a:ext cx="493500" cy="139740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8" name="Shape 3388"/>
        <p:cNvGrpSpPr/>
        <p:nvPr/>
      </p:nvGrpSpPr>
      <p:grpSpPr>
        <a:xfrm>
          <a:off x="0" y="0"/>
          <a:ext cx="0" cy="0"/>
          <a:chOff x="0" y="0"/>
          <a:chExt cx="0" cy="0"/>
        </a:xfrm>
      </p:grpSpPr>
      <p:sp>
        <p:nvSpPr>
          <p:cNvPr id="3389" name="Google Shape;3389;p111"/>
          <p:cNvSpPr/>
          <p:nvPr/>
        </p:nvSpPr>
        <p:spPr>
          <a:xfrm>
            <a:off x="346438" y="19011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390" name="Google Shape;3390;p111"/>
          <p:cNvSpPr/>
          <p:nvPr/>
        </p:nvSpPr>
        <p:spPr>
          <a:xfrm>
            <a:off x="2107638" y="1416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391" name="Google Shape;3391;p111"/>
          <p:cNvSpPr/>
          <p:nvPr/>
        </p:nvSpPr>
        <p:spPr>
          <a:xfrm>
            <a:off x="3013325" y="223776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392" name="Google Shape;3392;p111"/>
          <p:cNvSpPr/>
          <p:nvPr/>
        </p:nvSpPr>
        <p:spPr>
          <a:xfrm>
            <a:off x="1409500" y="26983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393" name="Google Shape;3393;p111"/>
          <p:cNvSpPr/>
          <p:nvPr/>
        </p:nvSpPr>
        <p:spPr>
          <a:xfrm>
            <a:off x="297513" y="3417638"/>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394" name="Google Shape;3394;p111"/>
          <p:cNvSpPr/>
          <p:nvPr/>
        </p:nvSpPr>
        <p:spPr>
          <a:xfrm>
            <a:off x="1889338" y="35792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395" name="Google Shape;3395;p111"/>
          <p:cNvSpPr/>
          <p:nvPr/>
        </p:nvSpPr>
        <p:spPr>
          <a:xfrm>
            <a:off x="2429938" y="454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396" name="Google Shape;3396;p111"/>
          <p:cNvSpPr/>
          <p:nvPr/>
        </p:nvSpPr>
        <p:spPr>
          <a:xfrm>
            <a:off x="3596663"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397" name="Google Shape;3397;p111"/>
          <p:cNvSpPr/>
          <p:nvPr/>
        </p:nvSpPr>
        <p:spPr>
          <a:xfrm>
            <a:off x="3867013" y="454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398" name="Google Shape;3398;p111"/>
          <p:cNvSpPr/>
          <p:nvPr/>
        </p:nvSpPr>
        <p:spPr>
          <a:xfrm>
            <a:off x="4922888"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399" name="Google Shape;3399;p111"/>
          <p:cNvSpPr/>
          <p:nvPr/>
        </p:nvSpPr>
        <p:spPr>
          <a:xfrm>
            <a:off x="5463488" y="23794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400" name="Google Shape;3400;p111"/>
          <p:cNvSpPr/>
          <p:nvPr/>
        </p:nvSpPr>
        <p:spPr>
          <a:xfrm>
            <a:off x="6089488"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401" name="Google Shape;3401;p111"/>
          <p:cNvSpPr/>
          <p:nvPr/>
        </p:nvSpPr>
        <p:spPr>
          <a:xfrm>
            <a:off x="5463488" y="43163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402" name="Google Shape;3402;p111"/>
          <p:cNvSpPr/>
          <p:nvPr/>
        </p:nvSpPr>
        <p:spPr>
          <a:xfrm>
            <a:off x="6835713" y="442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403" name="Google Shape;3403;p111"/>
          <p:cNvSpPr/>
          <p:nvPr/>
        </p:nvSpPr>
        <p:spPr>
          <a:xfrm>
            <a:off x="7393938" y="3479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404" name="Google Shape;3404;p111"/>
          <p:cNvSpPr/>
          <p:nvPr/>
        </p:nvSpPr>
        <p:spPr>
          <a:xfrm>
            <a:off x="8305888" y="26593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405" name="Google Shape;3405;p111"/>
          <p:cNvSpPr/>
          <p:nvPr/>
        </p:nvSpPr>
        <p:spPr>
          <a:xfrm>
            <a:off x="7106013" y="2497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406" name="Google Shape;3406;p111"/>
          <p:cNvSpPr/>
          <p:nvPr/>
        </p:nvSpPr>
        <p:spPr>
          <a:xfrm>
            <a:off x="7197688" y="1515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407" name="Google Shape;3407;p111"/>
          <p:cNvSpPr/>
          <p:nvPr/>
        </p:nvSpPr>
        <p:spPr>
          <a:xfrm>
            <a:off x="8305888" y="11472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408" name="Google Shape;3408;p111"/>
          <p:cNvCxnSpPr>
            <a:stCxn id="3407" idx="2"/>
            <a:endCxn id="3406"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3409" name="Google Shape;3409;p111"/>
          <p:cNvCxnSpPr>
            <a:stCxn id="3405" idx="0"/>
            <a:endCxn id="3406"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3410" name="Google Shape;3410;p111"/>
          <p:cNvCxnSpPr>
            <a:stCxn id="3404" idx="2"/>
            <a:endCxn id="3405"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3411" name="Google Shape;3411;p111"/>
          <p:cNvCxnSpPr>
            <a:stCxn id="3404" idx="2"/>
            <a:endCxn id="3400"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3412" name="Google Shape;3412;p111"/>
          <p:cNvCxnSpPr>
            <a:stCxn id="3404" idx="2"/>
            <a:endCxn id="3403"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3413" name="Google Shape;3413;p111"/>
          <p:cNvCxnSpPr>
            <a:stCxn id="3403" idx="2"/>
            <a:endCxn id="3400" idx="6"/>
          </p:cNvCxnSpPr>
          <p:nvPr/>
        </p:nvCxnSpPr>
        <p:spPr>
          <a:xfrm rot="10800000">
            <a:off x="6630138" y="3615550"/>
            <a:ext cx="763800" cy="133500"/>
          </a:xfrm>
          <a:prstGeom prst="straightConnector1">
            <a:avLst/>
          </a:prstGeom>
          <a:noFill/>
          <a:ln cap="flat" cmpd="sng" w="28575">
            <a:solidFill>
              <a:srgbClr val="B7B7B7"/>
            </a:solidFill>
            <a:prstDash val="solid"/>
            <a:round/>
            <a:headEnd len="med" w="med" type="none"/>
            <a:tailEnd len="med" w="med" type="none"/>
          </a:ln>
        </p:spPr>
      </p:cxnSp>
      <p:cxnSp>
        <p:nvCxnSpPr>
          <p:cNvPr id="3414" name="Google Shape;3414;p111"/>
          <p:cNvCxnSpPr>
            <a:stCxn id="3403" idx="1"/>
            <a:endCxn id="3399"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3415" name="Google Shape;3415;p111"/>
          <p:cNvCxnSpPr>
            <a:stCxn id="3402" idx="0"/>
            <a:endCxn id="3400"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3416" name="Google Shape;3416;p111"/>
          <p:cNvCxnSpPr>
            <a:stCxn id="3401" idx="7"/>
            <a:endCxn id="3400"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3417" name="Google Shape;3417;p111"/>
          <p:cNvCxnSpPr>
            <a:stCxn id="3402" idx="1"/>
            <a:endCxn id="3401"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3418" name="Google Shape;3418;p111"/>
          <p:cNvCxnSpPr>
            <a:stCxn id="3400" idx="2"/>
            <a:endCxn id="3398" idx="6"/>
          </p:cNvCxnSpPr>
          <p:nvPr/>
        </p:nvCxnSpPr>
        <p:spPr>
          <a:xfrm rot="10800000">
            <a:off x="5463388" y="3615625"/>
            <a:ext cx="626100" cy="0"/>
          </a:xfrm>
          <a:prstGeom prst="straightConnector1">
            <a:avLst/>
          </a:prstGeom>
          <a:noFill/>
          <a:ln cap="flat" cmpd="sng" w="28575">
            <a:solidFill>
              <a:srgbClr val="B7B7B7"/>
            </a:solidFill>
            <a:prstDash val="solid"/>
            <a:round/>
            <a:headEnd len="med" w="med" type="none"/>
            <a:tailEnd len="med" w="med" type="none"/>
          </a:ln>
        </p:spPr>
      </p:cxnSp>
      <p:cxnSp>
        <p:nvCxnSpPr>
          <p:cNvPr id="3419" name="Google Shape;3419;p111"/>
          <p:cNvCxnSpPr>
            <a:stCxn id="3401" idx="0"/>
            <a:endCxn id="3398"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3420" name="Google Shape;3420;p111"/>
          <p:cNvCxnSpPr>
            <a:stCxn id="3400" idx="0"/>
            <a:endCxn id="3399"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3421" name="Google Shape;3421;p111"/>
          <p:cNvCxnSpPr>
            <a:stCxn id="3398" idx="7"/>
            <a:endCxn id="3399" idx="4"/>
          </p:cNvCxnSpPr>
          <p:nvPr/>
        </p:nvCxnSpPr>
        <p:spPr>
          <a:xfrm flipH="1" rot="10800000">
            <a:off x="5384318" y="2918818"/>
            <a:ext cx="349500" cy="506100"/>
          </a:xfrm>
          <a:prstGeom prst="straightConnector1">
            <a:avLst/>
          </a:prstGeom>
          <a:noFill/>
          <a:ln cap="flat" cmpd="sng" w="28575">
            <a:solidFill>
              <a:srgbClr val="B7B7B7"/>
            </a:solidFill>
            <a:prstDash val="solid"/>
            <a:round/>
            <a:headEnd len="med" w="med" type="none"/>
            <a:tailEnd len="med" w="med" type="none"/>
          </a:ln>
        </p:spPr>
      </p:cxnSp>
      <p:cxnSp>
        <p:nvCxnSpPr>
          <p:cNvPr id="3422" name="Google Shape;3422;p111"/>
          <p:cNvCxnSpPr>
            <a:stCxn id="3398" idx="2"/>
            <a:endCxn id="3396" idx="6"/>
          </p:cNvCxnSpPr>
          <p:nvPr/>
        </p:nvCxnSpPr>
        <p:spPr>
          <a:xfrm rot="10800000">
            <a:off x="4137188" y="3615625"/>
            <a:ext cx="785700" cy="0"/>
          </a:xfrm>
          <a:prstGeom prst="straightConnector1">
            <a:avLst/>
          </a:prstGeom>
          <a:noFill/>
          <a:ln cap="flat" cmpd="sng" w="28575">
            <a:solidFill>
              <a:srgbClr val="B7B7B7"/>
            </a:solidFill>
            <a:prstDash val="solid"/>
            <a:round/>
            <a:headEnd len="med" w="med" type="none"/>
            <a:tailEnd len="med" w="med" type="none"/>
          </a:ln>
        </p:spPr>
      </p:cxnSp>
      <p:cxnSp>
        <p:nvCxnSpPr>
          <p:cNvPr id="3423" name="Google Shape;3423;p111"/>
          <p:cNvCxnSpPr>
            <a:stCxn id="3397" idx="0"/>
            <a:endCxn id="3396" idx="4"/>
          </p:cNvCxnSpPr>
          <p:nvPr/>
        </p:nvCxnSpPr>
        <p:spPr>
          <a:xfrm rot="10800000">
            <a:off x="3867013" y="3885475"/>
            <a:ext cx="270300" cy="659400"/>
          </a:xfrm>
          <a:prstGeom prst="straightConnector1">
            <a:avLst/>
          </a:prstGeom>
          <a:noFill/>
          <a:ln cap="flat" cmpd="sng" w="28575">
            <a:solidFill>
              <a:srgbClr val="B7B7B7"/>
            </a:solidFill>
            <a:prstDash val="solid"/>
            <a:round/>
            <a:headEnd len="med" w="med" type="none"/>
            <a:tailEnd len="med" w="med" type="none"/>
          </a:ln>
        </p:spPr>
      </p:cxnSp>
      <p:cxnSp>
        <p:nvCxnSpPr>
          <p:cNvPr id="3424" name="Google Shape;3424;p111"/>
          <p:cNvCxnSpPr>
            <a:stCxn id="3396" idx="3"/>
            <a:endCxn id="3395" idx="7"/>
          </p:cNvCxnSpPr>
          <p:nvPr/>
        </p:nvCxnSpPr>
        <p:spPr>
          <a:xfrm flipH="1">
            <a:off x="2891332" y="3806332"/>
            <a:ext cx="784500" cy="817500"/>
          </a:xfrm>
          <a:prstGeom prst="straightConnector1">
            <a:avLst/>
          </a:prstGeom>
          <a:noFill/>
          <a:ln cap="flat" cmpd="sng" w="28575">
            <a:solidFill>
              <a:srgbClr val="B7B7B7"/>
            </a:solidFill>
            <a:prstDash val="solid"/>
            <a:round/>
            <a:headEnd len="med" w="med" type="none"/>
            <a:tailEnd len="med" w="med" type="none"/>
          </a:ln>
        </p:spPr>
      </p:cxnSp>
      <p:cxnSp>
        <p:nvCxnSpPr>
          <p:cNvPr id="3425" name="Google Shape;3425;p111"/>
          <p:cNvCxnSpPr>
            <a:stCxn id="3394" idx="5"/>
            <a:endCxn id="3395"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3426" name="Google Shape;3426;p111"/>
          <p:cNvCxnSpPr>
            <a:stCxn id="3391" idx="4"/>
            <a:endCxn id="3394"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3427" name="Google Shape;3427;p111"/>
          <p:cNvCxnSpPr>
            <a:stCxn id="3396" idx="1"/>
            <a:endCxn id="3391" idx="4"/>
          </p:cNvCxnSpPr>
          <p:nvPr/>
        </p:nvCxnSpPr>
        <p:spPr>
          <a:xfrm rot="10800000">
            <a:off x="3283732" y="2777218"/>
            <a:ext cx="392100" cy="647700"/>
          </a:xfrm>
          <a:prstGeom prst="straightConnector1">
            <a:avLst/>
          </a:prstGeom>
          <a:noFill/>
          <a:ln cap="flat" cmpd="sng" w="28575">
            <a:solidFill>
              <a:srgbClr val="B7B7B7"/>
            </a:solidFill>
            <a:prstDash val="solid"/>
            <a:round/>
            <a:headEnd len="med" w="med" type="none"/>
            <a:tailEnd len="med" w="med" type="none"/>
          </a:ln>
        </p:spPr>
      </p:cxnSp>
      <p:cxnSp>
        <p:nvCxnSpPr>
          <p:cNvPr id="3428" name="Google Shape;3428;p111"/>
          <p:cNvCxnSpPr>
            <a:stCxn id="3394" idx="2"/>
            <a:endCxn id="3393"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3429" name="Google Shape;3429;p111"/>
          <p:cNvCxnSpPr>
            <a:stCxn id="3394" idx="0"/>
            <a:endCxn id="3392"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3430" name="Google Shape;3430;p111"/>
          <p:cNvCxnSpPr>
            <a:stCxn id="3392" idx="3"/>
            <a:endCxn id="3393"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3431" name="Google Shape;3431;p111"/>
          <p:cNvCxnSpPr>
            <a:stCxn id="3389" idx="4"/>
            <a:endCxn id="3393"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3432" name="Google Shape;3432;p111"/>
          <p:cNvCxnSpPr>
            <a:stCxn id="3390" idx="2"/>
            <a:endCxn id="3389"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3433" name="Google Shape;3433;p111"/>
          <p:cNvCxnSpPr>
            <a:stCxn id="3390" idx="3"/>
            <a:endCxn id="3392"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3434" name="Google Shape;3434;p111"/>
          <p:cNvCxnSpPr>
            <a:stCxn id="3391" idx="2"/>
            <a:endCxn id="3389"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3435" name="Google Shape;3435;p111"/>
          <p:cNvCxnSpPr>
            <a:stCxn id="3391" idx="1"/>
            <a:endCxn id="3390"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3436" name="Google Shape;3436;p111"/>
          <p:cNvCxnSpPr>
            <a:stCxn id="3391" idx="2"/>
            <a:endCxn id="3392"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3437" name="Google Shape;3437;p111"/>
          <p:cNvCxnSpPr>
            <a:stCxn id="3392" idx="1"/>
            <a:endCxn id="3389"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3438" name="Google Shape;3438;p111"/>
          <p:cNvCxnSpPr>
            <a:stCxn id="3400" idx="6"/>
            <a:endCxn id="3405"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3439" name="Google Shape;3439;p111"/>
          <p:cNvSpPr/>
          <p:nvPr/>
        </p:nvSpPr>
        <p:spPr>
          <a:xfrm>
            <a:off x="2807325" y="1196125"/>
            <a:ext cx="3402300" cy="8313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Indeed!</a:t>
            </a:r>
            <a:endParaRPr b="1">
              <a:solidFill>
                <a:srgbClr val="FF0000"/>
              </a:solidFill>
            </a:endParaRPr>
          </a:p>
        </p:txBody>
      </p:sp>
      <p:graphicFrame>
        <p:nvGraphicFramePr>
          <p:cNvPr id="3440" name="Google Shape;3440;p111"/>
          <p:cNvGraphicFramePr/>
          <p:nvPr/>
        </p:nvGraphicFramePr>
        <p:xfrm>
          <a:off x="364338" y="120650"/>
          <a:ext cx="3000000" cy="3000000"/>
        </p:xfrm>
        <a:graphic>
          <a:graphicData uri="http://schemas.openxmlformats.org/drawingml/2006/table">
            <a:tbl>
              <a:tblPr>
                <a:noFill/>
                <a:tableStyleId>{D533A967-1B24-4C1F-A5BD-666CA7F43D67}</a:tableStyleId>
              </a:tblPr>
              <a:tblGrid>
                <a:gridCol w="441150"/>
                <a:gridCol w="441150"/>
                <a:gridCol w="441150"/>
                <a:gridCol w="441150"/>
                <a:gridCol w="347575"/>
                <a:gridCol w="441150"/>
                <a:gridCol w="441150"/>
                <a:gridCol w="441150"/>
                <a:gridCol w="441150"/>
                <a:gridCol w="441150"/>
                <a:gridCol w="441150"/>
                <a:gridCol w="441150"/>
                <a:gridCol w="441150"/>
                <a:gridCol w="441150"/>
                <a:gridCol w="441150"/>
                <a:gridCol w="441150"/>
                <a:gridCol w="441150"/>
                <a:gridCol w="441150"/>
                <a:gridCol w="441150"/>
              </a:tblGrid>
              <a:tr h="200025">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a</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b</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c</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d</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e</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f</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g</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h</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i</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j</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k</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l</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m</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n</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o</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p</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q</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r</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s</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0.6</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3.8</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9</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5.2</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10.2</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53</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88.1</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81.5</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66.5</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0.5</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1.5</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32</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5</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5</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17</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cxnSp>
        <p:nvCxnSpPr>
          <p:cNvPr id="3441" name="Google Shape;3441;p111"/>
          <p:cNvCxnSpPr>
            <a:stCxn id="3439" idx="0"/>
          </p:cNvCxnSpPr>
          <p:nvPr/>
        </p:nvCxnSpPr>
        <p:spPr>
          <a:xfrm rot="10800000">
            <a:off x="4112175" y="749425"/>
            <a:ext cx="396300" cy="44670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5" name="Shape 3445"/>
        <p:cNvGrpSpPr/>
        <p:nvPr/>
      </p:nvGrpSpPr>
      <p:grpSpPr>
        <a:xfrm>
          <a:off x="0" y="0"/>
          <a:ext cx="0" cy="0"/>
          <a:chOff x="0" y="0"/>
          <a:chExt cx="0" cy="0"/>
        </a:xfrm>
      </p:grpSpPr>
      <p:sp>
        <p:nvSpPr>
          <p:cNvPr id="3446" name="Google Shape;3446;p11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a:t>
            </a:r>
            <a:r>
              <a:rPr lang="en"/>
              <a:t>C</a:t>
            </a:r>
            <a:r>
              <a:rPr baseline="-25000" lang="en"/>
              <a:t>Bet</a:t>
            </a:r>
            <a:r>
              <a:rPr lang="en"/>
              <a:t>)</a:t>
            </a:r>
            <a:endParaRPr/>
          </a:p>
        </p:txBody>
      </p:sp>
      <p:sp>
        <p:nvSpPr>
          <p:cNvPr id="3447" name="Google Shape;3447;p112"/>
          <p:cNvSpPr txBox="1"/>
          <p:nvPr>
            <p:ph idx="1" type="body"/>
          </p:nvPr>
        </p:nvSpPr>
        <p:spPr>
          <a:xfrm>
            <a:off x="311700" y="1225225"/>
            <a:ext cx="7285200" cy="3750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a:t>
            </a:r>
            <a:r>
              <a:rPr b="1" lang="en"/>
              <a:t>relative betweenness centrality</a:t>
            </a:r>
            <a:r>
              <a:rPr lang="en"/>
              <a:t> of a node (</a:t>
            </a:r>
            <a:r>
              <a:rPr b="1" lang="en"/>
              <a:t>k</a:t>
            </a:r>
            <a:r>
              <a:rPr lang="en"/>
              <a:t>) with respect to two other nodes (</a:t>
            </a:r>
            <a:r>
              <a:rPr b="1" lang="en"/>
              <a:t>i</a:t>
            </a:r>
            <a:r>
              <a:rPr lang="en"/>
              <a:t>, </a:t>
            </a:r>
            <a:r>
              <a:rPr b="1" lang="en"/>
              <a:t>j</a:t>
            </a:r>
            <a:r>
              <a:rPr lang="en"/>
              <a:t>) is equal to the proportion of shortest paths between i and j that k is an inner node on</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914400" rtl="0" algn="l">
              <a:spcBef>
                <a:spcPts val="0"/>
              </a:spcBef>
              <a:spcAft>
                <a:spcPts val="0"/>
              </a:spcAft>
              <a:buNone/>
            </a:pPr>
            <a:r>
              <a:t/>
            </a:r>
            <a:endParaRPr/>
          </a:p>
        </p:txBody>
      </p:sp>
      <p:sp>
        <p:nvSpPr>
          <p:cNvPr id="3448" name="Google Shape;3448;p112"/>
          <p:cNvSpPr/>
          <p:nvPr/>
        </p:nvSpPr>
        <p:spPr>
          <a:xfrm>
            <a:off x="2672643" y="259471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449" name="Google Shape;3449;p112"/>
          <p:cNvSpPr/>
          <p:nvPr/>
        </p:nvSpPr>
        <p:spPr>
          <a:xfrm>
            <a:off x="3991266" y="223258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450" name="Google Shape;3450;p112"/>
          <p:cNvSpPr/>
          <p:nvPr/>
        </p:nvSpPr>
        <p:spPr>
          <a:xfrm>
            <a:off x="4669360" y="28465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451" name="Google Shape;3451;p112"/>
          <p:cNvSpPr/>
          <p:nvPr/>
        </p:nvSpPr>
        <p:spPr>
          <a:xfrm>
            <a:off x="3468565" y="319096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452" name="Google Shape;3452;p112"/>
          <p:cNvSpPr/>
          <p:nvPr/>
        </p:nvSpPr>
        <p:spPr>
          <a:xfrm>
            <a:off x="2636013" y="372894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453" name="Google Shape;3453;p112"/>
          <p:cNvSpPr/>
          <p:nvPr/>
        </p:nvSpPr>
        <p:spPr>
          <a:xfrm>
            <a:off x="3827823" y="384978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454" name="Google Shape;3454;p112"/>
          <p:cNvSpPr/>
          <p:nvPr/>
        </p:nvSpPr>
        <p:spPr>
          <a:xfrm>
            <a:off x="4232574"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455" name="Google Shape;3455;p112"/>
          <p:cNvSpPr/>
          <p:nvPr/>
        </p:nvSpPr>
        <p:spPr>
          <a:xfrm>
            <a:off x="5106109"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456" name="Google Shape;3456;p112"/>
          <p:cNvSpPr/>
          <p:nvPr/>
        </p:nvSpPr>
        <p:spPr>
          <a:xfrm>
            <a:off x="5308522"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457" name="Google Shape;3457;p112"/>
          <p:cNvSpPr/>
          <p:nvPr/>
        </p:nvSpPr>
        <p:spPr>
          <a:xfrm>
            <a:off x="6099063"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458" name="Google Shape;3458;p112"/>
          <p:cNvSpPr/>
          <p:nvPr/>
        </p:nvSpPr>
        <p:spPr>
          <a:xfrm>
            <a:off x="6503814" y="295245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459" name="Google Shape;3459;p112"/>
          <p:cNvSpPr/>
          <p:nvPr/>
        </p:nvSpPr>
        <p:spPr>
          <a:xfrm>
            <a:off x="6972505"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460" name="Google Shape;3460;p112"/>
          <p:cNvSpPr/>
          <p:nvPr/>
        </p:nvSpPr>
        <p:spPr>
          <a:xfrm>
            <a:off x="6503814" y="440108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461" name="Google Shape;3461;p112"/>
          <p:cNvSpPr/>
          <p:nvPr/>
        </p:nvSpPr>
        <p:spPr>
          <a:xfrm>
            <a:off x="7531209" y="448226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462" name="Google Shape;3462;p112"/>
          <p:cNvSpPr/>
          <p:nvPr/>
        </p:nvSpPr>
        <p:spPr>
          <a:xfrm>
            <a:off x="7949156" y="377509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463" name="Google Shape;3463;p112"/>
          <p:cNvSpPr/>
          <p:nvPr/>
        </p:nvSpPr>
        <p:spPr>
          <a:xfrm>
            <a:off x="8631939" y="3161829"/>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464" name="Google Shape;3464;p112"/>
          <p:cNvSpPr/>
          <p:nvPr/>
        </p:nvSpPr>
        <p:spPr>
          <a:xfrm>
            <a:off x="7733584" y="3040648"/>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465" name="Google Shape;3465;p112"/>
          <p:cNvSpPr/>
          <p:nvPr/>
        </p:nvSpPr>
        <p:spPr>
          <a:xfrm>
            <a:off x="7802222" y="2306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466" name="Google Shape;3466;p112"/>
          <p:cNvSpPr/>
          <p:nvPr/>
        </p:nvSpPr>
        <p:spPr>
          <a:xfrm>
            <a:off x="8631939" y="203087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467" name="Google Shape;3467;p112"/>
          <p:cNvCxnSpPr>
            <a:stCxn id="3466" idx="2"/>
            <a:endCxn id="3465" idx="7"/>
          </p:cNvCxnSpPr>
          <p:nvPr/>
        </p:nvCxnSpPr>
        <p:spPr>
          <a:xfrm flipH="1">
            <a:off x="8148039" y="2232475"/>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3468" name="Google Shape;3468;p112"/>
          <p:cNvCxnSpPr>
            <a:stCxn id="3464" idx="0"/>
            <a:endCxn id="3465" idx="4"/>
          </p:cNvCxnSpPr>
          <p:nvPr/>
        </p:nvCxnSpPr>
        <p:spPr>
          <a:xfrm flipH="1" rot="10800000">
            <a:off x="7936084" y="2709448"/>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3469" name="Google Shape;3469;p112"/>
          <p:cNvCxnSpPr>
            <a:stCxn id="3463" idx="2"/>
            <a:endCxn id="3464" idx="6"/>
          </p:cNvCxnSpPr>
          <p:nvPr/>
        </p:nvCxnSpPr>
        <p:spPr>
          <a:xfrm rot="10800000">
            <a:off x="8138439" y="3242229"/>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3470" name="Google Shape;3470;p112"/>
          <p:cNvCxnSpPr>
            <a:stCxn id="3463" idx="2"/>
            <a:endCxn id="3459" idx="6"/>
          </p:cNvCxnSpPr>
          <p:nvPr/>
        </p:nvCxnSpPr>
        <p:spPr>
          <a:xfrm flipH="1">
            <a:off x="7377639" y="3363429"/>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3471" name="Google Shape;3471;p112"/>
          <p:cNvCxnSpPr>
            <a:stCxn id="3463" idx="2"/>
            <a:endCxn id="3462" idx="7"/>
          </p:cNvCxnSpPr>
          <p:nvPr/>
        </p:nvCxnSpPr>
        <p:spPr>
          <a:xfrm flipH="1">
            <a:off x="8294739" y="3363429"/>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3472" name="Google Shape;3472;p112"/>
          <p:cNvCxnSpPr>
            <a:stCxn id="3462" idx="2"/>
            <a:endCxn id="3459" idx="6"/>
          </p:cNvCxnSpPr>
          <p:nvPr/>
        </p:nvCxnSpPr>
        <p:spPr>
          <a:xfrm rot="10800000">
            <a:off x="7377356" y="3876797"/>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3473" name="Google Shape;3473;p112"/>
          <p:cNvCxnSpPr>
            <a:stCxn id="3462" idx="1"/>
            <a:endCxn id="3458" idx="5"/>
          </p:cNvCxnSpPr>
          <p:nvPr/>
        </p:nvCxnSpPr>
        <p:spPr>
          <a:xfrm rot="10800000">
            <a:off x="6849567" y="3296544"/>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3474" name="Google Shape;3474;p112"/>
          <p:cNvCxnSpPr>
            <a:stCxn id="3461" idx="0"/>
            <a:endCxn id="3459" idx="4"/>
          </p:cNvCxnSpPr>
          <p:nvPr/>
        </p:nvCxnSpPr>
        <p:spPr>
          <a:xfrm rot="10800000">
            <a:off x="7175109" y="4078466"/>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3475" name="Google Shape;3475;p112"/>
          <p:cNvCxnSpPr>
            <a:stCxn id="3460" idx="7"/>
            <a:endCxn id="3459" idx="4"/>
          </p:cNvCxnSpPr>
          <p:nvPr/>
        </p:nvCxnSpPr>
        <p:spPr>
          <a:xfrm flipH="1" rot="10800000">
            <a:off x="6849503" y="4078527"/>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3476" name="Google Shape;3476;p112"/>
          <p:cNvCxnSpPr>
            <a:stCxn id="3461" idx="1"/>
            <a:endCxn id="3460" idx="6"/>
          </p:cNvCxnSpPr>
          <p:nvPr/>
        </p:nvCxnSpPr>
        <p:spPr>
          <a:xfrm flipH="1">
            <a:off x="6908920" y="4541313"/>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3477" name="Google Shape;3477;p112"/>
          <p:cNvCxnSpPr>
            <a:stCxn id="3459" idx="2"/>
            <a:endCxn id="3457" idx="6"/>
          </p:cNvCxnSpPr>
          <p:nvPr/>
        </p:nvCxnSpPr>
        <p:spPr>
          <a:xfrm rot="10800000">
            <a:off x="6504205" y="3876907"/>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3478" name="Google Shape;3478;p112"/>
          <p:cNvCxnSpPr>
            <a:stCxn id="3460" idx="0"/>
            <a:endCxn id="3457" idx="5"/>
          </p:cNvCxnSpPr>
          <p:nvPr/>
        </p:nvCxnSpPr>
        <p:spPr>
          <a:xfrm rot="10800000">
            <a:off x="6444714" y="4019480"/>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3479" name="Google Shape;3479;p112"/>
          <p:cNvCxnSpPr>
            <a:stCxn id="3459" idx="0"/>
            <a:endCxn id="3458" idx="5"/>
          </p:cNvCxnSpPr>
          <p:nvPr/>
        </p:nvCxnSpPr>
        <p:spPr>
          <a:xfrm rot="10800000">
            <a:off x="6849505" y="3296707"/>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3480" name="Google Shape;3480;p112"/>
          <p:cNvCxnSpPr>
            <a:stCxn id="3457" idx="7"/>
            <a:endCxn id="3458" idx="4"/>
          </p:cNvCxnSpPr>
          <p:nvPr/>
        </p:nvCxnSpPr>
        <p:spPr>
          <a:xfrm flipH="1" rot="10800000">
            <a:off x="6444752" y="3355754"/>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3481" name="Google Shape;3481;p112"/>
          <p:cNvCxnSpPr>
            <a:stCxn id="3457" idx="2"/>
            <a:endCxn id="3455" idx="6"/>
          </p:cNvCxnSpPr>
          <p:nvPr/>
        </p:nvCxnSpPr>
        <p:spPr>
          <a:xfrm rot="10800000">
            <a:off x="5511063" y="3876907"/>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3482" name="Google Shape;3482;p112"/>
          <p:cNvCxnSpPr>
            <a:stCxn id="3456" idx="0"/>
            <a:endCxn id="3455" idx="4"/>
          </p:cNvCxnSpPr>
          <p:nvPr/>
        </p:nvCxnSpPr>
        <p:spPr>
          <a:xfrm rot="10800000">
            <a:off x="5308522" y="4078515"/>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3483" name="Google Shape;3483;p112"/>
          <p:cNvCxnSpPr>
            <a:stCxn id="3455" idx="3"/>
            <a:endCxn id="3454" idx="7"/>
          </p:cNvCxnSpPr>
          <p:nvPr/>
        </p:nvCxnSpPr>
        <p:spPr>
          <a:xfrm flipH="1">
            <a:off x="4578320" y="4019460"/>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3484" name="Google Shape;3484;p112"/>
          <p:cNvCxnSpPr>
            <a:stCxn id="3453" idx="5"/>
            <a:endCxn id="3454" idx="0"/>
          </p:cNvCxnSpPr>
          <p:nvPr/>
        </p:nvCxnSpPr>
        <p:spPr>
          <a:xfrm>
            <a:off x="4173512" y="4193938"/>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3485" name="Google Shape;3485;p112"/>
          <p:cNvCxnSpPr>
            <a:stCxn id="3450" idx="4"/>
            <a:endCxn id="3453" idx="7"/>
          </p:cNvCxnSpPr>
          <p:nvPr/>
        </p:nvCxnSpPr>
        <p:spPr>
          <a:xfrm flipH="1">
            <a:off x="4173460" y="3249700"/>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3486" name="Google Shape;3486;p112"/>
          <p:cNvCxnSpPr>
            <a:stCxn id="3455" idx="1"/>
            <a:endCxn id="3450" idx="4"/>
          </p:cNvCxnSpPr>
          <p:nvPr/>
        </p:nvCxnSpPr>
        <p:spPr>
          <a:xfrm rot="10800000">
            <a:off x="4871720" y="3249554"/>
            <a:ext cx="293700" cy="484800"/>
          </a:xfrm>
          <a:prstGeom prst="straightConnector1">
            <a:avLst/>
          </a:prstGeom>
          <a:noFill/>
          <a:ln cap="flat" cmpd="sng" w="28575">
            <a:solidFill>
              <a:schemeClr val="dk2"/>
            </a:solidFill>
            <a:prstDash val="solid"/>
            <a:round/>
            <a:headEnd len="med" w="med" type="none"/>
            <a:tailEnd len="med" w="med" type="none"/>
          </a:ln>
        </p:spPr>
      </p:cxnSp>
      <p:cxnSp>
        <p:nvCxnSpPr>
          <p:cNvPr id="3487" name="Google Shape;3487;p112"/>
          <p:cNvCxnSpPr>
            <a:stCxn id="3453" idx="2"/>
            <a:endCxn id="3452" idx="6"/>
          </p:cNvCxnSpPr>
          <p:nvPr/>
        </p:nvCxnSpPr>
        <p:spPr>
          <a:xfrm rot="10800000">
            <a:off x="3040923" y="3930485"/>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3488" name="Google Shape;3488;p112"/>
          <p:cNvCxnSpPr>
            <a:stCxn id="3453" idx="0"/>
            <a:endCxn id="3451" idx="4"/>
          </p:cNvCxnSpPr>
          <p:nvPr/>
        </p:nvCxnSpPr>
        <p:spPr>
          <a:xfrm rot="10800000">
            <a:off x="3670923" y="3594185"/>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3489" name="Google Shape;3489;p112"/>
          <p:cNvCxnSpPr>
            <a:stCxn id="3451" idx="3"/>
            <a:endCxn id="3452" idx="7"/>
          </p:cNvCxnSpPr>
          <p:nvPr/>
        </p:nvCxnSpPr>
        <p:spPr>
          <a:xfrm flipH="1">
            <a:off x="2981576" y="3535113"/>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3490" name="Google Shape;3490;p112"/>
          <p:cNvCxnSpPr>
            <a:stCxn id="3448" idx="4"/>
            <a:endCxn id="3452" idx="0"/>
          </p:cNvCxnSpPr>
          <p:nvPr/>
        </p:nvCxnSpPr>
        <p:spPr>
          <a:xfrm flipH="1">
            <a:off x="2838543" y="2997916"/>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3491" name="Google Shape;3491;p112"/>
          <p:cNvCxnSpPr>
            <a:stCxn id="3449" idx="2"/>
            <a:endCxn id="3448" idx="6"/>
          </p:cNvCxnSpPr>
          <p:nvPr/>
        </p:nvCxnSpPr>
        <p:spPr>
          <a:xfrm flipH="1">
            <a:off x="3077766" y="2434187"/>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3492" name="Google Shape;3492;p112"/>
          <p:cNvCxnSpPr>
            <a:stCxn id="3449" idx="3"/>
            <a:endCxn id="3451" idx="0"/>
          </p:cNvCxnSpPr>
          <p:nvPr/>
        </p:nvCxnSpPr>
        <p:spPr>
          <a:xfrm flipH="1">
            <a:off x="3671077" y="2576739"/>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3493" name="Google Shape;3493;p112"/>
          <p:cNvCxnSpPr>
            <a:stCxn id="3450" idx="2"/>
            <a:endCxn id="3448" idx="6"/>
          </p:cNvCxnSpPr>
          <p:nvPr/>
        </p:nvCxnSpPr>
        <p:spPr>
          <a:xfrm rot="10800000">
            <a:off x="3077560" y="2796400"/>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3494" name="Google Shape;3494;p112"/>
          <p:cNvCxnSpPr>
            <a:stCxn id="3450" idx="1"/>
            <a:endCxn id="3449" idx="5"/>
          </p:cNvCxnSpPr>
          <p:nvPr/>
        </p:nvCxnSpPr>
        <p:spPr>
          <a:xfrm rot="10800000">
            <a:off x="4336871" y="2576747"/>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3495" name="Google Shape;3495;p112"/>
          <p:cNvCxnSpPr>
            <a:stCxn id="3450" idx="2"/>
            <a:endCxn id="3451" idx="7"/>
          </p:cNvCxnSpPr>
          <p:nvPr/>
        </p:nvCxnSpPr>
        <p:spPr>
          <a:xfrm flipH="1">
            <a:off x="3814360" y="3048100"/>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3496" name="Google Shape;3496;p112"/>
          <p:cNvCxnSpPr>
            <a:stCxn id="3451" idx="1"/>
            <a:endCxn id="3448" idx="5"/>
          </p:cNvCxnSpPr>
          <p:nvPr/>
        </p:nvCxnSpPr>
        <p:spPr>
          <a:xfrm rot="10800000">
            <a:off x="3018476" y="2938907"/>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3497" name="Google Shape;3497;p112"/>
          <p:cNvCxnSpPr>
            <a:stCxn id="3459" idx="6"/>
            <a:endCxn id="3464" idx="3"/>
          </p:cNvCxnSpPr>
          <p:nvPr/>
        </p:nvCxnSpPr>
        <p:spPr>
          <a:xfrm flipH="1" rot="10800000">
            <a:off x="7377505" y="3384907"/>
            <a:ext cx="415500" cy="4920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1" name="Shape 3501"/>
        <p:cNvGrpSpPr/>
        <p:nvPr/>
      </p:nvGrpSpPr>
      <p:grpSpPr>
        <a:xfrm>
          <a:off x="0" y="0"/>
          <a:ext cx="0" cy="0"/>
          <a:chOff x="0" y="0"/>
          <a:chExt cx="0" cy="0"/>
        </a:xfrm>
      </p:grpSpPr>
      <p:sp>
        <p:nvSpPr>
          <p:cNvPr id="3502" name="Google Shape;3502;p11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3503" name="Google Shape;3503;p113"/>
          <p:cNvSpPr txBox="1"/>
          <p:nvPr>
            <p:ph idx="1" type="body"/>
          </p:nvPr>
        </p:nvSpPr>
        <p:spPr>
          <a:xfrm>
            <a:off x="311700" y="1225225"/>
            <a:ext cx="7285200" cy="1007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a:t>
            </a:r>
            <a:r>
              <a:rPr b="1" lang="en"/>
              <a:t>relative betweenness </a:t>
            </a:r>
            <a:r>
              <a:rPr b="1" lang="en"/>
              <a:t>centrality</a:t>
            </a:r>
            <a:r>
              <a:rPr lang="en"/>
              <a:t> of a node (</a:t>
            </a:r>
            <a:r>
              <a:rPr b="1" lang="en"/>
              <a:t>k</a:t>
            </a:r>
            <a:r>
              <a:rPr lang="en"/>
              <a:t>) with respect to two other nodes (</a:t>
            </a:r>
            <a:r>
              <a:rPr b="1" lang="en"/>
              <a:t>i</a:t>
            </a:r>
            <a:r>
              <a:rPr lang="en"/>
              <a:t>, </a:t>
            </a:r>
            <a:r>
              <a:rPr b="1" lang="en"/>
              <a:t>j</a:t>
            </a:r>
            <a:r>
              <a:rPr lang="en"/>
              <a:t>) is equal to the proportion of shortest paths between i and j that k is an inner node on</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914400" rtl="0" algn="l">
              <a:spcBef>
                <a:spcPts val="0"/>
              </a:spcBef>
              <a:spcAft>
                <a:spcPts val="0"/>
              </a:spcAft>
              <a:buNone/>
            </a:pPr>
            <a:r>
              <a:t/>
            </a:r>
            <a:endParaRPr/>
          </a:p>
        </p:txBody>
      </p:sp>
      <p:sp>
        <p:nvSpPr>
          <p:cNvPr id="3504" name="Google Shape;3504;p113"/>
          <p:cNvSpPr/>
          <p:nvPr/>
        </p:nvSpPr>
        <p:spPr>
          <a:xfrm>
            <a:off x="2672643" y="259471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505" name="Google Shape;3505;p113"/>
          <p:cNvSpPr/>
          <p:nvPr/>
        </p:nvSpPr>
        <p:spPr>
          <a:xfrm>
            <a:off x="3991266" y="223258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506" name="Google Shape;3506;p113"/>
          <p:cNvSpPr/>
          <p:nvPr/>
        </p:nvSpPr>
        <p:spPr>
          <a:xfrm>
            <a:off x="4669360" y="28465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507" name="Google Shape;3507;p113"/>
          <p:cNvSpPr/>
          <p:nvPr/>
        </p:nvSpPr>
        <p:spPr>
          <a:xfrm>
            <a:off x="3468565" y="3190960"/>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508" name="Google Shape;3508;p113"/>
          <p:cNvSpPr/>
          <p:nvPr/>
        </p:nvSpPr>
        <p:spPr>
          <a:xfrm>
            <a:off x="2636013" y="3728942"/>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509" name="Google Shape;3509;p113"/>
          <p:cNvSpPr/>
          <p:nvPr/>
        </p:nvSpPr>
        <p:spPr>
          <a:xfrm>
            <a:off x="3827823" y="384978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510" name="Google Shape;3510;p113"/>
          <p:cNvSpPr/>
          <p:nvPr/>
        </p:nvSpPr>
        <p:spPr>
          <a:xfrm>
            <a:off x="4232574"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511" name="Google Shape;3511;p113"/>
          <p:cNvSpPr/>
          <p:nvPr/>
        </p:nvSpPr>
        <p:spPr>
          <a:xfrm>
            <a:off x="5106109" y="3675307"/>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512" name="Google Shape;3512;p113"/>
          <p:cNvSpPr/>
          <p:nvPr/>
        </p:nvSpPr>
        <p:spPr>
          <a:xfrm>
            <a:off x="5308522"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513" name="Google Shape;3513;p113"/>
          <p:cNvSpPr/>
          <p:nvPr/>
        </p:nvSpPr>
        <p:spPr>
          <a:xfrm>
            <a:off x="6099063"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514" name="Google Shape;3514;p113"/>
          <p:cNvSpPr/>
          <p:nvPr/>
        </p:nvSpPr>
        <p:spPr>
          <a:xfrm>
            <a:off x="6503814" y="295245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515" name="Google Shape;3515;p113"/>
          <p:cNvSpPr/>
          <p:nvPr/>
        </p:nvSpPr>
        <p:spPr>
          <a:xfrm>
            <a:off x="6972505"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516" name="Google Shape;3516;p113"/>
          <p:cNvSpPr/>
          <p:nvPr/>
        </p:nvSpPr>
        <p:spPr>
          <a:xfrm>
            <a:off x="6503814" y="440108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517" name="Google Shape;3517;p113"/>
          <p:cNvSpPr/>
          <p:nvPr/>
        </p:nvSpPr>
        <p:spPr>
          <a:xfrm>
            <a:off x="7531209" y="448226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518" name="Google Shape;3518;p113"/>
          <p:cNvSpPr/>
          <p:nvPr/>
        </p:nvSpPr>
        <p:spPr>
          <a:xfrm>
            <a:off x="7949156" y="377509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519" name="Google Shape;3519;p113"/>
          <p:cNvSpPr/>
          <p:nvPr/>
        </p:nvSpPr>
        <p:spPr>
          <a:xfrm>
            <a:off x="8631939" y="3161829"/>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520" name="Google Shape;3520;p113"/>
          <p:cNvSpPr/>
          <p:nvPr/>
        </p:nvSpPr>
        <p:spPr>
          <a:xfrm>
            <a:off x="7733584" y="3040648"/>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521" name="Google Shape;3521;p113"/>
          <p:cNvSpPr/>
          <p:nvPr/>
        </p:nvSpPr>
        <p:spPr>
          <a:xfrm>
            <a:off x="7802222" y="2306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522" name="Google Shape;3522;p113"/>
          <p:cNvSpPr/>
          <p:nvPr/>
        </p:nvSpPr>
        <p:spPr>
          <a:xfrm>
            <a:off x="8631939" y="203087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523" name="Google Shape;3523;p113"/>
          <p:cNvCxnSpPr>
            <a:stCxn id="3522" idx="2"/>
            <a:endCxn id="3521" idx="7"/>
          </p:cNvCxnSpPr>
          <p:nvPr/>
        </p:nvCxnSpPr>
        <p:spPr>
          <a:xfrm flipH="1">
            <a:off x="8148039" y="2232475"/>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3524" name="Google Shape;3524;p113"/>
          <p:cNvCxnSpPr>
            <a:stCxn id="3520" idx="0"/>
            <a:endCxn id="3521" idx="4"/>
          </p:cNvCxnSpPr>
          <p:nvPr/>
        </p:nvCxnSpPr>
        <p:spPr>
          <a:xfrm flipH="1" rot="10800000">
            <a:off x="7936084" y="2709448"/>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3525" name="Google Shape;3525;p113"/>
          <p:cNvCxnSpPr>
            <a:stCxn id="3519" idx="2"/>
            <a:endCxn id="3520" idx="6"/>
          </p:cNvCxnSpPr>
          <p:nvPr/>
        </p:nvCxnSpPr>
        <p:spPr>
          <a:xfrm rot="10800000">
            <a:off x="8138439" y="3242229"/>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3526" name="Google Shape;3526;p113"/>
          <p:cNvCxnSpPr>
            <a:stCxn id="3519" idx="2"/>
            <a:endCxn id="3515" idx="6"/>
          </p:cNvCxnSpPr>
          <p:nvPr/>
        </p:nvCxnSpPr>
        <p:spPr>
          <a:xfrm flipH="1">
            <a:off x="7377639" y="3363429"/>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3527" name="Google Shape;3527;p113"/>
          <p:cNvCxnSpPr>
            <a:stCxn id="3519" idx="2"/>
            <a:endCxn id="3518" idx="7"/>
          </p:cNvCxnSpPr>
          <p:nvPr/>
        </p:nvCxnSpPr>
        <p:spPr>
          <a:xfrm flipH="1">
            <a:off x="8294739" y="3363429"/>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3528" name="Google Shape;3528;p113"/>
          <p:cNvCxnSpPr>
            <a:stCxn id="3518" idx="2"/>
            <a:endCxn id="3515" idx="6"/>
          </p:cNvCxnSpPr>
          <p:nvPr/>
        </p:nvCxnSpPr>
        <p:spPr>
          <a:xfrm rot="10800000">
            <a:off x="7377356" y="3876797"/>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3529" name="Google Shape;3529;p113"/>
          <p:cNvCxnSpPr>
            <a:stCxn id="3518" idx="1"/>
            <a:endCxn id="3514" idx="5"/>
          </p:cNvCxnSpPr>
          <p:nvPr/>
        </p:nvCxnSpPr>
        <p:spPr>
          <a:xfrm rot="10800000">
            <a:off x="6849567" y="3296544"/>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3530" name="Google Shape;3530;p113"/>
          <p:cNvCxnSpPr>
            <a:stCxn id="3517" idx="0"/>
            <a:endCxn id="3515" idx="4"/>
          </p:cNvCxnSpPr>
          <p:nvPr/>
        </p:nvCxnSpPr>
        <p:spPr>
          <a:xfrm rot="10800000">
            <a:off x="7175109" y="4078466"/>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3531" name="Google Shape;3531;p113"/>
          <p:cNvCxnSpPr>
            <a:stCxn id="3516" idx="7"/>
            <a:endCxn id="3515" idx="4"/>
          </p:cNvCxnSpPr>
          <p:nvPr/>
        </p:nvCxnSpPr>
        <p:spPr>
          <a:xfrm flipH="1" rot="10800000">
            <a:off x="6849503" y="4078527"/>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3532" name="Google Shape;3532;p113"/>
          <p:cNvCxnSpPr>
            <a:stCxn id="3517" idx="1"/>
            <a:endCxn id="3516" idx="6"/>
          </p:cNvCxnSpPr>
          <p:nvPr/>
        </p:nvCxnSpPr>
        <p:spPr>
          <a:xfrm flipH="1">
            <a:off x="6908920" y="4541313"/>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3533" name="Google Shape;3533;p113"/>
          <p:cNvCxnSpPr>
            <a:stCxn id="3515" idx="2"/>
            <a:endCxn id="3513" idx="6"/>
          </p:cNvCxnSpPr>
          <p:nvPr/>
        </p:nvCxnSpPr>
        <p:spPr>
          <a:xfrm rot="10800000">
            <a:off x="6504205" y="3876907"/>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3534" name="Google Shape;3534;p113"/>
          <p:cNvCxnSpPr>
            <a:stCxn id="3516" idx="0"/>
            <a:endCxn id="3513" idx="5"/>
          </p:cNvCxnSpPr>
          <p:nvPr/>
        </p:nvCxnSpPr>
        <p:spPr>
          <a:xfrm rot="10800000">
            <a:off x="6444714" y="4019480"/>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3535" name="Google Shape;3535;p113"/>
          <p:cNvCxnSpPr>
            <a:stCxn id="3515" idx="0"/>
            <a:endCxn id="3514" idx="5"/>
          </p:cNvCxnSpPr>
          <p:nvPr/>
        </p:nvCxnSpPr>
        <p:spPr>
          <a:xfrm rot="10800000">
            <a:off x="6849505" y="3296707"/>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3536" name="Google Shape;3536;p113"/>
          <p:cNvCxnSpPr>
            <a:stCxn id="3513" idx="7"/>
            <a:endCxn id="3514" idx="4"/>
          </p:cNvCxnSpPr>
          <p:nvPr/>
        </p:nvCxnSpPr>
        <p:spPr>
          <a:xfrm flipH="1" rot="10800000">
            <a:off x="6444752" y="3355754"/>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3537" name="Google Shape;3537;p113"/>
          <p:cNvCxnSpPr>
            <a:stCxn id="3513" idx="2"/>
            <a:endCxn id="3511" idx="6"/>
          </p:cNvCxnSpPr>
          <p:nvPr/>
        </p:nvCxnSpPr>
        <p:spPr>
          <a:xfrm rot="10800000">
            <a:off x="5511063" y="3876907"/>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3538" name="Google Shape;3538;p113"/>
          <p:cNvCxnSpPr>
            <a:stCxn id="3512" idx="0"/>
            <a:endCxn id="3511" idx="4"/>
          </p:cNvCxnSpPr>
          <p:nvPr/>
        </p:nvCxnSpPr>
        <p:spPr>
          <a:xfrm rot="10800000">
            <a:off x="5308522" y="4078515"/>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3539" name="Google Shape;3539;p113"/>
          <p:cNvCxnSpPr>
            <a:stCxn id="3511" idx="3"/>
            <a:endCxn id="3510" idx="7"/>
          </p:cNvCxnSpPr>
          <p:nvPr/>
        </p:nvCxnSpPr>
        <p:spPr>
          <a:xfrm flipH="1">
            <a:off x="4578320" y="4019460"/>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3540" name="Google Shape;3540;p113"/>
          <p:cNvCxnSpPr>
            <a:stCxn id="3509" idx="5"/>
            <a:endCxn id="3510" idx="0"/>
          </p:cNvCxnSpPr>
          <p:nvPr/>
        </p:nvCxnSpPr>
        <p:spPr>
          <a:xfrm>
            <a:off x="4173512" y="4193938"/>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3541" name="Google Shape;3541;p113"/>
          <p:cNvCxnSpPr>
            <a:stCxn id="3506" idx="4"/>
            <a:endCxn id="3509" idx="7"/>
          </p:cNvCxnSpPr>
          <p:nvPr/>
        </p:nvCxnSpPr>
        <p:spPr>
          <a:xfrm flipH="1">
            <a:off x="4173460" y="3249700"/>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3542" name="Google Shape;3542;p113"/>
          <p:cNvCxnSpPr>
            <a:stCxn id="3511" idx="1"/>
            <a:endCxn id="3506" idx="4"/>
          </p:cNvCxnSpPr>
          <p:nvPr/>
        </p:nvCxnSpPr>
        <p:spPr>
          <a:xfrm rot="10800000">
            <a:off x="4871720" y="3249554"/>
            <a:ext cx="293700" cy="484800"/>
          </a:xfrm>
          <a:prstGeom prst="straightConnector1">
            <a:avLst/>
          </a:prstGeom>
          <a:noFill/>
          <a:ln cap="flat" cmpd="sng" w="28575">
            <a:solidFill>
              <a:schemeClr val="dk2"/>
            </a:solidFill>
            <a:prstDash val="solid"/>
            <a:round/>
            <a:headEnd len="med" w="med" type="none"/>
            <a:tailEnd len="med" w="med" type="none"/>
          </a:ln>
        </p:spPr>
      </p:cxnSp>
      <p:cxnSp>
        <p:nvCxnSpPr>
          <p:cNvPr id="3543" name="Google Shape;3543;p113"/>
          <p:cNvCxnSpPr>
            <a:stCxn id="3509" idx="2"/>
            <a:endCxn id="3508" idx="6"/>
          </p:cNvCxnSpPr>
          <p:nvPr/>
        </p:nvCxnSpPr>
        <p:spPr>
          <a:xfrm rot="10800000">
            <a:off x="3040923" y="3930485"/>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3544" name="Google Shape;3544;p113"/>
          <p:cNvCxnSpPr>
            <a:stCxn id="3509" idx="0"/>
            <a:endCxn id="3507" idx="4"/>
          </p:cNvCxnSpPr>
          <p:nvPr/>
        </p:nvCxnSpPr>
        <p:spPr>
          <a:xfrm rot="10800000">
            <a:off x="3670923" y="3594185"/>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3545" name="Google Shape;3545;p113"/>
          <p:cNvCxnSpPr>
            <a:stCxn id="3507" idx="3"/>
            <a:endCxn id="3508" idx="7"/>
          </p:cNvCxnSpPr>
          <p:nvPr/>
        </p:nvCxnSpPr>
        <p:spPr>
          <a:xfrm flipH="1">
            <a:off x="2981576" y="3535113"/>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3546" name="Google Shape;3546;p113"/>
          <p:cNvCxnSpPr>
            <a:stCxn id="3504" idx="4"/>
            <a:endCxn id="3508" idx="0"/>
          </p:cNvCxnSpPr>
          <p:nvPr/>
        </p:nvCxnSpPr>
        <p:spPr>
          <a:xfrm flipH="1">
            <a:off x="2838543" y="2997916"/>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3547" name="Google Shape;3547;p113"/>
          <p:cNvCxnSpPr>
            <a:stCxn id="3505" idx="2"/>
            <a:endCxn id="3504" idx="6"/>
          </p:cNvCxnSpPr>
          <p:nvPr/>
        </p:nvCxnSpPr>
        <p:spPr>
          <a:xfrm flipH="1">
            <a:off x="3077766" y="2434187"/>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3548" name="Google Shape;3548;p113"/>
          <p:cNvCxnSpPr>
            <a:stCxn id="3505" idx="3"/>
            <a:endCxn id="3507" idx="0"/>
          </p:cNvCxnSpPr>
          <p:nvPr/>
        </p:nvCxnSpPr>
        <p:spPr>
          <a:xfrm flipH="1">
            <a:off x="3671077" y="2576739"/>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3549" name="Google Shape;3549;p113"/>
          <p:cNvCxnSpPr>
            <a:stCxn id="3506" idx="2"/>
            <a:endCxn id="3504" idx="6"/>
          </p:cNvCxnSpPr>
          <p:nvPr/>
        </p:nvCxnSpPr>
        <p:spPr>
          <a:xfrm rot="10800000">
            <a:off x="3077560" y="2796400"/>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3550" name="Google Shape;3550;p113"/>
          <p:cNvCxnSpPr>
            <a:stCxn id="3506" idx="1"/>
            <a:endCxn id="3505" idx="5"/>
          </p:cNvCxnSpPr>
          <p:nvPr/>
        </p:nvCxnSpPr>
        <p:spPr>
          <a:xfrm rot="10800000">
            <a:off x="4336871" y="2576747"/>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3551" name="Google Shape;3551;p113"/>
          <p:cNvCxnSpPr>
            <a:stCxn id="3506" idx="2"/>
            <a:endCxn id="3507" idx="7"/>
          </p:cNvCxnSpPr>
          <p:nvPr/>
        </p:nvCxnSpPr>
        <p:spPr>
          <a:xfrm flipH="1">
            <a:off x="3814360" y="3048100"/>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3552" name="Google Shape;3552;p113"/>
          <p:cNvCxnSpPr>
            <a:stCxn id="3507" idx="1"/>
            <a:endCxn id="3504" idx="5"/>
          </p:cNvCxnSpPr>
          <p:nvPr/>
        </p:nvCxnSpPr>
        <p:spPr>
          <a:xfrm rot="10800000">
            <a:off x="3018476" y="2938907"/>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3553" name="Google Shape;3553;p113"/>
          <p:cNvCxnSpPr>
            <a:stCxn id="3515" idx="6"/>
            <a:endCxn id="3520" idx="3"/>
          </p:cNvCxnSpPr>
          <p:nvPr/>
        </p:nvCxnSpPr>
        <p:spPr>
          <a:xfrm flipH="1" rot="10800000">
            <a:off x="7377505" y="3384907"/>
            <a:ext cx="415500" cy="492000"/>
          </a:xfrm>
          <a:prstGeom prst="straightConnector1">
            <a:avLst/>
          </a:prstGeom>
          <a:noFill/>
          <a:ln cap="flat" cmpd="sng" w="28575">
            <a:solidFill>
              <a:schemeClr val="dk2"/>
            </a:solidFill>
            <a:prstDash val="solid"/>
            <a:round/>
            <a:headEnd len="med" w="med" type="none"/>
            <a:tailEnd len="med" w="med" type="none"/>
          </a:ln>
        </p:spPr>
      </p:cxnSp>
      <p:sp>
        <p:nvSpPr>
          <p:cNvPr id="3554" name="Google Shape;3554;p113"/>
          <p:cNvSpPr txBox="1"/>
          <p:nvPr>
            <p:ph idx="1" type="body"/>
          </p:nvPr>
        </p:nvSpPr>
        <p:spPr>
          <a:xfrm>
            <a:off x="283725" y="2232475"/>
            <a:ext cx="2554800" cy="2571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What is the relative betweenness of node </a:t>
            </a:r>
            <a:r>
              <a:rPr b="1" lang="en"/>
              <a:t>d</a:t>
            </a:r>
            <a:r>
              <a:rPr lang="en"/>
              <a:t> </a:t>
            </a:r>
            <a:r>
              <a:rPr lang="en"/>
              <a:t>relative to nodes </a:t>
            </a:r>
            <a:r>
              <a:rPr b="1" lang="en"/>
              <a:t>h</a:t>
            </a:r>
            <a:r>
              <a:rPr lang="en"/>
              <a:t> and </a:t>
            </a:r>
            <a:r>
              <a:rPr b="1" lang="en"/>
              <a:t>a</a:t>
            </a:r>
            <a:r>
              <a:rPr lang="en"/>
              <a:t>? </a:t>
            </a:r>
            <a:r>
              <a:rPr lang="en"/>
              <a:t> </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8" name="Shape 3558"/>
        <p:cNvGrpSpPr/>
        <p:nvPr/>
      </p:nvGrpSpPr>
      <p:grpSpPr>
        <a:xfrm>
          <a:off x="0" y="0"/>
          <a:ext cx="0" cy="0"/>
          <a:chOff x="0" y="0"/>
          <a:chExt cx="0" cy="0"/>
        </a:xfrm>
      </p:grpSpPr>
      <p:sp>
        <p:nvSpPr>
          <p:cNvPr id="3559" name="Google Shape;3559;p11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3560" name="Google Shape;3560;p114"/>
          <p:cNvSpPr txBox="1"/>
          <p:nvPr>
            <p:ph idx="1" type="body"/>
          </p:nvPr>
        </p:nvSpPr>
        <p:spPr>
          <a:xfrm>
            <a:off x="311700" y="1225225"/>
            <a:ext cx="7285200" cy="1007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a:t>
            </a:r>
            <a:r>
              <a:rPr b="1" lang="en"/>
              <a:t>relative betweenness </a:t>
            </a:r>
            <a:r>
              <a:rPr b="1" lang="en"/>
              <a:t>centrality</a:t>
            </a:r>
            <a:r>
              <a:rPr lang="en"/>
              <a:t> of a node (</a:t>
            </a:r>
            <a:r>
              <a:rPr b="1" lang="en"/>
              <a:t>k</a:t>
            </a:r>
            <a:r>
              <a:rPr lang="en"/>
              <a:t>) with respect to two other nodes (</a:t>
            </a:r>
            <a:r>
              <a:rPr b="1" lang="en"/>
              <a:t>i</a:t>
            </a:r>
            <a:r>
              <a:rPr lang="en"/>
              <a:t>, </a:t>
            </a:r>
            <a:r>
              <a:rPr b="1" lang="en"/>
              <a:t>j</a:t>
            </a:r>
            <a:r>
              <a:rPr lang="en"/>
              <a:t>) is equal to the proportion of shortest paths between i and j that k is an inner node on</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914400" rtl="0" algn="l">
              <a:spcBef>
                <a:spcPts val="0"/>
              </a:spcBef>
              <a:spcAft>
                <a:spcPts val="0"/>
              </a:spcAft>
              <a:buNone/>
            </a:pPr>
            <a:r>
              <a:t/>
            </a:r>
            <a:endParaRPr/>
          </a:p>
        </p:txBody>
      </p:sp>
      <p:sp>
        <p:nvSpPr>
          <p:cNvPr id="3561" name="Google Shape;3561;p114"/>
          <p:cNvSpPr/>
          <p:nvPr/>
        </p:nvSpPr>
        <p:spPr>
          <a:xfrm>
            <a:off x="2672643" y="259471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562" name="Google Shape;3562;p114"/>
          <p:cNvSpPr/>
          <p:nvPr/>
        </p:nvSpPr>
        <p:spPr>
          <a:xfrm>
            <a:off x="3991266" y="223258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563" name="Google Shape;3563;p114"/>
          <p:cNvSpPr/>
          <p:nvPr/>
        </p:nvSpPr>
        <p:spPr>
          <a:xfrm>
            <a:off x="4669360" y="28465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564" name="Google Shape;3564;p114"/>
          <p:cNvSpPr/>
          <p:nvPr/>
        </p:nvSpPr>
        <p:spPr>
          <a:xfrm>
            <a:off x="3468565" y="3190960"/>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565" name="Google Shape;3565;p114"/>
          <p:cNvSpPr/>
          <p:nvPr/>
        </p:nvSpPr>
        <p:spPr>
          <a:xfrm>
            <a:off x="2636013" y="3728942"/>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566" name="Google Shape;3566;p114"/>
          <p:cNvSpPr/>
          <p:nvPr/>
        </p:nvSpPr>
        <p:spPr>
          <a:xfrm>
            <a:off x="3827823" y="384978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567" name="Google Shape;3567;p114"/>
          <p:cNvSpPr/>
          <p:nvPr/>
        </p:nvSpPr>
        <p:spPr>
          <a:xfrm>
            <a:off x="4232574"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568" name="Google Shape;3568;p114"/>
          <p:cNvSpPr/>
          <p:nvPr/>
        </p:nvSpPr>
        <p:spPr>
          <a:xfrm>
            <a:off x="5106109" y="3675307"/>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569" name="Google Shape;3569;p114"/>
          <p:cNvSpPr/>
          <p:nvPr/>
        </p:nvSpPr>
        <p:spPr>
          <a:xfrm>
            <a:off x="5308522"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570" name="Google Shape;3570;p114"/>
          <p:cNvSpPr/>
          <p:nvPr/>
        </p:nvSpPr>
        <p:spPr>
          <a:xfrm>
            <a:off x="6099063"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571" name="Google Shape;3571;p114"/>
          <p:cNvSpPr/>
          <p:nvPr/>
        </p:nvSpPr>
        <p:spPr>
          <a:xfrm>
            <a:off x="6503814" y="295245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572" name="Google Shape;3572;p114"/>
          <p:cNvSpPr/>
          <p:nvPr/>
        </p:nvSpPr>
        <p:spPr>
          <a:xfrm>
            <a:off x="6972505"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573" name="Google Shape;3573;p114"/>
          <p:cNvSpPr/>
          <p:nvPr/>
        </p:nvSpPr>
        <p:spPr>
          <a:xfrm>
            <a:off x="6503814" y="440108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574" name="Google Shape;3574;p114"/>
          <p:cNvSpPr/>
          <p:nvPr/>
        </p:nvSpPr>
        <p:spPr>
          <a:xfrm>
            <a:off x="7531209" y="448226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575" name="Google Shape;3575;p114"/>
          <p:cNvSpPr/>
          <p:nvPr/>
        </p:nvSpPr>
        <p:spPr>
          <a:xfrm>
            <a:off x="7949156" y="377509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576" name="Google Shape;3576;p114"/>
          <p:cNvSpPr/>
          <p:nvPr/>
        </p:nvSpPr>
        <p:spPr>
          <a:xfrm>
            <a:off x="8631939" y="3161829"/>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577" name="Google Shape;3577;p114"/>
          <p:cNvSpPr/>
          <p:nvPr/>
        </p:nvSpPr>
        <p:spPr>
          <a:xfrm>
            <a:off x="7733584" y="3040648"/>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578" name="Google Shape;3578;p114"/>
          <p:cNvSpPr/>
          <p:nvPr/>
        </p:nvSpPr>
        <p:spPr>
          <a:xfrm>
            <a:off x="7802222" y="2306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579" name="Google Shape;3579;p114"/>
          <p:cNvSpPr/>
          <p:nvPr/>
        </p:nvSpPr>
        <p:spPr>
          <a:xfrm>
            <a:off x="8631939" y="203087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580" name="Google Shape;3580;p114"/>
          <p:cNvCxnSpPr>
            <a:stCxn id="3579" idx="2"/>
            <a:endCxn id="3578" idx="7"/>
          </p:cNvCxnSpPr>
          <p:nvPr/>
        </p:nvCxnSpPr>
        <p:spPr>
          <a:xfrm flipH="1">
            <a:off x="8148039" y="2232475"/>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3581" name="Google Shape;3581;p114"/>
          <p:cNvCxnSpPr>
            <a:stCxn id="3577" idx="0"/>
            <a:endCxn id="3578" idx="4"/>
          </p:cNvCxnSpPr>
          <p:nvPr/>
        </p:nvCxnSpPr>
        <p:spPr>
          <a:xfrm flipH="1" rot="10800000">
            <a:off x="7936084" y="2709448"/>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3582" name="Google Shape;3582;p114"/>
          <p:cNvCxnSpPr>
            <a:stCxn id="3576" idx="2"/>
            <a:endCxn id="3577" idx="6"/>
          </p:cNvCxnSpPr>
          <p:nvPr/>
        </p:nvCxnSpPr>
        <p:spPr>
          <a:xfrm rot="10800000">
            <a:off x="8138439" y="3242229"/>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3583" name="Google Shape;3583;p114"/>
          <p:cNvCxnSpPr>
            <a:stCxn id="3576" idx="2"/>
            <a:endCxn id="3572" idx="6"/>
          </p:cNvCxnSpPr>
          <p:nvPr/>
        </p:nvCxnSpPr>
        <p:spPr>
          <a:xfrm flipH="1">
            <a:off x="7377639" y="3363429"/>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3584" name="Google Shape;3584;p114"/>
          <p:cNvCxnSpPr>
            <a:stCxn id="3576" idx="2"/>
            <a:endCxn id="3575" idx="7"/>
          </p:cNvCxnSpPr>
          <p:nvPr/>
        </p:nvCxnSpPr>
        <p:spPr>
          <a:xfrm flipH="1">
            <a:off x="8294739" y="3363429"/>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3585" name="Google Shape;3585;p114"/>
          <p:cNvCxnSpPr>
            <a:stCxn id="3575" idx="2"/>
            <a:endCxn id="3572" idx="6"/>
          </p:cNvCxnSpPr>
          <p:nvPr/>
        </p:nvCxnSpPr>
        <p:spPr>
          <a:xfrm rot="10800000">
            <a:off x="7377356" y="3876797"/>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3586" name="Google Shape;3586;p114"/>
          <p:cNvCxnSpPr>
            <a:stCxn id="3575" idx="1"/>
            <a:endCxn id="3571" idx="5"/>
          </p:cNvCxnSpPr>
          <p:nvPr/>
        </p:nvCxnSpPr>
        <p:spPr>
          <a:xfrm rot="10800000">
            <a:off x="6849567" y="3296544"/>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3587" name="Google Shape;3587;p114"/>
          <p:cNvCxnSpPr>
            <a:stCxn id="3574" idx="0"/>
            <a:endCxn id="3572" idx="4"/>
          </p:cNvCxnSpPr>
          <p:nvPr/>
        </p:nvCxnSpPr>
        <p:spPr>
          <a:xfrm rot="10800000">
            <a:off x="7175109" y="4078466"/>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3588" name="Google Shape;3588;p114"/>
          <p:cNvCxnSpPr>
            <a:stCxn id="3573" idx="7"/>
            <a:endCxn id="3572" idx="4"/>
          </p:cNvCxnSpPr>
          <p:nvPr/>
        </p:nvCxnSpPr>
        <p:spPr>
          <a:xfrm flipH="1" rot="10800000">
            <a:off x="6849503" y="4078527"/>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3589" name="Google Shape;3589;p114"/>
          <p:cNvCxnSpPr>
            <a:stCxn id="3574" idx="1"/>
            <a:endCxn id="3573" idx="6"/>
          </p:cNvCxnSpPr>
          <p:nvPr/>
        </p:nvCxnSpPr>
        <p:spPr>
          <a:xfrm flipH="1">
            <a:off x="6908920" y="4541313"/>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3590" name="Google Shape;3590;p114"/>
          <p:cNvCxnSpPr>
            <a:stCxn id="3572" idx="2"/>
            <a:endCxn id="3570" idx="6"/>
          </p:cNvCxnSpPr>
          <p:nvPr/>
        </p:nvCxnSpPr>
        <p:spPr>
          <a:xfrm rot="10800000">
            <a:off x="6504205" y="3876907"/>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3591" name="Google Shape;3591;p114"/>
          <p:cNvCxnSpPr>
            <a:stCxn id="3573" idx="0"/>
            <a:endCxn id="3570" idx="5"/>
          </p:cNvCxnSpPr>
          <p:nvPr/>
        </p:nvCxnSpPr>
        <p:spPr>
          <a:xfrm rot="10800000">
            <a:off x="6444714" y="4019480"/>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3592" name="Google Shape;3592;p114"/>
          <p:cNvCxnSpPr>
            <a:stCxn id="3572" idx="0"/>
            <a:endCxn id="3571" idx="5"/>
          </p:cNvCxnSpPr>
          <p:nvPr/>
        </p:nvCxnSpPr>
        <p:spPr>
          <a:xfrm rot="10800000">
            <a:off x="6849505" y="3296707"/>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3593" name="Google Shape;3593;p114"/>
          <p:cNvCxnSpPr>
            <a:stCxn id="3570" idx="7"/>
            <a:endCxn id="3571" idx="4"/>
          </p:cNvCxnSpPr>
          <p:nvPr/>
        </p:nvCxnSpPr>
        <p:spPr>
          <a:xfrm flipH="1" rot="10800000">
            <a:off x="6444752" y="3355754"/>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3594" name="Google Shape;3594;p114"/>
          <p:cNvCxnSpPr>
            <a:stCxn id="3570" idx="2"/>
            <a:endCxn id="3568" idx="6"/>
          </p:cNvCxnSpPr>
          <p:nvPr/>
        </p:nvCxnSpPr>
        <p:spPr>
          <a:xfrm rot="10800000">
            <a:off x="5511063" y="3876907"/>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3595" name="Google Shape;3595;p114"/>
          <p:cNvCxnSpPr>
            <a:stCxn id="3569" idx="0"/>
            <a:endCxn id="3568" idx="4"/>
          </p:cNvCxnSpPr>
          <p:nvPr/>
        </p:nvCxnSpPr>
        <p:spPr>
          <a:xfrm rot="10800000">
            <a:off x="5308522" y="4078515"/>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3596" name="Google Shape;3596;p114"/>
          <p:cNvCxnSpPr>
            <a:stCxn id="3568" idx="3"/>
            <a:endCxn id="3567" idx="7"/>
          </p:cNvCxnSpPr>
          <p:nvPr/>
        </p:nvCxnSpPr>
        <p:spPr>
          <a:xfrm flipH="1">
            <a:off x="4578320" y="4019460"/>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3597" name="Google Shape;3597;p114"/>
          <p:cNvCxnSpPr>
            <a:stCxn id="3566" idx="5"/>
            <a:endCxn id="3567" idx="0"/>
          </p:cNvCxnSpPr>
          <p:nvPr/>
        </p:nvCxnSpPr>
        <p:spPr>
          <a:xfrm>
            <a:off x="4173512" y="4193938"/>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3598" name="Google Shape;3598;p114"/>
          <p:cNvCxnSpPr>
            <a:stCxn id="3563" idx="4"/>
            <a:endCxn id="3566" idx="7"/>
          </p:cNvCxnSpPr>
          <p:nvPr/>
        </p:nvCxnSpPr>
        <p:spPr>
          <a:xfrm flipH="1">
            <a:off x="4173460" y="3249700"/>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3599" name="Google Shape;3599;p114"/>
          <p:cNvCxnSpPr>
            <a:stCxn id="3568" idx="1"/>
            <a:endCxn id="3563" idx="4"/>
          </p:cNvCxnSpPr>
          <p:nvPr/>
        </p:nvCxnSpPr>
        <p:spPr>
          <a:xfrm rot="10800000">
            <a:off x="4871720" y="3249554"/>
            <a:ext cx="293700" cy="484800"/>
          </a:xfrm>
          <a:prstGeom prst="straightConnector1">
            <a:avLst/>
          </a:prstGeom>
          <a:noFill/>
          <a:ln cap="flat" cmpd="sng" w="28575">
            <a:solidFill>
              <a:schemeClr val="dk2"/>
            </a:solidFill>
            <a:prstDash val="solid"/>
            <a:round/>
            <a:headEnd len="med" w="med" type="none"/>
            <a:tailEnd len="med" w="med" type="none"/>
          </a:ln>
        </p:spPr>
      </p:cxnSp>
      <p:cxnSp>
        <p:nvCxnSpPr>
          <p:cNvPr id="3600" name="Google Shape;3600;p114"/>
          <p:cNvCxnSpPr>
            <a:stCxn id="3566" idx="2"/>
            <a:endCxn id="3565" idx="6"/>
          </p:cNvCxnSpPr>
          <p:nvPr/>
        </p:nvCxnSpPr>
        <p:spPr>
          <a:xfrm rot="10800000">
            <a:off x="3040923" y="3930485"/>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3601" name="Google Shape;3601;p114"/>
          <p:cNvCxnSpPr>
            <a:stCxn id="3566" idx="0"/>
            <a:endCxn id="3564" idx="4"/>
          </p:cNvCxnSpPr>
          <p:nvPr/>
        </p:nvCxnSpPr>
        <p:spPr>
          <a:xfrm rot="10800000">
            <a:off x="3670923" y="3594185"/>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3602" name="Google Shape;3602;p114"/>
          <p:cNvCxnSpPr>
            <a:stCxn id="3564" idx="3"/>
            <a:endCxn id="3565" idx="7"/>
          </p:cNvCxnSpPr>
          <p:nvPr/>
        </p:nvCxnSpPr>
        <p:spPr>
          <a:xfrm flipH="1">
            <a:off x="2981576" y="3535113"/>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3603" name="Google Shape;3603;p114"/>
          <p:cNvCxnSpPr>
            <a:stCxn id="3561" idx="4"/>
            <a:endCxn id="3565" idx="0"/>
          </p:cNvCxnSpPr>
          <p:nvPr/>
        </p:nvCxnSpPr>
        <p:spPr>
          <a:xfrm flipH="1">
            <a:off x="2838543" y="2997916"/>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3604" name="Google Shape;3604;p114"/>
          <p:cNvCxnSpPr>
            <a:stCxn id="3562" idx="2"/>
            <a:endCxn id="3561" idx="6"/>
          </p:cNvCxnSpPr>
          <p:nvPr/>
        </p:nvCxnSpPr>
        <p:spPr>
          <a:xfrm flipH="1">
            <a:off x="3077766" y="2434187"/>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3605" name="Google Shape;3605;p114"/>
          <p:cNvCxnSpPr>
            <a:stCxn id="3562" idx="3"/>
            <a:endCxn id="3564" idx="0"/>
          </p:cNvCxnSpPr>
          <p:nvPr/>
        </p:nvCxnSpPr>
        <p:spPr>
          <a:xfrm flipH="1">
            <a:off x="3671077" y="2576739"/>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3606" name="Google Shape;3606;p114"/>
          <p:cNvCxnSpPr>
            <a:stCxn id="3563" idx="2"/>
            <a:endCxn id="3561" idx="6"/>
          </p:cNvCxnSpPr>
          <p:nvPr/>
        </p:nvCxnSpPr>
        <p:spPr>
          <a:xfrm rot="10800000">
            <a:off x="3077560" y="2796400"/>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3607" name="Google Shape;3607;p114"/>
          <p:cNvCxnSpPr>
            <a:stCxn id="3563" idx="1"/>
            <a:endCxn id="3562" idx="5"/>
          </p:cNvCxnSpPr>
          <p:nvPr/>
        </p:nvCxnSpPr>
        <p:spPr>
          <a:xfrm rot="10800000">
            <a:off x="4336871" y="2576747"/>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3608" name="Google Shape;3608;p114"/>
          <p:cNvCxnSpPr>
            <a:stCxn id="3563" idx="2"/>
            <a:endCxn id="3564" idx="7"/>
          </p:cNvCxnSpPr>
          <p:nvPr/>
        </p:nvCxnSpPr>
        <p:spPr>
          <a:xfrm flipH="1">
            <a:off x="3814360" y="3048100"/>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3609" name="Google Shape;3609;p114"/>
          <p:cNvCxnSpPr>
            <a:stCxn id="3564" idx="1"/>
            <a:endCxn id="3561" idx="5"/>
          </p:cNvCxnSpPr>
          <p:nvPr/>
        </p:nvCxnSpPr>
        <p:spPr>
          <a:xfrm rot="10800000">
            <a:off x="3018476" y="2938907"/>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3610" name="Google Shape;3610;p114"/>
          <p:cNvCxnSpPr>
            <a:stCxn id="3572" idx="6"/>
            <a:endCxn id="3577" idx="3"/>
          </p:cNvCxnSpPr>
          <p:nvPr/>
        </p:nvCxnSpPr>
        <p:spPr>
          <a:xfrm flipH="1" rot="10800000">
            <a:off x="7377505" y="3384907"/>
            <a:ext cx="415500" cy="492000"/>
          </a:xfrm>
          <a:prstGeom prst="straightConnector1">
            <a:avLst/>
          </a:prstGeom>
          <a:noFill/>
          <a:ln cap="flat" cmpd="sng" w="28575">
            <a:solidFill>
              <a:schemeClr val="dk2"/>
            </a:solidFill>
            <a:prstDash val="solid"/>
            <a:round/>
            <a:headEnd len="med" w="med" type="none"/>
            <a:tailEnd len="med" w="med" type="none"/>
          </a:ln>
        </p:spPr>
      </p:cxnSp>
      <p:sp>
        <p:nvSpPr>
          <p:cNvPr id="3611" name="Google Shape;3611;p114"/>
          <p:cNvSpPr txBox="1"/>
          <p:nvPr>
            <p:ph idx="1" type="body"/>
          </p:nvPr>
        </p:nvSpPr>
        <p:spPr>
          <a:xfrm>
            <a:off x="283725" y="2232475"/>
            <a:ext cx="2591400" cy="2571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What is the relative betweenness of node </a:t>
            </a:r>
            <a:r>
              <a:rPr b="1" lang="en"/>
              <a:t>d</a:t>
            </a:r>
            <a:r>
              <a:rPr lang="en"/>
              <a:t> relative to nodes </a:t>
            </a:r>
            <a:r>
              <a:rPr b="1" lang="en"/>
              <a:t>h</a:t>
            </a:r>
            <a:r>
              <a:rPr lang="en"/>
              <a:t> and </a:t>
            </a:r>
            <a:r>
              <a:rPr b="1" lang="en"/>
              <a:t>a</a:t>
            </a:r>
            <a:r>
              <a:rPr lang="en"/>
              <a:t>?</a:t>
            </a:r>
            <a:endParaRPr/>
          </a:p>
          <a:p>
            <a:pPr indent="-317500" lvl="1" marL="914400" rtl="0" algn="l">
              <a:spcBef>
                <a:spcPts val="0"/>
              </a:spcBef>
              <a:spcAft>
                <a:spcPts val="0"/>
              </a:spcAft>
              <a:buSzPts val="1400"/>
              <a:buChar char="○"/>
            </a:pPr>
            <a:r>
              <a:rPr lang="en"/>
              <a:t>First we need to list all shortest paths between h and a!  </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5" name="Shape 3615"/>
        <p:cNvGrpSpPr/>
        <p:nvPr/>
      </p:nvGrpSpPr>
      <p:grpSpPr>
        <a:xfrm>
          <a:off x="0" y="0"/>
          <a:ext cx="0" cy="0"/>
          <a:chOff x="0" y="0"/>
          <a:chExt cx="0" cy="0"/>
        </a:xfrm>
      </p:grpSpPr>
      <p:sp>
        <p:nvSpPr>
          <p:cNvPr id="3616" name="Google Shape;3616;p11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3617" name="Google Shape;3617;p115"/>
          <p:cNvSpPr txBox="1"/>
          <p:nvPr>
            <p:ph idx="1" type="body"/>
          </p:nvPr>
        </p:nvSpPr>
        <p:spPr>
          <a:xfrm>
            <a:off x="311700" y="1225225"/>
            <a:ext cx="7285200" cy="1007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a:t>
            </a:r>
            <a:r>
              <a:rPr b="1" lang="en"/>
              <a:t>relative betweenness </a:t>
            </a:r>
            <a:r>
              <a:rPr b="1" lang="en"/>
              <a:t>centrality</a:t>
            </a:r>
            <a:r>
              <a:rPr lang="en"/>
              <a:t> of a node (</a:t>
            </a:r>
            <a:r>
              <a:rPr b="1" lang="en"/>
              <a:t>k</a:t>
            </a:r>
            <a:r>
              <a:rPr lang="en"/>
              <a:t>) with respect to two other nodes (</a:t>
            </a:r>
            <a:r>
              <a:rPr b="1" lang="en"/>
              <a:t>i</a:t>
            </a:r>
            <a:r>
              <a:rPr lang="en"/>
              <a:t>, </a:t>
            </a:r>
            <a:r>
              <a:rPr b="1" lang="en"/>
              <a:t>j</a:t>
            </a:r>
            <a:r>
              <a:rPr lang="en"/>
              <a:t>) is equal to the proportion of shortest paths between i and j that k is an inner node on</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914400" rtl="0" algn="l">
              <a:spcBef>
                <a:spcPts val="0"/>
              </a:spcBef>
              <a:spcAft>
                <a:spcPts val="0"/>
              </a:spcAft>
              <a:buNone/>
            </a:pPr>
            <a:r>
              <a:t/>
            </a:r>
            <a:endParaRPr/>
          </a:p>
        </p:txBody>
      </p:sp>
      <p:sp>
        <p:nvSpPr>
          <p:cNvPr id="3618" name="Google Shape;3618;p115"/>
          <p:cNvSpPr/>
          <p:nvPr/>
        </p:nvSpPr>
        <p:spPr>
          <a:xfrm>
            <a:off x="2672643" y="259471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619" name="Google Shape;3619;p115"/>
          <p:cNvSpPr/>
          <p:nvPr/>
        </p:nvSpPr>
        <p:spPr>
          <a:xfrm>
            <a:off x="3991266" y="223258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620" name="Google Shape;3620;p115"/>
          <p:cNvSpPr/>
          <p:nvPr/>
        </p:nvSpPr>
        <p:spPr>
          <a:xfrm>
            <a:off x="4669360" y="2846500"/>
            <a:ext cx="405000" cy="4032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621" name="Google Shape;3621;p115"/>
          <p:cNvSpPr/>
          <p:nvPr/>
        </p:nvSpPr>
        <p:spPr>
          <a:xfrm>
            <a:off x="3468565" y="3190960"/>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622" name="Google Shape;3622;p115"/>
          <p:cNvSpPr/>
          <p:nvPr/>
        </p:nvSpPr>
        <p:spPr>
          <a:xfrm>
            <a:off x="2636013" y="3728942"/>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623" name="Google Shape;3623;p115"/>
          <p:cNvSpPr/>
          <p:nvPr/>
        </p:nvSpPr>
        <p:spPr>
          <a:xfrm>
            <a:off x="3827823" y="384978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624" name="Google Shape;3624;p115"/>
          <p:cNvSpPr/>
          <p:nvPr/>
        </p:nvSpPr>
        <p:spPr>
          <a:xfrm>
            <a:off x="4232574"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625" name="Google Shape;3625;p115"/>
          <p:cNvSpPr/>
          <p:nvPr/>
        </p:nvSpPr>
        <p:spPr>
          <a:xfrm>
            <a:off x="5106109" y="3675307"/>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626" name="Google Shape;3626;p115"/>
          <p:cNvSpPr/>
          <p:nvPr/>
        </p:nvSpPr>
        <p:spPr>
          <a:xfrm>
            <a:off x="5308522"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627" name="Google Shape;3627;p115"/>
          <p:cNvSpPr/>
          <p:nvPr/>
        </p:nvSpPr>
        <p:spPr>
          <a:xfrm>
            <a:off x="6099063"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628" name="Google Shape;3628;p115"/>
          <p:cNvSpPr/>
          <p:nvPr/>
        </p:nvSpPr>
        <p:spPr>
          <a:xfrm>
            <a:off x="6503814" y="295245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629" name="Google Shape;3629;p115"/>
          <p:cNvSpPr/>
          <p:nvPr/>
        </p:nvSpPr>
        <p:spPr>
          <a:xfrm>
            <a:off x="6972505"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630" name="Google Shape;3630;p115"/>
          <p:cNvSpPr/>
          <p:nvPr/>
        </p:nvSpPr>
        <p:spPr>
          <a:xfrm>
            <a:off x="6503814" y="440108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631" name="Google Shape;3631;p115"/>
          <p:cNvSpPr/>
          <p:nvPr/>
        </p:nvSpPr>
        <p:spPr>
          <a:xfrm>
            <a:off x="7531209" y="448226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632" name="Google Shape;3632;p115"/>
          <p:cNvSpPr/>
          <p:nvPr/>
        </p:nvSpPr>
        <p:spPr>
          <a:xfrm>
            <a:off x="7949156" y="377509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633" name="Google Shape;3633;p115"/>
          <p:cNvSpPr/>
          <p:nvPr/>
        </p:nvSpPr>
        <p:spPr>
          <a:xfrm>
            <a:off x="8631939" y="3161829"/>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634" name="Google Shape;3634;p115"/>
          <p:cNvSpPr/>
          <p:nvPr/>
        </p:nvSpPr>
        <p:spPr>
          <a:xfrm>
            <a:off x="7733584" y="3040648"/>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635" name="Google Shape;3635;p115"/>
          <p:cNvSpPr/>
          <p:nvPr/>
        </p:nvSpPr>
        <p:spPr>
          <a:xfrm>
            <a:off x="7802222" y="2306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636" name="Google Shape;3636;p115"/>
          <p:cNvSpPr/>
          <p:nvPr/>
        </p:nvSpPr>
        <p:spPr>
          <a:xfrm>
            <a:off x="8631939" y="203087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637" name="Google Shape;3637;p115"/>
          <p:cNvCxnSpPr>
            <a:stCxn id="3636" idx="2"/>
            <a:endCxn id="3635" idx="7"/>
          </p:cNvCxnSpPr>
          <p:nvPr/>
        </p:nvCxnSpPr>
        <p:spPr>
          <a:xfrm flipH="1">
            <a:off x="8148039" y="2232475"/>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3638" name="Google Shape;3638;p115"/>
          <p:cNvCxnSpPr>
            <a:stCxn id="3634" idx="0"/>
            <a:endCxn id="3635" idx="4"/>
          </p:cNvCxnSpPr>
          <p:nvPr/>
        </p:nvCxnSpPr>
        <p:spPr>
          <a:xfrm flipH="1" rot="10800000">
            <a:off x="7936084" y="2709448"/>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3639" name="Google Shape;3639;p115"/>
          <p:cNvCxnSpPr>
            <a:stCxn id="3633" idx="2"/>
            <a:endCxn id="3634" idx="6"/>
          </p:cNvCxnSpPr>
          <p:nvPr/>
        </p:nvCxnSpPr>
        <p:spPr>
          <a:xfrm rot="10800000">
            <a:off x="8138439" y="3242229"/>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3640" name="Google Shape;3640;p115"/>
          <p:cNvCxnSpPr>
            <a:stCxn id="3633" idx="2"/>
            <a:endCxn id="3629" idx="6"/>
          </p:cNvCxnSpPr>
          <p:nvPr/>
        </p:nvCxnSpPr>
        <p:spPr>
          <a:xfrm flipH="1">
            <a:off x="7377639" y="3363429"/>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3641" name="Google Shape;3641;p115"/>
          <p:cNvCxnSpPr>
            <a:stCxn id="3633" idx="2"/>
            <a:endCxn id="3632" idx="7"/>
          </p:cNvCxnSpPr>
          <p:nvPr/>
        </p:nvCxnSpPr>
        <p:spPr>
          <a:xfrm flipH="1">
            <a:off x="8294739" y="3363429"/>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3642" name="Google Shape;3642;p115"/>
          <p:cNvCxnSpPr>
            <a:stCxn id="3632" idx="2"/>
            <a:endCxn id="3629" idx="6"/>
          </p:cNvCxnSpPr>
          <p:nvPr/>
        </p:nvCxnSpPr>
        <p:spPr>
          <a:xfrm rot="10800000">
            <a:off x="7377356" y="3876797"/>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3643" name="Google Shape;3643;p115"/>
          <p:cNvCxnSpPr>
            <a:stCxn id="3632" idx="1"/>
            <a:endCxn id="3628" idx="5"/>
          </p:cNvCxnSpPr>
          <p:nvPr/>
        </p:nvCxnSpPr>
        <p:spPr>
          <a:xfrm rot="10800000">
            <a:off x="6849567" y="3296544"/>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3644" name="Google Shape;3644;p115"/>
          <p:cNvCxnSpPr>
            <a:stCxn id="3631" idx="0"/>
            <a:endCxn id="3629" idx="4"/>
          </p:cNvCxnSpPr>
          <p:nvPr/>
        </p:nvCxnSpPr>
        <p:spPr>
          <a:xfrm rot="10800000">
            <a:off x="7175109" y="4078466"/>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3645" name="Google Shape;3645;p115"/>
          <p:cNvCxnSpPr>
            <a:stCxn id="3630" idx="7"/>
            <a:endCxn id="3629" idx="4"/>
          </p:cNvCxnSpPr>
          <p:nvPr/>
        </p:nvCxnSpPr>
        <p:spPr>
          <a:xfrm flipH="1" rot="10800000">
            <a:off x="6849503" y="4078527"/>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3646" name="Google Shape;3646;p115"/>
          <p:cNvCxnSpPr>
            <a:stCxn id="3631" idx="1"/>
            <a:endCxn id="3630" idx="6"/>
          </p:cNvCxnSpPr>
          <p:nvPr/>
        </p:nvCxnSpPr>
        <p:spPr>
          <a:xfrm flipH="1">
            <a:off x="6908920" y="4541313"/>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3647" name="Google Shape;3647;p115"/>
          <p:cNvCxnSpPr>
            <a:stCxn id="3629" idx="2"/>
            <a:endCxn id="3627" idx="6"/>
          </p:cNvCxnSpPr>
          <p:nvPr/>
        </p:nvCxnSpPr>
        <p:spPr>
          <a:xfrm rot="10800000">
            <a:off x="6504205" y="3876907"/>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3648" name="Google Shape;3648;p115"/>
          <p:cNvCxnSpPr>
            <a:stCxn id="3630" idx="0"/>
            <a:endCxn id="3627" idx="5"/>
          </p:cNvCxnSpPr>
          <p:nvPr/>
        </p:nvCxnSpPr>
        <p:spPr>
          <a:xfrm rot="10800000">
            <a:off x="6444714" y="4019480"/>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3649" name="Google Shape;3649;p115"/>
          <p:cNvCxnSpPr>
            <a:stCxn id="3629" idx="0"/>
            <a:endCxn id="3628" idx="5"/>
          </p:cNvCxnSpPr>
          <p:nvPr/>
        </p:nvCxnSpPr>
        <p:spPr>
          <a:xfrm rot="10800000">
            <a:off x="6849505" y="3296707"/>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3650" name="Google Shape;3650;p115"/>
          <p:cNvCxnSpPr>
            <a:stCxn id="3627" idx="7"/>
            <a:endCxn id="3628" idx="4"/>
          </p:cNvCxnSpPr>
          <p:nvPr/>
        </p:nvCxnSpPr>
        <p:spPr>
          <a:xfrm flipH="1" rot="10800000">
            <a:off x="6444752" y="3355754"/>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3651" name="Google Shape;3651;p115"/>
          <p:cNvCxnSpPr>
            <a:stCxn id="3627" idx="2"/>
            <a:endCxn id="3625" idx="6"/>
          </p:cNvCxnSpPr>
          <p:nvPr/>
        </p:nvCxnSpPr>
        <p:spPr>
          <a:xfrm rot="10800000">
            <a:off x="5511063" y="3876907"/>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3652" name="Google Shape;3652;p115"/>
          <p:cNvCxnSpPr>
            <a:stCxn id="3626" idx="0"/>
            <a:endCxn id="3625" idx="4"/>
          </p:cNvCxnSpPr>
          <p:nvPr/>
        </p:nvCxnSpPr>
        <p:spPr>
          <a:xfrm rot="10800000">
            <a:off x="5308522" y="4078515"/>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3653" name="Google Shape;3653;p115"/>
          <p:cNvCxnSpPr>
            <a:stCxn id="3625" idx="3"/>
            <a:endCxn id="3624" idx="7"/>
          </p:cNvCxnSpPr>
          <p:nvPr/>
        </p:nvCxnSpPr>
        <p:spPr>
          <a:xfrm flipH="1">
            <a:off x="4578320" y="4019460"/>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3654" name="Google Shape;3654;p115"/>
          <p:cNvCxnSpPr>
            <a:stCxn id="3623" idx="5"/>
            <a:endCxn id="3624" idx="0"/>
          </p:cNvCxnSpPr>
          <p:nvPr/>
        </p:nvCxnSpPr>
        <p:spPr>
          <a:xfrm>
            <a:off x="4173512" y="4193938"/>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3655" name="Google Shape;3655;p115"/>
          <p:cNvCxnSpPr>
            <a:stCxn id="3620" idx="4"/>
            <a:endCxn id="3623" idx="7"/>
          </p:cNvCxnSpPr>
          <p:nvPr/>
        </p:nvCxnSpPr>
        <p:spPr>
          <a:xfrm flipH="1">
            <a:off x="4173460" y="3249700"/>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3656" name="Google Shape;3656;p115"/>
          <p:cNvCxnSpPr>
            <a:stCxn id="3625" idx="1"/>
            <a:endCxn id="3620" idx="4"/>
          </p:cNvCxnSpPr>
          <p:nvPr/>
        </p:nvCxnSpPr>
        <p:spPr>
          <a:xfrm rot="10800000">
            <a:off x="4871720" y="3249554"/>
            <a:ext cx="293700" cy="484800"/>
          </a:xfrm>
          <a:prstGeom prst="straightConnector1">
            <a:avLst/>
          </a:prstGeom>
          <a:noFill/>
          <a:ln cap="flat" cmpd="sng" w="28575">
            <a:solidFill>
              <a:srgbClr val="FF0000"/>
            </a:solidFill>
            <a:prstDash val="solid"/>
            <a:round/>
            <a:headEnd len="med" w="med" type="none"/>
            <a:tailEnd len="med" w="med" type="none"/>
          </a:ln>
        </p:spPr>
      </p:cxnSp>
      <p:cxnSp>
        <p:nvCxnSpPr>
          <p:cNvPr id="3657" name="Google Shape;3657;p115"/>
          <p:cNvCxnSpPr>
            <a:stCxn id="3623" idx="2"/>
            <a:endCxn id="3622" idx="6"/>
          </p:cNvCxnSpPr>
          <p:nvPr/>
        </p:nvCxnSpPr>
        <p:spPr>
          <a:xfrm rot="10800000">
            <a:off x="3040923" y="3930485"/>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3658" name="Google Shape;3658;p115"/>
          <p:cNvCxnSpPr>
            <a:stCxn id="3623" idx="0"/>
            <a:endCxn id="3621" idx="4"/>
          </p:cNvCxnSpPr>
          <p:nvPr/>
        </p:nvCxnSpPr>
        <p:spPr>
          <a:xfrm rot="10800000">
            <a:off x="3670923" y="3594185"/>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3659" name="Google Shape;3659;p115"/>
          <p:cNvCxnSpPr>
            <a:stCxn id="3621" idx="3"/>
            <a:endCxn id="3622" idx="7"/>
          </p:cNvCxnSpPr>
          <p:nvPr/>
        </p:nvCxnSpPr>
        <p:spPr>
          <a:xfrm flipH="1">
            <a:off x="2981576" y="3535113"/>
            <a:ext cx="546300" cy="252900"/>
          </a:xfrm>
          <a:prstGeom prst="straightConnector1">
            <a:avLst/>
          </a:prstGeom>
          <a:noFill/>
          <a:ln cap="flat" cmpd="sng" w="28575">
            <a:solidFill>
              <a:srgbClr val="FF0000"/>
            </a:solidFill>
            <a:prstDash val="solid"/>
            <a:round/>
            <a:headEnd len="med" w="med" type="none"/>
            <a:tailEnd len="med" w="med" type="none"/>
          </a:ln>
        </p:spPr>
      </p:cxnSp>
      <p:cxnSp>
        <p:nvCxnSpPr>
          <p:cNvPr id="3660" name="Google Shape;3660;p115"/>
          <p:cNvCxnSpPr>
            <a:stCxn id="3618" idx="4"/>
            <a:endCxn id="3622" idx="0"/>
          </p:cNvCxnSpPr>
          <p:nvPr/>
        </p:nvCxnSpPr>
        <p:spPr>
          <a:xfrm flipH="1">
            <a:off x="2838543" y="2997916"/>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3661" name="Google Shape;3661;p115"/>
          <p:cNvCxnSpPr>
            <a:stCxn id="3619" idx="2"/>
            <a:endCxn id="3618" idx="6"/>
          </p:cNvCxnSpPr>
          <p:nvPr/>
        </p:nvCxnSpPr>
        <p:spPr>
          <a:xfrm flipH="1">
            <a:off x="3077766" y="2434187"/>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3662" name="Google Shape;3662;p115"/>
          <p:cNvCxnSpPr>
            <a:stCxn id="3619" idx="3"/>
            <a:endCxn id="3621" idx="0"/>
          </p:cNvCxnSpPr>
          <p:nvPr/>
        </p:nvCxnSpPr>
        <p:spPr>
          <a:xfrm flipH="1">
            <a:off x="3671077" y="2576739"/>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3663" name="Google Shape;3663;p115"/>
          <p:cNvCxnSpPr>
            <a:stCxn id="3620" idx="2"/>
            <a:endCxn id="3618" idx="6"/>
          </p:cNvCxnSpPr>
          <p:nvPr/>
        </p:nvCxnSpPr>
        <p:spPr>
          <a:xfrm rot="10800000">
            <a:off x="3077560" y="2796400"/>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3664" name="Google Shape;3664;p115"/>
          <p:cNvCxnSpPr>
            <a:stCxn id="3620" idx="1"/>
            <a:endCxn id="3619" idx="5"/>
          </p:cNvCxnSpPr>
          <p:nvPr/>
        </p:nvCxnSpPr>
        <p:spPr>
          <a:xfrm rot="10800000">
            <a:off x="4336871" y="2576747"/>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3665" name="Google Shape;3665;p115"/>
          <p:cNvCxnSpPr>
            <a:stCxn id="3620" idx="2"/>
            <a:endCxn id="3621" idx="7"/>
          </p:cNvCxnSpPr>
          <p:nvPr/>
        </p:nvCxnSpPr>
        <p:spPr>
          <a:xfrm flipH="1">
            <a:off x="3814360" y="3048100"/>
            <a:ext cx="855000" cy="201900"/>
          </a:xfrm>
          <a:prstGeom prst="straightConnector1">
            <a:avLst/>
          </a:prstGeom>
          <a:noFill/>
          <a:ln cap="flat" cmpd="sng" w="28575">
            <a:solidFill>
              <a:srgbClr val="FF0000"/>
            </a:solidFill>
            <a:prstDash val="solid"/>
            <a:round/>
            <a:headEnd len="med" w="med" type="none"/>
            <a:tailEnd len="med" w="med" type="none"/>
          </a:ln>
        </p:spPr>
      </p:cxnSp>
      <p:cxnSp>
        <p:nvCxnSpPr>
          <p:cNvPr id="3666" name="Google Shape;3666;p115"/>
          <p:cNvCxnSpPr>
            <a:stCxn id="3621" idx="1"/>
            <a:endCxn id="3618" idx="5"/>
          </p:cNvCxnSpPr>
          <p:nvPr/>
        </p:nvCxnSpPr>
        <p:spPr>
          <a:xfrm rot="10800000">
            <a:off x="3018476" y="2938907"/>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3667" name="Google Shape;3667;p115"/>
          <p:cNvCxnSpPr>
            <a:stCxn id="3629" idx="6"/>
            <a:endCxn id="3634" idx="3"/>
          </p:cNvCxnSpPr>
          <p:nvPr/>
        </p:nvCxnSpPr>
        <p:spPr>
          <a:xfrm flipH="1" rot="10800000">
            <a:off x="7377505" y="3384907"/>
            <a:ext cx="415500" cy="492000"/>
          </a:xfrm>
          <a:prstGeom prst="straightConnector1">
            <a:avLst/>
          </a:prstGeom>
          <a:noFill/>
          <a:ln cap="flat" cmpd="sng" w="28575">
            <a:solidFill>
              <a:schemeClr val="dk2"/>
            </a:solidFill>
            <a:prstDash val="solid"/>
            <a:round/>
            <a:headEnd len="med" w="med" type="none"/>
            <a:tailEnd len="med" w="med" type="none"/>
          </a:ln>
        </p:spPr>
      </p:cxnSp>
      <p:sp>
        <p:nvSpPr>
          <p:cNvPr id="3668" name="Google Shape;3668;p115"/>
          <p:cNvSpPr txBox="1"/>
          <p:nvPr>
            <p:ph idx="1" type="body"/>
          </p:nvPr>
        </p:nvSpPr>
        <p:spPr>
          <a:xfrm>
            <a:off x="283725" y="2232475"/>
            <a:ext cx="2591400" cy="2571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What is the relative betweenness of node </a:t>
            </a:r>
            <a:r>
              <a:rPr b="1" lang="en"/>
              <a:t>d</a:t>
            </a:r>
            <a:r>
              <a:rPr lang="en"/>
              <a:t> relative to nodes </a:t>
            </a:r>
            <a:r>
              <a:rPr b="1" lang="en"/>
              <a:t>h</a:t>
            </a:r>
            <a:r>
              <a:rPr lang="en"/>
              <a:t> and </a:t>
            </a:r>
            <a:r>
              <a:rPr b="1" lang="en"/>
              <a:t>a</a:t>
            </a:r>
            <a:r>
              <a:rPr lang="en"/>
              <a:t>?</a:t>
            </a:r>
            <a:endParaRPr/>
          </a:p>
          <a:p>
            <a:pPr indent="-317500" lvl="1" marL="914400" rtl="0" algn="l">
              <a:spcBef>
                <a:spcPts val="0"/>
              </a:spcBef>
              <a:spcAft>
                <a:spcPts val="0"/>
              </a:spcAft>
              <a:buSzPts val="1400"/>
              <a:buChar char="○"/>
            </a:pPr>
            <a:r>
              <a:rPr lang="en"/>
              <a:t>First we need to list all shortest paths between h and a!  </a:t>
            </a:r>
            <a:endParaRPr/>
          </a:p>
        </p:txBody>
      </p:sp>
      <p:sp>
        <p:nvSpPr>
          <p:cNvPr id="3669" name="Google Shape;3669;p115"/>
          <p:cNvSpPr txBox="1"/>
          <p:nvPr/>
        </p:nvSpPr>
        <p:spPr>
          <a:xfrm>
            <a:off x="7326575" y="1225225"/>
            <a:ext cx="1775100" cy="477000"/>
          </a:xfrm>
          <a:prstGeom prst="rect">
            <a:avLst/>
          </a:prstGeom>
          <a:solidFill>
            <a:schemeClr val="lt1"/>
          </a:solidFill>
          <a:ln cap="flat" cmpd="sng" w="2857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rgbClr val="0D5DDF"/>
                </a:solidFill>
                <a:latin typeface="Economica"/>
                <a:ea typeface="Economica"/>
                <a:cs typeface="Economica"/>
                <a:sym typeface="Economica"/>
              </a:rPr>
              <a:t>SP(h,a) = {h, g, d, a}</a:t>
            </a:r>
            <a:endParaRPr b="1" sz="1900">
              <a:solidFill>
                <a:srgbClr val="0D5DDF"/>
              </a:solidFill>
              <a:latin typeface="Economica"/>
              <a:ea typeface="Economica"/>
              <a:cs typeface="Economica"/>
              <a:sym typeface="Economica"/>
            </a:endParaRPr>
          </a:p>
        </p:txBody>
      </p:sp>
      <p:sp>
        <p:nvSpPr>
          <p:cNvPr id="3670" name="Google Shape;3670;p115"/>
          <p:cNvSpPr/>
          <p:nvPr/>
        </p:nvSpPr>
        <p:spPr>
          <a:xfrm>
            <a:off x="5011175" y="2197225"/>
            <a:ext cx="2439900" cy="7311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d is included in this path!</a:t>
            </a:r>
            <a:endParaRPr b="1">
              <a:solidFill>
                <a:srgbClr val="FF0000"/>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4" name="Shape 3674"/>
        <p:cNvGrpSpPr/>
        <p:nvPr/>
      </p:nvGrpSpPr>
      <p:grpSpPr>
        <a:xfrm>
          <a:off x="0" y="0"/>
          <a:ext cx="0" cy="0"/>
          <a:chOff x="0" y="0"/>
          <a:chExt cx="0" cy="0"/>
        </a:xfrm>
      </p:grpSpPr>
      <p:sp>
        <p:nvSpPr>
          <p:cNvPr id="3675" name="Google Shape;3675;p11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3676" name="Google Shape;3676;p116"/>
          <p:cNvSpPr txBox="1"/>
          <p:nvPr>
            <p:ph idx="1" type="body"/>
          </p:nvPr>
        </p:nvSpPr>
        <p:spPr>
          <a:xfrm>
            <a:off x="311700" y="1225225"/>
            <a:ext cx="7285200" cy="1007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a:t>
            </a:r>
            <a:r>
              <a:rPr b="1" lang="en"/>
              <a:t>relative betweenness </a:t>
            </a:r>
            <a:r>
              <a:rPr b="1" lang="en"/>
              <a:t>centrality</a:t>
            </a:r>
            <a:r>
              <a:rPr lang="en"/>
              <a:t> of a node (</a:t>
            </a:r>
            <a:r>
              <a:rPr b="1" lang="en"/>
              <a:t>k</a:t>
            </a:r>
            <a:r>
              <a:rPr lang="en"/>
              <a:t>) with respect to two other nodes (</a:t>
            </a:r>
            <a:r>
              <a:rPr b="1" lang="en"/>
              <a:t>i</a:t>
            </a:r>
            <a:r>
              <a:rPr lang="en"/>
              <a:t>, </a:t>
            </a:r>
            <a:r>
              <a:rPr b="1" lang="en"/>
              <a:t>j</a:t>
            </a:r>
            <a:r>
              <a:rPr lang="en"/>
              <a:t>) is equal to the proportion of shortest paths between i and j that k is an inner node on</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914400" rtl="0" algn="l">
              <a:spcBef>
                <a:spcPts val="0"/>
              </a:spcBef>
              <a:spcAft>
                <a:spcPts val="0"/>
              </a:spcAft>
              <a:buNone/>
            </a:pPr>
            <a:r>
              <a:t/>
            </a:r>
            <a:endParaRPr/>
          </a:p>
        </p:txBody>
      </p:sp>
      <p:sp>
        <p:nvSpPr>
          <p:cNvPr id="3677" name="Google Shape;3677;p116"/>
          <p:cNvSpPr/>
          <p:nvPr/>
        </p:nvSpPr>
        <p:spPr>
          <a:xfrm>
            <a:off x="2672643" y="259471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678" name="Google Shape;3678;p116"/>
          <p:cNvSpPr/>
          <p:nvPr/>
        </p:nvSpPr>
        <p:spPr>
          <a:xfrm>
            <a:off x="3991266" y="223258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679" name="Google Shape;3679;p116"/>
          <p:cNvSpPr/>
          <p:nvPr/>
        </p:nvSpPr>
        <p:spPr>
          <a:xfrm>
            <a:off x="4669360" y="28465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680" name="Google Shape;3680;p116"/>
          <p:cNvSpPr/>
          <p:nvPr/>
        </p:nvSpPr>
        <p:spPr>
          <a:xfrm>
            <a:off x="3468565" y="3190960"/>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681" name="Google Shape;3681;p116"/>
          <p:cNvSpPr/>
          <p:nvPr/>
        </p:nvSpPr>
        <p:spPr>
          <a:xfrm>
            <a:off x="2636013" y="3728942"/>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682" name="Google Shape;3682;p116"/>
          <p:cNvSpPr/>
          <p:nvPr/>
        </p:nvSpPr>
        <p:spPr>
          <a:xfrm>
            <a:off x="3827823" y="3849785"/>
            <a:ext cx="405000" cy="4032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683" name="Google Shape;3683;p116"/>
          <p:cNvSpPr/>
          <p:nvPr/>
        </p:nvSpPr>
        <p:spPr>
          <a:xfrm>
            <a:off x="4232574" y="4572015"/>
            <a:ext cx="405000" cy="4032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684" name="Google Shape;3684;p116"/>
          <p:cNvSpPr/>
          <p:nvPr/>
        </p:nvSpPr>
        <p:spPr>
          <a:xfrm>
            <a:off x="5106109" y="3675307"/>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685" name="Google Shape;3685;p116"/>
          <p:cNvSpPr/>
          <p:nvPr/>
        </p:nvSpPr>
        <p:spPr>
          <a:xfrm>
            <a:off x="5308522"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686" name="Google Shape;3686;p116"/>
          <p:cNvSpPr/>
          <p:nvPr/>
        </p:nvSpPr>
        <p:spPr>
          <a:xfrm>
            <a:off x="6099063"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687" name="Google Shape;3687;p116"/>
          <p:cNvSpPr/>
          <p:nvPr/>
        </p:nvSpPr>
        <p:spPr>
          <a:xfrm>
            <a:off x="6503814" y="295245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688" name="Google Shape;3688;p116"/>
          <p:cNvSpPr/>
          <p:nvPr/>
        </p:nvSpPr>
        <p:spPr>
          <a:xfrm>
            <a:off x="6972505"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689" name="Google Shape;3689;p116"/>
          <p:cNvSpPr/>
          <p:nvPr/>
        </p:nvSpPr>
        <p:spPr>
          <a:xfrm>
            <a:off x="6503814" y="440108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690" name="Google Shape;3690;p116"/>
          <p:cNvSpPr/>
          <p:nvPr/>
        </p:nvSpPr>
        <p:spPr>
          <a:xfrm>
            <a:off x="7531209" y="448226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691" name="Google Shape;3691;p116"/>
          <p:cNvSpPr/>
          <p:nvPr/>
        </p:nvSpPr>
        <p:spPr>
          <a:xfrm>
            <a:off x="7949156" y="377509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692" name="Google Shape;3692;p116"/>
          <p:cNvSpPr/>
          <p:nvPr/>
        </p:nvSpPr>
        <p:spPr>
          <a:xfrm>
            <a:off x="8631939" y="3161829"/>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693" name="Google Shape;3693;p116"/>
          <p:cNvSpPr/>
          <p:nvPr/>
        </p:nvSpPr>
        <p:spPr>
          <a:xfrm>
            <a:off x="7733584" y="3040648"/>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694" name="Google Shape;3694;p116"/>
          <p:cNvSpPr/>
          <p:nvPr/>
        </p:nvSpPr>
        <p:spPr>
          <a:xfrm>
            <a:off x="7802222" y="2306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695" name="Google Shape;3695;p116"/>
          <p:cNvSpPr/>
          <p:nvPr/>
        </p:nvSpPr>
        <p:spPr>
          <a:xfrm>
            <a:off x="8631939" y="203087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696" name="Google Shape;3696;p116"/>
          <p:cNvCxnSpPr>
            <a:stCxn id="3695" idx="2"/>
            <a:endCxn id="3694" idx="7"/>
          </p:cNvCxnSpPr>
          <p:nvPr/>
        </p:nvCxnSpPr>
        <p:spPr>
          <a:xfrm flipH="1">
            <a:off x="8148039" y="2232475"/>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3697" name="Google Shape;3697;p116"/>
          <p:cNvCxnSpPr>
            <a:stCxn id="3693" idx="0"/>
            <a:endCxn id="3694" idx="4"/>
          </p:cNvCxnSpPr>
          <p:nvPr/>
        </p:nvCxnSpPr>
        <p:spPr>
          <a:xfrm flipH="1" rot="10800000">
            <a:off x="7936084" y="2709448"/>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3698" name="Google Shape;3698;p116"/>
          <p:cNvCxnSpPr>
            <a:stCxn id="3692" idx="2"/>
            <a:endCxn id="3693" idx="6"/>
          </p:cNvCxnSpPr>
          <p:nvPr/>
        </p:nvCxnSpPr>
        <p:spPr>
          <a:xfrm rot="10800000">
            <a:off x="8138439" y="3242229"/>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3699" name="Google Shape;3699;p116"/>
          <p:cNvCxnSpPr>
            <a:stCxn id="3692" idx="2"/>
            <a:endCxn id="3688" idx="6"/>
          </p:cNvCxnSpPr>
          <p:nvPr/>
        </p:nvCxnSpPr>
        <p:spPr>
          <a:xfrm flipH="1">
            <a:off x="7377639" y="3363429"/>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3700" name="Google Shape;3700;p116"/>
          <p:cNvCxnSpPr>
            <a:stCxn id="3692" idx="2"/>
            <a:endCxn id="3691" idx="7"/>
          </p:cNvCxnSpPr>
          <p:nvPr/>
        </p:nvCxnSpPr>
        <p:spPr>
          <a:xfrm flipH="1">
            <a:off x="8294739" y="3363429"/>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3701" name="Google Shape;3701;p116"/>
          <p:cNvCxnSpPr>
            <a:stCxn id="3691" idx="2"/>
            <a:endCxn id="3688" idx="6"/>
          </p:cNvCxnSpPr>
          <p:nvPr/>
        </p:nvCxnSpPr>
        <p:spPr>
          <a:xfrm rot="10800000">
            <a:off x="7377356" y="3876797"/>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3702" name="Google Shape;3702;p116"/>
          <p:cNvCxnSpPr>
            <a:stCxn id="3691" idx="1"/>
            <a:endCxn id="3687" idx="5"/>
          </p:cNvCxnSpPr>
          <p:nvPr/>
        </p:nvCxnSpPr>
        <p:spPr>
          <a:xfrm rot="10800000">
            <a:off x="6849567" y="3296544"/>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3703" name="Google Shape;3703;p116"/>
          <p:cNvCxnSpPr>
            <a:stCxn id="3690" idx="0"/>
            <a:endCxn id="3688" idx="4"/>
          </p:cNvCxnSpPr>
          <p:nvPr/>
        </p:nvCxnSpPr>
        <p:spPr>
          <a:xfrm rot="10800000">
            <a:off x="7175109" y="4078466"/>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3704" name="Google Shape;3704;p116"/>
          <p:cNvCxnSpPr>
            <a:stCxn id="3689" idx="7"/>
            <a:endCxn id="3688" idx="4"/>
          </p:cNvCxnSpPr>
          <p:nvPr/>
        </p:nvCxnSpPr>
        <p:spPr>
          <a:xfrm flipH="1" rot="10800000">
            <a:off x="6849503" y="4078527"/>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3705" name="Google Shape;3705;p116"/>
          <p:cNvCxnSpPr>
            <a:stCxn id="3690" idx="1"/>
            <a:endCxn id="3689" idx="6"/>
          </p:cNvCxnSpPr>
          <p:nvPr/>
        </p:nvCxnSpPr>
        <p:spPr>
          <a:xfrm flipH="1">
            <a:off x="6908920" y="4541313"/>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3706" name="Google Shape;3706;p116"/>
          <p:cNvCxnSpPr>
            <a:stCxn id="3688" idx="2"/>
            <a:endCxn id="3686" idx="6"/>
          </p:cNvCxnSpPr>
          <p:nvPr/>
        </p:nvCxnSpPr>
        <p:spPr>
          <a:xfrm rot="10800000">
            <a:off x="6504205" y="3876907"/>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3707" name="Google Shape;3707;p116"/>
          <p:cNvCxnSpPr>
            <a:stCxn id="3689" idx="0"/>
            <a:endCxn id="3686" idx="5"/>
          </p:cNvCxnSpPr>
          <p:nvPr/>
        </p:nvCxnSpPr>
        <p:spPr>
          <a:xfrm rot="10800000">
            <a:off x="6444714" y="4019480"/>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3708" name="Google Shape;3708;p116"/>
          <p:cNvCxnSpPr>
            <a:stCxn id="3688" idx="0"/>
            <a:endCxn id="3687" idx="5"/>
          </p:cNvCxnSpPr>
          <p:nvPr/>
        </p:nvCxnSpPr>
        <p:spPr>
          <a:xfrm rot="10800000">
            <a:off x="6849505" y="3296707"/>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3709" name="Google Shape;3709;p116"/>
          <p:cNvCxnSpPr>
            <a:stCxn id="3686" idx="7"/>
            <a:endCxn id="3687" idx="4"/>
          </p:cNvCxnSpPr>
          <p:nvPr/>
        </p:nvCxnSpPr>
        <p:spPr>
          <a:xfrm flipH="1" rot="10800000">
            <a:off x="6444752" y="3355754"/>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3710" name="Google Shape;3710;p116"/>
          <p:cNvCxnSpPr>
            <a:stCxn id="3686" idx="2"/>
            <a:endCxn id="3684" idx="6"/>
          </p:cNvCxnSpPr>
          <p:nvPr/>
        </p:nvCxnSpPr>
        <p:spPr>
          <a:xfrm rot="10800000">
            <a:off x="5511063" y="3876907"/>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3711" name="Google Shape;3711;p116"/>
          <p:cNvCxnSpPr>
            <a:stCxn id="3685" idx="0"/>
            <a:endCxn id="3684" idx="4"/>
          </p:cNvCxnSpPr>
          <p:nvPr/>
        </p:nvCxnSpPr>
        <p:spPr>
          <a:xfrm rot="10800000">
            <a:off x="5308522" y="4078515"/>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3712" name="Google Shape;3712;p116"/>
          <p:cNvCxnSpPr>
            <a:stCxn id="3684" idx="3"/>
            <a:endCxn id="3683" idx="7"/>
          </p:cNvCxnSpPr>
          <p:nvPr/>
        </p:nvCxnSpPr>
        <p:spPr>
          <a:xfrm flipH="1">
            <a:off x="4578320" y="4019460"/>
            <a:ext cx="587100" cy="611700"/>
          </a:xfrm>
          <a:prstGeom prst="straightConnector1">
            <a:avLst/>
          </a:prstGeom>
          <a:noFill/>
          <a:ln cap="flat" cmpd="sng" w="28575">
            <a:solidFill>
              <a:srgbClr val="FF0000"/>
            </a:solidFill>
            <a:prstDash val="solid"/>
            <a:round/>
            <a:headEnd len="med" w="med" type="none"/>
            <a:tailEnd len="med" w="med" type="none"/>
          </a:ln>
        </p:spPr>
      </p:cxnSp>
      <p:cxnSp>
        <p:nvCxnSpPr>
          <p:cNvPr id="3713" name="Google Shape;3713;p116"/>
          <p:cNvCxnSpPr>
            <a:stCxn id="3682" idx="5"/>
            <a:endCxn id="3683" idx="0"/>
          </p:cNvCxnSpPr>
          <p:nvPr/>
        </p:nvCxnSpPr>
        <p:spPr>
          <a:xfrm>
            <a:off x="4173512" y="4193938"/>
            <a:ext cx="261600" cy="378000"/>
          </a:xfrm>
          <a:prstGeom prst="straightConnector1">
            <a:avLst/>
          </a:prstGeom>
          <a:noFill/>
          <a:ln cap="flat" cmpd="sng" w="28575">
            <a:solidFill>
              <a:srgbClr val="FF0000"/>
            </a:solidFill>
            <a:prstDash val="solid"/>
            <a:round/>
            <a:headEnd len="med" w="med" type="none"/>
            <a:tailEnd len="med" w="med" type="none"/>
          </a:ln>
        </p:spPr>
      </p:cxnSp>
      <p:cxnSp>
        <p:nvCxnSpPr>
          <p:cNvPr id="3714" name="Google Shape;3714;p116"/>
          <p:cNvCxnSpPr>
            <a:stCxn id="3679" idx="4"/>
            <a:endCxn id="3682" idx="7"/>
          </p:cNvCxnSpPr>
          <p:nvPr/>
        </p:nvCxnSpPr>
        <p:spPr>
          <a:xfrm flipH="1">
            <a:off x="4173460" y="3249700"/>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3715" name="Google Shape;3715;p116"/>
          <p:cNvCxnSpPr>
            <a:stCxn id="3684" idx="1"/>
            <a:endCxn id="3679" idx="4"/>
          </p:cNvCxnSpPr>
          <p:nvPr/>
        </p:nvCxnSpPr>
        <p:spPr>
          <a:xfrm rot="10800000">
            <a:off x="4871720" y="3249554"/>
            <a:ext cx="293700" cy="484800"/>
          </a:xfrm>
          <a:prstGeom prst="straightConnector1">
            <a:avLst/>
          </a:prstGeom>
          <a:noFill/>
          <a:ln cap="flat" cmpd="sng" w="28575">
            <a:solidFill>
              <a:schemeClr val="dk2"/>
            </a:solidFill>
            <a:prstDash val="solid"/>
            <a:round/>
            <a:headEnd len="med" w="med" type="none"/>
            <a:tailEnd len="med" w="med" type="none"/>
          </a:ln>
        </p:spPr>
      </p:cxnSp>
      <p:cxnSp>
        <p:nvCxnSpPr>
          <p:cNvPr id="3716" name="Google Shape;3716;p116"/>
          <p:cNvCxnSpPr>
            <a:stCxn id="3682" idx="2"/>
            <a:endCxn id="3681" idx="6"/>
          </p:cNvCxnSpPr>
          <p:nvPr/>
        </p:nvCxnSpPr>
        <p:spPr>
          <a:xfrm rot="10800000">
            <a:off x="3040923" y="3930485"/>
            <a:ext cx="786900" cy="120900"/>
          </a:xfrm>
          <a:prstGeom prst="straightConnector1">
            <a:avLst/>
          </a:prstGeom>
          <a:noFill/>
          <a:ln cap="flat" cmpd="sng" w="28575">
            <a:solidFill>
              <a:srgbClr val="FF0000"/>
            </a:solidFill>
            <a:prstDash val="solid"/>
            <a:round/>
            <a:headEnd len="med" w="med" type="none"/>
            <a:tailEnd len="med" w="med" type="none"/>
          </a:ln>
        </p:spPr>
      </p:cxnSp>
      <p:cxnSp>
        <p:nvCxnSpPr>
          <p:cNvPr id="3717" name="Google Shape;3717;p116"/>
          <p:cNvCxnSpPr>
            <a:stCxn id="3682" idx="0"/>
            <a:endCxn id="3680" idx="4"/>
          </p:cNvCxnSpPr>
          <p:nvPr/>
        </p:nvCxnSpPr>
        <p:spPr>
          <a:xfrm rot="10800000">
            <a:off x="3670923" y="3594185"/>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3718" name="Google Shape;3718;p116"/>
          <p:cNvCxnSpPr>
            <a:stCxn id="3680" idx="3"/>
            <a:endCxn id="3681" idx="7"/>
          </p:cNvCxnSpPr>
          <p:nvPr/>
        </p:nvCxnSpPr>
        <p:spPr>
          <a:xfrm flipH="1">
            <a:off x="2981576" y="3535113"/>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3719" name="Google Shape;3719;p116"/>
          <p:cNvCxnSpPr>
            <a:stCxn id="3677" idx="4"/>
            <a:endCxn id="3681" idx="0"/>
          </p:cNvCxnSpPr>
          <p:nvPr/>
        </p:nvCxnSpPr>
        <p:spPr>
          <a:xfrm flipH="1">
            <a:off x="2838543" y="2997916"/>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3720" name="Google Shape;3720;p116"/>
          <p:cNvCxnSpPr>
            <a:stCxn id="3678" idx="2"/>
            <a:endCxn id="3677" idx="6"/>
          </p:cNvCxnSpPr>
          <p:nvPr/>
        </p:nvCxnSpPr>
        <p:spPr>
          <a:xfrm flipH="1">
            <a:off x="3077766" y="2434187"/>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3721" name="Google Shape;3721;p116"/>
          <p:cNvCxnSpPr>
            <a:stCxn id="3678" idx="3"/>
            <a:endCxn id="3680" idx="0"/>
          </p:cNvCxnSpPr>
          <p:nvPr/>
        </p:nvCxnSpPr>
        <p:spPr>
          <a:xfrm flipH="1">
            <a:off x="3671077" y="2576739"/>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3722" name="Google Shape;3722;p116"/>
          <p:cNvCxnSpPr>
            <a:stCxn id="3679" idx="2"/>
            <a:endCxn id="3677" idx="6"/>
          </p:cNvCxnSpPr>
          <p:nvPr/>
        </p:nvCxnSpPr>
        <p:spPr>
          <a:xfrm rot="10800000">
            <a:off x="3077560" y="2796400"/>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3723" name="Google Shape;3723;p116"/>
          <p:cNvCxnSpPr>
            <a:stCxn id="3679" idx="1"/>
            <a:endCxn id="3678" idx="5"/>
          </p:cNvCxnSpPr>
          <p:nvPr/>
        </p:nvCxnSpPr>
        <p:spPr>
          <a:xfrm rot="10800000">
            <a:off x="4336871" y="2576747"/>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3724" name="Google Shape;3724;p116"/>
          <p:cNvCxnSpPr>
            <a:stCxn id="3679" idx="2"/>
            <a:endCxn id="3680" idx="7"/>
          </p:cNvCxnSpPr>
          <p:nvPr/>
        </p:nvCxnSpPr>
        <p:spPr>
          <a:xfrm flipH="1">
            <a:off x="3814360" y="3048100"/>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3725" name="Google Shape;3725;p116"/>
          <p:cNvCxnSpPr>
            <a:stCxn id="3680" idx="1"/>
            <a:endCxn id="3677" idx="5"/>
          </p:cNvCxnSpPr>
          <p:nvPr/>
        </p:nvCxnSpPr>
        <p:spPr>
          <a:xfrm rot="10800000">
            <a:off x="3018476" y="2938907"/>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3726" name="Google Shape;3726;p116"/>
          <p:cNvCxnSpPr>
            <a:stCxn id="3688" idx="6"/>
            <a:endCxn id="3693" idx="3"/>
          </p:cNvCxnSpPr>
          <p:nvPr/>
        </p:nvCxnSpPr>
        <p:spPr>
          <a:xfrm flipH="1" rot="10800000">
            <a:off x="7377505" y="3384907"/>
            <a:ext cx="415500" cy="492000"/>
          </a:xfrm>
          <a:prstGeom prst="straightConnector1">
            <a:avLst/>
          </a:prstGeom>
          <a:noFill/>
          <a:ln cap="flat" cmpd="sng" w="28575">
            <a:solidFill>
              <a:schemeClr val="dk2"/>
            </a:solidFill>
            <a:prstDash val="solid"/>
            <a:round/>
            <a:headEnd len="med" w="med" type="none"/>
            <a:tailEnd len="med" w="med" type="none"/>
          </a:ln>
        </p:spPr>
      </p:cxnSp>
      <p:sp>
        <p:nvSpPr>
          <p:cNvPr id="3727" name="Google Shape;3727;p116"/>
          <p:cNvSpPr txBox="1"/>
          <p:nvPr>
            <p:ph idx="1" type="body"/>
          </p:nvPr>
        </p:nvSpPr>
        <p:spPr>
          <a:xfrm>
            <a:off x="283725" y="2232475"/>
            <a:ext cx="2591400" cy="2571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What is the relative betweenness of node </a:t>
            </a:r>
            <a:r>
              <a:rPr b="1" lang="en"/>
              <a:t>d</a:t>
            </a:r>
            <a:r>
              <a:rPr lang="en"/>
              <a:t> relative to nodes </a:t>
            </a:r>
            <a:r>
              <a:rPr b="1" lang="en"/>
              <a:t>h</a:t>
            </a:r>
            <a:r>
              <a:rPr lang="en"/>
              <a:t> and </a:t>
            </a:r>
            <a:r>
              <a:rPr b="1" lang="en"/>
              <a:t>a</a:t>
            </a:r>
            <a:r>
              <a:rPr lang="en"/>
              <a:t>?</a:t>
            </a:r>
            <a:endParaRPr/>
          </a:p>
          <a:p>
            <a:pPr indent="-317500" lvl="1" marL="914400" rtl="0" algn="l">
              <a:spcBef>
                <a:spcPts val="0"/>
              </a:spcBef>
              <a:spcAft>
                <a:spcPts val="0"/>
              </a:spcAft>
              <a:buSzPts val="1400"/>
              <a:buChar char="○"/>
            </a:pPr>
            <a:r>
              <a:rPr lang="en"/>
              <a:t>First we need to list all shortest paths between h and a!  </a:t>
            </a:r>
            <a:endParaRPr/>
          </a:p>
        </p:txBody>
      </p:sp>
      <p:sp>
        <p:nvSpPr>
          <p:cNvPr id="3728" name="Google Shape;3728;p116"/>
          <p:cNvSpPr txBox="1"/>
          <p:nvPr/>
        </p:nvSpPr>
        <p:spPr>
          <a:xfrm>
            <a:off x="7326575" y="1225225"/>
            <a:ext cx="1788000" cy="769500"/>
          </a:xfrm>
          <a:prstGeom prst="rect">
            <a:avLst/>
          </a:prstGeom>
          <a:solidFill>
            <a:schemeClr val="lt1"/>
          </a:solidFill>
          <a:ln cap="flat" cmpd="sng" w="2857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rgbClr val="0D5DDF"/>
                </a:solidFill>
                <a:latin typeface="Economica"/>
                <a:ea typeface="Economica"/>
                <a:cs typeface="Economica"/>
                <a:sym typeface="Economica"/>
              </a:rPr>
              <a:t>SP(h,a) = {h, g, d, a}</a:t>
            </a:r>
            <a:endParaRPr b="1" sz="1900">
              <a:solidFill>
                <a:srgbClr val="0D5DDF"/>
              </a:solidFill>
              <a:latin typeface="Economica"/>
              <a:ea typeface="Economica"/>
              <a:cs typeface="Economica"/>
              <a:sym typeface="Economica"/>
            </a:endParaRPr>
          </a:p>
          <a:p>
            <a:pPr indent="0" lvl="0" marL="0" rtl="0" algn="l">
              <a:spcBef>
                <a:spcPts val="0"/>
              </a:spcBef>
              <a:spcAft>
                <a:spcPts val="0"/>
              </a:spcAft>
              <a:buNone/>
            </a:pPr>
            <a:r>
              <a:rPr b="1" lang="en" sz="1900">
                <a:solidFill>
                  <a:srgbClr val="0D5DDF"/>
                </a:solidFill>
                <a:latin typeface="Economica"/>
                <a:ea typeface="Economica"/>
                <a:cs typeface="Economica"/>
                <a:sym typeface="Economica"/>
              </a:rPr>
              <a:t>SP(h,a) = {h, c, f, a}</a:t>
            </a:r>
            <a:endParaRPr b="1" sz="1900">
              <a:solidFill>
                <a:srgbClr val="0D5DDF"/>
              </a:solidFill>
              <a:latin typeface="Economica"/>
              <a:ea typeface="Economica"/>
              <a:cs typeface="Economica"/>
              <a:sym typeface="Economica"/>
            </a:endParaRPr>
          </a:p>
        </p:txBody>
      </p:sp>
      <p:sp>
        <p:nvSpPr>
          <p:cNvPr id="3729" name="Google Shape;3729;p116"/>
          <p:cNvSpPr/>
          <p:nvPr/>
        </p:nvSpPr>
        <p:spPr>
          <a:xfrm>
            <a:off x="5011175" y="2197225"/>
            <a:ext cx="2439900" cy="7311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d is NOT included in this path!</a:t>
            </a:r>
            <a:endParaRPr b="1">
              <a:solidFill>
                <a:srgbClr val="FF0000"/>
              </a:solidFill>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3" name="Shape 3733"/>
        <p:cNvGrpSpPr/>
        <p:nvPr/>
      </p:nvGrpSpPr>
      <p:grpSpPr>
        <a:xfrm>
          <a:off x="0" y="0"/>
          <a:ext cx="0" cy="0"/>
          <a:chOff x="0" y="0"/>
          <a:chExt cx="0" cy="0"/>
        </a:xfrm>
      </p:grpSpPr>
      <p:sp>
        <p:nvSpPr>
          <p:cNvPr id="3734" name="Google Shape;3734;p117"/>
          <p:cNvSpPr txBox="1"/>
          <p:nvPr>
            <p:ph idx="1" type="body"/>
          </p:nvPr>
        </p:nvSpPr>
        <p:spPr>
          <a:xfrm>
            <a:off x="283725" y="2232475"/>
            <a:ext cx="2591400" cy="2571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What is the relative betweenness of node </a:t>
            </a:r>
            <a:r>
              <a:rPr b="1" lang="en"/>
              <a:t>d</a:t>
            </a:r>
            <a:r>
              <a:rPr lang="en"/>
              <a:t> relative to nodes </a:t>
            </a:r>
            <a:r>
              <a:rPr b="1" lang="en"/>
              <a:t>h</a:t>
            </a:r>
            <a:r>
              <a:rPr lang="en"/>
              <a:t> and </a:t>
            </a:r>
            <a:r>
              <a:rPr b="1" lang="en"/>
              <a:t>a</a:t>
            </a:r>
            <a:r>
              <a:rPr lang="en"/>
              <a:t>?</a:t>
            </a:r>
            <a:endParaRPr/>
          </a:p>
          <a:p>
            <a:pPr indent="-317500" lvl="1" marL="914400" rtl="0" algn="l">
              <a:spcBef>
                <a:spcPts val="0"/>
              </a:spcBef>
              <a:spcAft>
                <a:spcPts val="0"/>
              </a:spcAft>
              <a:buSzPts val="1400"/>
              <a:buChar char="○"/>
            </a:pPr>
            <a:r>
              <a:rPr lang="en"/>
              <a:t>First we need to list all shortest paths between h and a!  </a:t>
            </a:r>
            <a:endParaRPr/>
          </a:p>
        </p:txBody>
      </p:sp>
      <p:sp>
        <p:nvSpPr>
          <p:cNvPr id="3735" name="Google Shape;3735;p11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3736" name="Google Shape;3736;p117"/>
          <p:cNvSpPr txBox="1"/>
          <p:nvPr>
            <p:ph idx="1" type="body"/>
          </p:nvPr>
        </p:nvSpPr>
        <p:spPr>
          <a:xfrm>
            <a:off x="311700" y="1225225"/>
            <a:ext cx="7285200" cy="1007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a:t>
            </a:r>
            <a:r>
              <a:rPr b="1" lang="en"/>
              <a:t>relative betweenness </a:t>
            </a:r>
            <a:r>
              <a:rPr b="1" lang="en"/>
              <a:t>centrality</a:t>
            </a:r>
            <a:r>
              <a:rPr lang="en"/>
              <a:t> of a node (</a:t>
            </a:r>
            <a:r>
              <a:rPr b="1" lang="en"/>
              <a:t>k</a:t>
            </a:r>
            <a:r>
              <a:rPr lang="en"/>
              <a:t>) with respect to two other nodes (</a:t>
            </a:r>
            <a:r>
              <a:rPr b="1" lang="en"/>
              <a:t>i</a:t>
            </a:r>
            <a:r>
              <a:rPr lang="en"/>
              <a:t>, </a:t>
            </a:r>
            <a:r>
              <a:rPr b="1" lang="en"/>
              <a:t>j</a:t>
            </a:r>
            <a:r>
              <a:rPr lang="en"/>
              <a:t>) is equal to the proportion of shortest paths between i and j that k is an inner node on</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914400" rtl="0" algn="l">
              <a:spcBef>
                <a:spcPts val="0"/>
              </a:spcBef>
              <a:spcAft>
                <a:spcPts val="0"/>
              </a:spcAft>
              <a:buNone/>
            </a:pPr>
            <a:r>
              <a:t/>
            </a:r>
            <a:endParaRPr/>
          </a:p>
        </p:txBody>
      </p:sp>
      <p:sp>
        <p:nvSpPr>
          <p:cNvPr id="3737" name="Google Shape;3737;p117"/>
          <p:cNvSpPr/>
          <p:nvPr/>
        </p:nvSpPr>
        <p:spPr>
          <a:xfrm>
            <a:off x="2672643" y="2594716"/>
            <a:ext cx="405000" cy="4032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738" name="Google Shape;3738;p117"/>
          <p:cNvSpPr/>
          <p:nvPr/>
        </p:nvSpPr>
        <p:spPr>
          <a:xfrm>
            <a:off x="3991266" y="223258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739" name="Google Shape;3739;p117"/>
          <p:cNvSpPr/>
          <p:nvPr/>
        </p:nvSpPr>
        <p:spPr>
          <a:xfrm>
            <a:off x="4669360" y="2846500"/>
            <a:ext cx="405000" cy="4032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740" name="Google Shape;3740;p117"/>
          <p:cNvSpPr/>
          <p:nvPr/>
        </p:nvSpPr>
        <p:spPr>
          <a:xfrm>
            <a:off x="3468565" y="3190960"/>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741" name="Google Shape;3741;p117"/>
          <p:cNvSpPr/>
          <p:nvPr/>
        </p:nvSpPr>
        <p:spPr>
          <a:xfrm>
            <a:off x="2636013" y="3728942"/>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742" name="Google Shape;3742;p117"/>
          <p:cNvSpPr/>
          <p:nvPr/>
        </p:nvSpPr>
        <p:spPr>
          <a:xfrm>
            <a:off x="3827823" y="384978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743" name="Google Shape;3743;p117"/>
          <p:cNvSpPr/>
          <p:nvPr/>
        </p:nvSpPr>
        <p:spPr>
          <a:xfrm>
            <a:off x="4232574"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744" name="Google Shape;3744;p117"/>
          <p:cNvSpPr/>
          <p:nvPr/>
        </p:nvSpPr>
        <p:spPr>
          <a:xfrm>
            <a:off x="5106109" y="3675307"/>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745" name="Google Shape;3745;p117"/>
          <p:cNvSpPr/>
          <p:nvPr/>
        </p:nvSpPr>
        <p:spPr>
          <a:xfrm>
            <a:off x="5308522"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746" name="Google Shape;3746;p117"/>
          <p:cNvSpPr/>
          <p:nvPr/>
        </p:nvSpPr>
        <p:spPr>
          <a:xfrm>
            <a:off x="6099063"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747" name="Google Shape;3747;p117"/>
          <p:cNvSpPr/>
          <p:nvPr/>
        </p:nvSpPr>
        <p:spPr>
          <a:xfrm>
            <a:off x="6503814" y="295245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748" name="Google Shape;3748;p117"/>
          <p:cNvSpPr/>
          <p:nvPr/>
        </p:nvSpPr>
        <p:spPr>
          <a:xfrm>
            <a:off x="6972505"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749" name="Google Shape;3749;p117"/>
          <p:cNvSpPr/>
          <p:nvPr/>
        </p:nvSpPr>
        <p:spPr>
          <a:xfrm>
            <a:off x="6503814" y="440108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750" name="Google Shape;3750;p117"/>
          <p:cNvSpPr/>
          <p:nvPr/>
        </p:nvSpPr>
        <p:spPr>
          <a:xfrm>
            <a:off x="7531209" y="448226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751" name="Google Shape;3751;p117"/>
          <p:cNvSpPr/>
          <p:nvPr/>
        </p:nvSpPr>
        <p:spPr>
          <a:xfrm>
            <a:off x="7949156" y="377509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752" name="Google Shape;3752;p117"/>
          <p:cNvSpPr/>
          <p:nvPr/>
        </p:nvSpPr>
        <p:spPr>
          <a:xfrm>
            <a:off x="8631939" y="3161829"/>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753" name="Google Shape;3753;p117"/>
          <p:cNvSpPr/>
          <p:nvPr/>
        </p:nvSpPr>
        <p:spPr>
          <a:xfrm>
            <a:off x="7733584" y="3040648"/>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754" name="Google Shape;3754;p117"/>
          <p:cNvSpPr/>
          <p:nvPr/>
        </p:nvSpPr>
        <p:spPr>
          <a:xfrm>
            <a:off x="7802222" y="2306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755" name="Google Shape;3755;p117"/>
          <p:cNvSpPr/>
          <p:nvPr/>
        </p:nvSpPr>
        <p:spPr>
          <a:xfrm>
            <a:off x="8631939" y="203087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756" name="Google Shape;3756;p117"/>
          <p:cNvCxnSpPr>
            <a:stCxn id="3755" idx="2"/>
            <a:endCxn id="3754" idx="7"/>
          </p:cNvCxnSpPr>
          <p:nvPr/>
        </p:nvCxnSpPr>
        <p:spPr>
          <a:xfrm flipH="1">
            <a:off x="8148039" y="2232475"/>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3757" name="Google Shape;3757;p117"/>
          <p:cNvCxnSpPr>
            <a:stCxn id="3753" idx="0"/>
            <a:endCxn id="3754" idx="4"/>
          </p:cNvCxnSpPr>
          <p:nvPr/>
        </p:nvCxnSpPr>
        <p:spPr>
          <a:xfrm flipH="1" rot="10800000">
            <a:off x="7936084" y="2709448"/>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3758" name="Google Shape;3758;p117"/>
          <p:cNvCxnSpPr>
            <a:stCxn id="3752" idx="2"/>
            <a:endCxn id="3753" idx="6"/>
          </p:cNvCxnSpPr>
          <p:nvPr/>
        </p:nvCxnSpPr>
        <p:spPr>
          <a:xfrm rot="10800000">
            <a:off x="8138439" y="3242229"/>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3759" name="Google Shape;3759;p117"/>
          <p:cNvCxnSpPr>
            <a:stCxn id="3752" idx="2"/>
            <a:endCxn id="3748" idx="6"/>
          </p:cNvCxnSpPr>
          <p:nvPr/>
        </p:nvCxnSpPr>
        <p:spPr>
          <a:xfrm flipH="1">
            <a:off x="7377639" y="3363429"/>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3760" name="Google Shape;3760;p117"/>
          <p:cNvCxnSpPr>
            <a:stCxn id="3752" idx="2"/>
            <a:endCxn id="3751" idx="7"/>
          </p:cNvCxnSpPr>
          <p:nvPr/>
        </p:nvCxnSpPr>
        <p:spPr>
          <a:xfrm flipH="1">
            <a:off x="8294739" y="3363429"/>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3761" name="Google Shape;3761;p117"/>
          <p:cNvCxnSpPr>
            <a:stCxn id="3751" idx="2"/>
            <a:endCxn id="3748" idx="6"/>
          </p:cNvCxnSpPr>
          <p:nvPr/>
        </p:nvCxnSpPr>
        <p:spPr>
          <a:xfrm rot="10800000">
            <a:off x="7377356" y="3876797"/>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3762" name="Google Shape;3762;p117"/>
          <p:cNvCxnSpPr>
            <a:stCxn id="3751" idx="1"/>
            <a:endCxn id="3747" idx="5"/>
          </p:cNvCxnSpPr>
          <p:nvPr/>
        </p:nvCxnSpPr>
        <p:spPr>
          <a:xfrm rot="10800000">
            <a:off x="6849567" y="3296544"/>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3763" name="Google Shape;3763;p117"/>
          <p:cNvCxnSpPr>
            <a:stCxn id="3750" idx="0"/>
            <a:endCxn id="3748" idx="4"/>
          </p:cNvCxnSpPr>
          <p:nvPr/>
        </p:nvCxnSpPr>
        <p:spPr>
          <a:xfrm rot="10800000">
            <a:off x="7175109" y="4078466"/>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3764" name="Google Shape;3764;p117"/>
          <p:cNvCxnSpPr>
            <a:stCxn id="3749" idx="7"/>
            <a:endCxn id="3748" idx="4"/>
          </p:cNvCxnSpPr>
          <p:nvPr/>
        </p:nvCxnSpPr>
        <p:spPr>
          <a:xfrm flipH="1" rot="10800000">
            <a:off x="6849503" y="4078527"/>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3765" name="Google Shape;3765;p117"/>
          <p:cNvCxnSpPr>
            <a:stCxn id="3750" idx="1"/>
            <a:endCxn id="3749" idx="6"/>
          </p:cNvCxnSpPr>
          <p:nvPr/>
        </p:nvCxnSpPr>
        <p:spPr>
          <a:xfrm flipH="1">
            <a:off x="6908920" y="4541313"/>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3766" name="Google Shape;3766;p117"/>
          <p:cNvCxnSpPr>
            <a:stCxn id="3748" idx="2"/>
            <a:endCxn id="3746" idx="6"/>
          </p:cNvCxnSpPr>
          <p:nvPr/>
        </p:nvCxnSpPr>
        <p:spPr>
          <a:xfrm rot="10800000">
            <a:off x="6504205" y="3876907"/>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3767" name="Google Shape;3767;p117"/>
          <p:cNvCxnSpPr>
            <a:stCxn id="3749" idx="0"/>
            <a:endCxn id="3746" idx="5"/>
          </p:cNvCxnSpPr>
          <p:nvPr/>
        </p:nvCxnSpPr>
        <p:spPr>
          <a:xfrm rot="10800000">
            <a:off x="6444714" y="4019480"/>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3768" name="Google Shape;3768;p117"/>
          <p:cNvCxnSpPr>
            <a:stCxn id="3748" idx="0"/>
            <a:endCxn id="3747" idx="5"/>
          </p:cNvCxnSpPr>
          <p:nvPr/>
        </p:nvCxnSpPr>
        <p:spPr>
          <a:xfrm rot="10800000">
            <a:off x="6849505" y="3296707"/>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3769" name="Google Shape;3769;p117"/>
          <p:cNvCxnSpPr>
            <a:stCxn id="3746" idx="7"/>
            <a:endCxn id="3747" idx="4"/>
          </p:cNvCxnSpPr>
          <p:nvPr/>
        </p:nvCxnSpPr>
        <p:spPr>
          <a:xfrm flipH="1" rot="10800000">
            <a:off x="6444752" y="3355754"/>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3770" name="Google Shape;3770;p117"/>
          <p:cNvCxnSpPr>
            <a:stCxn id="3746" idx="2"/>
            <a:endCxn id="3744" idx="6"/>
          </p:cNvCxnSpPr>
          <p:nvPr/>
        </p:nvCxnSpPr>
        <p:spPr>
          <a:xfrm rot="10800000">
            <a:off x="5511063" y="3876907"/>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3771" name="Google Shape;3771;p117"/>
          <p:cNvCxnSpPr>
            <a:stCxn id="3745" idx="0"/>
            <a:endCxn id="3744" idx="4"/>
          </p:cNvCxnSpPr>
          <p:nvPr/>
        </p:nvCxnSpPr>
        <p:spPr>
          <a:xfrm rot="10800000">
            <a:off x="5308522" y="4078515"/>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3772" name="Google Shape;3772;p117"/>
          <p:cNvCxnSpPr>
            <a:stCxn id="3744" idx="3"/>
            <a:endCxn id="3743" idx="7"/>
          </p:cNvCxnSpPr>
          <p:nvPr/>
        </p:nvCxnSpPr>
        <p:spPr>
          <a:xfrm flipH="1">
            <a:off x="4578320" y="4019460"/>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3773" name="Google Shape;3773;p117"/>
          <p:cNvCxnSpPr>
            <a:stCxn id="3742" idx="5"/>
            <a:endCxn id="3743" idx="0"/>
          </p:cNvCxnSpPr>
          <p:nvPr/>
        </p:nvCxnSpPr>
        <p:spPr>
          <a:xfrm>
            <a:off x="4173512" y="4193938"/>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3774" name="Google Shape;3774;p117"/>
          <p:cNvCxnSpPr>
            <a:stCxn id="3739" idx="4"/>
            <a:endCxn id="3742" idx="7"/>
          </p:cNvCxnSpPr>
          <p:nvPr/>
        </p:nvCxnSpPr>
        <p:spPr>
          <a:xfrm flipH="1">
            <a:off x="4173460" y="3249700"/>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3775" name="Google Shape;3775;p117"/>
          <p:cNvCxnSpPr>
            <a:stCxn id="3744" idx="1"/>
            <a:endCxn id="3739" idx="4"/>
          </p:cNvCxnSpPr>
          <p:nvPr/>
        </p:nvCxnSpPr>
        <p:spPr>
          <a:xfrm rot="10800000">
            <a:off x="4871720" y="3249554"/>
            <a:ext cx="293700" cy="484800"/>
          </a:xfrm>
          <a:prstGeom prst="straightConnector1">
            <a:avLst/>
          </a:prstGeom>
          <a:noFill/>
          <a:ln cap="flat" cmpd="sng" w="28575">
            <a:solidFill>
              <a:srgbClr val="FF0000"/>
            </a:solidFill>
            <a:prstDash val="solid"/>
            <a:round/>
            <a:headEnd len="med" w="med" type="none"/>
            <a:tailEnd len="med" w="med" type="none"/>
          </a:ln>
        </p:spPr>
      </p:cxnSp>
      <p:cxnSp>
        <p:nvCxnSpPr>
          <p:cNvPr id="3776" name="Google Shape;3776;p117"/>
          <p:cNvCxnSpPr>
            <a:stCxn id="3742" idx="2"/>
            <a:endCxn id="3741" idx="6"/>
          </p:cNvCxnSpPr>
          <p:nvPr/>
        </p:nvCxnSpPr>
        <p:spPr>
          <a:xfrm rot="10800000">
            <a:off x="3040923" y="3930485"/>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3777" name="Google Shape;3777;p117"/>
          <p:cNvCxnSpPr>
            <a:stCxn id="3742" idx="0"/>
            <a:endCxn id="3740" idx="4"/>
          </p:cNvCxnSpPr>
          <p:nvPr/>
        </p:nvCxnSpPr>
        <p:spPr>
          <a:xfrm rot="10800000">
            <a:off x="3670923" y="3594185"/>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3778" name="Google Shape;3778;p117"/>
          <p:cNvCxnSpPr>
            <a:stCxn id="3740" idx="3"/>
            <a:endCxn id="3741" idx="7"/>
          </p:cNvCxnSpPr>
          <p:nvPr/>
        </p:nvCxnSpPr>
        <p:spPr>
          <a:xfrm flipH="1">
            <a:off x="2981576" y="3535113"/>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3779" name="Google Shape;3779;p117"/>
          <p:cNvCxnSpPr>
            <a:stCxn id="3737" idx="4"/>
            <a:endCxn id="3741" idx="0"/>
          </p:cNvCxnSpPr>
          <p:nvPr/>
        </p:nvCxnSpPr>
        <p:spPr>
          <a:xfrm flipH="1">
            <a:off x="2838543" y="2997916"/>
            <a:ext cx="36600" cy="731100"/>
          </a:xfrm>
          <a:prstGeom prst="straightConnector1">
            <a:avLst/>
          </a:prstGeom>
          <a:noFill/>
          <a:ln cap="flat" cmpd="sng" w="28575">
            <a:solidFill>
              <a:srgbClr val="FF0000"/>
            </a:solidFill>
            <a:prstDash val="solid"/>
            <a:round/>
            <a:headEnd len="med" w="med" type="none"/>
            <a:tailEnd len="med" w="med" type="none"/>
          </a:ln>
        </p:spPr>
      </p:cxnSp>
      <p:cxnSp>
        <p:nvCxnSpPr>
          <p:cNvPr id="3780" name="Google Shape;3780;p117"/>
          <p:cNvCxnSpPr>
            <a:stCxn id="3738" idx="2"/>
            <a:endCxn id="3737" idx="6"/>
          </p:cNvCxnSpPr>
          <p:nvPr/>
        </p:nvCxnSpPr>
        <p:spPr>
          <a:xfrm flipH="1">
            <a:off x="3077766" y="2434187"/>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3781" name="Google Shape;3781;p117"/>
          <p:cNvCxnSpPr>
            <a:stCxn id="3738" idx="3"/>
            <a:endCxn id="3740" idx="0"/>
          </p:cNvCxnSpPr>
          <p:nvPr/>
        </p:nvCxnSpPr>
        <p:spPr>
          <a:xfrm flipH="1">
            <a:off x="3671077" y="2576739"/>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3782" name="Google Shape;3782;p117"/>
          <p:cNvCxnSpPr>
            <a:stCxn id="3739" idx="2"/>
            <a:endCxn id="3737" idx="6"/>
          </p:cNvCxnSpPr>
          <p:nvPr/>
        </p:nvCxnSpPr>
        <p:spPr>
          <a:xfrm rot="10800000">
            <a:off x="3077560" y="2796400"/>
            <a:ext cx="1591800" cy="251700"/>
          </a:xfrm>
          <a:prstGeom prst="straightConnector1">
            <a:avLst/>
          </a:prstGeom>
          <a:noFill/>
          <a:ln cap="flat" cmpd="sng" w="28575">
            <a:solidFill>
              <a:srgbClr val="FF0000"/>
            </a:solidFill>
            <a:prstDash val="solid"/>
            <a:round/>
            <a:headEnd len="med" w="med" type="none"/>
            <a:tailEnd len="med" w="med" type="none"/>
          </a:ln>
        </p:spPr>
      </p:cxnSp>
      <p:cxnSp>
        <p:nvCxnSpPr>
          <p:cNvPr id="3783" name="Google Shape;3783;p117"/>
          <p:cNvCxnSpPr>
            <a:stCxn id="3739" idx="1"/>
            <a:endCxn id="3738" idx="5"/>
          </p:cNvCxnSpPr>
          <p:nvPr/>
        </p:nvCxnSpPr>
        <p:spPr>
          <a:xfrm rot="10800000">
            <a:off x="4336871" y="2576747"/>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3784" name="Google Shape;3784;p117"/>
          <p:cNvCxnSpPr>
            <a:stCxn id="3739" idx="2"/>
            <a:endCxn id="3740" idx="7"/>
          </p:cNvCxnSpPr>
          <p:nvPr/>
        </p:nvCxnSpPr>
        <p:spPr>
          <a:xfrm flipH="1">
            <a:off x="3814360" y="3048100"/>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3785" name="Google Shape;3785;p117"/>
          <p:cNvCxnSpPr>
            <a:stCxn id="3740" idx="1"/>
            <a:endCxn id="3737" idx="5"/>
          </p:cNvCxnSpPr>
          <p:nvPr/>
        </p:nvCxnSpPr>
        <p:spPr>
          <a:xfrm rot="10800000">
            <a:off x="3018476" y="2938907"/>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3786" name="Google Shape;3786;p117"/>
          <p:cNvCxnSpPr>
            <a:stCxn id="3748" idx="6"/>
            <a:endCxn id="3753" idx="3"/>
          </p:cNvCxnSpPr>
          <p:nvPr/>
        </p:nvCxnSpPr>
        <p:spPr>
          <a:xfrm flipH="1" rot="10800000">
            <a:off x="7377505" y="3384907"/>
            <a:ext cx="415500" cy="492000"/>
          </a:xfrm>
          <a:prstGeom prst="straightConnector1">
            <a:avLst/>
          </a:prstGeom>
          <a:noFill/>
          <a:ln cap="flat" cmpd="sng" w="28575">
            <a:solidFill>
              <a:schemeClr val="dk2"/>
            </a:solidFill>
            <a:prstDash val="solid"/>
            <a:round/>
            <a:headEnd len="med" w="med" type="none"/>
            <a:tailEnd len="med" w="med" type="none"/>
          </a:ln>
        </p:spPr>
      </p:cxnSp>
      <p:sp>
        <p:nvSpPr>
          <p:cNvPr id="3787" name="Google Shape;3787;p117"/>
          <p:cNvSpPr txBox="1"/>
          <p:nvPr/>
        </p:nvSpPr>
        <p:spPr>
          <a:xfrm>
            <a:off x="7326575" y="1225225"/>
            <a:ext cx="1788000" cy="1062000"/>
          </a:xfrm>
          <a:prstGeom prst="rect">
            <a:avLst/>
          </a:prstGeom>
          <a:solidFill>
            <a:schemeClr val="lt1"/>
          </a:solidFill>
          <a:ln cap="flat" cmpd="sng" w="2857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g, d, a}</a:t>
            </a:r>
            <a:endParaRPr b="1" sz="1900">
              <a:solidFill>
                <a:srgbClr val="0000FF"/>
              </a:solidFill>
              <a:latin typeface="Economica"/>
              <a:ea typeface="Economica"/>
              <a:cs typeface="Economica"/>
              <a:sym typeface="Economica"/>
            </a:endParaRPr>
          </a:p>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c, f, a}</a:t>
            </a:r>
            <a:endParaRPr b="1" sz="1900">
              <a:solidFill>
                <a:srgbClr val="0000FF"/>
              </a:solidFill>
              <a:latin typeface="Economica"/>
              <a:ea typeface="Economica"/>
              <a:cs typeface="Economica"/>
              <a:sym typeface="Economica"/>
            </a:endParaRPr>
          </a:p>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g, b, a}</a:t>
            </a:r>
            <a:endParaRPr b="1" sz="1900">
              <a:solidFill>
                <a:srgbClr val="0000FF"/>
              </a:solidFill>
              <a:latin typeface="Economica"/>
              <a:ea typeface="Economica"/>
              <a:cs typeface="Economica"/>
              <a:sym typeface="Economica"/>
            </a:endParaRPr>
          </a:p>
        </p:txBody>
      </p:sp>
      <p:sp>
        <p:nvSpPr>
          <p:cNvPr id="3788" name="Google Shape;3788;p117"/>
          <p:cNvSpPr/>
          <p:nvPr/>
        </p:nvSpPr>
        <p:spPr>
          <a:xfrm>
            <a:off x="5011175" y="2197225"/>
            <a:ext cx="2439900" cy="7311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d is NOT included in this path!</a:t>
            </a:r>
            <a:endParaRPr b="1">
              <a:solidFill>
                <a:srgbClr val="FF0000"/>
              </a:solidFill>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2" name="Shape 3792"/>
        <p:cNvGrpSpPr/>
        <p:nvPr/>
      </p:nvGrpSpPr>
      <p:grpSpPr>
        <a:xfrm>
          <a:off x="0" y="0"/>
          <a:ext cx="0" cy="0"/>
          <a:chOff x="0" y="0"/>
          <a:chExt cx="0" cy="0"/>
        </a:xfrm>
      </p:grpSpPr>
      <p:sp>
        <p:nvSpPr>
          <p:cNvPr id="3793" name="Google Shape;3793;p118"/>
          <p:cNvSpPr txBox="1"/>
          <p:nvPr>
            <p:ph idx="1" type="body"/>
          </p:nvPr>
        </p:nvSpPr>
        <p:spPr>
          <a:xfrm>
            <a:off x="283725" y="2232475"/>
            <a:ext cx="2591400" cy="2571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What is the relative betweenness of node </a:t>
            </a:r>
            <a:r>
              <a:rPr b="1" lang="en"/>
              <a:t>d</a:t>
            </a:r>
            <a:r>
              <a:rPr lang="en"/>
              <a:t> relative to nodes </a:t>
            </a:r>
            <a:r>
              <a:rPr b="1" lang="en"/>
              <a:t>h</a:t>
            </a:r>
            <a:r>
              <a:rPr lang="en"/>
              <a:t> and </a:t>
            </a:r>
            <a:r>
              <a:rPr b="1" lang="en"/>
              <a:t>a</a:t>
            </a:r>
            <a:r>
              <a:rPr lang="en"/>
              <a:t>?</a:t>
            </a:r>
            <a:endParaRPr/>
          </a:p>
          <a:p>
            <a:pPr indent="-317500" lvl="1" marL="914400" rtl="0" algn="l">
              <a:spcBef>
                <a:spcPts val="0"/>
              </a:spcBef>
              <a:spcAft>
                <a:spcPts val="0"/>
              </a:spcAft>
              <a:buSzPts val="1400"/>
              <a:buChar char="○"/>
            </a:pPr>
            <a:r>
              <a:rPr lang="en"/>
              <a:t>First we need to list all shortest paths between h and a!  </a:t>
            </a:r>
            <a:endParaRPr/>
          </a:p>
        </p:txBody>
      </p:sp>
      <p:sp>
        <p:nvSpPr>
          <p:cNvPr id="3794" name="Google Shape;3794;p11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3795" name="Google Shape;3795;p118"/>
          <p:cNvSpPr txBox="1"/>
          <p:nvPr>
            <p:ph idx="1" type="body"/>
          </p:nvPr>
        </p:nvSpPr>
        <p:spPr>
          <a:xfrm>
            <a:off x="311700" y="1225225"/>
            <a:ext cx="7285200" cy="1007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a:t>
            </a:r>
            <a:r>
              <a:rPr b="1" lang="en"/>
              <a:t>relative betweenness </a:t>
            </a:r>
            <a:r>
              <a:rPr b="1" lang="en"/>
              <a:t>centrality</a:t>
            </a:r>
            <a:r>
              <a:rPr lang="en"/>
              <a:t> of a node (</a:t>
            </a:r>
            <a:r>
              <a:rPr b="1" lang="en"/>
              <a:t>k</a:t>
            </a:r>
            <a:r>
              <a:rPr lang="en"/>
              <a:t>) with respect to two other nodes (</a:t>
            </a:r>
            <a:r>
              <a:rPr b="1" lang="en"/>
              <a:t>i</a:t>
            </a:r>
            <a:r>
              <a:rPr lang="en"/>
              <a:t>, </a:t>
            </a:r>
            <a:r>
              <a:rPr b="1" lang="en"/>
              <a:t>j</a:t>
            </a:r>
            <a:r>
              <a:rPr lang="en"/>
              <a:t>) is equal to the proportion of shortest paths between i and j that k is an inner node on</a:t>
            </a:r>
            <a:endParaRPr/>
          </a:p>
          <a:p>
            <a:pPr indent="0" lvl="0" marL="457200" rtl="0" algn="l">
              <a:spcBef>
                <a:spcPts val="0"/>
              </a:spcBef>
              <a:spcAft>
                <a:spcPts val="0"/>
              </a:spcAft>
              <a:buNone/>
            </a:pPr>
            <a:r>
              <a:rPr lang="en"/>
              <a:t>	</a:t>
            </a:r>
            <a:endParaRPr/>
          </a:p>
          <a:p>
            <a:pPr indent="0" lvl="0" marL="457200" rtl="0" algn="l">
              <a:spcBef>
                <a:spcPts val="0"/>
              </a:spcBef>
              <a:spcAft>
                <a:spcPts val="0"/>
              </a:spcAft>
              <a:buNone/>
            </a:pPr>
            <a:r>
              <a:t/>
            </a:r>
            <a:endParaRPr/>
          </a:p>
          <a:p>
            <a:pPr indent="0" lvl="0" marL="914400" rtl="0" algn="l">
              <a:spcBef>
                <a:spcPts val="0"/>
              </a:spcBef>
              <a:spcAft>
                <a:spcPts val="0"/>
              </a:spcAft>
              <a:buNone/>
            </a:pPr>
            <a:r>
              <a:t/>
            </a:r>
            <a:endParaRPr/>
          </a:p>
        </p:txBody>
      </p:sp>
      <p:sp>
        <p:nvSpPr>
          <p:cNvPr id="3796" name="Google Shape;3796;p118"/>
          <p:cNvSpPr/>
          <p:nvPr/>
        </p:nvSpPr>
        <p:spPr>
          <a:xfrm>
            <a:off x="2672643" y="259471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797" name="Google Shape;3797;p118"/>
          <p:cNvSpPr/>
          <p:nvPr/>
        </p:nvSpPr>
        <p:spPr>
          <a:xfrm>
            <a:off x="3991266" y="223258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798" name="Google Shape;3798;p118"/>
          <p:cNvSpPr/>
          <p:nvPr/>
        </p:nvSpPr>
        <p:spPr>
          <a:xfrm>
            <a:off x="4669360" y="2846500"/>
            <a:ext cx="405000" cy="4032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799" name="Google Shape;3799;p118"/>
          <p:cNvSpPr/>
          <p:nvPr/>
        </p:nvSpPr>
        <p:spPr>
          <a:xfrm>
            <a:off x="3468565" y="3190960"/>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800" name="Google Shape;3800;p118"/>
          <p:cNvSpPr/>
          <p:nvPr/>
        </p:nvSpPr>
        <p:spPr>
          <a:xfrm>
            <a:off x="2636013" y="3728942"/>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801" name="Google Shape;3801;p118"/>
          <p:cNvSpPr/>
          <p:nvPr/>
        </p:nvSpPr>
        <p:spPr>
          <a:xfrm>
            <a:off x="3827823" y="3849785"/>
            <a:ext cx="405000" cy="4032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802" name="Google Shape;3802;p118"/>
          <p:cNvSpPr/>
          <p:nvPr/>
        </p:nvSpPr>
        <p:spPr>
          <a:xfrm>
            <a:off x="4232574"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803" name="Google Shape;3803;p118"/>
          <p:cNvSpPr/>
          <p:nvPr/>
        </p:nvSpPr>
        <p:spPr>
          <a:xfrm>
            <a:off x="5106109" y="3675307"/>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804" name="Google Shape;3804;p118"/>
          <p:cNvSpPr/>
          <p:nvPr/>
        </p:nvSpPr>
        <p:spPr>
          <a:xfrm>
            <a:off x="5308522"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805" name="Google Shape;3805;p118"/>
          <p:cNvSpPr/>
          <p:nvPr/>
        </p:nvSpPr>
        <p:spPr>
          <a:xfrm>
            <a:off x="6099063"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806" name="Google Shape;3806;p118"/>
          <p:cNvSpPr/>
          <p:nvPr/>
        </p:nvSpPr>
        <p:spPr>
          <a:xfrm>
            <a:off x="6503814" y="295245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807" name="Google Shape;3807;p118"/>
          <p:cNvSpPr/>
          <p:nvPr/>
        </p:nvSpPr>
        <p:spPr>
          <a:xfrm>
            <a:off x="6972505"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808" name="Google Shape;3808;p118"/>
          <p:cNvSpPr/>
          <p:nvPr/>
        </p:nvSpPr>
        <p:spPr>
          <a:xfrm>
            <a:off x="6503814" y="440108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809" name="Google Shape;3809;p118"/>
          <p:cNvSpPr/>
          <p:nvPr/>
        </p:nvSpPr>
        <p:spPr>
          <a:xfrm>
            <a:off x="7531209" y="448226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810" name="Google Shape;3810;p118"/>
          <p:cNvSpPr/>
          <p:nvPr/>
        </p:nvSpPr>
        <p:spPr>
          <a:xfrm>
            <a:off x="7949156" y="377509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811" name="Google Shape;3811;p118"/>
          <p:cNvSpPr/>
          <p:nvPr/>
        </p:nvSpPr>
        <p:spPr>
          <a:xfrm>
            <a:off x="8631939" y="3161829"/>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812" name="Google Shape;3812;p118"/>
          <p:cNvSpPr/>
          <p:nvPr/>
        </p:nvSpPr>
        <p:spPr>
          <a:xfrm>
            <a:off x="7733584" y="3040648"/>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813" name="Google Shape;3813;p118"/>
          <p:cNvSpPr/>
          <p:nvPr/>
        </p:nvSpPr>
        <p:spPr>
          <a:xfrm>
            <a:off x="7802222" y="2306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814" name="Google Shape;3814;p118"/>
          <p:cNvSpPr/>
          <p:nvPr/>
        </p:nvSpPr>
        <p:spPr>
          <a:xfrm>
            <a:off x="8631939" y="203087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815" name="Google Shape;3815;p118"/>
          <p:cNvCxnSpPr>
            <a:stCxn id="3814" idx="2"/>
            <a:endCxn id="3813" idx="7"/>
          </p:cNvCxnSpPr>
          <p:nvPr/>
        </p:nvCxnSpPr>
        <p:spPr>
          <a:xfrm flipH="1">
            <a:off x="8148039" y="2232475"/>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3816" name="Google Shape;3816;p118"/>
          <p:cNvCxnSpPr>
            <a:stCxn id="3812" idx="0"/>
            <a:endCxn id="3813" idx="4"/>
          </p:cNvCxnSpPr>
          <p:nvPr/>
        </p:nvCxnSpPr>
        <p:spPr>
          <a:xfrm flipH="1" rot="10800000">
            <a:off x="7936084" y="2709448"/>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3817" name="Google Shape;3817;p118"/>
          <p:cNvCxnSpPr>
            <a:stCxn id="3811" idx="2"/>
            <a:endCxn id="3812" idx="6"/>
          </p:cNvCxnSpPr>
          <p:nvPr/>
        </p:nvCxnSpPr>
        <p:spPr>
          <a:xfrm rot="10800000">
            <a:off x="8138439" y="3242229"/>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3818" name="Google Shape;3818;p118"/>
          <p:cNvCxnSpPr>
            <a:stCxn id="3811" idx="2"/>
            <a:endCxn id="3807" idx="6"/>
          </p:cNvCxnSpPr>
          <p:nvPr/>
        </p:nvCxnSpPr>
        <p:spPr>
          <a:xfrm flipH="1">
            <a:off x="7377639" y="3363429"/>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3819" name="Google Shape;3819;p118"/>
          <p:cNvCxnSpPr>
            <a:stCxn id="3811" idx="2"/>
            <a:endCxn id="3810" idx="7"/>
          </p:cNvCxnSpPr>
          <p:nvPr/>
        </p:nvCxnSpPr>
        <p:spPr>
          <a:xfrm flipH="1">
            <a:off x="8294739" y="3363429"/>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3820" name="Google Shape;3820;p118"/>
          <p:cNvCxnSpPr>
            <a:stCxn id="3810" idx="2"/>
            <a:endCxn id="3807" idx="6"/>
          </p:cNvCxnSpPr>
          <p:nvPr/>
        </p:nvCxnSpPr>
        <p:spPr>
          <a:xfrm rot="10800000">
            <a:off x="7377356" y="3876797"/>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3821" name="Google Shape;3821;p118"/>
          <p:cNvCxnSpPr>
            <a:stCxn id="3810" idx="1"/>
            <a:endCxn id="3806" idx="5"/>
          </p:cNvCxnSpPr>
          <p:nvPr/>
        </p:nvCxnSpPr>
        <p:spPr>
          <a:xfrm rot="10800000">
            <a:off x="6849567" y="3296544"/>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3822" name="Google Shape;3822;p118"/>
          <p:cNvCxnSpPr>
            <a:stCxn id="3809" idx="0"/>
            <a:endCxn id="3807" idx="4"/>
          </p:cNvCxnSpPr>
          <p:nvPr/>
        </p:nvCxnSpPr>
        <p:spPr>
          <a:xfrm rot="10800000">
            <a:off x="7175109" y="4078466"/>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3823" name="Google Shape;3823;p118"/>
          <p:cNvCxnSpPr>
            <a:stCxn id="3808" idx="7"/>
            <a:endCxn id="3807" idx="4"/>
          </p:cNvCxnSpPr>
          <p:nvPr/>
        </p:nvCxnSpPr>
        <p:spPr>
          <a:xfrm flipH="1" rot="10800000">
            <a:off x="6849503" y="4078527"/>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3824" name="Google Shape;3824;p118"/>
          <p:cNvCxnSpPr>
            <a:stCxn id="3809" idx="1"/>
            <a:endCxn id="3808" idx="6"/>
          </p:cNvCxnSpPr>
          <p:nvPr/>
        </p:nvCxnSpPr>
        <p:spPr>
          <a:xfrm flipH="1">
            <a:off x="6908920" y="4541313"/>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3825" name="Google Shape;3825;p118"/>
          <p:cNvCxnSpPr>
            <a:stCxn id="3807" idx="2"/>
            <a:endCxn id="3805" idx="6"/>
          </p:cNvCxnSpPr>
          <p:nvPr/>
        </p:nvCxnSpPr>
        <p:spPr>
          <a:xfrm rot="10800000">
            <a:off x="6504205" y="3876907"/>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3826" name="Google Shape;3826;p118"/>
          <p:cNvCxnSpPr>
            <a:stCxn id="3808" idx="0"/>
            <a:endCxn id="3805" idx="5"/>
          </p:cNvCxnSpPr>
          <p:nvPr/>
        </p:nvCxnSpPr>
        <p:spPr>
          <a:xfrm rot="10800000">
            <a:off x="6444714" y="4019480"/>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3827" name="Google Shape;3827;p118"/>
          <p:cNvCxnSpPr>
            <a:stCxn id="3807" idx="0"/>
            <a:endCxn id="3806" idx="5"/>
          </p:cNvCxnSpPr>
          <p:nvPr/>
        </p:nvCxnSpPr>
        <p:spPr>
          <a:xfrm rot="10800000">
            <a:off x="6849505" y="3296707"/>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3828" name="Google Shape;3828;p118"/>
          <p:cNvCxnSpPr>
            <a:stCxn id="3805" idx="7"/>
            <a:endCxn id="3806" idx="4"/>
          </p:cNvCxnSpPr>
          <p:nvPr/>
        </p:nvCxnSpPr>
        <p:spPr>
          <a:xfrm flipH="1" rot="10800000">
            <a:off x="6444752" y="3355754"/>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3829" name="Google Shape;3829;p118"/>
          <p:cNvCxnSpPr>
            <a:stCxn id="3805" idx="2"/>
            <a:endCxn id="3803" idx="6"/>
          </p:cNvCxnSpPr>
          <p:nvPr/>
        </p:nvCxnSpPr>
        <p:spPr>
          <a:xfrm rot="10800000">
            <a:off x="5511063" y="3876907"/>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3830" name="Google Shape;3830;p118"/>
          <p:cNvCxnSpPr>
            <a:stCxn id="3804" idx="0"/>
            <a:endCxn id="3803" idx="4"/>
          </p:cNvCxnSpPr>
          <p:nvPr/>
        </p:nvCxnSpPr>
        <p:spPr>
          <a:xfrm rot="10800000">
            <a:off x="5308522" y="4078515"/>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3831" name="Google Shape;3831;p118"/>
          <p:cNvCxnSpPr>
            <a:stCxn id="3803" idx="3"/>
            <a:endCxn id="3802" idx="7"/>
          </p:cNvCxnSpPr>
          <p:nvPr/>
        </p:nvCxnSpPr>
        <p:spPr>
          <a:xfrm flipH="1">
            <a:off x="4578320" y="4019460"/>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3832" name="Google Shape;3832;p118"/>
          <p:cNvCxnSpPr>
            <a:stCxn id="3801" idx="5"/>
            <a:endCxn id="3802" idx="0"/>
          </p:cNvCxnSpPr>
          <p:nvPr/>
        </p:nvCxnSpPr>
        <p:spPr>
          <a:xfrm>
            <a:off x="4173512" y="4193938"/>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3833" name="Google Shape;3833;p118"/>
          <p:cNvCxnSpPr>
            <a:stCxn id="3798" idx="4"/>
            <a:endCxn id="3801" idx="7"/>
          </p:cNvCxnSpPr>
          <p:nvPr/>
        </p:nvCxnSpPr>
        <p:spPr>
          <a:xfrm flipH="1">
            <a:off x="4173460" y="3249700"/>
            <a:ext cx="698400" cy="659100"/>
          </a:xfrm>
          <a:prstGeom prst="straightConnector1">
            <a:avLst/>
          </a:prstGeom>
          <a:noFill/>
          <a:ln cap="flat" cmpd="sng" w="28575">
            <a:solidFill>
              <a:srgbClr val="FF0000"/>
            </a:solidFill>
            <a:prstDash val="solid"/>
            <a:round/>
            <a:headEnd len="med" w="med" type="none"/>
            <a:tailEnd len="med" w="med" type="none"/>
          </a:ln>
        </p:spPr>
      </p:cxnSp>
      <p:cxnSp>
        <p:nvCxnSpPr>
          <p:cNvPr id="3834" name="Google Shape;3834;p118"/>
          <p:cNvCxnSpPr>
            <a:stCxn id="3803" idx="1"/>
            <a:endCxn id="3798" idx="4"/>
          </p:cNvCxnSpPr>
          <p:nvPr/>
        </p:nvCxnSpPr>
        <p:spPr>
          <a:xfrm rot="10800000">
            <a:off x="4871720" y="3249554"/>
            <a:ext cx="293700" cy="484800"/>
          </a:xfrm>
          <a:prstGeom prst="straightConnector1">
            <a:avLst/>
          </a:prstGeom>
          <a:noFill/>
          <a:ln cap="flat" cmpd="sng" w="28575">
            <a:solidFill>
              <a:srgbClr val="FF0000"/>
            </a:solidFill>
            <a:prstDash val="solid"/>
            <a:round/>
            <a:headEnd len="med" w="med" type="none"/>
            <a:tailEnd len="med" w="med" type="none"/>
          </a:ln>
        </p:spPr>
      </p:cxnSp>
      <p:cxnSp>
        <p:nvCxnSpPr>
          <p:cNvPr id="3835" name="Google Shape;3835;p118"/>
          <p:cNvCxnSpPr>
            <a:stCxn id="3801" idx="2"/>
            <a:endCxn id="3800" idx="6"/>
          </p:cNvCxnSpPr>
          <p:nvPr/>
        </p:nvCxnSpPr>
        <p:spPr>
          <a:xfrm rot="10800000">
            <a:off x="3040923" y="3930485"/>
            <a:ext cx="786900" cy="120900"/>
          </a:xfrm>
          <a:prstGeom prst="straightConnector1">
            <a:avLst/>
          </a:prstGeom>
          <a:noFill/>
          <a:ln cap="flat" cmpd="sng" w="28575">
            <a:solidFill>
              <a:srgbClr val="FF0000"/>
            </a:solidFill>
            <a:prstDash val="solid"/>
            <a:round/>
            <a:headEnd len="med" w="med" type="none"/>
            <a:tailEnd len="med" w="med" type="none"/>
          </a:ln>
        </p:spPr>
      </p:cxnSp>
      <p:cxnSp>
        <p:nvCxnSpPr>
          <p:cNvPr id="3836" name="Google Shape;3836;p118"/>
          <p:cNvCxnSpPr>
            <a:stCxn id="3801" idx="0"/>
            <a:endCxn id="3799" idx="4"/>
          </p:cNvCxnSpPr>
          <p:nvPr/>
        </p:nvCxnSpPr>
        <p:spPr>
          <a:xfrm rot="10800000">
            <a:off x="3670923" y="3594185"/>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3837" name="Google Shape;3837;p118"/>
          <p:cNvCxnSpPr>
            <a:stCxn id="3799" idx="3"/>
            <a:endCxn id="3800" idx="7"/>
          </p:cNvCxnSpPr>
          <p:nvPr/>
        </p:nvCxnSpPr>
        <p:spPr>
          <a:xfrm flipH="1">
            <a:off x="2981576" y="3535113"/>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3838" name="Google Shape;3838;p118"/>
          <p:cNvCxnSpPr>
            <a:stCxn id="3796" idx="4"/>
            <a:endCxn id="3800" idx="0"/>
          </p:cNvCxnSpPr>
          <p:nvPr/>
        </p:nvCxnSpPr>
        <p:spPr>
          <a:xfrm flipH="1">
            <a:off x="2838543" y="2997916"/>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3839" name="Google Shape;3839;p118"/>
          <p:cNvCxnSpPr>
            <a:stCxn id="3797" idx="2"/>
            <a:endCxn id="3796" idx="6"/>
          </p:cNvCxnSpPr>
          <p:nvPr/>
        </p:nvCxnSpPr>
        <p:spPr>
          <a:xfrm flipH="1">
            <a:off x="3077766" y="2434187"/>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3840" name="Google Shape;3840;p118"/>
          <p:cNvCxnSpPr>
            <a:stCxn id="3797" idx="3"/>
            <a:endCxn id="3799" idx="0"/>
          </p:cNvCxnSpPr>
          <p:nvPr/>
        </p:nvCxnSpPr>
        <p:spPr>
          <a:xfrm flipH="1">
            <a:off x="3671077" y="2576739"/>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3841" name="Google Shape;3841;p118"/>
          <p:cNvCxnSpPr>
            <a:stCxn id="3798" idx="2"/>
            <a:endCxn id="3796" idx="6"/>
          </p:cNvCxnSpPr>
          <p:nvPr/>
        </p:nvCxnSpPr>
        <p:spPr>
          <a:xfrm rot="10800000">
            <a:off x="3077560" y="2796400"/>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3842" name="Google Shape;3842;p118"/>
          <p:cNvCxnSpPr>
            <a:stCxn id="3798" idx="1"/>
            <a:endCxn id="3797" idx="5"/>
          </p:cNvCxnSpPr>
          <p:nvPr/>
        </p:nvCxnSpPr>
        <p:spPr>
          <a:xfrm rot="10800000">
            <a:off x="4336871" y="2576747"/>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3843" name="Google Shape;3843;p118"/>
          <p:cNvCxnSpPr>
            <a:stCxn id="3798" idx="2"/>
            <a:endCxn id="3799" idx="7"/>
          </p:cNvCxnSpPr>
          <p:nvPr/>
        </p:nvCxnSpPr>
        <p:spPr>
          <a:xfrm flipH="1">
            <a:off x="3814360" y="3048100"/>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3844" name="Google Shape;3844;p118"/>
          <p:cNvCxnSpPr>
            <a:stCxn id="3799" idx="1"/>
            <a:endCxn id="3796" idx="5"/>
          </p:cNvCxnSpPr>
          <p:nvPr/>
        </p:nvCxnSpPr>
        <p:spPr>
          <a:xfrm rot="10800000">
            <a:off x="3018476" y="2938907"/>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3845" name="Google Shape;3845;p118"/>
          <p:cNvCxnSpPr>
            <a:stCxn id="3807" idx="6"/>
            <a:endCxn id="3812" idx="3"/>
          </p:cNvCxnSpPr>
          <p:nvPr/>
        </p:nvCxnSpPr>
        <p:spPr>
          <a:xfrm flipH="1" rot="10800000">
            <a:off x="7377505" y="3384907"/>
            <a:ext cx="415500" cy="492000"/>
          </a:xfrm>
          <a:prstGeom prst="straightConnector1">
            <a:avLst/>
          </a:prstGeom>
          <a:noFill/>
          <a:ln cap="flat" cmpd="sng" w="28575">
            <a:solidFill>
              <a:schemeClr val="dk2"/>
            </a:solidFill>
            <a:prstDash val="solid"/>
            <a:round/>
            <a:headEnd len="med" w="med" type="none"/>
            <a:tailEnd len="med" w="med" type="none"/>
          </a:ln>
        </p:spPr>
      </p:cxnSp>
      <p:sp>
        <p:nvSpPr>
          <p:cNvPr id="3846" name="Google Shape;3846;p118"/>
          <p:cNvSpPr txBox="1"/>
          <p:nvPr/>
        </p:nvSpPr>
        <p:spPr>
          <a:xfrm>
            <a:off x="7326575" y="1225225"/>
            <a:ext cx="1749000" cy="1354500"/>
          </a:xfrm>
          <a:prstGeom prst="rect">
            <a:avLst/>
          </a:prstGeom>
          <a:solidFill>
            <a:schemeClr val="lt1"/>
          </a:solidFill>
          <a:ln cap="flat" cmpd="sng" w="2857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g, d, a}</a:t>
            </a:r>
            <a:endParaRPr b="1" sz="1900">
              <a:solidFill>
                <a:srgbClr val="0000FF"/>
              </a:solidFill>
              <a:latin typeface="Economica"/>
              <a:ea typeface="Economica"/>
              <a:cs typeface="Economica"/>
              <a:sym typeface="Economica"/>
            </a:endParaRPr>
          </a:p>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c, f, a}</a:t>
            </a:r>
            <a:endParaRPr b="1" sz="1900">
              <a:solidFill>
                <a:srgbClr val="0000FF"/>
              </a:solidFill>
              <a:latin typeface="Economica"/>
              <a:ea typeface="Economica"/>
              <a:cs typeface="Economica"/>
              <a:sym typeface="Economica"/>
            </a:endParaRPr>
          </a:p>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g, b, a}</a:t>
            </a:r>
            <a:endParaRPr b="1" sz="1900">
              <a:solidFill>
                <a:srgbClr val="0000FF"/>
              </a:solidFill>
              <a:latin typeface="Economica"/>
              <a:ea typeface="Economica"/>
              <a:cs typeface="Economica"/>
              <a:sym typeface="Economica"/>
            </a:endParaRPr>
          </a:p>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g, f, a}</a:t>
            </a:r>
            <a:endParaRPr b="1" sz="1900">
              <a:solidFill>
                <a:srgbClr val="0000FF"/>
              </a:solidFill>
              <a:latin typeface="Economica"/>
              <a:ea typeface="Economica"/>
              <a:cs typeface="Economica"/>
              <a:sym typeface="Economica"/>
            </a:endParaRPr>
          </a:p>
        </p:txBody>
      </p:sp>
      <p:sp>
        <p:nvSpPr>
          <p:cNvPr id="3847" name="Google Shape;3847;p118"/>
          <p:cNvSpPr/>
          <p:nvPr/>
        </p:nvSpPr>
        <p:spPr>
          <a:xfrm>
            <a:off x="5011175" y="2197225"/>
            <a:ext cx="2439900" cy="7311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d is NOT included in this path!</a:t>
            </a:r>
            <a:endParaRPr b="1">
              <a:solidFill>
                <a:srgbClr val="FF0000"/>
              </a:solidFill>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1" name="Shape 3851"/>
        <p:cNvGrpSpPr/>
        <p:nvPr/>
      </p:nvGrpSpPr>
      <p:grpSpPr>
        <a:xfrm>
          <a:off x="0" y="0"/>
          <a:ext cx="0" cy="0"/>
          <a:chOff x="0" y="0"/>
          <a:chExt cx="0" cy="0"/>
        </a:xfrm>
      </p:grpSpPr>
      <p:sp>
        <p:nvSpPr>
          <p:cNvPr id="3852" name="Google Shape;3852;p119"/>
          <p:cNvSpPr txBox="1"/>
          <p:nvPr>
            <p:ph idx="1" type="body"/>
          </p:nvPr>
        </p:nvSpPr>
        <p:spPr>
          <a:xfrm>
            <a:off x="283725" y="2232475"/>
            <a:ext cx="2591400" cy="2571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What is the relative betweenness of node </a:t>
            </a:r>
            <a:r>
              <a:rPr b="1" lang="en"/>
              <a:t>d</a:t>
            </a:r>
            <a:r>
              <a:rPr lang="en"/>
              <a:t> relative to nodes </a:t>
            </a:r>
            <a:r>
              <a:rPr b="1" lang="en"/>
              <a:t>h</a:t>
            </a:r>
            <a:r>
              <a:rPr lang="en"/>
              <a:t> and </a:t>
            </a:r>
            <a:r>
              <a:rPr b="1" lang="en"/>
              <a:t>a</a:t>
            </a:r>
            <a:r>
              <a:rPr lang="en"/>
              <a:t>?</a:t>
            </a:r>
            <a:endParaRPr/>
          </a:p>
          <a:p>
            <a:pPr indent="-317500" lvl="1" marL="914400" rtl="0" algn="l">
              <a:spcBef>
                <a:spcPts val="0"/>
              </a:spcBef>
              <a:spcAft>
                <a:spcPts val="0"/>
              </a:spcAft>
              <a:buSzPts val="1400"/>
              <a:buChar char="○"/>
            </a:pPr>
            <a:r>
              <a:rPr lang="en"/>
              <a:t>First we need to list all shortest paths between h and a!  </a:t>
            </a:r>
            <a:endParaRPr/>
          </a:p>
        </p:txBody>
      </p:sp>
      <p:sp>
        <p:nvSpPr>
          <p:cNvPr id="3853" name="Google Shape;3853;p11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3854" name="Google Shape;3854;p119"/>
          <p:cNvSpPr txBox="1"/>
          <p:nvPr>
            <p:ph idx="1" type="body"/>
          </p:nvPr>
        </p:nvSpPr>
        <p:spPr>
          <a:xfrm>
            <a:off x="311700" y="1225225"/>
            <a:ext cx="7285200" cy="1007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a:t>
            </a:r>
            <a:r>
              <a:rPr b="1" lang="en"/>
              <a:t>relative betweenness </a:t>
            </a:r>
            <a:r>
              <a:rPr b="1" lang="en"/>
              <a:t>centrality</a:t>
            </a:r>
            <a:r>
              <a:rPr lang="en"/>
              <a:t> of a node (</a:t>
            </a:r>
            <a:r>
              <a:rPr b="1" lang="en"/>
              <a:t>k</a:t>
            </a:r>
            <a:r>
              <a:rPr lang="en"/>
              <a:t>) with respect to two other nodes (</a:t>
            </a:r>
            <a:r>
              <a:rPr b="1" lang="en"/>
              <a:t>i</a:t>
            </a:r>
            <a:r>
              <a:rPr lang="en"/>
              <a:t>, </a:t>
            </a:r>
            <a:r>
              <a:rPr b="1" lang="en"/>
              <a:t>j</a:t>
            </a:r>
            <a:r>
              <a:rPr lang="en"/>
              <a:t>) is equal to the proportion of shortest paths between i and j that k is an inner node on</a:t>
            </a:r>
            <a:endParaRPr/>
          </a:p>
          <a:p>
            <a:pPr indent="0" lvl="0" marL="457200" rtl="0" algn="l">
              <a:spcBef>
                <a:spcPts val="0"/>
              </a:spcBef>
              <a:spcAft>
                <a:spcPts val="0"/>
              </a:spcAft>
              <a:buNone/>
            </a:pPr>
            <a:r>
              <a:rPr lang="en"/>
              <a:t>	</a:t>
            </a:r>
            <a:endParaRPr/>
          </a:p>
          <a:p>
            <a:pPr indent="0" lvl="0" marL="457200" rtl="0" algn="l">
              <a:spcBef>
                <a:spcPts val="0"/>
              </a:spcBef>
              <a:spcAft>
                <a:spcPts val="0"/>
              </a:spcAft>
              <a:buNone/>
            </a:pPr>
            <a:r>
              <a:t/>
            </a:r>
            <a:endParaRPr/>
          </a:p>
          <a:p>
            <a:pPr indent="0" lvl="0" marL="914400" rtl="0" algn="l">
              <a:spcBef>
                <a:spcPts val="0"/>
              </a:spcBef>
              <a:spcAft>
                <a:spcPts val="0"/>
              </a:spcAft>
              <a:buNone/>
            </a:pPr>
            <a:r>
              <a:t/>
            </a:r>
            <a:endParaRPr/>
          </a:p>
        </p:txBody>
      </p:sp>
      <p:sp>
        <p:nvSpPr>
          <p:cNvPr id="3855" name="Google Shape;3855;p119"/>
          <p:cNvSpPr/>
          <p:nvPr/>
        </p:nvSpPr>
        <p:spPr>
          <a:xfrm>
            <a:off x="2672643" y="259471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856" name="Google Shape;3856;p119"/>
          <p:cNvSpPr/>
          <p:nvPr/>
        </p:nvSpPr>
        <p:spPr>
          <a:xfrm>
            <a:off x="3991266" y="223258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857" name="Google Shape;3857;p119"/>
          <p:cNvSpPr/>
          <p:nvPr/>
        </p:nvSpPr>
        <p:spPr>
          <a:xfrm>
            <a:off x="4669360" y="2846500"/>
            <a:ext cx="405000" cy="4032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858" name="Google Shape;3858;p119"/>
          <p:cNvSpPr/>
          <p:nvPr/>
        </p:nvSpPr>
        <p:spPr>
          <a:xfrm>
            <a:off x="3468565" y="3190960"/>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859" name="Google Shape;3859;p119"/>
          <p:cNvSpPr/>
          <p:nvPr/>
        </p:nvSpPr>
        <p:spPr>
          <a:xfrm>
            <a:off x="2636013" y="3728942"/>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860" name="Google Shape;3860;p119"/>
          <p:cNvSpPr/>
          <p:nvPr/>
        </p:nvSpPr>
        <p:spPr>
          <a:xfrm>
            <a:off x="3827823" y="3849785"/>
            <a:ext cx="405000" cy="4032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861" name="Google Shape;3861;p119"/>
          <p:cNvSpPr/>
          <p:nvPr/>
        </p:nvSpPr>
        <p:spPr>
          <a:xfrm>
            <a:off x="4232574"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862" name="Google Shape;3862;p119"/>
          <p:cNvSpPr/>
          <p:nvPr/>
        </p:nvSpPr>
        <p:spPr>
          <a:xfrm>
            <a:off x="5106109" y="3675307"/>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863" name="Google Shape;3863;p119"/>
          <p:cNvSpPr/>
          <p:nvPr/>
        </p:nvSpPr>
        <p:spPr>
          <a:xfrm>
            <a:off x="5308522"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864" name="Google Shape;3864;p119"/>
          <p:cNvSpPr/>
          <p:nvPr/>
        </p:nvSpPr>
        <p:spPr>
          <a:xfrm>
            <a:off x="6099063"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865" name="Google Shape;3865;p119"/>
          <p:cNvSpPr/>
          <p:nvPr/>
        </p:nvSpPr>
        <p:spPr>
          <a:xfrm>
            <a:off x="6503814" y="295245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866" name="Google Shape;3866;p119"/>
          <p:cNvSpPr/>
          <p:nvPr/>
        </p:nvSpPr>
        <p:spPr>
          <a:xfrm>
            <a:off x="6972505"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867" name="Google Shape;3867;p119"/>
          <p:cNvSpPr/>
          <p:nvPr/>
        </p:nvSpPr>
        <p:spPr>
          <a:xfrm>
            <a:off x="6503814" y="440108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868" name="Google Shape;3868;p119"/>
          <p:cNvSpPr/>
          <p:nvPr/>
        </p:nvSpPr>
        <p:spPr>
          <a:xfrm>
            <a:off x="7531209" y="448226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869" name="Google Shape;3869;p119"/>
          <p:cNvSpPr/>
          <p:nvPr/>
        </p:nvSpPr>
        <p:spPr>
          <a:xfrm>
            <a:off x="7949156" y="377509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870" name="Google Shape;3870;p119"/>
          <p:cNvSpPr/>
          <p:nvPr/>
        </p:nvSpPr>
        <p:spPr>
          <a:xfrm>
            <a:off x="8631939" y="3161829"/>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871" name="Google Shape;3871;p119"/>
          <p:cNvSpPr/>
          <p:nvPr/>
        </p:nvSpPr>
        <p:spPr>
          <a:xfrm>
            <a:off x="7733584" y="3040648"/>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872" name="Google Shape;3872;p119"/>
          <p:cNvSpPr/>
          <p:nvPr/>
        </p:nvSpPr>
        <p:spPr>
          <a:xfrm>
            <a:off x="7802222" y="2306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873" name="Google Shape;3873;p119"/>
          <p:cNvSpPr/>
          <p:nvPr/>
        </p:nvSpPr>
        <p:spPr>
          <a:xfrm>
            <a:off x="8631939" y="203087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874" name="Google Shape;3874;p119"/>
          <p:cNvCxnSpPr>
            <a:stCxn id="3873" idx="2"/>
            <a:endCxn id="3872" idx="7"/>
          </p:cNvCxnSpPr>
          <p:nvPr/>
        </p:nvCxnSpPr>
        <p:spPr>
          <a:xfrm flipH="1">
            <a:off x="8148039" y="2232475"/>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3875" name="Google Shape;3875;p119"/>
          <p:cNvCxnSpPr>
            <a:stCxn id="3871" idx="0"/>
            <a:endCxn id="3872" idx="4"/>
          </p:cNvCxnSpPr>
          <p:nvPr/>
        </p:nvCxnSpPr>
        <p:spPr>
          <a:xfrm flipH="1" rot="10800000">
            <a:off x="7936084" y="2709448"/>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3876" name="Google Shape;3876;p119"/>
          <p:cNvCxnSpPr>
            <a:stCxn id="3870" idx="2"/>
            <a:endCxn id="3871" idx="6"/>
          </p:cNvCxnSpPr>
          <p:nvPr/>
        </p:nvCxnSpPr>
        <p:spPr>
          <a:xfrm rot="10800000">
            <a:off x="8138439" y="3242229"/>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3877" name="Google Shape;3877;p119"/>
          <p:cNvCxnSpPr>
            <a:stCxn id="3870" idx="2"/>
            <a:endCxn id="3866" idx="6"/>
          </p:cNvCxnSpPr>
          <p:nvPr/>
        </p:nvCxnSpPr>
        <p:spPr>
          <a:xfrm flipH="1">
            <a:off x="7377639" y="3363429"/>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3878" name="Google Shape;3878;p119"/>
          <p:cNvCxnSpPr>
            <a:stCxn id="3870" idx="2"/>
            <a:endCxn id="3869" idx="7"/>
          </p:cNvCxnSpPr>
          <p:nvPr/>
        </p:nvCxnSpPr>
        <p:spPr>
          <a:xfrm flipH="1">
            <a:off x="8294739" y="3363429"/>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3879" name="Google Shape;3879;p119"/>
          <p:cNvCxnSpPr>
            <a:stCxn id="3869" idx="2"/>
            <a:endCxn id="3866" idx="6"/>
          </p:cNvCxnSpPr>
          <p:nvPr/>
        </p:nvCxnSpPr>
        <p:spPr>
          <a:xfrm rot="10800000">
            <a:off x="7377356" y="3876797"/>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3880" name="Google Shape;3880;p119"/>
          <p:cNvCxnSpPr>
            <a:stCxn id="3869" idx="1"/>
            <a:endCxn id="3865" idx="5"/>
          </p:cNvCxnSpPr>
          <p:nvPr/>
        </p:nvCxnSpPr>
        <p:spPr>
          <a:xfrm rot="10800000">
            <a:off x="6849567" y="3296544"/>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3881" name="Google Shape;3881;p119"/>
          <p:cNvCxnSpPr>
            <a:stCxn id="3868" idx="0"/>
            <a:endCxn id="3866" idx="4"/>
          </p:cNvCxnSpPr>
          <p:nvPr/>
        </p:nvCxnSpPr>
        <p:spPr>
          <a:xfrm rot="10800000">
            <a:off x="7175109" y="4078466"/>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3882" name="Google Shape;3882;p119"/>
          <p:cNvCxnSpPr>
            <a:stCxn id="3867" idx="7"/>
            <a:endCxn id="3866" idx="4"/>
          </p:cNvCxnSpPr>
          <p:nvPr/>
        </p:nvCxnSpPr>
        <p:spPr>
          <a:xfrm flipH="1" rot="10800000">
            <a:off x="6849503" y="4078527"/>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3883" name="Google Shape;3883;p119"/>
          <p:cNvCxnSpPr>
            <a:stCxn id="3868" idx="1"/>
            <a:endCxn id="3867" idx="6"/>
          </p:cNvCxnSpPr>
          <p:nvPr/>
        </p:nvCxnSpPr>
        <p:spPr>
          <a:xfrm flipH="1">
            <a:off x="6908920" y="4541313"/>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3884" name="Google Shape;3884;p119"/>
          <p:cNvCxnSpPr>
            <a:stCxn id="3866" idx="2"/>
            <a:endCxn id="3864" idx="6"/>
          </p:cNvCxnSpPr>
          <p:nvPr/>
        </p:nvCxnSpPr>
        <p:spPr>
          <a:xfrm rot="10800000">
            <a:off x="6504205" y="3876907"/>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3885" name="Google Shape;3885;p119"/>
          <p:cNvCxnSpPr>
            <a:stCxn id="3867" idx="0"/>
            <a:endCxn id="3864" idx="5"/>
          </p:cNvCxnSpPr>
          <p:nvPr/>
        </p:nvCxnSpPr>
        <p:spPr>
          <a:xfrm rot="10800000">
            <a:off x="6444714" y="4019480"/>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3886" name="Google Shape;3886;p119"/>
          <p:cNvCxnSpPr>
            <a:stCxn id="3866" idx="0"/>
            <a:endCxn id="3865" idx="5"/>
          </p:cNvCxnSpPr>
          <p:nvPr/>
        </p:nvCxnSpPr>
        <p:spPr>
          <a:xfrm rot="10800000">
            <a:off x="6849505" y="3296707"/>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3887" name="Google Shape;3887;p119"/>
          <p:cNvCxnSpPr>
            <a:stCxn id="3864" idx="7"/>
            <a:endCxn id="3865" idx="4"/>
          </p:cNvCxnSpPr>
          <p:nvPr/>
        </p:nvCxnSpPr>
        <p:spPr>
          <a:xfrm flipH="1" rot="10800000">
            <a:off x="6444752" y="3355754"/>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3888" name="Google Shape;3888;p119"/>
          <p:cNvCxnSpPr>
            <a:stCxn id="3864" idx="2"/>
            <a:endCxn id="3862" idx="6"/>
          </p:cNvCxnSpPr>
          <p:nvPr/>
        </p:nvCxnSpPr>
        <p:spPr>
          <a:xfrm rot="10800000">
            <a:off x="5511063" y="3876907"/>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3889" name="Google Shape;3889;p119"/>
          <p:cNvCxnSpPr>
            <a:stCxn id="3863" idx="0"/>
            <a:endCxn id="3862" idx="4"/>
          </p:cNvCxnSpPr>
          <p:nvPr/>
        </p:nvCxnSpPr>
        <p:spPr>
          <a:xfrm rot="10800000">
            <a:off x="5308522" y="4078515"/>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3890" name="Google Shape;3890;p119"/>
          <p:cNvCxnSpPr>
            <a:stCxn id="3862" idx="3"/>
            <a:endCxn id="3861" idx="7"/>
          </p:cNvCxnSpPr>
          <p:nvPr/>
        </p:nvCxnSpPr>
        <p:spPr>
          <a:xfrm flipH="1">
            <a:off x="4578320" y="4019460"/>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3891" name="Google Shape;3891;p119"/>
          <p:cNvCxnSpPr>
            <a:stCxn id="3860" idx="5"/>
            <a:endCxn id="3861" idx="0"/>
          </p:cNvCxnSpPr>
          <p:nvPr/>
        </p:nvCxnSpPr>
        <p:spPr>
          <a:xfrm>
            <a:off x="4173512" y="4193938"/>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3892" name="Google Shape;3892;p119"/>
          <p:cNvCxnSpPr>
            <a:stCxn id="3857" idx="4"/>
            <a:endCxn id="3860" idx="7"/>
          </p:cNvCxnSpPr>
          <p:nvPr/>
        </p:nvCxnSpPr>
        <p:spPr>
          <a:xfrm flipH="1">
            <a:off x="4173460" y="3249700"/>
            <a:ext cx="698400" cy="659100"/>
          </a:xfrm>
          <a:prstGeom prst="straightConnector1">
            <a:avLst/>
          </a:prstGeom>
          <a:noFill/>
          <a:ln cap="flat" cmpd="sng" w="28575">
            <a:solidFill>
              <a:srgbClr val="FF0000"/>
            </a:solidFill>
            <a:prstDash val="solid"/>
            <a:round/>
            <a:headEnd len="med" w="med" type="none"/>
            <a:tailEnd len="med" w="med" type="none"/>
          </a:ln>
        </p:spPr>
      </p:cxnSp>
      <p:cxnSp>
        <p:nvCxnSpPr>
          <p:cNvPr id="3893" name="Google Shape;3893;p119"/>
          <p:cNvCxnSpPr>
            <a:stCxn id="3862" idx="1"/>
            <a:endCxn id="3857" idx="4"/>
          </p:cNvCxnSpPr>
          <p:nvPr/>
        </p:nvCxnSpPr>
        <p:spPr>
          <a:xfrm rot="10800000">
            <a:off x="4871720" y="3249554"/>
            <a:ext cx="293700" cy="484800"/>
          </a:xfrm>
          <a:prstGeom prst="straightConnector1">
            <a:avLst/>
          </a:prstGeom>
          <a:noFill/>
          <a:ln cap="flat" cmpd="sng" w="28575">
            <a:solidFill>
              <a:srgbClr val="FF0000"/>
            </a:solidFill>
            <a:prstDash val="solid"/>
            <a:round/>
            <a:headEnd len="med" w="med" type="none"/>
            <a:tailEnd len="med" w="med" type="none"/>
          </a:ln>
        </p:spPr>
      </p:cxnSp>
      <p:cxnSp>
        <p:nvCxnSpPr>
          <p:cNvPr id="3894" name="Google Shape;3894;p119"/>
          <p:cNvCxnSpPr>
            <a:stCxn id="3860" idx="2"/>
            <a:endCxn id="3859" idx="6"/>
          </p:cNvCxnSpPr>
          <p:nvPr/>
        </p:nvCxnSpPr>
        <p:spPr>
          <a:xfrm rot="10800000">
            <a:off x="3040923" y="3930485"/>
            <a:ext cx="786900" cy="120900"/>
          </a:xfrm>
          <a:prstGeom prst="straightConnector1">
            <a:avLst/>
          </a:prstGeom>
          <a:noFill/>
          <a:ln cap="flat" cmpd="sng" w="28575">
            <a:solidFill>
              <a:srgbClr val="FF0000"/>
            </a:solidFill>
            <a:prstDash val="solid"/>
            <a:round/>
            <a:headEnd len="med" w="med" type="none"/>
            <a:tailEnd len="med" w="med" type="none"/>
          </a:ln>
        </p:spPr>
      </p:cxnSp>
      <p:cxnSp>
        <p:nvCxnSpPr>
          <p:cNvPr id="3895" name="Google Shape;3895;p119"/>
          <p:cNvCxnSpPr>
            <a:stCxn id="3860" idx="0"/>
            <a:endCxn id="3858" idx="4"/>
          </p:cNvCxnSpPr>
          <p:nvPr/>
        </p:nvCxnSpPr>
        <p:spPr>
          <a:xfrm rot="10800000">
            <a:off x="3670923" y="3594185"/>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3896" name="Google Shape;3896;p119"/>
          <p:cNvCxnSpPr>
            <a:stCxn id="3858" idx="3"/>
            <a:endCxn id="3859" idx="7"/>
          </p:cNvCxnSpPr>
          <p:nvPr/>
        </p:nvCxnSpPr>
        <p:spPr>
          <a:xfrm flipH="1">
            <a:off x="2981576" y="3535113"/>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3897" name="Google Shape;3897;p119"/>
          <p:cNvCxnSpPr>
            <a:stCxn id="3855" idx="4"/>
            <a:endCxn id="3859" idx="0"/>
          </p:cNvCxnSpPr>
          <p:nvPr/>
        </p:nvCxnSpPr>
        <p:spPr>
          <a:xfrm flipH="1">
            <a:off x="2838543" y="2997916"/>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3898" name="Google Shape;3898;p119"/>
          <p:cNvCxnSpPr>
            <a:stCxn id="3856" idx="2"/>
            <a:endCxn id="3855" idx="6"/>
          </p:cNvCxnSpPr>
          <p:nvPr/>
        </p:nvCxnSpPr>
        <p:spPr>
          <a:xfrm flipH="1">
            <a:off x="3077766" y="2434187"/>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3899" name="Google Shape;3899;p119"/>
          <p:cNvCxnSpPr>
            <a:stCxn id="3856" idx="3"/>
            <a:endCxn id="3858" idx="0"/>
          </p:cNvCxnSpPr>
          <p:nvPr/>
        </p:nvCxnSpPr>
        <p:spPr>
          <a:xfrm flipH="1">
            <a:off x="3671077" y="2576739"/>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3900" name="Google Shape;3900;p119"/>
          <p:cNvCxnSpPr>
            <a:stCxn id="3857" idx="2"/>
            <a:endCxn id="3855" idx="6"/>
          </p:cNvCxnSpPr>
          <p:nvPr/>
        </p:nvCxnSpPr>
        <p:spPr>
          <a:xfrm rot="10800000">
            <a:off x="3077560" y="2796400"/>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3901" name="Google Shape;3901;p119"/>
          <p:cNvCxnSpPr>
            <a:stCxn id="3857" idx="1"/>
            <a:endCxn id="3856" idx="5"/>
          </p:cNvCxnSpPr>
          <p:nvPr/>
        </p:nvCxnSpPr>
        <p:spPr>
          <a:xfrm rot="10800000">
            <a:off x="4336871" y="2576747"/>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3902" name="Google Shape;3902;p119"/>
          <p:cNvCxnSpPr>
            <a:stCxn id="3857" idx="2"/>
            <a:endCxn id="3858" idx="7"/>
          </p:cNvCxnSpPr>
          <p:nvPr/>
        </p:nvCxnSpPr>
        <p:spPr>
          <a:xfrm flipH="1">
            <a:off x="3814360" y="3048100"/>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3903" name="Google Shape;3903;p119"/>
          <p:cNvCxnSpPr>
            <a:stCxn id="3858" idx="1"/>
            <a:endCxn id="3855" idx="5"/>
          </p:cNvCxnSpPr>
          <p:nvPr/>
        </p:nvCxnSpPr>
        <p:spPr>
          <a:xfrm rot="10800000">
            <a:off x="3018476" y="2938907"/>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3904" name="Google Shape;3904;p119"/>
          <p:cNvCxnSpPr>
            <a:stCxn id="3866" idx="6"/>
            <a:endCxn id="3871" idx="3"/>
          </p:cNvCxnSpPr>
          <p:nvPr/>
        </p:nvCxnSpPr>
        <p:spPr>
          <a:xfrm flipH="1" rot="10800000">
            <a:off x="7377505" y="3384907"/>
            <a:ext cx="415500" cy="492000"/>
          </a:xfrm>
          <a:prstGeom prst="straightConnector1">
            <a:avLst/>
          </a:prstGeom>
          <a:noFill/>
          <a:ln cap="flat" cmpd="sng" w="28575">
            <a:solidFill>
              <a:schemeClr val="dk2"/>
            </a:solidFill>
            <a:prstDash val="solid"/>
            <a:round/>
            <a:headEnd len="med" w="med" type="none"/>
            <a:tailEnd len="med" w="med" type="none"/>
          </a:ln>
        </p:spPr>
      </p:cxnSp>
      <p:sp>
        <p:nvSpPr>
          <p:cNvPr id="3905" name="Google Shape;3905;p119"/>
          <p:cNvSpPr txBox="1"/>
          <p:nvPr/>
        </p:nvSpPr>
        <p:spPr>
          <a:xfrm>
            <a:off x="7326575" y="1225225"/>
            <a:ext cx="1749000" cy="1354500"/>
          </a:xfrm>
          <a:prstGeom prst="rect">
            <a:avLst/>
          </a:prstGeom>
          <a:solidFill>
            <a:schemeClr val="lt1"/>
          </a:solidFill>
          <a:ln cap="flat" cmpd="sng" w="2857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rgbClr val="FF0000"/>
                </a:solidFill>
                <a:latin typeface="Economica"/>
                <a:ea typeface="Economica"/>
                <a:cs typeface="Economica"/>
                <a:sym typeface="Economica"/>
              </a:rPr>
              <a:t>SP(h,a) = {h, g, d, a}</a:t>
            </a:r>
            <a:endParaRPr b="1" sz="1900">
              <a:solidFill>
                <a:srgbClr val="FF0000"/>
              </a:solidFill>
              <a:latin typeface="Economica"/>
              <a:ea typeface="Economica"/>
              <a:cs typeface="Economica"/>
              <a:sym typeface="Economica"/>
            </a:endParaRPr>
          </a:p>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c, f, a}</a:t>
            </a:r>
            <a:endParaRPr b="1" sz="1900">
              <a:solidFill>
                <a:srgbClr val="0000FF"/>
              </a:solidFill>
              <a:latin typeface="Economica"/>
              <a:ea typeface="Economica"/>
              <a:cs typeface="Economica"/>
              <a:sym typeface="Economica"/>
            </a:endParaRPr>
          </a:p>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g, b, a}</a:t>
            </a:r>
            <a:endParaRPr b="1" sz="1900">
              <a:solidFill>
                <a:srgbClr val="0000FF"/>
              </a:solidFill>
              <a:latin typeface="Economica"/>
              <a:ea typeface="Economica"/>
              <a:cs typeface="Economica"/>
              <a:sym typeface="Economica"/>
            </a:endParaRPr>
          </a:p>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g, f, a}</a:t>
            </a:r>
            <a:endParaRPr b="1" sz="1900">
              <a:solidFill>
                <a:srgbClr val="0000FF"/>
              </a:solidFill>
              <a:latin typeface="Economica"/>
              <a:ea typeface="Economica"/>
              <a:cs typeface="Economica"/>
              <a:sym typeface="Economica"/>
            </a:endParaRPr>
          </a:p>
        </p:txBody>
      </p:sp>
      <p:sp>
        <p:nvSpPr>
          <p:cNvPr id="3906" name="Google Shape;3906;p119"/>
          <p:cNvSpPr/>
          <p:nvPr/>
        </p:nvSpPr>
        <p:spPr>
          <a:xfrm>
            <a:off x="5011175" y="2197225"/>
            <a:ext cx="2439900" cy="14781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So d is included in </a:t>
            </a:r>
            <a:r>
              <a:rPr b="1" lang="en">
                <a:solidFill>
                  <a:srgbClr val="0D5DDF"/>
                </a:solidFill>
              </a:rPr>
              <a:t>one</a:t>
            </a:r>
            <a:r>
              <a:rPr b="1" lang="en">
                <a:solidFill>
                  <a:srgbClr val="FF0000"/>
                </a:solidFill>
              </a:rPr>
              <a:t> out of the </a:t>
            </a:r>
            <a:r>
              <a:rPr b="1" lang="en">
                <a:solidFill>
                  <a:srgbClr val="0D5DDF"/>
                </a:solidFill>
              </a:rPr>
              <a:t>four</a:t>
            </a:r>
            <a:r>
              <a:rPr b="1" lang="en">
                <a:solidFill>
                  <a:srgbClr val="FF0000"/>
                </a:solidFill>
              </a:rPr>
              <a:t> shortest paths connecting h and a!</a:t>
            </a:r>
            <a:endParaRPr b="1">
              <a:solidFill>
                <a:srgbClr val="FF0000"/>
              </a:solidFill>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0" name="Shape 3910"/>
        <p:cNvGrpSpPr/>
        <p:nvPr/>
      </p:nvGrpSpPr>
      <p:grpSpPr>
        <a:xfrm>
          <a:off x="0" y="0"/>
          <a:ext cx="0" cy="0"/>
          <a:chOff x="0" y="0"/>
          <a:chExt cx="0" cy="0"/>
        </a:xfrm>
      </p:grpSpPr>
      <p:sp>
        <p:nvSpPr>
          <p:cNvPr id="3911" name="Google Shape;3911;p12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3912" name="Google Shape;3912;p120"/>
          <p:cNvSpPr txBox="1"/>
          <p:nvPr>
            <p:ph idx="1" type="body"/>
          </p:nvPr>
        </p:nvSpPr>
        <p:spPr>
          <a:xfrm>
            <a:off x="311700" y="1225225"/>
            <a:ext cx="7285200" cy="1007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a:t>
            </a:r>
            <a:r>
              <a:rPr b="1" lang="en"/>
              <a:t>relative betweenness </a:t>
            </a:r>
            <a:r>
              <a:rPr b="1" lang="en"/>
              <a:t>centrality</a:t>
            </a:r>
            <a:r>
              <a:rPr lang="en"/>
              <a:t> of a node (</a:t>
            </a:r>
            <a:r>
              <a:rPr b="1" lang="en"/>
              <a:t>k</a:t>
            </a:r>
            <a:r>
              <a:rPr lang="en"/>
              <a:t>) with respect to two other nodes (</a:t>
            </a:r>
            <a:r>
              <a:rPr b="1" lang="en"/>
              <a:t>i</a:t>
            </a:r>
            <a:r>
              <a:rPr lang="en"/>
              <a:t>, </a:t>
            </a:r>
            <a:r>
              <a:rPr b="1" lang="en"/>
              <a:t>j</a:t>
            </a:r>
            <a:r>
              <a:rPr lang="en"/>
              <a:t>) is equal to the proportion of shortest paths between i and j that k is an inner node o</a:t>
            </a:r>
            <a:r>
              <a:rPr lang="en"/>
              <a:t>n</a:t>
            </a:r>
            <a:endParaRPr/>
          </a:p>
          <a:p>
            <a:pPr indent="0" lvl="0" marL="457200" rtl="0" algn="l">
              <a:spcBef>
                <a:spcPts val="0"/>
              </a:spcBef>
              <a:spcAft>
                <a:spcPts val="0"/>
              </a:spcAft>
              <a:buNone/>
            </a:pPr>
            <a:r>
              <a:t/>
            </a:r>
            <a:endParaRPr/>
          </a:p>
          <a:p>
            <a:pPr indent="0" lvl="0" marL="914400" rtl="0" algn="l">
              <a:spcBef>
                <a:spcPts val="0"/>
              </a:spcBef>
              <a:spcAft>
                <a:spcPts val="0"/>
              </a:spcAft>
              <a:buNone/>
            </a:pPr>
            <a:r>
              <a:t/>
            </a:r>
            <a:endParaRPr/>
          </a:p>
        </p:txBody>
      </p:sp>
      <p:sp>
        <p:nvSpPr>
          <p:cNvPr id="3913" name="Google Shape;3913;p120"/>
          <p:cNvSpPr/>
          <p:nvPr/>
        </p:nvSpPr>
        <p:spPr>
          <a:xfrm>
            <a:off x="2672643" y="259471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914" name="Google Shape;3914;p120"/>
          <p:cNvSpPr/>
          <p:nvPr/>
        </p:nvSpPr>
        <p:spPr>
          <a:xfrm>
            <a:off x="3991266" y="223258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915" name="Google Shape;3915;p120"/>
          <p:cNvSpPr/>
          <p:nvPr/>
        </p:nvSpPr>
        <p:spPr>
          <a:xfrm>
            <a:off x="4669360" y="2846500"/>
            <a:ext cx="405000" cy="4032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916" name="Google Shape;3916;p120"/>
          <p:cNvSpPr/>
          <p:nvPr/>
        </p:nvSpPr>
        <p:spPr>
          <a:xfrm>
            <a:off x="3468565" y="3190960"/>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917" name="Google Shape;3917;p120"/>
          <p:cNvSpPr/>
          <p:nvPr/>
        </p:nvSpPr>
        <p:spPr>
          <a:xfrm>
            <a:off x="2636013" y="3728942"/>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918" name="Google Shape;3918;p120"/>
          <p:cNvSpPr/>
          <p:nvPr/>
        </p:nvSpPr>
        <p:spPr>
          <a:xfrm>
            <a:off x="3827823" y="3849785"/>
            <a:ext cx="405000" cy="4032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919" name="Google Shape;3919;p120"/>
          <p:cNvSpPr/>
          <p:nvPr/>
        </p:nvSpPr>
        <p:spPr>
          <a:xfrm>
            <a:off x="4232574"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920" name="Google Shape;3920;p120"/>
          <p:cNvSpPr/>
          <p:nvPr/>
        </p:nvSpPr>
        <p:spPr>
          <a:xfrm>
            <a:off x="5106109" y="3675307"/>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921" name="Google Shape;3921;p120"/>
          <p:cNvSpPr/>
          <p:nvPr/>
        </p:nvSpPr>
        <p:spPr>
          <a:xfrm>
            <a:off x="5308522"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922" name="Google Shape;3922;p120"/>
          <p:cNvSpPr/>
          <p:nvPr/>
        </p:nvSpPr>
        <p:spPr>
          <a:xfrm>
            <a:off x="6099063"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923" name="Google Shape;3923;p120"/>
          <p:cNvSpPr/>
          <p:nvPr/>
        </p:nvSpPr>
        <p:spPr>
          <a:xfrm>
            <a:off x="6503814" y="295245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924" name="Google Shape;3924;p120"/>
          <p:cNvSpPr/>
          <p:nvPr/>
        </p:nvSpPr>
        <p:spPr>
          <a:xfrm>
            <a:off x="6972505"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925" name="Google Shape;3925;p120"/>
          <p:cNvSpPr/>
          <p:nvPr/>
        </p:nvSpPr>
        <p:spPr>
          <a:xfrm>
            <a:off x="6503814" y="440108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926" name="Google Shape;3926;p120"/>
          <p:cNvSpPr/>
          <p:nvPr/>
        </p:nvSpPr>
        <p:spPr>
          <a:xfrm>
            <a:off x="7531209" y="448226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927" name="Google Shape;3927;p120"/>
          <p:cNvSpPr/>
          <p:nvPr/>
        </p:nvSpPr>
        <p:spPr>
          <a:xfrm>
            <a:off x="7949156" y="377509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928" name="Google Shape;3928;p120"/>
          <p:cNvSpPr/>
          <p:nvPr/>
        </p:nvSpPr>
        <p:spPr>
          <a:xfrm>
            <a:off x="8631939" y="3161829"/>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929" name="Google Shape;3929;p120"/>
          <p:cNvSpPr/>
          <p:nvPr/>
        </p:nvSpPr>
        <p:spPr>
          <a:xfrm>
            <a:off x="7733584" y="3040648"/>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930" name="Google Shape;3930;p120"/>
          <p:cNvSpPr/>
          <p:nvPr/>
        </p:nvSpPr>
        <p:spPr>
          <a:xfrm>
            <a:off x="7802222" y="2306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931" name="Google Shape;3931;p120"/>
          <p:cNvSpPr/>
          <p:nvPr/>
        </p:nvSpPr>
        <p:spPr>
          <a:xfrm>
            <a:off x="8631939" y="203087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932" name="Google Shape;3932;p120"/>
          <p:cNvCxnSpPr>
            <a:stCxn id="3931" idx="2"/>
            <a:endCxn id="3930" idx="7"/>
          </p:cNvCxnSpPr>
          <p:nvPr/>
        </p:nvCxnSpPr>
        <p:spPr>
          <a:xfrm flipH="1">
            <a:off x="8148039" y="2232475"/>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3933" name="Google Shape;3933;p120"/>
          <p:cNvCxnSpPr>
            <a:stCxn id="3929" idx="0"/>
            <a:endCxn id="3930" idx="4"/>
          </p:cNvCxnSpPr>
          <p:nvPr/>
        </p:nvCxnSpPr>
        <p:spPr>
          <a:xfrm flipH="1" rot="10800000">
            <a:off x="7936084" y="2709448"/>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3934" name="Google Shape;3934;p120"/>
          <p:cNvCxnSpPr>
            <a:stCxn id="3928" idx="2"/>
            <a:endCxn id="3929" idx="6"/>
          </p:cNvCxnSpPr>
          <p:nvPr/>
        </p:nvCxnSpPr>
        <p:spPr>
          <a:xfrm rot="10800000">
            <a:off x="8138439" y="3242229"/>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3935" name="Google Shape;3935;p120"/>
          <p:cNvCxnSpPr>
            <a:stCxn id="3928" idx="2"/>
            <a:endCxn id="3924" idx="6"/>
          </p:cNvCxnSpPr>
          <p:nvPr/>
        </p:nvCxnSpPr>
        <p:spPr>
          <a:xfrm flipH="1">
            <a:off x="7377639" y="3363429"/>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3936" name="Google Shape;3936;p120"/>
          <p:cNvCxnSpPr>
            <a:stCxn id="3928" idx="2"/>
            <a:endCxn id="3927" idx="7"/>
          </p:cNvCxnSpPr>
          <p:nvPr/>
        </p:nvCxnSpPr>
        <p:spPr>
          <a:xfrm flipH="1">
            <a:off x="8294739" y="3363429"/>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3937" name="Google Shape;3937;p120"/>
          <p:cNvCxnSpPr>
            <a:stCxn id="3927" idx="2"/>
            <a:endCxn id="3924" idx="6"/>
          </p:cNvCxnSpPr>
          <p:nvPr/>
        </p:nvCxnSpPr>
        <p:spPr>
          <a:xfrm rot="10800000">
            <a:off x="7377356" y="3876797"/>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3938" name="Google Shape;3938;p120"/>
          <p:cNvCxnSpPr>
            <a:stCxn id="3927" idx="1"/>
            <a:endCxn id="3923" idx="5"/>
          </p:cNvCxnSpPr>
          <p:nvPr/>
        </p:nvCxnSpPr>
        <p:spPr>
          <a:xfrm rot="10800000">
            <a:off x="6849567" y="3296544"/>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3939" name="Google Shape;3939;p120"/>
          <p:cNvCxnSpPr>
            <a:stCxn id="3926" idx="0"/>
            <a:endCxn id="3924" idx="4"/>
          </p:cNvCxnSpPr>
          <p:nvPr/>
        </p:nvCxnSpPr>
        <p:spPr>
          <a:xfrm rot="10800000">
            <a:off x="7175109" y="4078466"/>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3940" name="Google Shape;3940;p120"/>
          <p:cNvCxnSpPr>
            <a:stCxn id="3925" idx="7"/>
            <a:endCxn id="3924" idx="4"/>
          </p:cNvCxnSpPr>
          <p:nvPr/>
        </p:nvCxnSpPr>
        <p:spPr>
          <a:xfrm flipH="1" rot="10800000">
            <a:off x="6849503" y="4078527"/>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3941" name="Google Shape;3941;p120"/>
          <p:cNvCxnSpPr>
            <a:stCxn id="3926" idx="1"/>
            <a:endCxn id="3925" idx="6"/>
          </p:cNvCxnSpPr>
          <p:nvPr/>
        </p:nvCxnSpPr>
        <p:spPr>
          <a:xfrm flipH="1">
            <a:off x="6908920" y="4541313"/>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3942" name="Google Shape;3942;p120"/>
          <p:cNvCxnSpPr>
            <a:stCxn id="3924" idx="2"/>
            <a:endCxn id="3922" idx="6"/>
          </p:cNvCxnSpPr>
          <p:nvPr/>
        </p:nvCxnSpPr>
        <p:spPr>
          <a:xfrm rot="10800000">
            <a:off x="6504205" y="3876907"/>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3943" name="Google Shape;3943;p120"/>
          <p:cNvCxnSpPr>
            <a:stCxn id="3925" idx="0"/>
            <a:endCxn id="3922" idx="5"/>
          </p:cNvCxnSpPr>
          <p:nvPr/>
        </p:nvCxnSpPr>
        <p:spPr>
          <a:xfrm rot="10800000">
            <a:off x="6444714" y="4019480"/>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3944" name="Google Shape;3944;p120"/>
          <p:cNvCxnSpPr>
            <a:stCxn id="3924" idx="0"/>
            <a:endCxn id="3923" idx="5"/>
          </p:cNvCxnSpPr>
          <p:nvPr/>
        </p:nvCxnSpPr>
        <p:spPr>
          <a:xfrm rot="10800000">
            <a:off x="6849505" y="3296707"/>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3945" name="Google Shape;3945;p120"/>
          <p:cNvCxnSpPr>
            <a:stCxn id="3922" idx="7"/>
            <a:endCxn id="3923" idx="4"/>
          </p:cNvCxnSpPr>
          <p:nvPr/>
        </p:nvCxnSpPr>
        <p:spPr>
          <a:xfrm flipH="1" rot="10800000">
            <a:off x="6444752" y="3355754"/>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3946" name="Google Shape;3946;p120"/>
          <p:cNvCxnSpPr>
            <a:stCxn id="3922" idx="2"/>
            <a:endCxn id="3920" idx="6"/>
          </p:cNvCxnSpPr>
          <p:nvPr/>
        </p:nvCxnSpPr>
        <p:spPr>
          <a:xfrm rot="10800000">
            <a:off x="5511063" y="3876907"/>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3947" name="Google Shape;3947;p120"/>
          <p:cNvCxnSpPr>
            <a:stCxn id="3921" idx="0"/>
            <a:endCxn id="3920" idx="4"/>
          </p:cNvCxnSpPr>
          <p:nvPr/>
        </p:nvCxnSpPr>
        <p:spPr>
          <a:xfrm rot="10800000">
            <a:off x="5308522" y="4078515"/>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3948" name="Google Shape;3948;p120"/>
          <p:cNvCxnSpPr>
            <a:stCxn id="3920" idx="3"/>
            <a:endCxn id="3919" idx="7"/>
          </p:cNvCxnSpPr>
          <p:nvPr/>
        </p:nvCxnSpPr>
        <p:spPr>
          <a:xfrm flipH="1">
            <a:off x="4578320" y="4019460"/>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3949" name="Google Shape;3949;p120"/>
          <p:cNvCxnSpPr>
            <a:stCxn id="3918" idx="5"/>
            <a:endCxn id="3919" idx="0"/>
          </p:cNvCxnSpPr>
          <p:nvPr/>
        </p:nvCxnSpPr>
        <p:spPr>
          <a:xfrm>
            <a:off x="4173512" y="4193938"/>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3950" name="Google Shape;3950;p120"/>
          <p:cNvCxnSpPr>
            <a:stCxn id="3915" idx="4"/>
            <a:endCxn id="3918" idx="7"/>
          </p:cNvCxnSpPr>
          <p:nvPr/>
        </p:nvCxnSpPr>
        <p:spPr>
          <a:xfrm flipH="1">
            <a:off x="4173460" y="3249700"/>
            <a:ext cx="698400" cy="659100"/>
          </a:xfrm>
          <a:prstGeom prst="straightConnector1">
            <a:avLst/>
          </a:prstGeom>
          <a:noFill/>
          <a:ln cap="flat" cmpd="sng" w="28575">
            <a:solidFill>
              <a:srgbClr val="FF0000"/>
            </a:solidFill>
            <a:prstDash val="solid"/>
            <a:round/>
            <a:headEnd len="med" w="med" type="none"/>
            <a:tailEnd len="med" w="med" type="none"/>
          </a:ln>
        </p:spPr>
      </p:cxnSp>
      <p:cxnSp>
        <p:nvCxnSpPr>
          <p:cNvPr id="3951" name="Google Shape;3951;p120"/>
          <p:cNvCxnSpPr>
            <a:stCxn id="3920" idx="1"/>
            <a:endCxn id="3915" idx="4"/>
          </p:cNvCxnSpPr>
          <p:nvPr/>
        </p:nvCxnSpPr>
        <p:spPr>
          <a:xfrm rot="10800000">
            <a:off x="4871720" y="3249554"/>
            <a:ext cx="293700" cy="484800"/>
          </a:xfrm>
          <a:prstGeom prst="straightConnector1">
            <a:avLst/>
          </a:prstGeom>
          <a:noFill/>
          <a:ln cap="flat" cmpd="sng" w="28575">
            <a:solidFill>
              <a:srgbClr val="FF0000"/>
            </a:solidFill>
            <a:prstDash val="solid"/>
            <a:round/>
            <a:headEnd len="med" w="med" type="none"/>
            <a:tailEnd len="med" w="med" type="none"/>
          </a:ln>
        </p:spPr>
      </p:cxnSp>
      <p:cxnSp>
        <p:nvCxnSpPr>
          <p:cNvPr id="3952" name="Google Shape;3952;p120"/>
          <p:cNvCxnSpPr>
            <a:stCxn id="3918" idx="2"/>
            <a:endCxn id="3917" idx="6"/>
          </p:cNvCxnSpPr>
          <p:nvPr/>
        </p:nvCxnSpPr>
        <p:spPr>
          <a:xfrm rot="10800000">
            <a:off x="3040923" y="3930485"/>
            <a:ext cx="786900" cy="120900"/>
          </a:xfrm>
          <a:prstGeom prst="straightConnector1">
            <a:avLst/>
          </a:prstGeom>
          <a:noFill/>
          <a:ln cap="flat" cmpd="sng" w="28575">
            <a:solidFill>
              <a:srgbClr val="FF0000"/>
            </a:solidFill>
            <a:prstDash val="solid"/>
            <a:round/>
            <a:headEnd len="med" w="med" type="none"/>
            <a:tailEnd len="med" w="med" type="none"/>
          </a:ln>
        </p:spPr>
      </p:cxnSp>
      <p:cxnSp>
        <p:nvCxnSpPr>
          <p:cNvPr id="3953" name="Google Shape;3953;p120"/>
          <p:cNvCxnSpPr>
            <a:stCxn id="3918" idx="0"/>
            <a:endCxn id="3916" idx="4"/>
          </p:cNvCxnSpPr>
          <p:nvPr/>
        </p:nvCxnSpPr>
        <p:spPr>
          <a:xfrm rot="10800000">
            <a:off x="3670923" y="3594185"/>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3954" name="Google Shape;3954;p120"/>
          <p:cNvCxnSpPr>
            <a:stCxn id="3916" idx="3"/>
            <a:endCxn id="3917" idx="7"/>
          </p:cNvCxnSpPr>
          <p:nvPr/>
        </p:nvCxnSpPr>
        <p:spPr>
          <a:xfrm flipH="1">
            <a:off x="2981576" y="3535113"/>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3955" name="Google Shape;3955;p120"/>
          <p:cNvCxnSpPr>
            <a:stCxn id="3913" idx="4"/>
            <a:endCxn id="3917" idx="0"/>
          </p:cNvCxnSpPr>
          <p:nvPr/>
        </p:nvCxnSpPr>
        <p:spPr>
          <a:xfrm flipH="1">
            <a:off x="2838543" y="2997916"/>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3956" name="Google Shape;3956;p120"/>
          <p:cNvCxnSpPr>
            <a:stCxn id="3914" idx="2"/>
            <a:endCxn id="3913" idx="6"/>
          </p:cNvCxnSpPr>
          <p:nvPr/>
        </p:nvCxnSpPr>
        <p:spPr>
          <a:xfrm flipH="1">
            <a:off x="3077766" y="2434187"/>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3957" name="Google Shape;3957;p120"/>
          <p:cNvCxnSpPr>
            <a:stCxn id="3914" idx="3"/>
            <a:endCxn id="3916" idx="0"/>
          </p:cNvCxnSpPr>
          <p:nvPr/>
        </p:nvCxnSpPr>
        <p:spPr>
          <a:xfrm flipH="1">
            <a:off x="3671077" y="2576739"/>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3958" name="Google Shape;3958;p120"/>
          <p:cNvCxnSpPr>
            <a:stCxn id="3915" idx="2"/>
            <a:endCxn id="3913" idx="6"/>
          </p:cNvCxnSpPr>
          <p:nvPr/>
        </p:nvCxnSpPr>
        <p:spPr>
          <a:xfrm rot="10800000">
            <a:off x="3077560" y="2796400"/>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3959" name="Google Shape;3959;p120"/>
          <p:cNvCxnSpPr>
            <a:stCxn id="3915" idx="1"/>
            <a:endCxn id="3914" idx="5"/>
          </p:cNvCxnSpPr>
          <p:nvPr/>
        </p:nvCxnSpPr>
        <p:spPr>
          <a:xfrm rot="10800000">
            <a:off x="4336871" y="2576747"/>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3960" name="Google Shape;3960;p120"/>
          <p:cNvCxnSpPr>
            <a:stCxn id="3915" idx="2"/>
            <a:endCxn id="3916" idx="7"/>
          </p:cNvCxnSpPr>
          <p:nvPr/>
        </p:nvCxnSpPr>
        <p:spPr>
          <a:xfrm flipH="1">
            <a:off x="3814360" y="3048100"/>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3961" name="Google Shape;3961;p120"/>
          <p:cNvCxnSpPr>
            <a:stCxn id="3916" idx="1"/>
            <a:endCxn id="3913" idx="5"/>
          </p:cNvCxnSpPr>
          <p:nvPr/>
        </p:nvCxnSpPr>
        <p:spPr>
          <a:xfrm rot="10800000">
            <a:off x="3018476" y="2938907"/>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3962" name="Google Shape;3962;p120"/>
          <p:cNvCxnSpPr>
            <a:stCxn id="3924" idx="6"/>
            <a:endCxn id="3929" idx="3"/>
          </p:cNvCxnSpPr>
          <p:nvPr/>
        </p:nvCxnSpPr>
        <p:spPr>
          <a:xfrm flipH="1" rot="10800000">
            <a:off x="7377505" y="3384907"/>
            <a:ext cx="415500" cy="492000"/>
          </a:xfrm>
          <a:prstGeom prst="straightConnector1">
            <a:avLst/>
          </a:prstGeom>
          <a:noFill/>
          <a:ln cap="flat" cmpd="sng" w="28575">
            <a:solidFill>
              <a:schemeClr val="dk2"/>
            </a:solidFill>
            <a:prstDash val="solid"/>
            <a:round/>
            <a:headEnd len="med" w="med" type="none"/>
            <a:tailEnd len="med" w="med" type="none"/>
          </a:ln>
        </p:spPr>
      </p:cxnSp>
      <p:sp>
        <p:nvSpPr>
          <p:cNvPr id="3963" name="Google Shape;3963;p120"/>
          <p:cNvSpPr txBox="1"/>
          <p:nvPr/>
        </p:nvSpPr>
        <p:spPr>
          <a:xfrm>
            <a:off x="7326575" y="1225225"/>
            <a:ext cx="1749000" cy="1354500"/>
          </a:xfrm>
          <a:prstGeom prst="rect">
            <a:avLst/>
          </a:prstGeom>
          <a:solidFill>
            <a:schemeClr val="lt1"/>
          </a:solidFill>
          <a:ln cap="flat" cmpd="sng" w="2857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rgbClr val="FF0000"/>
                </a:solidFill>
                <a:latin typeface="Economica"/>
                <a:ea typeface="Economica"/>
                <a:cs typeface="Economica"/>
                <a:sym typeface="Economica"/>
              </a:rPr>
              <a:t>SP(h,a) = {h, g, d, a}</a:t>
            </a:r>
            <a:endParaRPr b="1" sz="1900">
              <a:solidFill>
                <a:srgbClr val="FF0000"/>
              </a:solidFill>
              <a:latin typeface="Economica"/>
              <a:ea typeface="Economica"/>
              <a:cs typeface="Economica"/>
              <a:sym typeface="Economica"/>
            </a:endParaRPr>
          </a:p>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c, f, a}</a:t>
            </a:r>
            <a:endParaRPr b="1" sz="1900">
              <a:solidFill>
                <a:srgbClr val="0000FF"/>
              </a:solidFill>
              <a:latin typeface="Economica"/>
              <a:ea typeface="Economica"/>
              <a:cs typeface="Economica"/>
              <a:sym typeface="Economica"/>
            </a:endParaRPr>
          </a:p>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g, b, a}</a:t>
            </a:r>
            <a:endParaRPr b="1" sz="1900">
              <a:solidFill>
                <a:srgbClr val="0000FF"/>
              </a:solidFill>
              <a:latin typeface="Economica"/>
              <a:ea typeface="Economica"/>
              <a:cs typeface="Economica"/>
              <a:sym typeface="Economica"/>
            </a:endParaRPr>
          </a:p>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g, f, a}</a:t>
            </a:r>
            <a:endParaRPr b="1" sz="1900">
              <a:solidFill>
                <a:srgbClr val="0000FF"/>
              </a:solidFill>
              <a:latin typeface="Economica"/>
              <a:ea typeface="Economica"/>
              <a:cs typeface="Economica"/>
              <a:sym typeface="Economica"/>
            </a:endParaRPr>
          </a:p>
        </p:txBody>
      </p:sp>
      <p:sp>
        <p:nvSpPr>
          <p:cNvPr id="3964" name="Google Shape;3964;p120"/>
          <p:cNvSpPr/>
          <p:nvPr/>
        </p:nvSpPr>
        <p:spPr>
          <a:xfrm>
            <a:off x="5011175" y="2197225"/>
            <a:ext cx="2997300" cy="23442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This means the relative centrality of d with </a:t>
            </a:r>
            <a:r>
              <a:rPr b="1" lang="en">
                <a:solidFill>
                  <a:srgbClr val="FF0000"/>
                </a:solidFill>
              </a:rPr>
              <a:t>respect</a:t>
            </a:r>
            <a:r>
              <a:rPr b="1" lang="en">
                <a:solidFill>
                  <a:srgbClr val="FF0000"/>
                </a:solidFill>
              </a:rPr>
              <a:t> to h and a is:</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p:txBody>
      </p:sp>
      <p:pic>
        <p:nvPicPr>
          <p:cNvPr descr="C^{BET}_{h(d)a} = \frac{g_{h(d)a}}{g_{ha}}&#10;%df457dc2-bf15-49e0-8da5-3bc2e857df46" id="3965" name="Google Shape;3965;p120"/>
          <p:cNvPicPr preferRelativeResize="0"/>
          <p:nvPr/>
        </p:nvPicPr>
        <p:blipFill>
          <a:blip r:embed="rId3">
            <a:alphaModFix/>
          </a:blip>
          <a:stretch>
            <a:fillRect/>
          </a:stretch>
        </p:blipFill>
        <p:spPr>
          <a:xfrm>
            <a:off x="5738138" y="3289063"/>
            <a:ext cx="1638300" cy="542925"/>
          </a:xfrm>
          <a:prstGeom prst="rect">
            <a:avLst/>
          </a:prstGeom>
          <a:noFill/>
          <a:ln>
            <a:noFill/>
          </a:ln>
        </p:spPr>
      </p:pic>
      <p:sp>
        <p:nvSpPr>
          <p:cNvPr id="3966" name="Google Shape;3966;p120"/>
          <p:cNvSpPr txBox="1"/>
          <p:nvPr>
            <p:ph idx="1" type="body"/>
          </p:nvPr>
        </p:nvSpPr>
        <p:spPr>
          <a:xfrm>
            <a:off x="283725" y="2232475"/>
            <a:ext cx="2591400" cy="2571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g</a:t>
            </a:r>
            <a:r>
              <a:rPr baseline="-25000" lang="en"/>
              <a:t>h(d)a</a:t>
            </a:r>
            <a:r>
              <a:rPr lang="en"/>
              <a:t> is the number of shortest paths between h and a </a:t>
            </a:r>
            <a:r>
              <a:rPr b="1" lang="en"/>
              <a:t>that d is an inner node on</a:t>
            </a:r>
            <a:endParaRPr b="1"/>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0" name="Shape 3970"/>
        <p:cNvGrpSpPr/>
        <p:nvPr/>
      </p:nvGrpSpPr>
      <p:grpSpPr>
        <a:xfrm>
          <a:off x="0" y="0"/>
          <a:ext cx="0" cy="0"/>
          <a:chOff x="0" y="0"/>
          <a:chExt cx="0" cy="0"/>
        </a:xfrm>
      </p:grpSpPr>
      <p:sp>
        <p:nvSpPr>
          <p:cNvPr id="3971" name="Google Shape;3971;p12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3972" name="Google Shape;3972;p121"/>
          <p:cNvSpPr txBox="1"/>
          <p:nvPr>
            <p:ph idx="1" type="body"/>
          </p:nvPr>
        </p:nvSpPr>
        <p:spPr>
          <a:xfrm>
            <a:off x="311700" y="1225225"/>
            <a:ext cx="7285200" cy="1007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a:t>
            </a:r>
            <a:r>
              <a:rPr b="1" lang="en"/>
              <a:t>relative betweenness </a:t>
            </a:r>
            <a:r>
              <a:rPr b="1" lang="en"/>
              <a:t>centrality</a:t>
            </a:r>
            <a:r>
              <a:rPr lang="en"/>
              <a:t> of a node (</a:t>
            </a:r>
            <a:r>
              <a:rPr b="1" lang="en"/>
              <a:t>k</a:t>
            </a:r>
            <a:r>
              <a:rPr lang="en"/>
              <a:t>) with respect to two other nodes (</a:t>
            </a:r>
            <a:r>
              <a:rPr b="1" lang="en"/>
              <a:t>i</a:t>
            </a:r>
            <a:r>
              <a:rPr lang="en"/>
              <a:t>, </a:t>
            </a:r>
            <a:r>
              <a:rPr b="1" lang="en"/>
              <a:t>j</a:t>
            </a:r>
            <a:r>
              <a:rPr lang="en"/>
              <a:t>) is equal to the proportion of shortest paths between i and j that k is an inner node on</a:t>
            </a:r>
            <a:endParaRPr/>
          </a:p>
          <a:p>
            <a:pPr indent="0" lvl="0" marL="457200" rtl="0" algn="l">
              <a:spcBef>
                <a:spcPts val="0"/>
              </a:spcBef>
              <a:spcAft>
                <a:spcPts val="0"/>
              </a:spcAft>
              <a:buNone/>
            </a:pPr>
            <a:r>
              <a:t/>
            </a:r>
            <a:endParaRPr/>
          </a:p>
          <a:p>
            <a:pPr indent="0" lvl="0" marL="914400" rtl="0" algn="l">
              <a:spcBef>
                <a:spcPts val="0"/>
              </a:spcBef>
              <a:spcAft>
                <a:spcPts val="0"/>
              </a:spcAft>
              <a:buNone/>
            </a:pPr>
            <a:r>
              <a:t/>
            </a:r>
            <a:endParaRPr/>
          </a:p>
        </p:txBody>
      </p:sp>
      <p:sp>
        <p:nvSpPr>
          <p:cNvPr id="3973" name="Google Shape;3973;p121"/>
          <p:cNvSpPr/>
          <p:nvPr/>
        </p:nvSpPr>
        <p:spPr>
          <a:xfrm>
            <a:off x="2672643" y="259471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974" name="Google Shape;3974;p121"/>
          <p:cNvSpPr/>
          <p:nvPr/>
        </p:nvSpPr>
        <p:spPr>
          <a:xfrm>
            <a:off x="3991266" y="223258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975" name="Google Shape;3975;p121"/>
          <p:cNvSpPr/>
          <p:nvPr/>
        </p:nvSpPr>
        <p:spPr>
          <a:xfrm>
            <a:off x="4669360" y="2846500"/>
            <a:ext cx="405000" cy="4032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976" name="Google Shape;3976;p121"/>
          <p:cNvSpPr/>
          <p:nvPr/>
        </p:nvSpPr>
        <p:spPr>
          <a:xfrm>
            <a:off x="3468565" y="3190960"/>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977" name="Google Shape;3977;p121"/>
          <p:cNvSpPr/>
          <p:nvPr/>
        </p:nvSpPr>
        <p:spPr>
          <a:xfrm>
            <a:off x="2636013" y="3728942"/>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978" name="Google Shape;3978;p121"/>
          <p:cNvSpPr/>
          <p:nvPr/>
        </p:nvSpPr>
        <p:spPr>
          <a:xfrm>
            <a:off x="3827823" y="3849785"/>
            <a:ext cx="405000" cy="4032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979" name="Google Shape;3979;p121"/>
          <p:cNvSpPr/>
          <p:nvPr/>
        </p:nvSpPr>
        <p:spPr>
          <a:xfrm>
            <a:off x="4232574"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980" name="Google Shape;3980;p121"/>
          <p:cNvSpPr/>
          <p:nvPr/>
        </p:nvSpPr>
        <p:spPr>
          <a:xfrm>
            <a:off x="5106109" y="3675307"/>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981" name="Google Shape;3981;p121"/>
          <p:cNvSpPr/>
          <p:nvPr/>
        </p:nvSpPr>
        <p:spPr>
          <a:xfrm>
            <a:off x="5308522"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982" name="Google Shape;3982;p121"/>
          <p:cNvSpPr/>
          <p:nvPr/>
        </p:nvSpPr>
        <p:spPr>
          <a:xfrm>
            <a:off x="6099063"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983" name="Google Shape;3983;p121"/>
          <p:cNvSpPr/>
          <p:nvPr/>
        </p:nvSpPr>
        <p:spPr>
          <a:xfrm>
            <a:off x="6503814" y="295245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984" name="Google Shape;3984;p121"/>
          <p:cNvSpPr/>
          <p:nvPr/>
        </p:nvSpPr>
        <p:spPr>
          <a:xfrm>
            <a:off x="6972505"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985" name="Google Shape;3985;p121"/>
          <p:cNvSpPr/>
          <p:nvPr/>
        </p:nvSpPr>
        <p:spPr>
          <a:xfrm>
            <a:off x="6503814" y="440108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986" name="Google Shape;3986;p121"/>
          <p:cNvSpPr/>
          <p:nvPr/>
        </p:nvSpPr>
        <p:spPr>
          <a:xfrm>
            <a:off x="7531209" y="448226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987" name="Google Shape;3987;p121"/>
          <p:cNvSpPr/>
          <p:nvPr/>
        </p:nvSpPr>
        <p:spPr>
          <a:xfrm>
            <a:off x="7949156" y="377509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988" name="Google Shape;3988;p121"/>
          <p:cNvSpPr/>
          <p:nvPr/>
        </p:nvSpPr>
        <p:spPr>
          <a:xfrm>
            <a:off x="8631939" y="3161829"/>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989" name="Google Shape;3989;p121"/>
          <p:cNvSpPr/>
          <p:nvPr/>
        </p:nvSpPr>
        <p:spPr>
          <a:xfrm>
            <a:off x="7733584" y="3040648"/>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990" name="Google Shape;3990;p121"/>
          <p:cNvSpPr/>
          <p:nvPr/>
        </p:nvSpPr>
        <p:spPr>
          <a:xfrm>
            <a:off x="7802222" y="2306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991" name="Google Shape;3991;p121"/>
          <p:cNvSpPr/>
          <p:nvPr/>
        </p:nvSpPr>
        <p:spPr>
          <a:xfrm>
            <a:off x="8631939" y="203087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992" name="Google Shape;3992;p121"/>
          <p:cNvCxnSpPr>
            <a:stCxn id="3991" idx="2"/>
            <a:endCxn id="3990" idx="7"/>
          </p:cNvCxnSpPr>
          <p:nvPr/>
        </p:nvCxnSpPr>
        <p:spPr>
          <a:xfrm flipH="1">
            <a:off x="8148039" y="2232475"/>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3993" name="Google Shape;3993;p121"/>
          <p:cNvCxnSpPr>
            <a:stCxn id="3989" idx="0"/>
            <a:endCxn id="3990" idx="4"/>
          </p:cNvCxnSpPr>
          <p:nvPr/>
        </p:nvCxnSpPr>
        <p:spPr>
          <a:xfrm flipH="1" rot="10800000">
            <a:off x="7936084" y="2709448"/>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3994" name="Google Shape;3994;p121"/>
          <p:cNvCxnSpPr>
            <a:stCxn id="3988" idx="2"/>
            <a:endCxn id="3989" idx="6"/>
          </p:cNvCxnSpPr>
          <p:nvPr/>
        </p:nvCxnSpPr>
        <p:spPr>
          <a:xfrm rot="10800000">
            <a:off x="8138439" y="3242229"/>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3995" name="Google Shape;3995;p121"/>
          <p:cNvCxnSpPr>
            <a:stCxn id="3988" idx="2"/>
            <a:endCxn id="3984" idx="6"/>
          </p:cNvCxnSpPr>
          <p:nvPr/>
        </p:nvCxnSpPr>
        <p:spPr>
          <a:xfrm flipH="1">
            <a:off x="7377639" y="3363429"/>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3996" name="Google Shape;3996;p121"/>
          <p:cNvCxnSpPr>
            <a:stCxn id="3988" idx="2"/>
            <a:endCxn id="3987" idx="7"/>
          </p:cNvCxnSpPr>
          <p:nvPr/>
        </p:nvCxnSpPr>
        <p:spPr>
          <a:xfrm flipH="1">
            <a:off x="8294739" y="3363429"/>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3997" name="Google Shape;3997;p121"/>
          <p:cNvCxnSpPr>
            <a:stCxn id="3987" idx="2"/>
            <a:endCxn id="3984" idx="6"/>
          </p:cNvCxnSpPr>
          <p:nvPr/>
        </p:nvCxnSpPr>
        <p:spPr>
          <a:xfrm rot="10800000">
            <a:off x="7377356" y="3876797"/>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3998" name="Google Shape;3998;p121"/>
          <p:cNvCxnSpPr>
            <a:stCxn id="3987" idx="1"/>
            <a:endCxn id="3983" idx="5"/>
          </p:cNvCxnSpPr>
          <p:nvPr/>
        </p:nvCxnSpPr>
        <p:spPr>
          <a:xfrm rot="10800000">
            <a:off x="6849567" y="3296544"/>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3999" name="Google Shape;3999;p121"/>
          <p:cNvCxnSpPr>
            <a:stCxn id="3986" idx="0"/>
            <a:endCxn id="3984" idx="4"/>
          </p:cNvCxnSpPr>
          <p:nvPr/>
        </p:nvCxnSpPr>
        <p:spPr>
          <a:xfrm rot="10800000">
            <a:off x="7175109" y="4078466"/>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4000" name="Google Shape;4000;p121"/>
          <p:cNvCxnSpPr>
            <a:stCxn id="3985" idx="7"/>
            <a:endCxn id="3984" idx="4"/>
          </p:cNvCxnSpPr>
          <p:nvPr/>
        </p:nvCxnSpPr>
        <p:spPr>
          <a:xfrm flipH="1" rot="10800000">
            <a:off x="6849503" y="4078527"/>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4001" name="Google Shape;4001;p121"/>
          <p:cNvCxnSpPr>
            <a:stCxn id="3986" idx="1"/>
            <a:endCxn id="3985" idx="6"/>
          </p:cNvCxnSpPr>
          <p:nvPr/>
        </p:nvCxnSpPr>
        <p:spPr>
          <a:xfrm flipH="1">
            <a:off x="6908920" y="4541313"/>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4002" name="Google Shape;4002;p121"/>
          <p:cNvCxnSpPr>
            <a:stCxn id="3984" idx="2"/>
            <a:endCxn id="3982" idx="6"/>
          </p:cNvCxnSpPr>
          <p:nvPr/>
        </p:nvCxnSpPr>
        <p:spPr>
          <a:xfrm rot="10800000">
            <a:off x="6504205" y="3876907"/>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4003" name="Google Shape;4003;p121"/>
          <p:cNvCxnSpPr>
            <a:stCxn id="3985" idx="0"/>
            <a:endCxn id="3982" idx="5"/>
          </p:cNvCxnSpPr>
          <p:nvPr/>
        </p:nvCxnSpPr>
        <p:spPr>
          <a:xfrm rot="10800000">
            <a:off x="6444714" y="4019480"/>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4004" name="Google Shape;4004;p121"/>
          <p:cNvCxnSpPr>
            <a:stCxn id="3984" idx="0"/>
            <a:endCxn id="3983" idx="5"/>
          </p:cNvCxnSpPr>
          <p:nvPr/>
        </p:nvCxnSpPr>
        <p:spPr>
          <a:xfrm rot="10800000">
            <a:off x="6849505" y="3296707"/>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4005" name="Google Shape;4005;p121"/>
          <p:cNvCxnSpPr>
            <a:stCxn id="3982" idx="7"/>
            <a:endCxn id="3983" idx="4"/>
          </p:cNvCxnSpPr>
          <p:nvPr/>
        </p:nvCxnSpPr>
        <p:spPr>
          <a:xfrm flipH="1" rot="10800000">
            <a:off x="6444752" y="3355754"/>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4006" name="Google Shape;4006;p121"/>
          <p:cNvCxnSpPr>
            <a:stCxn id="3982" idx="2"/>
            <a:endCxn id="3980" idx="6"/>
          </p:cNvCxnSpPr>
          <p:nvPr/>
        </p:nvCxnSpPr>
        <p:spPr>
          <a:xfrm rot="10800000">
            <a:off x="5511063" y="3876907"/>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4007" name="Google Shape;4007;p121"/>
          <p:cNvCxnSpPr>
            <a:stCxn id="3981" idx="0"/>
            <a:endCxn id="3980" idx="4"/>
          </p:cNvCxnSpPr>
          <p:nvPr/>
        </p:nvCxnSpPr>
        <p:spPr>
          <a:xfrm rot="10800000">
            <a:off x="5308522" y="4078515"/>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4008" name="Google Shape;4008;p121"/>
          <p:cNvCxnSpPr>
            <a:stCxn id="3980" idx="3"/>
            <a:endCxn id="3979" idx="7"/>
          </p:cNvCxnSpPr>
          <p:nvPr/>
        </p:nvCxnSpPr>
        <p:spPr>
          <a:xfrm flipH="1">
            <a:off x="4578320" y="4019460"/>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4009" name="Google Shape;4009;p121"/>
          <p:cNvCxnSpPr>
            <a:stCxn id="3978" idx="5"/>
            <a:endCxn id="3979" idx="0"/>
          </p:cNvCxnSpPr>
          <p:nvPr/>
        </p:nvCxnSpPr>
        <p:spPr>
          <a:xfrm>
            <a:off x="4173512" y="4193938"/>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4010" name="Google Shape;4010;p121"/>
          <p:cNvCxnSpPr>
            <a:stCxn id="3975" idx="4"/>
            <a:endCxn id="3978" idx="7"/>
          </p:cNvCxnSpPr>
          <p:nvPr/>
        </p:nvCxnSpPr>
        <p:spPr>
          <a:xfrm flipH="1">
            <a:off x="4173460" y="3249700"/>
            <a:ext cx="698400" cy="659100"/>
          </a:xfrm>
          <a:prstGeom prst="straightConnector1">
            <a:avLst/>
          </a:prstGeom>
          <a:noFill/>
          <a:ln cap="flat" cmpd="sng" w="28575">
            <a:solidFill>
              <a:srgbClr val="FF0000"/>
            </a:solidFill>
            <a:prstDash val="solid"/>
            <a:round/>
            <a:headEnd len="med" w="med" type="none"/>
            <a:tailEnd len="med" w="med" type="none"/>
          </a:ln>
        </p:spPr>
      </p:cxnSp>
      <p:cxnSp>
        <p:nvCxnSpPr>
          <p:cNvPr id="4011" name="Google Shape;4011;p121"/>
          <p:cNvCxnSpPr>
            <a:stCxn id="3980" idx="1"/>
            <a:endCxn id="3975" idx="4"/>
          </p:cNvCxnSpPr>
          <p:nvPr/>
        </p:nvCxnSpPr>
        <p:spPr>
          <a:xfrm rot="10800000">
            <a:off x="4871720" y="3249554"/>
            <a:ext cx="293700" cy="484800"/>
          </a:xfrm>
          <a:prstGeom prst="straightConnector1">
            <a:avLst/>
          </a:prstGeom>
          <a:noFill/>
          <a:ln cap="flat" cmpd="sng" w="28575">
            <a:solidFill>
              <a:srgbClr val="FF0000"/>
            </a:solidFill>
            <a:prstDash val="solid"/>
            <a:round/>
            <a:headEnd len="med" w="med" type="none"/>
            <a:tailEnd len="med" w="med" type="none"/>
          </a:ln>
        </p:spPr>
      </p:cxnSp>
      <p:cxnSp>
        <p:nvCxnSpPr>
          <p:cNvPr id="4012" name="Google Shape;4012;p121"/>
          <p:cNvCxnSpPr>
            <a:stCxn id="3978" idx="2"/>
            <a:endCxn id="3977" idx="6"/>
          </p:cNvCxnSpPr>
          <p:nvPr/>
        </p:nvCxnSpPr>
        <p:spPr>
          <a:xfrm rot="10800000">
            <a:off x="3040923" y="3930485"/>
            <a:ext cx="786900" cy="120900"/>
          </a:xfrm>
          <a:prstGeom prst="straightConnector1">
            <a:avLst/>
          </a:prstGeom>
          <a:noFill/>
          <a:ln cap="flat" cmpd="sng" w="28575">
            <a:solidFill>
              <a:srgbClr val="FF0000"/>
            </a:solidFill>
            <a:prstDash val="solid"/>
            <a:round/>
            <a:headEnd len="med" w="med" type="none"/>
            <a:tailEnd len="med" w="med" type="none"/>
          </a:ln>
        </p:spPr>
      </p:cxnSp>
      <p:cxnSp>
        <p:nvCxnSpPr>
          <p:cNvPr id="4013" name="Google Shape;4013;p121"/>
          <p:cNvCxnSpPr>
            <a:stCxn id="3978" idx="0"/>
            <a:endCxn id="3976" idx="4"/>
          </p:cNvCxnSpPr>
          <p:nvPr/>
        </p:nvCxnSpPr>
        <p:spPr>
          <a:xfrm rot="10800000">
            <a:off x="3670923" y="3594185"/>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4014" name="Google Shape;4014;p121"/>
          <p:cNvCxnSpPr>
            <a:stCxn id="3976" idx="3"/>
            <a:endCxn id="3977" idx="7"/>
          </p:cNvCxnSpPr>
          <p:nvPr/>
        </p:nvCxnSpPr>
        <p:spPr>
          <a:xfrm flipH="1">
            <a:off x="2981576" y="3535113"/>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4015" name="Google Shape;4015;p121"/>
          <p:cNvCxnSpPr>
            <a:stCxn id="3973" idx="4"/>
            <a:endCxn id="3977" idx="0"/>
          </p:cNvCxnSpPr>
          <p:nvPr/>
        </p:nvCxnSpPr>
        <p:spPr>
          <a:xfrm flipH="1">
            <a:off x="2838543" y="2997916"/>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4016" name="Google Shape;4016;p121"/>
          <p:cNvCxnSpPr>
            <a:stCxn id="3974" idx="2"/>
            <a:endCxn id="3973" idx="6"/>
          </p:cNvCxnSpPr>
          <p:nvPr/>
        </p:nvCxnSpPr>
        <p:spPr>
          <a:xfrm flipH="1">
            <a:off x="3077766" y="2434187"/>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4017" name="Google Shape;4017;p121"/>
          <p:cNvCxnSpPr>
            <a:stCxn id="3974" idx="3"/>
            <a:endCxn id="3976" idx="0"/>
          </p:cNvCxnSpPr>
          <p:nvPr/>
        </p:nvCxnSpPr>
        <p:spPr>
          <a:xfrm flipH="1">
            <a:off x="3671077" y="2576739"/>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4018" name="Google Shape;4018;p121"/>
          <p:cNvCxnSpPr>
            <a:stCxn id="3975" idx="2"/>
            <a:endCxn id="3973" idx="6"/>
          </p:cNvCxnSpPr>
          <p:nvPr/>
        </p:nvCxnSpPr>
        <p:spPr>
          <a:xfrm rot="10800000">
            <a:off x="3077560" y="2796400"/>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4019" name="Google Shape;4019;p121"/>
          <p:cNvCxnSpPr>
            <a:stCxn id="3975" idx="1"/>
            <a:endCxn id="3974" idx="5"/>
          </p:cNvCxnSpPr>
          <p:nvPr/>
        </p:nvCxnSpPr>
        <p:spPr>
          <a:xfrm rot="10800000">
            <a:off x="4336871" y="2576747"/>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4020" name="Google Shape;4020;p121"/>
          <p:cNvCxnSpPr>
            <a:stCxn id="3975" idx="2"/>
            <a:endCxn id="3976" idx="7"/>
          </p:cNvCxnSpPr>
          <p:nvPr/>
        </p:nvCxnSpPr>
        <p:spPr>
          <a:xfrm flipH="1">
            <a:off x="3814360" y="3048100"/>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4021" name="Google Shape;4021;p121"/>
          <p:cNvCxnSpPr>
            <a:stCxn id="3976" idx="1"/>
            <a:endCxn id="3973" idx="5"/>
          </p:cNvCxnSpPr>
          <p:nvPr/>
        </p:nvCxnSpPr>
        <p:spPr>
          <a:xfrm rot="10800000">
            <a:off x="3018476" y="2938907"/>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4022" name="Google Shape;4022;p121"/>
          <p:cNvCxnSpPr>
            <a:stCxn id="3984" idx="6"/>
            <a:endCxn id="3989" idx="3"/>
          </p:cNvCxnSpPr>
          <p:nvPr/>
        </p:nvCxnSpPr>
        <p:spPr>
          <a:xfrm flipH="1" rot="10800000">
            <a:off x="7377505" y="3384907"/>
            <a:ext cx="415500" cy="492000"/>
          </a:xfrm>
          <a:prstGeom prst="straightConnector1">
            <a:avLst/>
          </a:prstGeom>
          <a:noFill/>
          <a:ln cap="flat" cmpd="sng" w="28575">
            <a:solidFill>
              <a:schemeClr val="dk2"/>
            </a:solidFill>
            <a:prstDash val="solid"/>
            <a:round/>
            <a:headEnd len="med" w="med" type="none"/>
            <a:tailEnd len="med" w="med" type="none"/>
          </a:ln>
        </p:spPr>
      </p:cxnSp>
      <p:sp>
        <p:nvSpPr>
          <p:cNvPr id="4023" name="Google Shape;4023;p121"/>
          <p:cNvSpPr txBox="1"/>
          <p:nvPr/>
        </p:nvSpPr>
        <p:spPr>
          <a:xfrm>
            <a:off x="7326575" y="1225225"/>
            <a:ext cx="1749000" cy="1354500"/>
          </a:xfrm>
          <a:prstGeom prst="rect">
            <a:avLst/>
          </a:prstGeom>
          <a:solidFill>
            <a:schemeClr val="lt1"/>
          </a:solidFill>
          <a:ln cap="flat" cmpd="sng" w="2857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rgbClr val="FF0000"/>
                </a:solidFill>
                <a:latin typeface="Economica"/>
                <a:ea typeface="Economica"/>
                <a:cs typeface="Economica"/>
                <a:sym typeface="Economica"/>
              </a:rPr>
              <a:t>SP(h,a) = {h, g, d, a}</a:t>
            </a:r>
            <a:endParaRPr b="1" sz="1900">
              <a:solidFill>
                <a:srgbClr val="FF0000"/>
              </a:solidFill>
              <a:latin typeface="Economica"/>
              <a:ea typeface="Economica"/>
              <a:cs typeface="Economica"/>
              <a:sym typeface="Economica"/>
            </a:endParaRPr>
          </a:p>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c, f, a}</a:t>
            </a:r>
            <a:endParaRPr b="1" sz="1900">
              <a:solidFill>
                <a:srgbClr val="0000FF"/>
              </a:solidFill>
              <a:latin typeface="Economica"/>
              <a:ea typeface="Economica"/>
              <a:cs typeface="Economica"/>
              <a:sym typeface="Economica"/>
            </a:endParaRPr>
          </a:p>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g, b, a}</a:t>
            </a:r>
            <a:endParaRPr b="1" sz="1900">
              <a:solidFill>
                <a:srgbClr val="0000FF"/>
              </a:solidFill>
              <a:latin typeface="Economica"/>
              <a:ea typeface="Economica"/>
              <a:cs typeface="Economica"/>
              <a:sym typeface="Economica"/>
            </a:endParaRPr>
          </a:p>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g, f, a}</a:t>
            </a:r>
            <a:endParaRPr b="1" sz="1900">
              <a:solidFill>
                <a:srgbClr val="0000FF"/>
              </a:solidFill>
              <a:latin typeface="Economica"/>
              <a:ea typeface="Economica"/>
              <a:cs typeface="Economica"/>
              <a:sym typeface="Economica"/>
            </a:endParaRPr>
          </a:p>
        </p:txBody>
      </p:sp>
      <p:sp>
        <p:nvSpPr>
          <p:cNvPr id="4024" name="Google Shape;4024;p121"/>
          <p:cNvSpPr/>
          <p:nvPr/>
        </p:nvSpPr>
        <p:spPr>
          <a:xfrm>
            <a:off x="5011175" y="2197225"/>
            <a:ext cx="2997300" cy="23442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This means the relative centrality of d with respect to h and a is:</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p:txBody>
      </p:sp>
      <p:pic>
        <p:nvPicPr>
          <p:cNvPr descr="C^{BET}_{h(d)a} = \frac{g_{h(d)a}}{g_{ha}}&#10;%df457dc2-bf15-49e0-8da5-3bc2e857df46" id="4025" name="Google Shape;4025;p121"/>
          <p:cNvPicPr preferRelativeResize="0"/>
          <p:nvPr/>
        </p:nvPicPr>
        <p:blipFill>
          <a:blip r:embed="rId3">
            <a:alphaModFix/>
          </a:blip>
          <a:stretch>
            <a:fillRect/>
          </a:stretch>
        </p:blipFill>
        <p:spPr>
          <a:xfrm>
            <a:off x="5738138" y="3289063"/>
            <a:ext cx="1638300" cy="542925"/>
          </a:xfrm>
          <a:prstGeom prst="rect">
            <a:avLst/>
          </a:prstGeom>
          <a:noFill/>
          <a:ln>
            <a:noFill/>
          </a:ln>
        </p:spPr>
      </p:pic>
      <p:sp>
        <p:nvSpPr>
          <p:cNvPr id="4026" name="Google Shape;4026;p121"/>
          <p:cNvSpPr txBox="1"/>
          <p:nvPr>
            <p:ph idx="1" type="body"/>
          </p:nvPr>
        </p:nvSpPr>
        <p:spPr>
          <a:xfrm>
            <a:off x="283725" y="2232475"/>
            <a:ext cx="2591400" cy="2571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g</a:t>
            </a:r>
            <a:r>
              <a:rPr baseline="-25000" lang="en"/>
              <a:t>ha</a:t>
            </a:r>
            <a:r>
              <a:rPr lang="en"/>
              <a:t> is </a:t>
            </a:r>
            <a:r>
              <a:rPr b="1" lang="en"/>
              <a:t>total</a:t>
            </a:r>
            <a:r>
              <a:rPr lang="en"/>
              <a:t> the number of shortest paths between h and a </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0" name="Shape 4030"/>
        <p:cNvGrpSpPr/>
        <p:nvPr/>
      </p:nvGrpSpPr>
      <p:grpSpPr>
        <a:xfrm>
          <a:off x="0" y="0"/>
          <a:ext cx="0" cy="0"/>
          <a:chOff x="0" y="0"/>
          <a:chExt cx="0" cy="0"/>
        </a:xfrm>
      </p:grpSpPr>
      <p:sp>
        <p:nvSpPr>
          <p:cNvPr id="4031" name="Google Shape;4031;p12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4032" name="Google Shape;4032;p122"/>
          <p:cNvSpPr txBox="1"/>
          <p:nvPr>
            <p:ph idx="1" type="body"/>
          </p:nvPr>
        </p:nvSpPr>
        <p:spPr>
          <a:xfrm>
            <a:off x="311700" y="1225225"/>
            <a:ext cx="7285200" cy="1007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a:t>
            </a:r>
            <a:r>
              <a:rPr b="1" lang="en"/>
              <a:t>relative betweenness </a:t>
            </a:r>
            <a:r>
              <a:rPr b="1" lang="en"/>
              <a:t>centrality</a:t>
            </a:r>
            <a:r>
              <a:rPr lang="en"/>
              <a:t> of a node (</a:t>
            </a:r>
            <a:r>
              <a:rPr b="1" lang="en"/>
              <a:t>k</a:t>
            </a:r>
            <a:r>
              <a:rPr lang="en"/>
              <a:t>) with respect to two other nodes (</a:t>
            </a:r>
            <a:r>
              <a:rPr b="1" lang="en"/>
              <a:t>i</a:t>
            </a:r>
            <a:r>
              <a:rPr lang="en"/>
              <a:t>, </a:t>
            </a:r>
            <a:r>
              <a:rPr b="1" lang="en"/>
              <a:t>j</a:t>
            </a:r>
            <a:r>
              <a:rPr lang="en"/>
              <a:t>) is equal to the proportion of shortest paths between i and j that k is an inner node on</a:t>
            </a:r>
            <a:endParaRPr/>
          </a:p>
          <a:p>
            <a:pPr indent="0" lvl="0" marL="457200" rtl="0" algn="l">
              <a:spcBef>
                <a:spcPts val="0"/>
              </a:spcBef>
              <a:spcAft>
                <a:spcPts val="0"/>
              </a:spcAft>
              <a:buNone/>
            </a:pPr>
            <a:r>
              <a:t/>
            </a:r>
            <a:endParaRPr/>
          </a:p>
          <a:p>
            <a:pPr indent="0" lvl="0" marL="914400" rtl="0" algn="l">
              <a:spcBef>
                <a:spcPts val="0"/>
              </a:spcBef>
              <a:spcAft>
                <a:spcPts val="0"/>
              </a:spcAft>
              <a:buNone/>
            </a:pPr>
            <a:r>
              <a:t/>
            </a:r>
            <a:endParaRPr/>
          </a:p>
        </p:txBody>
      </p:sp>
      <p:sp>
        <p:nvSpPr>
          <p:cNvPr id="4033" name="Google Shape;4033;p122"/>
          <p:cNvSpPr/>
          <p:nvPr/>
        </p:nvSpPr>
        <p:spPr>
          <a:xfrm>
            <a:off x="2672643" y="259471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4034" name="Google Shape;4034;p122"/>
          <p:cNvSpPr/>
          <p:nvPr/>
        </p:nvSpPr>
        <p:spPr>
          <a:xfrm>
            <a:off x="3991266" y="223258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4035" name="Google Shape;4035;p122"/>
          <p:cNvSpPr/>
          <p:nvPr/>
        </p:nvSpPr>
        <p:spPr>
          <a:xfrm>
            <a:off x="4669360" y="2846500"/>
            <a:ext cx="405000" cy="4032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4036" name="Google Shape;4036;p122"/>
          <p:cNvSpPr/>
          <p:nvPr/>
        </p:nvSpPr>
        <p:spPr>
          <a:xfrm>
            <a:off x="3468565" y="3190960"/>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4037" name="Google Shape;4037;p122"/>
          <p:cNvSpPr/>
          <p:nvPr/>
        </p:nvSpPr>
        <p:spPr>
          <a:xfrm>
            <a:off x="2636013" y="3728942"/>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4038" name="Google Shape;4038;p122"/>
          <p:cNvSpPr/>
          <p:nvPr/>
        </p:nvSpPr>
        <p:spPr>
          <a:xfrm>
            <a:off x="3827823" y="3849785"/>
            <a:ext cx="405000" cy="4032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4039" name="Google Shape;4039;p122"/>
          <p:cNvSpPr/>
          <p:nvPr/>
        </p:nvSpPr>
        <p:spPr>
          <a:xfrm>
            <a:off x="4232574"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4040" name="Google Shape;4040;p122"/>
          <p:cNvSpPr/>
          <p:nvPr/>
        </p:nvSpPr>
        <p:spPr>
          <a:xfrm>
            <a:off x="5106109" y="3675307"/>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4041" name="Google Shape;4041;p122"/>
          <p:cNvSpPr/>
          <p:nvPr/>
        </p:nvSpPr>
        <p:spPr>
          <a:xfrm>
            <a:off x="5308522"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4042" name="Google Shape;4042;p122"/>
          <p:cNvSpPr/>
          <p:nvPr/>
        </p:nvSpPr>
        <p:spPr>
          <a:xfrm>
            <a:off x="6099063"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4043" name="Google Shape;4043;p122"/>
          <p:cNvSpPr/>
          <p:nvPr/>
        </p:nvSpPr>
        <p:spPr>
          <a:xfrm>
            <a:off x="6503814" y="295245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4044" name="Google Shape;4044;p122"/>
          <p:cNvSpPr/>
          <p:nvPr/>
        </p:nvSpPr>
        <p:spPr>
          <a:xfrm>
            <a:off x="6972505"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4045" name="Google Shape;4045;p122"/>
          <p:cNvSpPr/>
          <p:nvPr/>
        </p:nvSpPr>
        <p:spPr>
          <a:xfrm>
            <a:off x="6503814" y="440108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4046" name="Google Shape;4046;p122"/>
          <p:cNvSpPr/>
          <p:nvPr/>
        </p:nvSpPr>
        <p:spPr>
          <a:xfrm>
            <a:off x="7531209" y="448226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4047" name="Google Shape;4047;p122"/>
          <p:cNvSpPr/>
          <p:nvPr/>
        </p:nvSpPr>
        <p:spPr>
          <a:xfrm>
            <a:off x="7949156" y="377509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4048" name="Google Shape;4048;p122"/>
          <p:cNvSpPr/>
          <p:nvPr/>
        </p:nvSpPr>
        <p:spPr>
          <a:xfrm>
            <a:off x="8631939" y="3161829"/>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4049" name="Google Shape;4049;p122"/>
          <p:cNvSpPr/>
          <p:nvPr/>
        </p:nvSpPr>
        <p:spPr>
          <a:xfrm>
            <a:off x="7733584" y="3040648"/>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4050" name="Google Shape;4050;p122"/>
          <p:cNvSpPr/>
          <p:nvPr/>
        </p:nvSpPr>
        <p:spPr>
          <a:xfrm>
            <a:off x="7802222" y="2306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4051" name="Google Shape;4051;p122"/>
          <p:cNvSpPr/>
          <p:nvPr/>
        </p:nvSpPr>
        <p:spPr>
          <a:xfrm>
            <a:off x="8631939" y="203087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4052" name="Google Shape;4052;p122"/>
          <p:cNvCxnSpPr>
            <a:stCxn id="4051" idx="2"/>
            <a:endCxn id="4050" idx="7"/>
          </p:cNvCxnSpPr>
          <p:nvPr/>
        </p:nvCxnSpPr>
        <p:spPr>
          <a:xfrm flipH="1">
            <a:off x="8148039" y="2232475"/>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4053" name="Google Shape;4053;p122"/>
          <p:cNvCxnSpPr>
            <a:stCxn id="4049" idx="0"/>
            <a:endCxn id="4050" idx="4"/>
          </p:cNvCxnSpPr>
          <p:nvPr/>
        </p:nvCxnSpPr>
        <p:spPr>
          <a:xfrm flipH="1" rot="10800000">
            <a:off x="7936084" y="2709448"/>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4054" name="Google Shape;4054;p122"/>
          <p:cNvCxnSpPr>
            <a:stCxn id="4048" idx="2"/>
            <a:endCxn id="4049" idx="6"/>
          </p:cNvCxnSpPr>
          <p:nvPr/>
        </p:nvCxnSpPr>
        <p:spPr>
          <a:xfrm rot="10800000">
            <a:off x="8138439" y="3242229"/>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4055" name="Google Shape;4055;p122"/>
          <p:cNvCxnSpPr>
            <a:stCxn id="4048" idx="2"/>
            <a:endCxn id="4044" idx="6"/>
          </p:cNvCxnSpPr>
          <p:nvPr/>
        </p:nvCxnSpPr>
        <p:spPr>
          <a:xfrm flipH="1">
            <a:off x="7377639" y="3363429"/>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4056" name="Google Shape;4056;p122"/>
          <p:cNvCxnSpPr>
            <a:stCxn id="4048" idx="2"/>
            <a:endCxn id="4047" idx="7"/>
          </p:cNvCxnSpPr>
          <p:nvPr/>
        </p:nvCxnSpPr>
        <p:spPr>
          <a:xfrm flipH="1">
            <a:off x="8294739" y="3363429"/>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4057" name="Google Shape;4057;p122"/>
          <p:cNvCxnSpPr>
            <a:stCxn id="4047" idx="2"/>
            <a:endCxn id="4044" idx="6"/>
          </p:cNvCxnSpPr>
          <p:nvPr/>
        </p:nvCxnSpPr>
        <p:spPr>
          <a:xfrm rot="10800000">
            <a:off x="7377356" y="3876797"/>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4058" name="Google Shape;4058;p122"/>
          <p:cNvCxnSpPr>
            <a:stCxn id="4047" idx="1"/>
            <a:endCxn id="4043" idx="5"/>
          </p:cNvCxnSpPr>
          <p:nvPr/>
        </p:nvCxnSpPr>
        <p:spPr>
          <a:xfrm rot="10800000">
            <a:off x="6849567" y="3296544"/>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4059" name="Google Shape;4059;p122"/>
          <p:cNvCxnSpPr>
            <a:stCxn id="4046" idx="0"/>
            <a:endCxn id="4044" idx="4"/>
          </p:cNvCxnSpPr>
          <p:nvPr/>
        </p:nvCxnSpPr>
        <p:spPr>
          <a:xfrm rot="10800000">
            <a:off x="7175109" y="4078466"/>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4060" name="Google Shape;4060;p122"/>
          <p:cNvCxnSpPr>
            <a:stCxn id="4045" idx="7"/>
            <a:endCxn id="4044" idx="4"/>
          </p:cNvCxnSpPr>
          <p:nvPr/>
        </p:nvCxnSpPr>
        <p:spPr>
          <a:xfrm flipH="1" rot="10800000">
            <a:off x="6849503" y="4078527"/>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4061" name="Google Shape;4061;p122"/>
          <p:cNvCxnSpPr>
            <a:stCxn id="4046" idx="1"/>
            <a:endCxn id="4045" idx="6"/>
          </p:cNvCxnSpPr>
          <p:nvPr/>
        </p:nvCxnSpPr>
        <p:spPr>
          <a:xfrm flipH="1">
            <a:off x="6908920" y="4541313"/>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4062" name="Google Shape;4062;p122"/>
          <p:cNvCxnSpPr>
            <a:stCxn id="4044" idx="2"/>
            <a:endCxn id="4042" idx="6"/>
          </p:cNvCxnSpPr>
          <p:nvPr/>
        </p:nvCxnSpPr>
        <p:spPr>
          <a:xfrm rot="10800000">
            <a:off x="6504205" y="3876907"/>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4063" name="Google Shape;4063;p122"/>
          <p:cNvCxnSpPr>
            <a:stCxn id="4045" idx="0"/>
            <a:endCxn id="4042" idx="5"/>
          </p:cNvCxnSpPr>
          <p:nvPr/>
        </p:nvCxnSpPr>
        <p:spPr>
          <a:xfrm rot="10800000">
            <a:off x="6444714" y="4019480"/>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4064" name="Google Shape;4064;p122"/>
          <p:cNvCxnSpPr>
            <a:stCxn id="4044" idx="0"/>
            <a:endCxn id="4043" idx="5"/>
          </p:cNvCxnSpPr>
          <p:nvPr/>
        </p:nvCxnSpPr>
        <p:spPr>
          <a:xfrm rot="10800000">
            <a:off x="6849505" y="3296707"/>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4065" name="Google Shape;4065;p122"/>
          <p:cNvCxnSpPr>
            <a:stCxn id="4042" idx="7"/>
            <a:endCxn id="4043" idx="4"/>
          </p:cNvCxnSpPr>
          <p:nvPr/>
        </p:nvCxnSpPr>
        <p:spPr>
          <a:xfrm flipH="1" rot="10800000">
            <a:off x="6444752" y="3355754"/>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4066" name="Google Shape;4066;p122"/>
          <p:cNvCxnSpPr>
            <a:stCxn id="4042" idx="2"/>
            <a:endCxn id="4040" idx="6"/>
          </p:cNvCxnSpPr>
          <p:nvPr/>
        </p:nvCxnSpPr>
        <p:spPr>
          <a:xfrm rot="10800000">
            <a:off x="5511063" y="3876907"/>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4067" name="Google Shape;4067;p122"/>
          <p:cNvCxnSpPr>
            <a:stCxn id="4041" idx="0"/>
            <a:endCxn id="4040" idx="4"/>
          </p:cNvCxnSpPr>
          <p:nvPr/>
        </p:nvCxnSpPr>
        <p:spPr>
          <a:xfrm rot="10800000">
            <a:off x="5308522" y="4078515"/>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4068" name="Google Shape;4068;p122"/>
          <p:cNvCxnSpPr>
            <a:stCxn id="4040" idx="3"/>
            <a:endCxn id="4039" idx="7"/>
          </p:cNvCxnSpPr>
          <p:nvPr/>
        </p:nvCxnSpPr>
        <p:spPr>
          <a:xfrm flipH="1">
            <a:off x="4578320" y="4019460"/>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4069" name="Google Shape;4069;p122"/>
          <p:cNvCxnSpPr>
            <a:stCxn id="4038" idx="5"/>
            <a:endCxn id="4039" idx="0"/>
          </p:cNvCxnSpPr>
          <p:nvPr/>
        </p:nvCxnSpPr>
        <p:spPr>
          <a:xfrm>
            <a:off x="4173512" y="4193938"/>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4070" name="Google Shape;4070;p122"/>
          <p:cNvCxnSpPr>
            <a:stCxn id="4035" idx="4"/>
            <a:endCxn id="4038" idx="7"/>
          </p:cNvCxnSpPr>
          <p:nvPr/>
        </p:nvCxnSpPr>
        <p:spPr>
          <a:xfrm flipH="1">
            <a:off x="4173460" y="3249700"/>
            <a:ext cx="698400" cy="659100"/>
          </a:xfrm>
          <a:prstGeom prst="straightConnector1">
            <a:avLst/>
          </a:prstGeom>
          <a:noFill/>
          <a:ln cap="flat" cmpd="sng" w="28575">
            <a:solidFill>
              <a:srgbClr val="FF0000"/>
            </a:solidFill>
            <a:prstDash val="solid"/>
            <a:round/>
            <a:headEnd len="med" w="med" type="none"/>
            <a:tailEnd len="med" w="med" type="none"/>
          </a:ln>
        </p:spPr>
      </p:cxnSp>
      <p:cxnSp>
        <p:nvCxnSpPr>
          <p:cNvPr id="4071" name="Google Shape;4071;p122"/>
          <p:cNvCxnSpPr>
            <a:stCxn id="4040" idx="1"/>
            <a:endCxn id="4035" idx="4"/>
          </p:cNvCxnSpPr>
          <p:nvPr/>
        </p:nvCxnSpPr>
        <p:spPr>
          <a:xfrm rot="10800000">
            <a:off x="4871720" y="3249554"/>
            <a:ext cx="293700" cy="484800"/>
          </a:xfrm>
          <a:prstGeom prst="straightConnector1">
            <a:avLst/>
          </a:prstGeom>
          <a:noFill/>
          <a:ln cap="flat" cmpd="sng" w="28575">
            <a:solidFill>
              <a:srgbClr val="FF0000"/>
            </a:solidFill>
            <a:prstDash val="solid"/>
            <a:round/>
            <a:headEnd len="med" w="med" type="none"/>
            <a:tailEnd len="med" w="med" type="none"/>
          </a:ln>
        </p:spPr>
      </p:cxnSp>
      <p:cxnSp>
        <p:nvCxnSpPr>
          <p:cNvPr id="4072" name="Google Shape;4072;p122"/>
          <p:cNvCxnSpPr>
            <a:stCxn id="4038" idx="2"/>
            <a:endCxn id="4037" idx="6"/>
          </p:cNvCxnSpPr>
          <p:nvPr/>
        </p:nvCxnSpPr>
        <p:spPr>
          <a:xfrm rot="10800000">
            <a:off x="3040923" y="3930485"/>
            <a:ext cx="786900" cy="120900"/>
          </a:xfrm>
          <a:prstGeom prst="straightConnector1">
            <a:avLst/>
          </a:prstGeom>
          <a:noFill/>
          <a:ln cap="flat" cmpd="sng" w="28575">
            <a:solidFill>
              <a:srgbClr val="FF0000"/>
            </a:solidFill>
            <a:prstDash val="solid"/>
            <a:round/>
            <a:headEnd len="med" w="med" type="none"/>
            <a:tailEnd len="med" w="med" type="none"/>
          </a:ln>
        </p:spPr>
      </p:cxnSp>
      <p:cxnSp>
        <p:nvCxnSpPr>
          <p:cNvPr id="4073" name="Google Shape;4073;p122"/>
          <p:cNvCxnSpPr>
            <a:stCxn id="4038" idx="0"/>
            <a:endCxn id="4036" idx="4"/>
          </p:cNvCxnSpPr>
          <p:nvPr/>
        </p:nvCxnSpPr>
        <p:spPr>
          <a:xfrm rot="10800000">
            <a:off x="3670923" y="3594185"/>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4074" name="Google Shape;4074;p122"/>
          <p:cNvCxnSpPr>
            <a:stCxn id="4036" idx="3"/>
            <a:endCxn id="4037" idx="7"/>
          </p:cNvCxnSpPr>
          <p:nvPr/>
        </p:nvCxnSpPr>
        <p:spPr>
          <a:xfrm flipH="1">
            <a:off x="2981576" y="3535113"/>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4075" name="Google Shape;4075;p122"/>
          <p:cNvCxnSpPr>
            <a:stCxn id="4033" idx="4"/>
            <a:endCxn id="4037" idx="0"/>
          </p:cNvCxnSpPr>
          <p:nvPr/>
        </p:nvCxnSpPr>
        <p:spPr>
          <a:xfrm flipH="1">
            <a:off x="2838543" y="2997916"/>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4076" name="Google Shape;4076;p122"/>
          <p:cNvCxnSpPr>
            <a:stCxn id="4034" idx="2"/>
            <a:endCxn id="4033" idx="6"/>
          </p:cNvCxnSpPr>
          <p:nvPr/>
        </p:nvCxnSpPr>
        <p:spPr>
          <a:xfrm flipH="1">
            <a:off x="3077766" y="2434187"/>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4077" name="Google Shape;4077;p122"/>
          <p:cNvCxnSpPr>
            <a:stCxn id="4034" idx="3"/>
            <a:endCxn id="4036" idx="0"/>
          </p:cNvCxnSpPr>
          <p:nvPr/>
        </p:nvCxnSpPr>
        <p:spPr>
          <a:xfrm flipH="1">
            <a:off x="3671077" y="2576739"/>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4078" name="Google Shape;4078;p122"/>
          <p:cNvCxnSpPr>
            <a:stCxn id="4035" idx="2"/>
            <a:endCxn id="4033" idx="6"/>
          </p:cNvCxnSpPr>
          <p:nvPr/>
        </p:nvCxnSpPr>
        <p:spPr>
          <a:xfrm rot="10800000">
            <a:off x="3077560" y="2796400"/>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4079" name="Google Shape;4079;p122"/>
          <p:cNvCxnSpPr>
            <a:stCxn id="4035" idx="1"/>
            <a:endCxn id="4034" idx="5"/>
          </p:cNvCxnSpPr>
          <p:nvPr/>
        </p:nvCxnSpPr>
        <p:spPr>
          <a:xfrm rot="10800000">
            <a:off x="4336871" y="2576747"/>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4080" name="Google Shape;4080;p122"/>
          <p:cNvCxnSpPr>
            <a:stCxn id="4035" idx="2"/>
            <a:endCxn id="4036" idx="7"/>
          </p:cNvCxnSpPr>
          <p:nvPr/>
        </p:nvCxnSpPr>
        <p:spPr>
          <a:xfrm flipH="1">
            <a:off x="3814360" y="3048100"/>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4081" name="Google Shape;4081;p122"/>
          <p:cNvCxnSpPr>
            <a:stCxn id="4036" idx="1"/>
            <a:endCxn id="4033" idx="5"/>
          </p:cNvCxnSpPr>
          <p:nvPr/>
        </p:nvCxnSpPr>
        <p:spPr>
          <a:xfrm rot="10800000">
            <a:off x="3018476" y="2938907"/>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4082" name="Google Shape;4082;p122"/>
          <p:cNvCxnSpPr>
            <a:stCxn id="4044" idx="6"/>
            <a:endCxn id="4049" idx="3"/>
          </p:cNvCxnSpPr>
          <p:nvPr/>
        </p:nvCxnSpPr>
        <p:spPr>
          <a:xfrm flipH="1" rot="10800000">
            <a:off x="7377505" y="3384907"/>
            <a:ext cx="415500" cy="492000"/>
          </a:xfrm>
          <a:prstGeom prst="straightConnector1">
            <a:avLst/>
          </a:prstGeom>
          <a:noFill/>
          <a:ln cap="flat" cmpd="sng" w="28575">
            <a:solidFill>
              <a:schemeClr val="dk2"/>
            </a:solidFill>
            <a:prstDash val="solid"/>
            <a:round/>
            <a:headEnd len="med" w="med" type="none"/>
            <a:tailEnd len="med" w="med" type="none"/>
          </a:ln>
        </p:spPr>
      </p:cxnSp>
      <p:sp>
        <p:nvSpPr>
          <p:cNvPr id="4083" name="Google Shape;4083;p122"/>
          <p:cNvSpPr txBox="1"/>
          <p:nvPr/>
        </p:nvSpPr>
        <p:spPr>
          <a:xfrm>
            <a:off x="7326575" y="1225225"/>
            <a:ext cx="1749000" cy="1354500"/>
          </a:xfrm>
          <a:prstGeom prst="rect">
            <a:avLst/>
          </a:prstGeom>
          <a:solidFill>
            <a:schemeClr val="lt1"/>
          </a:solidFill>
          <a:ln cap="flat" cmpd="sng" w="2857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rgbClr val="FF0000"/>
                </a:solidFill>
                <a:latin typeface="Economica"/>
                <a:ea typeface="Economica"/>
                <a:cs typeface="Economica"/>
                <a:sym typeface="Economica"/>
              </a:rPr>
              <a:t>SP(h,a) = {h, g, d, a}</a:t>
            </a:r>
            <a:endParaRPr b="1" sz="1900">
              <a:solidFill>
                <a:srgbClr val="FF0000"/>
              </a:solidFill>
              <a:latin typeface="Economica"/>
              <a:ea typeface="Economica"/>
              <a:cs typeface="Economica"/>
              <a:sym typeface="Economica"/>
            </a:endParaRPr>
          </a:p>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c, f, a}</a:t>
            </a:r>
            <a:endParaRPr b="1" sz="1900">
              <a:solidFill>
                <a:srgbClr val="0000FF"/>
              </a:solidFill>
              <a:latin typeface="Economica"/>
              <a:ea typeface="Economica"/>
              <a:cs typeface="Economica"/>
              <a:sym typeface="Economica"/>
            </a:endParaRPr>
          </a:p>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g, b, a}</a:t>
            </a:r>
            <a:endParaRPr b="1" sz="1900">
              <a:solidFill>
                <a:srgbClr val="0000FF"/>
              </a:solidFill>
              <a:latin typeface="Economica"/>
              <a:ea typeface="Economica"/>
              <a:cs typeface="Economica"/>
              <a:sym typeface="Economica"/>
            </a:endParaRPr>
          </a:p>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g, f, a}</a:t>
            </a:r>
            <a:endParaRPr b="1" sz="1900">
              <a:solidFill>
                <a:srgbClr val="0000FF"/>
              </a:solidFill>
              <a:latin typeface="Economica"/>
              <a:ea typeface="Economica"/>
              <a:cs typeface="Economica"/>
              <a:sym typeface="Economica"/>
            </a:endParaRPr>
          </a:p>
        </p:txBody>
      </p:sp>
      <p:sp>
        <p:nvSpPr>
          <p:cNvPr id="4084" name="Google Shape;4084;p122"/>
          <p:cNvSpPr/>
          <p:nvPr/>
        </p:nvSpPr>
        <p:spPr>
          <a:xfrm>
            <a:off x="5011175" y="2197225"/>
            <a:ext cx="2997300" cy="23442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This means the relative centrality of d with respect to h and a is:</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p:txBody>
      </p:sp>
      <p:pic>
        <p:nvPicPr>
          <p:cNvPr descr="C^{BET}_{h(d)a} = \frac{g_{h(d)a}}{g_{ha}}&#10;%df457dc2-bf15-49e0-8da5-3bc2e857df46" id="4085" name="Google Shape;4085;p122"/>
          <p:cNvPicPr preferRelativeResize="0"/>
          <p:nvPr/>
        </p:nvPicPr>
        <p:blipFill>
          <a:blip r:embed="rId3">
            <a:alphaModFix/>
          </a:blip>
          <a:stretch>
            <a:fillRect/>
          </a:stretch>
        </p:blipFill>
        <p:spPr>
          <a:xfrm>
            <a:off x="5738138" y="3289063"/>
            <a:ext cx="1638300" cy="542925"/>
          </a:xfrm>
          <a:prstGeom prst="rect">
            <a:avLst/>
          </a:prstGeom>
          <a:noFill/>
          <a:ln>
            <a:noFill/>
          </a:ln>
        </p:spPr>
      </p:pic>
      <p:sp>
        <p:nvSpPr>
          <p:cNvPr id="4086" name="Google Shape;4086;p122"/>
          <p:cNvSpPr txBox="1"/>
          <p:nvPr>
            <p:ph idx="1" type="body"/>
          </p:nvPr>
        </p:nvSpPr>
        <p:spPr>
          <a:xfrm>
            <a:off x="283725" y="2232475"/>
            <a:ext cx="2591400" cy="2571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this case:</a:t>
            </a:r>
            <a:endParaRPr/>
          </a:p>
          <a:p>
            <a:pPr indent="-317500" lvl="1" marL="914400" rtl="0" algn="l">
              <a:spcBef>
                <a:spcPts val="0"/>
              </a:spcBef>
              <a:spcAft>
                <a:spcPts val="0"/>
              </a:spcAft>
              <a:buSzPts val="1400"/>
              <a:buChar char="○"/>
            </a:pPr>
            <a:r>
              <a:rPr lang="en" sz="1800"/>
              <a:t>g</a:t>
            </a:r>
            <a:r>
              <a:rPr baseline="-25000" lang="en" sz="1800"/>
              <a:t>h(d)a</a:t>
            </a:r>
            <a:r>
              <a:rPr lang="en" sz="1800"/>
              <a:t>= 1</a:t>
            </a:r>
            <a:endParaRPr sz="1800"/>
          </a:p>
          <a:p>
            <a:pPr indent="-342900" lvl="1" marL="914400" rtl="0" algn="l">
              <a:spcBef>
                <a:spcPts val="0"/>
              </a:spcBef>
              <a:spcAft>
                <a:spcPts val="0"/>
              </a:spcAft>
              <a:buSzPts val="1800"/>
              <a:buChar char="○"/>
            </a:pPr>
            <a:r>
              <a:rPr lang="en" sz="1800"/>
              <a:t>g</a:t>
            </a:r>
            <a:r>
              <a:rPr baseline="-25000" lang="en" sz="1800"/>
              <a:t>ha</a:t>
            </a:r>
            <a:r>
              <a:rPr lang="en" sz="1800"/>
              <a:t>= 4</a:t>
            </a:r>
            <a:endParaRPr sz="1800"/>
          </a:p>
          <a:p>
            <a:pPr indent="-342900" lvl="0" marL="457200" rtl="0" algn="l">
              <a:spcBef>
                <a:spcPts val="0"/>
              </a:spcBef>
              <a:spcAft>
                <a:spcPts val="0"/>
              </a:spcAft>
              <a:buSzPts val="1800"/>
              <a:buChar char="●"/>
            </a:pPr>
            <a:r>
              <a:rPr lang="en"/>
              <a:t>Which means the relative centrality of d with respect to h an a is:</a:t>
            </a:r>
            <a:endParaRPr/>
          </a:p>
          <a:p>
            <a:pPr indent="-317500" lvl="1" marL="914400" rtl="0" algn="l">
              <a:spcBef>
                <a:spcPts val="0"/>
              </a:spcBef>
              <a:spcAft>
                <a:spcPts val="0"/>
              </a:spcAft>
              <a:buSzPts val="1400"/>
              <a:buChar char="○"/>
            </a:pPr>
            <a:r>
              <a:rPr b="1" lang="en"/>
              <a:t>1 ÷ 4 = 0.25</a:t>
            </a:r>
            <a:endParaRPr b="1"/>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0" name="Shape 4090"/>
        <p:cNvGrpSpPr/>
        <p:nvPr/>
      </p:nvGrpSpPr>
      <p:grpSpPr>
        <a:xfrm>
          <a:off x="0" y="0"/>
          <a:ext cx="0" cy="0"/>
          <a:chOff x="0" y="0"/>
          <a:chExt cx="0" cy="0"/>
        </a:xfrm>
      </p:grpSpPr>
      <p:sp>
        <p:nvSpPr>
          <p:cNvPr id="4091" name="Google Shape;4091;p12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4092" name="Google Shape;4092;p123"/>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How to compute </a:t>
            </a:r>
            <a:r>
              <a:rPr b="1" lang="en"/>
              <a:t>betweenness centrality:</a:t>
            </a:r>
            <a:endParaRPr b="1"/>
          </a:p>
          <a:p>
            <a:pPr indent="-317500" lvl="1" marL="914400" rtl="0" algn="l">
              <a:spcBef>
                <a:spcPts val="0"/>
              </a:spcBef>
              <a:spcAft>
                <a:spcPts val="0"/>
              </a:spcAft>
              <a:buSzPts val="1400"/>
              <a:buChar char="○"/>
            </a:pPr>
            <a:r>
              <a:rPr lang="en"/>
              <a:t>For each node </a:t>
            </a:r>
            <a:r>
              <a:rPr b="1" lang="en"/>
              <a:t>k</a:t>
            </a:r>
            <a:r>
              <a:rPr lang="en"/>
              <a:t> in the graph find the </a:t>
            </a:r>
            <a:r>
              <a:rPr b="1" lang="en"/>
              <a:t>relative betweenness centrality</a:t>
            </a:r>
            <a:r>
              <a:rPr lang="en"/>
              <a:t> of that node relative to every other node in the graph </a:t>
            </a:r>
            <a:r>
              <a:rPr b="1" lang="en"/>
              <a:t>i</a:t>
            </a:r>
            <a:r>
              <a:rPr lang="en"/>
              <a:t> and </a:t>
            </a:r>
            <a:r>
              <a:rPr b="1" lang="en"/>
              <a:t>j</a:t>
            </a:r>
            <a:endParaRPr b="1"/>
          </a:p>
          <a:p>
            <a:pPr indent="-317500" lvl="2" marL="1371600" rtl="0" algn="l">
              <a:spcBef>
                <a:spcPts val="0"/>
              </a:spcBef>
              <a:spcAft>
                <a:spcPts val="0"/>
              </a:spcAft>
              <a:buSzPts val="1400"/>
              <a:buChar char="■"/>
            </a:pPr>
            <a:r>
              <a:rPr lang="en"/>
              <a:t>As long as </a:t>
            </a:r>
            <a:r>
              <a:rPr b="1" lang="en"/>
              <a:t>i</a:t>
            </a:r>
            <a:r>
              <a:rPr lang="en"/>
              <a:t> is not the same as </a:t>
            </a:r>
            <a:r>
              <a:rPr b="1" lang="en"/>
              <a:t>k</a:t>
            </a:r>
            <a:r>
              <a:rPr lang="en"/>
              <a:t> and </a:t>
            </a:r>
            <a:r>
              <a:rPr b="1" lang="en"/>
              <a:t>j</a:t>
            </a:r>
            <a:r>
              <a:rPr lang="en"/>
              <a:t> is also not the same as </a:t>
            </a:r>
            <a:r>
              <a:rPr b="1" lang="en"/>
              <a:t>k</a:t>
            </a:r>
            <a:endParaRPr b="1"/>
          </a:p>
          <a:p>
            <a:pPr indent="-317500" lvl="1" marL="914400" rtl="0" algn="l">
              <a:spcBef>
                <a:spcPts val="0"/>
              </a:spcBef>
              <a:spcAft>
                <a:spcPts val="0"/>
              </a:spcAft>
              <a:buSzPts val="1400"/>
              <a:buChar char="○"/>
            </a:pPr>
            <a:r>
              <a:rPr lang="en" sz="1400"/>
              <a:t>To compute the relative </a:t>
            </a:r>
            <a:r>
              <a:rPr b="1" lang="en" sz="1400"/>
              <a:t>relative betweenness centrality</a:t>
            </a:r>
            <a:r>
              <a:rPr lang="en" sz="1400"/>
              <a:t> of each node </a:t>
            </a:r>
            <a:r>
              <a:rPr b="1" lang="en" sz="1400"/>
              <a:t>k</a:t>
            </a:r>
            <a:r>
              <a:rPr lang="en" sz="1400"/>
              <a:t>:</a:t>
            </a:r>
            <a:endParaRPr sz="1400"/>
          </a:p>
          <a:p>
            <a:pPr indent="0" lvl="0" marL="914400" rtl="0" algn="l">
              <a:spcBef>
                <a:spcPts val="0"/>
              </a:spcBef>
              <a:spcAft>
                <a:spcPts val="0"/>
              </a:spcAft>
              <a:buNone/>
            </a:pPr>
            <a:r>
              <a:t/>
            </a:r>
            <a:endParaRPr/>
          </a:p>
          <a:p>
            <a:pPr indent="0" lvl="0" marL="914400" rtl="0" algn="l">
              <a:spcBef>
                <a:spcPts val="0"/>
              </a:spcBef>
              <a:spcAft>
                <a:spcPts val="0"/>
              </a:spcAft>
              <a:buNone/>
            </a:pPr>
            <a:r>
              <a:t/>
            </a:r>
            <a:endParaRPr b="1"/>
          </a:p>
          <a:p>
            <a:pPr indent="0" lvl="0" marL="1371600" rtl="0" algn="l">
              <a:spcBef>
                <a:spcPts val="0"/>
              </a:spcBef>
              <a:spcAft>
                <a:spcPts val="0"/>
              </a:spcAft>
              <a:buNone/>
            </a:pPr>
            <a:r>
              <a:t/>
            </a:r>
            <a:endParaRPr b="1"/>
          </a:p>
        </p:txBody>
      </p:sp>
      <p:pic>
        <p:nvPicPr>
          <p:cNvPr descr="C_k^{BET} = \sum_i\sum_j \frac{g_{i(k)j}}{g_{ij}}&#10;%668c7fdb-9cfb-4099-9ad7-4ba87a092631" id="4093" name="Google Shape;4093;p123"/>
          <p:cNvPicPr preferRelativeResize="0"/>
          <p:nvPr/>
        </p:nvPicPr>
        <p:blipFill>
          <a:blip r:embed="rId3">
            <a:alphaModFix/>
          </a:blip>
          <a:stretch>
            <a:fillRect/>
          </a:stretch>
        </p:blipFill>
        <p:spPr>
          <a:xfrm>
            <a:off x="3066650" y="4107450"/>
            <a:ext cx="2171700" cy="361950"/>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7" name="Shape 4097"/>
        <p:cNvGrpSpPr/>
        <p:nvPr/>
      </p:nvGrpSpPr>
      <p:grpSpPr>
        <a:xfrm>
          <a:off x="0" y="0"/>
          <a:ext cx="0" cy="0"/>
          <a:chOff x="0" y="0"/>
          <a:chExt cx="0" cy="0"/>
        </a:xfrm>
      </p:grpSpPr>
      <p:sp>
        <p:nvSpPr>
          <p:cNvPr id="4098" name="Google Shape;4098;p12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4099" name="Google Shape;4099;p12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How to compute </a:t>
            </a:r>
            <a:r>
              <a:rPr b="1" lang="en"/>
              <a:t>betweenness centrality:</a:t>
            </a:r>
            <a:endParaRPr b="1"/>
          </a:p>
          <a:p>
            <a:pPr indent="-317500" lvl="1" marL="914400" rtl="0" algn="l">
              <a:spcBef>
                <a:spcPts val="0"/>
              </a:spcBef>
              <a:spcAft>
                <a:spcPts val="0"/>
              </a:spcAft>
              <a:buSzPts val="1400"/>
              <a:buChar char="○"/>
            </a:pPr>
            <a:r>
              <a:rPr lang="en"/>
              <a:t>For each node </a:t>
            </a:r>
            <a:r>
              <a:rPr b="1" lang="en"/>
              <a:t>k</a:t>
            </a:r>
            <a:r>
              <a:rPr lang="en"/>
              <a:t> in the graph find the </a:t>
            </a:r>
            <a:r>
              <a:rPr b="1" lang="en"/>
              <a:t>relative betweenness centrality</a:t>
            </a:r>
            <a:r>
              <a:rPr lang="en"/>
              <a:t> of that node relative to every other node in the graph </a:t>
            </a:r>
            <a:r>
              <a:rPr b="1" lang="en"/>
              <a:t>i</a:t>
            </a:r>
            <a:r>
              <a:rPr lang="en"/>
              <a:t> and </a:t>
            </a:r>
            <a:r>
              <a:rPr b="1" lang="en"/>
              <a:t>j</a:t>
            </a:r>
            <a:endParaRPr b="1"/>
          </a:p>
          <a:p>
            <a:pPr indent="-317500" lvl="2" marL="1371600" rtl="0" algn="l">
              <a:spcBef>
                <a:spcPts val="0"/>
              </a:spcBef>
              <a:spcAft>
                <a:spcPts val="0"/>
              </a:spcAft>
              <a:buSzPts val="1400"/>
              <a:buChar char="■"/>
            </a:pPr>
            <a:r>
              <a:rPr lang="en"/>
              <a:t>As long as </a:t>
            </a:r>
            <a:r>
              <a:rPr b="1" lang="en"/>
              <a:t>i</a:t>
            </a:r>
            <a:r>
              <a:rPr lang="en"/>
              <a:t> is not the same as </a:t>
            </a:r>
            <a:r>
              <a:rPr b="1" lang="en"/>
              <a:t>k</a:t>
            </a:r>
            <a:r>
              <a:rPr lang="en"/>
              <a:t> and </a:t>
            </a:r>
            <a:r>
              <a:rPr b="1" lang="en"/>
              <a:t>j</a:t>
            </a:r>
            <a:r>
              <a:rPr lang="en"/>
              <a:t> is also not the same as </a:t>
            </a:r>
            <a:r>
              <a:rPr b="1" lang="en"/>
              <a:t>k</a:t>
            </a:r>
            <a:endParaRPr b="1"/>
          </a:p>
          <a:p>
            <a:pPr indent="-317500" lvl="1" marL="914400" rtl="0" algn="l">
              <a:spcBef>
                <a:spcPts val="0"/>
              </a:spcBef>
              <a:spcAft>
                <a:spcPts val="0"/>
              </a:spcAft>
              <a:buSzPts val="1400"/>
              <a:buChar char="○"/>
            </a:pPr>
            <a:r>
              <a:rPr lang="en"/>
              <a:t>To compute the relative </a:t>
            </a:r>
            <a:r>
              <a:rPr b="1" lang="en"/>
              <a:t>relative betweenness centrality</a:t>
            </a:r>
            <a:r>
              <a:rPr lang="en"/>
              <a:t> of each node </a:t>
            </a:r>
            <a:r>
              <a:rPr b="1" lang="en"/>
              <a:t>k</a:t>
            </a:r>
            <a:r>
              <a:rPr lang="en"/>
              <a:t>:</a:t>
            </a:r>
            <a:endParaRPr/>
          </a:p>
          <a:p>
            <a:pPr indent="-317500" lvl="2" marL="1371600" rtl="0" algn="l">
              <a:spcBef>
                <a:spcPts val="0"/>
              </a:spcBef>
              <a:spcAft>
                <a:spcPts val="0"/>
              </a:spcAft>
              <a:buSzPts val="1400"/>
              <a:buChar char="■"/>
            </a:pPr>
            <a:r>
              <a:rPr lang="en"/>
              <a:t>Find the total number of shortest paths linking every pair of nodes in the graph (i, j) that the node k stands as an </a:t>
            </a:r>
            <a:r>
              <a:rPr b="1" lang="en"/>
              <a:t>inner node </a:t>
            </a:r>
            <a:r>
              <a:rPr lang="en"/>
              <a:t>(g</a:t>
            </a:r>
            <a:r>
              <a:rPr baseline="-25000" lang="en"/>
              <a:t>i(k)j</a:t>
            </a:r>
            <a:r>
              <a:rPr lang="en"/>
              <a:t>)</a:t>
            </a:r>
            <a:endParaRPr/>
          </a:p>
          <a:p>
            <a:pPr indent="-317500" lvl="2" marL="1371600" rtl="0" algn="l">
              <a:spcBef>
                <a:spcPts val="0"/>
              </a:spcBef>
              <a:spcAft>
                <a:spcPts val="0"/>
              </a:spcAft>
              <a:buSzPts val="1400"/>
              <a:buChar char="■"/>
            </a:pPr>
            <a:r>
              <a:rPr lang="en"/>
              <a:t>Divide by the </a:t>
            </a:r>
            <a:r>
              <a:rPr b="1" lang="en"/>
              <a:t>total number of shortest paths</a:t>
            </a:r>
            <a:r>
              <a:rPr lang="en"/>
              <a:t> linking nodes i and j (g</a:t>
            </a:r>
            <a:r>
              <a:rPr baseline="-25000" lang="en"/>
              <a:t>ij</a:t>
            </a:r>
            <a:r>
              <a:rPr lang="en"/>
              <a:t>)</a:t>
            </a:r>
            <a:endParaRPr/>
          </a:p>
          <a:p>
            <a:pPr indent="0" lvl="0" marL="0" rtl="0" algn="l">
              <a:spcBef>
                <a:spcPts val="0"/>
              </a:spcBef>
              <a:spcAft>
                <a:spcPts val="0"/>
              </a:spcAft>
              <a:buNone/>
            </a:pPr>
            <a:r>
              <a:t/>
            </a:r>
            <a:endParaRPr b="1"/>
          </a:p>
          <a:p>
            <a:pPr indent="0" lvl="0" marL="1371600" rtl="0" algn="l">
              <a:spcBef>
                <a:spcPts val="0"/>
              </a:spcBef>
              <a:spcAft>
                <a:spcPts val="0"/>
              </a:spcAft>
              <a:buNone/>
            </a:pPr>
            <a:r>
              <a:t/>
            </a:r>
            <a:endParaRPr/>
          </a:p>
          <a:p>
            <a:pPr indent="0" lvl="0" marL="914400" rtl="0" algn="l">
              <a:spcBef>
                <a:spcPts val="0"/>
              </a:spcBef>
              <a:spcAft>
                <a:spcPts val="0"/>
              </a:spcAft>
              <a:buNone/>
            </a:pPr>
            <a:r>
              <a:t/>
            </a:r>
            <a:endParaRPr b="1"/>
          </a:p>
          <a:p>
            <a:pPr indent="0" lvl="0" marL="1371600" rtl="0" algn="l">
              <a:spcBef>
                <a:spcPts val="0"/>
              </a:spcBef>
              <a:spcAft>
                <a:spcPts val="0"/>
              </a:spcAft>
              <a:buNone/>
            </a:pPr>
            <a:r>
              <a:t/>
            </a:r>
            <a:endParaRPr b="1"/>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3" name="Shape 4103"/>
        <p:cNvGrpSpPr/>
        <p:nvPr/>
      </p:nvGrpSpPr>
      <p:grpSpPr>
        <a:xfrm>
          <a:off x="0" y="0"/>
          <a:ext cx="0" cy="0"/>
          <a:chOff x="0" y="0"/>
          <a:chExt cx="0" cy="0"/>
        </a:xfrm>
      </p:grpSpPr>
      <p:sp>
        <p:nvSpPr>
          <p:cNvPr id="4104" name="Google Shape;4104;p12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4105" name="Google Shape;4105;p125"/>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How to compute </a:t>
            </a:r>
            <a:r>
              <a:rPr b="1" lang="en"/>
              <a:t>betweenness centrality:</a:t>
            </a:r>
            <a:endParaRPr b="1"/>
          </a:p>
          <a:p>
            <a:pPr indent="-317500" lvl="1" marL="914400" rtl="0" algn="l">
              <a:spcBef>
                <a:spcPts val="0"/>
              </a:spcBef>
              <a:spcAft>
                <a:spcPts val="0"/>
              </a:spcAft>
              <a:buSzPts val="1400"/>
              <a:buChar char="○"/>
            </a:pPr>
            <a:r>
              <a:rPr lang="en"/>
              <a:t>For each node </a:t>
            </a:r>
            <a:r>
              <a:rPr b="1" lang="en"/>
              <a:t>k</a:t>
            </a:r>
            <a:r>
              <a:rPr lang="en"/>
              <a:t> in the graph find the </a:t>
            </a:r>
            <a:r>
              <a:rPr b="1" lang="en"/>
              <a:t>relative betweenness centrality</a:t>
            </a:r>
            <a:r>
              <a:rPr lang="en"/>
              <a:t> of that node relative to every other node in the graph </a:t>
            </a:r>
            <a:r>
              <a:rPr b="1" lang="en"/>
              <a:t>i</a:t>
            </a:r>
            <a:r>
              <a:rPr lang="en"/>
              <a:t> and </a:t>
            </a:r>
            <a:r>
              <a:rPr b="1" lang="en"/>
              <a:t>j</a:t>
            </a:r>
            <a:endParaRPr b="1"/>
          </a:p>
          <a:p>
            <a:pPr indent="-317500" lvl="2" marL="1371600" rtl="0" algn="l">
              <a:spcBef>
                <a:spcPts val="0"/>
              </a:spcBef>
              <a:spcAft>
                <a:spcPts val="0"/>
              </a:spcAft>
              <a:buSzPts val="1400"/>
              <a:buChar char="■"/>
            </a:pPr>
            <a:r>
              <a:rPr lang="en"/>
              <a:t>As long as </a:t>
            </a:r>
            <a:r>
              <a:rPr b="1" lang="en"/>
              <a:t>i</a:t>
            </a:r>
            <a:r>
              <a:rPr lang="en"/>
              <a:t> is not the same as </a:t>
            </a:r>
            <a:r>
              <a:rPr b="1" lang="en"/>
              <a:t>k</a:t>
            </a:r>
            <a:r>
              <a:rPr lang="en"/>
              <a:t> and </a:t>
            </a:r>
            <a:r>
              <a:rPr b="1" lang="en"/>
              <a:t>j</a:t>
            </a:r>
            <a:r>
              <a:rPr lang="en"/>
              <a:t> is also not the same as </a:t>
            </a:r>
            <a:r>
              <a:rPr b="1" lang="en"/>
              <a:t>k</a:t>
            </a:r>
            <a:endParaRPr b="1"/>
          </a:p>
          <a:p>
            <a:pPr indent="-317500" lvl="1" marL="914400" rtl="0" algn="l">
              <a:spcBef>
                <a:spcPts val="0"/>
              </a:spcBef>
              <a:spcAft>
                <a:spcPts val="0"/>
              </a:spcAft>
              <a:buSzPts val="1400"/>
              <a:buChar char="○"/>
            </a:pPr>
            <a:r>
              <a:rPr lang="en"/>
              <a:t>To compute the relative </a:t>
            </a:r>
            <a:r>
              <a:rPr b="1" lang="en"/>
              <a:t>relative betweenness centrality</a:t>
            </a:r>
            <a:r>
              <a:rPr lang="en"/>
              <a:t> of each node </a:t>
            </a:r>
            <a:r>
              <a:rPr b="1" lang="en"/>
              <a:t>k</a:t>
            </a:r>
            <a:r>
              <a:rPr lang="en"/>
              <a:t>:</a:t>
            </a:r>
            <a:endParaRPr/>
          </a:p>
          <a:p>
            <a:pPr indent="-317500" lvl="2" marL="1371600" rtl="0" algn="l">
              <a:spcBef>
                <a:spcPts val="0"/>
              </a:spcBef>
              <a:spcAft>
                <a:spcPts val="0"/>
              </a:spcAft>
              <a:buSzPts val="1400"/>
              <a:buChar char="■"/>
            </a:pPr>
            <a:r>
              <a:rPr lang="en"/>
              <a:t>Find the total number of shortest paths linking every pair of nodes in the graph (i, j) that the node k stands as an </a:t>
            </a:r>
            <a:r>
              <a:rPr b="1" lang="en"/>
              <a:t>inner node </a:t>
            </a:r>
            <a:r>
              <a:rPr lang="en"/>
              <a:t>(g</a:t>
            </a:r>
            <a:r>
              <a:rPr baseline="-25000" lang="en"/>
              <a:t>i(k)j</a:t>
            </a:r>
            <a:r>
              <a:rPr lang="en"/>
              <a:t>)</a:t>
            </a:r>
            <a:endParaRPr/>
          </a:p>
          <a:p>
            <a:pPr indent="-317500" lvl="2" marL="1371600" rtl="0" algn="l">
              <a:spcBef>
                <a:spcPts val="0"/>
              </a:spcBef>
              <a:spcAft>
                <a:spcPts val="0"/>
              </a:spcAft>
              <a:buSzPts val="1400"/>
              <a:buChar char="■"/>
            </a:pPr>
            <a:r>
              <a:rPr lang="en"/>
              <a:t>Divide by the </a:t>
            </a:r>
            <a:r>
              <a:rPr b="1" lang="en"/>
              <a:t>total number of shortest paths</a:t>
            </a:r>
            <a:r>
              <a:rPr lang="en"/>
              <a:t> linking nodes i and j (g</a:t>
            </a:r>
            <a:r>
              <a:rPr baseline="-25000" lang="en"/>
              <a:t>ij</a:t>
            </a:r>
            <a:r>
              <a:rPr lang="en"/>
              <a:t>)</a:t>
            </a:r>
            <a:endParaRPr/>
          </a:p>
          <a:p>
            <a:pPr indent="-317500" lvl="2" marL="1371600" rtl="0" algn="l">
              <a:spcBef>
                <a:spcPts val="0"/>
              </a:spcBef>
              <a:spcAft>
                <a:spcPts val="0"/>
              </a:spcAft>
              <a:buSzPts val="1400"/>
              <a:buChar char="■"/>
            </a:pPr>
            <a:r>
              <a:rPr lang="en"/>
              <a:t>This the </a:t>
            </a:r>
            <a:r>
              <a:rPr b="1" lang="en"/>
              <a:t>proportion of shortest paths</a:t>
            </a:r>
            <a:r>
              <a:rPr lang="en"/>
              <a:t> between i and j that feature node k as an intermediary</a:t>
            </a:r>
            <a:endParaRPr/>
          </a:p>
          <a:p>
            <a:pPr indent="0" lvl="0" marL="0" rtl="0" algn="l">
              <a:spcBef>
                <a:spcPts val="0"/>
              </a:spcBef>
              <a:spcAft>
                <a:spcPts val="0"/>
              </a:spcAft>
              <a:buNone/>
            </a:pPr>
            <a:r>
              <a:t/>
            </a:r>
            <a:endParaRPr b="1"/>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9" name="Shape 4109"/>
        <p:cNvGrpSpPr/>
        <p:nvPr/>
      </p:nvGrpSpPr>
      <p:grpSpPr>
        <a:xfrm>
          <a:off x="0" y="0"/>
          <a:ext cx="0" cy="0"/>
          <a:chOff x="0" y="0"/>
          <a:chExt cx="0" cy="0"/>
        </a:xfrm>
      </p:grpSpPr>
      <p:sp>
        <p:nvSpPr>
          <p:cNvPr id="4110" name="Google Shape;4110;p12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4111" name="Google Shape;4111;p126"/>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How to compute </a:t>
            </a:r>
            <a:r>
              <a:rPr b="1" lang="en"/>
              <a:t>betweenness centrality:</a:t>
            </a:r>
            <a:endParaRPr b="1"/>
          </a:p>
          <a:p>
            <a:pPr indent="-317500" lvl="1" marL="914400" rtl="0" algn="l">
              <a:spcBef>
                <a:spcPts val="0"/>
              </a:spcBef>
              <a:spcAft>
                <a:spcPts val="0"/>
              </a:spcAft>
              <a:buSzPts val="1400"/>
              <a:buChar char="○"/>
            </a:pPr>
            <a:r>
              <a:rPr lang="en"/>
              <a:t>For each node </a:t>
            </a:r>
            <a:r>
              <a:rPr b="1" lang="en"/>
              <a:t>k</a:t>
            </a:r>
            <a:r>
              <a:rPr lang="en"/>
              <a:t> in the graph find the </a:t>
            </a:r>
            <a:r>
              <a:rPr b="1" lang="en"/>
              <a:t>relative betweenness centrality</a:t>
            </a:r>
            <a:r>
              <a:rPr lang="en"/>
              <a:t> of that node relative to every other node in the graph </a:t>
            </a:r>
            <a:r>
              <a:rPr b="1" lang="en"/>
              <a:t>i</a:t>
            </a:r>
            <a:r>
              <a:rPr lang="en"/>
              <a:t> and </a:t>
            </a:r>
            <a:r>
              <a:rPr b="1" lang="en"/>
              <a:t>j</a:t>
            </a:r>
            <a:endParaRPr b="1"/>
          </a:p>
          <a:p>
            <a:pPr indent="-317500" lvl="2" marL="1371600" rtl="0" algn="l">
              <a:spcBef>
                <a:spcPts val="0"/>
              </a:spcBef>
              <a:spcAft>
                <a:spcPts val="0"/>
              </a:spcAft>
              <a:buSzPts val="1400"/>
              <a:buChar char="■"/>
            </a:pPr>
            <a:r>
              <a:rPr lang="en"/>
              <a:t>As long as </a:t>
            </a:r>
            <a:r>
              <a:rPr b="1" lang="en"/>
              <a:t>i</a:t>
            </a:r>
            <a:r>
              <a:rPr lang="en"/>
              <a:t> is not the same as </a:t>
            </a:r>
            <a:r>
              <a:rPr b="1" lang="en"/>
              <a:t>k</a:t>
            </a:r>
            <a:r>
              <a:rPr lang="en"/>
              <a:t> and </a:t>
            </a:r>
            <a:r>
              <a:rPr b="1" lang="en"/>
              <a:t>j</a:t>
            </a:r>
            <a:r>
              <a:rPr lang="en"/>
              <a:t> is also not the same as </a:t>
            </a:r>
            <a:r>
              <a:rPr b="1" lang="en"/>
              <a:t>k</a:t>
            </a:r>
            <a:endParaRPr b="1"/>
          </a:p>
          <a:p>
            <a:pPr indent="-317500" lvl="1" marL="914400" rtl="0" algn="l">
              <a:spcBef>
                <a:spcPts val="0"/>
              </a:spcBef>
              <a:spcAft>
                <a:spcPts val="0"/>
              </a:spcAft>
              <a:buSzPts val="1400"/>
              <a:buChar char="○"/>
            </a:pPr>
            <a:r>
              <a:rPr lang="en"/>
              <a:t>To compute the relative </a:t>
            </a:r>
            <a:r>
              <a:rPr b="1" lang="en"/>
              <a:t>relative betweenness centrality</a:t>
            </a:r>
            <a:r>
              <a:rPr lang="en"/>
              <a:t> of each node </a:t>
            </a:r>
            <a:r>
              <a:rPr b="1" lang="en"/>
              <a:t>k</a:t>
            </a:r>
            <a:r>
              <a:rPr lang="en"/>
              <a:t>:</a:t>
            </a:r>
            <a:endParaRPr/>
          </a:p>
          <a:p>
            <a:pPr indent="-317500" lvl="2" marL="1371600" rtl="0" algn="l">
              <a:spcBef>
                <a:spcPts val="0"/>
              </a:spcBef>
              <a:spcAft>
                <a:spcPts val="0"/>
              </a:spcAft>
              <a:buSzPts val="1400"/>
              <a:buChar char="■"/>
            </a:pPr>
            <a:r>
              <a:rPr lang="en"/>
              <a:t>Find the total number of shortest paths linking every pair of nodes in the graph (i, j) that the node k stands as an </a:t>
            </a:r>
            <a:r>
              <a:rPr b="1" lang="en"/>
              <a:t>inner node </a:t>
            </a:r>
            <a:r>
              <a:rPr lang="en"/>
              <a:t>(g</a:t>
            </a:r>
            <a:r>
              <a:rPr baseline="-25000" lang="en"/>
              <a:t>i(k)j</a:t>
            </a:r>
            <a:r>
              <a:rPr lang="en"/>
              <a:t>)</a:t>
            </a:r>
            <a:endParaRPr/>
          </a:p>
          <a:p>
            <a:pPr indent="-317500" lvl="2" marL="1371600" rtl="0" algn="l">
              <a:spcBef>
                <a:spcPts val="0"/>
              </a:spcBef>
              <a:spcAft>
                <a:spcPts val="0"/>
              </a:spcAft>
              <a:buSzPts val="1400"/>
              <a:buChar char="■"/>
            </a:pPr>
            <a:r>
              <a:rPr lang="en"/>
              <a:t>Divide by the </a:t>
            </a:r>
            <a:r>
              <a:rPr b="1" lang="en"/>
              <a:t>total number of shortest paths</a:t>
            </a:r>
            <a:r>
              <a:rPr lang="en"/>
              <a:t> linking nodes i and j (g</a:t>
            </a:r>
            <a:r>
              <a:rPr baseline="-25000" lang="en"/>
              <a:t>ij</a:t>
            </a:r>
            <a:r>
              <a:rPr lang="en"/>
              <a:t>)</a:t>
            </a:r>
            <a:endParaRPr/>
          </a:p>
          <a:p>
            <a:pPr indent="-317500" lvl="2" marL="1371600" rtl="0" algn="l">
              <a:spcBef>
                <a:spcPts val="0"/>
              </a:spcBef>
              <a:spcAft>
                <a:spcPts val="0"/>
              </a:spcAft>
              <a:buSzPts val="1400"/>
              <a:buChar char="■"/>
            </a:pPr>
            <a:r>
              <a:rPr lang="en"/>
              <a:t>This the </a:t>
            </a:r>
            <a:r>
              <a:rPr b="1" lang="en"/>
              <a:t>proportion of shortest paths</a:t>
            </a:r>
            <a:r>
              <a:rPr lang="en"/>
              <a:t> between i and j that feature node k as an intermediary</a:t>
            </a:r>
            <a:endParaRPr/>
          </a:p>
          <a:p>
            <a:pPr indent="-317500" lvl="2" marL="1371600" rtl="0" algn="l">
              <a:spcBef>
                <a:spcPts val="0"/>
              </a:spcBef>
              <a:spcAft>
                <a:spcPts val="0"/>
              </a:spcAft>
              <a:buSzPts val="1400"/>
              <a:buChar char="■"/>
            </a:pPr>
            <a:r>
              <a:rPr lang="en"/>
              <a:t>Compute the same proportion for each triplet i, j, k as long a i ≠ k and j ≠ k</a:t>
            </a:r>
            <a:endParaRPr/>
          </a:p>
          <a:p>
            <a:pPr indent="-317500" lvl="2" marL="1371600" rtl="0" algn="l">
              <a:spcBef>
                <a:spcPts val="0"/>
              </a:spcBef>
              <a:spcAft>
                <a:spcPts val="0"/>
              </a:spcAft>
              <a:buSzPts val="1400"/>
              <a:buChar char="■"/>
            </a:pPr>
            <a:r>
              <a:rPr lang="en"/>
              <a:t>The node that stands in the </a:t>
            </a:r>
            <a:r>
              <a:rPr b="1" lang="en"/>
              <a:t>highest proportion of shortest paths connecting every other pair of nodes in the graph has the highest betweenness centrality</a:t>
            </a:r>
            <a:endParaRPr b="1"/>
          </a:p>
          <a:p>
            <a:pPr indent="0" lvl="0" marL="1371600" rtl="0" algn="l">
              <a:spcBef>
                <a:spcPts val="0"/>
              </a:spcBef>
              <a:spcAft>
                <a:spcPts val="0"/>
              </a:spcAft>
              <a:buNone/>
            </a:pPr>
            <a:r>
              <a:t/>
            </a:r>
            <a:endParaRPr/>
          </a:p>
          <a:p>
            <a:pPr indent="0" lvl="0" marL="914400" rtl="0" algn="l">
              <a:spcBef>
                <a:spcPts val="0"/>
              </a:spcBef>
              <a:spcAft>
                <a:spcPts val="0"/>
              </a:spcAft>
              <a:buNone/>
            </a:pPr>
            <a:r>
              <a:t/>
            </a:r>
            <a:endParaRPr b="1"/>
          </a:p>
          <a:p>
            <a:pPr indent="0" lvl="0" marL="1371600" rtl="0" algn="l">
              <a:spcBef>
                <a:spcPts val="0"/>
              </a:spcBef>
              <a:spcAft>
                <a:spcPts val="0"/>
              </a:spcAft>
              <a:buNone/>
            </a:pPr>
            <a:r>
              <a:t/>
            </a:r>
            <a:endParaRPr b="1"/>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5" name="Shape 4115"/>
        <p:cNvGrpSpPr/>
        <p:nvPr/>
      </p:nvGrpSpPr>
      <p:grpSpPr>
        <a:xfrm>
          <a:off x="0" y="0"/>
          <a:ext cx="0" cy="0"/>
          <a:chOff x="0" y="0"/>
          <a:chExt cx="0" cy="0"/>
        </a:xfrm>
      </p:grpSpPr>
      <p:sp>
        <p:nvSpPr>
          <p:cNvPr id="4116" name="Google Shape;4116;p12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4117" name="Google Shape;4117;p127"/>
          <p:cNvSpPr/>
          <p:nvPr/>
        </p:nvSpPr>
        <p:spPr>
          <a:xfrm>
            <a:off x="2672643" y="259471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4118" name="Google Shape;4118;p127"/>
          <p:cNvSpPr/>
          <p:nvPr/>
        </p:nvSpPr>
        <p:spPr>
          <a:xfrm>
            <a:off x="3991266" y="223258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4119" name="Google Shape;4119;p127"/>
          <p:cNvSpPr/>
          <p:nvPr/>
        </p:nvSpPr>
        <p:spPr>
          <a:xfrm>
            <a:off x="4669360" y="28465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4120" name="Google Shape;4120;p127"/>
          <p:cNvSpPr/>
          <p:nvPr/>
        </p:nvSpPr>
        <p:spPr>
          <a:xfrm>
            <a:off x="3468565" y="319096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4121" name="Google Shape;4121;p127"/>
          <p:cNvSpPr/>
          <p:nvPr/>
        </p:nvSpPr>
        <p:spPr>
          <a:xfrm>
            <a:off x="2636013" y="372894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4122" name="Google Shape;4122;p127"/>
          <p:cNvSpPr/>
          <p:nvPr/>
        </p:nvSpPr>
        <p:spPr>
          <a:xfrm>
            <a:off x="3827823" y="384978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4123" name="Google Shape;4123;p127"/>
          <p:cNvSpPr/>
          <p:nvPr/>
        </p:nvSpPr>
        <p:spPr>
          <a:xfrm>
            <a:off x="4232574"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4124" name="Google Shape;4124;p127"/>
          <p:cNvSpPr/>
          <p:nvPr/>
        </p:nvSpPr>
        <p:spPr>
          <a:xfrm>
            <a:off x="5106109"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4125" name="Google Shape;4125;p127"/>
          <p:cNvSpPr/>
          <p:nvPr/>
        </p:nvSpPr>
        <p:spPr>
          <a:xfrm>
            <a:off x="5308522"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4126" name="Google Shape;4126;p127"/>
          <p:cNvSpPr/>
          <p:nvPr/>
        </p:nvSpPr>
        <p:spPr>
          <a:xfrm>
            <a:off x="6099063"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4127" name="Google Shape;4127;p127"/>
          <p:cNvSpPr/>
          <p:nvPr/>
        </p:nvSpPr>
        <p:spPr>
          <a:xfrm>
            <a:off x="6503814" y="295245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4128" name="Google Shape;4128;p127"/>
          <p:cNvSpPr/>
          <p:nvPr/>
        </p:nvSpPr>
        <p:spPr>
          <a:xfrm>
            <a:off x="6972505"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4129" name="Google Shape;4129;p127"/>
          <p:cNvSpPr/>
          <p:nvPr/>
        </p:nvSpPr>
        <p:spPr>
          <a:xfrm>
            <a:off x="6503814" y="440108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4130" name="Google Shape;4130;p127"/>
          <p:cNvSpPr/>
          <p:nvPr/>
        </p:nvSpPr>
        <p:spPr>
          <a:xfrm>
            <a:off x="7531209" y="448226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4131" name="Google Shape;4131;p127"/>
          <p:cNvSpPr/>
          <p:nvPr/>
        </p:nvSpPr>
        <p:spPr>
          <a:xfrm>
            <a:off x="7949156" y="377509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4132" name="Google Shape;4132;p127"/>
          <p:cNvSpPr/>
          <p:nvPr/>
        </p:nvSpPr>
        <p:spPr>
          <a:xfrm>
            <a:off x="8631939" y="3161829"/>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4133" name="Google Shape;4133;p127"/>
          <p:cNvSpPr/>
          <p:nvPr/>
        </p:nvSpPr>
        <p:spPr>
          <a:xfrm>
            <a:off x="7733584" y="3040648"/>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4134" name="Google Shape;4134;p127"/>
          <p:cNvSpPr/>
          <p:nvPr/>
        </p:nvSpPr>
        <p:spPr>
          <a:xfrm>
            <a:off x="7802222" y="2306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4135" name="Google Shape;4135;p127"/>
          <p:cNvSpPr/>
          <p:nvPr/>
        </p:nvSpPr>
        <p:spPr>
          <a:xfrm>
            <a:off x="8631939" y="203087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4136" name="Google Shape;4136;p127"/>
          <p:cNvCxnSpPr>
            <a:stCxn id="4135" idx="2"/>
            <a:endCxn id="4134" idx="7"/>
          </p:cNvCxnSpPr>
          <p:nvPr/>
        </p:nvCxnSpPr>
        <p:spPr>
          <a:xfrm flipH="1">
            <a:off x="8148039" y="2232475"/>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4137" name="Google Shape;4137;p127"/>
          <p:cNvCxnSpPr>
            <a:stCxn id="4133" idx="0"/>
            <a:endCxn id="4134" idx="4"/>
          </p:cNvCxnSpPr>
          <p:nvPr/>
        </p:nvCxnSpPr>
        <p:spPr>
          <a:xfrm flipH="1" rot="10800000">
            <a:off x="7936084" y="2709448"/>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4138" name="Google Shape;4138;p127"/>
          <p:cNvCxnSpPr>
            <a:stCxn id="4132" idx="2"/>
            <a:endCxn id="4133" idx="6"/>
          </p:cNvCxnSpPr>
          <p:nvPr/>
        </p:nvCxnSpPr>
        <p:spPr>
          <a:xfrm rot="10800000">
            <a:off x="8138439" y="3242229"/>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4139" name="Google Shape;4139;p127"/>
          <p:cNvCxnSpPr>
            <a:stCxn id="4132" idx="2"/>
            <a:endCxn id="4128" idx="6"/>
          </p:cNvCxnSpPr>
          <p:nvPr/>
        </p:nvCxnSpPr>
        <p:spPr>
          <a:xfrm flipH="1">
            <a:off x="7377639" y="3363429"/>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4140" name="Google Shape;4140;p127"/>
          <p:cNvCxnSpPr>
            <a:stCxn id="4132" idx="2"/>
            <a:endCxn id="4131" idx="7"/>
          </p:cNvCxnSpPr>
          <p:nvPr/>
        </p:nvCxnSpPr>
        <p:spPr>
          <a:xfrm flipH="1">
            <a:off x="8294739" y="3363429"/>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4141" name="Google Shape;4141;p127"/>
          <p:cNvCxnSpPr>
            <a:stCxn id="4131" idx="2"/>
            <a:endCxn id="4128" idx="6"/>
          </p:cNvCxnSpPr>
          <p:nvPr/>
        </p:nvCxnSpPr>
        <p:spPr>
          <a:xfrm rot="10800000">
            <a:off x="7377356" y="3876797"/>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4142" name="Google Shape;4142;p127"/>
          <p:cNvCxnSpPr>
            <a:stCxn id="4131" idx="1"/>
            <a:endCxn id="4127" idx="5"/>
          </p:cNvCxnSpPr>
          <p:nvPr/>
        </p:nvCxnSpPr>
        <p:spPr>
          <a:xfrm rot="10800000">
            <a:off x="6849567" y="3296544"/>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4143" name="Google Shape;4143;p127"/>
          <p:cNvCxnSpPr>
            <a:stCxn id="4130" idx="0"/>
            <a:endCxn id="4128" idx="4"/>
          </p:cNvCxnSpPr>
          <p:nvPr/>
        </p:nvCxnSpPr>
        <p:spPr>
          <a:xfrm rot="10800000">
            <a:off x="7175109" y="4078466"/>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4144" name="Google Shape;4144;p127"/>
          <p:cNvCxnSpPr>
            <a:stCxn id="4129" idx="7"/>
            <a:endCxn id="4128" idx="4"/>
          </p:cNvCxnSpPr>
          <p:nvPr/>
        </p:nvCxnSpPr>
        <p:spPr>
          <a:xfrm flipH="1" rot="10800000">
            <a:off x="6849503" y="4078527"/>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4145" name="Google Shape;4145;p127"/>
          <p:cNvCxnSpPr>
            <a:stCxn id="4130" idx="1"/>
            <a:endCxn id="4129" idx="6"/>
          </p:cNvCxnSpPr>
          <p:nvPr/>
        </p:nvCxnSpPr>
        <p:spPr>
          <a:xfrm flipH="1">
            <a:off x="6908920" y="4541313"/>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4146" name="Google Shape;4146;p127"/>
          <p:cNvCxnSpPr>
            <a:stCxn id="4128" idx="2"/>
            <a:endCxn id="4126" idx="6"/>
          </p:cNvCxnSpPr>
          <p:nvPr/>
        </p:nvCxnSpPr>
        <p:spPr>
          <a:xfrm rot="10800000">
            <a:off x="6504205" y="3876907"/>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4147" name="Google Shape;4147;p127"/>
          <p:cNvCxnSpPr>
            <a:stCxn id="4129" idx="0"/>
            <a:endCxn id="4126" idx="5"/>
          </p:cNvCxnSpPr>
          <p:nvPr/>
        </p:nvCxnSpPr>
        <p:spPr>
          <a:xfrm rot="10800000">
            <a:off x="6444714" y="4019480"/>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4148" name="Google Shape;4148;p127"/>
          <p:cNvCxnSpPr>
            <a:stCxn id="4128" idx="0"/>
            <a:endCxn id="4127" idx="5"/>
          </p:cNvCxnSpPr>
          <p:nvPr/>
        </p:nvCxnSpPr>
        <p:spPr>
          <a:xfrm rot="10800000">
            <a:off x="6849505" y="3296707"/>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4149" name="Google Shape;4149;p127"/>
          <p:cNvCxnSpPr>
            <a:stCxn id="4126" idx="7"/>
            <a:endCxn id="4127" idx="4"/>
          </p:cNvCxnSpPr>
          <p:nvPr/>
        </p:nvCxnSpPr>
        <p:spPr>
          <a:xfrm flipH="1" rot="10800000">
            <a:off x="6444752" y="3355754"/>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4150" name="Google Shape;4150;p127"/>
          <p:cNvCxnSpPr>
            <a:stCxn id="4126" idx="2"/>
            <a:endCxn id="4124" idx="6"/>
          </p:cNvCxnSpPr>
          <p:nvPr/>
        </p:nvCxnSpPr>
        <p:spPr>
          <a:xfrm rot="10800000">
            <a:off x="5511063" y="3876907"/>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4151" name="Google Shape;4151;p127"/>
          <p:cNvCxnSpPr>
            <a:stCxn id="4125" idx="0"/>
            <a:endCxn id="4124" idx="4"/>
          </p:cNvCxnSpPr>
          <p:nvPr/>
        </p:nvCxnSpPr>
        <p:spPr>
          <a:xfrm rot="10800000">
            <a:off x="5308522" y="4078515"/>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4152" name="Google Shape;4152;p127"/>
          <p:cNvCxnSpPr>
            <a:stCxn id="4124" idx="3"/>
            <a:endCxn id="4123" idx="7"/>
          </p:cNvCxnSpPr>
          <p:nvPr/>
        </p:nvCxnSpPr>
        <p:spPr>
          <a:xfrm flipH="1">
            <a:off x="4578320" y="4019460"/>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4153" name="Google Shape;4153;p127"/>
          <p:cNvCxnSpPr>
            <a:stCxn id="4122" idx="5"/>
            <a:endCxn id="4123" idx="0"/>
          </p:cNvCxnSpPr>
          <p:nvPr/>
        </p:nvCxnSpPr>
        <p:spPr>
          <a:xfrm>
            <a:off x="4173512" y="4193938"/>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4154" name="Google Shape;4154;p127"/>
          <p:cNvCxnSpPr>
            <a:stCxn id="4119" idx="4"/>
            <a:endCxn id="4122" idx="7"/>
          </p:cNvCxnSpPr>
          <p:nvPr/>
        </p:nvCxnSpPr>
        <p:spPr>
          <a:xfrm flipH="1">
            <a:off x="4173460" y="3249700"/>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4155" name="Google Shape;4155;p127"/>
          <p:cNvCxnSpPr>
            <a:stCxn id="4124" idx="1"/>
            <a:endCxn id="4119" idx="4"/>
          </p:cNvCxnSpPr>
          <p:nvPr/>
        </p:nvCxnSpPr>
        <p:spPr>
          <a:xfrm rot="10800000">
            <a:off x="4871720" y="3249554"/>
            <a:ext cx="293700" cy="484800"/>
          </a:xfrm>
          <a:prstGeom prst="straightConnector1">
            <a:avLst/>
          </a:prstGeom>
          <a:noFill/>
          <a:ln cap="flat" cmpd="sng" w="28575">
            <a:solidFill>
              <a:schemeClr val="dk2"/>
            </a:solidFill>
            <a:prstDash val="solid"/>
            <a:round/>
            <a:headEnd len="med" w="med" type="none"/>
            <a:tailEnd len="med" w="med" type="none"/>
          </a:ln>
        </p:spPr>
      </p:cxnSp>
      <p:cxnSp>
        <p:nvCxnSpPr>
          <p:cNvPr id="4156" name="Google Shape;4156;p127"/>
          <p:cNvCxnSpPr>
            <a:stCxn id="4122" idx="2"/>
            <a:endCxn id="4121" idx="6"/>
          </p:cNvCxnSpPr>
          <p:nvPr/>
        </p:nvCxnSpPr>
        <p:spPr>
          <a:xfrm rot="10800000">
            <a:off x="3040923" y="3930485"/>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4157" name="Google Shape;4157;p127"/>
          <p:cNvCxnSpPr>
            <a:stCxn id="4122" idx="0"/>
            <a:endCxn id="4120" idx="4"/>
          </p:cNvCxnSpPr>
          <p:nvPr/>
        </p:nvCxnSpPr>
        <p:spPr>
          <a:xfrm rot="10800000">
            <a:off x="3670923" y="3594185"/>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4158" name="Google Shape;4158;p127"/>
          <p:cNvCxnSpPr>
            <a:stCxn id="4120" idx="3"/>
            <a:endCxn id="4121" idx="7"/>
          </p:cNvCxnSpPr>
          <p:nvPr/>
        </p:nvCxnSpPr>
        <p:spPr>
          <a:xfrm flipH="1">
            <a:off x="2981576" y="3535113"/>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4159" name="Google Shape;4159;p127"/>
          <p:cNvCxnSpPr>
            <a:stCxn id="4117" idx="4"/>
            <a:endCxn id="4121" idx="0"/>
          </p:cNvCxnSpPr>
          <p:nvPr/>
        </p:nvCxnSpPr>
        <p:spPr>
          <a:xfrm flipH="1">
            <a:off x="2838543" y="2997916"/>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4160" name="Google Shape;4160;p127"/>
          <p:cNvCxnSpPr>
            <a:stCxn id="4118" idx="2"/>
            <a:endCxn id="4117" idx="6"/>
          </p:cNvCxnSpPr>
          <p:nvPr/>
        </p:nvCxnSpPr>
        <p:spPr>
          <a:xfrm flipH="1">
            <a:off x="3077766" y="2434187"/>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4161" name="Google Shape;4161;p127"/>
          <p:cNvCxnSpPr>
            <a:stCxn id="4118" idx="3"/>
            <a:endCxn id="4120" idx="0"/>
          </p:cNvCxnSpPr>
          <p:nvPr/>
        </p:nvCxnSpPr>
        <p:spPr>
          <a:xfrm flipH="1">
            <a:off x="3671077" y="2576739"/>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4162" name="Google Shape;4162;p127"/>
          <p:cNvCxnSpPr>
            <a:stCxn id="4119" idx="2"/>
            <a:endCxn id="4117" idx="6"/>
          </p:cNvCxnSpPr>
          <p:nvPr/>
        </p:nvCxnSpPr>
        <p:spPr>
          <a:xfrm rot="10800000">
            <a:off x="3077560" y="2796400"/>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4163" name="Google Shape;4163;p127"/>
          <p:cNvCxnSpPr>
            <a:stCxn id="4119" idx="1"/>
            <a:endCxn id="4118" idx="5"/>
          </p:cNvCxnSpPr>
          <p:nvPr/>
        </p:nvCxnSpPr>
        <p:spPr>
          <a:xfrm rot="10800000">
            <a:off x="4336871" y="2576747"/>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4164" name="Google Shape;4164;p127"/>
          <p:cNvCxnSpPr>
            <a:stCxn id="4119" idx="2"/>
            <a:endCxn id="4120" idx="7"/>
          </p:cNvCxnSpPr>
          <p:nvPr/>
        </p:nvCxnSpPr>
        <p:spPr>
          <a:xfrm flipH="1">
            <a:off x="3814360" y="3048100"/>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4165" name="Google Shape;4165;p127"/>
          <p:cNvCxnSpPr>
            <a:stCxn id="4120" idx="1"/>
            <a:endCxn id="4117" idx="5"/>
          </p:cNvCxnSpPr>
          <p:nvPr/>
        </p:nvCxnSpPr>
        <p:spPr>
          <a:xfrm rot="10800000">
            <a:off x="3018476" y="2938907"/>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4166" name="Google Shape;4166;p127"/>
          <p:cNvCxnSpPr>
            <a:stCxn id="4128" idx="6"/>
            <a:endCxn id="4133" idx="3"/>
          </p:cNvCxnSpPr>
          <p:nvPr/>
        </p:nvCxnSpPr>
        <p:spPr>
          <a:xfrm flipH="1" rot="10800000">
            <a:off x="7377505" y="3384907"/>
            <a:ext cx="415500" cy="492000"/>
          </a:xfrm>
          <a:prstGeom prst="straightConnector1">
            <a:avLst/>
          </a:prstGeom>
          <a:noFill/>
          <a:ln cap="flat" cmpd="sng" w="28575">
            <a:solidFill>
              <a:schemeClr val="dk2"/>
            </a:solidFill>
            <a:prstDash val="solid"/>
            <a:round/>
            <a:headEnd len="med" w="med" type="none"/>
            <a:tailEnd len="med" w="med" type="none"/>
          </a:ln>
        </p:spPr>
      </p:cxnSp>
      <p:graphicFrame>
        <p:nvGraphicFramePr>
          <p:cNvPr id="4167" name="Google Shape;4167;p127"/>
          <p:cNvGraphicFramePr/>
          <p:nvPr/>
        </p:nvGraphicFramePr>
        <p:xfrm>
          <a:off x="101125" y="103175"/>
          <a:ext cx="3000000" cy="3000000"/>
        </p:xfrm>
        <a:graphic>
          <a:graphicData uri="http://schemas.openxmlformats.org/drawingml/2006/table">
            <a:tbl>
              <a:tblPr>
                <a:noFill/>
                <a:tableStyleId>{D533A967-1B24-4C1F-A5BD-666CA7F43D67}</a:tableStyleId>
              </a:tblPr>
              <a:tblGrid>
                <a:gridCol w="952500"/>
                <a:gridCol w="952500"/>
              </a:tblGrid>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h</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88.1</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i</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81.5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j</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66.5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g</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53</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m</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32</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q</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17</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f</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10.2</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c</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9</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d</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5.2</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n</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p</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b</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3.8</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l</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1.5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a</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0.6</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k</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e</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o</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r</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s</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bl>
          </a:graphicData>
        </a:graphic>
      </p:graphicFrame>
      <p:sp>
        <p:nvSpPr>
          <p:cNvPr id="4168" name="Google Shape;4168;p127"/>
          <p:cNvSpPr/>
          <p:nvPr/>
        </p:nvSpPr>
        <p:spPr>
          <a:xfrm>
            <a:off x="4879300" y="1251525"/>
            <a:ext cx="2439900" cy="14781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This is </a:t>
            </a:r>
            <a:r>
              <a:rPr b="1" lang="en">
                <a:solidFill>
                  <a:srgbClr val="FF0000"/>
                </a:solidFill>
              </a:rPr>
              <a:t>the</a:t>
            </a:r>
            <a:r>
              <a:rPr b="1" lang="en">
                <a:solidFill>
                  <a:srgbClr val="FF0000"/>
                </a:solidFill>
              </a:rPr>
              <a:t> final ranking for this graph!</a:t>
            </a:r>
            <a:endParaRPr b="1">
              <a:solidFill>
                <a:srgbClr val="FF0000"/>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2" name="Shape 4172"/>
        <p:cNvGrpSpPr/>
        <p:nvPr/>
      </p:nvGrpSpPr>
      <p:grpSpPr>
        <a:xfrm>
          <a:off x="0" y="0"/>
          <a:ext cx="0" cy="0"/>
          <a:chOff x="0" y="0"/>
          <a:chExt cx="0" cy="0"/>
        </a:xfrm>
      </p:grpSpPr>
      <p:sp>
        <p:nvSpPr>
          <p:cNvPr id="4173" name="Google Shape;4173;p12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4174" name="Google Shape;4174;p128"/>
          <p:cNvSpPr/>
          <p:nvPr/>
        </p:nvSpPr>
        <p:spPr>
          <a:xfrm>
            <a:off x="2672643" y="259471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4175" name="Google Shape;4175;p128"/>
          <p:cNvSpPr/>
          <p:nvPr/>
        </p:nvSpPr>
        <p:spPr>
          <a:xfrm>
            <a:off x="3991266" y="223258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4176" name="Google Shape;4176;p128"/>
          <p:cNvSpPr/>
          <p:nvPr/>
        </p:nvSpPr>
        <p:spPr>
          <a:xfrm>
            <a:off x="4669360" y="28465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4177" name="Google Shape;4177;p128"/>
          <p:cNvSpPr/>
          <p:nvPr/>
        </p:nvSpPr>
        <p:spPr>
          <a:xfrm>
            <a:off x="3468565" y="319096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4178" name="Google Shape;4178;p128"/>
          <p:cNvSpPr/>
          <p:nvPr/>
        </p:nvSpPr>
        <p:spPr>
          <a:xfrm>
            <a:off x="2636013" y="372894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4179" name="Google Shape;4179;p128"/>
          <p:cNvSpPr/>
          <p:nvPr/>
        </p:nvSpPr>
        <p:spPr>
          <a:xfrm>
            <a:off x="3827823" y="384978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4180" name="Google Shape;4180;p128"/>
          <p:cNvSpPr/>
          <p:nvPr/>
        </p:nvSpPr>
        <p:spPr>
          <a:xfrm>
            <a:off x="4232574"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4181" name="Google Shape;4181;p128"/>
          <p:cNvSpPr/>
          <p:nvPr/>
        </p:nvSpPr>
        <p:spPr>
          <a:xfrm>
            <a:off x="5106109" y="3675307"/>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4182" name="Google Shape;4182;p128"/>
          <p:cNvSpPr/>
          <p:nvPr/>
        </p:nvSpPr>
        <p:spPr>
          <a:xfrm>
            <a:off x="5308522"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4183" name="Google Shape;4183;p128"/>
          <p:cNvSpPr/>
          <p:nvPr/>
        </p:nvSpPr>
        <p:spPr>
          <a:xfrm>
            <a:off x="6099063" y="3675307"/>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4184" name="Google Shape;4184;p128"/>
          <p:cNvSpPr/>
          <p:nvPr/>
        </p:nvSpPr>
        <p:spPr>
          <a:xfrm>
            <a:off x="6503814" y="295245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4185" name="Google Shape;4185;p128"/>
          <p:cNvSpPr/>
          <p:nvPr/>
        </p:nvSpPr>
        <p:spPr>
          <a:xfrm>
            <a:off x="6972505"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4186" name="Google Shape;4186;p128"/>
          <p:cNvSpPr/>
          <p:nvPr/>
        </p:nvSpPr>
        <p:spPr>
          <a:xfrm>
            <a:off x="6503814" y="440108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4187" name="Google Shape;4187;p128"/>
          <p:cNvSpPr/>
          <p:nvPr/>
        </p:nvSpPr>
        <p:spPr>
          <a:xfrm>
            <a:off x="7531209" y="448226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4188" name="Google Shape;4188;p128"/>
          <p:cNvSpPr/>
          <p:nvPr/>
        </p:nvSpPr>
        <p:spPr>
          <a:xfrm>
            <a:off x="7949156" y="377509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4189" name="Google Shape;4189;p128"/>
          <p:cNvSpPr/>
          <p:nvPr/>
        </p:nvSpPr>
        <p:spPr>
          <a:xfrm>
            <a:off x="8631939" y="3161829"/>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4190" name="Google Shape;4190;p128"/>
          <p:cNvSpPr/>
          <p:nvPr/>
        </p:nvSpPr>
        <p:spPr>
          <a:xfrm>
            <a:off x="7733584" y="3040648"/>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4191" name="Google Shape;4191;p128"/>
          <p:cNvSpPr/>
          <p:nvPr/>
        </p:nvSpPr>
        <p:spPr>
          <a:xfrm>
            <a:off x="7802222" y="2306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4192" name="Google Shape;4192;p128"/>
          <p:cNvSpPr/>
          <p:nvPr/>
        </p:nvSpPr>
        <p:spPr>
          <a:xfrm>
            <a:off x="8631939" y="203087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4193" name="Google Shape;4193;p128"/>
          <p:cNvCxnSpPr>
            <a:stCxn id="4192" idx="2"/>
            <a:endCxn id="4191" idx="7"/>
          </p:cNvCxnSpPr>
          <p:nvPr/>
        </p:nvCxnSpPr>
        <p:spPr>
          <a:xfrm flipH="1">
            <a:off x="8148039" y="2232475"/>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4194" name="Google Shape;4194;p128"/>
          <p:cNvCxnSpPr>
            <a:stCxn id="4190" idx="0"/>
            <a:endCxn id="4191" idx="4"/>
          </p:cNvCxnSpPr>
          <p:nvPr/>
        </p:nvCxnSpPr>
        <p:spPr>
          <a:xfrm flipH="1" rot="10800000">
            <a:off x="7936084" y="2709448"/>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4195" name="Google Shape;4195;p128"/>
          <p:cNvCxnSpPr>
            <a:stCxn id="4189" idx="2"/>
            <a:endCxn id="4190" idx="6"/>
          </p:cNvCxnSpPr>
          <p:nvPr/>
        </p:nvCxnSpPr>
        <p:spPr>
          <a:xfrm rot="10800000">
            <a:off x="8138439" y="3242229"/>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4196" name="Google Shape;4196;p128"/>
          <p:cNvCxnSpPr>
            <a:stCxn id="4189" idx="2"/>
            <a:endCxn id="4185" idx="6"/>
          </p:cNvCxnSpPr>
          <p:nvPr/>
        </p:nvCxnSpPr>
        <p:spPr>
          <a:xfrm flipH="1">
            <a:off x="7377639" y="3363429"/>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4197" name="Google Shape;4197;p128"/>
          <p:cNvCxnSpPr>
            <a:stCxn id="4189" idx="2"/>
            <a:endCxn id="4188" idx="7"/>
          </p:cNvCxnSpPr>
          <p:nvPr/>
        </p:nvCxnSpPr>
        <p:spPr>
          <a:xfrm flipH="1">
            <a:off x="8294739" y="3363429"/>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4198" name="Google Shape;4198;p128"/>
          <p:cNvCxnSpPr>
            <a:stCxn id="4188" idx="2"/>
            <a:endCxn id="4185" idx="6"/>
          </p:cNvCxnSpPr>
          <p:nvPr/>
        </p:nvCxnSpPr>
        <p:spPr>
          <a:xfrm rot="10800000">
            <a:off x="7377356" y="3876797"/>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4199" name="Google Shape;4199;p128"/>
          <p:cNvCxnSpPr>
            <a:stCxn id="4188" idx="1"/>
            <a:endCxn id="4184" idx="5"/>
          </p:cNvCxnSpPr>
          <p:nvPr/>
        </p:nvCxnSpPr>
        <p:spPr>
          <a:xfrm rot="10800000">
            <a:off x="6849567" y="3296544"/>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4200" name="Google Shape;4200;p128"/>
          <p:cNvCxnSpPr>
            <a:stCxn id="4187" idx="0"/>
            <a:endCxn id="4185" idx="4"/>
          </p:cNvCxnSpPr>
          <p:nvPr/>
        </p:nvCxnSpPr>
        <p:spPr>
          <a:xfrm rot="10800000">
            <a:off x="7175109" y="4078466"/>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4201" name="Google Shape;4201;p128"/>
          <p:cNvCxnSpPr>
            <a:stCxn id="4186" idx="7"/>
            <a:endCxn id="4185" idx="4"/>
          </p:cNvCxnSpPr>
          <p:nvPr/>
        </p:nvCxnSpPr>
        <p:spPr>
          <a:xfrm flipH="1" rot="10800000">
            <a:off x="6849503" y="4078527"/>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4202" name="Google Shape;4202;p128"/>
          <p:cNvCxnSpPr>
            <a:stCxn id="4187" idx="1"/>
            <a:endCxn id="4186" idx="6"/>
          </p:cNvCxnSpPr>
          <p:nvPr/>
        </p:nvCxnSpPr>
        <p:spPr>
          <a:xfrm flipH="1">
            <a:off x="6908920" y="4541313"/>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4203" name="Google Shape;4203;p128"/>
          <p:cNvCxnSpPr>
            <a:stCxn id="4185" idx="2"/>
            <a:endCxn id="4183" idx="6"/>
          </p:cNvCxnSpPr>
          <p:nvPr/>
        </p:nvCxnSpPr>
        <p:spPr>
          <a:xfrm rot="10800000">
            <a:off x="6504205" y="3876907"/>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4204" name="Google Shape;4204;p128"/>
          <p:cNvCxnSpPr>
            <a:stCxn id="4186" idx="0"/>
            <a:endCxn id="4183" idx="5"/>
          </p:cNvCxnSpPr>
          <p:nvPr/>
        </p:nvCxnSpPr>
        <p:spPr>
          <a:xfrm rot="10800000">
            <a:off x="6444714" y="4019480"/>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4205" name="Google Shape;4205;p128"/>
          <p:cNvCxnSpPr>
            <a:stCxn id="4185" idx="0"/>
            <a:endCxn id="4184" idx="5"/>
          </p:cNvCxnSpPr>
          <p:nvPr/>
        </p:nvCxnSpPr>
        <p:spPr>
          <a:xfrm rot="10800000">
            <a:off x="6849505" y="3296707"/>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4206" name="Google Shape;4206;p128"/>
          <p:cNvCxnSpPr>
            <a:stCxn id="4183" idx="7"/>
            <a:endCxn id="4184" idx="4"/>
          </p:cNvCxnSpPr>
          <p:nvPr/>
        </p:nvCxnSpPr>
        <p:spPr>
          <a:xfrm flipH="1" rot="10800000">
            <a:off x="6444752" y="3355754"/>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4207" name="Google Shape;4207;p128"/>
          <p:cNvCxnSpPr>
            <a:stCxn id="4183" idx="2"/>
            <a:endCxn id="4181" idx="6"/>
          </p:cNvCxnSpPr>
          <p:nvPr/>
        </p:nvCxnSpPr>
        <p:spPr>
          <a:xfrm rot="10800000">
            <a:off x="5511063" y="3876907"/>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4208" name="Google Shape;4208;p128"/>
          <p:cNvCxnSpPr>
            <a:stCxn id="4182" idx="0"/>
            <a:endCxn id="4181" idx="4"/>
          </p:cNvCxnSpPr>
          <p:nvPr/>
        </p:nvCxnSpPr>
        <p:spPr>
          <a:xfrm rot="10800000">
            <a:off x="5308522" y="4078515"/>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4209" name="Google Shape;4209;p128"/>
          <p:cNvCxnSpPr>
            <a:stCxn id="4181" idx="3"/>
            <a:endCxn id="4180" idx="7"/>
          </p:cNvCxnSpPr>
          <p:nvPr/>
        </p:nvCxnSpPr>
        <p:spPr>
          <a:xfrm flipH="1">
            <a:off x="4578320" y="4019460"/>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4210" name="Google Shape;4210;p128"/>
          <p:cNvCxnSpPr>
            <a:stCxn id="4179" idx="5"/>
            <a:endCxn id="4180" idx="0"/>
          </p:cNvCxnSpPr>
          <p:nvPr/>
        </p:nvCxnSpPr>
        <p:spPr>
          <a:xfrm>
            <a:off x="4173512" y="4193938"/>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4211" name="Google Shape;4211;p128"/>
          <p:cNvCxnSpPr>
            <a:stCxn id="4176" idx="4"/>
            <a:endCxn id="4179" idx="7"/>
          </p:cNvCxnSpPr>
          <p:nvPr/>
        </p:nvCxnSpPr>
        <p:spPr>
          <a:xfrm flipH="1">
            <a:off x="4173460" y="3249700"/>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4212" name="Google Shape;4212;p128"/>
          <p:cNvCxnSpPr>
            <a:stCxn id="4181" idx="1"/>
            <a:endCxn id="4176" idx="4"/>
          </p:cNvCxnSpPr>
          <p:nvPr/>
        </p:nvCxnSpPr>
        <p:spPr>
          <a:xfrm rot="10800000">
            <a:off x="4871720" y="3249554"/>
            <a:ext cx="293700" cy="484800"/>
          </a:xfrm>
          <a:prstGeom prst="straightConnector1">
            <a:avLst/>
          </a:prstGeom>
          <a:noFill/>
          <a:ln cap="flat" cmpd="sng" w="28575">
            <a:solidFill>
              <a:schemeClr val="dk2"/>
            </a:solidFill>
            <a:prstDash val="solid"/>
            <a:round/>
            <a:headEnd len="med" w="med" type="none"/>
            <a:tailEnd len="med" w="med" type="none"/>
          </a:ln>
        </p:spPr>
      </p:cxnSp>
      <p:cxnSp>
        <p:nvCxnSpPr>
          <p:cNvPr id="4213" name="Google Shape;4213;p128"/>
          <p:cNvCxnSpPr>
            <a:stCxn id="4179" idx="2"/>
            <a:endCxn id="4178" idx="6"/>
          </p:cNvCxnSpPr>
          <p:nvPr/>
        </p:nvCxnSpPr>
        <p:spPr>
          <a:xfrm rot="10800000">
            <a:off x="3040923" y="3930485"/>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4214" name="Google Shape;4214;p128"/>
          <p:cNvCxnSpPr>
            <a:stCxn id="4179" idx="0"/>
            <a:endCxn id="4177" idx="4"/>
          </p:cNvCxnSpPr>
          <p:nvPr/>
        </p:nvCxnSpPr>
        <p:spPr>
          <a:xfrm rot="10800000">
            <a:off x="3670923" y="3594185"/>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4215" name="Google Shape;4215;p128"/>
          <p:cNvCxnSpPr>
            <a:stCxn id="4177" idx="3"/>
            <a:endCxn id="4178" idx="7"/>
          </p:cNvCxnSpPr>
          <p:nvPr/>
        </p:nvCxnSpPr>
        <p:spPr>
          <a:xfrm flipH="1">
            <a:off x="2981576" y="3535113"/>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4216" name="Google Shape;4216;p128"/>
          <p:cNvCxnSpPr>
            <a:stCxn id="4174" idx="4"/>
            <a:endCxn id="4178" idx="0"/>
          </p:cNvCxnSpPr>
          <p:nvPr/>
        </p:nvCxnSpPr>
        <p:spPr>
          <a:xfrm flipH="1">
            <a:off x="2838543" y="2997916"/>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4217" name="Google Shape;4217;p128"/>
          <p:cNvCxnSpPr>
            <a:stCxn id="4175" idx="2"/>
            <a:endCxn id="4174" idx="6"/>
          </p:cNvCxnSpPr>
          <p:nvPr/>
        </p:nvCxnSpPr>
        <p:spPr>
          <a:xfrm flipH="1">
            <a:off x="3077766" y="2434187"/>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4218" name="Google Shape;4218;p128"/>
          <p:cNvCxnSpPr>
            <a:stCxn id="4175" idx="3"/>
            <a:endCxn id="4177" idx="0"/>
          </p:cNvCxnSpPr>
          <p:nvPr/>
        </p:nvCxnSpPr>
        <p:spPr>
          <a:xfrm flipH="1">
            <a:off x="3671077" y="2576739"/>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4219" name="Google Shape;4219;p128"/>
          <p:cNvCxnSpPr>
            <a:stCxn id="4176" idx="2"/>
            <a:endCxn id="4174" idx="6"/>
          </p:cNvCxnSpPr>
          <p:nvPr/>
        </p:nvCxnSpPr>
        <p:spPr>
          <a:xfrm rot="10800000">
            <a:off x="3077560" y="2796400"/>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4220" name="Google Shape;4220;p128"/>
          <p:cNvCxnSpPr>
            <a:stCxn id="4176" idx="1"/>
            <a:endCxn id="4175" idx="5"/>
          </p:cNvCxnSpPr>
          <p:nvPr/>
        </p:nvCxnSpPr>
        <p:spPr>
          <a:xfrm rot="10800000">
            <a:off x="4336871" y="2576747"/>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4221" name="Google Shape;4221;p128"/>
          <p:cNvCxnSpPr>
            <a:stCxn id="4176" idx="2"/>
            <a:endCxn id="4177" idx="7"/>
          </p:cNvCxnSpPr>
          <p:nvPr/>
        </p:nvCxnSpPr>
        <p:spPr>
          <a:xfrm flipH="1">
            <a:off x="3814360" y="3048100"/>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4222" name="Google Shape;4222;p128"/>
          <p:cNvCxnSpPr>
            <a:stCxn id="4177" idx="1"/>
            <a:endCxn id="4174" idx="5"/>
          </p:cNvCxnSpPr>
          <p:nvPr/>
        </p:nvCxnSpPr>
        <p:spPr>
          <a:xfrm rot="10800000">
            <a:off x="3018476" y="2938907"/>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4223" name="Google Shape;4223;p128"/>
          <p:cNvCxnSpPr>
            <a:stCxn id="4185" idx="6"/>
            <a:endCxn id="4190" idx="3"/>
          </p:cNvCxnSpPr>
          <p:nvPr/>
        </p:nvCxnSpPr>
        <p:spPr>
          <a:xfrm flipH="1" rot="10800000">
            <a:off x="7377505" y="3384907"/>
            <a:ext cx="415500" cy="492000"/>
          </a:xfrm>
          <a:prstGeom prst="straightConnector1">
            <a:avLst/>
          </a:prstGeom>
          <a:noFill/>
          <a:ln cap="flat" cmpd="sng" w="28575">
            <a:solidFill>
              <a:schemeClr val="dk2"/>
            </a:solidFill>
            <a:prstDash val="solid"/>
            <a:round/>
            <a:headEnd len="med" w="med" type="none"/>
            <a:tailEnd len="med" w="med" type="none"/>
          </a:ln>
        </p:spPr>
      </p:cxnSp>
      <p:graphicFrame>
        <p:nvGraphicFramePr>
          <p:cNvPr id="4224" name="Google Shape;4224;p128"/>
          <p:cNvGraphicFramePr/>
          <p:nvPr/>
        </p:nvGraphicFramePr>
        <p:xfrm>
          <a:off x="101125" y="103175"/>
          <a:ext cx="3000000" cy="3000000"/>
        </p:xfrm>
        <a:graphic>
          <a:graphicData uri="http://schemas.openxmlformats.org/drawingml/2006/table">
            <a:tbl>
              <a:tblPr>
                <a:noFill/>
                <a:tableStyleId>{D533A967-1B24-4C1F-A5BD-666CA7F43D67}</a:tableStyleId>
              </a:tblPr>
              <a:tblGrid>
                <a:gridCol w="952500"/>
                <a:gridCol w="952500"/>
              </a:tblGrid>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h</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88.1</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i</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81.5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j</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66.5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g</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53</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m</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32</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q</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17</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f</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10.2</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c</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9</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d</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5.2</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n</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p</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b</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3.8</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l</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1.5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a</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0.6</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k</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e</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o</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r</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s</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bl>
          </a:graphicData>
        </a:graphic>
      </p:graphicFrame>
      <p:sp>
        <p:nvSpPr>
          <p:cNvPr id="4225" name="Google Shape;4225;p128"/>
          <p:cNvSpPr/>
          <p:nvPr/>
        </p:nvSpPr>
        <p:spPr>
          <a:xfrm>
            <a:off x="4879300" y="1251525"/>
            <a:ext cx="2439900" cy="14781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h and i are the top betweenness nodes!</a:t>
            </a:r>
            <a:endParaRPr b="1">
              <a:solidFill>
                <a:srgbClr val="FF0000"/>
              </a:solidFill>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9" name="Shape 4229"/>
        <p:cNvGrpSpPr/>
        <p:nvPr/>
      </p:nvGrpSpPr>
      <p:grpSpPr>
        <a:xfrm>
          <a:off x="0" y="0"/>
          <a:ext cx="0" cy="0"/>
          <a:chOff x="0" y="0"/>
          <a:chExt cx="0" cy="0"/>
        </a:xfrm>
      </p:grpSpPr>
      <p:sp>
        <p:nvSpPr>
          <p:cNvPr id="4230" name="Google Shape;4230;p12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4231" name="Google Shape;4231;p129"/>
          <p:cNvSpPr/>
          <p:nvPr/>
        </p:nvSpPr>
        <p:spPr>
          <a:xfrm>
            <a:off x="2672643" y="259471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4232" name="Google Shape;4232;p129"/>
          <p:cNvSpPr/>
          <p:nvPr/>
        </p:nvSpPr>
        <p:spPr>
          <a:xfrm>
            <a:off x="3991266" y="2232587"/>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4233" name="Google Shape;4233;p129"/>
          <p:cNvSpPr/>
          <p:nvPr/>
        </p:nvSpPr>
        <p:spPr>
          <a:xfrm>
            <a:off x="4669360" y="28465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4234" name="Google Shape;4234;p129"/>
          <p:cNvSpPr/>
          <p:nvPr/>
        </p:nvSpPr>
        <p:spPr>
          <a:xfrm>
            <a:off x="3468565" y="319096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4235" name="Google Shape;4235;p129"/>
          <p:cNvSpPr/>
          <p:nvPr/>
        </p:nvSpPr>
        <p:spPr>
          <a:xfrm>
            <a:off x="2636013" y="372894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4236" name="Google Shape;4236;p129"/>
          <p:cNvSpPr/>
          <p:nvPr/>
        </p:nvSpPr>
        <p:spPr>
          <a:xfrm>
            <a:off x="3827823" y="384978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4237" name="Google Shape;4237;p129"/>
          <p:cNvSpPr/>
          <p:nvPr/>
        </p:nvSpPr>
        <p:spPr>
          <a:xfrm>
            <a:off x="4232574"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4238" name="Google Shape;4238;p129"/>
          <p:cNvSpPr/>
          <p:nvPr/>
        </p:nvSpPr>
        <p:spPr>
          <a:xfrm>
            <a:off x="5106109" y="3675307"/>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4239" name="Google Shape;4239;p129"/>
          <p:cNvSpPr/>
          <p:nvPr/>
        </p:nvSpPr>
        <p:spPr>
          <a:xfrm>
            <a:off x="5308522" y="4572015"/>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4240" name="Google Shape;4240;p129"/>
          <p:cNvSpPr/>
          <p:nvPr/>
        </p:nvSpPr>
        <p:spPr>
          <a:xfrm>
            <a:off x="6099063" y="3675307"/>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4241" name="Google Shape;4241;p129"/>
          <p:cNvSpPr/>
          <p:nvPr/>
        </p:nvSpPr>
        <p:spPr>
          <a:xfrm>
            <a:off x="6503814" y="295245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4242" name="Google Shape;4242;p129"/>
          <p:cNvSpPr/>
          <p:nvPr/>
        </p:nvSpPr>
        <p:spPr>
          <a:xfrm>
            <a:off x="6972505"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4243" name="Google Shape;4243;p129"/>
          <p:cNvSpPr/>
          <p:nvPr/>
        </p:nvSpPr>
        <p:spPr>
          <a:xfrm>
            <a:off x="6503814" y="440108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4244" name="Google Shape;4244;p129"/>
          <p:cNvSpPr/>
          <p:nvPr/>
        </p:nvSpPr>
        <p:spPr>
          <a:xfrm>
            <a:off x="7531209" y="4482266"/>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4245" name="Google Shape;4245;p129"/>
          <p:cNvSpPr/>
          <p:nvPr/>
        </p:nvSpPr>
        <p:spPr>
          <a:xfrm>
            <a:off x="7949156" y="377509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4246" name="Google Shape;4246;p129"/>
          <p:cNvSpPr/>
          <p:nvPr/>
        </p:nvSpPr>
        <p:spPr>
          <a:xfrm>
            <a:off x="8631939" y="3161829"/>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4247" name="Google Shape;4247;p129"/>
          <p:cNvSpPr/>
          <p:nvPr/>
        </p:nvSpPr>
        <p:spPr>
          <a:xfrm>
            <a:off x="7733584" y="3040648"/>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4248" name="Google Shape;4248;p129"/>
          <p:cNvSpPr/>
          <p:nvPr/>
        </p:nvSpPr>
        <p:spPr>
          <a:xfrm>
            <a:off x="7802222" y="2306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4249" name="Google Shape;4249;p129"/>
          <p:cNvSpPr/>
          <p:nvPr/>
        </p:nvSpPr>
        <p:spPr>
          <a:xfrm>
            <a:off x="8631939" y="2030875"/>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4250" name="Google Shape;4250;p129"/>
          <p:cNvCxnSpPr>
            <a:stCxn id="4249" idx="2"/>
            <a:endCxn id="4248" idx="7"/>
          </p:cNvCxnSpPr>
          <p:nvPr/>
        </p:nvCxnSpPr>
        <p:spPr>
          <a:xfrm flipH="1">
            <a:off x="8148039" y="2232475"/>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4251" name="Google Shape;4251;p129"/>
          <p:cNvCxnSpPr>
            <a:stCxn id="4247" idx="0"/>
            <a:endCxn id="4248" idx="4"/>
          </p:cNvCxnSpPr>
          <p:nvPr/>
        </p:nvCxnSpPr>
        <p:spPr>
          <a:xfrm flipH="1" rot="10800000">
            <a:off x="7936084" y="2709448"/>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4252" name="Google Shape;4252;p129"/>
          <p:cNvCxnSpPr>
            <a:stCxn id="4246" idx="2"/>
            <a:endCxn id="4247" idx="6"/>
          </p:cNvCxnSpPr>
          <p:nvPr/>
        </p:nvCxnSpPr>
        <p:spPr>
          <a:xfrm rot="10800000">
            <a:off x="8138439" y="3242229"/>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4253" name="Google Shape;4253;p129"/>
          <p:cNvCxnSpPr>
            <a:stCxn id="4246" idx="2"/>
            <a:endCxn id="4242" idx="6"/>
          </p:cNvCxnSpPr>
          <p:nvPr/>
        </p:nvCxnSpPr>
        <p:spPr>
          <a:xfrm flipH="1">
            <a:off x="7377639" y="3363429"/>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4254" name="Google Shape;4254;p129"/>
          <p:cNvCxnSpPr>
            <a:stCxn id="4246" idx="2"/>
            <a:endCxn id="4245" idx="7"/>
          </p:cNvCxnSpPr>
          <p:nvPr/>
        </p:nvCxnSpPr>
        <p:spPr>
          <a:xfrm flipH="1">
            <a:off x="8294739" y="3363429"/>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4255" name="Google Shape;4255;p129"/>
          <p:cNvCxnSpPr>
            <a:stCxn id="4245" idx="2"/>
            <a:endCxn id="4242" idx="6"/>
          </p:cNvCxnSpPr>
          <p:nvPr/>
        </p:nvCxnSpPr>
        <p:spPr>
          <a:xfrm rot="10800000">
            <a:off x="7377356" y="3876797"/>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4256" name="Google Shape;4256;p129"/>
          <p:cNvCxnSpPr>
            <a:stCxn id="4245" idx="1"/>
            <a:endCxn id="4241" idx="5"/>
          </p:cNvCxnSpPr>
          <p:nvPr/>
        </p:nvCxnSpPr>
        <p:spPr>
          <a:xfrm rot="10800000">
            <a:off x="6849567" y="3296544"/>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4257" name="Google Shape;4257;p129"/>
          <p:cNvCxnSpPr>
            <a:stCxn id="4244" idx="0"/>
            <a:endCxn id="4242" idx="4"/>
          </p:cNvCxnSpPr>
          <p:nvPr/>
        </p:nvCxnSpPr>
        <p:spPr>
          <a:xfrm rot="10800000">
            <a:off x="7175109" y="4078466"/>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4258" name="Google Shape;4258;p129"/>
          <p:cNvCxnSpPr>
            <a:stCxn id="4243" idx="7"/>
            <a:endCxn id="4242" idx="4"/>
          </p:cNvCxnSpPr>
          <p:nvPr/>
        </p:nvCxnSpPr>
        <p:spPr>
          <a:xfrm flipH="1" rot="10800000">
            <a:off x="6849503" y="4078527"/>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4259" name="Google Shape;4259;p129"/>
          <p:cNvCxnSpPr>
            <a:stCxn id="4244" idx="1"/>
            <a:endCxn id="4243" idx="6"/>
          </p:cNvCxnSpPr>
          <p:nvPr/>
        </p:nvCxnSpPr>
        <p:spPr>
          <a:xfrm flipH="1">
            <a:off x="6908920" y="4541313"/>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4260" name="Google Shape;4260;p129"/>
          <p:cNvCxnSpPr>
            <a:stCxn id="4242" idx="2"/>
            <a:endCxn id="4240" idx="6"/>
          </p:cNvCxnSpPr>
          <p:nvPr/>
        </p:nvCxnSpPr>
        <p:spPr>
          <a:xfrm rot="10800000">
            <a:off x="6504205" y="3876907"/>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4261" name="Google Shape;4261;p129"/>
          <p:cNvCxnSpPr>
            <a:stCxn id="4243" idx="0"/>
            <a:endCxn id="4240" idx="5"/>
          </p:cNvCxnSpPr>
          <p:nvPr/>
        </p:nvCxnSpPr>
        <p:spPr>
          <a:xfrm rot="10800000">
            <a:off x="6444714" y="4019480"/>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4262" name="Google Shape;4262;p129"/>
          <p:cNvCxnSpPr>
            <a:stCxn id="4242" idx="0"/>
            <a:endCxn id="4241" idx="5"/>
          </p:cNvCxnSpPr>
          <p:nvPr/>
        </p:nvCxnSpPr>
        <p:spPr>
          <a:xfrm rot="10800000">
            <a:off x="6849505" y="3296707"/>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4263" name="Google Shape;4263;p129"/>
          <p:cNvCxnSpPr>
            <a:stCxn id="4240" idx="7"/>
            <a:endCxn id="4241" idx="4"/>
          </p:cNvCxnSpPr>
          <p:nvPr/>
        </p:nvCxnSpPr>
        <p:spPr>
          <a:xfrm flipH="1" rot="10800000">
            <a:off x="6444752" y="3355754"/>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4264" name="Google Shape;4264;p129"/>
          <p:cNvCxnSpPr>
            <a:stCxn id="4240" idx="2"/>
            <a:endCxn id="4238" idx="6"/>
          </p:cNvCxnSpPr>
          <p:nvPr/>
        </p:nvCxnSpPr>
        <p:spPr>
          <a:xfrm rot="10800000">
            <a:off x="5511063" y="3876907"/>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4265" name="Google Shape;4265;p129"/>
          <p:cNvCxnSpPr>
            <a:stCxn id="4239" idx="0"/>
            <a:endCxn id="4238" idx="4"/>
          </p:cNvCxnSpPr>
          <p:nvPr/>
        </p:nvCxnSpPr>
        <p:spPr>
          <a:xfrm rot="10800000">
            <a:off x="5308522" y="4078515"/>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4266" name="Google Shape;4266;p129"/>
          <p:cNvCxnSpPr>
            <a:stCxn id="4238" idx="3"/>
            <a:endCxn id="4237" idx="7"/>
          </p:cNvCxnSpPr>
          <p:nvPr/>
        </p:nvCxnSpPr>
        <p:spPr>
          <a:xfrm flipH="1">
            <a:off x="4578320" y="4019460"/>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4267" name="Google Shape;4267;p129"/>
          <p:cNvCxnSpPr>
            <a:stCxn id="4236" idx="5"/>
            <a:endCxn id="4237" idx="0"/>
          </p:cNvCxnSpPr>
          <p:nvPr/>
        </p:nvCxnSpPr>
        <p:spPr>
          <a:xfrm>
            <a:off x="4173512" y="4193938"/>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4268" name="Google Shape;4268;p129"/>
          <p:cNvCxnSpPr>
            <a:stCxn id="4233" idx="4"/>
            <a:endCxn id="4236" idx="7"/>
          </p:cNvCxnSpPr>
          <p:nvPr/>
        </p:nvCxnSpPr>
        <p:spPr>
          <a:xfrm flipH="1">
            <a:off x="4173460" y="3249700"/>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4269" name="Google Shape;4269;p129"/>
          <p:cNvCxnSpPr>
            <a:stCxn id="4238" idx="1"/>
            <a:endCxn id="4233" idx="4"/>
          </p:cNvCxnSpPr>
          <p:nvPr/>
        </p:nvCxnSpPr>
        <p:spPr>
          <a:xfrm rot="10800000">
            <a:off x="4871720" y="3249554"/>
            <a:ext cx="293700" cy="484800"/>
          </a:xfrm>
          <a:prstGeom prst="straightConnector1">
            <a:avLst/>
          </a:prstGeom>
          <a:noFill/>
          <a:ln cap="flat" cmpd="sng" w="28575">
            <a:solidFill>
              <a:schemeClr val="dk2"/>
            </a:solidFill>
            <a:prstDash val="solid"/>
            <a:round/>
            <a:headEnd len="med" w="med" type="none"/>
            <a:tailEnd len="med" w="med" type="none"/>
          </a:ln>
        </p:spPr>
      </p:cxnSp>
      <p:cxnSp>
        <p:nvCxnSpPr>
          <p:cNvPr id="4270" name="Google Shape;4270;p129"/>
          <p:cNvCxnSpPr>
            <a:stCxn id="4236" idx="2"/>
            <a:endCxn id="4235" idx="6"/>
          </p:cNvCxnSpPr>
          <p:nvPr/>
        </p:nvCxnSpPr>
        <p:spPr>
          <a:xfrm rot="10800000">
            <a:off x="3040923" y="3930485"/>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4271" name="Google Shape;4271;p129"/>
          <p:cNvCxnSpPr>
            <a:stCxn id="4236" idx="0"/>
            <a:endCxn id="4234" idx="4"/>
          </p:cNvCxnSpPr>
          <p:nvPr/>
        </p:nvCxnSpPr>
        <p:spPr>
          <a:xfrm rot="10800000">
            <a:off x="3670923" y="3594185"/>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4272" name="Google Shape;4272;p129"/>
          <p:cNvCxnSpPr>
            <a:stCxn id="4234" idx="3"/>
            <a:endCxn id="4235" idx="7"/>
          </p:cNvCxnSpPr>
          <p:nvPr/>
        </p:nvCxnSpPr>
        <p:spPr>
          <a:xfrm flipH="1">
            <a:off x="2981576" y="3535113"/>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4273" name="Google Shape;4273;p129"/>
          <p:cNvCxnSpPr>
            <a:stCxn id="4231" idx="4"/>
            <a:endCxn id="4235" idx="0"/>
          </p:cNvCxnSpPr>
          <p:nvPr/>
        </p:nvCxnSpPr>
        <p:spPr>
          <a:xfrm flipH="1">
            <a:off x="2838543" y="2997916"/>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4274" name="Google Shape;4274;p129"/>
          <p:cNvCxnSpPr>
            <a:stCxn id="4232" idx="2"/>
            <a:endCxn id="4231" idx="6"/>
          </p:cNvCxnSpPr>
          <p:nvPr/>
        </p:nvCxnSpPr>
        <p:spPr>
          <a:xfrm flipH="1">
            <a:off x="3077766" y="2434187"/>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4275" name="Google Shape;4275;p129"/>
          <p:cNvCxnSpPr>
            <a:stCxn id="4232" idx="3"/>
            <a:endCxn id="4234" idx="0"/>
          </p:cNvCxnSpPr>
          <p:nvPr/>
        </p:nvCxnSpPr>
        <p:spPr>
          <a:xfrm flipH="1">
            <a:off x="3671077" y="2576739"/>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4276" name="Google Shape;4276;p129"/>
          <p:cNvCxnSpPr>
            <a:stCxn id="4233" idx="2"/>
            <a:endCxn id="4231" idx="6"/>
          </p:cNvCxnSpPr>
          <p:nvPr/>
        </p:nvCxnSpPr>
        <p:spPr>
          <a:xfrm rot="10800000">
            <a:off x="3077560" y="2796400"/>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4277" name="Google Shape;4277;p129"/>
          <p:cNvCxnSpPr>
            <a:stCxn id="4233" idx="1"/>
            <a:endCxn id="4232" idx="5"/>
          </p:cNvCxnSpPr>
          <p:nvPr/>
        </p:nvCxnSpPr>
        <p:spPr>
          <a:xfrm rot="10800000">
            <a:off x="4336871" y="2576747"/>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4278" name="Google Shape;4278;p129"/>
          <p:cNvCxnSpPr>
            <a:stCxn id="4233" idx="2"/>
            <a:endCxn id="4234" idx="7"/>
          </p:cNvCxnSpPr>
          <p:nvPr/>
        </p:nvCxnSpPr>
        <p:spPr>
          <a:xfrm flipH="1">
            <a:off x="3814360" y="3048100"/>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4279" name="Google Shape;4279;p129"/>
          <p:cNvCxnSpPr>
            <a:stCxn id="4234" idx="1"/>
            <a:endCxn id="4231" idx="5"/>
          </p:cNvCxnSpPr>
          <p:nvPr/>
        </p:nvCxnSpPr>
        <p:spPr>
          <a:xfrm rot="10800000">
            <a:off x="3018476" y="2938907"/>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4280" name="Google Shape;4280;p129"/>
          <p:cNvCxnSpPr>
            <a:stCxn id="4242" idx="6"/>
            <a:endCxn id="4247" idx="3"/>
          </p:cNvCxnSpPr>
          <p:nvPr/>
        </p:nvCxnSpPr>
        <p:spPr>
          <a:xfrm flipH="1" rot="10800000">
            <a:off x="7377505" y="3384907"/>
            <a:ext cx="415500" cy="492000"/>
          </a:xfrm>
          <a:prstGeom prst="straightConnector1">
            <a:avLst/>
          </a:prstGeom>
          <a:noFill/>
          <a:ln cap="flat" cmpd="sng" w="28575">
            <a:solidFill>
              <a:schemeClr val="dk2"/>
            </a:solidFill>
            <a:prstDash val="solid"/>
            <a:round/>
            <a:headEnd len="med" w="med" type="none"/>
            <a:tailEnd len="med" w="med" type="none"/>
          </a:ln>
        </p:spPr>
      </p:cxnSp>
      <p:graphicFrame>
        <p:nvGraphicFramePr>
          <p:cNvPr id="4281" name="Google Shape;4281;p129"/>
          <p:cNvGraphicFramePr/>
          <p:nvPr/>
        </p:nvGraphicFramePr>
        <p:xfrm>
          <a:off x="101125" y="103175"/>
          <a:ext cx="3000000" cy="3000000"/>
        </p:xfrm>
        <a:graphic>
          <a:graphicData uri="http://schemas.openxmlformats.org/drawingml/2006/table">
            <a:tbl>
              <a:tblPr>
                <a:noFill/>
                <a:tableStyleId>{D533A967-1B24-4C1F-A5BD-666CA7F43D67}</a:tableStyleId>
              </a:tblPr>
              <a:tblGrid>
                <a:gridCol w="952500"/>
                <a:gridCol w="952500"/>
              </a:tblGrid>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h</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88.1</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i</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81.5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j</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66.5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g</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53</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m</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32</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q</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17</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f</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10.2</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c</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9</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d</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5.2</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n</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p</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b</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3.8</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l</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1.5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a</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0.6</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k</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e</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o</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r</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s</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bl>
          </a:graphicData>
        </a:graphic>
      </p:graphicFrame>
      <p:sp>
        <p:nvSpPr>
          <p:cNvPr id="4282" name="Google Shape;4282;p129"/>
          <p:cNvSpPr/>
          <p:nvPr/>
        </p:nvSpPr>
        <p:spPr>
          <a:xfrm>
            <a:off x="4879300" y="1251525"/>
            <a:ext cx="2439900" cy="14781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These nodes have betweenness centrality zero!</a:t>
            </a:r>
            <a:endParaRPr b="1">
              <a:solidFill>
                <a:srgbClr val="FF0000"/>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6" name="Shape 4286"/>
        <p:cNvGrpSpPr/>
        <p:nvPr/>
      </p:nvGrpSpPr>
      <p:grpSpPr>
        <a:xfrm>
          <a:off x="0" y="0"/>
          <a:ext cx="0" cy="0"/>
          <a:chOff x="0" y="0"/>
          <a:chExt cx="0" cy="0"/>
        </a:xfrm>
      </p:grpSpPr>
      <p:sp>
        <p:nvSpPr>
          <p:cNvPr id="4287" name="Google Shape;4287;p13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4288" name="Google Shape;4288;p130"/>
          <p:cNvSpPr/>
          <p:nvPr/>
        </p:nvSpPr>
        <p:spPr>
          <a:xfrm>
            <a:off x="2672643" y="259471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4289" name="Google Shape;4289;p130"/>
          <p:cNvSpPr/>
          <p:nvPr/>
        </p:nvSpPr>
        <p:spPr>
          <a:xfrm>
            <a:off x="3991266" y="2232587"/>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4290" name="Google Shape;4290;p130"/>
          <p:cNvSpPr/>
          <p:nvPr/>
        </p:nvSpPr>
        <p:spPr>
          <a:xfrm>
            <a:off x="4669360" y="28465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4291" name="Google Shape;4291;p130"/>
          <p:cNvSpPr/>
          <p:nvPr/>
        </p:nvSpPr>
        <p:spPr>
          <a:xfrm>
            <a:off x="3468565" y="319096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4292" name="Google Shape;4292;p130"/>
          <p:cNvSpPr/>
          <p:nvPr/>
        </p:nvSpPr>
        <p:spPr>
          <a:xfrm>
            <a:off x="2636013" y="372894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4293" name="Google Shape;4293;p130"/>
          <p:cNvSpPr/>
          <p:nvPr/>
        </p:nvSpPr>
        <p:spPr>
          <a:xfrm>
            <a:off x="3827823" y="384978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4294" name="Google Shape;4294;p130"/>
          <p:cNvSpPr/>
          <p:nvPr/>
        </p:nvSpPr>
        <p:spPr>
          <a:xfrm>
            <a:off x="4232574"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4295" name="Google Shape;4295;p130"/>
          <p:cNvSpPr/>
          <p:nvPr/>
        </p:nvSpPr>
        <p:spPr>
          <a:xfrm>
            <a:off x="5106109" y="3675307"/>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4296" name="Google Shape;4296;p130"/>
          <p:cNvSpPr/>
          <p:nvPr/>
        </p:nvSpPr>
        <p:spPr>
          <a:xfrm>
            <a:off x="5308522" y="4572015"/>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4297" name="Google Shape;4297;p130"/>
          <p:cNvSpPr/>
          <p:nvPr/>
        </p:nvSpPr>
        <p:spPr>
          <a:xfrm>
            <a:off x="6099063" y="3675307"/>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4298" name="Google Shape;4298;p130"/>
          <p:cNvSpPr/>
          <p:nvPr/>
        </p:nvSpPr>
        <p:spPr>
          <a:xfrm>
            <a:off x="6503814" y="295245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4299" name="Google Shape;4299;p130"/>
          <p:cNvSpPr/>
          <p:nvPr/>
        </p:nvSpPr>
        <p:spPr>
          <a:xfrm>
            <a:off x="6972505"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4300" name="Google Shape;4300;p130"/>
          <p:cNvSpPr/>
          <p:nvPr/>
        </p:nvSpPr>
        <p:spPr>
          <a:xfrm>
            <a:off x="6503814" y="440108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4301" name="Google Shape;4301;p130"/>
          <p:cNvSpPr/>
          <p:nvPr/>
        </p:nvSpPr>
        <p:spPr>
          <a:xfrm>
            <a:off x="7531209" y="4482266"/>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4302" name="Google Shape;4302;p130"/>
          <p:cNvSpPr/>
          <p:nvPr/>
        </p:nvSpPr>
        <p:spPr>
          <a:xfrm>
            <a:off x="7949156" y="377509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4303" name="Google Shape;4303;p130"/>
          <p:cNvSpPr/>
          <p:nvPr/>
        </p:nvSpPr>
        <p:spPr>
          <a:xfrm>
            <a:off x="8631939" y="3161829"/>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4304" name="Google Shape;4304;p130"/>
          <p:cNvSpPr/>
          <p:nvPr/>
        </p:nvSpPr>
        <p:spPr>
          <a:xfrm>
            <a:off x="7733584" y="3040648"/>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4305" name="Google Shape;4305;p130"/>
          <p:cNvSpPr/>
          <p:nvPr/>
        </p:nvSpPr>
        <p:spPr>
          <a:xfrm>
            <a:off x="7802222" y="2306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4306" name="Google Shape;4306;p130"/>
          <p:cNvSpPr/>
          <p:nvPr/>
        </p:nvSpPr>
        <p:spPr>
          <a:xfrm>
            <a:off x="8631939" y="2030875"/>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4307" name="Google Shape;4307;p130"/>
          <p:cNvCxnSpPr>
            <a:stCxn id="4306" idx="2"/>
            <a:endCxn id="4305" idx="7"/>
          </p:cNvCxnSpPr>
          <p:nvPr/>
        </p:nvCxnSpPr>
        <p:spPr>
          <a:xfrm flipH="1">
            <a:off x="8148039" y="2232475"/>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4308" name="Google Shape;4308;p130"/>
          <p:cNvCxnSpPr>
            <a:stCxn id="4304" idx="0"/>
            <a:endCxn id="4305" idx="4"/>
          </p:cNvCxnSpPr>
          <p:nvPr/>
        </p:nvCxnSpPr>
        <p:spPr>
          <a:xfrm flipH="1" rot="10800000">
            <a:off x="7936084" y="2709448"/>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4309" name="Google Shape;4309;p130"/>
          <p:cNvCxnSpPr>
            <a:stCxn id="4303" idx="2"/>
            <a:endCxn id="4304" idx="6"/>
          </p:cNvCxnSpPr>
          <p:nvPr/>
        </p:nvCxnSpPr>
        <p:spPr>
          <a:xfrm rot="10800000">
            <a:off x="8138439" y="3242229"/>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4310" name="Google Shape;4310;p130"/>
          <p:cNvCxnSpPr>
            <a:stCxn id="4303" idx="2"/>
            <a:endCxn id="4299" idx="6"/>
          </p:cNvCxnSpPr>
          <p:nvPr/>
        </p:nvCxnSpPr>
        <p:spPr>
          <a:xfrm flipH="1">
            <a:off x="7377639" y="3363429"/>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4311" name="Google Shape;4311;p130"/>
          <p:cNvCxnSpPr>
            <a:stCxn id="4303" idx="2"/>
            <a:endCxn id="4302" idx="7"/>
          </p:cNvCxnSpPr>
          <p:nvPr/>
        </p:nvCxnSpPr>
        <p:spPr>
          <a:xfrm flipH="1">
            <a:off x="8294739" y="3363429"/>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4312" name="Google Shape;4312;p130"/>
          <p:cNvCxnSpPr>
            <a:stCxn id="4302" idx="2"/>
            <a:endCxn id="4299" idx="6"/>
          </p:cNvCxnSpPr>
          <p:nvPr/>
        </p:nvCxnSpPr>
        <p:spPr>
          <a:xfrm rot="10800000">
            <a:off x="7377356" y="3876797"/>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4313" name="Google Shape;4313;p130"/>
          <p:cNvCxnSpPr>
            <a:stCxn id="4302" idx="1"/>
            <a:endCxn id="4298" idx="5"/>
          </p:cNvCxnSpPr>
          <p:nvPr/>
        </p:nvCxnSpPr>
        <p:spPr>
          <a:xfrm rot="10800000">
            <a:off x="6849567" y="3296544"/>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4314" name="Google Shape;4314;p130"/>
          <p:cNvCxnSpPr>
            <a:stCxn id="4301" idx="0"/>
            <a:endCxn id="4299" idx="4"/>
          </p:cNvCxnSpPr>
          <p:nvPr/>
        </p:nvCxnSpPr>
        <p:spPr>
          <a:xfrm rot="10800000">
            <a:off x="7175109" y="4078466"/>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4315" name="Google Shape;4315;p130"/>
          <p:cNvCxnSpPr>
            <a:stCxn id="4300" idx="7"/>
            <a:endCxn id="4299" idx="4"/>
          </p:cNvCxnSpPr>
          <p:nvPr/>
        </p:nvCxnSpPr>
        <p:spPr>
          <a:xfrm flipH="1" rot="10800000">
            <a:off x="6849503" y="4078527"/>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4316" name="Google Shape;4316;p130"/>
          <p:cNvCxnSpPr>
            <a:stCxn id="4301" idx="1"/>
            <a:endCxn id="4300" idx="6"/>
          </p:cNvCxnSpPr>
          <p:nvPr/>
        </p:nvCxnSpPr>
        <p:spPr>
          <a:xfrm flipH="1">
            <a:off x="6908920" y="4541313"/>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4317" name="Google Shape;4317;p130"/>
          <p:cNvCxnSpPr>
            <a:stCxn id="4299" idx="2"/>
            <a:endCxn id="4297" idx="6"/>
          </p:cNvCxnSpPr>
          <p:nvPr/>
        </p:nvCxnSpPr>
        <p:spPr>
          <a:xfrm rot="10800000">
            <a:off x="6504205" y="3876907"/>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4318" name="Google Shape;4318;p130"/>
          <p:cNvCxnSpPr>
            <a:stCxn id="4300" idx="0"/>
            <a:endCxn id="4297" idx="5"/>
          </p:cNvCxnSpPr>
          <p:nvPr/>
        </p:nvCxnSpPr>
        <p:spPr>
          <a:xfrm rot="10800000">
            <a:off x="6444714" y="4019480"/>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4319" name="Google Shape;4319;p130"/>
          <p:cNvCxnSpPr>
            <a:stCxn id="4299" idx="0"/>
            <a:endCxn id="4298" idx="5"/>
          </p:cNvCxnSpPr>
          <p:nvPr/>
        </p:nvCxnSpPr>
        <p:spPr>
          <a:xfrm rot="10800000">
            <a:off x="6849505" y="3296707"/>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4320" name="Google Shape;4320;p130"/>
          <p:cNvCxnSpPr>
            <a:stCxn id="4297" idx="7"/>
            <a:endCxn id="4298" idx="4"/>
          </p:cNvCxnSpPr>
          <p:nvPr/>
        </p:nvCxnSpPr>
        <p:spPr>
          <a:xfrm flipH="1" rot="10800000">
            <a:off x="6444752" y="3355754"/>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4321" name="Google Shape;4321;p130"/>
          <p:cNvCxnSpPr>
            <a:stCxn id="4297" idx="2"/>
            <a:endCxn id="4295" idx="6"/>
          </p:cNvCxnSpPr>
          <p:nvPr/>
        </p:nvCxnSpPr>
        <p:spPr>
          <a:xfrm rot="10800000">
            <a:off x="5511063" y="3876907"/>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4322" name="Google Shape;4322;p130"/>
          <p:cNvCxnSpPr>
            <a:stCxn id="4296" idx="0"/>
            <a:endCxn id="4295" idx="4"/>
          </p:cNvCxnSpPr>
          <p:nvPr/>
        </p:nvCxnSpPr>
        <p:spPr>
          <a:xfrm rot="10800000">
            <a:off x="5308522" y="4078515"/>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4323" name="Google Shape;4323;p130"/>
          <p:cNvCxnSpPr>
            <a:stCxn id="4295" idx="3"/>
            <a:endCxn id="4294" idx="7"/>
          </p:cNvCxnSpPr>
          <p:nvPr/>
        </p:nvCxnSpPr>
        <p:spPr>
          <a:xfrm flipH="1">
            <a:off x="4578320" y="4019460"/>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4324" name="Google Shape;4324;p130"/>
          <p:cNvCxnSpPr>
            <a:stCxn id="4293" idx="5"/>
            <a:endCxn id="4294" idx="0"/>
          </p:cNvCxnSpPr>
          <p:nvPr/>
        </p:nvCxnSpPr>
        <p:spPr>
          <a:xfrm>
            <a:off x="4173512" y="4193938"/>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4325" name="Google Shape;4325;p130"/>
          <p:cNvCxnSpPr>
            <a:stCxn id="4290" idx="4"/>
            <a:endCxn id="4293" idx="7"/>
          </p:cNvCxnSpPr>
          <p:nvPr/>
        </p:nvCxnSpPr>
        <p:spPr>
          <a:xfrm flipH="1">
            <a:off x="4173460" y="3249700"/>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4326" name="Google Shape;4326;p130"/>
          <p:cNvCxnSpPr>
            <a:stCxn id="4295" idx="1"/>
            <a:endCxn id="4290" idx="4"/>
          </p:cNvCxnSpPr>
          <p:nvPr/>
        </p:nvCxnSpPr>
        <p:spPr>
          <a:xfrm rot="10800000">
            <a:off x="4871720" y="3249554"/>
            <a:ext cx="293700" cy="484800"/>
          </a:xfrm>
          <a:prstGeom prst="straightConnector1">
            <a:avLst/>
          </a:prstGeom>
          <a:noFill/>
          <a:ln cap="flat" cmpd="sng" w="28575">
            <a:solidFill>
              <a:schemeClr val="dk2"/>
            </a:solidFill>
            <a:prstDash val="solid"/>
            <a:round/>
            <a:headEnd len="med" w="med" type="none"/>
            <a:tailEnd len="med" w="med" type="none"/>
          </a:ln>
        </p:spPr>
      </p:cxnSp>
      <p:cxnSp>
        <p:nvCxnSpPr>
          <p:cNvPr id="4327" name="Google Shape;4327;p130"/>
          <p:cNvCxnSpPr>
            <a:stCxn id="4293" idx="2"/>
            <a:endCxn id="4292" idx="6"/>
          </p:cNvCxnSpPr>
          <p:nvPr/>
        </p:nvCxnSpPr>
        <p:spPr>
          <a:xfrm rot="10800000">
            <a:off x="3040923" y="3930485"/>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4328" name="Google Shape;4328;p130"/>
          <p:cNvCxnSpPr>
            <a:stCxn id="4293" idx="0"/>
            <a:endCxn id="4291" idx="4"/>
          </p:cNvCxnSpPr>
          <p:nvPr/>
        </p:nvCxnSpPr>
        <p:spPr>
          <a:xfrm rot="10800000">
            <a:off x="3670923" y="3594185"/>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4329" name="Google Shape;4329;p130"/>
          <p:cNvCxnSpPr>
            <a:stCxn id="4291" idx="3"/>
            <a:endCxn id="4292" idx="7"/>
          </p:cNvCxnSpPr>
          <p:nvPr/>
        </p:nvCxnSpPr>
        <p:spPr>
          <a:xfrm flipH="1">
            <a:off x="2981576" y="3535113"/>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4330" name="Google Shape;4330;p130"/>
          <p:cNvCxnSpPr>
            <a:stCxn id="4288" idx="4"/>
            <a:endCxn id="4292" idx="0"/>
          </p:cNvCxnSpPr>
          <p:nvPr/>
        </p:nvCxnSpPr>
        <p:spPr>
          <a:xfrm flipH="1">
            <a:off x="2838543" y="2997916"/>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4331" name="Google Shape;4331;p130"/>
          <p:cNvCxnSpPr>
            <a:stCxn id="4289" idx="2"/>
            <a:endCxn id="4288" idx="6"/>
          </p:cNvCxnSpPr>
          <p:nvPr/>
        </p:nvCxnSpPr>
        <p:spPr>
          <a:xfrm flipH="1">
            <a:off x="3077766" y="2434187"/>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4332" name="Google Shape;4332;p130"/>
          <p:cNvCxnSpPr>
            <a:stCxn id="4289" idx="3"/>
            <a:endCxn id="4291" idx="0"/>
          </p:cNvCxnSpPr>
          <p:nvPr/>
        </p:nvCxnSpPr>
        <p:spPr>
          <a:xfrm flipH="1">
            <a:off x="3671077" y="2576739"/>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4333" name="Google Shape;4333;p130"/>
          <p:cNvCxnSpPr>
            <a:stCxn id="4290" idx="2"/>
            <a:endCxn id="4288" idx="6"/>
          </p:cNvCxnSpPr>
          <p:nvPr/>
        </p:nvCxnSpPr>
        <p:spPr>
          <a:xfrm rot="10800000">
            <a:off x="3077560" y="2796400"/>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4334" name="Google Shape;4334;p130"/>
          <p:cNvCxnSpPr>
            <a:stCxn id="4290" idx="1"/>
            <a:endCxn id="4289" idx="5"/>
          </p:cNvCxnSpPr>
          <p:nvPr/>
        </p:nvCxnSpPr>
        <p:spPr>
          <a:xfrm rot="10800000">
            <a:off x="4336871" y="2576747"/>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4335" name="Google Shape;4335;p130"/>
          <p:cNvCxnSpPr>
            <a:stCxn id="4290" idx="2"/>
            <a:endCxn id="4291" idx="7"/>
          </p:cNvCxnSpPr>
          <p:nvPr/>
        </p:nvCxnSpPr>
        <p:spPr>
          <a:xfrm flipH="1">
            <a:off x="3814360" y="3048100"/>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4336" name="Google Shape;4336;p130"/>
          <p:cNvCxnSpPr>
            <a:stCxn id="4291" idx="1"/>
            <a:endCxn id="4288" idx="5"/>
          </p:cNvCxnSpPr>
          <p:nvPr/>
        </p:nvCxnSpPr>
        <p:spPr>
          <a:xfrm rot="10800000">
            <a:off x="3018476" y="2938907"/>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4337" name="Google Shape;4337;p130"/>
          <p:cNvCxnSpPr>
            <a:stCxn id="4299" idx="6"/>
            <a:endCxn id="4304" idx="3"/>
          </p:cNvCxnSpPr>
          <p:nvPr/>
        </p:nvCxnSpPr>
        <p:spPr>
          <a:xfrm flipH="1" rot="10800000">
            <a:off x="7377505" y="3384907"/>
            <a:ext cx="415500" cy="492000"/>
          </a:xfrm>
          <a:prstGeom prst="straightConnector1">
            <a:avLst/>
          </a:prstGeom>
          <a:noFill/>
          <a:ln cap="flat" cmpd="sng" w="28575">
            <a:solidFill>
              <a:schemeClr val="dk2"/>
            </a:solidFill>
            <a:prstDash val="solid"/>
            <a:round/>
            <a:headEnd len="med" w="med" type="none"/>
            <a:tailEnd len="med" w="med" type="none"/>
          </a:ln>
        </p:spPr>
      </p:cxnSp>
      <p:graphicFrame>
        <p:nvGraphicFramePr>
          <p:cNvPr id="4338" name="Google Shape;4338;p130"/>
          <p:cNvGraphicFramePr/>
          <p:nvPr/>
        </p:nvGraphicFramePr>
        <p:xfrm>
          <a:off x="101125" y="103175"/>
          <a:ext cx="3000000" cy="3000000"/>
        </p:xfrm>
        <a:graphic>
          <a:graphicData uri="http://schemas.openxmlformats.org/drawingml/2006/table">
            <a:tbl>
              <a:tblPr>
                <a:noFill/>
                <a:tableStyleId>{D533A967-1B24-4C1F-A5BD-666CA7F43D67}</a:tableStyleId>
              </a:tblPr>
              <a:tblGrid>
                <a:gridCol w="952500"/>
                <a:gridCol w="952500"/>
              </a:tblGrid>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h</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88.1</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i</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81.5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j</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66.5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g</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53</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m</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32</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q</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17</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f</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10.2</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c</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9</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d</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5.2</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n</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p</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b</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3.8</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l</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1.5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a</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0.6</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k</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e</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o</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r</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s</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bl>
          </a:graphicData>
        </a:graphic>
      </p:graphicFrame>
      <p:sp>
        <p:nvSpPr>
          <p:cNvPr id="4339" name="Google Shape;4339;p130"/>
          <p:cNvSpPr/>
          <p:nvPr/>
        </p:nvSpPr>
        <p:spPr>
          <a:xfrm>
            <a:off x="4879300" y="1251525"/>
            <a:ext cx="2439900" cy="14781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That’s because they don’t stand on any shortest paths between any pair of nodes!</a:t>
            </a:r>
            <a:endParaRPr b="1">
              <a:solidFill>
                <a:srgbClr val="FF0000"/>
              </a:solidFill>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4343" name="Shape 4343"/>
        <p:cNvGrpSpPr/>
        <p:nvPr/>
      </p:nvGrpSpPr>
      <p:grpSpPr>
        <a:xfrm>
          <a:off x="0" y="0"/>
          <a:ext cx="0" cy="0"/>
          <a:chOff x="0" y="0"/>
          <a:chExt cx="0" cy="0"/>
        </a:xfrm>
      </p:grpSpPr>
      <p:sp>
        <p:nvSpPr>
          <p:cNvPr id="4344" name="Google Shape;4344;p131"/>
          <p:cNvSpPr txBox="1"/>
          <p:nvPr>
            <p:ph type="ctrTitle"/>
          </p:nvPr>
        </p:nvSpPr>
        <p:spPr>
          <a:xfrm>
            <a:off x="2765950" y="1444250"/>
            <a:ext cx="3604800" cy="153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The Star Graph</a:t>
            </a:r>
            <a:endParaRPr/>
          </a:p>
        </p:txBody>
      </p:sp>
      <p:sp>
        <p:nvSpPr>
          <p:cNvPr id="4345" name="Google Shape;4345;p131"/>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9" name="Shape 4349"/>
        <p:cNvGrpSpPr/>
        <p:nvPr/>
      </p:nvGrpSpPr>
      <p:grpSpPr>
        <a:xfrm>
          <a:off x="0" y="0"/>
          <a:ext cx="0" cy="0"/>
          <a:chOff x="0" y="0"/>
          <a:chExt cx="0" cy="0"/>
        </a:xfrm>
      </p:grpSpPr>
      <p:sp>
        <p:nvSpPr>
          <p:cNvPr id="4350" name="Google Shape;4350;p13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star graph</a:t>
            </a:r>
            <a:endParaRPr/>
          </a:p>
        </p:txBody>
      </p:sp>
      <p:sp>
        <p:nvSpPr>
          <p:cNvPr id="4351" name="Google Shape;4351;p132"/>
          <p:cNvSpPr/>
          <p:nvPr/>
        </p:nvSpPr>
        <p:spPr>
          <a:xfrm>
            <a:off x="5845888" y="18353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4352" name="Google Shape;4352;p132"/>
          <p:cNvSpPr/>
          <p:nvPr/>
        </p:nvSpPr>
        <p:spPr>
          <a:xfrm>
            <a:off x="6908938" y="1452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4353" name="Google Shape;4353;p132"/>
          <p:cNvSpPr/>
          <p:nvPr/>
        </p:nvSpPr>
        <p:spPr>
          <a:xfrm>
            <a:off x="8425825" y="26325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4354" name="Google Shape;4354;p132"/>
          <p:cNvSpPr/>
          <p:nvPr/>
        </p:nvSpPr>
        <p:spPr>
          <a:xfrm>
            <a:off x="6908950" y="26325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4355" name="Google Shape;4355;p132"/>
          <p:cNvSpPr/>
          <p:nvPr/>
        </p:nvSpPr>
        <p:spPr>
          <a:xfrm>
            <a:off x="5392063" y="26325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4356" name="Google Shape;4356;p132"/>
          <p:cNvSpPr/>
          <p:nvPr/>
        </p:nvSpPr>
        <p:spPr>
          <a:xfrm>
            <a:off x="6908938" y="38121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cxnSp>
        <p:nvCxnSpPr>
          <p:cNvPr id="4357" name="Google Shape;4357;p132"/>
          <p:cNvCxnSpPr>
            <a:stCxn id="4356" idx="0"/>
            <a:endCxn id="4354" idx="4"/>
          </p:cNvCxnSpPr>
          <p:nvPr/>
        </p:nvCxnSpPr>
        <p:spPr>
          <a:xfrm rot="10800000">
            <a:off x="7179238" y="3171913"/>
            <a:ext cx="0" cy="640200"/>
          </a:xfrm>
          <a:prstGeom prst="straightConnector1">
            <a:avLst/>
          </a:prstGeom>
          <a:noFill/>
          <a:ln cap="flat" cmpd="sng" w="28575">
            <a:solidFill>
              <a:schemeClr val="dk2"/>
            </a:solidFill>
            <a:prstDash val="solid"/>
            <a:round/>
            <a:headEnd len="med" w="med" type="none"/>
            <a:tailEnd len="med" w="med" type="none"/>
          </a:ln>
        </p:spPr>
      </p:cxnSp>
      <p:cxnSp>
        <p:nvCxnSpPr>
          <p:cNvPr id="4358" name="Google Shape;4358;p132"/>
          <p:cNvCxnSpPr>
            <a:stCxn id="4354" idx="2"/>
            <a:endCxn id="4355" idx="6"/>
          </p:cNvCxnSpPr>
          <p:nvPr/>
        </p:nvCxnSpPr>
        <p:spPr>
          <a:xfrm rot="10800000">
            <a:off x="5932750" y="2902225"/>
            <a:ext cx="976200" cy="0"/>
          </a:xfrm>
          <a:prstGeom prst="straightConnector1">
            <a:avLst/>
          </a:prstGeom>
          <a:noFill/>
          <a:ln cap="flat" cmpd="sng" w="28575">
            <a:solidFill>
              <a:schemeClr val="dk2"/>
            </a:solidFill>
            <a:prstDash val="solid"/>
            <a:round/>
            <a:headEnd len="med" w="med" type="none"/>
            <a:tailEnd len="med" w="med" type="none"/>
          </a:ln>
        </p:spPr>
      </p:cxnSp>
      <p:cxnSp>
        <p:nvCxnSpPr>
          <p:cNvPr id="4359" name="Google Shape;4359;p132"/>
          <p:cNvCxnSpPr>
            <a:stCxn id="4352" idx="4"/>
            <a:endCxn id="4354" idx="0"/>
          </p:cNvCxnSpPr>
          <p:nvPr/>
        </p:nvCxnSpPr>
        <p:spPr>
          <a:xfrm>
            <a:off x="7179238" y="1992325"/>
            <a:ext cx="0" cy="640200"/>
          </a:xfrm>
          <a:prstGeom prst="straightConnector1">
            <a:avLst/>
          </a:prstGeom>
          <a:noFill/>
          <a:ln cap="flat" cmpd="sng" w="28575">
            <a:solidFill>
              <a:schemeClr val="dk2"/>
            </a:solidFill>
            <a:prstDash val="solid"/>
            <a:round/>
            <a:headEnd len="med" w="med" type="none"/>
            <a:tailEnd len="med" w="med" type="none"/>
          </a:ln>
        </p:spPr>
      </p:cxnSp>
      <p:cxnSp>
        <p:nvCxnSpPr>
          <p:cNvPr id="4360" name="Google Shape;4360;p132"/>
          <p:cNvCxnSpPr>
            <a:stCxn id="4353" idx="2"/>
            <a:endCxn id="4354" idx="6"/>
          </p:cNvCxnSpPr>
          <p:nvPr/>
        </p:nvCxnSpPr>
        <p:spPr>
          <a:xfrm rot="10800000">
            <a:off x="7449625" y="2902213"/>
            <a:ext cx="976200" cy="0"/>
          </a:xfrm>
          <a:prstGeom prst="straightConnector1">
            <a:avLst/>
          </a:prstGeom>
          <a:noFill/>
          <a:ln cap="flat" cmpd="sng" w="28575">
            <a:solidFill>
              <a:schemeClr val="dk2"/>
            </a:solidFill>
            <a:prstDash val="solid"/>
            <a:round/>
            <a:headEnd len="med" w="med" type="none"/>
            <a:tailEnd len="med" w="med" type="none"/>
          </a:ln>
        </p:spPr>
      </p:cxnSp>
      <p:cxnSp>
        <p:nvCxnSpPr>
          <p:cNvPr id="4361" name="Google Shape;4361;p132"/>
          <p:cNvCxnSpPr>
            <a:stCxn id="4354" idx="1"/>
            <a:endCxn id="4351" idx="5"/>
          </p:cNvCxnSpPr>
          <p:nvPr/>
        </p:nvCxnSpPr>
        <p:spPr>
          <a:xfrm rot="10800000">
            <a:off x="6307419" y="2295718"/>
            <a:ext cx="680700" cy="415800"/>
          </a:xfrm>
          <a:prstGeom prst="straightConnector1">
            <a:avLst/>
          </a:prstGeom>
          <a:noFill/>
          <a:ln cap="flat" cmpd="sng" w="28575">
            <a:solidFill>
              <a:schemeClr val="dk2"/>
            </a:solidFill>
            <a:prstDash val="solid"/>
            <a:round/>
            <a:headEnd len="med" w="med" type="none"/>
            <a:tailEnd len="med" w="med" type="none"/>
          </a:ln>
        </p:spPr>
      </p:cxnSp>
      <p:sp>
        <p:nvSpPr>
          <p:cNvPr id="4362" name="Google Shape;4362;p132"/>
          <p:cNvSpPr/>
          <p:nvPr/>
        </p:nvSpPr>
        <p:spPr>
          <a:xfrm>
            <a:off x="7971988" y="18643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cxnSp>
        <p:nvCxnSpPr>
          <p:cNvPr id="4363" name="Google Shape;4363;p132"/>
          <p:cNvCxnSpPr>
            <a:stCxn id="4354" idx="7"/>
            <a:endCxn id="4362" idx="3"/>
          </p:cNvCxnSpPr>
          <p:nvPr/>
        </p:nvCxnSpPr>
        <p:spPr>
          <a:xfrm flipH="1" rot="10800000">
            <a:off x="7370381" y="2324818"/>
            <a:ext cx="680700" cy="386700"/>
          </a:xfrm>
          <a:prstGeom prst="straightConnector1">
            <a:avLst/>
          </a:prstGeom>
          <a:noFill/>
          <a:ln cap="flat" cmpd="sng" w="28575">
            <a:solidFill>
              <a:schemeClr val="dk2"/>
            </a:solidFill>
            <a:prstDash val="solid"/>
            <a:round/>
            <a:headEnd len="med" w="med" type="none"/>
            <a:tailEnd len="med" w="med" type="none"/>
          </a:ln>
        </p:spPr>
      </p:cxnSp>
      <p:sp>
        <p:nvSpPr>
          <p:cNvPr id="4364" name="Google Shape;4364;p132"/>
          <p:cNvSpPr/>
          <p:nvPr/>
        </p:nvSpPr>
        <p:spPr>
          <a:xfrm>
            <a:off x="5845888" y="34297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cxnSp>
        <p:nvCxnSpPr>
          <p:cNvPr id="4365" name="Google Shape;4365;p132"/>
          <p:cNvCxnSpPr>
            <a:stCxn id="4354" idx="3"/>
            <a:endCxn id="4364" idx="7"/>
          </p:cNvCxnSpPr>
          <p:nvPr/>
        </p:nvCxnSpPr>
        <p:spPr>
          <a:xfrm flipH="1">
            <a:off x="6307419" y="3092932"/>
            <a:ext cx="680700" cy="415800"/>
          </a:xfrm>
          <a:prstGeom prst="straightConnector1">
            <a:avLst/>
          </a:prstGeom>
          <a:noFill/>
          <a:ln cap="flat" cmpd="sng" w="28575">
            <a:solidFill>
              <a:schemeClr val="dk2"/>
            </a:solidFill>
            <a:prstDash val="solid"/>
            <a:round/>
            <a:headEnd len="med" w="med" type="none"/>
            <a:tailEnd len="med" w="med" type="none"/>
          </a:ln>
        </p:spPr>
      </p:cxnSp>
      <p:sp>
        <p:nvSpPr>
          <p:cNvPr id="4366" name="Google Shape;4366;p132"/>
          <p:cNvSpPr/>
          <p:nvPr/>
        </p:nvSpPr>
        <p:spPr>
          <a:xfrm>
            <a:off x="7971988" y="34297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cxnSp>
        <p:nvCxnSpPr>
          <p:cNvPr id="4367" name="Google Shape;4367;p132"/>
          <p:cNvCxnSpPr>
            <a:stCxn id="4366" idx="1"/>
            <a:endCxn id="4354" idx="5"/>
          </p:cNvCxnSpPr>
          <p:nvPr/>
        </p:nvCxnSpPr>
        <p:spPr>
          <a:xfrm rot="10800000">
            <a:off x="7370457" y="3092906"/>
            <a:ext cx="680700" cy="415800"/>
          </a:xfrm>
          <a:prstGeom prst="straightConnector1">
            <a:avLst/>
          </a:prstGeom>
          <a:noFill/>
          <a:ln cap="flat" cmpd="sng" w="28575">
            <a:solidFill>
              <a:schemeClr val="dk2"/>
            </a:solidFill>
            <a:prstDash val="solid"/>
            <a:round/>
            <a:headEnd len="med" w="med" type="none"/>
            <a:tailEnd len="med" w="med" type="none"/>
          </a:ln>
        </p:spPr>
      </p:cxnSp>
      <p:sp>
        <p:nvSpPr>
          <p:cNvPr id="4368" name="Google Shape;4368;p132"/>
          <p:cNvSpPr txBox="1"/>
          <p:nvPr>
            <p:ph idx="1" type="body"/>
          </p:nvPr>
        </p:nvSpPr>
        <p:spPr>
          <a:xfrm>
            <a:off x="311700" y="1225225"/>
            <a:ext cx="5080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the </a:t>
            </a:r>
            <a:r>
              <a:rPr b="1" lang="en"/>
              <a:t>star graph </a:t>
            </a:r>
            <a:r>
              <a:rPr lang="en"/>
              <a:t>three centralities are </a:t>
            </a:r>
            <a:r>
              <a:rPr b="1" lang="en"/>
              <a:t>maximized </a:t>
            </a:r>
            <a:r>
              <a:rPr lang="en"/>
              <a:t>for the central node</a:t>
            </a:r>
            <a:endParaRPr/>
          </a:p>
          <a:p>
            <a:pPr indent="-342900" lvl="0" marL="457200" rtl="0" algn="l">
              <a:spcBef>
                <a:spcPts val="0"/>
              </a:spcBef>
              <a:spcAft>
                <a:spcPts val="0"/>
              </a:spcAft>
              <a:buSzPts val="1800"/>
              <a:buChar char="●"/>
            </a:pPr>
            <a:r>
              <a:rPr lang="en"/>
              <a:t>Node </a:t>
            </a:r>
            <a:r>
              <a:rPr b="1" lang="en"/>
              <a:t>a</a:t>
            </a:r>
            <a:r>
              <a:rPr lang="en"/>
              <a:t> has the highest:</a:t>
            </a:r>
            <a:endParaRPr/>
          </a:p>
          <a:p>
            <a:pPr indent="0" lvl="0" marL="0" rtl="0" algn="l">
              <a:spcBef>
                <a:spcPts val="0"/>
              </a:spcBef>
              <a:spcAft>
                <a:spcPts val="0"/>
              </a:spcAft>
              <a:buNone/>
            </a:pPr>
            <a:r>
              <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2" name="Shape 4372"/>
        <p:cNvGrpSpPr/>
        <p:nvPr/>
      </p:nvGrpSpPr>
      <p:grpSpPr>
        <a:xfrm>
          <a:off x="0" y="0"/>
          <a:ext cx="0" cy="0"/>
          <a:chOff x="0" y="0"/>
          <a:chExt cx="0" cy="0"/>
        </a:xfrm>
      </p:grpSpPr>
      <p:sp>
        <p:nvSpPr>
          <p:cNvPr id="4373" name="Google Shape;4373;p13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star graph</a:t>
            </a:r>
            <a:endParaRPr/>
          </a:p>
        </p:txBody>
      </p:sp>
      <p:sp>
        <p:nvSpPr>
          <p:cNvPr id="4374" name="Google Shape;4374;p133"/>
          <p:cNvSpPr/>
          <p:nvPr/>
        </p:nvSpPr>
        <p:spPr>
          <a:xfrm>
            <a:off x="5845888" y="18353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4375" name="Google Shape;4375;p133"/>
          <p:cNvSpPr/>
          <p:nvPr/>
        </p:nvSpPr>
        <p:spPr>
          <a:xfrm>
            <a:off x="6908938" y="1452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4376" name="Google Shape;4376;p133"/>
          <p:cNvSpPr/>
          <p:nvPr/>
        </p:nvSpPr>
        <p:spPr>
          <a:xfrm>
            <a:off x="8425825" y="26325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4377" name="Google Shape;4377;p133"/>
          <p:cNvSpPr/>
          <p:nvPr/>
        </p:nvSpPr>
        <p:spPr>
          <a:xfrm>
            <a:off x="6908950" y="26325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4378" name="Google Shape;4378;p133"/>
          <p:cNvSpPr/>
          <p:nvPr/>
        </p:nvSpPr>
        <p:spPr>
          <a:xfrm>
            <a:off x="5392063" y="26325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4379" name="Google Shape;4379;p133"/>
          <p:cNvSpPr/>
          <p:nvPr/>
        </p:nvSpPr>
        <p:spPr>
          <a:xfrm>
            <a:off x="6908938" y="38121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cxnSp>
        <p:nvCxnSpPr>
          <p:cNvPr id="4380" name="Google Shape;4380;p133"/>
          <p:cNvCxnSpPr>
            <a:stCxn id="4379" idx="0"/>
            <a:endCxn id="4377" idx="4"/>
          </p:cNvCxnSpPr>
          <p:nvPr/>
        </p:nvCxnSpPr>
        <p:spPr>
          <a:xfrm rot="10800000">
            <a:off x="7179238" y="3171913"/>
            <a:ext cx="0" cy="640200"/>
          </a:xfrm>
          <a:prstGeom prst="straightConnector1">
            <a:avLst/>
          </a:prstGeom>
          <a:noFill/>
          <a:ln cap="flat" cmpd="sng" w="28575">
            <a:solidFill>
              <a:schemeClr val="dk2"/>
            </a:solidFill>
            <a:prstDash val="solid"/>
            <a:round/>
            <a:headEnd len="med" w="med" type="none"/>
            <a:tailEnd len="med" w="med" type="none"/>
          </a:ln>
        </p:spPr>
      </p:cxnSp>
      <p:cxnSp>
        <p:nvCxnSpPr>
          <p:cNvPr id="4381" name="Google Shape;4381;p133"/>
          <p:cNvCxnSpPr>
            <a:stCxn id="4377" idx="2"/>
            <a:endCxn id="4378" idx="6"/>
          </p:cNvCxnSpPr>
          <p:nvPr/>
        </p:nvCxnSpPr>
        <p:spPr>
          <a:xfrm rot="10800000">
            <a:off x="5932750" y="2902225"/>
            <a:ext cx="976200" cy="0"/>
          </a:xfrm>
          <a:prstGeom prst="straightConnector1">
            <a:avLst/>
          </a:prstGeom>
          <a:noFill/>
          <a:ln cap="flat" cmpd="sng" w="28575">
            <a:solidFill>
              <a:schemeClr val="dk2"/>
            </a:solidFill>
            <a:prstDash val="solid"/>
            <a:round/>
            <a:headEnd len="med" w="med" type="none"/>
            <a:tailEnd len="med" w="med" type="none"/>
          </a:ln>
        </p:spPr>
      </p:cxnSp>
      <p:cxnSp>
        <p:nvCxnSpPr>
          <p:cNvPr id="4382" name="Google Shape;4382;p133"/>
          <p:cNvCxnSpPr>
            <a:stCxn id="4375" idx="4"/>
            <a:endCxn id="4377" idx="0"/>
          </p:cNvCxnSpPr>
          <p:nvPr/>
        </p:nvCxnSpPr>
        <p:spPr>
          <a:xfrm>
            <a:off x="7179238" y="1992325"/>
            <a:ext cx="0" cy="640200"/>
          </a:xfrm>
          <a:prstGeom prst="straightConnector1">
            <a:avLst/>
          </a:prstGeom>
          <a:noFill/>
          <a:ln cap="flat" cmpd="sng" w="28575">
            <a:solidFill>
              <a:schemeClr val="dk2"/>
            </a:solidFill>
            <a:prstDash val="solid"/>
            <a:round/>
            <a:headEnd len="med" w="med" type="none"/>
            <a:tailEnd len="med" w="med" type="none"/>
          </a:ln>
        </p:spPr>
      </p:cxnSp>
      <p:cxnSp>
        <p:nvCxnSpPr>
          <p:cNvPr id="4383" name="Google Shape;4383;p133"/>
          <p:cNvCxnSpPr>
            <a:stCxn id="4376" idx="2"/>
            <a:endCxn id="4377" idx="6"/>
          </p:cNvCxnSpPr>
          <p:nvPr/>
        </p:nvCxnSpPr>
        <p:spPr>
          <a:xfrm rot="10800000">
            <a:off x="7449625" y="2902213"/>
            <a:ext cx="976200" cy="0"/>
          </a:xfrm>
          <a:prstGeom prst="straightConnector1">
            <a:avLst/>
          </a:prstGeom>
          <a:noFill/>
          <a:ln cap="flat" cmpd="sng" w="28575">
            <a:solidFill>
              <a:schemeClr val="dk2"/>
            </a:solidFill>
            <a:prstDash val="solid"/>
            <a:round/>
            <a:headEnd len="med" w="med" type="none"/>
            <a:tailEnd len="med" w="med" type="none"/>
          </a:ln>
        </p:spPr>
      </p:cxnSp>
      <p:cxnSp>
        <p:nvCxnSpPr>
          <p:cNvPr id="4384" name="Google Shape;4384;p133"/>
          <p:cNvCxnSpPr>
            <a:stCxn id="4377" idx="1"/>
            <a:endCxn id="4374" idx="5"/>
          </p:cNvCxnSpPr>
          <p:nvPr/>
        </p:nvCxnSpPr>
        <p:spPr>
          <a:xfrm rot="10800000">
            <a:off x="6307419" y="2295718"/>
            <a:ext cx="680700" cy="415800"/>
          </a:xfrm>
          <a:prstGeom prst="straightConnector1">
            <a:avLst/>
          </a:prstGeom>
          <a:noFill/>
          <a:ln cap="flat" cmpd="sng" w="28575">
            <a:solidFill>
              <a:schemeClr val="dk2"/>
            </a:solidFill>
            <a:prstDash val="solid"/>
            <a:round/>
            <a:headEnd len="med" w="med" type="none"/>
            <a:tailEnd len="med" w="med" type="none"/>
          </a:ln>
        </p:spPr>
      </p:cxnSp>
      <p:sp>
        <p:nvSpPr>
          <p:cNvPr id="4385" name="Google Shape;4385;p133"/>
          <p:cNvSpPr/>
          <p:nvPr/>
        </p:nvSpPr>
        <p:spPr>
          <a:xfrm>
            <a:off x="7971988" y="18643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cxnSp>
        <p:nvCxnSpPr>
          <p:cNvPr id="4386" name="Google Shape;4386;p133"/>
          <p:cNvCxnSpPr>
            <a:stCxn id="4377" idx="7"/>
            <a:endCxn id="4385" idx="3"/>
          </p:cNvCxnSpPr>
          <p:nvPr/>
        </p:nvCxnSpPr>
        <p:spPr>
          <a:xfrm flipH="1" rot="10800000">
            <a:off x="7370381" y="2324818"/>
            <a:ext cx="680700" cy="386700"/>
          </a:xfrm>
          <a:prstGeom prst="straightConnector1">
            <a:avLst/>
          </a:prstGeom>
          <a:noFill/>
          <a:ln cap="flat" cmpd="sng" w="28575">
            <a:solidFill>
              <a:schemeClr val="dk2"/>
            </a:solidFill>
            <a:prstDash val="solid"/>
            <a:round/>
            <a:headEnd len="med" w="med" type="none"/>
            <a:tailEnd len="med" w="med" type="none"/>
          </a:ln>
        </p:spPr>
      </p:cxnSp>
      <p:sp>
        <p:nvSpPr>
          <p:cNvPr id="4387" name="Google Shape;4387;p133"/>
          <p:cNvSpPr/>
          <p:nvPr/>
        </p:nvSpPr>
        <p:spPr>
          <a:xfrm>
            <a:off x="5845888" y="34297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cxnSp>
        <p:nvCxnSpPr>
          <p:cNvPr id="4388" name="Google Shape;4388;p133"/>
          <p:cNvCxnSpPr>
            <a:stCxn id="4377" idx="3"/>
            <a:endCxn id="4387" idx="7"/>
          </p:cNvCxnSpPr>
          <p:nvPr/>
        </p:nvCxnSpPr>
        <p:spPr>
          <a:xfrm flipH="1">
            <a:off x="6307419" y="3092932"/>
            <a:ext cx="680700" cy="415800"/>
          </a:xfrm>
          <a:prstGeom prst="straightConnector1">
            <a:avLst/>
          </a:prstGeom>
          <a:noFill/>
          <a:ln cap="flat" cmpd="sng" w="28575">
            <a:solidFill>
              <a:schemeClr val="dk2"/>
            </a:solidFill>
            <a:prstDash val="solid"/>
            <a:round/>
            <a:headEnd len="med" w="med" type="none"/>
            <a:tailEnd len="med" w="med" type="none"/>
          </a:ln>
        </p:spPr>
      </p:cxnSp>
      <p:sp>
        <p:nvSpPr>
          <p:cNvPr id="4389" name="Google Shape;4389;p133"/>
          <p:cNvSpPr/>
          <p:nvPr/>
        </p:nvSpPr>
        <p:spPr>
          <a:xfrm>
            <a:off x="7971988" y="34297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cxnSp>
        <p:nvCxnSpPr>
          <p:cNvPr id="4390" name="Google Shape;4390;p133"/>
          <p:cNvCxnSpPr>
            <a:stCxn id="4389" idx="1"/>
            <a:endCxn id="4377" idx="5"/>
          </p:cNvCxnSpPr>
          <p:nvPr/>
        </p:nvCxnSpPr>
        <p:spPr>
          <a:xfrm rot="10800000">
            <a:off x="7370457" y="3092906"/>
            <a:ext cx="680700" cy="415800"/>
          </a:xfrm>
          <a:prstGeom prst="straightConnector1">
            <a:avLst/>
          </a:prstGeom>
          <a:noFill/>
          <a:ln cap="flat" cmpd="sng" w="28575">
            <a:solidFill>
              <a:schemeClr val="dk2"/>
            </a:solidFill>
            <a:prstDash val="solid"/>
            <a:round/>
            <a:headEnd len="med" w="med" type="none"/>
            <a:tailEnd len="med" w="med" type="none"/>
          </a:ln>
        </p:spPr>
      </p:cxnSp>
      <p:sp>
        <p:nvSpPr>
          <p:cNvPr id="4391" name="Google Shape;4391;p133"/>
          <p:cNvSpPr txBox="1"/>
          <p:nvPr>
            <p:ph idx="1" type="body"/>
          </p:nvPr>
        </p:nvSpPr>
        <p:spPr>
          <a:xfrm>
            <a:off x="311700" y="1225225"/>
            <a:ext cx="5080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the </a:t>
            </a:r>
            <a:r>
              <a:rPr b="1" lang="en"/>
              <a:t>star graph </a:t>
            </a:r>
            <a:r>
              <a:rPr lang="en"/>
              <a:t>three centralities are </a:t>
            </a:r>
            <a:r>
              <a:rPr b="1" lang="en"/>
              <a:t>maximized </a:t>
            </a:r>
            <a:r>
              <a:rPr lang="en"/>
              <a:t>for the central node</a:t>
            </a:r>
            <a:endParaRPr/>
          </a:p>
          <a:p>
            <a:pPr indent="-342900" lvl="0" marL="457200" rtl="0" algn="l">
              <a:spcBef>
                <a:spcPts val="0"/>
              </a:spcBef>
              <a:spcAft>
                <a:spcPts val="0"/>
              </a:spcAft>
              <a:buSzPts val="1800"/>
              <a:buChar char="●"/>
            </a:pPr>
            <a:r>
              <a:rPr lang="en"/>
              <a:t>Node </a:t>
            </a:r>
            <a:r>
              <a:rPr b="1" lang="en"/>
              <a:t>a</a:t>
            </a:r>
            <a:r>
              <a:rPr lang="en"/>
              <a:t> has the highest:</a:t>
            </a:r>
            <a:endParaRPr/>
          </a:p>
          <a:p>
            <a:pPr indent="-317500" lvl="1" marL="914400" rtl="0" algn="l">
              <a:spcBef>
                <a:spcPts val="0"/>
              </a:spcBef>
              <a:spcAft>
                <a:spcPts val="0"/>
              </a:spcAft>
              <a:buClr>
                <a:srgbClr val="FF0000"/>
              </a:buClr>
              <a:buSzPts val="1400"/>
              <a:buChar char="○"/>
            </a:pPr>
            <a:r>
              <a:rPr i="1" lang="en">
                <a:solidFill>
                  <a:srgbClr val="FF0000"/>
                </a:solidFill>
              </a:rPr>
              <a:t>Degree centrality</a:t>
            </a:r>
            <a:endParaRPr i="1">
              <a:solidFill>
                <a:srgbClr val="FF0000"/>
              </a:solidFill>
            </a:endParaRPr>
          </a:p>
          <a:p>
            <a:pPr indent="-317500" lvl="2" marL="1371600" rtl="0" algn="l">
              <a:spcBef>
                <a:spcPts val="0"/>
              </a:spcBef>
              <a:spcAft>
                <a:spcPts val="0"/>
              </a:spcAft>
              <a:buSzPts val="1400"/>
              <a:buChar char="■"/>
            </a:pPr>
            <a:r>
              <a:rPr lang="en"/>
              <a:t>Every other node has C</a:t>
            </a:r>
            <a:r>
              <a:rPr baseline="-25000" lang="en"/>
              <a:t>deg</a:t>
            </a:r>
            <a:r>
              <a:rPr lang="en"/>
              <a:t> = 1 but the </a:t>
            </a:r>
            <a:r>
              <a:rPr b="1" lang="en"/>
              <a:t>central node has C</a:t>
            </a:r>
            <a:r>
              <a:rPr b="1" baseline="-25000" lang="en"/>
              <a:t>deg</a:t>
            </a:r>
            <a:r>
              <a:rPr b="1" lang="en"/>
              <a:t> = N - 1</a:t>
            </a:r>
            <a:r>
              <a:rPr lang="en"/>
              <a:t>!</a:t>
            </a:r>
            <a:endParaRPr/>
          </a:p>
          <a:p>
            <a:pPr indent="0" lvl="0" marL="0" rtl="0" algn="l">
              <a:spcBef>
                <a:spcPts val="0"/>
              </a:spcBef>
              <a:spcAft>
                <a:spcPts val="0"/>
              </a:spcAft>
              <a:buNone/>
            </a:pPr>
            <a:r>
              <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5" name="Shape 4395"/>
        <p:cNvGrpSpPr/>
        <p:nvPr/>
      </p:nvGrpSpPr>
      <p:grpSpPr>
        <a:xfrm>
          <a:off x="0" y="0"/>
          <a:ext cx="0" cy="0"/>
          <a:chOff x="0" y="0"/>
          <a:chExt cx="0" cy="0"/>
        </a:xfrm>
      </p:grpSpPr>
      <p:sp>
        <p:nvSpPr>
          <p:cNvPr id="4396" name="Google Shape;4396;p13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star graph</a:t>
            </a:r>
            <a:endParaRPr/>
          </a:p>
        </p:txBody>
      </p:sp>
      <p:sp>
        <p:nvSpPr>
          <p:cNvPr id="4397" name="Google Shape;4397;p134"/>
          <p:cNvSpPr/>
          <p:nvPr/>
        </p:nvSpPr>
        <p:spPr>
          <a:xfrm>
            <a:off x="5845888" y="18353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4398" name="Google Shape;4398;p134"/>
          <p:cNvSpPr/>
          <p:nvPr/>
        </p:nvSpPr>
        <p:spPr>
          <a:xfrm>
            <a:off x="6908938" y="1452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4399" name="Google Shape;4399;p134"/>
          <p:cNvSpPr/>
          <p:nvPr/>
        </p:nvSpPr>
        <p:spPr>
          <a:xfrm>
            <a:off x="8425825" y="26325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4400" name="Google Shape;4400;p134"/>
          <p:cNvSpPr/>
          <p:nvPr/>
        </p:nvSpPr>
        <p:spPr>
          <a:xfrm>
            <a:off x="6908950" y="26325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4401" name="Google Shape;4401;p134"/>
          <p:cNvSpPr/>
          <p:nvPr/>
        </p:nvSpPr>
        <p:spPr>
          <a:xfrm>
            <a:off x="5392063" y="26325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4402" name="Google Shape;4402;p134"/>
          <p:cNvSpPr/>
          <p:nvPr/>
        </p:nvSpPr>
        <p:spPr>
          <a:xfrm>
            <a:off x="6908938" y="38121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cxnSp>
        <p:nvCxnSpPr>
          <p:cNvPr id="4403" name="Google Shape;4403;p134"/>
          <p:cNvCxnSpPr>
            <a:stCxn id="4402" idx="0"/>
            <a:endCxn id="4400" idx="4"/>
          </p:cNvCxnSpPr>
          <p:nvPr/>
        </p:nvCxnSpPr>
        <p:spPr>
          <a:xfrm rot="10800000">
            <a:off x="7179238" y="3171913"/>
            <a:ext cx="0" cy="640200"/>
          </a:xfrm>
          <a:prstGeom prst="straightConnector1">
            <a:avLst/>
          </a:prstGeom>
          <a:noFill/>
          <a:ln cap="flat" cmpd="sng" w="28575">
            <a:solidFill>
              <a:schemeClr val="dk2"/>
            </a:solidFill>
            <a:prstDash val="solid"/>
            <a:round/>
            <a:headEnd len="med" w="med" type="none"/>
            <a:tailEnd len="med" w="med" type="none"/>
          </a:ln>
        </p:spPr>
      </p:cxnSp>
      <p:cxnSp>
        <p:nvCxnSpPr>
          <p:cNvPr id="4404" name="Google Shape;4404;p134"/>
          <p:cNvCxnSpPr>
            <a:stCxn id="4400" idx="2"/>
            <a:endCxn id="4401" idx="6"/>
          </p:cNvCxnSpPr>
          <p:nvPr/>
        </p:nvCxnSpPr>
        <p:spPr>
          <a:xfrm rot="10800000">
            <a:off x="5932750" y="2902225"/>
            <a:ext cx="976200" cy="0"/>
          </a:xfrm>
          <a:prstGeom prst="straightConnector1">
            <a:avLst/>
          </a:prstGeom>
          <a:noFill/>
          <a:ln cap="flat" cmpd="sng" w="28575">
            <a:solidFill>
              <a:schemeClr val="dk2"/>
            </a:solidFill>
            <a:prstDash val="solid"/>
            <a:round/>
            <a:headEnd len="med" w="med" type="none"/>
            <a:tailEnd len="med" w="med" type="none"/>
          </a:ln>
        </p:spPr>
      </p:cxnSp>
      <p:cxnSp>
        <p:nvCxnSpPr>
          <p:cNvPr id="4405" name="Google Shape;4405;p134"/>
          <p:cNvCxnSpPr>
            <a:stCxn id="4398" idx="4"/>
            <a:endCxn id="4400" idx="0"/>
          </p:cNvCxnSpPr>
          <p:nvPr/>
        </p:nvCxnSpPr>
        <p:spPr>
          <a:xfrm>
            <a:off x="7179238" y="1992325"/>
            <a:ext cx="0" cy="640200"/>
          </a:xfrm>
          <a:prstGeom prst="straightConnector1">
            <a:avLst/>
          </a:prstGeom>
          <a:noFill/>
          <a:ln cap="flat" cmpd="sng" w="28575">
            <a:solidFill>
              <a:schemeClr val="dk2"/>
            </a:solidFill>
            <a:prstDash val="solid"/>
            <a:round/>
            <a:headEnd len="med" w="med" type="none"/>
            <a:tailEnd len="med" w="med" type="none"/>
          </a:ln>
        </p:spPr>
      </p:cxnSp>
      <p:cxnSp>
        <p:nvCxnSpPr>
          <p:cNvPr id="4406" name="Google Shape;4406;p134"/>
          <p:cNvCxnSpPr>
            <a:stCxn id="4399" idx="2"/>
            <a:endCxn id="4400" idx="6"/>
          </p:cNvCxnSpPr>
          <p:nvPr/>
        </p:nvCxnSpPr>
        <p:spPr>
          <a:xfrm rot="10800000">
            <a:off x="7449625" y="2902213"/>
            <a:ext cx="976200" cy="0"/>
          </a:xfrm>
          <a:prstGeom prst="straightConnector1">
            <a:avLst/>
          </a:prstGeom>
          <a:noFill/>
          <a:ln cap="flat" cmpd="sng" w="28575">
            <a:solidFill>
              <a:schemeClr val="dk2"/>
            </a:solidFill>
            <a:prstDash val="solid"/>
            <a:round/>
            <a:headEnd len="med" w="med" type="none"/>
            <a:tailEnd len="med" w="med" type="none"/>
          </a:ln>
        </p:spPr>
      </p:cxnSp>
      <p:cxnSp>
        <p:nvCxnSpPr>
          <p:cNvPr id="4407" name="Google Shape;4407;p134"/>
          <p:cNvCxnSpPr>
            <a:stCxn id="4400" idx="1"/>
            <a:endCxn id="4397" idx="5"/>
          </p:cNvCxnSpPr>
          <p:nvPr/>
        </p:nvCxnSpPr>
        <p:spPr>
          <a:xfrm rot="10800000">
            <a:off x="6307419" y="2295718"/>
            <a:ext cx="680700" cy="415800"/>
          </a:xfrm>
          <a:prstGeom prst="straightConnector1">
            <a:avLst/>
          </a:prstGeom>
          <a:noFill/>
          <a:ln cap="flat" cmpd="sng" w="28575">
            <a:solidFill>
              <a:schemeClr val="dk2"/>
            </a:solidFill>
            <a:prstDash val="solid"/>
            <a:round/>
            <a:headEnd len="med" w="med" type="none"/>
            <a:tailEnd len="med" w="med" type="none"/>
          </a:ln>
        </p:spPr>
      </p:cxnSp>
      <p:sp>
        <p:nvSpPr>
          <p:cNvPr id="4408" name="Google Shape;4408;p134"/>
          <p:cNvSpPr/>
          <p:nvPr/>
        </p:nvSpPr>
        <p:spPr>
          <a:xfrm>
            <a:off x="7971988" y="18643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cxnSp>
        <p:nvCxnSpPr>
          <p:cNvPr id="4409" name="Google Shape;4409;p134"/>
          <p:cNvCxnSpPr>
            <a:stCxn id="4400" idx="7"/>
            <a:endCxn id="4408" idx="3"/>
          </p:cNvCxnSpPr>
          <p:nvPr/>
        </p:nvCxnSpPr>
        <p:spPr>
          <a:xfrm flipH="1" rot="10800000">
            <a:off x="7370381" y="2324818"/>
            <a:ext cx="680700" cy="386700"/>
          </a:xfrm>
          <a:prstGeom prst="straightConnector1">
            <a:avLst/>
          </a:prstGeom>
          <a:noFill/>
          <a:ln cap="flat" cmpd="sng" w="28575">
            <a:solidFill>
              <a:schemeClr val="dk2"/>
            </a:solidFill>
            <a:prstDash val="solid"/>
            <a:round/>
            <a:headEnd len="med" w="med" type="none"/>
            <a:tailEnd len="med" w="med" type="none"/>
          </a:ln>
        </p:spPr>
      </p:cxnSp>
      <p:sp>
        <p:nvSpPr>
          <p:cNvPr id="4410" name="Google Shape;4410;p134"/>
          <p:cNvSpPr/>
          <p:nvPr/>
        </p:nvSpPr>
        <p:spPr>
          <a:xfrm>
            <a:off x="5845888" y="34297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cxnSp>
        <p:nvCxnSpPr>
          <p:cNvPr id="4411" name="Google Shape;4411;p134"/>
          <p:cNvCxnSpPr>
            <a:stCxn id="4400" idx="3"/>
            <a:endCxn id="4410" idx="7"/>
          </p:cNvCxnSpPr>
          <p:nvPr/>
        </p:nvCxnSpPr>
        <p:spPr>
          <a:xfrm flipH="1">
            <a:off x="6307419" y="3092932"/>
            <a:ext cx="680700" cy="415800"/>
          </a:xfrm>
          <a:prstGeom prst="straightConnector1">
            <a:avLst/>
          </a:prstGeom>
          <a:noFill/>
          <a:ln cap="flat" cmpd="sng" w="28575">
            <a:solidFill>
              <a:schemeClr val="dk2"/>
            </a:solidFill>
            <a:prstDash val="solid"/>
            <a:round/>
            <a:headEnd len="med" w="med" type="none"/>
            <a:tailEnd len="med" w="med" type="none"/>
          </a:ln>
        </p:spPr>
      </p:cxnSp>
      <p:sp>
        <p:nvSpPr>
          <p:cNvPr id="4412" name="Google Shape;4412;p134"/>
          <p:cNvSpPr/>
          <p:nvPr/>
        </p:nvSpPr>
        <p:spPr>
          <a:xfrm>
            <a:off x="7971988" y="34297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cxnSp>
        <p:nvCxnSpPr>
          <p:cNvPr id="4413" name="Google Shape;4413;p134"/>
          <p:cNvCxnSpPr>
            <a:stCxn id="4412" idx="1"/>
            <a:endCxn id="4400" idx="5"/>
          </p:cNvCxnSpPr>
          <p:nvPr/>
        </p:nvCxnSpPr>
        <p:spPr>
          <a:xfrm rot="10800000">
            <a:off x="7370457" y="3092906"/>
            <a:ext cx="680700" cy="415800"/>
          </a:xfrm>
          <a:prstGeom prst="straightConnector1">
            <a:avLst/>
          </a:prstGeom>
          <a:noFill/>
          <a:ln cap="flat" cmpd="sng" w="28575">
            <a:solidFill>
              <a:schemeClr val="dk2"/>
            </a:solidFill>
            <a:prstDash val="solid"/>
            <a:round/>
            <a:headEnd len="med" w="med" type="none"/>
            <a:tailEnd len="med" w="med" type="none"/>
          </a:ln>
        </p:spPr>
      </p:cxnSp>
      <p:sp>
        <p:nvSpPr>
          <p:cNvPr id="4414" name="Google Shape;4414;p134"/>
          <p:cNvSpPr txBox="1"/>
          <p:nvPr>
            <p:ph idx="1" type="body"/>
          </p:nvPr>
        </p:nvSpPr>
        <p:spPr>
          <a:xfrm>
            <a:off x="311700" y="1225225"/>
            <a:ext cx="5080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the </a:t>
            </a:r>
            <a:r>
              <a:rPr b="1" lang="en"/>
              <a:t>star graph </a:t>
            </a:r>
            <a:r>
              <a:rPr lang="en"/>
              <a:t>three centralities are </a:t>
            </a:r>
            <a:r>
              <a:rPr b="1" lang="en"/>
              <a:t>maximized </a:t>
            </a:r>
            <a:r>
              <a:rPr lang="en"/>
              <a:t>for the central node</a:t>
            </a:r>
            <a:endParaRPr/>
          </a:p>
          <a:p>
            <a:pPr indent="-342900" lvl="0" marL="457200" rtl="0" algn="l">
              <a:spcBef>
                <a:spcPts val="0"/>
              </a:spcBef>
              <a:spcAft>
                <a:spcPts val="0"/>
              </a:spcAft>
              <a:buSzPts val="1800"/>
              <a:buChar char="●"/>
            </a:pPr>
            <a:r>
              <a:rPr lang="en"/>
              <a:t>Node </a:t>
            </a:r>
            <a:r>
              <a:rPr b="1" lang="en"/>
              <a:t>a</a:t>
            </a:r>
            <a:r>
              <a:rPr lang="en"/>
              <a:t> has the highest:</a:t>
            </a:r>
            <a:endParaRPr/>
          </a:p>
          <a:p>
            <a:pPr indent="-317500" lvl="1" marL="914400" rtl="0" algn="l">
              <a:spcBef>
                <a:spcPts val="0"/>
              </a:spcBef>
              <a:spcAft>
                <a:spcPts val="0"/>
              </a:spcAft>
              <a:buClr>
                <a:srgbClr val="FF0000"/>
              </a:buClr>
              <a:buSzPts val="1400"/>
              <a:buChar char="○"/>
            </a:pPr>
            <a:r>
              <a:rPr i="1" lang="en">
                <a:solidFill>
                  <a:srgbClr val="FF0000"/>
                </a:solidFill>
              </a:rPr>
              <a:t>Degree centrality</a:t>
            </a:r>
            <a:endParaRPr i="1">
              <a:solidFill>
                <a:srgbClr val="FF0000"/>
              </a:solidFill>
            </a:endParaRPr>
          </a:p>
          <a:p>
            <a:pPr indent="-317500" lvl="2" marL="1371600" rtl="0" algn="l">
              <a:spcBef>
                <a:spcPts val="0"/>
              </a:spcBef>
              <a:spcAft>
                <a:spcPts val="0"/>
              </a:spcAft>
              <a:buSzPts val="1400"/>
              <a:buChar char="■"/>
            </a:pPr>
            <a:r>
              <a:rPr lang="en"/>
              <a:t>Every other node has C</a:t>
            </a:r>
            <a:r>
              <a:rPr baseline="-25000" lang="en"/>
              <a:t>deg</a:t>
            </a:r>
            <a:r>
              <a:rPr lang="en"/>
              <a:t> = 1 but the </a:t>
            </a:r>
            <a:r>
              <a:rPr b="1" lang="en"/>
              <a:t>central node has C</a:t>
            </a:r>
            <a:r>
              <a:rPr b="1" baseline="-25000" lang="en"/>
              <a:t>deg</a:t>
            </a:r>
            <a:r>
              <a:rPr b="1" lang="en"/>
              <a:t> = N - 1</a:t>
            </a:r>
            <a:r>
              <a:rPr lang="en"/>
              <a:t>!</a:t>
            </a:r>
            <a:endParaRPr/>
          </a:p>
          <a:p>
            <a:pPr indent="-317500" lvl="1" marL="914400" rtl="0" algn="l">
              <a:spcBef>
                <a:spcPts val="0"/>
              </a:spcBef>
              <a:spcAft>
                <a:spcPts val="0"/>
              </a:spcAft>
              <a:buClr>
                <a:srgbClr val="FF0000"/>
              </a:buClr>
              <a:buSzPts val="1400"/>
              <a:buChar char="○"/>
            </a:pPr>
            <a:r>
              <a:rPr i="1" lang="en">
                <a:solidFill>
                  <a:srgbClr val="FF0000"/>
                </a:solidFill>
              </a:rPr>
              <a:t>Closeness centrality</a:t>
            </a:r>
            <a:endParaRPr i="1">
              <a:solidFill>
                <a:srgbClr val="FF0000"/>
              </a:solidFill>
            </a:endParaRPr>
          </a:p>
          <a:p>
            <a:pPr indent="-317500" lvl="2" marL="1371600" rtl="0" algn="l">
              <a:spcBef>
                <a:spcPts val="0"/>
              </a:spcBef>
              <a:spcAft>
                <a:spcPts val="0"/>
              </a:spcAft>
              <a:buSzPts val="1400"/>
              <a:buChar char="■"/>
            </a:pPr>
            <a:r>
              <a:rPr lang="en"/>
              <a:t>Can reach all nodes via </a:t>
            </a:r>
            <a:r>
              <a:rPr b="1" lang="en"/>
              <a:t>paths of length 1</a:t>
            </a:r>
            <a:r>
              <a:rPr lang="en"/>
              <a:t>!</a:t>
            </a:r>
            <a:endParaRPr/>
          </a:p>
          <a:p>
            <a:pPr indent="0" lvl="0" marL="0" rtl="0" algn="l">
              <a:spcBef>
                <a:spcPts val="0"/>
              </a:spcBef>
              <a:spcAft>
                <a:spcPts val="0"/>
              </a:spcAft>
              <a:buNone/>
            </a:pPr>
            <a:r>
              <a:t/>
            </a:r>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8" name="Shape 4418"/>
        <p:cNvGrpSpPr/>
        <p:nvPr/>
      </p:nvGrpSpPr>
      <p:grpSpPr>
        <a:xfrm>
          <a:off x="0" y="0"/>
          <a:ext cx="0" cy="0"/>
          <a:chOff x="0" y="0"/>
          <a:chExt cx="0" cy="0"/>
        </a:xfrm>
      </p:grpSpPr>
      <p:sp>
        <p:nvSpPr>
          <p:cNvPr id="4419" name="Google Shape;4419;p13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star graph</a:t>
            </a:r>
            <a:endParaRPr/>
          </a:p>
        </p:txBody>
      </p:sp>
      <p:sp>
        <p:nvSpPr>
          <p:cNvPr id="4420" name="Google Shape;4420;p135"/>
          <p:cNvSpPr/>
          <p:nvPr/>
        </p:nvSpPr>
        <p:spPr>
          <a:xfrm>
            <a:off x="5845888" y="18353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4421" name="Google Shape;4421;p135"/>
          <p:cNvSpPr/>
          <p:nvPr/>
        </p:nvSpPr>
        <p:spPr>
          <a:xfrm>
            <a:off x="6908938" y="1452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4422" name="Google Shape;4422;p135"/>
          <p:cNvSpPr/>
          <p:nvPr/>
        </p:nvSpPr>
        <p:spPr>
          <a:xfrm>
            <a:off x="8425825" y="26325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4423" name="Google Shape;4423;p135"/>
          <p:cNvSpPr/>
          <p:nvPr/>
        </p:nvSpPr>
        <p:spPr>
          <a:xfrm>
            <a:off x="6908950" y="26325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4424" name="Google Shape;4424;p135"/>
          <p:cNvSpPr/>
          <p:nvPr/>
        </p:nvSpPr>
        <p:spPr>
          <a:xfrm>
            <a:off x="5392063" y="26325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4425" name="Google Shape;4425;p135"/>
          <p:cNvSpPr/>
          <p:nvPr/>
        </p:nvSpPr>
        <p:spPr>
          <a:xfrm>
            <a:off x="6908938" y="38121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cxnSp>
        <p:nvCxnSpPr>
          <p:cNvPr id="4426" name="Google Shape;4426;p135"/>
          <p:cNvCxnSpPr>
            <a:stCxn id="4425" idx="0"/>
            <a:endCxn id="4423" idx="4"/>
          </p:cNvCxnSpPr>
          <p:nvPr/>
        </p:nvCxnSpPr>
        <p:spPr>
          <a:xfrm rot="10800000">
            <a:off x="7179238" y="3171913"/>
            <a:ext cx="0" cy="640200"/>
          </a:xfrm>
          <a:prstGeom prst="straightConnector1">
            <a:avLst/>
          </a:prstGeom>
          <a:noFill/>
          <a:ln cap="flat" cmpd="sng" w="28575">
            <a:solidFill>
              <a:schemeClr val="dk2"/>
            </a:solidFill>
            <a:prstDash val="solid"/>
            <a:round/>
            <a:headEnd len="med" w="med" type="none"/>
            <a:tailEnd len="med" w="med" type="none"/>
          </a:ln>
        </p:spPr>
      </p:cxnSp>
      <p:cxnSp>
        <p:nvCxnSpPr>
          <p:cNvPr id="4427" name="Google Shape;4427;p135"/>
          <p:cNvCxnSpPr>
            <a:stCxn id="4423" idx="2"/>
            <a:endCxn id="4424" idx="6"/>
          </p:cNvCxnSpPr>
          <p:nvPr/>
        </p:nvCxnSpPr>
        <p:spPr>
          <a:xfrm rot="10800000">
            <a:off x="5932750" y="2902225"/>
            <a:ext cx="976200" cy="0"/>
          </a:xfrm>
          <a:prstGeom prst="straightConnector1">
            <a:avLst/>
          </a:prstGeom>
          <a:noFill/>
          <a:ln cap="flat" cmpd="sng" w="28575">
            <a:solidFill>
              <a:schemeClr val="dk2"/>
            </a:solidFill>
            <a:prstDash val="solid"/>
            <a:round/>
            <a:headEnd len="med" w="med" type="none"/>
            <a:tailEnd len="med" w="med" type="none"/>
          </a:ln>
        </p:spPr>
      </p:cxnSp>
      <p:cxnSp>
        <p:nvCxnSpPr>
          <p:cNvPr id="4428" name="Google Shape;4428;p135"/>
          <p:cNvCxnSpPr>
            <a:stCxn id="4421" idx="4"/>
            <a:endCxn id="4423" idx="0"/>
          </p:cNvCxnSpPr>
          <p:nvPr/>
        </p:nvCxnSpPr>
        <p:spPr>
          <a:xfrm>
            <a:off x="7179238" y="1992325"/>
            <a:ext cx="0" cy="640200"/>
          </a:xfrm>
          <a:prstGeom prst="straightConnector1">
            <a:avLst/>
          </a:prstGeom>
          <a:noFill/>
          <a:ln cap="flat" cmpd="sng" w="28575">
            <a:solidFill>
              <a:schemeClr val="dk2"/>
            </a:solidFill>
            <a:prstDash val="solid"/>
            <a:round/>
            <a:headEnd len="med" w="med" type="none"/>
            <a:tailEnd len="med" w="med" type="none"/>
          </a:ln>
        </p:spPr>
      </p:cxnSp>
      <p:cxnSp>
        <p:nvCxnSpPr>
          <p:cNvPr id="4429" name="Google Shape;4429;p135"/>
          <p:cNvCxnSpPr>
            <a:stCxn id="4422" idx="2"/>
            <a:endCxn id="4423" idx="6"/>
          </p:cNvCxnSpPr>
          <p:nvPr/>
        </p:nvCxnSpPr>
        <p:spPr>
          <a:xfrm rot="10800000">
            <a:off x="7449625" y="2902213"/>
            <a:ext cx="976200" cy="0"/>
          </a:xfrm>
          <a:prstGeom prst="straightConnector1">
            <a:avLst/>
          </a:prstGeom>
          <a:noFill/>
          <a:ln cap="flat" cmpd="sng" w="28575">
            <a:solidFill>
              <a:schemeClr val="dk2"/>
            </a:solidFill>
            <a:prstDash val="solid"/>
            <a:round/>
            <a:headEnd len="med" w="med" type="none"/>
            <a:tailEnd len="med" w="med" type="none"/>
          </a:ln>
        </p:spPr>
      </p:cxnSp>
      <p:cxnSp>
        <p:nvCxnSpPr>
          <p:cNvPr id="4430" name="Google Shape;4430;p135"/>
          <p:cNvCxnSpPr>
            <a:stCxn id="4423" idx="1"/>
            <a:endCxn id="4420" idx="5"/>
          </p:cNvCxnSpPr>
          <p:nvPr/>
        </p:nvCxnSpPr>
        <p:spPr>
          <a:xfrm rot="10800000">
            <a:off x="6307419" y="2295718"/>
            <a:ext cx="680700" cy="415800"/>
          </a:xfrm>
          <a:prstGeom prst="straightConnector1">
            <a:avLst/>
          </a:prstGeom>
          <a:noFill/>
          <a:ln cap="flat" cmpd="sng" w="28575">
            <a:solidFill>
              <a:schemeClr val="dk2"/>
            </a:solidFill>
            <a:prstDash val="solid"/>
            <a:round/>
            <a:headEnd len="med" w="med" type="none"/>
            <a:tailEnd len="med" w="med" type="none"/>
          </a:ln>
        </p:spPr>
      </p:cxnSp>
      <p:sp>
        <p:nvSpPr>
          <p:cNvPr id="4431" name="Google Shape;4431;p135"/>
          <p:cNvSpPr/>
          <p:nvPr/>
        </p:nvSpPr>
        <p:spPr>
          <a:xfrm>
            <a:off x="7971988" y="18643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cxnSp>
        <p:nvCxnSpPr>
          <p:cNvPr id="4432" name="Google Shape;4432;p135"/>
          <p:cNvCxnSpPr>
            <a:stCxn id="4423" idx="7"/>
            <a:endCxn id="4431" idx="3"/>
          </p:cNvCxnSpPr>
          <p:nvPr/>
        </p:nvCxnSpPr>
        <p:spPr>
          <a:xfrm flipH="1" rot="10800000">
            <a:off x="7370381" y="2324818"/>
            <a:ext cx="680700" cy="386700"/>
          </a:xfrm>
          <a:prstGeom prst="straightConnector1">
            <a:avLst/>
          </a:prstGeom>
          <a:noFill/>
          <a:ln cap="flat" cmpd="sng" w="28575">
            <a:solidFill>
              <a:schemeClr val="dk2"/>
            </a:solidFill>
            <a:prstDash val="solid"/>
            <a:round/>
            <a:headEnd len="med" w="med" type="none"/>
            <a:tailEnd len="med" w="med" type="none"/>
          </a:ln>
        </p:spPr>
      </p:cxnSp>
      <p:sp>
        <p:nvSpPr>
          <p:cNvPr id="4433" name="Google Shape;4433;p135"/>
          <p:cNvSpPr/>
          <p:nvPr/>
        </p:nvSpPr>
        <p:spPr>
          <a:xfrm>
            <a:off x="5845888" y="34297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cxnSp>
        <p:nvCxnSpPr>
          <p:cNvPr id="4434" name="Google Shape;4434;p135"/>
          <p:cNvCxnSpPr>
            <a:stCxn id="4423" idx="3"/>
            <a:endCxn id="4433" idx="7"/>
          </p:cNvCxnSpPr>
          <p:nvPr/>
        </p:nvCxnSpPr>
        <p:spPr>
          <a:xfrm flipH="1">
            <a:off x="6307419" y="3092932"/>
            <a:ext cx="680700" cy="415800"/>
          </a:xfrm>
          <a:prstGeom prst="straightConnector1">
            <a:avLst/>
          </a:prstGeom>
          <a:noFill/>
          <a:ln cap="flat" cmpd="sng" w="28575">
            <a:solidFill>
              <a:schemeClr val="dk2"/>
            </a:solidFill>
            <a:prstDash val="solid"/>
            <a:round/>
            <a:headEnd len="med" w="med" type="none"/>
            <a:tailEnd len="med" w="med" type="none"/>
          </a:ln>
        </p:spPr>
      </p:cxnSp>
      <p:sp>
        <p:nvSpPr>
          <p:cNvPr id="4435" name="Google Shape;4435;p135"/>
          <p:cNvSpPr/>
          <p:nvPr/>
        </p:nvSpPr>
        <p:spPr>
          <a:xfrm>
            <a:off x="7971988" y="34297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cxnSp>
        <p:nvCxnSpPr>
          <p:cNvPr id="4436" name="Google Shape;4436;p135"/>
          <p:cNvCxnSpPr>
            <a:stCxn id="4435" idx="1"/>
            <a:endCxn id="4423" idx="5"/>
          </p:cNvCxnSpPr>
          <p:nvPr/>
        </p:nvCxnSpPr>
        <p:spPr>
          <a:xfrm rot="10800000">
            <a:off x="7370457" y="3092906"/>
            <a:ext cx="680700" cy="415800"/>
          </a:xfrm>
          <a:prstGeom prst="straightConnector1">
            <a:avLst/>
          </a:prstGeom>
          <a:noFill/>
          <a:ln cap="flat" cmpd="sng" w="28575">
            <a:solidFill>
              <a:schemeClr val="dk2"/>
            </a:solidFill>
            <a:prstDash val="solid"/>
            <a:round/>
            <a:headEnd len="med" w="med" type="none"/>
            <a:tailEnd len="med" w="med" type="none"/>
          </a:ln>
        </p:spPr>
      </p:cxnSp>
      <p:sp>
        <p:nvSpPr>
          <p:cNvPr id="4437" name="Google Shape;4437;p135"/>
          <p:cNvSpPr txBox="1"/>
          <p:nvPr>
            <p:ph idx="1" type="body"/>
          </p:nvPr>
        </p:nvSpPr>
        <p:spPr>
          <a:xfrm>
            <a:off x="311700" y="1225225"/>
            <a:ext cx="5080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the </a:t>
            </a:r>
            <a:r>
              <a:rPr b="1" lang="en"/>
              <a:t>star graph </a:t>
            </a:r>
            <a:r>
              <a:rPr lang="en"/>
              <a:t>three centralities are </a:t>
            </a:r>
            <a:r>
              <a:rPr b="1" lang="en"/>
              <a:t>maximized </a:t>
            </a:r>
            <a:r>
              <a:rPr lang="en"/>
              <a:t>for the central node</a:t>
            </a:r>
            <a:endParaRPr/>
          </a:p>
          <a:p>
            <a:pPr indent="-342900" lvl="0" marL="457200" rtl="0" algn="l">
              <a:spcBef>
                <a:spcPts val="0"/>
              </a:spcBef>
              <a:spcAft>
                <a:spcPts val="0"/>
              </a:spcAft>
              <a:buSzPts val="1800"/>
              <a:buChar char="●"/>
            </a:pPr>
            <a:r>
              <a:rPr lang="en"/>
              <a:t>Node </a:t>
            </a:r>
            <a:r>
              <a:rPr b="1" lang="en"/>
              <a:t>a</a:t>
            </a:r>
            <a:r>
              <a:rPr lang="en"/>
              <a:t> has the highest:</a:t>
            </a:r>
            <a:endParaRPr/>
          </a:p>
          <a:p>
            <a:pPr indent="-317500" lvl="1" marL="914400" rtl="0" algn="l">
              <a:spcBef>
                <a:spcPts val="0"/>
              </a:spcBef>
              <a:spcAft>
                <a:spcPts val="0"/>
              </a:spcAft>
              <a:buClr>
                <a:srgbClr val="FF0000"/>
              </a:buClr>
              <a:buSzPts val="1400"/>
              <a:buChar char="○"/>
            </a:pPr>
            <a:r>
              <a:rPr i="1" lang="en">
                <a:solidFill>
                  <a:srgbClr val="FF0000"/>
                </a:solidFill>
              </a:rPr>
              <a:t>Degree centrality</a:t>
            </a:r>
            <a:endParaRPr i="1">
              <a:solidFill>
                <a:srgbClr val="FF0000"/>
              </a:solidFill>
            </a:endParaRPr>
          </a:p>
          <a:p>
            <a:pPr indent="-317500" lvl="2" marL="1371600" rtl="0" algn="l">
              <a:spcBef>
                <a:spcPts val="0"/>
              </a:spcBef>
              <a:spcAft>
                <a:spcPts val="0"/>
              </a:spcAft>
              <a:buSzPts val="1400"/>
              <a:buChar char="■"/>
            </a:pPr>
            <a:r>
              <a:rPr lang="en"/>
              <a:t>Every other node has C</a:t>
            </a:r>
            <a:r>
              <a:rPr baseline="-25000" lang="en"/>
              <a:t>deg</a:t>
            </a:r>
            <a:r>
              <a:rPr lang="en"/>
              <a:t> = 1 but the </a:t>
            </a:r>
            <a:r>
              <a:rPr b="1" lang="en"/>
              <a:t>central node has C</a:t>
            </a:r>
            <a:r>
              <a:rPr b="1" baseline="-25000" lang="en"/>
              <a:t>deg</a:t>
            </a:r>
            <a:r>
              <a:rPr b="1" lang="en"/>
              <a:t> = N - 1</a:t>
            </a:r>
            <a:r>
              <a:rPr lang="en"/>
              <a:t>!</a:t>
            </a:r>
            <a:endParaRPr/>
          </a:p>
          <a:p>
            <a:pPr indent="-317500" lvl="1" marL="914400" rtl="0" algn="l">
              <a:spcBef>
                <a:spcPts val="0"/>
              </a:spcBef>
              <a:spcAft>
                <a:spcPts val="0"/>
              </a:spcAft>
              <a:buClr>
                <a:srgbClr val="FF0000"/>
              </a:buClr>
              <a:buSzPts val="1400"/>
              <a:buChar char="○"/>
            </a:pPr>
            <a:r>
              <a:rPr i="1" lang="en">
                <a:solidFill>
                  <a:srgbClr val="FF0000"/>
                </a:solidFill>
              </a:rPr>
              <a:t>Closeness centrality</a:t>
            </a:r>
            <a:endParaRPr i="1">
              <a:solidFill>
                <a:srgbClr val="FF0000"/>
              </a:solidFill>
            </a:endParaRPr>
          </a:p>
          <a:p>
            <a:pPr indent="-317500" lvl="2" marL="1371600" rtl="0" algn="l">
              <a:spcBef>
                <a:spcPts val="0"/>
              </a:spcBef>
              <a:spcAft>
                <a:spcPts val="0"/>
              </a:spcAft>
              <a:buSzPts val="1400"/>
              <a:buChar char="■"/>
            </a:pPr>
            <a:r>
              <a:rPr lang="en"/>
              <a:t>Can reach all nodes via </a:t>
            </a:r>
            <a:r>
              <a:rPr b="1" lang="en"/>
              <a:t>paths of length 1</a:t>
            </a:r>
            <a:r>
              <a:rPr lang="en"/>
              <a:t>!</a:t>
            </a:r>
            <a:endParaRPr/>
          </a:p>
          <a:p>
            <a:pPr indent="-317500" lvl="1" marL="914400" rtl="0" algn="l">
              <a:spcBef>
                <a:spcPts val="0"/>
              </a:spcBef>
              <a:spcAft>
                <a:spcPts val="0"/>
              </a:spcAft>
              <a:buClr>
                <a:srgbClr val="FF0000"/>
              </a:buClr>
              <a:buSzPts val="1400"/>
              <a:buChar char="○"/>
            </a:pPr>
            <a:r>
              <a:rPr i="1" lang="en">
                <a:solidFill>
                  <a:srgbClr val="FF0000"/>
                </a:solidFill>
              </a:rPr>
              <a:t>Betweenness centrality</a:t>
            </a:r>
            <a:endParaRPr i="1">
              <a:solidFill>
                <a:srgbClr val="FF0000"/>
              </a:solidFill>
            </a:endParaRPr>
          </a:p>
          <a:p>
            <a:pPr indent="-317500" lvl="2" marL="1371600" rtl="0" algn="l">
              <a:spcBef>
                <a:spcPts val="0"/>
              </a:spcBef>
              <a:spcAft>
                <a:spcPts val="0"/>
              </a:spcAft>
              <a:buSzPts val="1400"/>
              <a:buChar char="■"/>
            </a:pPr>
            <a:r>
              <a:rPr lang="en"/>
              <a:t>The central node stands in </a:t>
            </a:r>
            <a:r>
              <a:rPr b="1" lang="en"/>
              <a:t>every one</a:t>
            </a:r>
            <a:r>
              <a:rPr lang="en"/>
              <a:t> of the </a:t>
            </a:r>
            <a:r>
              <a:rPr b="1" lang="en"/>
              <a:t>shortest paths</a:t>
            </a:r>
            <a:r>
              <a:rPr lang="en"/>
              <a:t> linking all the other pairs of nodes (length = 2)!</a:t>
            </a:r>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4441" name="Shape 4441"/>
        <p:cNvGrpSpPr/>
        <p:nvPr/>
      </p:nvGrpSpPr>
      <p:grpSpPr>
        <a:xfrm>
          <a:off x="0" y="0"/>
          <a:ext cx="0" cy="0"/>
          <a:chOff x="0" y="0"/>
          <a:chExt cx="0" cy="0"/>
        </a:xfrm>
      </p:grpSpPr>
      <p:sp>
        <p:nvSpPr>
          <p:cNvPr id="4442" name="Google Shape;4442;p136"/>
          <p:cNvSpPr txBox="1"/>
          <p:nvPr>
            <p:ph type="title"/>
          </p:nvPr>
        </p:nvSpPr>
        <p:spPr>
          <a:xfrm>
            <a:off x="773700" y="1806450"/>
            <a:ext cx="7596600" cy="1530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Graph Centralization</a:t>
            </a:r>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6" name="Shape 4446"/>
        <p:cNvGrpSpPr/>
        <p:nvPr/>
      </p:nvGrpSpPr>
      <p:grpSpPr>
        <a:xfrm>
          <a:off x="0" y="0"/>
          <a:ext cx="0" cy="0"/>
          <a:chOff x="0" y="0"/>
          <a:chExt cx="0" cy="0"/>
        </a:xfrm>
      </p:grpSpPr>
      <p:sp>
        <p:nvSpPr>
          <p:cNvPr id="4447" name="Google Shape;4447;p13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Degree Centralization</a:t>
            </a:r>
            <a:endParaRPr/>
          </a:p>
        </p:txBody>
      </p:sp>
      <p:sp>
        <p:nvSpPr>
          <p:cNvPr id="4448" name="Google Shape;4448;p137"/>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4449" name="Google Shape;4449;p137"/>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4450" name="Google Shape;4450;p137"/>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4451" name="Google Shape;4451;p137"/>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4452" name="Google Shape;4452;p137"/>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4453" name="Google Shape;4453;p137"/>
          <p:cNvCxnSpPr>
            <a:stCxn id="4449" idx="4"/>
            <a:endCxn id="4450"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4454" name="Google Shape;4454;p137"/>
          <p:cNvCxnSpPr>
            <a:stCxn id="4450" idx="2"/>
            <a:endCxn id="4448"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455" name="Google Shape;4455;p137"/>
          <p:cNvCxnSpPr>
            <a:stCxn id="4450" idx="6"/>
            <a:endCxn id="4451"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graphicFrame>
        <p:nvGraphicFramePr>
          <p:cNvPr id="4456" name="Google Shape;4456;p137"/>
          <p:cNvGraphicFramePr/>
          <p:nvPr/>
        </p:nvGraphicFramePr>
        <p:xfrm>
          <a:off x="508013" y="3547350"/>
          <a:ext cx="3000000" cy="3000000"/>
        </p:xfrm>
        <a:graphic>
          <a:graphicData uri="http://schemas.openxmlformats.org/drawingml/2006/table">
            <a:tbl>
              <a:tblPr>
                <a:noFill/>
                <a:tableStyleId>{4D36BE5A-9069-42A2-BAD7-CD2C23C4D617}</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457" name="Google Shape;4457;p137"/>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Maximally Centralized Network (N = 5)</a:t>
            </a:r>
            <a:endParaRPr sz="1800">
              <a:latin typeface="Economica"/>
              <a:ea typeface="Economica"/>
              <a:cs typeface="Economica"/>
              <a:sym typeface="Economica"/>
            </a:endParaRPr>
          </a:p>
        </p:txBody>
      </p:sp>
      <p:sp>
        <p:nvSpPr>
          <p:cNvPr id="4458" name="Google Shape;4458;p137"/>
          <p:cNvSpPr txBox="1"/>
          <p:nvPr/>
        </p:nvSpPr>
        <p:spPr>
          <a:xfrm>
            <a:off x="4781650" y="457677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Observed Network </a:t>
            </a:r>
            <a:endParaRPr sz="1800">
              <a:latin typeface="Economica"/>
              <a:ea typeface="Economica"/>
              <a:cs typeface="Economica"/>
              <a:sym typeface="Economica"/>
            </a:endParaRPr>
          </a:p>
          <a:p>
            <a:pPr indent="0" lvl="0" marL="0" rtl="0" algn="ctr">
              <a:spcBef>
                <a:spcPts val="0"/>
              </a:spcBef>
              <a:spcAft>
                <a:spcPts val="0"/>
              </a:spcAft>
              <a:buNone/>
            </a:pPr>
            <a:r>
              <a:rPr lang="en" sz="1800">
                <a:latin typeface="Economica"/>
                <a:ea typeface="Economica"/>
                <a:cs typeface="Economica"/>
                <a:sym typeface="Economica"/>
              </a:rPr>
              <a:t>(N = 5)</a:t>
            </a:r>
            <a:endParaRPr sz="1800">
              <a:latin typeface="Economica"/>
              <a:ea typeface="Economica"/>
              <a:cs typeface="Economica"/>
              <a:sym typeface="Economica"/>
            </a:endParaRPr>
          </a:p>
        </p:txBody>
      </p:sp>
      <p:sp>
        <p:nvSpPr>
          <p:cNvPr id="4459" name="Google Shape;4459;p137"/>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latin typeface="Open Sans"/>
                <a:ea typeface="Open Sans"/>
                <a:cs typeface="Open Sans"/>
                <a:sym typeface="Open Sans"/>
              </a:rPr>
              <a:t>k</a:t>
            </a:r>
            <a:r>
              <a:rPr baseline="30000" lang="en">
                <a:latin typeface="Open Sans"/>
                <a:ea typeface="Open Sans"/>
                <a:cs typeface="Open Sans"/>
                <a:sym typeface="Open Sans"/>
              </a:rPr>
              <a:t>max</a:t>
            </a:r>
            <a:r>
              <a:rPr baseline="-25000" lang="en">
                <a:latin typeface="Open Sans"/>
                <a:ea typeface="Open Sans"/>
                <a:cs typeface="Open Sans"/>
                <a:sym typeface="Open Sans"/>
              </a:rPr>
              <a:t> </a:t>
            </a:r>
            <a:r>
              <a:rPr lang="en">
                <a:latin typeface="Open Sans"/>
                <a:ea typeface="Open Sans"/>
                <a:cs typeface="Open Sans"/>
                <a:sym typeface="Open Sans"/>
              </a:rPr>
              <a:t>=4</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4460" name="Google Shape;4460;p137"/>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4461" name="Google Shape;4461;p137"/>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4462" name="Google Shape;4462;p137"/>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4463" name="Google Shape;4463;p137"/>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4464" name="Google Shape;4464;p137"/>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4465" name="Google Shape;4465;p137"/>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4466" name="Google Shape;4466;p137"/>
          <p:cNvCxnSpPr>
            <a:stCxn id="4462" idx="4"/>
            <a:endCxn id="4463"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4467" name="Google Shape;4467;p137"/>
          <p:cNvCxnSpPr>
            <a:stCxn id="4462" idx="5"/>
            <a:endCxn id="4464"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4468" name="Google Shape;4468;p137"/>
          <p:cNvCxnSpPr>
            <a:stCxn id="4463" idx="2"/>
            <a:endCxn id="4461"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469" name="Google Shape;4469;p137"/>
          <p:cNvCxnSpPr>
            <a:stCxn id="4462" idx="3"/>
            <a:endCxn id="4461"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4470" name="Google Shape;4470;p137"/>
          <p:cNvCxnSpPr>
            <a:stCxn id="4463" idx="6"/>
            <a:endCxn id="4464"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471" name="Google Shape;4471;p137"/>
          <p:cNvCxnSpPr>
            <a:stCxn id="4465" idx="1"/>
            <a:endCxn id="4461"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4472" name="Google Shape;4472;p137"/>
          <p:cNvCxnSpPr>
            <a:stCxn id="4463" idx="4"/>
            <a:endCxn id="4465"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4473" name="Google Shape;4473;p137"/>
          <p:cNvCxnSpPr>
            <a:stCxn id="4464" idx="3"/>
            <a:endCxn id="4465" idx="7"/>
          </p:cNvCxnSpPr>
          <p:nvPr/>
        </p:nvCxnSpPr>
        <p:spPr>
          <a:xfrm flipH="1">
            <a:off x="6147369" y="2544091"/>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4474" name="Google Shape;4474;p137"/>
          <p:cNvCxnSpPr>
            <a:stCxn id="4450" idx="4"/>
            <a:endCxn id="4452" idx="0"/>
          </p:cNvCxnSpPr>
          <p:nvPr/>
        </p:nvCxnSpPr>
        <p:spPr>
          <a:xfrm>
            <a:off x="1705317" y="2575745"/>
            <a:ext cx="0" cy="435600"/>
          </a:xfrm>
          <a:prstGeom prst="straightConnector1">
            <a:avLst/>
          </a:prstGeom>
          <a:noFill/>
          <a:ln cap="flat" cmpd="sng" w="28575">
            <a:solidFill>
              <a:srgbClr val="666666"/>
            </a:solidFill>
            <a:prstDash val="solid"/>
            <a:round/>
            <a:headEnd len="med" w="med" type="none"/>
            <a:tailEnd len="med" w="med" type="none"/>
          </a:ln>
        </p:spPr>
      </p:cxnSp>
      <p:graphicFrame>
        <p:nvGraphicFramePr>
          <p:cNvPr id="4475" name="Google Shape;4475;p137"/>
          <p:cNvGraphicFramePr/>
          <p:nvPr/>
        </p:nvGraphicFramePr>
        <p:xfrm>
          <a:off x="4781638" y="3547350"/>
          <a:ext cx="3000000" cy="3000000"/>
        </p:xfrm>
        <a:graphic>
          <a:graphicData uri="http://schemas.openxmlformats.org/drawingml/2006/table">
            <a:tbl>
              <a:tblPr>
                <a:noFill/>
                <a:tableStyleId>{4D36BE5A-9069-42A2-BAD7-CD2C23C4D617}</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476" name="Google Shape;4476;p137"/>
          <p:cNvSpPr txBox="1"/>
          <p:nvPr/>
        </p:nvSpPr>
        <p:spPr>
          <a:xfrm>
            <a:off x="6667425" y="224925"/>
            <a:ext cx="2203500" cy="18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Degree Centralization compares an observed network to one that is maximally centralized (the star graph of the same order)</a:t>
            </a:r>
            <a:endParaRPr b="1">
              <a:solidFill>
                <a:srgbClr val="FF0000"/>
              </a:solidFill>
              <a:latin typeface="Open Sans"/>
              <a:ea typeface="Open Sans"/>
              <a:cs typeface="Open Sans"/>
              <a:sym typeface="Open Sans"/>
            </a:endParaRPr>
          </a:p>
        </p:txBody>
      </p:sp>
      <p:pic>
        <p:nvPicPr>
          <p:cNvPr descr="C_d=\frac{\sum_i k^{max}-k_i}{C(max)}" id="4477" name="Google Shape;4477;p137"/>
          <p:cNvPicPr preferRelativeResize="0"/>
          <p:nvPr/>
        </p:nvPicPr>
        <p:blipFill>
          <a:blip r:embed="rId3">
            <a:alphaModFix/>
          </a:blip>
          <a:stretch>
            <a:fillRect/>
          </a:stretch>
        </p:blipFill>
        <p:spPr>
          <a:xfrm>
            <a:off x="2808489" y="1265400"/>
            <a:ext cx="2235824" cy="666825"/>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1" name="Shape 4481"/>
        <p:cNvGrpSpPr/>
        <p:nvPr/>
      </p:nvGrpSpPr>
      <p:grpSpPr>
        <a:xfrm>
          <a:off x="0" y="0"/>
          <a:ext cx="0" cy="0"/>
          <a:chOff x="0" y="0"/>
          <a:chExt cx="0" cy="0"/>
        </a:xfrm>
      </p:grpSpPr>
      <p:sp>
        <p:nvSpPr>
          <p:cNvPr id="4482" name="Google Shape;4482;p13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Degree Centralization</a:t>
            </a:r>
            <a:endParaRPr/>
          </a:p>
        </p:txBody>
      </p:sp>
      <p:sp>
        <p:nvSpPr>
          <p:cNvPr id="4483" name="Google Shape;4483;p138"/>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4484" name="Google Shape;4484;p138"/>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4485" name="Google Shape;4485;p138"/>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4486" name="Google Shape;4486;p138"/>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4487" name="Google Shape;4487;p138"/>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4488" name="Google Shape;4488;p138"/>
          <p:cNvCxnSpPr>
            <a:stCxn id="4484" idx="4"/>
            <a:endCxn id="4485"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4489" name="Google Shape;4489;p138"/>
          <p:cNvCxnSpPr>
            <a:stCxn id="4485" idx="2"/>
            <a:endCxn id="4483"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490" name="Google Shape;4490;p138"/>
          <p:cNvCxnSpPr>
            <a:stCxn id="4485" idx="6"/>
            <a:endCxn id="4486"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graphicFrame>
        <p:nvGraphicFramePr>
          <p:cNvPr id="4491" name="Google Shape;4491;p138"/>
          <p:cNvGraphicFramePr/>
          <p:nvPr/>
        </p:nvGraphicFramePr>
        <p:xfrm>
          <a:off x="508013" y="3547350"/>
          <a:ext cx="3000000" cy="3000000"/>
        </p:xfrm>
        <a:graphic>
          <a:graphicData uri="http://schemas.openxmlformats.org/drawingml/2006/table">
            <a:tbl>
              <a:tblPr>
                <a:noFill/>
                <a:tableStyleId>{4D36BE5A-9069-42A2-BAD7-CD2C23C4D617}</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492" name="Google Shape;4492;p138"/>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Maximally Centralized Network (N = 5)</a:t>
            </a:r>
            <a:endParaRPr sz="1800">
              <a:latin typeface="Economica"/>
              <a:ea typeface="Economica"/>
              <a:cs typeface="Economica"/>
              <a:sym typeface="Economica"/>
            </a:endParaRPr>
          </a:p>
        </p:txBody>
      </p:sp>
      <p:sp>
        <p:nvSpPr>
          <p:cNvPr id="4493" name="Google Shape;4493;p138"/>
          <p:cNvSpPr txBox="1"/>
          <p:nvPr/>
        </p:nvSpPr>
        <p:spPr>
          <a:xfrm>
            <a:off x="4781650" y="457677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Observed Network </a:t>
            </a:r>
            <a:endParaRPr sz="1800">
              <a:latin typeface="Economica"/>
              <a:ea typeface="Economica"/>
              <a:cs typeface="Economica"/>
              <a:sym typeface="Economica"/>
            </a:endParaRPr>
          </a:p>
          <a:p>
            <a:pPr indent="0" lvl="0" marL="0" rtl="0" algn="ctr">
              <a:spcBef>
                <a:spcPts val="0"/>
              </a:spcBef>
              <a:spcAft>
                <a:spcPts val="0"/>
              </a:spcAft>
              <a:buNone/>
            </a:pPr>
            <a:r>
              <a:rPr lang="en" sz="1800">
                <a:latin typeface="Economica"/>
                <a:ea typeface="Economica"/>
                <a:cs typeface="Economica"/>
                <a:sym typeface="Economica"/>
              </a:rPr>
              <a:t>(N = 5)</a:t>
            </a:r>
            <a:endParaRPr sz="1800">
              <a:latin typeface="Economica"/>
              <a:ea typeface="Economica"/>
              <a:cs typeface="Economica"/>
              <a:sym typeface="Economica"/>
            </a:endParaRPr>
          </a:p>
        </p:txBody>
      </p:sp>
      <p:sp>
        <p:nvSpPr>
          <p:cNvPr id="4494" name="Google Shape;4494;p138"/>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Sum of differences: 12</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4495" name="Google Shape;4495;p138"/>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endParaRPr>
              <a:solidFill>
                <a:schemeClr val="dk1"/>
              </a:solidFill>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Sum of differences: 4</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4496" name="Google Shape;4496;p138"/>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4497" name="Google Shape;4497;p138"/>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4498" name="Google Shape;4498;p138"/>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4499" name="Google Shape;4499;p138"/>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4500" name="Google Shape;4500;p138"/>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4501" name="Google Shape;4501;p138"/>
          <p:cNvCxnSpPr>
            <a:stCxn id="4497" idx="4"/>
            <a:endCxn id="4498"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4502" name="Google Shape;4502;p138"/>
          <p:cNvCxnSpPr>
            <a:stCxn id="4497" idx="5"/>
            <a:endCxn id="4499"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4503" name="Google Shape;4503;p138"/>
          <p:cNvCxnSpPr>
            <a:stCxn id="4498" idx="2"/>
            <a:endCxn id="4496"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504" name="Google Shape;4504;p138"/>
          <p:cNvCxnSpPr>
            <a:stCxn id="4497" idx="3"/>
            <a:endCxn id="4496"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4505" name="Google Shape;4505;p138"/>
          <p:cNvCxnSpPr>
            <a:stCxn id="4498" idx="6"/>
            <a:endCxn id="4499"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506" name="Google Shape;4506;p138"/>
          <p:cNvCxnSpPr>
            <a:stCxn id="4500" idx="1"/>
            <a:endCxn id="4496"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4507" name="Google Shape;4507;p138"/>
          <p:cNvCxnSpPr>
            <a:stCxn id="4498" idx="4"/>
            <a:endCxn id="4500"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4508" name="Google Shape;4508;p138"/>
          <p:cNvCxnSpPr>
            <a:stCxn id="4499" idx="3"/>
            <a:endCxn id="4500" idx="7"/>
          </p:cNvCxnSpPr>
          <p:nvPr/>
        </p:nvCxnSpPr>
        <p:spPr>
          <a:xfrm flipH="1">
            <a:off x="6147369" y="2544091"/>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4509" name="Google Shape;4509;p138"/>
          <p:cNvCxnSpPr>
            <a:stCxn id="4485" idx="4"/>
            <a:endCxn id="4487" idx="0"/>
          </p:cNvCxnSpPr>
          <p:nvPr/>
        </p:nvCxnSpPr>
        <p:spPr>
          <a:xfrm>
            <a:off x="1705317" y="2575745"/>
            <a:ext cx="0" cy="435600"/>
          </a:xfrm>
          <a:prstGeom prst="straightConnector1">
            <a:avLst/>
          </a:prstGeom>
          <a:noFill/>
          <a:ln cap="flat" cmpd="sng" w="28575">
            <a:solidFill>
              <a:srgbClr val="666666"/>
            </a:solidFill>
            <a:prstDash val="solid"/>
            <a:round/>
            <a:headEnd len="med" w="med" type="none"/>
            <a:tailEnd len="med" w="med" type="none"/>
          </a:ln>
        </p:spPr>
      </p:cxnSp>
      <p:graphicFrame>
        <p:nvGraphicFramePr>
          <p:cNvPr id="4510" name="Google Shape;4510;p138"/>
          <p:cNvGraphicFramePr/>
          <p:nvPr/>
        </p:nvGraphicFramePr>
        <p:xfrm>
          <a:off x="4781638" y="3547350"/>
          <a:ext cx="3000000" cy="3000000"/>
        </p:xfrm>
        <a:graphic>
          <a:graphicData uri="http://schemas.openxmlformats.org/drawingml/2006/table">
            <a:tbl>
              <a:tblPr>
                <a:noFill/>
                <a:tableStyleId>{4D36BE5A-9069-42A2-BAD7-CD2C23C4D617}</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511" name="Google Shape;4511;p138"/>
          <p:cNvSpPr txBox="1"/>
          <p:nvPr/>
        </p:nvSpPr>
        <p:spPr>
          <a:xfrm>
            <a:off x="6667425" y="224925"/>
            <a:ext cx="2443200" cy="18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It is given by the sum of the differences between maximum degree and the degree of each node in the observed network to the same number in the star graph of the same size</a:t>
            </a:r>
            <a:endParaRPr b="1">
              <a:solidFill>
                <a:srgbClr val="FF0000"/>
              </a:solidFill>
              <a:latin typeface="Open Sans"/>
              <a:ea typeface="Open Sans"/>
              <a:cs typeface="Open Sans"/>
              <a:sym typeface="Open Sans"/>
            </a:endParaRPr>
          </a:p>
        </p:txBody>
      </p:sp>
      <p:pic>
        <p:nvPicPr>
          <p:cNvPr descr="C_d=\frac{\sum_i k^{max}-k_i}{C(max)}" id="4512" name="Google Shape;4512;p138"/>
          <p:cNvPicPr preferRelativeResize="0"/>
          <p:nvPr/>
        </p:nvPicPr>
        <p:blipFill>
          <a:blip r:embed="rId3">
            <a:alphaModFix/>
          </a:blip>
          <a:stretch>
            <a:fillRect/>
          </a:stretch>
        </p:blipFill>
        <p:spPr>
          <a:xfrm>
            <a:off x="2808489" y="1265400"/>
            <a:ext cx="2235824" cy="666825"/>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6" name="Shape 4516"/>
        <p:cNvGrpSpPr/>
        <p:nvPr/>
      </p:nvGrpSpPr>
      <p:grpSpPr>
        <a:xfrm>
          <a:off x="0" y="0"/>
          <a:ext cx="0" cy="0"/>
          <a:chOff x="0" y="0"/>
          <a:chExt cx="0" cy="0"/>
        </a:xfrm>
      </p:grpSpPr>
      <p:sp>
        <p:nvSpPr>
          <p:cNvPr id="4517" name="Google Shape;4517;p13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Degree Centralization</a:t>
            </a:r>
            <a:endParaRPr/>
          </a:p>
        </p:txBody>
      </p:sp>
      <p:sp>
        <p:nvSpPr>
          <p:cNvPr id="4518" name="Google Shape;4518;p139"/>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4519" name="Google Shape;4519;p139"/>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4520" name="Google Shape;4520;p139"/>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4521" name="Google Shape;4521;p139"/>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4522" name="Google Shape;4522;p139"/>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4523" name="Google Shape;4523;p139"/>
          <p:cNvCxnSpPr>
            <a:stCxn id="4519" idx="4"/>
            <a:endCxn id="4520"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4524" name="Google Shape;4524;p139"/>
          <p:cNvCxnSpPr>
            <a:stCxn id="4520" idx="2"/>
            <a:endCxn id="4518"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525" name="Google Shape;4525;p139"/>
          <p:cNvCxnSpPr>
            <a:stCxn id="4520" idx="6"/>
            <a:endCxn id="4521"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graphicFrame>
        <p:nvGraphicFramePr>
          <p:cNvPr id="4526" name="Google Shape;4526;p139"/>
          <p:cNvGraphicFramePr/>
          <p:nvPr/>
        </p:nvGraphicFramePr>
        <p:xfrm>
          <a:off x="508013" y="3547350"/>
          <a:ext cx="3000000" cy="3000000"/>
        </p:xfrm>
        <a:graphic>
          <a:graphicData uri="http://schemas.openxmlformats.org/drawingml/2006/table">
            <a:tbl>
              <a:tblPr>
                <a:noFill/>
                <a:tableStyleId>{4D36BE5A-9069-42A2-BAD7-CD2C23C4D617}</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527" name="Google Shape;4527;p139"/>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Maximally Centralized Network (N = 5)</a:t>
            </a:r>
            <a:endParaRPr sz="1800">
              <a:latin typeface="Economica"/>
              <a:ea typeface="Economica"/>
              <a:cs typeface="Economica"/>
              <a:sym typeface="Economica"/>
            </a:endParaRPr>
          </a:p>
        </p:txBody>
      </p:sp>
      <p:sp>
        <p:nvSpPr>
          <p:cNvPr id="4528" name="Google Shape;4528;p139"/>
          <p:cNvSpPr txBox="1"/>
          <p:nvPr/>
        </p:nvSpPr>
        <p:spPr>
          <a:xfrm>
            <a:off x="4781650" y="457677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Observed Network </a:t>
            </a:r>
            <a:endParaRPr sz="1800">
              <a:latin typeface="Economica"/>
              <a:ea typeface="Economica"/>
              <a:cs typeface="Economica"/>
              <a:sym typeface="Economica"/>
            </a:endParaRPr>
          </a:p>
          <a:p>
            <a:pPr indent="0" lvl="0" marL="0" rtl="0" algn="ctr">
              <a:spcBef>
                <a:spcPts val="0"/>
              </a:spcBef>
              <a:spcAft>
                <a:spcPts val="0"/>
              </a:spcAft>
              <a:buNone/>
            </a:pPr>
            <a:r>
              <a:rPr lang="en" sz="1800">
                <a:latin typeface="Economica"/>
                <a:ea typeface="Economica"/>
                <a:cs typeface="Economica"/>
                <a:sym typeface="Economica"/>
              </a:rPr>
              <a:t>(N = 5)</a:t>
            </a:r>
            <a:endParaRPr sz="1800">
              <a:latin typeface="Economica"/>
              <a:ea typeface="Economica"/>
              <a:cs typeface="Economica"/>
              <a:sym typeface="Economica"/>
            </a:endParaRPr>
          </a:p>
        </p:txBody>
      </p:sp>
      <p:sp>
        <p:nvSpPr>
          <p:cNvPr id="4529" name="Google Shape;4529;p139"/>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Sum of differences: 12</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(n-1)*(n-2)</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4530" name="Google Shape;4530;p139"/>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br>
              <a:rPr lang="en">
                <a:latin typeface="Open Sans"/>
                <a:ea typeface="Open Sans"/>
                <a:cs typeface="Open Sans"/>
                <a:sym typeface="Open Sans"/>
              </a:rPr>
            </a:br>
            <a:r>
              <a:rPr lang="en">
                <a:latin typeface="Open Sans"/>
                <a:ea typeface="Open Sans"/>
                <a:cs typeface="Open Sans"/>
                <a:sym typeface="Open Sans"/>
              </a:rPr>
              <a:t>Sum of differences: 4</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4531" name="Google Shape;4531;p139"/>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4532" name="Google Shape;4532;p139"/>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4533" name="Google Shape;4533;p139"/>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4534" name="Google Shape;4534;p139"/>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4535" name="Google Shape;4535;p139"/>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4536" name="Google Shape;4536;p139"/>
          <p:cNvCxnSpPr>
            <a:stCxn id="4532" idx="4"/>
            <a:endCxn id="4533"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4537" name="Google Shape;4537;p139"/>
          <p:cNvCxnSpPr>
            <a:stCxn id="4532" idx="5"/>
            <a:endCxn id="4534"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4538" name="Google Shape;4538;p139"/>
          <p:cNvCxnSpPr>
            <a:stCxn id="4533" idx="2"/>
            <a:endCxn id="4531"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539" name="Google Shape;4539;p139"/>
          <p:cNvCxnSpPr>
            <a:stCxn id="4532" idx="3"/>
            <a:endCxn id="4531"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4540" name="Google Shape;4540;p139"/>
          <p:cNvCxnSpPr>
            <a:stCxn id="4533" idx="6"/>
            <a:endCxn id="4534"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541" name="Google Shape;4541;p139"/>
          <p:cNvCxnSpPr>
            <a:stCxn id="4535" idx="1"/>
            <a:endCxn id="4531"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4542" name="Google Shape;4542;p139"/>
          <p:cNvCxnSpPr>
            <a:stCxn id="4533" idx="4"/>
            <a:endCxn id="4535"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4543" name="Google Shape;4543;p139"/>
          <p:cNvCxnSpPr>
            <a:stCxn id="4534" idx="3"/>
            <a:endCxn id="4535" idx="7"/>
          </p:cNvCxnSpPr>
          <p:nvPr/>
        </p:nvCxnSpPr>
        <p:spPr>
          <a:xfrm flipH="1">
            <a:off x="6147369" y="2544091"/>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4544" name="Google Shape;4544;p139"/>
          <p:cNvCxnSpPr>
            <a:stCxn id="4520" idx="4"/>
            <a:endCxn id="4522" idx="0"/>
          </p:cNvCxnSpPr>
          <p:nvPr/>
        </p:nvCxnSpPr>
        <p:spPr>
          <a:xfrm>
            <a:off x="1705317" y="2575745"/>
            <a:ext cx="0" cy="435600"/>
          </a:xfrm>
          <a:prstGeom prst="straightConnector1">
            <a:avLst/>
          </a:prstGeom>
          <a:noFill/>
          <a:ln cap="flat" cmpd="sng" w="28575">
            <a:solidFill>
              <a:srgbClr val="666666"/>
            </a:solidFill>
            <a:prstDash val="solid"/>
            <a:round/>
            <a:headEnd len="med" w="med" type="none"/>
            <a:tailEnd len="med" w="med" type="none"/>
          </a:ln>
        </p:spPr>
      </p:cxnSp>
      <p:graphicFrame>
        <p:nvGraphicFramePr>
          <p:cNvPr id="4545" name="Google Shape;4545;p139"/>
          <p:cNvGraphicFramePr/>
          <p:nvPr/>
        </p:nvGraphicFramePr>
        <p:xfrm>
          <a:off x="4781638" y="3547350"/>
          <a:ext cx="3000000" cy="3000000"/>
        </p:xfrm>
        <a:graphic>
          <a:graphicData uri="http://schemas.openxmlformats.org/drawingml/2006/table">
            <a:tbl>
              <a:tblPr>
                <a:noFill/>
                <a:tableStyleId>{4D36BE5A-9069-42A2-BAD7-CD2C23C4D617}</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546" name="Google Shape;4546;p139"/>
          <p:cNvSpPr txBox="1"/>
          <p:nvPr/>
        </p:nvSpPr>
        <p:spPr>
          <a:xfrm>
            <a:off x="6667425" y="224925"/>
            <a:ext cx="2443200" cy="18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It is given by the sum of the differences between maximum degree and the degree of each node in the observed network to the same number in the star graph of the same size</a:t>
            </a:r>
            <a:endParaRPr b="1">
              <a:solidFill>
                <a:srgbClr val="FF0000"/>
              </a:solidFill>
              <a:latin typeface="Open Sans"/>
              <a:ea typeface="Open Sans"/>
              <a:cs typeface="Open Sans"/>
              <a:sym typeface="Open Sans"/>
            </a:endParaRPr>
          </a:p>
        </p:txBody>
      </p:sp>
      <p:pic>
        <p:nvPicPr>
          <p:cNvPr descr="C_d=\frac{4}{12} = 0.33" id="4547" name="Google Shape;4547;p139" title="MathEquation,#000000"/>
          <p:cNvPicPr preferRelativeResize="0"/>
          <p:nvPr/>
        </p:nvPicPr>
        <p:blipFill>
          <a:blip r:embed="rId3">
            <a:alphaModFix/>
          </a:blip>
          <a:stretch>
            <a:fillRect/>
          </a:stretch>
        </p:blipFill>
        <p:spPr>
          <a:xfrm>
            <a:off x="6908144" y="2860587"/>
            <a:ext cx="2014342" cy="435600"/>
          </a:xfrm>
          <a:prstGeom prst="rect">
            <a:avLst/>
          </a:prstGeom>
          <a:noFill/>
          <a:ln>
            <a:noFill/>
          </a:ln>
        </p:spPr>
      </p:pic>
      <p:pic>
        <p:nvPicPr>
          <p:cNvPr descr="C(max) = (n-1)(n-2)" id="4548" name="Google Shape;4548;p139"/>
          <p:cNvPicPr preferRelativeResize="0"/>
          <p:nvPr/>
        </p:nvPicPr>
        <p:blipFill>
          <a:blip r:embed="rId4">
            <a:alphaModFix/>
          </a:blip>
          <a:stretch>
            <a:fillRect/>
          </a:stretch>
        </p:blipFill>
        <p:spPr>
          <a:xfrm>
            <a:off x="2808426" y="2860579"/>
            <a:ext cx="2235825" cy="208566"/>
          </a:xfrm>
          <a:prstGeom prst="rect">
            <a:avLst/>
          </a:prstGeom>
          <a:noFill/>
          <a:ln>
            <a:noFill/>
          </a:ln>
        </p:spPr>
      </p:pic>
      <p:pic>
        <p:nvPicPr>
          <p:cNvPr descr="C_d=\frac{\sum_i k^{max}-k_i}{C(max)}" id="4549" name="Google Shape;4549;p139"/>
          <p:cNvPicPr preferRelativeResize="0"/>
          <p:nvPr/>
        </p:nvPicPr>
        <p:blipFill>
          <a:blip r:embed="rId5">
            <a:alphaModFix/>
          </a:blip>
          <a:stretch>
            <a:fillRect/>
          </a:stretch>
        </p:blipFill>
        <p:spPr>
          <a:xfrm>
            <a:off x="2808489" y="1265400"/>
            <a:ext cx="2235824" cy="666825"/>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3" name="Shape 4553"/>
        <p:cNvGrpSpPr/>
        <p:nvPr/>
      </p:nvGrpSpPr>
      <p:grpSpPr>
        <a:xfrm>
          <a:off x="0" y="0"/>
          <a:ext cx="0" cy="0"/>
          <a:chOff x="0" y="0"/>
          <a:chExt cx="0" cy="0"/>
        </a:xfrm>
      </p:grpSpPr>
      <p:sp>
        <p:nvSpPr>
          <p:cNvPr id="4554" name="Google Shape;4554;p14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Degree Centralization</a:t>
            </a:r>
            <a:endParaRPr/>
          </a:p>
        </p:txBody>
      </p:sp>
      <p:sp>
        <p:nvSpPr>
          <p:cNvPr id="4555" name="Google Shape;4555;p140"/>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4556" name="Google Shape;4556;p140"/>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4557" name="Google Shape;4557;p140"/>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4558" name="Google Shape;4558;p140"/>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4559" name="Google Shape;4559;p140"/>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4560" name="Google Shape;4560;p140"/>
          <p:cNvCxnSpPr>
            <a:stCxn id="4556" idx="4"/>
            <a:endCxn id="4557"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4561" name="Google Shape;4561;p140"/>
          <p:cNvCxnSpPr>
            <a:stCxn id="4557" idx="2"/>
            <a:endCxn id="4555"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562" name="Google Shape;4562;p140"/>
          <p:cNvCxnSpPr>
            <a:stCxn id="4557" idx="6"/>
            <a:endCxn id="4558"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graphicFrame>
        <p:nvGraphicFramePr>
          <p:cNvPr id="4563" name="Google Shape;4563;p140"/>
          <p:cNvGraphicFramePr/>
          <p:nvPr/>
        </p:nvGraphicFramePr>
        <p:xfrm>
          <a:off x="508013" y="3547350"/>
          <a:ext cx="3000000" cy="3000000"/>
        </p:xfrm>
        <a:graphic>
          <a:graphicData uri="http://schemas.openxmlformats.org/drawingml/2006/table">
            <a:tbl>
              <a:tblPr>
                <a:noFill/>
                <a:tableStyleId>{4D36BE5A-9069-42A2-BAD7-CD2C23C4D617}</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564" name="Google Shape;4564;p140"/>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Maximally Centralized Network (N = 5)</a:t>
            </a:r>
            <a:endParaRPr sz="1800">
              <a:latin typeface="Economica"/>
              <a:ea typeface="Economica"/>
              <a:cs typeface="Economica"/>
              <a:sym typeface="Economica"/>
            </a:endParaRPr>
          </a:p>
        </p:txBody>
      </p:sp>
      <p:sp>
        <p:nvSpPr>
          <p:cNvPr id="4565" name="Google Shape;4565;p140"/>
          <p:cNvSpPr txBox="1"/>
          <p:nvPr/>
        </p:nvSpPr>
        <p:spPr>
          <a:xfrm>
            <a:off x="4781650" y="457677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Observed Network </a:t>
            </a:r>
            <a:endParaRPr sz="1800">
              <a:latin typeface="Economica"/>
              <a:ea typeface="Economica"/>
              <a:cs typeface="Economica"/>
              <a:sym typeface="Economica"/>
            </a:endParaRPr>
          </a:p>
          <a:p>
            <a:pPr indent="0" lvl="0" marL="0" rtl="0" algn="ctr">
              <a:spcBef>
                <a:spcPts val="0"/>
              </a:spcBef>
              <a:spcAft>
                <a:spcPts val="0"/>
              </a:spcAft>
              <a:buNone/>
            </a:pPr>
            <a:r>
              <a:rPr lang="en" sz="1800">
                <a:latin typeface="Economica"/>
                <a:ea typeface="Economica"/>
                <a:cs typeface="Economica"/>
                <a:sym typeface="Economica"/>
              </a:rPr>
              <a:t>(N = 5)</a:t>
            </a:r>
            <a:endParaRPr sz="1800">
              <a:latin typeface="Economica"/>
              <a:ea typeface="Economica"/>
              <a:cs typeface="Economica"/>
              <a:sym typeface="Economica"/>
            </a:endParaRPr>
          </a:p>
        </p:txBody>
      </p:sp>
      <p:sp>
        <p:nvSpPr>
          <p:cNvPr id="4566" name="Google Shape;4566;p140"/>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Sum of differences: 12</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(n-1)*(n-2)</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4567" name="Google Shape;4567;p140"/>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br>
              <a:rPr lang="en">
                <a:latin typeface="Open Sans"/>
                <a:ea typeface="Open Sans"/>
                <a:cs typeface="Open Sans"/>
                <a:sym typeface="Open Sans"/>
              </a:rPr>
            </a:br>
            <a:r>
              <a:rPr lang="en">
                <a:latin typeface="Open Sans"/>
                <a:ea typeface="Open Sans"/>
                <a:cs typeface="Open Sans"/>
                <a:sym typeface="Open Sans"/>
              </a:rPr>
              <a:t>Sum of differences: 4</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4568" name="Google Shape;4568;p140"/>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4569" name="Google Shape;4569;p140"/>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4570" name="Google Shape;4570;p140"/>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4571" name="Google Shape;4571;p140"/>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4572" name="Google Shape;4572;p140"/>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4573" name="Google Shape;4573;p140"/>
          <p:cNvCxnSpPr>
            <a:stCxn id="4569" idx="4"/>
            <a:endCxn id="4570"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4574" name="Google Shape;4574;p140"/>
          <p:cNvCxnSpPr>
            <a:stCxn id="4569" idx="5"/>
            <a:endCxn id="4571"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4575" name="Google Shape;4575;p140"/>
          <p:cNvCxnSpPr>
            <a:stCxn id="4570" idx="2"/>
            <a:endCxn id="4568"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576" name="Google Shape;4576;p140"/>
          <p:cNvCxnSpPr>
            <a:stCxn id="4569" idx="3"/>
            <a:endCxn id="4568"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4577" name="Google Shape;4577;p140"/>
          <p:cNvCxnSpPr>
            <a:stCxn id="4570" idx="6"/>
            <a:endCxn id="4571"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578" name="Google Shape;4578;p140"/>
          <p:cNvCxnSpPr>
            <a:stCxn id="4572" idx="1"/>
            <a:endCxn id="4568"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4579" name="Google Shape;4579;p140"/>
          <p:cNvCxnSpPr>
            <a:stCxn id="4570" idx="4"/>
            <a:endCxn id="4572"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4580" name="Google Shape;4580;p140"/>
          <p:cNvCxnSpPr>
            <a:stCxn id="4571" idx="3"/>
            <a:endCxn id="4572" idx="7"/>
          </p:cNvCxnSpPr>
          <p:nvPr/>
        </p:nvCxnSpPr>
        <p:spPr>
          <a:xfrm flipH="1">
            <a:off x="6147369" y="2544091"/>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4581" name="Google Shape;4581;p140"/>
          <p:cNvCxnSpPr>
            <a:stCxn id="4557" idx="4"/>
            <a:endCxn id="4559" idx="0"/>
          </p:cNvCxnSpPr>
          <p:nvPr/>
        </p:nvCxnSpPr>
        <p:spPr>
          <a:xfrm>
            <a:off x="1705317" y="2575745"/>
            <a:ext cx="0" cy="435600"/>
          </a:xfrm>
          <a:prstGeom prst="straightConnector1">
            <a:avLst/>
          </a:prstGeom>
          <a:noFill/>
          <a:ln cap="flat" cmpd="sng" w="28575">
            <a:solidFill>
              <a:srgbClr val="666666"/>
            </a:solidFill>
            <a:prstDash val="solid"/>
            <a:round/>
            <a:headEnd len="med" w="med" type="none"/>
            <a:tailEnd len="med" w="med" type="none"/>
          </a:ln>
        </p:spPr>
      </p:cxnSp>
      <p:graphicFrame>
        <p:nvGraphicFramePr>
          <p:cNvPr id="4582" name="Google Shape;4582;p140"/>
          <p:cNvGraphicFramePr/>
          <p:nvPr/>
        </p:nvGraphicFramePr>
        <p:xfrm>
          <a:off x="4781638" y="3547350"/>
          <a:ext cx="3000000" cy="3000000"/>
        </p:xfrm>
        <a:graphic>
          <a:graphicData uri="http://schemas.openxmlformats.org/drawingml/2006/table">
            <a:tbl>
              <a:tblPr>
                <a:noFill/>
                <a:tableStyleId>{4D36BE5A-9069-42A2-BAD7-CD2C23C4D617}</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583" name="Google Shape;4583;p140"/>
          <p:cNvSpPr txBox="1"/>
          <p:nvPr/>
        </p:nvSpPr>
        <p:spPr>
          <a:xfrm>
            <a:off x="6667425" y="224925"/>
            <a:ext cx="2443200" cy="18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It is given by the sum of the differences between maximum degree and the degree of each node in the observed network to the same number in the star graph of the same size</a:t>
            </a:r>
            <a:endParaRPr b="1">
              <a:solidFill>
                <a:srgbClr val="FF0000"/>
              </a:solidFill>
              <a:latin typeface="Open Sans"/>
              <a:ea typeface="Open Sans"/>
              <a:cs typeface="Open Sans"/>
              <a:sym typeface="Open Sans"/>
            </a:endParaRPr>
          </a:p>
        </p:txBody>
      </p:sp>
      <p:pic>
        <p:nvPicPr>
          <p:cNvPr descr="C_d=\frac{4}{12} = 0.33" id="4584" name="Google Shape;4584;p140" title="MathEquation,#000000"/>
          <p:cNvPicPr preferRelativeResize="0"/>
          <p:nvPr/>
        </p:nvPicPr>
        <p:blipFill>
          <a:blip r:embed="rId3">
            <a:alphaModFix/>
          </a:blip>
          <a:stretch>
            <a:fillRect/>
          </a:stretch>
        </p:blipFill>
        <p:spPr>
          <a:xfrm>
            <a:off x="6908144" y="2860587"/>
            <a:ext cx="2014342" cy="435600"/>
          </a:xfrm>
          <a:prstGeom prst="rect">
            <a:avLst/>
          </a:prstGeom>
          <a:noFill/>
          <a:ln>
            <a:noFill/>
          </a:ln>
        </p:spPr>
      </p:pic>
      <p:pic>
        <p:nvPicPr>
          <p:cNvPr descr="C(max) = (n-1)(n-2)" id="4585" name="Google Shape;4585;p140"/>
          <p:cNvPicPr preferRelativeResize="0"/>
          <p:nvPr/>
        </p:nvPicPr>
        <p:blipFill>
          <a:blip r:embed="rId4">
            <a:alphaModFix/>
          </a:blip>
          <a:stretch>
            <a:fillRect/>
          </a:stretch>
        </p:blipFill>
        <p:spPr>
          <a:xfrm>
            <a:off x="2808426" y="2860579"/>
            <a:ext cx="2235825" cy="208566"/>
          </a:xfrm>
          <a:prstGeom prst="rect">
            <a:avLst/>
          </a:prstGeom>
          <a:noFill/>
          <a:ln>
            <a:noFill/>
          </a:ln>
        </p:spPr>
      </p:pic>
      <p:pic>
        <p:nvPicPr>
          <p:cNvPr descr="C_d=\frac{\sum_i^{ }k^{\max}-k_i}{(n-1)(n-2)}" id="4586" name="Google Shape;4586;p140"/>
          <p:cNvPicPr preferRelativeResize="0"/>
          <p:nvPr/>
        </p:nvPicPr>
        <p:blipFill>
          <a:blip r:embed="rId5">
            <a:alphaModFix/>
          </a:blip>
          <a:stretch>
            <a:fillRect/>
          </a:stretch>
        </p:blipFill>
        <p:spPr>
          <a:xfrm>
            <a:off x="2808489" y="1288715"/>
            <a:ext cx="2235825" cy="620194"/>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0" name="Shape 4590"/>
        <p:cNvGrpSpPr/>
        <p:nvPr/>
      </p:nvGrpSpPr>
      <p:grpSpPr>
        <a:xfrm>
          <a:off x="0" y="0"/>
          <a:ext cx="0" cy="0"/>
          <a:chOff x="0" y="0"/>
          <a:chExt cx="0" cy="0"/>
        </a:xfrm>
      </p:grpSpPr>
      <p:sp>
        <p:nvSpPr>
          <p:cNvPr id="4591" name="Google Shape;4591;p14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Degree Centralization</a:t>
            </a:r>
            <a:endParaRPr/>
          </a:p>
        </p:txBody>
      </p:sp>
      <p:sp>
        <p:nvSpPr>
          <p:cNvPr id="4592" name="Google Shape;4592;p141"/>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4593" name="Google Shape;4593;p141"/>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4594" name="Google Shape;4594;p141"/>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4595" name="Google Shape;4595;p141"/>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4596" name="Google Shape;4596;p141"/>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4597" name="Google Shape;4597;p141"/>
          <p:cNvCxnSpPr>
            <a:stCxn id="4593" idx="4"/>
            <a:endCxn id="4594"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4598" name="Google Shape;4598;p141"/>
          <p:cNvCxnSpPr>
            <a:stCxn id="4594" idx="2"/>
            <a:endCxn id="4592"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599" name="Google Shape;4599;p141"/>
          <p:cNvCxnSpPr>
            <a:stCxn id="4594" idx="6"/>
            <a:endCxn id="4595"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graphicFrame>
        <p:nvGraphicFramePr>
          <p:cNvPr id="4600" name="Google Shape;4600;p141"/>
          <p:cNvGraphicFramePr/>
          <p:nvPr/>
        </p:nvGraphicFramePr>
        <p:xfrm>
          <a:off x="508013" y="3547350"/>
          <a:ext cx="3000000" cy="3000000"/>
        </p:xfrm>
        <a:graphic>
          <a:graphicData uri="http://schemas.openxmlformats.org/drawingml/2006/table">
            <a:tbl>
              <a:tblPr>
                <a:noFill/>
                <a:tableStyleId>{4D36BE5A-9069-42A2-BAD7-CD2C23C4D617}</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601" name="Google Shape;4601;p141"/>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Maximally Centralized Network (N = 5)</a:t>
            </a:r>
            <a:endParaRPr sz="1800">
              <a:latin typeface="Economica"/>
              <a:ea typeface="Economica"/>
              <a:cs typeface="Economica"/>
              <a:sym typeface="Economica"/>
            </a:endParaRPr>
          </a:p>
        </p:txBody>
      </p:sp>
      <p:sp>
        <p:nvSpPr>
          <p:cNvPr id="4602" name="Google Shape;4602;p141"/>
          <p:cNvSpPr txBox="1"/>
          <p:nvPr/>
        </p:nvSpPr>
        <p:spPr>
          <a:xfrm>
            <a:off x="4781650" y="457677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Observed Network </a:t>
            </a:r>
            <a:endParaRPr sz="1800">
              <a:latin typeface="Economica"/>
              <a:ea typeface="Economica"/>
              <a:cs typeface="Economica"/>
              <a:sym typeface="Economica"/>
            </a:endParaRPr>
          </a:p>
          <a:p>
            <a:pPr indent="0" lvl="0" marL="0" rtl="0" algn="ctr">
              <a:spcBef>
                <a:spcPts val="0"/>
              </a:spcBef>
              <a:spcAft>
                <a:spcPts val="0"/>
              </a:spcAft>
              <a:buNone/>
            </a:pPr>
            <a:r>
              <a:rPr lang="en" sz="1800">
                <a:latin typeface="Economica"/>
                <a:ea typeface="Economica"/>
                <a:cs typeface="Economica"/>
                <a:sym typeface="Economica"/>
              </a:rPr>
              <a:t>(N = 5)</a:t>
            </a:r>
            <a:endParaRPr sz="1800">
              <a:latin typeface="Economica"/>
              <a:ea typeface="Economica"/>
              <a:cs typeface="Economica"/>
              <a:sym typeface="Economica"/>
            </a:endParaRPr>
          </a:p>
        </p:txBody>
      </p:sp>
      <p:sp>
        <p:nvSpPr>
          <p:cNvPr id="4603" name="Google Shape;4603;p141"/>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Sum of differences: 12</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(n-1)*(n-2)</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4604" name="Google Shape;4604;p141"/>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br>
              <a:rPr lang="en">
                <a:latin typeface="Open Sans"/>
                <a:ea typeface="Open Sans"/>
                <a:cs typeface="Open Sans"/>
                <a:sym typeface="Open Sans"/>
              </a:rPr>
            </a:br>
            <a:r>
              <a:rPr lang="en">
                <a:latin typeface="Open Sans"/>
                <a:ea typeface="Open Sans"/>
                <a:cs typeface="Open Sans"/>
                <a:sym typeface="Open Sans"/>
              </a:rPr>
              <a:t>Sum of differences: 8</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4605" name="Google Shape;4605;p141"/>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4606" name="Google Shape;4606;p141"/>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4607" name="Google Shape;4607;p141"/>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4608" name="Google Shape;4608;p141"/>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4609" name="Google Shape;4609;p141"/>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4610" name="Google Shape;4610;p141"/>
          <p:cNvCxnSpPr>
            <a:stCxn id="4606" idx="4"/>
            <a:endCxn id="4607"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4611" name="Google Shape;4611;p141"/>
          <p:cNvCxnSpPr>
            <a:stCxn id="4606" idx="5"/>
            <a:endCxn id="4608"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4612" name="Google Shape;4612;p141"/>
          <p:cNvCxnSpPr>
            <a:stCxn id="4607" idx="2"/>
            <a:endCxn id="4605"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613" name="Google Shape;4613;p141"/>
          <p:cNvCxnSpPr>
            <a:stCxn id="4607" idx="6"/>
            <a:endCxn id="4608"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614" name="Google Shape;4614;p141"/>
          <p:cNvCxnSpPr>
            <a:stCxn id="4609" idx="1"/>
            <a:endCxn id="4605"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4615" name="Google Shape;4615;p141"/>
          <p:cNvCxnSpPr>
            <a:stCxn id="4607" idx="4"/>
            <a:endCxn id="4609"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4616" name="Google Shape;4616;p141"/>
          <p:cNvCxnSpPr>
            <a:stCxn id="4594" idx="4"/>
            <a:endCxn id="4596" idx="0"/>
          </p:cNvCxnSpPr>
          <p:nvPr/>
        </p:nvCxnSpPr>
        <p:spPr>
          <a:xfrm>
            <a:off x="1705317" y="2575745"/>
            <a:ext cx="0" cy="435600"/>
          </a:xfrm>
          <a:prstGeom prst="straightConnector1">
            <a:avLst/>
          </a:prstGeom>
          <a:noFill/>
          <a:ln cap="flat" cmpd="sng" w="28575">
            <a:solidFill>
              <a:srgbClr val="666666"/>
            </a:solidFill>
            <a:prstDash val="solid"/>
            <a:round/>
            <a:headEnd len="med" w="med" type="none"/>
            <a:tailEnd len="med" w="med" type="none"/>
          </a:ln>
        </p:spPr>
      </p:cxnSp>
      <p:graphicFrame>
        <p:nvGraphicFramePr>
          <p:cNvPr id="4617" name="Google Shape;4617;p141"/>
          <p:cNvGraphicFramePr/>
          <p:nvPr/>
        </p:nvGraphicFramePr>
        <p:xfrm>
          <a:off x="4781638" y="3547350"/>
          <a:ext cx="3000000" cy="3000000"/>
        </p:xfrm>
        <a:graphic>
          <a:graphicData uri="http://schemas.openxmlformats.org/drawingml/2006/table">
            <a:tbl>
              <a:tblPr>
                <a:noFill/>
                <a:tableStyleId>{4D36BE5A-9069-42A2-BAD7-CD2C23C4D617}</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618" name="Google Shape;4618;p141"/>
          <p:cNvSpPr txBox="1"/>
          <p:nvPr/>
        </p:nvSpPr>
        <p:spPr>
          <a:xfrm>
            <a:off x="6667425" y="224925"/>
            <a:ext cx="2443200" cy="18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The closest the graph centralization is to 1.0 the closer the observed graph is to the star graph</a:t>
            </a:r>
            <a:endParaRPr b="1">
              <a:solidFill>
                <a:srgbClr val="FF0000"/>
              </a:solidFill>
              <a:latin typeface="Open Sans"/>
              <a:ea typeface="Open Sans"/>
              <a:cs typeface="Open Sans"/>
              <a:sym typeface="Open Sans"/>
            </a:endParaRPr>
          </a:p>
        </p:txBody>
      </p:sp>
      <p:pic>
        <p:nvPicPr>
          <p:cNvPr descr="C_d=\frac{8}{12} = 0.66" id="4619" name="Google Shape;4619;p141" title="MathEquation,#000000"/>
          <p:cNvPicPr preferRelativeResize="0"/>
          <p:nvPr/>
        </p:nvPicPr>
        <p:blipFill>
          <a:blip r:embed="rId3">
            <a:alphaModFix/>
          </a:blip>
          <a:stretch>
            <a:fillRect/>
          </a:stretch>
        </p:blipFill>
        <p:spPr>
          <a:xfrm>
            <a:off x="6811675" y="2843069"/>
            <a:ext cx="2091750" cy="470644"/>
          </a:xfrm>
          <a:prstGeom prst="rect">
            <a:avLst/>
          </a:prstGeom>
          <a:noFill/>
          <a:ln>
            <a:noFill/>
          </a:ln>
        </p:spPr>
      </p:pic>
      <p:pic>
        <p:nvPicPr>
          <p:cNvPr descr="C_d=\frac{\sum_i^{ }k^{\max}-k_i}{(n-1)(n-2)}" id="4620" name="Google Shape;4620;p141"/>
          <p:cNvPicPr preferRelativeResize="0"/>
          <p:nvPr/>
        </p:nvPicPr>
        <p:blipFill>
          <a:blip r:embed="rId4">
            <a:alphaModFix/>
          </a:blip>
          <a:stretch>
            <a:fillRect/>
          </a:stretch>
        </p:blipFill>
        <p:spPr>
          <a:xfrm>
            <a:off x="2808489" y="1288715"/>
            <a:ext cx="2235825" cy="620194"/>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4" name="Shape 4624"/>
        <p:cNvGrpSpPr/>
        <p:nvPr/>
      </p:nvGrpSpPr>
      <p:grpSpPr>
        <a:xfrm>
          <a:off x="0" y="0"/>
          <a:ext cx="0" cy="0"/>
          <a:chOff x="0" y="0"/>
          <a:chExt cx="0" cy="0"/>
        </a:xfrm>
      </p:grpSpPr>
      <p:sp>
        <p:nvSpPr>
          <p:cNvPr id="4625" name="Google Shape;4625;p14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Degree Centralization</a:t>
            </a:r>
            <a:endParaRPr/>
          </a:p>
        </p:txBody>
      </p:sp>
      <p:sp>
        <p:nvSpPr>
          <p:cNvPr id="4626" name="Google Shape;4626;p142"/>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4627" name="Google Shape;4627;p142"/>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4628" name="Google Shape;4628;p142"/>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4629" name="Google Shape;4629;p142"/>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4630" name="Google Shape;4630;p142"/>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4631" name="Google Shape;4631;p142"/>
          <p:cNvCxnSpPr>
            <a:stCxn id="4627" idx="4"/>
            <a:endCxn id="4628"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4632" name="Google Shape;4632;p142"/>
          <p:cNvCxnSpPr>
            <a:stCxn id="4628" idx="2"/>
            <a:endCxn id="4626"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633" name="Google Shape;4633;p142"/>
          <p:cNvCxnSpPr>
            <a:stCxn id="4628" idx="6"/>
            <a:endCxn id="4629"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graphicFrame>
        <p:nvGraphicFramePr>
          <p:cNvPr id="4634" name="Google Shape;4634;p142"/>
          <p:cNvGraphicFramePr/>
          <p:nvPr/>
        </p:nvGraphicFramePr>
        <p:xfrm>
          <a:off x="508013" y="3547350"/>
          <a:ext cx="3000000" cy="3000000"/>
        </p:xfrm>
        <a:graphic>
          <a:graphicData uri="http://schemas.openxmlformats.org/drawingml/2006/table">
            <a:tbl>
              <a:tblPr>
                <a:noFill/>
                <a:tableStyleId>{4D36BE5A-9069-42A2-BAD7-CD2C23C4D617}</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635" name="Google Shape;4635;p142"/>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Maximally Centralized Network (N = 5)</a:t>
            </a:r>
            <a:endParaRPr sz="1800">
              <a:latin typeface="Economica"/>
              <a:ea typeface="Economica"/>
              <a:cs typeface="Economica"/>
              <a:sym typeface="Economica"/>
            </a:endParaRPr>
          </a:p>
        </p:txBody>
      </p:sp>
      <p:sp>
        <p:nvSpPr>
          <p:cNvPr id="4636" name="Google Shape;4636;p142"/>
          <p:cNvSpPr txBox="1"/>
          <p:nvPr/>
        </p:nvSpPr>
        <p:spPr>
          <a:xfrm>
            <a:off x="4781650" y="457677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Observed Network </a:t>
            </a:r>
            <a:endParaRPr sz="1800">
              <a:latin typeface="Economica"/>
              <a:ea typeface="Economica"/>
              <a:cs typeface="Economica"/>
              <a:sym typeface="Economica"/>
            </a:endParaRPr>
          </a:p>
          <a:p>
            <a:pPr indent="0" lvl="0" marL="0" rtl="0" algn="ctr">
              <a:spcBef>
                <a:spcPts val="0"/>
              </a:spcBef>
              <a:spcAft>
                <a:spcPts val="0"/>
              </a:spcAft>
              <a:buNone/>
            </a:pPr>
            <a:r>
              <a:rPr lang="en" sz="1800">
                <a:latin typeface="Economica"/>
                <a:ea typeface="Economica"/>
                <a:cs typeface="Economica"/>
                <a:sym typeface="Economica"/>
              </a:rPr>
              <a:t>(N = 5)</a:t>
            </a:r>
            <a:endParaRPr sz="1800">
              <a:latin typeface="Economica"/>
              <a:ea typeface="Economica"/>
              <a:cs typeface="Economica"/>
              <a:sym typeface="Economica"/>
            </a:endParaRPr>
          </a:p>
        </p:txBody>
      </p:sp>
      <p:sp>
        <p:nvSpPr>
          <p:cNvPr id="4637" name="Google Shape;4637;p142"/>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Sum of differences: 12</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(n-1)*(n-2)</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4638" name="Google Shape;4638;p142"/>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br>
              <a:rPr lang="en">
                <a:latin typeface="Open Sans"/>
                <a:ea typeface="Open Sans"/>
                <a:cs typeface="Open Sans"/>
                <a:sym typeface="Open Sans"/>
              </a:rPr>
            </a:br>
            <a:r>
              <a:rPr lang="en">
                <a:latin typeface="Open Sans"/>
                <a:ea typeface="Open Sans"/>
                <a:cs typeface="Open Sans"/>
                <a:sym typeface="Open Sans"/>
              </a:rPr>
              <a:t>Sum of differences: 0</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4639" name="Google Shape;4639;p142"/>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4640" name="Google Shape;4640;p142"/>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4641" name="Google Shape;4641;p142"/>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4642" name="Google Shape;4642;p142"/>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4643" name="Google Shape;4643;p142"/>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4644" name="Google Shape;4644;p142"/>
          <p:cNvCxnSpPr>
            <a:stCxn id="4640" idx="4"/>
            <a:endCxn id="4641"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4645" name="Google Shape;4645;p142"/>
          <p:cNvCxnSpPr>
            <a:stCxn id="4640" idx="5"/>
            <a:endCxn id="4642"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4646" name="Google Shape;4646;p142"/>
          <p:cNvCxnSpPr>
            <a:stCxn id="4641" idx="2"/>
            <a:endCxn id="4639"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647" name="Google Shape;4647;p142"/>
          <p:cNvCxnSpPr>
            <a:stCxn id="4641" idx="6"/>
            <a:endCxn id="4642"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648" name="Google Shape;4648;p142"/>
          <p:cNvCxnSpPr>
            <a:stCxn id="4643" idx="1"/>
            <a:endCxn id="4639"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4649" name="Google Shape;4649;p142"/>
          <p:cNvCxnSpPr>
            <a:stCxn id="4641" idx="4"/>
            <a:endCxn id="4643"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4650" name="Google Shape;4650;p142"/>
          <p:cNvCxnSpPr>
            <a:stCxn id="4628" idx="4"/>
            <a:endCxn id="4630" idx="0"/>
          </p:cNvCxnSpPr>
          <p:nvPr/>
        </p:nvCxnSpPr>
        <p:spPr>
          <a:xfrm>
            <a:off x="1705317" y="2575745"/>
            <a:ext cx="0" cy="435600"/>
          </a:xfrm>
          <a:prstGeom prst="straightConnector1">
            <a:avLst/>
          </a:prstGeom>
          <a:noFill/>
          <a:ln cap="flat" cmpd="sng" w="28575">
            <a:solidFill>
              <a:srgbClr val="666666"/>
            </a:solidFill>
            <a:prstDash val="solid"/>
            <a:round/>
            <a:headEnd len="med" w="med" type="none"/>
            <a:tailEnd len="med" w="med" type="none"/>
          </a:ln>
        </p:spPr>
      </p:cxnSp>
      <p:graphicFrame>
        <p:nvGraphicFramePr>
          <p:cNvPr id="4651" name="Google Shape;4651;p142"/>
          <p:cNvGraphicFramePr/>
          <p:nvPr/>
        </p:nvGraphicFramePr>
        <p:xfrm>
          <a:off x="4781638" y="3547350"/>
          <a:ext cx="3000000" cy="3000000"/>
        </p:xfrm>
        <a:graphic>
          <a:graphicData uri="http://schemas.openxmlformats.org/drawingml/2006/table">
            <a:tbl>
              <a:tblPr>
                <a:noFill/>
                <a:tableStyleId>{4D36BE5A-9069-42A2-BAD7-CD2C23C4D617}</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652" name="Google Shape;4652;p142"/>
          <p:cNvSpPr txBox="1"/>
          <p:nvPr/>
        </p:nvSpPr>
        <p:spPr>
          <a:xfrm>
            <a:off x="6667425" y="224925"/>
            <a:ext cx="2443200" cy="18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The opposite of the star graph is the regular graph. Everyone has the same degree and centralization is zero!</a:t>
            </a:r>
            <a:endParaRPr b="1">
              <a:solidFill>
                <a:srgbClr val="FF0000"/>
              </a:solidFill>
              <a:latin typeface="Open Sans"/>
              <a:ea typeface="Open Sans"/>
              <a:cs typeface="Open Sans"/>
              <a:sym typeface="Open Sans"/>
            </a:endParaRPr>
          </a:p>
        </p:txBody>
      </p:sp>
      <p:pic>
        <p:nvPicPr>
          <p:cNvPr descr="C_d=\frac{\sum_i^{ }k^{\max}-k_i}{(n-1)(n-2)}" id="4653" name="Google Shape;4653;p142"/>
          <p:cNvPicPr preferRelativeResize="0"/>
          <p:nvPr/>
        </p:nvPicPr>
        <p:blipFill>
          <a:blip r:embed="rId3">
            <a:alphaModFix/>
          </a:blip>
          <a:stretch>
            <a:fillRect/>
          </a:stretch>
        </p:blipFill>
        <p:spPr>
          <a:xfrm>
            <a:off x="2808489" y="1288715"/>
            <a:ext cx="2235825" cy="620194"/>
          </a:xfrm>
          <a:prstGeom prst="rect">
            <a:avLst/>
          </a:prstGeom>
          <a:noFill/>
          <a:ln>
            <a:noFill/>
          </a:ln>
        </p:spPr>
      </p:pic>
      <p:cxnSp>
        <p:nvCxnSpPr>
          <p:cNvPr id="4654" name="Google Shape;4654;p142"/>
          <p:cNvCxnSpPr>
            <a:stCxn id="4640" idx="3"/>
            <a:endCxn id="4639"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4655" name="Google Shape;4655;p142"/>
          <p:cNvCxnSpPr>
            <a:stCxn id="4643" idx="7"/>
            <a:endCxn id="4642" idx="3"/>
          </p:cNvCxnSpPr>
          <p:nvPr/>
        </p:nvCxnSpPr>
        <p:spPr>
          <a:xfrm flipH="1" rot="10800000">
            <a:off x="6147480"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4656" name="Google Shape;4656;p142"/>
          <p:cNvCxnSpPr>
            <a:stCxn id="4639" idx="0"/>
            <a:endCxn id="4642" idx="0"/>
          </p:cNvCxnSpPr>
          <p:nvPr/>
        </p:nvCxnSpPr>
        <p:spPr>
          <a:xfrm flipH="1" rot="-5400000">
            <a:off x="5978575" y="1162520"/>
            <a:ext cx="600" cy="2002200"/>
          </a:xfrm>
          <a:prstGeom prst="curvedConnector3">
            <a:avLst>
              <a:gd fmla="val -175453390" name="adj1"/>
            </a:avLst>
          </a:prstGeom>
          <a:noFill/>
          <a:ln cap="flat" cmpd="sng" w="28575">
            <a:solidFill>
              <a:srgbClr val="666666"/>
            </a:solidFill>
            <a:prstDash val="solid"/>
            <a:round/>
            <a:headEnd len="med" w="med" type="none"/>
            <a:tailEnd len="med" w="med" type="none"/>
          </a:ln>
        </p:spPr>
      </p:cxnSp>
      <p:cxnSp>
        <p:nvCxnSpPr>
          <p:cNvPr id="4657" name="Google Shape;4657;p142"/>
          <p:cNvCxnSpPr>
            <a:stCxn id="4640" idx="6"/>
            <a:endCxn id="4643" idx="6"/>
          </p:cNvCxnSpPr>
          <p:nvPr/>
        </p:nvCxnSpPr>
        <p:spPr>
          <a:xfrm>
            <a:off x="6217292" y="1437275"/>
            <a:ext cx="600" cy="1830900"/>
          </a:xfrm>
          <a:prstGeom prst="curvedConnector3">
            <a:avLst>
              <a:gd fmla="val 195372242" name="adj1"/>
            </a:avLst>
          </a:prstGeom>
          <a:noFill/>
          <a:ln cap="flat" cmpd="sng" w="28575">
            <a:solidFill>
              <a:srgbClr val="666666"/>
            </a:solidFill>
            <a:prstDash val="solid"/>
            <a:round/>
            <a:headEnd len="med" w="med" type="none"/>
            <a:tailEnd len="med" w="med" type="none"/>
          </a:ln>
        </p:spPr>
      </p:cxnSp>
      <p:pic>
        <p:nvPicPr>
          <p:cNvPr descr="C_d=\frac{0}{12}=0" id="4658" name="Google Shape;4658;p142"/>
          <p:cNvPicPr preferRelativeResize="0"/>
          <p:nvPr/>
        </p:nvPicPr>
        <p:blipFill>
          <a:blip r:embed="rId4">
            <a:alphaModFix/>
          </a:blip>
          <a:stretch>
            <a:fillRect/>
          </a:stretch>
        </p:blipFill>
        <p:spPr>
          <a:xfrm>
            <a:off x="3306641" y="2796494"/>
            <a:ext cx="1239517" cy="47064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