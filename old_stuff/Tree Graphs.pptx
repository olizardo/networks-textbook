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Economica"/>
      <p:regular r:id="rId46"/>
      <p:bold r:id="rId47"/>
      <p:italic r:id="rId48"/>
      <p:boldItalic r:id="rId49"/>
    </p:embeddedFont>
    <p:embeddedFont>
      <p:font typeface="Oxygen"/>
      <p:regular r:id="rId50"/>
      <p:bold r:id="rId51"/>
    </p:embeddedFont>
    <p:embeddedFont>
      <p:font typeface="Open Sans SemiBold"/>
      <p:regular r:id="rId52"/>
      <p:bold r:id="rId53"/>
      <p:italic r:id="rId54"/>
      <p:boldItalic r:id="rId55"/>
    </p:embeddedFont>
    <p:embeddedFont>
      <p:font typeface="Open Sans Medium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54BE3C-BB36-4F82-B3FF-0AB0F994F70F}">
  <a:tblStyle styleId="{AB54BE3C-BB36-4F82-B3FF-0AB0F994F7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Economica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Economica-italic.fntdata"/><Relationship Id="rId47" Type="http://schemas.openxmlformats.org/officeDocument/2006/relationships/font" Target="fonts/Economica-bold.fntdata"/><Relationship Id="rId49" Type="http://schemas.openxmlformats.org/officeDocument/2006/relationships/font" Target="fonts/Economic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4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xygen-bold.fntdata"/><Relationship Id="rId50" Type="http://schemas.openxmlformats.org/officeDocument/2006/relationships/font" Target="fonts/Oxygen-regular.fntdata"/><Relationship Id="rId53" Type="http://schemas.openxmlformats.org/officeDocument/2006/relationships/font" Target="fonts/OpenSansSemiBold-bold.fntdata"/><Relationship Id="rId52" Type="http://schemas.openxmlformats.org/officeDocument/2006/relationships/font" Target="fonts/OpenSansSemiBold-regular.fntdata"/><Relationship Id="rId11" Type="http://schemas.openxmlformats.org/officeDocument/2006/relationships/slide" Target="slides/slide5.xml"/><Relationship Id="rId55" Type="http://schemas.openxmlformats.org/officeDocument/2006/relationships/font" Target="fonts/OpenSansSemiBold-boldItalic.fntdata"/><Relationship Id="rId10" Type="http://schemas.openxmlformats.org/officeDocument/2006/relationships/slide" Target="slides/slide4.xml"/><Relationship Id="rId54" Type="http://schemas.openxmlformats.org/officeDocument/2006/relationships/font" Target="fonts/OpenSansSemiBold-italic.fntdata"/><Relationship Id="rId13" Type="http://schemas.openxmlformats.org/officeDocument/2006/relationships/slide" Target="slides/slide7.xml"/><Relationship Id="rId57" Type="http://schemas.openxmlformats.org/officeDocument/2006/relationships/font" Target="fonts/OpenSansMedium-bold.fntdata"/><Relationship Id="rId12" Type="http://schemas.openxmlformats.org/officeDocument/2006/relationships/slide" Target="slides/slide6.xml"/><Relationship Id="rId56" Type="http://schemas.openxmlformats.org/officeDocument/2006/relationships/font" Target="fonts/OpenSansMedium-regular.fntdata"/><Relationship Id="rId15" Type="http://schemas.openxmlformats.org/officeDocument/2006/relationships/slide" Target="slides/slide9.xml"/><Relationship Id="rId59" Type="http://schemas.openxmlformats.org/officeDocument/2006/relationships/font" Target="fonts/OpenSansMedium-boldItalic.fntdata"/><Relationship Id="rId14" Type="http://schemas.openxmlformats.org/officeDocument/2006/relationships/slide" Target="slides/slide8.xml"/><Relationship Id="rId58" Type="http://schemas.openxmlformats.org/officeDocument/2006/relationships/font" Target="fonts/OpenSans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9e8482591_1_2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9e8482591_1_2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c225b8f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c225b8f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225b8f6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c225b8f6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225b8f6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c225b8f6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225b8f6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c225b8f6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225b8f6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225b8f6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c225b8f6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c225b8f6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c225b8f6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c225b8f6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c225b8f6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c225b8f6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225b8f6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225b8f6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c225b8f6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c225b8f6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c225b8f6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c225b8f6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c225b8f66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c225b8f6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c225b8f66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c225b8f6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c225b8f6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c225b8f6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c225b8f66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c225b8f66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c225b8f66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dc225b8f6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c225b8f6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c225b8f6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c225b8f66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dc225b8f66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c225b8f66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c225b8f6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c225b8f66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c225b8f6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c225b8f66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dc225b8f66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79646aa3e9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79646aa3e9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79646aa3e9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79646aa3e9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79646aa3e9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79646aa3e9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79646aa3e9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79646aa3e9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9646aa3e9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9646aa3e9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6bb1750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6bb1750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79646aa3e9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79646aa3e9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06bb17509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06bb17509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79646aa3e9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79646aa3e9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06bb1750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06bb1750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b156bb050b_1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2b156bb050b_1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b156bb050b_1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b156bb050b_1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b219c448e3_6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b219c448e3_6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b219c448e3_6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b219c448e3_6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b219c448e3_6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b219c448e3_6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b219c448e3_64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b219c448e3_64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b219c448e3_64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b219c448e3_64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</a:t>
            </a:r>
            <a:r>
              <a:rPr lang="en"/>
              <a:t> Graphs in Social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</a:t>
            </a:r>
            <a:r>
              <a:rPr b="1" lang="en"/>
              <a:t>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</p:txBody>
      </p:sp>
      <p:sp>
        <p:nvSpPr>
          <p:cNvPr id="72" name="Google Shape;72;p1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" name="Google Shape;74;p15"/>
          <p:cNvCxnSpPr>
            <a:stCxn id="72" idx="6"/>
            <a:endCxn id="7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" name="Google Shape;78;p15"/>
          <p:cNvCxnSpPr>
            <a:stCxn id="73" idx="7"/>
            <a:endCxn id="7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5"/>
          <p:cNvCxnSpPr>
            <a:stCxn id="77" idx="1"/>
            <a:endCxn id="7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>
            <a:stCxn id="76" idx="1"/>
            <a:endCxn id="7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7" name="Google Shape;87;p1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" name="Google Shape;89;p16"/>
          <p:cNvCxnSpPr>
            <a:stCxn id="87" idx="6"/>
            <a:endCxn id="8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" name="Google Shape;93;p16"/>
          <p:cNvCxnSpPr>
            <a:stCxn id="88" idx="7"/>
            <a:endCxn id="9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>
            <a:stCxn id="92" idx="1"/>
            <a:endCxn id="9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>
            <a:stCxn id="91" idx="1"/>
            <a:endCxn id="8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6"/>
          <p:cNvSpPr/>
          <p:nvPr/>
        </p:nvSpPr>
        <p:spPr>
          <a:xfrm>
            <a:off x="4265250" y="949450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connected!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7" name="Google Shape;97;p16"/>
          <p:cNvCxnSpPr>
            <a:stCxn id="96" idx="5"/>
          </p:cNvCxnSpPr>
          <p:nvPr/>
        </p:nvCxnSpPr>
        <p:spPr>
          <a:xfrm>
            <a:off x="6409803" y="1921989"/>
            <a:ext cx="294900" cy="34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4" name="Google Shape;104;p17"/>
          <p:cNvSpPr/>
          <p:nvPr/>
        </p:nvSpPr>
        <p:spPr>
          <a:xfrm>
            <a:off x="4265250" y="949450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connected!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1540075" y="2601625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has no cycles!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6" name="Google Shape;106;p17"/>
          <p:cNvCxnSpPr>
            <a:stCxn id="105" idx="6"/>
          </p:cNvCxnSpPr>
          <p:nvPr/>
        </p:nvCxnSpPr>
        <p:spPr>
          <a:xfrm>
            <a:off x="4052575" y="3171325"/>
            <a:ext cx="1936200" cy="451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" name="Google Shape;109;p17"/>
          <p:cNvCxnSpPr>
            <a:stCxn id="107" idx="6"/>
            <a:endCxn id="10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3" name="Google Shape;113;p17"/>
          <p:cNvCxnSpPr>
            <a:stCxn id="108" idx="7"/>
            <a:endCxn id="11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7"/>
          <p:cNvCxnSpPr>
            <a:stCxn id="112" idx="1"/>
            <a:endCxn id="11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7"/>
          <p:cNvCxnSpPr>
            <a:stCxn id="111" idx="1"/>
            <a:endCxn id="10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2" name="Google Shape;122;p18"/>
          <p:cNvSpPr/>
          <p:nvPr/>
        </p:nvSpPr>
        <p:spPr>
          <a:xfrm>
            <a:off x="4265250" y="949450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connected!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540075" y="2601625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has no cycles!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4" name="Google Shape;124;p18"/>
          <p:cNvCxnSpPr>
            <a:stCxn id="123" idx="6"/>
          </p:cNvCxnSpPr>
          <p:nvPr/>
        </p:nvCxnSpPr>
        <p:spPr>
          <a:xfrm>
            <a:off x="4052575" y="3171325"/>
            <a:ext cx="1936200" cy="451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" name="Google Shape;127;p18"/>
          <p:cNvCxnSpPr>
            <a:stCxn id="125" idx="6"/>
            <a:endCxn id="12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1" name="Google Shape;131;p18"/>
          <p:cNvCxnSpPr>
            <a:stCxn id="126" idx="7"/>
            <a:endCxn id="12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>
            <a:stCxn id="130" idx="1"/>
            <a:endCxn id="12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>
            <a:stCxn id="129" idx="1"/>
            <a:endCxn id="12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8"/>
          <p:cNvSpPr/>
          <p:nvPr/>
        </p:nvSpPr>
        <p:spPr>
          <a:xfrm>
            <a:off x="3572075" y="3789075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Therefore it is a tree graph!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</a:t>
            </a:r>
            <a:r>
              <a:rPr lang="en"/>
              <a:t>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number of edges (m) is always equal to the number of nodes (n) minus 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n - 1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" name="Google Shape;143;p19"/>
          <p:cNvCxnSpPr>
            <a:stCxn id="141" idx="6"/>
            <a:endCxn id="14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" name="Google Shape;147;p19"/>
          <p:cNvCxnSpPr>
            <a:stCxn id="142" idx="7"/>
            <a:endCxn id="14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9"/>
          <p:cNvCxnSpPr>
            <a:stCxn id="146" idx="1"/>
            <a:endCxn id="14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9"/>
          <p:cNvCxnSpPr>
            <a:stCxn id="145" idx="1"/>
            <a:endCxn id="14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number of edges (m) is always equal to the number of nodes (n) minus 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n - 1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5 - 1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4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8" name="Google Shape;158;p20"/>
          <p:cNvCxnSpPr>
            <a:stCxn id="156" idx="6"/>
            <a:endCxn id="15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" name="Google Shape;162;p20"/>
          <p:cNvCxnSpPr>
            <a:stCxn id="157" idx="7"/>
            <a:endCxn id="15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0"/>
          <p:cNvCxnSpPr>
            <a:stCxn id="161" idx="1"/>
            <a:endCxn id="15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0"/>
          <p:cNvCxnSpPr>
            <a:stCxn id="160" idx="1"/>
            <a:endCxn id="15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770875" y="569625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has five nodes!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6" name="Google Shape;166;p20"/>
          <p:cNvCxnSpPr>
            <a:stCxn id="165" idx="6"/>
          </p:cNvCxnSpPr>
          <p:nvPr/>
        </p:nvCxnSpPr>
        <p:spPr>
          <a:xfrm>
            <a:off x="5283375" y="1139325"/>
            <a:ext cx="1784100" cy="46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number of edges (m) is always equal to the number of nodes (n) minus 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n - 1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 = 5 - 1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m = 4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5" name="Google Shape;175;p21"/>
          <p:cNvCxnSpPr>
            <a:stCxn id="173" idx="6"/>
            <a:endCxn id="17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9" name="Google Shape;179;p21"/>
          <p:cNvCxnSpPr>
            <a:stCxn id="174" idx="7"/>
            <a:endCxn id="17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1"/>
          <p:cNvCxnSpPr>
            <a:stCxn id="178" idx="1"/>
            <a:endCxn id="17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1"/>
          <p:cNvCxnSpPr>
            <a:stCxn id="177" idx="1"/>
            <a:endCxn id="17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1"/>
          <p:cNvSpPr/>
          <p:nvPr/>
        </p:nvSpPr>
        <p:spPr>
          <a:xfrm>
            <a:off x="2770875" y="569625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Checks out!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3" name="Google Shape;183;p21"/>
          <p:cNvCxnSpPr>
            <a:stCxn id="182" idx="6"/>
          </p:cNvCxnSpPr>
          <p:nvPr/>
        </p:nvCxnSpPr>
        <p:spPr>
          <a:xfrm>
            <a:off x="5283375" y="1139325"/>
            <a:ext cx="1784100" cy="46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</a:t>
            </a:r>
            <a:r>
              <a:rPr b="1" i="1" lang="en"/>
              <a:t>sum of degrees</a:t>
            </a:r>
            <a:r>
              <a:rPr i="1" lang="en"/>
              <a:t> is always equal to twice the number of nodes minus two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2" name="Google Shape;192;p22"/>
          <p:cNvCxnSpPr>
            <a:stCxn id="190" idx="6"/>
            <a:endCxn id="19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6" name="Google Shape;196;p22"/>
          <p:cNvCxnSpPr>
            <a:stCxn id="191" idx="7"/>
            <a:endCxn id="19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2"/>
          <p:cNvCxnSpPr>
            <a:stCxn id="195" idx="1"/>
            <a:endCxn id="19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2"/>
          <p:cNvCxnSpPr>
            <a:stCxn id="194" idx="1"/>
            <a:endCxn id="19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</a:t>
            </a:r>
            <a:r>
              <a:rPr b="1" i="1" lang="en"/>
              <a:t>sum of degrees</a:t>
            </a:r>
            <a:r>
              <a:rPr i="1" lang="en"/>
              <a:t> is always equal to twice the number of nodes minus two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+ 1 + 2 + 1 + 3 = 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 - 2 = (2 x 5) - 2 = 10 - 2 = 8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7" name="Google Shape;207;p23"/>
          <p:cNvCxnSpPr>
            <a:stCxn id="205" idx="6"/>
            <a:endCxn id="20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1" name="Google Shape;211;p23"/>
          <p:cNvCxnSpPr>
            <a:stCxn id="206" idx="7"/>
            <a:endCxn id="20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3"/>
          <p:cNvCxnSpPr>
            <a:stCxn id="210" idx="1"/>
            <a:endCxn id="20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>
            <a:stCxn id="209" idx="1"/>
            <a:endCxn id="20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14" name="Google Shape;214;p23"/>
          <p:cNvGraphicFramePr/>
          <p:nvPr/>
        </p:nvGraphicFramePr>
        <p:xfrm>
          <a:off x="311700" y="400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{AB54BE3C-BB36-4F82-B3FF-0AB0F994F70F}</a:tableStyleId>
              </a:tblPr>
              <a:tblGrid>
                <a:gridCol w="546525"/>
                <a:gridCol w="546525"/>
                <a:gridCol w="546525"/>
                <a:gridCol w="546525"/>
                <a:gridCol w="546525"/>
              </a:tblGrid>
              <a:tr h="28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</a:tr>
              <a:tr h="25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2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3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</a:t>
            </a:r>
            <a:r>
              <a:rPr b="1" i="1" lang="en"/>
              <a:t>sum of degrees</a:t>
            </a:r>
            <a:r>
              <a:rPr i="1" lang="en"/>
              <a:t> is always equal to twice the number of nodes minus two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1 + 1 + 2 + 1 + 3 = 8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2n - 2 = (2 x 5) - 2 = 10 - 2 = 8</a:t>
            </a:r>
            <a:endParaRPr b="1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3" name="Google Shape;223;p24"/>
          <p:cNvCxnSpPr>
            <a:stCxn id="221" idx="6"/>
            <a:endCxn id="22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7" name="Google Shape;227;p24"/>
          <p:cNvCxnSpPr>
            <a:stCxn id="222" idx="7"/>
            <a:endCxn id="2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4"/>
          <p:cNvCxnSpPr>
            <a:stCxn id="226" idx="1"/>
            <a:endCxn id="2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4"/>
          <p:cNvCxnSpPr>
            <a:stCxn id="225" idx="1"/>
            <a:endCxn id="22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30" name="Google Shape;230;p24"/>
          <p:cNvGraphicFramePr/>
          <p:nvPr/>
        </p:nvGraphicFramePr>
        <p:xfrm>
          <a:off x="311700" y="400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{AB54BE3C-BB36-4F82-B3FF-0AB0F994F70F}</a:tableStyleId>
              </a:tblPr>
              <a:tblGrid>
                <a:gridCol w="546525"/>
                <a:gridCol w="546525"/>
                <a:gridCol w="546525"/>
                <a:gridCol w="546525"/>
                <a:gridCol w="546525"/>
              </a:tblGrid>
              <a:tr h="28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91425" marB="91425" marR="91425" marL="91425" anchor="ctr"/>
                </a:tc>
              </a:tr>
              <a:tr h="25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2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3</a:t>
                      </a:r>
                      <a:endParaRPr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1" name="Google Shape;231;p24"/>
          <p:cNvSpPr/>
          <p:nvPr/>
        </p:nvSpPr>
        <p:spPr>
          <a:xfrm>
            <a:off x="3831675" y="3632200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Checks out!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</a:t>
            </a:r>
            <a:r>
              <a:rPr b="1" lang="en"/>
              <a:t>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no </a:t>
            </a:r>
            <a:r>
              <a:rPr b="1" lang="en"/>
              <a:t>cycles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it is a </a:t>
            </a:r>
            <a:r>
              <a:rPr b="1" lang="en"/>
              <a:t>tree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properties of three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 </a:t>
            </a:r>
            <a:r>
              <a:rPr b="1" i="1" lang="en"/>
              <a:t>sum of degrees</a:t>
            </a:r>
            <a:r>
              <a:rPr i="1" lang="en"/>
              <a:t> is always equal to twice the number of nodes minus two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undirected graph the sum of degrees is twice the number of edges (2m)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m = n - 1 in the tree!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Meaning the sum of degrees is equal to: 2(n-1) = 2n - 2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0" name="Google Shape;240;p25"/>
          <p:cNvCxnSpPr>
            <a:stCxn id="238" idx="6"/>
            <a:endCxn id="23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4" name="Google Shape;244;p25"/>
          <p:cNvCxnSpPr>
            <a:stCxn id="239" idx="7"/>
            <a:endCxn id="24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5"/>
          <p:cNvCxnSpPr>
            <a:stCxn id="243" idx="1"/>
            <a:endCxn id="24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5"/>
          <p:cNvCxnSpPr>
            <a:stCxn id="242" idx="1"/>
            <a:endCxn id="23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non-adjacent node in a tree </a:t>
            </a:r>
            <a:r>
              <a:rPr lang="en"/>
              <a:t>graph</a:t>
            </a:r>
            <a:r>
              <a:rPr lang="en"/>
              <a:t> is linked to every other node via a </a:t>
            </a:r>
            <a:r>
              <a:rPr i="1" lang="en"/>
              <a:t>single</a:t>
            </a:r>
            <a:r>
              <a:rPr lang="en"/>
              <a:t> path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lang="en"/>
              <a:t>―E = {AC, CE}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A―D = {AC, CE, ED}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A―B = {AC, CE, EB}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B―C = {BE, BC}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B―D = {BE, BD}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C―D = {CE, ED}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5" name="Google Shape;255;p26"/>
          <p:cNvCxnSpPr>
            <a:stCxn id="253" idx="6"/>
            <a:endCxn id="25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9" name="Google Shape;259;p26"/>
          <p:cNvCxnSpPr>
            <a:stCxn id="254" idx="7"/>
            <a:endCxn id="25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6"/>
          <p:cNvCxnSpPr>
            <a:stCxn id="258" idx="1"/>
            <a:endCxn id="25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6"/>
          <p:cNvCxnSpPr>
            <a:stCxn id="257" idx="1"/>
            <a:endCxn id="25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67" name="Google Shape;267;p27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non-adjacent node in a tree graph is linked to every other node via a </a:t>
            </a:r>
            <a:r>
              <a:rPr i="1" lang="en"/>
              <a:t>single</a:t>
            </a:r>
            <a:r>
              <a:rPr lang="en"/>
              <a:t> path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A―E = {AC, CE}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A―D = {AC, CE, ED}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A―B = {AC, CE, EB}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B―C = {BE, BC}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B―D = {BE, BD}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C―D = {CE, ED}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0" name="Google Shape;270;p27"/>
          <p:cNvCxnSpPr>
            <a:stCxn id="268" idx="6"/>
            <a:endCxn id="26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4" name="Google Shape;274;p27"/>
          <p:cNvCxnSpPr>
            <a:stCxn id="269" idx="7"/>
            <a:endCxn id="27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7"/>
          <p:cNvCxnSpPr>
            <a:stCxn id="273" idx="1"/>
            <a:endCxn id="27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7"/>
          <p:cNvCxnSpPr>
            <a:stCxn id="272" idx="1"/>
            <a:endCxn id="26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7"/>
          <p:cNvSpPr/>
          <p:nvPr/>
        </p:nvSpPr>
        <p:spPr>
          <a:xfrm>
            <a:off x="3831675" y="3632200"/>
            <a:ext cx="2512500" cy="1139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Each of these paths is unique (non-repeating) for each pair!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6" name="Google Shape;286;p28"/>
          <p:cNvCxnSpPr>
            <a:stCxn id="284" idx="6"/>
            <a:endCxn id="28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0" name="Google Shape;290;p28"/>
          <p:cNvCxnSpPr>
            <a:stCxn id="285" idx="7"/>
            <a:endCxn id="28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8"/>
          <p:cNvCxnSpPr>
            <a:stCxn id="289" idx="1"/>
            <a:endCxn id="28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8"/>
          <p:cNvCxnSpPr>
            <a:stCxn id="288" idx="1"/>
            <a:endCxn id="28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298" name="Google Shape;298;p29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 - BE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4" name="Google Shape;304;p29"/>
          <p:cNvCxnSpPr>
            <a:stCxn id="300" idx="7"/>
            <a:endCxn id="30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9"/>
          <p:cNvCxnSpPr>
            <a:stCxn id="303" idx="1"/>
            <a:endCxn id="30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9"/>
          <p:cNvCxnSpPr>
            <a:stCxn id="302" idx="1"/>
            <a:endCxn id="30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BE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 - DE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5" name="Google Shape;315;p30"/>
          <p:cNvCxnSpPr>
            <a:stCxn id="313" idx="6"/>
            <a:endCxn id="31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9" name="Google Shape;319;p30"/>
          <p:cNvCxnSpPr>
            <a:stCxn id="314" idx="7"/>
            <a:endCxn id="31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0"/>
          <p:cNvCxnSpPr>
            <a:stCxn id="318" idx="1"/>
            <a:endCxn id="31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326" name="Google Shape;326;p31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BE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DE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 - CE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9" name="Google Shape;329;p31"/>
          <p:cNvCxnSpPr>
            <a:stCxn id="327" idx="6"/>
            <a:endCxn id="32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" name="Google Shape;333;p31"/>
          <p:cNvCxnSpPr>
            <a:stCxn id="332" idx="1"/>
            <a:endCxn id="33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1"/>
          <p:cNvCxnSpPr>
            <a:stCxn id="331" idx="1"/>
            <a:endCxn id="32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BE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DE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CE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 - AC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3" name="Google Shape;343;p32"/>
          <p:cNvCxnSpPr>
            <a:stCxn id="341" idx="6"/>
            <a:endCxn id="34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7" name="Google Shape;347;p32"/>
          <p:cNvCxnSpPr>
            <a:stCxn id="342" idx="7"/>
            <a:endCxn id="34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2"/>
          <p:cNvCxnSpPr>
            <a:stCxn id="345" idx="1"/>
            <a:endCxn id="34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354" name="Google Shape;354;p33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BE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DE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CE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 - AC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we disconnect a tree the resulting connected graph that remains is also a tree!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7" name="Google Shape;357;p33"/>
          <p:cNvCxnSpPr>
            <a:stCxn id="355" idx="6"/>
            <a:endCxn id="35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1" name="Google Shape;361;p33"/>
          <p:cNvCxnSpPr>
            <a:stCxn id="356" idx="7"/>
            <a:endCxn id="35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3"/>
          <p:cNvCxnSpPr>
            <a:stCxn id="359" idx="1"/>
            <a:endCxn id="35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33"/>
          <p:cNvSpPr/>
          <p:nvPr/>
        </p:nvSpPr>
        <p:spPr>
          <a:xfrm>
            <a:off x="4533900" y="1346200"/>
            <a:ext cx="3346500" cy="3073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11700" y="1225225"/>
            <a:ext cx="42603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have other unique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edge in a tree graph is a </a:t>
            </a:r>
            <a:r>
              <a:rPr b="1" lang="en"/>
              <a:t>bridge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Removing any edge disconnects the graph!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BE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DE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 - CE</a:t>
            </a:r>
            <a:endParaRPr>
              <a:solidFill>
                <a:schemeClr val="dk2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 - AC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disconnected tree graph is called a </a:t>
            </a:r>
            <a:r>
              <a:rPr b="1" lang="en"/>
              <a:t>forest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" name="Google Shape;372;p34"/>
          <p:cNvCxnSpPr>
            <a:stCxn id="370" idx="6"/>
            <a:endCxn id="37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6" name="Google Shape;376;p34"/>
          <p:cNvCxnSpPr>
            <a:stCxn id="371" idx="7"/>
            <a:endCxn id="3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4"/>
          <p:cNvCxnSpPr>
            <a:stCxn id="374" idx="1"/>
            <a:endCxn id="37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Types of Tree Graphs</a:t>
            </a:r>
            <a:endParaRPr/>
          </a:p>
        </p:txBody>
      </p:sp>
      <p:sp>
        <p:nvSpPr>
          <p:cNvPr id="383" name="Google Shape;383;p35"/>
          <p:cNvSpPr/>
          <p:nvPr/>
        </p:nvSpPr>
        <p:spPr>
          <a:xfrm>
            <a:off x="286650" y="15002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1209150" y="15002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5" name="Google Shape;385;p35"/>
          <p:cNvCxnSpPr>
            <a:stCxn id="383" idx="6"/>
            <a:endCxn id="384" idx="2"/>
          </p:cNvCxnSpPr>
          <p:nvPr/>
        </p:nvCxnSpPr>
        <p:spPr>
          <a:xfrm>
            <a:off x="887850" y="1800813"/>
            <a:ext cx="321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35"/>
          <p:cNvSpPr/>
          <p:nvPr/>
        </p:nvSpPr>
        <p:spPr>
          <a:xfrm>
            <a:off x="2131650" y="15002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3976650" y="15002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3054150" y="15002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9" name="Google Shape;389;p35"/>
          <p:cNvCxnSpPr>
            <a:stCxn id="384" idx="6"/>
            <a:endCxn id="386" idx="2"/>
          </p:cNvCxnSpPr>
          <p:nvPr/>
        </p:nvCxnSpPr>
        <p:spPr>
          <a:xfrm>
            <a:off x="1810350" y="1800813"/>
            <a:ext cx="321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5"/>
          <p:cNvCxnSpPr>
            <a:stCxn id="388" idx="2"/>
            <a:endCxn id="386" idx="6"/>
          </p:cNvCxnSpPr>
          <p:nvPr/>
        </p:nvCxnSpPr>
        <p:spPr>
          <a:xfrm rot="10800000">
            <a:off x="2732850" y="1800813"/>
            <a:ext cx="321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5"/>
          <p:cNvCxnSpPr>
            <a:stCxn id="388" idx="6"/>
            <a:endCxn id="387" idx="2"/>
          </p:cNvCxnSpPr>
          <p:nvPr/>
        </p:nvCxnSpPr>
        <p:spPr>
          <a:xfrm>
            <a:off x="3655350" y="1800813"/>
            <a:ext cx="321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5"/>
          <p:cNvSpPr/>
          <p:nvPr/>
        </p:nvSpPr>
        <p:spPr>
          <a:xfrm>
            <a:off x="5618013" y="24410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3" name="Google Shape;393;p35"/>
          <p:cNvSpPr/>
          <p:nvPr/>
        </p:nvSpPr>
        <p:spPr>
          <a:xfrm>
            <a:off x="6958788" y="24410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4" name="Google Shape;394;p35"/>
          <p:cNvCxnSpPr>
            <a:stCxn id="392" idx="6"/>
            <a:endCxn id="393" idx="2"/>
          </p:cNvCxnSpPr>
          <p:nvPr/>
        </p:nvCxnSpPr>
        <p:spPr>
          <a:xfrm>
            <a:off x="6219213" y="274167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5"/>
          <p:cNvSpPr/>
          <p:nvPr/>
        </p:nvSpPr>
        <p:spPr>
          <a:xfrm>
            <a:off x="8299563" y="244106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6958788" y="13133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6958788" y="36928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8" name="Google Shape;398;p35"/>
          <p:cNvCxnSpPr>
            <a:stCxn id="393" idx="6"/>
            <a:endCxn id="395" idx="2"/>
          </p:cNvCxnSpPr>
          <p:nvPr/>
        </p:nvCxnSpPr>
        <p:spPr>
          <a:xfrm>
            <a:off x="7559988" y="274167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5"/>
          <p:cNvCxnSpPr>
            <a:stCxn id="396" idx="4"/>
            <a:endCxn id="393" idx="0"/>
          </p:cNvCxnSpPr>
          <p:nvPr/>
        </p:nvCxnSpPr>
        <p:spPr>
          <a:xfrm>
            <a:off x="7259388" y="1914513"/>
            <a:ext cx="0" cy="52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5"/>
          <p:cNvCxnSpPr>
            <a:stCxn id="393" idx="4"/>
            <a:endCxn id="397" idx="0"/>
          </p:cNvCxnSpPr>
          <p:nvPr/>
        </p:nvCxnSpPr>
        <p:spPr>
          <a:xfrm>
            <a:off x="7259388" y="3042275"/>
            <a:ext cx="0" cy="6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5"/>
          <p:cNvSpPr/>
          <p:nvPr/>
        </p:nvSpPr>
        <p:spPr>
          <a:xfrm>
            <a:off x="1313600" y="398456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1313600" y="2869538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3" name="Google Shape;403;p35"/>
          <p:cNvCxnSpPr>
            <a:stCxn id="401" idx="0"/>
            <a:endCxn id="402" idx="4"/>
          </p:cNvCxnSpPr>
          <p:nvPr/>
        </p:nvCxnSpPr>
        <p:spPr>
          <a:xfrm rot="10800000">
            <a:off x="1614200" y="3470663"/>
            <a:ext cx="0" cy="51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5"/>
          <p:cNvSpPr/>
          <p:nvPr/>
        </p:nvSpPr>
        <p:spPr>
          <a:xfrm>
            <a:off x="2236100" y="2869538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3158600" y="398456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3158600" y="2869538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" name="Google Shape;407;p35"/>
          <p:cNvCxnSpPr>
            <a:stCxn id="402" idx="6"/>
            <a:endCxn id="404" idx="2"/>
          </p:cNvCxnSpPr>
          <p:nvPr/>
        </p:nvCxnSpPr>
        <p:spPr>
          <a:xfrm>
            <a:off x="1914800" y="3170138"/>
            <a:ext cx="321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5"/>
          <p:cNvCxnSpPr>
            <a:stCxn id="406" idx="2"/>
            <a:endCxn id="404" idx="6"/>
          </p:cNvCxnSpPr>
          <p:nvPr/>
        </p:nvCxnSpPr>
        <p:spPr>
          <a:xfrm rot="10800000">
            <a:off x="2837300" y="3170138"/>
            <a:ext cx="321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5"/>
          <p:cNvCxnSpPr>
            <a:stCxn id="406" idx="4"/>
            <a:endCxn id="405" idx="0"/>
          </p:cNvCxnSpPr>
          <p:nvPr/>
        </p:nvCxnSpPr>
        <p:spPr>
          <a:xfrm>
            <a:off x="3459200" y="3470738"/>
            <a:ext cx="0" cy="51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35"/>
          <p:cNvSpPr/>
          <p:nvPr/>
        </p:nvSpPr>
        <p:spPr>
          <a:xfrm>
            <a:off x="2236100" y="398456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1" name="Google Shape;411;p35"/>
          <p:cNvCxnSpPr>
            <a:stCxn id="404" idx="4"/>
            <a:endCxn id="410" idx="0"/>
          </p:cNvCxnSpPr>
          <p:nvPr/>
        </p:nvCxnSpPr>
        <p:spPr>
          <a:xfrm>
            <a:off x="2536700" y="3470738"/>
            <a:ext cx="0" cy="51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35"/>
          <p:cNvSpPr txBox="1"/>
          <p:nvPr/>
        </p:nvSpPr>
        <p:spPr>
          <a:xfrm>
            <a:off x="1038450" y="2138638"/>
            <a:ext cx="2787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The Line Graph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5865600" y="4392213"/>
            <a:ext cx="2787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The Star Graph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1209150" y="4665938"/>
            <a:ext cx="2787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The Caterpillar Graph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420" name="Google Shape;420;p3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antisymmetric?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orders to (in an army)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the parent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someone’s supervisor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tree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" name="Google Shape;423;p36"/>
          <p:cNvCxnSpPr>
            <a:stCxn id="421" idx="6"/>
            <a:endCxn id="42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24" name="Google Shape;424;p3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7" name="Google Shape;427;p36"/>
          <p:cNvCxnSpPr>
            <a:stCxn id="422" idx="7"/>
            <a:endCxn id="4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8" name="Google Shape;428;p36"/>
          <p:cNvCxnSpPr>
            <a:stCxn id="426" idx="1"/>
            <a:endCxn id="4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9" name="Google Shape;429;p36"/>
          <p:cNvCxnSpPr>
            <a:stCxn id="425" idx="1"/>
            <a:endCxn id="42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435" name="Google Shape;435;p3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antisymmetric?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orders to (in an army)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the parent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someone’s supervisor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tree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" name="Google Shape;438;p37"/>
          <p:cNvCxnSpPr>
            <a:stCxn id="436" idx="6"/>
            <a:endCxn id="43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39" name="Google Shape;439;p3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2" name="Google Shape;442;p37"/>
          <p:cNvCxnSpPr>
            <a:stCxn id="437" idx="7"/>
            <a:endCxn id="43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3" name="Google Shape;443;p37"/>
          <p:cNvCxnSpPr>
            <a:stCxn id="441" idx="1"/>
            <a:endCxn id="43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44" name="Google Shape;444;p37"/>
          <p:cNvCxnSpPr>
            <a:stCxn id="440" idx="1"/>
            <a:endCxn id="43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450" name="Google Shape;450;p3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3" name="Google Shape;453;p38"/>
          <p:cNvCxnSpPr>
            <a:stCxn id="451" idx="6"/>
            <a:endCxn id="45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54" name="Google Shape;454;p3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7" name="Google Shape;457;p38"/>
          <p:cNvCxnSpPr>
            <a:stCxn id="452" idx="7"/>
            <a:endCxn id="45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8" name="Google Shape;458;p38"/>
          <p:cNvCxnSpPr>
            <a:stCxn id="456" idx="1"/>
            <a:endCxn id="45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59" name="Google Shape;459;p38"/>
          <p:cNvCxnSpPr>
            <a:stCxn id="455" idx="1"/>
            <a:endCxn id="45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465" name="Google Shape;465;p3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9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8" name="Google Shape;468;p39"/>
          <p:cNvCxnSpPr>
            <a:stCxn id="466" idx="0"/>
            <a:endCxn id="467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69" name="Google Shape;469;p39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2" name="Google Shape;472;p39"/>
          <p:cNvCxnSpPr>
            <a:stCxn id="467" idx="7"/>
            <a:endCxn id="469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3" name="Google Shape;473;p39"/>
          <p:cNvCxnSpPr>
            <a:stCxn id="471" idx="1"/>
            <a:endCxn id="46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74" name="Google Shape;474;p39"/>
          <p:cNvCxnSpPr>
            <a:stCxn id="470" idx="0"/>
            <a:endCxn id="467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480" name="Google Shape;480;p4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3" name="Google Shape;483;p40"/>
          <p:cNvCxnSpPr>
            <a:stCxn id="481" idx="0"/>
            <a:endCxn id="482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84" name="Google Shape;484;p40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5" name="Google Shape;485;p40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6" name="Google Shape;486;p40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7" name="Google Shape;487;p40"/>
          <p:cNvCxnSpPr>
            <a:stCxn id="482" idx="7"/>
            <a:endCxn id="484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8" name="Google Shape;488;p40"/>
          <p:cNvCxnSpPr>
            <a:stCxn id="486" idx="1"/>
            <a:endCxn id="484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89" name="Google Shape;489;p40"/>
          <p:cNvCxnSpPr>
            <a:stCxn id="485" idx="0"/>
            <a:endCxn id="482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495" name="Google Shape;495;p4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1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8" name="Google Shape;498;p41"/>
          <p:cNvCxnSpPr>
            <a:stCxn id="496" idx="0"/>
            <a:endCxn id="497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499" name="Google Shape;499;p41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0" name="Google Shape;500;p41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1" name="Google Shape;501;p41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2" name="Google Shape;502;p41"/>
          <p:cNvCxnSpPr>
            <a:stCxn id="497" idx="7"/>
            <a:endCxn id="499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3" name="Google Shape;503;p41"/>
          <p:cNvCxnSpPr>
            <a:stCxn id="501" idx="1"/>
            <a:endCxn id="49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4" name="Google Shape;504;p41"/>
          <p:cNvCxnSpPr>
            <a:stCxn id="500" idx="0"/>
            <a:endCxn id="497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05" name="Google Shape;505;p41"/>
          <p:cNvSpPr/>
          <p:nvPr/>
        </p:nvSpPr>
        <p:spPr>
          <a:xfrm>
            <a:off x="5133975" y="851525"/>
            <a:ext cx="3378600" cy="8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511" name="Google Shape;511;p4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2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3" name="Google Shape;513;p42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4" name="Google Shape;514;p42"/>
          <p:cNvCxnSpPr>
            <a:stCxn id="512" idx="0"/>
            <a:endCxn id="513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15" name="Google Shape;515;p42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6" name="Google Shape;516;p42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7" name="Google Shape;517;p42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8" name="Google Shape;518;p42"/>
          <p:cNvCxnSpPr>
            <a:stCxn id="513" idx="7"/>
            <a:endCxn id="515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19" name="Google Shape;519;p42"/>
          <p:cNvCxnSpPr>
            <a:stCxn id="517" idx="1"/>
            <a:endCxn id="515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20" name="Google Shape;520;p42"/>
          <p:cNvCxnSpPr>
            <a:stCxn id="516" idx="0"/>
            <a:endCxn id="513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526" name="Google Shape;526;p4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3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9" name="Google Shape;529;p43"/>
          <p:cNvCxnSpPr>
            <a:stCxn id="527" idx="0"/>
            <a:endCxn id="528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30" name="Google Shape;530;p43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3" name="Google Shape;533;p43"/>
          <p:cNvCxnSpPr>
            <a:stCxn id="528" idx="7"/>
            <a:endCxn id="530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34" name="Google Shape;534;p43"/>
          <p:cNvCxnSpPr>
            <a:stCxn id="532" idx="1"/>
            <a:endCxn id="530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35" name="Google Shape;535;p43"/>
          <p:cNvCxnSpPr>
            <a:stCxn id="531" idx="0"/>
            <a:endCxn id="528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36" name="Google Shape;536;p43"/>
          <p:cNvSpPr/>
          <p:nvPr/>
        </p:nvSpPr>
        <p:spPr>
          <a:xfrm>
            <a:off x="5133975" y="3720925"/>
            <a:ext cx="3378600" cy="8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Office Staff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542" name="Google Shape;542;p4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both send and receive</a:t>
            </a:r>
            <a:r>
              <a:rPr lang="en"/>
              <a:t> ties are in the </a:t>
            </a:r>
            <a:r>
              <a:rPr b="1" lang="en"/>
              <a:t>middle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4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4" name="Google Shape;544;p44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5" name="Google Shape;545;p44"/>
          <p:cNvCxnSpPr>
            <a:stCxn id="543" idx="0"/>
            <a:endCxn id="544" idx="4"/>
          </p:cNvCxnSpPr>
          <p:nvPr/>
        </p:nvCxnSpPr>
        <p:spPr>
          <a:xfrm rot="10800000">
            <a:off x="5477450" y="2766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46" name="Google Shape;546;p44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9" name="Google Shape;549;p44"/>
          <p:cNvCxnSpPr>
            <a:stCxn id="544" idx="7"/>
            <a:endCxn id="546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50" name="Google Shape;550;p44"/>
          <p:cNvCxnSpPr>
            <a:stCxn id="548" idx="1"/>
            <a:endCxn id="546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51" name="Google Shape;551;p44"/>
          <p:cNvCxnSpPr>
            <a:stCxn id="547" idx="0"/>
            <a:endCxn id="544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557" name="Google Shape;557;p4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a tree graph </a:t>
            </a:r>
            <a:r>
              <a:rPr b="1" lang="en"/>
              <a:t>transmitters </a:t>
            </a:r>
            <a:r>
              <a:rPr lang="en"/>
              <a:t>are at the top of the hierarchy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both send and receive</a:t>
            </a:r>
            <a:r>
              <a:rPr lang="en"/>
              <a:t> ties are in the </a:t>
            </a:r>
            <a:r>
              <a:rPr b="1" lang="en"/>
              <a:t>middle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5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0" name="Google Shape;560;p45"/>
          <p:cNvCxnSpPr>
            <a:stCxn id="558" idx="0"/>
            <a:endCxn id="559" idx="4"/>
          </p:cNvCxnSpPr>
          <p:nvPr/>
        </p:nvCxnSpPr>
        <p:spPr>
          <a:xfrm rot="10800000">
            <a:off x="5477450" y="2766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61" name="Google Shape;561;p45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2" name="Google Shape;562;p45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4" name="Google Shape;564;p45"/>
          <p:cNvCxnSpPr>
            <a:stCxn id="559" idx="7"/>
            <a:endCxn id="561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65" name="Google Shape;565;p45"/>
          <p:cNvCxnSpPr>
            <a:stCxn id="563" idx="1"/>
            <a:endCxn id="561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66" name="Google Shape;566;p45"/>
          <p:cNvCxnSpPr>
            <a:stCxn id="562" idx="0"/>
            <a:endCxn id="559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67" name="Google Shape;567;p45"/>
          <p:cNvSpPr/>
          <p:nvPr/>
        </p:nvSpPr>
        <p:spPr>
          <a:xfrm>
            <a:off x="5037850" y="2036900"/>
            <a:ext cx="3378600" cy="8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 Management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573" name="Google Shape;573;p4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a tree graph </a:t>
            </a:r>
            <a:r>
              <a:rPr b="1" lang="en"/>
              <a:t>receivers </a:t>
            </a:r>
            <a:r>
              <a:rPr lang="en"/>
              <a:t>are at the bottom of the hierarchy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both send and receive</a:t>
            </a:r>
            <a:r>
              <a:rPr lang="en"/>
              <a:t> ties are in the </a:t>
            </a:r>
            <a:r>
              <a:rPr b="1" lang="en"/>
              <a:t>middle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6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5" name="Google Shape;575;p46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6" name="Google Shape;576;p46"/>
          <p:cNvCxnSpPr>
            <a:stCxn id="574" idx="0"/>
            <a:endCxn id="575" idx="4"/>
          </p:cNvCxnSpPr>
          <p:nvPr/>
        </p:nvCxnSpPr>
        <p:spPr>
          <a:xfrm rot="10800000">
            <a:off x="5477450" y="2766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77" name="Google Shape;577;p46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8" name="Google Shape;578;p46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9" name="Google Shape;579;p46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0" name="Google Shape;580;p46"/>
          <p:cNvCxnSpPr>
            <a:stCxn id="575" idx="7"/>
            <a:endCxn id="577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1" name="Google Shape;581;p46"/>
          <p:cNvCxnSpPr>
            <a:stCxn id="579" idx="1"/>
            <a:endCxn id="57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82" name="Google Shape;582;p46"/>
          <p:cNvCxnSpPr>
            <a:stCxn id="578" idx="0"/>
            <a:endCxn id="575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588" name="Google Shape;588;p4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both send and receive</a:t>
            </a:r>
            <a:r>
              <a:rPr lang="en"/>
              <a:t> ties are in the </a:t>
            </a:r>
            <a:r>
              <a:rPr b="1" lang="en"/>
              <a:t>middle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a tree graph </a:t>
            </a:r>
            <a:r>
              <a:rPr b="1" lang="en"/>
              <a:t>carriers </a:t>
            </a:r>
            <a:r>
              <a:rPr lang="en"/>
              <a:t>are in the middle of the hierarchy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7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0" name="Google Shape;590;p47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1" name="Google Shape;591;p47"/>
          <p:cNvCxnSpPr>
            <a:stCxn id="589" idx="0"/>
            <a:endCxn id="590" idx="4"/>
          </p:cNvCxnSpPr>
          <p:nvPr/>
        </p:nvCxnSpPr>
        <p:spPr>
          <a:xfrm rot="10800000">
            <a:off x="5477450" y="2766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92" name="Google Shape;592;p47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3" name="Google Shape;593;p47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4" name="Google Shape;594;p47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5" name="Google Shape;595;p47"/>
          <p:cNvCxnSpPr>
            <a:stCxn id="590" idx="7"/>
            <a:endCxn id="592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6" name="Google Shape;596;p47"/>
          <p:cNvCxnSpPr>
            <a:stCxn id="594" idx="1"/>
            <a:endCxn id="592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97" name="Google Shape;597;p47"/>
          <p:cNvCxnSpPr>
            <a:stCxn id="593" idx="0"/>
            <a:endCxn id="590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603" name="Google Shape;603;p4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interesting property of tree graphs is that the same set of nodes and edges can form different structures: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8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5" name="Google Shape;605;p48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6" name="Google Shape;606;p48"/>
          <p:cNvCxnSpPr>
            <a:stCxn id="604" idx="0"/>
            <a:endCxn id="605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07" name="Google Shape;607;p48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8" name="Google Shape;608;p48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9" name="Google Shape;609;p48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0" name="Google Shape;610;p48"/>
          <p:cNvCxnSpPr>
            <a:stCxn id="605" idx="7"/>
            <a:endCxn id="607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1" name="Google Shape;611;p48"/>
          <p:cNvCxnSpPr>
            <a:stCxn id="609" idx="1"/>
            <a:endCxn id="60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2" name="Google Shape;612;p48"/>
          <p:cNvCxnSpPr>
            <a:stCxn id="608" idx="0"/>
            <a:endCxn id="605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618" name="Google Shape;618;p4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interesting property of tree graphs is that the same set of nodes and edges can form different structures: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9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629" name="Google Shape;629;p5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interesting property of tree graphs is that the same set of nodes and edges can form different structures: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 </a:t>
            </a:r>
            <a:r>
              <a:rPr b="1" lang="en"/>
              <a:t>linear </a:t>
            </a:r>
            <a:r>
              <a:rPr b="1" lang="en"/>
              <a:t>hierarchy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0"/>
          <p:cNvSpPr/>
          <p:nvPr/>
        </p:nvSpPr>
        <p:spPr>
          <a:xfrm>
            <a:off x="6378300" y="1135288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1" name="Google Shape;631;p50"/>
          <p:cNvSpPr/>
          <p:nvPr/>
        </p:nvSpPr>
        <p:spPr>
          <a:xfrm>
            <a:off x="6378300" y="44218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2" name="Google Shape;632;p50"/>
          <p:cNvSpPr/>
          <p:nvPr/>
        </p:nvSpPr>
        <p:spPr>
          <a:xfrm>
            <a:off x="6378300" y="22308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6378300" y="33263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4" name="Google Shape;634;p50"/>
          <p:cNvSpPr/>
          <p:nvPr/>
        </p:nvSpPr>
        <p:spPr>
          <a:xfrm>
            <a:off x="6378300" y="398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5" name="Google Shape;635;p50"/>
          <p:cNvCxnSpPr>
            <a:stCxn id="630" idx="0"/>
            <a:endCxn id="634" idx="4"/>
          </p:cNvCxnSpPr>
          <p:nvPr/>
        </p:nvCxnSpPr>
        <p:spPr>
          <a:xfrm rot="10800000">
            <a:off x="6678900" y="640888"/>
            <a:ext cx="0" cy="49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6" name="Google Shape;636;p50"/>
          <p:cNvCxnSpPr>
            <a:stCxn id="632" idx="0"/>
            <a:endCxn id="630" idx="4"/>
          </p:cNvCxnSpPr>
          <p:nvPr/>
        </p:nvCxnSpPr>
        <p:spPr>
          <a:xfrm rot="10800000">
            <a:off x="6678900" y="1736400"/>
            <a:ext cx="0" cy="49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7" name="Google Shape;637;p50"/>
          <p:cNvCxnSpPr>
            <a:stCxn id="633" idx="0"/>
            <a:endCxn id="632" idx="4"/>
          </p:cNvCxnSpPr>
          <p:nvPr/>
        </p:nvCxnSpPr>
        <p:spPr>
          <a:xfrm rot="10800000">
            <a:off x="6678900" y="2831900"/>
            <a:ext cx="0" cy="49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8" name="Google Shape;638;p50"/>
          <p:cNvCxnSpPr>
            <a:stCxn id="631" idx="0"/>
            <a:endCxn id="633" idx="4"/>
          </p:cNvCxnSpPr>
          <p:nvPr/>
        </p:nvCxnSpPr>
        <p:spPr>
          <a:xfrm rot="10800000">
            <a:off x="6678900" y="3927400"/>
            <a:ext cx="0" cy="49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644" name="Google Shape;644;p5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interesting property of tree graphs is that the same set of nodes and edges can form different structures: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This is a </a:t>
            </a:r>
            <a:r>
              <a:rPr b="1" lang="en">
                <a:solidFill>
                  <a:srgbClr val="CCCCCC"/>
                </a:solidFill>
              </a:rPr>
              <a:t>linear hierarchy</a:t>
            </a:r>
            <a:endParaRPr b="1"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 </a:t>
            </a:r>
            <a:r>
              <a:rPr b="1" lang="en"/>
              <a:t>caterpillar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1"/>
          <p:cNvSpPr/>
          <p:nvPr/>
        </p:nvSpPr>
        <p:spPr>
          <a:xfrm>
            <a:off x="4969275" y="31843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6" name="Google Shape;646;p51"/>
          <p:cNvSpPr/>
          <p:nvPr/>
        </p:nvSpPr>
        <p:spPr>
          <a:xfrm>
            <a:off x="7639775" y="31843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7" name="Google Shape;647;p51"/>
          <p:cNvSpPr/>
          <p:nvPr/>
        </p:nvSpPr>
        <p:spPr>
          <a:xfrm>
            <a:off x="6073475" y="31843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8" name="Google Shape;648;p51"/>
          <p:cNvSpPr/>
          <p:nvPr/>
        </p:nvSpPr>
        <p:spPr>
          <a:xfrm>
            <a:off x="7639775" y="18512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9" name="Google Shape;649;p51"/>
          <p:cNvSpPr/>
          <p:nvPr/>
        </p:nvSpPr>
        <p:spPr>
          <a:xfrm>
            <a:off x="5472275" y="18512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0" name="Google Shape;650;p51"/>
          <p:cNvCxnSpPr>
            <a:stCxn id="645" idx="0"/>
            <a:endCxn id="649" idx="4"/>
          </p:cNvCxnSpPr>
          <p:nvPr/>
        </p:nvCxnSpPr>
        <p:spPr>
          <a:xfrm flipH="1" rot="10800000">
            <a:off x="5269875" y="2452313"/>
            <a:ext cx="503100" cy="73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51" name="Google Shape;651;p51"/>
          <p:cNvCxnSpPr>
            <a:stCxn id="647" idx="0"/>
            <a:endCxn id="649" idx="4"/>
          </p:cNvCxnSpPr>
          <p:nvPr/>
        </p:nvCxnSpPr>
        <p:spPr>
          <a:xfrm rot="10800000">
            <a:off x="5772875" y="2452325"/>
            <a:ext cx="601200" cy="73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52" name="Google Shape;652;p51"/>
          <p:cNvCxnSpPr>
            <a:stCxn id="648" idx="2"/>
            <a:endCxn id="649" idx="6"/>
          </p:cNvCxnSpPr>
          <p:nvPr/>
        </p:nvCxnSpPr>
        <p:spPr>
          <a:xfrm rot="10800000">
            <a:off x="6073475" y="2151825"/>
            <a:ext cx="156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53" name="Google Shape;653;p51"/>
          <p:cNvCxnSpPr>
            <a:stCxn id="646" idx="0"/>
            <a:endCxn id="648" idx="4"/>
          </p:cNvCxnSpPr>
          <p:nvPr/>
        </p:nvCxnSpPr>
        <p:spPr>
          <a:xfrm rot="10800000">
            <a:off x="7940375" y="2452325"/>
            <a:ext cx="0" cy="73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659" name="Google Shape;659;p5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interesting property of tree graphs is that the same set of nodes and edges can form different structures: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This is a </a:t>
            </a:r>
            <a:r>
              <a:rPr b="1" lang="en">
                <a:solidFill>
                  <a:srgbClr val="CCCCCC"/>
                </a:solidFill>
              </a:rPr>
              <a:t>linear hierarchy</a:t>
            </a:r>
            <a:endParaRPr b="1"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This is a </a:t>
            </a:r>
            <a:r>
              <a:rPr b="1" lang="en">
                <a:solidFill>
                  <a:srgbClr val="CCCCCC"/>
                </a:solidFill>
              </a:rPr>
              <a:t>caterpillar</a:t>
            </a:r>
            <a:endParaRPr b="1"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</a:t>
            </a:r>
            <a:r>
              <a:rPr b="1" lang="en"/>
              <a:t> </a:t>
            </a:r>
            <a:r>
              <a:rPr b="1" lang="en"/>
              <a:t>star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2"/>
          <p:cNvSpPr/>
          <p:nvPr/>
        </p:nvSpPr>
        <p:spPr>
          <a:xfrm>
            <a:off x="5107750" y="2601613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1" name="Google Shape;661;p52"/>
          <p:cNvSpPr/>
          <p:nvPr/>
        </p:nvSpPr>
        <p:spPr>
          <a:xfrm>
            <a:off x="6308625" y="15093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2" name="Google Shape;662;p52"/>
          <p:cNvSpPr/>
          <p:nvPr/>
        </p:nvSpPr>
        <p:spPr>
          <a:xfrm>
            <a:off x="6308625" y="36939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3" name="Google Shape;663;p52"/>
          <p:cNvSpPr/>
          <p:nvPr/>
        </p:nvSpPr>
        <p:spPr>
          <a:xfrm>
            <a:off x="75095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4" name="Google Shape;664;p52"/>
          <p:cNvSpPr/>
          <p:nvPr/>
        </p:nvSpPr>
        <p:spPr>
          <a:xfrm>
            <a:off x="630862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5" name="Google Shape;665;p52"/>
          <p:cNvCxnSpPr>
            <a:stCxn id="660" idx="6"/>
            <a:endCxn id="664" idx="2"/>
          </p:cNvCxnSpPr>
          <p:nvPr/>
        </p:nvCxnSpPr>
        <p:spPr>
          <a:xfrm>
            <a:off x="5708950" y="2902213"/>
            <a:ext cx="59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6" name="Google Shape;666;p52"/>
          <p:cNvCxnSpPr>
            <a:stCxn id="662" idx="0"/>
            <a:endCxn id="664" idx="4"/>
          </p:cNvCxnSpPr>
          <p:nvPr/>
        </p:nvCxnSpPr>
        <p:spPr>
          <a:xfrm rot="10800000">
            <a:off x="6609225" y="3202800"/>
            <a:ext cx="0" cy="49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7" name="Google Shape;667;p52"/>
          <p:cNvCxnSpPr>
            <a:stCxn id="663" idx="2"/>
            <a:endCxn id="664" idx="6"/>
          </p:cNvCxnSpPr>
          <p:nvPr/>
        </p:nvCxnSpPr>
        <p:spPr>
          <a:xfrm rot="10800000">
            <a:off x="6909800" y="2902225"/>
            <a:ext cx="59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8" name="Google Shape;668;p52"/>
          <p:cNvCxnSpPr>
            <a:stCxn id="661" idx="4"/>
            <a:endCxn id="664" idx="0"/>
          </p:cNvCxnSpPr>
          <p:nvPr/>
        </p:nvCxnSpPr>
        <p:spPr>
          <a:xfrm>
            <a:off x="6609225" y="2110550"/>
            <a:ext cx="0" cy="49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