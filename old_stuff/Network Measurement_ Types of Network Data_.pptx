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Economica"/>
      <p:regular r:id="rId13"/>
      <p:bold r:id="rId14"/>
      <p:italic r:id="rId15"/>
      <p:boldItalic r:id="rId16"/>
    </p:embeddedFont>
    <p:embeddedFont>
      <p:font typeface="Linden Hill"/>
      <p:regular r:id="rId17"/>
      <p: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font" Target="fonts/Economica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Economica-italic.fntdata"/><Relationship Id="rId14" Type="http://schemas.openxmlformats.org/officeDocument/2006/relationships/font" Target="fonts/Economica-bold.fntdata"/><Relationship Id="rId17" Type="http://schemas.openxmlformats.org/officeDocument/2006/relationships/font" Target="fonts/LindenHill-regular.fntdata"/><Relationship Id="rId16" Type="http://schemas.openxmlformats.org/officeDocument/2006/relationships/font" Target="fonts/Economica-boldItalic.fntdata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font" Target="fonts/LindenHill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f13d4ff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f13d4ff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f13d4ff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f13d4ff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5f13d4ff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5f13d4ff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5f13d4ff3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5f13d4ff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f13d4ff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f13d4ff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f13d4ff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f13d4ff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f13d4ff3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5f13d4ff3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Measurement 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Types of Network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does network data come from?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Surveys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</a:t>
            </a:r>
            <a:r>
              <a:rPr b="1" lang="en"/>
              <a:t>ask</a:t>
            </a:r>
            <a:r>
              <a:rPr lang="en"/>
              <a:t> people about their 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Best approach for the collection of </a:t>
            </a:r>
            <a:r>
              <a:rPr b="1" lang="en"/>
              <a:t>ego network </a:t>
            </a:r>
            <a:r>
              <a:rPr lang="en"/>
              <a:t>data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Next class!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Direct Observation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</a:t>
            </a:r>
            <a:r>
              <a:rPr b="1" lang="en"/>
              <a:t>go</a:t>
            </a:r>
            <a:r>
              <a:rPr lang="en"/>
              <a:t> to a site and </a:t>
            </a:r>
            <a:r>
              <a:rPr b="1" lang="en"/>
              <a:t>record</a:t>
            </a:r>
            <a:r>
              <a:rPr lang="en"/>
              <a:t> interactions between people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Classrooms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Neighborhoods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Karate Club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Monastery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Frat House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Beach?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does network data come from?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Archives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find independent records recording the (direct or indirect) relations between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Old Fashioned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Organizational rosters recording common memberships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Letters or other snail-type correspondence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Newfangled 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Email logs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Electronic communications logs (e.g. texts, calls, snapchat, messenger)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Social media (e.g. Facebook, twitter, instagram)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Dating websites (e.g. OK Cupid, Tinder, Grindr)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Virtual memberships  (e.g. chat boards, newsgroups)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Electronic consumption records (e.g. Amazon, Reddit, Netflix, Imgur, etc.)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Blogs and electronic journals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store network data?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432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First: Give each vertex in the network a unique identifier!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consecutive integers: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1, 2, 3...</a:t>
            </a:r>
            <a:r>
              <a:rPr i="1" lang="en"/>
              <a:t>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Second: Pick a storage format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Adjacency Matrices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Fine for small to medium size networks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Gets cumbersome for large, sparse networks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5.-Undirected-Graph-Adjacency-Matrix.png" id="82" name="Google Shape;82;p16"/>
          <p:cNvPicPr preferRelativeResize="0"/>
          <p:nvPr/>
        </p:nvPicPr>
        <p:blipFill rotWithShape="1">
          <a:blip r:embed="rId3">
            <a:alphaModFix/>
          </a:blip>
          <a:srcRect b="16430" l="0" r="0" t="0"/>
          <a:stretch/>
        </p:blipFill>
        <p:spPr>
          <a:xfrm>
            <a:off x="4640700" y="1762075"/>
            <a:ext cx="4239951" cy="2280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store network data?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5225"/>
            <a:ext cx="432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First: Give each vertex in the network a unique identifier!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consecutive integers: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1, 2, 3...</a:t>
            </a:r>
            <a:r>
              <a:rPr i="1" lang="en"/>
              <a:t>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Second: Pick a storage format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Adjacency Lists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efficient for large, sparse networks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be used in traditional statistical packages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17"/>
          <p:cNvGrpSpPr/>
          <p:nvPr/>
        </p:nvGrpSpPr>
        <p:grpSpPr>
          <a:xfrm>
            <a:off x="5375550" y="1225225"/>
            <a:ext cx="2623831" cy="3354000"/>
            <a:chOff x="5375550" y="1225225"/>
            <a:chExt cx="2623831" cy="3354000"/>
          </a:xfrm>
        </p:grpSpPr>
        <p:pic>
          <p:nvPicPr>
            <p:cNvPr descr="Screenshot 2017-09-05 at 08.57.15.png" id="90" name="Google Shape;9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26875" y="1225225"/>
              <a:ext cx="2372506" cy="335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7"/>
            <p:cNvSpPr txBox="1"/>
            <p:nvPr/>
          </p:nvSpPr>
          <p:spPr>
            <a:xfrm>
              <a:off x="5375550" y="2726450"/>
              <a:ext cx="2223600" cy="29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store network data?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25225"/>
            <a:ext cx="432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First: Give each vertex in the network a unique identifier!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consecutive integers: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1, 2, 3...</a:t>
            </a:r>
            <a:r>
              <a:rPr i="1" lang="en"/>
              <a:t>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Second: Pick a storage format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Adjacency Lists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efficient for large, sparse networks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be used to also store </a:t>
            </a:r>
            <a:r>
              <a:rPr lang="en"/>
              <a:t>vertex</a:t>
            </a:r>
            <a:r>
              <a:rPr lang="en"/>
              <a:t> properties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8"/>
          <p:cNvGrpSpPr/>
          <p:nvPr/>
        </p:nvGrpSpPr>
        <p:grpSpPr>
          <a:xfrm>
            <a:off x="5172776" y="1179950"/>
            <a:ext cx="2755548" cy="3444558"/>
            <a:chOff x="5375550" y="1225225"/>
            <a:chExt cx="2623831" cy="3354000"/>
          </a:xfrm>
        </p:grpSpPr>
        <p:pic>
          <p:nvPicPr>
            <p:cNvPr descr="Screenshot 2017-09-05 at 08.57.15.png" id="99" name="Google Shape;9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26875" y="1225225"/>
              <a:ext cx="2372506" cy="335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8"/>
            <p:cNvSpPr txBox="1"/>
            <p:nvPr/>
          </p:nvSpPr>
          <p:spPr>
            <a:xfrm>
              <a:off x="5375550" y="2726450"/>
              <a:ext cx="2223600" cy="29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store network data?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225225"/>
            <a:ext cx="432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First: Give each vertex in the network a unique identifier!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consecutive integers: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1, 2, 3...</a:t>
            </a:r>
            <a:r>
              <a:rPr i="1" lang="en"/>
              <a:t>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Second: Pick a storage format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Adjacency Lists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efficient for large, sparse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be used to also store vertex properties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be used to store undirected and </a:t>
            </a:r>
            <a:r>
              <a:rPr b="1" lang="en"/>
              <a:t>directed</a:t>
            </a:r>
            <a:r>
              <a:rPr lang="en"/>
              <a:t> networks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05 at 08.59.30.png" id="107" name="Google Shape;107;p19"/>
          <p:cNvPicPr preferRelativeResize="0"/>
          <p:nvPr/>
        </p:nvPicPr>
        <p:blipFill rotWithShape="1">
          <a:blip r:embed="rId3">
            <a:alphaModFix/>
          </a:blip>
          <a:srcRect b="0" l="0" r="0" t="13382"/>
          <a:stretch/>
        </p:blipFill>
        <p:spPr>
          <a:xfrm>
            <a:off x="5259475" y="1225225"/>
            <a:ext cx="2529731" cy="174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17-09-05 at 08.59.54.png"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2025" y="2967300"/>
            <a:ext cx="3844625" cy="161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store network data?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225225"/>
            <a:ext cx="432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First: Give each vertex in the network a unique identifier!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 consecutive integers: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1, 2, 3...</a:t>
            </a:r>
            <a:r>
              <a:rPr i="1" lang="en"/>
              <a:t>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Second: Pick a storage format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Edge List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convenient and </a:t>
            </a:r>
            <a:r>
              <a:rPr b="1" lang="en"/>
              <a:t>space-efficient</a:t>
            </a:r>
            <a:r>
              <a:rPr lang="en"/>
              <a:t> way to store network data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Vertex properties must be stored elsewhere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09-05 at 08.59.30.png"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13382"/>
          <a:stretch/>
        </p:blipFill>
        <p:spPr>
          <a:xfrm>
            <a:off x="5259475" y="1225225"/>
            <a:ext cx="2529731" cy="174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6990132" y="2610600"/>
            <a:ext cx="1347000" cy="2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Edge List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7305900" y="2832900"/>
            <a:ext cx="483300" cy="18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1,3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1,4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3,4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4,1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4,5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nden Hill"/>
                <a:ea typeface="Linden Hill"/>
                <a:cs typeface="Linden Hill"/>
                <a:sym typeface="Linden Hill"/>
              </a:rPr>
              <a:t>5,4</a:t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inden Hill"/>
              <a:ea typeface="Linden Hill"/>
              <a:cs typeface="Linden Hill"/>
              <a:sym typeface="Linden Hil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