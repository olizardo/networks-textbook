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715000" cx="9144000"/>
  <p:notesSz cx="6858000" cy="9144000"/>
  <p:embeddedFontLst>
    <p:embeddedFont>
      <p:font typeface="Josefin Slab"/>
      <p:regular r:id="rId42"/>
      <p:bold r:id="rId43"/>
      <p:italic r:id="rId44"/>
      <p:boldItalic r:id="rId45"/>
    </p:embeddedFont>
    <p:embeddedFont>
      <p:font typeface="Economica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JosefinSlab-regular.fntdata"/><Relationship Id="rId41" Type="http://schemas.openxmlformats.org/officeDocument/2006/relationships/slide" Target="slides/slide37.xml"/><Relationship Id="rId44" Type="http://schemas.openxmlformats.org/officeDocument/2006/relationships/font" Target="fonts/JosefinSlab-italic.fntdata"/><Relationship Id="rId43" Type="http://schemas.openxmlformats.org/officeDocument/2006/relationships/font" Target="fonts/JosefinSlab-bold.fntdata"/><Relationship Id="rId46" Type="http://schemas.openxmlformats.org/officeDocument/2006/relationships/font" Target="fonts/Economica-regular.fntdata"/><Relationship Id="rId45" Type="http://schemas.openxmlformats.org/officeDocument/2006/relationships/font" Target="fonts/JosefinSlab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Economica-italic.fntdata"/><Relationship Id="rId47" Type="http://schemas.openxmlformats.org/officeDocument/2006/relationships/font" Target="fonts/Economica-bold.fntdata"/><Relationship Id="rId49" Type="http://schemas.openxmlformats.org/officeDocument/2006/relationships/font" Target="fonts/Economica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747fd667_0_58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a747fd66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747fd667_0_32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747fd667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747fd667_0_51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a747fd667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747fd667_0_45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747fd66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9820a2a9_02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9820a2a9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9820a2a9_04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9820a2a9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9820a2a9_1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9820a2a9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7f572b1c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a7f572b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7f572b1c_0_18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7f572b1c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9820a2a9_2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9820a2a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a747fd667_0_1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a747fd66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9821413e_08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9821413e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e4d61a90_0_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e4d61a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e4d61a90_0_1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5e4d61a9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5e4d61a90_0_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5e4d61a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747fd667_0_17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a747fd667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5e4d61a90_0_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5e4d61a9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7f572b1c_0_1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a7f572b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7f572b1c_0_28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a7f572b1c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7f572b1c_0_1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a7f572b1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a747fd667_0_20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a747fd66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9821413e_09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9821413e_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a7f572b1c_0_19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a7f572b1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a7f572b1c_0_22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a7f572b1c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9821413e_0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9821413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a747fd667_0_57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a747fd667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a747fd667_0_58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a747fd66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9821413e_0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9821413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a747fd667_0_59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a747fd667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9821413e_04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9821413e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9821413e_05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9821413e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9821413e_06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9821413e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9821413e_05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9821413e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9821413e_07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9821413e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9821413e_012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9821413e_0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6eb6627909efd90a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6eb6627909efd90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a747fd667_0_616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a747fd667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050624"/>
            <a:ext cx="3054600" cy="22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Roles and Positions in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networks, graphs, matrices 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536238" y="1274694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Graph Theory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“The Graph”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564263" y="3293833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Social Systems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Network”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00538" y="3293833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Matrix Algebra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Matrix”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4"/>
          <p:cNvCxnSpPr>
            <a:stCxn id="71" idx="3"/>
            <a:endCxn id="69" idx="2"/>
          </p:cNvCxnSpPr>
          <p:nvPr/>
        </p:nvCxnSpPr>
        <p:spPr>
          <a:xfrm flipH="1" rot="10800000">
            <a:off x="2579738" y="2269783"/>
            <a:ext cx="1896000" cy="152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9" idx="2"/>
            <a:endCxn id="70" idx="1"/>
          </p:cNvCxnSpPr>
          <p:nvPr/>
        </p:nvCxnSpPr>
        <p:spPr>
          <a:xfrm>
            <a:off x="4475838" y="2269794"/>
            <a:ext cx="2088300" cy="152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71" idx="2"/>
            <a:endCxn id="70" idx="2"/>
          </p:cNvCxnSpPr>
          <p:nvPr/>
        </p:nvCxnSpPr>
        <p:spPr>
          <a:xfrm flipH="1" rot="-5400000">
            <a:off x="4571738" y="1357333"/>
            <a:ext cx="600" cy="5863800"/>
          </a:xfrm>
          <a:prstGeom prst="bentConnector3">
            <a:avLst>
              <a:gd fmla="val 91912500" name="adj1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75" name="Google Shape;75;p14"/>
          <p:cNvSpPr txBox="1"/>
          <p:nvPr/>
        </p:nvSpPr>
        <p:spPr>
          <a:xfrm>
            <a:off x="3775250" y="4919325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5415450" y="2653050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Analogy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1942650" y="2653050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361361"/>
            <a:ext cx="5502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processes occurring in social systems 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i="1" lang="en"/>
              <a:t>pure</a:t>
            </a:r>
            <a:r>
              <a:rPr lang="en"/>
              <a:t> </a:t>
            </a:r>
            <a:r>
              <a:rPr i="1" lang="en"/>
              <a:t>mathematics</a:t>
            </a:r>
            <a:r>
              <a:rPr lang="en"/>
              <a:t>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"analogues" of fuzzy social network concepts stated in natural language in less ambiguous terms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Matrix algebra</a:t>
            </a:r>
            <a:r>
              <a:rPr lang="en"/>
              <a:t> is a branch of </a:t>
            </a:r>
            <a:r>
              <a:rPr i="1" lang="en"/>
              <a:t>applied mathematics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Links to graph to theoretic concepts to allow for calculation and the development of "measures" and metric representations of social network concepts (e.g. “centrality”)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Each element of a matrix is ..."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25" y="1789139"/>
            <a:ext cx="3192075" cy="25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different types of concepts: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Science Concepts: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Roles</a:t>
            </a:r>
            <a:r>
              <a:rPr lang="en"/>
              <a:t>, </a:t>
            </a:r>
            <a:r>
              <a:rPr b="1" lang="en"/>
              <a:t>Social Position, Relational Similarity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Theoretic Concept: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Equivalence</a:t>
            </a:r>
            <a:r>
              <a:rPr lang="en"/>
              <a:t> of nodes in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Representation of the Graph Theoretic Concept: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Blocks</a:t>
            </a:r>
            <a:r>
              <a:rPr lang="en"/>
              <a:t> in a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graph-theoretic notion of </a:t>
            </a:r>
            <a:r>
              <a:rPr b="1" lang="en"/>
              <a:t>equivalence</a:t>
            </a:r>
            <a:r>
              <a:rPr lang="en"/>
              <a:t> a does for the classic notion notion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roles</a:t>
            </a:r>
            <a:r>
              <a:rPr lang="en"/>
              <a:t> (taken from functionalist sociology and social anthropology) what </a:t>
            </a:r>
            <a:r>
              <a:rPr b="1" lang="en"/>
              <a:t>centrality</a:t>
            </a:r>
            <a:r>
              <a:rPr lang="en"/>
              <a:t> does for </a:t>
            </a:r>
            <a:r>
              <a:rPr b="1" lang="en"/>
              <a:t>prominence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Equivalence can be thought of as a </a:t>
            </a:r>
            <a:r>
              <a:rPr b="1" lang="en"/>
              <a:t>partition</a:t>
            </a:r>
            <a:r>
              <a:rPr lang="en"/>
              <a:t> of the set of </a:t>
            </a:r>
            <a:r>
              <a:rPr b="1" lang="en"/>
              <a:t>vertices</a:t>
            </a:r>
            <a:r>
              <a:rPr lang="en"/>
              <a:t> in a graph into a set of </a:t>
            </a:r>
            <a:r>
              <a:rPr b="1" lang="en"/>
              <a:t>disjoint</a:t>
            </a:r>
            <a:r>
              <a:rPr lang="en"/>
              <a:t> </a:t>
            </a:r>
            <a:r>
              <a:rPr b="1" lang="en"/>
              <a:t>classes</a:t>
            </a:r>
            <a:r>
              <a:rPr lang="en"/>
              <a:t>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</a:t>
            </a:r>
            <a:r>
              <a:rPr b="1" lang="en"/>
              <a:t>subset</a:t>
            </a:r>
            <a:r>
              <a:rPr lang="en"/>
              <a:t> of vertices in the same class can be thought of as playing the </a:t>
            </a:r>
            <a:r>
              <a:rPr b="1" lang="en"/>
              <a:t>same role </a:t>
            </a:r>
            <a:r>
              <a:rPr lang="en"/>
              <a:t>or occupying the s</a:t>
            </a:r>
            <a:r>
              <a:rPr b="1" lang="en"/>
              <a:t>ame position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 (Graph Theory)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an</a:t>
            </a:r>
            <a:r>
              <a:rPr lang="en"/>
              <a:t> equivalence relations among vertices can thus be thought of as imposing a classification on the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a graph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(V, 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a partition of V compatible with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Partition P = {C</a:t>
            </a:r>
            <a:r>
              <a:rPr baseline="-25000" lang="en"/>
              <a:t>1</a:t>
            </a:r>
            <a:r>
              <a:rPr lang="en"/>
              <a:t>...C</a:t>
            </a:r>
            <a:r>
              <a:rPr baseline="-25000" lang="en"/>
              <a:t>k</a:t>
            </a:r>
            <a:r>
              <a:rPr lang="en"/>
              <a:t>} of V is a set of non-empty, disjoint subsets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 = U</a:t>
            </a:r>
            <a:r>
              <a:rPr baseline="-25000" lang="en"/>
              <a:t>i </a:t>
            </a:r>
            <a:r>
              <a:rPr lang="en"/>
              <a:t>C</a:t>
            </a:r>
            <a:r>
              <a:rPr baseline="-25000" lang="en"/>
              <a:t>i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v belongs to exactly one </a:t>
            </a:r>
            <a:r>
              <a:rPr b="1" lang="en"/>
              <a:t>class</a:t>
            </a:r>
            <a:r>
              <a:rPr lang="en"/>
              <a:t> or </a:t>
            </a:r>
            <a:r>
              <a:rPr b="1" lang="en"/>
              <a:t>block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equivalence</a:t>
            </a:r>
            <a:r>
              <a:rPr lang="en"/>
              <a:t> </a:t>
            </a:r>
            <a:r>
              <a:rPr b="1" lang="en"/>
              <a:t>relation</a:t>
            </a:r>
            <a:r>
              <a:rPr lang="en"/>
              <a:t> (reflexive, symmetric, transitive) on V defines a partition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 (Graph Theory)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partitioning of the set of vertices into disjoint classes we may be interested in the connection across the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blocks are connected via  the adjacency relations of their respective vertices to one another in the original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reduced representation showing the roles and their relations is called a role graph or image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assignment can thus be thought of as a "data reduction" technique for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Meaningful structure may be captured at the image or role graph level rather than at the "individual" vertex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classification defines "similarity" and reduces network complexity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This may be particularly appropriate for large, irregular graphs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behavior may display regularities at the level of role or position that it fails to display at the individual level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 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</a:t>
            </a:r>
            <a:r>
              <a:rPr i="1" lang="en"/>
              <a:t>iff</a:t>
            </a:r>
            <a:r>
              <a:rPr lang="en"/>
              <a:t> they have the same pattern of relations with the same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G = (V, E) and V -&gt; W is a role assignment, the relation R is a structural equivalence iff for all u, v in V: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uRv implies that the outgoing set of neighbors of u and the outgoing set of neighbors of v are the same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uRv implies that the incoming set of neighbors of u and the incoming set of neighbors of v are the same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structurally equivalent if they are </a:t>
            </a:r>
            <a:r>
              <a:rPr b="1" lang="en"/>
              <a:t>friends</a:t>
            </a:r>
            <a:r>
              <a:rPr lang="en"/>
              <a:t> with the same set of </a:t>
            </a:r>
            <a:r>
              <a:rPr b="1" lang="en"/>
              <a:t>people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structurally equivalent if they </a:t>
            </a:r>
            <a:r>
              <a:rPr b="1" lang="en"/>
              <a:t>cite</a:t>
            </a:r>
            <a:r>
              <a:rPr lang="en"/>
              <a:t> the same set of other </a:t>
            </a:r>
            <a:r>
              <a:rPr b="1" lang="en"/>
              <a:t>papers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structurally equivalent if they </a:t>
            </a:r>
            <a:r>
              <a:rPr b="1" lang="en"/>
              <a:t>feed</a:t>
            </a:r>
            <a:r>
              <a:rPr lang="en"/>
              <a:t> on the same set of </a:t>
            </a:r>
            <a:r>
              <a:rPr b="1" lang="en"/>
              <a:t>prey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structurally equivalent if the </a:t>
            </a:r>
            <a:r>
              <a:rPr b="1" lang="en"/>
              <a:t>share</a:t>
            </a:r>
            <a:r>
              <a:rPr lang="en"/>
              <a:t> the same set of </a:t>
            </a:r>
            <a:r>
              <a:rPr b="1" lang="en"/>
              <a:t>members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 </a:t>
            </a:r>
            <a:r>
              <a:rPr lang="en"/>
              <a:t>structural equivalent if they </a:t>
            </a:r>
            <a:r>
              <a:rPr b="1" lang="en"/>
              <a:t>trade</a:t>
            </a:r>
            <a:r>
              <a:rPr lang="en"/>
              <a:t> with the same set of </a:t>
            </a:r>
            <a:r>
              <a:rPr b="1" lang="en"/>
              <a:t>countries</a:t>
            </a:r>
            <a:endParaRPr b="1"/>
          </a:p>
        </p:txBody>
      </p:sp>
      <p:grpSp>
        <p:nvGrpSpPr>
          <p:cNvPr id="115" name="Google Shape;115;p20"/>
          <p:cNvGrpSpPr/>
          <p:nvPr/>
        </p:nvGrpSpPr>
        <p:grpSpPr>
          <a:xfrm>
            <a:off x="311712" y="3156109"/>
            <a:ext cx="8164446" cy="1931831"/>
            <a:chOff x="311700" y="2363500"/>
            <a:chExt cx="8520607" cy="2217691"/>
          </a:xfrm>
        </p:grpSpPr>
        <p:pic>
          <p:nvPicPr>
            <p:cNvPr id="116" name="Google Shape;11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2367322"/>
              <a:ext cx="2204989" cy="221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9503" y="2383751"/>
              <a:ext cx="2205000" cy="2197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45341" y="2363500"/>
              <a:ext cx="2486966" cy="22176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structurally equivalent they have the same graph theoretic attributes, however, reverse is not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share the same neighborhood and their neighbors share the same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are actually part of the same cohesive subset (clique and its generalizations)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a </a:t>
            </a:r>
            <a:r>
              <a:rPr b="1" lang="en"/>
              <a:t>purely local concept</a:t>
            </a:r>
            <a:endParaRPr/>
          </a:p>
        </p:txBody>
      </p:sp>
      <p:grpSp>
        <p:nvGrpSpPr>
          <p:cNvPr id="125" name="Google Shape;125;p21"/>
          <p:cNvGrpSpPr/>
          <p:nvPr/>
        </p:nvGrpSpPr>
        <p:grpSpPr>
          <a:xfrm>
            <a:off x="311712" y="3156109"/>
            <a:ext cx="8164446" cy="1931831"/>
            <a:chOff x="311700" y="2363500"/>
            <a:chExt cx="8520607" cy="2217691"/>
          </a:xfrm>
        </p:grpSpPr>
        <p:pic>
          <p:nvPicPr>
            <p:cNvPr id="126" name="Google Shape;12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2367322"/>
              <a:ext cx="2204989" cy="221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9503" y="2383751"/>
              <a:ext cx="2205000" cy="2197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45341" y="2363500"/>
              <a:ext cx="2486966" cy="22176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</a:t>
            </a:r>
            <a:r>
              <a:rPr lang="en"/>
              <a:t> </a:t>
            </a:r>
            <a:r>
              <a:rPr b="1" lang="en"/>
              <a:t>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iff they have the same pattern of relations with other actors</a:t>
            </a:r>
            <a:endParaRPr/>
          </a:p>
        </p:txBody>
      </p:sp>
      <p:grpSp>
        <p:nvGrpSpPr>
          <p:cNvPr id="135" name="Google Shape;135;p22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136" name="Google Shape;136;p22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137" name="Google Shape;137;p22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138" name="Google Shape;138;p22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139" name="Google Shape;139;p22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140" name="Google Shape;140;p22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141" name="Google Shape;141;p22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142" name="Google Shape;142;p22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143" name="Google Shape;143;p22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144" name="Google Shape;144;p22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145" name="Google Shape;145;p22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146" name="Google Shape;146;p22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147" name="Google Shape;147;p22"/>
              <p:cNvCxnSpPr>
                <a:stCxn id="137" idx="6"/>
                <a:endCxn id="139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22"/>
              <p:cNvCxnSpPr>
                <a:stCxn id="137" idx="5"/>
                <a:endCxn id="140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22"/>
              <p:cNvCxnSpPr>
                <a:stCxn id="138" idx="7"/>
                <a:endCxn id="139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22"/>
              <p:cNvCxnSpPr>
                <a:stCxn id="137" idx="4"/>
                <a:endCxn id="138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" name="Google Shape;151;p22"/>
              <p:cNvCxnSpPr>
                <a:stCxn id="138" idx="6"/>
                <a:endCxn id="140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" name="Google Shape;152;p22"/>
              <p:cNvCxnSpPr>
                <a:stCxn id="139" idx="6"/>
                <a:endCxn id="141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" name="Google Shape;153;p22"/>
              <p:cNvCxnSpPr>
                <a:stCxn id="141" idx="3"/>
                <a:endCxn id="140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" name="Google Shape;154;p22"/>
              <p:cNvCxnSpPr>
                <a:stCxn id="142" idx="2"/>
                <a:endCxn id="141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" name="Google Shape;155;p22"/>
              <p:cNvCxnSpPr>
                <a:stCxn id="143" idx="2"/>
                <a:endCxn id="142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" name="Google Shape;156;p22"/>
              <p:cNvCxnSpPr>
                <a:stCxn id="144" idx="2"/>
                <a:endCxn id="142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" name="Google Shape;157;p22"/>
              <p:cNvCxnSpPr>
                <a:stCxn id="143" idx="5"/>
                <a:endCxn id="146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" name="Google Shape;158;p22"/>
              <p:cNvCxnSpPr>
                <a:stCxn id="145" idx="3"/>
                <a:endCxn id="144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" name="Google Shape;159;p22"/>
              <p:cNvCxnSpPr>
                <a:stCxn id="145" idx="2"/>
                <a:endCxn id="143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" name="Google Shape;160;p22"/>
              <p:cNvCxnSpPr>
                <a:stCxn id="145" idx="4"/>
                <a:endCxn id="146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" name="Google Shape;161;p22"/>
              <p:cNvCxnSpPr>
                <a:stCxn id="146" idx="2"/>
                <a:endCxn id="144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2" name="Google Shape;162;p22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 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</a:t>
            </a:r>
            <a:r>
              <a:rPr i="1" lang="en"/>
              <a:t>iff</a:t>
            </a:r>
            <a:r>
              <a:rPr lang="en"/>
              <a:t> they have the same pattern of relations with the same actors</a:t>
            </a:r>
            <a:endParaRPr/>
          </a:p>
        </p:txBody>
      </p:sp>
      <p:grpSp>
        <p:nvGrpSpPr>
          <p:cNvPr id="169" name="Google Shape;169;p23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170" name="Google Shape;170;p23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171" name="Google Shape;171;p23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172" name="Google Shape;172;p23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173" name="Google Shape;173;p23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174" name="Google Shape;174;p23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175" name="Google Shape;175;p23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FF00F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176" name="Google Shape;176;p23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177" name="Google Shape;177;p23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178" name="Google Shape;178;p23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179" name="Google Shape;179;p23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180" name="Google Shape;180;p23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181" name="Google Shape;181;p23"/>
              <p:cNvCxnSpPr>
                <a:stCxn id="171" idx="6"/>
                <a:endCxn id="173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" name="Google Shape;182;p23"/>
              <p:cNvCxnSpPr>
                <a:stCxn id="171" idx="5"/>
                <a:endCxn id="174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23"/>
              <p:cNvCxnSpPr>
                <a:stCxn id="172" idx="7"/>
                <a:endCxn id="173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23"/>
              <p:cNvCxnSpPr>
                <a:stCxn id="171" idx="4"/>
                <a:endCxn id="172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3"/>
              <p:cNvCxnSpPr>
                <a:stCxn id="172" idx="6"/>
                <a:endCxn id="174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23"/>
              <p:cNvCxnSpPr>
                <a:stCxn id="173" idx="6"/>
                <a:endCxn id="175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23"/>
              <p:cNvCxnSpPr>
                <a:stCxn id="175" idx="3"/>
                <a:endCxn id="174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23"/>
              <p:cNvCxnSpPr>
                <a:stCxn id="176" idx="2"/>
                <a:endCxn id="175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23"/>
              <p:cNvCxnSpPr>
                <a:stCxn id="177" idx="2"/>
                <a:endCxn id="176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3"/>
              <p:cNvCxnSpPr>
                <a:stCxn id="178" idx="2"/>
                <a:endCxn id="176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23"/>
              <p:cNvCxnSpPr>
                <a:stCxn id="177" idx="5"/>
                <a:endCxn id="180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23"/>
              <p:cNvCxnSpPr>
                <a:stCxn id="179" idx="3"/>
                <a:endCxn id="178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" name="Google Shape;193;p23"/>
              <p:cNvCxnSpPr>
                <a:stCxn id="179" idx="2"/>
                <a:endCxn id="177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p23"/>
              <p:cNvCxnSpPr>
                <a:stCxn id="179" idx="4"/>
                <a:endCxn id="180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23"/>
              <p:cNvCxnSpPr>
                <a:stCxn id="180" idx="2"/>
                <a:endCxn id="178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6" name="Google Shape;196;p23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168" y="769769"/>
            <a:ext cx="7187657" cy="417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75" y="297656"/>
            <a:ext cx="7461250" cy="511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75" y="297656"/>
            <a:ext cx="7461250" cy="511968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3340900" y="2460075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4470875" y="1634925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4225800" y="487450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2702375" y="1037350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5798225" y="2135075"/>
            <a:ext cx="827100" cy="708900"/>
          </a:xfrm>
          <a:prstGeom prst="ellipse">
            <a:avLst/>
          </a:prstGeom>
          <a:solidFill>
            <a:srgbClr val="6BAA4F">
              <a:alpha val="2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7312900" y="926025"/>
            <a:ext cx="827100" cy="708900"/>
          </a:xfrm>
          <a:prstGeom prst="ellipse">
            <a:avLst/>
          </a:prstGeom>
          <a:solidFill>
            <a:srgbClr val="0000FF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6724075" y="2135075"/>
            <a:ext cx="827100" cy="708900"/>
          </a:xfrm>
          <a:prstGeom prst="ellipse">
            <a:avLst/>
          </a:prstGeom>
          <a:solidFill>
            <a:srgbClr val="0000FF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7312900" y="3267050"/>
            <a:ext cx="827100" cy="708900"/>
          </a:xfrm>
          <a:prstGeom prst="ellipse">
            <a:avLst/>
          </a:prstGeom>
          <a:solidFill>
            <a:srgbClr val="0000FF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1178950" y="536450"/>
            <a:ext cx="827100" cy="708900"/>
          </a:xfrm>
          <a:prstGeom prst="ellipse">
            <a:avLst/>
          </a:prstGeom>
          <a:solidFill>
            <a:srgbClr val="E69138">
              <a:alpha val="36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776750" y="1945725"/>
            <a:ext cx="827100" cy="708900"/>
          </a:xfrm>
          <a:prstGeom prst="ellipse">
            <a:avLst/>
          </a:prstGeom>
          <a:solidFill>
            <a:srgbClr val="E69138">
              <a:alpha val="36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2058825" y="2270000"/>
            <a:ext cx="827100" cy="708900"/>
          </a:xfrm>
          <a:prstGeom prst="ellipse">
            <a:avLst/>
          </a:prstGeom>
          <a:solidFill>
            <a:srgbClr val="E69138">
              <a:alpha val="36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2349150" y="3808175"/>
            <a:ext cx="827100" cy="708900"/>
          </a:xfrm>
          <a:prstGeom prst="ellipse">
            <a:avLst/>
          </a:prstGeom>
          <a:solidFill>
            <a:srgbClr val="E69138">
              <a:alpha val="36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825" y="337857"/>
            <a:ext cx="4582354" cy="521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</a:t>
            </a:r>
            <a:endParaRPr/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Theoretically, the notion of role implies similar patterns of connectivity to similarly positioned actors not to literally the same actors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</a:t>
            </a:r>
            <a:r>
              <a:rPr lang="en"/>
              <a:t>Everett</a:t>
            </a:r>
            <a:r>
              <a:rPr lang="en"/>
              <a:t>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28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236" name="Google Shape;236;p28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37" name="Google Shape;237;p28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38" name="Google Shape;238;p28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39" name="Google Shape;239;p28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40" name="Google Shape;240;p28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41" name="Google Shape;241;p28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42" name="Google Shape;242;p28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43" name="Google Shape;243;p28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244" name="Google Shape;244;p28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245" name="Google Shape;245;p28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246" name="Google Shape;246;p28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247" name="Google Shape;247;p28"/>
              <p:cNvCxnSpPr>
                <a:stCxn id="237" idx="6"/>
                <a:endCxn id="239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" name="Google Shape;248;p28"/>
              <p:cNvCxnSpPr>
                <a:stCxn id="237" idx="5"/>
                <a:endCxn id="240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28"/>
              <p:cNvCxnSpPr>
                <a:stCxn id="238" idx="7"/>
                <a:endCxn id="239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28"/>
              <p:cNvCxnSpPr>
                <a:stCxn id="237" idx="4"/>
                <a:endCxn id="238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28"/>
              <p:cNvCxnSpPr>
                <a:stCxn id="238" idx="6"/>
                <a:endCxn id="240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28"/>
              <p:cNvCxnSpPr>
                <a:stCxn id="239" idx="6"/>
                <a:endCxn id="241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28"/>
              <p:cNvCxnSpPr>
                <a:stCxn id="241" idx="3"/>
                <a:endCxn id="240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28"/>
              <p:cNvCxnSpPr>
                <a:stCxn id="242" idx="2"/>
                <a:endCxn id="241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28"/>
              <p:cNvCxnSpPr>
                <a:stCxn id="243" idx="2"/>
                <a:endCxn id="242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28"/>
              <p:cNvCxnSpPr>
                <a:stCxn id="244" idx="2"/>
                <a:endCxn id="242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28"/>
              <p:cNvCxnSpPr>
                <a:stCxn id="243" idx="5"/>
                <a:endCxn id="246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28"/>
              <p:cNvCxnSpPr>
                <a:stCxn id="245" idx="3"/>
                <a:endCxn id="244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28"/>
              <p:cNvCxnSpPr>
                <a:stCxn id="245" idx="2"/>
                <a:endCxn id="243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28"/>
              <p:cNvCxnSpPr>
                <a:stCxn id="245" idx="4"/>
                <a:endCxn id="246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28"/>
              <p:cNvCxnSpPr>
                <a:stCxn id="246" idx="2"/>
                <a:endCxn id="244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62" name="Google Shape;262;p28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68" name="Google Shape;268;p29"/>
          <p:cNvSpPr txBox="1"/>
          <p:nvPr>
            <p:ph idx="1" type="body"/>
          </p:nvPr>
        </p:nvSpPr>
        <p:spPr>
          <a:xfrm>
            <a:off x="311700" y="1361350"/>
            <a:ext cx="4006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Structural and regular equivalence embody two intuitive but different conceptions of “similarity” between two actors: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 Two actors are similar if they have similar relationships to the </a:t>
            </a:r>
            <a:r>
              <a:rPr b="1" lang="en"/>
              <a:t>same</a:t>
            </a:r>
            <a:r>
              <a:rPr lang="en"/>
              <a:t> actors or objects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actors are similar if they have similar relationships to </a:t>
            </a:r>
            <a:r>
              <a:rPr b="1" lang="en"/>
              <a:t>similar</a:t>
            </a:r>
            <a:r>
              <a:rPr lang="en"/>
              <a:t> actors or objects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69" name="Google Shape;2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475" y="1962136"/>
            <a:ext cx="4513825" cy="252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75" name="Google Shape;275;p30"/>
          <p:cNvSpPr txBox="1"/>
          <p:nvPr>
            <p:ph idx="1" type="body"/>
          </p:nvPr>
        </p:nvSpPr>
        <p:spPr>
          <a:xfrm>
            <a:off x="311700" y="1361350"/>
            <a:ext cx="8520600" cy="1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regularly equivalent if they are </a:t>
            </a:r>
            <a:r>
              <a:rPr b="1" lang="en"/>
              <a:t>friends</a:t>
            </a:r>
            <a:r>
              <a:rPr lang="en"/>
              <a:t> with the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people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regularly equivalent if they </a:t>
            </a:r>
            <a:r>
              <a:rPr b="1" lang="en"/>
              <a:t>cite</a:t>
            </a:r>
            <a:r>
              <a:rPr lang="en"/>
              <a:t> a </a:t>
            </a:r>
            <a:r>
              <a:rPr i="1" lang="en"/>
              <a:t>similar</a:t>
            </a:r>
            <a:r>
              <a:rPr lang="en"/>
              <a:t> set of other </a:t>
            </a:r>
            <a:r>
              <a:rPr b="1" lang="en"/>
              <a:t>papers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regularly equivalent if they </a:t>
            </a:r>
            <a:r>
              <a:rPr b="1" lang="en"/>
              <a:t>feed</a:t>
            </a:r>
            <a:r>
              <a:rPr lang="en"/>
              <a:t> on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prey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regularly equivalent if they </a:t>
            </a:r>
            <a:r>
              <a:rPr b="1" lang="en"/>
              <a:t>share</a:t>
            </a:r>
            <a:r>
              <a:rPr lang="en"/>
              <a:t>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members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</a:t>
            </a:r>
            <a:r>
              <a:rPr lang="en"/>
              <a:t> are regularly equivalent if they </a:t>
            </a:r>
            <a:r>
              <a:rPr b="1" lang="en"/>
              <a:t>trade</a:t>
            </a:r>
            <a:r>
              <a:rPr lang="en"/>
              <a:t> with a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countries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76" name="Google Shape;2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087" y="3037086"/>
            <a:ext cx="4513825" cy="252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82" name="Google Shape;282;p31"/>
          <p:cNvSpPr txBox="1"/>
          <p:nvPr>
            <p:ph idx="1" type="body"/>
          </p:nvPr>
        </p:nvSpPr>
        <p:spPr>
          <a:xfrm>
            <a:off x="311700" y="1361350"/>
            <a:ext cx="8520600" cy="1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regularly equivalent if they are </a:t>
            </a:r>
            <a:r>
              <a:rPr b="1" lang="en"/>
              <a:t>friends</a:t>
            </a:r>
            <a:r>
              <a:rPr lang="en"/>
              <a:t> with the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people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regularly equivalent if they </a:t>
            </a:r>
            <a:r>
              <a:rPr b="1" lang="en"/>
              <a:t>cite</a:t>
            </a:r>
            <a:r>
              <a:rPr lang="en"/>
              <a:t> a </a:t>
            </a:r>
            <a:r>
              <a:rPr i="1" lang="en"/>
              <a:t>similar</a:t>
            </a:r>
            <a:r>
              <a:rPr lang="en"/>
              <a:t> set of other </a:t>
            </a:r>
            <a:r>
              <a:rPr b="1" lang="en"/>
              <a:t>papers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regularly equivalent if they </a:t>
            </a:r>
            <a:r>
              <a:rPr b="1" lang="en"/>
              <a:t>feed</a:t>
            </a:r>
            <a:r>
              <a:rPr lang="en"/>
              <a:t> on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prey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regularly equivalent if they </a:t>
            </a:r>
            <a:r>
              <a:rPr b="1" lang="en"/>
              <a:t>share</a:t>
            </a:r>
            <a:r>
              <a:rPr lang="en"/>
              <a:t>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members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</a:t>
            </a:r>
            <a:r>
              <a:rPr lang="en"/>
              <a:t> are regularly equivalent if they </a:t>
            </a:r>
            <a:r>
              <a:rPr b="1" lang="en"/>
              <a:t>trade</a:t>
            </a:r>
            <a:r>
              <a:rPr lang="en"/>
              <a:t> with a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countries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83" name="Google Shape;2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087" y="3037086"/>
            <a:ext cx="4513825" cy="252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/>
        </p:nvSpPr>
        <p:spPr>
          <a:xfrm>
            <a:off x="660875" y="3837732"/>
            <a:ext cx="16542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similarity is graph theoretic similarity!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</a:t>
            </a:r>
            <a:endParaRPr/>
          </a:p>
        </p:txBody>
      </p:sp>
      <p:sp>
        <p:nvSpPr>
          <p:cNvPr id="290" name="Google Shape;290;p32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Theoretically, the notion of role implies similar patterns of connectivity to similarly positioned actors not to literally the same actors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Everett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</a:t>
            </a:r>
            <a:r>
              <a:rPr lang="en"/>
              <a:t>eed a more flexible notion of equivalence: </a:t>
            </a:r>
            <a:r>
              <a:rPr b="1" lang="en"/>
              <a:t>Regular equivalence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91" name="Google Shape;291;p32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292" name="Google Shape;292;p32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93" name="Google Shape;293;p32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94" name="Google Shape;294;p32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95" name="Google Shape;295;p32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96" name="Google Shape;296;p32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97" name="Google Shape;297;p32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98" name="Google Shape;298;p32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99" name="Google Shape;299;p32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00" name="Google Shape;300;p32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01" name="Google Shape;301;p32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02" name="Google Shape;302;p32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03" name="Google Shape;303;p32"/>
              <p:cNvCxnSpPr>
                <a:stCxn id="293" idx="6"/>
                <a:endCxn id="295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" name="Google Shape;304;p32"/>
              <p:cNvCxnSpPr>
                <a:stCxn id="293" idx="5"/>
                <a:endCxn id="296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" name="Google Shape;305;p32"/>
              <p:cNvCxnSpPr>
                <a:stCxn id="294" idx="7"/>
                <a:endCxn id="295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" name="Google Shape;306;p32"/>
              <p:cNvCxnSpPr>
                <a:stCxn id="293" idx="4"/>
                <a:endCxn id="294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" name="Google Shape;307;p32"/>
              <p:cNvCxnSpPr>
                <a:stCxn id="294" idx="6"/>
                <a:endCxn id="296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" name="Google Shape;308;p32"/>
              <p:cNvCxnSpPr>
                <a:stCxn id="295" idx="6"/>
                <a:endCxn id="297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" name="Google Shape;309;p32"/>
              <p:cNvCxnSpPr>
                <a:stCxn id="297" idx="3"/>
                <a:endCxn id="296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" name="Google Shape;310;p32"/>
              <p:cNvCxnSpPr>
                <a:stCxn id="298" idx="2"/>
                <a:endCxn id="297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" name="Google Shape;311;p32"/>
              <p:cNvCxnSpPr>
                <a:stCxn id="299" idx="2"/>
                <a:endCxn id="298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" name="Google Shape;312;p32"/>
              <p:cNvCxnSpPr>
                <a:stCxn id="300" idx="2"/>
                <a:endCxn id="298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" name="Google Shape;313;p32"/>
              <p:cNvCxnSpPr>
                <a:stCxn id="299" idx="5"/>
                <a:endCxn id="302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" name="Google Shape;314;p32"/>
              <p:cNvCxnSpPr>
                <a:stCxn id="301" idx="3"/>
                <a:endCxn id="300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" name="Google Shape;315;p32"/>
              <p:cNvCxnSpPr>
                <a:stCxn id="301" idx="2"/>
                <a:endCxn id="299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" name="Google Shape;316;p32"/>
              <p:cNvCxnSpPr>
                <a:stCxn id="301" idx="4"/>
                <a:endCxn id="302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" name="Google Shape;317;p32"/>
              <p:cNvCxnSpPr>
                <a:stCxn id="302" idx="2"/>
                <a:endCxn id="300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18" name="Google Shape;318;p32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324" name="Google Shape;324;p33"/>
          <p:cNvSpPr txBox="1"/>
          <p:nvPr>
            <p:ph idx="1" type="body"/>
          </p:nvPr>
        </p:nvSpPr>
        <p:spPr>
          <a:xfrm>
            <a:off x="311700" y="1361357"/>
            <a:ext cx="8520600" cy="15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Everett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25" name="Google Shape;325;p33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26" name="Google Shape;326;p33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27" name="Google Shape;327;p33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28" name="Google Shape;328;p33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29" name="Google Shape;329;p33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30" name="Google Shape;330;p33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31" name="Google Shape;331;p33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32" name="Google Shape;332;p33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33" name="Google Shape;333;p33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34" name="Google Shape;334;p33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35" name="Google Shape;335;p33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36" name="Google Shape;336;p33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37" name="Google Shape;337;p33"/>
              <p:cNvCxnSpPr>
                <a:stCxn id="327" idx="6"/>
                <a:endCxn id="329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" name="Google Shape;338;p33"/>
              <p:cNvCxnSpPr>
                <a:stCxn id="327" idx="5"/>
                <a:endCxn id="330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" name="Google Shape;339;p33"/>
              <p:cNvCxnSpPr>
                <a:stCxn id="328" idx="7"/>
                <a:endCxn id="329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" name="Google Shape;340;p33"/>
              <p:cNvCxnSpPr>
                <a:stCxn id="327" idx="4"/>
                <a:endCxn id="328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" name="Google Shape;341;p33"/>
              <p:cNvCxnSpPr>
                <a:stCxn id="328" idx="6"/>
                <a:endCxn id="330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33"/>
              <p:cNvCxnSpPr>
                <a:stCxn id="329" idx="6"/>
                <a:endCxn id="331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" name="Google Shape;343;p33"/>
              <p:cNvCxnSpPr>
                <a:stCxn id="331" idx="3"/>
                <a:endCxn id="330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33"/>
              <p:cNvCxnSpPr>
                <a:stCxn id="332" idx="2"/>
                <a:endCxn id="331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" name="Google Shape;345;p33"/>
              <p:cNvCxnSpPr>
                <a:stCxn id="333" idx="2"/>
                <a:endCxn id="332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33"/>
              <p:cNvCxnSpPr>
                <a:stCxn id="334" idx="2"/>
                <a:endCxn id="332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33"/>
              <p:cNvCxnSpPr>
                <a:stCxn id="333" idx="5"/>
                <a:endCxn id="336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" name="Google Shape;348;p33"/>
              <p:cNvCxnSpPr>
                <a:stCxn id="335" idx="3"/>
                <a:endCxn id="334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" name="Google Shape;349;p33"/>
              <p:cNvCxnSpPr>
                <a:stCxn id="335" idx="2"/>
                <a:endCxn id="333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33"/>
              <p:cNvCxnSpPr>
                <a:stCxn id="335" idx="4"/>
                <a:endCxn id="336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" name="Google Shape;351;p33"/>
              <p:cNvCxnSpPr>
                <a:stCxn id="336" idx="2"/>
                <a:endCxn id="334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52" name="Google Shape;352;p33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</a:t>
              </a:r>
              <a:r>
                <a:rPr lang="en"/>
                <a:t>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723900"/>
            <a:ext cx="7619999" cy="42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363" name="Google Shape;363;p35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regularly equivalent they have the same graph theoretic attributes, and </a:t>
            </a:r>
            <a:r>
              <a:rPr b="1" lang="en"/>
              <a:t>vice versa: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actors share all graph theoretic attributes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 is a </a:t>
            </a:r>
            <a:r>
              <a:rPr b="1" lang="en"/>
              <a:t>non-local</a:t>
            </a:r>
            <a:r>
              <a:rPr b="1" lang="en"/>
              <a:t> concept</a:t>
            </a:r>
            <a:endParaRPr/>
          </a:p>
        </p:txBody>
      </p:sp>
      <p:grpSp>
        <p:nvGrpSpPr>
          <p:cNvPr id="364" name="Google Shape;364;p35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65" name="Google Shape;365;p35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66" name="Google Shape;366;p35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67" name="Google Shape;367;p35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68" name="Google Shape;368;p35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69" name="Google Shape;369;p35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70" name="Google Shape;370;p35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71" name="Google Shape;371;p35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72" name="Google Shape;372;p35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73" name="Google Shape;373;p35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74" name="Google Shape;374;p35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75" name="Google Shape;375;p35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76" name="Google Shape;376;p35"/>
              <p:cNvCxnSpPr>
                <a:stCxn id="366" idx="6"/>
                <a:endCxn id="368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" name="Google Shape;377;p35"/>
              <p:cNvCxnSpPr>
                <a:stCxn id="366" idx="5"/>
                <a:endCxn id="369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" name="Google Shape;378;p35"/>
              <p:cNvCxnSpPr>
                <a:stCxn id="367" idx="7"/>
                <a:endCxn id="368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" name="Google Shape;379;p35"/>
              <p:cNvCxnSpPr>
                <a:stCxn id="366" idx="4"/>
                <a:endCxn id="367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" name="Google Shape;380;p35"/>
              <p:cNvCxnSpPr>
                <a:stCxn id="367" idx="6"/>
                <a:endCxn id="369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" name="Google Shape;381;p35"/>
              <p:cNvCxnSpPr>
                <a:stCxn id="368" idx="6"/>
                <a:endCxn id="370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" name="Google Shape;382;p35"/>
              <p:cNvCxnSpPr>
                <a:stCxn id="370" idx="3"/>
                <a:endCxn id="369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" name="Google Shape;383;p35"/>
              <p:cNvCxnSpPr>
                <a:stCxn id="371" idx="2"/>
                <a:endCxn id="370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" name="Google Shape;384;p35"/>
              <p:cNvCxnSpPr>
                <a:stCxn id="372" idx="2"/>
                <a:endCxn id="371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" name="Google Shape;385;p35"/>
              <p:cNvCxnSpPr>
                <a:stCxn id="373" idx="2"/>
                <a:endCxn id="371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" name="Google Shape;386;p35"/>
              <p:cNvCxnSpPr>
                <a:stCxn id="372" idx="5"/>
                <a:endCxn id="375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" name="Google Shape;387;p35"/>
              <p:cNvCxnSpPr>
                <a:stCxn id="374" idx="3"/>
                <a:endCxn id="373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" name="Google Shape;388;p35"/>
              <p:cNvCxnSpPr>
                <a:stCxn id="374" idx="2"/>
                <a:endCxn id="372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" name="Google Shape;389;p35"/>
              <p:cNvCxnSpPr>
                <a:stCxn id="374" idx="4"/>
                <a:endCxn id="375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" name="Google Shape;390;p35"/>
              <p:cNvCxnSpPr>
                <a:stCxn id="375" idx="2"/>
                <a:endCxn id="373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91" name="Google Shape;391;p35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397" name="Google Shape;397;p36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regularly equivalent they have the same graph theoretic attributes, and </a:t>
            </a:r>
            <a:r>
              <a:rPr b="1" lang="en"/>
              <a:t>vice versa: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actors share all graph theoretic attributes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 is a </a:t>
            </a:r>
            <a:r>
              <a:rPr b="1" lang="en"/>
              <a:t>non-local concept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Simple trick: if you have a graph and lose the “vertex labels” nodes that cannot be told apart are regularly equivalent</a:t>
            </a:r>
            <a:endParaRPr b="1"/>
          </a:p>
        </p:txBody>
      </p:sp>
      <p:grpSp>
        <p:nvGrpSpPr>
          <p:cNvPr id="398" name="Google Shape;398;p36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99" name="Google Shape;399;p36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400" name="Google Shape;400;p36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1" name="Google Shape;401;p36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2" name="Google Shape;402;p36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3" name="Google Shape;403;p36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4" name="Google Shape;404;p36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5" name="Google Shape;405;p36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6" name="Google Shape;406;p36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7" name="Google Shape;407;p36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8" name="Google Shape;408;p36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09" name="Google Shape;409;p36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cxnSp>
            <p:nvCxnSpPr>
              <p:cNvPr id="410" name="Google Shape;410;p36"/>
              <p:cNvCxnSpPr>
                <a:stCxn id="400" idx="6"/>
                <a:endCxn id="402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" name="Google Shape;411;p36"/>
              <p:cNvCxnSpPr>
                <a:stCxn id="400" idx="5"/>
                <a:endCxn id="403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" name="Google Shape;412;p36"/>
              <p:cNvCxnSpPr>
                <a:stCxn id="401" idx="7"/>
                <a:endCxn id="402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" name="Google Shape;413;p36"/>
              <p:cNvCxnSpPr>
                <a:stCxn id="400" idx="4"/>
                <a:endCxn id="401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" name="Google Shape;414;p36"/>
              <p:cNvCxnSpPr>
                <a:stCxn id="401" idx="6"/>
                <a:endCxn id="403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" name="Google Shape;415;p36"/>
              <p:cNvCxnSpPr>
                <a:stCxn id="402" idx="6"/>
                <a:endCxn id="404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" name="Google Shape;416;p36"/>
              <p:cNvCxnSpPr>
                <a:stCxn id="404" idx="3"/>
                <a:endCxn id="403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" name="Google Shape;417;p36"/>
              <p:cNvCxnSpPr>
                <a:stCxn id="405" idx="2"/>
                <a:endCxn id="404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" name="Google Shape;418;p36"/>
              <p:cNvCxnSpPr>
                <a:stCxn id="406" idx="2"/>
                <a:endCxn id="405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" name="Google Shape;419;p36"/>
              <p:cNvCxnSpPr>
                <a:stCxn id="407" idx="2"/>
                <a:endCxn id="405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" name="Google Shape;420;p36"/>
              <p:cNvCxnSpPr>
                <a:stCxn id="406" idx="5"/>
                <a:endCxn id="409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" name="Google Shape;421;p36"/>
              <p:cNvCxnSpPr>
                <a:stCxn id="408" idx="3"/>
                <a:endCxn id="407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" name="Google Shape;422;p36"/>
              <p:cNvCxnSpPr>
                <a:stCxn id="408" idx="2"/>
                <a:endCxn id="406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36"/>
              <p:cNvCxnSpPr>
                <a:stCxn id="408" idx="4"/>
                <a:endCxn id="409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" name="Google Shape;424;p36"/>
              <p:cNvCxnSpPr>
                <a:stCxn id="409" idx="2"/>
                <a:endCxn id="407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25" name="Google Shape;425;p36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31" name="Google Shape;431;p37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real world applications the strong graph-theoretic definitions of structural or regular equivalence are unlikely to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Attempts to come up with stochastic approximations of </a:t>
            </a:r>
            <a:r>
              <a:rPr b="1" lang="en"/>
              <a:t>graph theoretic equivalence relations</a:t>
            </a:r>
            <a:r>
              <a:rPr lang="en"/>
              <a:t> for the purposes of vertex classification using </a:t>
            </a:r>
            <a:r>
              <a:rPr b="1" lang="en"/>
              <a:t>matrix algebra</a:t>
            </a:r>
            <a:r>
              <a:rPr lang="en"/>
              <a:t> is called </a:t>
            </a:r>
            <a:r>
              <a:rPr b="1" lang="en"/>
              <a:t>blockmodeling</a:t>
            </a:r>
            <a:endParaRPr b="1"/>
          </a:p>
        </p:txBody>
      </p:sp>
      <p:pic>
        <p:nvPicPr>
          <p:cNvPr id="432" name="Google Shape;4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38" name="Google Shape;438;p38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real world applications the strong graph-theoretic definitions of structural or regular equivalence are unlikely to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Rather than thinking that two or more actors are exactly structural or </a:t>
            </a:r>
            <a:r>
              <a:rPr lang="en"/>
              <a:t>regulatory</a:t>
            </a:r>
            <a:r>
              <a:rPr lang="en"/>
              <a:t> equivalent we come up with a </a:t>
            </a:r>
            <a:r>
              <a:rPr lang="en"/>
              <a:t>measurement</a:t>
            </a:r>
            <a:r>
              <a:rPr lang="en"/>
              <a:t> criterion for determining degrees of equivalence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With exact equivalence as a limiting case</a:t>
            </a:r>
            <a:endParaRPr/>
          </a:p>
        </p:txBody>
      </p:sp>
      <p:pic>
        <p:nvPicPr>
          <p:cNvPr id="439" name="Google Shape;4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45" name="Google Shape;445;p3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blockmodel?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procedure to reorder the rows of matrix (representing nodes and their relations)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Rows that are close together are closer to being (structural or regularly) equivalent than rows that are far apart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matrix can then be divided into </a:t>
            </a:r>
            <a:r>
              <a:rPr b="1" lang="en"/>
              <a:t>blocks</a:t>
            </a:r>
            <a:r>
              <a:rPr lang="en"/>
              <a:t>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Blocks contain disjoint set of actors and thus define “positions”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in block have connections among themselves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Diagonal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in a block also have connections with actors in other blocks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Off-diagonal blocks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think of blockmodeling as an attempt to reduce a matrix of N x N actors and their relations to a reduced matrix of B x B blocks and their relations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51" name="Google Shape;451;p40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graph G, a blockmodel consists of two parts: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partition P = {P</a:t>
            </a:r>
            <a:r>
              <a:rPr baseline="-25000" lang="en"/>
              <a:t>1</a:t>
            </a:r>
            <a:r>
              <a:rPr lang="en"/>
              <a:t>, P</a:t>
            </a:r>
            <a:r>
              <a:rPr baseline="-25000" lang="en"/>
              <a:t>2</a:t>
            </a:r>
            <a:r>
              <a:rPr lang="en"/>
              <a:t>, ...P</a:t>
            </a:r>
            <a:r>
              <a:rPr baseline="-25000" lang="en"/>
              <a:t>k</a:t>
            </a:r>
            <a:r>
              <a:rPr lang="en"/>
              <a:t>} into k disjoint subsets called the positions of 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matrices B (called image matrices) that represent hypotheses on the relations between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Blockmodels build on minimal relaxations of structural equivalence that still correspond to some minimal numbers of positions in the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blockmodel is thus a simplified representation of the original network whose basic elements are the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basic task is to ascertain to what extent the observed network approximates some idealized (theoretical) image of the "underlying" role relations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57" name="Google Shape;457;p4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graph G, a blockmodel consists of two parts: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partition P = {P</a:t>
            </a:r>
            <a:r>
              <a:rPr baseline="-25000" lang="en"/>
              <a:t>1</a:t>
            </a:r>
            <a:r>
              <a:rPr lang="en"/>
              <a:t>, P</a:t>
            </a:r>
            <a:r>
              <a:rPr baseline="-25000" lang="en"/>
              <a:t>2</a:t>
            </a:r>
            <a:r>
              <a:rPr lang="en"/>
              <a:t>, ...P</a:t>
            </a:r>
            <a:r>
              <a:rPr baseline="-25000" lang="en"/>
              <a:t>k</a:t>
            </a:r>
            <a:r>
              <a:rPr lang="en"/>
              <a:t>} into k disjoint subsets called the positions of 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matrices B (called image matrices) that represent hypotheses on the relations between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Blockmodels build on minimal relaxations of structural equivalence that still correspond to some minimal numbers of positions in the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the point of view of the adjacency matrix A a blockmodel is defined 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permutation (shuffling of the rows and columns) of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vertices in the same position end up in consecutive rows and columns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63" name="Google Shape;463;p4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basic approaches to blockmodeling: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So-called "deterministic" approaches (bottom-up, inductive)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So-called "stochastic" approaches (top-down, deductive)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task in deterministic blockmodeling is to come up with a criterion for "approximate"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Euclidean distance</a:t>
            </a:r>
            <a:r>
              <a:rPr lang="en"/>
              <a:t> (Burt 1976)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</a:t>
            </a:r>
            <a:r>
              <a:rPr b="1" lang="en"/>
              <a:t> Pearson product-moment correlation</a:t>
            </a:r>
            <a:r>
              <a:rPr lang="en"/>
              <a:t> (Breiger, Boorman and Arabie 1975)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69" name="Google Shape;469;p4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two actors i and j, the Euclidean distance is defined 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70" name="Google Shape;47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424" y="1968600"/>
            <a:ext cx="4465150" cy="7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77" name="Google Shape;477;p44"/>
          <p:cNvSpPr txBox="1"/>
          <p:nvPr>
            <p:ph idx="1" type="body"/>
          </p:nvPr>
        </p:nvSpPr>
        <p:spPr>
          <a:xfrm>
            <a:off x="311700" y="1361357"/>
            <a:ext cx="8520600" cy="12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Burt's (1976) Euclidean distance approach, the basic idea is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the distance matrix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use a scaling method (e.g. MDS, hierarchical clustering) to come up with a reduced form representation of the various groups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84" name="Google Shape;484;p45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adjacency matrix A, the correlation matrix C is the matrix containing the Pearson product moment correlations between the respective row and columns for two actors r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85" name="Google Shape;4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91" name="Google Shape;491;p46"/>
          <p:cNvSpPr txBox="1"/>
          <p:nvPr>
            <p:ph idx="1" type="body"/>
          </p:nvPr>
        </p:nvSpPr>
        <p:spPr>
          <a:xfrm>
            <a:off x="311700" y="1361356"/>
            <a:ext cx="8520600" cy="15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Breiger, Boorman and Arabie's CONCOR strategy, the basic idea is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the (initial) correlation matrix C</a:t>
            </a:r>
            <a:r>
              <a:rPr baseline="-25000" lang="en"/>
              <a:t>1</a:t>
            </a:r>
            <a:r>
              <a:rPr lang="en"/>
              <a:t> from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Iteratively obtain further correlation matrices of correlation matrices {C</a:t>
            </a:r>
            <a:r>
              <a:rPr baseline="-25000" lang="en"/>
              <a:t>2,</a:t>
            </a:r>
            <a:r>
              <a:rPr lang="en"/>
              <a:t> C</a:t>
            </a:r>
            <a:r>
              <a:rPr baseline="-25000" lang="en"/>
              <a:t>3</a:t>
            </a:r>
            <a:r>
              <a:rPr lang="en"/>
              <a:t>, ...}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until we have a "final" correlation matrix C</a:t>
            </a:r>
            <a:r>
              <a:rPr baseline="-25000" lang="en"/>
              <a:t>k</a:t>
            </a:r>
            <a:r>
              <a:rPr lang="en"/>
              <a:t> that contains only +1 and -1 entries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Place actors that have +1 relations next to another</a:t>
            </a:r>
            <a:endParaRPr/>
          </a:p>
        </p:txBody>
      </p:sp>
      <p:pic>
        <p:nvPicPr>
          <p:cNvPr id="492" name="Google Shape;49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and </a:t>
            </a:r>
            <a:r>
              <a:rPr lang="en"/>
              <a:t>Stochastic</a:t>
            </a:r>
            <a:r>
              <a:rPr lang="en"/>
              <a:t> blockmodeling</a:t>
            </a:r>
            <a:endParaRPr/>
          </a:p>
        </p:txBody>
      </p:sp>
      <p:sp>
        <p:nvSpPr>
          <p:cNvPr id="498" name="Google Shape;498;p47"/>
          <p:cNvSpPr txBox="1"/>
          <p:nvPr>
            <p:ph idx="1" type="body"/>
          </p:nvPr>
        </p:nvSpPr>
        <p:spPr>
          <a:xfrm>
            <a:off x="311700" y="1361350"/>
            <a:ext cx="4765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generalized blockmodeling </a:t>
            </a:r>
            <a:r>
              <a:rPr lang="en"/>
              <a:t>an idealized "image" of the role structure is pre-specified in advance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then use statistical techniques to ascertain how close the observed network is to the specified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choose from a "canned" list of theoretically interesting patterns of role relations</a:t>
            </a:r>
            <a:endParaRPr/>
          </a:p>
        </p:txBody>
      </p:sp>
      <p:pic>
        <p:nvPicPr>
          <p:cNvPr id="499" name="Google Shape;49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200" y="1404175"/>
            <a:ext cx="3755099" cy="3800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canned “inter-block” relations</a:t>
            </a:r>
            <a:endParaRPr/>
          </a:p>
        </p:txBody>
      </p:sp>
      <p:sp>
        <p:nvSpPr>
          <p:cNvPr id="505" name="Google Shape;505;p48"/>
          <p:cNvSpPr txBox="1"/>
          <p:nvPr>
            <p:ph idx="1" type="body"/>
          </p:nvPr>
        </p:nvSpPr>
        <p:spPr>
          <a:xfrm>
            <a:off x="311700" y="1361350"/>
            <a:ext cx="47142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Complete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Dominant	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 block has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0000"/>
                </a:solidFill>
              </a:rPr>
              <a:t>)</a:t>
            </a:r>
            <a:r>
              <a:rPr b="1" lang="en" sz="1200"/>
              <a:t> </a:t>
            </a:r>
            <a:r>
              <a:rPr lang="en" sz="1200"/>
              <a:t>that sends(receives) ties to(from) all units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)</a:t>
            </a:r>
            <a:endParaRPr sz="12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Regular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Each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b="1" lang="en" sz="1200"/>
              <a:t> </a:t>
            </a:r>
            <a:r>
              <a:rPr lang="en" sz="1200"/>
              <a:t>sends to at least one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FFFF"/>
                </a:solidFill>
              </a:rPr>
              <a:t> </a:t>
            </a:r>
            <a:r>
              <a:rPr lang="en" sz="1200"/>
              <a:t>and each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 receives from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endParaRPr b="1" sz="1200">
              <a:solidFill>
                <a:srgbClr val="CC4125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Regular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Each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) sends(</a:t>
            </a:r>
            <a:r>
              <a:rPr lang="en" sz="1200"/>
              <a:t>receives</a:t>
            </a:r>
            <a:r>
              <a:rPr lang="en" sz="1200"/>
              <a:t>) to(from) at least one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)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Null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Functional</a:t>
            </a:r>
            <a:endParaRPr b="1" sz="14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</a:t>
            </a:r>
            <a:r>
              <a:rPr lang="en" sz="1200"/>
              <a:t>ach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) receives(sends) ties from(to)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)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pic>
        <p:nvPicPr>
          <p:cNvPr descr="Screenshot 2017-11-01 at 22.49.05.png" id="506" name="Google Shape;50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800" y="1361349"/>
            <a:ext cx="3806498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Extensions of blockmodeling</a:t>
            </a:r>
            <a:endParaRPr/>
          </a:p>
        </p:txBody>
      </p:sp>
      <p:sp>
        <p:nvSpPr>
          <p:cNvPr id="512" name="Google Shape;512;p4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two 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valued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</a:t>
            </a:r>
            <a:r>
              <a:rPr lang="en"/>
              <a:t>multi-relational</a:t>
            </a:r>
            <a:r>
              <a:rPr lang="en"/>
              <a:t>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all cases procedure is similar: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 up with a </a:t>
            </a:r>
            <a:r>
              <a:rPr b="1" lang="en"/>
              <a:t>Blocking</a:t>
            </a:r>
            <a:r>
              <a:rPr lang="en"/>
              <a:t> criterion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Blocking criterion produces: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(dis)similarity matrix between nodes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clustering of nodes into classes: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 up with a </a:t>
            </a:r>
            <a:r>
              <a:rPr b="1" lang="en"/>
              <a:t>Modelling </a:t>
            </a:r>
            <a:r>
              <a:rPr lang="en"/>
              <a:t>criterion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modelling criterion produces: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reduced </a:t>
            </a:r>
            <a:r>
              <a:rPr b="1" lang="en"/>
              <a:t>image matrix</a:t>
            </a:r>
            <a:r>
              <a:rPr lang="en"/>
              <a:t> of blocks and their internal and external relations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Which may (or may not) be compared to a hypothesized ideal image matrix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