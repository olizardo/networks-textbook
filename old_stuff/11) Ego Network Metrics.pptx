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1" r:id="rId5"/>
    <p:sldMasterId id="2147483672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</p:sldIdLst>
  <p:sldSz cy="5143500" cx="9144000"/>
  <p:notesSz cx="6858000" cy="9144000"/>
  <p:embeddedFontLst>
    <p:embeddedFont>
      <p:font typeface="Economica"/>
      <p:regular r:id="rId61"/>
      <p:bold r:id="rId62"/>
      <p:italic r:id="rId63"/>
      <p:boldItalic r:id="rId64"/>
    </p:embeddedFont>
    <p:embeddedFont>
      <p:font typeface="Habibi"/>
      <p:regular r:id="rId65"/>
    </p:embeddedFont>
    <p:embeddedFont>
      <p:font typeface="Open Sans"/>
      <p:regular r:id="rId66"/>
      <p:bold r:id="rId67"/>
      <p:italic r:id="rId68"/>
      <p:boldItalic r:id="rId6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B447A83-322A-40C4-8C04-7F3638FE8758}">
  <a:tblStyle styleId="{1B447A83-322A-40C4-8C04-7F3638FE875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42" Type="http://schemas.openxmlformats.org/officeDocument/2006/relationships/slide" Target="slides/slide35.xml"/><Relationship Id="rId41" Type="http://schemas.openxmlformats.org/officeDocument/2006/relationships/slide" Target="slides/slide34.xml"/><Relationship Id="rId44" Type="http://schemas.openxmlformats.org/officeDocument/2006/relationships/slide" Target="slides/slide37.xml"/><Relationship Id="rId43" Type="http://schemas.openxmlformats.org/officeDocument/2006/relationships/slide" Target="slides/slide36.xml"/><Relationship Id="rId46" Type="http://schemas.openxmlformats.org/officeDocument/2006/relationships/slide" Target="slides/slide39.xml"/><Relationship Id="rId45" Type="http://schemas.openxmlformats.org/officeDocument/2006/relationships/slide" Target="slides/slide38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48" Type="http://schemas.openxmlformats.org/officeDocument/2006/relationships/slide" Target="slides/slide41.xml"/><Relationship Id="rId47" Type="http://schemas.openxmlformats.org/officeDocument/2006/relationships/slide" Target="slides/slide40.xml"/><Relationship Id="rId49" Type="http://schemas.openxmlformats.org/officeDocument/2006/relationships/slide" Target="slides/slide42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35" Type="http://schemas.openxmlformats.org/officeDocument/2006/relationships/slide" Target="slides/slide28.xml"/><Relationship Id="rId34" Type="http://schemas.openxmlformats.org/officeDocument/2006/relationships/slide" Target="slides/slide27.xml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9" Type="http://schemas.openxmlformats.org/officeDocument/2006/relationships/slide" Target="slides/slide32.xml"/><Relationship Id="rId38" Type="http://schemas.openxmlformats.org/officeDocument/2006/relationships/slide" Target="slides/slide31.xml"/><Relationship Id="rId62" Type="http://schemas.openxmlformats.org/officeDocument/2006/relationships/font" Target="fonts/Economica-bold.fntdata"/><Relationship Id="rId61" Type="http://schemas.openxmlformats.org/officeDocument/2006/relationships/font" Target="fonts/Economica-regular.fntdata"/><Relationship Id="rId20" Type="http://schemas.openxmlformats.org/officeDocument/2006/relationships/slide" Target="slides/slide13.xml"/><Relationship Id="rId64" Type="http://schemas.openxmlformats.org/officeDocument/2006/relationships/font" Target="fonts/Economica-boldItalic.fntdata"/><Relationship Id="rId63" Type="http://schemas.openxmlformats.org/officeDocument/2006/relationships/font" Target="fonts/Economica-italic.fntdata"/><Relationship Id="rId22" Type="http://schemas.openxmlformats.org/officeDocument/2006/relationships/slide" Target="slides/slide15.xml"/><Relationship Id="rId66" Type="http://schemas.openxmlformats.org/officeDocument/2006/relationships/font" Target="fonts/OpenSans-regular.fntdata"/><Relationship Id="rId21" Type="http://schemas.openxmlformats.org/officeDocument/2006/relationships/slide" Target="slides/slide14.xml"/><Relationship Id="rId65" Type="http://schemas.openxmlformats.org/officeDocument/2006/relationships/font" Target="fonts/Habibi-regular.fntdata"/><Relationship Id="rId24" Type="http://schemas.openxmlformats.org/officeDocument/2006/relationships/slide" Target="slides/slide17.xml"/><Relationship Id="rId68" Type="http://schemas.openxmlformats.org/officeDocument/2006/relationships/font" Target="fonts/OpenSans-italic.fntdata"/><Relationship Id="rId23" Type="http://schemas.openxmlformats.org/officeDocument/2006/relationships/slide" Target="slides/slide16.xml"/><Relationship Id="rId67" Type="http://schemas.openxmlformats.org/officeDocument/2006/relationships/font" Target="fonts/OpenSans-bold.fntdata"/><Relationship Id="rId60" Type="http://schemas.openxmlformats.org/officeDocument/2006/relationships/slide" Target="slides/slide53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69" Type="http://schemas.openxmlformats.org/officeDocument/2006/relationships/font" Target="fonts/OpenSans-boldItalic.fntdata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51" Type="http://schemas.openxmlformats.org/officeDocument/2006/relationships/slide" Target="slides/slide44.xml"/><Relationship Id="rId50" Type="http://schemas.openxmlformats.org/officeDocument/2006/relationships/slide" Target="slides/slide43.xml"/><Relationship Id="rId53" Type="http://schemas.openxmlformats.org/officeDocument/2006/relationships/slide" Target="slides/slide46.xml"/><Relationship Id="rId52" Type="http://schemas.openxmlformats.org/officeDocument/2006/relationships/slide" Target="slides/slide45.xml"/><Relationship Id="rId11" Type="http://schemas.openxmlformats.org/officeDocument/2006/relationships/slide" Target="slides/slide4.xml"/><Relationship Id="rId55" Type="http://schemas.openxmlformats.org/officeDocument/2006/relationships/slide" Target="slides/slide48.xml"/><Relationship Id="rId10" Type="http://schemas.openxmlformats.org/officeDocument/2006/relationships/slide" Target="slides/slide3.xml"/><Relationship Id="rId54" Type="http://schemas.openxmlformats.org/officeDocument/2006/relationships/slide" Target="slides/slide47.xml"/><Relationship Id="rId13" Type="http://schemas.openxmlformats.org/officeDocument/2006/relationships/slide" Target="slides/slide6.xml"/><Relationship Id="rId57" Type="http://schemas.openxmlformats.org/officeDocument/2006/relationships/slide" Target="slides/slide50.xml"/><Relationship Id="rId12" Type="http://schemas.openxmlformats.org/officeDocument/2006/relationships/slide" Target="slides/slide5.xml"/><Relationship Id="rId56" Type="http://schemas.openxmlformats.org/officeDocument/2006/relationships/slide" Target="slides/slide49.xml"/><Relationship Id="rId15" Type="http://schemas.openxmlformats.org/officeDocument/2006/relationships/slide" Target="slides/slide8.xml"/><Relationship Id="rId59" Type="http://schemas.openxmlformats.org/officeDocument/2006/relationships/slide" Target="slides/slide52.xml"/><Relationship Id="rId14" Type="http://schemas.openxmlformats.org/officeDocument/2006/relationships/slide" Target="slides/slide7.xml"/><Relationship Id="rId58" Type="http://schemas.openxmlformats.org/officeDocument/2006/relationships/slide" Target="slides/slide51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d1bc606a6b_0_1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d1bc606a6b_0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d1bc606a6b_0_2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d1bc606a6b_0_2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d1bc606a6b_0_3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d1bc606a6b_0_3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d1bc606a6b_0_4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d1bc606a6b_0_4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d1bc606a6b_0_4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d1bc606a6b_0_4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10f83ead9fa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10f83ead9fa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d1bc606a6b_0_5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d1bc606a6b_0_5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10f83ead9fa_1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10f83ead9fa_1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d1bc606a6b_0_5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d1bc606a6b_0_5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10f83ead9fa_1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10f83ead9fa_1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10f83ead9fa_1_2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" name="Google Shape;360;g10f83ead9fa_1_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10f83ead9fa_1_2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" name="Google Shape;393;g10f83ead9fa_1_2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10f83ead9fa_1_2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6" name="Google Shape;426;g10f83ead9fa_1_2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b97c7a09eb_0_7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9" name="Google Shape;459;gb97c7a09eb_0_7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b97c7a09eb_0_7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b97c7a09eb_0_7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b97c7a09eb_0_7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8" name="Google Shape;498;gb97c7a09eb_0_7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d1bc606a6b_0_8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0" name="Google Shape;550;gd1bc606a6b_0_8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b97c7a09eb_0_9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gb97c7a09eb_0_9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gd1bc606a6b_0_9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2" name="Google Shape;652;gd1bc606a6b_0_9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gd1bc606a6b_0_10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2" name="Google Shape;702;gd1bc606a6b_0_10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gd1bc606a6b_0_12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5" name="Google Shape;725;gd1bc606a6b_0_12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7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gd1bc606a6b_0_10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9" name="Google Shape;749;gd1bc606a6b_0_10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gd1bc606a6b_0_12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3" name="Google Shape;773;gd1bc606a6b_0_12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gd1bc606a6b_0_1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7" name="Google Shape;797;gd1bc606a6b_0_1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9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Google Shape;820;gd1bc606a6b_0_12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1" name="Google Shape;821;gd1bc606a6b_0_12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4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g10f83ead9fa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6" name="Google Shape;846;g10f83ead9fa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9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Google Shape;870;g10f83ead9fa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1" name="Google Shape;871;g10f83ead9fa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4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g10f83ead9fa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6" name="Google Shape;896;g10f83ead9fa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9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Google Shape;920;g10f83ead9fa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1" name="Google Shape;921;g10f83ead9fa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2" name="Shape 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" name="Google Shape;943;g10f83ead9fa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4" name="Google Shape;944;g10f83ead9fa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6" name="Shape 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" name="Google Shape;967;g10f83ead9fa_0_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8" name="Google Shape;968;g10f83ead9fa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0" name="Shape 9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1" name="Google Shape;991;g10f83ead9fa_1_4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2" name="Google Shape;992;g10f83ead9fa_1_4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4" name="Shape 10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" name="Google Shape;1015;g10f83ead9fa_1_3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6" name="Google Shape;1016;g10f83ead9fa_1_3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8" name="Shape 1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Google Shape;1039;g10f83ead9fa_1_4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0" name="Google Shape;1040;g10f83ead9fa_1_4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2" name="Shape 1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3" name="Google Shape;1063;g10f83ead9fa_1_4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4" name="Google Shape;1064;g10f83ead9fa_1_4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6" name="Shape 10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7" name="Google Shape;1087;g10f83ead9fa_1_4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8" name="Google Shape;1088;g10f83ead9fa_1_4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0" name="Shape 1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1" name="Google Shape;1111;g10f83ead9fa_0_2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2" name="Google Shape;1112;g10f83ead9fa_0_2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4" name="Shape 1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5" name="Google Shape;1135;g10f83ead9fa_0_2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6" name="Google Shape;1136;g10f83ead9fa_0_2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8" name="Shape 1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9" name="Google Shape;1159;g10f83ead9fa_0_2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0" name="Google Shape;1160;g10f83ead9fa_0_2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2" name="Shape 1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3" name="Google Shape;1183;g10f83ead9fa_0_3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4" name="Google Shape;1184;g10f83ead9fa_0_3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6" name="Shape 1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7" name="Google Shape;1207;g10f83ead9fa_0_3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8" name="Google Shape;1208;g10f83ead9fa_0_3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9" name="Shape 1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0" name="Google Shape;1240;g10f83ead9fa_0_4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1" name="Google Shape;1241;g10f83ead9fa_0_4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3" name="Shape 1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4" name="Google Shape;1274;g10f83ead9fa_0_3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5" name="Google Shape;1275;g10f83ead9fa_0_3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7" name="Shape 1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8" name="Google Shape;1308;g10f83ead9fa_0_4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9" name="Google Shape;1309;g10f83ead9fa_0_4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3" name="Shape 1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4" name="Google Shape;1334;g10f83ead9fa_0_5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5" name="Google Shape;1335;g10f83ead9fa_0_5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0" name="Shape 1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" name="Google Shape;1361;g10f83ead9fa_2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2" name="Google Shape;1362;g10f83ead9fa_2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3" name="Shape 1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4" name="Google Shape;1394;g10f83ead9fa_0_5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5" name="Google Shape;1395;g10f83ead9fa_0_5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7" name="Shape 1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8" name="Google Shape;1418;g10f83ead9fa_1_5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9" name="Google Shape;1419;g10f83ead9fa_1_5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0" name="Shape 1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1" name="Google Shape;1461;g10f83ead9fa_1_5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2" name="Google Shape;1462;g10f83ead9fa_1_5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7" name="Shape 1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8" name="Google Shape;1478;g10f83ead9fa_1_5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9" name="Google Shape;1479;g10f83ead9fa_1_5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0" name="Shape 1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1" name="Google Shape;1501;g10f83ead9fa_1_5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2" name="Google Shape;1502;g10f83ead9fa_1_5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3" name="Shape 1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4" name="Google Shape;1524;g1103f070ddf_1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5" name="Google Shape;1525;g1103f070ddf_1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7" name="Google Shape;17;p3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8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9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1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64" name="Google Shape;64;p14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65" name="Google Shape;65;p14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66" name="Google Shape;66;p14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67" name="Google Shape;6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70" name="Google Shape;70;p15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71" name="Google Shape;71;p15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72" name="Google Shape;72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1" name="Google Shape;81;p17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2" name="Google Shape;82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85" name="Google Shape;85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88" name="Google Shape;88;p19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9" name="Google Shape;89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0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0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93" name="Google Shape;9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1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6" name="Google Shape;96;p21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7" name="Google Shape;97;p21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98" name="Google Shape;98;p21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99" name="Google Shape;99;p2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0" name="Google Shape;100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2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103" name="Google Shape;103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3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23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7" name="Google Shape;107;p23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8" name="Google Shape;108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BJECT" type="obj">
  <p:cSld name="OBJECT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5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L="45720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L="91440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L="137160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L="182880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3" name="Google Shape;113;p25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  <a:def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rtl="0" algn="l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60" name="Google Shape;60;p13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61" name="Google Shape;61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6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6.png"/><Relationship Id="rId4" Type="http://schemas.openxmlformats.org/officeDocument/2006/relationships/image" Target="../media/image2.gif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6.png"/><Relationship Id="rId4" Type="http://schemas.openxmlformats.org/officeDocument/2006/relationships/image" Target="../media/image8.gif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6.png"/><Relationship Id="rId4" Type="http://schemas.openxmlformats.org/officeDocument/2006/relationships/image" Target="../media/image4.gif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6.png"/><Relationship Id="rId4" Type="http://schemas.openxmlformats.org/officeDocument/2006/relationships/image" Target="../media/image3.gif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0.gif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0.gif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10.gif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10.gif"/><Relationship Id="rId4" Type="http://schemas.openxmlformats.org/officeDocument/2006/relationships/image" Target="../media/image9.gif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11.gif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7.gif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5.gif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12.gif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7.gif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7.gif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9.gif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6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Ego Network Metrics</a:t>
            </a:r>
            <a:endParaRPr/>
          </a:p>
        </p:txBody>
      </p:sp>
      <p:sp>
        <p:nvSpPr>
          <p:cNvPr id="119" name="Google Shape;119;p26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Ego networks</a:t>
            </a:r>
            <a:endParaRPr/>
          </a:p>
        </p:txBody>
      </p:sp>
      <p:sp>
        <p:nvSpPr>
          <p:cNvPr id="125" name="Google Shape;125;p27"/>
          <p:cNvSpPr txBox="1"/>
          <p:nvPr>
            <p:ph idx="1" type="body"/>
          </p:nvPr>
        </p:nvSpPr>
        <p:spPr>
          <a:xfrm>
            <a:off x="311700" y="1225225"/>
            <a:ext cx="4687800" cy="3354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>
                <a:solidFill>
                  <a:schemeClr val="accent5"/>
                </a:solidFill>
              </a:rPr>
              <a:t>Ego</a:t>
            </a:r>
            <a:r>
              <a:rPr lang="en"/>
              <a:t>: Central node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26" name="Google Shape;126;p27"/>
          <p:cNvSpPr/>
          <p:nvPr/>
        </p:nvSpPr>
        <p:spPr>
          <a:xfrm>
            <a:off x="6428125" y="2334450"/>
            <a:ext cx="834900" cy="8313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Ego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Ego networks</a:t>
            </a:r>
            <a:endParaRPr/>
          </a:p>
        </p:txBody>
      </p:sp>
      <p:sp>
        <p:nvSpPr>
          <p:cNvPr id="132" name="Google Shape;132;p28"/>
          <p:cNvSpPr txBox="1"/>
          <p:nvPr>
            <p:ph idx="1" type="body"/>
          </p:nvPr>
        </p:nvSpPr>
        <p:spPr>
          <a:xfrm>
            <a:off x="311700" y="1225225"/>
            <a:ext cx="4687800" cy="3354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>
                <a:solidFill>
                  <a:schemeClr val="accent5"/>
                </a:solidFill>
              </a:rPr>
              <a:t>Ego</a:t>
            </a:r>
            <a:r>
              <a:rPr lang="en"/>
              <a:t>: Central node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>
                <a:solidFill>
                  <a:schemeClr val="lt2"/>
                </a:solidFill>
              </a:rPr>
              <a:t>Alters</a:t>
            </a:r>
            <a:r>
              <a:rPr lang="en"/>
              <a:t>: Nodes around ego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33" name="Google Shape;133;p28"/>
          <p:cNvSpPr/>
          <p:nvPr/>
        </p:nvSpPr>
        <p:spPr>
          <a:xfrm>
            <a:off x="6428125" y="2334450"/>
            <a:ext cx="834900" cy="8313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Ego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34" name="Google Shape;134;p28"/>
          <p:cNvSpPr/>
          <p:nvPr/>
        </p:nvSpPr>
        <p:spPr>
          <a:xfrm>
            <a:off x="5481600" y="1684118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a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35" name="Google Shape;135;p28"/>
          <p:cNvSpPr/>
          <p:nvPr/>
        </p:nvSpPr>
        <p:spPr>
          <a:xfrm>
            <a:off x="6565392" y="1163076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b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36" name="Google Shape;136;p28"/>
          <p:cNvSpPr/>
          <p:nvPr/>
        </p:nvSpPr>
        <p:spPr>
          <a:xfrm>
            <a:off x="7583847" y="1684118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c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37" name="Google Shape;137;p28"/>
          <p:cNvSpPr/>
          <p:nvPr/>
        </p:nvSpPr>
        <p:spPr>
          <a:xfrm>
            <a:off x="5481600" y="3310868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g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38" name="Google Shape;138;p28"/>
          <p:cNvSpPr/>
          <p:nvPr/>
        </p:nvSpPr>
        <p:spPr>
          <a:xfrm>
            <a:off x="6583680" y="3863626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f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39" name="Google Shape;139;p28"/>
          <p:cNvSpPr/>
          <p:nvPr/>
        </p:nvSpPr>
        <p:spPr>
          <a:xfrm>
            <a:off x="7583847" y="3310868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40" name="Google Shape;140;p28"/>
          <p:cNvSpPr/>
          <p:nvPr/>
        </p:nvSpPr>
        <p:spPr>
          <a:xfrm>
            <a:off x="5298313" y="2497506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h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41" name="Google Shape;141;p28"/>
          <p:cNvSpPr/>
          <p:nvPr/>
        </p:nvSpPr>
        <p:spPr>
          <a:xfrm>
            <a:off x="7836313" y="2497506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d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Ego networks</a:t>
            </a:r>
            <a:endParaRPr/>
          </a:p>
        </p:txBody>
      </p:sp>
      <p:sp>
        <p:nvSpPr>
          <p:cNvPr id="147" name="Google Shape;147;p29"/>
          <p:cNvSpPr txBox="1"/>
          <p:nvPr>
            <p:ph idx="1" type="body"/>
          </p:nvPr>
        </p:nvSpPr>
        <p:spPr>
          <a:xfrm>
            <a:off x="311700" y="1225225"/>
            <a:ext cx="4687800" cy="3354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>
                <a:solidFill>
                  <a:schemeClr val="accent5"/>
                </a:solidFill>
              </a:rPr>
              <a:t>Ego</a:t>
            </a:r>
            <a:r>
              <a:rPr lang="en"/>
              <a:t>: Central node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>
                <a:solidFill>
                  <a:schemeClr val="lt2"/>
                </a:solidFill>
              </a:rPr>
              <a:t>Alters</a:t>
            </a:r>
            <a:r>
              <a:rPr lang="en"/>
              <a:t>: Nodes around ego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>
                <a:solidFill>
                  <a:srgbClr val="0000FF"/>
                </a:solidFill>
              </a:rPr>
              <a:t>Obligatory links </a:t>
            </a:r>
            <a:r>
              <a:rPr lang="en"/>
              <a:t>from ego to </a:t>
            </a:r>
            <a:r>
              <a:rPr b="1" lang="en"/>
              <a:t>every</a:t>
            </a:r>
            <a:r>
              <a:rPr lang="en"/>
              <a:t> alter</a:t>
            </a:r>
            <a:endParaRPr/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48" name="Google Shape;148;p29"/>
          <p:cNvSpPr/>
          <p:nvPr/>
        </p:nvSpPr>
        <p:spPr>
          <a:xfrm>
            <a:off x="6428125" y="2334450"/>
            <a:ext cx="834900" cy="8313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Ego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49" name="Google Shape;149;p29"/>
          <p:cNvSpPr/>
          <p:nvPr/>
        </p:nvSpPr>
        <p:spPr>
          <a:xfrm>
            <a:off x="5481600" y="1684118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a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50" name="Google Shape;150;p29"/>
          <p:cNvSpPr/>
          <p:nvPr/>
        </p:nvSpPr>
        <p:spPr>
          <a:xfrm>
            <a:off x="6567323" y="1155151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b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51" name="Google Shape;151;p29"/>
          <p:cNvSpPr/>
          <p:nvPr/>
        </p:nvSpPr>
        <p:spPr>
          <a:xfrm>
            <a:off x="7583847" y="1684118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c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52" name="Google Shape;152;p29"/>
          <p:cNvSpPr/>
          <p:nvPr/>
        </p:nvSpPr>
        <p:spPr>
          <a:xfrm>
            <a:off x="5481600" y="3310868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g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53" name="Google Shape;153;p29"/>
          <p:cNvSpPr/>
          <p:nvPr/>
        </p:nvSpPr>
        <p:spPr>
          <a:xfrm>
            <a:off x="6584686" y="3863701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f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54" name="Google Shape;154;p29"/>
          <p:cNvSpPr/>
          <p:nvPr/>
        </p:nvSpPr>
        <p:spPr>
          <a:xfrm>
            <a:off x="7583847" y="3310868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55" name="Google Shape;155;p29"/>
          <p:cNvSpPr/>
          <p:nvPr/>
        </p:nvSpPr>
        <p:spPr>
          <a:xfrm>
            <a:off x="5298313" y="2497506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h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56" name="Google Shape;156;p29"/>
          <p:cNvSpPr/>
          <p:nvPr/>
        </p:nvSpPr>
        <p:spPr>
          <a:xfrm>
            <a:off x="7836313" y="2497506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d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cxnSp>
        <p:nvCxnSpPr>
          <p:cNvPr id="157" name="Google Shape;157;p29"/>
          <p:cNvCxnSpPr>
            <a:stCxn id="150" idx="4"/>
            <a:endCxn id="148" idx="0"/>
          </p:cNvCxnSpPr>
          <p:nvPr/>
        </p:nvCxnSpPr>
        <p:spPr>
          <a:xfrm>
            <a:off x="6845573" y="1660351"/>
            <a:ext cx="0" cy="6741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8" name="Google Shape;158;p29"/>
          <p:cNvCxnSpPr>
            <a:stCxn id="153" idx="0"/>
            <a:endCxn id="148" idx="4"/>
          </p:cNvCxnSpPr>
          <p:nvPr/>
        </p:nvCxnSpPr>
        <p:spPr>
          <a:xfrm rot="10800000">
            <a:off x="6845536" y="3165601"/>
            <a:ext cx="17400" cy="6981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9" name="Google Shape;159;p29"/>
          <p:cNvCxnSpPr>
            <a:stCxn id="155" idx="6"/>
            <a:endCxn id="148" idx="2"/>
          </p:cNvCxnSpPr>
          <p:nvPr/>
        </p:nvCxnSpPr>
        <p:spPr>
          <a:xfrm>
            <a:off x="5854813" y="2750106"/>
            <a:ext cx="5733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0" name="Google Shape;160;p29"/>
          <p:cNvCxnSpPr>
            <a:stCxn id="156" idx="2"/>
            <a:endCxn id="148" idx="6"/>
          </p:cNvCxnSpPr>
          <p:nvPr/>
        </p:nvCxnSpPr>
        <p:spPr>
          <a:xfrm rot="10800000">
            <a:off x="7263013" y="2750106"/>
            <a:ext cx="5733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1" name="Google Shape;161;p29"/>
          <p:cNvCxnSpPr>
            <a:stCxn id="148" idx="1"/>
            <a:endCxn id="149" idx="5"/>
          </p:cNvCxnSpPr>
          <p:nvPr/>
        </p:nvCxnSpPr>
        <p:spPr>
          <a:xfrm rot="10800000">
            <a:off x="5956693" y="2115391"/>
            <a:ext cx="593700" cy="340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2" name="Google Shape;162;p29"/>
          <p:cNvCxnSpPr>
            <a:stCxn id="148" idx="7"/>
            <a:endCxn id="151" idx="3"/>
          </p:cNvCxnSpPr>
          <p:nvPr/>
        </p:nvCxnSpPr>
        <p:spPr>
          <a:xfrm flipH="1" rot="10800000">
            <a:off x="7140757" y="2115391"/>
            <a:ext cx="524700" cy="340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3" name="Google Shape;163;p29"/>
          <p:cNvCxnSpPr>
            <a:stCxn id="152" idx="7"/>
            <a:endCxn id="148" idx="3"/>
          </p:cNvCxnSpPr>
          <p:nvPr/>
        </p:nvCxnSpPr>
        <p:spPr>
          <a:xfrm flipH="1" rot="10800000">
            <a:off x="5956602" y="3044053"/>
            <a:ext cx="593700" cy="340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4" name="Google Shape;164;p29"/>
          <p:cNvCxnSpPr>
            <a:stCxn id="154" idx="1"/>
            <a:endCxn id="148" idx="5"/>
          </p:cNvCxnSpPr>
          <p:nvPr/>
        </p:nvCxnSpPr>
        <p:spPr>
          <a:xfrm rot="10800000">
            <a:off x="7140644" y="3044053"/>
            <a:ext cx="524700" cy="340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Ego networks</a:t>
            </a:r>
            <a:endParaRPr/>
          </a:p>
        </p:txBody>
      </p:sp>
      <p:sp>
        <p:nvSpPr>
          <p:cNvPr id="170" name="Google Shape;170;p30"/>
          <p:cNvSpPr txBox="1"/>
          <p:nvPr>
            <p:ph idx="1" type="body"/>
          </p:nvPr>
        </p:nvSpPr>
        <p:spPr>
          <a:xfrm>
            <a:off x="311700" y="1225225"/>
            <a:ext cx="4687800" cy="3354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>
                <a:solidFill>
                  <a:schemeClr val="accent5"/>
                </a:solidFill>
              </a:rPr>
              <a:t>Ego</a:t>
            </a:r>
            <a:r>
              <a:rPr lang="en"/>
              <a:t>: Central node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>
                <a:solidFill>
                  <a:schemeClr val="lt2"/>
                </a:solidFill>
              </a:rPr>
              <a:t>Alters</a:t>
            </a:r>
            <a:r>
              <a:rPr lang="en"/>
              <a:t>: Nodes around ego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>
                <a:solidFill>
                  <a:srgbClr val="0000FF"/>
                </a:solidFill>
              </a:rPr>
              <a:t>Obligatory links </a:t>
            </a:r>
            <a:r>
              <a:rPr lang="en"/>
              <a:t>from ego to </a:t>
            </a:r>
            <a:r>
              <a:rPr b="1" lang="en"/>
              <a:t>every</a:t>
            </a:r>
            <a:r>
              <a:rPr lang="en"/>
              <a:t> alter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>
                <a:solidFill>
                  <a:srgbClr val="FF00FF"/>
                </a:solidFill>
              </a:rPr>
              <a:t>Optional links</a:t>
            </a:r>
            <a:r>
              <a:rPr lang="en"/>
              <a:t> from alter to alter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71" name="Google Shape;171;p30"/>
          <p:cNvSpPr/>
          <p:nvPr/>
        </p:nvSpPr>
        <p:spPr>
          <a:xfrm>
            <a:off x="6428125" y="2334450"/>
            <a:ext cx="834900" cy="8313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Ego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72" name="Google Shape;172;p30"/>
          <p:cNvSpPr/>
          <p:nvPr/>
        </p:nvSpPr>
        <p:spPr>
          <a:xfrm>
            <a:off x="5481600" y="1684118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a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73" name="Google Shape;173;p30"/>
          <p:cNvSpPr/>
          <p:nvPr/>
        </p:nvSpPr>
        <p:spPr>
          <a:xfrm>
            <a:off x="6567323" y="1155151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b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74" name="Google Shape;174;p30"/>
          <p:cNvSpPr/>
          <p:nvPr/>
        </p:nvSpPr>
        <p:spPr>
          <a:xfrm>
            <a:off x="7583847" y="1684118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c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75" name="Google Shape;175;p30"/>
          <p:cNvSpPr/>
          <p:nvPr/>
        </p:nvSpPr>
        <p:spPr>
          <a:xfrm>
            <a:off x="5481600" y="3310868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g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76" name="Google Shape;176;p30"/>
          <p:cNvSpPr/>
          <p:nvPr/>
        </p:nvSpPr>
        <p:spPr>
          <a:xfrm>
            <a:off x="6584686" y="3863701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f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77" name="Google Shape;177;p30"/>
          <p:cNvSpPr/>
          <p:nvPr/>
        </p:nvSpPr>
        <p:spPr>
          <a:xfrm>
            <a:off x="7583847" y="3310868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78" name="Google Shape;178;p30"/>
          <p:cNvSpPr/>
          <p:nvPr/>
        </p:nvSpPr>
        <p:spPr>
          <a:xfrm>
            <a:off x="5298313" y="2497506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h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79" name="Google Shape;179;p30"/>
          <p:cNvSpPr/>
          <p:nvPr/>
        </p:nvSpPr>
        <p:spPr>
          <a:xfrm>
            <a:off x="7836313" y="2497506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d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cxnSp>
        <p:nvCxnSpPr>
          <p:cNvPr id="180" name="Google Shape;180;p30"/>
          <p:cNvCxnSpPr>
            <a:stCxn id="173" idx="4"/>
            <a:endCxn id="171" idx="0"/>
          </p:cNvCxnSpPr>
          <p:nvPr/>
        </p:nvCxnSpPr>
        <p:spPr>
          <a:xfrm>
            <a:off x="6845573" y="1660351"/>
            <a:ext cx="0" cy="6741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1" name="Google Shape;181;p30"/>
          <p:cNvCxnSpPr>
            <a:stCxn id="176" idx="0"/>
            <a:endCxn id="171" idx="4"/>
          </p:cNvCxnSpPr>
          <p:nvPr/>
        </p:nvCxnSpPr>
        <p:spPr>
          <a:xfrm rot="10800000">
            <a:off x="6845536" y="3165601"/>
            <a:ext cx="17400" cy="6981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2" name="Google Shape;182;p30"/>
          <p:cNvCxnSpPr>
            <a:stCxn id="178" idx="6"/>
            <a:endCxn id="171" idx="2"/>
          </p:cNvCxnSpPr>
          <p:nvPr/>
        </p:nvCxnSpPr>
        <p:spPr>
          <a:xfrm>
            <a:off x="5854813" y="2750106"/>
            <a:ext cx="5733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3" name="Google Shape;183;p30"/>
          <p:cNvCxnSpPr>
            <a:stCxn id="179" idx="2"/>
            <a:endCxn id="171" idx="6"/>
          </p:cNvCxnSpPr>
          <p:nvPr/>
        </p:nvCxnSpPr>
        <p:spPr>
          <a:xfrm rot="10800000">
            <a:off x="7263013" y="2750106"/>
            <a:ext cx="5733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4" name="Google Shape;184;p30"/>
          <p:cNvCxnSpPr>
            <a:stCxn id="171" idx="1"/>
            <a:endCxn id="172" idx="5"/>
          </p:cNvCxnSpPr>
          <p:nvPr/>
        </p:nvCxnSpPr>
        <p:spPr>
          <a:xfrm rot="10800000">
            <a:off x="5956693" y="2115391"/>
            <a:ext cx="593700" cy="340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5" name="Google Shape;185;p30"/>
          <p:cNvCxnSpPr>
            <a:stCxn id="171" idx="7"/>
            <a:endCxn id="174" idx="3"/>
          </p:cNvCxnSpPr>
          <p:nvPr/>
        </p:nvCxnSpPr>
        <p:spPr>
          <a:xfrm flipH="1" rot="10800000">
            <a:off x="7140757" y="2115391"/>
            <a:ext cx="524700" cy="340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6" name="Google Shape;186;p30"/>
          <p:cNvCxnSpPr>
            <a:stCxn id="175" idx="7"/>
            <a:endCxn id="171" idx="3"/>
          </p:cNvCxnSpPr>
          <p:nvPr/>
        </p:nvCxnSpPr>
        <p:spPr>
          <a:xfrm flipH="1" rot="10800000">
            <a:off x="5956602" y="3044053"/>
            <a:ext cx="593700" cy="340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7" name="Google Shape;187;p30"/>
          <p:cNvCxnSpPr>
            <a:stCxn id="177" idx="1"/>
            <a:endCxn id="171" idx="5"/>
          </p:cNvCxnSpPr>
          <p:nvPr/>
        </p:nvCxnSpPr>
        <p:spPr>
          <a:xfrm rot="10800000">
            <a:off x="7140644" y="3044053"/>
            <a:ext cx="524700" cy="340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8" name="Google Shape;188;p30"/>
          <p:cNvCxnSpPr>
            <a:stCxn id="173" idx="2"/>
            <a:endCxn id="172" idx="0"/>
          </p:cNvCxnSpPr>
          <p:nvPr/>
        </p:nvCxnSpPr>
        <p:spPr>
          <a:xfrm flipH="1">
            <a:off x="5759723" y="1407751"/>
            <a:ext cx="807600" cy="2763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9" name="Google Shape;189;p30"/>
          <p:cNvCxnSpPr>
            <a:stCxn id="172" idx="3"/>
            <a:endCxn id="178" idx="0"/>
          </p:cNvCxnSpPr>
          <p:nvPr/>
        </p:nvCxnSpPr>
        <p:spPr>
          <a:xfrm>
            <a:off x="5563098" y="2115333"/>
            <a:ext cx="13500" cy="3822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0" name="Google Shape;190;p30"/>
          <p:cNvCxnSpPr>
            <a:stCxn id="173" idx="3"/>
            <a:endCxn id="178" idx="7"/>
          </p:cNvCxnSpPr>
          <p:nvPr/>
        </p:nvCxnSpPr>
        <p:spPr>
          <a:xfrm flipH="1">
            <a:off x="5773421" y="1586366"/>
            <a:ext cx="875400" cy="9852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1" name="Google Shape;191;p30"/>
          <p:cNvCxnSpPr>
            <a:stCxn id="173" idx="3"/>
            <a:endCxn id="175" idx="0"/>
          </p:cNvCxnSpPr>
          <p:nvPr/>
        </p:nvCxnSpPr>
        <p:spPr>
          <a:xfrm flipH="1">
            <a:off x="5759921" y="1586366"/>
            <a:ext cx="888900" cy="17244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2" name="Google Shape;192;p30"/>
          <p:cNvCxnSpPr>
            <a:stCxn id="178" idx="4"/>
            <a:endCxn id="175" idx="0"/>
          </p:cNvCxnSpPr>
          <p:nvPr/>
        </p:nvCxnSpPr>
        <p:spPr>
          <a:xfrm>
            <a:off x="5576563" y="3002706"/>
            <a:ext cx="183300" cy="3081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3" name="Google Shape;193;p30"/>
          <p:cNvCxnSpPr>
            <a:stCxn id="172" idx="5"/>
            <a:endCxn id="175" idx="7"/>
          </p:cNvCxnSpPr>
          <p:nvPr/>
        </p:nvCxnSpPr>
        <p:spPr>
          <a:xfrm>
            <a:off x="5956602" y="2115333"/>
            <a:ext cx="0" cy="12696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4" name="Google Shape;194;p30"/>
          <p:cNvCxnSpPr>
            <a:stCxn id="179" idx="3"/>
            <a:endCxn id="175" idx="6"/>
          </p:cNvCxnSpPr>
          <p:nvPr/>
        </p:nvCxnSpPr>
        <p:spPr>
          <a:xfrm flipH="1">
            <a:off x="6038010" y="2928721"/>
            <a:ext cx="1879800" cy="6348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5" name="Google Shape;195;p30"/>
          <p:cNvCxnSpPr>
            <a:stCxn id="176" idx="2"/>
            <a:endCxn id="175" idx="5"/>
          </p:cNvCxnSpPr>
          <p:nvPr/>
        </p:nvCxnSpPr>
        <p:spPr>
          <a:xfrm rot="10800000">
            <a:off x="5956486" y="3742201"/>
            <a:ext cx="628200" cy="3741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6" name="Google Shape;196;p30"/>
          <p:cNvCxnSpPr>
            <a:stCxn id="177" idx="3"/>
          </p:cNvCxnSpPr>
          <p:nvPr/>
        </p:nvCxnSpPr>
        <p:spPr>
          <a:xfrm flipH="1">
            <a:off x="7139144" y="3742083"/>
            <a:ext cx="526200" cy="3441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7" name="Google Shape;197;p30"/>
          <p:cNvCxnSpPr>
            <a:stCxn id="179" idx="4"/>
            <a:endCxn id="177" idx="7"/>
          </p:cNvCxnSpPr>
          <p:nvPr/>
        </p:nvCxnSpPr>
        <p:spPr>
          <a:xfrm flipH="1">
            <a:off x="8058763" y="3002706"/>
            <a:ext cx="55800" cy="3822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Ego networks</a:t>
            </a:r>
            <a:endParaRPr/>
          </a:p>
        </p:txBody>
      </p:sp>
      <p:sp>
        <p:nvSpPr>
          <p:cNvPr id="203" name="Google Shape;203;p31"/>
          <p:cNvSpPr txBox="1"/>
          <p:nvPr>
            <p:ph idx="1" type="body"/>
          </p:nvPr>
        </p:nvSpPr>
        <p:spPr>
          <a:xfrm>
            <a:off x="311700" y="1225225"/>
            <a:ext cx="4687800" cy="3354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>
                <a:solidFill>
                  <a:schemeClr val="accent5"/>
                </a:solidFill>
              </a:rPr>
              <a:t>Ego</a:t>
            </a:r>
            <a:r>
              <a:rPr lang="en"/>
              <a:t>: Central node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>
                <a:solidFill>
                  <a:schemeClr val="lt2"/>
                </a:solidFill>
              </a:rPr>
              <a:t>Alters</a:t>
            </a:r>
            <a:r>
              <a:rPr lang="en"/>
              <a:t>: Nodes around ego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>
                <a:solidFill>
                  <a:srgbClr val="0000FF"/>
                </a:solidFill>
              </a:rPr>
              <a:t>Obligatory links </a:t>
            </a:r>
            <a:r>
              <a:rPr lang="en"/>
              <a:t>from ego to </a:t>
            </a:r>
            <a:r>
              <a:rPr b="1" lang="en"/>
              <a:t>every</a:t>
            </a:r>
            <a:r>
              <a:rPr lang="en"/>
              <a:t> alter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>
                <a:solidFill>
                  <a:srgbClr val="FF00FF"/>
                </a:solidFill>
              </a:rPr>
              <a:t>Optional links</a:t>
            </a:r>
            <a:r>
              <a:rPr lang="en"/>
              <a:t> from alter to alter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b="1" lang="en"/>
              <a:t>star</a:t>
            </a:r>
            <a:r>
              <a:rPr lang="en"/>
              <a:t> subgraph contains all the </a:t>
            </a:r>
            <a:r>
              <a:rPr b="1" lang="en"/>
              <a:t>ego-to-alter</a:t>
            </a:r>
            <a:r>
              <a:rPr lang="en"/>
              <a:t> ties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04" name="Google Shape;204;p31"/>
          <p:cNvSpPr/>
          <p:nvPr/>
        </p:nvSpPr>
        <p:spPr>
          <a:xfrm>
            <a:off x="6428125" y="2334450"/>
            <a:ext cx="834900" cy="8313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Ego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205" name="Google Shape;205;p31"/>
          <p:cNvSpPr/>
          <p:nvPr/>
        </p:nvSpPr>
        <p:spPr>
          <a:xfrm>
            <a:off x="5481600" y="1684118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a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206" name="Google Shape;206;p31"/>
          <p:cNvSpPr/>
          <p:nvPr/>
        </p:nvSpPr>
        <p:spPr>
          <a:xfrm>
            <a:off x="6567323" y="1155151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b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207" name="Google Shape;207;p31"/>
          <p:cNvSpPr/>
          <p:nvPr/>
        </p:nvSpPr>
        <p:spPr>
          <a:xfrm>
            <a:off x="7583847" y="1684118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c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208" name="Google Shape;208;p31"/>
          <p:cNvSpPr/>
          <p:nvPr/>
        </p:nvSpPr>
        <p:spPr>
          <a:xfrm>
            <a:off x="5481600" y="3310868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g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209" name="Google Shape;209;p31"/>
          <p:cNvSpPr/>
          <p:nvPr/>
        </p:nvSpPr>
        <p:spPr>
          <a:xfrm>
            <a:off x="6584686" y="3863701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f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210" name="Google Shape;210;p31"/>
          <p:cNvSpPr/>
          <p:nvPr/>
        </p:nvSpPr>
        <p:spPr>
          <a:xfrm>
            <a:off x="7583847" y="3310868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211" name="Google Shape;211;p31"/>
          <p:cNvSpPr/>
          <p:nvPr/>
        </p:nvSpPr>
        <p:spPr>
          <a:xfrm>
            <a:off x="5298313" y="2497506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h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212" name="Google Shape;212;p31"/>
          <p:cNvSpPr/>
          <p:nvPr/>
        </p:nvSpPr>
        <p:spPr>
          <a:xfrm>
            <a:off x="7836313" y="2497506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d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cxnSp>
        <p:nvCxnSpPr>
          <p:cNvPr id="213" name="Google Shape;213;p31"/>
          <p:cNvCxnSpPr>
            <a:stCxn id="206" idx="4"/>
            <a:endCxn id="204" idx="0"/>
          </p:cNvCxnSpPr>
          <p:nvPr/>
        </p:nvCxnSpPr>
        <p:spPr>
          <a:xfrm>
            <a:off x="6845573" y="1660351"/>
            <a:ext cx="0" cy="6741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4" name="Google Shape;214;p31"/>
          <p:cNvCxnSpPr>
            <a:stCxn id="209" idx="0"/>
            <a:endCxn id="204" idx="4"/>
          </p:cNvCxnSpPr>
          <p:nvPr/>
        </p:nvCxnSpPr>
        <p:spPr>
          <a:xfrm rot="10800000">
            <a:off x="6845536" y="3165601"/>
            <a:ext cx="17400" cy="6981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5" name="Google Shape;215;p31"/>
          <p:cNvCxnSpPr>
            <a:stCxn id="211" idx="6"/>
            <a:endCxn id="204" idx="2"/>
          </p:cNvCxnSpPr>
          <p:nvPr/>
        </p:nvCxnSpPr>
        <p:spPr>
          <a:xfrm>
            <a:off x="5854813" y="2750106"/>
            <a:ext cx="5733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6" name="Google Shape;216;p31"/>
          <p:cNvCxnSpPr>
            <a:stCxn id="212" idx="2"/>
            <a:endCxn id="204" idx="6"/>
          </p:cNvCxnSpPr>
          <p:nvPr/>
        </p:nvCxnSpPr>
        <p:spPr>
          <a:xfrm rot="10800000">
            <a:off x="7263013" y="2750106"/>
            <a:ext cx="5733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7" name="Google Shape;217;p31"/>
          <p:cNvCxnSpPr>
            <a:stCxn id="204" idx="1"/>
            <a:endCxn id="205" idx="5"/>
          </p:cNvCxnSpPr>
          <p:nvPr/>
        </p:nvCxnSpPr>
        <p:spPr>
          <a:xfrm rot="10800000">
            <a:off x="5956693" y="2115391"/>
            <a:ext cx="593700" cy="340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8" name="Google Shape;218;p31"/>
          <p:cNvCxnSpPr>
            <a:stCxn id="204" idx="7"/>
            <a:endCxn id="207" idx="3"/>
          </p:cNvCxnSpPr>
          <p:nvPr/>
        </p:nvCxnSpPr>
        <p:spPr>
          <a:xfrm flipH="1" rot="10800000">
            <a:off x="7140757" y="2115391"/>
            <a:ext cx="524700" cy="340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9" name="Google Shape;219;p31"/>
          <p:cNvCxnSpPr>
            <a:stCxn id="208" idx="7"/>
            <a:endCxn id="204" idx="3"/>
          </p:cNvCxnSpPr>
          <p:nvPr/>
        </p:nvCxnSpPr>
        <p:spPr>
          <a:xfrm flipH="1" rot="10800000">
            <a:off x="5956602" y="3044053"/>
            <a:ext cx="593700" cy="340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0" name="Google Shape;220;p31"/>
          <p:cNvCxnSpPr>
            <a:stCxn id="210" idx="1"/>
            <a:endCxn id="204" idx="5"/>
          </p:cNvCxnSpPr>
          <p:nvPr/>
        </p:nvCxnSpPr>
        <p:spPr>
          <a:xfrm rot="10800000">
            <a:off x="7140644" y="3044053"/>
            <a:ext cx="524700" cy="340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Ego networks</a:t>
            </a:r>
            <a:endParaRPr/>
          </a:p>
        </p:txBody>
      </p:sp>
      <p:sp>
        <p:nvSpPr>
          <p:cNvPr id="226" name="Google Shape;226;p32"/>
          <p:cNvSpPr txBox="1"/>
          <p:nvPr>
            <p:ph idx="1" type="body"/>
          </p:nvPr>
        </p:nvSpPr>
        <p:spPr>
          <a:xfrm>
            <a:off x="311700" y="1225225"/>
            <a:ext cx="4687800" cy="3354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>
                <a:solidFill>
                  <a:schemeClr val="accent5"/>
                </a:solidFill>
              </a:rPr>
              <a:t>Ego</a:t>
            </a:r>
            <a:r>
              <a:rPr lang="en"/>
              <a:t>: Central node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>
                <a:solidFill>
                  <a:schemeClr val="lt2"/>
                </a:solidFill>
              </a:rPr>
              <a:t>Alters</a:t>
            </a:r>
            <a:r>
              <a:rPr lang="en"/>
              <a:t>: Nodes around ego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>
                <a:solidFill>
                  <a:srgbClr val="0000FF"/>
                </a:solidFill>
              </a:rPr>
              <a:t>Obligatory links </a:t>
            </a:r>
            <a:r>
              <a:rPr lang="en"/>
              <a:t>from ego to </a:t>
            </a:r>
            <a:r>
              <a:rPr b="1" lang="en"/>
              <a:t>every</a:t>
            </a:r>
            <a:r>
              <a:rPr lang="en"/>
              <a:t> alter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>
                <a:solidFill>
                  <a:srgbClr val="FF00FF"/>
                </a:solidFill>
              </a:rPr>
              <a:t>Optional links</a:t>
            </a:r>
            <a:r>
              <a:rPr lang="en"/>
              <a:t> from alter to alter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b="1" lang="en"/>
              <a:t>star</a:t>
            </a:r>
            <a:r>
              <a:rPr lang="en"/>
              <a:t> subgraph contains all the </a:t>
            </a:r>
            <a:r>
              <a:rPr b="1" lang="en"/>
              <a:t>ego-to-alter</a:t>
            </a:r>
            <a:r>
              <a:rPr lang="en"/>
              <a:t> ties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</a:t>
            </a:r>
            <a:r>
              <a:rPr baseline="-25000" lang="en"/>
              <a:t>ea</a:t>
            </a:r>
            <a:r>
              <a:rPr lang="en"/>
              <a:t> = {Ea, Eb, Ec, Ed, Ee, Eg, Ef, Eg, Eh}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27" name="Google Shape;227;p32"/>
          <p:cNvSpPr/>
          <p:nvPr/>
        </p:nvSpPr>
        <p:spPr>
          <a:xfrm>
            <a:off x="6428125" y="2334450"/>
            <a:ext cx="834900" cy="8313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Ego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228" name="Google Shape;228;p32"/>
          <p:cNvSpPr/>
          <p:nvPr/>
        </p:nvSpPr>
        <p:spPr>
          <a:xfrm>
            <a:off x="5481600" y="1684118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a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229" name="Google Shape;229;p32"/>
          <p:cNvSpPr/>
          <p:nvPr/>
        </p:nvSpPr>
        <p:spPr>
          <a:xfrm>
            <a:off x="6567323" y="1155151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b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230" name="Google Shape;230;p32"/>
          <p:cNvSpPr/>
          <p:nvPr/>
        </p:nvSpPr>
        <p:spPr>
          <a:xfrm>
            <a:off x="7583847" y="1684118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c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231" name="Google Shape;231;p32"/>
          <p:cNvSpPr/>
          <p:nvPr/>
        </p:nvSpPr>
        <p:spPr>
          <a:xfrm>
            <a:off x="5481600" y="3310868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g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232" name="Google Shape;232;p32"/>
          <p:cNvSpPr/>
          <p:nvPr/>
        </p:nvSpPr>
        <p:spPr>
          <a:xfrm>
            <a:off x="6584686" y="3863701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f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233" name="Google Shape;233;p32"/>
          <p:cNvSpPr/>
          <p:nvPr/>
        </p:nvSpPr>
        <p:spPr>
          <a:xfrm>
            <a:off x="7583847" y="3310868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234" name="Google Shape;234;p32"/>
          <p:cNvSpPr/>
          <p:nvPr/>
        </p:nvSpPr>
        <p:spPr>
          <a:xfrm>
            <a:off x="5298313" y="2497506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h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235" name="Google Shape;235;p32"/>
          <p:cNvSpPr/>
          <p:nvPr/>
        </p:nvSpPr>
        <p:spPr>
          <a:xfrm>
            <a:off x="7836313" y="2497506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d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cxnSp>
        <p:nvCxnSpPr>
          <p:cNvPr id="236" name="Google Shape;236;p32"/>
          <p:cNvCxnSpPr>
            <a:stCxn id="229" idx="4"/>
            <a:endCxn id="227" idx="0"/>
          </p:cNvCxnSpPr>
          <p:nvPr/>
        </p:nvCxnSpPr>
        <p:spPr>
          <a:xfrm>
            <a:off x="6845573" y="1660351"/>
            <a:ext cx="0" cy="6741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7" name="Google Shape;237;p32"/>
          <p:cNvCxnSpPr>
            <a:stCxn id="232" idx="0"/>
            <a:endCxn id="227" idx="4"/>
          </p:cNvCxnSpPr>
          <p:nvPr/>
        </p:nvCxnSpPr>
        <p:spPr>
          <a:xfrm rot="10800000">
            <a:off x="6845536" y="3165601"/>
            <a:ext cx="17400" cy="6981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8" name="Google Shape;238;p32"/>
          <p:cNvCxnSpPr>
            <a:stCxn id="234" idx="6"/>
            <a:endCxn id="227" idx="2"/>
          </p:cNvCxnSpPr>
          <p:nvPr/>
        </p:nvCxnSpPr>
        <p:spPr>
          <a:xfrm>
            <a:off x="5854813" y="2750106"/>
            <a:ext cx="5733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9" name="Google Shape;239;p32"/>
          <p:cNvCxnSpPr>
            <a:stCxn id="235" idx="2"/>
            <a:endCxn id="227" idx="6"/>
          </p:cNvCxnSpPr>
          <p:nvPr/>
        </p:nvCxnSpPr>
        <p:spPr>
          <a:xfrm rot="10800000">
            <a:off x="7263013" y="2750106"/>
            <a:ext cx="5733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0" name="Google Shape;240;p32"/>
          <p:cNvCxnSpPr>
            <a:stCxn id="227" idx="1"/>
            <a:endCxn id="228" idx="5"/>
          </p:cNvCxnSpPr>
          <p:nvPr/>
        </p:nvCxnSpPr>
        <p:spPr>
          <a:xfrm rot="10800000">
            <a:off x="5956693" y="2115391"/>
            <a:ext cx="593700" cy="340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1" name="Google Shape;241;p32"/>
          <p:cNvCxnSpPr>
            <a:stCxn id="227" idx="7"/>
            <a:endCxn id="230" idx="3"/>
          </p:cNvCxnSpPr>
          <p:nvPr/>
        </p:nvCxnSpPr>
        <p:spPr>
          <a:xfrm flipH="1" rot="10800000">
            <a:off x="7140757" y="2115391"/>
            <a:ext cx="524700" cy="340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2" name="Google Shape;242;p32"/>
          <p:cNvCxnSpPr>
            <a:stCxn id="231" idx="7"/>
            <a:endCxn id="227" idx="3"/>
          </p:cNvCxnSpPr>
          <p:nvPr/>
        </p:nvCxnSpPr>
        <p:spPr>
          <a:xfrm flipH="1" rot="10800000">
            <a:off x="5956602" y="3044053"/>
            <a:ext cx="593700" cy="340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3" name="Google Shape;243;p32"/>
          <p:cNvCxnSpPr>
            <a:stCxn id="233" idx="1"/>
            <a:endCxn id="227" idx="5"/>
          </p:cNvCxnSpPr>
          <p:nvPr/>
        </p:nvCxnSpPr>
        <p:spPr>
          <a:xfrm rot="10800000">
            <a:off x="7140644" y="3044053"/>
            <a:ext cx="524700" cy="340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Ego networks</a:t>
            </a:r>
            <a:endParaRPr/>
          </a:p>
        </p:txBody>
      </p:sp>
      <p:sp>
        <p:nvSpPr>
          <p:cNvPr id="249" name="Google Shape;249;p33"/>
          <p:cNvSpPr txBox="1"/>
          <p:nvPr>
            <p:ph idx="1" type="body"/>
          </p:nvPr>
        </p:nvSpPr>
        <p:spPr>
          <a:xfrm>
            <a:off x="311700" y="1225225"/>
            <a:ext cx="4687800" cy="3354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>
                <a:solidFill>
                  <a:schemeClr val="accent5"/>
                </a:solidFill>
              </a:rPr>
              <a:t>Ego</a:t>
            </a:r>
            <a:r>
              <a:rPr lang="en"/>
              <a:t>: Central node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>
                <a:solidFill>
                  <a:schemeClr val="lt2"/>
                </a:solidFill>
              </a:rPr>
              <a:t>Alters</a:t>
            </a:r>
            <a:r>
              <a:rPr lang="en"/>
              <a:t>: Nodes around ego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>
                <a:solidFill>
                  <a:srgbClr val="0000FF"/>
                </a:solidFill>
              </a:rPr>
              <a:t>Obligatory links </a:t>
            </a:r>
            <a:r>
              <a:rPr lang="en"/>
              <a:t>from ego to </a:t>
            </a:r>
            <a:r>
              <a:rPr b="1" lang="en"/>
              <a:t>every</a:t>
            </a:r>
            <a:r>
              <a:rPr lang="en"/>
              <a:t> alter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>
                <a:solidFill>
                  <a:srgbClr val="FF00FF"/>
                </a:solidFill>
              </a:rPr>
              <a:t>Optional links</a:t>
            </a:r>
            <a:r>
              <a:rPr lang="en"/>
              <a:t> from alter to alter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b="1" lang="en"/>
              <a:t>star</a:t>
            </a:r>
            <a:r>
              <a:rPr lang="en"/>
              <a:t> subgraph contains all the </a:t>
            </a:r>
            <a:r>
              <a:rPr b="1" lang="en"/>
              <a:t>ego-to-alter</a:t>
            </a:r>
            <a:r>
              <a:rPr lang="en"/>
              <a:t> ties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b="1" lang="en"/>
              <a:t>alter-alter</a:t>
            </a:r>
            <a:r>
              <a:rPr lang="en"/>
              <a:t> subgraph is the local network of people who are connected to ego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50" name="Google Shape;250;p33"/>
          <p:cNvSpPr/>
          <p:nvPr/>
        </p:nvSpPr>
        <p:spPr>
          <a:xfrm>
            <a:off x="5481600" y="1684118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a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251" name="Google Shape;251;p33"/>
          <p:cNvSpPr/>
          <p:nvPr/>
        </p:nvSpPr>
        <p:spPr>
          <a:xfrm>
            <a:off x="6567323" y="1155151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b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252" name="Google Shape;252;p33"/>
          <p:cNvSpPr/>
          <p:nvPr/>
        </p:nvSpPr>
        <p:spPr>
          <a:xfrm>
            <a:off x="7583847" y="1684118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c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253" name="Google Shape;253;p33"/>
          <p:cNvSpPr/>
          <p:nvPr/>
        </p:nvSpPr>
        <p:spPr>
          <a:xfrm>
            <a:off x="5481600" y="3310868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g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254" name="Google Shape;254;p33"/>
          <p:cNvSpPr/>
          <p:nvPr/>
        </p:nvSpPr>
        <p:spPr>
          <a:xfrm>
            <a:off x="6584686" y="3863701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f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255" name="Google Shape;255;p33"/>
          <p:cNvSpPr/>
          <p:nvPr/>
        </p:nvSpPr>
        <p:spPr>
          <a:xfrm>
            <a:off x="7583847" y="3310868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256" name="Google Shape;256;p33"/>
          <p:cNvSpPr/>
          <p:nvPr/>
        </p:nvSpPr>
        <p:spPr>
          <a:xfrm>
            <a:off x="5298313" y="2497506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h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257" name="Google Shape;257;p33"/>
          <p:cNvSpPr/>
          <p:nvPr/>
        </p:nvSpPr>
        <p:spPr>
          <a:xfrm>
            <a:off x="7836313" y="2497506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d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cxnSp>
        <p:nvCxnSpPr>
          <p:cNvPr id="258" name="Google Shape;258;p33"/>
          <p:cNvCxnSpPr>
            <a:stCxn id="251" idx="2"/>
            <a:endCxn id="250" idx="0"/>
          </p:cNvCxnSpPr>
          <p:nvPr/>
        </p:nvCxnSpPr>
        <p:spPr>
          <a:xfrm flipH="1">
            <a:off x="5759723" y="1407751"/>
            <a:ext cx="807600" cy="2763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9" name="Google Shape;259;p33"/>
          <p:cNvCxnSpPr>
            <a:stCxn id="250" idx="3"/>
            <a:endCxn id="256" idx="0"/>
          </p:cNvCxnSpPr>
          <p:nvPr/>
        </p:nvCxnSpPr>
        <p:spPr>
          <a:xfrm>
            <a:off x="5563098" y="2115333"/>
            <a:ext cx="13500" cy="3822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0" name="Google Shape;260;p33"/>
          <p:cNvCxnSpPr>
            <a:stCxn id="251" idx="3"/>
            <a:endCxn id="256" idx="7"/>
          </p:cNvCxnSpPr>
          <p:nvPr/>
        </p:nvCxnSpPr>
        <p:spPr>
          <a:xfrm flipH="1">
            <a:off x="5773421" y="1586366"/>
            <a:ext cx="875400" cy="9852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1" name="Google Shape;261;p33"/>
          <p:cNvCxnSpPr>
            <a:stCxn id="251" idx="3"/>
            <a:endCxn id="253" idx="0"/>
          </p:cNvCxnSpPr>
          <p:nvPr/>
        </p:nvCxnSpPr>
        <p:spPr>
          <a:xfrm flipH="1">
            <a:off x="5759921" y="1586366"/>
            <a:ext cx="888900" cy="17244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2" name="Google Shape;262;p33"/>
          <p:cNvCxnSpPr>
            <a:stCxn id="256" idx="4"/>
            <a:endCxn id="253" idx="0"/>
          </p:cNvCxnSpPr>
          <p:nvPr/>
        </p:nvCxnSpPr>
        <p:spPr>
          <a:xfrm>
            <a:off x="5576563" y="3002706"/>
            <a:ext cx="183300" cy="3081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3" name="Google Shape;263;p33"/>
          <p:cNvCxnSpPr>
            <a:stCxn id="250" idx="5"/>
            <a:endCxn id="253" idx="7"/>
          </p:cNvCxnSpPr>
          <p:nvPr/>
        </p:nvCxnSpPr>
        <p:spPr>
          <a:xfrm>
            <a:off x="5956602" y="2115333"/>
            <a:ext cx="0" cy="12696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4" name="Google Shape;264;p33"/>
          <p:cNvCxnSpPr>
            <a:stCxn id="257" idx="3"/>
            <a:endCxn id="253" idx="6"/>
          </p:cNvCxnSpPr>
          <p:nvPr/>
        </p:nvCxnSpPr>
        <p:spPr>
          <a:xfrm flipH="1">
            <a:off x="6038010" y="2928721"/>
            <a:ext cx="1879800" cy="6348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5" name="Google Shape;265;p33"/>
          <p:cNvCxnSpPr>
            <a:stCxn id="254" idx="2"/>
            <a:endCxn id="253" idx="5"/>
          </p:cNvCxnSpPr>
          <p:nvPr/>
        </p:nvCxnSpPr>
        <p:spPr>
          <a:xfrm rot="10800000">
            <a:off x="5956486" y="3742201"/>
            <a:ext cx="628200" cy="3741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6" name="Google Shape;266;p33"/>
          <p:cNvCxnSpPr>
            <a:stCxn id="255" idx="3"/>
          </p:cNvCxnSpPr>
          <p:nvPr/>
        </p:nvCxnSpPr>
        <p:spPr>
          <a:xfrm flipH="1">
            <a:off x="7139144" y="3742083"/>
            <a:ext cx="526200" cy="3441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7" name="Google Shape;267;p33"/>
          <p:cNvCxnSpPr>
            <a:stCxn id="257" idx="4"/>
            <a:endCxn id="255" idx="7"/>
          </p:cNvCxnSpPr>
          <p:nvPr/>
        </p:nvCxnSpPr>
        <p:spPr>
          <a:xfrm flipH="1">
            <a:off x="8058763" y="3002706"/>
            <a:ext cx="55800" cy="3822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Ego networks</a:t>
            </a:r>
            <a:endParaRPr/>
          </a:p>
        </p:txBody>
      </p:sp>
      <p:sp>
        <p:nvSpPr>
          <p:cNvPr id="273" name="Google Shape;273;p34"/>
          <p:cNvSpPr txBox="1"/>
          <p:nvPr>
            <p:ph idx="1" type="body"/>
          </p:nvPr>
        </p:nvSpPr>
        <p:spPr>
          <a:xfrm>
            <a:off x="311700" y="1225225"/>
            <a:ext cx="4687800" cy="3354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>
                <a:solidFill>
                  <a:schemeClr val="accent5"/>
                </a:solidFill>
              </a:rPr>
              <a:t>Ego</a:t>
            </a:r>
            <a:r>
              <a:rPr lang="en"/>
              <a:t>: Central node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>
                <a:solidFill>
                  <a:schemeClr val="lt2"/>
                </a:solidFill>
              </a:rPr>
              <a:t>Alters</a:t>
            </a:r>
            <a:r>
              <a:rPr lang="en"/>
              <a:t>: Nodes around ego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>
                <a:solidFill>
                  <a:srgbClr val="0000FF"/>
                </a:solidFill>
              </a:rPr>
              <a:t>Obligatory links </a:t>
            </a:r>
            <a:r>
              <a:rPr lang="en"/>
              <a:t>from ego to </a:t>
            </a:r>
            <a:r>
              <a:rPr b="1" lang="en"/>
              <a:t>every</a:t>
            </a:r>
            <a:r>
              <a:rPr lang="en"/>
              <a:t> alter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>
                <a:solidFill>
                  <a:srgbClr val="FF00FF"/>
                </a:solidFill>
              </a:rPr>
              <a:t>Optional links</a:t>
            </a:r>
            <a:r>
              <a:rPr lang="en"/>
              <a:t> from alter to alter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b="1" lang="en"/>
              <a:t>star</a:t>
            </a:r>
            <a:r>
              <a:rPr lang="en"/>
              <a:t> subgraph contains all the </a:t>
            </a:r>
            <a:r>
              <a:rPr b="1" lang="en"/>
              <a:t>ego-to-alter</a:t>
            </a:r>
            <a:r>
              <a:rPr lang="en"/>
              <a:t> ties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b="1" lang="en"/>
              <a:t>alter-alter</a:t>
            </a:r>
            <a:r>
              <a:rPr lang="en"/>
              <a:t> subgraph is the local network of people who are connected to ego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V = {a, b, c, d, e, f, g}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 = {ab, ah, ag, bh, bg, de, dg, ef, fg, gh}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74" name="Google Shape;274;p34"/>
          <p:cNvSpPr/>
          <p:nvPr/>
        </p:nvSpPr>
        <p:spPr>
          <a:xfrm>
            <a:off x="5481600" y="1684118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a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275" name="Google Shape;275;p34"/>
          <p:cNvSpPr/>
          <p:nvPr/>
        </p:nvSpPr>
        <p:spPr>
          <a:xfrm>
            <a:off x="6567323" y="1155151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b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276" name="Google Shape;276;p34"/>
          <p:cNvSpPr/>
          <p:nvPr/>
        </p:nvSpPr>
        <p:spPr>
          <a:xfrm>
            <a:off x="7583847" y="1684118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c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277" name="Google Shape;277;p34"/>
          <p:cNvSpPr/>
          <p:nvPr/>
        </p:nvSpPr>
        <p:spPr>
          <a:xfrm>
            <a:off x="5481600" y="3310868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g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278" name="Google Shape;278;p34"/>
          <p:cNvSpPr/>
          <p:nvPr/>
        </p:nvSpPr>
        <p:spPr>
          <a:xfrm>
            <a:off x="6584686" y="3863701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f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279" name="Google Shape;279;p34"/>
          <p:cNvSpPr/>
          <p:nvPr/>
        </p:nvSpPr>
        <p:spPr>
          <a:xfrm>
            <a:off x="7583847" y="3310868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280" name="Google Shape;280;p34"/>
          <p:cNvSpPr/>
          <p:nvPr/>
        </p:nvSpPr>
        <p:spPr>
          <a:xfrm>
            <a:off x="5298313" y="2497506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h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281" name="Google Shape;281;p34"/>
          <p:cNvSpPr/>
          <p:nvPr/>
        </p:nvSpPr>
        <p:spPr>
          <a:xfrm>
            <a:off x="7836313" y="2497506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d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cxnSp>
        <p:nvCxnSpPr>
          <p:cNvPr id="282" name="Google Shape;282;p34"/>
          <p:cNvCxnSpPr>
            <a:stCxn id="275" idx="2"/>
            <a:endCxn id="274" idx="0"/>
          </p:cNvCxnSpPr>
          <p:nvPr/>
        </p:nvCxnSpPr>
        <p:spPr>
          <a:xfrm flipH="1">
            <a:off x="5759723" y="1407751"/>
            <a:ext cx="807600" cy="2763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3" name="Google Shape;283;p34"/>
          <p:cNvCxnSpPr>
            <a:stCxn id="274" idx="3"/>
            <a:endCxn id="280" idx="0"/>
          </p:cNvCxnSpPr>
          <p:nvPr/>
        </p:nvCxnSpPr>
        <p:spPr>
          <a:xfrm>
            <a:off x="5563098" y="2115333"/>
            <a:ext cx="13500" cy="3822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4" name="Google Shape;284;p34"/>
          <p:cNvCxnSpPr>
            <a:stCxn id="275" idx="3"/>
            <a:endCxn id="280" idx="7"/>
          </p:cNvCxnSpPr>
          <p:nvPr/>
        </p:nvCxnSpPr>
        <p:spPr>
          <a:xfrm flipH="1">
            <a:off x="5773421" y="1586366"/>
            <a:ext cx="875400" cy="9852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5" name="Google Shape;285;p34"/>
          <p:cNvCxnSpPr>
            <a:stCxn id="275" idx="3"/>
            <a:endCxn id="277" idx="0"/>
          </p:cNvCxnSpPr>
          <p:nvPr/>
        </p:nvCxnSpPr>
        <p:spPr>
          <a:xfrm flipH="1">
            <a:off x="5759921" y="1586366"/>
            <a:ext cx="888900" cy="17244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6" name="Google Shape;286;p34"/>
          <p:cNvCxnSpPr>
            <a:stCxn id="280" idx="4"/>
            <a:endCxn id="277" idx="0"/>
          </p:cNvCxnSpPr>
          <p:nvPr/>
        </p:nvCxnSpPr>
        <p:spPr>
          <a:xfrm>
            <a:off x="5576563" y="3002706"/>
            <a:ext cx="183300" cy="3081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7" name="Google Shape;287;p34"/>
          <p:cNvCxnSpPr>
            <a:stCxn id="274" idx="5"/>
            <a:endCxn id="277" idx="7"/>
          </p:cNvCxnSpPr>
          <p:nvPr/>
        </p:nvCxnSpPr>
        <p:spPr>
          <a:xfrm>
            <a:off x="5956602" y="2115333"/>
            <a:ext cx="0" cy="12696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8" name="Google Shape;288;p34"/>
          <p:cNvCxnSpPr>
            <a:stCxn id="281" idx="3"/>
            <a:endCxn id="277" idx="6"/>
          </p:cNvCxnSpPr>
          <p:nvPr/>
        </p:nvCxnSpPr>
        <p:spPr>
          <a:xfrm flipH="1">
            <a:off x="6038010" y="2928721"/>
            <a:ext cx="1879800" cy="6348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9" name="Google Shape;289;p34"/>
          <p:cNvCxnSpPr>
            <a:stCxn id="278" idx="2"/>
            <a:endCxn id="277" idx="5"/>
          </p:cNvCxnSpPr>
          <p:nvPr/>
        </p:nvCxnSpPr>
        <p:spPr>
          <a:xfrm rot="10800000">
            <a:off x="5956486" y="3742201"/>
            <a:ext cx="628200" cy="3741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0" name="Google Shape;290;p34"/>
          <p:cNvCxnSpPr>
            <a:stCxn id="279" idx="3"/>
          </p:cNvCxnSpPr>
          <p:nvPr/>
        </p:nvCxnSpPr>
        <p:spPr>
          <a:xfrm flipH="1">
            <a:off x="7139144" y="3742083"/>
            <a:ext cx="526200" cy="3441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1" name="Google Shape;291;p34"/>
          <p:cNvCxnSpPr>
            <a:stCxn id="281" idx="4"/>
            <a:endCxn id="279" idx="7"/>
          </p:cNvCxnSpPr>
          <p:nvPr/>
        </p:nvCxnSpPr>
        <p:spPr>
          <a:xfrm flipH="1">
            <a:off x="8058763" y="3002706"/>
            <a:ext cx="55800" cy="3822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Ego network data</a:t>
            </a:r>
            <a:endParaRPr/>
          </a:p>
        </p:txBody>
      </p:sp>
      <p:sp>
        <p:nvSpPr>
          <p:cNvPr id="297" name="Google Shape;297;p35"/>
          <p:cNvSpPr txBox="1"/>
          <p:nvPr>
            <p:ph idx="1" type="body"/>
          </p:nvPr>
        </p:nvSpPr>
        <p:spPr>
          <a:xfrm>
            <a:off x="311700" y="1225225"/>
            <a:ext cx="4708200" cy="3475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There are four pieces of information we need to compute the basic ego-network properties: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98" name="Google Shape;298;p35"/>
          <p:cNvSpPr/>
          <p:nvPr/>
        </p:nvSpPr>
        <p:spPr>
          <a:xfrm>
            <a:off x="6428125" y="2334450"/>
            <a:ext cx="834900" cy="8313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Ego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299" name="Google Shape;299;p35"/>
          <p:cNvSpPr/>
          <p:nvPr/>
        </p:nvSpPr>
        <p:spPr>
          <a:xfrm>
            <a:off x="5481600" y="1684118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a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300" name="Google Shape;300;p35"/>
          <p:cNvSpPr/>
          <p:nvPr/>
        </p:nvSpPr>
        <p:spPr>
          <a:xfrm>
            <a:off x="6567323" y="1155151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b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301" name="Google Shape;301;p35"/>
          <p:cNvSpPr/>
          <p:nvPr/>
        </p:nvSpPr>
        <p:spPr>
          <a:xfrm>
            <a:off x="7583847" y="1684118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c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302" name="Google Shape;302;p35"/>
          <p:cNvSpPr/>
          <p:nvPr/>
        </p:nvSpPr>
        <p:spPr>
          <a:xfrm>
            <a:off x="5481600" y="3310868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g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303" name="Google Shape;303;p35"/>
          <p:cNvSpPr/>
          <p:nvPr/>
        </p:nvSpPr>
        <p:spPr>
          <a:xfrm>
            <a:off x="6584686" y="3863701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f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304" name="Google Shape;304;p35"/>
          <p:cNvSpPr/>
          <p:nvPr/>
        </p:nvSpPr>
        <p:spPr>
          <a:xfrm>
            <a:off x="7583847" y="3310868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305" name="Google Shape;305;p35"/>
          <p:cNvSpPr/>
          <p:nvPr/>
        </p:nvSpPr>
        <p:spPr>
          <a:xfrm>
            <a:off x="5298313" y="2497506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h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306" name="Google Shape;306;p35"/>
          <p:cNvSpPr/>
          <p:nvPr/>
        </p:nvSpPr>
        <p:spPr>
          <a:xfrm>
            <a:off x="7836313" y="2497506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d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cxnSp>
        <p:nvCxnSpPr>
          <p:cNvPr id="307" name="Google Shape;307;p35"/>
          <p:cNvCxnSpPr>
            <a:stCxn id="300" idx="4"/>
            <a:endCxn id="298" idx="0"/>
          </p:cNvCxnSpPr>
          <p:nvPr/>
        </p:nvCxnSpPr>
        <p:spPr>
          <a:xfrm>
            <a:off x="6845573" y="1660351"/>
            <a:ext cx="0" cy="6741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8" name="Google Shape;308;p35"/>
          <p:cNvCxnSpPr>
            <a:stCxn id="303" idx="0"/>
            <a:endCxn id="298" idx="4"/>
          </p:cNvCxnSpPr>
          <p:nvPr/>
        </p:nvCxnSpPr>
        <p:spPr>
          <a:xfrm rot="10800000">
            <a:off x="6845536" y="3165601"/>
            <a:ext cx="17400" cy="6981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9" name="Google Shape;309;p35"/>
          <p:cNvCxnSpPr>
            <a:stCxn id="305" idx="6"/>
            <a:endCxn id="298" idx="2"/>
          </p:cNvCxnSpPr>
          <p:nvPr/>
        </p:nvCxnSpPr>
        <p:spPr>
          <a:xfrm>
            <a:off x="5854813" y="2750106"/>
            <a:ext cx="5733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0" name="Google Shape;310;p35"/>
          <p:cNvCxnSpPr>
            <a:stCxn id="306" idx="2"/>
            <a:endCxn id="298" idx="6"/>
          </p:cNvCxnSpPr>
          <p:nvPr/>
        </p:nvCxnSpPr>
        <p:spPr>
          <a:xfrm rot="10800000">
            <a:off x="7263013" y="2750106"/>
            <a:ext cx="5733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1" name="Google Shape;311;p35"/>
          <p:cNvCxnSpPr>
            <a:stCxn id="298" idx="1"/>
            <a:endCxn id="299" idx="5"/>
          </p:cNvCxnSpPr>
          <p:nvPr/>
        </p:nvCxnSpPr>
        <p:spPr>
          <a:xfrm rot="10800000">
            <a:off x="5956693" y="2115391"/>
            <a:ext cx="593700" cy="340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2" name="Google Shape;312;p35"/>
          <p:cNvCxnSpPr>
            <a:stCxn id="298" idx="7"/>
            <a:endCxn id="301" idx="3"/>
          </p:cNvCxnSpPr>
          <p:nvPr/>
        </p:nvCxnSpPr>
        <p:spPr>
          <a:xfrm flipH="1" rot="10800000">
            <a:off x="7140757" y="2115391"/>
            <a:ext cx="524700" cy="340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3" name="Google Shape;313;p35"/>
          <p:cNvCxnSpPr>
            <a:stCxn id="302" idx="7"/>
            <a:endCxn id="298" idx="3"/>
          </p:cNvCxnSpPr>
          <p:nvPr/>
        </p:nvCxnSpPr>
        <p:spPr>
          <a:xfrm flipH="1" rot="10800000">
            <a:off x="5956602" y="3044053"/>
            <a:ext cx="593700" cy="340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4" name="Google Shape;314;p35"/>
          <p:cNvCxnSpPr>
            <a:stCxn id="304" idx="1"/>
            <a:endCxn id="298" idx="5"/>
          </p:cNvCxnSpPr>
          <p:nvPr/>
        </p:nvCxnSpPr>
        <p:spPr>
          <a:xfrm rot="10800000">
            <a:off x="7140644" y="3044053"/>
            <a:ext cx="524700" cy="340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5" name="Google Shape;315;p35"/>
          <p:cNvCxnSpPr>
            <a:stCxn id="300" idx="2"/>
            <a:endCxn id="299" idx="0"/>
          </p:cNvCxnSpPr>
          <p:nvPr/>
        </p:nvCxnSpPr>
        <p:spPr>
          <a:xfrm flipH="1">
            <a:off x="5759723" y="1407751"/>
            <a:ext cx="807600" cy="2763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6" name="Google Shape;316;p35"/>
          <p:cNvCxnSpPr>
            <a:stCxn id="299" idx="3"/>
            <a:endCxn id="305" idx="0"/>
          </p:cNvCxnSpPr>
          <p:nvPr/>
        </p:nvCxnSpPr>
        <p:spPr>
          <a:xfrm>
            <a:off x="5563098" y="2115333"/>
            <a:ext cx="13500" cy="3822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7" name="Google Shape;317;p35"/>
          <p:cNvCxnSpPr>
            <a:stCxn id="300" idx="3"/>
            <a:endCxn id="305" idx="7"/>
          </p:cNvCxnSpPr>
          <p:nvPr/>
        </p:nvCxnSpPr>
        <p:spPr>
          <a:xfrm flipH="1">
            <a:off x="5773421" y="1586366"/>
            <a:ext cx="875400" cy="9852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8" name="Google Shape;318;p35"/>
          <p:cNvCxnSpPr>
            <a:stCxn id="300" idx="3"/>
            <a:endCxn id="302" idx="0"/>
          </p:cNvCxnSpPr>
          <p:nvPr/>
        </p:nvCxnSpPr>
        <p:spPr>
          <a:xfrm flipH="1">
            <a:off x="5759921" y="1586366"/>
            <a:ext cx="888900" cy="17244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9" name="Google Shape;319;p35"/>
          <p:cNvCxnSpPr>
            <a:stCxn id="305" idx="4"/>
            <a:endCxn id="302" idx="0"/>
          </p:cNvCxnSpPr>
          <p:nvPr/>
        </p:nvCxnSpPr>
        <p:spPr>
          <a:xfrm>
            <a:off x="5576563" y="3002706"/>
            <a:ext cx="183300" cy="3081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0" name="Google Shape;320;p35"/>
          <p:cNvCxnSpPr>
            <a:stCxn id="299" idx="5"/>
            <a:endCxn id="302" idx="7"/>
          </p:cNvCxnSpPr>
          <p:nvPr/>
        </p:nvCxnSpPr>
        <p:spPr>
          <a:xfrm>
            <a:off x="5956602" y="2115333"/>
            <a:ext cx="0" cy="12696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1" name="Google Shape;321;p35"/>
          <p:cNvCxnSpPr>
            <a:stCxn id="306" idx="3"/>
            <a:endCxn id="302" idx="6"/>
          </p:cNvCxnSpPr>
          <p:nvPr/>
        </p:nvCxnSpPr>
        <p:spPr>
          <a:xfrm flipH="1">
            <a:off x="6038010" y="2928721"/>
            <a:ext cx="1879800" cy="6348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2" name="Google Shape;322;p35"/>
          <p:cNvCxnSpPr>
            <a:stCxn id="303" idx="2"/>
            <a:endCxn id="302" idx="5"/>
          </p:cNvCxnSpPr>
          <p:nvPr/>
        </p:nvCxnSpPr>
        <p:spPr>
          <a:xfrm rot="10800000">
            <a:off x="5956486" y="3742201"/>
            <a:ext cx="628200" cy="3741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3" name="Google Shape;323;p35"/>
          <p:cNvCxnSpPr>
            <a:stCxn id="304" idx="3"/>
          </p:cNvCxnSpPr>
          <p:nvPr/>
        </p:nvCxnSpPr>
        <p:spPr>
          <a:xfrm flipH="1">
            <a:off x="7139144" y="3742083"/>
            <a:ext cx="526200" cy="3441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4" name="Google Shape;324;p35"/>
          <p:cNvCxnSpPr>
            <a:stCxn id="306" idx="4"/>
            <a:endCxn id="304" idx="7"/>
          </p:cNvCxnSpPr>
          <p:nvPr/>
        </p:nvCxnSpPr>
        <p:spPr>
          <a:xfrm flipH="1">
            <a:off x="8058763" y="3002706"/>
            <a:ext cx="55800" cy="3822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Ego network data</a:t>
            </a:r>
            <a:endParaRPr/>
          </a:p>
        </p:txBody>
      </p:sp>
      <p:sp>
        <p:nvSpPr>
          <p:cNvPr id="330" name="Google Shape;330;p36"/>
          <p:cNvSpPr txBox="1"/>
          <p:nvPr>
            <p:ph idx="1" type="body"/>
          </p:nvPr>
        </p:nvSpPr>
        <p:spPr>
          <a:xfrm>
            <a:off x="311700" y="1225225"/>
            <a:ext cx="4708200" cy="3475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There are four pieces of information we need to compute the basic ego-network properties: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number of ego-to-alter ties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The same as the number of alters!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31" name="Google Shape;331;p36"/>
          <p:cNvSpPr/>
          <p:nvPr/>
        </p:nvSpPr>
        <p:spPr>
          <a:xfrm>
            <a:off x="6428125" y="2334450"/>
            <a:ext cx="834900" cy="8313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Ego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332" name="Google Shape;332;p36"/>
          <p:cNvSpPr/>
          <p:nvPr/>
        </p:nvSpPr>
        <p:spPr>
          <a:xfrm>
            <a:off x="5481600" y="1684118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a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333" name="Google Shape;333;p36"/>
          <p:cNvSpPr/>
          <p:nvPr/>
        </p:nvSpPr>
        <p:spPr>
          <a:xfrm>
            <a:off x="6567323" y="1155151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b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334" name="Google Shape;334;p36"/>
          <p:cNvSpPr/>
          <p:nvPr/>
        </p:nvSpPr>
        <p:spPr>
          <a:xfrm>
            <a:off x="7583847" y="1684118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c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335" name="Google Shape;335;p36"/>
          <p:cNvSpPr/>
          <p:nvPr/>
        </p:nvSpPr>
        <p:spPr>
          <a:xfrm>
            <a:off x="5481600" y="3310868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g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336" name="Google Shape;336;p36"/>
          <p:cNvSpPr/>
          <p:nvPr/>
        </p:nvSpPr>
        <p:spPr>
          <a:xfrm>
            <a:off x="6584686" y="3863701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f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337" name="Google Shape;337;p36"/>
          <p:cNvSpPr/>
          <p:nvPr/>
        </p:nvSpPr>
        <p:spPr>
          <a:xfrm>
            <a:off x="7583847" y="3310868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338" name="Google Shape;338;p36"/>
          <p:cNvSpPr/>
          <p:nvPr/>
        </p:nvSpPr>
        <p:spPr>
          <a:xfrm>
            <a:off x="5298313" y="2497506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h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339" name="Google Shape;339;p36"/>
          <p:cNvSpPr/>
          <p:nvPr/>
        </p:nvSpPr>
        <p:spPr>
          <a:xfrm>
            <a:off x="7836313" y="2497506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d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cxnSp>
        <p:nvCxnSpPr>
          <p:cNvPr id="340" name="Google Shape;340;p36"/>
          <p:cNvCxnSpPr>
            <a:stCxn id="333" idx="4"/>
            <a:endCxn id="331" idx="0"/>
          </p:cNvCxnSpPr>
          <p:nvPr/>
        </p:nvCxnSpPr>
        <p:spPr>
          <a:xfrm>
            <a:off x="6845573" y="1660351"/>
            <a:ext cx="0" cy="6741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1" name="Google Shape;341;p36"/>
          <p:cNvCxnSpPr>
            <a:stCxn id="336" idx="0"/>
            <a:endCxn id="331" idx="4"/>
          </p:cNvCxnSpPr>
          <p:nvPr/>
        </p:nvCxnSpPr>
        <p:spPr>
          <a:xfrm rot="10800000">
            <a:off x="6845536" y="3165601"/>
            <a:ext cx="17400" cy="6981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2" name="Google Shape;342;p36"/>
          <p:cNvCxnSpPr>
            <a:stCxn id="338" idx="6"/>
            <a:endCxn id="331" idx="2"/>
          </p:cNvCxnSpPr>
          <p:nvPr/>
        </p:nvCxnSpPr>
        <p:spPr>
          <a:xfrm>
            <a:off x="5854813" y="2750106"/>
            <a:ext cx="573300" cy="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3" name="Google Shape;343;p36"/>
          <p:cNvCxnSpPr>
            <a:stCxn id="339" idx="2"/>
            <a:endCxn id="331" idx="6"/>
          </p:cNvCxnSpPr>
          <p:nvPr/>
        </p:nvCxnSpPr>
        <p:spPr>
          <a:xfrm rot="10800000">
            <a:off x="7263013" y="2750106"/>
            <a:ext cx="573300" cy="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4" name="Google Shape;344;p36"/>
          <p:cNvCxnSpPr>
            <a:stCxn id="331" idx="1"/>
            <a:endCxn id="332" idx="5"/>
          </p:cNvCxnSpPr>
          <p:nvPr/>
        </p:nvCxnSpPr>
        <p:spPr>
          <a:xfrm rot="10800000">
            <a:off x="5956693" y="2115391"/>
            <a:ext cx="593700" cy="3408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5" name="Google Shape;345;p36"/>
          <p:cNvCxnSpPr>
            <a:stCxn id="331" idx="7"/>
            <a:endCxn id="334" idx="3"/>
          </p:cNvCxnSpPr>
          <p:nvPr/>
        </p:nvCxnSpPr>
        <p:spPr>
          <a:xfrm flipH="1" rot="10800000">
            <a:off x="7140757" y="2115391"/>
            <a:ext cx="524700" cy="3408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6" name="Google Shape;346;p36"/>
          <p:cNvCxnSpPr>
            <a:stCxn id="335" idx="7"/>
            <a:endCxn id="331" idx="3"/>
          </p:cNvCxnSpPr>
          <p:nvPr/>
        </p:nvCxnSpPr>
        <p:spPr>
          <a:xfrm flipH="1" rot="10800000">
            <a:off x="5956602" y="3044053"/>
            <a:ext cx="593700" cy="3408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7" name="Google Shape;347;p36"/>
          <p:cNvCxnSpPr>
            <a:stCxn id="337" idx="1"/>
            <a:endCxn id="331" idx="5"/>
          </p:cNvCxnSpPr>
          <p:nvPr/>
        </p:nvCxnSpPr>
        <p:spPr>
          <a:xfrm rot="10800000">
            <a:off x="7140644" y="3044053"/>
            <a:ext cx="524700" cy="3408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8" name="Google Shape;348;p36"/>
          <p:cNvCxnSpPr>
            <a:stCxn id="333" idx="2"/>
            <a:endCxn id="332" idx="0"/>
          </p:cNvCxnSpPr>
          <p:nvPr/>
        </p:nvCxnSpPr>
        <p:spPr>
          <a:xfrm flipH="1">
            <a:off x="5759723" y="1407751"/>
            <a:ext cx="807600" cy="2763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9" name="Google Shape;349;p36"/>
          <p:cNvCxnSpPr>
            <a:stCxn id="332" idx="3"/>
            <a:endCxn id="338" idx="0"/>
          </p:cNvCxnSpPr>
          <p:nvPr/>
        </p:nvCxnSpPr>
        <p:spPr>
          <a:xfrm>
            <a:off x="5563098" y="2115333"/>
            <a:ext cx="13500" cy="3822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0" name="Google Shape;350;p36"/>
          <p:cNvCxnSpPr>
            <a:stCxn id="333" idx="3"/>
            <a:endCxn id="338" idx="7"/>
          </p:cNvCxnSpPr>
          <p:nvPr/>
        </p:nvCxnSpPr>
        <p:spPr>
          <a:xfrm flipH="1">
            <a:off x="5773421" y="1586366"/>
            <a:ext cx="875400" cy="9852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1" name="Google Shape;351;p36"/>
          <p:cNvCxnSpPr>
            <a:stCxn id="333" idx="3"/>
            <a:endCxn id="335" idx="0"/>
          </p:cNvCxnSpPr>
          <p:nvPr/>
        </p:nvCxnSpPr>
        <p:spPr>
          <a:xfrm flipH="1">
            <a:off x="5759921" y="1586366"/>
            <a:ext cx="888900" cy="17244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2" name="Google Shape;352;p36"/>
          <p:cNvCxnSpPr>
            <a:stCxn id="338" idx="4"/>
            <a:endCxn id="335" idx="0"/>
          </p:cNvCxnSpPr>
          <p:nvPr/>
        </p:nvCxnSpPr>
        <p:spPr>
          <a:xfrm>
            <a:off x="5576563" y="3002706"/>
            <a:ext cx="183300" cy="3081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3" name="Google Shape;353;p36"/>
          <p:cNvCxnSpPr>
            <a:stCxn id="332" idx="5"/>
            <a:endCxn id="335" idx="7"/>
          </p:cNvCxnSpPr>
          <p:nvPr/>
        </p:nvCxnSpPr>
        <p:spPr>
          <a:xfrm>
            <a:off x="5956602" y="2115333"/>
            <a:ext cx="0" cy="12696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4" name="Google Shape;354;p36"/>
          <p:cNvCxnSpPr>
            <a:stCxn id="339" idx="3"/>
            <a:endCxn id="335" idx="6"/>
          </p:cNvCxnSpPr>
          <p:nvPr/>
        </p:nvCxnSpPr>
        <p:spPr>
          <a:xfrm flipH="1">
            <a:off x="6038010" y="2928721"/>
            <a:ext cx="1879800" cy="6348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5" name="Google Shape;355;p36"/>
          <p:cNvCxnSpPr>
            <a:stCxn id="336" idx="2"/>
            <a:endCxn id="335" idx="5"/>
          </p:cNvCxnSpPr>
          <p:nvPr/>
        </p:nvCxnSpPr>
        <p:spPr>
          <a:xfrm rot="10800000">
            <a:off x="5956486" y="3742201"/>
            <a:ext cx="628200" cy="3741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6" name="Google Shape;356;p36"/>
          <p:cNvCxnSpPr>
            <a:stCxn id="337" idx="3"/>
          </p:cNvCxnSpPr>
          <p:nvPr/>
        </p:nvCxnSpPr>
        <p:spPr>
          <a:xfrm flipH="1">
            <a:off x="7139144" y="3742083"/>
            <a:ext cx="526200" cy="3441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7" name="Google Shape;357;p36"/>
          <p:cNvCxnSpPr>
            <a:stCxn id="339" idx="4"/>
            <a:endCxn id="337" idx="7"/>
          </p:cNvCxnSpPr>
          <p:nvPr/>
        </p:nvCxnSpPr>
        <p:spPr>
          <a:xfrm flipH="1">
            <a:off x="8058763" y="3002706"/>
            <a:ext cx="55800" cy="3822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3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Ego network data</a:t>
            </a:r>
            <a:endParaRPr/>
          </a:p>
        </p:txBody>
      </p:sp>
      <p:sp>
        <p:nvSpPr>
          <p:cNvPr id="363" name="Google Shape;363;p37"/>
          <p:cNvSpPr txBox="1"/>
          <p:nvPr>
            <p:ph idx="1" type="body"/>
          </p:nvPr>
        </p:nvSpPr>
        <p:spPr>
          <a:xfrm>
            <a:off x="311700" y="1225225"/>
            <a:ext cx="4708200" cy="3475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There are four pieces of information we need to compute the basic ego-network properties: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number of ego-to-alter ties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The same as the number of alters!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number of alter-to-alter ties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64" name="Google Shape;364;p37"/>
          <p:cNvSpPr/>
          <p:nvPr/>
        </p:nvSpPr>
        <p:spPr>
          <a:xfrm>
            <a:off x="6428125" y="2334450"/>
            <a:ext cx="834900" cy="8313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Ego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365" name="Google Shape;365;p37"/>
          <p:cNvSpPr/>
          <p:nvPr/>
        </p:nvSpPr>
        <p:spPr>
          <a:xfrm>
            <a:off x="5481600" y="1684118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a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366" name="Google Shape;366;p37"/>
          <p:cNvSpPr/>
          <p:nvPr/>
        </p:nvSpPr>
        <p:spPr>
          <a:xfrm>
            <a:off x="6567323" y="1155151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b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367" name="Google Shape;367;p37"/>
          <p:cNvSpPr/>
          <p:nvPr/>
        </p:nvSpPr>
        <p:spPr>
          <a:xfrm>
            <a:off x="7583847" y="1684118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c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368" name="Google Shape;368;p37"/>
          <p:cNvSpPr/>
          <p:nvPr/>
        </p:nvSpPr>
        <p:spPr>
          <a:xfrm>
            <a:off x="5481600" y="3310868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g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369" name="Google Shape;369;p37"/>
          <p:cNvSpPr/>
          <p:nvPr/>
        </p:nvSpPr>
        <p:spPr>
          <a:xfrm>
            <a:off x="6584686" y="3863701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f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370" name="Google Shape;370;p37"/>
          <p:cNvSpPr/>
          <p:nvPr/>
        </p:nvSpPr>
        <p:spPr>
          <a:xfrm>
            <a:off x="7583847" y="3310868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371" name="Google Shape;371;p37"/>
          <p:cNvSpPr/>
          <p:nvPr/>
        </p:nvSpPr>
        <p:spPr>
          <a:xfrm>
            <a:off x="5298313" y="2497506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h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372" name="Google Shape;372;p37"/>
          <p:cNvSpPr/>
          <p:nvPr/>
        </p:nvSpPr>
        <p:spPr>
          <a:xfrm>
            <a:off x="7836313" y="2497506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d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cxnSp>
        <p:nvCxnSpPr>
          <p:cNvPr id="373" name="Google Shape;373;p37"/>
          <p:cNvCxnSpPr>
            <a:stCxn id="366" idx="4"/>
            <a:endCxn id="364" idx="0"/>
          </p:cNvCxnSpPr>
          <p:nvPr/>
        </p:nvCxnSpPr>
        <p:spPr>
          <a:xfrm>
            <a:off x="6845573" y="1660351"/>
            <a:ext cx="0" cy="6741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4" name="Google Shape;374;p37"/>
          <p:cNvCxnSpPr>
            <a:stCxn id="369" idx="0"/>
            <a:endCxn id="364" idx="4"/>
          </p:cNvCxnSpPr>
          <p:nvPr/>
        </p:nvCxnSpPr>
        <p:spPr>
          <a:xfrm rot="10800000">
            <a:off x="6845536" y="3165601"/>
            <a:ext cx="17400" cy="6981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5" name="Google Shape;375;p37"/>
          <p:cNvCxnSpPr>
            <a:stCxn id="371" idx="6"/>
            <a:endCxn id="364" idx="2"/>
          </p:cNvCxnSpPr>
          <p:nvPr/>
        </p:nvCxnSpPr>
        <p:spPr>
          <a:xfrm>
            <a:off x="5854813" y="2750106"/>
            <a:ext cx="5733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6" name="Google Shape;376;p37"/>
          <p:cNvCxnSpPr>
            <a:stCxn id="372" idx="2"/>
            <a:endCxn id="364" idx="6"/>
          </p:cNvCxnSpPr>
          <p:nvPr/>
        </p:nvCxnSpPr>
        <p:spPr>
          <a:xfrm rot="10800000">
            <a:off x="7263013" y="2750106"/>
            <a:ext cx="5733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7" name="Google Shape;377;p37"/>
          <p:cNvCxnSpPr>
            <a:stCxn id="364" idx="1"/>
            <a:endCxn id="365" idx="5"/>
          </p:cNvCxnSpPr>
          <p:nvPr/>
        </p:nvCxnSpPr>
        <p:spPr>
          <a:xfrm rot="10800000">
            <a:off x="5956693" y="2115391"/>
            <a:ext cx="593700" cy="340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8" name="Google Shape;378;p37"/>
          <p:cNvCxnSpPr>
            <a:stCxn id="364" idx="7"/>
            <a:endCxn id="367" idx="3"/>
          </p:cNvCxnSpPr>
          <p:nvPr/>
        </p:nvCxnSpPr>
        <p:spPr>
          <a:xfrm flipH="1" rot="10800000">
            <a:off x="7140757" y="2115391"/>
            <a:ext cx="524700" cy="340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9" name="Google Shape;379;p37"/>
          <p:cNvCxnSpPr>
            <a:stCxn id="368" idx="7"/>
            <a:endCxn id="364" idx="3"/>
          </p:cNvCxnSpPr>
          <p:nvPr/>
        </p:nvCxnSpPr>
        <p:spPr>
          <a:xfrm flipH="1" rot="10800000">
            <a:off x="5956602" y="3044053"/>
            <a:ext cx="593700" cy="340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0" name="Google Shape;380;p37"/>
          <p:cNvCxnSpPr>
            <a:stCxn id="370" idx="1"/>
            <a:endCxn id="364" idx="5"/>
          </p:cNvCxnSpPr>
          <p:nvPr/>
        </p:nvCxnSpPr>
        <p:spPr>
          <a:xfrm rot="10800000">
            <a:off x="7140644" y="3044053"/>
            <a:ext cx="524700" cy="340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1" name="Google Shape;381;p37"/>
          <p:cNvCxnSpPr>
            <a:stCxn id="366" idx="2"/>
            <a:endCxn id="365" idx="0"/>
          </p:cNvCxnSpPr>
          <p:nvPr/>
        </p:nvCxnSpPr>
        <p:spPr>
          <a:xfrm flipH="1">
            <a:off x="5759723" y="1407751"/>
            <a:ext cx="807600" cy="2763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2" name="Google Shape;382;p37"/>
          <p:cNvCxnSpPr>
            <a:stCxn id="365" idx="3"/>
            <a:endCxn id="371" idx="0"/>
          </p:cNvCxnSpPr>
          <p:nvPr/>
        </p:nvCxnSpPr>
        <p:spPr>
          <a:xfrm>
            <a:off x="5563098" y="2115333"/>
            <a:ext cx="13500" cy="3822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3" name="Google Shape;383;p37"/>
          <p:cNvCxnSpPr>
            <a:stCxn id="366" idx="3"/>
            <a:endCxn id="371" idx="7"/>
          </p:cNvCxnSpPr>
          <p:nvPr/>
        </p:nvCxnSpPr>
        <p:spPr>
          <a:xfrm flipH="1">
            <a:off x="5773421" y="1586366"/>
            <a:ext cx="875400" cy="9852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4" name="Google Shape;384;p37"/>
          <p:cNvCxnSpPr>
            <a:stCxn id="366" idx="3"/>
            <a:endCxn id="368" idx="0"/>
          </p:cNvCxnSpPr>
          <p:nvPr/>
        </p:nvCxnSpPr>
        <p:spPr>
          <a:xfrm flipH="1">
            <a:off x="5759921" y="1586366"/>
            <a:ext cx="888900" cy="17244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5" name="Google Shape;385;p37"/>
          <p:cNvCxnSpPr>
            <a:stCxn id="371" idx="4"/>
            <a:endCxn id="368" idx="0"/>
          </p:cNvCxnSpPr>
          <p:nvPr/>
        </p:nvCxnSpPr>
        <p:spPr>
          <a:xfrm>
            <a:off x="5576563" y="3002706"/>
            <a:ext cx="183300" cy="3081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6" name="Google Shape;386;p37"/>
          <p:cNvCxnSpPr>
            <a:stCxn id="365" idx="5"/>
            <a:endCxn id="368" idx="7"/>
          </p:cNvCxnSpPr>
          <p:nvPr/>
        </p:nvCxnSpPr>
        <p:spPr>
          <a:xfrm>
            <a:off x="5956602" y="2115333"/>
            <a:ext cx="0" cy="12696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7" name="Google Shape;387;p37"/>
          <p:cNvCxnSpPr>
            <a:stCxn id="372" idx="3"/>
            <a:endCxn id="368" idx="6"/>
          </p:cNvCxnSpPr>
          <p:nvPr/>
        </p:nvCxnSpPr>
        <p:spPr>
          <a:xfrm flipH="1">
            <a:off x="6038010" y="2928721"/>
            <a:ext cx="1879800" cy="6348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8" name="Google Shape;388;p37"/>
          <p:cNvCxnSpPr>
            <a:stCxn id="369" idx="2"/>
            <a:endCxn id="368" idx="5"/>
          </p:cNvCxnSpPr>
          <p:nvPr/>
        </p:nvCxnSpPr>
        <p:spPr>
          <a:xfrm rot="10800000">
            <a:off x="5956486" y="3742201"/>
            <a:ext cx="628200" cy="3741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9" name="Google Shape;389;p37"/>
          <p:cNvCxnSpPr>
            <a:stCxn id="370" idx="3"/>
          </p:cNvCxnSpPr>
          <p:nvPr/>
        </p:nvCxnSpPr>
        <p:spPr>
          <a:xfrm flipH="1">
            <a:off x="7139144" y="3742083"/>
            <a:ext cx="526200" cy="3441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0" name="Google Shape;390;p37"/>
          <p:cNvCxnSpPr>
            <a:stCxn id="372" idx="4"/>
            <a:endCxn id="370" idx="7"/>
          </p:cNvCxnSpPr>
          <p:nvPr/>
        </p:nvCxnSpPr>
        <p:spPr>
          <a:xfrm flipH="1">
            <a:off x="8058763" y="3002706"/>
            <a:ext cx="55800" cy="3822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3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Ego network data</a:t>
            </a:r>
            <a:endParaRPr/>
          </a:p>
        </p:txBody>
      </p:sp>
      <p:sp>
        <p:nvSpPr>
          <p:cNvPr id="396" name="Google Shape;396;p38"/>
          <p:cNvSpPr txBox="1"/>
          <p:nvPr>
            <p:ph idx="1" type="body"/>
          </p:nvPr>
        </p:nvSpPr>
        <p:spPr>
          <a:xfrm>
            <a:off x="311700" y="1225225"/>
            <a:ext cx="4708200" cy="3475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There are four pieces of information we need to compute the basic ego-network properties: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number of ego-to-alter ties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The same as the number of alters!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number of alter-to-alter ties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Sociodemographic characteristics of ego: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Age, gender, racial identity, class, education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97" name="Google Shape;397;p38"/>
          <p:cNvSpPr/>
          <p:nvPr/>
        </p:nvSpPr>
        <p:spPr>
          <a:xfrm>
            <a:off x="6428125" y="2334450"/>
            <a:ext cx="834900" cy="831300"/>
          </a:xfrm>
          <a:prstGeom prst="ellipse">
            <a:avLst/>
          </a:prstGeom>
          <a:solidFill>
            <a:schemeClr val="accent5"/>
          </a:solidFill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Ego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398" name="Google Shape;398;p38"/>
          <p:cNvSpPr/>
          <p:nvPr/>
        </p:nvSpPr>
        <p:spPr>
          <a:xfrm>
            <a:off x="5481600" y="1684118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a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399" name="Google Shape;399;p38"/>
          <p:cNvSpPr/>
          <p:nvPr/>
        </p:nvSpPr>
        <p:spPr>
          <a:xfrm>
            <a:off x="6567323" y="1155151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b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400" name="Google Shape;400;p38"/>
          <p:cNvSpPr/>
          <p:nvPr/>
        </p:nvSpPr>
        <p:spPr>
          <a:xfrm>
            <a:off x="7583847" y="1684118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c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401" name="Google Shape;401;p38"/>
          <p:cNvSpPr/>
          <p:nvPr/>
        </p:nvSpPr>
        <p:spPr>
          <a:xfrm>
            <a:off x="5481600" y="3310868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g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402" name="Google Shape;402;p38"/>
          <p:cNvSpPr/>
          <p:nvPr/>
        </p:nvSpPr>
        <p:spPr>
          <a:xfrm>
            <a:off x="6584686" y="3863701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f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403" name="Google Shape;403;p38"/>
          <p:cNvSpPr/>
          <p:nvPr/>
        </p:nvSpPr>
        <p:spPr>
          <a:xfrm>
            <a:off x="7583847" y="3310868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404" name="Google Shape;404;p38"/>
          <p:cNvSpPr/>
          <p:nvPr/>
        </p:nvSpPr>
        <p:spPr>
          <a:xfrm>
            <a:off x="5298313" y="2497506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h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405" name="Google Shape;405;p38"/>
          <p:cNvSpPr/>
          <p:nvPr/>
        </p:nvSpPr>
        <p:spPr>
          <a:xfrm>
            <a:off x="7836313" y="2497506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d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cxnSp>
        <p:nvCxnSpPr>
          <p:cNvPr id="406" name="Google Shape;406;p38"/>
          <p:cNvCxnSpPr>
            <a:stCxn id="399" idx="4"/>
            <a:endCxn id="397" idx="0"/>
          </p:cNvCxnSpPr>
          <p:nvPr/>
        </p:nvCxnSpPr>
        <p:spPr>
          <a:xfrm>
            <a:off x="6845573" y="1660351"/>
            <a:ext cx="0" cy="6741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7" name="Google Shape;407;p38"/>
          <p:cNvCxnSpPr>
            <a:stCxn id="402" idx="0"/>
            <a:endCxn id="397" idx="4"/>
          </p:cNvCxnSpPr>
          <p:nvPr/>
        </p:nvCxnSpPr>
        <p:spPr>
          <a:xfrm rot="10800000">
            <a:off x="6845536" y="3165601"/>
            <a:ext cx="17400" cy="6981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8" name="Google Shape;408;p38"/>
          <p:cNvCxnSpPr>
            <a:stCxn id="404" idx="6"/>
            <a:endCxn id="397" idx="2"/>
          </p:cNvCxnSpPr>
          <p:nvPr/>
        </p:nvCxnSpPr>
        <p:spPr>
          <a:xfrm>
            <a:off x="5854813" y="2750106"/>
            <a:ext cx="5733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9" name="Google Shape;409;p38"/>
          <p:cNvCxnSpPr>
            <a:stCxn id="405" idx="2"/>
            <a:endCxn id="397" idx="6"/>
          </p:cNvCxnSpPr>
          <p:nvPr/>
        </p:nvCxnSpPr>
        <p:spPr>
          <a:xfrm rot="10800000">
            <a:off x="7263013" y="2750106"/>
            <a:ext cx="5733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0" name="Google Shape;410;p38"/>
          <p:cNvCxnSpPr>
            <a:stCxn id="397" idx="1"/>
            <a:endCxn id="398" idx="5"/>
          </p:cNvCxnSpPr>
          <p:nvPr/>
        </p:nvCxnSpPr>
        <p:spPr>
          <a:xfrm rot="10800000">
            <a:off x="5956693" y="2115391"/>
            <a:ext cx="593700" cy="340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1" name="Google Shape;411;p38"/>
          <p:cNvCxnSpPr>
            <a:stCxn id="397" idx="7"/>
            <a:endCxn id="400" idx="3"/>
          </p:cNvCxnSpPr>
          <p:nvPr/>
        </p:nvCxnSpPr>
        <p:spPr>
          <a:xfrm flipH="1" rot="10800000">
            <a:off x="7140757" y="2115391"/>
            <a:ext cx="524700" cy="340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2" name="Google Shape;412;p38"/>
          <p:cNvCxnSpPr>
            <a:stCxn id="401" idx="7"/>
            <a:endCxn id="397" idx="3"/>
          </p:cNvCxnSpPr>
          <p:nvPr/>
        </p:nvCxnSpPr>
        <p:spPr>
          <a:xfrm flipH="1" rot="10800000">
            <a:off x="5956602" y="3044053"/>
            <a:ext cx="593700" cy="340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3" name="Google Shape;413;p38"/>
          <p:cNvCxnSpPr>
            <a:stCxn id="403" idx="1"/>
            <a:endCxn id="397" idx="5"/>
          </p:cNvCxnSpPr>
          <p:nvPr/>
        </p:nvCxnSpPr>
        <p:spPr>
          <a:xfrm rot="10800000">
            <a:off x="7140644" y="3044053"/>
            <a:ext cx="524700" cy="340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4" name="Google Shape;414;p38"/>
          <p:cNvCxnSpPr>
            <a:stCxn id="399" idx="2"/>
            <a:endCxn id="398" idx="0"/>
          </p:cNvCxnSpPr>
          <p:nvPr/>
        </p:nvCxnSpPr>
        <p:spPr>
          <a:xfrm flipH="1">
            <a:off x="5759723" y="1407751"/>
            <a:ext cx="807600" cy="2763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5" name="Google Shape;415;p38"/>
          <p:cNvCxnSpPr>
            <a:stCxn id="398" idx="3"/>
            <a:endCxn id="404" idx="0"/>
          </p:cNvCxnSpPr>
          <p:nvPr/>
        </p:nvCxnSpPr>
        <p:spPr>
          <a:xfrm>
            <a:off x="5563098" y="2115333"/>
            <a:ext cx="13500" cy="3822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6" name="Google Shape;416;p38"/>
          <p:cNvCxnSpPr>
            <a:stCxn id="399" idx="3"/>
            <a:endCxn id="404" idx="7"/>
          </p:cNvCxnSpPr>
          <p:nvPr/>
        </p:nvCxnSpPr>
        <p:spPr>
          <a:xfrm flipH="1">
            <a:off x="5773421" y="1586366"/>
            <a:ext cx="875400" cy="9852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7" name="Google Shape;417;p38"/>
          <p:cNvCxnSpPr>
            <a:stCxn id="399" idx="3"/>
            <a:endCxn id="401" idx="0"/>
          </p:cNvCxnSpPr>
          <p:nvPr/>
        </p:nvCxnSpPr>
        <p:spPr>
          <a:xfrm flipH="1">
            <a:off x="5759921" y="1586366"/>
            <a:ext cx="888900" cy="17244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8" name="Google Shape;418;p38"/>
          <p:cNvCxnSpPr>
            <a:stCxn id="404" idx="4"/>
            <a:endCxn id="401" idx="0"/>
          </p:cNvCxnSpPr>
          <p:nvPr/>
        </p:nvCxnSpPr>
        <p:spPr>
          <a:xfrm>
            <a:off x="5576563" y="3002706"/>
            <a:ext cx="183300" cy="3081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9" name="Google Shape;419;p38"/>
          <p:cNvCxnSpPr>
            <a:stCxn id="398" idx="5"/>
            <a:endCxn id="401" idx="7"/>
          </p:cNvCxnSpPr>
          <p:nvPr/>
        </p:nvCxnSpPr>
        <p:spPr>
          <a:xfrm>
            <a:off x="5956602" y="2115333"/>
            <a:ext cx="0" cy="12696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0" name="Google Shape;420;p38"/>
          <p:cNvCxnSpPr>
            <a:stCxn id="405" idx="3"/>
            <a:endCxn id="401" idx="6"/>
          </p:cNvCxnSpPr>
          <p:nvPr/>
        </p:nvCxnSpPr>
        <p:spPr>
          <a:xfrm flipH="1">
            <a:off x="6038010" y="2928721"/>
            <a:ext cx="1879800" cy="6348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1" name="Google Shape;421;p38"/>
          <p:cNvCxnSpPr>
            <a:stCxn id="402" idx="2"/>
            <a:endCxn id="401" idx="5"/>
          </p:cNvCxnSpPr>
          <p:nvPr/>
        </p:nvCxnSpPr>
        <p:spPr>
          <a:xfrm rot="10800000">
            <a:off x="5956486" y="3742201"/>
            <a:ext cx="628200" cy="3741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2" name="Google Shape;422;p38"/>
          <p:cNvCxnSpPr>
            <a:stCxn id="403" idx="3"/>
          </p:cNvCxnSpPr>
          <p:nvPr/>
        </p:nvCxnSpPr>
        <p:spPr>
          <a:xfrm flipH="1">
            <a:off x="7139144" y="3742083"/>
            <a:ext cx="526200" cy="3441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3" name="Google Shape;423;p38"/>
          <p:cNvCxnSpPr>
            <a:stCxn id="405" idx="4"/>
            <a:endCxn id="403" idx="7"/>
          </p:cNvCxnSpPr>
          <p:nvPr/>
        </p:nvCxnSpPr>
        <p:spPr>
          <a:xfrm flipH="1">
            <a:off x="8058763" y="3002706"/>
            <a:ext cx="55800" cy="3822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3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Ego network data</a:t>
            </a:r>
            <a:endParaRPr/>
          </a:p>
        </p:txBody>
      </p:sp>
      <p:sp>
        <p:nvSpPr>
          <p:cNvPr id="429" name="Google Shape;429;p39"/>
          <p:cNvSpPr txBox="1"/>
          <p:nvPr>
            <p:ph idx="1" type="body"/>
          </p:nvPr>
        </p:nvSpPr>
        <p:spPr>
          <a:xfrm>
            <a:off x="311700" y="1225225"/>
            <a:ext cx="4708200" cy="3475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There are four pieces of information we need to compute the basic ego-network properties: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number of ego-to-alter ties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The same as the number of alters!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number of alter-to-alter ties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Sociodemographic characteristics of ego: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Age, gender, racial identity, class, education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Sociodemographic characteristics of alters: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Age, gender, racial identity, class, education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430" name="Google Shape;430;p39"/>
          <p:cNvSpPr/>
          <p:nvPr/>
        </p:nvSpPr>
        <p:spPr>
          <a:xfrm>
            <a:off x="6428125" y="2334450"/>
            <a:ext cx="834900" cy="8313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Ego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431" name="Google Shape;431;p39"/>
          <p:cNvSpPr/>
          <p:nvPr/>
        </p:nvSpPr>
        <p:spPr>
          <a:xfrm>
            <a:off x="5481600" y="1684118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a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432" name="Google Shape;432;p39"/>
          <p:cNvSpPr/>
          <p:nvPr/>
        </p:nvSpPr>
        <p:spPr>
          <a:xfrm>
            <a:off x="6567323" y="1155151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b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433" name="Google Shape;433;p39"/>
          <p:cNvSpPr/>
          <p:nvPr/>
        </p:nvSpPr>
        <p:spPr>
          <a:xfrm>
            <a:off x="7583847" y="1684118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c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434" name="Google Shape;434;p39"/>
          <p:cNvSpPr/>
          <p:nvPr/>
        </p:nvSpPr>
        <p:spPr>
          <a:xfrm>
            <a:off x="5481600" y="3310868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g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435" name="Google Shape;435;p39"/>
          <p:cNvSpPr/>
          <p:nvPr/>
        </p:nvSpPr>
        <p:spPr>
          <a:xfrm>
            <a:off x="6584686" y="3863701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f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436" name="Google Shape;436;p39"/>
          <p:cNvSpPr/>
          <p:nvPr/>
        </p:nvSpPr>
        <p:spPr>
          <a:xfrm>
            <a:off x="7583847" y="3310868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437" name="Google Shape;437;p39"/>
          <p:cNvSpPr/>
          <p:nvPr/>
        </p:nvSpPr>
        <p:spPr>
          <a:xfrm>
            <a:off x="5298313" y="2497506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h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438" name="Google Shape;438;p39"/>
          <p:cNvSpPr/>
          <p:nvPr/>
        </p:nvSpPr>
        <p:spPr>
          <a:xfrm>
            <a:off x="7836313" y="2497506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d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cxnSp>
        <p:nvCxnSpPr>
          <p:cNvPr id="439" name="Google Shape;439;p39"/>
          <p:cNvCxnSpPr>
            <a:stCxn id="432" idx="4"/>
            <a:endCxn id="430" idx="0"/>
          </p:cNvCxnSpPr>
          <p:nvPr/>
        </p:nvCxnSpPr>
        <p:spPr>
          <a:xfrm>
            <a:off x="6845573" y="1660351"/>
            <a:ext cx="0" cy="6741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0" name="Google Shape;440;p39"/>
          <p:cNvCxnSpPr>
            <a:stCxn id="435" idx="0"/>
            <a:endCxn id="430" idx="4"/>
          </p:cNvCxnSpPr>
          <p:nvPr/>
        </p:nvCxnSpPr>
        <p:spPr>
          <a:xfrm rot="10800000">
            <a:off x="6845536" y="3165601"/>
            <a:ext cx="17400" cy="6981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1" name="Google Shape;441;p39"/>
          <p:cNvCxnSpPr>
            <a:stCxn id="437" idx="6"/>
            <a:endCxn id="430" idx="2"/>
          </p:cNvCxnSpPr>
          <p:nvPr/>
        </p:nvCxnSpPr>
        <p:spPr>
          <a:xfrm>
            <a:off x="5854813" y="2750106"/>
            <a:ext cx="5733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2" name="Google Shape;442;p39"/>
          <p:cNvCxnSpPr>
            <a:stCxn id="438" idx="2"/>
            <a:endCxn id="430" idx="6"/>
          </p:cNvCxnSpPr>
          <p:nvPr/>
        </p:nvCxnSpPr>
        <p:spPr>
          <a:xfrm rot="10800000">
            <a:off x="7263013" y="2750106"/>
            <a:ext cx="5733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3" name="Google Shape;443;p39"/>
          <p:cNvCxnSpPr>
            <a:stCxn id="430" idx="1"/>
            <a:endCxn id="431" idx="5"/>
          </p:cNvCxnSpPr>
          <p:nvPr/>
        </p:nvCxnSpPr>
        <p:spPr>
          <a:xfrm rot="10800000">
            <a:off x="5956693" y="2115391"/>
            <a:ext cx="593700" cy="340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4" name="Google Shape;444;p39"/>
          <p:cNvCxnSpPr>
            <a:stCxn id="430" idx="7"/>
            <a:endCxn id="433" idx="3"/>
          </p:cNvCxnSpPr>
          <p:nvPr/>
        </p:nvCxnSpPr>
        <p:spPr>
          <a:xfrm flipH="1" rot="10800000">
            <a:off x="7140757" y="2115391"/>
            <a:ext cx="524700" cy="340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5" name="Google Shape;445;p39"/>
          <p:cNvCxnSpPr>
            <a:stCxn id="434" idx="7"/>
            <a:endCxn id="430" idx="3"/>
          </p:cNvCxnSpPr>
          <p:nvPr/>
        </p:nvCxnSpPr>
        <p:spPr>
          <a:xfrm flipH="1" rot="10800000">
            <a:off x="5956602" y="3044053"/>
            <a:ext cx="593700" cy="340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6" name="Google Shape;446;p39"/>
          <p:cNvCxnSpPr>
            <a:stCxn id="436" idx="1"/>
            <a:endCxn id="430" idx="5"/>
          </p:cNvCxnSpPr>
          <p:nvPr/>
        </p:nvCxnSpPr>
        <p:spPr>
          <a:xfrm rot="10800000">
            <a:off x="7140644" y="3044053"/>
            <a:ext cx="524700" cy="340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7" name="Google Shape;447;p39"/>
          <p:cNvCxnSpPr>
            <a:stCxn id="432" idx="2"/>
            <a:endCxn id="431" idx="0"/>
          </p:cNvCxnSpPr>
          <p:nvPr/>
        </p:nvCxnSpPr>
        <p:spPr>
          <a:xfrm flipH="1">
            <a:off x="5759723" y="1407751"/>
            <a:ext cx="807600" cy="2763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8" name="Google Shape;448;p39"/>
          <p:cNvCxnSpPr>
            <a:stCxn id="431" idx="3"/>
            <a:endCxn id="437" idx="0"/>
          </p:cNvCxnSpPr>
          <p:nvPr/>
        </p:nvCxnSpPr>
        <p:spPr>
          <a:xfrm>
            <a:off x="5563098" y="2115333"/>
            <a:ext cx="13500" cy="3822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9" name="Google Shape;449;p39"/>
          <p:cNvCxnSpPr>
            <a:stCxn id="432" idx="3"/>
            <a:endCxn id="437" idx="7"/>
          </p:cNvCxnSpPr>
          <p:nvPr/>
        </p:nvCxnSpPr>
        <p:spPr>
          <a:xfrm flipH="1">
            <a:off x="5773421" y="1586366"/>
            <a:ext cx="875400" cy="9852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0" name="Google Shape;450;p39"/>
          <p:cNvCxnSpPr>
            <a:stCxn id="432" idx="3"/>
            <a:endCxn id="434" idx="0"/>
          </p:cNvCxnSpPr>
          <p:nvPr/>
        </p:nvCxnSpPr>
        <p:spPr>
          <a:xfrm flipH="1">
            <a:off x="5759921" y="1586366"/>
            <a:ext cx="888900" cy="17244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1" name="Google Shape;451;p39"/>
          <p:cNvCxnSpPr>
            <a:stCxn id="437" idx="4"/>
            <a:endCxn id="434" idx="0"/>
          </p:cNvCxnSpPr>
          <p:nvPr/>
        </p:nvCxnSpPr>
        <p:spPr>
          <a:xfrm>
            <a:off x="5576563" y="3002706"/>
            <a:ext cx="183300" cy="3081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2" name="Google Shape;452;p39"/>
          <p:cNvCxnSpPr>
            <a:stCxn id="431" idx="5"/>
            <a:endCxn id="434" idx="7"/>
          </p:cNvCxnSpPr>
          <p:nvPr/>
        </p:nvCxnSpPr>
        <p:spPr>
          <a:xfrm>
            <a:off x="5956602" y="2115333"/>
            <a:ext cx="0" cy="12696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3" name="Google Shape;453;p39"/>
          <p:cNvCxnSpPr>
            <a:stCxn id="438" idx="3"/>
            <a:endCxn id="434" idx="6"/>
          </p:cNvCxnSpPr>
          <p:nvPr/>
        </p:nvCxnSpPr>
        <p:spPr>
          <a:xfrm flipH="1">
            <a:off x="6038010" y="2928721"/>
            <a:ext cx="1879800" cy="6348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4" name="Google Shape;454;p39"/>
          <p:cNvCxnSpPr>
            <a:stCxn id="435" idx="2"/>
            <a:endCxn id="434" idx="5"/>
          </p:cNvCxnSpPr>
          <p:nvPr/>
        </p:nvCxnSpPr>
        <p:spPr>
          <a:xfrm rot="10800000">
            <a:off x="5956486" y="3742201"/>
            <a:ext cx="628200" cy="3741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5" name="Google Shape;455;p39"/>
          <p:cNvCxnSpPr>
            <a:stCxn id="436" idx="3"/>
          </p:cNvCxnSpPr>
          <p:nvPr/>
        </p:nvCxnSpPr>
        <p:spPr>
          <a:xfrm flipH="1">
            <a:off x="7139144" y="3742083"/>
            <a:ext cx="526200" cy="3441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6" name="Google Shape;456;p39"/>
          <p:cNvCxnSpPr>
            <a:stCxn id="438" idx="4"/>
            <a:endCxn id="436" idx="7"/>
          </p:cNvCxnSpPr>
          <p:nvPr/>
        </p:nvCxnSpPr>
        <p:spPr>
          <a:xfrm flipH="1">
            <a:off x="8058763" y="3002706"/>
            <a:ext cx="55800" cy="3822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4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Ego network properties</a:t>
            </a:r>
            <a:endParaRPr/>
          </a:p>
        </p:txBody>
      </p:sp>
      <p:sp>
        <p:nvSpPr>
          <p:cNvPr id="462" name="Google Shape;462;p40"/>
          <p:cNvSpPr txBox="1"/>
          <p:nvPr>
            <p:ph idx="1" type="body"/>
          </p:nvPr>
        </p:nvSpPr>
        <p:spPr>
          <a:xfrm>
            <a:off x="311700" y="1225225"/>
            <a:ext cx="4161000" cy="3475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Size</a:t>
            </a:r>
            <a:r>
              <a:rPr lang="en"/>
              <a:t> 	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Number of ego-alter ties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 sz="1800"/>
              <a:t>Composition</a:t>
            </a:r>
            <a:r>
              <a:rPr lang="en" sz="1800"/>
              <a:t> </a:t>
            </a:r>
            <a:endParaRPr sz="18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Proportion of certain types of alters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Diversity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Variation in alter attributes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Homophily/Heterophily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Ties to alter same/different from ego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Clustering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Density of alter-alter network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463" name="Google Shape;463;p40"/>
          <p:cNvSpPr/>
          <p:nvPr/>
        </p:nvSpPr>
        <p:spPr>
          <a:xfrm>
            <a:off x="6428125" y="2334450"/>
            <a:ext cx="834900" cy="8313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Ego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464" name="Google Shape;464;p40"/>
          <p:cNvSpPr/>
          <p:nvPr/>
        </p:nvSpPr>
        <p:spPr>
          <a:xfrm>
            <a:off x="5481600" y="1684118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a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465" name="Google Shape;465;p40"/>
          <p:cNvSpPr/>
          <p:nvPr/>
        </p:nvSpPr>
        <p:spPr>
          <a:xfrm>
            <a:off x="6567323" y="1155151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b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466" name="Google Shape;466;p40"/>
          <p:cNvSpPr/>
          <p:nvPr/>
        </p:nvSpPr>
        <p:spPr>
          <a:xfrm>
            <a:off x="7583847" y="1684118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c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467" name="Google Shape;467;p40"/>
          <p:cNvSpPr/>
          <p:nvPr/>
        </p:nvSpPr>
        <p:spPr>
          <a:xfrm>
            <a:off x="5481600" y="3310868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g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468" name="Google Shape;468;p40"/>
          <p:cNvSpPr/>
          <p:nvPr/>
        </p:nvSpPr>
        <p:spPr>
          <a:xfrm>
            <a:off x="6584686" y="3863701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f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469" name="Google Shape;469;p40"/>
          <p:cNvSpPr/>
          <p:nvPr/>
        </p:nvSpPr>
        <p:spPr>
          <a:xfrm>
            <a:off x="7583847" y="3310868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470" name="Google Shape;470;p40"/>
          <p:cNvSpPr/>
          <p:nvPr/>
        </p:nvSpPr>
        <p:spPr>
          <a:xfrm>
            <a:off x="5298313" y="2497506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h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471" name="Google Shape;471;p40"/>
          <p:cNvSpPr/>
          <p:nvPr/>
        </p:nvSpPr>
        <p:spPr>
          <a:xfrm>
            <a:off x="7836313" y="2497506"/>
            <a:ext cx="556500" cy="5052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d</a:t>
            </a:r>
            <a:endParaRPr b="1" sz="24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cxnSp>
        <p:nvCxnSpPr>
          <p:cNvPr id="472" name="Google Shape;472;p40"/>
          <p:cNvCxnSpPr>
            <a:stCxn id="465" idx="4"/>
            <a:endCxn id="463" idx="0"/>
          </p:cNvCxnSpPr>
          <p:nvPr/>
        </p:nvCxnSpPr>
        <p:spPr>
          <a:xfrm>
            <a:off x="6845573" y="1660351"/>
            <a:ext cx="0" cy="6741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3" name="Google Shape;473;p40"/>
          <p:cNvCxnSpPr>
            <a:stCxn id="468" idx="0"/>
            <a:endCxn id="463" idx="4"/>
          </p:cNvCxnSpPr>
          <p:nvPr/>
        </p:nvCxnSpPr>
        <p:spPr>
          <a:xfrm rot="10800000">
            <a:off x="6845536" y="3165601"/>
            <a:ext cx="17400" cy="6981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4" name="Google Shape;474;p40"/>
          <p:cNvCxnSpPr>
            <a:stCxn id="470" idx="6"/>
            <a:endCxn id="463" idx="2"/>
          </p:cNvCxnSpPr>
          <p:nvPr/>
        </p:nvCxnSpPr>
        <p:spPr>
          <a:xfrm>
            <a:off x="5854813" y="2750106"/>
            <a:ext cx="5733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5" name="Google Shape;475;p40"/>
          <p:cNvCxnSpPr>
            <a:stCxn id="471" idx="2"/>
            <a:endCxn id="463" idx="6"/>
          </p:cNvCxnSpPr>
          <p:nvPr/>
        </p:nvCxnSpPr>
        <p:spPr>
          <a:xfrm rot="10800000">
            <a:off x="7263013" y="2750106"/>
            <a:ext cx="5733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6" name="Google Shape;476;p40"/>
          <p:cNvCxnSpPr>
            <a:stCxn id="463" idx="1"/>
            <a:endCxn id="464" idx="5"/>
          </p:cNvCxnSpPr>
          <p:nvPr/>
        </p:nvCxnSpPr>
        <p:spPr>
          <a:xfrm rot="10800000">
            <a:off x="5956693" y="2115391"/>
            <a:ext cx="593700" cy="340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7" name="Google Shape;477;p40"/>
          <p:cNvCxnSpPr>
            <a:stCxn id="463" idx="7"/>
            <a:endCxn id="466" idx="3"/>
          </p:cNvCxnSpPr>
          <p:nvPr/>
        </p:nvCxnSpPr>
        <p:spPr>
          <a:xfrm flipH="1" rot="10800000">
            <a:off x="7140757" y="2115391"/>
            <a:ext cx="524700" cy="340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8" name="Google Shape;478;p40"/>
          <p:cNvCxnSpPr>
            <a:stCxn id="467" idx="7"/>
            <a:endCxn id="463" idx="3"/>
          </p:cNvCxnSpPr>
          <p:nvPr/>
        </p:nvCxnSpPr>
        <p:spPr>
          <a:xfrm flipH="1" rot="10800000">
            <a:off x="5956602" y="3044053"/>
            <a:ext cx="593700" cy="340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9" name="Google Shape;479;p40"/>
          <p:cNvCxnSpPr>
            <a:stCxn id="469" idx="1"/>
            <a:endCxn id="463" idx="5"/>
          </p:cNvCxnSpPr>
          <p:nvPr/>
        </p:nvCxnSpPr>
        <p:spPr>
          <a:xfrm rot="10800000">
            <a:off x="7140644" y="3044053"/>
            <a:ext cx="524700" cy="340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0" name="Google Shape;480;p40"/>
          <p:cNvCxnSpPr>
            <a:stCxn id="465" idx="2"/>
            <a:endCxn id="464" idx="0"/>
          </p:cNvCxnSpPr>
          <p:nvPr/>
        </p:nvCxnSpPr>
        <p:spPr>
          <a:xfrm flipH="1">
            <a:off x="5759723" y="1407751"/>
            <a:ext cx="807600" cy="2763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1" name="Google Shape;481;p40"/>
          <p:cNvCxnSpPr>
            <a:stCxn id="464" idx="3"/>
            <a:endCxn id="470" idx="0"/>
          </p:cNvCxnSpPr>
          <p:nvPr/>
        </p:nvCxnSpPr>
        <p:spPr>
          <a:xfrm>
            <a:off x="5563098" y="2115333"/>
            <a:ext cx="13500" cy="3822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2" name="Google Shape;482;p40"/>
          <p:cNvCxnSpPr>
            <a:stCxn id="465" idx="3"/>
            <a:endCxn id="470" idx="7"/>
          </p:cNvCxnSpPr>
          <p:nvPr/>
        </p:nvCxnSpPr>
        <p:spPr>
          <a:xfrm flipH="1">
            <a:off x="5773421" y="1586366"/>
            <a:ext cx="875400" cy="9852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3" name="Google Shape;483;p40"/>
          <p:cNvCxnSpPr>
            <a:stCxn id="465" idx="3"/>
            <a:endCxn id="467" idx="0"/>
          </p:cNvCxnSpPr>
          <p:nvPr/>
        </p:nvCxnSpPr>
        <p:spPr>
          <a:xfrm flipH="1">
            <a:off x="5759921" y="1586366"/>
            <a:ext cx="888900" cy="17244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4" name="Google Shape;484;p40"/>
          <p:cNvCxnSpPr>
            <a:stCxn id="470" idx="4"/>
            <a:endCxn id="467" idx="0"/>
          </p:cNvCxnSpPr>
          <p:nvPr/>
        </p:nvCxnSpPr>
        <p:spPr>
          <a:xfrm>
            <a:off x="5576563" y="3002706"/>
            <a:ext cx="183300" cy="3081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5" name="Google Shape;485;p40"/>
          <p:cNvCxnSpPr>
            <a:stCxn id="464" idx="5"/>
            <a:endCxn id="467" idx="7"/>
          </p:cNvCxnSpPr>
          <p:nvPr/>
        </p:nvCxnSpPr>
        <p:spPr>
          <a:xfrm>
            <a:off x="5956602" y="2115333"/>
            <a:ext cx="0" cy="12696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6" name="Google Shape;486;p40"/>
          <p:cNvCxnSpPr>
            <a:stCxn id="471" idx="3"/>
            <a:endCxn id="467" idx="6"/>
          </p:cNvCxnSpPr>
          <p:nvPr/>
        </p:nvCxnSpPr>
        <p:spPr>
          <a:xfrm flipH="1">
            <a:off x="6038010" y="2928721"/>
            <a:ext cx="1879800" cy="6348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7" name="Google Shape;487;p40"/>
          <p:cNvCxnSpPr>
            <a:stCxn id="468" idx="2"/>
            <a:endCxn id="467" idx="5"/>
          </p:cNvCxnSpPr>
          <p:nvPr/>
        </p:nvCxnSpPr>
        <p:spPr>
          <a:xfrm rot="10800000">
            <a:off x="5956486" y="3742201"/>
            <a:ext cx="628200" cy="3741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8" name="Google Shape;488;p40"/>
          <p:cNvCxnSpPr>
            <a:stCxn id="469" idx="3"/>
          </p:cNvCxnSpPr>
          <p:nvPr/>
        </p:nvCxnSpPr>
        <p:spPr>
          <a:xfrm flipH="1">
            <a:off x="7139144" y="3742083"/>
            <a:ext cx="526200" cy="3441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9" name="Google Shape;489;p40"/>
          <p:cNvCxnSpPr>
            <a:stCxn id="471" idx="4"/>
            <a:endCxn id="469" idx="7"/>
          </p:cNvCxnSpPr>
          <p:nvPr/>
        </p:nvCxnSpPr>
        <p:spPr>
          <a:xfrm flipH="1">
            <a:off x="8058763" y="3002706"/>
            <a:ext cx="55800" cy="3822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4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Ego network properties</a:t>
            </a:r>
            <a:endParaRPr/>
          </a:p>
        </p:txBody>
      </p:sp>
      <p:graphicFrame>
        <p:nvGraphicFramePr>
          <p:cNvPr id="495" name="Google Shape;495;p41"/>
          <p:cNvGraphicFramePr/>
          <p:nvPr/>
        </p:nvGraphicFramePr>
        <p:xfrm>
          <a:off x="500600" y="1254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{1B447A83-322A-40C4-8C04-7F3638FE8758}</a:tableStyleId>
              </a:tblPr>
              <a:tblGrid>
                <a:gridCol w="2035700"/>
                <a:gridCol w="2035700"/>
                <a:gridCol w="2035700"/>
                <a:gridCol w="2035700"/>
              </a:tblGrid>
              <a:tr h="579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Measure</a:t>
                      </a:r>
                      <a:endParaRPr sz="2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Ego-alter ties</a:t>
                      </a:r>
                      <a:endParaRPr b="1" sz="2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Alter-Alter Ties</a:t>
                      </a:r>
                      <a:endParaRPr b="1" sz="2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Attributes</a:t>
                      </a:r>
                      <a:endParaRPr b="1" sz="2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91425" marB="91425" marR="91425" marL="91425" anchor="ctr"/>
                </a:tc>
              </a:tr>
              <a:tr h="579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2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Size</a:t>
                      </a:r>
                      <a:endParaRPr i="1" sz="2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rgbClr val="FF0000"/>
                          </a:solidFill>
                        </a:rPr>
                        <a:t>✅</a:t>
                      </a:r>
                      <a:endParaRPr sz="24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579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2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Diversity</a:t>
                      </a:r>
                      <a:endParaRPr i="1" sz="2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solidFill>
                            <a:srgbClr val="FF0000"/>
                          </a:solidFill>
                        </a:rPr>
                        <a:t>✅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579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2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Homophily</a:t>
                      </a:r>
                      <a:endParaRPr i="1" sz="2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solidFill>
                            <a:srgbClr val="FF0000"/>
                          </a:solidFill>
                        </a:rPr>
                        <a:t>✅</a:t>
                      </a:r>
                      <a:endParaRPr sz="24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solidFill>
                            <a:srgbClr val="FF0000"/>
                          </a:solidFill>
                        </a:rPr>
                        <a:t>✅</a:t>
                      </a:r>
                      <a:endParaRPr sz="24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579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2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Composition</a:t>
                      </a:r>
                      <a:endParaRPr i="1" sz="2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rgbClr val="FF0000"/>
                          </a:solidFill>
                        </a:rPr>
                        <a:t>✅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579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2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Clustering</a:t>
                      </a:r>
                      <a:endParaRPr i="1" sz="2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solidFill>
                            <a:srgbClr val="FF0000"/>
                          </a:solidFill>
                        </a:rPr>
                        <a:t>✅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4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Ego network properties: Size</a:t>
            </a:r>
            <a:endParaRPr/>
          </a:p>
        </p:txBody>
      </p:sp>
      <p:sp>
        <p:nvSpPr>
          <p:cNvPr id="501" name="Google Shape;501;p42"/>
          <p:cNvSpPr txBox="1"/>
          <p:nvPr>
            <p:ph idx="1" type="body"/>
          </p:nvPr>
        </p:nvSpPr>
        <p:spPr>
          <a:xfrm>
            <a:off x="311700" y="1225225"/>
            <a:ext cx="8520600" cy="139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Tells us whether your ego network is </a:t>
            </a:r>
            <a:r>
              <a:rPr b="1" lang="en"/>
              <a:t>large </a:t>
            </a:r>
            <a:r>
              <a:rPr lang="en"/>
              <a:t>or </a:t>
            </a:r>
            <a:r>
              <a:rPr b="1" lang="en"/>
              <a:t>small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Given by either: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Number of ego-alter-ties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Number of alters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42"/>
          <p:cNvSpPr/>
          <p:nvPr/>
        </p:nvSpPr>
        <p:spPr>
          <a:xfrm>
            <a:off x="917098" y="3390083"/>
            <a:ext cx="503400" cy="5067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Ego</a:t>
            </a:r>
            <a:endParaRPr b="1" sz="13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503" name="Google Shape;503;p42"/>
          <p:cNvSpPr/>
          <p:nvPr/>
        </p:nvSpPr>
        <p:spPr>
          <a:xfrm>
            <a:off x="1000864" y="2669826"/>
            <a:ext cx="334500" cy="307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b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504" name="Google Shape;504;p42"/>
          <p:cNvSpPr/>
          <p:nvPr/>
        </p:nvSpPr>
        <p:spPr>
          <a:xfrm>
            <a:off x="1612587" y="2992893"/>
            <a:ext cx="334500" cy="307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c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505" name="Google Shape;505;p42"/>
          <p:cNvSpPr/>
          <p:nvPr/>
        </p:nvSpPr>
        <p:spPr>
          <a:xfrm>
            <a:off x="347499" y="3986430"/>
            <a:ext cx="334500" cy="307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g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506" name="Google Shape;506;p42"/>
          <p:cNvSpPr/>
          <p:nvPr/>
        </p:nvSpPr>
        <p:spPr>
          <a:xfrm>
            <a:off x="1011313" y="4324072"/>
            <a:ext cx="334500" cy="307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f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507" name="Google Shape;507;p42"/>
          <p:cNvSpPr/>
          <p:nvPr/>
        </p:nvSpPr>
        <p:spPr>
          <a:xfrm>
            <a:off x="1612587" y="3986430"/>
            <a:ext cx="334500" cy="307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508" name="Google Shape;508;p42"/>
          <p:cNvSpPr/>
          <p:nvPr/>
        </p:nvSpPr>
        <p:spPr>
          <a:xfrm>
            <a:off x="237200" y="3489669"/>
            <a:ext cx="334500" cy="307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h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509" name="Google Shape;509;p42"/>
          <p:cNvSpPr/>
          <p:nvPr/>
        </p:nvSpPr>
        <p:spPr>
          <a:xfrm>
            <a:off x="1764516" y="3489669"/>
            <a:ext cx="334500" cy="307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d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cxnSp>
        <p:nvCxnSpPr>
          <p:cNvPr id="510" name="Google Shape;510;p42"/>
          <p:cNvCxnSpPr>
            <a:stCxn id="503" idx="4"/>
            <a:endCxn id="502" idx="0"/>
          </p:cNvCxnSpPr>
          <p:nvPr/>
        </p:nvCxnSpPr>
        <p:spPr>
          <a:xfrm>
            <a:off x="1168114" y="2977326"/>
            <a:ext cx="600" cy="412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1" name="Google Shape;511;p42"/>
          <p:cNvCxnSpPr>
            <a:stCxn id="506" idx="0"/>
            <a:endCxn id="502" idx="4"/>
          </p:cNvCxnSpPr>
          <p:nvPr/>
        </p:nvCxnSpPr>
        <p:spPr>
          <a:xfrm rot="10800000">
            <a:off x="1168663" y="3896872"/>
            <a:ext cx="9900" cy="4272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2" name="Google Shape;512;p42"/>
          <p:cNvCxnSpPr>
            <a:stCxn id="508" idx="6"/>
            <a:endCxn id="502" idx="2"/>
          </p:cNvCxnSpPr>
          <p:nvPr/>
        </p:nvCxnSpPr>
        <p:spPr>
          <a:xfrm>
            <a:off x="571700" y="3643419"/>
            <a:ext cx="3453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3" name="Google Shape;513;p42"/>
          <p:cNvCxnSpPr>
            <a:stCxn id="509" idx="2"/>
            <a:endCxn id="502" idx="6"/>
          </p:cNvCxnSpPr>
          <p:nvPr/>
        </p:nvCxnSpPr>
        <p:spPr>
          <a:xfrm rot="10800000">
            <a:off x="1420416" y="3643419"/>
            <a:ext cx="3441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4" name="Google Shape;514;p42"/>
          <p:cNvCxnSpPr>
            <a:stCxn id="502" idx="7"/>
            <a:endCxn id="504" idx="3"/>
          </p:cNvCxnSpPr>
          <p:nvPr/>
        </p:nvCxnSpPr>
        <p:spPr>
          <a:xfrm flipH="1" rot="10800000">
            <a:off x="1346777" y="3255487"/>
            <a:ext cx="314700" cy="208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5" name="Google Shape;515;p42"/>
          <p:cNvCxnSpPr>
            <a:stCxn id="505" idx="7"/>
            <a:endCxn id="502" idx="3"/>
          </p:cNvCxnSpPr>
          <p:nvPr/>
        </p:nvCxnSpPr>
        <p:spPr>
          <a:xfrm flipH="1" rot="10800000">
            <a:off x="633012" y="3822662"/>
            <a:ext cx="357900" cy="208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6" name="Google Shape;516;p42"/>
          <p:cNvCxnSpPr>
            <a:stCxn id="507" idx="1"/>
            <a:endCxn id="502" idx="5"/>
          </p:cNvCxnSpPr>
          <p:nvPr/>
        </p:nvCxnSpPr>
        <p:spPr>
          <a:xfrm rot="10800000">
            <a:off x="1346874" y="3822662"/>
            <a:ext cx="314700" cy="208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7" name="Google Shape;517;p42"/>
          <p:cNvSpPr txBox="1"/>
          <p:nvPr/>
        </p:nvSpPr>
        <p:spPr>
          <a:xfrm>
            <a:off x="607725" y="4677272"/>
            <a:ext cx="1159200" cy="3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Size = 7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518" name="Google Shape;518;p42"/>
          <p:cNvSpPr/>
          <p:nvPr/>
        </p:nvSpPr>
        <p:spPr>
          <a:xfrm>
            <a:off x="3290817" y="3505958"/>
            <a:ext cx="503400" cy="5067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Ego</a:t>
            </a:r>
            <a:endParaRPr b="1" sz="13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519" name="Google Shape;519;p42"/>
          <p:cNvSpPr/>
          <p:nvPr/>
        </p:nvSpPr>
        <p:spPr>
          <a:xfrm>
            <a:off x="2721217" y="3108768"/>
            <a:ext cx="334500" cy="307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a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520" name="Google Shape;520;p42"/>
          <p:cNvSpPr/>
          <p:nvPr/>
        </p:nvSpPr>
        <p:spPr>
          <a:xfrm>
            <a:off x="3374583" y="2785701"/>
            <a:ext cx="334500" cy="307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b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521" name="Google Shape;521;p42"/>
          <p:cNvSpPr/>
          <p:nvPr/>
        </p:nvSpPr>
        <p:spPr>
          <a:xfrm>
            <a:off x="2721217" y="4102305"/>
            <a:ext cx="334500" cy="307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g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522" name="Google Shape;522;p42"/>
          <p:cNvSpPr/>
          <p:nvPr/>
        </p:nvSpPr>
        <p:spPr>
          <a:xfrm>
            <a:off x="3986306" y="4102305"/>
            <a:ext cx="334500" cy="307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523" name="Google Shape;523;p42"/>
          <p:cNvSpPr/>
          <p:nvPr/>
        </p:nvSpPr>
        <p:spPr>
          <a:xfrm>
            <a:off x="2610919" y="3605544"/>
            <a:ext cx="334500" cy="307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h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524" name="Google Shape;524;p42"/>
          <p:cNvSpPr/>
          <p:nvPr/>
        </p:nvSpPr>
        <p:spPr>
          <a:xfrm>
            <a:off x="4138235" y="3605544"/>
            <a:ext cx="334500" cy="307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d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cxnSp>
        <p:nvCxnSpPr>
          <p:cNvPr id="525" name="Google Shape;525;p42"/>
          <p:cNvCxnSpPr>
            <a:stCxn id="520" idx="4"/>
            <a:endCxn id="518" idx="0"/>
          </p:cNvCxnSpPr>
          <p:nvPr/>
        </p:nvCxnSpPr>
        <p:spPr>
          <a:xfrm>
            <a:off x="3541833" y="3093201"/>
            <a:ext cx="600" cy="412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6" name="Google Shape;526;p42"/>
          <p:cNvCxnSpPr>
            <a:stCxn id="523" idx="6"/>
            <a:endCxn id="518" idx="2"/>
          </p:cNvCxnSpPr>
          <p:nvPr/>
        </p:nvCxnSpPr>
        <p:spPr>
          <a:xfrm>
            <a:off x="2945419" y="3759294"/>
            <a:ext cx="3453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7" name="Google Shape;527;p42"/>
          <p:cNvCxnSpPr>
            <a:stCxn id="524" idx="2"/>
            <a:endCxn id="518" idx="6"/>
          </p:cNvCxnSpPr>
          <p:nvPr/>
        </p:nvCxnSpPr>
        <p:spPr>
          <a:xfrm rot="10800000">
            <a:off x="3794135" y="3759294"/>
            <a:ext cx="3441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8" name="Google Shape;528;p42"/>
          <p:cNvCxnSpPr>
            <a:stCxn id="518" idx="1"/>
            <a:endCxn id="519" idx="5"/>
          </p:cNvCxnSpPr>
          <p:nvPr/>
        </p:nvCxnSpPr>
        <p:spPr>
          <a:xfrm rot="10800000">
            <a:off x="3006638" y="3371362"/>
            <a:ext cx="357900" cy="208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9" name="Google Shape;529;p42"/>
          <p:cNvCxnSpPr>
            <a:stCxn id="521" idx="7"/>
            <a:endCxn id="518" idx="3"/>
          </p:cNvCxnSpPr>
          <p:nvPr/>
        </p:nvCxnSpPr>
        <p:spPr>
          <a:xfrm flipH="1" rot="10800000">
            <a:off x="3006731" y="3938537"/>
            <a:ext cx="357900" cy="208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0" name="Google Shape;530;p42"/>
          <p:cNvCxnSpPr>
            <a:stCxn id="522" idx="1"/>
            <a:endCxn id="518" idx="5"/>
          </p:cNvCxnSpPr>
          <p:nvPr/>
        </p:nvCxnSpPr>
        <p:spPr>
          <a:xfrm rot="10800000">
            <a:off x="3720592" y="3938537"/>
            <a:ext cx="314700" cy="208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1" name="Google Shape;531;p42"/>
          <p:cNvSpPr txBox="1"/>
          <p:nvPr/>
        </p:nvSpPr>
        <p:spPr>
          <a:xfrm>
            <a:off x="2842000" y="4677272"/>
            <a:ext cx="1159200" cy="3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Size = 6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532" name="Google Shape;532;p42"/>
          <p:cNvSpPr/>
          <p:nvPr/>
        </p:nvSpPr>
        <p:spPr>
          <a:xfrm>
            <a:off x="5327437" y="3390083"/>
            <a:ext cx="503400" cy="5067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Ego</a:t>
            </a:r>
            <a:endParaRPr b="1" sz="13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533" name="Google Shape;533;p42"/>
          <p:cNvSpPr/>
          <p:nvPr/>
        </p:nvSpPr>
        <p:spPr>
          <a:xfrm>
            <a:off x="5411204" y="2669826"/>
            <a:ext cx="334500" cy="307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b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534" name="Google Shape;534;p42"/>
          <p:cNvSpPr/>
          <p:nvPr/>
        </p:nvSpPr>
        <p:spPr>
          <a:xfrm>
            <a:off x="5421652" y="4324072"/>
            <a:ext cx="334500" cy="307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f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cxnSp>
        <p:nvCxnSpPr>
          <p:cNvPr id="535" name="Google Shape;535;p42"/>
          <p:cNvCxnSpPr>
            <a:stCxn id="533" idx="4"/>
            <a:endCxn id="532" idx="0"/>
          </p:cNvCxnSpPr>
          <p:nvPr/>
        </p:nvCxnSpPr>
        <p:spPr>
          <a:xfrm>
            <a:off x="5578454" y="2977326"/>
            <a:ext cx="600" cy="412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6" name="Google Shape;536;p42"/>
          <p:cNvCxnSpPr>
            <a:stCxn id="534" idx="0"/>
            <a:endCxn id="532" idx="4"/>
          </p:cNvCxnSpPr>
          <p:nvPr/>
        </p:nvCxnSpPr>
        <p:spPr>
          <a:xfrm rot="10800000">
            <a:off x="5579002" y="3896872"/>
            <a:ext cx="9900" cy="4272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7" name="Google Shape;537;p42"/>
          <p:cNvSpPr txBox="1"/>
          <p:nvPr/>
        </p:nvSpPr>
        <p:spPr>
          <a:xfrm>
            <a:off x="5037875" y="4677272"/>
            <a:ext cx="1159200" cy="3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Size = 2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538" name="Google Shape;538;p42"/>
          <p:cNvSpPr/>
          <p:nvPr/>
        </p:nvSpPr>
        <p:spPr>
          <a:xfrm>
            <a:off x="7534547" y="3422383"/>
            <a:ext cx="503400" cy="5067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Ego</a:t>
            </a:r>
            <a:endParaRPr b="1" sz="13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539" name="Google Shape;539;p42"/>
          <p:cNvSpPr/>
          <p:nvPr/>
        </p:nvSpPr>
        <p:spPr>
          <a:xfrm>
            <a:off x="7618314" y="2702126"/>
            <a:ext cx="334500" cy="307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b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540" name="Google Shape;540;p42"/>
          <p:cNvSpPr/>
          <p:nvPr/>
        </p:nvSpPr>
        <p:spPr>
          <a:xfrm>
            <a:off x="7628762" y="4356372"/>
            <a:ext cx="334500" cy="307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f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541" name="Google Shape;541;p42"/>
          <p:cNvSpPr/>
          <p:nvPr/>
        </p:nvSpPr>
        <p:spPr>
          <a:xfrm>
            <a:off x="6854649" y="3521969"/>
            <a:ext cx="334500" cy="307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h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542" name="Google Shape;542;p42"/>
          <p:cNvSpPr/>
          <p:nvPr/>
        </p:nvSpPr>
        <p:spPr>
          <a:xfrm>
            <a:off x="8381965" y="3521969"/>
            <a:ext cx="334500" cy="307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d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cxnSp>
        <p:nvCxnSpPr>
          <p:cNvPr id="543" name="Google Shape;543;p42"/>
          <p:cNvCxnSpPr>
            <a:stCxn id="539" idx="4"/>
            <a:endCxn id="538" idx="0"/>
          </p:cNvCxnSpPr>
          <p:nvPr/>
        </p:nvCxnSpPr>
        <p:spPr>
          <a:xfrm>
            <a:off x="7785564" y="3009626"/>
            <a:ext cx="600" cy="412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4" name="Google Shape;544;p42"/>
          <p:cNvCxnSpPr>
            <a:stCxn id="540" idx="0"/>
            <a:endCxn id="538" idx="4"/>
          </p:cNvCxnSpPr>
          <p:nvPr/>
        </p:nvCxnSpPr>
        <p:spPr>
          <a:xfrm rot="10800000">
            <a:off x="7786112" y="3929172"/>
            <a:ext cx="9900" cy="4272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5" name="Google Shape;545;p42"/>
          <p:cNvCxnSpPr>
            <a:stCxn id="541" idx="6"/>
            <a:endCxn id="538" idx="2"/>
          </p:cNvCxnSpPr>
          <p:nvPr/>
        </p:nvCxnSpPr>
        <p:spPr>
          <a:xfrm>
            <a:off x="7189149" y="3675719"/>
            <a:ext cx="3453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6" name="Google Shape;546;p42"/>
          <p:cNvCxnSpPr>
            <a:stCxn id="542" idx="2"/>
            <a:endCxn id="538" idx="6"/>
          </p:cNvCxnSpPr>
          <p:nvPr/>
        </p:nvCxnSpPr>
        <p:spPr>
          <a:xfrm rot="10800000">
            <a:off x="8037865" y="3675719"/>
            <a:ext cx="3441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47" name="Google Shape;547;p42"/>
          <p:cNvSpPr txBox="1"/>
          <p:nvPr/>
        </p:nvSpPr>
        <p:spPr>
          <a:xfrm>
            <a:off x="7293825" y="4677272"/>
            <a:ext cx="1159200" cy="3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Size = 4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4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Ego network properties: Size</a:t>
            </a:r>
            <a:endParaRPr/>
          </a:p>
        </p:txBody>
      </p:sp>
      <p:sp>
        <p:nvSpPr>
          <p:cNvPr id="553" name="Google Shape;553;p43"/>
          <p:cNvSpPr txBox="1"/>
          <p:nvPr>
            <p:ph idx="1" type="body"/>
          </p:nvPr>
        </p:nvSpPr>
        <p:spPr>
          <a:xfrm>
            <a:off x="311700" y="1225225"/>
            <a:ext cx="8520600" cy="139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Tells us whether your ego network is </a:t>
            </a:r>
            <a:r>
              <a:rPr b="1" lang="en">
                <a:solidFill>
                  <a:srgbClr val="9900FF"/>
                </a:solidFill>
              </a:rPr>
              <a:t>large</a:t>
            </a:r>
            <a:r>
              <a:rPr b="1" lang="en"/>
              <a:t> </a:t>
            </a:r>
            <a:r>
              <a:rPr lang="en"/>
              <a:t>or </a:t>
            </a:r>
            <a:r>
              <a:rPr b="1" lang="en">
                <a:solidFill>
                  <a:srgbClr val="FF0000"/>
                </a:solidFill>
              </a:rPr>
              <a:t>small</a:t>
            </a:r>
            <a:endParaRPr b="1">
              <a:solidFill>
                <a:srgbClr val="FF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Given by either: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Number of ego-alter-ties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Number of alters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p43"/>
          <p:cNvSpPr txBox="1"/>
          <p:nvPr/>
        </p:nvSpPr>
        <p:spPr>
          <a:xfrm>
            <a:off x="607725" y="4677272"/>
            <a:ext cx="1159200" cy="3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Size = 7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555" name="Google Shape;555;p43"/>
          <p:cNvSpPr txBox="1"/>
          <p:nvPr/>
        </p:nvSpPr>
        <p:spPr>
          <a:xfrm>
            <a:off x="2842000" y="4677272"/>
            <a:ext cx="1159200" cy="3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Size = 6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556" name="Google Shape;556;p43"/>
          <p:cNvSpPr txBox="1"/>
          <p:nvPr/>
        </p:nvSpPr>
        <p:spPr>
          <a:xfrm>
            <a:off x="5037875" y="4677272"/>
            <a:ext cx="1159200" cy="3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Size = 2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557" name="Google Shape;557;p43"/>
          <p:cNvSpPr txBox="1"/>
          <p:nvPr/>
        </p:nvSpPr>
        <p:spPr>
          <a:xfrm>
            <a:off x="7293825" y="4677272"/>
            <a:ext cx="1159200" cy="3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Size = 4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558" name="Google Shape;558;p43"/>
          <p:cNvSpPr/>
          <p:nvPr/>
        </p:nvSpPr>
        <p:spPr>
          <a:xfrm>
            <a:off x="917098" y="3390083"/>
            <a:ext cx="503400" cy="506700"/>
          </a:xfrm>
          <a:prstGeom prst="ellipse">
            <a:avLst/>
          </a:prstGeom>
          <a:solidFill>
            <a:srgbClr val="9900FF"/>
          </a:solidFill>
          <a:ln cap="flat" cmpd="sng" w="19050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Ego</a:t>
            </a:r>
            <a:endParaRPr b="1" sz="13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559" name="Google Shape;559;p43"/>
          <p:cNvSpPr/>
          <p:nvPr/>
        </p:nvSpPr>
        <p:spPr>
          <a:xfrm>
            <a:off x="1000864" y="2669826"/>
            <a:ext cx="334500" cy="307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b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560" name="Google Shape;560;p43"/>
          <p:cNvSpPr/>
          <p:nvPr/>
        </p:nvSpPr>
        <p:spPr>
          <a:xfrm>
            <a:off x="1612587" y="2992893"/>
            <a:ext cx="334500" cy="307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c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561" name="Google Shape;561;p43"/>
          <p:cNvSpPr/>
          <p:nvPr/>
        </p:nvSpPr>
        <p:spPr>
          <a:xfrm>
            <a:off x="347499" y="3986430"/>
            <a:ext cx="334500" cy="307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g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562" name="Google Shape;562;p43"/>
          <p:cNvSpPr/>
          <p:nvPr/>
        </p:nvSpPr>
        <p:spPr>
          <a:xfrm>
            <a:off x="1011313" y="4324072"/>
            <a:ext cx="334500" cy="307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f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563" name="Google Shape;563;p43"/>
          <p:cNvSpPr/>
          <p:nvPr/>
        </p:nvSpPr>
        <p:spPr>
          <a:xfrm>
            <a:off x="1612587" y="3986430"/>
            <a:ext cx="334500" cy="307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564" name="Google Shape;564;p43"/>
          <p:cNvSpPr/>
          <p:nvPr/>
        </p:nvSpPr>
        <p:spPr>
          <a:xfrm>
            <a:off x="237200" y="3489669"/>
            <a:ext cx="334500" cy="307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h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565" name="Google Shape;565;p43"/>
          <p:cNvSpPr/>
          <p:nvPr/>
        </p:nvSpPr>
        <p:spPr>
          <a:xfrm>
            <a:off x="1764516" y="3489669"/>
            <a:ext cx="334500" cy="307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d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cxnSp>
        <p:nvCxnSpPr>
          <p:cNvPr id="566" name="Google Shape;566;p43"/>
          <p:cNvCxnSpPr>
            <a:stCxn id="559" idx="4"/>
            <a:endCxn id="558" idx="0"/>
          </p:cNvCxnSpPr>
          <p:nvPr/>
        </p:nvCxnSpPr>
        <p:spPr>
          <a:xfrm>
            <a:off x="1168114" y="2977326"/>
            <a:ext cx="600" cy="412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7" name="Google Shape;567;p43"/>
          <p:cNvCxnSpPr>
            <a:stCxn id="562" idx="0"/>
            <a:endCxn id="558" idx="4"/>
          </p:cNvCxnSpPr>
          <p:nvPr/>
        </p:nvCxnSpPr>
        <p:spPr>
          <a:xfrm rot="10800000">
            <a:off x="1168663" y="3896872"/>
            <a:ext cx="9900" cy="4272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8" name="Google Shape;568;p43"/>
          <p:cNvCxnSpPr>
            <a:stCxn id="564" idx="6"/>
            <a:endCxn id="558" idx="2"/>
          </p:cNvCxnSpPr>
          <p:nvPr/>
        </p:nvCxnSpPr>
        <p:spPr>
          <a:xfrm>
            <a:off x="571700" y="3643419"/>
            <a:ext cx="3453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9" name="Google Shape;569;p43"/>
          <p:cNvCxnSpPr>
            <a:stCxn id="565" idx="2"/>
            <a:endCxn id="558" idx="6"/>
          </p:cNvCxnSpPr>
          <p:nvPr/>
        </p:nvCxnSpPr>
        <p:spPr>
          <a:xfrm rot="10800000">
            <a:off x="1420416" y="3643419"/>
            <a:ext cx="3441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0" name="Google Shape;570;p43"/>
          <p:cNvCxnSpPr>
            <a:stCxn id="558" idx="7"/>
            <a:endCxn id="560" idx="3"/>
          </p:cNvCxnSpPr>
          <p:nvPr/>
        </p:nvCxnSpPr>
        <p:spPr>
          <a:xfrm flipH="1" rot="10800000">
            <a:off x="1346777" y="3255487"/>
            <a:ext cx="314700" cy="208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1" name="Google Shape;571;p43"/>
          <p:cNvCxnSpPr>
            <a:stCxn id="561" idx="7"/>
            <a:endCxn id="558" idx="3"/>
          </p:cNvCxnSpPr>
          <p:nvPr/>
        </p:nvCxnSpPr>
        <p:spPr>
          <a:xfrm flipH="1" rot="10800000">
            <a:off x="633012" y="3822662"/>
            <a:ext cx="357900" cy="208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2" name="Google Shape;572;p43"/>
          <p:cNvCxnSpPr>
            <a:stCxn id="563" idx="1"/>
            <a:endCxn id="558" idx="5"/>
          </p:cNvCxnSpPr>
          <p:nvPr/>
        </p:nvCxnSpPr>
        <p:spPr>
          <a:xfrm rot="10800000">
            <a:off x="1346874" y="3822662"/>
            <a:ext cx="314700" cy="208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73" name="Google Shape;573;p43"/>
          <p:cNvSpPr/>
          <p:nvPr/>
        </p:nvSpPr>
        <p:spPr>
          <a:xfrm>
            <a:off x="3290817" y="3505958"/>
            <a:ext cx="503400" cy="5067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Ego</a:t>
            </a:r>
            <a:endParaRPr b="1" sz="13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574" name="Google Shape;574;p43"/>
          <p:cNvSpPr/>
          <p:nvPr/>
        </p:nvSpPr>
        <p:spPr>
          <a:xfrm>
            <a:off x="2721217" y="3108768"/>
            <a:ext cx="334500" cy="307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a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575" name="Google Shape;575;p43"/>
          <p:cNvSpPr/>
          <p:nvPr/>
        </p:nvSpPr>
        <p:spPr>
          <a:xfrm>
            <a:off x="3374583" y="2785701"/>
            <a:ext cx="334500" cy="307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b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576" name="Google Shape;576;p43"/>
          <p:cNvSpPr/>
          <p:nvPr/>
        </p:nvSpPr>
        <p:spPr>
          <a:xfrm>
            <a:off x="2721217" y="4102305"/>
            <a:ext cx="334500" cy="307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g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577" name="Google Shape;577;p43"/>
          <p:cNvSpPr/>
          <p:nvPr/>
        </p:nvSpPr>
        <p:spPr>
          <a:xfrm>
            <a:off x="3986306" y="4102305"/>
            <a:ext cx="334500" cy="307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578" name="Google Shape;578;p43"/>
          <p:cNvSpPr/>
          <p:nvPr/>
        </p:nvSpPr>
        <p:spPr>
          <a:xfrm>
            <a:off x="2610919" y="3605544"/>
            <a:ext cx="334500" cy="307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h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579" name="Google Shape;579;p43"/>
          <p:cNvSpPr/>
          <p:nvPr/>
        </p:nvSpPr>
        <p:spPr>
          <a:xfrm>
            <a:off x="4138235" y="3605544"/>
            <a:ext cx="334500" cy="307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d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cxnSp>
        <p:nvCxnSpPr>
          <p:cNvPr id="580" name="Google Shape;580;p43"/>
          <p:cNvCxnSpPr>
            <a:stCxn id="575" idx="4"/>
            <a:endCxn id="573" idx="0"/>
          </p:cNvCxnSpPr>
          <p:nvPr/>
        </p:nvCxnSpPr>
        <p:spPr>
          <a:xfrm>
            <a:off x="3541833" y="3093201"/>
            <a:ext cx="600" cy="412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1" name="Google Shape;581;p43"/>
          <p:cNvCxnSpPr>
            <a:stCxn id="578" idx="6"/>
            <a:endCxn id="573" idx="2"/>
          </p:cNvCxnSpPr>
          <p:nvPr/>
        </p:nvCxnSpPr>
        <p:spPr>
          <a:xfrm>
            <a:off x="2945419" y="3759294"/>
            <a:ext cx="3453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2" name="Google Shape;582;p43"/>
          <p:cNvCxnSpPr>
            <a:stCxn id="579" idx="2"/>
            <a:endCxn id="573" idx="6"/>
          </p:cNvCxnSpPr>
          <p:nvPr/>
        </p:nvCxnSpPr>
        <p:spPr>
          <a:xfrm rot="10800000">
            <a:off x="3794135" y="3759294"/>
            <a:ext cx="3441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3" name="Google Shape;583;p43"/>
          <p:cNvCxnSpPr>
            <a:stCxn id="573" idx="1"/>
            <a:endCxn id="574" idx="5"/>
          </p:cNvCxnSpPr>
          <p:nvPr/>
        </p:nvCxnSpPr>
        <p:spPr>
          <a:xfrm rot="10800000">
            <a:off x="3006638" y="3371362"/>
            <a:ext cx="357900" cy="208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4" name="Google Shape;584;p43"/>
          <p:cNvCxnSpPr>
            <a:stCxn id="576" idx="7"/>
            <a:endCxn id="573" idx="3"/>
          </p:cNvCxnSpPr>
          <p:nvPr/>
        </p:nvCxnSpPr>
        <p:spPr>
          <a:xfrm flipH="1" rot="10800000">
            <a:off x="3006731" y="3938537"/>
            <a:ext cx="357900" cy="208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5" name="Google Shape;585;p43"/>
          <p:cNvCxnSpPr>
            <a:stCxn id="577" idx="1"/>
            <a:endCxn id="573" idx="5"/>
          </p:cNvCxnSpPr>
          <p:nvPr/>
        </p:nvCxnSpPr>
        <p:spPr>
          <a:xfrm rot="10800000">
            <a:off x="3720592" y="3938537"/>
            <a:ext cx="314700" cy="208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6" name="Google Shape;586;p43"/>
          <p:cNvSpPr/>
          <p:nvPr/>
        </p:nvSpPr>
        <p:spPr>
          <a:xfrm>
            <a:off x="5327437" y="3390083"/>
            <a:ext cx="503400" cy="5067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Ego</a:t>
            </a:r>
            <a:endParaRPr b="1" sz="13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587" name="Google Shape;587;p43"/>
          <p:cNvSpPr/>
          <p:nvPr/>
        </p:nvSpPr>
        <p:spPr>
          <a:xfrm>
            <a:off x="5411204" y="2669826"/>
            <a:ext cx="334500" cy="307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b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588" name="Google Shape;588;p43"/>
          <p:cNvSpPr/>
          <p:nvPr/>
        </p:nvSpPr>
        <p:spPr>
          <a:xfrm>
            <a:off x="5421652" y="4324072"/>
            <a:ext cx="334500" cy="307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f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cxnSp>
        <p:nvCxnSpPr>
          <p:cNvPr id="589" name="Google Shape;589;p43"/>
          <p:cNvCxnSpPr>
            <a:stCxn id="587" idx="4"/>
            <a:endCxn id="586" idx="0"/>
          </p:cNvCxnSpPr>
          <p:nvPr/>
        </p:nvCxnSpPr>
        <p:spPr>
          <a:xfrm>
            <a:off x="5578454" y="2977326"/>
            <a:ext cx="600" cy="412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0" name="Google Shape;590;p43"/>
          <p:cNvCxnSpPr>
            <a:stCxn id="588" idx="0"/>
            <a:endCxn id="586" idx="4"/>
          </p:cNvCxnSpPr>
          <p:nvPr/>
        </p:nvCxnSpPr>
        <p:spPr>
          <a:xfrm rot="10800000">
            <a:off x="5579002" y="3896872"/>
            <a:ext cx="9900" cy="4272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91" name="Google Shape;591;p43"/>
          <p:cNvSpPr/>
          <p:nvPr/>
        </p:nvSpPr>
        <p:spPr>
          <a:xfrm>
            <a:off x="7534547" y="3422383"/>
            <a:ext cx="503400" cy="5067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Ego</a:t>
            </a:r>
            <a:endParaRPr b="1" sz="13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592" name="Google Shape;592;p43"/>
          <p:cNvSpPr/>
          <p:nvPr/>
        </p:nvSpPr>
        <p:spPr>
          <a:xfrm>
            <a:off x="7618314" y="2702126"/>
            <a:ext cx="334500" cy="307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b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593" name="Google Shape;593;p43"/>
          <p:cNvSpPr/>
          <p:nvPr/>
        </p:nvSpPr>
        <p:spPr>
          <a:xfrm>
            <a:off x="7628762" y="4356372"/>
            <a:ext cx="334500" cy="307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f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594" name="Google Shape;594;p43"/>
          <p:cNvSpPr/>
          <p:nvPr/>
        </p:nvSpPr>
        <p:spPr>
          <a:xfrm>
            <a:off x="6854649" y="3521969"/>
            <a:ext cx="334500" cy="307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h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595" name="Google Shape;595;p43"/>
          <p:cNvSpPr/>
          <p:nvPr/>
        </p:nvSpPr>
        <p:spPr>
          <a:xfrm>
            <a:off x="8381965" y="3521969"/>
            <a:ext cx="334500" cy="307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d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cxnSp>
        <p:nvCxnSpPr>
          <p:cNvPr id="596" name="Google Shape;596;p43"/>
          <p:cNvCxnSpPr>
            <a:stCxn id="592" idx="4"/>
            <a:endCxn id="591" idx="0"/>
          </p:cNvCxnSpPr>
          <p:nvPr/>
        </p:nvCxnSpPr>
        <p:spPr>
          <a:xfrm>
            <a:off x="7785564" y="3009626"/>
            <a:ext cx="600" cy="412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7" name="Google Shape;597;p43"/>
          <p:cNvCxnSpPr>
            <a:stCxn id="593" idx="0"/>
            <a:endCxn id="591" idx="4"/>
          </p:cNvCxnSpPr>
          <p:nvPr/>
        </p:nvCxnSpPr>
        <p:spPr>
          <a:xfrm rot="10800000">
            <a:off x="7786112" y="3929172"/>
            <a:ext cx="9900" cy="4272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8" name="Google Shape;598;p43"/>
          <p:cNvCxnSpPr>
            <a:stCxn id="594" idx="6"/>
            <a:endCxn id="591" idx="2"/>
          </p:cNvCxnSpPr>
          <p:nvPr/>
        </p:nvCxnSpPr>
        <p:spPr>
          <a:xfrm>
            <a:off x="7189149" y="3675719"/>
            <a:ext cx="3453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9" name="Google Shape;599;p43"/>
          <p:cNvCxnSpPr>
            <a:stCxn id="595" idx="2"/>
            <a:endCxn id="591" idx="6"/>
          </p:cNvCxnSpPr>
          <p:nvPr/>
        </p:nvCxnSpPr>
        <p:spPr>
          <a:xfrm rot="10800000">
            <a:off x="8037865" y="3675719"/>
            <a:ext cx="3441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4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Ego networks: Composition</a:t>
            </a:r>
            <a:endParaRPr/>
          </a:p>
        </p:txBody>
      </p:sp>
      <p:sp>
        <p:nvSpPr>
          <p:cNvPr id="605" name="Google Shape;605;p44"/>
          <p:cNvSpPr/>
          <p:nvPr/>
        </p:nvSpPr>
        <p:spPr>
          <a:xfrm>
            <a:off x="961341" y="3596718"/>
            <a:ext cx="450900" cy="4524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Ego</a:t>
            </a:r>
            <a:endParaRPr b="1" sz="13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606" name="Google Shape;606;p44"/>
          <p:cNvSpPr/>
          <p:nvPr/>
        </p:nvSpPr>
        <p:spPr>
          <a:xfrm>
            <a:off x="450350" y="3242912"/>
            <a:ext cx="300600" cy="274800"/>
          </a:xfrm>
          <a:prstGeom prst="ellipse">
            <a:avLst/>
          </a:prstGeom>
          <a:solidFill>
            <a:schemeClr val="accent4"/>
          </a:solidFill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a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607" name="Google Shape;607;p44"/>
          <p:cNvSpPr/>
          <p:nvPr/>
        </p:nvSpPr>
        <p:spPr>
          <a:xfrm>
            <a:off x="1035446" y="2959444"/>
            <a:ext cx="300600" cy="274800"/>
          </a:xfrm>
          <a:prstGeom prst="ellipse">
            <a:avLst/>
          </a:prstGeom>
          <a:solidFill>
            <a:schemeClr val="accent4"/>
          </a:solidFill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b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608" name="Google Shape;608;p44"/>
          <p:cNvSpPr/>
          <p:nvPr/>
        </p:nvSpPr>
        <p:spPr>
          <a:xfrm>
            <a:off x="1585269" y="3242912"/>
            <a:ext cx="300600" cy="274800"/>
          </a:xfrm>
          <a:prstGeom prst="ellipse">
            <a:avLst/>
          </a:prstGeom>
          <a:solidFill>
            <a:schemeClr val="accent6"/>
          </a:solidFill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c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609" name="Google Shape;609;p44"/>
          <p:cNvSpPr/>
          <p:nvPr/>
        </p:nvSpPr>
        <p:spPr>
          <a:xfrm>
            <a:off x="450350" y="4127927"/>
            <a:ext cx="300600" cy="274800"/>
          </a:xfrm>
          <a:prstGeom prst="ellipse">
            <a:avLst/>
          </a:prstGeom>
          <a:solidFill>
            <a:schemeClr val="accent6"/>
          </a:solidFill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g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610" name="Google Shape;610;p44"/>
          <p:cNvSpPr/>
          <p:nvPr/>
        </p:nvSpPr>
        <p:spPr>
          <a:xfrm>
            <a:off x="1045319" y="4428649"/>
            <a:ext cx="300600" cy="274800"/>
          </a:xfrm>
          <a:prstGeom prst="ellipse">
            <a:avLst/>
          </a:prstGeom>
          <a:solidFill>
            <a:schemeClr val="accent6"/>
          </a:solidFill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f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611" name="Google Shape;611;p44"/>
          <p:cNvSpPr/>
          <p:nvPr/>
        </p:nvSpPr>
        <p:spPr>
          <a:xfrm>
            <a:off x="1585269" y="4127927"/>
            <a:ext cx="300600" cy="274800"/>
          </a:xfrm>
          <a:prstGeom prst="ellipse">
            <a:avLst/>
          </a:prstGeom>
          <a:solidFill>
            <a:schemeClr val="accent6"/>
          </a:solidFill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612" name="Google Shape;612;p44"/>
          <p:cNvSpPr/>
          <p:nvPr/>
        </p:nvSpPr>
        <p:spPr>
          <a:xfrm>
            <a:off x="351401" y="3685426"/>
            <a:ext cx="300600" cy="274800"/>
          </a:xfrm>
          <a:prstGeom prst="ellipse">
            <a:avLst/>
          </a:prstGeom>
          <a:solidFill>
            <a:schemeClr val="accent4"/>
          </a:solidFill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h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613" name="Google Shape;613;p44"/>
          <p:cNvSpPr/>
          <p:nvPr/>
        </p:nvSpPr>
        <p:spPr>
          <a:xfrm>
            <a:off x="1721565" y="3685426"/>
            <a:ext cx="300600" cy="274800"/>
          </a:xfrm>
          <a:prstGeom prst="ellipse">
            <a:avLst/>
          </a:prstGeom>
          <a:solidFill>
            <a:schemeClr val="accent6"/>
          </a:solidFill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d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614" name="Google Shape;614;p44"/>
          <p:cNvSpPr txBox="1"/>
          <p:nvPr>
            <p:ph idx="1" type="body"/>
          </p:nvPr>
        </p:nvSpPr>
        <p:spPr>
          <a:xfrm>
            <a:off x="311700" y="1225225"/>
            <a:ext cx="8520600" cy="120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Tell us whether your ego network is </a:t>
            </a:r>
            <a:r>
              <a:rPr lang="en"/>
              <a:t>dominated</a:t>
            </a:r>
            <a:r>
              <a:rPr lang="en"/>
              <a:t> by one category of alters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Given by the </a:t>
            </a:r>
            <a:r>
              <a:rPr b="1" lang="en"/>
              <a:t>proportion</a:t>
            </a:r>
            <a:r>
              <a:rPr lang="en"/>
              <a:t> of alters who belong to a certain category: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Kin, neighbors, co-workers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Gender, race, education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5" name="Google Shape;615;p44"/>
          <p:cNvSpPr/>
          <p:nvPr/>
        </p:nvSpPr>
        <p:spPr>
          <a:xfrm>
            <a:off x="3570767" y="2468880"/>
            <a:ext cx="306000" cy="288600"/>
          </a:xfrm>
          <a:prstGeom prst="ellipse">
            <a:avLst/>
          </a:prstGeom>
          <a:solidFill>
            <a:schemeClr val="accent4"/>
          </a:solidFill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616" name="Google Shape;616;p44"/>
          <p:cNvSpPr txBox="1"/>
          <p:nvPr/>
        </p:nvSpPr>
        <p:spPr>
          <a:xfrm>
            <a:off x="3887433" y="2469274"/>
            <a:ext cx="4077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Kin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617" name="Google Shape;617;p44"/>
          <p:cNvSpPr/>
          <p:nvPr/>
        </p:nvSpPr>
        <p:spPr>
          <a:xfrm>
            <a:off x="4428347" y="2468880"/>
            <a:ext cx="306000" cy="288600"/>
          </a:xfrm>
          <a:prstGeom prst="ellipse">
            <a:avLst/>
          </a:prstGeom>
          <a:solidFill>
            <a:schemeClr val="accent6"/>
          </a:solidFill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618" name="Google Shape;618;p44"/>
          <p:cNvSpPr txBox="1"/>
          <p:nvPr/>
        </p:nvSpPr>
        <p:spPr>
          <a:xfrm>
            <a:off x="4766238" y="2469274"/>
            <a:ext cx="8070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Non-Kin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619" name="Google Shape;619;p44"/>
          <p:cNvSpPr txBox="1"/>
          <p:nvPr/>
        </p:nvSpPr>
        <p:spPr>
          <a:xfrm>
            <a:off x="311700" y="4731146"/>
            <a:ext cx="19074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Prop(Kin)</a:t>
            </a: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 = ⅜ = 0.38 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620" name="Google Shape;620;p44"/>
          <p:cNvSpPr/>
          <p:nvPr/>
        </p:nvSpPr>
        <p:spPr>
          <a:xfrm>
            <a:off x="3146320" y="3596712"/>
            <a:ext cx="450900" cy="4524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Ego</a:t>
            </a:r>
            <a:endParaRPr b="1" sz="13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621" name="Google Shape;621;p44"/>
          <p:cNvSpPr/>
          <p:nvPr/>
        </p:nvSpPr>
        <p:spPr>
          <a:xfrm>
            <a:off x="2635329" y="3242906"/>
            <a:ext cx="300600" cy="274800"/>
          </a:xfrm>
          <a:prstGeom prst="ellipse">
            <a:avLst/>
          </a:prstGeom>
          <a:solidFill>
            <a:schemeClr val="accent4"/>
          </a:solidFill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a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622" name="Google Shape;622;p44"/>
          <p:cNvSpPr/>
          <p:nvPr/>
        </p:nvSpPr>
        <p:spPr>
          <a:xfrm>
            <a:off x="3220425" y="2959438"/>
            <a:ext cx="300600" cy="274800"/>
          </a:xfrm>
          <a:prstGeom prst="ellipse">
            <a:avLst/>
          </a:prstGeom>
          <a:solidFill>
            <a:schemeClr val="accent4"/>
          </a:solidFill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b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623" name="Google Shape;623;p44"/>
          <p:cNvSpPr/>
          <p:nvPr/>
        </p:nvSpPr>
        <p:spPr>
          <a:xfrm>
            <a:off x="3770247" y="3242906"/>
            <a:ext cx="300600" cy="274800"/>
          </a:xfrm>
          <a:prstGeom prst="ellipse">
            <a:avLst/>
          </a:prstGeom>
          <a:solidFill>
            <a:schemeClr val="accent6"/>
          </a:solidFill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c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624" name="Google Shape;624;p44"/>
          <p:cNvSpPr/>
          <p:nvPr/>
        </p:nvSpPr>
        <p:spPr>
          <a:xfrm>
            <a:off x="2635329" y="4127921"/>
            <a:ext cx="300600" cy="274800"/>
          </a:xfrm>
          <a:prstGeom prst="ellipse">
            <a:avLst/>
          </a:prstGeom>
          <a:solidFill>
            <a:schemeClr val="accent4"/>
          </a:solidFill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g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625" name="Google Shape;625;p44"/>
          <p:cNvSpPr/>
          <p:nvPr/>
        </p:nvSpPr>
        <p:spPr>
          <a:xfrm>
            <a:off x="3230298" y="4428643"/>
            <a:ext cx="300600" cy="274800"/>
          </a:xfrm>
          <a:prstGeom prst="ellipse">
            <a:avLst/>
          </a:prstGeom>
          <a:solidFill>
            <a:schemeClr val="accent4"/>
          </a:solidFill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f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626" name="Google Shape;626;p44"/>
          <p:cNvSpPr/>
          <p:nvPr/>
        </p:nvSpPr>
        <p:spPr>
          <a:xfrm>
            <a:off x="3770247" y="4127921"/>
            <a:ext cx="300600" cy="274800"/>
          </a:xfrm>
          <a:prstGeom prst="ellipse">
            <a:avLst/>
          </a:prstGeom>
          <a:solidFill>
            <a:schemeClr val="accent6"/>
          </a:solidFill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627" name="Google Shape;627;p44"/>
          <p:cNvSpPr/>
          <p:nvPr/>
        </p:nvSpPr>
        <p:spPr>
          <a:xfrm>
            <a:off x="2536380" y="3685420"/>
            <a:ext cx="300600" cy="274800"/>
          </a:xfrm>
          <a:prstGeom prst="ellipse">
            <a:avLst/>
          </a:prstGeom>
          <a:solidFill>
            <a:schemeClr val="accent4"/>
          </a:solidFill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h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628" name="Google Shape;628;p44"/>
          <p:cNvSpPr/>
          <p:nvPr/>
        </p:nvSpPr>
        <p:spPr>
          <a:xfrm>
            <a:off x="3906544" y="3685420"/>
            <a:ext cx="300600" cy="274800"/>
          </a:xfrm>
          <a:prstGeom prst="ellipse">
            <a:avLst/>
          </a:prstGeom>
          <a:solidFill>
            <a:schemeClr val="accent6"/>
          </a:solidFill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d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629" name="Google Shape;629;p44"/>
          <p:cNvSpPr txBox="1"/>
          <p:nvPr/>
        </p:nvSpPr>
        <p:spPr>
          <a:xfrm>
            <a:off x="2426685" y="4739771"/>
            <a:ext cx="19074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Prop(Kin) = ⅝= 0.63 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630" name="Google Shape;630;p44"/>
          <p:cNvSpPr/>
          <p:nvPr/>
        </p:nvSpPr>
        <p:spPr>
          <a:xfrm>
            <a:off x="5441020" y="3596712"/>
            <a:ext cx="450900" cy="4524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Ego</a:t>
            </a:r>
            <a:endParaRPr b="1" sz="13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631" name="Google Shape;631;p44"/>
          <p:cNvSpPr/>
          <p:nvPr/>
        </p:nvSpPr>
        <p:spPr>
          <a:xfrm>
            <a:off x="4930029" y="3242906"/>
            <a:ext cx="300600" cy="274800"/>
          </a:xfrm>
          <a:prstGeom prst="ellipse">
            <a:avLst/>
          </a:prstGeom>
          <a:solidFill>
            <a:schemeClr val="accent6"/>
          </a:solidFill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a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632" name="Google Shape;632;p44"/>
          <p:cNvSpPr/>
          <p:nvPr/>
        </p:nvSpPr>
        <p:spPr>
          <a:xfrm>
            <a:off x="5515125" y="2959438"/>
            <a:ext cx="300600" cy="274800"/>
          </a:xfrm>
          <a:prstGeom prst="ellipse">
            <a:avLst/>
          </a:prstGeom>
          <a:solidFill>
            <a:schemeClr val="accent6"/>
          </a:solidFill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b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633" name="Google Shape;633;p44"/>
          <p:cNvSpPr/>
          <p:nvPr/>
        </p:nvSpPr>
        <p:spPr>
          <a:xfrm>
            <a:off x="6064947" y="3242906"/>
            <a:ext cx="300600" cy="274800"/>
          </a:xfrm>
          <a:prstGeom prst="ellipse">
            <a:avLst/>
          </a:prstGeom>
          <a:solidFill>
            <a:schemeClr val="accent6"/>
          </a:solidFill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c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634" name="Google Shape;634;p44"/>
          <p:cNvSpPr/>
          <p:nvPr/>
        </p:nvSpPr>
        <p:spPr>
          <a:xfrm>
            <a:off x="4930029" y="4127921"/>
            <a:ext cx="300600" cy="274800"/>
          </a:xfrm>
          <a:prstGeom prst="ellipse">
            <a:avLst/>
          </a:prstGeom>
          <a:solidFill>
            <a:schemeClr val="accent6"/>
          </a:solidFill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g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635" name="Google Shape;635;p44"/>
          <p:cNvSpPr/>
          <p:nvPr/>
        </p:nvSpPr>
        <p:spPr>
          <a:xfrm>
            <a:off x="5524998" y="4428643"/>
            <a:ext cx="300600" cy="274800"/>
          </a:xfrm>
          <a:prstGeom prst="ellipse">
            <a:avLst/>
          </a:prstGeom>
          <a:solidFill>
            <a:schemeClr val="accent6"/>
          </a:solidFill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f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636" name="Google Shape;636;p44"/>
          <p:cNvSpPr/>
          <p:nvPr/>
        </p:nvSpPr>
        <p:spPr>
          <a:xfrm>
            <a:off x="6064947" y="4127921"/>
            <a:ext cx="300600" cy="274800"/>
          </a:xfrm>
          <a:prstGeom prst="ellipse">
            <a:avLst/>
          </a:prstGeom>
          <a:solidFill>
            <a:schemeClr val="accent6"/>
          </a:solidFill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637" name="Google Shape;637;p44"/>
          <p:cNvSpPr/>
          <p:nvPr/>
        </p:nvSpPr>
        <p:spPr>
          <a:xfrm>
            <a:off x="4831080" y="3685420"/>
            <a:ext cx="300600" cy="274800"/>
          </a:xfrm>
          <a:prstGeom prst="ellipse">
            <a:avLst/>
          </a:prstGeom>
          <a:solidFill>
            <a:schemeClr val="accent4"/>
          </a:solidFill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h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638" name="Google Shape;638;p44"/>
          <p:cNvSpPr/>
          <p:nvPr/>
        </p:nvSpPr>
        <p:spPr>
          <a:xfrm>
            <a:off x="6201244" y="3685420"/>
            <a:ext cx="300600" cy="274800"/>
          </a:xfrm>
          <a:prstGeom prst="ellipse">
            <a:avLst/>
          </a:prstGeom>
          <a:solidFill>
            <a:schemeClr val="accent6"/>
          </a:solidFill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d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639" name="Google Shape;639;p44"/>
          <p:cNvSpPr txBox="1"/>
          <p:nvPr/>
        </p:nvSpPr>
        <p:spPr>
          <a:xfrm>
            <a:off x="4721385" y="4739771"/>
            <a:ext cx="19074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Prop(Kin) = ⅛ = 0.13 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640" name="Google Shape;640;p44"/>
          <p:cNvSpPr/>
          <p:nvPr/>
        </p:nvSpPr>
        <p:spPr>
          <a:xfrm>
            <a:off x="7644545" y="3537224"/>
            <a:ext cx="450900" cy="4524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Ego</a:t>
            </a:r>
            <a:endParaRPr b="1" sz="13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641" name="Google Shape;641;p44"/>
          <p:cNvSpPr/>
          <p:nvPr/>
        </p:nvSpPr>
        <p:spPr>
          <a:xfrm>
            <a:off x="7133554" y="3183418"/>
            <a:ext cx="300600" cy="274800"/>
          </a:xfrm>
          <a:prstGeom prst="ellipse">
            <a:avLst/>
          </a:prstGeom>
          <a:solidFill>
            <a:schemeClr val="accent4"/>
          </a:solidFill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a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642" name="Google Shape;642;p44"/>
          <p:cNvSpPr/>
          <p:nvPr/>
        </p:nvSpPr>
        <p:spPr>
          <a:xfrm>
            <a:off x="7718650" y="2899951"/>
            <a:ext cx="300600" cy="274800"/>
          </a:xfrm>
          <a:prstGeom prst="ellipse">
            <a:avLst/>
          </a:prstGeom>
          <a:solidFill>
            <a:schemeClr val="accent6"/>
          </a:solidFill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b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643" name="Google Shape;643;p44"/>
          <p:cNvSpPr/>
          <p:nvPr/>
        </p:nvSpPr>
        <p:spPr>
          <a:xfrm>
            <a:off x="8268472" y="3183418"/>
            <a:ext cx="300600" cy="274800"/>
          </a:xfrm>
          <a:prstGeom prst="ellipse">
            <a:avLst/>
          </a:prstGeom>
          <a:solidFill>
            <a:schemeClr val="accent4"/>
          </a:solidFill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c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644" name="Google Shape;644;p44"/>
          <p:cNvSpPr/>
          <p:nvPr/>
        </p:nvSpPr>
        <p:spPr>
          <a:xfrm>
            <a:off x="7133554" y="4068434"/>
            <a:ext cx="300600" cy="274800"/>
          </a:xfrm>
          <a:prstGeom prst="ellipse">
            <a:avLst/>
          </a:prstGeom>
          <a:solidFill>
            <a:schemeClr val="accent4"/>
          </a:solidFill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g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645" name="Google Shape;645;p44"/>
          <p:cNvSpPr/>
          <p:nvPr/>
        </p:nvSpPr>
        <p:spPr>
          <a:xfrm>
            <a:off x="7728523" y="4369155"/>
            <a:ext cx="300600" cy="274800"/>
          </a:xfrm>
          <a:prstGeom prst="ellipse">
            <a:avLst/>
          </a:prstGeom>
          <a:solidFill>
            <a:schemeClr val="accent4"/>
          </a:solidFill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f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646" name="Google Shape;646;p44"/>
          <p:cNvSpPr/>
          <p:nvPr/>
        </p:nvSpPr>
        <p:spPr>
          <a:xfrm>
            <a:off x="8268472" y="4068434"/>
            <a:ext cx="300600" cy="274800"/>
          </a:xfrm>
          <a:prstGeom prst="ellipse">
            <a:avLst/>
          </a:prstGeom>
          <a:solidFill>
            <a:schemeClr val="accent4"/>
          </a:solidFill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647" name="Google Shape;647;p44"/>
          <p:cNvSpPr/>
          <p:nvPr/>
        </p:nvSpPr>
        <p:spPr>
          <a:xfrm>
            <a:off x="7034605" y="3625933"/>
            <a:ext cx="300600" cy="274800"/>
          </a:xfrm>
          <a:prstGeom prst="ellipse">
            <a:avLst/>
          </a:prstGeom>
          <a:solidFill>
            <a:schemeClr val="accent4"/>
          </a:solidFill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h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648" name="Google Shape;648;p44"/>
          <p:cNvSpPr/>
          <p:nvPr/>
        </p:nvSpPr>
        <p:spPr>
          <a:xfrm>
            <a:off x="8404769" y="3625933"/>
            <a:ext cx="300600" cy="274800"/>
          </a:xfrm>
          <a:prstGeom prst="ellipse">
            <a:avLst/>
          </a:prstGeom>
          <a:solidFill>
            <a:schemeClr val="accent4"/>
          </a:solidFill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d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649" name="Google Shape;649;p44"/>
          <p:cNvSpPr txBox="1"/>
          <p:nvPr/>
        </p:nvSpPr>
        <p:spPr>
          <a:xfrm>
            <a:off x="6924910" y="4680284"/>
            <a:ext cx="19074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Prop(Kin) = ⅞= 0.88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4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Ego networks: Composition</a:t>
            </a:r>
            <a:endParaRPr/>
          </a:p>
        </p:txBody>
      </p:sp>
      <p:sp>
        <p:nvSpPr>
          <p:cNvPr id="655" name="Google Shape;655;p45"/>
          <p:cNvSpPr txBox="1"/>
          <p:nvPr>
            <p:ph idx="1" type="body"/>
          </p:nvPr>
        </p:nvSpPr>
        <p:spPr>
          <a:xfrm>
            <a:off x="311700" y="1225225"/>
            <a:ext cx="8520600" cy="112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Tell us whether your ego network is dominated by one category of alters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Differentiates between ego-networks that are </a:t>
            </a:r>
            <a:r>
              <a:rPr b="1" lang="en">
                <a:solidFill>
                  <a:srgbClr val="9900FF"/>
                </a:solidFill>
              </a:rPr>
              <a:t>heavy</a:t>
            </a:r>
            <a:r>
              <a:rPr lang="en"/>
              <a:t> on some alter category from those that are </a:t>
            </a:r>
            <a:r>
              <a:rPr b="1" lang="en">
                <a:solidFill>
                  <a:srgbClr val="FF0000"/>
                </a:solidFill>
              </a:rPr>
              <a:t>light</a:t>
            </a:r>
            <a:endParaRPr b="1">
              <a:solidFill>
                <a:srgbClr val="FF0000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E.g., Kin-heavy ego networks</a:t>
            </a:r>
            <a:endParaRPr b="1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6" name="Google Shape;656;p45"/>
          <p:cNvSpPr/>
          <p:nvPr/>
        </p:nvSpPr>
        <p:spPr>
          <a:xfrm>
            <a:off x="961341" y="3596718"/>
            <a:ext cx="450900" cy="4524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Ego</a:t>
            </a:r>
            <a:endParaRPr b="1" sz="13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657" name="Google Shape;657;p45"/>
          <p:cNvSpPr/>
          <p:nvPr/>
        </p:nvSpPr>
        <p:spPr>
          <a:xfrm>
            <a:off x="450350" y="3242912"/>
            <a:ext cx="300600" cy="274800"/>
          </a:xfrm>
          <a:prstGeom prst="ellipse">
            <a:avLst/>
          </a:prstGeom>
          <a:solidFill>
            <a:schemeClr val="accent4"/>
          </a:solidFill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a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658" name="Google Shape;658;p45"/>
          <p:cNvSpPr/>
          <p:nvPr/>
        </p:nvSpPr>
        <p:spPr>
          <a:xfrm>
            <a:off x="1035446" y="2959444"/>
            <a:ext cx="300600" cy="274800"/>
          </a:xfrm>
          <a:prstGeom prst="ellipse">
            <a:avLst/>
          </a:prstGeom>
          <a:solidFill>
            <a:schemeClr val="accent4"/>
          </a:solidFill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b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659" name="Google Shape;659;p45"/>
          <p:cNvSpPr/>
          <p:nvPr/>
        </p:nvSpPr>
        <p:spPr>
          <a:xfrm>
            <a:off x="1585269" y="3242912"/>
            <a:ext cx="300600" cy="274800"/>
          </a:xfrm>
          <a:prstGeom prst="ellipse">
            <a:avLst/>
          </a:prstGeom>
          <a:solidFill>
            <a:schemeClr val="accent6"/>
          </a:solidFill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c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660" name="Google Shape;660;p45"/>
          <p:cNvSpPr/>
          <p:nvPr/>
        </p:nvSpPr>
        <p:spPr>
          <a:xfrm>
            <a:off x="450350" y="4127927"/>
            <a:ext cx="300600" cy="274800"/>
          </a:xfrm>
          <a:prstGeom prst="ellipse">
            <a:avLst/>
          </a:prstGeom>
          <a:solidFill>
            <a:schemeClr val="accent6"/>
          </a:solidFill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g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661" name="Google Shape;661;p45"/>
          <p:cNvSpPr/>
          <p:nvPr/>
        </p:nvSpPr>
        <p:spPr>
          <a:xfrm>
            <a:off x="1045319" y="4428649"/>
            <a:ext cx="300600" cy="274800"/>
          </a:xfrm>
          <a:prstGeom prst="ellipse">
            <a:avLst/>
          </a:prstGeom>
          <a:solidFill>
            <a:schemeClr val="accent6"/>
          </a:solidFill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f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662" name="Google Shape;662;p45"/>
          <p:cNvSpPr/>
          <p:nvPr/>
        </p:nvSpPr>
        <p:spPr>
          <a:xfrm>
            <a:off x="1585269" y="4127927"/>
            <a:ext cx="300600" cy="274800"/>
          </a:xfrm>
          <a:prstGeom prst="ellipse">
            <a:avLst/>
          </a:prstGeom>
          <a:solidFill>
            <a:schemeClr val="accent6"/>
          </a:solidFill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663" name="Google Shape;663;p45"/>
          <p:cNvSpPr/>
          <p:nvPr/>
        </p:nvSpPr>
        <p:spPr>
          <a:xfrm>
            <a:off x="351401" y="3685426"/>
            <a:ext cx="300600" cy="274800"/>
          </a:xfrm>
          <a:prstGeom prst="ellipse">
            <a:avLst/>
          </a:prstGeom>
          <a:solidFill>
            <a:schemeClr val="accent4"/>
          </a:solidFill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h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664" name="Google Shape;664;p45"/>
          <p:cNvSpPr/>
          <p:nvPr/>
        </p:nvSpPr>
        <p:spPr>
          <a:xfrm>
            <a:off x="1721565" y="3685426"/>
            <a:ext cx="300600" cy="274800"/>
          </a:xfrm>
          <a:prstGeom prst="ellipse">
            <a:avLst/>
          </a:prstGeom>
          <a:solidFill>
            <a:schemeClr val="accent6"/>
          </a:solidFill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d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665" name="Google Shape;665;p45"/>
          <p:cNvSpPr/>
          <p:nvPr/>
        </p:nvSpPr>
        <p:spPr>
          <a:xfrm>
            <a:off x="3570767" y="2468880"/>
            <a:ext cx="306000" cy="288600"/>
          </a:xfrm>
          <a:prstGeom prst="ellipse">
            <a:avLst/>
          </a:prstGeom>
          <a:solidFill>
            <a:schemeClr val="accent4"/>
          </a:solidFill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666" name="Google Shape;666;p45"/>
          <p:cNvSpPr txBox="1"/>
          <p:nvPr/>
        </p:nvSpPr>
        <p:spPr>
          <a:xfrm>
            <a:off x="3887433" y="2469274"/>
            <a:ext cx="4077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Kin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667" name="Google Shape;667;p45"/>
          <p:cNvSpPr/>
          <p:nvPr/>
        </p:nvSpPr>
        <p:spPr>
          <a:xfrm>
            <a:off x="4428347" y="2468880"/>
            <a:ext cx="306000" cy="288600"/>
          </a:xfrm>
          <a:prstGeom prst="ellipse">
            <a:avLst/>
          </a:prstGeom>
          <a:solidFill>
            <a:schemeClr val="accent6"/>
          </a:solidFill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668" name="Google Shape;668;p45"/>
          <p:cNvSpPr txBox="1"/>
          <p:nvPr/>
        </p:nvSpPr>
        <p:spPr>
          <a:xfrm>
            <a:off x="4766238" y="2469274"/>
            <a:ext cx="8070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Non-Kin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669" name="Google Shape;669;p45"/>
          <p:cNvSpPr txBox="1"/>
          <p:nvPr/>
        </p:nvSpPr>
        <p:spPr>
          <a:xfrm>
            <a:off x="311700" y="4731146"/>
            <a:ext cx="19074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Prop(Kin) = ⅜ = 0.38 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670" name="Google Shape;670;p45"/>
          <p:cNvSpPr/>
          <p:nvPr/>
        </p:nvSpPr>
        <p:spPr>
          <a:xfrm>
            <a:off x="3146320" y="3596712"/>
            <a:ext cx="450900" cy="4524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Ego</a:t>
            </a:r>
            <a:endParaRPr b="1" sz="13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671" name="Google Shape;671;p45"/>
          <p:cNvSpPr/>
          <p:nvPr/>
        </p:nvSpPr>
        <p:spPr>
          <a:xfrm>
            <a:off x="2635329" y="3242906"/>
            <a:ext cx="300600" cy="274800"/>
          </a:xfrm>
          <a:prstGeom prst="ellipse">
            <a:avLst/>
          </a:prstGeom>
          <a:solidFill>
            <a:schemeClr val="accent4"/>
          </a:solidFill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a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672" name="Google Shape;672;p45"/>
          <p:cNvSpPr/>
          <p:nvPr/>
        </p:nvSpPr>
        <p:spPr>
          <a:xfrm>
            <a:off x="3220425" y="2959438"/>
            <a:ext cx="300600" cy="274800"/>
          </a:xfrm>
          <a:prstGeom prst="ellipse">
            <a:avLst/>
          </a:prstGeom>
          <a:solidFill>
            <a:schemeClr val="accent4"/>
          </a:solidFill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b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673" name="Google Shape;673;p45"/>
          <p:cNvSpPr/>
          <p:nvPr/>
        </p:nvSpPr>
        <p:spPr>
          <a:xfrm>
            <a:off x="3770247" y="3242906"/>
            <a:ext cx="300600" cy="274800"/>
          </a:xfrm>
          <a:prstGeom prst="ellipse">
            <a:avLst/>
          </a:prstGeom>
          <a:solidFill>
            <a:schemeClr val="accent6"/>
          </a:solidFill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c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674" name="Google Shape;674;p45"/>
          <p:cNvSpPr/>
          <p:nvPr/>
        </p:nvSpPr>
        <p:spPr>
          <a:xfrm>
            <a:off x="2635329" y="4127921"/>
            <a:ext cx="300600" cy="274800"/>
          </a:xfrm>
          <a:prstGeom prst="ellipse">
            <a:avLst/>
          </a:prstGeom>
          <a:solidFill>
            <a:schemeClr val="accent4"/>
          </a:solidFill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g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675" name="Google Shape;675;p45"/>
          <p:cNvSpPr/>
          <p:nvPr/>
        </p:nvSpPr>
        <p:spPr>
          <a:xfrm>
            <a:off x="3230298" y="4428643"/>
            <a:ext cx="300600" cy="274800"/>
          </a:xfrm>
          <a:prstGeom prst="ellipse">
            <a:avLst/>
          </a:prstGeom>
          <a:solidFill>
            <a:schemeClr val="accent4"/>
          </a:solidFill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f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676" name="Google Shape;676;p45"/>
          <p:cNvSpPr/>
          <p:nvPr/>
        </p:nvSpPr>
        <p:spPr>
          <a:xfrm>
            <a:off x="3770247" y="4127921"/>
            <a:ext cx="300600" cy="274800"/>
          </a:xfrm>
          <a:prstGeom prst="ellipse">
            <a:avLst/>
          </a:prstGeom>
          <a:solidFill>
            <a:schemeClr val="accent6"/>
          </a:solidFill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677" name="Google Shape;677;p45"/>
          <p:cNvSpPr/>
          <p:nvPr/>
        </p:nvSpPr>
        <p:spPr>
          <a:xfrm>
            <a:off x="2536380" y="3685420"/>
            <a:ext cx="300600" cy="274800"/>
          </a:xfrm>
          <a:prstGeom prst="ellipse">
            <a:avLst/>
          </a:prstGeom>
          <a:solidFill>
            <a:schemeClr val="accent4"/>
          </a:solidFill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h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678" name="Google Shape;678;p45"/>
          <p:cNvSpPr/>
          <p:nvPr/>
        </p:nvSpPr>
        <p:spPr>
          <a:xfrm>
            <a:off x="3906544" y="3685420"/>
            <a:ext cx="300600" cy="274800"/>
          </a:xfrm>
          <a:prstGeom prst="ellipse">
            <a:avLst/>
          </a:prstGeom>
          <a:solidFill>
            <a:schemeClr val="accent6"/>
          </a:solidFill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d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679" name="Google Shape;679;p45"/>
          <p:cNvSpPr txBox="1"/>
          <p:nvPr/>
        </p:nvSpPr>
        <p:spPr>
          <a:xfrm>
            <a:off x="2426685" y="4739771"/>
            <a:ext cx="19074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Prop(Kin) = ⅝= 0.63 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680" name="Google Shape;680;p45"/>
          <p:cNvSpPr/>
          <p:nvPr/>
        </p:nvSpPr>
        <p:spPr>
          <a:xfrm>
            <a:off x="5441020" y="3596712"/>
            <a:ext cx="450900" cy="4524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Ego</a:t>
            </a:r>
            <a:endParaRPr b="1" sz="13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681" name="Google Shape;681;p45"/>
          <p:cNvSpPr/>
          <p:nvPr/>
        </p:nvSpPr>
        <p:spPr>
          <a:xfrm>
            <a:off x="4930029" y="3242906"/>
            <a:ext cx="300600" cy="274800"/>
          </a:xfrm>
          <a:prstGeom prst="ellipse">
            <a:avLst/>
          </a:prstGeom>
          <a:solidFill>
            <a:schemeClr val="accent6"/>
          </a:solidFill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a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682" name="Google Shape;682;p45"/>
          <p:cNvSpPr/>
          <p:nvPr/>
        </p:nvSpPr>
        <p:spPr>
          <a:xfrm>
            <a:off x="5515125" y="2959438"/>
            <a:ext cx="300600" cy="274800"/>
          </a:xfrm>
          <a:prstGeom prst="ellipse">
            <a:avLst/>
          </a:prstGeom>
          <a:solidFill>
            <a:schemeClr val="accent6"/>
          </a:solidFill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b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683" name="Google Shape;683;p45"/>
          <p:cNvSpPr/>
          <p:nvPr/>
        </p:nvSpPr>
        <p:spPr>
          <a:xfrm>
            <a:off x="6064947" y="3242906"/>
            <a:ext cx="300600" cy="274800"/>
          </a:xfrm>
          <a:prstGeom prst="ellipse">
            <a:avLst/>
          </a:prstGeom>
          <a:solidFill>
            <a:schemeClr val="accent6"/>
          </a:solidFill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c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684" name="Google Shape;684;p45"/>
          <p:cNvSpPr/>
          <p:nvPr/>
        </p:nvSpPr>
        <p:spPr>
          <a:xfrm>
            <a:off x="4930029" y="4127921"/>
            <a:ext cx="300600" cy="274800"/>
          </a:xfrm>
          <a:prstGeom prst="ellipse">
            <a:avLst/>
          </a:prstGeom>
          <a:solidFill>
            <a:schemeClr val="accent6"/>
          </a:solidFill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g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685" name="Google Shape;685;p45"/>
          <p:cNvSpPr/>
          <p:nvPr/>
        </p:nvSpPr>
        <p:spPr>
          <a:xfrm>
            <a:off x="5524998" y="4428643"/>
            <a:ext cx="300600" cy="274800"/>
          </a:xfrm>
          <a:prstGeom prst="ellipse">
            <a:avLst/>
          </a:prstGeom>
          <a:solidFill>
            <a:schemeClr val="accent6"/>
          </a:solidFill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f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686" name="Google Shape;686;p45"/>
          <p:cNvSpPr/>
          <p:nvPr/>
        </p:nvSpPr>
        <p:spPr>
          <a:xfrm>
            <a:off x="6064947" y="4127921"/>
            <a:ext cx="300600" cy="274800"/>
          </a:xfrm>
          <a:prstGeom prst="ellipse">
            <a:avLst/>
          </a:prstGeom>
          <a:solidFill>
            <a:schemeClr val="accent6"/>
          </a:solidFill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687" name="Google Shape;687;p45"/>
          <p:cNvSpPr/>
          <p:nvPr/>
        </p:nvSpPr>
        <p:spPr>
          <a:xfrm>
            <a:off x="4831080" y="3685420"/>
            <a:ext cx="300600" cy="274800"/>
          </a:xfrm>
          <a:prstGeom prst="ellipse">
            <a:avLst/>
          </a:prstGeom>
          <a:solidFill>
            <a:schemeClr val="accent4"/>
          </a:solidFill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h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688" name="Google Shape;688;p45"/>
          <p:cNvSpPr/>
          <p:nvPr/>
        </p:nvSpPr>
        <p:spPr>
          <a:xfrm>
            <a:off x="6201244" y="3685420"/>
            <a:ext cx="300600" cy="274800"/>
          </a:xfrm>
          <a:prstGeom prst="ellipse">
            <a:avLst/>
          </a:prstGeom>
          <a:solidFill>
            <a:schemeClr val="accent6"/>
          </a:solidFill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d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689" name="Google Shape;689;p45"/>
          <p:cNvSpPr txBox="1"/>
          <p:nvPr/>
        </p:nvSpPr>
        <p:spPr>
          <a:xfrm>
            <a:off x="4721385" y="4739771"/>
            <a:ext cx="19074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Prop(Kin) = ⅛ = 0.13 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690" name="Google Shape;690;p45"/>
          <p:cNvSpPr/>
          <p:nvPr/>
        </p:nvSpPr>
        <p:spPr>
          <a:xfrm>
            <a:off x="7644545" y="3537224"/>
            <a:ext cx="450900" cy="452400"/>
          </a:xfrm>
          <a:prstGeom prst="ellipse">
            <a:avLst/>
          </a:prstGeom>
          <a:solidFill>
            <a:srgbClr val="9900FF"/>
          </a:solidFill>
          <a:ln cap="flat" cmpd="sng" w="19050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Ego</a:t>
            </a:r>
            <a:endParaRPr b="1" sz="13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691" name="Google Shape;691;p45"/>
          <p:cNvSpPr/>
          <p:nvPr/>
        </p:nvSpPr>
        <p:spPr>
          <a:xfrm>
            <a:off x="7133554" y="3183418"/>
            <a:ext cx="300600" cy="274800"/>
          </a:xfrm>
          <a:prstGeom prst="ellipse">
            <a:avLst/>
          </a:prstGeom>
          <a:solidFill>
            <a:schemeClr val="accent4"/>
          </a:solidFill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a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692" name="Google Shape;692;p45"/>
          <p:cNvSpPr/>
          <p:nvPr/>
        </p:nvSpPr>
        <p:spPr>
          <a:xfrm>
            <a:off x="7718650" y="2899951"/>
            <a:ext cx="300600" cy="274800"/>
          </a:xfrm>
          <a:prstGeom prst="ellipse">
            <a:avLst/>
          </a:prstGeom>
          <a:solidFill>
            <a:schemeClr val="accent6"/>
          </a:solidFill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b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693" name="Google Shape;693;p45"/>
          <p:cNvSpPr/>
          <p:nvPr/>
        </p:nvSpPr>
        <p:spPr>
          <a:xfrm>
            <a:off x="8268472" y="3183418"/>
            <a:ext cx="300600" cy="274800"/>
          </a:xfrm>
          <a:prstGeom prst="ellipse">
            <a:avLst/>
          </a:prstGeom>
          <a:solidFill>
            <a:schemeClr val="accent4"/>
          </a:solidFill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c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694" name="Google Shape;694;p45"/>
          <p:cNvSpPr/>
          <p:nvPr/>
        </p:nvSpPr>
        <p:spPr>
          <a:xfrm>
            <a:off x="7133554" y="4068434"/>
            <a:ext cx="300600" cy="274800"/>
          </a:xfrm>
          <a:prstGeom prst="ellipse">
            <a:avLst/>
          </a:prstGeom>
          <a:solidFill>
            <a:schemeClr val="accent4"/>
          </a:solidFill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g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695" name="Google Shape;695;p45"/>
          <p:cNvSpPr/>
          <p:nvPr/>
        </p:nvSpPr>
        <p:spPr>
          <a:xfrm>
            <a:off x="7728523" y="4369155"/>
            <a:ext cx="300600" cy="274800"/>
          </a:xfrm>
          <a:prstGeom prst="ellipse">
            <a:avLst/>
          </a:prstGeom>
          <a:solidFill>
            <a:schemeClr val="accent4"/>
          </a:solidFill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f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696" name="Google Shape;696;p45"/>
          <p:cNvSpPr/>
          <p:nvPr/>
        </p:nvSpPr>
        <p:spPr>
          <a:xfrm>
            <a:off x="8268472" y="4068434"/>
            <a:ext cx="300600" cy="274800"/>
          </a:xfrm>
          <a:prstGeom prst="ellipse">
            <a:avLst/>
          </a:prstGeom>
          <a:solidFill>
            <a:schemeClr val="accent4"/>
          </a:solidFill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697" name="Google Shape;697;p45"/>
          <p:cNvSpPr/>
          <p:nvPr/>
        </p:nvSpPr>
        <p:spPr>
          <a:xfrm>
            <a:off x="7034605" y="3625933"/>
            <a:ext cx="300600" cy="274800"/>
          </a:xfrm>
          <a:prstGeom prst="ellipse">
            <a:avLst/>
          </a:prstGeom>
          <a:solidFill>
            <a:schemeClr val="accent4"/>
          </a:solidFill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h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698" name="Google Shape;698;p45"/>
          <p:cNvSpPr/>
          <p:nvPr/>
        </p:nvSpPr>
        <p:spPr>
          <a:xfrm>
            <a:off x="8404769" y="3625933"/>
            <a:ext cx="300600" cy="274800"/>
          </a:xfrm>
          <a:prstGeom prst="ellipse">
            <a:avLst/>
          </a:prstGeom>
          <a:solidFill>
            <a:schemeClr val="accent4"/>
          </a:solidFill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d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699" name="Google Shape;699;p45"/>
          <p:cNvSpPr txBox="1"/>
          <p:nvPr/>
        </p:nvSpPr>
        <p:spPr>
          <a:xfrm>
            <a:off x="6924910" y="4680284"/>
            <a:ext cx="19074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Prop(Kin) = ⅞= 0.88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4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Ego networks: Homophily</a:t>
            </a:r>
            <a:endParaRPr/>
          </a:p>
        </p:txBody>
      </p:sp>
      <p:sp>
        <p:nvSpPr>
          <p:cNvPr id="705" name="Google Shape;705;p46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Tells us whether the people in your ego-network are the </a:t>
            </a:r>
            <a:r>
              <a:rPr b="1" lang="en"/>
              <a:t>same</a:t>
            </a:r>
            <a:r>
              <a:rPr lang="en"/>
              <a:t> or </a:t>
            </a:r>
            <a:r>
              <a:rPr b="1" lang="en"/>
              <a:t>different</a:t>
            </a:r>
            <a:r>
              <a:rPr lang="en"/>
              <a:t> from you based on some </a:t>
            </a:r>
            <a:r>
              <a:rPr b="1" lang="en"/>
              <a:t>sociodemographic characteristic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E.g., Age, Race, Gender, Education, Ethnicity, Nationality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Given by the </a:t>
            </a:r>
            <a:r>
              <a:rPr b="1" lang="en"/>
              <a:t>EI Homophily Index: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6" name="Google Shape;706;p46"/>
          <p:cNvSpPr/>
          <p:nvPr/>
        </p:nvSpPr>
        <p:spPr>
          <a:xfrm>
            <a:off x="7555023" y="3525076"/>
            <a:ext cx="543000" cy="5409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Ego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707" name="Google Shape;707;p46"/>
          <p:cNvSpPr/>
          <p:nvPr/>
        </p:nvSpPr>
        <p:spPr>
          <a:xfrm>
            <a:off x="6939671" y="3101668"/>
            <a:ext cx="361800" cy="3288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a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708" name="Google Shape;708;p46"/>
          <p:cNvSpPr/>
          <p:nvPr/>
        </p:nvSpPr>
        <p:spPr>
          <a:xfrm>
            <a:off x="7645518" y="2757276"/>
            <a:ext cx="361800" cy="3288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b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709" name="Google Shape;709;p46"/>
          <p:cNvSpPr/>
          <p:nvPr/>
        </p:nvSpPr>
        <p:spPr>
          <a:xfrm>
            <a:off x="8306377" y="3101668"/>
            <a:ext cx="361800" cy="3288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c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710" name="Google Shape;710;p46"/>
          <p:cNvSpPr/>
          <p:nvPr/>
        </p:nvSpPr>
        <p:spPr>
          <a:xfrm>
            <a:off x="6939671" y="4160787"/>
            <a:ext cx="361800" cy="3288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g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711" name="Google Shape;711;p46"/>
          <p:cNvSpPr/>
          <p:nvPr/>
        </p:nvSpPr>
        <p:spPr>
          <a:xfrm>
            <a:off x="7656806" y="4520717"/>
            <a:ext cx="361800" cy="3288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f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712" name="Google Shape;712;p46"/>
          <p:cNvSpPr/>
          <p:nvPr/>
        </p:nvSpPr>
        <p:spPr>
          <a:xfrm>
            <a:off x="6820513" y="3631236"/>
            <a:ext cx="361800" cy="3288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h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713" name="Google Shape;713;p46"/>
          <p:cNvSpPr/>
          <p:nvPr/>
        </p:nvSpPr>
        <p:spPr>
          <a:xfrm>
            <a:off x="8470510" y="3631236"/>
            <a:ext cx="361800" cy="328800"/>
          </a:xfrm>
          <a:prstGeom prst="ellipse">
            <a:avLst/>
          </a:prstGeom>
          <a:solidFill>
            <a:schemeClr val="accent6"/>
          </a:solidFill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d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cxnSp>
        <p:nvCxnSpPr>
          <p:cNvPr id="714" name="Google Shape;714;p46"/>
          <p:cNvCxnSpPr>
            <a:stCxn id="708" idx="4"/>
            <a:endCxn id="706" idx="0"/>
          </p:cNvCxnSpPr>
          <p:nvPr/>
        </p:nvCxnSpPr>
        <p:spPr>
          <a:xfrm>
            <a:off x="7826418" y="3086076"/>
            <a:ext cx="0" cy="4389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5" name="Google Shape;715;p46"/>
          <p:cNvCxnSpPr>
            <a:stCxn id="711" idx="0"/>
            <a:endCxn id="706" idx="4"/>
          </p:cNvCxnSpPr>
          <p:nvPr/>
        </p:nvCxnSpPr>
        <p:spPr>
          <a:xfrm rot="10800000">
            <a:off x="7826606" y="4065917"/>
            <a:ext cx="11100" cy="454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6" name="Google Shape;716;p46"/>
          <p:cNvCxnSpPr>
            <a:stCxn id="712" idx="6"/>
            <a:endCxn id="706" idx="2"/>
          </p:cNvCxnSpPr>
          <p:nvPr/>
        </p:nvCxnSpPr>
        <p:spPr>
          <a:xfrm>
            <a:off x="7182313" y="3795636"/>
            <a:ext cx="3726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7" name="Google Shape;717;p46"/>
          <p:cNvCxnSpPr>
            <a:stCxn id="713" idx="2"/>
            <a:endCxn id="706" idx="6"/>
          </p:cNvCxnSpPr>
          <p:nvPr/>
        </p:nvCxnSpPr>
        <p:spPr>
          <a:xfrm rot="10800000">
            <a:off x="8097910" y="3795636"/>
            <a:ext cx="3726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8" name="Google Shape;718;p46"/>
          <p:cNvCxnSpPr>
            <a:stCxn id="706" idx="1"/>
            <a:endCxn id="707" idx="5"/>
          </p:cNvCxnSpPr>
          <p:nvPr/>
        </p:nvCxnSpPr>
        <p:spPr>
          <a:xfrm rot="10800000">
            <a:off x="7248443" y="3382289"/>
            <a:ext cx="386100" cy="2220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9" name="Google Shape;719;p46"/>
          <p:cNvCxnSpPr>
            <a:stCxn id="706" idx="7"/>
            <a:endCxn id="709" idx="3"/>
          </p:cNvCxnSpPr>
          <p:nvPr/>
        </p:nvCxnSpPr>
        <p:spPr>
          <a:xfrm flipH="1" rot="10800000">
            <a:off x="8018502" y="3382289"/>
            <a:ext cx="340800" cy="2220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0" name="Google Shape;720;p46"/>
          <p:cNvCxnSpPr>
            <a:stCxn id="710" idx="7"/>
            <a:endCxn id="706" idx="3"/>
          </p:cNvCxnSpPr>
          <p:nvPr/>
        </p:nvCxnSpPr>
        <p:spPr>
          <a:xfrm flipH="1" rot="10800000">
            <a:off x="7248486" y="3986639"/>
            <a:ext cx="386100" cy="2223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1" name="Google Shape;721;p46"/>
          <p:cNvCxnSpPr>
            <a:stCxn id="722" idx="1"/>
            <a:endCxn id="706" idx="5"/>
          </p:cNvCxnSpPr>
          <p:nvPr/>
        </p:nvCxnSpPr>
        <p:spPr>
          <a:xfrm rot="10800000">
            <a:off x="8018562" y="3986639"/>
            <a:ext cx="340800" cy="2223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22" name="Google Shape;722;p46"/>
          <p:cNvSpPr/>
          <p:nvPr/>
        </p:nvSpPr>
        <p:spPr>
          <a:xfrm>
            <a:off x="8306377" y="4160787"/>
            <a:ext cx="361800" cy="328800"/>
          </a:xfrm>
          <a:prstGeom prst="ellipse">
            <a:avLst/>
          </a:prstGeom>
          <a:solidFill>
            <a:schemeClr val="accent6"/>
          </a:solidFill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4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Ego networks: Homophily</a:t>
            </a:r>
            <a:endParaRPr/>
          </a:p>
        </p:txBody>
      </p:sp>
      <p:sp>
        <p:nvSpPr>
          <p:cNvPr id="728" name="Google Shape;728;p47"/>
          <p:cNvSpPr txBox="1"/>
          <p:nvPr>
            <p:ph idx="1" type="body"/>
          </p:nvPr>
        </p:nvSpPr>
        <p:spPr>
          <a:xfrm>
            <a:off x="311700" y="1225225"/>
            <a:ext cx="8522100" cy="36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Tells us whether the people in your ego-network are the </a:t>
            </a:r>
            <a:r>
              <a:rPr b="1" lang="en"/>
              <a:t>same</a:t>
            </a:r>
            <a:r>
              <a:rPr lang="en"/>
              <a:t> or </a:t>
            </a:r>
            <a:r>
              <a:rPr b="1" lang="en"/>
              <a:t>different</a:t>
            </a:r>
            <a:r>
              <a:rPr lang="en"/>
              <a:t> from you based on some </a:t>
            </a:r>
            <a:r>
              <a:rPr b="1" lang="en"/>
              <a:t>sociodemographic characteristic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E.g., Age, Race, Gender, Education, Ethnicity, Nationality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Given by the </a:t>
            </a:r>
            <a:r>
              <a:rPr b="1" lang="en"/>
              <a:t>EI Homophily Index: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EI = \frac{E - I}{E + I}" id="729" name="Google Shape;729;p47" title="MathEquation,#0000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14125" y="2507050"/>
            <a:ext cx="1792224" cy="645586"/>
          </a:xfrm>
          <a:prstGeom prst="rect">
            <a:avLst/>
          </a:prstGeom>
          <a:noFill/>
          <a:ln>
            <a:noFill/>
          </a:ln>
        </p:spPr>
      </p:pic>
      <p:sp>
        <p:nvSpPr>
          <p:cNvPr id="730" name="Google Shape;730;p47"/>
          <p:cNvSpPr/>
          <p:nvPr/>
        </p:nvSpPr>
        <p:spPr>
          <a:xfrm>
            <a:off x="7555023" y="3525076"/>
            <a:ext cx="543000" cy="5409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Ego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731" name="Google Shape;731;p47"/>
          <p:cNvSpPr/>
          <p:nvPr/>
        </p:nvSpPr>
        <p:spPr>
          <a:xfrm>
            <a:off x="6939671" y="3101668"/>
            <a:ext cx="361800" cy="3288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a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732" name="Google Shape;732;p47"/>
          <p:cNvSpPr/>
          <p:nvPr/>
        </p:nvSpPr>
        <p:spPr>
          <a:xfrm>
            <a:off x="7645518" y="2757276"/>
            <a:ext cx="361800" cy="3288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b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733" name="Google Shape;733;p47"/>
          <p:cNvSpPr/>
          <p:nvPr/>
        </p:nvSpPr>
        <p:spPr>
          <a:xfrm>
            <a:off x="8306377" y="3101668"/>
            <a:ext cx="361800" cy="3288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c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734" name="Google Shape;734;p47"/>
          <p:cNvSpPr/>
          <p:nvPr/>
        </p:nvSpPr>
        <p:spPr>
          <a:xfrm>
            <a:off x="6939671" y="4160787"/>
            <a:ext cx="361800" cy="3288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g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735" name="Google Shape;735;p47"/>
          <p:cNvSpPr/>
          <p:nvPr/>
        </p:nvSpPr>
        <p:spPr>
          <a:xfrm>
            <a:off x="7656806" y="4520717"/>
            <a:ext cx="361800" cy="3288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f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736" name="Google Shape;736;p47"/>
          <p:cNvSpPr/>
          <p:nvPr/>
        </p:nvSpPr>
        <p:spPr>
          <a:xfrm>
            <a:off x="6820513" y="3631236"/>
            <a:ext cx="361800" cy="3288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h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737" name="Google Shape;737;p47"/>
          <p:cNvSpPr/>
          <p:nvPr/>
        </p:nvSpPr>
        <p:spPr>
          <a:xfrm>
            <a:off x="8470510" y="3631236"/>
            <a:ext cx="361800" cy="328800"/>
          </a:xfrm>
          <a:prstGeom prst="ellipse">
            <a:avLst/>
          </a:prstGeom>
          <a:solidFill>
            <a:schemeClr val="accent6"/>
          </a:solidFill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d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cxnSp>
        <p:nvCxnSpPr>
          <p:cNvPr id="738" name="Google Shape;738;p47"/>
          <p:cNvCxnSpPr>
            <a:stCxn id="732" idx="4"/>
            <a:endCxn id="730" idx="0"/>
          </p:cNvCxnSpPr>
          <p:nvPr/>
        </p:nvCxnSpPr>
        <p:spPr>
          <a:xfrm>
            <a:off x="7826418" y="3086076"/>
            <a:ext cx="0" cy="4389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9" name="Google Shape;739;p47"/>
          <p:cNvCxnSpPr>
            <a:stCxn id="735" idx="0"/>
            <a:endCxn id="730" idx="4"/>
          </p:cNvCxnSpPr>
          <p:nvPr/>
        </p:nvCxnSpPr>
        <p:spPr>
          <a:xfrm rot="10800000">
            <a:off x="7826606" y="4065917"/>
            <a:ext cx="11100" cy="454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40" name="Google Shape;740;p47"/>
          <p:cNvCxnSpPr>
            <a:stCxn id="736" idx="6"/>
            <a:endCxn id="730" idx="2"/>
          </p:cNvCxnSpPr>
          <p:nvPr/>
        </p:nvCxnSpPr>
        <p:spPr>
          <a:xfrm>
            <a:off x="7182313" y="3795636"/>
            <a:ext cx="3726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41" name="Google Shape;741;p47"/>
          <p:cNvCxnSpPr>
            <a:stCxn id="737" idx="2"/>
            <a:endCxn id="730" idx="6"/>
          </p:cNvCxnSpPr>
          <p:nvPr/>
        </p:nvCxnSpPr>
        <p:spPr>
          <a:xfrm rot="10800000">
            <a:off x="8097910" y="3795636"/>
            <a:ext cx="3726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42" name="Google Shape;742;p47"/>
          <p:cNvCxnSpPr>
            <a:stCxn id="730" idx="1"/>
            <a:endCxn id="731" idx="5"/>
          </p:cNvCxnSpPr>
          <p:nvPr/>
        </p:nvCxnSpPr>
        <p:spPr>
          <a:xfrm rot="10800000">
            <a:off x="7248443" y="3382289"/>
            <a:ext cx="386100" cy="2220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43" name="Google Shape;743;p47"/>
          <p:cNvCxnSpPr>
            <a:stCxn id="730" idx="7"/>
            <a:endCxn id="733" idx="3"/>
          </p:cNvCxnSpPr>
          <p:nvPr/>
        </p:nvCxnSpPr>
        <p:spPr>
          <a:xfrm flipH="1" rot="10800000">
            <a:off x="8018502" y="3382289"/>
            <a:ext cx="340800" cy="2220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44" name="Google Shape;744;p47"/>
          <p:cNvCxnSpPr>
            <a:stCxn id="734" idx="7"/>
            <a:endCxn id="730" idx="3"/>
          </p:cNvCxnSpPr>
          <p:nvPr/>
        </p:nvCxnSpPr>
        <p:spPr>
          <a:xfrm flipH="1" rot="10800000">
            <a:off x="7248486" y="3986639"/>
            <a:ext cx="386100" cy="2223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45" name="Google Shape;745;p47"/>
          <p:cNvCxnSpPr>
            <a:stCxn id="746" idx="1"/>
            <a:endCxn id="730" idx="5"/>
          </p:cNvCxnSpPr>
          <p:nvPr/>
        </p:nvCxnSpPr>
        <p:spPr>
          <a:xfrm rot="10800000">
            <a:off x="8018562" y="3986639"/>
            <a:ext cx="340800" cy="2223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46" name="Google Shape;746;p47"/>
          <p:cNvSpPr/>
          <p:nvPr/>
        </p:nvSpPr>
        <p:spPr>
          <a:xfrm>
            <a:off x="8306377" y="4160787"/>
            <a:ext cx="361800" cy="328800"/>
          </a:xfrm>
          <a:prstGeom prst="ellipse">
            <a:avLst/>
          </a:prstGeom>
          <a:solidFill>
            <a:schemeClr val="accent6"/>
          </a:solidFill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48"/>
          <p:cNvSpPr txBox="1"/>
          <p:nvPr>
            <p:ph idx="1" type="body"/>
          </p:nvPr>
        </p:nvSpPr>
        <p:spPr>
          <a:xfrm>
            <a:off x="311700" y="1225225"/>
            <a:ext cx="8522100" cy="35661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Tells us whether the people in your ego-network are the </a:t>
            </a:r>
            <a:r>
              <a:rPr b="1" lang="en"/>
              <a:t>same</a:t>
            </a:r>
            <a:r>
              <a:rPr lang="en"/>
              <a:t> or </a:t>
            </a:r>
            <a:r>
              <a:rPr b="1" lang="en"/>
              <a:t>different</a:t>
            </a:r>
            <a:r>
              <a:rPr lang="en"/>
              <a:t> from you based on some </a:t>
            </a:r>
            <a:r>
              <a:rPr b="1" lang="en"/>
              <a:t>sociodemographic characteristic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E.g., Age, Race, Gender, Education, Ethnicity, Nationality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Given by the </a:t>
            </a:r>
            <a:r>
              <a:rPr b="1" lang="en"/>
              <a:t>EI Homophily Index: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>
                <a:solidFill>
                  <a:srgbClr val="FF0000"/>
                </a:solidFill>
              </a:rPr>
              <a:t>E</a:t>
            </a:r>
            <a:r>
              <a:rPr lang="en"/>
              <a:t> = Number of “External” (different from you) alters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2" name="Google Shape;752;p4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Ego networks: Homophily</a:t>
            </a:r>
            <a:endParaRPr/>
          </a:p>
        </p:txBody>
      </p:sp>
      <p:pic>
        <p:nvPicPr>
          <p:cNvPr descr="EI = \frac{E - I}{E + I}" id="753" name="Google Shape;753;p48" title="MathEquation,#0000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14125" y="2507050"/>
            <a:ext cx="1792224" cy="645586"/>
          </a:xfrm>
          <a:prstGeom prst="rect">
            <a:avLst/>
          </a:prstGeom>
          <a:noFill/>
          <a:ln>
            <a:noFill/>
          </a:ln>
        </p:spPr>
      </p:pic>
      <p:sp>
        <p:nvSpPr>
          <p:cNvPr id="754" name="Google Shape;754;p48"/>
          <p:cNvSpPr/>
          <p:nvPr/>
        </p:nvSpPr>
        <p:spPr>
          <a:xfrm>
            <a:off x="7555023" y="3525076"/>
            <a:ext cx="543000" cy="5409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Ego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755" name="Google Shape;755;p48"/>
          <p:cNvSpPr/>
          <p:nvPr/>
        </p:nvSpPr>
        <p:spPr>
          <a:xfrm>
            <a:off x="6939671" y="3101668"/>
            <a:ext cx="361800" cy="3288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a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756" name="Google Shape;756;p48"/>
          <p:cNvSpPr/>
          <p:nvPr/>
        </p:nvSpPr>
        <p:spPr>
          <a:xfrm>
            <a:off x="7645518" y="2757276"/>
            <a:ext cx="361800" cy="3288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b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757" name="Google Shape;757;p48"/>
          <p:cNvSpPr/>
          <p:nvPr/>
        </p:nvSpPr>
        <p:spPr>
          <a:xfrm>
            <a:off x="8306377" y="3101668"/>
            <a:ext cx="361800" cy="3288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c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758" name="Google Shape;758;p48"/>
          <p:cNvSpPr/>
          <p:nvPr/>
        </p:nvSpPr>
        <p:spPr>
          <a:xfrm>
            <a:off x="6939671" y="4160787"/>
            <a:ext cx="361800" cy="3288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g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759" name="Google Shape;759;p48"/>
          <p:cNvSpPr/>
          <p:nvPr/>
        </p:nvSpPr>
        <p:spPr>
          <a:xfrm>
            <a:off x="7656806" y="4520717"/>
            <a:ext cx="361800" cy="3288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f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760" name="Google Shape;760;p48"/>
          <p:cNvSpPr/>
          <p:nvPr/>
        </p:nvSpPr>
        <p:spPr>
          <a:xfrm>
            <a:off x="6820513" y="3631236"/>
            <a:ext cx="361800" cy="3288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h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761" name="Google Shape;761;p48"/>
          <p:cNvSpPr/>
          <p:nvPr/>
        </p:nvSpPr>
        <p:spPr>
          <a:xfrm>
            <a:off x="8470510" y="3631236"/>
            <a:ext cx="361800" cy="328800"/>
          </a:xfrm>
          <a:prstGeom prst="ellipse">
            <a:avLst/>
          </a:prstGeom>
          <a:solidFill>
            <a:schemeClr val="accent6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d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cxnSp>
        <p:nvCxnSpPr>
          <p:cNvPr id="762" name="Google Shape;762;p48"/>
          <p:cNvCxnSpPr>
            <a:stCxn id="756" idx="4"/>
            <a:endCxn id="754" idx="0"/>
          </p:cNvCxnSpPr>
          <p:nvPr/>
        </p:nvCxnSpPr>
        <p:spPr>
          <a:xfrm>
            <a:off x="7826418" y="3086076"/>
            <a:ext cx="0" cy="4389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63" name="Google Shape;763;p48"/>
          <p:cNvCxnSpPr>
            <a:stCxn id="759" idx="0"/>
            <a:endCxn id="754" idx="4"/>
          </p:cNvCxnSpPr>
          <p:nvPr/>
        </p:nvCxnSpPr>
        <p:spPr>
          <a:xfrm rot="10800000">
            <a:off x="7826606" y="4065917"/>
            <a:ext cx="11100" cy="454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64" name="Google Shape;764;p48"/>
          <p:cNvCxnSpPr>
            <a:stCxn id="760" idx="6"/>
            <a:endCxn id="754" idx="2"/>
          </p:cNvCxnSpPr>
          <p:nvPr/>
        </p:nvCxnSpPr>
        <p:spPr>
          <a:xfrm>
            <a:off x="7182313" y="3795636"/>
            <a:ext cx="3726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65" name="Google Shape;765;p48"/>
          <p:cNvCxnSpPr>
            <a:stCxn id="761" idx="2"/>
            <a:endCxn id="754" idx="6"/>
          </p:cNvCxnSpPr>
          <p:nvPr/>
        </p:nvCxnSpPr>
        <p:spPr>
          <a:xfrm rot="10800000">
            <a:off x="8097910" y="3795636"/>
            <a:ext cx="3726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66" name="Google Shape;766;p48"/>
          <p:cNvCxnSpPr>
            <a:stCxn id="754" idx="1"/>
            <a:endCxn id="755" idx="5"/>
          </p:cNvCxnSpPr>
          <p:nvPr/>
        </p:nvCxnSpPr>
        <p:spPr>
          <a:xfrm rot="10800000">
            <a:off x="7248443" y="3382289"/>
            <a:ext cx="386100" cy="2220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67" name="Google Shape;767;p48"/>
          <p:cNvCxnSpPr>
            <a:stCxn id="754" idx="7"/>
            <a:endCxn id="757" idx="3"/>
          </p:cNvCxnSpPr>
          <p:nvPr/>
        </p:nvCxnSpPr>
        <p:spPr>
          <a:xfrm flipH="1" rot="10800000">
            <a:off x="8018502" y="3382289"/>
            <a:ext cx="340800" cy="2220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68" name="Google Shape;768;p48"/>
          <p:cNvCxnSpPr>
            <a:stCxn id="758" idx="7"/>
            <a:endCxn id="754" idx="3"/>
          </p:cNvCxnSpPr>
          <p:nvPr/>
        </p:nvCxnSpPr>
        <p:spPr>
          <a:xfrm flipH="1" rot="10800000">
            <a:off x="7248486" y="3986639"/>
            <a:ext cx="386100" cy="2223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69" name="Google Shape;769;p48"/>
          <p:cNvCxnSpPr>
            <a:stCxn id="770" idx="1"/>
            <a:endCxn id="754" idx="5"/>
          </p:cNvCxnSpPr>
          <p:nvPr/>
        </p:nvCxnSpPr>
        <p:spPr>
          <a:xfrm rot="10800000">
            <a:off x="8018562" y="3986639"/>
            <a:ext cx="340800" cy="2223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70" name="Google Shape;770;p48"/>
          <p:cNvSpPr/>
          <p:nvPr/>
        </p:nvSpPr>
        <p:spPr>
          <a:xfrm>
            <a:off x="8306377" y="4160787"/>
            <a:ext cx="361800" cy="328800"/>
          </a:xfrm>
          <a:prstGeom prst="ellipse">
            <a:avLst/>
          </a:prstGeom>
          <a:solidFill>
            <a:schemeClr val="accent6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p49"/>
          <p:cNvSpPr txBox="1"/>
          <p:nvPr>
            <p:ph idx="1" type="body"/>
          </p:nvPr>
        </p:nvSpPr>
        <p:spPr>
          <a:xfrm>
            <a:off x="311700" y="1225225"/>
            <a:ext cx="8522100" cy="36243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Tells us whether the people in your ego-network are the </a:t>
            </a:r>
            <a:r>
              <a:rPr b="1" lang="en"/>
              <a:t>same</a:t>
            </a:r>
            <a:r>
              <a:rPr lang="en"/>
              <a:t> or </a:t>
            </a:r>
            <a:r>
              <a:rPr b="1" lang="en"/>
              <a:t>different</a:t>
            </a:r>
            <a:r>
              <a:rPr lang="en"/>
              <a:t> from you based on some </a:t>
            </a:r>
            <a:r>
              <a:rPr b="1" lang="en"/>
              <a:t>sociodemographic characteristic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E.g., Age, Race, Gender, Education, Ethnicity, Nationality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Given by the </a:t>
            </a:r>
            <a:r>
              <a:rPr b="1" lang="en"/>
              <a:t>EI Homophily Index: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>
                <a:solidFill>
                  <a:srgbClr val="FF0000"/>
                </a:solidFill>
              </a:rPr>
              <a:t>E</a:t>
            </a:r>
            <a:r>
              <a:rPr lang="en"/>
              <a:t> = Number of “External” (different from you) alters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>
                <a:solidFill>
                  <a:srgbClr val="FF00FF"/>
                </a:solidFill>
              </a:rPr>
              <a:t>I</a:t>
            </a:r>
            <a:r>
              <a:rPr lang="en"/>
              <a:t> = Number of “Internal” (same as you) alters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6" name="Google Shape;776;p4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Ego networks: Homophily</a:t>
            </a:r>
            <a:endParaRPr/>
          </a:p>
        </p:txBody>
      </p:sp>
      <p:pic>
        <p:nvPicPr>
          <p:cNvPr descr="EI = \frac{E - I}{E + I}" id="777" name="Google Shape;777;p49" title="MathEquation,#0000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14125" y="2507050"/>
            <a:ext cx="1792224" cy="645586"/>
          </a:xfrm>
          <a:prstGeom prst="rect">
            <a:avLst/>
          </a:prstGeom>
          <a:noFill/>
          <a:ln>
            <a:noFill/>
          </a:ln>
        </p:spPr>
      </p:pic>
      <p:sp>
        <p:nvSpPr>
          <p:cNvPr id="778" name="Google Shape;778;p49"/>
          <p:cNvSpPr/>
          <p:nvPr/>
        </p:nvSpPr>
        <p:spPr>
          <a:xfrm>
            <a:off x="7555023" y="3525076"/>
            <a:ext cx="543000" cy="5409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Ego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779" name="Google Shape;779;p49"/>
          <p:cNvSpPr/>
          <p:nvPr/>
        </p:nvSpPr>
        <p:spPr>
          <a:xfrm>
            <a:off x="6939671" y="3101668"/>
            <a:ext cx="361800" cy="3288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a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780" name="Google Shape;780;p49"/>
          <p:cNvSpPr/>
          <p:nvPr/>
        </p:nvSpPr>
        <p:spPr>
          <a:xfrm>
            <a:off x="7645518" y="2757276"/>
            <a:ext cx="361800" cy="3288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b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781" name="Google Shape;781;p49"/>
          <p:cNvSpPr/>
          <p:nvPr/>
        </p:nvSpPr>
        <p:spPr>
          <a:xfrm>
            <a:off x="8306377" y="3101668"/>
            <a:ext cx="361800" cy="3288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c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782" name="Google Shape;782;p49"/>
          <p:cNvSpPr/>
          <p:nvPr/>
        </p:nvSpPr>
        <p:spPr>
          <a:xfrm>
            <a:off x="6939671" y="4160787"/>
            <a:ext cx="361800" cy="3288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g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783" name="Google Shape;783;p49"/>
          <p:cNvSpPr/>
          <p:nvPr/>
        </p:nvSpPr>
        <p:spPr>
          <a:xfrm>
            <a:off x="7656806" y="4520717"/>
            <a:ext cx="361800" cy="3288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f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784" name="Google Shape;784;p49"/>
          <p:cNvSpPr/>
          <p:nvPr/>
        </p:nvSpPr>
        <p:spPr>
          <a:xfrm>
            <a:off x="6820513" y="3631236"/>
            <a:ext cx="361800" cy="3288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h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785" name="Google Shape;785;p49"/>
          <p:cNvSpPr/>
          <p:nvPr/>
        </p:nvSpPr>
        <p:spPr>
          <a:xfrm>
            <a:off x="8470510" y="3631236"/>
            <a:ext cx="361800" cy="328800"/>
          </a:xfrm>
          <a:prstGeom prst="ellipse">
            <a:avLst/>
          </a:prstGeom>
          <a:solidFill>
            <a:schemeClr val="accent6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d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cxnSp>
        <p:nvCxnSpPr>
          <p:cNvPr id="786" name="Google Shape;786;p49"/>
          <p:cNvCxnSpPr>
            <a:stCxn id="780" idx="4"/>
            <a:endCxn id="778" idx="0"/>
          </p:cNvCxnSpPr>
          <p:nvPr/>
        </p:nvCxnSpPr>
        <p:spPr>
          <a:xfrm>
            <a:off x="7826418" y="3086076"/>
            <a:ext cx="0" cy="4389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7" name="Google Shape;787;p49"/>
          <p:cNvCxnSpPr>
            <a:stCxn id="783" idx="0"/>
            <a:endCxn id="778" idx="4"/>
          </p:cNvCxnSpPr>
          <p:nvPr/>
        </p:nvCxnSpPr>
        <p:spPr>
          <a:xfrm rot="10800000">
            <a:off x="7826606" y="4065917"/>
            <a:ext cx="11100" cy="4548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8" name="Google Shape;788;p49"/>
          <p:cNvCxnSpPr>
            <a:stCxn id="784" idx="6"/>
            <a:endCxn id="778" idx="2"/>
          </p:cNvCxnSpPr>
          <p:nvPr/>
        </p:nvCxnSpPr>
        <p:spPr>
          <a:xfrm>
            <a:off x="7182313" y="3795636"/>
            <a:ext cx="372600" cy="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9" name="Google Shape;789;p49"/>
          <p:cNvCxnSpPr>
            <a:stCxn id="785" idx="2"/>
            <a:endCxn id="778" idx="6"/>
          </p:cNvCxnSpPr>
          <p:nvPr/>
        </p:nvCxnSpPr>
        <p:spPr>
          <a:xfrm rot="10800000">
            <a:off x="8097910" y="3795636"/>
            <a:ext cx="3726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90" name="Google Shape;790;p49"/>
          <p:cNvCxnSpPr>
            <a:stCxn id="778" idx="1"/>
            <a:endCxn id="779" idx="5"/>
          </p:cNvCxnSpPr>
          <p:nvPr/>
        </p:nvCxnSpPr>
        <p:spPr>
          <a:xfrm rot="10800000">
            <a:off x="7248443" y="3382289"/>
            <a:ext cx="386100" cy="2220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91" name="Google Shape;791;p49"/>
          <p:cNvCxnSpPr>
            <a:stCxn id="778" idx="7"/>
            <a:endCxn id="781" idx="3"/>
          </p:cNvCxnSpPr>
          <p:nvPr/>
        </p:nvCxnSpPr>
        <p:spPr>
          <a:xfrm flipH="1" rot="10800000">
            <a:off x="8018502" y="3382289"/>
            <a:ext cx="340800" cy="2220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92" name="Google Shape;792;p49"/>
          <p:cNvCxnSpPr>
            <a:stCxn id="782" idx="7"/>
            <a:endCxn id="778" idx="3"/>
          </p:cNvCxnSpPr>
          <p:nvPr/>
        </p:nvCxnSpPr>
        <p:spPr>
          <a:xfrm flipH="1" rot="10800000">
            <a:off x="7248486" y="3986639"/>
            <a:ext cx="386100" cy="2223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93" name="Google Shape;793;p49"/>
          <p:cNvCxnSpPr>
            <a:stCxn id="794" idx="1"/>
            <a:endCxn id="778" idx="5"/>
          </p:cNvCxnSpPr>
          <p:nvPr/>
        </p:nvCxnSpPr>
        <p:spPr>
          <a:xfrm rot="10800000">
            <a:off x="8018562" y="3986639"/>
            <a:ext cx="340800" cy="2223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94" name="Google Shape;794;p49"/>
          <p:cNvSpPr/>
          <p:nvPr/>
        </p:nvSpPr>
        <p:spPr>
          <a:xfrm>
            <a:off x="8306377" y="4160787"/>
            <a:ext cx="361800" cy="328800"/>
          </a:xfrm>
          <a:prstGeom prst="ellipse">
            <a:avLst/>
          </a:prstGeom>
          <a:solidFill>
            <a:schemeClr val="accent6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8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p50"/>
          <p:cNvSpPr txBox="1"/>
          <p:nvPr>
            <p:ph idx="1" type="body"/>
          </p:nvPr>
        </p:nvSpPr>
        <p:spPr>
          <a:xfrm>
            <a:off x="311700" y="1225225"/>
            <a:ext cx="8522100" cy="36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Tells us whether the people in your ego-network are the </a:t>
            </a:r>
            <a:r>
              <a:rPr b="1" lang="en"/>
              <a:t>same</a:t>
            </a:r>
            <a:r>
              <a:rPr lang="en"/>
              <a:t> or </a:t>
            </a:r>
            <a:r>
              <a:rPr b="1" lang="en"/>
              <a:t>different</a:t>
            </a:r>
            <a:r>
              <a:rPr lang="en"/>
              <a:t> from you based on some </a:t>
            </a:r>
            <a:r>
              <a:rPr b="1" lang="en"/>
              <a:t>sociodemographic characteristic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E.g., Age, Race, Gender, Education, Ethnicity, Nationality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Given by the </a:t>
            </a:r>
            <a:r>
              <a:rPr b="1" lang="en"/>
              <a:t>EI Homophily Index: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>
                <a:solidFill>
                  <a:srgbClr val="FF0000"/>
                </a:solidFill>
              </a:rPr>
              <a:t>E</a:t>
            </a:r>
            <a:r>
              <a:rPr lang="en"/>
              <a:t> = Number of “External” (different from you) alters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>
                <a:solidFill>
                  <a:srgbClr val="FF00FF"/>
                </a:solidFill>
              </a:rPr>
              <a:t>I</a:t>
            </a:r>
            <a:r>
              <a:rPr lang="en"/>
              <a:t> = Number of “Internal” (same as you) alters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 = 3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 = 5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0" name="Google Shape;800;p5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Ego networks: Homophily</a:t>
            </a:r>
            <a:endParaRPr/>
          </a:p>
        </p:txBody>
      </p:sp>
      <p:pic>
        <p:nvPicPr>
          <p:cNvPr descr="EI = \frac{E - I}{E + I}" id="801" name="Google Shape;801;p50" title="MathEquation,#0000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14125" y="2507050"/>
            <a:ext cx="1792224" cy="645586"/>
          </a:xfrm>
          <a:prstGeom prst="rect">
            <a:avLst/>
          </a:prstGeom>
          <a:noFill/>
          <a:ln>
            <a:noFill/>
          </a:ln>
        </p:spPr>
      </p:pic>
      <p:sp>
        <p:nvSpPr>
          <p:cNvPr id="802" name="Google Shape;802;p50"/>
          <p:cNvSpPr/>
          <p:nvPr/>
        </p:nvSpPr>
        <p:spPr>
          <a:xfrm>
            <a:off x="7555023" y="3525076"/>
            <a:ext cx="543000" cy="5409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Ego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803" name="Google Shape;803;p50"/>
          <p:cNvSpPr/>
          <p:nvPr/>
        </p:nvSpPr>
        <p:spPr>
          <a:xfrm>
            <a:off x="6939671" y="3101668"/>
            <a:ext cx="361800" cy="3288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a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804" name="Google Shape;804;p50"/>
          <p:cNvSpPr/>
          <p:nvPr/>
        </p:nvSpPr>
        <p:spPr>
          <a:xfrm>
            <a:off x="7645518" y="2757276"/>
            <a:ext cx="361800" cy="3288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b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805" name="Google Shape;805;p50"/>
          <p:cNvSpPr/>
          <p:nvPr/>
        </p:nvSpPr>
        <p:spPr>
          <a:xfrm>
            <a:off x="8306377" y="3101668"/>
            <a:ext cx="361800" cy="3288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c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806" name="Google Shape;806;p50"/>
          <p:cNvSpPr/>
          <p:nvPr/>
        </p:nvSpPr>
        <p:spPr>
          <a:xfrm>
            <a:off x="6939671" y="4160787"/>
            <a:ext cx="361800" cy="3288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g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807" name="Google Shape;807;p50"/>
          <p:cNvSpPr/>
          <p:nvPr/>
        </p:nvSpPr>
        <p:spPr>
          <a:xfrm>
            <a:off x="7656806" y="4520717"/>
            <a:ext cx="361800" cy="3288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f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808" name="Google Shape;808;p50"/>
          <p:cNvSpPr/>
          <p:nvPr/>
        </p:nvSpPr>
        <p:spPr>
          <a:xfrm>
            <a:off x="6820513" y="3631236"/>
            <a:ext cx="361800" cy="3288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h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809" name="Google Shape;809;p50"/>
          <p:cNvSpPr/>
          <p:nvPr/>
        </p:nvSpPr>
        <p:spPr>
          <a:xfrm>
            <a:off x="8470510" y="3631236"/>
            <a:ext cx="361800" cy="328800"/>
          </a:xfrm>
          <a:prstGeom prst="ellipse">
            <a:avLst/>
          </a:prstGeom>
          <a:solidFill>
            <a:schemeClr val="accent6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d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cxnSp>
        <p:nvCxnSpPr>
          <p:cNvPr id="810" name="Google Shape;810;p50"/>
          <p:cNvCxnSpPr>
            <a:stCxn id="804" idx="4"/>
            <a:endCxn id="802" idx="0"/>
          </p:cNvCxnSpPr>
          <p:nvPr/>
        </p:nvCxnSpPr>
        <p:spPr>
          <a:xfrm>
            <a:off x="7826418" y="3086076"/>
            <a:ext cx="0" cy="4389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11" name="Google Shape;811;p50"/>
          <p:cNvCxnSpPr>
            <a:stCxn id="807" idx="0"/>
            <a:endCxn id="802" idx="4"/>
          </p:cNvCxnSpPr>
          <p:nvPr/>
        </p:nvCxnSpPr>
        <p:spPr>
          <a:xfrm rot="10800000">
            <a:off x="7826606" y="4065917"/>
            <a:ext cx="11100" cy="4548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12" name="Google Shape;812;p50"/>
          <p:cNvCxnSpPr>
            <a:stCxn id="808" idx="6"/>
            <a:endCxn id="802" idx="2"/>
          </p:cNvCxnSpPr>
          <p:nvPr/>
        </p:nvCxnSpPr>
        <p:spPr>
          <a:xfrm>
            <a:off x="7182313" y="3795636"/>
            <a:ext cx="372600" cy="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13" name="Google Shape;813;p50"/>
          <p:cNvCxnSpPr>
            <a:stCxn id="809" idx="2"/>
            <a:endCxn id="802" idx="6"/>
          </p:cNvCxnSpPr>
          <p:nvPr/>
        </p:nvCxnSpPr>
        <p:spPr>
          <a:xfrm rot="10800000">
            <a:off x="8097910" y="3795636"/>
            <a:ext cx="3726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14" name="Google Shape;814;p50"/>
          <p:cNvCxnSpPr>
            <a:stCxn id="802" idx="1"/>
            <a:endCxn id="803" idx="5"/>
          </p:cNvCxnSpPr>
          <p:nvPr/>
        </p:nvCxnSpPr>
        <p:spPr>
          <a:xfrm rot="10800000">
            <a:off x="7248443" y="3382289"/>
            <a:ext cx="386100" cy="2220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15" name="Google Shape;815;p50"/>
          <p:cNvCxnSpPr>
            <a:stCxn id="802" idx="7"/>
            <a:endCxn id="805" idx="3"/>
          </p:cNvCxnSpPr>
          <p:nvPr/>
        </p:nvCxnSpPr>
        <p:spPr>
          <a:xfrm flipH="1" rot="10800000">
            <a:off x="8018502" y="3382289"/>
            <a:ext cx="340800" cy="2220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16" name="Google Shape;816;p50"/>
          <p:cNvCxnSpPr>
            <a:stCxn id="806" idx="7"/>
            <a:endCxn id="802" idx="3"/>
          </p:cNvCxnSpPr>
          <p:nvPr/>
        </p:nvCxnSpPr>
        <p:spPr>
          <a:xfrm flipH="1" rot="10800000">
            <a:off x="7248486" y="3986639"/>
            <a:ext cx="386100" cy="2223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17" name="Google Shape;817;p50"/>
          <p:cNvCxnSpPr>
            <a:stCxn id="818" idx="1"/>
            <a:endCxn id="802" idx="5"/>
          </p:cNvCxnSpPr>
          <p:nvPr/>
        </p:nvCxnSpPr>
        <p:spPr>
          <a:xfrm rot="10800000">
            <a:off x="8018562" y="3986639"/>
            <a:ext cx="340800" cy="2223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18" name="Google Shape;818;p50"/>
          <p:cNvSpPr/>
          <p:nvPr/>
        </p:nvSpPr>
        <p:spPr>
          <a:xfrm>
            <a:off x="8306377" y="4160787"/>
            <a:ext cx="361800" cy="328800"/>
          </a:xfrm>
          <a:prstGeom prst="ellipse">
            <a:avLst/>
          </a:prstGeom>
          <a:solidFill>
            <a:schemeClr val="accent6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2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Google Shape;823;p51"/>
          <p:cNvSpPr txBox="1"/>
          <p:nvPr>
            <p:ph idx="1" type="body"/>
          </p:nvPr>
        </p:nvSpPr>
        <p:spPr>
          <a:xfrm>
            <a:off x="311700" y="1225225"/>
            <a:ext cx="8522100" cy="36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Tells us whether the people in your ego-network are the </a:t>
            </a:r>
            <a:r>
              <a:rPr b="1" lang="en"/>
              <a:t>same</a:t>
            </a:r>
            <a:r>
              <a:rPr lang="en"/>
              <a:t> or </a:t>
            </a:r>
            <a:r>
              <a:rPr b="1" lang="en"/>
              <a:t>different</a:t>
            </a:r>
            <a:r>
              <a:rPr lang="en"/>
              <a:t> from you based on some </a:t>
            </a:r>
            <a:r>
              <a:rPr b="1" lang="en"/>
              <a:t>sociodemographic characteristic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E.g., Age, Race, Gender, Education, Ethnicity, Nationality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Given by the </a:t>
            </a:r>
            <a:r>
              <a:rPr b="1" lang="en"/>
              <a:t>EI Homophily Index: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>
                <a:solidFill>
                  <a:srgbClr val="FF0000"/>
                </a:solidFill>
              </a:rPr>
              <a:t>E</a:t>
            </a:r>
            <a:r>
              <a:rPr lang="en"/>
              <a:t> = Number of “External” (different from you) alters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>
                <a:solidFill>
                  <a:srgbClr val="FF00FF"/>
                </a:solidFill>
              </a:rPr>
              <a:t>I</a:t>
            </a:r>
            <a:r>
              <a:rPr lang="en"/>
              <a:t> = Number of “Internal” (same as you) alters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 = 3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 = 5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4" name="Google Shape;824;p5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Ego networks: Homophily</a:t>
            </a:r>
            <a:endParaRPr/>
          </a:p>
        </p:txBody>
      </p:sp>
      <p:pic>
        <p:nvPicPr>
          <p:cNvPr descr="EI = \frac{E - I}{E + I}" id="825" name="Google Shape;825;p51" title="MathEquation,#0000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14125" y="2507050"/>
            <a:ext cx="1792224" cy="645586"/>
          </a:xfrm>
          <a:prstGeom prst="rect">
            <a:avLst/>
          </a:prstGeom>
          <a:noFill/>
          <a:ln>
            <a:noFill/>
          </a:ln>
        </p:spPr>
      </p:pic>
      <p:sp>
        <p:nvSpPr>
          <p:cNvPr id="826" name="Google Shape;826;p51"/>
          <p:cNvSpPr/>
          <p:nvPr/>
        </p:nvSpPr>
        <p:spPr>
          <a:xfrm>
            <a:off x="7555023" y="3525076"/>
            <a:ext cx="543000" cy="5409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Ego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827" name="Google Shape;827;p51"/>
          <p:cNvSpPr/>
          <p:nvPr/>
        </p:nvSpPr>
        <p:spPr>
          <a:xfrm>
            <a:off x="6939671" y="3101668"/>
            <a:ext cx="361800" cy="3288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a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828" name="Google Shape;828;p51"/>
          <p:cNvSpPr/>
          <p:nvPr/>
        </p:nvSpPr>
        <p:spPr>
          <a:xfrm>
            <a:off x="7645518" y="2757276"/>
            <a:ext cx="361800" cy="3288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b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829" name="Google Shape;829;p51"/>
          <p:cNvSpPr/>
          <p:nvPr/>
        </p:nvSpPr>
        <p:spPr>
          <a:xfrm>
            <a:off x="8306377" y="3101668"/>
            <a:ext cx="361800" cy="3288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c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830" name="Google Shape;830;p51"/>
          <p:cNvSpPr/>
          <p:nvPr/>
        </p:nvSpPr>
        <p:spPr>
          <a:xfrm>
            <a:off x="6939671" y="4160787"/>
            <a:ext cx="361800" cy="3288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g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831" name="Google Shape;831;p51"/>
          <p:cNvSpPr/>
          <p:nvPr/>
        </p:nvSpPr>
        <p:spPr>
          <a:xfrm>
            <a:off x="7656806" y="4520717"/>
            <a:ext cx="361800" cy="3288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f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832" name="Google Shape;832;p51"/>
          <p:cNvSpPr/>
          <p:nvPr/>
        </p:nvSpPr>
        <p:spPr>
          <a:xfrm>
            <a:off x="6820513" y="3631236"/>
            <a:ext cx="361800" cy="3288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h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833" name="Google Shape;833;p51"/>
          <p:cNvSpPr/>
          <p:nvPr/>
        </p:nvSpPr>
        <p:spPr>
          <a:xfrm>
            <a:off x="8470510" y="3631236"/>
            <a:ext cx="361800" cy="328800"/>
          </a:xfrm>
          <a:prstGeom prst="ellipse">
            <a:avLst/>
          </a:prstGeom>
          <a:solidFill>
            <a:schemeClr val="accent6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d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cxnSp>
        <p:nvCxnSpPr>
          <p:cNvPr id="834" name="Google Shape;834;p51"/>
          <p:cNvCxnSpPr>
            <a:stCxn id="828" idx="4"/>
            <a:endCxn id="826" idx="0"/>
          </p:cNvCxnSpPr>
          <p:nvPr/>
        </p:nvCxnSpPr>
        <p:spPr>
          <a:xfrm>
            <a:off x="7826418" y="3086076"/>
            <a:ext cx="0" cy="4389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5" name="Google Shape;835;p51"/>
          <p:cNvCxnSpPr>
            <a:stCxn id="831" idx="0"/>
            <a:endCxn id="826" idx="4"/>
          </p:cNvCxnSpPr>
          <p:nvPr/>
        </p:nvCxnSpPr>
        <p:spPr>
          <a:xfrm rot="10800000">
            <a:off x="7826606" y="4065917"/>
            <a:ext cx="11100" cy="4548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6" name="Google Shape;836;p51"/>
          <p:cNvCxnSpPr>
            <a:stCxn id="832" idx="6"/>
            <a:endCxn id="826" idx="2"/>
          </p:cNvCxnSpPr>
          <p:nvPr/>
        </p:nvCxnSpPr>
        <p:spPr>
          <a:xfrm>
            <a:off x="7182313" y="3795636"/>
            <a:ext cx="372600" cy="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7" name="Google Shape;837;p51"/>
          <p:cNvCxnSpPr>
            <a:stCxn id="833" idx="2"/>
            <a:endCxn id="826" idx="6"/>
          </p:cNvCxnSpPr>
          <p:nvPr/>
        </p:nvCxnSpPr>
        <p:spPr>
          <a:xfrm rot="10800000">
            <a:off x="8097910" y="3795636"/>
            <a:ext cx="3726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8" name="Google Shape;838;p51"/>
          <p:cNvCxnSpPr>
            <a:stCxn id="826" idx="1"/>
            <a:endCxn id="827" idx="5"/>
          </p:cNvCxnSpPr>
          <p:nvPr/>
        </p:nvCxnSpPr>
        <p:spPr>
          <a:xfrm rot="10800000">
            <a:off x="7248443" y="3382289"/>
            <a:ext cx="386100" cy="2220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9" name="Google Shape;839;p51"/>
          <p:cNvCxnSpPr>
            <a:stCxn id="826" idx="7"/>
            <a:endCxn id="829" idx="3"/>
          </p:cNvCxnSpPr>
          <p:nvPr/>
        </p:nvCxnSpPr>
        <p:spPr>
          <a:xfrm flipH="1" rot="10800000">
            <a:off x="8018502" y="3382289"/>
            <a:ext cx="340800" cy="2220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0" name="Google Shape;840;p51"/>
          <p:cNvCxnSpPr>
            <a:stCxn id="830" idx="7"/>
            <a:endCxn id="826" idx="3"/>
          </p:cNvCxnSpPr>
          <p:nvPr/>
        </p:nvCxnSpPr>
        <p:spPr>
          <a:xfrm flipH="1" rot="10800000">
            <a:off x="7248486" y="3986639"/>
            <a:ext cx="386100" cy="2223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1" name="Google Shape;841;p51"/>
          <p:cNvCxnSpPr>
            <a:stCxn id="842" idx="1"/>
            <a:endCxn id="826" idx="5"/>
          </p:cNvCxnSpPr>
          <p:nvPr/>
        </p:nvCxnSpPr>
        <p:spPr>
          <a:xfrm rot="10800000">
            <a:off x="8018562" y="3986639"/>
            <a:ext cx="340800" cy="2223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42" name="Google Shape;842;p51"/>
          <p:cNvSpPr/>
          <p:nvPr/>
        </p:nvSpPr>
        <p:spPr>
          <a:xfrm>
            <a:off x="8306377" y="4160787"/>
            <a:ext cx="361800" cy="328800"/>
          </a:xfrm>
          <a:prstGeom prst="ellipse">
            <a:avLst/>
          </a:prstGeom>
          <a:solidFill>
            <a:schemeClr val="accent6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pic>
        <p:nvPicPr>
          <p:cNvPr descr="EI=\frac{E-I}{E+I} = \frac{3-5}{3+5}=\frac{-2}{8}=-0.25" id="843" name="Google Shape;843;p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24190" y="4160786"/>
            <a:ext cx="4544567" cy="649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7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p52"/>
          <p:cNvSpPr txBox="1"/>
          <p:nvPr>
            <p:ph idx="1" type="body"/>
          </p:nvPr>
        </p:nvSpPr>
        <p:spPr>
          <a:xfrm>
            <a:off x="311700" y="1225225"/>
            <a:ext cx="8522100" cy="122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Tells us whether the people in your ego-network are the </a:t>
            </a:r>
            <a:r>
              <a:rPr b="1" lang="en"/>
              <a:t>same</a:t>
            </a:r>
            <a:r>
              <a:rPr lang="en"/>
              <a:t> or </a:t>
            </a:r>
            <a:r>
              <a:rPr b="1" lang="en"/>
              <a:t>different</a:t>
            </a:r>
            <a:r>
              <a:rPr lang="en"/>
              <a:t> from you based on some </a:t>
            </a:r>
            <a:r>
              <a:rPr b="1" lang="en"/>
              <a:t>sociodemographic characteristic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E.g., Age, Race, Gender, Education, Ethnicity, Nationality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Given by the </a:t>
            </a:r>
            <a:r>
              <a:rPr b="1" lang="en"/>
              <a:t>EI Homophily Index: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negative EI indicates preference for “internal” ties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An ego network with an EI of -1.0 has </a:t>
            </a:r>
            <a:r>
              <a:rPr b="1" lang="en"/>
              <a:t>maximum homophily</a:t>
            </a:r>
            <a:r>
              <a:rPr lang="en"/>
              <a:t>!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9" name="Google Shape;849;p5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Ego networks: Homophily</a:t>
            </a:r>
            <a:endParaRPr/>
          </a:p>
        </p:txBody>
      </p:sp>
      <p:pic>
        <p:nvPicPr>
          <p:cNvPr descr="EI = \frac{E - I}{E + I}" id="850" name="Google Shape;850;p52" title="MathEquation,#0000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14125" y="2507050"/>
            <a:ext cx="1792224" cy="645586"/>
          </a:xfrm>
          <a:prstGeom prst="rect">
            <a:avLst/>
          </a:prstGeom>
          <a:noFill/>
          <a:ln>
            <a:noFill/>
          </a:ln>
        </p:spPr>
      </p:pic>
      <p:sp>
        <p:nvSpPr>
          <p:cNvPr id="851" name="Google Shape;851;p52"/>
          <p:cNvSpPr/>
          <p:nvPr/>
        </p:nvSpPr>
        <p:spPr>
          <a:xfrm>
            <a:off x="7555023" y="3525076"/>
            <a:ext cx="543000" cy="5409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Ego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852" name="Google Shape;852;p52"/>
          <p:cNvSpPr/>
          <p:nvPr/>
        </p:nvSpPr>
        <p:spPr>
          <a:xfrm>
            <a:off x="6939671" y="3101668"/>
            <a:ext cx="361800" cy="3288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a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853" name="Google Shape;853;p52"/>
          <p:cNvSpPr/>
          <p:nvPr/>
        </p:nvSpPr>
        <p:spPr>
          <a:xfrm>
            <a:off x="7645518" y="2757276"/>
            <a:ext cx="361800" cy="3288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b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854" name="Google Shape;854;p52"/>
          <p:cNvSpPr/>
          <p:nvPr/>
        </p:nvSpPr>
        <p:spPr>
          <a:xfrm>
            <a:off x="8306377" y="3101668"/>
            <a:ext cx="361800" cy="3288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c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855" name="Google Shape;855;p52"/>
          <p:cNvSpPr/>
          <p:nvPr/>
        </p:nvSpPr>
        <p:spPr>
          <a:xfrm>
            <a:off x="6939671" y="4160787"/>
            <a:ext cx="361800" cy="3288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g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856" name="Google Shape;856;p52"/>
          <p:cNvSpPr/>
          <p:nvPr/>
        </p:nvSpPr>
        <p:spPr>
          <a:xfrm>
            <a:off x="7656806" y="4520717"/>
            <a:ext cx="361800" cy="3288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f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857" name="Google Shape;857;p52"/>
          <p:cNvSpPr/>
          <p:nvPr/>
        </p:nvSpPr>
        <p:spPr>
          <a:xfrm>
            <a:off x="6820513" y="3631236"/>
            <a:ext cx="361800" cy="3288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h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858" name="Google Shape;858;p52"/>
          <p:cNvSpPr/>
          <p:nvPr/>
        </p:nvSpPr>
        <p:spPr>
          <a:xfrm>
            <a:off x="8470510" y="3631236"/>
            <a:ext cx="361800" cy="3288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d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cxnSp>
        <p:nvCxnSpPr>
          <p:cNvPr id="859" name="Google Shape;859;p52"/>
          <p:cNvCxnSpPr>
            <a:stCxn id="853" idx="4"/>
            <a:endCxn id="851" idx="0"/>
          </p:cNvCxnSpPr>
          <p:nvPr/>
        </p:nvCxnSpPr>
        <p:spPr>
          <a:xfrm>
            <a:off x="7826418" y="3086076"/>
            <a:ext cx="0" cy="4389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60" name="Google Shape;860;p52"/>
          <p:cNvCxnSpPr>
            <a:stCxn id="856" idx="0"/>
            <a:endCxn id="851" idx="4"/>
          </p:cNvCxnSpPr>
          <p:nvPr/>
        </p:nvCxnSpPr>
        <p:spPr>
          <a:xfrm rot="10800000">
            <a:off x="7826606" y="4065917"/>
            <a:ext cx="11100" cy="4548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61" name="Google Shape;861;p52"/>
          <p:cNvCxnSpPr>
            <a:stCxn id="857" idx="6"/>
            <a:endCxn id="851" idx="2"/>
          </p:cNvCxnSpPr>
          <p:nvPr/>
        </p:nvCxnSpPr>
        <p:spPr>
          <a:xfrm>
            <a:off x="7182313" y="3795636"/>
            <a:ext cx="372600" cy="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62" name="Google Shape;862;p52"/>
          <p:cNvCxnSpPr>
            <a:stCxn id="858" idx="2"/>
            <a:endCxn id="851" idx="6"/>
          </p:cNvCxnSpPr>
          <p:nvPr/>
        </p:nvCxnSpPr>
        <p:spPr>
          <a:xfrm rot="10800000">
            <a:off x="8097910" y="3795636"/>
            <a:ext cx="372600" cy="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63" name="Google Shape;863;p52"/>
          <p:cNvCxnSpPr>
            <a:stCxn id="851" idx="1"/>
            <a:endCxn id="852" idx="5"/>
          </p:cNvCxnSpPr>
          <p:nvPr/>
        </p:nvCxnSpPr>
        <p:spPr>
          <a:xfrm rot="10800000">
            <a:off x="7248443" y="3382289"/>
            <a:ext cx="386100" cy="2220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64" name="Google Shape;864;p52"/>
          <p:cNvCxnSpPr>
            <a:stCxn id="851" idx="7"/>
            <a:endCxn id="854" idx="3"/>
          </p:cNvCxnSpPr>
          <p:nvPr/>
        </p:nvCxnSpPr>
        <p:spPr>
          <a:xfrm flipH="1" rot="10800000">
            <a:off x="8018502" y="3382289"/>
            <a:ext cx="340800" cy="2220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65" name="Google Shape;865;p52"/>
          <p:cNvCxnSpPr>
            <a:stCxn id="855" idx="7"/>
            <a:endCxn id="851" idx="3"/>
          </p:cNvCxnSpPr>
          <p:nvPr/>
        </p:nvCxnSpPr>
        <p:spPr>
          <a:xfrm flipH="1" rot="10800000">
            <a:off x="7248486" y="3986639"/>
            <a:ext cx="386100" cy="2223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66" name="Google Shape;866;p52"/>
          <p:cNvCxnSpPr>
            <a:stCxn id="867" idx="1"/>
            <a:endCxn id="851" idx="5"/>
          </p:cNvCxnSpPr>
          <p:nvPr/>
        </p:nvCxnSpPr>
        <p:spPr>
          <a:xfrm rot="10800000">
            <a:off x="8018562" y="3986639"/>
            <a:ext cx="340800" cy="2223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67" name="Google Shape;867;p52"/>
          <p:cNvSpPr/>
          <p:nvPr/>
        </p:nvSpPr>
        <p:spPr>
          <a:xfrm>
            <a:off x="8306377" y="4160787"/>
            <a:ext cx="361800" cy="3288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pic>
        <p:nvPicPr>
          <p:cNvPr descr="EI=\frac{E-I}{E+I}=\frac{0-8}{0+8}=\frac{-8}{8}=-1.0" id="868" name="Google Shape;868;p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24190" y="4165529"/>
            <a:ext cx="4544568" cy="6397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2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Google Shape;873;p53"/>
          <p:cNvSpPr txBox="1"/>
          <p:nvPr>
            <p:ph idx="1" type="body"/>
          </p:nvPr>
        </p:nvSpPr>
        <p:spPr>
          <a:xfrm>
            <a:off x="310950" y="1225225"/>
            <a:ext cx="85221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Tells us whether the people in your ego-network are the </a:t>
            </a:r>
            <a:r>
              <a:rPr b="1" lang="en"/>
              <a:t>same</a:t>
            </a:r>
            <a:r>
              <a:rPr lang="en"/>
              <a:t> or </a:t>
            </a:r>
            <a:r>
              <a:rPr b="1" lang="en"/>
              <a:t>different</a:t>
            </a:r>
            <a:r>
              <a:rPr lang="en"/>
              <a:t> from you based on some </a:t>
            </a:r>
            <a:r>
              <a:rPr b="1" lang="en"/>
              <a:t>sociodemographic characteristic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E.g., Age, Race, Gender, Education, Ethnicity, Nationality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Given by the </a:t>
            </a:r>
            <a:r>
              <a:rPr b="1" lang="en"/>
              <a:t>EI Homophily Index: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positive EI indicates preference for “external” ties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An ego network with an EI of 1.0 has </a:t>
            </a:r>
            <a:r>
              <a:rPr b="1" lang="en"/>
              <a:t>maximum heterophily</a:t>
            </a:r>
            <a:r>
              <a:rPr lang="en"/>
              <a:t>!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4" name="Google Shape;874;p5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Ego networks: Homophily</a:t>
            </a:r>
            <a:endParaRPr/>
          </a:p>
        </p:txBody>
      </p:sp>
      <p:pic>
        <p:nvPicPr>
          <p:cNvPr descr="EI = \frac{E - I}{E + I}" id="875" name="Google Shape;875;p53" title="MathEquation,#0000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14125" y="2507050"/>
            <a:ext cx="1792224" cy="645586"/>
          </a:xfrm>
          <a:prstGeom prst="rect">
            <a:avLst/>
          </a:prstGeom>
          <a:noFill/>
          <a:ln>
            <a:noFill/>
          </a:ln>
        </p:spPr>
      </p:pic>
      <p:sp>
        <p:nvSpPr>
          <p:cNvPr id="876" name="Google Shape;876;p53"/>
          <p:cNvSpPr/>
          <p:nvPr/>
        </p:nvSpPr>
        <p:spPr>
          <a:xfrm>
            <a:off x="7555023" y="3525076"/>
            <a:ext cx="543000" cy="5409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Ego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877" name="Google Shape;877;p53"/>
          <p:cNvSpPr/>
          <p:nvPr/>
        </p:nvSpPr>
        <p:spPr>
          <a:xfrm>
            <a:off x="6939671" y="3101668"/>
            <a:ext cx="361800" cy="3288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a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878" name="Google Shape;878;p53"/>
          <p:cNvSpPr/>
          <p:nvPr/>
        </p:nvSpPr>
        <p:spPr>
          <a:xfrm>
            <a:off x="7645518" y="2757276"/>
            <a:ext cx="361800" cy="3288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b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879" name="Google Shape;879;p53"/>
          <p:cNvSpPr/>
          <p:nvPr/>
        </p:nvSpPr>
        <p:spPr>
          <a:xfrm>
            <a:off x="8306377" y="3101668"/>
            <a:ext cx="361800" cy="3288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c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880" name="Google Shape;880;p53"/>
          <p:cNvSpPr/>
          <p:nvPr/>
        </p:nvSpPr>
        <p:spPr>
          <a:xfrm>
            <a:off x="6939671" y="4160787"/>
            <a:ext cx="361800" cy="328800"/>
          </a:xfrm>
          <a:prstGeom prst="ellipse">
            <a:avLst/>
          </a:prstGeom>
          <a:solidFill>
            <a:schemeClr val="accent4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g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881" name="Google Shape;881;p53"/>
          <p:cNvSpPr/>
          <p:nvPr/>
        </p:nvSpPr>
        <p:spPr>
          <a:xfrm>
            <a:off x="7656806" y="4520717"/>
            <a:ext cx="361800" cy="3288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f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882" name="Google Shape;882;p53"/>
          <p:cNvSpPr/>
          <p:nvPr/>
        </p:nvSpPr>
        <p:spPr>
          <a:xfrm>
            <a:off x="6820513" y="3631236"/>
            <a:ext cx="361800" cy="328800"/>
          </a:xfrm>
          <a:prstGeom prst="ellipse">
            <a:avLst/>
          </a:prstGeom>
          <a:solidFill>
            <a:schemeClr val="accent4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h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883" name="Google Shape;883;p53"/>
          <p:cNvSpPr/>
          <p:nvPr/>
        </p:nvSpPr>
        <p:spPr>
          <a:xfrm>
            <a:off x="8470510" y="3631236"/>
            <a:ext cx="361800" cy="328800"/>
          </a:xfrm>
          <a:prstGeom prst="ellipse">
            <a:avLst/>
          </a:prstGeom>
          <a:solidFill>
            <a:schemeClr val="accent6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d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cxnSp>
        <p:nvCxnSpPr>
          <p:cNvPr id="884" name="Google Shape;884;p53"/>
          <p:cNvCxnSpPr>
            <a:stCxn id="878" idx="4"/>
            <a:endCxn id="876" idx="0"/>
          </p:cNvCxnSpPr>
          <p:nvPr/>
        </p:nvCxnSpPr>
        <p:spPr>
          <a:xfrm>
            <a:off x="7826418" y="3086076"/>
            <a:ext cx="0" cy="4389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5" name="Google Shape;885;p53"/>
          <p:cNvCxnSpPr>
            <a:stCxn id="881" idx="0"/>
            <a:endCxn id="876" idx="4"/>
          </p:cNvCxnSpPr>
          <p:nvPr/>
        </p:nvCxnSpPr>
        <p:spPr>
          <a:xfrm rot="10800000">
            <a:off x="7826606" y="4065917"/>
            <a:ext cx="11100" cy="4548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6" name="Google Shape;886;p53"/>
          <p:cNvCxnSpPr>
            <a:stCxn id="882" idx="6"/>
            <a:endCxn id="876" idx="2"/>
          </p:cNvCxnSpPr>
          <p:nvPr/>
        </p:nvCxnSpPr>
        <p:spPr>
          <a:xfrm>
            <a:off x="7182313" y="3795636"/>
            <a:ext cx="3726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7" name="Google Shape;887;p53"/>
          <p:cNvCxnSpPr>
            <a:stCxn id="883" idx="2"/>
            <a:endCxn id="876" idx="6"/>
          </p:cNvCxnSpPr>
          <p:nvPr/>
        </p:nvCxnSpPr>
        <p:spPr>
          <a:xfrm rot="10800000">
            <a:off x="8097910" y="3795636"/>
            <a:ext cx="3726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8" name="Google Shape;888;p53"/>
          <p:cNvCxnSpPr>
            <a:stCxn id="876" idx="1"/>
            <a:endCxn id="877" idx="5"/>
          </p:cNvCxnSpPr>
          <p:nvPr/>
        </p:nvCxnSpPr>
        <p:spPr>
          <a:xfrm rot="10800000">
            <a:off x="7248443" y="3382289"/>
            <a:ext cx="386100" cy="2220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9" name="Google Shape;889;p53"/>
          <p:cNvCxnSpPr>
            <a:stCxn id="876" idx="7"/>
            <a:endCxn id="879" idx="3"/>
          </p:cNvCxnSpPr>
          <p:nvPr/>
        </p:nvCxnSpPr>
        <p:spPr>
          <a:xfrm flipH="1" rot="10800000">
            <a:off x="8018502" y="3382289"/>
            <a:ext cx="340800" cy="2220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0" name="Google Shape;890;p53"/>
          <p:cNvCxnSpPr>
            <a:stCxn id="880" idx="7"/>
            <a:endCxn id="876" idx="3"/>
          </p:cNvCxnSpPr>
          <p:nvPr/>
        </p:nvCxnSpPr>
        <p:spPr>
          <a:xfrm flipH="1" rot="10800000">
            <a:off x="7248486" y="3986639"/>
            <a:ext cx="386100" cy="2223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1" name="Google Shape;891;p53"/>
          <p:cNvCxnSpPr>
            <a:stCxn id="892" idx="1"/>
            <a:endCxn id="876" idx="5"/>
          </p:cNvCxnSpPr>
          <p:nvPr/>
        </p:nvCxnSpPr>
        <p:spPr>
          <a:xfrm rot="10800000">
            <a:off x="8018562" y="3986639"/>
            <a:ext cx="340800" cy="2223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92" name="Google Shape;892;p53"/>
          <p:cNvSpPr/>
          <p:nvPr/>
        </p:nvSpPr>
        <p:spPr>
          <a:xfrm>
            <a:off x="8306377" y="4160787"/>
            <a:ext cx="361800" cy="328800"/>
          </a:xfrm>
          <a:prstGeom prst="ellipse">
            <a:avLst/>
          </a:prstGeom>
          <a:solidFill>
            <a:schemeClr val="accent6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pic>
        <p:nvPicPr>
          <p:cNvPr descr="EI=\frac{E-I}{E+I}=\frac{8-0}{8+0}=\frac{8}{8}=1.0" id="893" name="Google Shape;893;p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29368" y="4160786"/>
            <a:ext cx="4134211" cy="649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7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p54"/>
          <p:cNvSpPr txBox="1"/>
          <p:nvPr>
            <p:ph idx="1" type="body"/>
          </p:nvPr>
        </p:nvSpPr>
        <p:spPr>
          <a:xfrm>
            <a:off x="311700" y="1225225"/>
            <a:ext cx="8522100" cy="36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Tells us whether the people in your ego-network are the </a:t>
            </a:r>
            <a:r>
              <a:rPr b="1" lang="en"/>
              <a:t>same</a:t>
            </a:r>
            <a:r>
              <a:rPr lang="en"/>
              <a:t> or </a:t>
            </a:r>
            <a:r>
              <a:rPr b="1" lang="en"/>
              <a:t>different</a:t>
            </a:r>
            <a:r>
              <a:rPr lang="en"/>
              <a:t> from you based on some </a:t>
            </a:r>
            <a:r>
              <a:rPr b="1" lang="en"/>
              <a:t>sociodemographic characteristic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E.g., Age, Race, Gender, Education, Ethnicity, Nationality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Given by the </a:t>
            </a:r>
            <a:r>
              <a:rPr b="1" lang="en"/>
              <a:t>EI Homophily Index: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An EI score of 0 indicates no preference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Equal number of internal and external ties!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9" name="Google Shape;899;p5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Ego networks: Homophily</a:t>
            </a:r>
            <a:endParaRPr/>
          </a:p>
        </p:txBody>
      </p:sp>
      <p:pic>
        <p:nvPicPr>
          <p:cNvPr descr="EI = \frac{E - I}{E + I}" id="900" name="Google Shape;900;p54" title="MathEquation,#0000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14125" y="2507050"/>
            <a:ext cx="1792224" cy="645586"/>
          </a:xfrm>
          <a:prstGeom prst="rect">
            <a:avLst/>
          </a:prstGeom>
          <a:noFill/>
          <a:ln>
            <a:noFill/>
          </a:ln>
        </p:spPr>
      </p:pic>
      <p:sp>
        <p:nvSpPr>
          <p:cNvPr id="901" name="Google Shape;901;p54"/>
          <p:cNvSpPr/>
          <p:nvPr/>
        </p:nvSpPr>
        <p:spPr>
          <a:xfrm>
            <a:off x="7555023" y="3525076"/>
            <a:ext cx="543000" cy="5409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Ego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902" name="Google Shape;902;p54"/>
          <p:cNvSpPr/>
          <p:nvPr/>
        </p:nvSpPr>
        <p:spPr>
          <a:xfrm>
            <a:off x="6939671" y="3101668"/>
            <a:ext cx="361800" cy="3288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a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903" name="Google Shape;903;p54"/>
          <p:cNvSpPr/>
          <p:nvPr/>
        </p:nvSpPr>
        <p:spPr>
          <a:xfrm>
            <a:off x="7645518" y="2757276"/>
            <a:ext cx="361800" cy="3288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b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904" name="Google Shape;904;p54"/>
          <p:cNvSpPr/>
          <p:nvPr/>
        </p:nvSpPr>
        <p:spPr>
          <a:xfrm>
            <a:off x="8306377" y="3101668"/>
            <a:ext cx="361800" cy="3288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c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905" name="Google Shape;905;p54"/>
          <p:cNvSpPr/>
          <p:nvPr/>
        </p:nvSpPr>
        <p:spPr>
          <a:xfrm>
            <a:off x="6939671" y="4160787"/>
            <a:ext cx="361800" cy="328800"/>
          </a:xfrm>
          <a:prstGeom prst="ellipse">
            <a:avLst/>
          </a:prstGeom>
          <a:solidFill>
            <a:schemeClr val="accent4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g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906" name="Google Shape;906;p54"/>
          <p:cNvSpPr/>
          <p:nvPr/>
        </p:nvSpPr>
        <p:spPr>
          <a:xfrm>
            <a:off x="7656806" y="4520717"/>
            <a:ext cx="361800" cy="3288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f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907" name="Google Shape;907;p54"/>
          <p:cNvSpPr/>
          <p:nvPr/>
        </p:nvSpPr>
        <p:spPr>
          <a:xfrm>
            <a:off x="6820513" y="3631236"/>
            <a:ext cx="361800" cy="3288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h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908" name="Google Shape;908;p54"/>
          <p:cNvSpPr/>
          <p:nvPr/>
        </p:nvSpPr>
        <p:spPr>
          <a:xfrm>
            <a:off x="8470510" y="3631236"/>
            <a:ext cx="361800" cy="328800"/>
          </a:xfrm>
          <a:prstGeom prst="ellipse">
            <a:avLst/>
          </a:prstGeom>
          <a:solidFill>
            <a:schemeClr val="accent6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d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cxnSp>
        <p:nvCxnSpPr>
          <p:cNvPr id="909" name="Google Shape;909;p54"/>
          <p:cNvCxnSpPr>
            <a:stCxn id="903" idx="4"/>
            <a:endCxn id="901" idx="0"/>
          </p:cNvCxnSpPr>
          <p:nvPr/>
        </p:nvCxnSpPr>
        <p:spPr>
          <a:xfrm>
            <a:off x="7826418" y="3086076"/>
            <a:ext cx="0" cy="4389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0" name="Google Shape;910;p54"/>
          <p:cNvCxnSpPr>
            <a:stCxn id="906" idx="0"/>
            <a:endCxn id="901" idx="4"/>
          </p:cNvCxnSpPr>
          <p:nvPr/>
        </p:nvCxnSpPr>
        <p:spPr>
          <a:xfrm rot="10800000">
            <a:off x="7826606" y="4065917"/>
            <a:ext cx="11100" cy="4548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1" name="Google Shape;911;p54"/>
          <p:cNvCxnSpPr>
            <a:stCxn id="907" idx="6"/>
            <a:endCxn id="901" idx="2"/>
          </p:cNvCxnSpPr>
          <p:nvPr/>
        </p:nvCxnSpPr>
        <p:spPr>
          <a:xfrm>
            <a:off x="7182313" y="3795636"/>
            <a:ext cx="372600" cy="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2" name="Google Shape;912;p54"/>
          <p:cNvCxnSpPr>
            <a:stCxn id="908" idx="2"/>
            <a:endCxn id="901" idx="6"/>
          </p:cNvCxnSpPr>
          <p:nvPr/>
        </p:nvCxnSpPr>
        <p:spPr>
          <a:xfrm rot="10800000">
            <a:off x="8097910" y="3795636"/>
            <a:ext cx="3726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3" name="Google Shape;913;p54"/>
          <p:cNvCxnSpPr>
            <a:stCxn id="901" idx="1"/>
            <a:endCxn id="902" idx="5"/>
          </p:cNvCxnSpPr>
          <p:nvPr/>
        </p:nvCxnSpPr>
        <p:spPr>
          <a:xfrm rot="10800000">
            <a:off x="7248443" y="3382289"/>
            <a:ext cx="386100" cy="2220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4" name="Google Shape;914;p54"/>
          <p:cNvCxnSpPr>
            <a:stCxn id="901" idx="7"/>
            <a:endCxn id="904" idx="3"/>
          </p:cNvCxnSpPr>
          <p:nvPr/>
        </p:nvCxnSpPr>
        <p:spPr>
          <a:xfrm flipH="1" rot="10800000">
            <a:off x="8018502" y="3382289"/>
            <a:ext cx="340800" cy="2220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5" name="Google Shape;915;p54"/>
          <p:cNvCxnSpPr>
            <a:stCxn id="905" idx="7"/>
            <a:endCxn id="901" idx="3"/>
          </p:cNvCxnSpPr>
          <p:nvPr/>
        </p:nvCxnSpPr>
        <p:spPr>
          <a:xfrm flipH="1" rot="10800000">
            <a:off x="7248486" y="3986639"/>
            <a:ext cx="386100" cy="2223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6" name="Google Shape;916;p54"/>
          <p:cNvCxnSpPr>
            <a:stCxn id="917" idx="1"/>
            <a:endCxn id="901" idx="5"/>
          </p:cNvCxnSpPr>
          <p:nvPr/>
        </p:nvCxnSpPr>
        <p:spPr>
          <a:xfrm rot="10800000">
            <a:off x="8018562" y="3986639"/>
            <a:ext cx="340800" cy="2223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17" name="Google Shape;917;p54"/>
          <p:cNvSpPr/>
          <p:nvPr/>
        </p:nvSpPr>
        <p:spPr>
          <a:xfrm>
            <a:off x="8306377" y="4160787"/>
            <a:ext cx="361800" cy="328800"/>
          </a:xfrm>
          <a:prstGeom prst="ellipse">
            <a:avLst/>
          </a:prstGeom>
          <a:solidFill>
            <a:schemeClr val="accent6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pic>
        <p:nvPicPr>
          <p:cNvPr descr="EI=\frac{E-I}{E+I}=\frac{4-4}{4+4}=\frac{0}{8}=0" id="918" name="Google Shape;918;p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45739" y="4160786"/>
            <a:ext cx="3901470" cy="649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2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Google Shape;923;p55"/>
          <p:cNvSpPr txBox="1"/>
          <p:nvPr>
            <p:ph idx="1" type="body"/>
          </p:nvPr>
        </p:nvSpPr>
        <p:spPr>
          <a:xfrm>
            <a:off x="311700" y="1225225"/>
            <a:ext cx="8522100" cy="142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Tells us whether you tend to connect with a </a:t>
            </a:r>
            <a:r>
              <a:rPr b="1" lang="en"/>
              <a:t>wide range</a:t>
            </a:r>
            <a:r>
              <a:rPr lang="en"/>
              <a:t> of others based on some </a:t>
            </a:r>
            <a:r>
              <a:rPr b="1" lang="en"/>
              <a:t>sociodemographic characteristic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E.g., Age, Race, Gender, Education, Ethnicity, Nationality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Given by </a:t>
            </a:r>
            <a:r>
              <a:rPr lang="en"/>
              <a:t>Blau’s</a:t>
            </a:r>
            <a:r>
              <a:rPr b="1" lang="en"/>
              <a:t> Index of heterogeneity</a:t>
            </a:r>
            <a:r>
              <a:rPr lang="en"/>
              <a:t> (H)</a:t>
            </a:r>
            <a:r>
              <a:rPr b="1" lang="en"/>
              <a:t>: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4" name="Google Shape;924;p5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Ego networks: Diversity</a:t>
            </a:r>
            <a:endParaRPr/>
          </a:p>
        </p:txBody>
      </p:sp>
      <p:sp>
        <p:nvSpPr>
          <p:cNvPr id="925" name="Google Shape;925;p55"/>
          <p:cNvSpPr/>
          <p:nvPr/>
        </p:nvSpPr>
        <p:spPr>
          <a:xfrm>
            <a:off x="7555023" y="3525076"/>
            <a:ext cx="543000" cy="5409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Ego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926" name="Google Shape;926;p55"/>
          <p:cNvSpPr/>
          <p:nvPr/>
        </p:nvSpPr>
        <p:spPr>
          <a:xfrm>
            <a:off x="6939671" y="3101668"/>
            <a:ext cx="361800" cy="3288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a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927" name="Google Shape;927;p55"/>
          <p:cNvSpPr/>
          <p:nvPr/>
        </p:nvSpPr>
        <p:spPr>
          <a:xfrm>
            <a:off x="7645518" y="2757276"/>
            <a:ext cx="361800" cy="3288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b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928" name="Google Shape;928;p55"/>
          <p:cNvSpPr/>
          <p:nvPr/>
        </p:nvSpPr>
        <p:spPr>
          <a:xfrm>
            <a:off x="8306377" y="3101668"/>
            <a:ext cx="361800" cy="3288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c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929" name="Google Shape;929;p55"/>
          <p:cNvSpPr/>
          <p:nvPr/>
        </p:nvSpPr>
        <p:spPr>
          <a:xfrm>
            <a:off x="6939671" y="4160787"/>
            <a:ext cx="361800" cy="3288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g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930" name="Google Shape;930;p55"/>
          <p:cNvSpPr/>
          <p:nvPr/>
        </p:nvSpPr>
        <p:spPr>
          <a:xfrm>
            <a:off x="7656806" y="4520717"/>
            <a:ext cx="361800" cy="3288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f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931" name="Google Shape;931;p55"/>
          <p:cNvSpPr/>
          <p:nvPr/>
        </p:nvSpPr>
        <p:spPr>
          <a:xfrm>
            <a:off x="6820513" y="3631236"/>
            <a:ext cx="361800" cy="3288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h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932" name="Google Shape;932;p55"/>
          <p:cNvSpPr/>
          <p:nvPr/>
        </p:nvSpPr>
        <p:spPr>
          <a:xfrm>
            <a:off x="8470510" y="3631236"/>
            <a:ext cx="361800" cy="328800"/>
          </a:xfrm>
          <a:prstGeom prst="ellipse">
            <a:avLst/>
          </a:prstGeom>
          <a:solidFill>
            <a:schemeClr val="accent4"/>
          </a:solidFill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d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cxnSp>
        <p:nvCxnSpPr>
          <p:cNvPr id="933" name="Google Shape;933;p55"/>
          <p:cNvCxnSpPr>
            <a:stCxn id="927" idx="4"/>
            <a:endCxn id="925" idx="0"/>
          </p:cNvCxnSpPr>
          <p:nvPr/>
        </p:nvCxnSpPr>
        <p:spPr>
          <a:xfrm>
            <a:off x="7826418" y="3086076"/>
            <a:ext cx="0" cy="4389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34" name="Google Shape;934;p55"/>
          <p:cNvCxnSpPr>
            <a:stCxn id="930" idx="0"/>
            <a:endCxn id="925" idx="4"/>
          </p:cNvCxnSpPr>
          <p:nvPr/>
        </p:nvCxnSpPr>
        <p:spPr>
          <a:xfrm rot="10800000">
            <a:off x="7826606" y="4065917"/>
            <a:ext cx="11100" cy="454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35" name="Google Shape;935;p55"/>
          <p:cNvCxnSpPr>
            <a:stCxn id="931" idx="6"/>
            <a:endCxn id="925" idx="2"/>
          </p:cNvCxnSpPr>
          <p:nvPr/>
        </p:nvCxnSpPr>
        <p:spPr>
          <a:xfrm>
            <a:off x="7182313" y="3795636"/>
            <a:ext cx="3726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36" name="Google Shape;936;p55"/>
          <p:cNvCxnSpPr>
            <a:stCxn id="932" idx="2"/>
            <a:endCxn id="925" idx="6"/>
          </p:cNvCxnSpPr>
          <p:nvPr/>
        </p:nvCxnSpPr>
        <p:spPr>
          <a:xfrm rot="10800000">
            <a:off x="8097910" y="3795636"/>
            <a:ext cx="3726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37" name="Google Shape;937;p55"/>
          <p:cNvCxnSpPr>
            <a:stCxn id="925" idx="1"/>
            <a:endCxn id="926" idx="5"/>
          </p:cNvCxnSpPr>
          <p:nvPr/>
        </p:nvCxnSpPr>
        <p:spPr>
          <a:xfrm rot="10800000">
            <a:off x="7248443" y="3382289"/>
            <a:ext cx="386100" cy="2220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38" name="Google Shape;938;p55"/>
          <p:cNvCxnSpPr>
            <a:stCxn id="925" idx="7"/>
            <a:endCxn id="928" idx="3"/>
          </p:cNvCxnSpPr>
          <p:nvPr/>
        </p:nvCxnSpPr>
        <p:spPr>
          <a:xfrm flipH="1" rot="10800000">
            <a:off x="8018502" y="3382289"/>
            <a:ext cx="340800" cy="2220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39" name="Google Shape;939;p55"/>
          <p:cNvCxnSpPr>
            <a:stCxn id="929" idx="7"/>
            <a:endCxn id="925" idx="3"/>
          </p:cNvCxnSpPr>
          <p:nvPr/>
        </p:nvCxnSpPr>
        <p:spPr>
          <a:xfrm flipH="1" rot="10800000">
            <a:off x="7248486" y="3986639"/>
            <a:ext cx="386100" cy="2223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40" name="Google Shape;940;p55"/>
          <p:cNvCxnSpPr>
            <a:stCxn id="941" idx="1"/>
            <a:endCxn id="925" idx="5"/>
          </p:cNvCxnSpPr>
          <p:nvPr/>
        </p:nvCxnSpPr>
        <p:spPr>
          <a:xfrm rot="10800000">
            <a:off x="8018562" y="3986639"/>
            <a:ext cx="340800" cy="2223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41" name="Google Shape;941;p55"/>
          <p:cNvSpPr/>
          <p:nvPr/>
        </p:nvSpPr>
        <p:spPr>
          <a:xfrm>
            <a:off x="8306377" y="4160787"/>
            <a:ext cx="361800" cy="328800"/>
          </a:xfrm>
          <a:prstGeom prst="ellipse">
            <a:avLst/>
          </a:prstGeom>
          <a:solidFill>
            <a:schemeClr val="accent4"/>
          </a:solidFill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5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Google Shape;946;p56"/>
          <p:cNvSpPr txBox="1"/>
          <p:nvPr>
            <p:ph idx="1" type="body"/>
          </p:nvPr>
        </p:nvSpPr>
        <p:spPr>
          <a:xfrm>
            <a:off x="311700" y="1225225"/>
            <a:ext cx="8522100" cy="142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Tells us whether you tend to connect with a </a:t>
            </a:r>
            <a:r>
              <a:rPr b="1" lang="en"/>
              <a:t>wide range</a:t>
            </a:r>
            <a:r>
              <a:rPr lang="en"/>
              <a:t> of others based on some </a:t>
            </a:r>
            <a:r>
              <a:rPr b="1" lang="en"/>
              <a:t>sociodemographic characteristic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E.g., Age, Race, Gender, Education, Ethnicity, Nationality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Given by </a:t>
            </a:r>
            <a:r>
              <a:rPr lang="en"/>
              <a:t>Blau's</a:t>
            </a:r>
            <a:r>
              <a:rPr b="1" lang="en"/>
              <a:t> Index of heterogeneity</a:t>
            </a:r>
            <a:r>
              <a:rPr lang="en"/>
              <a:t> (H)</a:t>
            </a:r>
            <a:r>
              <a:rPr b="1" lang="en"/>
              <a:t>: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7" name="Google Shape;947;p5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Ego networks: Diversity</a:t>
            </a:r>
            <a:endParaRPr/>
          </a:p>
        </p:txBody>
      </p:sp>
      <p:sp>
        <p:nvSpPr>
          <p:cNvPr id="948" name="Google Shape;948;p56"/>
          <p:cNvSpPr/>
          <p:nvPr/>
        </p:nvSpPr>
        <p:spPr>
          <a:xfrm>
            <a:off x="7555023" y="3525076"/>
            <a:ext cx="543000" cy="5409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Ego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949" name="Google Shape;949;p56"/>
          <p:cNvSpPr/>
          <p:nvPr/>
        </p:nvSpPr>
        <p:spPr>
          <a:xfrm>
            <a:off x="6939671" y="3101668"/>
            <a:ext cx="361800" cy="3288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a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950" name="Google Shape;950;p56"/>
          <p:cNvSpPr/>
          <p:nvPr/>
        </p:nvSpPr>
        <p:spPr>
          <a:xfrm>
            <a:off x="7645518" y="2757276"/>
            <a:ext cx="361800" cy="3288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b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951" name="Google Shape;951;p56"/>
          <p:cNvSpPr/>
          <p:nvPr/>
        </p:nvSpPr>
        <p:spPr>
          <a:xfrm>
            <a:off x="8306377" y="3101668"/>
            <a:ext cx="361800" cy="3288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c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952" name="Google Shape;952;p56"/>
          <p:cNvSpPr/>
          <p:nvPr/>
        </p:nvSpPr>
        <p:spPr>
          <a:xfrm>
            <a:off x="6939671" y="4160787"/>
            <a:ext cx="361800" cy="3288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g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953" name="Google Shape;953;p56"/>
          <p:cNvSpPr/>
          <p:nvPr/>
        </p:nvSpPr>
        <p:spPr>
          <a:xfrm>
            <a:off x="7656806" y="4520717"/>
            <a:ext cx="361800" cy="3288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f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954" name="Google Shape;954;p56"/>
          <p:cNvSpPr/>
          <p:nvPr/>
        </p:nvSpPr>
        <p:spPr>
          <a:xfrm>
            <a:off x="6820513" y="3631236"/>
            <a:ext cx="361800" cy="3288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h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955" name="Google Shape;955;p56"/>
          <p:cNvSpPr/>
          <p:nvPr/>
        </p:nvSpPr>
        <p:spPr>
          <a:xfrm>
            <a:off x="8470510" y="3631236"/>
            <a:ext cx="361800" cy="328800"/>
          </a:xfrm>
          <a:prstGeom prst="ellipse">
            <a:avLst/>
          </a:prstGeom>
          <a:solidFill>
            <a:schemeClr val="accent4"/>
          </a:solidFill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d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cxnSp>
        <p:nvCxnSpPr>
          <p:cNvPr id="956" name="Google Shape;956;p56"/>
          <p:cNvCxnSpPr>
            <a:stCxn id="950" idx="4"/>
            <a:endCxn id="948" idx="0"/>
          </p:cNvCxnSpPr>
          <p:nvPr/>
        </p:nvCxnSpPr>
        <p:spPr>
          <a:xfrm>
            <a:off x="7826418" y="3086076"/>
            <a:ext cx="0" cy="4389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57" name="Google Shape;957;p56"/>
          <p:cNvCxnSpPr>
            <a:stCxn id="953" idx="0"/>
            <a:endCxn id="948" idx="4"/>
          </p:cNvCxnSpPr>
          <p:nvPr/>
        </p:nvCxnSpPr>
        <p:spPr>
          <a:xfrm rot="10800000">
            <a:off x="7826606" y="4065917"/>
            <a:ext cx="11100" cy="454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58" name="Google Shape;958;p56"/>
          <p:cNvCxnSpPr>
            <a:stCxn id="954" idx="6"/>
            <a:endCxn id="948" idx="2"/>
          </p:cNvCxnSpPr>
          <p:nvPr/>
        </p:nvCxnSpPr>
        <p:spPr>
          <a:xfrm>
            <a:off x="7182313" y="3795636"/>
            <a:ext cx="3726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59" name="Google Shape;959;p56"/>
          <p:cNvCxnSpPr>
            <a:stCxn id="955" idx="2"/>
            <a:endCxn id="948" idx="6"/>
          </p:cNvCxnSpPr>
          <p:nvPr/>
        </p:nvCxnSpPr>
        <p:spPr>
          <a:xfrm rot="10800000">
            <a:off x="8097910" y="3795636"/>
            <a:ext cx="3726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60" name="Google Shape;960;p56"/>
          <p:cNvCxnSpPr>
            <a:stCxn id="948" idx="1"/>
            <a:endCxn id="949" idx="5"/>
          </p:cNvCxnSpPr>
          <p:nvPr/>
        </p:nvCxnSpPr>
        <p:spPr>
          <a:xfrm rot="10800000">
            <a:off x="7248443" y="3382289"/>
            <a:ext cx="386100" cy="2220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61" name="Google Shape;961;p56"/>
          <p:cNvCxnSpPr>
            <a:stCxn id="948" idx="7"/>
            <a:endCxn id="951" idx="3"/>
          </p:cNvCxnSpPr>
          <p:nvPr/>
        </p:nvCxnSpPr>
        <p:spPr>
          <a:xfrm flipH="1" rot="10800000">
            <a:off x="8018502" y="3382289"/>
            <a:ext cx="340800" cy="2220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62" name="Google Shape;962;p56"/>
          <p:cNvCxnSpPr>
            <a:stCxn id="952" idx="7"/>
            <a:endCxn id="948" idx="3"/>
          </p:cNvCxnSpPr>
          <p:nvPr/>
        </p:nvCxnSpPr>
        <p:spPr>
          <a:xfrm flipH="1" rot="10800000">
            <a:off x="7248486" y="3986639"/>
            <a:ext cx="386100" cy="2223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63" name="Google Shape;963;p56"/>
          <p:cNvCxnSpPr>
            <a:stCxn id="964" idx="1"/>
            <a:endCxn id="948" idx="5"/>
          </p:cNvCxnSpPr>
          <p:nvPr/>
        </p:nvCxnSpPr>
        <p:spPr>
          <a:xfrm rot="10800000">
            <a:off x="8018562" y="3986639"/>
            <a:ext cx="340800" cy="2223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64" name="Google Shape;964;p56"/>
          <p:cNvSpPr/>
          <p:nvPr/>
        </p:nvSpPr>
        <p:spPr>
          <a:xfrm>
            <a:off x="8306377" y="4160787"/>
            <a:ext cx="361800" cy="328800"/>
          </a:xfrm>
          <a:prstGeom prst="ellipse">
            <a:avLst/>
          </a:prstGeom>
          <a:solidFill>
            <a:schemeClr val="accent4"/>
          </a:solidFill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pic>
        <p:nvPicPr>
          <p:cNvPr descr="H = 1 - \sum_k p_k^2" id="965" name="Google Shape;965;p56" title="MathEquation,#0000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85500" y="2693065"/>
            <a:ext cx="2344782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9" name="Shape 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0" name="Google Shape;970;p57"/>
          <p:cNvSpPr txBox="1"/>
          <p:nvPr>
            <p:ph idx="1" type="body"/>
          </p:nvPr>
        </p:nvSpPr>
        <p:spPr>
          <a:xfrm>
            <a:off x="311700" y="1225225"/>
            <a:ext cx="8492400" cy="13464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Tells us whether you tend to connect with a </a:t>
            </a:r>
            <a:r>
              <a:rPr b="1" lang="en"/>
              <a:t>wide range</a:t>
            </a:r>
            <a:r>
              <a:rPr lang="en"/>
              <a:t> of others based on some </a:t>
            </a:r>
            <a:r>
              <a:rPr b="1" lang="en"/>
              <a:t>sociodemographic characteristic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E.g., Age, Race, Gender, Education, Ethnicity, Nationality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Given by </a:t>
            </a:r>
            <a:r>
              <a:rPr lang="en"/>
              <a:t>Blau's</a:t>
            </a:r>
            <a:r>
              <a:rPr b="1" lang="en"/>
              <a:t> Index of heterogeneity</a:t>
            </a:r>
            <a:r>
              <a:rPr lang="en"/>
              <a:t> (H)</a:t>
            </a:r>
            <a:r>
              <a:rPr b="1" lang="en"/>
              <a:t>: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Steps: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1" name="Google Shape;971;p5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Ego networks: Diversity</a:t>
            </a:r>
            <a:endParaRPr/>
          </a:p>
        </p:txBody>
      </p:sp>
      <p:pic>
        <p:nvPicPr>
          <p:cNvPr descr="H = 1 - \sum_k p_k^2" id="972" name="Google Shape;972;p57" title="MathEquation,#0000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85500" y="2693065"/>
            <a:ext cx="2344782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973" name="Google Shape;973;p57"/>
          <p:cNvSpPr/>
          <p:nvPr/>
        </p:nvSpPr>
        <p:spPr>
          <a:xfrm>
            <a:off x="7555023" y="3525076"/>
            <a:ext cx="543000" cy="5409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Ego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974" name="Google Shape;974;p57"/>
          <p:cNvSpPr/>
          <p:nvPr/>
        </p:nvSpPr>
        <p:spPr>
          <a:xfrm>
            <a:off x="6939671" y="3101668"/>
            <a:ext cx="361800" cy="3288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a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975" name="Google Shape;975;p57"/>
          <p:cNvSpPr/>
          <p:nvPr/>
        </p:nvSpPr>
        <p:spPr>
          <a:xfrm>
            <a:off x="7645518" y="2757276"/>
            <a:ext cx="361800" cy="3288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b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976" name="Google Shape;976;p57"/>
          <p:cNvSpPr/>
          <p:nvPr/>
        </p:nvSpPr>
        <p:spPr>
          <a:xfrm>
            <a:off x="8306377" y="3101668"/>
            <a:ext cx="361800" cy="3288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c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977" name="Google Shape;977;p57"/>
          <p:cNvSpPr/>
          <p:nvPr/>
        </p:nvSpPr>
        <p:spPr>
          <a:xfrm>
            <a:off x="6939671" y="4160787"/>
            <a:ext cx="361800" cy="3288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g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978" name="Google Shape;978;p57"/>
          <p:cNvSpPr/>
          <p:nvPr/>
        </p:nvSpPr>
        <p:spPr>
          <a:xfrm>
            <a:off x="7656806" y="4520717"/>
            <a:ext cx="361800" cy="3288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f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979" name="Google Shape;979;p57"/>
          <p:cNvSpPr/>
          <p:nvPr/>
        </p:nvSpPr>
        <p:spPr>
          <a:xfrm>
            <a:off x="6820513" y="3631236"/>
            <a:ext cx="361800" cy="3288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h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980" name="Google Shape;980;p57"/>
          <p:cNvSpPr/>
          <p:nvPr/>
        </p:nvSpPr>
        <p:spPr>
          <a:xfrm>
            <a:off x="8470510" y="3631236"/>
            <a:ext cx="361800" cy="328800"/>
          </a:xfrm>
          <a:prstGeom prst="ellipse">
            <a:avLst/>
          </a:prstGeom>
          <a:solidFill>
            <a:schemeClr val="accent4"/>
          </a:solidFill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d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cxnSp>
        <p:nvCxnSpPr>
          <p:cNvPr id="981" name="Google Shape;981;p57"/>
          <p:cNvCxnSpPr>
            <a:stCxn id="975" idx="4"/>
            <a:endCxn id="973" idx="0"/>
          </p:cNvCxnSpPr>
          <p:nvPr/>
        </p:nvCxnSpPr>
        <p:spPr>
          <a:xfrm>
            <a:off x="7826418" y="3086076"/>
            <a:ext cx="0" cy="4389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82" name="Google Shape;982;p57"/>
          <p:cNvCxnSpPr>
            <a:stCxn id="978" idx="0"/>
            <a:endCxn id="973" idx="4"/>
          </p:cNvCxnSpPr>
          <p:nvPr/>
        </p:nvCxnSpPr>
        <p:spPr>
          <a:xfrm rot="10800000">
            <a:off x="7826606" y="4065917"/>
            <a:ext cx="11100" cy="454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83" name="Google Shape;983;p57"/>
          <p:cNvCxnSpPr>
            <a:stCxn id="979" idx="6"/>
            <a:endCxn id="973" idx="2"/>
          </p:cNvCxnSpPr>
          <p:nvPr/>
        </p:nvCxnSpPr>
        <p:spPr>
          <a:xfrm>
            <a:off x="7182313" y="3795636"/>
            <a:ext cx="3726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84" name="Google Shape;984;p57"/>
          <p:cNvCxnSpPr>
            <a:stCxn id="980" idx="2"/>
            <a:endCxn id="973" idx="6"/>
          </p:cNvCxnSpPr>
          <p:nvPr/>
        </p:nvCxnSpPr>
        <p:spPr>
          <a:xfrm rot="10800000">
            <a:off x="8097910" y="3795636"/>
            <a:ext cx="3726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85" name="Google Shape;985;p57"/>
          <p:cNvCxnSpPr>
            <a:stCxn id="973" idx="1"/>
            <a:endCxn id="974" idx="5"/>
          </p:cNvCxnSpPr>
          <p:nvPr/>
        </p:nvCxnSpPr>
        <p:spPr>
          <a:xfrm rot="10800000">
            <a:off x="7248443" y="3382289"/>
            <a:ext cx="386100" cy="2220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86" name="Google Shape;986;p57"/>
          <p:cNvCxnSpPr>
            <a:stCxn id="973" idx="7"/>
            <a:endCxn id="976" idx="3"/>
          </p:cNvCxnSpPr>
          <p:nvPr/>
        </p:nvCxnSpPr>
        <p:spPr>
          <a:xfrm flipH="1" rot="10800000">
            <a:off x="8018502" y="3382289"/>
            <a:ext cx="340800" cy="2220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87" name="Google Shape;987;p57"/>
          <p:cNvCxnSpPr>
            <a:stCxn id="977" idx="7"/>
            <a:endCxn id="973" idx="3"/>
          </p:cNvCxnSpPr>
          <p:nvPr/>
        </p:nvCxnSpPr>
        <p:spPr>
          <a:xfrm flipH="1" rot="10800000">
            <a:off x="7248486" y="3986639"/>
            <a:ext cx="386100" cy="2223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88" name="Google Shape;988;p57"/>
          <p:cNvCxnSpPr>
            <a:stCxn id="989" idx="1"/>
            <a:endCxn id="973" idx="5"/>
          </p:cNvCxnSpPr>
          <p:nvPr/>
        </p:nvCxnSpPr>
        <p:spPr>
          <a:xfrm rot="10800000">
            <a:off x="8018562" y="3986639"/>
            <a:ext cx="340800" cy="2223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89" name="Google Shape;989;p57"/>
          <p:cNvSpPr/>
          <p:nvPr/>
        </p:nvSpPr>
        <p:spPr>
          <a:xfrm>
            <a:off x="8306377" y="4160787"/>
            <a:ext cx="361800" cy="328800"/>
          </a:xfrm>
          <a:prstGeom prst="ellipse">
            <a:avLst/>
          </a:prstGeom>
          <a:solidFill>
            <a:schemeClr val="accent4"/>
          </a:solidFill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3" name="Shape 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4" name="Google Shape;994;p58"/>
          <p:cNvSpPr txBox="1"/>
          <p:nvPr>
            <p:ph idx="1" type="body"/>
          </p:nvPr>
        </p:nvSpPr>
        <p:spPr>
          <a:xfrm>
            <a:off x="311700" y="1225225"/>
            <a:ext cx="8492400" cy="13464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Tells us whether you tend to connect with a </a:t>
            </a:r>
            <a:r>
              <a:rPr b="1" lang="en"/>
              <a:t>wide range</a:t>
            </a:r>
            <a:r>
              <a:rPr lang="en"/>
              <a:t> of others based on some </a:t>
            </a:r>
            <a:r>
              <a:rPr b="1" lang="en"/>
              <a:t>sociodemographic characteristic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E.g., Age, Race, Gender, Education, Ethnicity, Nationality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Given by </a:t>
            </a:r>
            <a:r>
              <a:rPr lang="en"/>
              <a:t>Blau's</a:t>
            </a:r>
            <a:r>
              <a:rPr b="1" lang="en"/>
              <a:t> Index of heterogeneity</a:t>
            </a:r>
            <a:r>
              <a:rPr lang="en"/>
              <a:t> (H)</a:t>
            </a:r>
            <a:r>
              <a:rPr b="1" lang="en"/>
              <a:t>: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Steps: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Sum the </a:t>
            </a:r>
            <a:r>
              <a:rPr b="1" lang="en"/>
              <a:t>squared</a:t>
            </a:r>
            <a:r>
              <a:rPr lang="en"/>
              <a:t> </a:t>
            </a:r>
            <a:r>
              <a:rPr b="1" lang="en"/>
              <a:t>proportions (</a:t>
            </a:r>
            <a:r>
              <a:rPr b="1" i="1" lang="en"/>
              <a:t>p</a:t>
            </a:r>
            <a:r>
              <a:rPr b="1" baseline="30000" lang="en"/>
              <a:t>2</a:t>
            </a:r>
            <a:r>
              <a:rPr b="1" lang="en"/>
              <a:t>)</a:t>
            </a:r>
            <a:r>
              <a:rPr lang="en"/>
              <a:t> alters from each group (k)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5" name="Google Shape;995;p5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Ego networks: Diversity</a:t>
            </a:r>
            <a:endParaRPr/>
          </a:p>
        </p:txBody>
      </p:sp>
      <p:pic>
        <p:nvPicPr>
          <p:cNvPr descr="H = 1 - \sum_k p_k^2" id="996" name="Google Shape;996;p58" title="MathEquation,#0000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85500" y="2693065"/>
            <a:ext cx="2344782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997" name="Google Shape;997;p58"/>
          <p:cNvSpPr/>
          <p:nvPr/>
        </p:nvSpPr>
        <p:spPr>
          <a:xfrm>
            <a:off x="7555023" y="3525076"/>
            <a:ext cx="543000" cy="5409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Ego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998" name="Google Shape;998;p58"/>
          <p:cNvSpPr/>
          <p:nvPr/>
        </p:nvSpPr>
        <p:spPr>
          <a:xfrm>
            <a:off x="6939671" y="3101668"/>
            <a:ext cx="361800" cy="3288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a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999" name="Google Shape;999;p58"/>
          <p:cNvSpPr/>
          <p:nvPr/>
        </p:nvSpPr>
        <p:spPr>
          <a:xfrm>
            <a:off x="7645518" y="2757276"/>
            <a:ext cx="361800" cy="3288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b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000" name="Google Shape;1000;p58"/>
          <p:cNvSpPr/>
          <p:nvPr/>
        </p:nvSpPr>
        <p:spPr>
          <a:xfrm>
            <a:off x="8306377" y="3101668"/>
            <a:ext cx="361800" cy="3288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c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001" name="Google Shape;1001;p58"/>
          <p:cNvSpPr/>
          <p:nvPr/>
        </p:nvSpPr>
        <p:spPr>
          <a:xfrm>
            <a:off x="6939671" y="4160787"/>
            <a:ext cx="361800" cy="3288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g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002" name="Google Shape;1002;p58"/>
          <p:cNvSpPr/>
          <p:nvPr/>
        </p:nvSpPr>
        <p:spPr>
          <a:xfrm>
            <a:off x="7656806" y="4520717"/>
            <a:ext cx="361800" cy="3288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f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003" name="Google Shape;1003;p58"/>
          <p:cNvSpPr/>
          <p:nvPr/>
        </p:nvSpPr>
        <p:spPr>
          <a:xfrm>
            <a:off x="6820513" y="3631236"/>
            <a:ext cx="361800" cy="3288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h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004" name="Google Shape;1004;p58"/>
          <p:cNvSpPr/>
          <p:nvPr/>
        </p:nvSpPr>
        <p:spPr>
          <a:xfrm>
            <a:off x="8470510" y="3631236"/>
            <a:ext cx="361800" cy="328800"/>
          </a:xfrm>
          <a:prstGeom prst="ellipse">
            <a:avLst/>
          </a:prstGeom>
          <a:solidFill>
            <a:schemeClr val="accent4"/>
          </a:solidFill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d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cxnSp>
        <p:nvCxnSpPr>
          <p:cNvPr id="1005" name="Google Shape;1005;p58"/>
          <p:cNvCxnSpPr>
            <a:stCxn id="999" idx="4"/>
            <a:endCxn id="997" idx="0"/>
          </p:cNvCxnSpPr>
          <p:nvPr/>
        </p:nvCxnSpPr>
        <p:spPr>
          <a:xfrm>
            <a:off x="7826418" y="3086076"/>
            <a:ext cx="0" cy="4389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06" name="Google Shape;1006;p58"/>
          <p:cNvCxnSpPr>
            <a:stCxn id="1002" idx="0"/>
            <a:endCxn id="997" idx="4"/>
          </p:cNvCxnSpPr>
          <p:nvPr/>
        </p:nvCxnSpPr>
        <p:spPr>
          <a:xfrm rot="10800000">
            <a:off x="7826606" y="4065917"/>
            <a:ext cx="11100" cy="454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07" name="Google Shape;1007;p58"/>
          <p:cNvCxnSpPr>
            <a:stCxn id="1003" idx="6"/>
            <a:endCxn id="997" idx="2"/>
          </p:cNvCxnSpPr>
          <p:nvPr/>
        </p:nvCxnSpPr>
        <p:spPr>
          <a:xfrm>
            <a:off x="7182313" y="3795636"/>
            <a:ext cx="3726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08" name="Google Shape;1008;p58"/>
          <p:cNvCxnSpPr>
            <a:stCxn id="1004" idx="2"/>
            <a:endCxn id="997" idx="6"/>
          </p:cNvCxnSpPr>
          <p:nvPr/>
        </p:nvCxnSpPr>
        <p:spPr>
          <a:xfrm rot="10800000">
            <a:off x="8097910" y="3795636"/>
            <a:ext cx="3726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09" name="Google Shape;1009;p58"/>
          <p:cNvCxnSpPr>
            <a:stCxn id="997" idx="1"/>
            <a:endCxn id="998" idx="5"/>
          </p:cNvCxnSpPr>
          <p:nvPr/>
        </p:nvCxnSpPr>
        <p:spPr>
          <a:xfrm rot="10800000">
            <a:off x="7248443" y="3382289"/>
            <a:ext cx="386100" cy="2220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10" name="Google Shape;1010;p58"/>
          <p:cNvCxnSpPr>
            <a:stCxn id="997" idx="7"/>
            <a:endCxn id="1000" idx="3"/>
          </p:cNvCxnSpPr>
          <p:nvPr/>
        </p:nvCxnSpPr>
        <p:spPr>
          <a:xfrm flipH="1" rot="10800000">
            <a:off x="8018502" y="3382289"/>
            <a:ext cx="340800" cy="2220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11" name="Google Shape;1011;p58"/>
          <p:cNvCxnSpPr>
            <a:stCxn id="1001" idx="7"/>
            <a:endCxn id="997" idx="3"/>
          </p:cNvCxnSpPr>
          <p:nvPr/>
        </p:nvCxnSpPr>
        <p:spPr>
          <a:xfrm flipH="1" rot="10800000">
            <a:off x="7248486" y="3986639"/>
            <a:ext cx="386100" cy="2223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12" name="Google Shape;1012;p58"/>
          <p:cNvCxnSpPr>
            <a:stCxn id="1013" idx="1"/>
            <a:endCxn id="997" idx="5"/>
          </p:cNvCxnSpPr>
          <p:nvPr/>
        </p:nvCxnSpPr>
        <p:spPr>
          <a:xfrm rot="10800000">
            <a:off x="8018562" y="3986639"/>
            <a:ext cx="340800" cy="2223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13" name="Google Shape;1013;p58"/>
          <p:cNvSpPr/>
          <p:nvPr/>
        </p:nvSpPr>
        <p:spPr>
          <a:xfrm>
            <a:off x="8306377" y="4160787"/>
            <a:ext cx="361800" cy="328800"/>
          </a:xfrm>
          <a:prstGeom prst="ellipse">
            <a:avLst/>
          </a:prstGeom>
          <a:solidFill>
            <a:schemeClr val="accent4"/>
          </a:solidFill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7" name="Shape 1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" name="Google Shape;1018;p59"/>
          <p:cNvSpPr txBox="1"/>
          <p:nvPr>
            <p:ph idx="1" type="body"/>
          </p:nvPr>
        </p:nvSpPr>
        <p:spPr>
          <a:xfrm>
            <a:off x="311700" y="1225225"/>
            <a:ext cx="8492400" cy="13464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Tells us whether you tend to connect with a </a:t>
            </a:r>
            <a:r>
              <a:rPr b="1" lang="en"/>
              <a:t>wide range</a:t>
            </a:r>
            <a:r>
              <a:rPr lang="en"/>
              <a:t> of others based on some </a:t>
            </a:r>
            <a:r>
              <a:rPr b="1" lang="en"/>
              <a:t>sociodemographic characteristic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E.g., Age, Race, Gender, Education, Ethnicity, Nationality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Given by </a:t>
            </a:r>
            <a:r>
              <a:rPr lang="en"/>
              <a:t>Blau's</a:t>
            </a:r>
            <a:r>
              <a:rPr b="1" lang="en"/>
              <a:t> Index of heterogeneity</a:t>
            </a:r>
            <a:r>
              <a:rPr lang="en"/>
              <a:t> (H)</a:t>
            </a:r>
            <a:r>
              <a:rPr b="1" lang="en"/>
              <a:t>: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Steps: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Sum the </a:t>
            </a:r>
            <a:r>
              <a:rPr b="1" lang="en"/>
              <a:t>squared</a:t>
            </a:r>
            <a:r>
              <a:rPr lang="en"/>
              <a:t> </a:t>
            </a:r>
            <a:r>
              <a:rPr b="1" lang="en"/>
              <a:t>proportions (</a:t>
            </a:r>
            <a:r>
              <a:rPr b="1" i="1" lang="en"/>
              <a:t>p</a:t>
            </a:r>
            <a:r>
              <a:rPr b="1" baseline="30000" lang="en"/>
              <a:t>2</a:t>
            </a:r>
            <a:r>
              <a:rPr b="1" lang="en"/>
              <a:t>)</a:t>
            </a:r>
            <a:r>
              <a:rPr lang="en"/>
              <a:t> alters from each group (k)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Subtract from 1.0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9" name="Google Shape;1019;p5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Ego networks: Diversity</a:t>
            </a:r>
            <a:endParaRPr/>
          </a:p>
        </p:txBody>
      </p:sp>
      <p:pic>
        <p:nvPicPr>
          <p:cNvPr descr="H = 1 - \sum_k p_k^2" id="1020" name="Google Shape;1020;p59" title="MathEquation,#0000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85500" y="2693065"/>
            <a:ext cx="2344782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1" name="Google Shape;1021;p59"/>
          <p:cNvSpPr/>
          <p:nvPr/>
        </p:nvSpPr>
        <p:spPr>
          <a:xfrm>
            <a:off x="7555023" y="3525076"/>
            <a:ext cx="543000" cy="5409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Ego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022" name="Google Shape;1022;p59"/>
          <p:cNvSpPr/>
          <p:nvPr/>
        </p:nvSpPr>
        <p:spPr>
          <a:xfrm>
            <a:off x="6939671" y="3101668"/>
            <a:ext cx="361800" cy="3288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a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023" name="Google Shape;1023;p59"/>
          <p:cNvSpPr/>
          <p:nvPr/>
        </p:nvSpPr>
        <p:spPr>
          <a:xfrm>
            <a:off x="7645518" y="2757276"/>
            <a:ext cx="361800" cy="3288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b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024" name="Google Shape;1024;p59"/>
          <p:cNvSpPr/>
          <p:nvPr/>
        </p:nvSpPr>
        <p:spPr>
          <a:xfrm>
            <a:off x="8306377" y="3101668"/>
            <a:ext cx="361800" cy="3288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c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025" name="Google Shape;1025;p59"/>
          <p:cNvSpPr/>
          <p:nvPr/>
        </p:nvSpPr>
        <p:spPr>
          <a:xfrm>
            <a:off x="6939671" y="4160787"/>
            <a:ext cx="361800" cy="3288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g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026" name="Google Shape;1026;p59"/>
          <p:cNvSpPr/>
          <p:nvPr/>
        </p:nvSpPr>
        <p:spPr>
          <a:xfrm>
            <a:off x="7656806" y="4520717"/>
            <a:ext cx="361800" cy="3288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f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027" name="Google Shape;1027;p59"/>
          <p:cNvSpPr/>
          <p:nvPr/>
        </p:nvSpPr>
        <p:spPr>
          <a:xfrm>
            <a:off x="6820513" y="3631236"/>
            <a:ext cx="361800" cy="3288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h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028" name="Google Shape;1028;p59"/>
          <p:cNvSpPr/>
          <p:nvPr/>
        </p:nvSpPr>
        <p:spPr>
          <a:xfrm>
            <a:off x="8470510" y="3631236"/>
            <a:ext cx="361800" cy="328800"/>
          </a:xfrm>
          <a:prstGeom prst="ellipse">
            <a:avLst/>
          </a:prstGeom>
          <a:solidFill>
            <a:schemeClr val="accent4"/>
          </a:solidFill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d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cxnSp>
        <p:nvCxnSpPr>
          <p:cNvPr id="1029" name="Google Shape;1029;p59"/>
          <p:cNvCxnSpPr>
            <a:stCxn id="1023" idx="4"/>
            <a:endCxn id="1021" idx="0"/>
          </p:cNvCxnSpPr>
          <p:nvPr/>
        </p:nvCxnSpPr>
        <p:spPr>
          <a:xfrm>
            <a:off x="7826418" y="3086076"/>
            <a:ext cx="0" cy="4389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30" name="Google Shape;1030;p59"/>
          <p:cNvCxnSpPr>
            <a:stCxn id="1026" idx="0"/>
            <a:endCxn id="1021" idx="4"/>
          </p:cNvCxnSpPr>
          <p:nvPr/>
        </p:nvCxnSpPr>
        <p:spPr>
          <a:xfrm rot="10800000">
            <a:off x="7826606" y="4065917"/>
            <a:ext cx="11100" cy="454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31" name="Google Shape;1031;p59"/>
          <p:cNvCxnSpPr>
            <a:stCxn id="1027" idx="6"/>
            <a:endCxn id="1021" idx="2"/>
          </p:cNvCxnSpPr>
          <p:nvPr/>
        </p:nvCxnSpPr>
        <p:spPr>
          <a:xfrm>
            <a:off x="7182313" y="3795636"/>
            <a:ext cx="3726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32" name="Google Shape;1032;p59"/>
          <p:cNvCxnSpPr>
            <a:stCxn id="1028" idx="2"/>
            <a:endCxn id="1021" idx="6"/>
          </p:cNvCxnSpPr>
          <p:nvPr/>
        </p:nvCxnSpPr>
        <p:spPr>
          <a:xfrm rot="10800000">
            <a:off x="8097910" y="3795636"/>
            <a:ext cx="3726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33" name="Google Shape;1033;p59"/>
          <p:cNvCxnSpPr>
            <a:stCxn id="1021" idx="1"/>
            <a:endCxn id="1022" idx="5"/>
          </p:cNvCxnSpPr>
          <p:nvPr/>
        </p:nvCxnSpPr>
        <p:spPr>
          <a:xfrm rot="10800000">
            <a:off x="7248443" y="3382289"/>
            <a:ext cx="386100" cy="2220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34" name="Google Shape;1034;p59"/>
          <p:cNvCxnSpPr>
            <a:stCxn id="1021" idx="7"/>
            <a:endCxn id="1024" idx="3"/>
          </p:cNvCxnSpPr>
          <p:nvPr/>
        </p:nvCxnSpPr>
        <p:spPr>
          <a:xfrm flipH="1" rot="10800000">
            <a:off x="8018502" y="3382289"/>
            <a:ext cx="340800" cy="2220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35" name="Google Shape;1035;p59"/>
          <p:cNvCxnSpPr>
            <a:stCxn id="1025" idx="7"/>
            <a:endCxn id="1021" idx="3"/>
          </p:cNvCxnSpPr>
          <p:nvPr/>
        </p:nvCxnSpPr>
        <p:spPr>
          <a:xfrm flipH="1" rot="10800000">
            <a:off x="7248486" y="3986639"/>
            <a:ext cx="386100" cy="2223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36" name="Google Shape;1036;p59"/>
          <p:cNvCxnSpPr>
            <a:stCxn id="1037" idx="1"/>
            <a:endCxn id="1021" idx="5"/>
          </p:cNvCxnSpPr>
          <p:nvPr/>
        </p:nvCxnSpPr>
        <p:spPr>
          <a:xfrm rot="10800000">
            <a:off x="8018562" y="3986639"/>
            <a:ext cx="340800" cy="2223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37" name="Google Shape;1037;p59"/>
          <p:cNvSpPr/>
          <p:nvPr/>
        </p:nvSpPr>
        <p:spPr>
          <a:xfrm>
            <a:off x="8306377" y="4160787"/>
            <a:ext cx="361800" cy="328800"/>
          </a:xfrm>
          <a:prstGeom prst="ellipse">
            <a:avLst/>
          </a:prstGeom>
          <a:solidFill>
            <a:schemeClr val="accent4"/>
          </a:solidFill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1" name="Shape 10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Google Shape;1042;p60"/>
          <p:cNvSpPr txBox="1"/>
          <p:nvPr>
            <p:ph idx="1" type="body"/>
          </p:nvPr>
        </p:nvSpPr>
        <p:spPr>
          <a:xfrm>
            <a:off x="311700" y="1225225"/>
            <a:ext cx="8492400" cy="13464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Tells us whether you tend to connect with a </a:t>
            </a:r>
            <a:r>
              <a:rPr b="1" lang="en"/>
              <a:t>wide range</a:t>
            </a:r>
            <a:r>
              <a:rPr lang="en"/>
              <a:t> of others based on some </a:t>
            </a:r>
            <a:r>
              <a:rPr b="1" lang="en"/>
              <a:t>sociodemographic characteristic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E.g., Age, Race, Gender, Education, Ethnicity, Nationality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Given by </a:t>
            </a:r>
            <a:r>
              <a:rPr lang="en"/>
              <a:t>Blau's</a:t>
            </a:r>
            <a:r>
              <a:rPr b="1" lang="en"/>
              <a:t> Index of heterogeneity</a:t>
            </a:r>
            <a:r>
              <a:rPr lang="en"/>
              <a:t> (H)</a:t>
            </a:r>
            <a:r>
              <a:rPr b="1" lang="en"/>
              <a:t>: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Steps: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Sum the </a:t>
            </a:r>
            <a:r>
              <a:rPr b="1" lang="en"/>
              <a:t>squared</a:t>
            </a:r>
            <a:r>
              <a:rPr lang="en"/>
              <a:t> </a:t>
            </a:r>
            <a:r>
              <a:rPr b="1" lang="en"/>
              <a:t>proportions (</a:t>
            </a:r>
            <a:r>
              <a:rPr b="1" i="1" lang="en"/>
              <a:t>p</a:t>
            </a:r>
            <a:r>
              <a:rPr b="1" baseline="30000" lang="en"/>
              <a:t>2</a:t>
            </a:r>
            <a:r>
              <a:rPr b="1" lang="en"/>
              <a:t>)</a:t>
            </a:r>
            <a:r>
              <a:rPr lang="en"/>
              <a:t> alters from each group (k)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Subtract from 1.0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 = 1 − (</a:t>
            </a:r>
            <a:r>
              <a:rPr b="1" lang="en">
                <a:solidFill>
                  <a:schemeClr val="lt2"/>
                </a:solidFill>
              </a:rPr>
              <a:t>1</a:t>
            </a:r>
            <a:r>
              <a:rPr lang="en"/>
              <a:t>/8</a:t>
            </a:r>
            <a:r>
              <a:rPr baseline="30000" lang="en"/>
              <a:t>2</a:t>
            </a:r>
            <a:r>
              <a:rPr lang="en"/>
              <a:t> + </a:t>
            </a:r>
            <a:r>
              <a:rPr b="1" lang="en">
                <a:solidFill>
                  <a:schemeClr val="accent4"/>
                </a:solidFill>
              </a:rPr>
              <a:t>2</a:t>
            </a:r>
            <a:r>
              <a:rPr lang="en"/>
              <a:t>/8</a:t>
            </a:r>
            <a:r>
              <a:rPr baseline="30000" lang="en"/>
              <a:t>2</a:t>
            </a:r>
            <a:r>
              <a:rPr lang="en"/>
              <a:t> + </a:t>
            </a:r>
            <a:r>
              <a:rPr b="1" lang="en">
                <a:solidFill>
                  <a:schemeClr val="accent5"/>
                </a:solidFill>
              </a:rPr>
              <a:t>5</a:t>
            </a:r>
            <a:r>
              <a:rPr lang="en"/>
              <a:t>/8</a:t>
            </a:r>
            <a:r>
              <a:rPr baseline="30000" lang="en"/>
              <a:t>2</a:t>
            </a:r>
            <a:r>
              <a:rPr lang="en"/>
              <a:t>) 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3" name="Google Shape;1043;p6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Ego networks: Diversity</a:t>
            </a:r>
            <a:endParaRPr/>
          </a:p>
        </p:txBody>
      </p:sp>
      <p:pic>
        <p:nvPicPr>
          <p:cNvPr descr="H = 1 - \sum_k p_k^2" id="1044" name="Google Shape;1044;p60" title="MathEquation,#0000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85500" y="2693065"/>
            <a:ext cx="2344782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5" name="Google Shape;1045;p60"/>
          <p:cNvSpPr/>
          <p:nvPr/>
        </p:nvSpPr>
        <p:spPr>
          <a:xfrm>
            <a:off x="7555023" y="3525076"/>
            <a:ext cx="543000" cy="5409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Ego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046" name="Google Shape;1046;p60"/>
          <p:cNvSpPr/>
          <p:nvPr/>
        </p:nvSpPr>
        <p:spPr>
          <a:xfrm>
            <a:off x="6939671" y="3101668"/>
            <a:ext cx="361800" cy="3288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a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047" name="Google Shape;1047;p60"/>
          <p:cNvSpPr/>
          <p:nvPr/>
        </p:nvSpPr>
        <p:spPr>
          <a:xfrm>
            <a:off x="7645518" y="2757276"/>
            <a:ext cx="361800" cy="3288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b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048" name="Google Shape;1048;p60"/>
          <p:cNvSpPr/>
          <p:nvPr/>
        </p:nvSpPr>
        <p:spPr>
          <a:xfrm>
            <a:off x="8306377" y="3101668"/>
            <a:ext cx="361800" cy="3288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c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049" name="Google Shape;1049;p60"/>
          <p:cNvSpPr/>
          <p:nvPr/>
        </p:nvSpPr>
        <p:spPr>
          <a:xfrm>
            <a:off x="6939671" y="4160787"/>
            <a:ext cx="361800" cy="3288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g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050" name="Google Shape;1050;p60"/>
          <p:cNvSpPr/>
          <p:nvPr/>
        </p:nvSpPr>
        <p:spPr>
          <a:xfrm>
            <a:off x="7656806" y="4520717"/>
            <a:ext cx="361800" cy="3288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f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051" name="Google Shape;1051;p60"/>
          <p:cNvSpPr/>
          <p:nvPr/>
        </p:nvSpPr>
        <p:spPr>
          <a:xfrm>
            <a:off x="6820513" y="3631236"/>
            <a:ext cx="361800" cy="3288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h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052" name="Google Shape;1052;p60"/>
          <p:cNvSpPr/>
          <p:nvPr/>
        </p:nvSpPr>
        <p:spPr>
          <a:xfrm>
            <a:off x="8470510" y="3631236"/>
            <a:ext cx="361800" cy="328800"/>
          </a:xfrm>
          <a:prstGeom prst="ellipse">
            <a:avLst/>
          </a:prstGeom>
          <a:solidFill>
            <a:schemeClr val="accent4"/>
          </a:solidFill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d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cxnSp>
        <p:nvCxnSpPr>
          <p:cNvPr id="1053" name="Google Shape;1053;p60"/>
          <p:cNvCxnSpPr>
            <a:stCxn id="1047" idx="4"/>
            <a:endCxn id="1045" idx="0"/>
          </p:cNvCxnSpPr>
          <p:nvPr/>
        </p:nvCxnSpPr>
        <p:spPr>
          <a:xfrm>
            <a:off x="7826418" y="3086076"/>
            <a:ext cx="0" cy="4389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4" name="Google Shape;1054;p60"/>
          <p:cNvCxnSpPr>
            <a:stCxn id="1050" idx="0"/>
            <a:endCxn id="1045" idx="4"/>
          </p:cNvCxnSpPr>
          <p:nvPr/>
        </p:nvCxnSpPr>
        <p:spPr>
          <a:xfrm rot="10800000">
            <a:off x="7826606" y="4065917"/>
            <a:ext cx="11100" cy="454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5" name="Google Shape;1055;p60"/>
          <p:cNvCxnSpPr>
            <a:stCxn id="1051" idx="6"/>
            <a:endCxn id="1045" idx="2"/>
          </p:cNvCxnSpPr>
          <p:nvPr/>
        </p:nvCxnSpPr>
        <p:spPr>
          <a:xfrm>
            <a:off x="7182313" y="3795636"/>
            <a:ext cx="3726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6" name="Google Shape;1056;p60"/>
          <p:cNvCxnSpPr>
            <a:stCxn id="1052" idx="2"/>
            <a:endCxn id="1045" idx="6"/>
          </p:cNvCxnSpPr>
          <p:nvPr/>
        </p:nvCxnSpPr>
        <p:spPr>
          <a:xfrm rot="10800000">
            <a:off x="8097910" y="3795636"/>
            <a:ext cx="3726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7" name="Google Shape;1057;p60"/>
          <p:cNvCxnSpPr>
            <a:stCxn id="1045" idx="1"/>
            <a:endCxn id="1046" idx="5"/>
          </p:cNvCxnSpPr>
          <p:nvPr/>
        </p:nvCxnSpPr>
        <p:spPr>
          <a:xfrm rot="10800000">
            <a:off x="7248443" y="3382289"/>
            <a:ext cx="386100" cy="2220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8" name="Google Shape;1058;p60"/>
          <p:cNvCxnSpPr>
            <a:stCxn id="1045" idx="7"/>
            <a:endCxn id="1048" idx="3"/>
          </p:cNvCxnSpPr>
          <p:nvPr/>
        </p:nvCxnSpPr>
        <p:spPr>
          <a:xfrm flipH="1" rot="10800000">
            <a:off x="8018502" y="3382289"/>
            <a:ext cx="340800" cy="2220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9" name="Google Shape;1059;p60"/>
          <p:cNvCxnSpPr>
            <a:stCxn id="1049" idx="7"/>
            <a:endCxn id="1045" idx="3"/>
          </p:cNvCxnSpPr>
          <p:nvPr/>
        </p:nvCxnSpPr>
        <p:spPr>
          <a:xfrm flipH="1" rot="10800000">
            <a:off x="7248486" y="3986639"/>
            <a:ext cx="386100" cy="2223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60" name="Google Shape;1060;p60"/>
          <p:cNvCxnSpPr>
            <a:stCxn id="1061" idx="1"/>
            <a:endCxn id="1045" idx="5"/>
          </p:cNvCxnSpPr>
          <p:nvPr/>
        </p:nvCxnSpPr>
        <p:spPr>
          <a:xfrm rot="10800000">
            <a:off x="8018562" y="3986639"/>
            <a:ext cx="340800" cy="2223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61" name="Google Shape;1061;p60"/>
          <p:cNvSpPr/>
          <p:nvPr/>
        </p:nvSpPr>
        <p:spPr>
          <a:xfrm>
            <a:off x="8306377" y="4160787"/>
            <a:ext cx="361800" cy="328800"/>
          </a:xfrm>
          <a:prstGeom prst="ellipse">
            <a:avLst/>
          </a:prstGeom>
          <a:solidFill>
            <a:schemeClr val="accent4"/>
          </a:solidFill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5" name="Shape 1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p61"/>
          <p:cNvSpPr txBox="1"/>
          <p:nvPr>
            <p:ph idx="1" type="body"/>
          </p:nvPr>
        </p:nvSpPr>
        <p:spPr>
          <a:xfrm>
            <a:off x="311700" y="1225225"/>
            <a:ext cx="8492400" cy="13464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Tells us whether you tend to connect with a </a:t>
            </a:r>
            <a:r>
              <a:rPr b="1" lang="en"/>
              <a:t>wide range</a:t>
            </a:r>
            <a:r>
              <a:rPr lang="en"/>
              <a:t> of others based on some </a:t>
            </a:r>
            <a:r>
              <a:rPr b="1" lang="en"/>
              <a:t>sociodemographic characteristic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E.g., Age, Race, Gender, Education, Ethnicity, Nationality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Given by </a:t>
            </a:r>
            <a:r>
              <a:rPr lang="en"/>
              <a:t>Blau's</a:t>
            </a:r>
            <a:r>
              <a:rPr b="1" lang="en"/>
              <a:t> Index of heterogeneity</a:t>
            </a:r>
            <a:r>
              <a:rPr lang="en"/>
              <a:t> (H)</a:t>
            </a:r>
            <a:r>
              <a:rPr b="1" lang="en"/>
              <a:t>: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Steps: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Sum the </a:t>
            </a:r>
            <a:r>
              <a:rPr b="1" lang="en"/>
              <a:t>squared</a:t>
            </a:r>
            <a:r>
              <a:rPr lang="en"/>
              <a:t> </a:t>
            </a:r>
            <a:r>
              <a:rPr b="1" lang="en"/>
              <a:t>proportions (</a:t>
            </a:r>
            <a:r>
              <a:rPr b="1" i="1" lang="en"/>
              <a:t>p</a:t>
            </a:r>
            <a:r>
              <a:rPr b="1" baseline="30000" lang="en"/>
              <a:t>2</a:t>
            </a:r>
            <a:r>
              <a:rPr b="1" lang="en"/>
              <a:t>)</a:t>
            </a:r>
            <a:r>
              <a:rPr lang="en"/>
              <a:t> alters from each group (k)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Subtract from 1.0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 = 1 − (</a:t>
            </a:r>
            <a:r>
              <a:rPr b="1" lang="en">
                <a:solidFill>
                  <a:schemeClr val="lt2"/>
                </a:solidFill>
              </a:rPr>
              <a:t>1</a:t>
            </a:r>
            <a:r>
              <a:rPr lang="en"/>
              <a:t>/8</a:t>
            </a:r>
            <a:r>
              <a:rPr baseline="30000" lang="en"/>
              <a:t>2</a:t>
            </a:r>
            <a:r>
              <a:rPr lang="en"/>
              <a:t> + </a:t>
            </a:r>
            <a:r>
              <a:rPr b="1" lang="en">
                <a:solidFill>
                  <a:schemeClr val="accent4"/>
                </a:solidFill>
              </a:rPr>
              <a:t>2</a:t>
            </a:r>
            <a:r>
              <a:rPr lang="en"/>
              <a:t>/8</a:t>
            </a:r>
            <a:r>
              <a:rPr baseline="30000" lang="en"/>
              <a:t>2</a:t>
            </a:r>
            <a:r>
              <a:rPr lang="en"/>
              <a:t> + </a:t>
            </a:r>
            <a:r>
              <a:rPr b="1" lang="en">
                <a:solidFill>
                  <a:schemeClr val="accent5"/>
                </a:solidFill>
              </a:rPr>
              <a:t>5</a:t>
            </a:r>
            <a:r>
              <a:rPr lang="en"/>
              <a:t>/8</a:t>
            </a:r>
            <a:r>
              <a:rPr baseline="30000" lang="en"/>
              <a:t>2</a:t>
            </a:r>
            <a:r>
              <a:rPr lang="en"/>
              <a:t>)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 = 1 − (</a:t>
            </a:r>
            <a:r>
              <a:rPr b="1" lang="en">
                <a:solidFill>
                  <a:schemeClr val="lt2"/>
                </a:solidFill>
              </a:rPr>
              <a:t>0.13</a:t>
            </a:r>
            <a:r>
              <a:rPr baseline="30000" lang="en"/>
              <a:t>2</a:t>
            </a:r>
            <a:r>
              <a:rPr lang="en"/>
              <a:t> + </a:t>
            </a:r>
            <a:r>
              <a:rPr b="1" lang="en">
                <a:solidFill>
                  <a:schemeClr val="accent4"/>
                </a:solidFill>
              </a:rPr>
              <a:t>0.25</a:t>
            </a:r>
            <a:r>
              <a:rPr baseline="30000" lang="en"/>
              <a:t>2</a:t>
            </a:r>
            <a:r>
              <a:rPr lang="en"/>
              <a:t> + </a:t>
            </a:r>
            <a:r>
              <a:rPr b="1" lang="en">
                <a:solidFill>
                  <a:schemeClr val="accent5"/>
                </a:solidFill>
              </a:rPr>
              <a:t>0.62</a:t>
            </a:r>
            <a:r>
              <a:rPr baseline="30000" lang="en"/>
              <a:t>2</a:t>
            </a:r>
            <a:r>
              <a:rPr lang="en"/>
              <a:t>)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7" name="Google Shape;1067;p6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Ego networks: Diversity</a:t>
            </a:r>
            <a:endParaRPr/>
          </a:p>
        </p:txBody>
      </p:sp>
      <p:pic>
        <p:nvPicPr>
          <p:cNvPr descr="H = 1 - \sum_k p_k^2" id="1068" name="Google Shape;1068;p61" title="MathEquation,#0000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85500" y="2693065"/>
            <a:ext cx="2344782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9" name="Google Shape;1069;p61"/>
          <p:cNvSpPr/>
          <p:nvPr/>
        </p:nvSpPr>
        <p:spPr>
          <a:xfrm>
            <a:off x="7555023" y="3525076"/>
            <a:ext cx="543000" cy="5409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Ego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070" name="Google Shape;1070;p61"/>
          <p:cNvSpPr/>
          <p:nvPr/>
        </p:nvSpPr>
        <p:spPr>
          <a:xfrm>
            <a:off x="6939671" y="3101668"/>
            <a:ext cx="361800" cy="3288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a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071" name="Google Shape;1071;p61"/>
          <p:cNvSpPr/>
          <p:nvPr/>
        </p:nvSpPr>
        <p:spPr>
          <a:xfrm>
            <a:off x="7645518" y="2757276"/>
            <a:ext cx="361800" cy="3288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b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072" name="Google Shape;1072;p61"/>
          <p:cNvSpPr/>
          <p:nvPr/>
        </p:nvSpPr>
        <p:spPr>
          <a:xfrm>
            <a:off x="8306377" y="3101668"/>
            <a:ext cx="361800" cy="3288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c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073" name="Google Shape;1073;p61"/>
          <p:cNvSpPr/>
          <p:nvPr/>
        </p:nvSpPr>
        <p:spPr>
          <a:xfrm>
            <a:off x="6939671" y="4160787"/>
            <a:ext cx="361800" cy="3288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g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074" name="Google Shape;1074;p61"/>
          <p:cNvSpPr/>
          <p:nvPr/>
        </p:nvSpPr>
        <p:spPr>
          <a:xfrm>
            <a:off x="7656806" y="4520717"/>
            <a:ext cx="361800" cy="3288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f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075" name="Google Shape;1075;p61"/>
          <p:cNvSpPr/>
          <p:nvPr/>
        </p:nvSpPr>
        <p:spPr>
          <a:xfrm>
            <a:off x="6820513" y="3631236"/>
            <a:ext cx="361800" cy="3288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h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076" name="Google Shape;1076;p61"/>
          <p:cNvSpPr/>
          <p:nvPr/>
        </p:nvSpPr>
        <p:spPr>
          <a:xfrm>
            <a:off x="8470510" y="3631236"/>
            <a:ext cx="361800" cy="328800"/>
          </a:xfrm>
          <a:prstGeom prst="ellipse">
            <a:avLst/>
          </a:prstGeom>
          <a:solidFill>
            <a:schemeClr val="accent4"/>
          </a:solidFill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d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cxnSp>
        <p:nvCxnSpPr>
          <p:cNvPr id="1077" name="Google Shape;1077;p61"/>
          <p:cNvCxnSpPr>
            <a:stCxn id="1071" idx="4"/>
            <a:endCxn id="1069" idx="0"/>
          </p:cNvCxnSpPr>
          <p:nvPr/>
        </p:nvCxnSpPr>
        <p:spPr>
          <a:xfrm>
            <a:off x="7826418" y="3086076"/>
            <a:ext cx="0" cy="4389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78" name="Google Shape;1078;p61"/>
          <p:cNvCxnSpPr>
            <a:stCxn id="1074" idx="0"/>
            <a:endCxn id="1069" idx="4"/>
          </p:cNvCxnSpPr>
          <p:nvPr/>
        </p:nvCxnSpPr>
        <p:spPr>
          <a:xfrm rot="10800000">
            <a:off x="7826606" y="4065917"/>
            <a:ext cx="11100" cy="454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79" name="Google Shape;1079;p61"/>
          <p:cNvCxnSpPr>
            <a:stCxn id="1075" idx="6"/>
            <a:endCxn id="1069" idx="2"/>
          </p:cNvCxnSpPr>
          <p:nvPr/>
        </p:nvCxnSpPr>
        <p:spPr>
          <a:xfrm>
            <a:off x="7182313" y="3795636"/>
            <a:ext cx="3726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80" name="Google Shape;1080;p61"/>
          <p:cNvCxnSpPr>
            <a:stCxn id="1076" idx="2"/>
            <a:endCxn id="1069" idx="6"/>
          </p:cNvCxnSpPr>
          <p:nvPr/>
        </p:nvCxnSpPr>
        <p:spPr>
          <a:xfrm rot="10800000">
            <a:off x="8097910" y="3795636"/>
            <a:ext cx="3726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81" name="Google Shape;1081;p61"/>
          <p:cNvCxnSpPr>
            <a:stCxn id="1069" idx="1"/>
            <a:endCxn id="1070" idx="5"/>
          </p:cNvCxnSpPr>
          <p:nvPr/>
        </p:nvCxnSpPr>
        <p:spPr>
          <a:xfrm rot="10800000">
            <a:off x="7248443" y="3382289"/>
            <a:ext cx="386100" cy="2220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82" name="Google Shape;1082;p61"/>
          <p:cNvCxnSpPr>
            <a:stCxn id="1069" idx="7"/>
            <a:endCxn id="1072" idx="3"/>
          </p:cNvCxnSpPr>
          <p:nvPr/>
        </p:nvCxnSpPr>
        <p:spPr>
          <a:xfrm flipH="1" rot="10800000">
            <a:off x="8018502" y="3382289"/>
            <a:ext cx="340800" cy="2220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83" name="Google Shape;1083;p61"/>
          <p:cNvCxnSpPr>
            <a:stCxn id="1073" idx="7"/>
            <a:endCxn id="1069" idx="3"/>
          </p:cNvCxnSpPr>
          <p:nvPr/>
        </p:nvCxnSpPr>
        <p:spPr>
          <a:xfrm flipH="1" rot="10800000">
            <a:off x="7248486" y="3986639"/>
            <a:ext cx="386100" cy="2223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84" name="Google Shape;1084;p61"/>
          <p:cNvCxnSpPr>
            <a:stCxn id="1085" idx="1"/>
            <a:endCxn id="1069" idx="5"/>
          </p:cNvCxnSpPr>
          <p:nvPr/>
        </p:nvCxnSpPr>
        <p:spPr>
          <a:xfrm rot="10800000">
            <a:off x="8018562" y="3986639"/>
            <a:ext cx="340800" cy="2223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85" name="Google Shape;1085;p61"/>
          <p:cNvSpPr/>
          <p:nvPr/>
        </p:nvSpPr>
        <p:spPr>
          <a:xfrm>
            <a:off x="8306377" y="4160787"/>
            <a:ext cx="361800" cy="328800"/>
          </a:xfrm>
          <a:prstGeom prst="ellipse">
            <a:avLst/>
          </a:prstGeom>
          <a:solidFill>
            <a:schemeClr val="accent4"/>
          </a:solidFill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9" name="Shape 10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0" name="Google Shape;1090;p62"/>
          <p:cNvSpPr txBox="1"/>
          <p:nvPr>
            <p:ph idx="1" type="body"/>
          </p:nvPr>
        </p:nvSpPr>
        <p:spPr>
          <a:xfrm>
            <a:off x="311700" y="1225225"/>
            <a:ext cx="8492400" cy="13464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Tells us whether you tend to connect with a </a:t>
            </a:r>
            <a:r>
              <a:rPr b="1" lang="en"/>
              <a:t>wide range</a:t>
            </a:r>
            <a:r>
              <a:rPr lang="en"/>
              <a:t> of others based on some </a:t>
            </a:r>
            <a:r>
              <a:rPr b="1" lang="en"/>
              <a:t>sociodemographic characteristic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E.g., Age, Race, Gender, Education, Ethnicity, Nationality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Given by </a:t>
            </a:r>
            <a:r>
              <a:rPr lang="en"/>
              <a:t>Blau's</a:t>
            </a:r>
            <a:r>
              <a:rPr b="1" lang="en"/>
              <a:t> Index of heterogeneity</a:t>
            </a:r>
            <a:r>
              <a:rPr lang="en"/>
              <a:t> (H)</a:t>
            </a:r>
            <a:r>
              <a:rPr b="1" lang="en"/>
              <a:t>: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Steps: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Sum the </a:t>
            </a:r>
            <a:r>
              <a:rPr b="1" lang="en"/>
              <a:t>squared</a:t>
            </a:r>
            <a:r>
              <a:rPr lang="en"/>
              <a:t> </a:t>
            </a:r>
            <a:r>
              <a:rPr b="1" lang="en"/>
              <a:t>proportions (</a:t>
            </a:r>
            <a:r>
              <a:rPr b="1" i="1" lang="en"/>
              <a:t>p</a:t>
            </a:r>
            <a:r>
              <a:rPr b="1" baseline="30000" lang="en"/>
              <a:t>2</a:t>
            </a:r>
            <a:r>
              <a:rPr b="1" lang="en"/>
              <a:t>)</a:t>
            </a:r>
            <a:r>
              <a:rPr lang="en"/>
              <a:t> alters from each group (k)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Subtract from 1.0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 = 1 − (</a:t>
            </a:r>
            <a:r>
              <a:rPr b="1" lang="en">
                <a:solidFill>
                  <a:schemeClr val="lt2"/>
                </a:solidFill>
              </a:rPr>
              <a:t>1</a:t>
            </a:r>
            <a:r>
              <a:rPr lang="en"/>
              <a:t>/8</a:t>
            </a:r>
            <a:r>
              <a:rPr baseline="30000" lang="en"/>
              <a:t>2</a:t>
            </a:r>
            <a:r>
              <a:rPr lang="en"/>
              <a:t> + </a:t>
            </a:r>
            <a:r>
              <a:rPr b="1" lang="en">
                <a:solidFill>
                  <a:schemeClr val="accent4"/>
                </a:solidFill>
              </a:rPr>
              <a:t>2</a:t>
            </a:r>
            <a:r>
              <a:rPr lang="en"/>
              <a:t>/8</a:t>
            </a:r>
            <a:r>
              <a:rPr baseline="30000" lang="en"/>
              <a:t>2</a:t>
            </a:r>
            <a:r>
              <a:rPr lang="en"/>
              <a:t> + </a:t>
            </a:r>
            <a:r>
              <a:rPr b="1" lang="en">
                <a:solidFill>
                  <a:schemeClr val="accent5"/>
                </a:solidFill>
              </a:rPr>
              <a:t>5</a:t>
            </a:r>
            <a:r>
              <a:rPr lang="en"/>
              <a:t>/8</a:t>
            </a:r>
            <a:r>
              <a:rPr baseline="30000" lang="en"/>
              <a:t>2</a:t>
            </a:r>
            <a:r>
              <a:rPr lang="en"/>
              <a:t>)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 = 1 − (</a:t>
            </a:r>
            <a:r>
              <a:rPr b="1" lang="en">
                <a:solidFill>
                  <a:schemeClr val="lt2"/>
                </a:solidFill>
              </a:rPr>
              <a:t>0.13</a:t>
            </a:r>
            <a:r>
              <a:rPr baseline="30000" lang="en"/>
              <a:t>2</a:t>
            </a:r>
            <a:r>
              <a:rPr lang="en"/>
              <a:t> + </a:t>
            </a:r>
            <a:r>
              <a:rPr b="1" lang="en">
                <a:solidFill>
                  <a:schemeClr val="accent4"/>
                </a:solidFill>
              </a:rPr>
              <a:t>0.25</a:t>
            </a:r>
            <a:r>
              <a:rPr baseline="30000" lang="en"/>
              <a:t>2</a:t>
            </a:r>
            <a:r>
              <a:rPr lang="en"/>
              <a:t> + </a:t>
            </a:r>
            <a:r>
              <a:rPr b="1" lang="en">
                <a:solidFill>
                  <a:schemeClr val="accent5"/>
                </a:solidFill>
              </a:rPr>
              <a:t>0.62</a:t>
            </a:r>
            <a:r>
              <a:rPr baseline="30000" lang="en"/>
              <a:t>2</a:t>
            </a:r>
            <a:r>
              <a:rPr lang="en"/>
              <a:t>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 = 1 − (</a:t>
            </a:r>
            <a:r>
              <a:rPr b="1" lang="en">
                <a:solidFill>
                  <a:schemeClr val="lt2"/>
                </a:solidFill>
              </a:rPr>
              <a:t>0.02</a:t>
            </a:r>
            <a:r>
              <a:rPr lang="en"/>
              <a:t> + </a:t>
            </a:r>
            <a:r>
              <a:rPr b="1" lang="en">
                <a:solidFill>
                  <a:schemeClr val="accent4"/>
                </a:solidFill>
              </a:rPr>
              <a:t>0.06</a:t>
            </a:r>
            <a:r>
              <a:rPr lang="en"/>
              <a:t> + </a:t>
            </a:r>
            <a:r>
              <a:rPr b="1" lang="en">
                <a:solidFill>
                  <a:schemeClr val="accent5"/>
                </a:solidFill>
              </a:rPr>
              <a:t>0.38</a:t>
            </a:r>
            <a:r>
              <a:rPr lang="en"/>
              <a:t>) = 1 − 0.46 = </a:t>
            </a:r>
            <a:r>
              <a:rPr b="1" lang="en"/>
              <a:t>0.54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1" name="Google Shape;1091;p6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Ego networks: Diversity</a:t>
            </a:r>
            <a:endParaRPr/>
          </a:p>
        </p:txBody>
      </p:sp>
      <p:pic>
        <p:nvPicPr>
          <p:cNvPr descr="H = 1 - \sum_k p_k^2" id="1092" name="Google Shape;1092;p62" title="MathEquation,#0000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85500" y="2693065"/>
            <a:ext cx="2344782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3" name="Google Shape;1093;p62"/>
          <p:cNvSpPr/>
          <p:nvPr/>
        </p:nvSpPr>
        <p:spPr>
          <a:xfrm>
            <a:off x="7555023" y="3525076"/>
            <a:ext cx="543000" cy="5409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Ego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094" name="Google Shape;1094;p62"/>
          <p:cNvSpPr/>
          <p:nvPr/>
        </p:nvSpPr>
        <p:spPr>
          <a:xfrm>
            <a:off x="6939671" y="3101668"/>
            <a:ext cx="361800" cy="3288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a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095" name="Google Shape;1095;p62"/>
          <p:cNvSpPr/>
          <p:nvPr/>
        </p:nvSpPr>
        <p:spPr>
          <a:xfrm>
            <a:off x="7645518" y="2757276"/>
            <a:ext cx="361800" cy="3288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b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096" name="Google Shape;1096;p62"/>
          <p:cNvSpPr/>
          <p:nvPr/>
        </p:nvSpPr>
        <p:spPr>
          <a:xfrm>
            <a:off x="8306377" y="3101668"/>
            <a:ext cx="361800" cy="3288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c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097" name="Google Shape;1097;p62"/>
          <p:cNvSpPr/>
          <p:nvPr/>
        </p:nvSpPr>
        <p:spPr>
          <a:xfrm>
            <a:off x="6939671" y="4160787"/>
            <a:ext cx="361800" cy="3288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g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098" name="Google Shape;1098;p62"/>
          <p:cNvSpPr/>
          <p:nvPr/>
        </p:nvSpPr>
        <p:spPr>
          <a:xfrm>
            <a:off x="7656806" y="4520717"/>
            <a:ext cx="361800" cy="3288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f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099" name="Google Shape;1099;p62"/>
          <p:cNvSpPr/>
          <p:nvPr/>
        </p:nvSpPr>
        <p:spPr>
          <a:xfrm>
            <a:off x="6820513" y="3631236"/>
            <a:ext cx="361800" cy="3288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h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100" name="Google Shape;1100;p62"/>
          <p:cNvSpPr/>
          <p:nvPr/>
        </p:nvSpPr>
        <p:spPr>
          <a:xfrm>
            <a:off x="8470510" y="3631236"/>
            <a:ext cx="361800" cy="328800"/>
          </a:xfrm>
          <a:prstGeom prst="ellipse">
            <a:avLst/>
          </a:prstGeom>
          <a:solidFill>
            <a:schemeClr val="accent4"/>
          </a:solidFill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d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cxnSp>
        <p:nvCxnSpPr>
          <p:cNvPr id="1101" name="Google Shape;1101;p62"/>
          <p:cNvCxnSpPr>
            <a:stCxn id="1095" idx="4"/>
            <a:endCxn id="1093" idx="0"/>
          </p:cNvCxnSpPr>
          <p:nvPr/>
        </p:nvCxnSpPr>
        <p:spPr>
          <a:xfrm>
            <a:off x="7826418" y="3086076"/>
            <a:ext cx="0" cy="4389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02" name="Google Shape;1102;p62"/>
          <p:cNvCxnSpPr>
            <a:stCxn id="1098" idx="0"/>
            <a:endCxn id="1093" idx="4"/>
          </p:cNvCxnSpPr>
          <p:nvPr/>
        </p:nvCxnSpPr>
        <p:spPr>
          <a:xfrm rot="10800000">
            <a:off x="7826606" y="4065917"/>
            <a:ext cx="11100" cy="454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03" name="Google Shape;1103;p62"/>
          <p:cNvCxnSpPr>
            <a:stCxn id="1099" idx="6"/>
            <a:endCxn id="1093" idx="2"/>
          </p:cNvCxnSpPr>
          <p:nvPr/>
        </p:nvCxnSpPr>
        <p:spPr>
          <a:xfrm>
            <a:off x="7182313" y="3795636"/>
            <a:ext cx="3726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04" name="Google Shape;1104;p62"/>
          <p:cNvCxnSpPr>
            <a:stCxn id="1100" idx="2"/>
            <a:endCxn id="1093" idx="6"/>
          </p:cNvCxnSpPr>
          <p:nvPr/>
        </p:nvCxnSpPr>
        <p:spPr>
          <a:xfrm rot="10800000">
            <a:off x="8097910" y="3795636"/>
            <a:ext cx="3726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05" name="Google Shape;1105;p62"/>
          <p:cNvCxnSpPr>
            <a:stCxn id="1093" idx="1"/>
            <a:endCxn id="1094" idx="5"/>
          </p:cNvCxnSpPr>
          <p:nvPr/>
        </p:nvCxnSpPr>
        <p:spPr>
          <a:xfrm rot="10800000">
            <a:off x="7248443" y="3382289"/>
            <a:ext cx="386100" cy="2220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06" name="Google Shape;1106;p62"/>
          <p:cNvCxnSpPr>
            <a:stCxn id="1093" idx="7"/>
            <a:endCxn id="1096" idx="3"/>
          </p:cNvCxnSpPr>
          <p:nvPr/>
        </p:nvCxnSpPr>
        <p:spPr>
          <a:xfrm flipH="1" rot="10800000">
            <a:off x="8018502" y="3382289"/>
            <a:ext cx="340800" cy="2220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07" name="Google Shape;1107;p62"/>
          <p:cNvCxnSpPr>
            <a:stCxn id="1097" idx="7"/>
            <a:endCxn id="1093" idx="3"/>
          </p:cNvCxnSpPr>
          <p:nvPr/>
        </p:nvCxnSpPr>
        <p:spPr>
          <a:xfrm flipH="1" rot="10800000">
            <a:off x="7248486" y="3986639"/>
            <a:ext cx="386100" cy="2223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08" name="Google Shape;1108;p62"/>
          <p:cNvCxnSpPr>
            <a:stCxn id="1109" idx="1"/>
            <a:endCxn id="1093" idx="5"/>
          </p:cNvCxnSpPr>
          <p:nvPr/>
        </p:nvCxnSpPr>
        <p:spPr>
          <a:xfrm rot="10800000">
            <a:off x="8018562" y="3986639"/>
            <a:ext cx="340800" cy="2223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09" name="Google Shape;1109;p62"/>
          <p:cNvSpPr/>
          <p:nvPr/>
        </p:nvSpPr>
        <p:spPr>
          <a:xfrm>
            <a:off x="8306377" y="4160787"/>
            <a:ext cx="361800" cy="328800"/>
          </a:xfrm>
          <a:prstGeom prst="ellipse">
            <a:avLst/>
          </a:prstGeom>
          <a:solidFill>
            <a:schemeClr val="accent4"/>
          </a:solidFill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3" name="Shape 1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4" name="Google Shape;1114;p63"/>
          <p:cNvSpPr txBox="1"/>
          <p:nvPr>
            <p:ph idx="1" type="body"/>
          </p:nvPr>
        </p:nvSpPr>
        <p:spPr>
          <a:xfrm>
            <a:off x="311700" y="1225225"/>
            <a:ext cx="8492400" cy="13464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Tells us whether you tend to connect with a </a:t>
            </a:r>
            <a:r>
              <a:rPr b="1" lang="en"/>
              <a:t>wide range</a:t>
            </a:r>
            <a:r>
              <a:rPr lang="en"/>
              <a:t> of others based on some </a:t>
            </a:r>
            <a:r>
              <a:rPr b="1" lang="en"/>
              <a:t>sociodemographic characteristic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E.g., Age, Race, Gender, Education, Ethnicity, Nationality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Given by </a:t>
            </a:r>
            <a:r>
              <a:rPr lang="en"/>
              <a:t>Blau's</a:t>
            </a:r>
            <a:r>
              <a:rPr b="1" lang="en"/>
              <a:t> Index of heterogeneity</a:t>
            </a:r>
            <a:r>
              <a:rPr lang="en"/>
              <a:t> (H)</a:t>
            </a:r>
            <a:r>
              <a:rPr b="1" lang="en"/>
              <a:t>: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Steps: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Sum the </a:t>
            </a:r>
            <a:r>
              <a:rPr b="1" lang="en"/>
              <a:t>squared</a:t>
            </a:r>
            <a:r>
              <a:rPr lang="en"/>
              <a:t> </a:t>
            </a:r>
            <a:r>
              <a:rPr b="1" lang="en"/>
              <a:t>proportions (</a:t>
            </a:r>
            <a:r>
              <a:rPr b="1" i="1" lang="en"/>
              <a:t>p</a:t>
            </a:r>
            <a:r>
              <a:rPr b="1" baseline="30000" lang="en"/>
              <a:t>2</a:t>
            </a:r>
            <a:r>
              <a:rPr b="1" lang="en"/>
              <a:t>)</a:t>
            </a:r>
            <a:r>
              <a:rPr lang="en"/>
              <a:t> alters from each group (k)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Subtract from 1.0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 = 1 − (</a:t>
            </a:r>
            <a:r>
              <a:rPr b="1" lang="en">
                <a:solidFill>
                  <a:schemeClr val="lt2"/>
                </a:solidFill>
              </a:rPr>
              <a:t>3</a:t>
            </a:r>
            <a:r>
              <a:rPr lang="en"/>
              <a:t>/8</a:t>
            </a:r>
            <a:r>
              <a:rPr baseline="30000" lang="en"/>
              <a:t>2</a:t>
            </a:r>
            <a:r>
              <a:rPr lang="en"/>
              <a:t> + </a:t>
            </a:r>
            <a:r>
              <a:rPr b="1" lang="en">
                <a:solidFill>
                  <a:schemeClr val="accent4"/>
                </a:solidFill>
              </a:rPr>
              <a:t>2</a:t>
            </a:r>
            <a:r>
              <a:rPr lang="en"/>
              <a:t>/8</a:t>
            </a:r>
            <a:r>
              <a:rPr baseline="30000" lang="en"/>
              <a:t>2</a:t>
            </a:r>
            <a:r>
              <a:rPr lang="en"/>
              <a:t> + </a:t>
            </a:r>
            <a:r>
              <a:rPr b="1" lang="en">
                <a:solidFill>
                  <a:schemeClr val="accent1"/>
                </a:solidFill>
              </a:rPr>
              <a:t>1</a:t>
            </a:r>
            <a:r>
              <a:rPr lang="en"/>
              <a:t>/8</a:t>
            </a:r>
            <a:r>
              <a:rPr lang="en"/>
              <a:t> + </a:t>
            </a:r>
            <a:r>
              <a:rPr b="1" lang="en">
                <a:solidFill>
                  <a:srgbClr val="E06666"/>
                </a:solidFill>
              </a:rPr>
              <a:t>2</a:t>
            </a:r>
            <a:r>
              <a:rPr lang="en"/>
              <a:t>/8</a:t>
            </a:r>
            <a:r>
              <a:rPr baseline="30000" lang="en"/>
              <a:t>2</a:t>
            </a:r>
            <a:r>
              <a:rPr lang="en"/>
              <a:t>)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 = 1 − (</a:t>
            </a:r>
            <a:r>
              <a:rPr b="1" lang="en">
                <a:solidFill>
                  <a:schemeClr val="lt2"/>
                </a:solidFill>
              </a:rPr>
              <a:t>0.38</a:t>
            </a:r>
            <a:r>
              <a:rPr baseline="30000" lang="en"/>
              <a:t>2</a:t>
            </a:r>
            <a:r>
              <a:rPr lang="en"/>
              <a:t> + </a:t>
            </a:r>
            <a:r>
              <a:rPr b="1" lang="en">
                <a:solidFill>
                  <a:schemeClr val="accent4"/>
                </a:solidFill>
              </a:rPr>
              <a:t>0.25</a:t>
            </a:r>
            <a:r>
              <a:rPr baseline="30000" lang="en"/>
              <a:t>2</a:t>
            </a:r>
            <a:r>
              <a:rPr lang="en"/>
              <a:t> + </a:t>
            </a:r>
            <a:r>
              <a:rPr b="1" lang="en">
                <a:solidFill>
                  <a:schemeClr val="accent1"/>
                </a:solidFill>
              </a:rPr>
              <a:t>0.13</a:t>
            </a:r>
            <a:r>
              <a:rPr baseline="30000" lang="en"/>
              <a:t>2</a:t>
            </a:r>
            <a:r>
              <a:rPr lang="en"/>
              <a:t> + </a:t>
            </a:r>
            <a:r>
              <a:rPr b="1" lang="en">
                <a:solidFill>
                  <a:srgbClr val="E06666"/>
                </a:solidFill>
              </a:rPr>
              <a:t>0.25</a:t>
            </a:r>
            <a:r>
              <a:rPr b="1" baseline="30000" lang="en"/>
              <a:t>2</a:t>
            </a:r>
            <a:r>
              <a:rPr lang="en"/>
              <a:t>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 = 1 − (</a:t>
            </a:r>
            <a:r>
              <a:rPr b="1" lang="en">
                <a:solidFill>
                  <a:schemeClr val="lt2"/>
                </a:solidFill>
              </a:rPr>
              <a:t>0.14</a:t>
            </a:r>
            <a:r>
              <a:rPr lang="en"/>
              <a:t> + </a:t>
            </a:r>
            <a:r>
              <a:rPr b="1" lang="en">
                <a:solidFill>
                  <a:schemeClr val="accent4"/>
                </a:solidFill>
              </a:rPr>
              <a:t>0.06</a:t>
            </a:r>
            <a:r>
              <a:rPr lang="en"/>
              <a:t> + </a:t>
            </a:r>
            <a:r>
              <a:rPr b="1" lang="en">
                <a:solidFill>
                  <a:schemeClr val="accent1"/>
                </a:solidFill>
              </a:rPr>
              <a:t>0.02</a:t>
            </a:r>
            <a:r>
              <a:rPr b="1" lang="en">
                <a:solidFill>
                  <a:schemeClr val="accent5"/>
                </a:solidFill>
              </a:rPr>
              <a:t> </a:t>
            </a:r>
            <a:r>
              <a:rPr lang="en"/>
              <a:t>+ </a:t>
            </a:r>
            <a:r>
              <a:rPr b="1" lang="en">
                <a:solidFill>
                  <a:srgbClr val="E06666"/>
                </a:solidFill>
              </a:rPr>
              <a:t>0.06</a:t>
            </a:r>
            <a:r>
              <a:rPr lang="en"/>
              <a:t>) = 1 − 0.28 = </a:t>
            </a:r>
            <a:r>
              <a:rPr b="1" lang="en"/>
              <a:t>0.72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5" name="Google Shape;1115;p6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Ego networks: Diversity</a:t>
            </a:r>
            <a:endParaRPr/>
          </a:p>
        </p:txBody>
      </p:sp>
      <p:pic>
        <p:nvPicPr>
          <p:cNvPr descr="H = 1 - \sum_k p_k^2" id="1116" name="Google Shape;1116;p63" title="MathEquation,#0000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85500" y="2693065"/>
            <a:ext cx="2344782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7" name="Google Shape;1117;p63"/>
          <p:cNvSpPr/>
          <p:nvPr/>
        </p:nvSpPr>
        <p:spPr>
          <a:xfrm>
            <a:off x="7555023" y="3525076"/>
            <a:ext cx="543000" cy="5409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Ego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118" name="Google Shape;1118;p63"/>
          <p:cNvSpPr/>
          <p:nvPr/>
        </p:nvSpPr>
        <p:spPr>
          <a:xfrm>
            <a:off x="6939671" y="3101668"/>
            <a:ext cx="361800" cy="3288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a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119" name="Google Shape;1119;p63"/>
          <p:cNvSpPr/>
          <p:nvPr/>
        </p:nvSpPr>
        <p:spPr>
          <a:xfrm>
            <a:off x="7645518" y="2757276"/>
            <a:ext cx="361800" cy="3288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b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120" name="Google Shape;1120;p63"/>
          <p:cNvSpPr/>
          <p:nvPr/>
        </p:nvSpPr>
        <p:spPr>
          <a:xfrm>
            <a:off x="8306377" y="3101668"/>
            <a:ext cx="361800" cy="3288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c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121" name="Google Shape;1121;p63"/>
          <p:cNvSpPr/>
          <p:nvPr/>
        </p:nvSpPr>
        <p:spPr>
          <a:xfrm>
            <a:off x="6939671" y="4160787"/>
            <a:ext cx="361800" cy="328800"/>
          </a:xfrm>
          <a:prstGeom prst="ellipse">
            <a:avLst/>
          </a:prstGeom>
          <a:solidFill>
            <a:schemeClr val="accent4"/>
          </a:solidFill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g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122" name="Google Shape;1122;p63"/>
          <p:cNvSpPr/>
          <p:nvPr/>
        </p:nvSpPr>
        <p:spPr>
          <a:xfrm>
            <a:off x="7656806" y="4520717"/>
            <a:ext cx="361800" cy="3288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f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123" name="Google Shape;1123;p63"/>
          <p:cNvSpPr/>
          <p:nvPr/>
        </p:nvSpPr>
        <p:spPr>
          <a:xfrm>
            <a:off x="6820513" y="3631236"/>
            <a:ext cx="361800" cy="328800"/>
          </a:xfrm>
          <a:prstGeom prst="ellipse">
            <a:avLst/>
          </a:prstGeom>
          <a:solidFill>
            <a:schemeClr val="accent4"/>
          </a:solidFill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h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124" name="Google Shape;1124;p63"/>
          <p:cNvSpPr/>
          <p:nvPr/>
        </p:nvSpPr>
        <p:spPr>
          <a:xfrm>
            <a:off x="8470510" y="3631236"/>
            <a:ext cx="361800" cy="3288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d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cxnSp>
        <p:nvCxnSpPr>
          <p:cNvPr id="1125" name="Google Shape;1125;p63"/>
          <p:cNvCxnSpPr>
            <a:stCxn id="1119" idx="4"/>
            <a:endCxn id="1117" idx="0"/>
          </p:cNvCxnSpPr>
          <p:nvPr/>
        </p:nvCxnSpPr>
        <p:spPr>
          <a:xfrm>
            <a:off x="7826418" y="3086076"/>
            <a:ext cx="0" cy="4389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6" name="Google Shape;1126;p63"/>
          <p:cNvCxnSpPr>
            <a:stCxn id="1122" idx="0"/>
            <a:endCxn id="1117" idx="4"/>
          </p:cNvCxnSpPr>
          <p:nvPr/>
        </p:nvCxnSpPr>
        <p:spPr>
          <a:xfrm rot="10800000">
            <a:off x="7826606" y="4065917"/>
            <a:ext cx="11100" cy="454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7" name="Google Shape;1127;p63"/>
          <p:cNvCxnSpPr>
            <a:stCxn id="1123" idx="6"/>
            <a:endCxn id="1117" idx="2"/>
          </p:cNvCxnSpPr>
          <p:nvPr/>
        </p:nvCxnSpPr>
        <p:spPr>
          <a:xfrm>
            <a:off x="7182313" y="3795636"/>
            <a:ext cx="3726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8" name="Google Shape;1128;p63"/>
          <p:cNvCxnSpPr>
            <a:stCxn id="1124" idx="2"/>
            <a:endCxn id="1117" idx="6"/>
          </p:cNvCxnSpPr>
          <p:nvPr/>
        </p:nvCxnSpPr>
        <p:spPr>
          <a:xfrm rot="10800000">
            <a:off x="8097910" y="3795636"/>
            <a:ext cx="3726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9" name="Google Shape;1129;p63"/>
          <p:cNvCxnSpPr>
            <a:stCxn id="1117" idx="1"/>
            <a:endCxn id="1118" idx="5"/>
          </p:cNvCxnSpPr>
          <p:nvPr/>
        </p:nvCxnSpPr>
        <p:spPr>
          <a:xfrm rot="10800000">
            <a:off x="7248443" y="3382289"/>
            <a:ext cx="386100" cy="2220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30" name="Google Shape;1130;p63"/>
          <p:cNvCxnSpPr>
            <a:stCxn id="1117" idx="7"/>
            <a:endCxn id="1120" idx="3"/>
          </p:cNvCxnSpPr>
          <p:nvPr/>
        </p:nvCxnSpPr>
        <p:spPr>
          <a:xfrm flipH="1" rot="10800000">
            <a:off x="8018502" y="3382289"/>
            <a:ext cx="340800" cy="2220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31" name="Google Shape;1131;p63"/>
          <p:cNvCxnSpPr>
            <a:stCxn id="1121" idx="7"/>
            <a:endCxn id="1117" idx="3"/>
          </p:cNvCxnSpPr>
          <p:nvPr/>
        </p:nvCxnSpPr>
        <p:spPr>
          <a:xfrm flipH="1" rot="10800000">
            <a:off x="7248486" y="3986639"/>
            <a:ext cx="386100" cy="2223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32" name="Google Shape;1132;p63"/>
          <p:cNvCxnSpPr>
            <a:stCxn id="1133" idx="1"/>
            <a:endCxn id="1117" idx="5"/>
          </p:cNvCxnSpPr>
          <p:nvPr/>
        </p:nvCxnSpPr>
        <p:spPr>
          <a:xfrm rot="10800000">
            <a:off x="8018562" y="3986639"/>
            <a:ext cx="340800" cy="2223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33" name="Google Shape;1133;p63"/>
          <p:cNvSpPr/>
          <p:nvPr/>
        </p:nvSpPr>
        <p:spPr>
          <a:xfrm>
            <a:off x="8306377" y="4160787"/>
            <a:ext cx="361800" cy="3288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7" name="Shape 1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8" name="Google Shape;1138;p64"/>
          <p:cNvSpPr txBox="1"/>
          <p:nvPr>
            <p:ph idx="1" type="body"/>
          </p:nvPr>
        </p:nvSpPr>
        <p:spPr>
          <a:xfrm>
            <a:off x="311700" y="1225225"/>
            <a:ext cx="8492400" cy="13464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Tells us whether you tend to connect with a </a:t>
            </a:r>
            <a:r>
              <a:rPr b="1" lang="en"/>
              <a:t>wide range</a:t>
            </a:r>
            <a:r>
              <a:rPr lang="en"/>
              <a:t> of others based on some </a:t>
            </a:r>
            <a:r>
              <a:rPr b="1" lang="en"/>
              <a:t>sociodemographic characteristic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E.g., Age, Race, Gender, Education, Ethnicity, Nationality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Given by </a:t>
            </a:r>
            <a:r>
              <a:rPr lang="en"/>
              <a:t>Blau's</a:t>
            </a:r>
            <a:r>
              <a:rPr b="1" lang="en"/>
              <a:t> Index of heterogeneity</a:t>
            </a:r>
            <a:r>
              <a:rPr lang="en"/>
              <a:t> (H)</a:t>
            </a:r>
            <a:r>
              <a:rPr b="1" lang="en"/>
              <a:t>: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Interpretation</a:t>
            </a:r>
            <a:r>
              <a:rPr lang="en"/>
              <a:t>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more diverse the ego network the closer H is to 1.0!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Make sense!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 = 1 − (</a:t>
            </a:r>
            <a:r>
              <a:rPr b="1" lang="en">
                <a:solidFill>
                  <a:schemeClr val="lt2"/>
                </a:solidFill>
              </a:rPr>
              <a:t>3</a:t>
            </a:r>
            <a:r>
              <a:rPr lang="en"/>
              <a:t>/8</a:t>
            </a:r>
            <a:r>
              <a:rPr baseline="30000" lang="en"/>
              <a:t>2</a:t>
            </a:r>
            <a:r>
              <a:rPr lang="en"/>
              <a:t> + </a:t>
            </a:r>
            <a:r>
              <a:rPr b="1" lang="en">
                <a:solidFill>
                  <a:schemeClr val="accent4"/>
                </a:solidFill>
              </a:rPr>
              <a:t>2</a:t>
            </a:r>
            <a:r>
              <a:rPr lang="en"/>
              <a:t>/8</a:t>
            </a:r>
            <a:r>
              <a:rPr baseline="30000" lang="en"/>
              <a:t>2</a:t>
            </a:r>
            <a:r>
              <a:rPr lang="en"/>
              <a:t> + </a:t>
            </a:r>
            <a:r>
              <a:rPr b="1" lang="en">
                <a:solidFill>
                  <a:schemeClr val="accent1"/>
                </a:solidFill>
              </a:rPr>
              <a:t>1</a:t>
            </a:r>
            <a:r>
              <a:rPr lang="en"/>
              <a:t>/8 + </a:t>
            </a:r>
            <a:r>
              <a:rPr b="1" lang="en">
                <a:solidFill>
                  <a:srgbClr val="E06666"/>
                </a:solidFill>
              </a:rPr>
              <a:t>2</a:t>
            </a:r>
            <a:r>
              <a:rPr lang="en"/>
              <a:t>/8</a:t>
            </a:r>
            <a:r>
              <a:rPr baseline="30000" lang="en"/>
              <a:t>2</a:t>
            </a:r>
            <a:r>
              <a:rPr lang="en"/>
              <a:t>)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 = 1 − (</a:t>
            </a:r>
            <a:r>
              <a:rPr b="1" lang="en">
                <a:solidFill>
                  <a:schemeClr val="lt2"/>
                </a:solidFill>
              </a:rPr>
              <a:t>0.38</a:t>
            </a:r>
            <a:r>
              <a:rPr baseline="30000" lang="en"/>
              <a:t>2</a:t>
            </a:r>
            <a:r>
              <a:rPr lang="en"/>
              <a:t> + </a:t>
            </a:r>
            <a:r>
              <a:rPr b="1" lang="en">
                <a:solidFill>
                  <a:schemeClr val="accent4"/>
                </a:solidFill>
              </a:rPr>
              <a:t>0.25</a:t>
            </a:r>
            <a:r>
              <a:rPr baseline="30000" lang="en"/>
              <a:t>2</a:t>
            </a:r>
            <a:r>
              <a:rPr lang="en"/>
              <a:t> + </a:t>
            </a:r>
            <a:r>
              <a:rPr b="1" lang="en">
                <a:solidFill>
                  <a:schemeClr val="accent1"/>
                </a:solidFill>
              </a:rPr>
              <a:t>0.13</a:t>
            </a:r>
            <a:r>
              <a:rPr baseline="30000" lang="en"/>
              <a:t>2</a:t>
            </a:r>
            <a:r>
              <a:rPr lang="en"/>
              <a:t> + </a:t>
            </a:r>
            <a:r>
              <a:rPr b="1" lang="en">
                <a:solidFill>
                  <a:srgbClr val="E06666"/>
                </a:solidFill>
              </a:rPr>
              <a:t>0.25</a:t>
            </a:r>
            <a:r>
              <a:rPr b="1" baseline="30000" lang="en"/>
              <a:t>2</a:t>
            </a:r>
            <a:r>
              <a:rPr lang="en"/>
              <a:t>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 = 1 − (</a:t>
            </a:r>
            <a:r>
              <a:rPr b="1" lang="en">
                <a:solidFill>
                  <a:schemeClr val="lt2"/>
                </a:solidFill>
              </a:rPr>
              <a:t>0.14</a:t>
            </a:r>
            <a:r>
              <a:rPr lang="en"/>
              <a:t> + </a:t>
            </a:r>
            <a:r>
              <a:rPr b="1" lang="en">
                <a:solidFill>
                  <a:schemeClr val="accent4"/>
                </a:solidFill>
              </a:rPr>
              <a:t>0.06</a:t>
            </a:r>
            <a:r>
              <a:rPr lang="en"/>
              <a:t> + </a:t>
            </a:r>
            <a:r>
              <a:rPr b="1" lang="en">
                <a:solidFill>
                  <a:schemeClr val="accent1"/>
                </a:solidFill>
              </a:rPr>
              <a:t>0.02</a:t>
            </a:r>
            <a:r>
              <a:rPr b="1" lang="en">
                <a:solidFill>
                  <a:schemeClr val="accent5"/>
                </a:solidFill>
              </a:rPr>
              <a:t> </a:t>
            </a:r>
            <a:r>
              <a:rPr lang="en"/>
              <a:t>+ </a:t>
            </a:r>
            <a:r>
              <a:rPr b="1" lang="en">
                <a:solidFill>
                  <a:srgbClr val="E06666"/>
                </a:solidFill>
              </a:rPr>
              <a:t>0.06</a:t>
            </a:r>
            <a:r>
              <a:rPr lang="en"/>
              <a:t>) = 1 − 0.28 = </a:t>
            </a:r>
            <a:r>
              <a:rPr b="1" lang="en"/>
              <a:t>0.72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9" name="Google Shape;1139;p6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Ego networks: Diversity</a:t>
            </a:r>
            <a:endParaRPr/>
          </a:p>
        </p:txBody>
      </p:sp>
      <p:pic>
        <p:nvPicPr>
          <p:cNvPr descr="H = 1 - \sum_k p_k^2" id="1140" name="Google Shape;1140;p64" title="MathEquation,#0000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85500" y="2693065"/>
            <a:ext cx="2344782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1" name="Google Shape;1141;p64"/>
          <p:cNvSpPr/>
          <p:nvPr/>
        </p:nvSpPr>
        <p:spPr>
          <a:xfrm>
            <a:off x="7555023" y="3525076"/>
            <a:ext cx="543000" cy="5409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Ego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142" name="Google Shape;1142;p64"/>
          <p:cNvSpPr/>
          <p:nvPr/>
        </p:nvSpPr>
        <p:spPr>
          <a:xfrm>
            <a:off x="6939671" y="3101668"/>
            <a:ext cx="361800" cy="3288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a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143" name="Google Shape;1143;p64"/>
          <p:cNvSpPr/>
          <p:nvPr/>
        </p:nvSpPr>
        <p:spPr>
          <a:xfrm>
            <a:off x="7645518" y="2757276"/>
            <a:ext cx="361800" cy="3288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b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144" name="Google Shape;1144;p64"/>
          <p:cNvSpPr/>
          <p:nvPr/>
        </p:nvSpPr>
        <p:spPr>
          <a:xfrm>
            <a:off x="8306377" y="3101668"/>
            <a:ext cx="361800" cy="3288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c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145" name="Google Shape;1145;p64"/>
          <p:cNvSpPr/>
          <p:nvPr/>
        </p:nvSpPr>
        <p:spPr>
          <a:xfrm>
            <a:off x="6939671" y="4160787"/>
            <a:ext cx="361800" cy="328800"/>
          </a:xfrm>
          <a:prstGeom prst="ellipse">
            <a:avLst/>
          </a:prstGeom>
          <a:solidFill>
            <a:schemeClr val="accent4"/>
          </a:solidFill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g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146" name="Google Shape;1146;p64"/>
          <p:cNvSpPr/>
          <p:nvPr/>
        </p:nvSpPr>
        <p:spPr>
          <a:xfrm>
            <a:off x="7656806" y="4520717"/>
            <a:ext cx="361800" cy="3288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f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147" name="Google Shape;1147;p64"/>
          <p:cNvSpPr/>
          <p:nvPr/>
        </p:nvSpPr>
        <p:spPr>
          <a:xfrm>
            <a:off x="6820513" y="3631236"/>
            <a:ext cx="361800" cy="328800"/>
          </a:xfrm>
          <a:prstGeom prst="ellipse">
            <a:avLst/>
          </a:prstGeom>
          <a:solidFill>
            <a:schemeClr val="accent4"/>
          </a:solidFill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h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148" name="Google Shape;1148;p64"/>
          <p:cNvSpPr/>
          <p:nvPr/>
        </p:nvSpPr>
        <p:spPr>
          <a:xfrm>
            <a:off x="8470510" y="3631236"/>
            <a:ext cx="361800" cy="3288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d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cxnSp>
        <p:nvCxnSpPr>
          <p:cNvPr id="1149" name="Google Shape;1149;p64"/>
          <p:cNvCxnSpPr>
            <a:stCxn id="1143" idx="4"/>
            <a:endCxn id="1141" idx="0"/>
          </p:cNvCxnSpPr>
          <p:nvPr/>
        </p:nvCxnSpPr>
        <p:spPr>
          <a:xfrm>
            <a:off x="7826418" y="3086076"/>
            <a:ext cx="0" cy="4389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50" name="Google Shape;1150;p64"/>
          <p:cNvCxnSpPr>
            <a:stCxn id="1146" idx="0"/>
            <a:endCxn id="1141" idx="4"/>
          </p:cNvCxnSpPr>
          <p:nvPr/>
        </p:nvCxnSpPr>
        <p:spPr>
          <a:xfrm rot="10800000">
            <a:off x="7826606" y="4065917"/>
            <a:ext cx="11100" cy="454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51" name="Google Shape;1151;p64"/>
          <p:cNvCxnSpPr>
            <a:stCxn id="1147" idx="6"/>
            <a:endCxn id="1141" idx="2"/>
          </p:cNvCxnSpPr>
          <p:nvPr/>
        </p:nvCxnSpPr>
        <p:spPr>
          <a:xfrm>
            <a:off x="7182313" y="3795636"/>
            <a:ext cx="3726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52" name="Google Shape;1152;p64"/>
          <p:cNvCxnSpPr>
            <a:stCxn id="1148" idx="2"/>
            <a:endCxn id="1141" idx="6"/>
          </p:cNvCxnSpPr>
          <p:nvPr/>
        </p:nvCxnSpPr>
        <p:spPr>
          <a:xfrm rot="10800000">
            <a:off x="8097910" y="3795636"/>
            <a:ext cx="3726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53" name="Google Shape;1153;p64"/>
          <p:cNvCxnSpPr>
            <a:stCxn id="1141" idx="1"/>
            <a:endCxn id="1142" idx="5"/>
          </p:cNvCxnSpPr>
          <p:nvPr/>
        </p:nvCxnSpPr>
        <p:spPr>
          <a:xfrm rot="10800000">
            <a:off x="7248443" y="3382289"/>
            <a:ext cx="386100" cy="2220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54" name="Google Shape;1154;p64"/>
          <p:cNvCxnSpPr>
            <a:stCxn id="1141" idx="7"/>
            <a:endCxn id="1144" idx="3"/>
          </p:cNvCxnSpPr>
          <p:nvPr/>
        </p:nvCxnSpPr>
        <p:spPr>
          <a:xfrm flipH="1" rot="10800000">
            <a:off x="8018502" y="3382289"/>
            <a:ext cx="340800" cy="2220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55" name="Google Shape;1155;p64"/>
          <p:cNvCxnSpPr>
            <a:stCxn id="1145" idx="7"/>
            <a:endCxn id="1141" idx="3"/>
          </p:cNvCxnSpPr>
          <p:nvPr/>
        </p:nvCxnSpPr>
        <p:spPr>
          <a:xfrm flipH="1" rot="10800000">
            <a:off x="7248486" y="3986639"/>
            <a:ext cx="386100" cy="2223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56" name="Google Shape;1156;p64"/>
          <p:cNvCxnSpPr>
            <a:stCxn id="1157" idx="1"/>
            <a:endCxn id="1141" idx="5"/>
          </p:cNvCxnSpPr>
          <p:nvPr/>
        </p:nvCxnSpPr>
        <p:spPr>
          <a:xfrm rot="10800000">
            <a:off x="8018562" y="3986639"/>
            <a:ext cx="340800" cy="2223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57" name="Google Shape;1157;p64"/>
          <p:cNvSpPr/>
          <p:nvPr/>
        </p:nvSpPr>
        <p:spPr>
          <a:xfrm>
            <a:off x="8306377" y="4160787"/>
            <a:ext cx="361800" cy="3288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1" name="Shape 1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2" name="Google Shape;1162;p65"/>
          <p:cNvSpPr txBox="1"/>
          <p:nvPr>
            <p:ph idx="1" type="body"/>
          </p:nvPr>
        </p:nvSpPr>
        <p:spPr>
          <a:xfrm>
            <a:off x="311700" y="1225225"/>
            <a:ext cx="8492400" cy="13464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Tells us whether you tend to connect with a </a:t>
            </a:r>
            <a:r>
              <a:rPr b="1" lang="en"/>
              <a:t>wide range</a:t>
            </a:r>
            <a:r>
              <a:rPr lang="en"/>
              <a:t> of others based on some </a:t>
            </a:r>
            <a:r>
              <a:rPr b="1" lang="en"/>
              <a:t>sociodemographic characteristic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E.g., Age, Race, Gender, Education, Ethnicity, Nationality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Given by </a:t>
            </a:r>
            <a:r>
              <a:rPr lang="en"/>
              <a:t>Blau's</a:t>
            </a:r>
            <a:r>
              <a:rPr b="1" lang="en"/>
              <a:t> Index of heterogeneity</a:t>
            </a:r>
            <a:r>
              <a:rPr lang="en"/>
              <a:t> (H)</a:t>
            </a:r>
            <a:r>
              <a:rPr b="1" lang="en"/>
              <a:t>: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Interpretation</a:t>
            </a:r>
            <a:r>
              <a:rPr lang="en"/>
              <a:t>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completely </a:t>
            </a:r>
            <a:r>
              <a:rPr b="1" lang="en"/>
              <a:t>homogeneous</a:t>
            </a:r>
            <a:r>
              <a:rPr lang="en"/>
              <a:t> ego-network has H equal to 0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Makes sense because there’s no diversity among alters!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 = 1 − (</a:t>
            </a:r>
            <a:r>
              <a:rPr b="1" lang="en">
                <a:solidFill>
                  <a:schemeClr val="lt2"/>
                </a:solidFill>
              </a:rPr>
              <a:t>8</a:t>
            </a:r>
            <a:r>
              <a:rPr lang="en"/>
              <a:t>/8</a:t>
            </a:r>
            <a:r>
              <a:rPr baseline="30000" lang="en"/>
              <a:t>2</a:t>
            </a:r>
            <a:r>
              <a:rPr lang="en"/>
              <a:t>)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 = 1 − (</a:t>
            </a:r>
            <a:r>
              <a:rPr b="1" lang="en">
                <a:solidFill>
                  <a:schemeClr val="lt2"/>
                </a:solidFill>
              </a:rPr>
              <a:t>1</a:t>
            </a:r>
            <a:r>
              <a:rPr baseline="30000" lang="en"/>
              <a:t>2</a:t>
            </a:r>
            <a:r>
              <a:rPr lang="en"/>
              <a:t>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 = 1 − </a:t>
            </a:r>
            <a:r>
              <a:rPr b="1" lang="en">
                <a:solidFill>
                  <a:schemeClr val="lt2"/>
                </a:solidFill>
              </a:rPr>
              <a:t>1</a:t>
            </a:r>
            <a:r>
              <a:rPr b="1" lang="en"/>
              <a:t> </a:t>
            </a:r>
            <a:r>
              <a:rPr lang="en"/>
              <a:t> = 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3" name="Google Shape;1163;p6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Ego networks: Diversity</a:t>
            </a:r>
            <a:endParaRPr/>
          </a:p>
        </p:txBody>
      </p:sp>
      <p:pic>
        <p:nvPicPr>
          <p:cNvPr descr="H = 1 - \sum_k p_k^2" id="1164" name="Google Shape;1164;p65" title="MathEquation,#0000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85500" y="2693065"/>
            <a:ext cx="2344782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5" name="Google Shape;1165;p65"/>
          <p:cNvSpPr/>
          <p:nvPr/>
        </p:nvSpPr>
        <p:spPr>
          <a:xfrm>
            <a:off x="7555023" y="3525076"/>
            <a:ext cx="543000" cy="5409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Ego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166" name="Google Shape;1166;p65"/>
          <p:cNvSpPr/>
          <p:nvPr/>
        </p:nvSpPr>
        <p:spPr>
          <a:xfrm>
            <a:off x="6939671" y="3101668"/>
            <a:ext cx="361800" cy="3288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a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167" name="Google Shape;1167;p65"/>
          <p:cNvSpPr/>
          <p:nvPr/>
        </p:nvSpPr>
        <p:spPr>
          <a:xfrm>
            <a:off x="7645518" y="2757276"/>
            <a:ext cx="361800" cy="3288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b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168" name="Google Shape;1168;p65"/>
          <p:cNvSpPr/>
          <p:nvPr/>
        </p:nvSpPr>
        <p:spPr>
          <a:xfrm>
            <a:off x="8306377" y="3101668"/>
            <a:ext cx="361800" cy="3288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c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169" name="Google Shape;1169;p65"/>
          <p:cNvSpPr/>
          <p:nvPr/>
        </p:nvSpPr>
        <p:spPr>
          <a:xfrm>
            <a:off x="6939671" y="4160787"/>
            <a:ext cx="361800" cy="3288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g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170" name="Google Shape;1170;p65"/>
          <p:cNvSpPr/>
          <p:nvPr/>
        </p:nvSpPr>
        <p:spPr>
          <a:xfrm>
            <a:off x="7656806" y="4520717"/>
            <a:ext cx="361800" cy="3288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f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171" name="Google Shape;1171;p65"/>
          <p:cNvSpPr/>
          <p:nvPr/>
        </p:nvSpPr>
        <p:spPr>
          <a:xfrm>
            <a:off x="6820513" y="3631236"/>
            <a:ext cx="361800" cy="3288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h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172" name="Google Shape;1172;p65"/>
          <p:cNvSpPr/>
          <p:nvPr/>
        </p:nvSpPr>
        <p:spPr>
          <a:xfrm>
            <a:off x="8470510" y="3631236"/>
            <a:ext cx="361800" cy="3288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d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cxnSp>
        <p:nvCxnSpPr>
          <p:cNvPr id="1173" name="Google Shape;1173;p65"/>
          <p:cNvCxnSpPr>
            <a:stCxn id="1167" idx="4"/>
            <a:endCxn id="1165" idx="0"/>
          </p:cNvCxnSpPr>
          <p:nvPr/>
        </p:nvCxnSpPr>
        <p:spPr>
          <a:xfrm>
            <a:off x="7826418" y="3086076"/>
            <a:ext cx="0" cy="4389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74" name="Google Shape;1174;p65"/>
          <p:cNvCxnSpPr>
            <a:stCxn id="1170" idx="0"/>
            <a:endCxn id="1165" idx="4"/>
          </p:cNvCxnSpPr>
          <p:nvPr/>
        </p:nvCxnSpPr>
        <p:spPr>
          <a:xfrm rot="10800000">
            <a:off x="7826606" y="4065917"/>
            <a:ext cx="11100" cy="4548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75" name="Google Shape;1175;p65"/>
          <p:cNvCxnSpPr>
            <a:stCxn id="1171" idx="6"/>
            <a:endCxn id="1165" idx="2"/>
          </p:cNvCxnSpPr>
          <p:nvPr/>
        </p:nvCxnSpPr>
        <p:spPr>
          <a:xfrm>
            <a:off x="7182313" y="3795636"/>
            <a:ext cx="372600" cy="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76" name="Google Shape;1176;p65"/>
          <p:cNvCxnSpPr>
            <a:stCxn id="1172" idx="2"/>
            <a:endCxn id="1165" idx="6"/>
          </p:cNvCxnSpPr>
          <p:nvPr/>
        </p:nvCxnSpPr>
        <p:spPr>
          <a:xfrm rot="10800000">
            <a:off x="8097910" y="3795636"/>
            <a:ext cx="372600" cy="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77" name="Google Shape;1177;p65"/>
          <p:cNvCxnSpPr>
            <a:stCxn id="1165" idx="1"/>
            <a:endCxn id="1166" idx="5"/>
          </p:cNvCxnSpPr>
          <p:nvPr/>
        </p:nvCxnSpPr>
        <p:spPr>
          <a:xfrm rot="10800000">
            <a:off x="7248443" y="3382289"/>
            <a:ext cx="386100" cy="2220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78" name="Google Shape;1178;p65"/>
          <p:cNvCxnSpPr>
            <a:stCxn id="1165" idx="7"/>
            <a:endCxn id="1168" idx="3"/>
          </p:cNvCxnSpPr>
          <p:nvPr/>
        </p:nvCxnSpPr>
        <p:spPr>
          <a:xfrm flipH="1" rot="10800000">
            <a:off x="8018502" y="3382289"/>
            <a:ext cx="340800" cy="2220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79" name="Google Shape;1179;p65"/>
          <p:cNvCxnSpPr>
            <a:stCxn id="1169" idx="7"/>
            <a:endCxn id="1165" idx="3"/>
          </p:cNvCxnSpPr>
          <p:nvPr/>
        </p:nvCxnSpPr>
        <p:spPr>
          <a:xfrm flipH="1" rot="10800000">
            <a:off x="7248486" y="3986639"/>
            <a:ext cx="386100" cy="2223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80" name="Google Shape;1180;p65"/>
          <p:cNvCxnSpPr>
            <a:stCxn id="1181" idx="1"/>
            <a:endCxn id="1165" idx="5"/>
          </p:cNvCxnSpPr>
          <p:nvPr/>
        </p:nvCxnSpPr>
        <p:spPr>
          <a:xfrm rot="10800000">
            <a:off x="8018562" y="3986639"/>
            <a:ext cx="340800" cy="2223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81" name="Google Shape;1181;p65"/>
          <p:cNvSpPr/>
          <p:nvPr/>
        </p:nvSpPr>
        <p:spPr>
          <a:xfrm>
            <a:off x="8306377" y="4160787"/>
            <a:ext cx="361800" cy="3288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5" name="Shape 1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6" name="Google Shape;1186;p66"/>
          <p:cNvSpPr txBox="1"/>
          <p:nvPr>
            <p:ph idx="1" type="body"/>
          </p:nvPr>
        </p:nvSpPr>
        <p:spPr>
          <a:xfrm>
            <a:off x="311700" y="1225225"/>
            <a:ext cx="8492400" cy="13464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Tells us whether you tend to connect with a </a:t>
            </a:r>
            <a:r>
              <a:rPr b="1" lang="en"/>
              <a:t>wide range</a:t>
            </a:r>
            <a:r>
              <a:rPr lang="en"/>
              <a:t> of others based on some </a:t>
            </a:r>
            <a:r>
              <a:rPr b="1" lang="en"/>
              <a:t>sociodemographic characteristic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E.g., Age, Race, Gender, Education, Ethnicity, Nationality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Given by </a:t>
            </a:r>
            <a:r>
              <a:rPr lang="en"/>
              <a:t>Blau's</a:t>
            </a:r>
            <a:r>
              <a:rPr b="1" lang="en"/>
              <a:t> Index of heterogeneity</a:t>
            </a:r>
            <a:r>
              <a:rPr lang="en"/>
              <a:t> (H)</a:t>
            </a:r>
            <a:r>
              <a:rPr b="1" lang="en"/>
              <a:t>: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 is at a maximum (1.0 − 1/k) when</a:t>
            </a:r>
            <a:r>
              <a:rPr lang="en"/>
              <a:t>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Each of your alters belongs to a different group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Makes sense!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 = 1 − (</a:t>
            </a:r>
            <a:r>
              <a:rPr b="1" lang="en">
                <a:solidFill>
                  <a:schemeClr val="lt2"/>
                </a:solidFill>
              </a:rPr>
              <a:t>1</a:t>
            </a:r>
            <a:r>
              <a:rPr lang="en"/>
              <a:t>/8</a:t>
            </a:r>
            <a:r>
              <a:rPr baseline="30000" lang="en"/>
              <a:t>2</a:t>
            </a:r>
            <a:r>
              <a:rPr lang="en"/>
              <a:t> + </a:t>
            </a:r>
            <a:r>
              <a:rPr b="1" lang="en">
                <a:solidFill>
                  <a:schemeClr val="accent4"/>
                </a:solidFill>
              </a:rPr>
              <a:t>1</a:t>
            </a:r>
            <a:r>
              <a:rPr lang="en"/>
              <a:t>/8</a:t>
            </a:r>
            <a:r>
              <a:rPr baseline="30000" lang="en"/>
              <a:t>2</a:t>
            </a:r>
            <a:r>
              <a:rPr lang="en"/>
              <a:t> + </a:t>
            </a:r>
            <a:r>
              <a:rPr b="1" lang="en">
                <a:solidFill>
                  <a:schemeClr val="accent1"/>
                </a:solidFill>
              </a:rPr>
              <a:t>1</a:t>
            </a:r>
            <a:r>
              <a:rPr lang="en"/>
              <a:t>/8</a:t>
            </a:r>
            <a:r>
              <a:rPr baseline="30000" lang="en"/>
              <a:t>2</a:t>
            </a:r>
            <a:r>
              <a:rPr lang="en"/>
              <a:t>  + </a:t>
            </a:r>
            <a:r>
              <a:rPr b="1" lang="en">
                <a:solidFill>
                  <a:srgbClr val="E06666"/>
                </a:solidFill>
              </a:rPr>
              <a:t>1</a:t>
            </a:r>
            <a:r>
              <a:rPr lang="en"/>
              <a:t>/8</a:t>
            </a:r>
            <a:r>
              <a:rPr baseline="30000" lang="en"/>
              <a:t>2</a:t>
            </a:r>
            <a:r>
              <a:rPr lang="en"/>
              <a:t> + </a:t>
            </a:r>
            <a:r>
              <a:rPr b="1" lang="en">
                <a:solidFill>
                  <a:srgbClr val="1155CC"/>
                </a:solidFill>
              </a:rPr>
              <a:t>1</a:t>
            </a:r>
            <a:r>
              <a:rPr lang="en"/>
              <a:t>/8</a:t>
            </a:r>
            <a:r>
              <a:rPr baseline="30000" lang="en"/>
              <a:t>2</a:t>
            </a:r>
            <a:r>
              <a:rPr lang="en"/>
              <a:t> + </a:t>
            </a:r>
            <a:r>
              <a:rPr b="1" lang="en">
                <a:solidFill>
                  <a:srgbClr val="F1C232"/>
                </a:solidFill>
              </a:rPr>
              <a:t>1</a:t>
            </a:r>
            <a:r>
              <a:rPr lang="en"/>
              <a:t>/8</a:t>
            </a:r>
            <a:r>
              <a:rPr baseline="30000" lang="en"/>
              <a:t>2</a:t>
            </a:r>
            <a:r>
              <a:rPr lang="en"/>
              <a:t> + </a:t>
            </a:r>
            <a:r>
              <a:rPr b="1" lang="en">
                <a:solidFill>
                  <a:srgbClr val="674EA7"/>
                </a:solidFill>
              </a:rPr>
              <a:t>1</a:t>
            </a:r>
            <a:r>
              <a:rPr lang="en"/>
              <a:t>/8</a:t>
            </a:r>
            <a:r>
              <a:rPr baseline="30000" lang="en"/>
              <a:t>2</a:t>
            </a:r>
            <a:r>
              <a:rPr lang="en"/>
              <a:t>  + </a:t>
            </a:r>
            <a:r>
              <a:rPr b="1" lang="en">
                <a:solidFill>
                  <a:srgbClr val="C27BA0"/>
                </a:solidFill>
              </a:rPr>
              <a:t>1</a:t>
            </a:r>
            <a:r>
              <a:rPr lang="en"/>
              <a:t>/8</a:t>
            </a:r>
            <a:r>
              <a:rPr baseline="30000" lang="en"/>
              <a:t>2</a:t>
            </a:r>
            <a:r>
              <a:rPr lang="en"/>
              <a:t>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 = 1 − (1/8</a:t>
            </a:r>
            <a:r>
              <a:rPr baseline="30000" lang="en"/>
              <a:t>2 </a:t>
            </a:r>
            <a:r>
              <a:rPr lang="en"/>
              <a:t>X 8) = 1 − (8/8</a:t>
            </a:r>
            <a:r>
              <a:rPr baseline="30000" lang="en"/>
              <a:t>2</a:t>
            </a:r>
            <a:r>
              <a:rPr lang="en"/>
              <a:t>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 = 1 − (8/64) = 1 − (1/8) = 1 − 0.13 = </a:t>
            </a:r>
            <a:r>
              <a:rPr b="1" lang="en"/>
              <a:t>0.87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7" name="Google Shape;1187;p6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Ego networks: Diversity</a:t>
            </a:r>
            <a:endParaRPr/>
          </a:p>
        </p:txBody>
      </p:sp>
      <p:pic>
        <p:nvPicPr>
          <p:cNvPr descr="H = 1 - \sum_k p_k^2" id="1188" name="Google Shape;1188;p66" title="MathEquation,#0000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85500" y="2693065"/>
            <a:ext cx="2344782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9" name="Google Shape;1189;p66"/>
          <p:cNvSpPr/>
          <p:nvPr/>
        </p:nvSpPr>
        <p:spPr>
          <a:xfrm>
            <a:off x="7555023" y="3525076"/>
            <a:ext cx="543000" cy="5409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Ego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190" name="Google Shape;1190;p66"/>
          <p:cNvSpPr/>
          <p:nvPr/>
        </p:nvSpPr>
        <p:spPr>
          <a:xfrm>
            <a:off x="6939671" y="3101668"/>
            <a:ext cx="361800" cy="3288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a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191" name="Google Shape;1191;p66"/>
          <p:cNvSpPr/>
          <p:nvPr/>
        </p:nvSpPr>
        <p:spPr>
          <a:xfrm>
            <a:off x="7645518" y="2757276"/>
            <a:ext cx="361800" cy="328800"/>
          </a:xfrm>
          <a:prstGeom prst="ellipse">
            <a:avLst/>
          </a:prstGeom>
          <a:solidFill>
            <a:srgbClr val="C27BA0"/>
          </a:solidFill>
          <a:ln cap="flat" cmpd="sng" w="19050">
            <a:solidFill>
              <a:srgbClr val="C27B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b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192" name="Google Shape;1192;p66"/>
          <p:cNvSpPr/>
          <p:nvPr/>
        </p:nvSpPr>
        <p:spPr>
          <a:xfrm>
            <a:off x="8306377" y="3101668"/>
            <a:ext cx="361800" cy="3288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c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193" name="Google Shape;1193;p66"/>
          <p:cNvSpPr/>
          <p:nvPr/>
        </p:nvSpPr>
        <p:spPr>
          <a:xfrm>
            <a:off x="6939671" y="4160787"/>
            <a:ext cx="361800" cy="328800"/>
          </a:xfrm>
          <a:prstGeom prst="ellipse">
            <a:avLst/>
          </a:prstGeom>
          <a:solidFill>
            <a:srgbClr val="8E7CC3"/>
          </a:solidFill>
          <a:ln cap="flat" cmpd="sng" w="19050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g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194" name="Google Shape;1194;p66"/>
          <p:cNvSpPr/>
          <p:nvPr/>
        </p:nvSpPr>
        <p:spPr>
          <a:xfrm>
            <a:off x="7656806" y="4520717"/>
            <a:ext cx="361800" cy="328800"/>
          </a:xfrm>
          <a:prstGeom prst="ellipse">
            <a:avLst/>
          </a:prstGeom>
          <a:solidFill>
            <a:srgbClr val="E06666"/>
          </a:solidFill>
          <a:ln cap="flat" cmpd="sng" w="19050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f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195" name="Google Shape;1195;p66"/>
          <p:cNvSpPr/>
          <p:nvPr/>
        </p:nvSpPr>
        <p:spPr>
          <a:xfrm>
            <a:off x="6820513" y="3631236"/>
            <a:ext cx="361800" cy="328800"/>
          </a:xfrm>
          <a:prstGeom prst="ellipse">
            <a:avLst/>
          </a:prstGeom>
          <a:solidFill>
            <a:schemeClr val="accent4"/>
          </a:solidFill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h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196" name="Google Shape;1196;p66"/>
          <p:cNvSpPr/>
          <p:nvPr/>
        </p:nvSpPr>
        <p:spPr>
          <a:xfrm>
            <a:off x="8470510" y="3631236"/>
            <a:ext cx="361800" cy="328800"/>
          </a:xfrm>
          <a:prstGeom prst="ellipse">
            <a:avLst/>
          </a:prstGeom>
          <a:solidFill>
            <a:srgbClr val="1155CC"/>
          </a:solidFill>
          <a:ln cap="flat" cmpd="sng" w="19050">
            <a:solidFill>
              <a:srgbClr val="115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d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cxnSp>
        <p:nvCxnSpPr>
          <p:cNvPr id="1197" name="Google Shape;1197;p66"/>
          <p:cNvCxnSpPr>
            <a:stCxn id="1191" idx="4"/>
            <a:endCxn id="1189" idx="0"/>
          </p:cNvCxnSpPr>
          <p:nvPr/>
        </p:nvCxnSpPr>
        <p:spPr>
          <a:xfrm>
            <a:off x="7826418" y="3086076"/>
            <a:ext cx="0" cy="4389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98" name="Google Shape;1198;p66"/>
          <p:cNvCxnSpPr>
            <a:stCxn id="1194" idx="0"/>
            <a:endCxn id="1189" idx="4"/>
          </p:cNvCxnSpPr>
          <p:nvPr/>
        </p:nvCxnSpPr>
        <p:spPr>
          <a:xfrm rot="10800000">
            <a:off x="7826606" y="4065917"/>
            <a:ext cx="11100" cy="4548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99" name="Google Shape;1199;p66"/>
          <p:cNvCxnSpPr>
            <a:stCxn id="1195" idx="6"/>
            <a:endCxn id="1189" idx="2"/>
          </p:cNvCxnSpPr>
          <p:nvPr/>
        </p:nvCxnSpPr>
        <p:spPr>
          <a:xfrm>
            <a:off x="7182313" y="3795636"/>
            <a:ext cx="372600" cy="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00" name="Google Shape;1200;p66"/>
          <p:cNvCxnSpPr>
            <a:stCxn id="1196" idx="2"/>
            <a:endCxn id="1189" idx="6"/>
          </p:cNvCxnSpPr>
          <p:nvPr/>
        </p:nvCxnSpPr>
        <p:spPr>
          <a:xfrm rot="10800000">
            <a:off x="8097910" y="3795636"/>
            <a:ext cx="372600" cy="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01" name="Google Shape;1201;p66"/>
          <p:cNvCxnSpPr>
            <a:stCxn id="1189" idx="1"/>
            <a:endCxn id="1190" idx="5"/>
          </p:cNvCxnSpPr>
          <p:nvPr/>
        </p:nvCxnSpPr>
        <p:spPr>
          <a:xfrm rot="10800000">
            <a:off x="7248443" y="3382289"/>
            <a:ext cx="386100" cy="2220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02" name="Google Shape;1202;p66"/>
          <p:cNvCxnSpPr>
            <a:stCxn id="1189" idx="7"/>
            <a:endCxn id="1192" idx="3"/>
          </p:cNvCxnSpPr>
          <p:nvPr/>
        </p:nvCxnSpPr>
        <p:spPr>
          <a:xfrm flipH="1" rot="10800000">
            <a:off x="8018502" y="3382289"/>
            <a:ext cx="340800" cy="2220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03" name="Google Shape;1203;p66"/>
          <p:cNvCxnSpPr>
            <a:stCxn id="1193" idx="7"/>
            <a:endCxn id="1189" idx="3"/>
          </p:cNvCxnSpPr>
          <p:nvPr/>
        </p:nvCxnSpPr>
        <p:spPr>
          <a:xfrm flipH="1" rot="10800000">
            <a:off x="7248486" y="3986639"/>
            <a:ext cx="386100" cy="2223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04" name="Google Shape;1204;p66"/>
          <p:cNvCxnSpPr>
            <a:stCxn id="1205" idx="1"/>
            <a:endCxn id="1189" idx="5"/>
          </p:cNvCxnSpPr>
          <p:nvPr/>
        </p:nvCxnSpPr>
        <p:spPr>
          <a:xfrm rot="10800000">
            <a:off x="8018562" y="3986639"/>
            <a:ext cx="340800" cy="2223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05" name="Google Shape;1205;p66"/>
          <p:cNvSpPr/>
          <p:nvPr/>
        </p:nvSpPr>
        <p:spPr>
          <a:xfrm>
            <a:off x="8306377" y="4160787"/>
            <a:ext cx="361800" cy="328800"/>
          </a:xfrm>
          <a:prstGeom prst="ellipse">
            <a:avLst/>
          </a:prstGeom>
          <a:solidFill>
            <a:srgbClr val="F1C232"/>
          </a:solidFill>
          <a:ln cap="flat" cmpd="sng" w="19050">
            <a:solidFill>
              <a:srgbClr val="F1C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</a:t>
            </a:r>
            <a:endParaRPr b="1" sz="15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9" name="Shape 1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0" name="Google Shape;1210;p67"/>
          <p:cNvSpPr txBox="1"/>
          <p:nvPr>
            <p:ph idx="1" type="body"/>
          </p:nvPr>
        </p:nvSpPr>
        <p:spPr>
          <a:xfrm>
            <a:off x="311700" y="1225225"/>
            <a:ext cx="8492400" cy="15708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Tell us the extent to which: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Your alters are </a:t>
            </a:r>
            <a:r>
              <a:rPr b="1" lang="en"/>
              <a:t>interconnected among themselves</a:t>
            </a:r>
            <a:r>
              <a:rPr lang="en"/>
              <a:t> (e.g., know one another)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Versus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Your alters are </a:t>
            </a:r>
            <a:r>
              <a:rPr b="1" lang="en"/>
              <a:t>not connected among themselves</a:t>
            </a:r>
            <a:r>
              <a:rPr lang="en"/>
              <a:t> (e.g., are strangers to one another)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Given by the </a:t>
            </a:r>
            <a:r>
              <a:rPr b="1" lang="en"/>
              <a:t>Clustering Coefficient (CC</a:t>
            </a:r>
            <a:r>
              <a:rPr b="1" baseline="-25000" lang="en"/>
              <a:t>i</a:t>
            </a:r>
            <a:r>
              <a:rPr b="1" lang="en"/>
              <a:t>)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1" name="Google Shape;1211;p6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Ego networks: Clustering </a:t>
            </a:r>
            <a:endParaRPr/>
          </a:p>
        </p:txBody>
      </p:sp>
      <p:sp>
        <p:nvSpPr>
          <p:cNvPr id="1212" name="Google Shape;1212;p67"/>
          <p:cNvSpPr/>
          <p:nvPr/>
        </p:nvSpPr>
        <p:spPr>
          <a:xfrm>
            <a:off x="7631558" y="3498451"/>
            <a:ext cx="616800" cy="6147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Ego</a:t>
            </a:r>
            <a:endParaRPr b="1" sz="17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213" name="Google Shape;1213;p67"/>
          <p:cNvSpPr/>
          <p:nvPr/>
        </p:nvSpPr>
        <p:spPr>
          <a:xfrm>
            <a:off x="6932295" y="3017305"/>
            <a:ext cx="411000" cy="373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a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214" name="Google Shape;1214;p67"/>
          <p:cNvSpPr/>
          <p:nvPr/>
        </p:nvSpPr>
        <p:spPr>
          <a:xfrm>
            <a:off x="7734394" y="2625951"/>
            <a:ext cx="411000" cy="373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b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215" name="Google Shape;1215;p67"/>
          <p:cNvSpPr/>
          <p:nvPr/>
        </p:nvSpPr>
        <p:spPr>
          <a:xfrm>
            <a:off x="8485370" y="3017305"/>
            <a:ext cx="411000" cy="373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c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216" name="Google Shape;1216;p67"/>
          <p:cNvSpPr/>
          <p:nvPr/>
        </p:nvSpPr>
        <p:spPr>
          <a:xfrm>
            <a:off x="6932295" y="4220850"/>
            <a:ext cx="411000" cy="373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g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217" name="Google Shape;1217;p67"/>
          <p:cNvSpPr/>
          <p:nvPr/>
        </p:nvSpPr>
        <p:spPr>
          <a:xfrm>
            <a:off x="7747221" y="4629861"/>
            <a:ext cx="411000" cy="373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f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218" name="Google Shape;1218;p67"/>
          <p:cNvSpPr/>
          <p:nvPr/>
        </p:nvSpPr>
        <p:spPr>
          <a:xfrm>
            <a:off x="8485370" y="4220850"/>
            <a:ext cx="411000" cy="373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219" name="Google Shape;1219;p67"/>
          <p:cNvSpPr/>
          <p:nvPr/>
        </p:nvSpPr>
        <p:spPr>
          <a:xfrm>
            <a:off x="6796888" y="3619087"/>
            <a:ext cx="411000" cy="373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h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220" name="Google Shape;1220;p67"/>
          <p:cNvSpPr/>
          <p:nvPr/>
        </p:nvSpPr>
        <p:spPr>
          <a:xfrm>
            <a:off x="8671884" y="3619087"/>
            <a:ext cx="411000" cy="373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d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cxnSp>
        <p:nvCxnSpPr>
          <p:cNvPr id="1221" name="Google Shape;1221;p67"/>
          <p:cNvCxnSpPr>
            <a:stCxn id="1214" idx="4"/>
            <a:endCxn id="1212" idx="0"/>
          </p:cNvCxnSpPr>
          <p:nvPr/>
        </p:nvCxnSpPr>
        <p:spPr>
          <a:xfrm>
            <a:off x="7939894" y="2999451"/>
            <a:ext cx="0" cy="4989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22" name="Google Shape;1222;p67"/>
          <p:cNvCxnSpPr>
            <a:stCxn id="1217" idx="0"/>
            <a:endCxn id="1212" idx="4"/>
          </p:cNvCxnSpPr>
          <p:nvPr/>
        </p:nvCxnSpPr>
        <p:spPr>
          <a:xfrm rot="10800000">
            <a:off x="7939821" y="4113261"/>
            <a:ext cx="12900" cy="5166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23" name="Google Shape;1223;p67"/>
          <p:cNvCxnSpPr>
            <a:stCxn id="1219" idx="6"/>
            <a:endCxn id="1212" idx="2"/>
          </p:cNvCxnSpPr>
          <p:nvPr/>
        </p:nvCxnSpPr>
        <p:spPr>
          <a:xfrm>
            <a:off x="7207888" y="3805837"/>
            <a:ext cx="4236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24" name="Google Shape;1224;p67"/>
          <p:cNvCxnSpPr>
            <a:stCxn id="1220" idx="2"/>
            <a:endCxn id="1212" idx="6"/>
          </p:cNvCxnSpPr>
          <p:nvPr/>
        </p:nvCxnSpPr>
        <p:spPr>
          <a:xfrm rot="10800000">
            <a:off x="8248284" y="3805837"/>
            <a:ext cx="4236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25" name="Google Shape;1225;p67"/>
          <p:cNvCxnSpPr>
            <a:stCxn id="1212" idx="1"/>
            <a:endCxn id="1213" idx="5"/>
          </p:cNvCxnSpPr>
          <p:nvPr/>
        </p:nvCxnSpPr>
        <p:spPr>
          <a:xfrm rot="10800000">
            <a:off x="7282987" y="3336172"/>
            <a:ext cx="438900" cy="2523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26" name="Google Shape;1226;p67"/>
          <p:cNvCxnSpPr>
            <a:stCxn id="1212" idx="7"/>
            <a:endCxn id="1215" idx="3"/>
          </p:cNvCxnSpPr>
          <p:nvPr/>
        </p:nvCxnSpPr>
        <p:spPr>
          <a:xfrm flipH="1" rot="10800000">
            <a:off x="8158030" y="3336172"/>
            <a:ext cx="387600" cy="2523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27" name="Google Shape;1227;p67"/>
          <p:cNvCxnSpPr>
            <a:stCxn id="1216" idx="7"/>
            <a:endCxn id="1212" idx="3"/>
          </p:cNvCxnSpPr>
          <p:nvPr/>
        </p:nvCxnSpPr>
        <p:spPr>
          <a:xfrm flipH="1" rot="10800000">
            <a:off x="7283105" y="4023248"/>
            <a:ext cx="438900" cy="2523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28" name="Google Shape;1228;p67"/>
          <p:cNvCxnSpPr>
            <a:stCxn id="1218" idx="1"/>
            <a:endCxn id="1212" idx="5"/>
          </p:cNvCxnSpPr>
          <p:nvPr/>
        </p:nvCxnSpPr>
        <p:spPr>
          <a:xfrm rot="10800000">
            <a:off x="8157960" y="4023248"/>
            <a:ext cx="387600" cy="2523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29" name="Google Shape;1229;p67"/>
          <p:cNvCxnSpPr>
            <a:stCxn id="1214" idx="2"/>
            <a:endCxn id="1213" idx="0"/>
          </p:cNvCxnSpPr>
          <p:nvPr/>
        </p:nvCxnSpPr>
        <p:spPr>
          <a:xfrm flipH="1">
            <a:off x="7137694" y="2812701"/>
            <a:ext cx="596700" cy="2046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30" name="Google Shape;1230;p67"/>
          <p:cNvCxnSpPr>
            <a:stCxn id="1213" idx="3"/>
            <a:endCxn id="1219" idx="0"/>
          </p:cNvCxnSpPr>
          <p:nvPr/>
        </p:nvCxnSpPr>
        <p:spPr>
          <a:xfrm>
            <a:off x="6992484" y="3336108"/>
            <a:ext cx="9900" cy="2829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31" name="Google Shape;1231;p67"/>
          <p:cNvCxnSpPr>
            <a:stCxn id="1214" idx="3"/>
            <a:endCxn id="1219" idx="7"/>
          </p:cNvCxnSpPr>
          <p:nvPr/>
        </p:nvCxnSpPr>
        <p:spPr>
          <a:xfrm flipH="1">
            <a:off x="7147783" y="2944753"/>
            <a:ext cx="646800" cy="7290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32" name="Google Shape;1232;p67"/>
          <p:cNvCxnSpPr>
            <a:stCxn id="1214" idx="3"/>
            <a:endCxn id="1216" idx="0"/>
          </p:cNvCxnSpPr>
          <p:nvPr/>
        </p:nvCxnSpPr>
        <p:spPr>
          <a:xfrm flipH="1">
            <a:off x="7137883" y="2944753"/>
            <a:ext cx="656700" cy="12762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33" name="Google Shape;1233;p67"/>
          <p:cNvCxnSpPr>
            <a:stCxn id="1219" idx="4"/>
            <a:endCxn id="1216" idx="0"/>
          </p:cNvCxnSpPr>
          <p:nvPr/>
        </p:nvCxnSpPr>
        <p:spPr>
          <a:xfrm>
            <a:off x="7002388" y="3992587"/>
            <a:ext cx="135300" cy="2283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34" name="Google Shape;1234;p67"/>
          <p:cNvCxnSpPr>
            <a:stCxn id="1213" idx="5"/>
            <a:endCxn id="1216" idx="7"/>
          </p:cNvCxnSpPr>
          <p:nvPr/>
        </p:nvCxnSpPr>
        <p:spPr>
          <a:xfrm>
            <a:off x="7283105" y="3336108"/>
            <a:ext cx="0" cy="9393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35" name="Google Shape;1235;p67"/>
          <p:cNvCxnSpPr>
            <a:stCxn id="1220" idx="3"/>
            <a:endCxn id="1216" idx="6"/>
          </p:cNvCxnSpPr>
          <p:nvPr/>
        </p:nvCxnSpPr>
        <p:spPr>
          <a:xfrm flipH="1">
            <a:off x="7343374" y="3937889"/>
            <a:ext cx="1388700" cy="4698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36" name="Google Shape;1236;p67"/>
          <p:cNvCxnSpPr>
            <a:stCxn id="1217" idx="2"/>
            <a:endCxn id="1216" idx="5"/>
          </p:cNvCxnSpPr>
          <p:nvPr/>
        </p:nvCxnSpPr>
        <p:spPr>
          <a:xfrm rot="10800000">
            <a:off x="7283121" y="4539711"/>
            <a:ext cx="464100" cy="2769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37" name="Google Shape;1237;p67"/>
          <p:cNvCxnSpPr>
            <a:stCxn id="1218" idx="3"/>
          </p:cNvCxnSpPr>
          <p:nvPr/>
        </p:nvCxnSpPr>
        <p:spPr>
          <a:xfrm flipH="1">
            <a:off x="8156760" y="4539653"/>
            <a:ext cx="388800" cy="2547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38" name="Google Shape;1238;p67"/>
          <p:cNvCxnSpPr>
            <a:stCxn id="1220" idx="4"/>
            <a:endCxn id="1218" idx="7"/>
          </p:cNvCxnSpPr>
          <p:nvPr/>
        </p:nvCxnSpPr>
        <p:spPr>
          <a:xfrm flipH="1">
            <a:off x="8836284" y="3992587"/>
            <a:ext cx="41100" cy="2829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2" name="Shape 1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3" name="Google Shape;1243;p68"/>
          <p:cNvSpPr txBox="1"/>
          <p:nvPr>
            <p:ph idx="1" type="body"/>
          </p:nvPr>
        </p:nvSpPr>
        <p:spPr>
          <a:xfrm>
            <a:off x="311700" y="1225225"/>
            <a:ext cx="8492400" cy="15708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Tell us the extent to which: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Your alters are </a:t>
            </a:r>
            <a:r>
              <a:rPr b="1" lang="en"/>
              <a:t>interconnected among themselves</a:t>
            </a:r>
            <a:r>
              <a:rPr lang="en"/>
              <a:t> (e.g., know one another)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Versus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Your alters are </a:t>
            </a:r>
            <a:r>
              <a:rPr b="1" lang="en"/>
              <a:t>not connected among themselves</a:t>
            </a:r>
            <a:r>
              <a:rPr lang="en"/>
              <a:t> (e.g., are strangers to one another)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Given by the </a:t>
            </a:r>
            <a:r>
              <a:rPr b="1" lang="en"/>
              <a:t>Clustering Coefficient (CC</a:t>
            </a:r>
            <a:r>
              <a:rPr b="1" baseline="-25000" lang="en"/>
              <a:t>i</a:t>
            </a:r>
            <a:r>
              <a:rPr b="1" lang="en"/>
              <a:t>)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4" name="Google Shape;1244;p6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Ego networks: Clustering </a:t>
            </a:r>
            <a:endParaRPr/>
          </a:p>
        </p:txBody>
      </p:sp>
      <p:pic>
        <p:nvPicPr>
          <p:cNvPr descr="CC_{i}=\frac{2m}{n(n-1)}" id="1245" name="Google Shape;1245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70144" y="2874020"/>
            <a:ext cx="1878112" cy="649224"/>
          </a:xfrm>
          <a:prstGeom prst="rect">
            <a:avLst/>
          </a:prstGeom>
          <a:noFill/>
          <a:ln>
            <a:noFill/>
          </a:ln>
        </p:spPr>
      </p:pic>
      <p:sp>
        <p:nvSpPr>
          <p:cNvPr id="1246" name="Google Shape;1246;p68"/>
          <p:cNvSpPr/>
          <p:nvPr/>
        </p:nvSpPr>
        <p:spPr>
          <a:xfrm>
            <a:off x="7631558" y="3498451"/>
            <a:ext cx="616800" cy="6147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Ego</a:t>
            </a:r>
            <a:endParaRPr b="1" sz="17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247" name="Google Shape;1247;p68"/>
          <p:cNvSpPr/>
          <p:nvPr/>
        </p:nvSpPr>
        <p:spPr>
          <a:xfrm>
            <a:off x="6932295" y="3017305"/>
            <a:ext cx="411000" cy="373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a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248" name="Google Shape;1248;p68"/>
          <p:cNvSpPr/>
          <p:nvPr/>
        </p:nvSpPr>
        <p:spPr>
          <a:xfrm>
            <a:off x="7734394" y="2625951"/>
            <a:ext cx="411000" cy="373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b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249" name="Google Shape;1249;p68"/>
          <p:cNvSpPr/>
          <p:nvPr/>
        </p:nvSpPr>
        <p:spPr>
          <a:xfrm>
            <a:off x="8485370" y="3017305"/>
            <a:ext cx="411000" cy="373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c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250" name="Google Shape;1250;p68"/>
          <p:cNvSpPr/>
          <p:nvPr/>
        </p:nvSpPr>
        <p:spPr>
          <a:xfrm>
            <a:off x="6932295" y="4220850"/>
            <a:ext cx="411000" cy="373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g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251" name="Google Shape;1251;p68"/>
          <p:cNvSpPr/>
          <p:nvPr/>
        </p:nvSpPr>
        <p:spPr>
          <a:xfrm>
            <a:off x="7747221" y="4629861"/>
            <a:ext cx="411000" cy="373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f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252" name="Google Shape;1252;p68"/>
          <p:cNvSpPr/>
          <p:nvPr/>
        </p:nvSpPr>
        <p:spPr>
          <a:xfrm>
            <a:off x="8485370" y="4220850"/>
            <a:ext cx="411000" cy="373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253" name="Google Shape;1253;p68"/>
          <p:cNvSpPr/>
          <p:nvPr/>
        </p:nvSpPr>
        <p:spPr>
          <a:xfrm>
            <a:off x="6796888" y="3619087"/>
            <a:ext cx="411000" cy="373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h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254" name="Google Shape;1254;p68"/>
          <p:cNvSpPr/>
          <p:nvPr/>
        </p:nvSpPr>
        <p:spPr>
          <a:xfrm>
            <a:off x="8671884" y="3619087"/>
            <a:ext cx="411000" cy="373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d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cxnSp>
        <p:nvCxnSpPr>
          <p:cNvPr id="1255" name="Google Shape;1255;p68"/>
          <p:cNvCxnSpPr>
            <a:stCxn id="1248" idx="4"/>
            <a:endCxn id="1246" idx="0"/>
          </p:cNvCxnSpPr>
          <p:nvPr/>
        </p:nvCxnSpPr>
        <p:spPr>
          <a:xfrm>
            <a:off x="7939894" y="2999451"/>
            <a:ext cx="0" cy="4989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56" name="Google Shape;1256;p68"/>
          <p:cNvCxnSpPr>
            <a:stCxn id="1251" idx="0"/>
            <a:endCxn id="1246" idx="4"/>
          </p:cNvCxnSpPr>
          <p:nvPr/>
        </p:nvCxnSpPr>
        <p:spPr>
          <a:xfrm rot="10800000">
            <a:off x="7939821" y="4113261"/>
            <a:ext cx="12900" cy="5166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57" name="Google Shape;1257;p68"/>
          <p:cNvCxnSpPr>
            <a:stCxn id="1253" idx="6"/>
            <a:endCxn id="1246" idx="2"/>
          </p:cNvCxnSpPr>
          <p:nvPr/>
        </p:nvCxnSpPr>
        <p:spPr>
          <a:xfrm>
            <a:off x="7207888" y="3805837"/>
            <a:ext cx="4236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58" name="Google Shape;1258;p68"/>
          <p:cNvCxnSpPr>
            <a:stCxn id="1254" idx="2"/>
            <a:endCxn id="1246" idx="6"/>
          </p:cNvCxnSpPr>
          <p:nvPr/>
        </p:nvCxnSpPr>
        <p:spPr>
          <a:xfrm rot="10800000">
            <a:off x="8248284" y="3805837"/>
            <a:ext cx="4236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59" name="Google Shape;1259;p68"/>
          <p:cNvCxnSpPr>
            <a:stCxn id="1246" idx="1"/>
            <a:endCxn id="1247" idx="5"/>
          </p:cNvCxnSpPr>
          <p:nvPr/>
        </p:nvCxnSpPr>
        <p:spPr>
          <a:xfrm rot="10800000">
            <a:off x="7282987" y="3336172"/>
            <a:ext cx="438900" cy="2523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60" name="Google Shape;1260;p68"/>
          <p:cNvCxnSpPr>
            <a:stCxn id="1246" idx="7"/>
            <a:endCxn id="1249" idx="3"/>
          </p:cNvCxnSpPr>
          <p:nvPr/>
        </p:nvCxnSpPr>
        <p:spPr>
          <a:xfrm flipH="1" rot="10800000">
            <a:off x="8158030" y="3336172"/>
            <a:ext cx="387600" cy="2523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61" name="Google Shape;1261;p68"/>
          <p:cNvCxnSpPr>
            <a:stCxn id="1250" idx="7"/>
            <a:endCxn id="1246" idx="3"/>
          </p:cNvCxnSpPr>
          <p:nvPr/>
        </p:nvCxnSpPr>
        <p:spPr>
          <a:xfrm flipH="1" rot="10800000">
            <a:off x="7283105" y="4023248"/>
            <a:ext cx="438900" cy="2523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62" name="Google Shape;1262;p68"/>
          <p:cNvCxnSpPr>
            <a:stCxn id="1252" idx="1"/>
            <a:endCxn id="1246" idx="5"/>
          </p:cNvCxnSpPr>
          <p:nvPr/>
        </p:nvCxnSpPr>
        <p:spPr>
          <a:xfrm rot="10800000">
            <a:off x="8157960" y="4023248"/>
            <a:ext cx="387600" cy="2523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63" name="Google Shape;1263;p68"/>
          <p:cNvCxnSpPr>
            <a:stCxn id="1248" idx="2"/>
            <a:endCxn id="1247" idx="0"/>
          </p:cNvCxnSpPr>
          <p:nvPr/>
        </p:nvCxnSpPr>
        <p:spPr>
          <a:xfrm flipH="1">
            <a:off x="7137694" y="2812701"/>
            <a:ext cx="596700" cy="2046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64" name="Google Shape;1264;p68"/>
          <p:cNvCxnSpPr>
            <a:stCxn id="1247" idx="3"/>
            <a:endCxn id="1253" idx="0"/>
          </p:cNvCxnSpPr>
          <p:nvPr/>
        </p:nvCxnSpPr>
        <p:spPr>
          <a:xfrm>
            <a:off x="6992484" y="3336108"/>
            <a:ext cx="9900" cy="2829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65" name="Google Shape;1265;p68"/>
          <p:cNvCxnSpPr>
            <a:stCxn id="1248" idx="3"/>
            <a:endCxn id="1253" idx="7"/>
          </p:cNvCxnSpPr>
          <p:nvPr/>
        </p:nvCxnSpPr>
        <p:spPr>
          <a:xfrm flipH="1">
            <a:off x="7147783" y="2944753"/>
            <a:ext cx="646800" cy="7290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66" name="Google Shape;1266;p68"/>
          <p:cNvCxnSpPr>
            <a:stCxn id="1248" idx="3"/>
            <a:endCxn id="1250" idx="0"/>
          </p:cNvCxnSpPr>
          <p:nvPr/>
        </p:nvCxnSpPr>
        <p:spPr>
          <a:xfrm flipH="1">
            <a:off x="7137883" y="2944753"/>
            <a:ext cx="656700" cy="12762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67" name="Google Shape;1267;p68"/>
          <p:cNvCxnSpPr>
            <a:stCxn id="1253" idx="4"/>
            <a:endCxn id="1250" idx="0"/>
          </p:cNvCxnSpPr>
          <p:nvPr/>
        </p:nvCxnSpPr>
        <p:spPr>
          <a:xfrm>
            <a:off x="7002388" y="3992587"/>
            <a:ext cx="135300" cy="2283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68" name="Google Shape;1268;p68"/>
          <p:cNvCxnSpPr>
            <a:stCxn id="1247" idx="5"/>
            <a:endCxn id="1250" idx="7"/>
          </p:cNvCxnSpPr>
          <p:nvPr/>
        </p:nvCxnSpPr>
        <p:spPr>
          <a:xfrm>
            <a:off x="7283105" y="3336108"/>
            <a:ext cx="0" cy="9393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69" name="Google Shape;1269;p68"/>
          <p:cNvCxnSpPr>
            <a:stCxn id="1254" idx="3"/>
            <a:endCxn id="1250" idx="6"/>
          </p:cNvCxnSpPr>
          <p:nvPr/>
        </p:nvCxnSpPr>
        <p:spPr>
          <a:xfrm flipH="1">
            <a:off x="7343374" y="3937889"/>
            <a:ext cx="1388700" cy="4698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70" name="Google Shape;1270;p68"/>
          <p:cNvCxnSpPr>
            <a:stCxn id="1251" idx="2"/>
            <a:endCxn id="1250" idx="5"/>
          </p:cNvCxnSpPr>
          <p:nvPr/>
        </p:nvCxnSpPr>
        <p:spPr>
          <a:xfrm rot="10800000">
            <a:off x="7283121" y="4539711"/>
            <a:ext cx="464100" cy="2769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71" name="Google Shape;1271;p68"/>
          <p:cNvCxnSpPr>
            <a:stCxn id="1252" idx="3"/>
          </p:cNvCxnSpPr>
          <p:nvPr/>
        </p:nvCxnSpPr>
        <p:spPr>
          <a:xfrm flipH="1">
            <a:off x="8156760" y="4539653"/>
            <a:ext cx="388800" cy="2547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72" name="Google Shape;1272;p68"/>
          <p:cNvCxnSpPr>
            <a:stCxn id="1254" idx="4"/>
            <a:endCxn id="1252" idx="7"/>
          </p:cNvCxnSpPr>
          <p:nvPr/>
        </p:nvCxnSpPr>
        <p:spPr>
          <a:xfrm flipH="1">
            <a:off x="8836284" y="3992587"/>
            <a:ext cx="41100" cy="2829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6" name="Shape 1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7" name="Google Shape;1277;p69"/>
          <p:cNvSpPr txBox="1"/>
          <p:nvPr>
            <p:ph idx="1" type="body"/>
          </p:nvPr>
        </p:nvSpPr>
        <p:spPr>
          <a:xfrm>
            <a:off x="311700" y="1225225"/>
            <a:ext cx="8492400" cy="15708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Tell us the extent to which: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Your alters are </a:t>
            </a:r>
            <a:r>
              <a:rPr b="1" lang="en"/>
              <a:t>interconnected among themselves</a:t>
            </a:r>
            <a:r>
              <a:rPr lang="en"/>
              <a:t> (e.g., know one another)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Versus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Your alters are </a:t>
            </a:r>
            <a:r>
              <a:rPr b="1" lang="en"/>
              <a:t>not connected among themselves</a:t>
            </a:r>
            <a:r>
              <a:rPr lang="en"/>
              <a:t> (e.g., are strangers to one another)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Given by the </a:t>
            </a:r>
            <a:r>
              <a:rPr b="1" lang="en"/>
              <a:t>Clustering Coefficient (CC</a:t>
            </a:r>
            <a:r>
              <a:rPr b="1" baseline="-25000" lang="en"/>
              <a:t>i</a:t>
            </a:r>
            <a:r>
              <a:rPr b="1" lang="en"/>
              <a:t>)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Pieces of Information you need: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Number of alter-to-alter edges (m)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Number of alters (n)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8" name="Google Shape;1278;p6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Ego networks: Clustering </a:t>
            </a:r>
            <a:endParaRPr/>
          </a:p>
        </p:txBody>
      </p:sp>
      <p:pic>
        <p:nvPicPr>
          <p:cNvPr descr="CC_{i}=\frac{2m}{n(n-1)}" id="1279" name="Google Shape;1279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70144" y="2874020"/>
            <a:ext cx="1878112" cy="649224"/>
          </a:xfrm>
          <a:prstGeom prst="rect">
            <a:avLst/>
          </a:prstGeom>
          <a:noFill/>
          <a:ln>
            <a:noFill/>
          </a:ln>
        </p:spPr>
      </p:pic>
      <p:sp>
        <p:nvSpPr>
          <p:cNvPr id="1280" name="Google Shape;1280;p69"/>
          <p:cNvSpPr/>
          <p:nvPr/>
        </p:nvSpPr>
        <p:spPr>
          <a:xfrm>
            <a:off x="7631558" y="3498451"/>
            <a:ext cx="616800" cy="6147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Ego</a:t>
            </a:r>
            <a:endParaRPr b="1" sz="17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281" name="Google Shape;1281;p69"/>
          <p:cNvSpPr/>
          <p:nvPr/>
        </p:nvSpPr>
        <p:spPr>
          <a:xfrm>
            <a:off x="6932295" y="3017305"/>
            <a:ext cx="411000" cy="373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a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282" name="Google Shape;1282;p69"/>
          <p:cNvSpPr/>
          <p:nvPr/>
        </p:nvSpPr>
        <p:spPr>
          <a:xfrm>
            <a:off x="7734394" y="2625951"/>
            <a:ext cx="411000" cy="373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b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283" name="Google Shape;1283;p69"/>
          <p:cNvSpPr/>
          <p:nvPr/>
        </p:nvSpPr>
        <p:spPr>
          <a:xfrm>
            <a:off x="8485370" y="3017305"/>
            <a:ext cx="411000" cy="373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c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284" name="Google Shape;1284;p69"/>
          <p:cNvSpPr/>
          <p:nvPr/>
        </p:nvSpPr>
        <p:spPr>
          <a:xfrm>
            <a:off x="6932295" y="4220850"/>
            <a:ext cx="411000" cy="373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g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285" name="Google Shape;1285;p69"/>
          <p:cNvSpPr/>
          <p:nvPr/>
        </p:nvSpPr>
        <p:spPr>
          <a:xfrm>
            <a:off x="7747221" y="4629861"/>
            <a:ext cx="411000" cy="373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f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286" name="Google Shape;1286;p69"/>
          <p:cNvSpPr/>
          <p:nvPr/>
        </p:nvSpPr>
        <p:spPr>
          <a:xfrm>
            <a:off x="8485370" y="4220850"/>
            <a:ext cx="411000" cy="373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287" name="Google Shape;1287;p69"/>
          <p:cNvSpPr/>
          <p:nvPr/>
        </p:nvSpPr>
        <p:spPr>
          <a:xfrm>
            <a:off x="6796888" y="3619087"/>
            <a:ext cx="411000" cy="373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h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288" name="Google Shape;1288;p69"/>
          <p:cNvSpPr/>
          <p:nvPr/>
        </p:nvSpPr>
        <p:spPr>
          <a:xfrm>
            <a:off x="8671884" y="3619087"/>
            <a:ext cx="411000" cy="373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d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cxnSp>
        <p:nvCxnSpPr>
          <p:cNvPr id="1289" name="Google Shape;1289;p69"/>
          <p:cNvCxnSpPr>
            <a:stCxn id="1282" idx="4"/>
            <a:endCxn id="1280" idx="0"/>
          </p:cNvCxnSpPr>
          <p:nvPr/>
        </p:nvCxnSpPr>
        <p:spPr>
          <a:xfrm>
            <a:off x="7939894" y="2999451"/>
            <a:ext cx="0" cy="4989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90" name="Google Shape;1290;p69"/>
          <p:cNvCxnSpPr>
            <a:stCxn id="1285" idx="0"/>
            <a:endCxn id="1280" idx="4"/>
          </p:cNvCxnSpPr>
          <p:nvPr/>
        </p:nvCxnSpPr>
        <p:spPr>
          <a:xfrm rot="10800000">
            <a:off x="7939821" y="4113261"/>
            <a:ext cx="12900" cy="5166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91" name="Google Shape;1291;p69"/>
          <p:cNvCxnSpPr>
            <a:stCxn id="1287" idx="6"/>
            <a:endCxn id="1280" idx="2"/>
          </p:cNvCxnSpPr>
          <p:nvPr/>
        </p:nvCxnSpPr>
        <p:spPr>
          <a:xfrm>
            <a:off x="7207888" y="3805837"/>
            <a:ext cx="4236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92" name="Google Shape;1292;p69"/>
          <p:cNvCxnSpPr>
            <a:stCxn id="1288" idx="2"/>
            <a:endCxn id="1280" idx="6"/>
          </p:cNvCxnSpPr>
          <p:nvPr/>
        </p:nvCxnSpPr>
        <p:spPr>
          <a:xfrm rot="10800000">
            <a:off x="8248284" y="3805837"/>
            <a:ext cx="4236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93" name="Google Shape;1293;p69"/>
          <p:cNvCxnSpPr>
            <a:stCxn id="1280" idx="1"/>
            <a:endCxn id="1281" idx="5"/>
          </p:cNvCxnSpPr>
          <p:nvPr/>
        </p:nvCxnSpPr>
        <p:spPr>
          <a:xfrm rot="10800000">
            <a:off x="7282987" y="3336172"/>
            <a:ext cx="438900" cy="2523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94" name="Google Shape;1294;p69"/>
          <p:cNvCxnSpPr>
            <a:stCxn id="1280" idx="7"/>
            <a:endCxn id="1283" idx="3"/>
          </p:cNvCxnSpPr>
          <p:nvPr/>
        </p:nvCxnSpPr>
        <p:spPr>
          <a:xfrm flipH="1" rot="10800000">
            <a:off x="8158030" y="3336172"/>
            <a:ext cx="387600" cy="2523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95" name="Google Shape;1295;p69"/>
          <p:cNvCxnSpPr>
            <a:stCxn id="1284" idx="7"/>
            <a:endCxn id="1280" idx="3"/>
          </p:cNvCxnSpPr>
          <p:nvPr/>
        </p:nvCxnSpPr>
        <p:spPr>
          <a:xfrm flipH="1" rot="10800000">
            <a:off x="7283105" y="4023248"/>
            <a:ext cx="438900" cy="2523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96" name="Google Shape;1296;p69"/>
          <p:cNvCxnSpPr>
            <a:stCxn id="1286" idx="1"/>
            <a:endCxn id="1280" idx="5"/>
          </p:cNvCxnSpPr>
          <p:nvPr/>
        </p:nvCxnSpPr>
        <p:spPr>
          <a:xfrm rot="10800000">
            <a:off x="8157960" y="4023248"/>
            <a:ext cx="387600" cy="2523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97" name="Google Shape;1297;p69"/>
          <p:cNvCxnSpPr>
            <a:stCxn id="1282" idx="2"/>
            <a:endCxn id="1281" idx="0"/>
          </p:cNvCxnSpPr>
          <p:nvPr/>
        </p:nvCxnSpPr>
        <p:spPr>
          <a:xfrm flipH="1">
            <a:off x="7137694" y="2812701"/>
            <a:ext cx="596700" cy="2046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98" name="Google Shape;1298;p69"/>
          <p:cNvCxnSpPr>
            <a:stCxn id="1281" idx="3"/>
            <a:endCxn id="1287" idx="0"/>
          </p:cNvCxnSpPr>
          <p:nvPr/>
        </p:nvCxnSpPr>
        <p:spPr>
          <a:xfrm>
            <a:off x="6992484" y="3336108"/>
            <a:ext cx="9900" cy="2829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99" name="Google Shape;1299;p69"/>
          <p:cNvCxnSpPr>
            <a:stCxn id="1282" idx="3"/>
            <a:endCxn id="1287" idx="7"/>
          </p:cNvCxnSpPr>
          <p:nvPr/>
        </p:nvCxnSpPr>
        <p:spPr>
          <a:xfrm flipH="1">
            <a:off x="7147783" y="2944753"/>
            <a:ext cx="646800" cy="7290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00" name="Google Shape;1300;p69"/>
          <p:cNvCxnSpPr>
            <a:stCxn id="1282" idx="3"/>
            <a:endCxn id="1284" idx="0"/>
          </p:cNvCxnSpPr>
          <p:nvPr/>
        </p:nvCxnSpPr>
        <p:spPr>
          <a:xfrm flipH="1">
            <a:off x="7137883" y="2944753"/>
            <a:ext cx="656700" cy="12762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01" name="Google Shape;1301;p69"/>
          <p:cNvCxnSpPr>
            <a:stCxn id="1287" idx="4"/>
            <a:endCxn id="1284" idx="0"/>
          </p:cNvCxnSpPr>
          <p:nvPr/>
        </p:nvCxnSpPr>
        <p:spPr>
          <a:xfrm>
            <a:off x="7002388" y="3992587"/>
            <a:ext cx="135300" cy="2283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02" name="Google Shape;1302;p69"/>
          <p:cNvCxnSpPr>
            <a:stCxn id="1281" idx="5"/>
            <a:endCxn id="1284" idx="7"/>
          </p:cNvCxnSpPr>
          <p:nvPr/>
        </p:nvCxnSpPr>
        <p:spPr>
          <a:xfrm>
            <a:off x="7283105" y="3336108"/>
            <a:ext cx="0" cy="9393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03" name="Google Shape;1303;p69"/>
          <p:cNvCxnSpPr>
            <a:stCxn id="1288" idx="3"/>
            <a:endCxn id="1284" idx="6"/>
          </p:cNvCxnSpPr>
          <p:nvPr/>
        </p:nvCxnSpPr>
        <p:spPr>
          <a:xfrm flipH="1">
            <a:off x="7343374" y="3937889"/>
            <a:ext cx="1388700" cy="4698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04" name="Google Shape;1304;p69"/>
          <p:cNvCxnSpPr>
            <a:stCxn id="1285" idx="2"/>
            <a:endCxn id="1284" idx="5"/>
          </p:cNvCxnSpPr>
          <p:nvPr/>
        </p:nvCxnSpPr>
        <p:spPr>
          <a:xfrm rot="10800000">
            <a:off x="7283121" y="4539711"/>
            <a:ext cx="464100" cy="2769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05" name="Google Shape;1305;p69"/>
          <p:cNvCxnSpPr>
            <a:stCxn id="1286" idx="3"/>
          </p:cNvCxnSpPr>
          <p:nvPr/>
        </p:nvCxnSpPr>
        <p:spPr>
          <a:xfrm flipH="1">
            <a:off x="8156760" y="4539653"/>
            <a:ext cx="388800" cy="2547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06" name="Google Shape;1306;p69"/>
          <p:cNvCxnSpPr>
            <a:stCxn id="1288" idx="4"/>
            <a:endCxn id="1286" idx="7"/>
          </p:cNvCxnSpPr>
          <p:nvPr/>
        </p:nvCxnSpPr>
        <p:spPr>
          <a:xfrm flipH="1">
            <a:off x="8836284" y="3992587"/>
            <a:ext cx="41100" cy="2829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0" name="Shape 1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1" name="Google Shape;1311;p70"/>
          <p:cNvSpPr txBox="1"/>
          <p:nvPr>
            <p:ph idx="1" type="body"/>
          </p:nvPr>
        </p:nvSpPr>
        <p:spPr>
          <a:xfrm>
            <a:off x="311700" y="1225225"/>
            <a:ext cx="8492400" cy="15708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Tell us the extent to which: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Your alters are </a:t>
            </a:r>
            <a:r>
              <a:rPr b="1" lang="en"/>
              <a:t>interconnected among themselves</a:t>
            </a:r>
            <a:r>
              <a:rPr lang="en"/>
              <a:t> (e.g., know one another)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Versus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Your alters are </a:t>
            </a:r>
            <a:r>
              <a:rPr b="1" lang="en"/>
              <a:t>not connected among themselves</a:t>
            </a:r>
            <a:r>
              <a:rPr lang="en"/>
              <a:t> (e.g., are strangers to one another)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Given by the </a:t>
            </a:r>
            <a:r>
              <a:rPr b="1" lang="en"/>
              <a:t>Clustering Coefficient (CC</a:t>
            </a:r>
            <a:r>
              <a:rPr b="1" baseline="-25000" lang="en"/>
              <a:t>i</a:t>
            </a:r>
            <a:r>
              <a:rPr b="1" lang="en"/>
              <a:t>)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Pieces of Information you need: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Number of alter-to-alter edges (m)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Number of alters (n)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Don’t care about the ego-to-alter links!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2" name="Google Shape;1312;p7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Ego networks: Clustering </a:t>
            </a:r>
            <a:endParaRPr/>
          </a:p>
        </p:txBody>
      </p:sp>
      <p:pic>
        <p:nvPicPr>
          <p:cNvPr descr="CC_{i}=\frac{2m}{n(n-1)}" id="1313" name="Google Shape;1313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70144" y="2874020"/>
            <a:ext cx="1878112" cy="649224"/>
          </a:xfrm>
          <a:prstGeom prst="rect">
            <a:avLst/>
          </a:prstGeom>
          <a:noFill/>
          <a:ln>
            <a:noFill/>
          </a:ln>
        </p:spPr>
      </p:pic>
      <p:sp>
        <p:nvSpPr>
          <p:cNvPr id="1314" name="Google Shape;1314;p70"/>
          <p:cNvSpPr/>
          <p:nvPr/>
        </p:nvSpPr>
        <p:spPr>
          <a:xfrm>
            <a:off x="7631558" y="3498451"/>
            <a:ext cx="616800" cy="6147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Ego</a:t>
            </a:r>
            <a:endParaRPr b="1" sz="17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315" name="Google Shape;1315;p70"/>
          <p:cNvSpPr/>
          <p:nvPr/>
        </p:nvSpPr>
        <p:spPr>
          <a:xfrm>
            <a:off x="6932295" y="3017305"/>
            <a:ext cx="411000" cy="373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a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316" name="Google Shape;1316;p70"/>
          <p:cNvSpPr/>
          <p:nvPr/>
        </p:nvSpPr>
        <p:spPr>
          <a:xfrm>
            <a:off x="7734394" y="2625951"/>
            <a:ext cx="411000" cy="373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b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317" name="Google Shape;1317;p70"/>
          <p:cNvSpPr/>
          <p:nvPr/>
        </p:nvSpPr>
        <p:spPr>
          <a:xfrm>
            <a:off x="8485370" y="3017305"/>
            <a:ext cx="411000" cy="373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c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318" name="Google Shape;1318;p70"/>
          <p:cNvSpPr/>
          <p:nvPr/>
        </p:nvSpPr>
        <p:spPr>
          <a:xfrm>
            <a:off x="6932295" y="4220850"/>
            <a:ext cx="411000" cy="373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g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319" name="Google Shape;1319;p70"/>
          <p:cNvSpPr/>
          <p:nvPr/>
        </p:nvSpPr>
        <p:spPr>
          <a:xfrm>
            <a:off x="7747221" y="4629861"/>
            <a:ext cx="411000" cy="373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f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320" name="Google Shape;1320;p70"/>
          <p:cNvSpPr/>
          <p:nvPr/>
        </p:nvSpPr>
        <p:spPr>
          <a:xfrm>
            <a:off x="8485370" y="4220850"/>
            <a:ext cx="411000" cy="373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321" name="Google Shape;1321;p70"/>
          <p:cNvSpPr/>
          <p:nvPr/>
        </p:nvSpPr>
        <p:spPr>
          <a:xfrm>
            <a:off x="6796888" y="3619087"/>
            <a:ext cx="411000" cy="373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h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322" name="Google Shape;1322;p70"/>
          <p:cNvSpPr/>
          <p:nvPr/>
        </p:nvSpPr>
        <p:spPr>
          <a:xfrm>
            <a:off x="8671884" y="3619087"/>
            <a:ext cx="411000" cy="373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d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cxnSp>
        <p:nvCxnSpPr>
          <p:cNvPr id="1323" name="Google Shape;1323;p70"/>
          <p:cNvCxnSpPr>
            <a:stCxn id="1316" idx="2"/>
            <a:endCxn id="1315" idx="0"/>
          </p:cNvCxnSpPr>
          <p:nvPr/>
        </p:nvCxnSpPr>
        <p:spPr>
          <a:xfrm flipH="1">
            <a:off x="7137694" y="2812701"/>
            <a:ext cx="596700" cy="2046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24" name="Google Shape;1324;p70"/>
          <p:cNvCxnSpPr>
            <a:stCxn id="1315" idx="3"/>
            <a:endCxn id="1321" idx="0"/>
          </p:cNvCxnSpPr>
          <p:nvPr/>
        </p:nvCxnSpPr>
        <p:spPr>
          <a:xfrm>
            <a:off x="6992484" y="3336108"/>
            <a:ext cx="9900" cy="2829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25" name="Google Shape;1325;p70"/>
          <p:cNvCxnSpPr>
            <a:stCxn id="1316" idx="3"/>
            <a:endCxn id="1321" idx="7"/>
          </p:cNvCxnSpPr>
          <p:nvPr/>
        </p:nvCxnSpPr>
        <p:spPr>
          <a:xfrm flipH="1">
            <a:off x="7147783" y="2944753"/>
            <a:ext cx="646800" cy="7290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26" name="Google Shape;1326;p70"/>
          <p:cNvCxnSpPr>
            <a:stCxn id="1316" idx="3"/>
            <a:endCxn id="1318" idx="0"/>
          </p:cNvCxnSpPr>
          <p:nvPr/>
        </p:nvCxnSpPr>
        <p:spPr>
          <a:xfrm flipH="1">
            <a:off x="7137883" y="2944753"/>
            <a:ext cx="656700" cy="12762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27" name="Google Shape;1327;p70"/>
          <p:cNvCxnSpPr>
            <a:stCxn id="1321" idx="4"/>
            <a:endCxn id="1318" idx="0"/>
          </p:cNvCxnSpPr>
          <p:nvPr/>
        </p:nvCxnSpPr>
        <p:spPr>
          <a:xfrm>
            <a:off x="7002388" y="3992587"/>
            <a:ext cx="135300" cy="2283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28" name="Google Shape;1328;p70"/>
          <p:cNvCxnSpPr>
            <a:stCxn id="1315" idx="5"/>
            <a:endCxn id="1318" idx="7"/>
          </p:cNvCxnSpPr>
          <p:nvPr/>
        </p:nvCxnSpPr>
        <p:spPr>
          <a:xfrm>
            <a:off x="7283105" y="3336108"/>
            <a:ext cx="0" cy="9393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29" name="Google Shape;1329;p70"/>
          <p:cNvCxnSpPr>
            <a:stCxn id="1322" idx="3"/>
            <a:endCxn id="1318" idx="6"/>
          </p:cNvCxnSpPr>
          <p:nvPr/>
        </p:nvCxnSpPr>
        <p:spPr>
          <a:xfrm flipH="1">
            <a:off x="7343374" y="3937889"/>
            <a:ext cx="1388700" cy="4698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30" name="Google Shape;1330;p70"/>
          <p:cNvCxnSpPr>
            <a:stCxn id="1319" idx="2"/>
            <a:endCxn id="1318" idx="5"/>
          </p:cNvCxnSpPr>
          <p:nvPr/>
        </p:nvCxnSpPr>
        <p:spPr>
          <a:xfrm rot="10800000">
            <a:off x="7283121" y="4539711"/>
            <a:ext cx="464100" cy="2769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31" name="Google Shape;1331;p70"/>
          <p:cNvCxnSpPr>
            <a:stCxn id="1320" idx="3"/>
          </p:cNvCxnSpPr>
          <p:nvPr/>
        </p:nvCxnSpPr>
        <p:spPr>
          <a:xfrm flipH="1">
            <a:off x="8156760" y="4539653"/>
            <a:ext cx="388800" cy="2547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32" name="Google Shape;1332;p70"/>
          <p:cNvCxnSpPr>
            <a:stCxn id="1322" idx="4"/>
            <a:endCxn id="1320" idx="7"/>
          </p:cNvCxnSpPr>
          <p:nvPr/>
        </p:nvCxnSpPr>
        <p:spPr>
          <a:xfrm flipH="1">
            <a:off x="8836284" y="3992587"/>
            <a:ext cx="41100" cy="2829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6" name="Shape 1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7" name="Google Shape;1337;p71"/>
          <p:cNvSpPr txBox="1"/>
          <p:nvPr>
            <p:ph idx="1" type="body"/>
          </p:nvPr>
        </p:nvSpPr>
        <p:spPr>
          <a:xfrm>
            <a:off x="311700" y="1225225"/>
            <a:ext cx="8492400" cy="15708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Tell us the extent to which: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Your alters are </a:t>
            </a:r>
            <a:r>
              <a:rPr b="1" lang="en"/>
              <a:t>interconnected among themselves</a:t>
            </a:r>
            <a:r>
              <a:rPr lang="en"/>
              <a:t> (e.g., know one another)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Versus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Your alters are </a:t>
            </a:r>
            <a:r>
              <a:rPr b="1" lang="en"/>
              <a:t>not connected among themselves</a:t>
            </a:r>
            <a:r>
              <a:rPr lang="en"/>
              <a:t> (e.g., are strangers to one another)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Given by the </a:t>
            </a:r>
            <a:r>
              <a:rPr b="1" lang="en"/>
              <a:t>Clustering Coefficient (CC</a:t>
            </a:r>
            <a:r>
              <a:rPr b="1" baseline="-25000" lang="en"/>
              <a:t>i</a:t>
            </a:r>
            <a:r>
              <a:rPr b="1" lang="en"/>
              <a:t>)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Pieces of Information you need: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Number of alter-to-alter edges (m)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Number of alters (n)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Don’t care about the ego-to-alter links!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 = 10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 = 8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8" name="Google Shape;1338;p7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Ego networks: Clustering </a:t>
            </a:r>
            <a:endParaRPr/>
          </a:p>
        </p:txBody>
      </p:sp>
      <p:pic>
        <p:nvPicPr>
          <p:cNvPr descr="CC_{i}=\frac{2m}{n(n-1)}" id="1339" name="Google Shape;1339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70144" y="2874020"/>
            <a:ext cx="1878112" cy="649224"/>
          </a:xfrm>
          <a:prstGeom prst="rect">
            <a:avLst/>
          </a:prstGeom>
          <a:noFill/>
          <a:ln>
            <a:noFill/>
          </a:ln>
        </p:spPr>
      </p:pic>
      <p:sp>
        <p:nvSpPr>
          <p:cNvPr id="1340" name="Google Shape;1340;p71"/>
          <p:cNvSpPr/>
          <p:nvPr/>
        </p:nvSpPr>
        <p:spPr>
          <a:xfrm>
            <a:off x="7631558" y="3498451"/>
            <a:ext cx="616800" cy="6147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Ego</a:t>
            </a:r>
            <a:endParaRPr b="1" sz="17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341" name="Google Shape;1341;p71"/>
          <p:cNvSpPr/>
          <p:nvPr/>
        </p:nvSpPr>
        <p:spPr>
          <a:xfrm>
            <a:off x="6932295" y="3017305"/>
            <a:ext cx="411000" cy="373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a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342" name="Google Shape;1342;p71"/>
          <p:cNvSpPr/>
          <p:nvPr/>
        </p:nvSpPr>
        <p:spPr>
          <a:xfrm>
            <a:off x="7734394" y="2625951"/>
            <a:ext cx="411000" cy="373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b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343" name="Google Shape;1343;p71"/>
          <p:cNvSpPr/>
          <p:nvPr/>
        </p:nvSpPr>
        <p:spPr>
          <a:xfrm>
            <a:off x="8485370" y="3017305"/>
            <a:ext cx="411000" cy="373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c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344" name="Google Shape;1344;p71"/>
          <p:cNvSpPr/>
          <p:nvPr/>
        </p:nvSpPr>
        <p:spPr>
          <a:xfrm>
            <a:off x="6932295" y="4220850"/>
            <a:ext cx="411000" cy="373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g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345" name="Google Shape;1345;p71"/>
          <p:cNvSpPr/>
          <p:nvPr/>
        </p:nvSpPr>
        <p:spPr>
          <a:xfrm>
            <a:off x="7747221" y="4629861"/>
            <a:ext cx="411000" cy="373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f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346" name="Google Shape;1346;p71"/>
          <p:cNvSpPr/>
          <p:nvPr/>
        </p:nvSpPr>
        <p:spPr>
          <a:xfrm>
            <a:off x="8485370" y="4220850"/>
            <a:ext cx="411000" cy="373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347" name="Google Shape;1347;p71"/>
          <p:cNvSpPr/>
          <p:nvPr/>
        </p:nvSpPr>
        <p:spPr>
          <a:xfrm>
            <a:off x="6796888" y="3619087"/>
            <a:ext cx="411000" cy="373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h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348" name="Google Shape;1348;p71"/>
          <p:cNvSpPr/>
          <p:nvPr/>
        </p:nvSpPr>
        <p:spPr>
          <a:xfrm>
            <a:off x="8671884" y="3619087"/>
            <a:ext cx="411000" cy="373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d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cxnSp>
        <p:nvCxnSpPr>
          <p:cNvPr id="1349" name="Google Shape;1349;p71"/>
          <p:cNvCxnSpPr>
            <a:stCxn id="1342" idx="2"/>
            <a:endCxn id="1341" idx="0"/>
          </p:cNvCxnSpPr>
          <p:nvPr/>
        </p:nvCxnSpPr>
        <p:spPr>
          <a:xfrm flipH="1">
            <a:off x="7137694" y="2812701"/>
            <a:ext cx="596700" cy="2046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50" name="Google Shape;1350;p71"/>
          <p:cNvCxnSpPr>
            <a:stCxn id="1341" idx="3"/>
            <a:endCxn id="1347" idx="0"/>
          </p:cNvCxnSpPr>
          <p:nvPr/>
        </p:nvCxnSpPr>
        <p:spPr>
          <a:xfrm>
            <a:off x="6992484" y="3336108"/>
            <a:ext cx="9900" cy="2829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51" name="Google Shape;1351;p71"/>
          <p:cNvCxnSpPr>
            <a:stCxn id="1342" idx="3"/>
            <a:endCxn id="1347" idx="7"/>
          </p:cNvCxnSpPr>
          <p:nvPr/>
        </p:nvCxnSpPr>
        <p:spPr>
          <a:xfrm flipH="1">
            <a:off x="7147783" y="2944753"/>
            <a:ext cx="646800" cy="7290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52" name="Google Shape;1352;p71"/>
          <p:cNvCxnSpPr>
            <a:stCxn id="1342" idx="3"/>
            <a:endCxn id="1344" idx="0"/>
          </p:cNvCxnSpPr>
          <p:nvPr/>
        </p:nvCxnSpPr>
        <p:spPr>
          <a:xfrm flipH="1">
            <a:off x="7137883" y="2944753"/>
            <a:ext cx="656700" cy="12762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53" name="Google Shape;1353;p71"/>
          <p:cNvCxnSpPr>
            <a:stCxn id="1347" idx="4"/>
            <a:endCxn id="1344" idx="0"/>
          </p:cNvCxnSpPr>
          <p:nvPr/>
        </p:nvCxnSpPr>
        <p:spPr>
          <a:xfrm>
            <a:off x="7002388" y="3992587"/>
            <a:ext cx="135300" cy="2283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54" name="Google Shape;1354;p71"/>
          <p:cNvCxnSpPr>
            <a:stCxn id="1341" idx="5"/>
            <a:endCxn id="1344" idx="7"/>
          </p:cNvCxnSpPr>
          <p:nvPr/>
        </p:nvCxnSpPr>
        <p:spPr>
          <a:xfrm>
            <a:off x="7283105" y="3336108"/>
            <a:ext cx="0" cy="9393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55" name="Google Shape;1355;p71"/>
          <p:cNvCxnSpPr>
            <a:stCxn id="1348" idx="3"/>
            <a:endCxn id="1344" idx="6"/>
          </p:cNvCxnSpPr>
          <p:nvPr/>
        </p:nvCxnSpPr>
        <p:spPr>
          <a:xfrm flipH="1">
            <a:off x="7343374" y="3937889"/>
            <a:ext cx="1388700" cy="4698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56" name="Google Shape;1356;p71"/>
          <p:cNvCxnSpPr>
            <a:stCxn id="1345" idx="2"/>
            <a:endCxn id="1344" idx="5"/>
          </p:cNvCxnSpPr>
          <p:nvPr/>
        </p:nvCxnSpPr>
        <p:spPr>
          <a:xfrm rot="10800000">
            <a:off x="7283121" y="4539711"/>
            <a:ext cx="464100" cy="2769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57" name="Google Shape;1357;p71"/>
          <p:cNvCxnSpPr>
            <a:stCxn id="1346" idx="3"/>
          </p:cNvCxnSpPr>
          <p:nvPr/>
        </p:nvCxnSpPr>
        <p:spPr>
          <a:xfrm flipH="1">
            <a:off x="8156760" y="4539653"/>
            <a:ext cx="388800" cy="2547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58" name="Google Shape;1358;p71"/>
          <p:cNvCxnSpPr>
            <a:stCxn id="1348" idx="4"/>
            <a:endCxn id="1346" idx="7"/>
          </p:cNvCxnSpPr>
          <p:nvPr/>
        </p:nvCxnSpPr>
        <p:spPr>
          <a:xfrm flipH="1">
            <a:off x="8836284" y="3992587"/>
            <a:ext cx="41100" cy="2829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CC_i=\frac{2m}{n(n-1)}=\frac{2(10)}{8(8-1)}=\frac{20}{8(7)}=\frac{20}{56}=0.38" id="1359" name="Google Shape;1359;p7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76894" y="4346951"/>
            <a:ext cx="5696713" cy="6400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3" name="Shape 1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4" name="Google Shape;1364;p72"/>
          <p:cNvSpPr txBox="1"/>
          <p:nvPr>
            <p:ph idx="1" type="body"/>
          </p:nvPr>
        </p:nvSpPr>
        <p:spPr>
          <a:xfrm>
            <a:off x="311700" y="1225225"/>
            <a:ext cx="8492400" cy="15708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Tell us the extent to which: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Your alters are </a:t>
            </a:r>
            <a:r>
              <a:rPr b="1" lang="en"/>
              <a:t>interconnected among themselves</a:t>
            </a:r>
            <a:r>
              <a:rPr lang="en"/>
              <a:t> (e.g., know one another)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Versus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Your alters are </a:t>
            </a:r>
            <a:r>
              <a:rPr b="1" lang="en"/>
              <a:t>not connected among themselves</a:t>
            </a:r>
            <a:r>
              <a:rPr lang="en"/>
              <a:t> (e.g., are strangers to one another)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Given by the </a:t>
            </a:r>
            <a:r>
              <a:rPr b="1" lang="en"/>
              <a:t>Clustering Coefficient (CC</a:t>
            </a:r>
            <a:r>
              <a:rPr b="1" baseline="-25000" lang="en"/>
              <a:t>i</a:t>
            </a:r>
            <a:r>
              <a:rPr b="1" lang="en"/>
              <a:t>)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Interpretation: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More</a:t>
            </a:r>
            <a:r>
              <a:rPr lang="en"/>
              <a:t> alter-alter connections </a:t>
            </a:r>
            <a:r>
              <a:rPr b="1" lang="en"/>
              <a:t>increase</a:t>
            </a:r>
            <a:r>
              <a:rPr lang="en"/>
              <a:t> ego’s clustering coefficient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Less</a:t>
            </a:r>
            <a:r>
              <a:rPr lang="en"/>
              <a:t> alter-alter connections </a:t>
            </a:r>
            <a:r>
              <a:rPr b="1" lang="en"/>
              <a:t>decrease</a:t>
            </a:r>
            <a:r>
              <a:rPr lang="en"/>
              <a:t> it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Maximum of 1.0 and minimum of 0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 = 16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 = 8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5" name="Google Shape;1365;p7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Ego networks: Clustering </a:t>
            </a:r>
            <a:endParaRPr/>
          </a:p>
        </p:txBody>
      </p:sp>
      <p:sp>
        <p:nvSpPr>
          <p:cNvPr id="1366" name="Google Shape;1366;p72"/>
          <p:cNvSpPr/>
          <p:nvPr/>
        </p:nvSpPr>
        <p:spPr>
          <a:xfrm>
            <a:off x="7631558" y="3498451"/>
            <a:ext cx="616800" cy="6147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Ego</a:t>
            </a:r>
            <a:endParaRPr b="1" sz="17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367" name="Google Shape;1367;p72"/>
          <p:cNvSpPr/>
          <p:nvPr/>
        </p:nvSpPr>
        <p:spPr>
          <a:xfrm>
            <a:off x="6932295" y="3017305"/>
            <a:ext cx="411000" cy="373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a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368" name="Google Shape;1368;p72"/>
          <p:cNvSpPr/>
          <p:nvPr/>
        </p:nvSpPr>
        <p:spPr>
          <a:xfrm>
            <a:off x="7734394" y="2625951"/>
            <a:ext cx="411000" cy="373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b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369" name="Google Shape;1369;p72"/>
          <p:cNvSpPr/>
          <p:nvPr/>
        </p:nvSpPr>
        <p:spPr>
          <a:xfrm>
            <a:off x="8485370" y="3017305"/>
            <a:ext cx="411000" cy="373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c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370" name="Google Shape;1370;p72"/>
          <p:cNvSpPr/>
          <p:nvPr/>
        </p:nvSpPr>
        <p:spPr>
          <a:xfrm>
            <a:off x="6932295" y="4220850"/>
            <a:ext cx="411000" cy="373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g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371" name="Google Shape;1371;p72"/>
          <p:cNvSpPr/>
          <p:nvPr/>
        </p:nvSpPr>
        <p:spPr>
          <a:xfrm>
            <a:off x="7747221" y="4629861"/>
            <a:ext cx="411000" cy="373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f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372" name="Google Shape;1372;p72"/>
          <p:cNvSpPr/>
          <p:nvPr/>
        </p:nvSpPr>
        <p:spPr>
          <a:xfrm>
            <a:off x="8485370" y="4220850"/>
            <a:ext cx="411000" cy="373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373" name="Google Shape;1373;p72"/>
          <p:cNvSpPr/>
          <p:nvPr/>
        </p:nvSpPr>
        <p:spPr>
          <a:xfrm>
            <a:off x="6796888" y="3619087"/>
            <a:ext cx="411000" cy="373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h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374" name="Google Shape;1374;p72"/>
          <p:cNvSpPr/>
          <p:nvPr/>
        </p:nvSpPr>
        <p:spPr>
          <a:xfrm>
            <a:off x="8671884" y="3619087"/>
            <a:ext cx="411000" cy="373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d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cxnSp>
        <p:nvCxnSpPr>
          <p:cNvPr id="1375" name="Google Shape;1375;p72"/>
          <p:cNvCxnSpPr>
            <a:stCxn id="1368" idx="2"/>
            <a:endCxn id="1367" idx="0"/>
          </p:cNvCxnSpPr>
          <p:nvPr/>
        </p:nvCxnSpPr>
        <p:spPr>
          <a:xfrm flipH="1">
            <a:off x="7137694" y="2812701"/>
            <a:ext cx="596700" cy="2046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76" name="Google Shape;1376;p72"/>
          <p:cNvCxnSpPr>
            <a:stCxn id="1367" idx="3"/>
            <a:endCxn id="1373" idx="0"/>
          </p:cNvCxnSpPr>
          <p:nvPr/>
        </p:nvCxnSpPr>
        <p:spPr>
          <a:xfrm>
            <a:off x="6992484" y="3336108"/>
            <a:ext cx="9900" cy="2829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77" name="Google Shape;1377;p72"/>
          <p:cNvCxnSpPr>
            <a:stCxn id="1368" idx="3"/>
            <a:endCxn id="1373" idx="7"/>
          </p:cNvCxnSpPr>
          <p:nvPr/>
        </p:nvCxnSpPr>
        <p:spPr>
          <a:xfrm flipH="1">
            <a:off x="7147783" y="2944753"/>
            <a:ext cx="646800" cy="7290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78" name="Google Shape;1378;p72"/>
          <p:cNvCxnSpPr>
            <a:stCxn id="1368" idx="3"/>
            <a:endCxn id="1370" idx="0"/>
          </p:cNvCxnSpPr>
          <p:nvPr/>
        </p:nvCxnSpPr>
        <p:spPr>
          <a:xfrm flipH="1">
            <a:off x="7137883" y="2944753"/>
            <a:ext cx="656700" cy="12762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79" name="Google Shape;1379;p72"/>
          <p:cNvCxnSpPr>
            <a:stCxn id="1373" idx="4"/>
            <a:endCxn id="1370" idx="0"/>
          </p:cNvCxnSpPr>
          <p:nvPr/>
        </p:nvCxnSpPr>
        <p:spPr>
          <a:xfrm>
            <a:off x="7002388" y="3992587"/>
            <a:ext cx="135300" cy="2283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80" name="Google Shape;1380;p72"/>
          <p:cNvCxnSpPr>
            <a:stCxn id="1367" idx="5"/>
            <a:endCxn id="1370" idx="7"/>
          </p:cNvCxnSpPr>
          <p:nvPr/>
        </p:nvCxnSpPr>
        <p:spPr>
          <a:xfrm>
            <a:off x="7283105" y="3336108"/>
            <a:ext cx="0" cy="9393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81" name="Google Shape;1381;p72"/>
          <p:cNvCxnSpPr>
            <a:stCxn id="1374" idx="3"/>
            <a:endCxn id="1370" idx="6"/>
          </p:cNvCxnSpPr>
          <p:nvPr/>
        </p:nvCxnSpPr>
        <p:spPr>
          <a:xfrm flipH="1">
            <a:off x="7343374" y="3937889"/>
            <a:ext cx="1388700" cy="4698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82" name="Google Shape;1382;p72"/>
          <p:cNvCxnSpPr>
            <a:stCxn id="1371" idx="2"/>
            <a:endCxn id="1370" idx="5"/>
          </p:cNvCxnSpPr>
          <p:nvPr/>
        </p:nvCxnSpPr>
        <p:spPr>
          <a:xfrm rot="10800000">
            <a:off x="7283121" y="4539711"/>
            <a:ext cx="464100" cy="2769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83" name="Google Shape;1383;p72"/>
          <p:cNvCxnSpPr>
            <a:stCxn id="1372" idx="3"/>
          </p:cNvCxnSpPr>
          <p:nvPr/>
        </p:nvCxnSpPr>
        <p:spPr>
          <a:xfrm flipH="1">
            <a:off x="8156760" y="4539653"/>
            <a:ext cx="388800" cy="2547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84" name="Google Shape;1384;p72"/>
          <p:cNvCxnSpPr>
            <a:stCxn id="1374" idx="4"/>
            <a:endCxn id="1372" idx="7"/>
          </p:cNvCxnSpPr>
          <p:nvPr/>
        </p:nvCxnSpPr>
        <p:spPr>
          <a:xfrm flipH="1">
            <a:off x="8836284" y="3992587"/>
            <a:ext cx="41100" cy="2829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CC_i=\frac{2m}{n(n-1)}=\frac{2(16)}{8(8-1)}=\frac{32}{8(7)}=\frac{32}{56}=0.57" id="1385" name="Google Shape;1385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13275" y="4346951"/>
            <a:ext cx="5623952" cy="64008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86" name="Google Shape;1386;p72"/>
          <p:cNvCxnSpPr>
            <a:stCxn id="1368" idx="6"/>
            <a:endCxn id="1369" idx="1"/>
          </p:cNvCxnSpPr>
          <p:nvPr/>
        </p:nvCxnSpPr>
        <p:spPr>
          <a:xfrm>
            <a:off x="8145394" y="2812701"/>
            <a:ext cx="400200" cy="2592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87" name="Google Shape;1387;p72"/>
          <p:cNvCxnSpPr>
            <a:stCxn id="1369" idx="4"/>
            <a:endCxn id="1374" idx="1"/>
          </p:cNvCxnSpPr>
          <p:nvPr/>
        </p:nvCxnSpPr>
        <p:spPr>
          <a:xfrm>
            <a:off x="8690870" y="3390805"/>
            <a:ext cx="41100" cy="2829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88" name="Google Shape;1388;p72"/>
          <p:cNvCxnSpPr>
            <a:stCxn id="1368" idx="5"/>
            <a:endCxn id="1374" idx="3"/>
          </p:cNvCxnSpPr>
          <p:nvPr/>
        </p:nvCxnSpPr>
        <p:spPr>
          <a:xfrm>
            <a:off x="8085204" y="2944753"/>
            <a:ext cx="646800" cy="9930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89" name="Google Shape;1389;p72"/>
          <p:cNvCxnSpPr>
            <a:stCxn id="1372" idx="2"/>
            <a:endCxn id="1370" idx="6"/>
          </p:cNvCxnSpPr>
          <p:nvPr/>
        </p:nvCxnSpPr>
        <p:spPr>
          <a:xfrm rot="10800000">
            <a:off x="7343270" y="4407600"/>
            <a:ext cx="1142100" cy="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90" name="Google Shape;1390;p72"/>
          <p:cNvCxnSpPr>
            <a:stCxn id="1374" idx="2"/>
            <a:endCxn id="1371" idx="7"/>
          </p:cNvCxnSpPr>
          <p:nvPr/>
        </p:nvCxnSpPr>
        <p:spPr>
          <a:xfrm flipH="1">
            <a:off x="8097984" y="3805837"/>
            <a:ext cx="573900" cy="8787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91" name="Google Shape;1391;p72"/>
          <p:cNvCxnSpPr>
            <a:stCxn id="1368" idx="5"/>
            <a:endCxn id="1372" idx="1"/>
          </p:cNvCxnSpPr>
          <p:nvPr/>
        </p:nvCxnSpPr>
        <p:spPr>
          <a:xfrm>
            <a:off x="8085204" y="2944753"/>
            <a:ext cx="460500" cy="13308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92" name="Google Shape;1392;p72"/>
          <p:cNvSpPr/>
          <p:nvPr/>
        </p:nvSpPr>
        <p:spPr>
          <a:xfrm>
            <a:off x="887675" y="3027875"/>
            <a:ext cx="6007500" cy="2742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6" name="Shape 1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7" name="Google Shape;1397;p73"/>
          <p:cNvSpPr txBox="1"/>
          <p:nvPr>
            <p:ph idx="1" type="body"/>
          </p:nvPr>
        </p:nvSpPr>
        <p:spPr>
          <a:xfrm>
            <a:off x="311700" y="1225225"/>
            <a:ext cx="8492400" cy="15708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Tell us the extent to which: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Your alters are </a:t>
            </a:r>
            <a:r>
              <a:rPr b="1" lang="en"/>
              <a:t>interconnected among themselves</a:t>
            </a:r>
            <a:r>
              <a:rPr lang="en"/>
              <a:t> (e.g., know one another)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Versus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Your alters are </a:t>
            </a:r>
            <a:r>
              <a:rPr b="1" lang="en"/>
              <a:t>not connected among themselves</a:t>
            </a:r>
            <a:r>
              <a:rPr lang="en"/>
              <a:t> (e.g., are strangers to one another)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Given by the </a:t>
            </a:r>
            <a:r>
              <a:rPr b="1" lang="en"/>
              <a:t>Clustering Coefficient (CC</a:t>
            </a:r>
            <a:r>
              <a:rPr b="1" baseline="-25000" lang="en"/>
              <a:t>i</a:t>
            </a:r>
            <a:r>
              <a:rPr b="1" lang="en"/>
              <a:t>)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Interpretation: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More</a:t>
            </a:r>
            <a:r>
              <a:rPr lang="en"/>
              <a:t> alter-alter connections </a:t>
            </a:r>
            <a:r>
              <a:rPr b="1" lang="en"/>
              <a:t>increase</a:t>
            </a:r>
            <a:r>
              <a:rPr lang="en"/>
              <a:t> ego’s clustering coefficient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Less</a:t>
            </a:r>
            <a:r>
              <a:rPr lang="en"/>
              <a:t> alter-alter connections </a:t>
            </a:r>
            <a:r>
              <a:rPr b="1" lang="en"/>
              <a:t>decrease</a:t>
            </a:r>
            <a:r>
              <a:rPr lang="en"/>
              <a:t> it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Maximum of 1.0 and minimum of 0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 = 7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 = 8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8" name="Google Shape;1398;p7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Ego networks: Clustering </a:t>
            </a:r>
            <a:endParaRPr/>
          </a:p>
        </p:txBody>
      </p:sp>
      <p:sp>
        <p:nvSpPr>
          <p:cNvPr id="1399" name="Google Shape;1399;p73"/>
          <p:cNvSpPr/>
          <p:nvPr/>
        </p:nvSpPr>
        <p:spPr>
          <a:xfrm>
            <a:off x="7631558" y="3498451"/>
            <a:ext cx="616800" cy="6147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Ego</a:t>
            </a:r>
            <a:endParaRPr b="1" sz="17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400" name="Google Shape;1400;p73"/>
          <p:cNvSpPr/>
          <p:nvPr/>
        </p:nvSpPr>
        <p:spPr>
          <a:xfrm>
            <a:off x="6932295" y="3017305"/>
            <a:ext cx="411000" cy="373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a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401" name="Google Shape;1401;p73"/>
          <p:cNvSpPr/>
          <p:nvPr/>
        </p:nvSpPr>
        <p:spPr>
          <a:xfrm>
            <a:off x="7734394" y="2625951"/>
            <a:ext cx="411000" cy="373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b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402" name="Google Shape;1402;p73"/>
          <p:cNvSpPr/>
          <p:nvPr/>
        </p:nvSpPr>
        <p:spPr>
          <a:xfrm>
            <a:off x="8485370" y="3017305"/>
            <a:ext cx="411000" cy="373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c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403" name="Google Shape;1403;p73"/>
          <p:cNvSpPr/>
          <p:nvPr/>
        </p:nvSpPr>
        <p:spPr>
          <a:xfrm>
            <a:off x="6932295" y="4220850"/>
            <a:ext cx="411000" cy="373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g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404" name="Google Shape;1404;p73"/>
          <p:cNvSpPr/>
          <p:nvPr/>
        </p:nvSpPr>
        <p:spPr>
          <a:xfrm>
            <a:off x="7747221" y="4629861"/>
            <a:ext cx="411000" cy="373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f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405" name="Google Shape;1405;p73"/>
          <p:cNvSpPr/>
          <p:nvPr/>
        </p:nvSpPr>
        <p:spPr>
          <a:xfrm>
            <a:off x="8485370" y="4220850"/>
            <a:ext cx="411000" cy="373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406" name="Google Shape;1406;p73"/>
          <p:cNvSpPr/>
          <p:nvPr/>
        </p:nvSpPr>
        <p:spPr>
          <a:xfrm>
            <a:off x="6796888" y="3619087"/>
            <a:ext cx="411000" cy="373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h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407" name="Google Shape;1407;p73"/>
          <p:cNvSpPr/>
          <p:nvPr/>
        </p:nvSpPr>
        <p:spPr>
          <a:xfrm>
            <a:off x="8671884" y="3619087"/>
            <a:ext cx="411000" cy="373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d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cxnSp>
        <p:nvCxnSpPr>
          <p:cNvPr id="1408" name="Google Shape;1408;p73"/>
          <p:cNvCxnSpPr>
            <a:stCxn id="1401" idx="3"/>
            <a:endCxn id="1406" idx="7"/>
          </p:cNvCxnSpPr>
          <p:nvPr/>
        </p:nvCxnSpPr>
        <p:spPr>
          <a:xfrm flipH="1">
            <a:off x="7147783" y="2944753"/>
            <a:ext cx="646800" cy="7290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09" name="Google Shape;1409;p73"/>
          <p:cNvCxnSpPr>
            <a:stCxn id="1406" idx="4"/>
            <a:endCxn id="1403" idx="0"/>
          </p:cNvCxnSpPr>
          <p:nvPr/>
        </p:nvCxnSpPr>
        <p:spPr>
          <a:xfrm>
            <a:off x="7002388" y="3992587"/>
            <a:ext cx="135300" cy="2283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10" name="Google Shape;1410;p73"/>
          <p:cNvCxnSpPr>
            <a:stCxn id="1400" idx="5"/>
            <a:endCxn id="1403" idx="7"/>
          </p:cNvCxnSpPr>
          <p:nvPr/>
        </p:nvCxnSpPr>
        <p:spPr>
          <a:xfrm>
            <a:off x="7283105" y="3336108"/>
            <a:ext cx="0" cy="9393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11" name="Google Shape;1411;p73"/>
          <p:cNvCxnSpPr>
            <a:stCxn id="1404" idx="2"/>
            <a:endCxn id="1403" idx="5"/>
          </p:cNvCxnSpPr>
          <p:nvPr/>
        </p:nvCxnSpPr>
        <p:spPr>
          <a:xfrm rot="10800000">
            <a:off x="7283121" y="4539711"/>
            <a:ext cx="464100" cy="2769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12" name="Google Shape;1412;p73"/>
          <p:cNvCxnSpPr>
            <a:stCxn id="1407" idx="4"/>
            <a:endCxn id="1405" idx="7"/>
          </p:cNvCxnSpPr>
          <p:nvPr/>
        </p:nvCxnSpPr>
        <p:spPr>
          <a:xfrm flipH="1">
            <a:off x="8836284" y="3992587"/>
            <a:ext cx="41100" cy="2829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CC_i=\frac{2m}{n(n-1)}=\frac{2(7)}{8(8-1)}=\frac{14}{8(7)}=\frac{14}{56}=0.25" id="1413" name="Google Shape;1413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5815" y="4353459"/>
            <a:ext cx="5498870" cy="62706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14" name="Google Shape;1414;p73"/>
          <p:cNvCxnSpPr>
            <a:stCxn id="1402" idx="4"/>
            <a:endCxn id="1407" idx="1"/>
          </p:cNvCxnSpPr>
          <p:nvPr/>
        </p:nvCxnSpPr>
        <p:spPr>
          <a:xfrm>
            <a:off x="8690870" y="3390805"/>
            <a:ext cx="41100" cy="2829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15" name="Google Shape;1415;p73"/>
          <p:cNvCxnSpPr>
            <a:stCxn id="1401" idx="5"/>
            <a:endCxn id="1407" idx="3"/>
          </p:cNvCxnSpPr>
          <p:nvPr/>
        </p:nvCxnSpPr>
        <p:spPr>
          <a:xfrm>
            <a:off x="8085204" y="2944753"/>
            <a:ext cx="646800" cy="9930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16" name="Google Shape;1416;p73"/>
          <p:cNvSpPr/>
          <p:nvPr/>
        </p:nvSpPr>
        <p:spPr>
          <a:xfrm>
            <a:off x="887675" y="3300984"/>
            <a:ext cx="6007500" cy="2742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0" name="Shape 1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1" name="Google Shape;1421;p74"/>
          <p:cNvSpPr txBox="1"/>
          <p:nvPr>
            <p:ph idx="1" type="body"/>
          </p:nvPr>
        </p:nvSpPr>
        <p:spPr>
          <a:xfrm>
            <a:off x="310896" y="1225296"/>
            <a:ext cx="8492400" cy="15708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Tell us the extent to which: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Your alters are </a:t>
            </a:r>
            <a:r>
              <a:rPr b="1" lang="en"/>
              <a:t>interconnected among themselves</a:t>
            </a:r>
            <a:r>
              <a:rPr lang="en"/>
              <a:t> (e.g., know one another)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Versus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Your alters are </a:t>
            </a:r>
            <a:r>
              <a:rPr b="1" lang="en"/>
              <a:t>not connected among themselves</a:t>
            </a:r>
            <a:r>
              <a:rPr lang="en"/>
              <a:t> (e.g., are strangers to one another)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Given by the </a:t>
            </a:r>
            <a:r>
              <a:rPr b="1" lang="en"/>
              <a:t>Clustering Coefficient (CC</a:t>
            </a:r>
            <a:r>
              <a:rPr b="1" baseline="-25000" lang="en"/>
              <a:t>i</a:t>
            </a:r>
            <a:r>
              <a:rPr b="1" lang="en"/>
              <a:t>)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Interpretation: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More</a:t>
            </a:r>
            <a:r>
              <a:rPr lang="en"/>
              <a:t> alter-alter connections </a:t>
            </a:r>
            <a:r>
              <a:rPr b="1" lang="en"/>
              <a:t>increase</a:t>
            </a:r>
            <a:r>
              <a:rPr lang="en"/>
              <a:t> ego’s clustering coefficient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Less</a:t>
            </a:r>
            <a:r>
              <a:rPr lang="en"/>
              <a:t> alter-alter connections </a:t>
            </a:r>
            <a:r>
              <a:rPr b="1" lang="en"/>
              <a:t>decrease</a:t>
            </a:r>
            <a:r>
              <a:rPr lang="en"/>
              <a:t> it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Maximum of 1.0</a:t>
            </a:r>
            <a:r>
              <a:rPr lang="en"/>
              <a:t> (</a:t>
            </a:r>
            <a:r>
              <a:rPr lang="en"/>
              <a:t>Every one</a:t>
            </a:r>
            <a:r>
              <a:rPr lang="en"/>
              <a:t> of your friends know one another)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 = 28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 = 8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2" name="Google Shape;1422;p74"/>
          <p:cNvSpPr/>
          <p:nvPr/>
        </p:nvSpPr>
        <p:spPr>
          <a:xfrm>
            <a:off x="887675" y="3575304"/>
            <a:ext cx="5852100" cy="2742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3" name="Google Shape;1423;p7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Ego networks: Clustering </a:t>
            </a:r>
            <a:endParaRPr/>
          </a:p>
        </p:txBody>
      </p:sp>
      <p:sp>
        <p:nvSpPr>
          <p:cNvPr id="1424" name="Google Shape;1424;p74"/>
          <p:cNvSpPr/>
          <p:nvPr/>
        </p:nvSpPr>
        <p:spPr>
          <a:xfrm>
            <a:off x="6932295" y="3017305"/>
            <a:ext cx="411000" cy="373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a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425" name="Google Shape;1425;p74"/>
          <p:cNvSpPr/>
          <p:nvPr/>
        </p:nvSpPr>
        <p:spPr>
          <a:xfrm>
            <a:off x="7734394" y="2625951"/>
            <a:ext cx="411000" cy="373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b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426" name="Google Shape;1426;p74"/>
          <p:cNvSpPr/>
          <p:nvPr/>
        </p:nvSpPr>
        <p:spPr>
          <a:xfrm>
            <a:off x="8485370" y="3017305"/>
            <a:ext cx="411000" cy="373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c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427" name="Google Shape;1427;p74"/>
          <p:cNvSpPr/>
          <p:nvPr/>
        </p:nvSpPr>
        <p:spPr>
          <a:xfrm>
            <a:off x="6932295" y="4220850"/>
            <a:ext cx="411000" cy="373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g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428" name="Google Shape;1428;p74"/>
          <p:cNvSpPr/>
          <p:nvPr/>
        </p:nvSpPr>
        <p:spPr>
          <a:xfrm>
            <a:off x="7747221" y="4629861"/>
            <a:ext cx="411000" cy="373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f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429" name="Google Shape;1429;p74"/>
          <p:cNvSpPr/>
          <p:nvPr/>
        </p:nvSpPr>
        <p:spPr>
          <a:xfrm>
            <a:off x="8485370" y="4220850"/>
            <a:ext cx="411000" cy="373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430" name="Google Shape;1430;p74"/>
          <p:cNvSpPr/>
          <p:nvPr/>
        </p:nvSpPr>
        <p:spPr>
          <a:xfrm>
            <a:off x="6796888" y="3619087"/>
            <a:ext cx="411000" cy="373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h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431" name="Google Shape;1431;p74"/>
          <p:cNvSpPr/>
          <p:nvPr/>
        </p:nvSpPr>
        <p:spPr>
          <a:xfrm>
            <a:off x="8671884" y="3619087"/>
            <a:ext cx="411000" cy="373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d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cxnSp>
        <p:nvCxnSpPr>
          <p:cNvPr id="1432" name="Google Shape;1432;p74"/>
          <p:cNvCxnSpPr>
            <a:stCxn id="1425" idx="3"/>
            <a:endCxn id="1430" idx="7"/>
          </p:cNvCxnSpPr>
          <p:nvPr/>
        </p:nvCxnSpPr>
        <p:spPr>
          <a:xfrm flipH="1">
            <a:off x="7147783" y="2944753"/>
            <a:ext cx="646800" cy="7290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33" name="Google Shape;1433;p74"/>
          <p:cNvCxnSpPr>
            <a:stCxn id="1430" idx="4"/>
            <a:endCxn id="1427" idx="0"/>
          </p:cNvCxnSpPr>
          <p:nvPr/>
        </p:nvCxnSpPr>
        <p:spPr>
          <a:xfrm>
            <a:off x="7002388" y="3992587"/>
            <a:ext cx="135300" cy="2283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34" name="Google Shape;1434;p74"/>
          <p:cNvCxnSpPr>
            <a:stCxn id="1424" idx="5"/>
            <a:endCxn id="1427" idx="7"/>
          </p:cNvCxnSpPr>
          <p:nvPr/>
        </p:nvCxnSpPr>
        <p:spPr>
          <a:xfrm>
            <a:off x="7283105" y="3336108"/>
            <a:ext cx="0" cy="9393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35" name="Google Shape;1435;p74"/>
          <p:cNvCxnSpPr>
            <a:stCxn id="1428" idx="2"/>
            <a:endCxn id="1427" idx="5"/>
          </p:cNvCxnSpPr>
          <p:nvPr/>
        </p:nvCxnSpPr>
        <p:spPr>
          <a:xfrm rot="10800000">
            <a:off x="7283121" y="4539711"/>
            <a:ext cx="464100" cy="2769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36" name="Google Shape;1436;p74"/>
          <p:cNvCxnSpPr>
            <a:stCxn id="1431" idx="4"/>
            <a:endCxn id="1429" idx="7"/>
          </p:cNvCxnSpPr>
          <p:nvPr/>
        </p:nvCxnSpPr>
        <p:spPr>
          <a:xfrm flipH="1">
            <a:off x="8836284" y="3992587"/>
            <a:ext cx="41100" cy="2829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CC_i=\frac{2m}{n(n-1)}=\frac{2(28)}{8(8-1)}=\frac{56}{8(7)}=\frac{56}{56}=1.0" id="1437" name="Google Shape;1437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37450" y="4353459"/>
            <a:ext cx="5375601" cy="62706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38" name="Google Shape;1438;p74"/>
          <p:cNvCxnSpPr>
            <a:stCxn id="1426" idx="4"/>
            <a:endCxn id="1431" idx="0"/>
          </p:cNvCxnSpPr>
          <p:nvPr/>
        </p:nvCxnSpPr>
        <p:spPr>
          <a:xfrm>
            <a:off x="8690870" y="3390805"/>
            <a:ext cx="186600" cy="2283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39" name="Google Shape;1439;p74"/>
          <p:cNvCxnSpPr>
            <a:stCxn id="1425" idx="5"/>
            <a:endCxn id="1431" idx="1"/>
          </p:cNvCxnSpPr>
          <p:nvPr/>
        </p:nvCxnSpPr>
        <p:spPr>
          <a:xfrm>
            <a:off x="8085204" y="2944753"/>
            <a:ext cx="646800" cy="7290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40" name="Google Shape;1440;p74"/>
          <p:cNvCxnSpPr>
            <a:stCxn id="1425" idx="2"/>
            <a:endCxn id="1424" idx="7"/>
          </p:cNvCxnSpPr>
          <p:nvPr/>
        </p:nvCxnSpPr>
        <p:spPr>
          <a:xfrm flipH="1">
            <a:off x="7283194" y="2812701"/>
            <a:ext cx="451200" cy="2592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41" name="Google Shape;1441;p74"/>
          <p:cNvCxnSpPr>
            <a:stCxn id="1424" idx="4"/>
            <a:endCxn id="1430" idx="0"/>
          </p:cNvCxnSpPr>
          <p:nvPr/>
        </p:nvCxnSpPr>
        <p:spPr>
          <a:xfrm flipH="1">
            <a:off x="7002495" y="3390805"/>
            <a:ext cx="135300" cy="2283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42" name="Google Shape;1442;p74"/>
          <p:cNvCxnSpPr>
            <a:stCxn id="1429" idx="3"/>
            <a:endCxn id="1428" idx="6"/>
          </p:cNvCxnSpPr>
          <p:nvPr/>
        </p:nvCxnSpPr>
        <p:spPr>
          <a:xfrm flipH="1">
            <a:off x="8158260" y="4539653"/>
            <a:ext cx="387300" cy="2769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43" name="Google Shape;1443;p74"/>
          <p:cNvCxnSpPr>
            <a:stCxn id="1426" idx="1"/>
            <a:endCxn id="1425" idx="6"/>
          </p:cNvCxnSpPr>
          <p:nvPr/>
        </p:nvCxnSpPr>
        <p:spPr>
          <a:xfrm rot="10800000">
            <a:off x="8145360" y="2812803"/>
            <a:ext cx="400200" cy="2592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44" name="Google Shape;1444;p74"/>
          <p:cNvCxnSpPr>
            <a:stCxn id="1425" idx="5"/>
            <a:endCxn id="1429" idx="1"/>
          </p:cNvCxnSpPr>
          <p:nvPr/>
        </p:nvCxnSpPr>
        <p:spPr>
          <a:xfrm>
            <a:off x="8085204" y="2944753"/>
            <a:ext cx="460500" cy="13308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45" name="Google Shape;1445;p74"/>
          <p:cNvCxnSpPr>
            <a:stCxn id="1425" idx="4"/>
            <a:endCxn id="1428" idx="0"/>
          </p:cNvCxnSpPr>
          <p:nvPr/>
        </p:nvCxnSpPr>
        <p:spPr>
          <a:xfrm>
            <a:off x="7939894" y="2999451"/>
            <a:ext cx="12900" cy="16305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46" name="Google Shape;1446;p74"/>
          <p:cNvCxnSpPr>
            <a:stCxn id="1427" idx="6"/>
            <a:endCxn id="1425" idx="3"/>
          </p:cNvCxnSpPr>
          <p:nvPr/>
        </p:nvCxnSpPr>
        <p:spPr>
          <a:xfrm flipH="1" rot="10800000">
            <a:off x="7343295" y="2944800"/>
            <a:ext cx="451200" cy="14628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47" name="Google Shape;1447;p74"/>
          <p:cNvCxnSpPr>
            <a:stCxn id="1426" idx="2"/>
            <a:endCxn id="1424" idx="6"/>
          </p:cNvCxnSpPr>
          <p:nvPr/>
        </p:nvCxnSpPr>
        <p:spPr>
          <a:xfrm rot="10800000">
            <a:off x="7343270" y="3204055"/>
            <a:ext cx="1142100" cy="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48" name="Google Shape;1448;p74"/>
          <p:cNvCxnSpPr>
            <a:stCxn id="1429" idx="2"/>
            <a:endCxn id="1427" idx="6"/>
          </p:cNvCxnSpPr>
          <p:nvPr/>
        </p:nvCxnSpPr>
        <p:spPr>
          <a:xfrm rot="10800000">
            <a:off x="7343270" y="4407600"/>
            <a:ext cx="1142100" cy="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49" name="Google Shape;1449;p74"/>
          <p:cNvCxnSpPr>
            <a:stCxn id="1429" idx="1"/>
            <a:endCxn id="1424" idx="6"/>
          </p:cNvCxnSpPr>
          <p:nvPr/>
        </p:nvCxnSpPr>
        <p:spPr>
          <a:xfrm rot="10800000">
            <a:off x="7343160" y="3203948"/>
            <a:ext cx="1202400" cy="10716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50" name="Google Shape;1450;p74"/>
          <p:cNvCxnSpPr>
            <a:stCxn id="1426" idx="3"/>
            <a:endCxn id="1427" idx="6"/>
          </p:cNvCxnSpPr>
          <p:nvPr/>
        </p:nvCxnSpPr>
        <p:spPr>
          <a:xfrm flipH="1">
            <a:off x="7343160" y="3336108"/>
            <a:ext cx="1202400" cy="10716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51" name="Google Shape;1451;p74"/>
          <p:cNvCxnSpPr>
            <a:stCxn id="1424" idx="6"/>
            <a:endCxn id="1431" idx="2"/>
          </p:cNvCxnSpPr>
          <p:nvPr/>
        </p:nvCxnSpPr>
        <p:spPr>
          <a:xfrm>
            <a:off x="7343295" y="3204055"/>
            <a:ext cx="1328700" cy="6018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52" name="Google Shape;1452;p74"/>
          <p:cNvCxnSpPr>
            <a:stCxn id="1426" idx="2"/>
            <a:endCxn id="1430" idx="7"/>
          </p:cNvCxnSpPr>
          <p:nvPr/>
        </p:nvCxnSpPr>
        <p:spPr>
          <a:xfrm flipH="1">
            <a:off x="7147670" y="3204055"/>
            <a:ext cx="1337700" cy="4698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53" name="Google Shape;1453;p74"/>
          <p:cNvCxnSpPr>
            <a:stCxn id="1427" idx="6"/>
            <a:endCxn id="1431" idx="2"/>
          </p:cNvCxnSpPr>
          <p:nvPr/>
        </p:nvCxnSpPr>
        <p:spPr>
          <a:xfrm flipH="1" rot="10800000">
            <a:off x="7343295" y="3805800"/>
            <a:ext cx="1328700" cy="6018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54" name="Google Shape;1454;p74"/>
          <p:cNvCxnSpPr>
            <a:stCxn id="1430" idx="6"/>
            <a:endCxn id="1431" idx="2"/>
          </p:cNvCxnSpPr>
          <p:nvPr/>
        </p:nvCxnSpPr>
        <p:spPr>
          <a:xfrm>
            <a:off x="7207888" y="3805837"/>
            <a:ext cx="1464000" cy="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55" name="Google Shape;1455;p74"/>
          <p:cNvCxnSpPr>
            <a:stCxn id="1424" idx="5"/>
            <a:endCxn id="1428" idx="1"/>
          </p:cNvCxnSpPr>
          <p:nvPr/>
        </p:nvCxnSpPr>
        <p:spPr>
          <a:xfrm>
            <a:off x="7283105" y="3336108"/>
            <a:ext cx="524400" cy="13485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56" name="Google Shape;1456;p74"/>
          <p:cNvCxnSpPr>
            <a:stCxn id="1426" idx="3"/>
            <a:endCxn id="1428" idx="7"/>
          </p:cNvCxnSpPr>
          <p:nvPr/>
        </p:nvCxnSpPr>
        <p:spPr>
          <a:xfrm flipH="1">
            <a:off x="8097960" y="3336108"/>
            <a:ext cx="447600" cy="13485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57" name="Google Shape;1457;p74"/>
          <p:cNvCxnSpPr>
            <a:stCxn id="1426" idx="3"/>
            <a:endCxn id="1429" idx="1"/>
          </p:cNvCxnSpPr>
          <p:nvPr/>
        </p:nvCxnSpPr>
        <p:spPr>
          <a:xfrm>
            <a:off x="8545560" y="3336108"/>
            <a:ext cx="0" cy="9393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58" name="Google Shape;1458;p74"/>
          <p:cNvCxnSpPr>
            <a:stCxn id="1430" idx="6"/>
            <a:endCxn id="1429" idx="2"/>
          </p:cNvCxnSpPr>
          <p:nvPr/>
        </p:nvCxnSpPr>
        <p:spPr>
          <a:xfrm>
            <a:off x="7207888" y="3805837"/>
            <a:ext cx="1277400" cy="6018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59" name="Google Shape;1459;p74"/>
          <p:cNvSpPr/>
          <p:nvPr/>
        </p:nvSpPr>
        <p:spPr>
          <a:xfrm>
            <a:off x="7631558" y="3498451"/>
            <a:ext cx="616800" cy="6147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Ego</a:t>
            </a:r>
            <a:endParaRPr b="1" sz="17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3" name="Shape 1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" name="Google Shape;1464;p75"/>
          <p:cNvSpPr/>
          <p:nvPr/>
        </p:nvSpPr>
        <p:spPr>
          <a:xfrm>
            <a:off x="887675" y="3575304"/>
            <a:ext cx="5852100" cy="2742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5" name="Google Shape;1465;p75"/>
          <p:cNvSpPr txBox="1"/>
          <p:nvPr>
            <p:ph idx="1" type="body"/>
          </p:nvPr>
        </p:nvSpPr>
        <p:spPr>
          <a:xfrm>
            <a:off x="311700" y="1225225"/>
            <a:ext cx="8492400" cy="15708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Tell us the extent to which: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Your alters are </a:t>
            </a:r>
            <a:r>
              <a:rPr b="1" lang="en"/>
              <a:t>interconnected among themselves</a:t>
            </a:r>
            <a:r>
              <a:rPr lang="en"/>
              <a:t> (e.g., know one another)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Versus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Your alters are </a:t>
            </a:r>
            <a:r>
              <a:rPr b="1" lang="en"/>
              <a:t>not connected among themselves</a:t>
            </a:r>
            <a:r>
              <a:rPr lang="en"/>
              <a:t> (e.g., are strangers to one another)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Given by the </a:t>
            </a:r>
            <a:r>
              <a:rPr b="1" lang="en"/>
              <a:t>Clustering Coefficient (CC</a:t>
            </a:r>
            <a:r>
              <a:rPr b="1" baseline="-25000" lang="en"/>
              <a:t>i</a:t>
            </a:r>
            <a:r>
              <a:rPr b="1" lang="en"/>
              <a:t>)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Interpretation: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More</a:t>
            </a:r>
            <a:r>
              <a:rPr lang="en"/>
              <a:t> alter-alter connections </a:t>
            </a:r>
            <a:r>
              <a:rPr b="1" lang="en"/>
              <a:t>increase</a:t>
            </a:r>
            <a:r>
              <a:rPr lang="en"/>
              <a:t> ego’s clustering coefficient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Less</a:t>
            </a:r>
            <a:r>
              <a:rPr lang="en"/>
              <a:t> alter-alter connections </a:t>
            </a:r>
            <a:r>
              <a:rPr b="1" lang="en"/>
              <a:t>decrease</a:t>
            </a:r>
            <a:r>
              <a:rPr lang="en"/>
              <a:t> it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Minimum</a:t>
            </a:r>
            <a:r>
              <a:rPr b="1" lang="en"/>
              <a:t> of 0</a:t>
            </a:r>
            <a:r>
              <a:rPr lang="en"/>
              <a:t> (None of your friends know one another)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 = 0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 = 8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6" name="Google Shape;1466;p7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Ego networks: Clustering </a:t>
            </a:r>
            <a:endParaRPr/>
          </a:p>
        </p:txBody>
      </p:sp>
      <p:sp>
        <p:nvSpPr>
          <p:cNvPr id="1467" name="Google Shape;1467;p75"/>
          <p:cNvSpPr/>
          <p:nvPr/>
        </p:nvSpPr>
        <p:spPr>
          <a:xfrm>
            <a:off x="7631558" y="3498451"/>
            <a:ext cx="616800" cy="6147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Ego</a:t>
            </a:r>
            <a:endParaRPr b="1" sz="17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468" name="Google Shape;1468;p75"/>
          <p:cNvSpPr/>
          <p:nvPr/>
        </p:nvSpPr>
        <p:spPr>
          <a:xfrm>
            <a:off x="6932295" y="3017305"/>
            <a:ext cx="411000" cy="373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a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469" name="Google Shape;1469;p75"/>
          <p:cNvSpPr/>
          <p:nvPr/>
        </p:nvSpPr>
        <p:spPr>
          <a:xfrm>
            <a:off x="7734394" y="2625951"/>
            <a:ext cx="411000" cy="373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b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470" name="Google Shape;1470;p75"/>
          <p:cNvSpPr/>
          <p:nvPr/>
        </p:nvSpPr>
        <p:spPr>
          <a:xfrm>
            <a:off x="8485370" y="3017305"/>
            <a:ext cx="411000" cy="373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c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471" name="Google Shape;1471;p75"/>
          <p:cNvSpPr/>
          <p:nvPr/>
        </p:nvSpPr>
        <p:spPr>
          <a:xfrm>
            <a:off x="6932295" y="4220850"/>
            <a:ext cx="411000" cy="373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g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472" name="Google Shape;1472;p75"/>
          <p:cNvSpPr/>
          <p:nvPr/>
        </p:nvSpPr>
        <p:spPr>
          <a:xfrm>
            <a:off x="7747221" y="4629861"/>
            <a:ext cx="411000" cy="373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f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473" name="Google Shape;1473;p75"/>
          <p:cNvSpPr/>
          <p:nvPr/>
        </p:nvSpPr>
        <p:spPr>
          <a:xfrm>
            <a:off x="8485370" y="4220850"/>
            <a:ext cx="411000" cy="373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474" name="Google Shape;1474;p75"/>
          <p:cNvSpPr/>
          <p:nvPr/>
        </p:nvSpPr>
        <p:spPr>
          <a:xfrm>
            <a:off x="6796888" y="3619087"/>
            <a:ext cx="411000" cy="373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h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475" name="Google Shape;1475;p75"/>
          <p:cNvSpPr/>
          <p:nvPr/>
        </p:nvSpPr>
        <p:spPr>
          <a:xfrm>
            <a:off x="8671884" y="3619087"/>
            <a:ext cx="411000" cy="373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d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pic>
        <p:nvPicPr>
          <p:cNvPr descr="CC_i=\frac{2m}{n(n-1)}=\frac{2(0)}{8(8-1)}=\frac{0}{8(7)}=\frac{0}{56}=0" id="1476" name="Google Shape;1476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95617" y="4360289"/>
            <a:ext cx="5059268" cy="6134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0" name="Shape 1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1" name="Google Shape;1481;p76"/>
          <p:cNvSpPr txBox="1"/>
          <p:nvPr>
            <p:ph idx="1" type="body"/>
          </p:nvPr>
        </p:nvSpPr>
        <p:spPr>
          <a:xfrm>
            <a:off x="311700" y="1225225"/>
            <a:ext cx="8492400" cy="15708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Tell us the extent to which: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Your alters are </a:t>
            </a:r>
            <a:r>
              <a:rPr b="1" lang="en"/>
              <a:t>interconnected among themselves</a:t>
            </a:r>
            <a:r>
              <a:rPr lang="en"/>
              <a:t> (e.g., know one another)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Versus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Your alters are </a:t>
            </a:r>
            <a:r>
              <a:rPr b="1" lang="en"/>
              <a:t>not connected among themselves</a:t>
            </a:r>
            <a:r>
              <a:rPr lang="en"/>
              <a:t> (e.g., are strangers to one another)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Given by the </a:t>
            </a:r>
            <a:r>
              <a:rPr b="1" lang="en"/>
              <a:t>Clustering Coefficient (CC</a:t>
            </a:r>
            <a:r>
              <a:rPr b="1" baseline="-25000" lang="en"/>
              <a:t>i</a:t>
            </a:r>
            <a:r>
              <a:rPr b="1" lang="en"/>
              <a:t>)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Interpretation: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clustering coefficient is equivalent to: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The </a:t>
            </a:r>
            <a:r>
              <a:rPr b="1" lang="en"/>
              <a:t>density</a:t>
            </a:r>
            <a:r>
              <a:rPr lang="en"/>
              <a:t> of the network formed among your alters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Without counting people you don’t know!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 = 7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 = 8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2" name="Google Shape;1482;p7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Ego networks: Clustering </a:t>
            </a:r>
            <a:endParaRPr/>
          </a:p>
        </p:txBody>
      </p:sp>
      <p:sp>
        <p:nvSpPr>
          <p:cNvPr id="1483" name="Google Shape;1483;p76"/>
          <p:cNvSpPr/>
          <p:nvPr/>
        </p:nvSpPr>
        <p:spPr>
          <a:xfrm>
            <a:off x="7631558" y="3498451"/>
            <a:ext cx="616800" cy="6147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Ego</a:t>
            </a:r>
            <a:endParaRPr b="1" sz="17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484" name="Google Shape;1484;p76"/>
          <p:cNvSpPr/>
          <p:nvPr/>
        </p:nvSpPr>
        <p:spPr>
          <a:xfrm>
            <a:off x="6932295" y="3017305"/>
            <a:ext cx="411000" cy="373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a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485" name="Google Shape;1485;p76"/>
          <p:cNvSpPr/>
          <p:nvPr/>
        </p:nvSpPr>
        <p:spPr>
          <a:xfrm>
            <a:off x="7734394" y="2625951"/>
            <a:ext cx="411000" cy="373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b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486" name="Google Shape;1486;p76"/>
          <p:cNvSpPr/>
          <p:nvPr/>
        </p:nvSpPr>
        <p:spPr>
          <a:xfrm>
            <a:off x="8485370" y="3017305"/>
            <a:ext cx="411000" cy="373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c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487" name="Google Shape;1487;p76"/>
          <p:cNvSpPr/>
          <p:nvPr/>
        </p:nvSpPr>
        <p:spPr>
          <a:xfrm>
            <a:off x="6932295" y="4220850"/>
            <a:ext cx="411000" cy="373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g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488" name="Google Shape;1488;p76"/>
          <p:cNvSpPr/>
          <p:nvPr/>
        </p:nvSpPr>
        <p:spPr>
          <a:xfrm>
            <a:off x="7747221" y="4629861"/>
            <a:ext cx="411000" cy="373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f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489" name="Google Shape;1489;p76"/>
          <p:cNvSpPr/>
          <p:nvPr/>
        </p:nvSpPr>
        <p:spPr>
          <a:xfrm>
            <a:off x="8485370" y="4220850"/>
            <a:ext cx="411000" cy="373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490" name="Google Shape;1490;p76"/>
          <p:cNvSpPr/>
          <p:nvPr/>
        </p:nvSpPr>
        <p:spPr>
          <a:xfrm>
            <a:off x="6796888" y="3619087"/>
            <a:ext cx="411000" cy="373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h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491" name="Google Shape;1491;p76"/>
          <p:cNvSpPr/>
          <p:nvPr/>
        </p:nvSpPr>
        <p:spPr>
          <a:xfrm>
            <a:off x="8671884" y="3619087"/>
            <a:ext cx="411000" cy="373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d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cxnSp>
        <p:nvCxnSpPr>
          <p:cNvPr id="1492" name="Google Shape;1492;p76"/>
          <p:cNvCxnSpPr>
            <a:stCxn id="1485" idx="3"/>
            <a:endCxn id="1490" idx="7"/>
          </p:cNvCxnSpPr>
          <p:nvPr/>
        </p:nvCxnSpPr>
        <p:spPr>
          <a:xfrm flipH="1">
            <a:off x="7147783" y="2944753"/>
            <a:ext cx="646800" cy="7290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93" name="Google Shape;1493;p76"/>
          <p:cNvCxnSpPr>
            <a:stCxn id="1490" idx="4"/>
            <a:endCxn id="1487" idx="0"/>
          </p:cNvCxnSpPr>
          <p:nvPr/>
        </p:nvCxnSpPr>
        <p:spPr>
          <a:xfrm>
            <a:off x="7002388" y="3992587"/>
            <a:ext cx="135300" cy="2283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94" name="Google Shape;1494;p76"/>
          <p:cNvCxnSpPr>
            <a:stCxn id="1484" idx="5"/>
            <a:endCxn id="1487" idx="7"/>
          </p:cNvCxnSpPr>
          <p:nvPr/>
        </p:nvCxnSpPr>
        <p:spPr>
          <a:xfrm>
            <a:off x="7283105" y="3336108"/>
            <a:ext cx="0" cy="9393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95" name="Google Shape;1495;p76"/>
          <p:cNvCxnSpPr>
            <a:stCxn id="1488" idx="2"/>
            <a:endCxn id="1487" idx="5"/>
          </p:cNvCxnSpPr>
          <p:nvPr/>
        </p:nvCxnSpPr>
        <p:spPr>
          <a:xfrm rot="10800000">
            <a:off x="7283121" y="4539711"/>
            <a:ext cx="464100" cy="2769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96" name="Google Shape;1496;p76"/>
          <p:cNvCxnSpPr>
            <a:stCxn id="1491" idx="4"/>
            <a:endCxn id="1489" idx="7"/>
          </p:cNvCxnSpPr>
          <p:nvPr/>
        </p:nvCxnSpPr>
        <p:spPr>
          <a:xfrm flipH="1">
            <a:off x="8836284" y="3992587"/>
            <a:ext cx="41100" cy="2829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CC_i=\frac{2m}{n(n-1)}=\frac{2(7)}{8(8-1)}=\frac{14}{8(7)}=\frac{14}{56}=0.25" id="1497" name="Google Shape;1497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5815" y="4353459"/>
            <a:ext cx="5498870" cy="62706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98" name="Google Shape;1498;p76"/>
          <p:cNvCxnSpPr>
            <a:stCxn id="1486" idx="4"/>
            <a:endCxn id="1491" idx="1"/>
          </p:cNvCxnSpPr>
          <p:nvPr/>
        </p:nvCxnSpPr>
        <p:spPr>
          <a:xfrm>
            <a:off x="8690870" y="3390805"/>
            <a:ext cx="41100" cy="2829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99" name="Google Shape;1499;p76"/>
          <p:cNvCxnSpPr>
            <a:stCxn id="1485" idx="5"/>
            <a:endCxn id="1491" idx="3"/>
          </p:cNvCxnSpPr>
          <p:nvPr/>
        </p:nvCxnSpPr>
        <p:spPr>
          <a:xfrm>
            <a:off x="8085204" y="2944753"/>
            <a:ext cx="646800" cy="9930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3" name="Shape 1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4" name="Google Shape;1504;p77"/>
          <p:cNvSpPr txBox="1"/>
          <p:nvPr>
            <p:ph idx="1" type="body"/>
          </p:nvPr>
        </p:nvSpPr>
        <p:spPr>
          <a:xfrm>
            <a:off x="311700" y="1225225"/>
            <a:ext cx="8492400" cy="15708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Tell us the extent to which: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Your alters are </a:t>
            </a:r>
            <a:r>
              <a:rPr b="1" lang="en"/>
              <a:t>interconnected among themselves</a:t>
            </a:r>
            <a:r>
              <a:rPr lang="en"/>
              <a:t> (e.g., know one another)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Versus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Your alters are </a:t>
            </a:r>
            <a:r>
              <a:rPr b="1" lang="en"/>
              <a:t>not connected among themselves</a:t>
            </a:r>
            <a:r>
              <a:rPr lang="en"/>
              <a:t> (e.g., are strangers to one another)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Given by the </a:t>
            </a:r>
            <a:r>
              <a:rPr b="1" lang="en"/>
              <a:t>Clustering Coefficient (CC</a:t>
            </a:r>
            <a:r>
              <a:rPr b="1" baseline="-25000" lang="en"/>
              <a:t>i</a:t>
            </a:r>
            <a:r>
              <a:rPr b="1" lang="en"/>
              <a:t>)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Interpretation: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clustering coefficient is equivalent to: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The </a:t>
            </a:r>
            <a:r>
              <a:rPr b="1" lang="en"/>
              <a:t>probability </a:t>
            </a:r>
            <a:r>
              <a:rPr lang="en"/>
              <a:t>that two randomly chosen people you know: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Also know one another!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 = 7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 = 8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5" name="Google Shape;1505;p7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Ego networks: Clustering </a:t>
            </a:r>
            <a:endParaRPr/>
          </a:p>
        </p:txBody>
      </p:sp>
      <p:sp>
        <p:nvSpPr>
          <p:cNvPr id="1506" name="Google Shape;1506;p77"/>
          <p:cNvSpPr/>
          <p:nvPr/>
        </p:nvSpPr>
        <p:spPr>
          <a:xfrm>
            <a:off x="7631558" y="3498451"/>
            <a:ext cx="616800" cy="6147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Ego</a:t>
            </a:r>
            <a:endParaRPr b="1" sz="17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507" name="Google Shape;1507;p77"/>
          <p:cNvSpPr/>
          <p:nvPr/>
        </p:nvSpPr>
        <p:spPr>
          <a:xfrm>
            <a:off x="6932295" y="3017305"/>
            <a:ext cx="411000" cy="373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a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508" name="Google Shape;1508;p77"/>
          <p:cNvSpPr/>
          <p:nvPr/>
        </p:nvSpPr>
        <p:spPr>
          <a:xfrm>
            <a:off x="7734394" y="2625951"/>
            <a:ext cx="411000" cy="373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b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509" name="Google Shape;1509;p77"/>
          <p:cNvSpPr/>
          <p:nvPr/>
        </p:nvSpPr>
        <p:spPr>
          <a:xfrm>
            <a:off x="8485370" y="3017305"/>
            <a:ext cx="411000" cy="373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c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510" name="Google Shape;1510;p77"/>
          <p:cNvSpPr/>
          <p:nvPr/>
        </p:nvSpPr>
        <p:spPr>
          <a:xfrm>
            <a:off x="6932295" y="4220850"/>
            <a:ext cx="411000" cy="373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g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511" name="Google Shape;1511;p77"/>
          <p:cNvSpPr/>
          <p:nvPr/>
        </p:nvSpPr>
        <p:spPr>
          <a:xfrm>
            <a:off x="7747221" y="4629861"/>
            <a:ext cx="411000" cy="373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f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512" name="Google Shape;1512;p77"/>
          <p:cNvSpPr/>
          <p:nvPr/>
        </p:nvSpPr>
        <p:spPr>
          <a:xfrm>
            <a:off x="8485370" y="4220850"/>
            <a:ext cx="411000" cy="373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513" name="Google Shape;1513;p77"/>
          <p:cNvSpPr/>
          <p:nvPr/>
        </p:nvSpPr>
        <p:spPr>
          <a:xfrm>
            <a:off x="6796888" y="3619087"/>
            <a:ext cx="411000" cy="373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h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514" name="Google Shape;1514;p77"/>
          <p:cNvSpPr/>
          <p:nvPr/>
        </p:nvSpPr>
        <p:spPr>
          <a:xfrm>
            <a:off x="8671884" y="3619087"/>
            <a:ext cx="411000" cy="373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d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cxnSp>
        <p:nvCxnSpPr>
          <p:cNvPr id="1515" name="Google Shape;1515;p77"/>
          <p:cNvCxnSpPr>
            <a:stCxn id="1508" idx="3"/>
            <a:endCxn id="1513" idx="7"/>
          </p:cNvCxnSpPr>
          <p:nvPr/>
        </p:nvCxnSpPr>
        <p:spPr>
          <a:xfrm flipH="1">
            <a:off x="7147783" y="2944753"/>
            <a:ext cx="646800" cy="7290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16" name="Google Shape;1516;p77"/>
          <p:cNvCxnSpPr>
            <a:stCxn id="1513" idx="4"/>
            <a:endCxn id="1510" idx="0"/>
          </p:cNvCxnSpPr>
          <p:nvPr/>
        </p:nvCxnSpPr>
        <p:spPr>
          <a:xfrm>
            <a:off x="7002388" y="3992587"/>
            <a:ext cx="135300" cy="2283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17" name="Google Shape;1517;p77"/>
          <p:cNvCxnSpPr>
            <a:stCxn id="1507" idx="5"/>
            <a:endCxn id="1510" idx="7"/>
          </p:cNvCxnSpPr>
          <p:nvPr/>
        </p:nvCxnSpPr>
        <p:spPr>
          <a:xfrm>
            <a:off x="7283105" y="3336108"/>
            <a:ext cx="0" cy="9393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18" name="Google Shape;1518;p77"/>
          <p:cNvCxnSpPr>
            <a:stCxn id="1511" idx="2"/>
            <a:endCxn id="1510" idx="5"/>
          </p:cNvCxnSpPr>
          <p:nvPr/>
        </p:nvCxnSpPr>
        <p:spPr>
          <a:xfrm rot="10800000">
            <a:off x="7283121" y="4539711"/>
            <a:ext cx="464100" cy="2769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19" name="Google Shape;1519;p77"/>
          <p:cNvCxnSpPr>
            <a:stCxn id="1514" idx="4"/>
            <a:endCxn id="1512" idx="7"/>
          </p:cNvCxnSpPr>
          <p:nvPr/>
        </p:nvCxnSpPr>
        <p:spPr>
          <a:xfrm flipH="1">
            <a:off x="8836284" y="3992587"/>
            <a:ext cx="41100" cy="2829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CC_i=\frac{2m}{n(n-1)}=\frac{2(7)}{8(8-1)}=\frac{14}{8(7)}=\frac{14}{56}=0.25" id="1520" name="Google Shape;1520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5815" y="4353459"/>
            <a:ext cx="5498870" cy="62706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21" name="Google Shape;1521;p77"/>
          <p:cNvCxnSpPr>
            <a:stCxn id="1509" idx="4"/>
            <a:endCxn id="1514" idx="1"/>
          </p:cNvCxnSpPr>
          <p:nvPr/>
        </p:nvCxnSpPr>
        <p:spPr>
          <a:xfrm>
            <a:off x="8690870" y="3390805"/>
            <a:ext cx="41100" cy="2829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22" name="Google Shape;1522;p77"/>
          <p:cNvCxnSpPr>
            <a:stCxn id="1508" idx="5"/>
            <a:endCxn id="1514" idx="3"/>
          </p:cNvCxnSpPr>
          <p:nvPr/>
        </p:nvCxnSpPr>
        <p:spPr>
          <a:xfrm>
            <a:off x="8085204" y="2944753"/>
            <a:ext cx="646800" cy="9930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6" name="Shape 1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7" name="Google Shape;1527;p78"/>
          <p:cNvSpPr txBox="1"/>
          <p:nvPr>
            <p:ph idx="1" type="body"/>
          </p:nvPr>
        </p:nvSpPr>
        <p:spPr>
          <a:xfrm>
            <a:off x="311700" y="1225225"/>
            <a:ext cx="8492400" cy="15708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Tell us the extent to which: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Your alters are </a:t>
            </a:r>
            <a:r>
              <a:rPr b="1" lang="en"/>
              <a:t>interconnected among themselves</a:t>
            </a:r>
            <a:r>
              <a:rPr lang="en"/>
              <a:t> (e.g., know one another)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Versus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Your alters are </a:t>
            </a:r>
            <a:r>
              <a:rPr b="1" lang="en"/>
              <a:t>not connected among themselves</a:t>
            </a:r>
            <a:r>
              <a:rPr lang="en"/>
              <a:t> (e.g., are strangers to one another)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Given by the </a:t>
            </a:r>
            <a:r>
              <a:rPr b="1" lang="en"/>
              <a:t>Clustering Coefficient (CC</a:t>
            </a:r>
            <a:r>
              <a:rPr b="1" baseline="-25000" lang="en"/>
              <a:t>i</a:t>
            </a:r>
            <a:r>
              <a:rPr b="1" lang="en"/>
              <a:t>)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Interpretation: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clustering coefficient is equivalent to: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The </a:t>
            </a:r>
            <a:r>
              <a:rPr b="1" lang="en"/>
              <a:t>probability </a:t>
            </a:r>
            <a:r>
              <a:rPr lang="en"/>
              <a:t>that two randomly chosen people you know: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Also know one another!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 = 10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 = 8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8" name="Google Shape;1528;p7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Ego networks: Clustering </a:t>
            </a:r>
            <a:endParaRPr/>
          </a:p>
        </p:txBody>
      </p:sp>
      <p:sp>
        <p:nvSpPr>
          <p:cNvPr id="1529" name="Google Shape;1529;p78"/>
          <p:cNvSpPr/>
          <p:nvPr/>
        </p:nvSpPr>
        <p:spPr>
          <a:xfrm>
            <a:off x="7631558" y="3498451"/>
            <a:ext cx="616800" cy="6147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Ego</a:t>
            </a:r>
            <a:endParaRPr b="1" sz="17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530" name="Google Shape;1530;p78"/>
          <p:cNvSpPr/>
          <p:nvPr/>
        </p:nvSpPr>
        <p:spPr>
          <a:xfrm>
            <a:off x="6932295" y="3017305"/>
            <a:ext cx="411000" cy="373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a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531" name="Google Shape;1531;p78"/>
          <p:cNvSpPr/>
          <p:nvPr/>
        </p:nvSpPr>
        <p:spPr>
          <a:xfrm>
            <a:off x="7734394" y="2625951"/>
            <a:ext cx="411000" cy="373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b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532" name="Google Shape;1532;p78"/>
          <p:cNvSpPr/>
          <p:nvPr/>
        </p:nvSpPr>
        <p:spPr>
          <a:xfrm>
            <a:off x="8485370" y="3017305"/>
            <a:ext cx="411000" cy="373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c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533" name="Google Shape;1533;p78"/>
          <p:cNvSpPr/>
          <p:nvPr/>
        </p:nvSpPr>
        <p:spPr>
          <a:xfrm>
            <a:off x="6932295" y="4220850"/>
            <a:ext cx="411000" cy="373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g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534" name="Google Shape;1534;p78"/>
          <p:cNvSpPr/>
          <p:nvPr/>
        </p:nvSpPr>
        <p:spPr>
          <a:xfrm>
            <a:off x="7747221" y="4629861"/>
            <a:ext cx="411000" cy="373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f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535" name="Google Shape;1535;p78"/>
          <p:cNvSpPr/>
          <p:nvPr/>
        </p:nvSpPr>
        <p:spPr>
          <a:xfrm>
            <a:off x="8485370" y="4220850"/>
            <a:ext cx="411000" cy="373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536" name="Google Shape;1536;p78"/>
          <p:cNvSpPr/>
          <p:nvPr/>
        </p:nvSpPr>
        <p:spPr>
          <a:xfrm>
            <a:off x="6796888" y="3619087"/>
            <a:ext cx="411000" cy="373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h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537" name="Google Shape;1537;p78"/>
          <p:cNvSpPr/>
          <p:nvPr/>
        </p:nvSpPr>
        <p:spPr>
          <a:xfrm>
            <a:off x="8671884" y="3619087"/>
            <a:ext cx="411000" cy="373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d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cxnSp>
        <p:nvCxnSpPr>
          <p:cNvPr id="1538" name="Google Shape;1538;p78"/>
          <p:cNvCxnSpPr>
            <a:stCxn id="1531" idx="2"/>
            <a:endCxn id="1530" idx="0"/>
          </p:cNvCxnSpPr>
          <p:nvPr/>
        </p:nvCxnSpPr>
        <p:spPr>
          <a:xfrm flipH="1">
            <a:off x="7137694" y="2812701"/>
            <a:ext cx="596700" cy="2046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39" name="Google Shape;1539;p78"/>
          <p:cNvCxnSpPr>
            <a:stCxn id="1530" idx="3"/>
            <a:endCxn id="1536" idx="0"/>
          </p:cNvCxnSpPr>
          <p:nvPr/>
        </p:nvCxnSpPr>
        <p:spPr>
          <a:xfrm>
            <a:off x="6992484" y="3336108"/>
            <a:ext cx="9900" cy="2829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40" name="Google Shape;1540;p78"/>
          <p:cNvCxnSpPr>
            <a:stCxn id="1531" idx="3"/>
            <a:endCxn id="1536" idx="7"/>
          </p:cNvCxnSpPr>
          <p:nvPr/>
        </p:nvCxnSpPr>
        <p:spPr>
          <a:xfrm flipH="1">
            <a:off x="7147783" y="2944753"/>
            <a:ext cx="646800" cy="7290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41" name="Google Shape;1541;p78"/>
          <p:cNvCxnSpPr>
            <a:stCxn id="1531" idx="3"/>
            <a:endCxn id="1533" idx="0"/>
          </p:cNvCxnSpPr>
          <p:nvPr/>
        </p:nvCxnSpPr>
        <p:spPr>
          <a:xfrm flipH="1">
            <a:off x="7137883" y="2944753"/>
            <a:ext cx="656700" cy="12762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42" name="Google Shape;1542;p78"/>
          <p:cNvCxnSpPr>
            <a:stCxn id="1536" idx="4"/>
            <a:endCxn id="1533" idx="0"/>
          </p:cNvCxnSpPr>
          <p:nvPr/>
        </p:nvCxnSpPr>
        <p:spPr>
          <a:xfrm>
            <a:off x="7002388" y="3992587"/>
            <a:ext cx="135300" cy="2283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43" name="Google Shape;1543;p78"/>
          <p:cNvCxnSpPr>
            <a:stCxn id="1530" idx="5"/>
            <a:endCxn id="1533" idx="7"/>
          </p:cNvCxnSpPr>
          <p:nvPr/>
        </p:nvCxnSpPr>
        <p:spPr>
          <a:xfrm>
            <a:off x="7283105" y="3336108"/>
            <a:ext cx="0" cy="9393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44" name="Google Shape;1544;p78"/>
          <p:cNvCxnSpPr>
            <a:stCxn id="1537" idx="3"/>
            <a:endCxn id="1533" idx="6"/>
          </p:cNvCxnSpPr>
          <p:nvPr/>
        </p:nvCxnSpPr>
        <p:spPr>
          <a:xfrm flipH="1">
            <a:off x="7343374" y="3937889"/>
            <a:ext cx="1388700" cy="4698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45" name="Google Shape;1545;p78"/>
          <p:cNvCxnSpPr>
            <a:stCxn id="1534" idx="2"/>
            <a:endCxn id="1533" idx="5"/>
          </p:cNvCxnSpPr>
          <p:nvPr/>
        </p:nvCxnSpPr>
        <p:spPr>
          <a:xfrm rot="10800000">
            <a:off x="7283121" y="4539711"/>
            <a:ext cx="464100" cy="2769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46" name="Google Shape;1546;p78"/>
          <p:cNvCxnSpPr>
            <a:stCxn id="1535" idx="3"/>
          </p:cNvCxnSpPr>
          <p:nvPr/>
        </p:nvCxnSpPr>
        <p:spPr>
          <a:xfrm flipH="1">
            <a:off x="8156760" y="4539653"/>
            <a:ext cx="388800" cy="2547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47" name="Google Shape;1547;p78"/>
          <p:cNvCxnSpPr>
            <a:stCxn id="1537" idx="4"/>
            <a:endCxn id="1535" idx="7"/>
          </p:cNvCxnSpPr>
          <p:nvPr/>
        </p:nvCxnSpPr>
        <p:spPr>
          <a:xfrm flipH="1">
            <a:off x="8836284" y="3992587"/>
            <a:ext cx="41100" cy="2829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CC_i=\frac{2m}{n(n-1)}=\frac{2(10)}{8(8-1)}=\frac{20}{8(7)}=\frac{20}{56}=0.38" id="1548" name="Google Shape;1548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76894" y="4346951"/>
            <a:ext cx="5696713" cy="6400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607D8B"/>
      </a:accent3>
      <a:accent4>
        <a:srgbClr val="78909C"/>
      </a:accent4>
      <a:accent5>
        <a:srgbClr val="57BB8A"/>
      </a:accent5>
      <a:accent6>
        <a:srgbClr val="DCE755"/>
      </a:accent6>
      <a:hlink>
        <a:srgbClr val="57BB8A"/>
      </a:hlink>
      <a:folHlink>
        <a:srgbClr val="57BB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57BB8A"/>
      </a:accent3>
      <a:accent4>
        <a:srgbClr val="78909C"/>
      </a:accent4>
      <a:accent5>
        <a:srgbClr val="607D8B"/>
      </a:accent5>
      <a:accent6>
        <a:srgbClr val="DCE755"/>
      </a:accent6>
      <a:hlink>
        <a:srgbClr val="607D8B"/>
      </a:hlink>
      <a:folHlink>
        <a:srgbClr val="607D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