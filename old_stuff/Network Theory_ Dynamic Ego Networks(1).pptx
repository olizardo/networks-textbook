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6" r:id="rId4"/>
    <p:sldMasterId id="2147483677" r:id="rId5"/>
    <p:sldMasterId id="214748367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embeddedFontLst>
    <p:embeddedFont>
      <p:font typeface="Economica"/>
      <p:regular r:id="rId38"/>
      <p:bold r:id="rId39"/>
      <p:italic r:id="rId40"/>
      <p:boldItalic r:id="rId41"/>
    </p:embeddedFont>
    <p:embeddedFont>
      <p:font typeface="Cardo"/>
      <p:regular r:id="rId42"/>
      <p:bold r:id="rId43"/>
      <p:italic r:id="rId44"/>
    </p:embeddedFont>
    <p:embeddedFont>
      <p:font typeface="Junge"/>
      <p:regular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7B0F8147-359C-4FF4-8777-AAA26A82615F}">
  <a:tblStyle styleId="{7B0F8147-359C-4FF4-8777-AAA26A8261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italic.fntdata"/><Relationship Id="rId42" Type="http://schemas.openxmlformats.org/officeDocument/2006/relationships/font" Target="fonts/Cardo-regular.fntdata"/><Relationship Id="rId41" Type="http://schemas.openxmlformats.org/officeDocument/2006/relationships/font" Target="fonts/Economica-boldItalic.fntdata"/><Relationship Id="rId44" Type="http://schemas.openxmlformats.org/officeDocument/2006/relationships/font" Target="fonts/Cardo-italic.fntdata"/><Relationship Id="rId43" Type="http://schemas.openxmlformats.org/officeDocument/2006/relationships/font" Target="fonts/Cardo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Junge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font" Target="fonts/Economica-bold.fntdata"/><Relationship Id="rId38" Type="http://schemas.openxmlformats.org/officeDocument/2006/relationships/font" Target="fonts/Economica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72461a0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72461a0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72461a0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72461a0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72461a0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a72461a0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a72461a0a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a72461a0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a72461a0a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a72461a0a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a72461a0a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a72461a0a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a72461a0a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a72461a0a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a72461a0a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a72461a0a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a72461a0a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a72461a0a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a72461a0a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a72461a0a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a72461a0a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a72461a0a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a72461a0a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a72461a0a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a72461a0a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a72461a0a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a72461a0a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a72461a0a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a72461a0a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a72461a0a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a72461a0a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a72461a0a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a72461a0a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a72461a0a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a72461a0a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a72461a0a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a72461a0a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a72461a0a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a72461a0a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a72461a0a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a72461a0a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a72461a0a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a72461a0a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a72461a0a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a72461a0a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a72461a0a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a72461a0a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a72461a0a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a72461a0a_0_1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a72461a0a_0_1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a72461a0a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a72461a0a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a72461a0a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a72461a0a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a72461a0a_0_957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a72461a0a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a72461a0a_0_1025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a72461a0a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400"/>
              <a:buChar char="○"/>
              <a:defRPr b="1">
                <a:solidFill>
                  <a:srgbClr val="980000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00"/>
              <a:buChar char="■"/>
              <a:defRPr i="1" sz="1200">
                <a:solidFill>
                  <a:srgbClr val="134F5C"/>
                </a:solidFill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u="sng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6"/>
          <p:cNvSpPr txBox="1"/>
          <p:nvPr>
            <p:ph idx="1" type="subTitle"/>
          </p:nvPr>
        </p:nvSpPr>
        <p:spPr>
          <a:xfrm>
            <a:off x="685800" y="2840053"/>
            <a:ext cx="77724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23" name="Google Shape;123;p28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</a:t>
            </a:r>
            <a:r>
              <a:rPr lang="en"/>
              <a:t>Dynamic Ego Networks</a:t>
            </a:r>
            <a:endParaRPr/>
          </a:p>
        </p:txBody>
      </p:sp>
      <p:sp>
        <p:nvSpPr>
          <p:cNvPr id="134" name="Google Shape;134;p3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140" name="Google Shape;140;p33"/>
          <p:cNvSpPr txBox="1"/>
          <p:nvPr>
            <p:ph idx="1" type="body"/>
          </p:nvPr>
        </p:nvSpPr>
        <p:spPr>
          <a:xfrm>
            <a:off x="311700" y="1225225"/>
            <a:ext cx="501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larger the ego network: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more diverse, less homophilous, more open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Smaller ego networks: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Tend to be more clustered , less diverse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more diversity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Less homophily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higher average tie strength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more clustering, less diversity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more proportion kin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more homophily, less diversity, more clustering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3"/>
          <p:cNvSpPr/>
          <p:nvPr/>
        </p:nvSpPr>
        <p:spPr>
          <a:xfrm>
            <a:off x="6412313" y="2483063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142" name="Google Shape;142;p33"/>
          <p:cNvSpPr/>
          <p:nvPr/>
        </p:nvSpPr>
        <p:spPr>
          <a:xfrm>
            <a:off x="5853038" y="1634838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43" name="Google Shape;143;p33"/>
          <p:cNvSpPr/>
          <p:nvPr/>
        </p:nvSpPr>
        <p:spPr>
          <a:xfrm>
            <a:off x="7725813" y="35675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44" name="Google Shape;144;p33"/>
          <p:cNvCxnSpPr>
            <a:stCxn id="143" idx="1"/>
            <a:endCxn id="141" idx="5"/>
          </p:cNvCxnSpPr>
          <p:nvPr/>
        </p:nvCxnSpPr>
        <p:spPr>
          <a:xfrm rot="10800000">
            <a:off x="7056821" y="3103747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33"/>
          <p:cNvSpPr/>
          <p:nvPr/>
        </p:nvSpPr>
        <p:spPr>
          <a:xfrm>
            <a:off x="5462863" y="24829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146" name="Google Shape;146;p33"/>
          <p:cNvSpPr/>
          <p:nvPr/>
        </p:nvSpPr>
        <p:spPr>
          <a:xfrm>
            <a:off x="6412438" y="4056788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147" name="Google Shape;147;p33"/>
          <p:cNvCxnSpPr>
            <a:stCxn id="146" idx="0"/>
            <a:endCxn id="141" idx="4"/>
          </p:cNvCxnSpPr>
          <p:nvPr/>
        </p:nvCxnSpPr>
        <p:spPr>
          <a:xfrm flipH="1" rot="10800000">
            <a:off x="6556888" y="3210188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33"/>
          <p:cNvSpPr/>
          <p:nvPr/>
        </p:nvSpPr>
        <p:spPr>
          <a:xfrm>
            <a:off x="7683513" y="18655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149" name="Google Shape;149;p33"/>
          <p:cNvSpPr/>
          <p:nvPr/>
        </p:nvSpPr>
        <p:spPr>
          <a:xfrm>
            <a:off x="5608363" y="34687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150" name="Google Shape;150;p33"/>
          <p:cNvCxnSpPr>
            <a:stCxn id="149" idx="7"/>
            <a:endCxn id="141" idx="3"/>
          </p:cNvCxnSpPr>
          <p:nvPr/>
        </p:nvCxnSpPr>
        <p:spPr>
          <a:xfrm flipH="1" rot="10800000">
            <a:off x="5854954" y="3103647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33"/>
          <p:cNvSpPr/>
          <p:nvPr/>
        </p:nvSpPr>
        <p:spPr>
          <a:xfrm>
            <a:off x="8100363" y="27418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152" name="Google Shape;152;p33"/>
          <p:cNvCxnSpPr>
            <a:stCxn id="151" idx="2"/>
            <a:endCxn id="141" idx="6"/>
          </p:cNvCxnSpPr>
          <p:nvPr/>
        </p:nvCxnSpPr>
        <p:spPr>
          <a:xfrm rot="10800000">
            <a:off x="7167363" y="2846713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33"/>
          <p:cNvSpPr/>
          <p:nvPr/>
        </p:nvSpPr>
        <p:spPr>
          <a:xfrm>
            <a:off x="6616488" y="14773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54" name="Google Shape;154;p33"/>
          <p:cNvCxnSpPr>
            <a:stCxn id="153" idx="4"/>
            <a:endCxn id="141" idx="0"/>
          </p:cNvCxnSpPr>
          <p:nvPr/>
        </p:nvCxnSpPr>
        <p:spPr>
          <a:xfrm>
            <a:off x="6760938" y="1747650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33"/>
          <p:cNvCxnSpPr>
            <a:stCxn id="143" idx="0"/>
            <a:endCxn id="148" idx="4"/>
          </p:cNvCxnSpPr>
          <p:nvPr/>
        </p:nvCxnSpPr>
        <p:spPr>
          <a:xfrm rot="10800000">
            <a:off x="7827963" y="2135963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33"/>
          <p:cNvCxnSpPr>
            <a:stCxn id="148" idx="2"/>
            <a:endCxn id="153" idx="5"/>
          </p:cNvCxnSpPr>
          <p:nvPr/>
        </p:nvCxnSpPr>
        <p:spPr>
          <a:xfrm rot="10800000">
            <a:off x="6863013" y="1708213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33"/>
          <p:cNvCxnSpPr>
            <a:stCxn id="151" idx="1"/>
            <a:endCxn id="148" idx="4"/>
          </p:cNvCxnSpPr>
          <p:nvPr/>
        </p:nvCxnSpPr>
        <p:spPr>
          <a:xfrm rot="10800000">
            <a:off x="7827971" y="2135847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33"/>
          <p:cNvCxnSpPr>
            <a:stCxn id="143" idx="0"/>
            <a:endCxn id="151" idx="3"/>
          </p:cNvCxnSpPr>
          <p:nvPr/>
        </p:nvCxnSpPr>
        <p:spPr>
          <a:xfrm flipH="1" rot="10800000">
            <a:off x="7870263" y="2972663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33"/>
          <p:cNvCxnSpPr>
            <a:stCxn id="142" idx="3"/>
            <a:endCxn id="145" idx="0"/>
          </p:cNvCxnSpPr>
          <p:nvPr/>
        </p:nvCxnSpPr>
        <p:spPr>
          <a:xfrm flipH="1">
            <a:off x="5607346" y="1865553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33"/>
          <p:cNvCxnSpPr>
            <a:stCxn id="153" idx="2"/>
            <a:endCxn id="142" idx="6"/>
          </p:cNvCxnSpPr>
          <p:nvPr/>
        </p:nvCxnSpPr>
        <p:spPr>
          <a:xfrm flipH="1">
            <a:off x="6141888" y="1612500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33"/>
          <p:cNvCxnSpPr>
            <a:stCxn id="153" idx="3"/>
            <a:endCxn id="145" idx="7"/>
          </p:cNvCxnSpPr>
          <p:nvPr/>
        </p:nvCxnSpPr>
        <p:spPr>
          <a:xfrm flipH="1">
            <a:off x="5709596" y="1708065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167" name="Google Shape;167;p34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168" name="Google Shape;168;p34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69" name="Google Shape;169;p34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70" name="Google Shape;170;p34"/>
          <p:cNvCxnSpPr>
            <a:stCxn id="169" idx="1"/>
            <a:endCxn id="167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34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172" name="Google Shape;172;p34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173" name="Google Shape;173;p34"/>
          <p:cNvCxnSpPr>
            <a:stCxn id="172" idx="0"/>
            <a:endCxn id="167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34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175" name="Google Shape;175;p34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176" name="Google Shape;176;p34"/>
          <p:cNvCxnSpPr>
            <a:stCxn id="175" idx="7"/>
            <a:endCxn id="167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34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178" name="Google Shape;178;p34"/>
          <p:cNvCxnSpPr>
            <a:stCxn id="177" idx="2"/>
            <a:endCxn id="167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34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180" name="Google Shape;180;p34"/>
          <p:cNvCxnSpPr>
            <a:stCxn id="179" idx="4"/>
            <a:endCxn id="167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34"/>
          <p:cNvCxnSpPr>
            <a:stCxn id="169" idx="0"/>
            <a:endCxn id="174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4"/>
          <p:cNvCxnSpPr>
            <a:stCxn id="174" idx="2"/>
            <a:endCxn id="179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34"/>
          <p:cNvCxnSpPr>
            <a:stCxn id="177" idx="1"/>
            <a:endCxn id="174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34"/>
          <p:cNvCxnSpPr>
            <a:stCxn id="169" idx="0"/>
            <a:endCxn id="177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34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34"/>
          <p:cNvCxnSpPr>
            <a:stCxn id="168" idx="3"/>
            <a:endCxn id="171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34"/>
          <p:cNvCxnSpPr>
            <a:stCxn id="179" idx="2"/>
            <a:endCxn id="168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4"/>
          <p:cNvCxnSpPr>
            <a:stCxn id="179" idx="3"/>
            <a:endCxn id="171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34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190" name="Google Shape;190;p34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91" name="Google Shape;191;p34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192" name="Google Shape;192;p34"/>
          <p:cNvCxnSpPr>
            <a:stCxn id="191" idx="1"/>
            <a:endCxn id="189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34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194" name="Google Shape;194;p34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195" name="Google Shape;195;p34"/>
          <p:cNvCxnSpPr>
            <a:stCxn id="194" idx="0"/>
            <a:endCxn id="189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4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197" name="Google Shape;197;p34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198" name="Google Shape;198;p34"/>
          <p:cNvCxnSpPr>
            <a:stCxn id="197" idx="7"/>
            <a:endCxn id="189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34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00" name="Google Shape;200;p34"/>
          <p:cNvCxnSpPr>
            <a:stCxn id="199" idx="2"/>
            <a:endCxn id="189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34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02" name="Google Shape;202;p34"/>
          <p:cNvCxnSpPr>
            <a:stCxn id="201" idx="4"/>
            <a:endCxn id="189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4"/>
          <p:cNvCxnSpPr>
            <a:stCxn id="191" idx="0"/>
            <a:endCxn id="196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4"/>
          <p:cNvCxnSpPr>
            <a:stCxn id="196" idx="2"/>
            <a:endCxn id="201" idx="5"/>
          </p:cNvCxnSpPr>
          <p:nvPr/>
        </p:nvCxnSpPr>
        <p:spPr>
          <a:xfrm rot="10800000">
            <a:off x="7264638" y="151322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4"/>
          <p:cNvCxnSpPr>
            <a:stCxn id="199" idx="1"/>
            <a:endCxn id="196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4"/>
          <p:cNvCxnSpPr>
            <a:stCxn id="191" idx="0"/>
            <a:endCxn id="199" idx="3"/>
          </p:cNvCxnSpPr>
          <p:nvPr/>
        </p:nvCxnSpPr>
        <p:spPr>
          <a:xfrm flipH="1" rot="10800000">
            <a:off x="8271888" y="277767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4"/>
          <p:cNvCxnSpPr>
            <a:stCxn id="190" idx="3"/>
            <a:endCxn id="193" idx="0"/>
          </p:cNvCxnSpPr>
          <p:nvPr/>
        </p:nvCxnSpPr>
        <p:spPr>
          <a:xfrm flipH="1">
            <a:off x="6008971" y="167056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4"/>
          <p:cNvCxnSpPr>
            <a:stCxn id="201" idx="2"/>
            <a:endCxn id="190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4"/>
          <p:cNvCxnSpPr>
            <a:stCxn id="201" idx="3"/>
            <a:endCxn id="193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216" name="Google Shape;216;p35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217" name="Google Shape;217;p35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18" name="Google Shape;218;p35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219" name="Google Shape;219;p35"/>
          <p:cNvCxnSpPr>
            <a:stCxn id="218" idx="1"/>
            <a:endCxn id="216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35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21" name="Google Shape;221;p35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22" name="Google Shape;222;p35"/>
          <p:cNvCxnSpPr>
            <a:stCxn id="221" idx="0"/>
            <a:endCxn id="216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5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24" name="Google Shape;224;p35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225" name="Google Shape;225;p35"/>
          <p:cNvCxnSpPr>
            <a:stCxn id="224" idx="7"/>
            <a:endCxn id="216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5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27" name="Google Shape;227;p35"/>
          <p:cNvCxnSpPr>
            <a:stCxn id="226" idx="2"/>
            <a:endCxn id="216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35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29" name="Google Shape;229;p35"/>
          <p:cNvCxnSpPr>
            <a:stCxn id="228" idx="4"/>
            <a:endCxn id="216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5"/>
          <p:cNvCxnSpPr>
            <a:stCxn id="218" idx="0"/>
            <a:endCxn id="223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5"/>
          <p:cNvCxnSpPr>
            <a:stCxn id="223" idx="2"/>
            <a:endCxn id="228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5"/>
          <p:cNvCxnSpPr>
            <a:stCxn id="226" idx="1"/>
            <a:endCxn id="223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5"/>
          <p:cNvCxnSpPr>
            <a:stCxn id="218" idx="0"/>
            <a:endCxn id="226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5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35"/>
          <p:cNvCxnSpPr>
            <a:stCxn id="217" idx="3"/>
            <a:endCxn id="220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5"/>
          <p:cNvCxnSpPr>
            <a:stCxn id="228" idx="2"/>
            <a:endCxn id="217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5"/>
          <p:cNvCxnSpPr>
            <a:stCxn id="228" idx="3"/>
            <a:endCxn id="220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5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239" name="Google Shape;239;p35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40" name="Google Shape;240;p35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241" name="Google Shape;241;p35"/>
          <p:cNvCxnSpPr>
            <a:stCxn id="240" idx="1"/>
            <a:endCxn id="238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5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43" name="Google Shape;243;p35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244" name="Google Shape;244;p35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45" name="Google Shape;245;p35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47" name="Google Shape;247;p35"/>
          <p:cNvCxnSpPr>
            <a:stCxn id="246" idx="2"/>
            <a:endCxn id="238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5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49" name="Google Shape;249;p35"/>
          <p:cNvCxnSpPr>
            <a:stCxn id="248" idx="4"/>
            <a:endCxn id="238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5"/>
          <p:cNvCxnSpPr>
            <a:stCxn id="240" idx="0"/>
            <a:endCxn id="244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5"/>
          <p:cNvCxnSpPr>
            <a:stCxn id="244" idx="2"/>
            <a:endCxn id="248" idx="5"/>
          </p:cNvCxnSpPr>
          <p:nvPr/>
        </p:nvCxnSpPr>
        <p:spPr>
          <a:xfrm rot="10800000">
            <a:off x="7264638" y="151322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5"/>
          <p:cNvCxnSpPr>
            <a:stCxn id="246" idx="1"/>
            <a:endCxn id="244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5"/>
          <p:cNvCxnSpPr>
            <a:stCxn id="240" idx="0"/>
            <a:endCxn id="246" idx="3"/>
          </p:cNvCxnSpPr>
          <p:nvPr/>
        </p:nvCxnSpPr>
        <p:spPr>
          <a:xfrm flipH="1" rot="10800000">
            <a:off x="8271888" y="277767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5"/>
          <p:cNvCxnSpPr>
            <a:stCxn id="239" idx="3"/>
            <a:endCxn id="242" idx="0"/>
          </p:cNvCxnSpPr>
          <p:nvPr/>
        </p:nvCxnSpPr>
        <p:spPr>
          <a:xfrm flipH="1">
            <a:off x="6008971" y="167056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5"/>
          <p:cNvCxnSpPr>
            <a:stCxn id="248" idx="2"/>
            <a:endCxn id="239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5"/>
          <p:cNvCxnSpPr>
            <a:stCxn id="248" idx="3"/>
            <a:endCxn id="242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Decay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263" name="Google Shape;263;p36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65" name="Google Shape;265;p36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266" name="Google Shape;266;p36"/>
          <p:cNvCxnSpPr>
            <a:stCxn id="265" idx="1"/>
            <a:endCxn id="263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6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68" name="Google Shape;268;p36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69" name="Google Shape;269;p36"/>
          <p:cNvCxnSpPr>
            <a:stCxn id="268" idx="0"/>
            <a:endCxn id="263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6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71" name="Google Shape;271;p36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272" name="Google Shape;272;p36"/>
          <p:cNvCxnSpPr>
            <a:stCxn id="271" idx="7"/>
            <a:endCxn id="263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6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74" name="Google Shape;274;p36"/>
          <p:cNvCxnSpPr>
            <a:stCxn id="273" idx="2"/>
            <a:endCxn id="263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6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76" name="Google Shape;276;p36"/>
          <p:cNvCxnSpPr>
            <a:stCxn id="275" idx="4"/>
            <a:endCxn id="263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36"/>
          <p:cNvCxnSpPr>
            <a:stCxn id="265" idx="0"/>
            <a:endCxn id="270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6"/>
          <p:cNvCxnSpPr>
            <a:stCxn id="270" idx="2"/>
            <a:endCxn id="275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6"/>
          <p:cNvCxnSpPr>
            <a:stCxn id="273" idx="1"/>
            <a:endCxn id="270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6"/>
          <p:cNvCxnSpPr>
            <a:stCxn id="265" idx="0"/>
            <a:endCxn id="273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6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36"/>
          <p:cNvCxnSpPr>
            <a:stCxn id="264" idx="3"/>
            <a:endCxn id="267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6"/>
          <p:cNvCxnSpPr>
            <a:stCxn id="275" idx="2"/>
            <a:endCxn id="264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6"/>
          <p:cNvCxnSpPr>
            <a:stCxn id="275" idx="3"/>
            <a:endCxn id="267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6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87" name="Google Shape;287;p36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288" name="Google Shape;288;p36"/>
          <p:cNvCxnSpPr>
            <a:stCxn id="287" idx="1"/>
            <a:endCxn id="285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36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90" name="Google Shape;290;p36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91" name="Google Shape;291;p36"/>
          <p:cNvCxnSpPr>
            <a:stCxn id="292" idx="2"/>
            <a:endCxn id="285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36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93" name="Google Shape;293;p36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294" name="Google Shape;294;p36"/>
          <p:cNvCxnSpPr>
            <a:stCxn id="285" idx="2"/>
            <a:endCxn id="289" idx="6"/>
          </p:cNvCxnSpPr>
          <p:nvPr/>
        </p:nvCxnSpPr>
        <p:spPr>
          <a:xfrm rot="10800000">
            <a:off x="6153338" y="242307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6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296" name="Google Shape;296;p36"/>
          <p:cNvCxnSpPr>
            <a:stCxn id="295" idx="2"/>
            <a:endCxn id="285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6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298" name="Google Shape;298;p36"/>
          <p:cNvCxnSpPr>
            <a:stCxn id="297" idx="4"/>
            <a:endCxn id="285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6"/>
          <p:cNvCxnSpPr>
            <a:stCxn id="287" idx="0"/>
            <a:endCxn id="292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6"/>
          <p:cNvCxnSpPr>
            <a:stCxn id="292" idx="2"/>
            <a:endCxn id="297" idx="5"/>
          </p:cNvCxnSpPr>
          <p:nvPr/>
        </p:nvCxnSpPr>
        <p:spPr>
          <a:xfrm rot="10800000">
            <a:off x="7264638" y="151322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6"/>
          <p:cNvCxnSpPr>
            <a:stCxn id="295" idx="1"/>
            <a:endCxn id="292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6"/>
          <p:cNvCxnSpPr>
            <a:stCxn id="287" idx="0"/>
            <a:endCxn id="295" idx="3"/>
          </p:cNvCxnSpPr>
          <p:nvPr/>
        </p:nvCxnSpPr>
        <p:spPr>
          <a:xfrm flipH="1" rot="10800000">
            <a:off x="8271888" y="277767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6"/>
          <p:cNvCxnSpPr>
            <a:stCxn id="286" idx="3"/>
            <a:endCxn id="289" idx="0"/>
          </p:cNvCxnSpPr>
          <p:nvPr/>
        </p:nvCxnSpPr>
        <p:spPr>
          <a:xfrm flipH="1">
            <a:off x="6008971" y="167056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6"/>
          <p:cNvCxnSpPr>
            <a:stCxn id="297" idx="2"/>
            <a:endCxn id="286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6"/>
          <p:cNvCxnSpPr>
            <a:stCxn id="297" idx="3"/>
            <a:endCxn id="289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6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Formation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312" name="Google Shape;312;p37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313" name="Google Shape;313;p37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14" name="Google Shape;314;p37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315" name="Google Shape;315;p37"/>
          <p:cNvCxnSpPr>
            <a:stCxn id="314" idx="1"/>
            <a:endCxn id="312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37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317" name="Google Shape;317;p37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18" name="Google Shape;318;p37"/>
          <p:cNvCxnSpPr>
            <a:stCxn id="317" idx="0"/>
            <a:endCxn id="312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37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320" name="Google Shape;320;p37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321" name="Google Shape;321;p37"/>
          <p:cNvCxnSpPr>
            <a:stCxn id="320" idx="7"/>
            <a:endCxn id="312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7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323" name="Google Shape;323;p37"/>
          <p:cNvCxnSpPr>
            <a:stCxn id="322" idx="2"/>
            <a:endCxn id="312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7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25" name="Google Shape;325;p37"/>
          <p:cNvCxnSpPr>
            <a:stCxn id="324" idx="4"/>
            <a:endCxn id="312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7"/>
          <p:cNvCxnSpPr>
            <a:stCxn id="314" idx="0"/>
            <a:endCxn id="319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7"/>
          <p:cNvCxnSpPr>
            <a:stCxn id="319" idx="2"/>
            <a:endCxn id="324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7"/>
          <p:cNvCxnSpPr>
            <a:stCxn id="322" idx="1"/>
            <a:endCxn id="319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7"/>
          <p:cNvCxnSpPr>
            <a:stCxn id="314" idx="0"/>
            <a:endCxn id="322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7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" name="Google Shape;331;p37"/>
          <p:cNvCxnSpPr>
            <a:stCxn id="313" idx="3"/>
            <a:endCxn id="316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7"/>
          <p:cNvCxnSpPr>
            <a:stCxn id="324" idx="2"/>
            <a:endCxn id="313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7"/>
          <p:cNvCxnSpPr>
            <a:stCxn id="324" idx="3"/>
            <a:endCxn id="316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7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335" name="Google Shape;335;p37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36" name="Google Shape;336;p37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337" name="Google Shape;337;p37"/>
          <p:cNvCxnSpPr>
            <a:stCxn id="336" idx="1"/>
            <a:endCxn id="334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7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339" name="Google Shape;339;p37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40" name="Google Shape;340;p37"/>
          <p:cNvCxnSpPr>
            <a:stCxn id="341" idx="2"/>
            <a:endCxn id="334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7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342" name="Google Shape;342;p37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343" name="Google Shape;343;p37"/>
          <p:cNvCxnSpPr>
            <a:stCxn id="334" idx="2"/>
            <a:endCxn id="338" idx="6"/>
          </p:cNvCxnSpPr>
          <p:nvPr/>
        </p:nvCxnSpPr>
        <p:spPr>
          <a:xfrm rot="10800000">
            <a:off x="6153338" y="242307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7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345" name="Google Shape;345;p37"/>
          <p:cNvCxnSpPr>
            <a:stCxn id="344" idx="2"/>
            <a:endCxn id="334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37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47" name="Google Shape;347;p37"/>
          <p:cNvCxnSpPr>
            <a:stCxn id="346" idx="4"/>
            <a:endCxn id="334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7"/>
          <p:cNvCxnSpPr>
            <a:stCxn id="336" idx="0"/>
            <a:endCxn id="341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7"/>
          <p:cNvCxnSpPr>
            <a:stCxn id="341" idx="2"/>
            <a:endCxn id="346" idx="5"/>
          </p:cNvCxnSpPr>
          <p:nvPr/>
        </p:nvCxnSpPr>
        <p:spPr>
          <a:xfrm rot="10800000">
            <a:off x="7264638" y="151322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7"/>
          <p:cNvCxnSpPr>
            <a:stCxn id="344" idx="1"/>
            <a:endCxn id="341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7"/>
          <p:cNvCxnSpPr>
            <a:stCxn id="336" idx="0"/>
            <a:endCxn id="344" idx="3"/>
          </p:cNvCxnSpPr>
          <p:nvPr/>
        </p:nvCxnSpPr>
        <p:spPr>
          <a:xfrm flipH="1" rot="10800000">
            <a:off x="8271888" y="277767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7"/>
          <p:cNvCxnSpPr>
            <a:stCxn id="335" idx="3"/>
            <a:endCxn id="338" idx="0"/>
          </p:cNvCxnSpPr>
          <p:nvPr/>
        </p:nvCxnSpPr>
        <p:spPr>
          <a:xfrm flipH="1">
            <a:off x="6008971" y="167056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7"/>
          <p:cNvCxnSpPr>
            <a:stCxn id="346" idx="2"/>
            <a:endCxn id="335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7"/>
          <p:cNvCxnSpPr>
            <a:stCxn id="346" idx="3"/>
            <a:endCxn id="338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7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Formation among alters</a:t>
            </a:r>
            <a:endParaRPr/>
          </a:p>
        </p:txBody>
      </p:sp>
      <p:cxnSp>
        <p:nvCxnSpPr>
          <p:cNvPr id="356" name="Google Shape;356;p37"/>
          <p:cNvCxnSpPr>
            <a:stCxn id="339" idx="1"/>
            <a:endCxn id="342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7"/>
          <p:cNvCxnSpPr>
            <a:stCxn id="342" idx="6"/>
            <a:endCxn id="336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7"/>
          <p:cNvCxnSpPr>
            <a:stCxn id="339" idx="0"/>
            <a:endCxn id="336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364" name="Google Shape;364;p38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365" name="Google Shape;365;p38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66" name="Google Shape;366;p38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367" name="Google Shape;367;p38"/>
          <p:cNvCxnSpPr>
            <a:stCxn id="366" idx="1"/>
            <a:endCxn id="364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8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369" name="Google Shape;369;p38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70" name="Google Shape;370;p38"/>
          <p:cNvCxnSpPr>
            <a:stCxn id="369" idx="0"/>
            <a:endCxn id="364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8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372" name="Google Shape;372;p38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373" name="Google Shape;373;p38"/>
          <p:cNvCxnSpPr>
            <a:stCxn id="372" idx="7"/>
            <a:endCxn id="364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38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375" name="Google Shape;375;p38"/>
          <p:cNvCxnSpPr>
            <a:stCxn id="374" idx="2"/>
            <a:endCxn id="364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38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77" name="Google Shape;377;p38"/>
          <p:cNvCxnSpPr>
            <a:stCxn id="376" idx="4"/>
            <a:endCxn id="364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8"/>
          <p:cNvCxnSpPr>
            <a:stCxn id="366" idx="0"/>
            <a:endCxn id="371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8"/>
          <p:cNvCxnSpPr>
            <a:stCxn id="371" idx="2"/>
            <a:endCxn id="376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8"/>
          <p:cNvCxnSpPr>
            <a:stCxn id="374" idx="1"/>
            <a:endCxn id="371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8"/>
          <p:cNvCxnSpPr>
            <a:stCxn id="366" idx="0"/>
            <a:endCxn id="374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8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3" name="Google Shape;383;p38"/>
          <p:cNvCxnSpPr>
            <a:stCxn id="365" idx="3"/>
            <a:endCxn id="368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8"/>
          <p:cNvCxnSpPr>
            <a:stCxn id="376" idx="2"/>
            <a:endCxn id="365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8"/>
          <p:cNvCxnSpPr>
            <a:stCxn id="376" idx="3"/>
            <a:endCxn id="368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38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387" name="Google Shape;387;p38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88" name="Google Shape;388;p38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389" name="Google Shape;389;p38"/>
          <p:cNvCxnSpPr>
            <a:stCxn id="388" idx="1"/>
            <a:endCxn id="386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38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391" name="Google Shape;391;p38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392" name="Google Shape;392;p38"/>
          <p:cNvCxnSpPr>
            <a:stCxn id="393" idx="2"/>
            <a:endCxn id="386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8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394" name="Google Shape;394;p38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395" name="Google Shape;395;p38"/>
          <p:cNvCxnSpPr>
            <a:stCxn id="386" idx="2"/>
            <a:endCxn id="390" idx="6"/>
          </p:cNvCxnSpPr>
          <p:nvPr/>
        </p:nvCxnSpPr>
        <p:spPr>
          <a:xfrm rot="10800000">
            <a:off x="6153338" y="242307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38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397" name="Google Shape;397;p38"/>
          <p:cNvCxnSpPr>
            <a:stCxn id="396" idx="2"/>
            <a:endCxn id="386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38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399" name="Google Shape;399;p38"/>
          <p:cNvCxnSpPr>
            <a:stCxn id="398" idx="4"/>
            <a:endCxn id="386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38"/>
          <p:cNvCxnSpPr>
            <a:stCxn id="388" idx="0"/>
            <a:endCxn id="393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8"/>
          <p:cNvCxnSpPr>
            <a:stCxn id="396" idx="1"/>
            <a:endCxn id="393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8"/>
          <p:cNvCxnSpPr>
            <a:stCxn id="398" idx="2"/>
            <a:endCxn id="387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8"/>
          <p:cNvCxnSpPr>
            <a:stCxn id="398" idx="3"/>
            <a:endCxn id="390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8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decay among alters</a:t>
            </a:r>
            <a:endParaRPr/>
          </a:p>
        </p:txBody>
      </p:sp>
      <p:cxnSp>
        <p:nvCxnSpPr>
          <p:cNvPr id="405" name="Google Shape;405;p38"/>
          <p:cNvCxnSpPr>
            <a:stCxn id="391" idx="1"/>
            <a:endCxn id="394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38"/>
          <p:cNvCxnSpPr>
            <a:stCxn id="394" idx="6"/>
            <a:endCxn id="388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8"/>
          <p:cNvCxnSpPr>
            <a:stCxn id="391" idx="0"/>
            <a:endCxn id="388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413" name="Google Shape;413;p39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414" name="Google Shape;414;p39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15" name="Google Shape;415;p39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16" name="Google Shape;416;p39"/>
          <p:cNvCxnSpPr>
            <a:stCxn id="415" idx="1"/>
            <a:endCxn id="413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39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418" name="Google Shape;418;p39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419" name="Google Shape;419;p39"/>
          <p:cNvCxnSpPr>
            <a:stCxn id="418" idx="0"/>
            <a:endCxn id="413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39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21" name="Google Shape;421;p39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422" name="Google Shape;422;p39"/>
          <p:cNvCxnSpPr>
            <a:stCxn id="421" idx="7"/>
            <a:endCxn id="413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39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424" name="Google Shape;424;p39"/>
          <p:cNvCxnSpPr>
            <a:stCxn id="423" idx="2"/>
            <a:endCxn id="413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9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426" name="Google Shape;426;p39"/>
          <p:cNvCxnSpPr>
            <a:stCxn id="425" idx="4"/>
            <a:endCxn id="413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9"/>
          <p:cNvCxnSpPr>
            <a:stCxn id="415" idx="0"/>
            <a:endCxn id="420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9"/>
          <p:cNvCxnSpPr>
            <a:stCxn id="420" idx="2"/>
            <a:endCxn id="425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9"/>
          <p:cNvCxnSpPr>
            <a:stCxn id="423" idx="1"/>
            <a:endCxn id="420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39"/>
          <p:cNvCxnSpPr>
            <a:stCxn id="415" idx="0"/>
            <a:endCxn id="423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39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39"/>
          <p:cNvCxnSpPr>
            <a:stCxn id="414" idx="3"/>
            <a:endCxn id="417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9"/>
          <p:cNvCxnSpPr>
            <a:stCxn id="425" idx="2"/>
            <a:endCxn id="414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9"/>
          <p:cNvCxnSpPr>
            <a:stCxn id="425" idx="3"/>
            <a:endCxn id="417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436" name="Google Shape;436;p39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37" name="Google Shape;437;p39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38" name="Google Shape;438;p39"/>
          <p:cNvCxnSpPr>
            <a:stCxn id="437" idx="1"/>
            <a:endCxn id="435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39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440" name="Google Shape;440;p39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441" name="Google Shape;441;p39"/>
          <p:cNvCxnSpPr>
            <a:stCxn id="442" idx="2"/>
            <a:endCxn id="435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39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43" name="Google Shape;443;p39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444" name="Google Shape;444;p39"/>
          <p:cNvCxnSpPr>
            <a:stCxn id="435" idx="2"/>
            <a:endCxn id="439" idx="6"/>
          </p:cNvCxnSpPr>
          <p:nvPr/>
        </p:nvCxnSpPr>
        <p:spPr>
          <a:xfrm rot="10800000">
            <a:off x="6153338" y="242307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39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446" name="Google Shape;446;p39"/>
          <p:cNvCxnSpPr>
            <a:stCxn id="445" idx="2"/>
            <a:endCxn id="435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39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448" name="Google Shape;448;p39"/>
          <p:cNvCxnSpPr>
            <a:stCxn id="447" idx="4"/>
            <a:endCxn id="435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9"/>
          <p:cNvCxnSpPr>
            <a:stCxn id="437" idx="0"/>
            <a:endCxn id="442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9"/>
          <p:cNvCxnSpPr>
            <a:stCxn id="445" idx="1"/>
            <a:endCxn id="442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9"/>
          <p:cNvCxnSpPr>
            <a:stCxn id="447" idx="2"/>
            <a:endCxn id="436" idx="6"/>
          </p:cNvCxnSpPr>
          <p:nvPr/>
        </p:nvCxnSpPr>
        <p:spPr>
          <a:xfrm flipH="1">
            <a:off x="6543513" y="141751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9"/>
          <p:cNvCxnSpPr>
            <a:stCxn id="447" idx="3"/>
            <a:endCxn id="439" idx="7"/>
          </p:cNvCxnSpPr>
          <p:nvPr/>
        </p:nvCxnSpPr>
        <p:spPr>
          <a:xfrm flipH="1">
            <a:off x="6111221" y="151307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39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Tie regeneration</a:t>
            </a:r>
            <a:endParaRPr/>
          </a:p>
        </p:txBody>
      </p:sp>
      <p:cxnSp>
        <p:nvCxnSpPr>
          <p:cNvPr id="454" name="Google Shape;454;p39"/>
          <p:cNvCxnSpPr>
            <a:stCxn id="440" idx="1"/>
            <a:endCxn id="443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9"/>
          <p:cNvCxnSpPr>
            <a:stCxn id="443" idx="6"/>
            <a:endCxn id="437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9"/>
          <p:cNvCxnSpPr>
            <a:stCxn id="440" idx="0"/>
            <a:endCxn id="437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9"/>
          <p:cNvCxnSpPr>
            <a:stCxn id="443" idx="7"/>
            <a:endCxn id="435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39"/>
          <p:cNvCxnSpPr>
            <a:stCxn id="440" idx="0"/>
            <a:endCxn id="435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465" name="Google Shape;465;p40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67" name="Google Shape;467;p40"/>
          <p:cNvCxnSpPr>
            <a:stCxn id="466" idx="1"/>
            <a:endCxn id="464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0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469" name="Google Shape;469;p40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470" name="Google Shape;470;p40"/>
          <p:cNvCxnSpPr>
            <a:stCxn id="469" idx="0"/>
            <a:endCxn id="464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0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72" name="Google Shape;472;p40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473" name="Google Shape;473;p40"/>
          <p:cNvCxnSpPr>
            <a:stCxn id="472" idx="7"/>
            <a:endCxn id="464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40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475" name="Google Shape;475;p40"/>
          <p:cNvCxnSpPr>
            <a:stCxn id="474" idx="2"/>
            <a:endCxn id="464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40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477" name="Google Shape;477;p40"/>
          <p:cNvCxnSpPr>
            <a:stCxn id="476" idx="4"/>
            <a:endCxn id="464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40"/>
          <p:cNvCxnSpPr>
            <a:stCxn id="466" idx="0"/>
            <a:endCxn id="471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0"/>
          <p:cNvCxnSpPr>
            <a:stCxn id="471" idx="2"/>
            <a:endCxn id="476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0"/>
          <p:cNvCxnSpPr>
            <a:stCxn id="474" idx="1"/>
            <a:endCxn id="471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0"/>
          <p:cNvCxnSpPr>
            <a:stCxn id="466" idx="0"/>
            <a:endCxn id="474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40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3" name="Google Shape;483;p40"/>
          <p:cNvCxnSpPr>
            <a:stCxn id="465" idx="3"/>
            <a:endCxn id="468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0"/>
          <p:cNvCxnSpPr>
            <a:stCxn id="476" idx="2"/>
            <a:endCxn id="465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0"/>
          <p:cNvCxnSpPr>
            <a:stCxn id="476" idx="3"/>
            <a:endCxn id="468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0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487" name="Google Shape;487;p40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488" name="Google Shape;488;p40"/>
          <p:cNvCxnSpPr>
            <a:stCxn id="487" idx="1"/>
            <a:endCxn id="486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40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490" name="Google Shape;490;p40"/>
          <p:cNvCxnSpPr>
            <a:stCxn id="491" idx="2"/>
            <a:endCxn id="486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" name="Google Shape;491;p40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92" name="Google Shape;492;p40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493" name="Google Shape;493;p40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494" name="Google Shape;494;p40"/>
          <p:cNvCxnSpPr>
            <a:stCxn id="493" idx="2"/>
            <a:endCxn id="486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40"/>
          <p:cNvCxnSpPr>
            <a:stCxn id="487" idx="0"/>
            <a:endCxn id="491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40"/>
          <p:cNvCxnSpPr>
            <a:stCxn id="493" idx="1"/>
            <a:endCxn id="491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4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</a:t>
            </a:r>
            <a:r>
              <a:rPr lang="en"/>
              <a:t>Turnover</a:t>
            </a:r>
            <a:endParaRPr/>
          </a:p>
        </p:txBody>
      </p:sp>
      <p:cxnSp>
        <p:nvCxnSpPr>
          <p:cNvPr id="498" name="Google Shape;498;p40"/>
          <p:cNvCxnSpPr>
            <a:stCxn id="489" idx="1"/>
            <a:endCxn id="492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0"/>
          <p:cNvCxnSpPr>
            <a:stCxn id="492" idx="6"/>
            <a:endCxn id="487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40"/>
          <p:cNvCxnSpPr>
            <a:stCxn id="489" idx="0"/>
            <a:endCxn id="487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40"/>
          <p:cNvCxnSpPr>
            <a:stCxn id="492" idx="7"/>
            <a:endCxn id="486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40"/>
          <p:cNvCxnSpPr>
            <a:stCxn id="489" idx="0"/>
            <a:endCxn id="486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1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508" name="Google Shape;508;p41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509" name="Google Shape;509;p41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10" name="Google Shape;510;p41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11" name="Google Shape;511;p41"/>
          <p:cNvCxnSpPr>
            <a:stCxn id="510" idx="1"/>
            <a:endCxn id="508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41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513" name="Google Shape;513;p41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14" name="Google Shape;514;p41"/>
          <p:cNvCxnSpPr>
            <a:stCxn id="513" idx="0"/>
            <a:endCxn id="508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41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16" name="Google Shape;516;p41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517" name="Google Shape;517;p41"/>
          <p:cNvCxnSpPr>
            <a:stCxn id="516" idx="7"/>
            <a:endCxn id="508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41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519" name="Google Shape;519;p41"/>
          <p:cNvCxnSpPr>
            <a:stCxn id="518" idx="2"/>
            <a:endCxn id="508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1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21" name="Google Shape;521;p41"/>
          <p:cNvCxnSpPr>
            <a:stCxn id="520" idx="4"/>
            <a:endCxn id="508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41"/>
          <p:cNvCxnSpPr>
            <a:stCxn id="510" idx="0"/>
            <a:endCxn id="515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41"/>
          <p:cNvCxnSpPr>
            <a:stCxn id="515" idx="2"/>
            <a:endCxn id="520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41"/>
          <p:cNvCxnSpPr>
            <a:stCxn id="518" idx="1"/>
            <a:endCxn id="515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41"/>
          <p:cNvCxnSpPr>
            <a:stCxn id="510" idx="0"/>
            <a:endCxn id="518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41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7" name="Google Shape;527;p41"/>
          <p:cNvCxnSpPr>
            <a:stCxn id="509" idx="3"/>
            <a:endCxn id="512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41"/>
          <p:cNvCxnSpPr>
            <a:stCxn id="520" idx="2"/>
            <a:endCxn id="509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41"/>
          <p:cNvCxnSpPr>
            <a:stCxn id="520" idx="3"/>
            <a:endCxn id="512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1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531" name="Google Shape;531;p41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532" name="Google Shape;532;p41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33" name="Google Shape;533;p41"/>
          <p:cNvCxnSpPr>
            <a:stCxn id="532" idx="1"/>
            <a:endCxn id="530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41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535" name="Google Shape;535;p41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36" name="Google Shape;536;p41"/>
          <p:cNvCxnSpPr>
            <a:stCxn id="537" idx="2"/>
            <a:endCxn id="530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41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38" name="Google Shape;538;p41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539" name="Google Shape;539;p41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540" name="Google Shape;540;p41"/>
          <p:cNvCxnSpPr>
            <a:stCxn id="539" idx="2"/>
            <a:endCxn id="530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41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542" name="Google Shape;542;p41"/>
          <p:cNvCxnSpPr>
            <a:stCxn id="532" idx="0"/>
            <a:endCxn id="537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41"/>
          <p:cNvCxnSpPr>
            <a:stCxn id="539" idx="1"/>
            <a:endCxn id="537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" name="Google Shape;544;p41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Connection to new alters</a:t>
            </a:r>
            <a:endParaRPr/>
          </a:p>
        </p:txBody>
      </p:sp>
      <p:cxnSp>
        <p:nvCxnSpPr>
          <p:cNvPr id="545" name="Google Shape;545;p41"/>
          <p:cNvCxnSpPr>
            <a:stCxn id="535" idx="1"/>
            <a:endCxn id="538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1"/>
          <p:cNvCxnSpPr>
            <a:stCxn id="538" idx="6"/>
            <a:endCxn id="532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1"/>
          <p:cNvCxnSpPr>
            <a:stCxn id="535" idx="0"/>
            <a:endCxn id="532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1"/>
          <p:cNvCxnSpPr>
            <a:stCxn id="538" idx="7"/>
            <a:endCxn id="530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41"/>
          <p:cNvCxnSpPr>
            <a:stCxn id="535" idx="0"/>
            <a:endCxn id="530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41"/>
          <p:cNvCxnSpPr>
            <a:stCxn id="534" idx="6"/>
            <a:endCxn id="530" idx="2"/>
          </p:cNvCxnSpPr>
          <p:nvPr/>
        </p:nvCxnSpPr>
        <p:spPr>
          <a:xfrm>
            <a:off x="6153388" y="242312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1"/>
          <p:cNvCxnSpPr>
            <a:stCxn id="531" idx="5"/>
            <a:endCxn id="530" idx="1"/>
          </p:cNvCxnSpPr>
          <p:nvPr/>
        </p:nvCxnSpPr>
        <p:spPr>
          <a:xfrm>
            <a:off x="6501254" y="1670565"/>
            <a:ext cx="423300" cy="72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41"/>
          <p:cNvCxnSpPr>
            <a:stCxn id="541" idx="4"/>
            <a:endCxn id="530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2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Ego-Networks from Structure to Change</a:t>
            </a:r>
            <a:endParaRPr/>
          </a:p>
        </p:txBody>
      </p:sp>
      <p:sp>
        <p:nvSpPr>
          <p:cNvPr id="558" name="Google Shape;558;p42"/>
          <p:cNvSpPr/>
          <p:nvPr/>
        </p:nvSpPr>
        <p:spPr>
          <a:xfrm>
            <a:off x="1602638" y="215292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559" name="Google Shape;559;p42"/>
          <p:cNvSpPr/>
          <p:nvPr/>
        </p:nvSpPr>
        <p:spPr>
          <a:xfrm>
            <a:off x="1043363" y="13047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560" name="Google Shape;560;p42"/>
          <p:cNvSpPr/>
          <p:nvPr/>
        </p:nvSpPr>
        <p:spPr>
          <a:xfrm>
            <a:off x="2916138" y="3237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61" name="Google Shape;561;p42"/>
          <p:cNvCxnSpPr>
            <a:stCxn id="560" idx="1"/>
            <a:endCxn id="558" idx="5"/>
          </p:cNvCxnSpPr>
          <p:nvPr/>
        </p:nvCxnSpPr>
        <p:spPr>
          <a:xfrm rot="10800000">
            <a:off x="2247146" y="277361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42"/>
          <p:cNvSpPr/>
          <p:nvPr/>
        </p:nvSpPr>
        <p:spPr>
          <a:xfrm>
            <a:off x="653188" y="21528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563" name="Google Shape;563;p42"/>
          <p:cNvSpPr/>
          <p:nvPr/>
        </p:nvSpPr>
        <p:spPr>
          <a:xfrm>
            <a:off x="1602763" y="37266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64" name="Google Shape;564;p42"/>
          <p:cNvCxnSpPr>
            <a:stCxn id="563" idx="0"/>
            <a:endCxn id="558" idx="4"/>
          </p:cNvCxnSpPr>
          <p:nvPr/>
        </p:nvCxnSpPr>
        <p:spPr>
          <a:xfrm flipH="1" rot="10800000">
            <a:off x="1747213" y="288005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42"/>
          <p:cNvSpPr/>
          <p:nvPr/>
        </p:nvSpPr>
        <p:spPr>
          <a:xfrm>
            <a:off x="2873838" y="15354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>
            <a:off x="798688" y="31386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cxnSp>
        <p:nvCxnSpPr>
          <p:cNvPr id="567" name="Google Shape;567;p42"/>
          <p:cNvCxnSpPr>
            <a:stCxn id="566" idx="7"/>
            <a:endCxn id="558" idx="3"/>
          </p:cNvCxnSpPr>
          <p:nvPr/>
        </p:nvCxnSpPr>
        <p:spPr>
          <a:xfrm flipH="1" rot="10800000">
            <a:off x="1045279" y="277351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42"/>
          <p:cNvSpPr/>
          <p:nvPr/>
        </p:nvSpPr>
        <p:spPr>
          <a:xfrm>
            <a:off x="3290688" y="241172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569" name="Google Shape;569;p42"/>
          <p:cNvCxnSpPr>
            <a:stCxn id="568" idx="2"/>
            <a:endCxn id="558" idx="6"/>
          </p:cNvCxnSpPr>
          <p:nvPr/>
        </p:nvCxnSpPr>
        <p:spPr>
          <a:xfrm rot="10800000">
            <a:off x="2357688" y="251657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42"/>
          <p:cNvSpPr/>
          <p:nvPr/>
        </p:nvSpPr>
        <p:spPr>
          <a:xfrm>
            <a:off x="1806813" y="114721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cxnSp>
        <p:nvCxnSpPr>
          <p:cNvPr id="571" name="Google Shape;571;p42"/>
          <p:cNvCxnSpPr>
            <a:stCxn id="570" idx="4"/>
            <a:endCxn id="558" idx="0"/>
          </p:cNvCxnSpPr>
          <p:nvPr/>
        </p:nvCxnSpPr>
        <p:spPr>
          <a:xfrm>
            <a:off x="1951263" y="141751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42"/>
          <p:cNvCxnSpPr>
            <a:stCxn id="560" idx="0"/>
            <a:endCxn id="565" idx="4"/>
          </p:cNvCxnSpPr>
          <p:nvPr/>
        </p:nvCxnSpPr>
        <p:spPr>
          <a:xfrm rot="10800000">
            <a:off x="3018288" y="180582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42"/>
          <p:cNvCxnSpPr>
            <a:stCxn id="565" idx="2"/>
            <a:endCxn id="570" idx="5"/>
          </p:cNvCxnSpPr>
          <p:nvPr/>
        </p:nvCxnSpPr>
        <p:spPr>
          <a:xfrm rot="10800000">
            <a:off x="2053338" y="1378075"/>
            <a:ext cx="820500" cy="29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42"/>
          <p:cNvCxnSpPr>
            <a:stCxn id="568" idx="1"/>
            <a:endCxn id="565" idx="4"/>
          </p:cNvCxnSpPr>
          <p:nvPr/>
        </p:nvCxnSpPr>
        <p:spPr>
          <a:xfrm rot="10800000">
            <a:off x="3018296" y="180571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2"/>
          <p:cNvCxnSpPr>
            <a:stCxn id="560" idx="0"/>
            <a:endCxn id="568" idx="3"/>
          </p:cNvCxnSpPr>
          <p:nvPr/>
        </p:nvCxnSpPr>
        <p:spPr>
          <a:xfrm flipH="1" rot="10800000">
            <a:off x="3060588" y="2642525"/>
            <a:ext cx="272400" cy="59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42"/>
          <p:cNvSpPr/>
          <p:nvPr/>
        </p:nvSpPr>
        <p:spPr>
          <a:xfrm>
            <a:off x="4221188" y="2219075"/>
            <a:ext cx="755100" cy="5949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7" name="Google Shape;577;p42"/>
          <p:cNvCxnSpPr>
            <a:stCxn id="559" idx="3"/>
            <a:endCxn id="562" idx="0"/>
          </p:cNvCxnSpPr>
          <p:nvPr/>
        </p:nvCxnSpPr>
        <p:spPr>
          <a:xfrm flipH="1">
            <a:off x="797671" y="1535415"/>
            <a:ext cx="288000" cy="61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2"/>
          <p:cNvCxnSpPr>
            <a:stCxn id="570" idx="2"/>
            <a:endCxn id="559" idx="6"/>
          </p:cNvCxnSpPr>
          <p:nvPr/>
        </p:nvCxnSpPr>
        <p:spPr>
          <a:xfrm flipH="1">
            <a:off x="1332213" y="1282363"/>
            <a:ext cx="474600" cy="15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2"/>
          <p:cNvCxnSpPr>
            <a:stCxn id="570" idx="3"/>
            <a:endCxn id="562" idx="7"/>
          </p:cNvCxnSpPr>
          <p:nvPr/>
        </p:nvCxnSpPr>
        <p:spPr>
          <a:xfrm flipH="1">
            <a:off x="899921" y="1377928"/>
            <a:ext cx="949200" cy="81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42"/>
          <p:cNvSpPr/>
          <p:nvPr/>
        </p:nvSpPr>
        <p:spPr>
          <a:xfrm>
            <a:off x="6813938" y="2288075"/>
            <a:ext cx="755100" cy="727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</a:t>
            </a:r>
            <a:endParaRPr/>
          </a:p>
        </p:txBody>
      </p:sp>
      <p:sp>
        <p:nvSpPr>
          <p:cNvPr id="581" name="Google Shape;581;p42"/>
          <p:cNvSpPr/>
          <p:nvPr/>
        </p:nvSpPr>
        <p:spPr>
          <a:xfrm>
            <a:off x="6254663" y="143985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endParaRPr/>
          </a:p>
        </p:txBody>
      </p:sp>
      <p:sp>
        <p:nvSpPr>
          <p:cNvPr id="582" name="Google Shape;582;p42"/>
          <p:cNvSpPr/>
          <p:nvPr/>
        </p:nvSpPr>
        <p:spPr>
          <a:xfrm>
            <a:off x="8127438" y="3372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cxnSp>
        <p:nvCxnSpPr>
          <p:cNvPr id="583" name="Google Shape;583;p42"/>
          <p:cNvCxnSpPr>
            <a:stCxn id="582" idx="1"/>
            <a:endCxn id="580" idx="5"/>
          </p:cNvCxnSpPr>
          <p:nvPr/>
        </p:nvCxnSpPr>
        <p:spPr>
          <a:xfrm rot="10800000">
            <a:off x="7458446" y="2908760"/>
            <a:ext cx="711300" cy="5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42"/>
          <p:cNvSpPr/>
          <p:nvPr/>
        </p:nvSpPr>
        <p:spPr>
          <a:xfrm>
            <a:off x="5864488" y="22879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585" name="Google Shape;585;p42"/>
          <p:cNvSpPr/>
          <p:nvPr/>
        </p:nvSpPr>
        <p:spPr>
          <a:xfrm>
            <a:off x="6814063" y="3861800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586" name="Google Shape;586;p42"/>
          <p:cNvCxnSpPr>
            <a:stCxn id="587" idx="2"/>
            <a:endCxn id="580" idx="7"/>
          </p:cNvCxnSpPr>
          <p:nvPr/>
        </p:nvCxnSpPr>
        <p:spPr>
          <a:xfrm flipH="1">
            <a:off x="7458438" y="1805725"/>
            <a:ext cx="626700" cy="58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42"/>
          <p:cNvSpPr/>
          <p:nvPr/>
        </p:nvSpPr>
        <p:spPr>
          <a:xfrm>
            <a:off x="8085138" y="16705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588" name="Google Shape;588;p42"/>
          <p:cNvSpPr/>
          <p:nvPr/>
        </p:nvSpPr>
        <p:spPr>
          <a:xfrm>
            <a:off x="6009988" y="32737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589" name="Google Shape;589;p42"/>
          <p:cNvSpPr/>
          <p:nvPr/>
        </p:nvSpPr>
        <p:spPr>
          <a:xfrm>
            <a:off x="8501988" y="2546875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cxnSp>
        <p:nvCxnSpPr>
          <p:cNvPr id="590" name="Google Shape;590;p42"/>
          <p:cNvCxnSpPr>
            <a:stCxn id="589" idx="2"/>
            <a:endCxn id="580" idx="6"/>
          </p:cNvCxnSpPr>
          <p:nvPr/>
        </p:nvCxnSpPr>
        <p:spPr>
          <a:xfrm rot="10800000">
            <a:off x="7568988" y="2651725"/>
            <a:ext cx="933000" cy="3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42"/>
          <p:cNvSpPr/>
          <p:nvPr/>
        </p:nvSpPr>
        <p:spPr>
          <a:xfrm>
            <a:off x="7018113" y="1282363"/>
            <a:ext cx="288900" cy="27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endParaRPr/>
          </a:p>
        </p:txBody>
      </p:sp>
      <p:cxnSp>
        <p:nvCxnSpPr>
          <p:cNvPr id="592" name="Google Shape;592;p42"/>
          <p:cNvCxnSpPr>
            <a:stCxn id="582" idx="0"/>
            <a:endCxn id="587" idx="4"/>
          </p:cNvCxnSpPr>
          <p:nvPr/>
        </p:nvCxnSpPr>
        <p:spPr>
          <a:xfrm rot="10800000">
            <a:off x="8229588" y="1940975"/>
            <a:ext cx="42300" cy="143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42"/>
          <p:cNvCxnSpPr>
            <a:stCxn id="589" idx="1"/>
            <a:endCxn id="587" idx="4"/>
          </p:cNvCxnSpPr>
          <p:nvPr/>
        </p:nvCxnSpPr>
        <p:spPr>
          <a:xfrm rot="10800000">
            <a:off x="8229596" y="1940860"/>
            <a:ext cx="314700" cy="6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4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happen over time? All at the same time!</a:t>
            </a:r>
            <a:endParaRPr/>
          </a:p>
        </p:txBody>
      </p:sp>
      <p:cxnSp>
        <p:nvCxnSpPr>
          <p:cNvPr id="595" name="Google Shape;595;p42"/>
          <p:cNvCxnSpPr>
            <a:stCxn id="585" idx="1"/>
            <a:endCxn id="588" idx="5"/>
          </p:cNvCxnSpPr>
          <p:nvPr/>
        </p:nvCxnSpPr>
        <p:spPr>
          <a:xfrm rot="10800000">
            <a:off x="6256671" y="3504485"/>
            <a:ext cx="599700" cy="39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42"/>
          <p:cNvCxnSpPr>
            <a:stCxn id="588" idx="6"/>
            <a:endCxn id="582" idx="2"/>
          </p:cNvCxnSpPr>
          <p:nvPr/>
        </p:nvCxnSpPr>
        <p:spPr>
          <a:xfrm>
            <a:off x="6298888" y="3408925"/>
            <a:ext cx="1828500" cy="98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42"/>
          <p:cNvCxnSpPr>
            <a:stCxn id="585" idx="0"/>
            <a:endCxn id="582" idx="2"/>
          </p:cNvCxnSpPr>
          <p:nvPr/>
        </p:nvCxnSpPr>
        <p:spPr>
          <a:xfrm flipH="1" rot="10800000">
            <a:off x="6958513" y="3507800"/>
            <a:ext cx="1168800" cy="35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42"/>
          <p:cNvCxnSpPr>
            <a:stCxn id="588" idx="7"/>
            <a:endCxn id="580" idx="3"/>
          </p:cNvCxnSpPr>
          <p:nvPr/>
        </p:nvCxnSpPr>
        <p:spPr>
          <a:xfrm flipH="1" rot="10800000">
            <a:off x="6256579" y="2908660"/>
            <a:ext cx="667800" cy="4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2"/>
          <p:cNvCxnSpPr>
            <a:stCxn id="585" idx="0"/>
            <a:endCxn id="580" idx="4"/>
          </p:cNvCxnSpPr>
          <p:nvPr/>
        </p:nvCxnSpPr>
        <p:spPr>
          <a:xfrm flipH="1" rot="10800000">
            <a:off x="6958513" y="3015200"/>
            <a:ext cx="233100" cy="84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2"/>
          <p:cNvCxnSpPr>
            <a:stCxn id="584" idx="6"/>
            <a:endCxn id="580" idx="2"/>
          </p:cNvCxnSpPr>
          <p:nvPr/>
        </p:nvCxnSpPr>
        <p:spPr>
          <a:xfrm>
            <a:off x="6153388" y="2423125"/>
            <a:ext cx="660600" cy="22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2"/>
          <p:cNvCxnSpPr>
            <a:stCxn id="581" idx="5"/>
            <a:endCxn id="580" idx="1"/>
          </p:cNvCxnSpPr>
          <p:nvPr/>
        </p:nvCxnSpPr>
        <p:spPr>
          <a:xfrm>
            <a:off x="6501254" y="1670565"/>
            <a:ext cx="423300" cy="72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2"/>
          <p:cNvCxnSpPr>
            <a:stCxn id="591" idx="4"/>
            <a:endCxn id="580" idx="0"/>
          </p:cNvCxnSpPr>
          <p:nvPr/>
        </p:nvCxnSpPr>
        <p:spPr>
          <a:xfrm>
            <a:off x="7162563" y="1552663"/>
            <a:ext cx="28800" cy="73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3"/>
          <p:cNvSpPr txBox="1"/>
          <p:nvPr>
            <p:ph idx="1" type="body"/>
          </p:nvPr>
        </p:nvSpPr>
        <p:spPr>
          <a:xfrm>
            <a:off x="311700" y="1225225"/>
            <a:ext cx="508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ego-networks are subject to relatively high degrees of instability: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55-75% turnover over different measurement </a:t>
            </a:r>
            <a:r>
              <a:rPr lang="en"/>
              <a:t>occasions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 is normal not aberrant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“regions” of the ego network may be subject to different principles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Stability in the </a:t>
            </a:r>
            <a:r>
              <a:rPr b="1" lang="en"/>
              <a:t>core network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Instability in the </a:t>
            </a:r>
            <a:r>
              <a:rPr b="1" lang="en"/>
              <a:t>peripheral network</a:t>
            </a:r>
            <a:endParaRPr b="1"/>
          </a:p>
        </p:txBody>
      </p:sp>
      <p:sp>
        <p:nvSpPr>
          <p:cNvPr id="608" name="Google Shape;608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09" name="Google Shape;609;p43"/>
          <p:cNvPicPr preferRelativeResize="0"/>
          <p:nvPr/>
        </p:nvPicPr>
        <p:blipFill rotWithShape="1">
          <a:blip r:embed="rId3">
            <a:alphaModFix/>
          </a:blip>
          <a:srcRect b="68813" l="29361" r="35475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3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4"/>
          <p:cNvSpPr txBox="1"/>
          <p:nvPr>
            <p:ph idx="1" type="body"/>
          </p:nvPr>
        </p:nvSpPr>
        <p:spPr>
          <a:xfrm>
            <a:off x="311700" y="1225225"/>
            <a:ext cx="508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Stability of </a:t>
            </a:r>
            <a:r>
              <a:rPr b="1" lang="en"/>
              <a:t>structural</a:t>
            </a:r>
            <a:r>
              <a:rPr lang="en"/>
              <a:t> </a:t>
            </a:r>
            <a:r>
              <a:rPr b="1" lang="en"/>
              <a:t>properties</a:t>
            </a:r>
            <a:r>
              <a:rPr lang="en"/>
              <a:t> of ego-networks (e.g. size, density) tend to be stable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Even if  who shows up in the network is not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properties of ego-networks may thus be ego-signatures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Preference for large(small)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Preference for closure(brokerage)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Preference for homophily(heterophily)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Preference for kin(non-kin) ties</a:t>
            </a:r>
            <a:endParaRPr/>
          </a:p>
        </p:txBody>
      </p:sp>
      <p:sp>
        <p:nvSpPr>
          <p:cNvPr id="616" name="Google Shape;616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17" name="Google Shape;617;p44"/>
          <p:cNvPicPr preferRelativeResize="0"/>
          <p:nvPr/>
        </p:nvPicPr>
        <p:blipFill rotWithShape="1">
          <a:blip r:embed="rId3">
            <a:alphaModFix/>
          </a:blip>
          <a:srcRect b="68813" l="29361" r="35475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4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5"/>
          <p:cNvSpPr txBox="1"/>
          <p:nvPr>
            <p:ph idx="1" type="body"/>
          </p:nvPr>
        </p:nvSpPr>
        <p:spPr>
          <a:xfrm>
            <a:off x="311700" y="1225225"/>
            <a:ext cx="4947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Following a given ego over-time may lead us to discover ties in both the core and peripheral network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Core</a:t>
            </a:r>
            <a:r>
              <a:rPr lang="en"/>
              <a:t> ties will be contacted </a:t>
            </a:r>
            <a:r>
              <a:rPr b="1" lang="en"/>
              <a:t>first</a:t>
            </a:r>
            <a:r>
              <a:rPr lang="en"/>
              <a:t> and </a:t>
            </a:r>
            <a:r>
              <a:rPr b="1" lang="en"/>
              <a:t>most</a:t>
            </a:r>
            <a:r>
              <a:rPr lang="en"/>
              <a:t> </a:t>
            </a:r>
            <a:r>
              <a:rPr b="1" lang="en"/>
              <a:t>often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Peripheral</a:t>
            </a:r>
            <a:r>
              <a:rPr lang="en"/>
              <a:t> ties will be </a:t>
            </a:r>
            <a:r>
              <a:rPr b="1" lang="en"/>
              <a:t>contacted</a:t>
            </a:r>
            <a:r>
              <a:rPr lang="en"/>
              <a:t> later and </a:t>
            </a:r>
            <a:r>
              <a:rPr b="1" lang="en"/>
              <a:t>less</a:t>
            </a:r>
            <a:r>
              <a:rPr lang="en"/>
              <a:t> </a:t>
            </a:r>
            <a:r>
              <a:rPr b="1" lang="en"/>
              <a:t>often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Adding the </a:t>
            </a:r>
            <a:r>
              <a:rPr b="1" lang="en"/>
              <a:t>cumulative</a:t>
            </a:r>
            <a:r>
              <a:rPr lang="en"/>
              <a:t> number of contacts over time give us a sense of the overall size of the individual's total network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25" name="Google Shape;625;p45"/>
          <p:cNvPicPr preferRelativeResize="0"/>
          <p:nvPr/>
        </p:nvPicPr>
        <p:blipFill rotWithShape="1">
          <a:blip r:embed="rId3">
            <a:alphaModFix/>
          </a:blip>
          <a:srcRect b="68813" l="29361" r="35475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5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6"/>
          <p:cNvSpPr txBox="1"/>
          <p:nvPr>
            <p:ph idx="1" type="body"/>
          </p:nvPr>
        </p:nvSpPr>
        <p:spPr>
          <a:xfrm>
            <a:off x="311700" y="1225225"/>
            <a:ext cx="4947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Following a given ego over-time may lead us to discover ties in both the core and peripheral network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Core</a:t>
            </a:r>
            <a:r>
              <a:rPr lang="en"/>
              <a:t> ties will be contacted </a:t>
            </a:r>
            <a:r>
              <a:rPr b="1" lang="en"/>
              <a:t>first</a:t>
            </a:r>
            <a:r>
              <a:rPr lang="en"/>
              <a:t> and </a:t>
            </a:r>
            <a:r>
              <a:rPr b="1" lang="en"/>
              <a:t>most</a:t>
            </a:r>
            <a:r>
              <a:rPr lang="en"/>
              <a:t> </a:t>
            </a:r>
            <a:r>
              <a:rPr b="1" lang="en"/>
              <a:t>often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Peripheral</a:t>
            </a:r>
            <a:r>
              <a:rPr lang="en"/>
              <a:t> ties will be </a:t>
            </a:r>
            <a:r>
              <a:rPr b="1" lang="en"/>
              <a:t>contacted</a:t>
            </a:r>
            <a:r>
              <a:rPr lang="en"/>
              <a:t> later and </a:t>
            </a:r>
            <a:r>
              <a:rPr b="1" lang="en"/>
              <a:t>less</a:t>
            </a:r>
            <a:r>
              <a:rPr lang="en"/>
              <a:t> </a:t>
            </a:r>
            <a:r>
              <a:rPr b="1" lang="en"/>
              <a:t>often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Core</a:t>
            </a:r>
            <a:r>
              <a:rPr lang="en"/>
              <a:t> and </a:t>
            </a:r>
            <a:r>
              <a:rPr b="1" lang="en"/>
              <a:t>peripheral</a:t>
            </a:r>
            <a:r>
              <a:rPr lang="en"/>
              <a:t> status overlap strong with </a:t>
            </a:r>
            <a:r>
              <a:rPr b="1" lang="en"/>
              <a:t>role-relations</a:t>
            </a:r>
            <a:endParaRPr b="1"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Friends and kin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Acquaintances, classmates, co-workers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33" name="Google Shape;633;p46"/>
          <p:cNvPicPr preferRelativeResize="0"/>
          <p:nvPr/>
        </p:nvPicPr>
        <p:blipFill rotWithShape="1">
          <a:blip r:embed="rId3">
            <a:alphaModFix/>
          </a:blip>
          <a:srcRect b="68813" l="29361" r="35475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6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7"/>
          <p:cNvSpPr txBox="1"/>
          <p:nvPr>
            <p:ph idx="1" type="body"/>
          </p:nvPr>
        </p:nvSpPr>
        <p:spPr>
          <a:xfrm>
            <a:off x="311700" y="1225225"/>
            <a:ext cx="4947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Things to consider: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Ego-networks change as a response to exogenous shocks experienced by people over time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important are </a:t>
            </a:r>
            <a:r>
              <a:rPr b="1" lang="en"/>
              <a:t>life-course transitions</a:t>
            </a:r>
            <a:endParaRPr b="1"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Geographical relocation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Career changes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School transitions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Marriage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Parenthood</a:t>
            </a:r>
            <a:endParaRPr/>
          </a:p>
          <a:p>
            <a: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Widowhood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ego-network evolution</a:t>
            </a:r>
            <a:endParaRPr/>
          </a:p>
        </p:txBody>
      </p:sp>
      <p:pic>
        <p:nvPicPr>
          <p:cNvPr id="641" name="Google Shape;641;p47"/>
          <p:cNvPicPr preferRelativeResize="0"/>
          <p:nvPr/>
        </p:nvPicPr>
        <p:blipFill rotWithShape="1">
          <a:blip r:embed="rId3">
            <a:alphaModFix/>
          </a:blip>
          <a:srcRect b="68813" l="29361" r="35475" t="7158"/>
          <a:stretch/>
        </p:blipFill>
        <p:spPr>
          <a:xfrm>
            <a:off x="5498325" y="1225224"/>
            <a:ext cx="3079351" cy="302929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47"/>
          <p:cNvSpPr txBox="1"/>
          <p:nvPr/>
        </p:nvSpPr>
        <p:spPr>
          <a:xfrm>
            <a:off x="6035850" y="4201700"/>
            <a:ext cx="200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Dunbar diagram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relations at two time points in NetSense</a:t>
            </a:r>
            <a:endParaRPr/>
          </a:p>
        </p:txBody>
      </p:sp>
      <p:pic>
        <p:nvPicPr>
          <p:cNvPr descr="notre-desc-by-wave.png" id="648" name="Google Shape;64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525" y="1147225"/>
            <a:ext cx="7382949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persistence over time in NetSense</a:t>
            </a:r>
            <a:endParaRPr/>
          </a:p>
        </p:txBody>
      </p:sp>
      <p:pic>
        <p:nvPicPr>
          <p:cNvPr descr="persist-desc-by-wave.png" id="654" name="Google Shape;65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19587"/>
            <a:ext cx="4051451" cy="297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ist-desc-by-wave-rel.png" id="655" name="Google Shape;65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3150" y="1319575"/>
            <a:ext cx="4469150" cy="327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 2017-10-31 at 09.11.20.png" id="660" name="Google Shape;66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1313"/>
            <a:ext cx="8839198" cy="2700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 2017-10-31 at 09.11.20.png" id="665" name="Google Shape;66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1313"/>
            <a:ext cx="8839198" cy="2700866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1"/>
          <p:cNvSpPr/>
          <p:nvPr/>
        </p:nvSpPr>
        <p:spPr>
          <a:xfrm>
            <a:off x="6500325" y="2587725"/>
            <a:ext cx="1622700" cy="39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672" name="Google Shape;672;p5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an individual enters a new context and forms a new tie: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odds we will observe the tie in the future?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ties an individual has are observed at a given time: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odds that they will be observed again in the future?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Ties have a lifespan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born, they live and then they “die”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decay processes govern the rate or “speed” at which ties </a:t>
            </a:r>
            <a:r>
              <a:rPr lang="en"/>
              <a:t>disappear</a:t>
            </a:r>
            <a:r>
              <a:rPr lang="en"/>
              <a:t> from ego networks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678" name="Google Shape;678;p53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fundamental principle of tie decay is the </a:t>
            </a:r>
            <a:r>
              <a:rPr b="1" lang="en"/>
              <a:t>liability of newness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recently “born” the tie is the more likely it is that it will not be observed in the future</a:t>
            </a:r>
            <a:endParaRPr/>
          </a:p>
        </p:txBody>
      </p:sp>
      <p:grpSp>
        <p:nvGrpSpPr>
          <p:cNvPr id="679" name="Google Shape;679;p53"/>
          <p:cNvGrpSpPr/>
          <p:nvPr/>
        </p:nvGrpSpPr>
        <p:grpSpPr>
          <a:xfrm>
            <a:off x="4264900" y="899708"/>
            <a:ext cx="4567400" cy="4005027"/>
            <a:chOff x="4021025" y="1626525"/>
            <a:chExt cx="4567400" cy="4806225"/>
          </a:xfrm>
        </p:grpSpPr>
        <p:cxnSp>
          <p:nvCxnSpPr>
            <p:cNvPr id="680" name="Google Shape;680;p53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rgbClr val="5B595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81" name="Google Shape;681;p53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0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82" name="Google Shape;682;p53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</a:t>
              </a:r>
              <a:r>
                <a:rPr lang="en">
                  <a:latin typeface="Junge"/>
                  <a:ea typeface="Junge"/>
                  <a:cs typeface="Junge"/>
                  <a:sym typeface="Junge"/>
                </a:rPr>
                <a:t>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83" name="Google Shape;683;p53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5" name="Google Shape;685;p53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Liability of newness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686" name="Google Shape;686;p53"/>
            <p:cNvCxnSpPr>
              <a:stCxn id="685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7" name="Google Shape;687;p53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693" name="Google Shape;693;p54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  <p:sp>
        <p:nvSpPr>
          <p:cNvPr id="694" name="Google Shape;694;p54"/>
          <p:cNvSpPr/>
          <p:nvPr/>
        </p:nvSpPr>
        <p:spPr>
          <a:xfrm>
            <a:off x="5028225" y="1147224"/>
            <a:ext cx="3618086" cy="3302686"/>
          </a:xfrm>
          <a:custGeom>
            <a:rect b="b" l="l" r="r" t="t"/>
            <a:pathLst>
              <a:path extrusionOk="0" h="160656" w="141719">
                <a:moveTo>
                  <a:pt x="0" y="0"/>
                </a:moveTo>
                <a:cubicBezTo>
                  <a:pt x="1165" y="13548"/>
                  <a:pt x="4013" y="59004"/>
                  <a:pt x="6988" y="81287"/>
                </a:cubicBezTo>
                <a:cubicBezTo>
                  <a:pt x="9963" y="103570"/>
                  <a:pt x="11548" y="121260"/>
                  <a:pt x="17851" y="133699"/>
                </a:cubicBezTo>
                <a:cubicBezTo>
                  <a:pt x="24155" y="146138"/>
                  <a:pt x="32362" y="151733"/>
                  <a:pt x="44809" y="155922"/>
                </a:cubicBezTo>
                <a:cubicBezTo>
                  <a:pt x="57256" y="160112"/>
                  <a:pt x="76381" y="158047"/>
                  <a:pt x="92533" y="158836"/>
                </a:cubicBezTo>
                <a:cubicBezTo>
                  <a:pt x="108685" y="159625"/>
                  <a:pt x="133521" y="160353"/>
                  <a:pt x="141719" y="160656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695" name="Google Shape;695;p54"/>
          <p:cNvGrpSpPr/>
          <p:nvPr/>
        </p:nvGrpSpPr>
        <p:grpSpPr>
          <a:xfrm>
            <a:off x="4264800" y="899708"/>
            <a:ext cx="4567400" cy="4005027"/>
            <a:chOff x="4021025" y="1626525"/>
            <a:chExt cx="4567400" cy="4806225"/>
          </a:xfrm>
        </p:grpSpPr>
        <p:cxnSp>
          <p:nvCxnSpPr>
            <p:cNvPr id="696" name="Google Shape;696;p54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rgbClr val="5B595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697" name="Google Shape;697;p54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0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98" name="Google Shape;698;p54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699" name="Google Shape;699;p54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700" name="Google Shape;700;p54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1" name="Google Shape;701;p54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Simmelian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702" name="Google Shape;702;p54"/>
            <p:cNvCxnSpPr>
              <a:stCxn id="701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3" name="Google Shape;703;p54"/>
            <p:cNvSpPr txBox="1"/>
            <p:nvPr/>
          </p:nvSpPr>
          <p:spPr>
            <a:xfrm>
              <a:off x="6154300" y="42690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“Standalone”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704" name="Google Shape;704;p54"/>
            <p:cNvCxnSpPr>
              <a:stCxn id="703" idx="2"/>
            </p:cNvCxnSpPr>
            <p:nvPr/>
          </p:nvCxnSpPr>
          <p:spPr>
            <a:xfrm flipH="1">
              <a:off x="6011350" y="4897525"/>
              <a:ext cx="785100" cy="740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5" name="Google Shape;705;p54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711" name="Google Shape;711;p55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  <p:pic>
        <p:nvPicPr>
          <p:cNvPr descr="OverlapPlot.png" id="712" name="Google Shape;71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725" y="1382738"/>
            <a:ext cx="4525575" cy="30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718" name="Google Shape;718;p56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</a:t>
            </a:r>
            <a:r>
              <a:rPr b="1" lang="en"/>
              <a:t> dyad </a:t>
            </a:r>
            <a:r>
              <a:rPr lang="en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 characteristics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Tie-strength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Transitions out Simmelian status bring back the liability of newness</a:t>
            </a:r>
            <a:endParaRPr i="1"/>
          </a:p>
        </p:txBody>
      </p:sp>
      <p:pic>
        <p:nvPicPr>
          <p:cNvPr descr="hazard-by-type-gender.png" id="719" name="Google Shape;71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724" y="1282613"/>
            <a:ext cx="4341574" cy="323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725" name="Google Shape;725;p57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 characteristics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Tie-strength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Transitions out Simmelian status bring back the liability of newness</a:t>
            </a:r>
            <a:endParaRPr i="1"/>
          </a:p>
        </p:txBody>
      </p:sp>
      <p:sp>
        <p:nvSpPr>
          <p:cNvPr id="726" name="Google Shape;726;p57"/>
          <p:cNvSpPr/>
          <p:nvPr/>
        </p:nvSpPr>
        <p:spPr>
          <a:xfrm>
            <a:off x="5028225" y="1147224"/>
            <a:ext cx="3618086" cy="3302686"/>
          </a:xfrm>
          <a:custGeom>
            <a:rect b="b" l="l" r="r" t="t"/>
            <a:pathLst>
              <a:path extrusionOk="0" h="160656" w="141719">
                <a:moveTo>
                  <a:pt x="0" y="0"/>
                </a:moveTo>
                <a:cubicBezTo>
                  <a:pt x="1165" y="13548"/>
                  <a:pt x="4013" y="59004"/>
                  <a:pt x="6988" y="81287"/>
                </a:cubicBezTo>
                <a:cubicBezTo>
                  <a:pt x="9963" y="103570"/>
                  <a:pt x="11548" y="121260"/>
                  <a:pt x="17851" y="133699"/>
                </a:cubicBezTo>
                <a:cubicBezTo>
                  <a:pt x="24155" y="146138"/>
                  <a:pt x="32362" y="151733"/>
                  <a:pt x="44809" y="155922"/>
                </a:cubicBezTo>
                <a:cubicBezTo>
                  <a:pt x="57256" y="160112"/>
                  <a:pt x="76381" y="158047"/>
                  <a:pt x="92533" y="158836"/>
                </a:cubicBezTo>
                <a:cubicBezTo>
                  <a:pt x="108685" y="159625"/>
                  <a:pt x="133521" y="160353"/>
                  <a:pt x="141719" y="160656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727" name="Google Shape;727;p57"/>
          <p:cNvGrpSpPr/>
          <p:nvPr/>
        </p:nvGrpSpPr>
        <p:grpSpPr>
          <a:xfrm>
            <a:off x="4264800" y="899708"/>
            <a:ext cx="4567400" cy="4005027"/>
            <a:chOff x="4021025" y="1626525"/>
            <a:chExt cx="4567400" cy="4806225"/>
          </a:xfrm>
        </p:grpSpPr>
        <p:cxnSp>
          <p:nvCxnSpPr>
            <p:cNvPr id="728" name="Google Shape;728;p57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rgbClr val="5B595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29" name="Google Shape;729;p57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0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730" name="Google Shape;730;p57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731" name="Google Shape;731;p57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732" name="Google Shape;732;p57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3" name="Google Shape;733;p57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Simmelian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734" name="Google Shape;734;p57"/>
            <p:cNvCxnSpPr>
              <a:stCxn id="733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5" name="Google Shape;735;p57"/>
            <p:cNvSpPr txBox="1"/>
            <p:nvPr/>
          </p:nvSpPr>
          <p:spPr>
            <a:xfrm>
              <a:off x="6154300" y="42690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“Standalone”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736" name="Google Shape;736;p57"/>
            <p:cNvCxnSpPr>
              <a:stCxn id="735" idx="2"/>
            </p:cNvCxnSpPr>
            <p:nvPr/>
          </p:nvCxnSpPr>
          <p:spPr>
            <a:xfrm flipH="1">
              <a:off x="6011350" y="4897525"/>
              <a:ext cx="785100" cy="740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7" name="Google Shape;737;p57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ties are in the ego network?</a:t>
            </a:r>
            <a:endParaRPr/>
          </a:p>
        </p:txBody>
      </p:sp>
      <p:sp>
        <p:nvSpPr>
          <p:cNvPr id="743" name="Google Shape;743;p5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any point in time we only observe a </a:t>
            </a:r>
            <a:r>
              <a:rPr b="1" lang="en"/>
              <a:t>subset</a:t>
            </a:r>
            <a:r>
              <a:rPr lang="en"/>
              <a:t> of an individual’s total “store” of 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methods will capture different segments of this subset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Thinking about this question dynamically leads to the following typology of 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Active ties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Currently observed and currently available to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“Dormant”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Currently unobserved and currently available to ego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Decayed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Previously observed and currently unavailable to ego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“Real” ego network size = (Active + Dormant) - Decayed 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ties are in the ego network?</a:t>
            </a:r>
            <a:endParaRPr/>
          </a:p>
        </p:txBody>
      </p:sp>
      <p:sp>
        <p:nvSpPr>
          <p:cNvPr id="749" name="Google Shape;749;p5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any point in time we only observe a </a:t>
            </a:r>
            <a:r>
              <a:rPr b="1" lang="en"/>
              <a:t>subset</a:t>
            </a:r>
            <a:r>
              <a:rPr lang="en"/>
              <a:t> of an individual’s total “store” of 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methods will capture different segments of this subset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Thinking about this question dynamically leads to the following typology of ties: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If we have information in three time slices then we can differentiate between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Persistent 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Newly formed 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Decayed 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 lived 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Intermittent</a:t>
            </a:r>
            <a:r>
              <a:rPr lang="en"/>
              <a:t> ties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4" name="Google Shape;754;p60"/>
          <p:cNvCxnSpPr/>
          <p:nvPr/>
        </p:nvCxnSpPr>
        <p:spPr>
          <a:xfrm>
            <a:off x="221213" y="3714919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5" name="Google Shape;755;p60"/>
          <p:cNvCxnSpPr/>
          <p:nvPr/>
        </p:nvCxnSpPr>
        <p:spPr>
          <a:xfrm>
            <a:off x="221213" y="2898094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6" name="Google Shape;756;p60"/>
          <p:cNvCxnSpPr/>
          <p:nvPr/>
        </p:nvCxnSpPr>
        <p:spPr>
          <a:xfrm>
            <a:off x="221213" y="3298800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7" name="Google Shape;757;p60"/>
          <p:cNvCxnSpPr/>
          <p:nvPr/>
        </p:nvCxnSpPr>
        <p:spPr>
          <a:xfrm>
            <a:off x="221213" y="2491556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8" name="Google Shape;758;p60"/>
          <p:cNvCxnSpPr/>
          <p:nvPr/>
        </p:nvCxnSpPr>
        <p:spPr>
          <a:xfrm>
            <a:off x="221213" y="2087794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9" name="Google Shape;759;p60"/>
          <p:cNvCxnSpPr/>
          <p:nvPr/>
        </p:nvCxnSpPr>
        <p:spPr>
          <a:xfrm>
            <a:off x="2184763" y="1949531"/>
            <a:ext cx="9000" cy="20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60"/>
          <p:cNvCxnSpPr/>
          <p:nvPr/>
        </p:nvCxnSpPr>
        <p:spPr>
          <a:xfrm>
            <a:off x="4597588" y="1949531"/>
            <a:ext cx="9000" cy="20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61" name="Google Shape;761;p60"/>
          <p:cNvSpPr txBox="1"/>
          <p:nvPr/>
        </p:nvSpPr>
        <p:spPr>
          <a:xfrm>
            <a:off x="7740713" y="1952456"/>
            <a:ext cx="95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Decayed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62" name="Google Shape;762;p60"/>
          <p:cNvSpPr txBox="1"/>
          <p:nvPr/>
        </p:nvSpPr>
        <p:spPr>
          <a:xfrm>
            <a:off x="7740713" y="2356219"/>
            <a:ext cx="145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Newly Formed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63" name="Google Shape;763;p60"/>
          <p:cNvSpPr txBox="1"/>
          <p:nvPr/>
        </p:nvSpPr>
        <p:spPr>
          <a:xfrm>
            <a:off x="7740713" y="2762756"/>
            <a:ext cx="120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Persistent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64" name="Google Shape;764;p60"/>
          <p:cNvSpPr txBox="1"/>
          <p:nvPr/>
        </p:nvSpPr>
        <p:spPr>
          <a:xfrm>
            <a:off x="7740713" y="3163463"/>
            <a:ext cx="119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Short Lived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765" name="Google Shape;765;p60"/>
          <p:cNvSpPr txBox="1"/>
          <p:nvPr/>
        </p:nvSpPr>
        <p:spPr>
          <a:xfrm>
            <a:off x="7716263" y="3579581"/>
            <a:ext cx="125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Intermittent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cxnSp>
        <p:nvCxnSpPr>
          <p:cNvPr id="766" name="Google Shape;766;p60"/>
          <p:cNvCxnSpPr/>
          <p:nvPr/>
        </p:nvCxnSpPr>
        <p:spPr>
          <a:xfrm>
            <a:off x="858113" y="1980919"/>
            <a:ext cx="0" cy="22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60"/>
          <p:cNvCxnSpPr/>
          <p:nvPr/>
        </p:nvCxnSpPr>
        <p:spPr>
          <a:xfrm>
            <a:off x="1404338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60"/>
          <p:cNvCxnSpPr/>
          <p:nvPr/>
        </p:nvCxnSpPr>
        <p:spPr>
          <a:xfrm>
            <a:off x="158346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60"/>
          <p:cNvCxnSpPr/>
          <p:nvPr/>
        </p:nvCxnSpPr>
        <p:spPr>
          <a:xfrm>
            <a:off x="315256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60"/>
          <p:cNvCxnSpPr/>
          <p:nvPr/>
        </p:nvCxnSpPr>
        <p:spPr>
          <a:xfrm>
            <a:off x="172903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60"/>
          <p:cNvCxnSpPr/>
          <p:nvPr/>
        </p:nvCxnSpPr>
        <p:spPr>
          <a:xfrm>
            <a:off x="358201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60"/>
          <p:cNvCxnSpPr/>
          <p:nvPr/>
        </p:nvCxnSpPr>
        <p:spPr>
          <a:xfrm>
            <a:off x="35820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60"/>
          <p:cNvCxnSpPr/>
          <p:nvPr/>
        </p:nvCxnSpPr>
        <p:spPr>
          <a:xfrm>
            <a:off x="37187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60"/>
          <p:cNvCxnSpPr/>
          <p:nvPr/>
        </p:nvCxnSpPr>
        <p:spPr>
          <a:xfrm>
            <a:off x="44142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60"/>
          <p:cNvCxnSpPr/>
          <p:nvPr/>
        </p:nvCxnSpPr>
        <p:spPr>
          <a:xfrm>
            <a:off x="4602088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60"/>
          <p:cNvCxnSpPr/>
          <p:nvPr/>
        </p:nvCxnSpPr>
        <p:spPr>
          <a:xfrm>
            <a:off x="5564838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60"/>
          <p:cNvCxnSpPr/>
          <p:nvPr/>
        </p:nvCxnSpPr>
        <p:spPr>
          <a:xfrm>
            <a:off x="572616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60"/>
          <p:cNvCxnSpPr/>
          <p:nvPr/>
        </p:nvCxnSpPr>
        <p:spPr>
          <a:xfrm>
            <a:off x="636826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60"/>
          <p:cNvCxnSpPr/>
          <p:nvPr/>
        </p:nvCxnSpPr>
        <p:spPr>
          <a:xfrm>
            <a:off x="7268563" y="240639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60"/>
          <p:cNvSpPr/>
          <p:nvPr/>
        </p:nvSpPr>
        <p:spPr>
          <a:xfrm>
            <a:off x="3414463" y="2364656"/>
            <a:ext cx="3993300" cy="260400"/>
          </a:xfrm>
          <a:prstGeom prst="rect">
            <a:avLst/>
          </a:prstGeom>
          <a:solidFill>
            <a:srgbClr val="93C47D">
              <a:alpha val="5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1" name="Google Shape;781;p60"/>
          <p:cNvCxnSpPr/>
          <p:nvPr/>
        </p:nvCxnSpPr>
        <p:spPr>
          <a:xfrm>
            <a:off x="85811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60"/>
          <p:cNvCxnSpPr/>
          <p:nvPr/>
        </p:nvCxnSpPr>
        <p:spPr>
          <a:xfrm>
            <a:off x="158346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60"/>
          <p:cNvCxnSpPr/>
          <p:nvPr/>
        </p:nvCxnSpPr>
        <p:spPr>
          <a:xfrm>
            <a:off x="228418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60"/>
          <p:cNvCxnSpPr/>
          <p:nvPr/>
        </p:nvCxnSpPr>
        <p:spPr>
          <a:xfrm>
            <a:off x="315256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60"/>
          <p:cNvCxnSpPr/>
          <p:nvPr/>
        </p:nvCxnSpPr>
        <p:spPr>
          <a:xfrm>
            <a:off x="358201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60"/>
          <p:cNvCxnSpPr/>
          <p:nvPr/>
        </p:nvCxnSpPr>
        <p:spPr>
          <a:xfrm>
            <a:off x="410363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60"/>
          <p:cNvCxnSpPr/>
          <p:nvPr/>
        </p:nvCxnSpPr>
        <p:spPr>
          <a:xfrm>
            <a:off x="428273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60"/>
          <p:cNvCxnSpPr/>
          <p:nvPr/>
        </p:nvCxnSpPr>
        <p:spPr>
          <a:xfrm>
            <a:off x="493373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60"/>
          <p:cNvCxnSpPr/>
          <p:nvPr/>
        </p:nvCxnSpPr>
        <p:spPr>
          <a:xfrm>
            <a:off x="572616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60"/>
          <p:cNvCxnSpPr/>
          <p:nvPr/>
        </p:nvCxnSpPr>
        <p:spPr>
          <a:xfrm>
            <a:off x="628026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60"/>
          <p:cNvCxnSpPr/>
          <p:nvPr/>
        </p:nvCxnSpPr>
        <p:spPr>
          <a:xfrm>
            <a:off x="3469413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60"/>
          <p:cNvCxnSpPr/>
          <p:nvPr/>
        </p:nvCxnSpPr>
        <p:spPr>
          <a:xfrm>
            <a:off x="3808788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60"/>
          <p:cNvCxnSpPr/>
          <p:nvPr/>
        </p:nvCxnSpPr>
        <p:spPr>
          <a:xfrm>
            <a:off x="4282738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60"/>
          <p:cNvCxnSpPr/>
          <p:nvPr/>
        </p:nvCxnSpPr>
        <p:spPr>
          <a:xfrm>
            <a:off x="3980963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60"/>
          <p:cNvCxnSpPr/>
          <p:nvPr/>
        </p:nvCxnSpPr>
        <p:spPr>
          <a:xfrm>
            <a:off x="698158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60"/>
          <p:cNvCxnSpPr/>
          <p:nvPr/>
        </p:nvCxnSpPr>
        <p:spPr>
          <a:xfrm>
            <a:off x="711721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60"/>
          <p:cNvSpPr/>
          <p:nvPr/>
        </p:nvSpPr>
        <p:spPr>
          <a:xfrm>
            <a:off x="664288" y="2760994"/>
            <a:ext cx="6660000" cy="260400"/>
          </a:xfrm>
          <a:prstGeom prst="rect">
            <a:avLst/>
          </a:prstGeom>
          <a:solidFill>
            <a:srgbClr val="FFFF00">
              <a:alpha val="334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60"/>
          <p:cNvSpPr/>
          <p:nvPr/>
        </p:nvSpPr>
        <p:spPr>
          <a:xfrm>
            <a:off x="3231321" y="3171900"/>
            <a:ext cx="1135200" cy="260400"/>
          </a:xfrm>
          <a:prstGeom prst="rect">
            <a:avLst/>
          </a:prstGeom>
          <a:solidFill>
            <a:srgbClr val="CC4125">
              <a:alpha val="3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9" name="Google Shape;799;p60"/>
          <p:cNvCxnSpPr/>
          <p:nvPr/>
        </p:nvCxnSpPr>
        <p:spPr>
          <a:xfrm>
            <a:off x="793563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60"/>
          <p:cNvCxnSpPr/>
          <p:nvPr/>
        </p:nvCxnSpPr>
        <p:spPr>
          <a:xfrm>
            <a:off x="1782913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60"/>
          <p:cNvCxnSpPr/>
          <p:nvPr/>
        </p:nvCxnSpPr>
        <p:spPr>
          <a:xfrm>
            <a:off x="1970938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60"/>
          <p:cNvCxnSpPr/>
          <p:nvPr/>
        </p:nvCxnSpPr>
        <p:spPr>
          <a:xfrm>
            <a:off x="6981588" y="3579581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60"/>
          <p:cNvCxnSpPr/>
          <p:nvPr/>
        </p:nvCxnSpPr>
        <p:spPr>
          <a:xfrm>
            <a:off x="6736413" y="3579581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60"/>
          <p:cNvSpPr/>
          <p:nvPr/>
        </p:nvSpPr>
        <p:spPr>
          <a:xfrm>
            <a:off x="650963" y="3588019"/>
            <a:ext cx="6660000" cy="260400"/>
          </a:xfrm>
          <a:prstGeom prst="rect">
            <a:avLst/>
          </a:prstGeom>
          <a:solidFill>
            <a:srgbClr val="A64D79">
              <a:alpha val="357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5" name="Google Shape;80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63" y="2229656"/>
            <a:ext cx="469874" cy="19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4539" y="3957378"/>
            <a:ext cx="216035" cy="225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2577" y="3908967"/>
            <a:ext cx="227416" cy="24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5850" y="3913974"/>
            <a:ext cx="551832" cy="23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504" y="3907306"/>
            <a:ext cx="226588" cy="2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60697" y="4146239"/>
            <a:ext cx="235823" cy="1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0"/>
          <p:cNvSpPr txBox="1"/>
          <p:nvPr/>
        </p:nvSpPr>
        <p:spPr>
          <a:xfrm>
            <a:off x="223838" y="1540125"/>
            <a:ext cx="1962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1 through 13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12" name="Google Shape;812;p60"/>
          <p:cNvSpPr txBox="1"/>
          <p:nvPr/>
        </p:nvSpPr>
        <p:spPr>
          <a:xfrm>
            <a:off x="2364163" y="1540125"/>
            <a:ext cx="2107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14 through 35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13" name="Google Shape;813;p60"/>
          <p:cNvSpPr txBox="1"/>
          <p:nvPr/>
        </p:nvSpPr>
        <p:spPr>
          <a:xfrm>
            <a:off x="5109363" y="1540125"/>
            <a:ext cx="2065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36 through 75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cxnSp>
        <p:nvCxnSpPr>
          <p:cNvPr id="814" name="Google Shape;814;p60"/>
          <p:cNvCxnSpPr/>
          <p:nvPr/>
        </p:nvCxnSpPr>
        <p:spPr>
          <a:xfrm>
            <a:off x="172538" y="1526775"/>
            <a:ext cx="20655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15" name="Google Shape;815;p60"/>
          <p:cNvCxnSpPr/>
          <p:nvPr/>
        </p:nvCxnSpPr>
        <p:spPr>
          <a:xfrm>
            <a:off x="4624263" y="1541738"/>
            <a:ext cx="30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16" name="Google Shape;816;p60"/>
          <p:cNvCxnSpPr/>
          <p:nvPr/>
        </p:nvCxnSpPr>
        <p:spPr>
          <a:xfrm>
            <a:off x="346941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60"/>
          <p:cNvSpPr/>
          <p:nvPr/>
        </p:nvSpPr>
        <p:spPr>
          <a:xfrm>
            <a:off x="608813" y="1960894"/>
            <a:ext cx="3138300" cy="260400"/>
          </a:xfrm>
          <a:prstGeom prst="rect">
            <a:avLst/>
          </a:prstGeom>
          <a:solidFill>
            <a:srgbClr val="F6B26B">
              <a:alpha val="4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8" name="Google Shape;818;p60"/>
          <p:cNvCxnSpPr/>
          <p:nvPr/>
        </p:nvCxnSpPr>
        <p:spPr>
          <a:xfrm flipH="1" rot="10800000">
            <a:off x="2211463" y="1546500"/>
            <a:ext cx="24129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3" name="Google Shape;823;p61"/>
          <p:cNvCxnSpPr/>
          <p:nvPr/>
        </p:nvCxnSpPr>
        <p:spPr>
          <a:xfrm>
            <a:off x="221213" y="3714919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4" name="Google Shape;824;p61"/>
          <p:cNvCxnSpPr/>
          <p:nvPr/>
        </p:nvCxnSpPr>
        <p:spPr>
          <a:xfrm>
            <a:off x="221213" y="2898094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5" name="Google Shape;825;p61"/>
          <p:cNvCxnSpPr/>
          <p:nvPr/>
        </p:nvCxnSpPr>
        <p:spPr>
          <a:xfrm>
            <a:off x="221213" y="3298800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6" name="Google Shape;826;p61"/>
          <p:cNvCxnSpPr/>
          <p:nvPr/>
        </p:nvCxnSpPr>
        <p:spPr>
          <a:xfrm>
            <a:off x="221213" y="2491556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7" name="Google Shape;827;p61"/>
          <p:cNvCxnSpPr/>
          <p:nvPr/>
        </p:nvCxnSpPr>
        <p:spPr>
          <a:xfrm>
            <a:off x="221213" y="2087794"/>
            <a:ext cx="7519500" cy="6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8" name="Google Shape;828;p61"/>
          <p:cNvCxnSpPr/>
          <p:nvPr/>
        </p:nvCxnSpPr>
        <p:spPr>
          <a:xfrm>
            <a:off x="2184763" y="1949531"/>
            <a:ext cx="9000" cy="20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61"/>
          <p:cNvCxnSpPr/>
          <p:nvPr/>
        </p:nvCxnSpPr>
        <p:spPr>
          <a:xfrm>
            <a:off x="4597588" y="1949531"/>
            <a:ext cx="9000" cy="201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30" name="Google Shape;830;p61"/>
          <p:cNvSpPr txBox="1"/>
          <p:nvPr/>
        </p:nvSpPr>
        <p:spPr>
          <a:xfrm>
            <a:off x="7740713" y="1952456"/>
            <a:ext cx="95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Decayed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31" name="Google Shape;831;p61"/>
          <p:cNvSpPr txBox="1"/>
          <p:nvPr/>
        </p:nvSpPr>
        <p:spPr>
          <a:xfrm>
            <a:off x="7740713" y="2356219"/>
            <a:ext cx="145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Newly Formed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32" name="Google Shape;832;p61"/>
          <p:cNvSpPr txBox="1"/>
          <p:nvPr/>
        </p:nvSpPr>
        <p:spPr>
          <a:xfrm>
            <a:off x="7740713" y="2762756"/>
            <a:ext cx="120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Persistent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33" name="Google Shape;833;p61"/>
          <p:cNvSpPr txBox="1"/>
          <p:nvPr/>
        </p:nvSpPr>
        <p:spPr>
          <a:xfrm>
            <a:off x="7740713" y="3163463"/>
            <a:ext cx="119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Short Lived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34" name="Google Shape;834;p61"/>
          <p:cNvSpPr txBox="1"/>
          <p:nvPr/>
        </p:nvSpPr>
        <p:spPr>
          <a:xfrm>
            <a:off x="7716263" y="3579581"/>
            <a:ext cx="125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rdo"/>
                <a:ea typeface="Cardo"/>
                <a:cs typeface="Cardo"/>
                <a:sym typeface="Cardo"/>
              </a:rPr>
              <a:t>Intermittent</a:t>
            </a:r>
            <a:endParaRPr i="1" sz="1600">
              <a:latin typeface="Cardo"/>
              <a:ea typeface="Cardo"/>
              <a:cs typeface="Cardo"/>
              <a:sym typeface="Cardo"/>
            </a:endParaRPr>
          </a:p>
        </p:txBody>
      </p:sp>
      <p:cxnSp>
        <p:nvCxnSpPr>
          <p:cNvPr id="835" name="Google Shape;835;p61"/>
          <p:cNvCxnSpPr/>
          <p:nvPr/>
        </p:nvCxnSpPr>
        <p:spPr>
          <a:xfrm>
            <a:off x="858113" y="1980919"/>
            <a:ext cx="0" cy="22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61"/>
          <p:cNvCxnSpPr/>
          <p:nvPr/>
        </p:nvCxnSpPr>
        <p:spPr>
          <a:xfrm>
            <a:off x="1404338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61"/>
          <p:cNvCxnSpPr/>
          <p:nvPr/>
        </p:nvCxnSpPr>
        <p:spPr>
          <a:xfrm>
            <a:off x="158346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61"/>
          <p:cNvCxnSpPr/>
          <p:nvPr/>
        </p:nvCxnSpPr>
        <p:spPr>
          <a:xfrm>
            <a:off x="315256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61"/>
          <p:cNvCxnSpPr/>
          <p:nvPr/>
        </p:nvCxnSpPr>
        <p:spPr>
          <a:xfrm>
            <a:off x="172903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61"/>
          <p:cNvCxnSpPr/>
          <p:nvPr/>
        </p:nvCxnSpPr>
        <p:spPr>
          <a:xfrm>
            <a:off x="358201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61"/>
          <p:cNvCxnSpPr/>
          <p:nvPr/>
        </p:nvCxnSpPr>
        <p:spPr>
          <a:xfrm>
            <a:off x="35820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61"/>
          <p:cNvCxnSpPr/>
          <p:nvPr/>
        </p:nvCxnSpPr>
        <p:spPr>
          <a:xfrm>
            <a:off x="37187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61"/>
          <p:cNvCxnSpPr/>
          <p:nvPr/>
        </p:nvCxnSpPr>
        <p:spPr>
          <a:xfrm>
            <a:off x="441421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61"/>
          <p:cNvCxnSpPr/>
          <p:nvPr/>
        </p:nvCxnSpPr>
        <p:spPr>
          <a:xfrm>
            <a:off x="4602088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61"/>
          <p:cNvCxnSpPr/>
          <p:nvPr/>
        </p:nvCxnSpPr>
        <p:spPr>
          <a:xfrm>
            <a:off x="5564838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61"/>
          <p:cNvCxnSpPr/>
          <p:nvPr/>
        </p:nvCxnSpPr>
        <p:spPr>
          <a:xfrm>
            <a:off x="572616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61"/>
          <p:cNvCxnSpPr/>
          <p:nvPr/>
        </p:nvCxnSpPr>
        <p:spPr>
          <a:xfrm>
            <a:off x="6368263" y="2381306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61"/>
          <p:cNvCxnSpPr/>
          <p:nvPr/>
        </p:nvCxnSpPr>
        <p:spPr>
          <a:xfrm>
            <a:off x="7268563" y="240639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61"/>
          <p:cNvSpPr/>
          <p:nvPr/>
        </p:nvSpPr>
        <p:spPr>
          <a:xfrm>
            <a:off x="3414463" y="2364656"/>
            <a:ext cx="3993300" cy="260400"/>
          </a:xfrm>
          <a:prstGeom prst="rect">
            <a:avLst/>
          </a:prstGeom>
          <a:solidFill>
            <a:srgbClr val="93C47D">
              <a:alpha val="5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0" name="Google Shape;850;p61"/>
          <p:cNvCxnSpPr/>
          <p:nvPr/>
        </p:nvCxnSpPr>
        <p:spPr>
          <a:xfrm>
            <a:off x="85811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61"/>
          <p:cNvCxnSpPr/>
          <p:nvPr/>
        </p:nvCxnSpPr>
        <p:spPr>
          <a:xfrm>
            <a:off x="158346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61"/>
          <p:cNvCxnSpPr/>
          <p:nvPr/>
        </p:nvCxnSpPr>
        <p:spPr>
          <a:xfrm>
            <a:off x="228418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61"/>
          <p:cNvCxnSpPr/>
          <p:nvPr/>
        </p:nvCxnSpPr>
        <p:spPr>
          <a:xfrm>
            <a:off x="3152563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4" name="Google Shape;854;p61"/>
          <p:cNvCxnSpPr/>
          <p:nvPr/>
        </p:nvCxnSpPr>
        <p:spPr>
          <a:xfrm>
            <a:off x="358201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61"/>
          <p:cNvCxnSpPr/>
          <p:nvPr/>
        </p:nvCxnSpPr>
        <p:spPr>
          <a:xfrm>
            <a:off x="410363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61"/>
          <p:cNvCxnSpPr/>
          <p:nvPr/>
        </p:nvCxnSpPr>
        <p:spPr>
          <a:xfrm>
            <a:off x="428273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61"/>
          <p:cNvCxnSpPr/>
          <p:nvPr/>
        </p:nvCxnSpPr>
        <p:spPr>
          <a:xfrm>
            <a:off x="4933738" y="27776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61"/>
          <p:cNvCxnSpPr/>
          <p:nvPr/>
        </p:nvCxnSpPr>
        <p:spPr>
          <a:xfrm>
            <a:off x="572616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61"/>
          <p:cNvCxnSpPr/>
          <p:nvPr/>
        </p:nvCxnSpPr>
        <p:spPr>
          <a:xfrm>
            <a:off x="628026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61"/>
          <p:cNvCxnSpPr/>
          <p:nvPr/>
        </p:nvCxnSpPr>
        <p:spPr>
          <a:xfrm>
            <a:off x="3469413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61"/>
          <p:cNvCxnSpPr/>
          <p:nvPr/>
        </p:nvCxnSpPr>
        <p:spPr>
          <a:xfrm>
            <a:off x="3808788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61"/>
          <p:cNvCxnSpPr/>
          <p:nvPr/>
        </p:nvCxnSpPr>
        <p:spPr>
          <a:xfrm>
            <a:off x="4282738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61"/>
          <p:cNvCxnSpPr/>
          <p:nvPr/>
        </p:nvCxnSpPr>
        <p:spPr>
          <a:xfrm>
            <a:off x="3980963" y="3188550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61"/>
          <p:cNvCxnSpPr/>
          <p:nvPr/>
        </p:nvCxnSpPr>
        <p:spPr>
          <a:xfrm>
            <a:off x="6981588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61"/>
          <p:cNvCxnSpPr/>
          <p:nvPr/>
        </p:nvCxnSpPr>
        <p:spPr>
          <a:xfrm>
            <a:off x="7117213" y="27878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61"/>
          <p:cNvSpPr/>
          <p:nvPr/>
        </p:nvSpPr>
        <p:spPr>
          <a:xfrm>
            <a:off x="664288" y="2760994"/>
            <a:ext cx="6660000" cy="260400"/>
          </a:xfrm>
          <a:prstGeom prst="rect">
            <a:avLst/>
          </a:prstGeom>
          <a:solidFill>
            <a:srgbClr val="FFFF00">
              <a:alpha val="334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1"/>
          <p:cNvSpPr/>
          <p:nvPr/>
        </p:nvSpPr>
        <p:spPr>
          <a:xfrm>
            <a:off x="3231321" y="3171900"/>
            <a:ext cx="1135200" cy="260400"/>
          </a:xfrm>
          <a:prstGeom prst="rect">
            <a:avLst/>
          </a:prstGeom>
          <a:solidFill>
            <a:srgbClr val="CC4125">
              <a:alpha val="3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8" name="Google Shape;868;p61"/>
          <p:cNvCxnSpPr/>
          <p:nvPr/>
        </p:nvCxnSpPr>
        <p:spPr>
          <a:xfrm>
            <a:off x="793563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61"/>
          <p:cNvCxnSpPr/>
          <p:nvPr/>
        </p:nvCxnSpPr>
        <p:spPr>
          <a:xfrm>
            <a:off x="1782913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61"/>
          <p:cNvCxnSpPr/>
          <p:nvPr/>
        </p:nvCxnSpPr>
        <p:spPr>
          <a:xfrm>
            <a:off x="1970938" y="3604669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61"/>
          <p:cNvCxnSpPr/>
          <p:nvPr/>
        </p:nvCxnSpPr>
        <p:spPr>
          <a:xfrm>
            <a:off x="6981588" y="3579581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61"/>
          <p:cNvCxnSpPr/>
          <p:nvPr/>
        </p:nvCxnSpPr>
        <p:spPr>
          <a:xfrm>
            <a:off x="6736413" y="3579581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61"/>
          <p:cNvSpPr/>
          <p:nvPr/>
        </p:nvSpPr>
        <p:spPr>
          <a:xfrm>
            <a:off x="650963" y="3588019"/>
            <a:ext cx="6660000" cy="260400"/>
          </a:xfrm>
          <a:prstGeom prst="rect">
            <a:avLst/>
          </a:prstGeom>
          <a:solidFill>
            <a:srgbClr val="A64D79">
              <a:alpha val="357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63" y="2229656"/>
            <a:ext cx="469874" cy="19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4539" y="3957378"/>
            <a:ext cx="216035" cy="225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2577" y="3908967"/>
            <a:ext cx="227416" cy="24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5850" y="3913974"/>
            <a:ext cx="551832" cy="232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504" y="3907306"/>
            <a:ext cx="226588" cy="2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60697" y="4146239"/>
            <a:ext cx="235823" cy="1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61"/>
          <p:cNvSpPr txBox="1"/>
          <p:nvPr/>
        </p:nvSpPr>
        <p:spPr>
          <a:xfrm>
            <a:off x="223838" y="1540125"/>
            <a:ext cx="1962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1 through 13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81" name="Google Shape;881;p61"/>
          <p:cNvSpPr txBox="1"/>
          <p:nvPr/>
        </p:nvSpPr>
        <p:spPr>
          <a:xfrm>
            <a:off x="2364163" y="1540125"/>
            <a:ext cx="21075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14 through 35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882" name="Google Shape;882;p61"/>
          <p:cNvSpPr txBox="1"/>
          <p:nvPr/>
        </p:nvSpPr>
        <p:spPr>
          <a:xfrm>
            <a:off x="5109363" y="1540125"/>
            <a:ext cx="2065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ardo"/>
                <a:ea typeface="Cardo"/>
                <a:cs typeface="Cardo"/>
                <a:sym typeface="Cardo"/>
              </a:rPr>
              <a:t>Weeks 36 through 75</a:t>
            </a:r>
            <a:endParaRPr sz="1600">
              <a:latin typeface="Cardo"/>
              <a:ea typeface="Cardo"/>
              <a:cs typeface="Cardo"/>
              <a:sym typeface="Cardo"/>
            </a:endParaRPr>
          </a:p>
        </p:txBody>
      </p:sp>
      <p:cxnSp>
        <p:nvCxnSpPr>
          <p:cNvPr id="883" name="Google Shape;883;p61"/>
          <p:cNvCxnSpPr/>
          <p:nvPr/>
        </p:nvCxnSpPr>
        <p:spPr>
          <a:xfrm>
            <a:off x="172538" y="1526775"/>
            <a:ext cx="2065500" cy="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84" name="Google Shape;884;p61"/>
          <p:cNvCxnSpPr/>
          <p:nvPr/>
        </p:nvCxnSpPr>
        <p:spPr>
          <a:xfrm>
            <a:off x="4624263" y="1541738"/>
            <a:ext cx="30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85" name="Google Shape;885;p61"/>
          <p:cNvCxnSpPr/>
          <p:nvPr/>
        </p:nvCxnSpPr>
        <p:spPr>
          <a:xfrm>
            <a:off x="3469413" y="1977544"/>
            <a:ext cx="0" cy="227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Google Shape;886;p61"/>
          <p:cNvSpPr/>
          <p:nvPr/>
        </p:nvSpPr>
        <p:spPr>
          <a:xfrm>
            <a:off x="608813" y="1960894"/>
            <a:ext cx="3138300" cy="260400"/>
          </a:xfrm>
          <a:prstGeom prst="rect">
            <a:avLst/>
          </a:prstGeom>
          <a:solidFill>
            <a:srgbClr val="F6B26B">
              <a:alpha val="44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7" name="Google Shape;887;p61"/>
          <p:cNvCxnSpPr/>
          <p:nvPr/>
        </p:nvCxnSpPr>
        <p:spPr>
          <a:xfrm flipH="1" rot="10800000">
            <a:off x="2211463" y="1546500"/>
            <a:ext cx="24129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graphicFrame>
        <p:nvGraphicFramePr>
          <p:cNvPr id="888" name="Google Shape;888;p61"/>
          <p:cNvGraphicFramePr/>
          <p:nvPr/>
        </p:nvGraphicFramePr>
        <p:xfrm>
          <a:off x="136525" y="197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{7B0F8147-359C-4FF4-8777-AAA26A82615F}</a:tableStyleId>
              </a:tblPr>
              <a:tblGrid>
                <a:gridCol w="2057875"/>
                <a:gridCol w="2397375"/>
                <a:gridCol w="2984125"/>
              </a:tblGrid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3C78D8">
                        <a:alpha val="161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8575" marB="6857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