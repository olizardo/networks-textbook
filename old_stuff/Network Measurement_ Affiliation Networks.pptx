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Josefin Slab"/>
      <p:regular r:id="rId31"/>
      <p:bold r:id="rId32"/>
      <p:italic r:id="rId33"/>
      <p:boldItalic r:id="rId34"/>
    </p:embeddedFont>
    <p:embeddedFont>
      <p:font typeface="Economica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F9E1D8A8-55F1-433E-A445-088F0733327C}">
  <a:tblStyle styleId="{F9E1D8A8-55F1-433E-A445-088F073332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BA0263-28EF-4A04-B91E-686B8F9262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5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osefinSlab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JosefinSlab-italic.fntdata"/><Relationship Id="rId10" Type="http://schemas.openxmlformats.org/officeDocument/2006/relationships/slide" Target="slides/slide5.xml"/><Relationship Id="rId32" Type="http://schemas.openxmlformats.org/officeDocument/2006/relationships/font" Target="fonts/JosefinSlab-bold.fntdata"/><Relationship Id="rId13" Type="http://schemas.openxmlformats.org/officeDocument/2006/relationships/slide" Target="slides/slide8.xml"/><Relationship Id="rId35" Type="http://schemas.openxmlformats.org/officeDocument/2006/relationships/font" Target="fonts/Economica-regular.fntdata"/><Relationship Id="rId12" Type="http://schemas.openxmlformats.org/officeDocument/2006/relationships/slide" Target="slides/slide7.xml"/><Relationship Id="rId34" Type="http://schemas.openxmlformats.org/officeDocument/2006/relationships/font" Target="fonts/JosefinSlab-boldItalic.fntdata"/><Relationship Id="rId15" Type="http://schemas.openxmlformats.org/officeDocument/2006/relationships/slide" Target="slides/slide10.xml"/><Relationship Id="rId37" Type="http://schemas.openxmlformats.org/officeDocument/2006/relationships/font" Target="fonts/Economica-italic.fntdata"/><Relationship Id="rId14" Type="http://schemas.openxmlformats.org/officeDocument/2006/relationships/slide" Target="slides/slide9.xml"/><Relationship Id="rId36" Type="http://schemas.openxmlformats.org/officeDocument/2006/relationships/font" Target="fonts/Economica-bold.fntdata"/><Relationship Id="rId17" Type="http://schemas.openxmlformats.org/officeDocument/2006/relationships/slide" Target="slides/slide12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1.xml"/><Relationship Id="rId38" Type="http://schemas.openxmlformats.org/officeDocument/2006/relationships/font" Target="fonts/Economica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4829b0f0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4829b0f0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829b0f0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829b0f0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4829b0f0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4829b0f0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829b0f0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829b0f0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829b0f09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829b0f0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4829b0f09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4829b0f09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4829b0f0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4829b0f0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829b0f0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829b0f0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829b0f0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4829b0f0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829b0f09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829b0f09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829b0f0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4829b0f0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829b0f09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829b0f09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4829b0f09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4829b0f09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829b0f0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4829b0f0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4829b0f09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4829b0f09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4829b0f0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4829b0f0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4829b0f09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4829b0f09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829b0f09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829b0f09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4829b0f09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4829b0f09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4829b0f09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4829b0f09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4829b0f09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4829b0f09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829b0f09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4829b0f09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4829b0f09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4829b0f09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4829b0f09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4829b0f09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846725"/>
            <a:ext cx="3054600" cy="34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the Relationship between Individuals and other objects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affiliation networks link persons to other kinds of entities (such as “groups”)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commonly groups or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are composed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individuals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groups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 set of </a:t>
            </a:r>
            <a:r>
              <a:rPr b="1" lang="en"/>
              <a:t>relations</a:t>
            </a:r>
            <a:r>
              <a:rPr lang="en"/>
              <a:t> linking individuals to groups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</a:t>
            </a:r>
            <a:r>
              <a:rPr b="1" lang="en"/>
              <a:t>ubsets</a:t>
            </a:r>
            <a:r>
              <a:rPr lang="en"/>
              <a:t> of individuals belonging to the same groups</a:t>
            </a:r>
            <a:endParaRPr/>
          </a:p>
        </p:txBody>
      </p:sp>
      <p:pic>
        <p:nvPicPr>
          <p:cNvPr descr="slide_50.jpg" id="69" name="Google Shape;69;p14"/>
          <p:cNvPicPr preferRelativeResize="0"/>
          <p:nvPr/>
        </p:nvPicPr>
        <p:blipFill rotWithShape="1">
          <a:blip r:embed="rId3">
            <a:alphaModFix/>
          </a:blip>
          <a:srcRect b="7613" l="22540" r="23765" t="39555"/>
          <a:stretch/>
        </p:blipFill>
        <p:spPr>
          <a:xfrm>
            <a:off x="5478300" y="1334200"/>
            <a:ext cx="3354000" cy="247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4851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Scientific papers</a:t>
            </a:r>
            <a:r>
              <a:rPr lang="en"/>
              <a:t> and the </a:t>
            </a:r>
            <a:r>
              <a:rPr b="1" lang="en"/>
              <a:t>people</a:t>
            </a:r>
            <a:r>
              <a:rPr lang="en"/>
              <a:t> they cite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slide_50.jpg" id="76" name="Google Shape;76;p15"/>
          <p:cNvPicPr preferRelativeResize="0"/>
          <p:nvPr/>
        </p:nvPicPr>
        <p:blipFill rotWithShape="1">
          <a:blip r:embed="rId3">
            <a:alphaModFix/>
          </a:blip>
          <a:srcRect b="7613" l="22540" r="23765" t="39555"/>
          <a:stretch/>
        </p:blipFill>
        <p:spPr>
          <a:xfrm>
            <a:off x="5478300" y="1334200"/>
            <a:ext cx="3354000" cy="247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marvel-3.png" id="82" name="Google Shape;82;p16"/>
          <p:cNvPicPr preferRelativeResize="0"/>
          <p:nvPr/>
        </p:nvPicPr>
        <p:blipFill rotWithShape="1">
          <a:blip r:embed="rId3">
            <a:alphaModFix/>
          </a:blip>
          <a:srcRect b="2470" l="2257" r="1690" t="262"/>
          <a:stretch/>
        </p:blipFill>
        <p:spPr>
          <a:xfrm>
            <a:off x="5956575" y="1186225"/>
            <a:ext cx="2875725" cy="3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Hollywood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actors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movies</a:t>
            </a:r>
            <a:r>
              <a:rPr lang="en">
                <a:solidFill>
                  <a:srgbClr val="FF0000"/>
                </a:solidFill>
              </a:rPr>
              <a:t> that they make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>
                <a:solidFill>
                  <a:srgbClr val="000000"/>
                </a:solidFill>
              </a:rPr>
              <a:t>CEOs</a:t>
            </a:r>
            <a:r>
              <a:rPr lang="en">
                <a:solidFill>
                  <a:srgbClr val="000000"/>
                </a:solidFill>
              </a:rPr>
              <a:t> and the </a:t>
            </a:r>
            <a:r>
              <a:rPr b="1" lang="en">
                <a:solidFill>
                  <a:srgbClr val="000000"/>
                </a:solidFill>
              </a:rPr>
              <a:t>board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of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directors</a:t>
            </a:r>
            <a:r>
              <a:rPr lang="en">
                <a:solidFill>
                  <a:srgbClr val="000000"/>
                </a:solidFill>
              </a:rPr>
              <a:t> that they sit 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Citigroup_corp_NetDraw.gif"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CEOs</a:t>
            </a:r>
            <a:r>
              <a:rPr lang="en">
                <a:solidFill>
                  <a:srgbClr val="FF0000"/>
                </a:solidFill>
              </a:rPr>
              <a:t> and the </a:t>
            </a:r>
            <a:r>
              <a:rPr b="1" lang="en">
                <a:solidFill>
                  <a:srgbClr val="FF0000"/>
                </a:solidFill>
              </a:rPr>
              <a:t>board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of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b="1" lang="en">
                <a:solidFill>
                  <a:srgbClr val="FF0000"/>
                </a:solidFill>
              </a:rPr>
              <a:t>directors</a:t>
            </a:r>
            <a:r>
              <a:rPr lang="en">
                <a:solidFill>
                  <a:srgbClr val="FF0000"/>
                </a:solidFill>
              </a:rPr>
              <a:t> that they sit on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Scientists </a:t>
            </a:r>
            <a:r>
              <a:rPr lang="en"/>
              <a:t>and the </a:t>
            </a:r>
            <a:r>
              <a:rPr b="1" lang="en"/>
              <a:t>journal</a:t>
            </a:r>
            <a:r>
              <a:rPr lang="en"/>
              <a:t> they publish in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affiliation network?</a:t>
            </a:r>
            <a:endParaRPr/>
          </a:p>
        </p:txBody>
      </p:sp>
      <p:pic>
        <p:nvPicPr>
          <p:cNvPr descr="image006.jpg"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affiliation networks that have been studied in the literature include: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Hollywood</a:t>
            </a:r>
            <a:r>
              <a:rPr lang="en"/>
              <a:t> </a:t>
            </a:r>
            <a:r>
              <a:rPr b="1" lang="en"/>
              <a:t>actors</a:t>
            </a:r>
            <a:r>
              <a:rPr lang="en"/>
              <a:t> and the </a:t>
            </a:r>
            <a:r>
              <a:rPr b="1" lang="en"/>
              <a:t>movies</a:t>
            </a:r>
            <a:r>
              <a:rPr lang="en"/>
              <a:t> that they make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CEOs</a:t>
            </a:r>
            <a:r>
              <a:rPr lang="en"/>
              <a:t> and the </a:t>
            </a:r>
            <a:r>
              <a:rPr b="1" lang="en"/>
              <a:t>board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directors</a:t>
            </a:r>
            <a:r>
              <a:rPr lang="en"/>
              <a:t> that they sit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Community</a:t>
            </a:r>
            <a:r>
              <a:rPr lang="en"/>
              <a:t> </a:t>
            </a:r>
            <a:r>
              <a:rPr b="1" lang="en"/>
              <a:t>leaders</a:t>
            </a:r>
            <a:r>
              <a:rPr lang="en"/>
              <a:t> and the </a:t>
            </a:r>
            <a:r>
              <a:rPr b="1" lang="en"/>
              <a:t>associations</a:t>
            </a:r>
            <a:r>
              <a:rPr lang="en"/>
              <a:t> they belong 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Broadway</a:t>
            </a:r>
            <a:r>
              <a:rPr lang="en"/>
              <a:t> </a:t>
            </a:r>
            <a:r>
              <a:rPr b="1" lang="en"/>
              <a:t>talent</a:t>
            </a:r>
            <a:r>
              <a:rPr lang="en"/>
              <a:t> and the </a:t>
            </a:r>
            <a:r>
              <a:rPr b="1" lang="en"/>
              <a:t>projects</a:t>
            </a:r>
            <a:r>
              <a:rPr lang="en"/>
              <a:t> that they collaborate 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Scientists </a:t>
            </a:r>
            <a:r>
              <a:rPr lang="en">
                <a:solidFill>
                  <a:srgbClr val="FF0000"/>
                </a:solidFill>
              </a:rPr>
              <a:t>and the </a:t>
            </a:r>
            <a:r>
              <a:rPr b="1" lang="en">
                <a:solidFill>
                  <a:srgbClr val="FF0000"/>
                </a:solidFill>
              </a:rPr>
              <a:t>journal</a:t>
            </a:r>
            <a:r>
              <a:rPr lang="en">
                <a:solidFill>
                  <a:srgbClr val="FF0000"/>
                </a:solidFill>
              </a:rPr>
              <a:t> they publish in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of talking about “affiliation networks"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</a:t>
            </a:r>
            <a:r>
              <a:rPr b="1" lang="en"/>
              <a:t>"real life" states or processes</a:t>
            </a:r>
            <a:r>
              <a:rPr lang="en"/>
              <a:t> in a social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Membership of </a:t>
            </a:r>
            <a:r>
              <a:rPr b="1" lang="en"/>
              <a:t>individuals</a:t>
            </a:r>
            <a:r>
              <a:rPr lang="en"/>
              <a:t> in </a:t>
            </a:r>
            <a:r>
              <a:rPr b="1" lang="en"/>
              <a:t>groups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refer to the </a:t>
            </a:r>
            <a:r>
              <a:rPr b="1" lang="en"/>
              <a:t>graph-theoretic concept</a:t>
            </a:r>
            <a:r>
              <a:rPr lang="en"/>
              <a:t> that is the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</a:t>
            </a:r>
            <a:r>
              <a:rPr b="1" lang="en"/>
              <a:t>edge</a:t>
            </a:r>
            <a:r>
              <a:rPr lang="en"/>
              <a:t> joining entities from set </a:t>
            </a:r>
            <a:r>
              <a:rPr b="1" lang="en"/>
              <a:t>g</a:t>
            </a:r>
            <a:r>
              <a:rPr lang="en"/>
              <a:t> to set </a:t>
            </a:r>
            <a:r>
              <a:rPr b="1" lang="en"/>
              <a:t>h</a:t>
            </a:r>
            <a:r>
              <a:rPr lang="en"/>
              <a:t> in bipartite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edges </a:t>
            </a:r>
            <a:r>
              <a:rPr b="1" lang="en"/>
              <a:t>incident</a:t>
            </a:r>
            <a:r>
              <a:rPr lang="en"/>
              <a:t> on a member of set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Terms used to the </a:t>
            </a:r>
            <a:r>
              <a:rPr b="1" lang="en"/>
              <a:t>matrix algebraic representation</a:t>
            </a:r>
            <a:r>
              <a:rPr lang="en"/>
              <a:t> of the graph-theoretic analogue of that state or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sum</a:t>
            </a:r>
            <a:r>
              <a:rPr lang="en"/>
              <a:t> of the </a:t>
            </a:r>
            <a:r>
              <a:rPr b="1" lang="en"/>
              <a:t>rows</a:t>
            </a:r>
            <a:r>
              <a:rPr lang="en"/>
              <a:t> of the </a:t>
            </a:r>
            <a:r>
              <a:rPr b="1" lang="en"/>
              <a:t>affiliation matrix </a:t>
            </a:r>
            <a:r>
              <a:rPr lang="en"/>
              <a:t>A giving us the</a:t>
            </a:r>
            <a:r>
              <a:rPr b="1" lang="en"/>
              <a:t> number of memberships </a:t>
            </a:r>
            <a:r>
              <a:rPr lang="en"/>
              <a:t>of a given individual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three-step shuffle: Affiliation network edition </a:t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69932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Begin with theories specifying the </a:t>
            </a:r>
            <a:r>
              <a:rPr b="1" lang="en" sz="1800">
                <a:solidFill>
                  <a:srgbClr val="FFFFFF"/>
                </a:solidFill>
              </a:rPr>
              <a:t>membership relation</a:t>
            </a:r>
            <a:r>
              <a:rPr lang="en" sz="1800">
                <a:solidFill>
                  <a:srgbClr val="FFFFFF"/>
                </a:solidFill>
              </a:rPr>
              <a:t> between people and other entities, such as groups, teams, events.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10" name="Google Shape;110;p20"/>
          <p:cNvCxnSpPr>
            <a:stCxn id="109" idx="3"/>
            <a:endCxn id="111" idx="1"/>
          </p:cNvCxnSpPr>
          <p:nvPr/>
        </p:nvCxnSpPr>
        <p:spPr>
          <a:xfrm>
            <a:off x="2889325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20"/>
          <p:cNvSpPr/>
          <p:nvPr/>
        </p:nvSpPr>
        <p:spPr>
          <a:xfrm>
            <a:off x="3606400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Translate the membership concept into a </a:t>
            </a:r>
            <a:r>
              <a:rPr b="1" lang="en" sz="1800">
                <a:solidFill>
                  <a:srgbClr val="FFFFFF"/>
                </a:solidFill>
              </a:rPr>
              <a:t>graph theoretic concept</a:t>
            </a:r>
            <a:r>
              <a:rPr lang="en" sz="1800">
                <a:solidFill>
                  <a:srgbClr val="FFFFFF"/>
                </a:solidFill>
              </a:rPr>
              <a:t> by switching to the appropriate representation 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bipartite graphs)</a:t>
            </a:r>
            <a:endParaRPr sz="1800">
              <a:solidFill>
                <a:srgbClr val="FFFFFF"/>
              </a:solidFill>
            </a:endParaRPr>
          </a:p>
        </p:txBody>
      </p:sp>
      <p:cxnSp>
        <p:nvCxnSpPr>
          <p:cNvPr id="112" name="Google Shape;112;p20"/>
          <p:cNvCxnSpPr>
            <a:stCxn id="111" idx="3"/>
            <a:endCxn id="113" idx="1"/>
          </p:cNvCxnSpPr>
          <p:nvPr/>
        </p:nvCxnSpPr>
        <p:spPr>
          <a:xfrm>
            <a:off x="5796400" y="3023400"/>
            <a:ext cx="7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20"/>
          <p:cNvSpPr/>
          <p:nvPr/>
        </p:nvSpPr>
        <p:spPr>
          <a:xfrm>
            <a:off x="6513475" y="1386750"/>
            <a:ext cx="2190000" cy="327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Link the bipartite graph theoretic idea to a </a:t>
            </a:r>
            <a:r>
              <a:rPr b="1" lang="en" sz="1800">
                <a:solidFill>
                  <a:srgbClr val="FFFFFF"/>
                </a:solidFill>
              </a:rPr>
              <a:t>matrix algebra</a:t>
            </a:r>
            <a:r>
              <a:rPr lang="en" sz="1800">
                <a:solidFill>
                  <a:srgbClr val="FFFFFF"/>
                </a:solidFill>
              </a:rPr>
              <a:t> to come up with network-analytic </a:t>
            </a:r>
            <a:r>
              <a:rPr b="1" lang="en" sz="1800">
                <a:solidFill>
                  <a:srgbClr val="FFFFFF"/>
                </a:solidFill>
              </a:rPr>
              <a:t>measures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(e.g. centrality of individuals and events)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 flashback: </a:t>
            </a:r>
            <a:r>
              <a:rPr lang="en"/>
              <a:t>Bipartite graphs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225225"/>
            <a:ext cx="5166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networks analysis </a:t>
            </a:r>
            <a:r>
              <a:rPr b="1" lang="en"/>
              <a:t>affiliation</a:t>
            </a:r>
            <a:r>
              <a:rPr lang="en"/>
              <a:t> </a:t>
            </a:r>
            <a:r>
              <a:rPr b="1" lang="en"/>
              <a:t>networks</a:t>
            </a:r>
            <a:r>
              <a:rPr lang="en"/>
              <a:t> can be best represented as </a:t>
            </a:r>
            <a:r>
              <a:rPr b="1" lang="en"/>
              <a:t>bipartite</a:t>
            </a:r>
            <a:r>
              <a:rPr lang="en"/>
              <a:t> </a:t>
            </a:r>
            <a:r>
              <a:rPr b="1" lang="en"/>
              <a:t>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bipartite graph is characterized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set of vertices (</a:t>
            </a:r>
            <a:r>
              <a:rPr b="1" lang="en"/>
              <a:t>g</a:t>
            </a:r>
            <a:r>
              <a:rPr lang="en"/>
              <a:t>) and (</a:t>
            </a:r>
            <a:r>
              <a:rPr b="1" lang="en"/>
              <a:t>h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relations (</a:t>
            </a:r>
            <a:r>
              <a:rPr b="1" lang="en"/>
              <a:t>e</a:t>
            </a:r>
            <a:r>
              <a:rPr lang="en"/>
              <a:t>) linking vertices from set </a:t>
            </a:r>
            <a:r>
              <a:rPr b="1" lang="en"/>
              <a:t>g</a:t>
            </a:r>
            <a:r>
              <a:rPr lang="en"/>
              <a:t> to vertices from set </a:t>
            </a:r>
            <a:r>
              <a:rPr b="1" lang="en"/>
              <a:t>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sets g and h are </a:t>
            </a:r>
            <a:r>
              <a:rPr b="1" lang="en"/>
              <a:t>disjoint</a:t>
            </a:r>
            <a:r>
              <a:rPr lang="en"/>
              <a:t>  (they don’t share members)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link vertices </a:t>
            </a:r>
            <a:r>
              <a:rPr b="1" lang="en"/>
              <a:t>between</a:t>
            </a:r>
            <a:r>
              <a:rPr lang="en"/>
              <a:t> sets but not </a:t>
            </a:r>
            <a:r>
              <a:rPr b="1" lang="en"/>
              <a:t>within</a:t>
            </a:r>
            <a:r>
              <a:rPr lang="en"/>
              <a:t> sets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220px-Simple-bipartite-graph.svg.png"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300" y="1225225"/>
            <a:ext cx="3354000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</a:t>
            </a:r>
            <a:r>
              <a:rPr lang="en"/>
              <a:t> graphs: Matrix representation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225225"/>
            <a:ext cx="396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Bipartite graphs</a:t>
            </a:r>
            <a:r>
              <a:rPr lang="en"/>
              <a:t> are usually represented using an </a:t>
            </a:r>
            <a:r>
              <a:rPr b="1" lang="en"/>
              <a:t>affiliation matrix</a:t>
            </a:r>
            <a:r>
              <a:rPr lang="en"/>
              <a:t> A of dimensions g x h,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is the number of </a:t>
            </a:r>
            <a:r>
              <a:rPr b="1" lang="en"/>
              <a:t>persons</a:t>
            </a:r>
            <a:r>
              <a:rPr lang="en"/>
              <a:t> (rows)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 is the number of </a:t>
            </a:r>
            <a:r>
              <a:rPr b="1" lang="en"/>
              <a:t>groups</a:t>
            </a:r>
            <a:r>
              <a:rPr lang="en"/>
              <a:t> (columns)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</a:t>
            </a:r>
            <a:r>
              <a:rPr b="1" baseline="-25000" lang="en"/>
              <a:t>ik</a:t>
            </a:r>
            <a:r>
              <a:rPr lang="en"/>
              <a:t> = 1 if actor i is affiliated with event k and zero otherwise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7" name="Google Shape;127;p22"/>
          <p:cNvGraphicFramePr/>
          <p:nvPr/>
        </p:nvGraphicFramePr>
        <p:xfrm>
          <a:off x="4218300" y="137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{F9E1D8A8-55F1-433E-A445-088F0733327C}</a:tableStyleId>
              </a:tblPr>
              <a:tblGrid>
                <a:gridCol w="769000"/>
                <a:gridCol w="769000"/>
                <a:gridCol w="769000"/>
                <a:gridCol w="769000"/>
                <a:gridCol w="769000"/>
                <a:gridCol w="769000"/>
              </a:tblGrid>
              <a:tr h="6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Affiliation Matrix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Debate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Glee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Student Council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Swim Team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Track Team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Janice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Lena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Olive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Bipartite graphs: Matrix representation</a:t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694800" y="1293125"/>
            <a:ext cx="1246800" cy="3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Janice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Kent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Lena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Max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Olive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</a:t>
            </a:r>
            <a:endParaRPr b="1"/>
          </a:p>
        </p:txBody>
      </p:sp>
      <p:sp>
        <p:nvSpPr>
          <p:cNvPr id="134" name="Google Shape;134;p23"/>
          <p:cNvSpPr/>
          <p:nvPr/>
        </p:nvSpPr>
        <p:spPr>
          <a:xfrm>
            <a:off x="2661425" y="1293125"/>
            <a:ext cx="1246800" cy="3174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Debate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Glee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Council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Swim</a:t>
            </a:r>
            <a:endParaRPr b="1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Track</a:t>
            </a:r>
            <a:endParaRPr b="1"/>
          </a:p>
        </p:txBody>
      </p:sp>
      <p:cxnSp>
        <p:nvCxnSpPr>
          <p:cNvPr id="135" name="Google Shape;135;p23"/>
          <p:cNvCxnSpPr/>
          <p:nvPr/>
        </p:nvCxnSpPr>
        <p:spPr>
          <a:xfrm>
            <a:off x="1650175" y="1968625"/>
            <a:ext cx="1293000" cy="289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3"/>
          <p:cNvCxnSpPr/>
          <p:nvPr/>
        </p:nvCxnSpPr>
        <p:spPr>
          <a:xfrm>
            <a:off x="1659825" y="1987925"/>
            <a:ext cx="1360800" cy="12738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3"/>
          <p:cNvCxnSpPr/>
          <p:nvPr/>
        </p:nvCxnSpPr>
        <p:spPr>
          <a:xfrm>
            <a:off x="1611575" y="2277425"/>
            <a:ext cx="1399200" cy="9843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3"/>
          <p:cNvCxnSpPr/>
          <p:nvPr/>
        </p:nvCxnSpPr>
        <p:spPr>
          <a:xfrm>
            <a:off x="1611575" y="2277425"/>
            <a:ext cx="1408800" cy="12930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3"/>
          <p:cNvCxnSpPr/>
          <p:nvPr/>
        </p:nvCxnSpPr>
        <p:spPr>
          <a:xfrm flipH="1" rot="10800000">
            <a:off x="1582625" y="2296575"/>
            <a:ext cx="1380000" cy="3186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3"/>
          <p:cNvCxnSpPr/>
          <p:nvPr/>
        </p:nvCxnSpPr>
        <p:spPr>
          <a:xfrm>
            <a:off x="1592275" y="2634475"/>
            <a:ext cx="1331700" cy="2799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3"/>
          <p:cNvCxnSpPr/>
          <p:nvPr/>
        </p:nvCxnSpPr>
        <p:spPr>
          <a:xfrm flipH="1" rot="10800000">
            <a:off x="1534375" y="2277525"/>
            <a:ext cx="1399200" cy="6561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3"/>
          <p:cNvCxnSpPr/>
          <p:nvPr/>
        </p:nvCxnSpPr>
        <p:spPr>
          <a:xfrm flipH="1" rot="10800000">
            <a:off x="1572975" y="2605525"/>
            <a:ext cx="1524600" cy="3474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3"/>
          <p:cNvCxnSpPr/>
          <p:nvPr/>
        </p:nvCxnSpPr>
        <p:spPr>
          <a:xfrm>
            <a:off x="1563325" y="2972225"/>
            <a:ext cx="1457100" cy="6177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3"/>
          <p:cNvCxnSpPr/>
          <p:nvPr/>
        </p:nvCxnSpPr>
        <p:spPr>
          <a:xfrm flipH="1" rot="10800000">
            <a:off x="1553675" y="2634425"/>
            <a:ext cx="1544100" cy="6273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3"/>
          <p:cNvCxnSpPr/>
          <p:nvPr/>
        </p:nvCxnSpPr>
        <p:spPr>
          <a:xfrm flipH="1" rot="10800000">
            <a:off x="1572975" y="2914325"/>
            <a:ext cx="1322100" cy="3474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3"/>
          <p:cNvCxnSpPr/>
          <p:nvPr/>
        </p:nvCxnSpPr>
        <p:spPr>
          <a:xfrm>
            <a:off x="1572975" y="3271375"/>
            <a:ext cx="1437900" cy="3282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3"/>
          <p:cNvCxnSpPr/>
          <p:nvPr/>
        </p:nvCxnSpPr>
        <p:spPr>
          <a:xfrm flipH="1" rot="10800000">
            <a:off x="1495775" y="2258025"/>
            <a:ext cx="1447500" cy="13125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3"/>
          <p:cNvCxnSpPr/>
          <p:nvPr/>
        </p:nvCxnSpPr>
        <p:spPr>
          <a:xfrm>
            <a:off x="1505425" y="3570525"/>
            <a:ext cx="1486200" cy="38700"/>
          </a:xfrm>
          <a:prstGeom prst="straightConnector1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9" name="Google Shape;149;p23"/>
          <p:cNvGraphicFramePr/>
          <p:nvPr/>
        </p:nvGraphicFramePr>
        <p:xfrm>
          <a:off x="4218300" y="137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{F9E1D8A8-55F1-433E-A445-088F0733327C}</a:tableStyleId>
              </a:tblPr>
              <a:tblGrid>
                <a:gridCol w="769000"/>
                <a:gridCol w="769000"/>
                <a:gridCol w="769000"/>
                <a:gridCol w="769000"/>
                <a:gridCol w="769000"/>
                <a:gridCol w="769000"/>
              </a:tblGrid>
              <a:tr h="6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Affiliation Matrix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Debate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Glee Club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Student Council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Swim Team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Track Team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Janice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Lena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Olive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1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The Transpose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25225"/>
            <a:ext cx="3525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transpose (' or </a:t>
            </a:r>
            <a:r>
              <a:rPr baseline="30000" lang="en"/>
              <a:t>T</a:t>
            </a:r>
            <a:r>
              <a:rPr lang="en"/>
              <a:t>) of a matrix reverses the row and column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baseline="-25000" lang="en"/>
              <a:t>ij</a:t>
            </a:r>
            <a:r>
              <a:rPr baseline="30000" lang="en"/>
              <a:t>T</a:t>
            </a:r>
            <a:r>
              <a:rPr lang="en"/>
              <a:t>= A</a:t>
            </a:r>
            <a:r>
              <a:rPr baseline="-25000" lang="en"/>
              <a:t>ji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a g x h matrix becomes an h x g matrix</a:t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4072725" y="2048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{05BA0263-28EF-4A04-B91E-686B8F926211}</a:tableStyleId>
              </a:tblPr>
              <a:tblGrid>
                <a:gridCol w="382850"/>
                <a:gridCol w="382850"/>
              </a:tblGrid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4"/>
          <p:cNvSpPr/>
          <p:nvPr/>
        </p:nvSpPr>
        <p:spPr>
          <a:xfrm>
            <a:off x="5074300" y="2578000"/>
            <a:ext cx="1530300" cy="46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FD4D4"/>
          </a:solidFill>
          <a:ln cap="flat" cmpd="sng" w="19050">
            <a:solidFill>
              <a:srgbClr val="5B59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8" name="Google Shape;158;p24"/>
          <p:cNvGraphicFramePr/>
          <p:nvPr/>
        </p:nvGraphicFramePr>
        <p:xfrm>
          <a:off x="6825325" y="230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{05BA0263-28EF-4A04-B91E-686B8F926211}</a:tableStyleId>
              </a:tblPr>
              <a:tblGrid>
                <a:gridCol w="449550"/>
                <a:gridCol w="449550"/>
                <a:gridCol w="449550"/>
              </a:tblGrid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a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e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FF0000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b</a:t>
                      </a:r>
                      <a:endParaRPr b="1" sz="2200">
                        <a:solidFill>
                          <a:srgbClr val="FF0000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0000FF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</a:t>
                      </a:r>
                      <a:endParaRPr b="1" sz="2200">
                        <a:solidFill>
                          <a:srgbClr val="0000FF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solidFill>
                            <a:srgbClr val="38761D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</a:t>
                      </a:r>
                      <a:endParaRPr b="1" sz="2200">
                        <a:solidFill>
                          <a:srgbClr val="38761D"/>
                        </a:solidFill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24"/>
          <p:cNvSpPr txBox="1"/>
          <p:nvPr/>
        </p:nvSpPr>
        <p:spPr>
          <a:xfrm>
            <a:off x="4230125" y="1546638"/>
            <a:ext cx="450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184950" y="1546638"/>
            <a:ext cx="629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2200">
                <a:latin typeface="Josefin Slab"/>
                <a:ea typeface="Josefin Slab"/>
                <a:cs typeface="Josefin Slab"/>
                <a:sym typeface="Josefin Slab"/>
              </a:rPr>
              <a:t>T</a:t>
            </a:r>
            <a:endParaRPr baseline="30000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matrix multiplication (x) of two matrices involves all elements of the matrix, and will often result in a matrix of new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to be conformable, the inner dimensions (red) of both matrices must match.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resulting matrix has the dimensions a x b, where a is the outer dimension (green) of the left multiplier and b is the outer dimension (blue) of the right multiplier.  So:</a:t>
            </a:r>
            <a:endParaRPr/>
          </a:p>
        </p:txBody>
      </p:sp>
      <p:grpSp>
        <p:nvGrpSpPr>
          <p:cNvPr id="167" name="Google Shape;167;p25"/>
          <p:cNvGrpSpPr/>
          <p:nvPr/>
        </p:nvGrpSpPr>
        <p:grpSpPr>
          <a:xfrm>
            <a:off x="813184" y="2728816"/>
            <a:ext cx="7517650" cy="2178584"/>
            <a:chOff x="1280934" y="4304766"/>
            <a:chExt cx="7517650" cy="2178584"/>
          </a:xfrm>
        </p:grpSpPr>
        <p:sp>
          <p:nvSpPr>
            <p:cNvPr id="168" name="Google Shape;168;p25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5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71" name="Google Shape;171;p25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4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4890484" y="4304766"/>
              <a:ext cx="39081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B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0000FF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4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Not defined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74" name="Google Shape;174;p25"/>
            <p:cNvSpPr/>
            <p:nvPr/>
          </p:nvSpPr>
          <p:spPr>
            <a:xfrm rot="-5344964">
              <a:off x="5819971" y="4656038"/>
              <a:ext cx="449758" cy="732389"/>
            </a:xfrm>
            <a:prstGeom prst="leftBrace">
              <a:avLst>
                <a:gd fmla="val 8333" name="adj1"/>
                <a:gd fmla="val 51810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 txBox="1"/>
            <p:nvPr/>
          </p:nvSpPr>
          <p:spPr>
            <a:xfrm>
              <a:off x="5063100" y="5174891"/>
              <a:ext cx="1963500" cy="5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dimensions do not match 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76" name="Google Shape;176;p25"/>
            <p:cNvCxnSpPr>
              <a:stCxn id="171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Operations: Matrix Multiplication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225225"/>
            <a:ext cx="8331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matrix multiplication (x) of two matrices involves all elements of the matrix, and will often result in a matrix of new dimensions.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to be conformable, the inner dimensions (red) of both matrices must match.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Turns out that the product of any matrix A by its transpose is defined!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 is the product of the transpose times the original matrix!</a:t>
            </a:r>
            <a:endParaRPr b="1"/>
          </a:p>
        </p:txBody>
      </p:sp>
      <p:grpSp>
        <p:nvGrpSpPr>
          <p:cNvPr id="183" name="Google Shape;183;p26"/>
          <p:cNvGrpSpPr/>
          <p:nvPr/>
        </p:nvGrpSpPr>
        <p:grpSpPr>
          <a:xfrm>
            <a:off x="813184" y="2728816"/>
            <a:ext cx="2921700" cy="2178584"/>
            <a:chOff x="1280934" y="4304766"/>
            <a:chExt cx="2921700" cy="2178584"/>
          </a:xfrm>
        </p:grpSpPr>
        <p:sp>
          <p:nvSpPr>
            <p:cNvPr id="184" name="Google Shape;184;p26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87" name="Google Shape;187;p26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88" name="Google Shape;188;p26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aseline="30000" lang="en" sz="2200">
                  <a:latin typeface="Josefin Slab"/>
                  <a:ea typeface="Josefin Slab"/>
                  <a:cs typeface="Josefin Slab"/>
                  <a:sym typeface="Josefin Slab"/>
                </a:rPr>
                <a:t>T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89" name="Google Shape;189;p26"/>
            <p:cNvCxnSpPr>
              <a:stCxn id="187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90" name="Google Shape;190;p26"/>
          <p:cNvGrpSpPr/>
          <p:nvPr/>
        </p:nvGrpSpPr>
        <p:grpSpPr>
          <a:xfrm>
            <a:off x="5277709" y="2728816"/>
            <a:ext cx="2921700" cy="2178584"/>
            <a:chOff x="1280934" y="4304766"/>
            <a:chExt cx="2921700" cy="2178584"/>
          </a:xfrm>
        </p:grpSpPr>
        <p:sp>
          <p:nvSpPr>
            <p:cNvPr id="191" name="Google Shape;191;p26"/>
            <p:cNvSpPr/>
            <p:nvPr/>
          </p:nvSpPr>
          <p:spPr>
            <a:xfrm rot="-5345394">
              <a:off x="2173916" y="4598542"/>
              <a:ext cx="377748" cy="760899"/>
            </a:xfrm>
            <a:prstGeom prst="leftBrace">
              <a:avLst>
                <a:gd fmla="val 8333" name="adj1"/>
                <a:gd fmla="val 54154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 rot="-5344590">
              <a:off x="1606236" y="4903103"/>
              <a:ext cx="1507696" cy="1282662"/>
            </a:xfrm>
            <a:prstGeom prst="leftBrace">
              <a:avLst>
                <a:gd fmla="val 8333" name="adj1"/>
                <a:gd fmla="val 54471" name="adj2"/>
              </a:avLst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6"/>
            <p:cNvSpPr txBox="1"/>
            <p:nvPr/>
          </p:nvSpPr>
          <p:spPr>
            <a:xfrm>
              <a:off x="1725963" y="5103416"/>
              <a:ext cx="1315200" cy="47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Inner dims. match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94" name="Google Shape;194;p26"/>
            <p:cNvSpPr txBox="1"/>
            <p:nvPr/>
          </p:nvSpPr>
          <p:spPr>
            <a:xfrm>
              <a:off x="1827290" y="6182750"/>
              <a:ext cx="1127400" cy="3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Josefin Slab"/>
                  <a:ea typeface="Josefin Slab"/>
                  <a:cs typeface="Josefin Slab"/>
                  <a:sym typeface="Josefin Slab"/>
                </a:rPr>
                <a:t>Outer dims.</a:t>
              </a:r>
              <a:endParaRPr b="1" sz="1200"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sp>
          <p:nvSpPr>
            <p:cNvPr id="195" name="Google Shape;195;p26"/>
            <p:cNvSpPr txBox="1"/>
            <p:nvPr/>
          </p:nvSpPr>
          <p:spPr>
            <a:xfrm>
              <a:off x="1280934" y="4304766"/>
              <a:ext cx="29217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A</a:t>
              </a:r>
              <a:r>
                <a:rPr baseline="30000" lang="en" sz="2200">
                  <a:solidFill>
                    <a:schemeClr val="dk1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T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 x 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x   A</a:t>
              </a:r>
              <a:r>
                <a:rPr b="1" baseline="-25000" lang="en" sz="2200">
                  <a:solidFill>
                    <a:srgbClr val="FF0000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3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lang="en" sz="2200">
                  <a:latin typeface="Josefin Slab"/>
                  <a:ea typeface="Josefin Slab"/>
                  <a:cs typeface="Josefin Slab"/>
                  <a:sym typeface="Josefin Slab"/>
                </a:rPr>
                <a:t>  = C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 </a:t>
              </a:r>
              <a:r>
                <a:rPr baseline="-25000" lang="en" sz="2200">
                  <a:latin typeface="Josefin Slab"/>
                  <a:ea typeface="Josefin Slab"/>
                  <a:cs typeface="Josefin Slab"/>
                  <a:sym typeface="Josefin Slab"/>
                </a:rPr>
                <a:t>x </a:t>
              </a:r>
              <a:r>
                <a:rPr b="1" baseline="-25000" lang="en" sz="2200">
                  <a:solidFill>
                    <a:srgbClr val="257E12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2</a:t>
              </a:r>
              <a:endParaRPr>
                <a:latin typeface="Josefin Slab"/>
                <a:ea typeface="Josefin Slab"/>
                <a:cs typeface="Josefin Slab"/>
                <a:sym typeface="Josefin Slab"/>
              </a:endParaRPr>
            </a:p>
          </p:txBody>
        </p:sp>
        <p:cxnSp>
          <p:nvCxnSpPr>
            <p:cNvPr id="196" name="Google Shape;196;p26"/>
            <p:cNvCxnSpPr>
              <a:stCxn id="194" idx="3"/>
            </p:cNvCxnSpPr>
            <p:nvPr/>
          </p:nvCxnSpPr>
          <p:spPr>
            <a:xfrm flipH="1" rot="10800000">
              <a:off x="2954690" y="4857050"/>
              <a:ext cx="887700" cy="1476000"/>
            </a:xfrm>
            <a:prstGeom prst="straightConnector1">
              <a:avLst/>
            </a:prstGeom>
            <a:noFill/>
            <a:ln cap="flat" cmpd="sng" w="19050">
              <a:solidFill>
                <a:srgbClr val="5B595A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two mode to one-mode and back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you multiply an affiliation A matrix by its transpose A</a:t>
            </a:r>
            <a:r>
              <a:rPr baseline="30000" lang="en"/>
              <a:t>T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is g x h and g is the number of people and h is the number of events: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-25000" lang="en"/>
              <a:t>g x h</a:t>
            </a:r>
            <a:r>
              <a:rPr lang="en"/>
              <a:t> x </a:t>
            </a:r>
            <a:r>
              <a:rPr lang="en"/>
              <a:t>A</a:t>
            </a:r>
            <a:r>
              <a:rPr baseline="30000" lang="en"/>
              <a:t>T</a:t>
            </a:r>
            <a:r>
              <a:rPr baseline="-25000" lang="en"/>
              <a:t>h x g</a:t>
            </a:r>
            <a:r>
              <a:rPr lang="en"/>
              <a:t> = C </a:t>
            </a:r>
            <a:r>
              <a:rPr baseline="-25000" lang="en"/>
              <a:t>g x g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 is a g x g (square) </a:t>
            </a:r>
            <a:r>
              <a:rPr b="1" lang="en"/>
              <a:t>co-membership</a:t>
            </a:r>
            <a:r>
              <a:rPr lang="en"/>
              <a:t>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baseline="-25000" lang="en"/>
              <a:t>ij</a:t>
            </a:r>
            <a:r>
              <a:rPr lang="en"/>
              <a:t> is the number of </a:t>
            </a:r>
            <a:r>
              <a:rPr b="1" lang="en"/>
              <a:t>common group memberships</a:t>
            </a:r>
            <a:r>
              <a:rPr lang="en"/>
              <a:t> shared by person i and person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</a:t>
            </a:r>
            <a:r>
              <a:rPr baseline="-25000" lang="en"/>
              <a:t>ii </a:t>
            </a:r>
            <a:r>
              <a:rPr lang="en"/>
              <a:t>(diagonal) entries give the number of </a:t>
            </a:r>
            <a:r>
              <a:rPr b="1" lang="en"/>
              <a:t>total memberships</a:t>
            </a:r>
            <a:r>
              <a:rPr lang="en"/>
              <a:t> held by person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discoved by Breiger (1974)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two mode to one-mode and back</a:t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when you multiply the transpose of an affiliation matrix A</a:t>
            </a:r>
            <a:r>
              <a:rPr baseline="30000" lang="en"/>
              <a:t>T</a:t>
            </a:r>
            <a:r>
              <a:rPr lang="en"/>
              <a:t> by the original A?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is g x h and g is the number of people and h is the number of events: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30000" lang="en"/>
              <a:t>T</a:t>
            </a:r>
            <a:r>
              <a:rPr baseline="-25000" lang="en"/>
              <a:t>h x g</a:t>
            </a:r>
            <a:r>
              <a:rPr lang="en"/>
              <a:t> x A</a:t>
            </a:r>
            <a:r>
              <a:rPr baseline="-25000" lang="en"/>
              <a:t>g x h</a:t>
            </a:r>
            <a:r>
              <a:rPr lang="en"/>
              <a:t> </a:t>
            </a:r>
            <a:r>
              <a:rPr lang="en"/>
              <a:t>= O </a:t>
            </a:r>
            <a:r>
              <a:rPr baseline="-25000" lang="en"/>
              <a:t>h</a:t>
            </a:r>
            <a:r>
              <a:rPr baseline="-25000" lang="en"/>
              <a:t> x h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</a:t>
            </a:r>
            <a:r>
              <a:rPr lang="en"/>
              <a:t> is a h x h (square) </a:t>
            </a:r>
            <a:r>
              <a:rPr b="1" lang="en"/>
              <a:t>event-overlap</a:t>
            </a:r>
            <a:r>
              <a:rPr lang="en"/>
              <a:t> matrix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</a:t>
            </a:r>
            <a:r>
              <a:rPr baseline="-25000" lang="en"/>
              <a:t>ij</a:t>
            </a:r>
            <a:r>
              <a:rPr lang="en"/>
              <a:t> is the number of </a:t>
            </a:r>
            <a:r>
              <a:rPr b="1" lang="en"/>
              <a:t>shared members</a:t>
            </a:r>
            <a:r>
              <a:rPr lang="en"/>
              <a:t> between group i and group j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</a:t>
            </a:r>
            <a:r>
              <a:rPr baseline="-25000" lang="en"/>
              <a:t>ii </a:t>
            </a:r>
            <a:r>
              <a:rPr lang="en"/>
              <a:t>(diagonal) entries give the </a:t>
            </a:r>
            <a:r>
              <a:rPr b="1" lang="en"/>
              <a:t>size</a:t>
            </a:r>
            <a:r>
              <a:rPr lang="en"/>
              <a:t> of group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discoved by Breiger (1974)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The duality of persons and groups</a:t>
            </a:r>
            <a:endParaRPr/>
          </a:p>
        </p:txBody>
      </p:sp>
      <p:sp>
        <p:nvSpPr>
          <p:cNvPr id="214" name="Google Shape;214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first detailed treatment of affiliation networks is due to Breiger (1974) in a now classic paper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relations between entities are co-constituted by their relations to another set of entities (Simmel 1971)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Affiliation networks can be used to formalize a classic notion of how people indirectly relate to one another via their group memberships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en"/>
              <a:t>Duality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are related by the set of group memberships they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Events are related by the set of persons who participate in both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 flashback: Weighted graphs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311700" y="1225225"/>
            <a:ext cx="496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it is useful to associate numerical values with the edges (uv) of a graph: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edge weight (w</a:t>
            </a:r>
            <a:r>
              <a:rPr baseline="-25000" lang="en"/>
              <a:t>uv</a:t>
            </a:r>
            <a:r>
              <a:rPr lang="en"/>
              <a:t>)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may be used to represent: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</a:t>
            </a:r>
            <a:r>
              <a:rPr b="1" lang="en"/>
              <a:t>strength</a:t>
            </a:r>
            <a:r>
              <a:rPr lang="en"/>
              <a:t> of the relationship joining two people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amount of something (e.g. information) that </a:t>
            </a:r>
            <a:r>
              <a:rPr b="1" lang="en"/>
              <a:t>flows</a:t>
            </a:r>
            <a:r>
              <a:rPr lang="en"/>
              <a:t> via the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featured edge weights are called weighted (valued) graphs: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 graphs can be thought of as a constrained case of weighted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201" y="1423099"/>
            <a:ext cx="3551100" cy="2297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mode projections as weighted graphs</a:t>
            </a:r>
            <a:endParaRPr/>
          </a:p>
        </p:txBody>
      </p:sp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mode projections of two mode networks can be thought of as matrix representations of weighted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People are linked to one another is they share memberships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memberships the stronger the link 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Groups are linked to one another if they share members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more shared members the stronger the link </a:t>
            </a:r>
            <a:r>
              <a:rPr lang="en"/>
              <a:t>(w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binarize the weighted one-mode representation to get back to simple graphs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c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c*</a:t>
            </a:r>
            <a:r>
              <a:rPr baseline="-25000" lang="en"/>
              <a:t>ij</a:t>
            </a:r>
            <a:r>
              <a:rPr lang="en"/>
              <a:t> = 0; o*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o</a:t>
            </a:r>
            <a:r>
              <a:rPr baseline="-25000" lang="en"/>
              <a:t>ij </a:t>
            </a:r>
            <a:r>
              <a:rPr lang="en"/>
              <a:t>&gt; ϴ, </a:t>
            </a:r>
            <a:r>
              <a:rPr i="1" lang="en"/>
              <a:t>else</a:t>
            </a:r>
            <a:r>
              <a:rPr lang="en"/>
              <a:t> o*</a:t>
            </a:r>
            <a:r>
              <a:rPr baseline="-25000" lang="en"/>
              <a:t>ij</a:t>
            </a:r>
            <a:r>
              <a:rPr lang="en"/>
              <a:t> = 0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lang="en">
                <a:solidFill>
                  <a:srgbClr val="FF0000"/>
                </a:solidFill>
              </a:rPr>
              <a:t>Note that co-membership and overlap relations are symmetric!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We can then calculate degree, betweenness, closeness, eigenvector, and other indices of vertex prominence and position  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Loss of information but gains in simplicity (Borgatti and Everett 2013)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 in affiliation networks</a:t>
            </a:r>
            <a:endParaRPr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311700" y="1225225"/>
            <a:ext cx="479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news. Degree is still degree! For people: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sums of affiliation matrix</a:t>
            </a:r>
            <a:r>
              <a:rPr lang="en"/>
              <a:t> (A) is the number of 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weighted co-membership </a:t>
            </a:r>
            <a:r>
              <a:rPr lang="en"/>
              <a:t>(C)  matrix is the number of </a:t>
            </a:r>
            <a:r>
              <a:rPr i="1" lang="en"/>
              <a:t>potential non-unique contacts 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binarized co-membership</a:t>
            </a:r>
            <a:r>
              <a:rPr lang="en"/>
              <a:t> (C*)  matrix is the number of </a:t>
            </a:r>
            <a:r>
              <a:rPr i="1" lang="en"/>
              <a:t>potential unique contacts</a:t>
            </a:r>
            <a:r>
              <a:rPr lang="en"/>
              <a:t> </a:t>
            </a:r>
            <a:r>
              <a:rPr i="1" lang="en"/>
              <a:t>of a person by dint of sharing a membership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c</a:t>
            </a:r>
            <a:r>
              <a:rPr baseline="-25000" lang="en"/>
              <a:t>ij </a:t>
            </a:r>
            <a:r>
              <a:rPr lang="en"/>
              <a:t>≥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keaffiliation.png"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100" y="1832751"/>
            <a:ext cx="3722200" cy="21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Centrality in affiliation networks</a:t>
            </a:r>
            <a:endParaRPr/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311700" y="1225225"/>
            <a:ext cx="479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news. Degree is still degree! For groups: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Column</a:t>
            </a:r>
            <a:r>
              <a:rPr b="1" lang="en"/>
              <a:t> sums of affiliation matrix</a:t>
            </a:r>
            <a:r>
              <a:rPr lang="en"/>
              <a:t> (A) is the size of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or column sums of weighted event-overlap </a:t>
            </a:r>
            <a:r>
              <a:rPr lang="en"/>
              <a:t>(O) </a:t>
            </a:r>
            <a:r>
              <a:rPr i="1" lang="en"/>
              <a:t>is the number of memberships of people who belong to the group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Row </a:t>
            </a:r>
            <a:r>
              <a:rPr b="1" lang="en"/>
              <a:t>or column </a:t>
            </a:r>
            <a:r>
              <a:rPr b="1" lang="en"/>
              <a:t>sums of binarized event-overlap</a:t>
            </a:r>
            <a:r>
              <a:rPr lang="en"/>
              <a:t> (O*)  matrix is the number of </a:t>
            </a:r>
            <a:r>
              <a:rPr i="1" lang="en"/>
              <a:t>unique groups</a:t>
            </a:r>
            <a:r>
              <a:rPr lang="en"/>
              <a:t> </a:t>
            </a:r>
            <a:r>
              <a:rPr i="1" lang="en"/>
              <a:t>the focal group is connected to by dint of sharing at least one member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</a:t>
            </a:r>
            <a:r>
              <a:rPr lang="en"/>
              <a:t>*</a:t>
            </a:r>
            <a:r>
              <a:rPr baseline="-25000" lang="en"/>
              <a:t>ij</a:t>
            </a:r>
            <a:r>
              <a:rPr lang="en"/>
              <a:t> = 1 </a:t>
            </a:r>
            <a:r>
              <a:rPr i="1" lang="en"/>
              <a:t>if</a:t>
            </a:r>
            <a:r>
              <a:rPr lang="en"/>
              <a:t> o</a:t>
            </a:r>
            <a:r>
              <a:rPr baseline="-25000" lang="en"/>
              <a:t>ij </a:t>
            </a:r>
            <a:r>
              <a:rPr lang="en"/>
              <a:t>≥ 1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keaffiliation.png" id="241" name="Google Shape;24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100" y="1832751"/>
            <a:ext cx="3722200" cy="21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Board interlock network (people by boards):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people: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is belonging to a lot of boards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lang="en"/>
              <a:t>entrality in </a:t>
            </a:r>
            <a:r>
              <a:rPr b="1" lang="en"/>
              <a:t>binarized co-membership matrix</a:t>
            </a:r>
            <a:r>
              <a:rPr lang="en"/>
              <a:t> is the number of other board members encountered by virtue of sitting on a given number of boards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itigroup_corp_NetDraw.gif" id="248" name="Google Shape;2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Board interlock network (people by boards):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boards: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 </a:t>
            </a:r>
            <a:r>
              <a:rPr lang="en"/>
              <a:t>is the size of the board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Centrality in </a:t>
            </a:r>
            <a:r>
              <a:rPr b="1" lang="en"/>
              <a:t>raw co-membership matrix</a:t>
            </a:r>
            <a:r>
              <a:rPr lang="en"/>
              <a:t> means board is composed of people who also sit on a lot of other boards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Citigroup_corp_NetDraw.gif" id="255" name="Google Shape;25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08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Citation network (authors by journals):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authors: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means an author who publishes in lots of different journals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ij</a:t>
            </a:r>
            <a:r>
              <a:rPr baseline="30000" lang="en"/>
              <a:t>th </a:t>
            </a:r>
            <a:r>
              <a:rPr lang="en"/>
              <a:t>cell in </a:t>
            </a:r>
            <a:r>
              <a:rPr b="1" lang="en"/>
              <a:t>weighted co-membership matrix</a:t>
            </a:r>
            <a:r>
              <a:rPr lang="en"/>
              <a:t> tendency of authors i and j to publish in the same journals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006.jpg" id="262" name="Google Shape;26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means substantively? </a:t>
            </a:r>
            <a:endParaRPr/>
          </a:p>
        </p:txBody>
      </p:sp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311700" y="1225225"/>
            <a:ext cx="463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Citation network (authors by journals):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journals: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affiliation matrix</a:t>
            </a:r>
            <a:r>
              <a:rPr lang="en"/>
              <a:t> means journal to whom lots of authors contribute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Centrality in </a:t>
            </a:r>
            <a:r>
              <a:rPr b="1" lang="en"/>
              <a:t>weighted event-overlap matrix</a:t>
            </a:r>
            <a:r>
              <a:rPr lang="en"/>
              <a:t> means that a journal contributors also tend to publish in lots of other journals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006.jpg"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00" y="1299625"/>
            <a:ext cx="4043100" cy="33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