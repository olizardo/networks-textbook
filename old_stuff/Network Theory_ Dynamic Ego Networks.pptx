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4"/>
    <p:sldMasterId id="2147483677" r:id="rId5"/>
    <p:sldMasterId id="214748367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y="5143500" cx="9144000"/>
  <p:notesSz cx="6858000" cy="9144000"/>
  <p:embeddedFontLst>
    <p:embeddedFont>
      <p:font typeface="Economica"/>
      <p:regular r:id="rId38"/>
      <p:bold r:id="rId39"/>
      <p:italic r:id="rId40"/>
      <p:boldItalic r:id="rId41"/>
    </p:embeddedFont>
    <p:embeddedFont>
      <p:font typeface="Cardo"/>
      <p:regular r:id="rId42"/>
      <p:bold r:id="rId43"/>
      <p:italic r:id="rId44"/>
    </p:embeddedFont>
    <p:embeddedFont>
      <p:font typeface="Junge"/>
      <p:regular r:id="rId45"/>
    </p:embeddedFont>
    <p:embeddedFont>
      <p:font typeface="Open Sans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597AD0-8B0F-4004-82C7-CDBB79F84977}">
  <a:tblStyle styleId="{FC597AD0-8B0F-4004-82C7-CDBB79F849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Economica-italic.fntdata"/><Relationship Id="rId42" Type="http://schemas.openxmlformats.org/officeDocument/2006/relationships/font" Target="fonts/Cardo-regular.fntdata"/><Relationship Id="rId41" Type="http://schemas.openxmlformats.org/officeDocument/2006/relationships/font" Target="fonts/Economica-boldItalic.fntdata"/><Relationship Id="rId44" Type="http://schemas.openxmlformats.org/officeDocument/2006/relationships/font" Target="fonts/Cardo-italic.fntdata"/><Relationship Id="rId43" Type="http://schemas.openxmlformats.org/officeDocument/2006/relationships/font" Target="fonts/Cardo-bold.fntdata"/><Relationship Id="rId46" Type="http://schemas.openxmlformats.org/officeDocument/2006/relationships/font" Target="fonts/OpenSans-regular.fntdata"/><Relationship Id="rId45" Type="http://schemas.openxmlformats.org/officeDocument/2006/relationships/font" Target="fonts/Junge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font" Target="fonts/OpenSans-italic.fntdata"/><Relationship Id="rId47" Type="http://schemas.openxmlformats.org/officeDocument/2006/relationships/font" Target="fonts/OpenSans-bold.fntdata"/><Relationship Id="rId49" Type="http://schemas.openxmlformats.org/officeDocument/2006/relationships/font" Target="fonts/OpenSans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font" Target="fonts/Economica-bold.fntdata"/><Relationship Id="rId38" Type="http://schemas.openxmlformats.org/officeDocument/2006/relationships/font" Target="fonts/Economica-regular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a72461a0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a72461a0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a72461a0a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a72461a0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a72461a0a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a72461a0a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a72461a0a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a72461a0a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a72461a0a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a72461a0a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a72461a0a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a72461a0a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a72461a0a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2a72461a0a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a72461a0a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2a72461a0a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2a72461a0a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2a72461a0a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a72461a0a_0_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2a72461a0a_0_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2a72461a0a_0_7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2a72461a0a_0_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2a72461a0a_0_7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2a72461a0a_0_7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2a72461a0a_0_7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2a72461a0a_0_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2a72461a0a_0_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2a72461a0a_0_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2a72461a0a_0_7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2a72461a0a_0_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2a72461a0a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2a72461a0a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a72461a0a_0_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2a72461a0a_0_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2a72461a0a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2a72461a0a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2a72461a0a_0_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2a72461a0a_0_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2a72461a0a_0_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2a72461a0a_0_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2a72461a0a_0_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2a72461a0a_0_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2a72461a0a_0_1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2a72461a0a_0_1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a72461a0a_0_1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2a72461a0a_0_1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2a72461a0a_0_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2a72461a0a_0_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2a72461a0a_0_1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2a72461a0a_0_1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2a72461a0a_0_1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2a72461a0a_0_1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2a72461a0a_0_1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2a72461a0a_0_1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a72461a0a_0_957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a72461a0a_0_9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2a72461a0a_0_1025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2a72461a0a_0_1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4" name="Google Shape;64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5" name="Google Shape;65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0" name="Google Shape;70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400"/>
              <a:buChar char="○"/>
              <a:defRPr b="1">
                <a:solidFill>
                  <a:srgbClr val="980000"/>
                </a:solidFill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1200"/>
              <a:buChar char="■"/>
              <a:defRPr i="1" sz="1200">
                <a:solidFill>
                  <a:srgbClr val="134F5C"/>
                </a:solidFill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 u="sng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3" name="Google Shape;9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" name="Google Shape;96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8" name="Google Shape;98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9" name="Google Shape;99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103" name="Google Shape;10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6"/>
          <p:cNvSpPr txBox="1"/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26"/>
          <p:cNvSpPr txBox="1"/>
          <p:nvPr>
            <p:ph idx="1" type="subTitle"/>
          </p:nvPr>
        </p:nvSpPr>
        <p:spPr>
          <a:xfrm>
            <a:off x="685800" y="2840053"/>
            <a:ext cx="77724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27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28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23" name="Google Shape;123;p28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25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Relationship Id="rId8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Relationship Id="rId8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Theory: </a:t>
            </a:r>
            <a:r>
              <a:rPr lang="en"/>
              <a:t>Dynamic Ego Networks</a:t>
            </a:r>
            <a:endParaRPr/>
          </a:p>
        </p:txBody>
      </p:sp>
      <p:sp>
        <p:nvSpPr>
          <p:cNvPr id="134" name="Google Shape;134;p3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Ego-Networks from Structure to Change</a:t>
            </a:r>
            <a:endParaRPr/>
          </a:p>
        </p:txBody>
      </p:sp>
      <p:sp>
        <p:nvSpPr>
          <p:cNvPr id="140" name="Google Shape;140;p33"/>
          <p:cNvSpPr txBox="1"/>
          <p:nvPr>
            <p:ph idx="1" type="body"/>
          </p:nvPr>
        </p:nvSpPr>
        <p:spPr>
          <a:xfrm>
            <a:off x="311700" y="1225225"/>
            <a:ext cx="501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larger the ego network: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The more diverse, less homophilous, more open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Smaller ego networks: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Tend to be more clustered , less diverse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more diversity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Less homophily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higher average tie strength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The more clustering, less diversity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more proportion kin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The more homophily, less diversity, more clustering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3"/>
          <p:cNvSpPr/>
          <p:nvPr/>
        </p:nvSpPr>
        <p:spPr>
          <a:xfrm>
            <a:off x="6412313" y="2483063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142" name="Google Shape;142;p33"/>
          <p:cNvSpPr/>
          <p:nvPr/>
        </p:nvSpPr>
        <p:spPr>
          <a:xfrm>
            <a:off x="5853038" y="1634838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43" name="Google Shape;143;p33"/>
          <p:cNvSpPr/>
          <p:nvPr/>
        </p:nvSpPr>
        <p:spPr>
          <a:xfrm>
            <a:off x="7725813" y="356756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144" name="Google Shape;144;p33"/>
          <p:cNvCxnSpPr>
            <a:stCxn id="143" idx="1"/>
            <a:endCxn id="141" idx="5"/>
          </p:cNvCxnSpPr>
          <p:nvPr/>
        </p:nvCxnSpPr>
        <p:spPr>
          <a:xfrm rot="10800000">
            <a:off x="7056821" y="3103747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" name="Google Shape;145;p33"/>
          <p:cNvSpPr/>
          <p:nvPr/>
        </p:nvSpPr>
        <p:spPr>
          <a:xfrm>
            <a:off x="5462863" y="248296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146" name="Google Shape;146;p33"/>
          <p:cNvSpPr/>
          <p:nvPr/>
        </p:nvSpPr>
        <p:spPr>
          <a:xfrm>
            <a:off x="6412438" y="4056788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147" name="Google Shape;147;p33"/>
          <p:cNvCxnSpPr>
            <a:stCxn id="146" idx="0"/>
            <a:endCxn id="141" idx="4"/>
          </p:cNvCxnSpPr>
          <p:nvPr/>
        </p:nvCxnSpPr>
        <p:spPr>
          <a:xfrm flipH="1" rot="10800000">
            <a:off x="6556888" y="3210188"/>
            <a:ext cx="233100" cy="84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33"/>
          <p:cNvSpPr/>
          <p:nvPr/>
        </p:nvSpPr>
        <p:spPr>
          <a:xfrm>
            <a:off x="7683513" y="186556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149" name="Google Shape;149;p33"/>
          <p:cNvSpPr/>
          <p:nvPr/>
        </p:nvSpPr>
        <p:spPr>
          <a:xfrm>
            <a:off x="5608363" y="346876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cxnSp>
        <p:nvCxnSpPr>
          <p:cNvPr id="150" name="Google Shape;150;p33"/>
          <p:cNvCxnSpPr>
            <a:stCxn id="149" idx="7"/>
            <a:endCxn id="141" idx="3"/>
          </p:cNvCxnSpPr>
          <p:nvPr/>
        </p:nvCxnSpPr>
        <p:spPr>
          <a:xfrm flipH="1" rot="10800000">
            <a:off x="5854954" y="3103647"/>
            <a:ext cx="667800" cy="4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" name="Google Shape;151;p33"/>
          <p:cNvSpPr/>
          <p:nvPr/>
        </p:nvSpPr>
        <p:spPr>
          <a:xfrm>
            <a:off x="8100363" y="274186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152" name="Google Shape;152;p33"/>
          <p:cNvCxnSpPr>
            <a:stCxn id="151" idx="2"/>
            <a:endCxn id="141" idx="6"/>
          </p:cNvCxnSpPr>
          <p:nvPr/>
        </p:nvCxnSpPr>
        <p:spPr>
          <a:xfrm rot="10800000">
            <a:off x="7167363" y="2846713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" name="Google Shape;153;p33"/>
          <p:cNvSpPr/>
          <p:nvPr/>
        </p:nvSpPr>
        <p:spPr>
          <a:xfrm>
            <a:off x="6616488" y="14773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154" name="Google Shape;154;p33"/>
          <p:cNvCxnSpPr>
            <a:stCxn id="153" idx="4"/>
            <a:endCxn id="141" idx="0"/>
          </p:cNvCxnSpPr>
          <p:nvPr/>
        </p:nvCxnSpPr>
        <p:spPr>
          <a:xfrm>
            <a:off x="6760938" y="1747650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33"/>
          <p:cNvCxnSpPr>
            <a:stCxn id="143" idx="0"/>
            <a:endCxn id="148" idx="4"/>
          </p:cNvCxnSpPr>
          <p:nvPr/>
        </p:nvCxnSpPr>
        <p:spPr>
          <a:xfrm rot="10800000">
            <a:off x="7827963" y="2135963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33"/>
          <p:cNvCxnSpPr>
            <a:stCxn id="148" idx="2"/>
            <a:endCxn id="153" idx="5"/>
          </p:cNvCxnSpPr>
          <p:nvPr/>
        </p:nvCxnSpPr>
        <p:spPr>
          <a:xfrm rot="10800000">
            <a:off x="6863013" y="1708213"/>
            <a:ext cx="820500" cy="29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33"/>
          <p:cNvCxnSpPr>
            <a:stCxn id="151" idx="1"/>
            <a:endCxn id="148" idx="4"/>
          </p:cNvCxnSpPr>
          <p:nvPr/>
        </p:nvCxnSpPr>
        <p:spPr>
          <a:xfrm rot="10800000">
            <a:off x="7827971" y="2135847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33"/>
          <p:cNvCxnSpPr>
            <a:stCxn id="143" idx="0"/>
            <a:endCxn id="151" idx="3"/>
          </p:cNvCxnSpPr>
          <p:nvPr/>
        </p:nvCxnSpPr>
        <p:spPr>
          <a:xfrm flipH="1" rot="10800000">
            <a:off x="7870263" y="2972663"/>
            <a:ext cx="272400" cy="5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33"/>
          <p:cNvCxnSpPr>
            <a:stCxn id="142" idx="3"/>
            <a:endCxn id="145" idx="0"/>
          </p:cNvCxnSpPr>
          <p:nvPr/>
        </p:nvCxnSpPr>
        <p:spPr>
          <a:xfrm flipH="1">
            <a:off x="5607346" y="1865553"/>
            <a:ext cx="288000" cy="61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33"/>
          <p:cNvCxnSpPr>
            <a:stCxn id="153" idx="2"/>
            <a:endCxn id="142" idx="6"/>
          </p:cNvCxnSpPr>
          <p:nvPr/>
        </p:nvCxnSpPr>
        <p:spPr>
          <a:xfrm flipH="1">
            <a:off x="6141888" y="1612500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33"/>
          <p:cNvCxnSpPr>
            <a:stCxn id="153" idx="3"/>
            <a:endCxn id="145" idx="7"/>
          </p:cNvCxnSpPr>
          <p:nvPr/>
        </p:nvCxnSpPr>
        <p:spPr>
          <a:xfrm flipH="1">
            <a:off x="5709596" y="1708065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4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Ego-Networks from Structure to Change</a:t>
            </a:r>
            <a:endParaRPr/>
          </a:p>
        </p:txBody>
      </p:sp>
      <p:sp>
        <p:nvSpPr>
          <p:cNvPr id="167" name="Google Shape;167;p34"/>
          <p:cNvSpPr/>
          <p:nvPr/>
        </p:nvSpPr>
        <p:spPr>
          <a:xfrm>
            <a:off x="1602638" y="215292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168" name="Google Shape;168;p34"/>
          <p:cNvSpPr/>
          <p:nvPr/>
        </p:nvSpPr>
        <p:spPr>
          <a:xfrm>
            <a:off x="1043363" y="13047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69" name="Google Shape;169;p34"/>
          <p:cNvSpPr/>
          <p:nvPr/>
        </p:nvSpPr>
        <p:spPr>
          <a:xfrm>
            <a:off x="2916138" y="3237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170" name="Google Shape;170;p34"/>
          <p:cNvCxnSpPr>
            <a:stCxn id="169" idx="1"/>
            <a:endCxn id="167" idx="5"/>
          </p:cNvCxnSpPr>
          <p:nvPr/>
        </p:nvCxnSpPr>
        <p:spPr>
          <a:xfrm rot="10800000">
            <a:off x="2247146" y="277361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34"/>
          <p:cNvSpPr/>
          <p:nvPr/>
        </p:nvSpPr>
        <p:spPr>
          <a:xfrm>
            <a:off x="653188" y="21528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172" name="Google Shape;172;p34"/>
          <p:cNvSpPr/>
          <p:nvPr/>
        </p:nvSpPr>
        <p:spPr>
          <a:xfrm>
            <a:off x="1602763" y="37266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173" name="Google Shape;173;p34"/>
          <p:cNvCxnSpPr>
            <a:stCxn id="172" idx="0"/>
            <a:endCxn id="167" idx="4"/>
          </p:cNvCxnSpPr>
          <p:nvPr/>
        </p:nvCxnSpPr>
        <p:spPr>
          <a:xfrm flipH="1" rot="10800000">
            <a:off x="1747213" y="2880050"/>
            <a:ext cx="233100" cy="84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34"/>
          <p:cNvSpPr/>
          <p:nvPr/>
        </p:nvSpPr>
        <p:spPr>
          <a:xfrm>
            <a:off x="2873838" y="1535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175" name="Google Shape;175;p34"/>
          <p:cNvSpPr/>
          <p:nvPr/>
        </p:nvSpPr>
        <p:spPr>
          <a:xfrm>
            <a:off x="798688" y="31386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cxnSp>
        <p:nvCxnSpPr>
          <p:cNvPr id="176" name="Google Shape;176;p34"/>
          <p:cNvCxnSpPr>
            <a:stCxn id="175" idx="7"/>
            <a:endCxn id="167" idx="3"/>
          </p:cNvCxnSpPr>
          <p:nvPr/>
        </p:nvCxnSpPr>
        <p:spPr>
          <a:xfrm flipH="1" rot="10800000">
            <a:off x="1045279" y="2773510"/>
            <a:ext cx="667800" cy="4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34"/>
          <p:cNvSpPr/>
          <p:nvPr/>
        </p:nvSpPr>
        <p:spPr>
          <a:xfrm>
            <a:off x="3290688" y="24117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178" name="Google Shape;178;p34"/>
          <p:cNvCxnSpPr>
            <a:stCxn id="177" idx="2"/>
            <a:endCxn id="167" idx="6"/>
          </p:cNvCxnSpPr>
          <p:nvPr/>
        </p:nvCxnSpPr>
        <p:spPr>
          <a:xfrm rot="10800000">
            <a:off x="2357688" y="251657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34"/>
          <p:cNvSpPr/>
          <p:nvPr/>
        </p:nvSpPr>
        <p:spPr>
          <a:xfrm>
            <a:off x="1806813" y="114721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180" name="Google Shape;180;p34"/>
          <p:cNvCxnSpPr>
            <a:stCxn id="179" idx="4"/>
            <a:endCxn id="167" idx="0"/>
          </p:cNvCxnSpPr>
          <p:nvPr/>
        </p:nvCxnSpPr>
        <p:spPr>
          <a:xfrm>
            <a:off x="1951263" y="141751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34"/>
          <p:cNvCxnSpPr>
            <a:stCxn id="169" idx="0"/>
            <a:endCxn id="174" idx="4"/>
          </p:cNvCxnSpPr>
          <p:nvPr/>
        </p:nvCxnSpPr>
        <p:spPr>
          <a:xfrm rot="10800000">
            <a:off x="3018288" y="180582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34"/>
          <p:cNvCxnSpPr>
            <a:stCxn id="174" idx="2"/>
            <a:endCxn id="179" idx="5"/>
          </p:cNvCxnSpPr>
          <p:nvPr/>
        </p:nvCxnSpPr>
        <p:spPr>
          <a:xfrm rot="10800000">
            <a:off x="2053338" y="1378075"/>
            <a:ext cx="820500" cy="29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34"/>
          <p:cNvCxnSpPr>
            <a:stCxn id="177" idx="1"/>
            <a:endCxn id="174" idx="4"/>
          </p:cNvCxnSpPr>
          <p:nvPr/>
        </p:nvCxnSpPr>
        <p:spPr>
          <a:xfrm rot="10800000">
            <a:off x="3018296" y="180571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34"/>
          <p:cNvCxnSpPr>
            <a:stCxn id="169" idx="0"/>
            <a:endCxn id="177" idx="3"/>
          </p:cNvCxnSpPr>
          <p:nvPr/>
        </p:nvCxnSpPr>
        <p:spPr>
          <a:xfrm flipH="1" rot="10800000">
            <a:off x="3060588" y="2642525"/>
            <a:ext cx="272400" cy="5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34"/>
          <p:cNvSpPr/>
          <p:nvPr/>
        </p:nvSpPr>
        <p:spPr>
          <a:xfrm>
            <a:off x="4221188" y="2219075"/>
            <a:ext cx="755100" cy="5949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6" name="Google Shape;186;p34"/>
          <p:cNvCxnSpPr>
            <a:stCxn id="168" idx="3"/>
            <a:endCxn id="171" idx="0"/>
          </p:cNvCxnSpPr>
          <p:nvPr/>
        </p:nvCxnSpPr>
        <p:spPr>
          <a:xfrm flipH="1">
            <a:off x="797671" y="1535415"/>
            <a:ext cx="288000" cy="61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34"/>
          <p:cNvCxnSpPr>
            <a:stCxn id="179" idx="2"/>
            <a:endCxn id="168" idx="6"/>
          </p:cNvCxnSpPr>
          <p:nvPr/>
        </p:nvCxnSpPr>
        <p:spPr>
          <a:xfrm flipH="1">
            <a:off x="1332213" y="1282363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34"/>
          <p:cNvCxnSpPr>
            <a:stCxn id="179" idx="3"/>
            <a:endCxn id="171" idx="7"/>
          </p:cNvCxnSpPr>
          <p:nvPr/>
        </p:nvCxnSpPr>
        <p:spPr>
          <a:xfrm flipH="1">
            <a:off x="899921" y="1377928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34"/>
          <p:cNvSpPr/>
          <p:nvPr/>
        </p:nvSpPr>
        <p:spPr>
          <a:xfrm>
            <a:off x="6813938" y="228807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190" name="Google Shape;190;p34"/>
          <p:cNvSpPr/>
          <p:nvPr/>
        </p:nvSpPr>
        <p:spPr>
          <a:xfrm>
            <a:off x="6254663" y="14398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91" name="Google Shape;191;p34"/>
          <p:cNvSpPr/>
          <p:nvPr/>
        </p:nvSpPr>
        <p:spPr>
          <a:xfrm>
            <a:off x="8127438" y="3372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192" name="Google Shape;192;p34"/>
          <p:cNvCxnSpPr>
            <a:stCxn id="191" idx="1"/>
            <a:endCxn id="189" idx="5"/>
          </p:cNvCxnSpPr>
          <p:nvPr/>
        </p:nvCxnSpPr>
        <p:spPr>
          <a:xfrm rot="10800000">
            <a:off x="7458446" y="290876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" name="Google Shape;193;p34"/>
          <p:cNvSpPr/>
          <p:nvPr/>
        </p:nvSpPr>
        <p:spPr>
          <a:xfrm>
            <a:off x="5864488" y="22879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194" name="Google Shape;194;p34"/>
          <p:cNvSpPr/>
          <p:nvPr/>
        </p:nvSpPr>
        <p:spPr>
          <a:xfrm>
            <a:off x="6814063" y="38618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195" name="Google Shape;195;p34"/>
          <p:cNvCxnSpPr>
            <a:stCxn id="194" idx="0"/>
            <a:endCxn id="189" idx="4"/>
          </p:cNvCxnSpPr>
          <p:nvPr/>
        </p:nvCxnSpPr>
        <p:spPr>
          <a:xfrm flipH="1" rot="10800000">
            <a:off x="6958513" y="3015200"/>
            <a:ext cx="233100" cy="84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" name="Google Shape;196;p34"/>
          <p:cNvSpPr/>
          <p:nvPr/>
        </p:nvSpPr>
        <p:spPr>
          <a:xfrm>
            <a:off x="8085138" y="1670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197" name="Google Shape;197;p34"/>
          <p:cNvSpPr/>
          <p:nvPr/>
        </p:nvSpPr>
        <p:spPr>
          <a:xfrm>
            <a:off x="6009988" y="32737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cxnSp>
        <p:nvCxnSpPr>
          <p:cNvPr id="198" name="Google Shape;198;p34"/>
          <p:cNvCxnSpPr>
            <a:stCxn id="197" idx="7"/>
            <a:endCxn id="189" idx="3"/>
          </p:cNvCxnSpPr>
          <p:nvPr/>
        </p:nvCxnSpPr>
        <p:spPr>
          <a:xfrm flipH="1" rot="10800000">
            <a:off x="6256579" y="2908660"/>
            <a:ext cx="667800" cy="4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34"/>
          <p:cNvSpPr/>
          <p:nvPr/>
        </p:nvSpPr>
        <p:spPr>
          <a:xfrm>
            <a:off x="8501988" y="25468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200" name="Google Shape;200;p34"/>
          <p:cNvCxnSpPr>
            <a:stCxn id="199" idx="2"/>
            <a:endCxn id="189" idx="6"/>
          </p:cNvCxnSpPr>
          <p:nvPr/>
        </p:nvCxnSpPr>
        <p:spPr>
          <a:xfrm rot="10800000">
            <a:off x="7568988" y="265172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34"/>
          <p:cNvSpPr/>
          <p:nvPr/>
        </p:nvSpPr>
        <p:spPr>
          <a:xfrm>
            <a:off x="7018113" y="128236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202" name="Google Shape;202;p34"/>
          <p:cNvCxnSpPr>
            <a:stCxn id="201" idx="4"/>
            <a:endCxn id="189" idx="0"/>
          </p:cNvCxnSpPr>
          <p:nvPr/>
        </p:nvCxnSpPr>
        <p:spPr>
          <a:xfrm>
            <a:off x="7162563" y="155266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34"/>
          <p:cNvCxnSpPr>
            <a:stCxn id="191" idx="0"/>
            <a:endCxn id="196" idx="4"/>
          </p:cNvCxnSpPr>
          <p:nvPr/>
        </p:nvCxnSpPr>
        <p:spPr>
          <a:xfrm rot="10800000">
            <a:off x="8229588" y="194097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34"/>
          <p:cNvCxnSpPr>
            <a:stCxn id="196" idx="2"/>
            <a:endCxn id="201" idx="5"/>
          </p:cNvCxnSpPr>
          <p:nvPr/>
        </p:nvCxnSpPr>
        <p:spPr>
          <a:xfrm rot="10800000">
            <a:off x="7264638" y="1513225"/>
            <a:ext cx="820500" cy="29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34"/>
          <p:cNvCxnSpPr>
            <a:stCxn id="199" idx="1"/>
            <a:endCxn id="196" idx="4"/>
          </p:cNvCxnSpPr>
          <p:nvPr/>
        </p:nvCxnSpPr>
        <p:spPr>
          <a:xfrm rot="10800000">
            <a:off x="8229596" y="194086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34"/>
          <p:cNvCxnSpPr>
            <a:stCxn id="191" idx="0"/>
            <a:endCxn id="199" idx="3"/>
          </p:cNvCxnSpPr>
          <p:nvPr/>
        </p:nvCxnSpPr>
        <p:spPr>
          <a:xfrm flipH="1" rot="10800000">
            <a:off x="8271888" y="2777675"/>
            <a:ext cx="272400" cy="5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34"/>
          <p:cNvCxnSpPr>
            <a:stCxn id="190" idx="3"/>
            <a:endCxn id="193" idx="0"/>
          </p:cNvCxnSpPr>
          <p:nvPr/>
        </p:nvCxnSpPr>
        <p:spPr>
          <a:xfrm flipH="1">
            <a:off x="6008971" y="1670565"/>
            <a:ext cx="288000" cy="61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34"/>
          <p:cNvCxnSpPr>
            <a:stCxn id="201" idx="2"/>
            <a:endCxn id="190" idx="6"/>
          </p:cNvCxnSpPr>
          <p:nvPr/>
        </p:nvCxnSpPr>
        <p:spPr>
          <a:xfrm flipH="1">
            <a:off x="6543513" y="1417513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34"/>
          <p:cNvCxnSpPr>
            <a:stCxn id="201" idx="3"/>
            <a:endCxn id="193" idx="7"/>
          </p:cNvCxnSpPr>
          <p:nvPr/>
        </p:nvCxnSpPr>
        <p:spPr>
          <a:xfrm flipH="1">
            <a:off x="6111221" y="1513078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34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happen over time?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Ego-Networks from Structure to Change</a:t>
            </a:r>
            <a:endParaRPr/>
          </a:p>
        </p:txBody>
      </p:sp>
      <p:sp>
        <p:nvSpPr>
          <p:cNvPr id="216" name="Google Shape;216;p35"/>
          <p:cNvSpPr/>
          <p:nvPr/>
        </p:nvSpPr>
        <p:spPr>
          <a:xfrm>
            <a:off x="1602638" y="215292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217" name="Google Shape;217;p35"/>
          <p:cNvSpPr/>
          <p:nvPr/>
        </p:nvSpPr>
        <p:spPr>
          <a:xfrm>
            <a:off x="1043363" y="13047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18" name="Google Shape;218;p35"/>
          <p:cNvSpPr/>
          <p:nvPr/>
        </p:nvSpPr>
        <p:spPr>
          <a:xfrm>
            <a:off x="2916138" y="3237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219" name="Google Shape;219;p35"/>
          <p:cNvCxnSpPr>
            <a:stCxn id="218" idx="1"/>
            <a:endCxn id="216" idx="5"/>
          </p:cNvCxnSpPr>
          <p:nvPr/>
        </p:nvCxnSpPr>
        <p:spPr>
          <a:xfrm rot="10800000">
            <a:off x="2247146" y="277361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" name="Google Shape;220;p35"/>
          <p:cNvSpPr/>
          <p:nvPr/>
        </p:nvSpPr>
        <p:spPr>
          <a:xfrm>
            <a:off x="653188" y="21528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221" name="Google Shape;221;p35"/>
          <p:cNvSpPr/>
          <p:nvPr/>
        </p:nvSpPr>
        <p:spPr>
          <a:xfrm>
            <a:off x="1602763" y="37266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222" name="Google Shape;222;p35"/>
          <p:cNvCxnSpPr>
            <a:stCxn id="221" idx="0"/>
            <a:endCxn id="216" idx="4"/>
          </p:cNvCxnSpPr>
          <p:nvPr/>
        </p:nvCxnSpPr>
        <p:spPr>
          <a:xfrm flipH="1" rot="10800000">
            <a:off x="1747213" y="2880050"/>
            <a:ext cx="233100" cy="84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35"/>
          <p:cNvSpPr/>
          <p:nvPr/>
        </p:nvSpPr>
        <p:spPr>
          <a:xfrm>
            <a:off x="2873838" y="1535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224" name="Google Shape;224;p35"/>
          <p:cNvSpPr/>
          <p:nvPr/>
        </p:nvSpPr>
        <p:spPr>
          <a:xfrm>
            <a:off x="798688" y="31386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cxnSp>
        <p:nvCxnSpPr>
          <p:cNvPr id="225" name="Google Shape;225;p35"/>
          <p:cNvCxnSpPr>
            <a:stCxn id="224" idx="7"/>
            <a:endCxn id="216" idx="3"/>
          </p:cNvCxnSpPr>
          <p:nvPr/>
        </p:nvCxnSpPr>
        <p:spPr>
          <a:xfrm flipH="1" rot="10800000">
            <a:off x="1045279" y="2773510"/>
            <a:ext cx="667800" cy="4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35"/>
          <p:cNvSpPr/>
          <p:nvPr/>
        </p:nvSpPr>
        <p:spPr>
          <a:xfrm>
            <a:off x="3290688" y="24117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227" name="Google Shape;227;p35"/>
          <p:cNvCxnSpPr>
            <a:stCxn id="226" idx="2"/>
            <a:endCxn id="216" idx="6"/>
          </p:cNvCxnSpPr>
          <p:nvPr/>
        </p:nvCxnSpPr>
        <p:spPr>
          <a:xfrm rot="10800000">
            <a:off x="2357688" y="251657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" name="Google Shape;228;p35"/>
          <p:cNvSpPr/>
          <p:nvPr/>
        </p:nvSpPr>
        <p:spPr>
          <a:xfrm>
            <a:off x="1806813" y="114721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229" name="Google Shape;229;p35"/>
          <p:cNvCxnSpPr>
            <a:stCxn id="228" idx="4"/>
            <a:endCxn id="216" idx="0"/>
          </p:cNvCxnSpPr>
          <p:nvPr/>
        </p:nvCxnSpPr>
        <p:spPr>
          <a:xfrm>
            <a:off x="1951263" y="141751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35"/>
          <p:cNvCxnSpPr>
            <a:stCxn id="218" idx="0"/>
            <a:endCxn id="223" idx="4"/>
          </p:cNvCxnSpPr>
          <p:nvPr/>
        </p:nvCxnSpPr>
        <p:spPr>
          <a:xfrm rot="10800000">
            <a:off x="3018288" y="180582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35"/>
          <p:cNvCxnSpPr>
            <a:stCxn id="223" idx="2"/>
            <a:endCxn id="228" idx="5"/>
          </p:cNvCxnSpPr>
          <p:nvPr/>
        </p:nvCxnSpPr>
        <p:spPr>
          <a:xfrm rot="10800000">
            <a:off x="2053338" y="1378075"/>
            <a:ext cx="820500" cy="29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35"/>
          <p:cNvCxnSpPr>
            <a:stCxn id="226" idx="1"/>
            <a:endCxn id="223" idx="4"/>
          </p:cNvCxnSpPr>
          <p:nvPr/>
        </p:nvCxnSpPr>
        <p:spPr>
          <a:xfrm rot="10800000">
            <a:off x="3018296" y="180571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35"/>
          <p:cNvCxnSpPr>
            <a:stCxn id="218" idx="0"/>
            <a:endCxn id="226" idx="3"/>
          </p:cNvCxnSpPr>
          <p:nvPr/>
        </p:nvCxnSpPr>
        <p:spPr>
          <a:xfrm flipH="1" rot="10800000">
            <a:off x="3060588" y="2642525"/>
            <a:ext cx="272400" cy="5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35"/>
          <p:cNvSpPr/>
          <p:nvPr/>
        </p:nvSpPr>
        <p:spPr>
          <a:xfrm>
            <a:off x="4221188" y="2219075"/>
            <a:ext cx="755100" cy="5949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5" name="Google Shape;235;p35"/>
          <p:cNvCxnSpPr>
            <a:stCxn id="217" idx="3"/>
            <a:endCxn id="220" idx="0"/>
          </p:cNvCxnSpPr>
          <p:nvPr/>
        </p:nvCxnSpPr>
        <p:spPr>
          <a:xfrm flipH="1">
            <a:off x="797671" y="1535415"/>
            <a:ext cx="288000" cy="61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35"/>
          <p:cNvCxnSpPr>
            <a:stCxn id="228" idx="2"/>
            <a:endCxn id="217" idx="6"/>
          </p:cNvCxnSpPr>
          <p:nvPr/>
        </p:nvCxnSpPr>
        <p:spPr>
          <a:xfrm flipH="1">
            <a:off x="1332213" y="1282363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35"/>
          <p:cNvCxnSpPr>
            <a:stCxn id="228" idx="3"/>
            <a:endCxn id="220" idx="7"/>
          </p:cNvCxnSpPr>
          <p:nvPr/>
        </p:nvCxnSpPr>
        <p:spPr>
          <a:xfrm flipH="1">
            <a:off x="899921" y="1377928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" name="Google Shape;238;p35"/>
          <p:cNvSpPr/>
          <p:nvPr/>
        </p:nvSpPr>
        <p:spPr>
          <a:xfrm>
            <a:off x="6813938" y="228807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239" name="Google Shape;239;p35"/>
          <p:cNvSpPr/>
          <p:nvPr/>
        </p:nvSpPr>
        <p:spPr>
          <a:xfrm>
            <a:off x="6254663" y="14398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40" name="Google Shape;240;p35"/>
          <p:cNvSpPr/>
          <p:nvPr/>
        </p:nvSpPr>
        <p:spPr>
          <a:xfrm>
            <a:off x="8127438" y="3372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241" name="Google Shape;241;p35"/>
          <p:cNvCxnSpPr>
            <a:stCxn id="240" idx="1"/>
            <a:endCxn id="238" idx="5"/>
          </p:cNvCxnSpPr>
          <p:nvPr/>
        </p:nvCxnSpPr>
        <p:spPr>
          <a:xfrm rot="10800000">
            <a:off x="7458446" y="290876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35"/>
          <p:cNvSpPr/>
          <p:nvPr/>
        </p:nvSpPr>
        <p:spPr>
          <a:xfrm>
            <a:off x="5864488" y="22879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243" name="Google Shape;243;p35"/>
          <p:cNvSpPr/>
          <p:nvPr/>
        </p:nvSpPr>
        <p:spPr>
          <a:xfrm>
            <a:off x="6814063" y="38618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sp>
        <p:nvSpPr>
          <p:cNvPr id="244" name="Google Shape;244;p35"/>
          <p:cNvSpPr/>
          <p:nvPr/>
        </p:nvSpPr>
        <p:spPr>
          <a:xfrm>
            <a:off x="8085138" y="1670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245" name="Google Shape;245;p35"/>
          <p:cNvSpPr/>
          <p:nvPr/>
        </p:nvSpPr>
        <p:spPr>
          <a:xfrm>
            <a:off x="6009988" y="32737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sp>
        <p:nvSpPr>
          <p:cNvPr id="246" name="Google Shape;246;p35"/>
          <p:cNvSpPr/>
          <p:nvPr/>
        </p:nvSpPr>
        <p:spPr>
          <a:xfrm>
            <a:off x="8501988" y="25468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247" name="Google Shape;247;p35"/>
          <p:cNvCxnSpPr>
            <a:stCxn id="246" idx="2"/>
            <a:endCxn id="238" idx="6"/>
          </p:cNvCxnSpPr>
          <p:nvPr/>
        </p:nvCxnSpPr>
        <p:spPr>
          <a:xfrm rot="10800000">
            <a:off x="7568988" y="265172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" name="Google Shape;248;p35"/>
          <p:cNvSpPr/>
          <p:nvPr/>
        </p:nvSpPr>
        <p:spPr>
          <a:xfrm>
            <a:off x="7018113" y="128236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249" name="Google Shape;249;p35"/>
          <p:cNvCxnSpPr>
            <a:stCxn id="248" idx="4"/>
            <a:endCxn id="238" idx="0"/>
          </p:cNvCxnSpPr>
          <p:nvPr/>
        </p:nvCxnSpPr>
        <p:spPr>
          <a:xfrm>
            <a:off x="7162563" y="155266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35"/>
          <p:cNvCxnSpPr>
            <a:stCxn id="240" idx="0"/>
            <a:endCxn id="244" idx="4"/>
          </p:cNvCxnSpPr>
          <p:nvPr/>
        </p:nvCxnSpPr>
        <p:spPr>
          <a:xfrm rot="10800000">
            <a:off x="8229588" y="194097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35"/>
          <p:cNvCxnSpPr>
            <a:stCxn id="244" idx="2"/>
            <a:endCxn id="248" idx="5"/>
          </p:cNvCxnSpPr>
          <p:nvPr/>
        </p:nvCxnSpPr>
        <p:spPr>
          <a:xfrm rot="10800000">
            <a:off x="7264638" y="1513225"/>
            <a:ext cx="820500" cy="29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35"/>
          <p:cNvCxnSpPr>
            <a:stCxn id="246" idx="1"/>
            <a:endCxn id="244" idx="4"/>
          </p:cNvCxnSpPr>
          <p:nvPr/>
        </p:nvCxnSpPr>
        <p:spPr>
          <a:xfrm rot="10800000">
            <a:off x="8229596" y="194086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35"/>
          <p:cNvCxnSpPr>
            <a:stCxn id="240" idx="0"/>
            <a:endCxn id="246" idx="3"/>
          </p:cNvCxnSpPr>
          <p:nvPr/>
        </p:nvCxnSpPr>
        <p:spPr>
          <a:xfrm flipH="1" rot="10800000">
            <a:off x="8271888" y="2777675"/>
            <a:ext cx="272400" cy="5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35"/>
          <p:cNvCxnSpPr>
            <a:stCxn id="239" idx="3"/>
            <a:endCxn id="242" idx="0"/>
          </p:cNvCxnSpPr>
          <p:nvPr/>
        </p:nvCxnSpPr>
        <p:spPr>
          <a:xfrm flipH="1">
            <a:off x="6008971" y="1670565"/>
            <a:ext cx="288000" cy="61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35"/>
          <p:cNvCxnSpPr>
            <a:stCxn id="248" idx="2"/>
            <a:endCxn id="239" idx="6"/>
          </p:cNvCxnSpPr>
          <p:nvPr/>
        </p:nvCxnSpPr>
        <p:spPr>
          <a:xfrm flipH="1">
            <a:off x="6543513" y="1417513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35"/>
          <p:cNvCxnSpPr>
            <a:stCxn id="248" idx="3"/>
            <a:endCxn id="242" idx="7"/>
          </p:cNvCxnSpPr>
          <p:nvPr/>
        </p:nvCxnSpPr>
        <p:spPr>
          <a:xfrm flipH="1">
            <a:off x="6111221" y="1513078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35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happen over time? Tie Decay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Ego-Networks from Structure to Change</a:t>
            </a:r>
            <a:endParaRPr/>
          </a:p>
        </p:txBody>
      </p:sp>
      <p:sp>
        <p:nvSpPr>
          <p:cNvPr id="263" name="Google Shape;263;p36"/>
          <p:cNvSpPr/>
          <p:nvPr/>
        </p:nvSpPr>
        <p:spPr>
          <a:xfrm>
            <a:off x="1602638" y="215292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264" name="Google Shape;264;p36"/>
          <p:cNvSpPr/>
          <p:nvPr/>
        </p:nvSpPr>
        <p:spPr>
          <a:xfrm>
            <a:off x="1043363" y="13047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65" name="Google Shape;265;p36"/>
          <p:cNvSpPr/>
          <p:nvPr/>
        </p:nvSpPr>
        <p:spPr>
          <a:xfrm>
            <a:off x="2916138" y="3237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266" name="Google Shape;266;p36"/>
          <p:cNvCxnSpPr>
            <a:stCxn id="265" idx="1"/>
            <a:endCxn id="263" idx="5"/>
          </p:cNvCxnSpPr>
          <p:nvPr/>
        </p:nvCxnSpPr>
        <p:spPr>
          <a:xfrm rot="10800000">
            <a:off x="2247146" y="277361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36"/>
          <p:cNvSpPr/>
          <p:nvPr/>
        </p:nvSpPr>
        <p:spPr>
          <a:xfrm>
            <a:off x="653188" y="21528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268" name="Google Shape;268;p36"/>
          <p:cNvSpPr/>
          <p:nvPr/>
        </p:nvSpPr>
        <p:spPr>
          <a:xfrm>
            <a:off x="1602763" y="37266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269" name="Google Shape;269;p36"/>
          <p:cNvCxnSpPr>
            <a:stCxn id="268" idx="0"/>
            <a:endCxn id="263" idx="4"/>
          </p:cNvCxnSpPr>
          <p:nvPr/>
        </p:nvCxnSpPr>
        <p:spPr>
          <a:xfrm flipH="1" rot="10800000">
            <a:off x="1747213" y="2880050"/>
            <a:ext cx="233100" cy="84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36"/>
          <p:cNvSpPr/>
          <p:nvPr/>
        </p:nvSpPr>
        <p:spPr>
          <a:xfrm>
            <a:off x="2873838" y="1535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271" name="Google Shape;271;p36"/>
          <p:cNvSpPr/>
          <p:nvPr/>
        </p:nvSpPr>
        <p:spPr>
          <a:xfrm>
            <a:off x="798688" y="31386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cxnSp>
        <p:nvCxnSpPr>
          <p:cNvPr id="272" name="Google Shape;272;p36"/>
          <p:cNvCxnSpPr>
            <a:stCxn id="271" idx="7"/>
            <a:endCxn id="263" idx="3"/>
          </p:cNvCxnSpPr>
          <p:nvPr/>
        </p:nvCxnSpPr>
        <p:spPr>
          <a:xfrm flipH="1" rot="10800000">
            <a:off x="1045279" y="2773510"/>
            <a:ext cx="667800" cy="4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" name="Google Shape;273;p36"/>
          <p:cNvSpPr/>
          <p:nvPr/>
        </p:nvSpPr>
        <p:spPr>
          <a:xfrm>
            <a:off x="3290688" y="24117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274" name="Google Shape;274;p36"/>
          <p:cNvCxnSpPr>
            <a:stCxn id="273" idx="2"/>
            <a:endCxn id="263" idx="6"/>
          </p:cNvCxnSpPr>
          <p:nvPr/>
        </p:nvCxnSpPr>
        <p:spPr>
          <a:xfrm rot="10800000">
            <a:off x="2357688" y="251657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" name="Google Shape;275;p36"/>
          <p:cNvSpPr/>
          <p:nvPr/>
        </p:nvSpPr>
        <p:spPr>
          <a:xfrm>
            <a:off x="1806813" y="114721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276" name="Google Shape;276;p36"/>
          <p:cNvCxnSpPr>
            <a:stCxn id="275" idx="4"/>
            <a:endCxn id="263" idx="0"/>
          </p:cNvCxnSpPr>
          <p:nvPr/>
        </p:nvCxnSpPr>
        <p:spPr>
          <a:xfrm>
            <a:off x="1951263" y="141751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" name="Google Shape;277;p36"/>
          <p:cNvCxnSpPr>
            <a:stCxn id="265" idx="0"/>
            <a:endCxn id="270" idx="4"/>
          </p:cNvCxnSpPr>
          <p:nvPr/>
        </p:nvCxnSpPr>
        <p:spPr>
          <a:xfrm rot="10800000">
            <a:off x="3018288" y="180582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" name="Google Shape;278;p36"/>
          <p:cNvCxnSpPr>
            <a:stCxn id="270" idx="2"/>
            <a:endCxn id="275" idx="5"/>
          </p:cNvCxnSpPr>
          <p:nvPr/>
        </p:nvCxnSpPr>
        <p:spPr>
          <a:xfrm rot="10800000">
            <a:off x="2053338" y="1378075"/>
            <a:ext cx="820500" cy="29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36"/>
          <p:cNvCxnSpPr>
            <a:stCxn id="273" idx="1"/>
            <a:endCxn id="270" idx="4"/>
          </p:cNvCxnSpPr>
          <p:nvPr/>
        </p:nvCxnSpPr>
        <p:spPr>
          <a:xfrm rot="10800000">
            <a:off x="3018296" y="180571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36"/>
          <p:cNvCxnSpPr>
            <a:stCxn id="265" idx="0"/>
            <a:endCxn id="273" idx="3"/>
          </p:cNvCxnSpPr>
          <p:nvPr/>
        </p:nvCxnSpPr>
        <p:spPr>
          <a:xfrm flipH="1" rot="10800000">
            <a:off x="3060588" y="2642525"/>
            <a:ext cx="272400" cy="5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" name="Google Shape;281;p36"/>
          <p:cNvSpPr/>
          <p:nvPr/>
        </p:nvSpPr>
        <p:spPr>
          <a:xfrm>
            <a:off x="4221188" y="2219075"/>
            <a:ext cx="755100" cy="5949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2" name="Google Shape;282;p36"/>
          <p:cNvCxnSpPr>
            <a:stCxn id="264" idx="3"/>
            <a:endCxn id="267" idx="0"/>
          </p:cNvCxnSpPr>
          <p:nvPr/>
        </p:nvCxnSpPr>
        <p:spPr>
          <a:xfrm flipH="1">
            <a:off x="797671" y="1535415"/>
            <a:ext cx="288000" cy="61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6"/>
          <p:cNvCxnSpPr>
            <a:stCxn id="275" idx="2"/>
            <a:endCxn id="264" idx="6"/>
          </p:cNvCxnSpPr>
          <p:nvPr/>
        </p:nvCxnSpPr>
        <p:spPr>
          <a:xfrm flipH="1">
            <a:off x="1332213" y="1282363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6"/>
          <p:cNvCxnSpPr>
            <a:stCxn id="275" idx="3"/>
            <a:endCxn id="267" idx="7"/>
          </p:cNvCxnSpPr>
          <p:nvPr/>
        </p:nvCxnSpPr>
        <p:spPr>
          <a:xfrm flipH="1">
            <a:off x="899921" y="1377928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36"/>
          <p:cNvSpPr/>
          <p:nvPr/>
        </p:nvSpPr>
        <p:spPr>
          <a:xfrm>
            <a:off x="6813938" y="228807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286" name="Google Shape;286;p36"/>
          <p:cNvSpPr/>
          <p:nvPr/>
        </p:nvSpPr>
        <p:spPr>
          <a:xfrm>
            <a:off x="6254663" y="14398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87" name="Google Shape;287;p36"/>
          <p:cNvSpPr/>
          <p:nvPr/>
        </p:nvSpPr>
        <p:spPr>
          <a:xfrm>
            <a:off x="8127438" y="3372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288" name="Google Shape;288;p36"/>
          <p:cNvCxnSpPr>
            <a:stCxn id="287" idx="1"/>
            <a:endCxn id="285" idx="5"/>
          </p:cNvCxnSpPr>
          <p:nvPr/>
        </p:nvCxnSpPr>
        <p:spPr>
          <a:xfrm rot="10800000">
            <a:off x="7458446" y="290876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36"/>
          <p:cNvSpPr/>
          <p:nvPr/>
        </p:nvSpPr>
        <p:spPr>
          <a:xfrm>
            <a:off x="5864488" y="22879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290" name="Google Shape;290;p36"/>
          <p:cNvSpPr/>
          <p:nvPr/>
        </p:nvSpPr>
        <p:spPr>
          <a:xfrm>
            <a:off x="6814063" y="38618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291" name="Google Shape;291;p36"/>
          <p:cNvCxnSpPr>
            <a:stCxn id="292" idx="2"/>
            <a:endCxn id="285" idx="7"/>
          </p:cNvCxnSpPr>
          <p:nvPr/>
        </p:nvCxnSpPr>
        <p:spPr>
          <a:xfrm flipH="1">
            <a:off x="7458438" y="1805725"/>
            <a:ext cx="626700" cy="588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36"/>
          <p:cNvSpPr/>
          <p:nvPr/>
        </p:nvSpPr>
        <p:spPr>
          <a:xfrm>
            <a:off x="8085138" y="1670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293" name="Google Shape;293;p36"/>
          <p:cNvSpPr/>
          <p:nvPr/>
        </p:nvSpPr>
        <p:spPr>
          <a:xfrm>
            <a:off x="6009988" y="32737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cxnSp>
        <p:nvCxnSpPr>
          <p:cNvPr id="294" name="Google Shape;294;p36"/>
          <p:cNvCxnSpPr>
            <a:stCxn id="285" idx="2"/>
            <a:endCxn id="289" idx="6"/>
          </p:cNvCxnSpPr>
          <p:nvPr/>
        </p:nvCxnSpPr>
        <p:spPr>
          <a:xfrm rot="10800000">
            <a:off x="6153338" y="2423075"/>
            <a:ext cx="660600" cy="22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" name="Google Shape;295;p36"/>
          <p:cNvSpPr/>
          <p:nvPr/>
        </p:nvSpPr>
        <p:spPr>
          <a:xfrm>
            <a:off x="8501988" y="25468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296" name="Google Shape;296;p36"/>
          <p:cNvCxnSpPr>
            <a:stCxn id="295" idx="2"/>
            <a:endCxn id="285" idx="6"/>
          </p:cNvCxnSpPr>
          <p:nvPr/>
        </p:nvCxnSpPr>
        <p:spPr>
          <a:xfrm rot="10800000">
            <a:off x="7568988" y="265172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7" name="Google Shape;297;p36"/>
          <p:cNvSpPr/>
          <p:nvPr/>
        </p:nvSpPr>
        <p:spPr>
          <a:xfrm>
            <a:off x="7018113" y="128236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298" name="Google Shape;298;p36"/>
          <p:cNvCxnSpPr>
            <a:stCxn id="297" idx="4"/>
            <a:endCxn id="285" idx="0"/>
          </p:cNvCxnSpPr>
          <p:nvPr/>
        </p:nvCxnSpPr>
        <p:spPr>
          <a:xfrm>
            <a:off x="7162563" y="155266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36"/>
          <p:cNvCxnSpPr>
            <a:stCxn id="287" idx="0"/>
            <a:endCxn id="292" idx="4"/>
          </p:cNvCxnSpPr>
          <p:nvPr/>
        </p:nvCxnSpPr>
        <p:spPr>
          <a:xfrm rot="10800000">
            <a:off x="8229588" y="194097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36"/>
          <p:cNvCxnSpPr>
            <a:stCxn id="292" idx="2"/>
            <a:endCxn id="297" idx="5"/>
          </p:cNvCxnSpPr>
          <p:nvPr/>
        </p:nvCxnSpPr>
        <p:spPr>
          <a:xfrm rot="10800000">
            <a:off x="7264638" y="1513225"/>
            <a:ext cx="820500" cy="29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36"/>
          <p:cNvCxnSpPr>
            <a:stCxn id="295" idx="1"/>
            <a:endCxn id="292" idx="4"/>
          </p:cNvCxnSpPr>
          <p:nvPr/>
        </p:nvCxnSpPr>
        <p:spPr>
          <a:xfrm rot="10800000">
            <a:off x="8229596" y="194086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36"/>
          <p:cNvCxnSpPr>
            <a:stCxn id="287" idx="0"/>
            <a:endCxn id="295" idx="3"/>
          </p:cNvCxnSpPr>
          <p:nvPr/>
        </p:nvCxnSpPr>
        <p:spPr>
          <a:xfrm flipH="1" rot="10800000">
            <a:off x="8271888" y="2777675"/>
            <a:ext cx="272400" cy="5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36"/>
          <p:cNvCxnSpPr>
            <a:stCxn id="286" idx="3"/>
            <a:endCxn id="289" idx="0"/>
          </p:cNvCxnSpPr>
          <p:nvPr/>
        </p:nvCxnSpPr>
        <p:spPr>
          <a:xfrm flipH="1">
            <a:off x="6008971" y="1670565"/>
            <a:ext cx="288000" cy="61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36"/>
          <p:cNvCxnSpPr>
            <a:stCxn id="297" idx="2"/>
            <a:endCxn id="286" idx="6"/>
          </p:cNvCxnSpPr>
          <p:nvPr/>
        </p:nvCxnSpPr>
        <p:spPr>
          <a:xfrm flipH="1">
            <a:off x="6543513" y="1417513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36"/>
          <p:cNvCxnSpPr>
            <a:stCxn id="297" idx="3"/>
            <a:endCxn id="289" idx="7"/>
          </p:cNvCxnSpPr>
          <p:nvPr/>
        </p:nvCxnSpPr>
        <p:spPr>
          <a:xfrm flipH="1">
            <a:off x="6111221" y="1513078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6" name="Google Shape;306;p36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happen over time? Tie Formation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7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Ego-Networks from Structure to Change</a:t>
            </a:r>
            <a:endParaRPr/>
          </a:p>
        </p:txBody>
      </p:sp>
      <p:sp>
        <p:nvSpPr>
          <p:cNvPr id="312" name="Google Shape;312;p37"/>
          <p:cNvSpPr/>
          <p:nvPr/>
        </p:nvSpPr>
        <p:spPr>
          <a:xfrm>
            <a:off x="1602638" y="215292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313" name="Google Shape;313;p37"/>
          <p:cNvSpPr/>
          <p:nvPr/>
        </p:nvSpPr>
        <p:spPr>
          <a:xfrm>
            <a:off x="1043363" y="13047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314" name="Google Shape;314;p37"/>
          <p:cNvSpPr/>
          <p:nvPr/>
        </p:nvSpPr>
        <p:spPr>
          <a:xfrm>
            <a:off x="2916138" y="3237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315" name="Google Shape;315;p37"/>
          <p:cNvCxnSpPr>
            <a:stCxn id="314" idx="1"/>
            <a:endCxn id="312" idx="5"/>
          </p:cNvCxnSpPr>
          <p:nvPr/>
        </p:nvCxnSpPr>
        <p:spPr>
          <a:xfrm rot="10800000">
            <a:off x="2247146" y="277361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6" name="Google Shape;316;p37"/>
          <p:cNvSpPr/>
          <p:nvPr/>
        </p:nvSpPr>
        <p:spPr>
          <a:xfrm>
            <a:off x="653188" y="21528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317" name="Google Shape;317;p37"/>
          <p:cNvSpPr/>
          <p:nvPr/>
        </p:nvSpPr>
        <p:spPr>
          <a:xfrm>
            <a:off x="1602763" y="37266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318" name="Google Shape;318;p37"/>
          <p:cNvCxnSpPr>
            <a:stCxn id="317" idx="0"/>
            <a:endCxn id="312" idx="4"/>
          </p:cNvCxnSpPr>
          <p:nvPr/>
        </p:nvCxnSpPr>
        <p:spPr>
          <a:xfrm flipH="1" rot="10800000">
            <a:off x="1747213" y="2880050"/>
            <a:ext cx="233100" cy="84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37"/>
          <p:cNvSpPr/>
          <p:nvPr/>
        </p:nvSpPr>
        <p:spPr>
          <a:xfrm>
            <a:off x="2873838" y="1535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320" name="Google Shape;320;p37"/>
          <p:cNvSpPr/>
          <p:nvPr/>
        </p:nvSpPr>
        <p:spPr>
          <a:xfrm>
            <a:off x="798688" y="31386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cxnSp>
        <p:nvCxnSpPr>
          <p:cNvPr id="321" name="Google Shape;321;p37"/>
          <p:cNvCxnSpPr>
            <a:stCxn id="320" idx="7"/>
            <a:endCxn id="312" idx="3"/>
          </p:cNvCxnSpPr>
          <p:nvPr/>
        </p:nvCxnSpPr>
        <p:spPr>
          <a:xfrm flipH="1" rot="10800000">
            <a:off x="1045279" y="2773510"/>
            <a:ext cx="667800" cy="4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2" name="Google Shape;322;p37"/>
          <p:cNvSpPr/>
          <p:nvPr/>
        </p:nvSpPr>
        <p:spPr>
          <a:xfrm>
            <a:off x="3290688" y="24117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323" name="Google Shape;323;p37"/>
          <p:cNvCxnSpPr>
            <a:stCxn id="322" idx="2"/>
            <a:endCxn id="312" idx="6"/>
          </p:cNvCxnSpPr>
          <p:nvPr/>
        </p:nvCxnSpPr>
        <p:spPr>
          <a:xfrm rot="10800000">
            <a:off x="2357688" y="251657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" name="Google Shape;324;p37"/>
          <p:cNvSpPr/>
          <p:nvPr/>
        </p:nvSpPr>
        <p:spPr>
          <a:xfrm>
            <a:off x="1806813" y="114721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325" name="Google Shape;325;p37"/>
          <p:cNvCxnSpPr>
            <a:stCxn id="324" idx="4"/>
            <a:endCxn id="312" idx="0"/>
          </p:cNvCxnSpPr>
          <p:nvPr/>
        </p:nvCxnSpPr>
        <p:spPr>
          <a:xfrm>
            <a:off x="1951263" y="141751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37"/>
          <p:cNvCxnSpPr>
            <a:stCxn id="314" idx="0"/>
            <a:endCxn id="319" idx="4"/>
          </p:cNvCxnSpPr>
          <p:nvPr/>
        </p:nvCxnSpPr>
        <p:spPr>
          <a:xfrm rot="10800000">
            <a:off x="3018288" y="180582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37"/>
          <p:cNvCxnSpPr>
            <a:stCxn id="319" idx="2"/>
            <a:endCxn id="324" idx="5"/>
          </p:cNvCxnSpPr>
          <p:nvPr/>
        </p:nvCxnSpPr>
        <p:spPr>
          <a:xfrm rot="10800000">
            <a:off x="2053338" y="1378075"/>
            <a:ext cx="820500" cy="29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37"/>
          <p:cNvCxnSpPr>
            <a:stCxn id="322" idx="1"/>
            <a:endCxn id="319" idx="4"/>
          </p:cNvCxnSpPr>
          <p:nvPr/>
        </p:nvCxnSpPr>
        <p:spPr>
          <a:xfrm rot="10800000">
            <a:off x="3018296" y="180571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37"/>
          <p:cNvCxnSpPr>
            <a:stCxn id="314" idx="0"/>
            <a:endCxn id="322" idx="3"/>
          </p:cNvCxnSpPr>
          <p:nvPr/>
        </p:nvCxnSpPr>
        <p:spPr>
          <a:xfrm flipH="1" rot="10800000">
            <a:off x="3060588" y="2642525"/>
            <a:ext cx="272400" cy="5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" name="Google Shape;330;p37"/>
          <p:cNvSpPr/>
          <p:nvPr/>
        </p:nvSpPr>
        <p:spPr>
          <a:xfrm>
            <a:off x="4221188" y="2219075"/>
            <a:ext cx="755100" cy="5949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1" name="Google Shape;331;p37"/>
          <p:cNvCxnSpPr>
            <a:stCxn id="313" idx="3"/>
            <a:endCxn id="316" idx="0"/>
          </p:cNvCxnSpPr>
          <p:nvPr/>
        </p:nvCxnSpPr>
        <p:spPr>
          <a:xfrm flipH="1">
            <a:off x="797671" y="1535415"/>
            <a:ext cx="288000" cy="61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37"/>
          <p:cNvCxnSpPr>
            <a:stCxn id="324" idx="2"/>
            <a:endCxn id="313" idx="6"/>
          </p:cNvCxnSpPr>
          <p:nvPr/>
        </p:nvCxnSpPr>
        <p:spPr>
          <a:xfrm flipH="1">
            <a:off x="1332213" y="1282363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37"/>
          <p:cNvCxnSpPr>
            <a:stCxn id="324" idx="3"/>
            <a:endCxn id="316" idx="7"/>
          </p:cNvCxnSpPr>
          <p:nvPr/>
        </p:nvCxnSpPr>
        <p:spPr>
          <a:xfrm flipH="1">
            <a:off x="899921" y="1377928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37"/>
          <p:cNvSpPr/>
          <p:nvPr/>
        </p:nvSpPr>
        <p:spPr>
          <a:xfrm>
            <a:off x="6813938" y="228807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335" name="Google Shape;335;p37"/>
          <p:cNvSpPr/>
          <p:nvPr/>
        </p:nvSpPr>
        <p:spPr>
          <a:xfrm>
            <a:off x="6254663" y="14398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336" name="Google Shape;336;p37"/>
          <p:cNvSpPr/>
          <p:nvPr/>
        </p:nvSpPr>
        <p:spPr>
          <a:xfrm>
            <a:off x="8127438" y="3372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337" name="Google Shape;337;p37"/>
          <p:cNvCxnSpPr>
            <a:stCxn id="336" idx="1"/>
            <a:endCxn id="334" idx="5"/>
          </p:cNvCxnSpPr>
          <p:nvPr/>
        </p:nvCxnSpPr>
        <p:spPr>
          <a:xfrm rot="10800000">
            <a:off x="7458446" y="290876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8" name="Google Shape;338;p37"/>
          <p:cNvSpPr/>
          <p:nvPr/>
        </p:nvSpPr>
        <p:spPr>
          <a:xfrm>
            <a:off x="5864488" y="22879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339" name="Google Shape;339;p37"/>
          <p:cNvSpPr/>
          <p:nvPr/>
        </p:nvSpPr>
        <p:spPr>
          <a:xfrm>
            <a:off x="6814063" y="38618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340" name="Google Shape;340;p37"/>
          <p:cNvCxnSpPr>
            <a:stCxn id="341" idx="2"/>
            <a:endCxn id="334" idx="7"/>
          </p:cNvCxnSpPr>
          <p:nvPr/>
        </p:nvCxnSpPr>
        <p:spPr>
          <a:xfrm flipH="1">
            <a:off x="7458438" y="1805725"/>
            <a:ext cx="626700" cy="588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Google Shape;341;p37"/>
          <p:cNvSpPr/>
          <p:nvPr/>
        </p:nvSpPr>
        <p:spPr>
          <a:xfrm>
            <a:off x="8085138" y="1670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342" name="Google Shape;342;p37"/>
          <p:cNvSpPr/>
          <p:nvPr/>
        </p:nvSpPr>
        <p:spPr>
          <a:xfrm>
            <a:off x="6009988" y="32737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cxnSp>
        <p:nvCxnSpPr>
          <p:cNvPr id="343" name="Google Shape;343;p37"/>
          <p:cNvCxnSpPr>
            <a:stCxn id="334" idx="2"/>
            <a:endCxn id="338" idx="6"/>
          </p:cNvCxnSpPr>
          <p:nvPr/>
        </p:nvCxnSpPr>
        <p:spPr>
          <a:xfrm rot="10800000">
            <a:off x="6153338" y="2423075"/>
            <a:ext cx="660600" cy="22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37"/>
          <p:cNvSpPr/>
          <p:nvPr/>
        </p:nvSpPr>
        <p:spPr>
          <a:xfrm>
            <a:off x="8501988" y="25468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345" name="Google Shape;345;p37"/>
          <p:cNvCxnSpPr>
            <a:stCxn id="344" idx="2"/>
            <a:endCxn id="334" idx="6"/>
          </p:cNvCxnSpPr>
          <p:nvPr/>
        </p:nvCxnSpPr>
        <p:spPr>
          <a:xfrm rot="10800000">
            <a:off x="7568988" y="265172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37"/>
          <p:cNvSpPr/>
          <p:nvPr/>
        </p:nvSpPr>
        <p:spPr>
          <a:xfrm>
            <a:off x="7018113" y="128236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347" name="Google Shape;347;p37"/>
          <p:cNvCxnSpPr>
            <a:stCxn id="346" idx="4"/>
            <a:endCxn id="334" idx="0"/>
          </p:cNvCxnSpPr>
          <p:nvPr/>
        </p:nvCxnSpPr>
        <p:spPr>
          <a:xfrm>
            <a:off x="7162563" y="155266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37"/>
          <p:cNvCxnSpPr>
            <a:stCxn id="336" idx="0"/>
            <a:endCxn id="341" idx="4"/>
          </p:cNvCxnSpPr>
          <p:nvPr/>
        </p:nvCxnSpPr>
        <p:spPr>
          <a:xfrm rot="10800000">
            <a:off x="8229588" y="194097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37"/>
          <p:cNvCxnSpPr>
            <a:stCxn id="341" idx="2"/>
            <a:endCxn id="346" idx="5"/>
          </p:cNvCxnSpPr>
          <p:nvPr/>
        </p:nvCxnSpPr>
        <p:spPr>
          <a:xfrm rot="10800000">
            <a:off x="7264638" y="1513225"/>
            <a:ext cx="820500" cy="29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37"/>
          <p:cNvCxnSpPr>
            <a:stCxn id="344" idx="1"/>
            <a:endCxn id="341" idx="4"/>
          </p:cNvCxnSpPr>
          <p:nvPr/>
        </p:nvCxnSpPr>
        <p:spPr>
          <a:xfrm rot="10800000">
            <a:off x="8229596" y="194086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p37"/>
          <p:cNvCxnSpPr>
            <a:stCxn id="336" idx="0"/>
            <a:endCxn id="344" idx="3"/>
          </p:cNvCxnSpPr>
          <p:nvPr/>
        </p:nvCxnSpPr>
        <p:spPr>
          <a:xfrm flipH="1" rot="10800000">
            <a:off x="8271888" y="2777675"/>
            <a:ext cx="272400" cy="5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37"/>
          <p:cNvCxnSpPr>
            <a:stCxn id="335" idx="3"/>
            <a:endCxn id="338" idx="0"/>
          </p:cNvCxnSpPr>
          <p:nvPr/>
        </p:nvCxnSpPr>
        <p:spPr>
          <a:xfrm flipH="1">
            <a:off x="6008971" y="1670565"/>
            <a:ext cx="288000" cy="61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37"/>
          <p:cNvCxnSpPr>
            <a:stCxn id="346" idx="2"/>
            <a:endCxn id="335" idx="6"/>
          </p:cNvCxnSpPr>
          <p:nvPr/>
        </p:nvCxnSpPr>
        <p:spPr>
          <a:xfrm flipH="1">
            <a:off x="6543513" y="1417513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37"/>
          <p:cNvCxnSpPr>
            <a:stCxn id="346" idx="3"/>
            <a:endCxn id="338" idx="7"/>
          </p:cNvCxnSpPr>
          <p:nvPr/>
        </p:nvCxnSpPr>
        <p:spPr>
          <a:xfrm flipH="1">
            <a:off x="6111221" y="1513078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" name="Google Shape;355;p37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happen over time? Tie Formation among alters</a:t>
            </a:r>
            <a:endParaRPr/>
          </a:p>
        </p:txBody>
      </p:sp>
      <p:cxnSp>
        <p:nvCxnSpPr>
          <p:cNvPr id="356" name="Google Shape;356;p37"/>
          <p:cNvCxnSpPr>
            <a:stCxn id="339" idx="1"/>
            <a:endCxn id="342" idx="5"/>
          </p:cNvCxnSpPr>
          <p:nvPr/>
        </p:nvCxnSpPr>
        <p:spPr>
          <a:xfrm rot="10800000">
            <a:off x="6256671" y="3504485"/>
            <a:ext cx="599700" cy="39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37"/>
          <p:cNvCxnSpPr>
            <a:stCxn id="342" idx="6"/>
            <a:endCxn id="336" idx="2"/>
          </p:cNvCxnSpPr>
          <p:nvPr/>
        </p:nvCxnSpPr>
        <p:spPr>
          <a:xfrm>
            <a:off x="6298888" y="3408925"/>
            <a:ext cx="1828500" cy="98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37"/>
          <p:cNvCxnSpPr>
            <a:stCxn id="339" idx="0"/>
            <a:endCxn id="336" idx="2"/>
          </p:cNvCxnSpPr>
          <p:nvPr/>
        </p:nvCxnSpPr>
        <p:spPr>
          <a:xfrm flipH="1" rot="10800000">
            <a:off x="6958513" y="3507800"/>
            <a:ext cx="1168800" cy="354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8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Ego-Networks from Structure to Change</a:t>
            </a:r>
            <a:endParaRPr/>
          </a:p>
        </p:txBody>
      </p:sp>
      <p:sp>
        <p:nvSpPr>
          <p:cNvPr id="364" name="Google Shape;364;p38"/>
          <p:cNvSpPr/>
          <p:nvPr/>
        </p:nvSpPr>
        <p:spPr>
          <a:xfrm>
            <a:off x="1602638" y="215292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365" name="Google Shape;365;p38"/>
          <p:cNvSpPr/>
          <p:nvPr/>
        </p:nvSpPr>
        <p:spPr>
          <a:xfrm>
            <a:off x="1043363" y="13047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366" name="Google Shape;366;p38"/>
          <p:cNvSpPr/>
          <p:nvPr/>
        </p:nvSpPr>
        <p:spPr>
          <a:xfrm>
            <a:off x="2916138" y="3237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367" name="Google Shape;367;p38"/>
          <p:cNvCxnSpPr>
            <a:stCxn id="366" idx="1"/>
            <a:endCxn id="364" idx="5"/>
          </p:cNvCxnSpPr>
          <p:nvPr/>
        </p:nvCxnSpPr>
        <p:spPr>
          <a:xfrm rot="10800000">
            <a:off x="2247146" y="277361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" name="Google Shape;368;p38"/>
          <p:cNvSpPr/>
          <p:nvPr/>
        </p:nvSpPr>
        <p:spPr>
          <a:xfrm>
            <a:off x="653188" y="21528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369" name="Google Shape;369;p38"/>
          <p:cNvSpPr/>
          <p:nvPr/>
        </p:nvSpPr>
        <p:spPr>
          <a:xfrm>
            <a:off x="1602763" y="37266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370" name="Google Shape;370;p38"/>
          <p:cNvCxnSpPr>
            <a:stCxn id="369" idx="0"/>
            <a:endCxn id="364" idx="4"/>
          </p:cNvCxnSpPr>
          <p:nvPr/>
        </p:nvCxnSpPr>
        <p:spPr>
          <a:xfrm flipH="1" rot="10800000">
            <a:off x="1747213" y="2880050"/>
            <a:ext cx="233100" cy="84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1" name="Google Shape;371;p38"/>
          <p:cNvSpPr/>
          <p:nvPr/>
        </p:nvSpPr>
        <p:spPr>
          <a:xfrm>
            <a:off x="2873838" y="1535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372" name="Google Shape;372;p38"/>
          <p:cNvSpPr/>
          <p:nvPr/>
        </p:nvSpPr>
        <p:spPr>
          <a:xfrm>
            <a:off x="798688" y="31386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cxnSp>
        <p:nvCxnSpPr>
          <p:cNvPr id="373" name="Google Shape;373;p38"/>
          <p:cNvCxnSpPr>
            <a:stCxn id="372" idx="7"/>
            <a:endCxn id="364" idx="3"/>
          </p:cNvCxnSpPr>
          <p:nvPr/>
        </p:nvCxnSpPr>
        <p:spPr>
          <a:xfrm flipH="1" rot="10800000">
            <a:off x="1045279" y="2773510"/>
            <a:ext cx="667800" cy="4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4" name="Google Shape;374;p38"/>
          <p:cNvSpPr/>
          <p:nvPr/>
        </p:nvSpPr>
        <p:spPr>
          <a:xfrm>
            <a:off x="3290688" y="24117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375" name="Google Shape;375;p38"/>
          <p:cNvCxnSpPr>
            <a:stCxn id="374" idx="2"/>
            <a:endCxn id="364" idx="6"/>
          </p:cNvCxnSpPr>
          <p:nvPr/>
        </p:nvCxnSpPr>
        <p:spPr>
          <a:xfrm rot="10800000">
            <a:off x="2357688" y="251657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6" name="Google Shape;376;p38"/>
          <p:cNvSpPr/>
          <p:nvPr/>
        </p:nvSpPr>
        <p:spPr>
          <a:xfrm>
            <a:off x="1806813" y="114721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377" name="Google Shape;377;p38"/>
          <p:cNvCxnSpPr>
            <a:stCxn id="376" idx="4"/>
            <a:endCxn id="364" idx="0"/>
          </p:cNvCxnSpPr>
          <p:nvPr/>
        </p:nvCxnSpPr>
        <p:spPr>
          <a:xfrm>
            <a:off x="1951263" y="141751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" name="Google Shape;378;p38"/>
          <p:cNvCxnSpPr>
            <a:stCxn id="366" idx="0"/>
            <a:endCxn id="371" idx="4"/>
          </p:cNvCxnSpPr>
          <p:nvPr/>
        </p:nvCxnSpPr>
        <p:spPr>
          <a:xfrm rot="10800000">
            <a:off x="3018288" y="180582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38"/>
          <p:cNvCxnSpPr>
            <a:stCxn id="371" idx="2"/>
            <a:endCxn id="376" idx="5"/>
          </p:cNvCxnSpPr>
          <p:nvPr/>
        </p:nvCxnSpPr>
        <p:spPr>
          <a:xfrm rot="10800000">
            <a:off x="2053338" y="1378075"/>
            <a:ext cx="820500" cy="29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" name="Google Shape;380;p38"/>
          <p:cNvCxnSpPr>
            <a:stCxn id="374" idx="1"/>
            <a:endCxn id="371" idx="4"/>
          </p:cNvCxnSpPr>
          <p:nvPr/>
        </p:nvCxnSpPr>
        <p:spPr>
          <a:xfrm rot="10800000">
            <a:off x="3018296" y="180571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38"/>
          <p:cNvCxnSpPr>
            <a:stCxn id="366" idx="0"/>
            <a:endCxn id="374" idx="3"/>
          </p:cNvCxnSpPr>
          <p:nvPr/>
        </p:nvCxnSpPr>
        <p:spPr>
          <a:xfrm flipH="1" rot="10800000">
            <a:off x="3060588" y="2642525"/>
            <a:ext cx="272400" cy="5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" name="Google Shape;382;p38"/>
          <p:cNvSpPr/>
          <p:nvPr/>
        </p:nvSpPr>
        <p:spPr>
          <a:xfrm>
            <a:off x="4221188" y="2219075"/>
            <a:ext cx="755100" cy="5949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3" name="Google Shape;383;p38"/>
          <p:cNvCxnSpPr>
            <a:stCxn id="365" idx="3"/>
            <a:endCxn id="368" idx="0"/>
          </p:cNvCxnSpPr>
          <p:nvPr/>
        </p:nvCxnSpPr>
        <p:spPr>
          <a:xfrm flipH="1">
            <a:off x="797671" y="1535415"/>
            <a:ext cx="288000" cy="61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" name="Google Shape;384;p38"/>
          <p:cNvCxnSpPr>
            <a:stCxn id="376" idx="2"/>
            <a:endCxn id="365" idx="6"/>
          </p:cNvCxnSpPr>
          <p:nvPr/>
        </p:nvCxnSpPr>
        <p:spPr>
          <a:xfrm flipH="1">
            <a:off x="1332213" y="1282363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38"/>
          <p:cNvCxnSpPr>
            <a:stCxn id="376" idx="3"/>
            <a:endCxn id="368" idx="7"/>
          </p:cNvCxnSpPr>
          <p:nvPr/>
        </p:nvCxnSpPr>
        <p:spPr>
          <a:xfrm flipH="1">
            <a:off x="899921" y="1377928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" name="Google Shape;386;p38"/>
          <p:cNvSpPr/>
          <p:nvPr/>
        </p:nvSpPr>
        <p:spPr>
          <a:xfrm>
            <a:off x="6813938" y="228807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387" name="Google Shape;387;p38"/>
          <p:cNvSpPr/>
          <p:nvPr/>
        </p:nvSpPr>
        <p:spPr>
          <a:xfrm>
            <a:off x="6254663" y="14398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388" name="Google Shape;388;p38"/>
          <p:cNvSpPr/>
          <p:nvPr/>
        </p:nvSpPr>
        <p:spPr>
          <a:xfrm>
            <a:off x="8127438" y="3372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389" name="Google Shape;389;p38"/>
          <p:cNvCxnSpPr>
            <a:stCxn id="388" idx="1"/>
            <a:endCxn id="386" idx="5"/>
          </p:cNvCxnSpPr>
          <p:nvPr/>
        </p:nvCxnSpPr>
        <p:spPr>
          <a:xfrm rot="10800000">
            <a:off x="7458446" y="290876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0" name="Google Shape;390;p38"/>
          <p:cNvSpPr/>
          <p:nvPr/>
        </p:nvSpPr>
        <p:spPr>
          <a:xfrm>
            <a:off x="5864488" y="22879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391" name="Google Shape;391;p38"/>
          <p:cNvSpPr/>
          <p:nvPr/>
        </p:nvSpPr>
        <p:spPr>
          <a:xfrm>
            <a:off x="6814063" y="38618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392" name="Google Shape;392;p38"/>
          <p:cNvCxnSpPr>
            <a:stCxn id="393" idx="2"/>
            <a:endCxn id="386" idx="7"/>
          </p:cNvCxnSpPr>
          <p:nvPr/>
        </p:nvCxnSpPr>
        <p:spPr>
          <a:xfrm flipH="1">
            <a:off x="7458438" y="1805725"/>
            <a:ext cx="626700" cy="588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3" name="Google Shape;393;p38"/>
          <p:cNvSpPr/>
          <p:nvPr/>
        </p:nvSpPr>
        <p:spPr>
          <a:xfrm>
            <a:off x="8085138" y="1670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394" name="Google Shape;394;p38"/>
          <p:cNvSpPr/>
          <p:nvPr/>
        </p:nvSpPr>
        <p:spPr>
          <a:xfrm>
            <a:off x="6009988" y="32737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cxnSp>
        <p:nvCxnSpPr>
          <p:cNvPr id="395" name="Google Shape;395;p38"/>
          <p:cNvCxnSpPr>
            <a:stCxn id="386" idx="2"/>
            <a:endCxn id="390" idx="6"/>
          </p:cNvCxnSpPr>
          <p:nvPr/>
        </p:nvCxnSpPr>
        <p:spPr>
          <a:xfrm rot="10800000">
            <a:off x="6153338" y="2423075"/>
            <a:ext cx="660600" cy="22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38"/>
          <p:cNvSpPr/>
          <p:nvPr/>
        </p:nvSpPr>
        <p:spPr>
          <a:xfrm>
            <a:off x="8501988" y="25468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397" name="Google Shape;397;p38"/>
          <p:cNvCxnSpPr>
            <a:stCxn id="396" idx="2"/>
            <a:endCxn id="386" idx="6"/>
          </p:cNvCxnSpPr>
          <p:nvPr/>
        </p:nvCxnSpPr>
        <p:spPr>
          <a:xfrm rot="10800000">
            <a:off x="7568988" y="265172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8" name="Google Shape;398;p38"/>
          <p:cNvSpPr/>
          <p:nvPr/>
        </p:nvSpPr>
        <p:spPr>
          <a:xfrm>
            <a:off x="7018113" y="128236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399" name="Google Shape;399;p38"/>
          <p:cNvCxnSpPr>
            <a:stCxn id="398" idx="4"/>
            <a:endCxn id="386" idx="0"/>
          </p:cNvCxnSpPr>
          <p:nvPr/>
        </p:nvCxnSpPr>
        <p:spPr>
          <a:xfrm>
            <a:off x="7162563" y="155266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" name="Google Shape;400;p38"/>
          <p:cNvCxnSpPr>
            <a:stCxn id="388" idx="0"/>
            <a:endCxn id="393" idx="4"/>
          </p:cNvCxnSpPr>
          <p:nvPr/>
        </p:nvCxnSpPr>
        <p:spPr>
          <a:xfrm rot="10800000">
            <a:off x="8229588" y="194097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38"/>
          <p:cNvCxnSpPr>
            <a:stCxn id="396" idx="1"/>
            <a:endCxn id="393" idx="4"/>
          </p:cNvCxnSpPr>
          <p:nvPr/>
        </p:nvCxnSpPr>
        <p:spPr>
          <a:xfrm rot="10800000">
            <a:off x="8229596" y="194086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38"/>
          <p:cNvCxnSpPr>
            <a:stCxn id="398" idx="2"/>
            <a:endCxn id="387" idx="6"/>
          </p:cNvCxnSpPr>
          <p:nvPr/>
        </p:nvCxnSpPr>
        <p:spPr>
          <a:xfrm flipH="1">
            <a:off x="6543513" y="1417513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" name="Google Shape;403;p38"/>
          <p:cNvCxnSpPr>
            <a:stCxn id="398" idx="3"/>
            <a:endCxn id="390" idx="7"/>
          </p:cNvCxnSpPr>
          <p:nvPr/>
        </p:nvCxnSpPr>
        <p:spPr>
          <a:xfrm flipH="1">
            <a:off x="6111221" y="1513078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4" name="Google Shape;404;p38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happen over time? Tie decay among alters</a:t>
            </a:r>
            <a:endParaRPr/>
          </a:p>
        </p:txBody>
      </p:sp>
      <p:cxnSp>
        <p:nvCxnSpPr>
          <p:cNvPr id="405" name="Google Shape;405;p38"/>
          <p:cNvCxnSpPr>
            <a:stCxn id="391" idx="1"/>
            <a:endCxn id="394" idx="5"/>
          </p:cNvCxnSpPr>
          <p:nvPr/>
        </p:nvCxnSpPr>
        <p:spPr>
          <a:xfrm rot="10800000">
            <a:off x="6256671" y="3504485"/>
            <a:ext cx="599700" cy="39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" name="Google Shape;406;p38"/>
          <p:cNvCxnSpPr>
            <a:stCxn id="394" idx="6"/>
            <a:endCxn id="388" idx="2"/>
          </p:cNvCxnSpPr>
          <p:nvPr/>
        </p:nvCxnSpPr>
        <p:spPr>
          <a:xfrm>
            <a:off x="6298888" y="3408925"/>
            <a:ext cx="1828500" cy="98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38"/>
          <p:cNvCxnSpPr>
            <a:stCxn id="391" idx="0"/>
            <a:endCxn id="388" idx="2"/>
          </p:cNvCxnSpPr>
          <p:nvPr/>
        </p:nvCxnSpPr>
        <p:spPr>
          <a:xfrm flipH="1" rot="10800000">
            <a:off x="6958513" y="3507800"/>
            <a:ext cx="1168800" cy="354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9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Ego-Networks from Structure to Change</a:t>
            </a:r>
            <a:endParaRPr/>
          </a:p>
        </p:txBody>
      </p:sp>
      <p:sp>
        <p:nvSpPr>
          <p:cNvPr id="413" name="Google Shape;413;p39"/>
          <p:cNvSpPr/>
          <p:nvPr/>
        </p:nvSpPr>
        <p:spPr>
          <a:xfrm>
            <a:off x="1602638" y="215292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414" name="Google Shape;414;p39"/>
          <p:cNvSpPr/>
          <p:nvPr/>
        </p:nvSpPr>
        <p:spPr>
          <a:xfrm>
            <a:off x="1043363" y="13047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415" name="Google Shape;415;p39"/>
          <p:cNvSpPr/>
          <p:nvPr/>
        </p:nvSpPr>
        <p:spPr>
          <a:xfrm>
            <a:off x="2916138" y="3237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416" name="Google Shape;416;p39"/>
          <p:cNvCxnSpPr>
            <a:stCxn id="415" idx="1"/>
            <a:endCxn id="413" idx="5"/>
          </p:cNvCxnSpPr>
          <p:nvPr/>
        </p:nvCxnSpPr>
        <p:spPr>
          <a:xfrm rot="10800000">
            <a:off x="2247146" y="277361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" name="Google Shape;417;p39"/>
          <p:cNvSpPr/>
          <p:nvPr/>
        </p:nvSpPr>
        <p:spPr>
          <a:xfrm>
            <a:off x="653188" y="21528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418" name="Google Shape;418;p39"/>
          <p:cNvSpPr/>
          <p:nvPr/>
        </p:nvSpPr>
        <p:spPr>
          <a:xfrm>
            <a:off x="1602763" y="37266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419" name="Google Shape;419;p39"/>
          <p:cNvCxnSpPr>
            <a:stCxn id="418" idx="0"/>
            <a:endCxn id="413" idx="4"/>
          </p:cNvCxnSpPr>
          <p:nvPr/>
        </p:nvCxnSpPr>
        <p:spPr>
          <a:xfrm flipH="1" rot="10800000">
            <a:off x="1747213" y="2880050"/>
            <a:ext cx="233100" cy="84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" name="Google Shape;420;p39"/>
          <p:cNvSpPr/>
          <p:nvPr/>
        </p:nvSpPr>
        <p:spPr>
          <a:xfrm>
            <a:off x="2873838" y="1535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421" name="Google Shape;421;p39"/>
          <p:cNvSpPr/>
          <p:nvPr/>
        </p:nvSpPr>
        <p:spPr>
          <a:xfrm>
            <a:off x="798688" y="31386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cxnSp>
        <p:nvCxnSpPr>
          <p:cNvPr id="422" name="Google Shape;422;p39"/>
          <p:cNvCxnSpPr>
            <a:stCxn id="421" idx="7"/>
            <a:endCxn id="413" idx="3"/>
          </p:cNvCxnSpPr>
          <p:nvPr/>
        </p:nvCxnSpPr>
        <p:spPr>
          <a:xfrm flipH="1" rot="10800000">
            <a:off x="1045279" y="2773510"/>
            <a:ext cx="667800" cy="4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3" name="Google Shape;423;p39"/>
          <p:cNvSpPr/>
          <p:nvPr/>
        </p:nvSpPr>
        <p:spPr>
          <a:xfrm>
            <a:off x="3290688" y="24117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424" name="Google Shape;424;p39"/>
          <p:cNvCxnSpPr>
            <a:stCxn id="423" idx="2"/>
            <a:endCxn id="413" idx="6"/>
          </p:cNvCxnSpPr>
          <p:nvPr/>
        </p:nvCxnSpPr>
        <p:spPr>
          <a:xfrm rot="10800000">
            <a:off x="2357688" y="251657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" name="Google Shape;425;p39"/>
          <p:cNvSpPr/>
          <p:nvPr/>
        </p:nvSpPr>
        <p:spPr>
          <a:xfrm>
            <a:off x="1806813" y="114721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426" name="Google Shape;426;p39"/>
          <p:cNvCxnSpPr>
            <a:stCxn id="425" idx="4"/>
            <a:endCxn id="413" idx="0"/>
          </p:cNvCxnSpPr>
          <p:nvPr/>
        </p:nvCxnSpPr>
        <p:spPr>
          <a:xfrm>
            <a:off x="1951263" y="141751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39"/>
          <p:cNvCxnSpPr>
            <a:stCxn id="415" idx="0"/>
            <a:endCxn id="420" idx="4"/>
          </p:cNvCxnSpPr>
          <p:nvPr/>
        </p:nvCxnSpPr>
        <p:spPr>
          <a:xfrm rot="10800000">
            <a:off x="3018288" y="180582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39"/>
          <p:cNvCxnSpPr>
            <a:stCxn id="420" idx="2"/>
            <a:endCxn id="425" idx="5"/>
          </p:cNvCxnSpPr>
          <p:nvPr/>
        </p:nvCxnSpPr>
        <p:spPr>
          <a:xfrm rot="10800000">
            <a:off x="2053338" y="1378075"/>
            <a:ext cx="820500" cy="29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" name="Google Shape;429;p39"/>
          <p:cNvCxnSpPr>
            <a:stCxn id="423" idx="1"/>
            <a:endCxn id="420" idx="4"/>
          </p:cNvCxnSpPr>
          <p:nvPr/>
        </p:nvCxnSpPr>
        <p:spPr>
          <a:xfrm rot="10800000">
            <a:off x="3018296" y="180571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" name="Google Shape;430;p39"/>
          <p:cNvCxnSpPr>
            <a:stCxn id="415" idx="0"/>
            <a:endCxn id="423" idx="3"/>
          </p:cNvCxnSpPr>
          <p:nvPr/>
        </p:nvCxnSpPr>
        <p:spPr>
          <a:xfrm flipH="1" rot="10800000">
            <a:off x="3060588" y="2642525"/>
            <a:ext cx="272400" cy="5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1" name="Google Shape;431;p39"/>
          <p:cNvSpPr/>
          <p:nvPr/>
        </p:nvSpPr>
        <p:spPr>
          <a:xfrm>
            <a:off x="4221188" y="2219075"/>
            <a:ext cx="755100" cy="5949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2" name="Google Shape;432;p39"/>
          <p:cNvCxnSpPr>
            <a:stCxn id="414" idx="3"/>
            <a:endCxn id="417" idx="0"/>
          </p:cNvCxnSpPr>
          <p:nvPr/>
        </p:nvCxnSpPr>
        <p:spPr>
          <a:xfrm flipH="1">
            <a:off x="797671" y="1535415"/>
            <a:ext cx="288000" cy="61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" name="Google Shape;433;p39"/>
          <p:cNvCxnSpPr>
            <a:stCxn id="425" idx="2"/>
            <a:endCxn id="414" idx="6"/>
          </p:cNvCxnSpPr>
          <p:nvPr/>
        </p:nvCxnSpPr>
        <p:spPr>
          <a:xfrm flipH="1">
            <a:off x="1332213" y="1282363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39"/>
          <p:cNvCxnSpPr>
            <a:stCxn id="425" idx="3"/>
            <a:endCxn id="417" idx="7"/>
          </p:cNvCxnSpPr>
          <p:nvPr/>
        </p:nvCxnSpPr>
        <p:spPr>
          <a:xfrm flipH="1">
            <a:off x="899921" y="1377928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" name="Google Shape;435;p39"/>
          <p:cNvSpPr/>
          <p:nvPr/>
        </p:nvSpPr>
        <p:spPr>
          <a:xfrm>
            <a:off x="6813938" y="228807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436" name="Google Shape;436;p39"/>
          <p:cNvSpPr/>
          <p:nvPr/>
        </p:nvSpPr>
        <p:spPr>
          <a:xfrm>
            <a:off x="6254663" y="14398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437" name="Google Shape;437;p39"/>
          <p:cNvSpPr/>
          <p:nvPr/>
        </p:nvSpPr>
        <p:spPr>
          <a:xfrm>
            <a:off x="8127438" y="3372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438" name="Google Shape;438;p39"/>
          <p:cNvCxnSpPr>
            <a:stCxn id="437" idx="1"/>
            <a:endCxn id="435" idx="5"/>
          </p:cNvCxnSpPr>
          <p:nvPr/>
        </p:nvCxnSpPr>
        <p:spPr>
          <a:xfrm rot="10800000">
            <a:off x="7458446" y="290876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9" name="Google Shape;439;p39"/>
          <p:cNvSpPr/>
          <p:nvPr/>
        </p:nvSpPr>
        <p:spPr>
          <a:xfrm>
            <a:off x="5864488" y="22879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440" name="Google Shape;440;p39"/>
          <p:cNvSpPr/>
          <p:nvPr/>
        </p:nvSpPr>
        <p:spPr>
          <a:xfrm>
            <a:off x="6814063" y="38618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441" name="Google Shape;441;p39"/>
          <p:cNvCxnSpPr>
            <a:stCxn id="442" idx="2"/>
            <a:endCxn id="435" idx="7"/>
          </p:cNvCxnSpPr>
          <p:nvPr/>
        </p:nvCxnSpPr>
        <p:spPr>
          <a:xfrm flipH="1">
            <a:off x="7458438" y="1805725"/>
            <a:ext cx="626700" cy="588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2" name="Google Shape;442;p39"/>
          <p:cNvSpPr/>
          <p:nvPr/>
        </p:nvSpPr>
        <p:spPr>
          <a:xfrm>
            <a:off x="8085138" y="1670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443" name="Google Shape;443;p39"/>
          <p:cNvSpPr/>
          <p:nvPr/>
        </p:nvSpPr>
        <p:spPr>
          <a:xfrm>
            <a:off x="6009988" y="32737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cxnSp>
        <p:nvCxnSpPr>
          <p:cNvPr id="444" name="Google Shape;444;p39"/>
          <p:cNvCxnSpPr>
            <a:stCxn id="435" idx="2"/>
            <a:endCxn id="439" idx="6"/>
          </p:cNvCxnSpPr>
          <p:nvPr/>
        </p:nvCxnSpPr>
        <p:spPr>
          <a:xfrm rot="10800000">
            <a:off x="6153338" y="2423075"/>
            <a:ext cx="660600" cy="22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5" name="Google Shape;445;p39"/>
          <p:cNvSpPr/>
          <p:nvPr/>
        </p:nvSpPr>
        <p:spPr>
          <a:xfrm>
            <a:off x="8501988" y="25468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446" name="Google Shape;446;p39"/>
          <p:cNvCxnSpPr>
            <a:stCxn id="445" idx="2"/>
            <a:endCxn id="435" idx="6"/>
          </p:cNvCxnSpPr>
          <p:nvPr/>
        </p:nvCxnSpPr>
        <p:spPr>
          <a:xfrm rot="10800000">
            <a:off x="7568988" y="265172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7" name="Google Shape;447;p39"/>
          <p:cNvSpPr/>
          <p:nvPr/>
        </p:nvSpPr>
        <p:spPr>
          <a:xfrm>
            <a:off x="7018113" y="128236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448" name="Google Shape;448;p39"/>
          <p:cNvCxnSpPr>
            <a:stCxn id="447" idx="4"/>
            <a:endCxn id="435" idx="0"/>
          </p:cNvCxnSpPr>
          <p:nvPr/>
        </p:nvCxnSpPr>
        <p:spPr>
          <a:xfrm>
            <a:off x="7162563" y="155266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39"/>
          <p:cNvCxnSpPr>
            <a:stCxn id="437" idx="0"/>
            <a:endCxn id="442" idx="4"/>
          </p:cNvCxnSpPr>
          <p:nvPr/>
        </p:nvCxnSpPr>
        <p:spPr>
          <a:xfrm rot="10800000">
            <a:off x="8229588" y="194097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" name="Google Shape;450;p39"/>
          <p:cNvCxnSpPr>
            <a:stCxn id="445" idx="1"/>
            <a:endCxn id="442" idx="4"/>
          </p:cNvCxnSpPr>
          <p:nvPr/>
        </p:nvCxnSpPr>
        <p:spPr>
          <a:xfrm rot="10800000">
            <a:off x="8229596" y="194086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39"/>
          <p:cNvCxnSpPr>
            <a:stCxn id="447" idx="2"/>
            <a:endCxn id="436" idx="6"/>
          </p:cNvCxnSpPr>
          <p:nvPr/>
        </p:nvCxnSpPr>
        <p:spPr>
          <a:xfrm flipH="1">
            <a:off x="6543513" y="1417513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39"/>
          <p:cNvCxnSpPr>
            <a:stCxn id="447" idx="3"/>
            <a:endCxn id="439" idx="7"/>
          </p:cNvCxnSpPr>
          <p:nvPr/>
        </p:nvCxnSpPr>
        <p:spPr>
          <a:xfrm flipH="1">
            <a:off x="6111221" y="1513078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3" name="Google Shape;453;p39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happen over time? Tie regeneration</a:t>
            </a:r>
            <a:endParaRPr/>
          </a:p>
        </p:txBody>
      </p:sp>
      <p:cxnSp>
        <p:nvCxnSpPr>
          <p:cNvPr id="454" name="Google Shape;454;p39"/>
          <p:cNvCxnSpPr>
            <a:stCxn id="440" idx="1"/>
            <a:endCxn id="443" idx="5"/>
          </p:cNvCxnSpPr>
          <p:nvPr/>
        </p:nvCxnSpPr>
        <p:spPr>
          <a:xfrm rot="10800000">
            <a:off x="6256671" y="3504485"/>
            <a:ext cx="599700" cy="39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39"/>
          <p:cNvCxnSpPr>
            <a:stCxn id="443" idx="6"/>
            <a:endCxn id="437" idx="2"/>
          </p:cNvCxnSpPr>
          <p:nvPr/>
        </p:nvCxnSpPr>
        <p:spPr>
          <a:xfrm>
            <a:off x="6298888" y="3408925"/>
            <a:ext cx="1828500" cy="98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39"/>
          <p:cNvCxnSpPr>
            <a:stCxn id="440" idx="0"/>
            <a:endCxn id="437" idx="2"/>
          </p:cNvCxnSpPr>
          <p:nvPr/>
        </p:nvCxnSpPr>
        <p:spPr>
          <a:xfrm flipH="1" rot="10800000">
            <a:off x="6958513" y="3507800"/>
            <a:ext cx="1168800" cy="354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" name="Google Shape;457;p39"/>
          <p:cNvCxnSpPr>
            <a:stCxn id="443" idx="7"/>
            <a:endCxn id="435" idx="3"/>
          </p:cNvCxnSpPr>
          <p:nvPr/>
        </p:nvCxnSpPr>
        <p:spPr>
          <a:xfrm flipH="1" rot="10800000">
            <a:off x="6256579" y="2908660"/>
            <a:ext cx="667800" cy="4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" name="Google Shape;458;p39"/>
          <p:cNvCxnSpPr>
            <a:stCxn id="440" idx="0"/>
            <a:endCxn id="435" idx="4"/>
          </p:cNvCxnSpPr>
          <p:nvPr/>
        </p:nvCxnSpPr>
        <p:spPr>
          <a:xfrm flipH="1" rot="10800000">
            <a:off x="6958513" y="3015200"/>
            <a:ext cx="233100" cy="84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0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Ego-Networks from Structure to Change</a:t>
            </a:r>
            <a:endParaRPr/>
          </a:p>
        </p:txBody>
      </p:sp>
      <p:sp>
        <p:nvSpPr>
          <p:cNvPr id="464" name="Google Shape;464;p40"/>
          <p:cNvSpPr/>
          <p:nvPr/>
        </p:nvSpPr>
        <p:spPr>
          <a:xfrm>
            <a:off x="1602638" y="215292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465" name="Google Shape;465;p40"/>
          <p:cNvSpPr/>
          <p:nvPr/>
        </p:nvSpPr>
        <p:spPr>
          <a:xfrm>
            <a:off x="1043363" y="13047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466" name="Google Shape;466;p40"/>
          <p:cNvSpPr/>
          <p:nvPr/>
        </p:nvSpPr>
        <p:spPr>
          <a:xfrm>
            <a:off x="2916138" y="3237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467" name="Google Shape;467;p40"/>
          <p:cNvCxnSpPr>
            <a:stCxn id="466" idx="1"/>
            <a:endCxn id="464" idx="5"/>
          </p:cNvCxnSpPr>
          <p:nvPr/>
        </p:nvCxnSpPr>
        <p:spPr>
          <a:xfrm rot="10800000">
            <a:off x="2247146" y="277361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" name="Google Shape;468;p40"/>
          <p:cNvSpPr/>
          <p:nvPr/>
        </p:nvSpPr>
        <p:spPr>
          <a:xfrm>
            <a:off x="653188" y="21528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469" name="Google Shape;469;p40"/>
          <p:cNvSpPr/>
          <p:nvPr/>
        </p:nvSpPr>
        <p:spPr>
          <a:xfrm>
            <a:off x="1602763" y="37266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470" name="Google Shape;470;p40"/>
          <p:cNvCxnSpPr>
            <a:stCxn id="469" idx="0"/>
            <a:endCxn id="464" idx="4"/>
          </p:cNvCxnSpPr>
          <p:nvPr/>
        </p:nvCxnSpPr>
        <p:spPr>
          <a:xfrm flipH="1" rot="10800000">
            <a:off x="1747213" y="2880050"/>
            <a:ext cx="233100" cy="84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1" name="Google Shape;471;p40"/>
          <p:cNvSpPr/>
          <p:nvPr/>
        </p:nvSpPr>
        <p:spPr>
          <a:xfrm>
            <a:off x="2873838" y="1535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472" name="Google Shape;472;p40"/>
          <p:cNvSpPr/>
          <p:nvPr/>
        </p:nvSpPr>
        <p:spPr>
          <a:xfrm>
            <a:off x="798688" y="31386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cxnSp>
        <p:nvCxnSpPr>
          <p:cNvPr id="473" name="Google Shape;473;p40"/>
          <p:cNvCxnSpPr>
            <a:stCxn id="472" idx="7"/>
            <a:endCxn id="464" idx="3"/>
          </p:cNvCxnSpPr>
          <p:nvPr/>
        </p:nvCxnSpPr>
        <p:spPr>
          <a:xfrm flipH="1" rot="10800000">
            <a:off x="1045279" y="2773510"/>
            <a:ext cx="667800" cy="4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4" name="Google Shape;474;p40"/>
          <p:cNvSpPr/>
          <p:nvPr/>
        </p:nvSpPr>
        <p:spPr>
          <a:xfrm>
            <a:off x="3290688" y="24117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475" name="Google Shape;475;p40"/>
          <p:cNvCxnSpPr>
            <a:stCxn id="474" idx="2"/>
            <a:endCxn id="464" idx="6"/>
          </p:cNvCxnSpPr>
          <p:nvPr/>
        </p:nvCxnSpPr>
        <p:spPr>
          <a:xfrm rot="10800000">
            <a:off x="2357688" y="251657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6" name="Google Shape;476;p40"/>
          <p:cNvSpPr/>
          <p:nvPr/>
        </p:nvSpPr>
        <p:spPr>
          <a:xfrm>
            <a:off x="1806813" y="114721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477" name="Google Shape;477;p40"/>
          <p:cNvCxnSpPr>
            <a:stCxn id="476" idx="4"/>
            <a:endCxn id="464" idx="0"/>
          </p:cNvCxnSpPr>
          <p:nvPr/>
        </p:nvCxnSpPr>
        <p:spPr>
          <a:xfrm>
            <a:off x="1951263" y="141751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40"/>
          <p:cNvCxnSpPr>
            <a:stCxn id="466" idx="0"/>
            <a:endCxn id="471" idx="4"/>
          </p:cNvCxnSpPr>
          <p:nvPr/>
        </p:nvCxnSpPr>
        <p:spPr>
          <a:xfrm rot="10800000">
            <a:off x="3018288" y="180582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40"/>
          <p:cNvCxnSpPr>
            <a:stCxn id="471" idx="2"/>
            <a:endCxn id="476" idx="5"/>
          </p:cNvCxnSpPr>
          <p:nvPr/>
        </p:nvCxnSpPr>
        <p:spPr>
          <a:xfrm rot="10800000">
            <a:off x="2053338" y="1378075"/>
            <a:ext cx="820500" cy="29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40"/>
          <p:cNvCxnSpPr>
            <a:stCxn id="474" idx="1"/>
            <a:endCxn id="471" idx="4"/>
          </p:cNvCxnSpPr>
          <p:nvPr/>
        </p:nvCxnSpPr>
        <p:spPr>
          <a:xfrm rot="10800000">
            <a:off x="3018296" y="180571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40"/>
          <p:cNvCxnSpPr>
            <a:stCxn id="466" idx="0"/>
            <a:endCxn id="474" idx="3"/>
          </p:cNvCxnSpPr>
          <p:nvPr/>
        </p:nvCxnSpPr>
        <p:spPr>
          <a:xfrm flipH="1" rot="10800000">
            <a:off x="3060588" y="2642525"/>
            <a:ext cx="272400" cy="5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40"/>
          <p:cNvSpPr/>
          <p:nvPr/>
        </p:nvSpPr>
        <p:spPr>
          <a:xfrm>
            <a:off x="4221188" y="2219075"/>
            <a:ext cx="755100" cy="5949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3" name="Google Shape;483;p40"/>
          <p:cNvCxnSpPr>
            <a:stCxn id="465" idx="3"/>
            <a:endCxn id="468" idx="0"/>
          </p:cNvCxnSpPr>
          <p:nvPr/>
        </p:nvCxnSpPr>
        <p:spPr>
          <a:xfrm flipH="1">
            <a:off x="797671" y="1535415"/>
            <a:ext cx="288000" cy="61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40"/>
          <p:cNvCxnSpPr>
            <a:stCxn id="476" idx="2"/>
            <a:endCxn id="465" idx="6"/>
          </p:cNvCxnSpPr>
          <p:nvPr/>
        </p:nvCxnSpPr>
        <p:spPr>
          <a:xfrm flipH="1">
            <a:off x="1332213" y="1282363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40"/>
          <p:cNvCxnSpPr>
            <a:stCxn id="476" idx="3"/>
            <a:endCxn id="468" idx="7"/>
          </p:cNvCxnSpPr>
          <p:nvPr/>
        </p:nvCxnSpPr>
        <p:spPr>
          <a:xfrm flipH="1">
            <a:off x="899921" y="1377928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6" name="Google Shape;486;p40"/>
          <p:cNvSpPr/>
          <p:nvPr/>
        </p:nvSpPr>
        <p:spPr>
          <a:xfrm>
            <a:off x="6813938" y="228807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487" name="Google Shape;487;p40"/>
          <p:cNvSpPr/>
          <p:nvPr/>
        </p:nvSpPr>
        <p:spPr>
          <a:xfrm>
            <a:off x="8127438" y="3372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488" name="Google Shape;488;p40"/>
          <p:cNvCxnSpPr>
            <a:stCxn id="487" idx="1"/>
            <a:endCxn id="486" idx="5"/>
          </p:cNvCxnSpPr>
          <p:nvPr/>
        </p:nvCxnSpPr>
        <p:spPr>
          <a:xfrm rot="10800000">
            <a:off x="7458446" y="290876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9" name="Google Shape;489;p40"/>
          <p:cNvSpPr/>
          <p:nvPr/>
        </p:nvSpPr>
        <p:spPr>
          <a:xfrm>
            <a:off x="6814063" y="38618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490" name="Google Shape;490;p40"/>
          <p:cNvCxnSpPr>
            <a:stCxn id="491" idx="2"/>
            <a:endCxn id="486" idx="7"/>
          </p:cNvCxnSpPr>
          <p:nvPr/>
        </p:nvCxnSpPr>
        <p:spPr>
          <a:xfrm flipH="1">
            <a:off x="7458438" y="1805725"/>
            <a:ext cx="626700" cy="588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1" name="Google Shape;491;p40"/>
          <p:cNvSpPr/>
          <p:nvPr/>
        </p:nvSpPr>
        <p:spPr>
          <a:xfrm>
            <a:off x="8085138" y="1670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492" name="Google Shape;492;p40"/>
          <p:cNvSpPr/>
          <p:nvPr/>
        </p:nvSpPr>
        <p:spPr>
          <a:xfrm>
            <a:off x="6009988" y="32737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sp>
        <p:nvSpPr>
          <p:cNvPr id="493" name="Google Shape;493;p40"/>
          <p:cNvSpPr/>
          <p:nvPr/>
        </p:nvSpPr>
        <p:spPr>
          <a:xfrm>
            <a:off x="8501988" y="25468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494" name="Google Shape;494;p40"/>
          <p:cNvCxnSpPr>
            <a:stCxn id="493" idx="2"/>
            <a:endCxn id="486" idx="6"/>
          </p:cNvCxnSpPr>
          <p:nvPr/>
        </p:nvCxnSpPr>
        <p:spPr>
          <a:xfrm rot="10800000">
            <a:off x="7568988" y="265172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5" name="Google Shape;495;p40"/>
          <p:cNvCxnSpPr>
            <a:stCxn id="487" idx="0"/>
            <a:endCxn id="491" idx="4"/>
          </p:cNvCxnSpPr>
          <p:nvPr/>
        </p:nvCxnSpPr>
        <p:spPr>
          <a:xfrm rot="10800000">
            <a:off x="8229588" y="194097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" name="Google Shape;496;p40"/>
          <p:cNvCxnSpPr>
            <a:stCxn id="493" idx="1"/>
            <a:endCxn id="491" idx="4"/>
          </p:cNvCxnSpPr>
          <p:nvPr/>
        </p:nvCxnSpPr>
        <p:spPr>
          <a:xfrm rot="10800000">
            <a:off x="8229596" y="194086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7" name="Google Shape;497;p4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happen over time? </a:t>
            </a:r>
            <a:r>
              <a:rPr lang="en"/>
              <a:t>Turnover</a:t>
            </a:r>
            <a:endParaRPr/>
          </a:p>
        </p:txBody>
      </p:sp>
      <p:cxnSp>
        <p:nvCxnSpPr>
          <p:cNvPr id="498" name="Google Shape;498;p40"/>
          <p:cNvCxnSpPr>
            <a:stCxn id="489" idx="1"/>
            <a:endCxn id="492" idx="5"/>
          </p:cNvCxnSpPr>
          <p:nvPr/>
        </p:nvCxnSpPr>
        <p:spPr>
          <a:xfrm rot="10800000">
            <a:off x="6256671" y="3504485"/>
            <a:ext cx="599700" cy="39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40"/>
          <p:cNvCxnSpPr>
            <a:stCxn id="492" idx="6"/>
            <a:endCxn id="487" idx="2"/>
          </p:cNvCxnSpPr>
          <p:nvPr/>
        </p:nvCxnSpPr>
        <p:spPr>
          <a:xfrm>
            <a:off x="6298888" y="3408925"/>
            <a:ext cx="1828500" cy="98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0" name="Google Shape;500;p40"/>
          <p:cNvCxnSpPr>
            <a:stCxn id="489" idx="0"/>
            <a:endCxn id="487" idx="2"/>
          </p:cNvCxnSpPr>
          <p:nvPr/>
        </p:nvCxnSpPr>
        <p:spPr>
          <a:xfrm flipH="1" rot="10800000">
            <a:off x="6958513" y="3507800"/>
            <a:ext cx="1168800" cy="354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" name="Google Shape;501;p40"/>
          <p:cNvCxnSpPr>
            <a:stCxn id="492" idx="7"/>
            <a:endCxn id="486" idx="3"/>
          </p:cNvCxnSpPr>
          <p:nvPr/>
        </p:nvCxnSpPr>
        <p:spPr>
          <a:xfrm flipH="1" rot="10800000">
            <a:off x="6256579" y="2908660"/>
            <a:ext cx="667800" cy="4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" name="Google Shape;502;p40"/>
          <p:cNvCxnSpPr>
            <a:stCxn id="489" idx="0"/>
            <a:endCxn id="486" idx="4"/>
          </p:cNvCxnSpPr>
          <p:nvPr/>
        </p:nvCxnSpPr>
        <p:spPr>
          <a:xfrm flipH="1" rot="10800000">
            <a:off x="6958513" y="3015200"/>
            <a:ext cx="233100" cy="84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1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Ego-Networks from Structure to Change</a:t>
            </a:r>
            <a:endParaRPr/>
          </a:p>
        </p:txBody>
      </p:sp>
      <p:sp>
        <p:nvSpPr>
          <p:cNvPr id="508" name="Google Shape;508;p41"/>
          <p:cNvSpPr/>
          <p:nvPr/>
        </p:nvSpPr>
        <p:spPr>
          <a:xfrm>
            <a:off x="1602638" y="215292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509" name="Google Shape;509;p41"/>
          <p:cNvSpPr/>
          <p:nvPr/>
        </p:nvSpPr>
        <p:spPr>
          <a:xfrm>
            <a:off x="1043363" y="13047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510" name="Google Shape;510;p41"/>
          <p:cNvSpPr/>
          <p:nvPr/>
        </p:nvSpPr>
        <p:spPr>
          <a:xfrm>
            <a:off x="2916138" y="3237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511" name="Google Shape;511;p41"/>
          <p:cNvCxnSpPr>
            <a:stCxn id="510" idx="1"/>
            <a:endCxn id="508" idx="5"/>
          </p:cNvCxnSpPr>
          <p:nvPr/>
        </p:nvCxnSpPr>
        <p:spPr>
          <a:xfrm rot="10800000">
            <a:off x="2247146" y="277361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2" name="Google Shape;512;p41"/>
          <p:cNvSpPr/>
          <p:nvPr/>
        </p:nvSpPr>
        <p:spPr>
          <a:xfrm>
            <a:off x="653188" y="21528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513" name="Google Shape;513;p41"/>
          <p:cNvSpPr/>
          <p:nvPr/>
        </p:nvSpPr>
        <p:spPr>
          <a:xfrm>
            <a:off x="1602763" y="37266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514" name="Google Shape;514;p41"/>
          <p:cNvCxnSpPr>
            <a:stCxn id="513" idx="0"/>
            <a:endCxn id="508" idx="4"/>
          </p:cNvCxnSpPr>
          <p:nvPr/>
        </p:nvCxnSpPr>
        <p:spPr>
          <a:xfrm flipH="1" rot="10800000">
            <a:off x="1747213" y="2880050"/>
            <a:ext cx="233100" cy="84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5" name="Google Shape;515;p41"/>
          <p:cNvSpPr/>
          <p:nvPr/>
        </p:nvSpPr>
        <p:spPr>
          <a:xfrm>
            <a:off x="2873838" y="1535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516" name="Google Shape;516;p41"/>
          <p:cNvSpPr/>
          <p:nvPr/>
        </p:nvSpPr>
        <p:spPr>
          <a:xfrm>
            <a:off x="798688" y="31386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cxnSp>
        <p:nvCxnSpPr>
          <p:cNvPr id="517" name="Google Shape;517;p41"/>
          <p:cNvCxnSpPr>
            <a:stCxn id="516" idx="7"/>
            <a:endCxn id="508" idx="3"/>
          </p:cNvCxnSpPr>
          <p:nvPr/>
        </p:nvCxnSpPr>
        <p:spPr>
          <a:xfrm flipH="1" rot="10800000">
            <a:off x="1045279" y="2773510"/>
            <a:ext cx="667800" cy="4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8" name="Google Shape;518;p41"/>
          <p:cNvSpPr/>
          <p:nvPr/>
        </p:nvSpPr>
        <p:spPr>
          <a:xfrm>
            <a:off x="3290688" y="24117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519" name="Google Shape;519;p41"/>
          <p:cNvCxnSpPr>
            <a:stCxn id="518" idx="2"/>
            <a:endCxn id="508" idx="6"/>
          </p:cNvCxnSpPr>
          <p:nvPr/>
        </p:nvCxnSpPr>
        <p:spPr>
          <a:xfrm rot="10800000">
            <a:off x="2357688" y="251657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" name="Google Shape;520;p41"/>
          <p:cNvSpPr/>
          <p:nvPr/>
        </p:nvSpPr>
        <p:spPr>
          <a:xfrm>
            <a:off x="1806813" y="114721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521" name="Google Shape;521;p41"/>
          <p:cNvCxnSpPr>
            <a:stCxn id="520" idx="4"/>
            <a:endCxn id="508" idx="0"/>
          </p:cNvCxnSpPr>
          <p:nvPr/>
        </p:nvCxnSpPr>
        <p:spPr>
          <a:xfrm>
            <a:off x="1951263" y="141751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" name="Google Shape;522;p41"/>
          <p:cNvCxnSpPr>
            <a:stCxn id="510" idx="0"/>
            <a:endCxn id="515" idx="4"/>
          </p:cNvCxnSpPr>
          <p:nvPr/>
        </p:nvCxnSpPr>
        <p:spPr>
          <a:xfrm rot="10800000">
            <a:off x="3018288" y="180582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" name="Google Shape;523;p41"/>
          <p:cNvCxnSpPr>
            <a:stCxn id="515" idx="2"/>
            <a:endCxn id="520" idx="5"/>
          </p:cNvCxnSpPr>
          <p:nvPr/>
        </p:nvCxnSpPr>
        <p:spPr>
          <a:xfrm rot="10800000">
            <a:off x="2053338" y="1378075"/>
            <a:ext cx="820500" cy="29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" name="Google Shape;524;p41"/>
          <p:cNvCxnSpPr>
            <a:stCxn id="518" idx="1"/>
            <a:endCxn id="515" idx="4"/>
          </p:cNvCxnSpPr>
          <p:nvPr/>
        </p:nvCxnSpPr>
        <p:spPr>
          <a:xfrm rot="10800000">
            <a:off x="3018296" y="180571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41"/>
          <p:cNvCxnSpPr>
            <a:stCxn id="510" idx="0"/>
            <a:endCxn id="518" idx="3"/>
          </p:cNvCxnSpPr>
          <p:nvPr/>
        </p:nvCxnSpPr>
        <p:spPr>
          <a:xfrm flipH="1" rot="10800000">
            <a:off x="3060588" y="2642525"/>
            <a:ext cx="272400" cy="5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6" name="Google Shape;526;p41"/>
          <p:cNvSpPr/>
          <p:nvPr/>
        </p:nvSpPr>
        <p:spPr>
          <a:xfrm>
            <a:off x="4221188" y="2219075"/>
            <a:ext cx="755100" cy="5949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7" name="Google Shape;527;p41"/>
          <p:cNvCxnSpPr>
            <a:stCxn id="509" idx="3"/>
            <a:endCxn id="512" idx="0"/>
          </p:cNvCxnSpPr>
          <p:nvPr/>
        </p:nvCxnSpPr>
        <p:spPr>
          <a:xfrm flipH="1">
            <a:off x="797671" y="1535415"/>
            <a:ext cx="288000" cy="61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41"/>
          <p:cNvCxnSpPr>
            <a:stCxn id="520" idx="2"/>
            <a:endCxn id="509" idx="6"/>
          </p:cNvCxnSpPr>
          <p:nvPr/>
        </p:nvCxnSpPr>
        <p:spPr>
          <a:xfrm flipH="1">
            <a:off x="1332213" y="1282363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9" name="Google Shape;529;p41"/>
          <p:cNvCxnSpPr>
            <a:stCxn id="520" idx="3"/>
            <a:endCxn id="512" idx="7"/>
          </p:cNvCxnSpPr>
          <p:nvPr/>
        </p:nvCxnSpPr>
        <p:spPr>
          <a:xfrm flipH="1">
            <a:off x="899921" y="1377928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0" name="Google Shape;530;p41"/>
          <p:cNvSpPr/>
          <p:nvPr/>
        </p:nvSpPr>
        <p:spPr>
          <a:xfrm>
            <a:off x="6813938" y="228807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531" name="Google Shape;531;p41"/>
          <p:cNvSpPr/>
          <p:nvPr/>
        </p:nvSpPr>
        <p:spPr>
          <a:xfrm>
            <a:off x="6254663" y="14398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endParaRPr/>
          </a:p>
        </p:txBody>
      </p:sp>
      <p:sp>
        <p:nvSpPr>
          <p:cNvPr id="532" name="Google Shape;532;p41"/>
          <p:cNvSpPr/>
          <p:nvPr/>
        </p:nvSpPr>
        <p:spPr>
          <a:xfrm>
            <a:off x="8127438" y="3372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533" name="Google Shape;533;p41"/>
          <p:cNvCxnSpPr>
            <a:stCxn id="532" idx="1"/>
            <a:endCxn id="530" idx="5"/>
          </p:cNvCxnSpPr>
          <p:nvPr/>
        </p:nvCxnSpPr>
        <p:spPr>
          <a:xfrm rot="10800000">
            <a:off x="7458446" y="290876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4" name="Google Shape;534;p41"/>
          <p:cNvSpPr/>
          <p:nvPr/>
        </p:nvSpPr>
        <p:spPr>
          <a:xfrm>
            <a:off x="5864488" y="22879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endParaRPr/>
          </a:p>
        </p:txBody>
      </p:sp>
      <p:sp>
        <p:nvSpPr>
          <p:cNvPr id="535" name="Google Shape;535;p41"/>
          <p:cNvSpPr/>
          <p:nvPr/>
        </p:nvSpPr>
        <p:spPr>
          <a:xfrm>
            <a:off x="6814063" y="38618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536" name="Google Shape;536;p41"/>
          <p:cNvCxnSpPr>
            <a:stCxn id="537" idx="2"/>
            <a:endCxn id="530" idx="7"/>
          </p:cNvCxnSpPr>
          <p:nvPr/>
        </p:nvCxnSpPr>
        <p:spPr>
          <a:xfrm flipH="1">
            <a:off x="7458438" y="1805725"/>
            <a:ext cx="626700" cy="588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" name="Google Shape;537;p41"/>
          <p:cNvSpPr/>
          <p:nvPr/>
        </p:nvSpPr>
        <p:spPr>
          <a:xfrm>
            <a:off x="8085138" y="1670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538" name="Google Shape;538;p41"/>
          <p:cNvSpPr/>
          <p:nvPr/>
        </p:nvSpPr>
        <p:spPr>
          <a:xfrm>
            <a:off x="6009988" y="32737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sp>
        <p:nvSpPr>
          <p:cNvPr id="539" name="Google Shape;539;p41"/>
          <p:cNvSpPr/>
          <p:nvPr/>
        </p:nvSpPr>
        <p:spPr>
          <a:xfrm>
            <a:off x="8501988" y="25468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540" name="Google Shape;540;p41"/>
          <p:cNvCxnSpPr>
            <a:stCxn id="539" idx="2"/>
            <a:endCxn id="530" idx="6"/>
          </p:cNvCxnSpPr>
          <p:nvPr/>
        </p:nvCxnSpPr>
        <p:spPr>
          <a:xfrm rot="10800000">
            <a:off x="7568988" y="265172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1" name="Google Shape;541;p41"/>
          <p:cNvSpPr/>
          <p:nvPr/>
        </p:nvSpPr>
        <p:spPr>
          <a:xfrm>
            <a:off x="7018113" y="128236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cxnSp>
        <p:nvCxnSpPr>
          <p:cNvPr id="542" name="Google Shape;542;p41"/>
          <p:cNvCxnSpPr>
            <a:stCxn id="532" idx="0"/>
            <a:endCxn id="537" idx="4"/>
          </p:cNvCxnSpPr>
          <p:nvPr/>
        </p:nvCxnSpPr>
        <p:spPr>
          <a:xfrm rot="10800000">
            <a:off x="8229588" y="194097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" name="Google Shape;543;p41"/>
          <p:cNvCxnSpPr>
            <a:stCxn id="539" idx="1"/>
            <a:endCxn id="537" idx="4"/>
          </p:cNvCxnSpPr>
          <p:nvPr/>
        </p:nvCxnSpPr>
        <p:spPr>
          <a:xfrm rot="10800000">
            <a:off x="8229596" y="194086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4" name="Google Shape;544;p41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happen over time? Connection to new alters</a:t>
            </a:r>
            <a:endParaRPr/>
          </a:p>
        </p:txBody>
      </p:sp>
      <p:cxnSp>
        <p:nvCxnSpPr>
          <p:cNvPr id="545" name="Google Shape;545;p41"/>
          <p:cNvCxnSpPr>
            <a:stCxn id="535" idx="1"/>
            <a:endCxn id="538" idx="5"/>
          </p:cNvCxnSpPr>
          <p:nvPr/>
        </p:nvCxnSpPr>
        <p:spPr>
          <a:xfrm rot="10800000">
            <a:off x="6256671" y="3504485"/>
            <a:ext cx="599700" cy="39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41"/>
          <p:cNvCxnSpPr>
            <a:stCxn id="538" idx="6"/>
            <a:endCxn id="532" idx="2"/>
          </p:cNvCxnSpPr>
          <p:nvPr/>
        </p:nvCxnSpPr>
        <p:spPr>
          <a:xfrm>
            <a:off x="6298888" y="3408925"/>
            <a:ext cx="1828500" cy="98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41"/>
          <p:cNvCxnSpPr>
            <a:stCxn id="535" idx="0"/>
            <a:endCxn id="532" idx="2"/>
          </p:cNvCxnSpPr>
          <p:nvPr/>
        </p:nvCxnSpPr>
        <p:spPr>
          <a:xfrm flipH="1" rot="10800000">
            <a:off x="6958513" y="3507800"/>
            <a:ext cx="1168800" cy="354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" name="Google Shape;548;p41"/>
          <p:cNvCxnSpPr>
            <a:stCxn id="538" idx="7"/>
            <a:endCxn id="530" idx="3"/>
          </p:cNvCxnSpPr>
          <p:nvPr/>
        </p:nvCxnSpPr>
        <p:spPr>
          <a:xfrm flipH="1" rot="10800000">
            <a:off x="6256579" y="2908660"/>
            <a:ext cx="667800" cy="4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9" name="Google Shape;549;p41"/>
          <p:cNvCxnSpPr>
            <a:stCxn id="535" idx="0"/>
            <a:endCxn id="530" idx="4"/>
          </p:cNvCxnSpPr>
          <p:nvPr/>
        </p:nvCxnSpPr>
        <p:spPr>
          <a:xfrm flipH="1" rot="10800000">
            <a:off x="6958513" y="3015200"/>
            <a:ext cx="233100" cy="84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41"/>
          <p:cNvCxnSpPr>
            <a:stCxn id="534" idx="6"/>
            <a:endCxn id="530" idx="2"/>
          </p:cNvCxnSpPr>
          <p:nvPr/>
        </p:nvCxnSpPr>
        <p:spPr>
          <a:xfrm>
            <a:off x="6153388" y="2423125"/>
            <a:ext cx="660600" cy="22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41"/>
          <p:cNvCxnSpPr>
            <a:stCxn id="531" idx="5"/>
            <a:endCxn id="530" idx="1"/>
          </p:cNvCxnSpPr>
          <p:nvPr/>
        </p:nvCxnSpPr>
        <p:spPr>
          <a:xfrm>
            <a:off x="6501254" y="1670565"/>
            <a:ext cx="423300" cy="72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41"/>
          <p:cNvCxnSpPr>
            <a:stCxn id="541" idx="4"/>
            <a:endCxn id="530" idx="0"/>
          </p:cNvCxnSpPr>
          <p:nvPr/>
        </p:nvCxnSpPr>
        <p:spPr>
          <a:xfrm>
            <a:off x="7162563" y="155266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2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Ego-Networks from Structure to Change</a:t>
            </a:r>
            <a:endParaRPr/>
          </a:p>
        </p:txBody>
      </p:sp>
      <p:sp>
        <p:nvSpPr>
          <p:cNvPr id="558" name="Google Shape;558;p42"/>
          <p:cNvSpPr/>
          <p:nvPr/>
        </p:nvSpPr>
        <p:spPr>
          <a:xfrm>
            <a:off x="1602638" y="215292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559" name="Google Shape;559;p42"/>
          <p:cNvSpPr/>
          <p:nvPr/>
        </p:nvSpPr>
        <p:spPr>
          <a:xfrm>
            <a:off x="1043363" y="13047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560" name="Google Shape;560;p42"/>
          <p:cNvSpPr/>
          <p:nvPr/>
        </p:nvSpPr>
        <p:spPr>
          <a:xfrm>
            <a:off x="2916138" y="3237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561" name="Google Shape;561;p42"/>
          <p:cNvCxnSpPr>
            <a:stCxn id="560" idx="1"/>
            <a:endCxn id="558" idx="5"/>
          </p:cNvCxnSpPr>
          <p:nvPr/>
        </p:nvCxnSpPr>
        <p:spPr>
          <a:xfrm rot="10800000">
            <a:off x="2247146" y="277361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2" name="Google Shape;562;p42"/>
          <p:cNvSpPr/>
          <p:nvPr/>
        </p:nvSpPr>
        <p:spPr>
          <a:xfrm>
            <a:off x="653188" y="21528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563" name="Google Shape;563;p42"/>
          <p:cNvSpPr/>
          <p:nvPr/>
        </p:nvSpPr>
        <p:spPr>
          <a:xfrm>
            <a:off x="1602763" y="37266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564" name="Google Shape;564;p42"/>
          <p:cNvCxnSpPr>
            <a:stCxn id="563" idx="0"/>
            <a:endCxn id="558" idx="4"/>
          </p:cNvCxnSpPr>
          <p:nvPr/>
        </p:nvCxnSpPr>
        <p:spPr>
          <a:xfrm flipH="1" rot="10800000">
            <a:off x="1747213" y="2880050"/>
            <a:ext cx="233100" cy="84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5" name="Google Shape;565;p42"/>
          <p:cNvSpPr/>
          <p:nvPr/>
        </p:nvSpPr>
        <p:spPr>
          <a:xfrm>
            <a:off x="2873838" y="1535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566" name="Google Shape;566;p42"/>
          <p:cNvSpPr/>
          <p:nvPr/>
        </p:nvSpPr>
        <p:spPr>
          <a:xfrm>
            <a:off x="798688" y="31386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cxnSp>
        <p:nvCxnSpPr>
          <p:cNvPr id="567" name="Google Shape;567;p42"/>
          <p:cNvCxnSpPr>
            <a:stCxn id="566" idx="7"/>
            <a:endCxn id="558" idx="3"/>
          </p:cNvCxnSpPr>
          <p:nvPr/>
        </p:nvCxnSpPr>
        <p:spPr>
          <a:xfrm flipH="1" rot="10800000">
            <a:off x="1045279" y="2773510"/>
            <a:ext cx="667800" cy="4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8" name="Google Shape;568;p42"/>
          <p:cNvSpPr/>
          <p:nvPr/>
        </p:nvSpPr>
        <p:spPr>
          <a:xfrm>
            <a:off x="3290688" y="24117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569" name="Google Shape;569;p42"/>
          <p:cNvCxnSpPr>
            <a:stCxn id="568" idx="2"/>
            <a:endCxn id="558" idx="6"/>
          </p:cNvCxnSpPr>
          <p:nvPr/>
        </p:nvCxnSpPr>
        <p:spPr>
          <a:xfrm rot="10800000">
            <a:off x="2357688" y="251657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0" name="Google Shape;570;p42"/>
          <p:cNvSpPr/>
          <p:nvPr/>
        </p:nvSpPr>
        <p:spPr>
          <a:xfrm>
            <a:off x="1806813" y="114721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571" name="Google Shape;571;p42"/>
          <p:cNvCxnSpPr>
            <a:stCxn id="570" idx="4"/>
            <a:endCxn id="558" idx="0"/>
          </p:cNvCxnSpPr>
          <p:nvPr/>
        </p:nvCxnSpPr>
        <p:spPr>
          <a:xfrm>
            <a:off x="1951263" y="141751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" name="Google Shape;572;p42"/>
          <p:cNvCxnSpPr>
            <a:stCxn id="560" idx="0"/>
            <a:endCxn id="565" idx="4"/>
          </p:cNvCxnSpPr>
          <p:nvPr/>
        </p:nvCxnSpPr>
        <p:spPr>
          <a:xfrm rot="10800000">
            <a:off x="3018288" y="180582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" name="Google Shape;573;p42"/>
          <p:cNvCxnSpPr>
            <a:stCxn id="565" idx="2"/>
            <a:endCxn id="570" idx="5"/>
          </p:cNvCxnSpPr>
          <p:nvPr/>
        </p:nvCxnSpPr>
        <p:spPr>
          <a:xfrm rot="10800000">
            <a:off x="2053338" y="1378075"/>
            <a:ext cx="820500" cy="29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4" name="Google Shape;574;p42"/>
          <p:cNvCxnSpPr>
            <a:stCxn id="568" idx="1"/>
            <a:endCxn id="565" idx="4"/>
          </p:cNvCxnSpPr>
          <p:nvPr/>
        </p:nvCxnSpPr>
        <p:spPr>
          <a:xfrm rot="10800000">
            <a:off x="3018296" y="180571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42"/>
          <p:cNvCxnSpPr>
            <a:stCxn id="560" idx="0"/>
            <a:endCxn id="568" idx="3"/>
          </p:cNvCxnSpPr>
          <p:nvPr/>
        </p:nvCxnSpPr>
        <p:spPr>
          <a:xfrm flipH="1" rot="10800000">
            <a:off x="3060588" y="2642525"/>
            <a:ext cx="272400" cy="5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" name="Google Shape;576;p42"/>
          <p:cNvSpPr/>
          <p:nvPr/>
        </p:nvSpPr>
        <p:spPr>
          <a:xfrm>
            <a:off x="4221188" y="2219075"/>
            <a:ext cx="755100" cy="5949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7" name="Google Shape;577;p42"/>
          <p:cNvCxnSpPr>
            <a:stCxn id="559" idx="3"/>
            <a:endCxn id="562" idx="0"/>
          </p:cNvCxnSpPr>
          <p:nvPr/>
        </p:nvCxnSpPr>
        <p:spPr>
          <a:xfrm flipH="1">
            <a:off x="797671" y="1535415"/>
            <a:ext cx="288000" cy="61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" name="Google Shape;578;p42"/>
          <p:cNvCxnSpPr>
            <a:stCxn id="570" idx="2"/>
            <a:endCxn id="559" idx="6"/>
          </p:cNvCxnSpPr>
          <p:nvPr/>
        </p:nvCxnSpPr>
        <p:spPr>
          <a:xfrm flipH="1">
            <a:off x="1332213" y="1282363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42"/>
          <p:cNvCxnSpPr>
            <a:stCxn id="570" idx="3"/>
            <a:endCxn id="562" idx="7"/>
          </p:cNvCxnSpPr>
          <p:nvPr/>
        </p:nvCxnSpPr>
        <p:spPr>
          <a:xfrm flipH="1">
            <a:off x="899921" y="1377928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0" name="Google Shape;580;p42"/>
          <p:cNvSpPr/>
          <p:nvPr/>
        </p:nvSpPr>
        <p:spPr>
          <a:xfrm>
            <a:off x="6813938" y="228807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581" name="Google Shape;581;p42"/>
          <p:cNvSpPr/>
          <p:nvPr/>
        </p:nvSpPr>
        <p:spPr>
          <a:xfrm>
            <a:off x="6254663" y="14398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endParaRPr/>
          </a:p>
        </p:txBody>
      </p:sp>
      <p:sp>
        <p:nvSpPr>
          <p:cNvPr id="582" name="Google Shape;582;p42"/>
          <p:cNvSpPr/>
          <p:nvPr/>
        </p:nvSpPr>
        <p:spPr>
          <a:xfrm>
            <a:off x="8127438" y="3372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583" name="Google Shape;583;p42"/>
          <p:cNvCxnSpPr>
            <a:stCxn id="582" idx="1"/>
            <a:endCxn id="580" idx="5"/>
          </p:cNvCxnSpPr>
          <p:nvPr/>
        </p:nvCxnSpPr>
        <p:spPr>
          <a:xfrm rot="10800000">
            <a:off x="7458446" y="290876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4" name="Google Shape;584;p42"/>
          <p:cNvSpPr/>
          <p:nvPr/>
        </p:nvSpPr>
        <p:spPr>
          <a:xfrm>
            <a:off x="5864488" y="22879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endParaRPr/>
          </a:p>
        </p:txBody>
      </p:sp>
      <p:sp>
        <p:nvSpPr>
          <p:cNvPr id="585" name="Google Shape;585;p42"/>
          <p:cNvSpPr/>
          <p:nvPr/>
        </p:nvSpPr>
        <p:spPr>
          <a:xfrm>
            <a:off x="6814063" y="38618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586" name="Google Shape;586;p42"/>
          <p:cNvCxnSpPr>
            <a:stCxn id="587" idx="2"/>
            <a:endCxn id="580" idx="7"/>
          </p:cNvCxnSpPr>
          <p:nvPr/>
        </p:nvCxnSpPr>
        <p:spPr>
          <a:xfrm flipH="1">
            <a:off x="7458438" y="1805725"/>
            <a:ext cx="626700" cy="588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7" name="Google Shape;587;p42"/>
          <p:cNvSpPr/>
          <p:nvPr/>
        </p:nvSpPr>
        <p:spPr>
          <a:xfrm>
            <a:off x="8085138" y="1670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588" name="Google Shape;588;p42"/>
          <p:cNvSpPr/>
          <p:nvPr/>
        </p:nvSpPr>
        <p:spPr>
          <a:xfrm>
            <a:off x="6009988" y="32737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sp>
        <p:nvSpPr>
          <p:cNvPr id="589" name="Google Shape;589;p42"/>
          <p:cNvSpPr/>
          <p:nvPr/>
        </p:nvSpPr>
        <p:spPr>
          <a:xfrm>
            <a:off x="8501988" y="25468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590" name="Google Shape;590;p42"/>
          <p:cNvCxnSpPr>
            <a:stCxn id="589" idx="2"/>
            <a:endCxn id="580" idx="6"/>
          </p:cNvCxnSpPr>
          <p:nvPr/>
        </p:nvCxnSpPr>
        <p:spPr>
          <a:xfrm rot="10800000">
            <a:off x="7568988" y="265172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1" name="Google Shape;591;p42"/>
          <p:cNvSpPr/>
          <p:nvPr/>
        </p:nvSpPr>
        <p:spPr>
          <a:xfrm>
            <a:off x="7018113" y="128236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cxnSp>
        <p:nvCxnSpPr>
          <p:cNvPr id="592" name="Google Shape;592;p42"/>
          <p:cNvCxnSpPr>
            <a:stCxn id="582" idx="0"/>
            <a:endCxn id="587" idx="4"/>
          </p:cNvCxnSpPr>
          <p:nvPr/>
        </p:nvCxnSpPr>
        <p:spPr>
          <a:xfrm rot="10800000">
            <a:off x="8229588" y="194097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3" name="Google Shape;593;p42"/>
          <p:cNvCxnSpPr>
            <a:stCxn id="589" idx="1"/>
            <a:endCxn id="587" idx="4"/>
          </p:cNvCxnSpPr>
          <p:nvPr/>
        </p:nvCxnSpPr>
        <p:spPr>
          <a:xfrm rot="10800000">
            <a:off x="8229596" y="194086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4" name="Google Shape;594;p4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happen over time? All at the same time!</a:t>
            </a:r>
            <a:endParaRPr/>
          </a:p>
        </p:txBody>
      </p:sp>
      <p:cxnSp>
        <p:nvCxnSpPr>
          <p:cNvPr id="595" name="Google Shape;595;p42"/>
          <p:cNvCxnSpPr>
            <a:stCxn id="585" idx="1"/>
            <a:endCxn id="588" idx="5"/>
          </p:cNvCxnSpPr>
          <p:nvPr/>
        </p:nvCxnSpPr>
        <p:spPr>
          <a:xfrm rot="10800000">
            <a:off x="6256671" y="3504485"/>
            <a:ext cx="599700" cy="39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" name="Google Shape;596;p42"/>
          <p:cNvCxnSpPr>
            <a:stCxn id="588" idx="6"/>
            <a:endCxn id="582" idx="2"/>
          </p:cNvCxnSpPr>
          <p:nvPr/>
        </p:nvCxnSpPr>
        <p:spPr>
          <a:xfrm>
            <a:off x="6298888" y="3408925"/>
            <a:ext cx="1828500" cy="98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" name="Google Shape;597;p42"/>
          <p:cNvCxnSpPr>
            <a:stCxn id="585" idx="0"/>
            <a:endCxn id="582" idx="2"/>
          </p:cNvCxnSpPr>
          <p:nvPr/>
        </p:nvCxnSpPr>
        <p:spPr>
          <a:xfrm flipH="1" rot="10800000">
            <a:off x="6958513" y="3507800"/>
            <a:ext cx="1168800" cy="354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42"/>
          <p:cNvCxnSpPr>
            <a:stCxn id="588" idx="7"/>
            <a:endCxn id="580" idx="3"/>
          </p:cNvCxnSpPr>
          <p:nvPr/>
        </p:nvCxnSpPr>
        <p:spPr>
          <a:xfrm flipH="1" rot="10800000">
            <a:off x="6256579" y="2908660"/>
            <a:ext cx="667800" cy="4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" name="Google Shape;599;p42"/>
          <p:cNvCxnSpPr>
            <a:stCxn id="585" idx="0"/>
            <a:endCxn id="580" idx="4"/>
          </p:cNvCxnSpPr>
          <p:nvPr/>
        </p:nvCxnSpPr>
        <p:spPr>
          <a:xfrm flipH="1" rot="10800000">
            <a:off x="6958513" y="3015200"/>
            <a:ext cx="233100" cy="84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0" name="Google Shape;600;p42"/>
          <p:cNvCxnSpPr>
            <a:stCxn id="584" idx="6"/>
            <a:endCxn id="580" idx="2"/>
          </p:cNvCxnSpPr>
          <p:nvPr/>
        </p:nvCxnSpPr>
        <p:spPr>
          <a:xfrm>
            <a:off x="6153388" y="2423125"/>
            <a:ext cx="660600" cy="22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" name="Google Shape;601;p42"/>
          <p:cNvCxnSpPr>
            <a:stCxn id="581" idx="5"/>
            <a:endCxn id="580" idx="1"/>
          </p:cNvCxnSpPr>
          <p:nvPr/>
        </p:nvCxnSpPr>
        <p:spPr>
          <a:xfrm>
            <a:off x="6501254" y="1670565"/>
            <a:ext cx="423300" cy="72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" name="Google Shape;602;p42"/>
          <p:cNvCxnSpPr>
            <a:stCxn id="591" idx="4"/>
            <a:endCxn id="580" idx="0"/>
          </p:cNvCxnSpPr>
          <p:nvPr/>
        </p:nvCxnSpPr>
        <p:spPr>
          <a:xfrm>
            <a:off x="7162563" y="155266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3"/>
          <p:cNvSpPr txBox="1"/>
          <p:nvPr>
            <p:ph idx="1" type="body"/>
          </p:nvPr>
        </p:nvSpPr>
        <p:spPr>
          <a:xfrm>
            <a:off x="311700" y="1225225"/>
            <a:ext cx="5080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Things to consider: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Overall ego-networks are subject to relatively high degrees of instability: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55-75% turnover over different measurement </a:t>
            </a:r>
            <a:r>
              <a:rPr lang="en"/>
              <a:t>occasions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decay is normal not aberrant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Different “regions” of the ego network may be subject to different principles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Stability in the </a:t>
            </a:r>
            <a:r>
              <a:rPr b="1" lang="en"/>
              <a:t>core network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Instability in the </a:t>
            </a:r>
            <a:r>
              <a:rPr b="1" lang="en"/>
              <a:t>peripheral network</a:t>
            </a:r>
            <a:endParaRPr b="1"/>
          </a:p>
        </p:txBody>
      </p:sp>
      <p:sp>
        <p:nvSpPr>
          <p:cNvPr id="608" name="Google Shape;608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ego-network evolution</a:t>
            </a:r>
            <a:endParaRPr/>
          </a:p>
        </p:txBody>
      </p:sp>
      <p:pic>
        <p:nvPicPr>
          <p:cNvPr id="609" name="Google Shape;609;p43"/>
          <p:cNvPicPr preferRelativeResize="0"/>
          <p:nvPr/>
        </p:nvPicPr>
        <p:blipFill rotWithShape="1">
          <a:blip r:embed="rId3">
            <a:alphaModFix/>
          </a:blip>
          <a:srcRect b="68813" l="29361" r="35476" t="7158"/>
          <a:stretch/>
        </p:blipFill>
        <p:spPr>
          <a:xfrm>
            <a:off x="5498325" y="1225224"/>
            <a:ext cx="3079351" cy="3029299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3"/>
          <p:cNvSpPr txBox="1"/>
          <p:nvPr/>
        </p:nvSpPr>
        <p:spPr>
          <a:xfrm>
            <a:off x="6035850" y="4201700"/>
            <a:ext cx="200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Dunbar diagram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4"/>
          <p:cNvSpPr txBox="1"/>
          <p:nvPr>
            <p:ph idx="1" type="body"/>
          </p:nvPr>
        </p:nvSpPr>
        <p:spPr>
          <a:xfrm>
            <a:off x="311700" y="1225225"/>
            <a:ext cx="5080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Things to consider: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Stability of </a:t>
            </a:r>
            <a:r>
              <a:rPr b="1" lang="en"/>
              <a:t>structural</a:t>
            </a:r>
            <a:r>
              <a:rPr lang="en"/>
              <a:t> </a:t>
            </a:r>
            <a:r>
              <a:rPr b="1" lang="en"/>
              <a:t>properties</a:t>
            </a:r>
            <a:r>
              <a:rPr lang="en"/>
              <a:t> of ego-networks (e.g. size, density) tend to be stable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Even if  who shows up in the network is not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properties of ego-networks may thus be ego-signatures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Preference for large(small) networks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Preference for closure(brokerage)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Preference for homophily(heterophily)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Preference for kin(non-kin) ties</a:t>
            </a:r>
            <a:endParaRPr/>
          </a:p>
        </p:txBody>
      </p:sp>
      <p:sp>
        <p:nvSpPr>
          <p:cNvPr id="616" name="Google Shape;616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ego-network evolution</a:t>
            </a:r>
            <a:endParaRPr/>
          </a:p>
        </p:txBody>
      </p:sp>
      <p:pic>
        <p:nvPicPr>
          <p:cNvPr id="617" name="Google Shape;617;p44"/>
          <p:cNvPicPr preferRelativeResize="0"/>
          <p:nvPr/>
        </p:nvPicPr>
        <p:blipFill rotWithShape="1">
          <a:blip r:embed="rId3">
            <a:alphaModFix/>
          </a:blip>
          <a:srcRect b="68813" l="29361" r="35476" t="7158"/>
          <a:stretch/>
        </p:blipFill>
        <p:spPr>
          <a:xfrm>
            <a:off x="5498325" y="1225224"/>
            <a:ext cx="3079351" cy="3029299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44"/>
          <p:cNvSpPr txBox="1"/>
          <p:nvPr/>
        </p:nvSpPr>
        <p:spPr>
          <a:xfrm>
            <a:off x="6035850" y="4201700"/>
            <a:ext cx="200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Dunbar diagram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5"/>
          <p:cNvSpPr txBox="1"/>
          <p:nvPr>
            <p:ph idx="1" type="body"/>
          </p:nvPr>
        </p:nvSpPr>
        <p:spPr>
          <a:xfrm>
            <a:off x="311700" y="1225225"/>
            <a:ext cx="4947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Things to consider: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Following a given ego over-time may lead us to discover ties in both the core and peripheral network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Core</a:t>
            </a:r>
            <a:r>
              <a:rPr lang="en"/>
              <a:t> ties will be contacted </a:t>
            </a:r>
            <a:r>
              <a:rPr b="1" lang="en"/>
              <a:t>first</a:t>
            </a:r>
            <a:r>
              <a:rPr lang="en"/>
              <a:t> and </a:t>
            </a:r>
            <a:r>
              <a:rPr b="1" lang="en"/>
              <a:t>most</a:t>
            </a:r>
            <a:r>
              <a:rPr lang="en"/>
              <a:t> </a:t>
            </a:r>
            <a:r>
              <a:rPr b="1" lang="en"/>
              <a:t>often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Peripheral</a:t>
            </a:r>
            <a:r>
              <a:rPr lang="en"/>
              <a:t> ties will be </a:t>
            </a:r>
            <a:r>
              <a:rPr b="1" lang="en"/>
              <a:t>contacted</a:t>
            </a:r>
            <a:r>
              <a:rPr lang="en"/>
              <a:t> later and </a:t>
            </a:r>
            <a:r>
              <a:rPr b="1" lang="en"/>
              <a:t>less</a:t>
            </a:r>
            <a:r>
              <a:rPr lang="en"/>
              <a:t> </a:t>
            </a:r>
            <a:r>
              <a:rPr b="1" lang="en"/>
              <a:t>often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Adding the </a:t>
            </a:r>
            <a:r>
              <a:rPr b="1" lang="en"/>
              <a:t>cumulative</a:t>
            </a:r>
            <a:r>
              <a:rPr lang="en"/>
              <a:t> number of contacts over time give us a sense of the overall size of the individual's total network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ego-network evolution</a:t>
            </a:r>
            <a:endParaRPr/>
          </a:p>
        </p:txBody>
      </p:sp>
      <p:pic>
        <p:nvPicPr>
          <p:cNvPr id="625" name="Google Shape;625;p45"/>
          <p:cNvPicPr preferRelativeResize="0"/>
          <p:nvPr/>
        </p:nvPicPr>
        <p:blipFill rotWithShape="1">
          <a:blip r:embed="rId3">
            <a:alphaModFix/>
          </a:blip>
          <a:srcRect b="68813" l="29361" r="35476" t="7158"/>
          <a:stretch/>
        </p:blipFill>
        <p:spPr>
          <a:xfrm>
            <a:off x="5498325" y="1225224"/>
            <a:ext cx="3079351" cy="302929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5"/>
          <p:cNvSpPr txBox="1"/>
          <p:nvPr/>
        </p:nvSpPr>
        <p:spPr>
          <a:xfrm>
            <a:off x="6035850" y="4201700"/>
            <a:ext cx="200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Dunbar diagram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46"/>
          <p:cNvSpPr txBox="1"/>
          <p:nvPr>
            <p:ph idx="1" type="body"/>
          </p:nvPr>
        </p:nvSpPr>
        <p:spPr>
          <a:xfrm>
            <a:off x="311700" y="1225225"/>
            <a:ext cx="4947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Things to consider: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Following a given ego over-time may lead us to discover ties in both the core and peripheral network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Core</a:t>
            </a:r>
            <a:r>
              <a:rPr lang="en"/>
              <a:t> ties will be contacted </a:t>
            </a:r>
            <a:r>
              <a:rPr b="1" lang="en"/>
              <a:t>first</a:t>
            </a:r>
            <a:r>
              <a:rPr lang="en"/>
              <a:t> and </a:t>
            </a:r>
            <a:r>
              <a:rPr b="1" lang="en"/>
              <a:t>most</a:t>
            </a:r>
            <a:r>
              <a:rPr lang="en"/>
              <a:t> </a:t>
            </a:r>
            <a:r>
              <a:rPr b="1" lang="en"/>
              <a:t>often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Peripheral</a:t>
            </a:r>
            <a:r>
              <a:rPr lang="en"/>
              <a:t> ties will be </a:t>
            </a:r>
            <a:r>
              <a:rPr b="1" lang="en"/>
              <a:t>contacted</a:t>
            </a:r>
            <a:r>
              <a:rPr lang="en"/>
              <a:t> later and </a:t>
            </a:r>
            <a:r>
              <a:rPr b="1" lang="en"/>
              <a:t>less</a:t>
            </a:r>
            <a:r>
              <a:rPr lang="en"/>
              <a:t> </a:t>
            </a:r>
            <a:r>
              <a:rPr b="1" lang="en"/>
              <a:t>often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Core</a:t>
            </a:r>
            <a:r>
              <a:rPr lang="en"/>
              <a:t> and </a:t>
            </a:r>
            <a:r>
              <a:rPr b="1" lang="en"/>
              <a:t>peripheral</a:t>
            </a:r>
            <a:r>
              <a:rPr lang="en"/>
              <a:t> status overlap strong with </a:t>
            </a:r>
            <a:r>
              <a:rPr b="1" lang="en"/>
              <a:t>role-relations</a:t>
            </a:r>
            <a:endParaRPr b="1"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Friends and kin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Acquaintances, classmates, co-workers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ego-network evolution</a:t>
            </a:r>
            <a:endParaRPr/>
          </a:p>
        </p:txBody>
      </p:sp>
      <p:pic>
        <p:nvPicPr>
          <p:cNvPr id="633" name="Google Shape;633;p46"/>
          <p:cNvPicPr preferRelativeResize="0"/>
          <p:nvPr/>
        </p:nvPicPr>
        <p:blipFill rotWithShape="1">
          <a:blip r:embed="rId3">
            <a:alphaModFix/>
          </a:blip>
          <a:srcRect b="68813" l="29361" r="35476" t="7158"/>
          <a:stretch/>
        </p:blipFill>
        <p:spPr>
          <a:xfrm>
            <a:off x="5498325" y="1225224"/>
            <a:ext cx="3079351" cy="3029299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46"/>
          <p:cNvSpPr txBox="1"/>
          <p:nvPr/>
        </p:nvSpPr>
        <p:spPr>
          <a:xfrm>
            <a:off x="6035850" y="4201700"/>
            <a:ext cx="200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Dunbar diagram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7"/>
          <p:cNvSpPr txBox="1"/>
          <p:nvPr>
            <p:ph idx="1" type="body"/>
          </p:nvPr>
        </p:nvSpPr>
        <p:spPr>
          <a:xfrm>
            <a:off x="311700" y="1225225"/>
            <a:ext cx="4947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Things to consider: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Ego-networks change as a response to exogenous shocks experienced by people over time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Most important are </a:t>
            </a:r>
            <a:r>
              <a:rPr b="1" lang="en"/>
              <a:t>life-course transitions</a:t>
            </a:r>
            <a:endParaRPr b="1"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Geographical relocation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Career changes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School transitions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Marriage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Parenthood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Widowhood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ego-network evolution</a:t>
            </a:r>
            <a:endParaRPr/>
          </a:p>
        </p:txBody>
      </p:sp>
      <p:pic>
        <p:nvPicPr>
          <p:cNvPr id="641" name="Google Shape;641;p47"/>
          <p:cNvPicPr preferRelativeResize="0"/>
          <p:nvPr/>
        </p:nvPicPr>
        <p:blipFill rotWithShape="1">
          <a:blip r:embed="rId3">
            <a:alphaModFix/>
          </a:blip>
          <a:srcRect b="68813" l="29361" r="35476" t="7158"/>
          <a:stretch/>
        </p:blipFill>
        <p:spPr>
          <a:xfrm>
            <a:off x="5498325" y="1225224"/>
            <a:ext cx="3079351" cy="3029299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47"/>
          <p:cNvSpPr txBox="1"/>
          <p:nvPr/>
        </p:nvSpPr>
        <p:spPr>
          <a:xfrm>
            <a:off x="6035850" y="4201700"/>
            <a:ext cx="200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Dunbar diagram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relations at two time points in NetSense</a:t>
            </a:r>
            <a:endParaRPr/>
          </a:p>
        </p:txBody>
      </p:sp>
      <p:pic>
        <p:nvPicPr>
          <p:cNvPr descr="notre-desc-by-wave.png" id="648" name="Google Shape;64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525" y="1147225"/>
            <a:ext cx="7382949" cy="36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 persistence over time in NetSense</a:t>
            </a:r>
            <a:endParaRPr/>
          </a:p>
        </p:txBody>
      </p:sp>
      <p:pic>
        <p:nvPicPr>
          <p:cNvPr descr="persist-desc-by-wave.png" id="654" name="Google Shape;65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19587"/>
            <a:ext cx="4051451" cy="2971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rsist-desc-by-wave-rel.png" id="655" name="Google Shape;655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3150" y="1319575"/>
            <a:ext cx="4469150" cy="3277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 2017-10-31 at 09.11.20.png" id="660" name="Google Shape;66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1313"/>
            <a:ext cx="8839198" cy="2700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 2017-10-31 at 09.11.20.png" id="665" name="Google Shape;66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1313"/>
            <a:ext cx="8839198" cy="2700866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1"/>
          <p:cNvSpPr/>
          <p:nvPr/>
        </p:nvSpPr>
        <p:spPr>
          <a:xfrm>
            <a:off x="6500325" y="2587725"/>
            <a:ext cx="1622700" cy="390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tie decay</a:t>
            </a:r>
            <a:endParaRPr/>
          </a:p>
        </p:txBody>
      </p:sp>
      <p:sp>
        <p:nvSpPr>
          <p:cNvPr id="672" name="Google Shape;672;p5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an individual enters a new context and forms a new tie: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are the odds we will observe the tie in the future?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ties an individual has are observed at a given time: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are the odds that they will be observed again in the future?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Ties have a lifespan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are born, they live and then they “die”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 decay processes govern the rate or “speed” at which ties </a:t>
            </a:r>
            <a:r>
              <a:rPr lang="en"/>
              <a:t>disappear</a:t>
            </a:r>
            <a:r>
              <a:rPr lang="en"/>
              <a:t> from ego networks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tie decay</a:t>
            </a:r>
            <a:endParaRPr/>
          </a:p>
        </p:txBody>
      </p:sp>
      <p:sp>
        <p:nvSpPr>
          <p:cNvPr id="678" name="Google Shape;678;p53"/>
          <p:cNvSpPr txBox="1"/>
          <p:nvPr>
            <p:ph idx="1" type="body"/>
          </p:nvPr>
        </p:nvSpPr>
        <p:spPr>
          <a:xfrm>
            <a:off x="311700" y="1225225"/>
            <a:ext cx="3953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fundamental principle of tie decay is the </a:t>
            </a:r>
            <a:r>
              <a:rPr b="1" lang="en"/>
              <a:t>liability of newness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more recently “born” the tie is the more likely it is that it will not be observed in the future</a:t>
            </a:r>
            <a:endParaRPr/>
          </a:p>
        </p:txBody>
      </p:sp>
      <p:grpSp>
        <p:nvGrpSpPr>
          <p:cNvPr id="679" name="Google Shape;679;p53"/>
          <p:cNvGrpSpPr/>
          <p:nvPr/>
        </p:nvGrpSpPr>
        <p:grpSpPr>
          <a:xfrm>
            <a:off x="4264900" y="899708"/>
            <a:ext cx="4567400" cy="4005027"/>
            <a:chOff x="4021025" y="1626525"/>
            <a:chExt cx="4567400" cy="4806225"/>
          </a:xfrm>
        </p:grpSpPr>
        <p:cxnSp>
          <p:nvCxnSpPr>
            <p:cNvPr id="680" name="Google Shape;680;p53"/>
            <p:cNvCxnSpPr/>
            <p:nvPr/>
          </p:nvCxnSpPr>
          <p:spPr>
            <a:xfrm>
              <a:off x="4690525" y="5956350"/>
              <a:ext cx="3897900" cy="0"/>
            </a:xfrm>
            <a:prstGeom prst="straightConnector1">
              <a:avLst/>
            </a:prstGeom>
            <a:noFill/>
            <a:ln cap="flat" cmpd="sng" w="28575">
              <a:solidFill>
                <a:srgbClr val="5B595A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681" name="Google Shape;681;p53"/>
            <p:cNvSpPr txBox="1"/>
            <p:nvPr/>
          </p:nvSpPr>
          <p:spPr>
            <a:xfrm rot="-5400000">
              <a:off x="1996925" y="3650625"/>
              <a:ext cx="4426200" cy="37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latin typeface="Junge"/>
                  <a:ea typeface="Junge"/>
                  <a:cs typeface="Junge"/>
                  <a:sym typeface="Junge"/>
                </a:rPr>
                <a:t>Probability of that the tie will be gone at next time step</a:t>
              </a:r>
              <a:endParaRPr b="1" sz="1000">
                <a:latin typeface="Junge"/>
                <a:ea typeface="Junge"/>
                <a:cs typeface="Junge"/>
                <a:sym typeface="Junge"/>
              </a:endParaRPr>
            </a:p>
          </p:txBody>
        </p:sp>
        <p:sp>
          <p:nvSpPr>
            <p:cNvPr id="682" name="Google Shape;682;p53"/>
            <p:cNvSpPr txBox="1"/>
            <p:nvPr/>
          </p:nvSpPr>
          <p:spPr>
            <a:xfrm>
              <a:off x="4758750" y="6006300"/>
              <a:ext cx="3506400" cy="21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Junge"/>
                  <a:ea typeface="Junge"/>
                  <a:cs typeface="Junge"/>
                  <a:sym typeface="Junge"/>
                </a:rPr>
                <a:t>1	2	3	4	5	6	</a:t>
              </a:r>
              <a:r>
                <a:rPr lang="en">
                  <a:latin typeface="Junge"/>
                  <a:ea typeface="Junge"/>
                  <a:cs typeface="Junge"/>
                  <a:sym typeface="Junge"/>
                </a:rPr>
                <a:t>7	8</a:t>
              </a:r>
              <a:endParaRPr>
                <a:latin typeface="Junge"/>
                <a:ea typeface="Junge"/>
                <a:cs typeface="Junge"/>
                <a:sym typeface="Junge"/>
              </a:endParaRPr>
            </a:p>
          </p:txBody>
        </p:sp>
        <p:sp>
          <p:nvSpPr>
            <p:cNvPr id="683" name="Google Shape;683;p53"/>
            <p:cNvSpPr txBox="1"/>
            <p:nvPr/>
          </p:nvSpPr>
          <p:spPr>
            <a:xfrm>
              <a:off x="4731450" y="6168750"/>
              <a:ext cx="3561000" cy="26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Junge"/>
                  <a:ea typeface="Junge"/>
                  <a:cs typeface="Junge"/>
                  <a:sym typeface="Junge"/>
                </a:rPr>
                <a:t>Time</a:t>
              </a:r>
              <a:endParaRPr>
                <a:latin typeface="Junge"/>
                <a:ea typeface="Junge"/>
                <a:cs typeface="Junge"/>
                <a:sym typeface="Junge"/>
              </a:endParaRPr>
            </a:p>
          </p:txBody>
        </p:sp>
        <p:sp>
          <p:nvSpPr>
            <p:cNvPr id="684" name="Google Shape;684;p53"/>
            <p:cNvSpPr/>
            <p:nvPr/>
          </p:nvSpPr>
          <p:spPr>
            <a:xfrm>
              <a:off x="4799700" y="1803300"/>
              <a:ext cx="3679551" cy="4072655"/>
            </a:xfrm>
            <a:custGeom>
              <a:rect b="b" l="l" r="r" t="t"/>
              <a:pathLst>
                <a:path extrusionOk="0" h="160657" w="146815">
                  <a:moveTo>
                    <a:pt x="0" y="0"/>
                  </a:moveTo>
                  <a:cubicBezTo>
                    <a:pt x="3400" y="14572"/>
                    <a:pt x="12568" y="67396"/>
                    <a:pt x="20401" y="87433"/>
                  </a:cubicBezTo>
                  <a:cubicBezTo>
                    <a:pt x="28234" y="107470"/>
                    <a:pt x="30420" y="109473"/>
                    <a:pt x="46996" y="120220"/>
                  </a:cubicBezTo>
                  <a:cubicBezTo>
                    <a:pt x="63572" y="130967"/>
                    <a:pt x="103220" y="145175"/>
                    <a:pt x="119856" y="151914"/>
                  </a:cubicBezTo>
                  <a:cubicBezTo>
                    <a:pt x="136493" y="158654"/>
                    <a:pt x="142322" y="159200"/>
                    <a:pt x="146815" y="160657"/>
                  </a:cubicBezTo>
                </a:path>
              </a:pathLst>
            </a:cu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85" name="Google Shape;685;p53"/>
            <p:cNvSpPr txBox="1"/>
            <p:nvPr/>
          </p:nvSpPr>
          <p:spPr>
            <a:xfrm>
              <a:off x="5145775" y="1848825"/>
              <a:ext cx="1284300" cy="6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Liability of newness</a:t>
              </a:r>
              <a:endParaRPr>
                <a:solidFill>
                  <a:srgbClr val="FF0000"/>
                </a:solidFill>
              </a:endParaRPr>
            </a:p>
          </p:txBody>
        </p:sp>
        <p:cxnSp>
          <p:nvCxnSpPr>
            <p:cNvPr id="686" name="Google Shape;686;p53"/>
            <p:cNvCxnSpPr>
              <a:stCxn id="685" idx="2"/>
            </p:cNvCxnSpPr>
            <p:nvPr/>
          </p:nvCxnSpPr>
          <p:spPr>
            <a:xfrm flipH="1">
              <a:off x="5218525" y="2477325"/>
              <a:ext cx="569400" cy="6648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87" name="Google Shape;687;p53"/>
            <p:cNvSpPr txBox="1"/>
            <p:nvPr/>
          </p:nvSpPr>
          <p:spPr>
            <a:xfrm>
              <a:off x="4353450" y="1656150"/>
              <a:ext cx="378000" cy="427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Junge"/>
                  <a:ea typeface="Junge"/>
                  <a:cs typeface="Junge"/>
                  <a:sym typeface="Junge"/>
                </a:rPr>
                <a:t>1</a:t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Junge"/>
                  <a:ea typeface="Junge"/>
                  <a:cs typeface="Junge"/>
                  <a:sym typeface="Junge"/>
                </a:rPr>
                <a:t>.5</a:t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tie decay</a:t>
            </a:r>
            <a:endParaRPr/>
          </a:p>
        </p:txBody>
      </p:sp>
      <p:sp>
        <p:nvSpPr>
          <p:cNvPr id="693" name="Google Shape;693;p54"/>
          <p:cNvSpPr txBox="1"/>
          <p:nvPr>
            <p:ph idx="1" type="body"/>
          </p:nvPr>
        </p:nvSpPr>
        <p:spPr>
          <a:xfrm>
            <a:off x="311700" y="1225225"/>
            <a:ext cx="3953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</a:t>
            </a:r>
            <a:r>
              <a:rPr b="1" lang="en"/>
              <a:t> liability of newness</a:t>
            </a:r>
            <a:r>
              <a:rPr lang="en"/>
              <a:t> is conditioned by a variety of factors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important: </a:t>
            </a:r>
            <a:r>
              <a:rPr b="1" lang="en"/>
              <a:t>Simmelian dyad </a:t>
            </a:r>
            <a:r>
              <a:rPr lang="en"/>
              <a:t>status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/>
          </a:p>
        </p:txBody>
      </p:sp>
      <p:sp>
        <p:nvSpPr>
          <p:cNvPr id="694" name="Google Shape;694;p54"/>
          <p:cNvSpPr/>
          <p:nvPr/>
        </p:nvSpPr>
        <p:spPr>
          <a:xfrm>
            <a:off x="5028225" y="1147224"/>
            <a:ext cx="3618086" cy="3302686"/>
          </a:xfrm>
          <a:custGeom>
            <a:rect b="b" l="l" r="r" t="t"/>
            <a:pathLst>
              <a:path extrusionOk="0" h="160656" w="141719">
                <a:moveTo>
                  <a:pt x="0" y="0"/>
                </a:moveTo>
                <a:cubicBezTo>
                  <a:pt x="1165" y="13548"/>
                  <a:pt x="4013" y="59004"/>
                  <a:pt x="6988" y="81287"/>
                </a:cubicBezTo>
                <a:cubicBezTo>
                  <a:pt x="9963" y="103570"/>
                  <a:pt x="11548" y="121260"/>
                  <a:pt x="17851" y="133699"/>
                </a:cubicBezTo>
                <a:cubicBezTo>
                  <a:pt x="24155" y="146138"/>
                  <a:pt x="32362" y="151733"/>
                  <a:pt x="44809" y="155922"/>
                </a:cubicBezTo>
                <a:cubicBezTo>
                  <a:pt x="57256" y="160112"/>
                  <a:pt x="76381" y="158047"/>
                  <a:pt x="92533" y="158836"/>
                </a:cubicBezTo>
                <a:cubicBezTo>
                  <a:pt x="108685" y="159625"/>
                  <a:pt x="133521" y="160353"/>
                  <a:pt x="141719" y="160656"/>
                </a:cubicBezTo>
              </a:path>
            </a:pathLst>
          </a:cu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695" name="Google Shape;695;p54"/>
          <p:cNvGrpSpPr/>
          <p:nvPr/>
        </p:nvGrpSpPr>
        <p:grpSpPr>
          <a:xfrm>
            <a:off x="4264800" y="899708"/>
            <a:ext cx="4567400" cy="4005027"/>
            <a:chOff x="4021025" y="1626525"/>
            <a:chExt cx="4567400" cy="4806225"/>
          </a:xfrm>
        </p:grpSpPr>
        <p:cxnSp>
          <p:nvCxnSpPr>
            <p:cNvPr id="696" name="Google Shape;696;p54"/>
            <p:cNvCxnSpPr/>
            <p:nvPr/>
          </p:nvCxnSpPr>
          <p:spPr>
            <a:xfrm>
              <a:off x="4690525" y="5956350"/>
              <a:ext cx="3897900" cy="0"/>
            </a:xfrm>
            <a:prstGeom prst="straightConnector1">
              <a:avLst/>
            </a:prstGeom>
            <a:noFill/>
            <a:ln cap="flat" cmpd="sng" w="28575">
              <a:solidFill>
                <a:srgbClr val="5B595A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697" name="Google Shape;697;p54"/>
            <p:cNvSpPr txBox="1"/>
            <p:nvPr/>
          </p:nvSpPr>
          <p:spPr>
            <a:xfrm rot="-5400000">
              <a:off x="1996925" y="3650625"/>
              <a:ext cx="4426200" cy="37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latin typeface="Junge"/>
                  <a:ea typeface="Junge"/>
                  <a:cs typeface="Junge"/>
                  <a:sym typeface="Junge"/>
                </a:rPr>
                <a:t>Probability of that the tie will be gone at next time step</a:t>
              </a:r>
              <a:endParaRPr b="1" sz="1000">
                <a:latin typeface="Junge"/>
                <a:ea typeface="Junge"/>
                <a:cs typeface="Junge"/>
                <a:sym typeface="Junge"/>
              </a:endParaRPr>
            </a:p>
          </p:txBody>
        </p:sp>
        <p:sp>
          <p:nvSpPr>
            <p:cNvPr id="698" name="Google Shape;698;p54"/>
            <p:cNvSpPr txBox="1"/>
            <p:nvPr/>
          </p:nvSpPr>
          <p:spPr>
            <a:xfrm>
              <a:off x="4758750" y="6006300"/>
              <a:ext cx="3506400" cy="21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Junge"/>
                  <a:ea typeface="Junge"/>
                  <a:cs typeface="Junge"/>
                  <a:sym typeface="Junge"/>
                </a:rPr>
                <a:t>1	2	3	4	5	6	7	8</a:t>
              </a:r>
              <a:endParaRPr>
                <a:latin typeface="Junge"/>
                <a:ea typeface="Junge"/>
                <a:cs typeface="Junge"/>
                <a:sym typeface="Junge"/>
              </a:endParaRPr>
            </a:p>
          </p:txBody>
        </p:sp>
        <p:sp>
          <p:nvSpPr>
            <p:cNvPr id="699" name="Google Shape;699;p54"/>
            <p:cNvSpPr txBox="1"/>
            <p:nvPr/>
          </p:nvSpPr>
          <p:spPr>
            <a:xfrm>
              <a:off x="4731450" y="6168750"/>
              <a:ext cx="3561000" cy="26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Junge"/>
                  <a:ea typeface="Junge"/>
                  <a:cs typeface="Junge"/>
                  <a:sym typeface="Junge"/>
                </a:rPr>
                <a:t>Time</a:t>
              </a:r>
              <a:endParaRPr>
                <a:latin typeface="Junge"/>
                <a:ea typeface="Junge"/>
                <a:cs typeface="Junge"/>
                <a:sym typeface="Junge"/>
              </a:endParaRPr>
            </a:p>
          </p:txBody>
        </p:sp>
        <p:sp>
          <p:nvSpPr>
            <p:cNvPr id="700" name="Google Shape;700;p54"/>
            <p:cNvSpPr/>
            <p:nvPr/>
          </p:nvSpPr>
          <p:spPr>
            <a:xfrm>
              <a:off x="4799700" y="1803300"/>
              <a:ext cx="3679551" cy="4072655"/>
            </a:xfrm>
            <a:custGeom>
              <a:rect b="b" l="l" r="r" t="t"/>
              <a:pathLst>
                <a:path extrusionOk="0" h="160657" w="146815">
                  <a:moveTo>
                    <a:pt x="0" y="0"/>
                  </a:moveTo>
                  <a:cubicBezTo>
                    <a:pt x="3400" y="14572"/>
                    <a:pt x="12568" y="67396"/>
                    <a:pt x="20401" y="87433"/>
                  </a:cubicBezTo>
                  <a:cubicBezTo>
                    <a:pt x="28234" y="107470"/>
                    <a:pt x="30420" y="109473"/>
                    <a:pt x="46996" y="120220"/>
                  </a:cubicBezTo>
                  <a:cubicBezTo>
                    <a:pt x="63572" y="130967"/>
                    <a:pt x="103220" y="145175"/>
                    <a:pt x="119856" y="151914"/>
                  </a:cubicBezTo>
                  <a:cubicBezTo>
                    <a:pt x="136493" y="158654"/>
                    <a:pt x="142322" y="159200"/>
                    <a:pt x="146815" y="160657"/>
                  </a:cubicBezTo>
                </a:path>
              </a:pathLst>
            </a:cu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01" name="Google Shape;701;p54"/>
            <p:cNvSpPr txBox="1"/>
            <p:nvPr/>
          </p:nvSpPr>
          <p:spPr>
            <a:xfrm>
              <a:off x="5145775" y="1848825"/>
              <a:ext cx="1284300" cy="6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Simmelian Dyads</a:t>
              </a:r>
              <a:endParaRPr>
                <a:solidFill>
                  <a:srgbClr val="FF0000"/>
                </a:solidFill>
              </a:endParaRPr>
            </a:p>
          </p:txBody>
        </p:sp>
        <p:cxnSp>
          <p:nvCxnSpPr>
            <p:cNvPr id="702" name="Google Shape;702;p54"/>
            <p:cNvCxnSpPr>
              <a:stCxn id="701" idx="2"/>
            </p:cNvCxnSpPr>
            <p:nvPr/>
          </p:nvCxnSpPr>
          <p:spPr>
            <a:xfrm flipH="1">
              <a:off x="5218525" y="2477325"/>
              <a:ext cx="569400" cy="6648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03" name="Google Shape;703;p54"/>
            <p:cNvSpPr txBox="1"/>
            <p:nvPr/>
          </p:nvSpPr>
          <p:spPr>
            <a:xfrm>
              <a:off x="6154300" y="4269025"/>
              <a:ext cx="1284300" cy="6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“Standalone” Dyads</a:t>
              </a:r>
              <a:endParaRPr>
                <a:solidFill>
                  <a:srgbClr val="FF0000"/>
                </a:solidFill>
              </a:endParaRPr>
            </a:p>
          </p:txBody>
        </p:sp>
        <p:cxnSp>
          <p:nvCxnSpPr>
            <p:cNvPr id="704" name="Google Shape;704;p54"/>
            <p:cNvCxnSpPr>
              <a:stCxn id="703" idx="2"/>
            </p:cNvCxnSpPr>
            <p:nvPr/>
          </p:nvCxnSpPr>
          <p:spPr>
            <a:xfrm flipH="1">
              <a:off x="6011350" y="4897525"/>
              <a:ext cx="785100" cy="7401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05" name="Google Shape;705;p54"/>
            <p:cNvSpPr txBox="1"/>
            <p:nvPr/>
          </p:nvSpPr>
          <p:spPr>
            <a:xfrm>
              <a:off x="4353450" y="1656150"/>
              <a:ext cx="378000" cy="427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Junge"/>
                  <a:ea typeface="Junge"/>
                  <a:cs typeface="Junge"/>
                  <a:sym typeface="Junge"/>
                </a:rPr>
                <a:t>1</a:t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Junge"/>
                  <a:ea typeface="Junge"/>
                  <a:cs typeface="Junge"/>
                  <a:sym typeface="Junge"/>
                </a:rPr>
                <a:t>.5</a:t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tie decay</a:t>
            </a:r>
            <a:endParaRPr/>
          </a:p>
        </p:txBody>
      </p:sp>
      <p:sp>
        <p:nvSpPr>
          <p:cNvPr id="711" name="Google Shape;711;p55"/>
          <p:cNvSpPr txBox="1"/>
          <p:nvPr>
            <p:ph idx="1" type="body"/>
          </p:nvPr>
        </p:nvSpPr>
        <p:spPr>
          <a:xfrm>
            <a:off x="311700" y="1225225"/>
            <a:ext cx="3953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</a:t>
            </a:r>
            <a:r>
              <a:rPr b="1" lang="en"/>
              <a:t> liability of newness</a:t>
            </a:r>
            <a:r>
              <a:rPr lang="en"/>
              <a:t> is conditioned by a variety of factors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important: </a:t>
            </a:r>
            <a:r>
              <a:rPr b="1" lang="en"/>
              <a:t>Simmelian dyad </a:t>
            </a:r>
            <a:r>
              <a:rPr lang="en"/>
              <a:t>status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/>
          </a:p>
        </p:txBody>
      </p:sp>
      <p:pic>
        <p:nvPicPr>
          <p:cNvPr descr="OverlapPlot.png" id="712" name="Google Shape;71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6725" y="1382738"/>
            <a:ext cx="4525575" cy="303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tie decay</a:t>
            </a:r>
            <a:endParaRPr/>
          </a:p>
        </p:txBody>
      </p:sp>
      <p:sp>
        <p:nvSpPr>
          <p:cNvPr id="718" name="Google Shape;718;p56"/>
          <p:cNvSpPr txBox="1"/>
          <p:nvPr>
            <p:ph idx="1" type="body"/>
          </p:nvPr>
        </p:nvSpPr>
        <p:spPr>
          <a:xfrm>
            <a:off x="311700" y="1225225"/>
            <a:ext cx="3953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</a:t>
            </a:r>
            <a:r>
              <a:rPr b="1" lang="en"/>
              <a:t> liability of newness</a:t>
            </a:r>
            <a:r>
              <a:rPr lang="en"/>
              <a:t> is conditioned by a variety of factors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important: </a:t>
            </a:r>
            <a:r>
              <a:rPr b="1" lang="en"/>
              <a:t>Simmelian</a:t>
            </a:r>
            <a:r>
              <a:rPr b="1" lang="en"/>
              <a:t> dyad </a:t>
            </a:r>
            <a:r>
              <a:rPr lang="en"/>
              <a:t>status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Also: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Node characteristics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Tie-strength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Homophily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Social Foci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Transitions out Simmelian status bring back the liability of newness</a:t>
            </a:r>
            <a:endParaRPr i="1"/>
          </a:p>
        </p:txBody>
      </p:sp>
      <p:pic>
        <p:nvPicPr>
          <p:cNvPr descr="hazard-by-type-gender.png" id="719" name="Google Shape;71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0724" y="1282613"/>
            <a:ext cx="4341574" cy="323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tie decay</a:t>
            </a:r>
            <a:endParaRPr/>
          </a:p>
        </p:txBody>
      </p:sp>
      <p:sp>
        <p:nvSpPr>
          <p:cNvPr id="725" name="Google Shape;725;p57"/>
          <p:cNvSpPr txBox="1"/>
          <p:nvPr>
            <p:ph idx="1" type="body"/>
          </p:nvPr>
        </p:nvSpPr>
        <p:spPr>
          <a:xfrm>
            <a:off x="311700" y="1225225"/>
            <a:ext cx="3953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</a:t>
            </a:r>
            <a:r>
              <a:rPr b="1" lang="en"/>
              <a:t> liability of newness</a:t>
            </a:r>
            <a:r>
              <a:rPr lang="en"/>
              <a:t> is conditioned by a variety of factors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important: </a:t>
            </a:r>
            <a:r>
              <a:rPr b="1" lang="en"/>
              <a:t>Simmelian dyad </a:t>
            </a:r>
            <a:r>
              <a:rPr lang="en"/>
              <a:t>status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Also: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Node characteristics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Tie-strength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Homophily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Social Foci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Transitions out Simmelian status bring back the liability of newness</a:t>
            </a:r>
            <a:endParaRPr i="1"/>
          </a:p>
        </p:txBody>
      </p:sp>
      <p:sp>
        <p:nvSpPr>
          <p:cNvPr id="726" name="Google Shape;726;p57"/>
          <p:cNvSpPr/>
          <p:nvPr/>
        </p:nvSpPr>
        <p:spPr>
          <a:xfrm>
            <a:off x="5028225" y="1147224"/>
            <a:ext cx="3618086" cy="3302686"/>
          </a:xfrm>
          <a:custGeom>
            <a:rect b="b" l="l" r="r" t="t"/>
            <a:pathLst>
              <a:path extrusionOk="0" h="160656" w="141719">
                <a:moveTo>
                  <a:pt x="0" y="0"/>
                </a:moveTo>
                <a:cubicBezTo>
                  <a:pt x="1165" y="13548"/>
                  <a:pt x="4013" y="59004"/>
                  <a:pt x="6988" y="81287"/>
                </a:cubicBezTo>
                <a:cubicBezTo>
                  <a:pt x="9963" y="103570"/>
                  <a:pt x="11548" y="121260"/>
                  <a:pt x="17851" y="133699"/>
                </a:cubicBezTo>
                <a:cubicBezTo>
                  <a:pt x="24155" y="146138"/>
                  <a:pt x="32362" y="151733"/>
                  <a:pt x="44809" y="155922"/>
                </a:cubicBezTo>
                <a:cubicBezTo>
                  <a:pt x="57256" y="160112"/>
                  <a:pt x="76381" y="158047"/>
                  <a:pt x="92533" y="158836"/>
                </a:cubicBezTo>
                <a:cubicBezTo>
                  <a:pt x="108685" y="159625"/>
                  <a:pt x="133521" y="160353"/>
                  <a:pt x="141719" y="160656"/>
                </a:cubicBezTo>
              </a:path>
            </a:pathLst>
          </a:cu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727" name="Google Shape;727;p57"/>
          <p:cNvGrpSpPr/>
          <p:nvPr/>
        </p:nvGrpSpPr>
        <p:grpSpPr>
          <a:xfrm>
            <a:off x="4264800" y="899708"/>
            <a:ext cx="4567400" cy="4005027"/>
            <a:chOff x="4021025" y="1626525"/>
            <a:chExt cx="4567400" cy="4806225"/>
          </a:xfrm>
        </p:grpSpPr>
        <p:cxnSp>
          <p:nvCxnSpPr>
            <p:cNvPr id="728" name="Google Shape;728;p57"/>
            <p:cNvCxnSpPr/>
            <p:nvPr/>
          </p:nvCxnSpPr>
          <p:spPr>
            <a:xfrm>
              <a:off x="4690525" y="5956350"/>
              <a:ext cx="3897900" cy="0"/>
            </a:xfrm>
            <a:prstGeom prst="straightConnector1">
              <a:avLst/>
            </a:prstGeom>
            <a:noFill/>
            <a:ln cap="flat" cmpd="sng" w="28575">
              <a:solidFill>
                <a:srgbClr val="5B595A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729" name="Google Shape;729;p57"/>
            <p:cNvSpPr txBox="1"/>
            <p:nvPr/>
          </p:nvSpPr>
          <p:spPr>
            <a:xfrm rot="-5400000">
              <a:off x="1996925" y="3650625"/>
              <a:ext cx="4426200" cy="37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latin typeface="Junge"/>
                  <a:ea typeface="Junge"/>
                  <a:cs typeface="Junge"/>
                  <a:sym typeface="Junge"/>
                </a:rPr>
                <a:t>Probability of that the tie will be gone at next time step</a:t>
              </a:r>
              <a:endParaRPr b="1" sz="1000">
                <a:latin typeface="Junge"/>
                <a:ea typeface="Junge"/>
                <a:cs typeface="Junge"/>
                <a:sym typeface="Junge"/>
              </a:endParaRPr>
            </a:p>
          </p:txBody>
        </p:sp>
        <p:sp>
          <p:nvSpPr>
            <p:cNvPr id="730" name="Google Shape;730;p57"/>
            <p:cNvSpPr txBox="1"/>
            <p:nvPr/>
          </p:nvSpPr>
          <p:spPr>
            <a:xfrm>
              <a:off x="4758750" y="6006300"/>
              <a:ext cx="3506400" cy="21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Junge"/>
                  <a:ea typeface="Junge"/>
                  <a:cs typeface="Junge"/>
                  <a:sym typeface="Junge"/>
                </a:rPr>
                <a:t>1	2	3	4	5	6	7	8</a:t>
              </a:r>
              <a:endParaRPr>
                <a:latin typeface="Junge"/>
                <a:ea typeface="Junge"/>
                <a:cs typeface="Junge"/>
                <a:sym typeface="Junge"/>
              </a:endParaRPr>
            </a:p>
          </p:txBody>
        </p:sp>
        <p:sp>
          <p:nvSpPr>
            <p:cNvPr id="731" name="Google Shape;731;p57"/>
            <p:cNvSpPr txBox="1"/>
            <p:nvPr/>
          </p:nvSpPr>
          <p:spPr>
            <a:xfrm>
              <a:off x="4731450" y="6168750"/>
              <a:ext cx="3561000" cy="26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Junge"/>
                  <a:ea typeface="Junge"/>
                  <a:cs typeface="Junge"/>
                  <a:sym typeface="Junge"/>
                </a:rPr>
                <a:t>Time</a:t>
              </a:r>
              <a:endParaRPr>
                <a:latin typeface="Junge"/>
                <a:ea typeface="Junge"/>
                <a:cs typeface="Junge"/>
                <a:sym typeface="Junge"/>
              </a:endParaRPr>
            </a:p>
          </p:txBody>
        </p:sp>
        <p:sp>
          <p:nvSpPr>
            <p:cNvPr id="732" name="Google Shape;732;p57"/>
            <p:cNvSpPr/>
            <p:nvPr/>
          </p:nvSpPr>
          <p:spPr>
            <a:xfrm>
              <a:off x="4799700" y="1803300"/>
              <a:ext cx="3679551" cy="4072655"/>
            </a:xfrm>
            <a:custGeom>
              <a:rect b="b" l="l" r="r" t="t"/>
              <a:pathLst>
                <a:path extrusionOk="0" h="160657" w="146815">
                  <a:moveTo>
                    <a:pt x="0" y="0"/>
                  </a:moveTo>
                  <a:cubicBezTo>
                    <a:pt x="3400" y="14572"/>
                    <a:pt x="12568" y="67396"/>
                    <a:pt x="20401" y="87433"/>
                  </a:cubicBezTo>
                  <a:cubicBezTo>
                    <a:pt x="28234" y="107470"/>
                    <a:pt x="30420" y="109473"/>
                    <a:pt x="46996" y="120220"/>
                  </a:cubicBezTo>
                  <a:cubicBezTo>
                    <a:pt x="63572" y="130967"/>
                    <a:pt x="103220" y="145175"/>
                    <a:pt x="119856" y="151914"/>
                  </a:cubicBezTo>
                  <a:cubicBezTo>
                    <a:pt x="136493" y="158654"/>
                    <a:pt x="142322" y="159200"/>
                    <a:pt x="146815" y="160657"/>
                  </a:cubicBezTo>
                </a:path>
              </a:pathLst>
            </a:cu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33" name="Google Shape;733;p57"/>
            <p:cNvSpPr txBox="1"/>
            <p:nvPr/>
          </p:nvSpPr>
          <p:spPr>
            <a:xfrm>
              <a:off x="5145775" y="1848825"/>
              <a:ext cx="1284300" cy="6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Simmelian Dyads</a:t>
              </a:r>
              <a:endParaRPr>
                <a:solidFill>
                  <a:srgbClr val="FF0000"/>
                </a:solidFill>
              </a:endParaRPr>
            </a:p>
          </p:txBody>
        </p:sp>
        <p:cxnSp>
          <p:nvCxnSpPr>
            <p:cNvPr id="734" name="Google Shape;734;p57"/>
            <p:cNvCxnSpPr>
              <a:stCxn id="733" idx="2"/>
            </p:cNvCxnSpPr>
            <p:nvPr/>
          </p:nvCxnSpPr>
          <p:spPr>
            <a:xfrm flipH="1">
              <a:off x="5218525" y="2477325"/>
              <a:ext cx="569400" cy="6648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35" name="Google Shape;735;p57"/>
            <p:cNvSpPr txBox="1"/>
            <p:nvPr/>
          </p:nvSpPr>
          <p:spPr>
            <a:xfrm>
              <a:off x="6154300" y="4269025"/>
              <a:ext cx="1284300" cy="6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“Standalone” Dyads</a:t>
              </a:r>
              <a:endParaRPr>
                <a:solidFill>
                  <a:srgbClr val="FF0000"/>
                </a:solidFill>
              </a:endParaRPr>
            </a:p>
          </p:txBody>
        </p:sp>
        <p:cxnSp>
          <p:nvCxnSpPr>
            <p:cNvPr id="736" name="Google Shape;736;p57"/>
            <p:cNvCxnSpPr>
              <a:stCxn id="735" idx="2"/>
            </p:cNvCxnSpPr>
            <p:nvPr/>
          </p:nvCxnSpPr>
          <p:spPr>
            <a:xfrm flipH="1">
              <a:off x="6011350" y="4897525"/>
              <a:ext cx="785100" cy="7401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37" name="Google Shape;737;p57"/>
            <p:cNvSpPr txBox="1"/>
            <p:nvPr/>
          </p:nvSpPr>
          <p:spPr>
            <a:xfrm>
              <a:off x="4353450" y="1656150"/>
              <a:ext cx="378000" cy="427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Junge"/>
                  <a:ea typeface="Junge"/>
                  <a:cs typeface="Junge"/>
                  <a:sym typeface="Junge"/>
                </a:rPr>
                <a:t>1</a:t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Junge"/>
                  <a:ea typeface="Junge"/>
                  <a:cs typeface="Junge"/>
                  <a:sym typeface="Junge"/>
                </a:rPr>
                <a:t>.5</a:t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ties are in the ego network?</a:t>
            </a:r>
            <a:endParaRPr/>
          </a:p>
        </p:txBody>
      </p:sp>
      <p:sp>
        <p:nvSpPr>
          <p:cNvPr id="743" name="Google Shape;743;p5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any point in time we only observe a </a:t>
            </a:r>
            <a:r>
              <a:rPr b="1" lang="en"/>
              <a:t>subset</a:t>
            </a:r>
            <a:r>
              <a:rPr lang="en"/>
              <a:t> of an individual’s total “store” of ties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Different methods will capture different segments of this subset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Thinking about this question dynamically leads to the following typology of 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Active ties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Currently observed and currently available to ego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“Dormant” 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Currently unobserved and currently available to ego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Decayed 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Previously observed and currently unavailable to ego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“Real” ego network size = (Active + Dormant) - Decayed 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ties are in the ego network?</a:t>
            </a:r>
            <a:endParaRPr/>
          </a:p>
        </p:txBody>
      </p:sp>
      <p:sp>
        <p:nvSpPr>
          <p:cNvPr id="749" name="Google Shape;749;p5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any point in time we only observe a </a:t>
            </a:r>
            <a:r>
              <a:rPr b="1" lang="en"/>
              <a:t>subset</a:t>
            </a:r>
            <a:r>
              <a:rPr lang="en"/>
              <a:t> of an individual’s total “store” of ties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Different methods will capture different segments of this subset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Thinking about this question dynamically leads to the following typology of ties: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If we have information in three time slices then we can differentiate between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Persistent ties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Newly formed ties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Decayed ties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Short lived ties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Intermittent</a:t>
            </a:r>
            <a:r>
              <a:rPr lang="en"/>
              <a:t> ties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4" name="Google Shape;754;p60"/>
          <p:cNvCxnSpPr/>
          <p:nvPr/>
        </p:nvCxnSpPr>
        <p:spPr>
          <a:xfrm>
            <a:off x="221213" y="3714919"/>
            <a:ext cx="7519500" cy="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55" name="Google Shape;755;p60"/>
          <p:cNvCxnSpPr/>
          <p:nvPr/>
        </p:nvCxnSpPr>
        <p:spPr>
          <a:xfrm>
            <a:off x="221213" y="2898094"/>
            <a:ext cx="7519500" cy="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56" name="Google Shape;756;p60"/>
          <p:cNvCxnSpPr/>
          <p:nvPr/>
        </p:nvCxnSpPr>
        <p:spPr>
          <a:xfrm>
            <a:off x="221213" y="3298800"/>
            <a:ext cx="7519500" cy="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57" name="Google Shape;757;p60"/>
          <p:cNvCxnSpPr/>
          <p:nvPr/>
        </p:nvCxnSpPr>
        <p:spPr>
          <a:xfrm>
            <a:off x="221213" y="2491556"/>
            <a:ext cx="7519500" cy="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58" name="Google Shape;758;p60"/>
          <p:cNvCxnSpPr/>
          <p:nvPr/>
        </p:nvCxnSpPr>
        <p:spPr>
          <a:xfrm>
            <a:off x="221213" y="2087794"/>
            <a:ext cx="7519500" cy="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59" name="Google Shape;759;p60"/>
          <p:cNvCxnSpPr/>
          <p:nvPr/>
        </p:nvCxnSpPr>
        <p:spPr>
          <a:xfrm>
            <a:off x="2184763" y="1949531"/>
            <a:ext cx="9000" cy="201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760" name="Google Shape;760;p60"/>
          <p:cNvCxnSpPr/>
          <p:nvPr/>
        </p:nvCxnSpPr>
        <p:spPr>
          <a:xfrm>
            <a:off x="4597588" y="1949531"/>
            <a:ext cx="9000" cy="201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61" name="Google Shape;761;p60"/>
          <p:cNvSpPr txBox="1"/>
          <p:nvPr/>
        </p:nvSpPr>
        <p:spPr>
          <a:xfrm>
            <a:off x="7740713" y="1952456"/>
            <a:ext cx="95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Cardo"/>
                <a:ea typeface="Cardo"/>
                <a:cs typeface="Cardo"/>
                <a:sym typeface="Cardo"/>
              </a:rPr>
              <a:t>Decayed</a:t>
            </a:r>
            <a:endParaRPr i="1" sz="1600"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762" name="Google Shape;762;p60"/>
          <p:cNvSpPr txBox="1"/>
          <p:nvPr/>
        </p:nvSpPr>
        <p:spPr>
          <a:xfrm>
            <a:off x="7740713" y="2356219"/>
            <a:ext cx="1451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Cardo"/>
                <a:ea typeface="Cardo"/>
                <a:cs typeface="Cardo"/>
                <a:sym typeface="Cardo"/>
              </a:rPr>
              <a:t>Newly Formed</a:t>
            </a:r>
            <a:endParaRPr i="1" sz="1600"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763" name="Google Shape;763;p60"/>
          <p:cNvSpPr txBox="1"/>
          <p:nvPr/>
        </p:nvSpPr>
        <p:spPr>
          <a:xfrm>
            <a:off x="7740713" y="2762756"/>
            <a:ext cx="120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Cardo"/>
                <a:ea typeface="Cardo"/>
                <a:cs typeface="Cardo"/>
                <a:sym typeface="Cardo"/>
              </a:rPr>
              <a:t>Persistent</a:t>
            </a:r>
            <a:endParaRPr i="1" sz="1600"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764" name="Google Shape;764;p60"/>
          <p:cNvSpPr txBox="1"/>
          <p:nvPr/>
        </p:nvSpPr>
        <p:spPr>
          <a:xfrm>
            <a:off x="7740713" y="3163463"/>
            <a:ext cx="119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Cardo"/>
                <a:ea typeface="Cardo"/>
                <a:cs typeface="Cardo"/>
                <a:sym typeface="Cardo"/>
              </a:rPr>
              <a:t>Short Lived</a:t>
            </a:r>
            <a:endParaRPr i="1" sz="1600"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765" name="Google Shape;765;p60"/>
          <p:cNvSpPr txBox="1"/>
          <p:nvPr/>
        </p:nvSpPr>
        <p:spPr>
          <a:xfrm>
            <a:off x="7716263" y="3579581"/>
            <a:ext cx="125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Cardo"/>
                <a:ea typeface="Cardo"/>
                <a:cs typeface="Cardo"/>
                <a:sym typeface="Cardo"/>
              </a:rPr>
              <a:t>Intermittent</a:t>
            </a:r>
            <a:endParaRPr i="1" sz="1600">
              <a:latin typeface="Cardo"/>
              <a:ea typeface="Cardo"/>
              <a:cs typeface="Cardo"/>
              <a:sym typeface="Cardo"/>
            </a:endParaRPr>
          </a:p>
        </p:txBody>
      </p:sp>
      <p:cxnSp>
        <p:nvCxnSpPr>
          <p:cNvPr id="766" name="Google Shape;766;p60"/>
          <p:cNvCxnSpPr/>
          <p:nvPr/>
        </p:nvCxnSpPr>
        <p:spPr>
          <a:xfrm>
            <a:off x="858113" y="1980919"/>
            <a:ext cx="0" cy="220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7" name="Google Shape;767;p60"/>
          <p:cNvCxnSpPr/>
          <p:nvPr/>
        </p:nvCxnSpPr>
        <p:spPr>
          <a:xfrm>
            <a:off x="1404338" y="19775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8" name="Google Shape;768;p60"/>
          <p:cNvCxnSpPr/>
          <p:nvPr/>
        </p:nvCxnSpPr>
        <p:spPr>
          <a:xfrm>
            <a:off x="1583463" y="19775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9" name="Google Shape;769;p60"/>
          <p:cNvCxnSpPr/>
          <p:nvPr/>
        </p:nvCxnSpPr>
        <p:spPr>
          <a:xfrm>
            <a:off x="3152563" y="19775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0" name="Google Shape;770;p60"/>
          <p:cNvCxnSpPr/>
          <p:nvPr/>
        </p:nvCxnSpPr>
        <p:spPr>
          <a:xfrm>
            <a:off x="1729038" y="27776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1" name="Google Shape;771;p60"/>
          <p:cNvCxnSpPr/>
          <p:nvPr/>
        </p:nvCxnSpPr>
        <p:spPr>
          <a:xfrm>
            <a:off x="3582013" y="19775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2" name="Google Shape;772;p60"/>
          <p:cNvCxnSpPr/>
          <p:nvPr/>
        </p:nvCxnSpPr>
        <p:spPr>
          <a:xfrm>
            <a:off x="3582013" y="2381306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3" name="Google Shape;773;p60"/>
          <p:cNvCxnSpPr/>
          <p:nvPr/>
        </p:nvCxnSpPr>
        <p:spPr>
          <a:xfrm>
            <a:off x="3718713" y="2381306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4" name="Google Shape;774;p60"/>
          <p:cNvCxnSpPr/>
          <p:nvPr/>
        </p:nvCxnSpPr>
        <p:spPr>
          <a:xfrm>
            <a:off x="4414213" y="2381306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60"/>
          <p:cNvCxnSpPr/>
          <p:nvPr/>
        </p:nvCxnSpPr>
        <p:spPr>
          <a:xfrm>
            <a:off x="4602088" y="2381306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6" name="Google Shape;776;p60"/>
          <p:cNvCxnSpPr/>
          <p:nvPr/>
        </p:nvCxnSpPr>
        <p:spPr>
          <a:xfrm>
            <a:off x="5564838" y="2381306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60"/>
          <p:cNvCxnSpPr/>
          <p:nvPr/>
        </p:nvCxnSpPr>
        <p:spPr>
          <a:xfrm>
            <a:off x="5726163" y="2381306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8" name="Google Shape;778;p60"/>
          <p:cNvCxnSpPr/>
          <p:nvPr/>
        </p:nvCxnSpPr>
        <p:spPr>
          <a:xfrm>
            <a:off x="6368263" y="2381306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9" name="Google Shape;779;p60"/>
          <p:cNvCxnSpPr/>
          <p:nvPr/>
        </p:nvCxnSpPr>
        <p:spPr>
          <a:xfrm>
            <a:off x="7268563" y="240639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0" name="Google Shape;780;p60"/>
          <p:cNvSpPr/>
          <p:nvPr/>
        </p:nvSpPr>
        <p:spPr>
          <a:xfrm>
            <a:off x="3414463" y="2364656"/>
            <a:ext cx="3993300" cy="260400"/>
          </a:xfrm>
          <a:prstGeom prst="rect">
            <a:avLst/>
          </a:prstGeom>
          <a:solidFill>
            <a:srgbClr val="93C47D">
              <a:alpha val="542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1" name="Google Shape;781;p60"/>
          <p:cNvCxnSpPr/>
          <p:nvPr/>
        </p:nvCxnSpPr>
        <p:spPr>
          <a:xfrm>
            <a:off x="858113" y="27776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" name="Google Shape;782;p60"/>
          <p:cNvCxnSpPr/>
          <p:nvPr/>
        </p:nvCxnSpPr>
        <p:spPr>
          <a:xfrm>
            <a:off x="1583463" y="27776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3" name="Google Shape;783;p60"/>
          <p:cNvCxnSpPr/>
          <p:nvPr/>
        </p:nvCxnSpPr>
        <p:spPr>
          <a:xfrm>
            <a:off x="2284188" y="27776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4" name="Google Shape;784;p60"/>
          <p:cNvCxnSpPr/>
          <p:nvPr/>
        </p:nvCxnSpPr>
        <p:spPr>
          <a:xfrm>
            <a:off x="3152563" y="27776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5" name="Google Shape;785;p60"/>
          <p:cNvCxnSpPr/>
          <p:nvPr/>
        </p:nvCxnSpPr>
        <p:spPr>
          <a:xfrm>
            <a:off x="3582013" y="27878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" name="Google Shape;786;p60"/>
          <p:cNvCxnSpPr/>
          <p:nvPr/>
        </p:nvCxnSpPr>
        <p:spPr>
          <a:xfrm>
            <a:off x="4103638" y="27878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" name="Google Shape;787;p60"/>
          <p:cNvCxnSpPr/>
          <p:nvPr/>
        </p:nvCxnSpPr>
        <p:spPr>
          <a:xfrm>
            <a:off x="4282738" y="27878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" name="Google Shape;788;p60"/>
          <p:cNvCxnSpPr/>
          <p:nvPr/>
        </p:nvCxnSpPr>
        <p:spPr>
          <a:xfrm>
            <a:off x="4933738" y="27776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9" name="Google Shape;789;p60"/>
          <p:cNvCxnSpPr/>
          <p:nvPr/>
        </p:nvCxnSpPr>
        <p:spPr>
          <a:xfrm>
            <a:off x="5726163" y="27878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0" name="Google Shape;790;p60"/>
          <p:cNvCxnSpPr/>
          <p:nvPr/>
        </p:nvCxnSpPr>
        <p:spPr>
          <a:xfrm>
            <a:off x="6280263" y="27878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1" name="Google Shape;791;p60"/>
          <p:cNvCxnSpPr/>
          <p:nvPr/>
        </p:nvCxnSpPr>
        <p:spPr>
          <a:xfrm>
            <a:off x="3469413" y="3188550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2" name="Google Shape;792;p60"/>
          <p:cNvCxnSpPr/>
          <p:nvPr/>
        </p:nvCxnSpPr>
        <p:spPr>
          <a:xfrm>
            <a:off x="3808788" y="3188550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3" name="Google Shape;793;p60"/>
          <p:cNvCxnSpPr/>
          <p:nvPr/>
        </p:nvCxnSpPr>
        <p:spPr>
          <a:xfrm>
            <a:off x="4282738" y="3188550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4" name="Google Shape;794;p60"/>
          <p:cNvCxnSpPr/>
          <p:nvPr/>
        </p:nvCxnSpPr>
        <p:spPr>
          <a:xfrm>
            <a:off x="3980963" y="3188550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5" name="Google Shape;795;p60"/>
          <p:cNvCxnSpPr/>
          <p:nvPr/>
        </p:nvCxnSpPr>
        <p:spPr>
          <a:xfrm>
            <a:off x="6981588" y="27878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6" name="Google Shape;796;p60"/>
          <p:cNvCxnSpPr/>
          <p:nvPr/>
        </p:nvCxnSpPr>
        <p:spPr>
          <a:xfrm>
            <a:off x="7117213" y="27878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7" name="Google Shape;797;p60"/>
          <p:cNvSpPr/>
          <p:nvPr/>
        </p:nvSpPr>
        <p:spPr>
          <a:xfrm>
            <a:off x="664288" y="2760994"/>
            <a:ext cx="6660000" cy="260400"/>
          </a:xfrm>
          <a:prstGeom prst="rect">
            <a:avLst/>
          </a:prstGeom>
          <a:solidFill>
            <a:srgbClr val="FFFF00">
              <a:alpha val="334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60"/>
          <p:cNvSpPr/>
          <p:nvPr/>
        </p:nvSpPr>
        <p:spPr>
          <a:xfrm>
            <a:off x="3231321" y="3171900"/>
            <a:ext cx="1135200" cy="260400"/>
          </a:xfrm>
          <a:prstGeom prst="rect">
            <a:avLst/>
          </a:prstGeom>
          <a:solidFill>
            <a:srgbClr val="CC4125">
              <a:alpha val="38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9" name="Google Shape;799;p60"/>
          <p:cNvCxnSpPr/>
          <p:nvPr/>
        </p:nvCxnSpPr>
        <p:spPr>
          <a:xfrm>
            <a:off x="793563" y="3604669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0" name="Google Shape;800;p60"/>
          <p:cNvCxnSpPr/>
          <p:nvPr/>
        </p:nvCxnSpPr>
        <p:spPr>
          <a:xfrm>
            <a:off x="1782913" y="3604669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1" name="Google Shape;801;p60"/>
          <p:cNvCxnSpPr/>
          <p:nvPr/>
        </p:nvCxnSpPr>
        <p:spPr>
          <a:xfrm>
            <a:off x="1970938" y="3604669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2" name="Google Shape;802;p60"/>
          <p:cNvCxnSpPr/>
          <p:nvPr/>
        </p:nvCxnSpPr>
        <p:spPr>
          <a:xfrm>
            <a:off x="6981588" y="3579581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3" name="Google Shape;803;p60"/>
          <p:cNvCxnSpPr/>
          <p:nvPr/>
        </p:nvCxnSpPr>
        <p:spPr>
          <a:xfrm>
            <a:off x="6736413" y="3579581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4" name="Google Shape;804;p60"/>
          <p:cNvSpPr/>
          <p:nvPr/>
        </p:nvSpPr>
        <p:spPr>
          <a:xfrm>
            <a:off x="650963" y="3588019"/>
            <a:ext cx="6660000" cy="260400"/>
          </a:xfrm>
          <a:prstGeom prst="rect">
            <a:avLst/>
          </a:prstGeom>
          <a:solidFill>
            <a:srgbClr val="A64D79">
              <a:alpha val="3576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5" name="Google Shape;80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863" y="2229656"/>
            <a:ext cx="469874" cy="196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24539" y="3957378"/>
            <a:ext cx="216035" cy="225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2577" y="3908967"/>
            <a:ext cx="227416" cy="242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65850" y="3913974"/>
            <a:ext cx="551832" cy="232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6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2504" y="3907306"/>
            <a:ext cx="226588" cy="2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6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60697" y="4146239"/>
            <a:ext cx="235823" cy="181178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60"/>
          <p:cNvSpPr txBox="1"/>
          <p:nvPr/>
        </p:nvSpPr>
        <p:spPr>
          <a:xfrm>
            <a:off x="223838" y="1540125"/>
            <a:ext cx="19629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rdo"/>
                <a:ea typeface="Cardo"/>
                <a:cs typeface="Cardo"/>
                <a:sym typeface="Cardo"/>
              </a:rPr>
              <a:t>Weeks 1 through 13</a:t>
            </a:r>
            <a:endParaRPr sz="1600"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812" name="Google Shape;812;p60"/>
          <p:cNvSpPr txBox="1"/>
          <p:nvPr/>
        </p:nvSpPr>
        <p:spPr>
          <a:xfrm>
            <a:off x="2364163" y="1540125"/>
            <a:ext cx="21075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rdo"/>
                <a:ea typeface="Cardo"/>
                <a:cs typeface="Cardo"/>
                <a:sym typeface="Cardo"/>
              </a:rPr>
              <a:t>Weeks 14 through 35</a:t>
            </a:r>
            <a:endParaRPr sz="1600"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813" name="Google Shape;813;p60"/>
          <p:cNvSpPr txBox="1"/>
          <p:nvPr/>
        </p:nvSpPr>
        <p:spPr>
          <a:xfrm>
            <a:off x="5109363" y="1540125"/>
            <a:ext cx="20658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rdo"/>
                <a:ea typeface="Cardo"/>
                <a:cs typeface="Cardo"/>
                <a:sym typeface="Cardo"/>
              </a:rPr>
              <a:t>Weeks 36 through 75</a:t>
            </a:r>
            <a:endParaRPr sz="1600">
              <a:latin typeface="Cardo"/>
              <a:ea typeface="Cardo"/>
              <a:cs typeface="Cardo"/>
              <a:sym typeface="Cardo"/>
            </a:endParaRPr>
          </a:p>
        </p:txBody>
      </p:sp>
      <p:cxnSp>
        <p:nvCxnSpPr>
          <p:cNvPr id="814" name="Google Shape;814;p60"/>
          <p:cNvCxnSpPr/>
          <p:nvPr/>
        </p:nvCxnSpPr>
        <p:spPr>
          <a:xfrm>
            <a:off x="172538" y="1526775"/>
            <a:ext cx="2065500" cy="1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815" name="Google Shape;815;p60"/>
          <p:cNvCxnSpPr/>
          <p:nvPr/>
        </p:nvCxnSpPr>
        <p:spPr>
          <a:xfrm>
            <a:off x="4624263" y="1541738"/>
            <a:ext cx="3036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816" name="Google Shape;816;p60"/>
          <p:cNvCxnSpPr/>
          <p:nvPr/>
        </p:nvCxnSpPr>
        <p:spPr>
          <a:xfrm>
            <a:off x="3469413" y="19775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7" name="Google Shape;817;p60"/>
          <p:cNvSpPr/>
          <p:nvPr/>
        </p:nvSpPr>
        <p:spPr>
          <a:xfrm>
            <a:off x="608813" y="1960894"/>
            <a:ext cx="3138300" cy="260400"/>
          </a:xfrm>
          <a:prstGeom prst="rect">
            <a:avLst/>
          </a:prstGeom>
          <a:solidFill>
            <a:srgbClr val="F6B26B">
              <a:alpha val="442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18" name="Google Shape;818;p60"/>
          <p:cNvCxnSpPr/>
          <p:nvPr/>
        </p:nvCxnSpPr>
        <p:spPr>
          <a:xfrm flipH="1" rot="10800000">
            <a:off x="2211463" y="1546500"/>
            <a:ext cx="24129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3" name="Google Shape;823;p61"/>
          <p:cNvCxnSpPr/>
          <p:nvPr/>
        </p:nvCxnSpPr>
        <p:spPr>
          <a:xfrm>
            <a:off x="221213" y="3714919"/>
            <a:ext cx="7519500" cy="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24" name="Google Shape;824;p61"/>
          <p:cNvCxnSpPr/>
          <p:nvPr/>
        </p:nvCxnSpPr>
        <p:spPr>
          <a:xfrm>
            <a:off x="221213" y="2898094"/>
            <a:ext cx="7519500" cy="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25" name="Google Shape;825;p61"/>
          <p:cNvCxnSpPr/>
          <p:nvPr/>
        </p:nvCxnSpPr>
        <p:spPr>
          <a:xfrm>
            <a:off x="221213" y="3298800"/>
            <a:ext cx="7519500" cy="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26" name="Google Shape;826;p61"/>
          <p:cNvCxnSpPr/>
          <p:nvPr/>
        </p:nvCxnSpPr>
        <p:spPr>
          <a:xfrm>
            <a:off x="221213" y="2491556"/>
            <a:ext cx="7519500" cy="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27" name="Google Shape;827;p61"/>
          <p:cNvCxnSpPr/>
          <p:nvPr/>
        </p:nvCxnSpPr>
        <p:spPr>
          <a:xfrm>
            <a:off x="221213" y="2087794"/>
            <a:ext cx="7519500" cy="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28" name="Google Shape;828;p61"/>
          <p:cNvCxnSpPr/>
          <p:nvPr/>
        </p:nvCxnSpPr>
        <p:spPr>
          <a:xfrm>
            <a:off x="2184763" y="1949531"/>
            <a:ext cx="9000" cy="201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829" name="Google Shape;829;p61"/>
          <p:cNvCxnSpPr/>
          <p:nvPr/>
        </p:nvCxnSpPr>
        <p:spPr>
          <a:xfrm>
            <a:off x="4597588" y="1949531"/>
            <a:ext cx="9000" cy="201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30" name="Google Shape;830;p61"/>
          <p:cNvSpPr txBox="1"/>
          <p:nvPr/>
        </p:nvSpPr>
        <p:spPr>
          <a:xfrm>
            <a:off x="7740713" y="1952456"/>
            <a:ext cx="95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Cardo"/>
                <a:ea typeface="Cardo"/>
                <a:cs typeface="Cardo"/>
                <a:sym typeface="Cardo"/>
              </a:rPr>
              <a:t>Decayed</a:t>
            </a:r>
            <a:endParaRPr i="1" sz="1600"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831" name="Google Shape;831;p61"/>
          <p:cNvSpPr txBox="1"/>
          <p:nvPr/>
        </p:nvSpPr>
        <p:spPr>
          <a:xfrm>
            <a:off x="7740713" y="2356219"/>
            <a:ext cx="1451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Cardo"/>
                <a:ea typeface="Cardo"/>
                <a:cs typeface="Cardo"/>
                <a:sym typeface="Cardo"/>
              </a:rPr>
              <a:t>Newly Formed</a:t>
            </a:r>
            <a:endParaRPr i="1" sz="1600"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832" name="Google Shape;832;p61"/>
          <p:cNvSpPr txBox="1"/>
          <p:nvPr/>
        </p:nvSpPr>
        <p:spPr>
          <a:xfrm>
            <a:off x="7740713" y="2762756"/>
            <a:ext cx="120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Cardo"/>
                <a:ea typeface="Cardo"/>
                <a:cs typeface="Cardo"/>
                <a:sym typeface="Cardo"/>
              </a:rPr>
              <a:t>Persistent</a:t>
            </a:r>
            <a:endParaRPr i="1" sz="1600"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833" name="Google Shape;833;p61"/>
          <p:cNvSpPr txBox="1"/>
          <p:nvPr/>
        </p:nvSpPr>
        <p:spPr>
          <a:xfrm>
            <a:off x="7740713" y="3163463"/>
            <a:ext cx="119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Cardo"/>
                <a:ea typeface="Cardo"/>
                <a:cs typeface="Cardo"/>
                <a:sym typeface="Cardo"/>
              </a:rPr>
              <a:t>Short Lived</a:t>
            </a:r>
            <a:endParaRPr i="1" sz="1600"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834" name="Google Shape;834;p61"/>
          <p:cNvSpPr txBox="1"/>
          <p:nvPr/>
        </p:nvSpPr>
        <p:spPr>
          <a:xfrm>
            <a:off x="7716263" y="3579581"/>
            <a:ext cx="125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Cardo"/>
                <a:ea typeface="Cardo"/>
                <a:cs typeface="Cardo"/>
                <a:sym typeface="Cardo"/>
              </a:rPr>
              <a:t>Intermittent</a:t>
            </a:r>
            <a:endParaRPr i="1" sz="1600">
              <a:latin typeface="Cardo"/>
              <a:ea typeface="Cardo"/>
              <a:cs typeface="Cardo"/>
              <a:sym typeface="Cardo"/>
            </a:endParaRPr>
          </a:p>
        </p:txBody>
      </p:sp>
      <p:cxnSp>
        <p:nvCxnSpPr>
          <p:cNvPr id="835" name="Google Shape;835;p61"/>
          <p:cNvCxnSpPr/>
          <p:nvPr/>
        </p:nvCxnSpPr>
        <p:spPr>
          <a:xfrm>
            <a:off x="858113" y="1980919"/>
            <a:ext cx="0" cy="220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6" name="Google Shape;836;p61"/>
          <p:cNvCxnSpPr/>
          <p:nvPr/>
        </p:nvCxnSpPr>
        <p:spPr>
          <a:xfrm>
            <a:off x="1404338" y="19775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7" name="Google Shape;837;p61"/>
          <p:cNvCxnSpPr/>
          <p:nvPr/>
        </p:nvCxnSpPr>
        <p:spPr>
          <a:xfrm>
            <a:off x="1583463" y="19775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8" name="Google Shape;838;p61"/>
          <p:cNvCxnSpPr/>
          <p:nvPr/>
        </p:nvCxnSpPr>
        <p:spPr>
          <a:xfrm>
            <a:off x="3152563" y="19775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9" name="Google Shape;839;p61"/>
          <p:cNvCxnSpPr/>
          <p:nvPr/>
        </p:nvCxnSpPr>
        <p:spPr>
          <a:xfrm>
            <a:off x="1729038" y="27776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0" name="Google Shape;840;p61"/>
          <p:cNvCxnSpPr/>
          <p:nvPr/>
        </p:nvCxnSpPr>
        <p:spPr>
          <a:xfrm>
            <a:off x="3582013" y="19775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1" name="Google Shape;841;p61"/>
          <p:cNvCxnSpPr/>
          <p:nvPr/>
        </p:nvCxnSpPr>
        <p:spPr>
          <a:xfrm>
            <a:off x="3582013" y="2381306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2" name="Google Shape;842;p61"/>
          <p:cNvCxnSpPr/>
          <p:nvPr/>
        </p:nvCxnSpPr>
        <p:spPr>
          <a:xfrm>
            <a:off x="3718713" y="2381306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61"/>
          <p:cNvCxnSpPr/>
          <p:nvPr/>
        </p:nvCxnSpPr>
        <p:spPr>
          <a:xfrm>
            <a:off x="4414213" y="2381306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61"/>
          <p:cNvCxnSpPr/>
          <p:nvPr/>
        </p:nvCxnSpPr>
        <p:spPr>
          <a:xfrm>
            <a:off x="4602088" y="2381306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61"/>
          <p:cNvCxnSpPr/>
          <p:nvPr/>
        </p:nvCxnSpPr>
        <p:spPr>
          <a:xfrm>
            <a:off x="5564838" y="2381306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6" name="Google Shape;846;p61"/>
          <p:cNvCxnSpPr/>
          <p:nvPr/>
        </p:nvCxnSpPr>
        <p:spPr>
          <a:xfrm>
            <a:off x="5726163" y="2381306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7" name="Google Shape;847;p61"/>
          <p:cNvCxnSpPr/>
          <p:nvPr/>
        </p:nvCxnSpPr>
        <p:spPr>
          <a:xfrm>
            <a:off x="6368263" y="2381306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8" name="Google Shape;848;p61"/>
          <p:cNvCxnSpPr/>
          <p:nvPr/>
        </p:nvCxnSpPr>
        <p:spPr>
          <a:xfrm>
            <a:off x="7268563" y="240639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9" name="Google Shape;849;p61"/>
          <p:cNvSpPr/>
          <p:nvPr/>
        </p:nvSpPr>
        <p:spPr>
          <a:xfrm>
            <a:off x="3414463" y="2364656"/>
            <a:ext cx="3993300" cy="260400"/>
          </a:xfrm>
          <a:prstGeom prst="rect">
            <a:avLst/>
          </a:prstGeom>
          <a:solidFill>
            <a:srgbClr val="93C47D">
              <a:alpha val="542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0" name="Google Shape;850;p61"/>
          <p:cNvCxnSpPr/>
          <p:nvPr/>
        </p:nvCxnSpPr>
        <p:spPr>
          <a:xfrm>
            <a:off x="858113" y="27776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1" name="Google Shape;851;p61"/>
          <p:cNvCxnSpPr/>
          <p:nvPr/>
        </p:nvCxnSpPr>
        <p:spPr>
          <a:xfrm>
            <a:off x="1583463" y="27776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2" name="Google Shape;852;p61"/>
          <p:cNvCxnSpPr/>
          <p:nvPr/>
        </p:nvCxnSpPr>
        <p:spPr>
          <a:xfrm>
            <a:off x="2284188" y="27776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3" name="Google Shape;853;p61"/>
          <p:cNvCxnSpPr/>
          <p:nvPr/>
        </p:nvCxnSpPr>
        <p:spPr>
          <a:xfrm>
            <a:off x="3152563" y="27776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4" name="Google Shape;854;p61"/>
          <p:cNvCxnSpPr/>
          <p:nvPr/>
        </p:nvCxnSpPr>
        <p:spPr>
          <a:xfrm>
            <a:off x="3582013" y="27878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5" name="Google Shape;855;p61"/>
          <p:cNvCxnSpPr/>
          <p:nvPr/>
        </p:nvCxnSpPr>
        <p:spPr>
          <a:xfrm>
            <a:off x="4103638" y="27878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6" name="Google Shape;856;p61"/>
          <p:cNvCxnSpPr/>
          <p:nvPr/>
        </p:nvCxnSpPr>
        <p:spPr>
          <a:xfrm>
            <a:off x="4282738" y="27878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7" name="Google Shape;857;p61"/>
          <p:cNvCxnSpPr/>
          <p:nvPr/>
        </p:nvCxnSpPr>
        <p:spPr>
          <a:xfrm>
            <a:off x="4933738" y="27776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8" name="Google Shape;858;p61"/>
          <p:cNvCxnSpPr/>
          <p:nvPr/>
        </p:nvCxnSpPr>
        <p:spPr>
          <a:xfrm>
            <a:off x="5726163" y="27878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9" name="Google Shape;859;p61"/>
          <p:cNvCxnSpPr/>
          <p:nvPr/>
        </p:nvCxnSpPr>
        <p:spPr>
          <a:xfrm>
            <a:off x="6280263" y="27878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0" name="Google Shape;860;p61"/>
          <p:cNvCxnSpPr/>
          <p:nvPr/>
        </p:nvCxnSpPr>
        <p:spPr>
          <a:xfrm>
            <a:off x="3469413" y="3188550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" name="Google Shape;861;p61"/>
          <p:cNvCxnSpPr/>
          <p:nvPr/>
        </p:nvCxnSpPr>
        <p:spPr>
          <a:xfrm>
            <a:off x="3808788" y="3188550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2" name="Google Shape;862;p61"/>
          <p:cNvCxnSpPr/>
          <p:nvPr/>
        </p:nvCxnSpPr>
        <p:spPr>
          <a:xfrm>
            <a:off x="4282738" y="3188550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3" name="Google Shape;863;p61"/>
          <p:cNvCxnSpPr/>
          <p:nvPr/>
        </p:nvCxnSpPr>
        <p:spPr>
          <a:xfrm>
            <a:off x="3980963" y="3188550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4" name="Google Shape;864;p61"/>
          <p:cNvCxnSpPr/>
          <p:nvPr/>
        </p:nvCxnSpPr>
        <p:spPr>
          <a:xfrm>
            <a:off x="6981588" y="27878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5" name="Google Shape;865;p61"/>
          <p:cNvCxnSpPr/>
          <p:nvPr/>
        </p:nvCxnSpPr>
        <p:spPr>
          <a:xfrm>
            <a:off x="7117213" y="27878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6" name="Google Shape;866;p61"/>
          <p:cNvSpPr/>
          <p:nvPr/>
        </p:nvSpPr>
        <p:spPr>
          <a:xfrm>
            <a:off x="664288" y="2760994"/>
            <a:ext cx="6660000" cy="260400"/>
          </a:xfrm>
          <a:prstGeom prst="rect">
            <a:avLst/>
          </a:prstGeom>
          <a:solidFill>
            <a:srgbClr val="FFFF00">
              <a:alpha val="334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61"/>
          <p:cNvSpPr/>
          <p:nvPr/>
        </p:nvSpPr>
        <p:spPr>
          <a:xfrm>
            <a:off x="3231321" y="3171900"/>
            <a:ext cx="1135200" cy="260400"/>
          </a:xfrm>
          <a:prstGeom prst="rect">
            <a:avLst/>
          </a:prstGeom>
          <a:solidFill>
            <a:srgbClr val="CC4125">
              <a:alpha val="38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8" name="Google Shape;868;p61"/>
          <p:cNvCxnSpPr/>
          <p:nvPr/>
        </p:nvCxnSpPr>
        <p:spPr>
          <a:xfrm>
            <a:off x="793563" y="3604669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9" name="Google Shape;869;p61"/>
          <p:cNvCxnSpPr/>
          <p:nvPr/>
        </p:nvCxnSpPr>
        <p:spPr>
          <a:xfrm>
            <a:off x="1782913" y="3604669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0" name="Google Shape;870;p61"/>
          <p:cNvCxnSpPr/>
          <p:nvPr/>
        </p:nvCxnSpPr>
        <p:spPr>
          <a:xfrm>
            <a:off x="1970938" y="3604669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61"/>
          <p:cNvCxnSpPr/>
          <p:nvPr/>
        </p:nvCxnSpPr>
        <p:spPr>
          <a:xfrm>
            <a:off x="6981588" y="3579581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2" name="Google Shape;872;p61"/>
          <p:cNvCxnSpPr/>
          <p:nvPr/>
        </p:nvCxnSpPr>
        <p:spPr>
          <a:xfrm>
            <a:off x="6736413" y="3579581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3" name="Google Shape;873;p61"/>
          <p:cNvSpPr/>
          <p:nvPr/>
        </p:nvSpPr>
        <p:spPr>
          <a:xfrm>
            <a:off x="650963" y="3588019"/>
            <a:ext cx="6660000" cy="260400"/>
          </a:xfrm>
          <a:prstGeom prst="rect">
            <a:avLst/>
          </a:prstGeom>
          <a:solidFill>
            <a:srgbClr val="A64D79">
              <a:alpha val="3576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4" name="Google Shape;87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863" y="2229656"/>
            <a:ext cx="469874" cy="196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24539" y="3957378"/>
            <a:ext cx="216035" cy="225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2577" y="3908967"/>
            <a:ext cx="227416" cy="242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65850" y="3913974"/>
            <a:ext cx="551832" cy="232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2504" y="3907306"/>
            <a:ext cx="226588" cy="2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p6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60697" y="4146239"/>
            <a:ext cx="235823" cy="181178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61"/>
          <p:cNvSpPr txBox="1"/>
          <p:nvPr/>
        </p:nvSpPr>
        <p:spPr>
          <a:xfrm>
            <a:off x="223838" y="1540125"/>
            <a:ext cx="19629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rdo"/>
                <a:ea typeface="Cardo"/>
                <a:cs typeface="Cardo"/>
                <a:sym typeface="Cardo"/>
              </a:rPr>
              <a:t>Weeks 1 through 13</a:t>
            </a:r>
            <a:endParaRPr sz="1600"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881" name="Google Shape;881;p61"/>
          <p:cNvSpPr txBox="1"/>
          <p:nvPr/>
        </p:nvSpPr>
        <p:spPr>
          <a:xfrm>
            <a:off x="2364163" y="1540125"/>
            <a:ext cx="21075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rdo"/>
                <a:ea typeface="Cardo"/>
                <a:cs typeface="Cardo"/>
                <a:sym typeface="Cardo"/>
              </a:rPr>
              <a:t>Weeks 14 through 35</a:t>
            </a:r>
            <a:endParaRPr sz="1600"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882" name="Google Shape;882;p61"/>
          <p:cNvSpPr txBox="1"/>
          <p:nvPr/>
        </p:nvSpPr>
        <p:spPr>
          <a:xfrm>
            <a:off x="5109363" y="1540125"/>
            <a:ext cx="20658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rdo"/>
                <a:ea typeface="Cardo"/>
                <a:cs typeface="Cardo"/>
                <a:sym typeface="Cardo"/>
              </a:rPr>
              <a:t>Weeks 36 through 75</a:t>
            </a:r>
            <a:endParaRPr sz="1600">
              <a:latin typeface="Cardo"/>
              <a:ea typeface="Cardo"/>
              <a:cs typeface="Cardo"/>
              <a:sym typeface="Cardo"/>
            </a:endParaRPr>
          </a:p>
        </p:txBody>
      </p:sp>
      <p:cxnSp>
        <p:nvCxnSpPr>
          <p:cNvPr id="883" name="Google Shape;883;p61"/>
          <p:cNvCxnSpPr/>
          <p:nvPr/>
        </p:nvCxnSpPr>
        <p:spPr>
          <a:xfrm>
            <a:off x="172538" y="1526775"/>
            <a:ext cx="2065500" cy="1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884" name="Google Shape;884;p61"/>
          <p:cNvCxnSpPr/>
          <p:nvPr/>
        </p:nvCxnSpPr>
        <p:spPr>
          <a:xfrm>
            <a:off x="4624263" y="1541738"/>
            <a:ext cx="3036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885" name="Google Shape;885;p61"/>
          <p:cNvCxnSpPr/>
          <p:nvPr/>
        </p:nvCxnSpPr>
        <p:spPr>
          <a:xfrm>
            <a:off x="3469413" y="19775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6" name="Google Shape;886;p61"/>
          <p:cNvSpPr/>
          <p:nvPr/>
        </p:nvSpPr>
        <p:spPr>
          <a:xfrm>
            <a:off x="608813" y="1960894"/>
            <a:ext cx="3138300" cy="260400"/>
          </a:xfrm>
          <a:prstGeom prst="rect">
            <a:avLst/>
          </a:prstGeom>
          <a:solidFill>
            <a:srgbClr val="F6B26B">
              <a:alpha val="442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7" name="Google Shape;887;p61"/>
          <p:cNvCxnSpPr/>
          <p:nvPr/>
        </p:nvCxnSpPr>
        <p:spPr>
          <a:xfrm flipH="1" rot="10800000">
            <a:off x="2211463" y="1546500"/>
            <a:ext cx="24129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graphicFrame>
        <p:nvGraphicFramePr>
          <p:cNvPr id="888" name="Google Shape;888;p61"/>
          <p:cNvGraphicFramePr/>
          <p:nvPr/>
        </p:nvGraphicFramePr>
        <p:xfrm>
          <a:off x="136525" y="197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{FC597AD0-8B0F-4004-82C7-CDBB79F84977}</a:tableStyleId>
              </a:tblPr>
              <a:tblGrid>
                <a:gridCol w="2057875"/>
                <a:gridCol w="2397375"/>
                <a:gridCol w="2984125"/>
              </a:tblGrid>
              <a:tr h="37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C78D8">
                        <a:alpha val="161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C78D8">
                        <a:alpha val="161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C78D8">
                        <a:alpha val="161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C78D8">
                        <a:alpha val="161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C78D8">
                        <a:alpha val="161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