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F47425C-3E23-4647-A863-A74B1C7646E3}">
  <a:tblStyle styleId="{2F47425C-3E23-4647-A863-A74B1C7646E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rtl="0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rtl="0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rtl="0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rtl="0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rtl="0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rtl="0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rtl="0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rtl="0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1000"/>
              </a:spcBef>
              <a:spcAft>
                <a:spcPts val="0"/>
              </a:spcAft>
              <a:buSzPts val="1400"/>
              <a:buFont typeface="Calibri"/>
              <a:buNone/>
              <a:defRPr b="1" sz="2400"/>
            </a:lvl1pPr>
            <a:lvl2pPr indent="-228600" lvl="1" marL="9144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 b="1" sz="2000"/>
            </a:lvl2pPr>
            <a:lvl3pPr indent="-228600" lvl="2" marL="13716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 b="1" sz="1800"/>
            </a:lvl3pPr>
            <a:lvl4pPr indent="-228600" lvl="3" marL="18288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4pPr>
            <a:lvl5pPr indent="-228600" lvl="4" marL="22860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5pPr>
            <a:lvl6pPr indent="-228600" lvl="5" marL="27432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6pPr>
            <a:lvl7pPr indent="-228600" lvl="6" marL="32004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7pPr>
            <a:lvl8pPr indent="-228600" lvl="7" marL="36576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8pPr>
            <a:lvl9pPr indent="-228600" lvl="8" marL="41148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1000"/>
              </a:spcBef>
              <a:spcAft>
                <a:spcPts val="0"/>
              </a:spcAft>
              <a:buSzPts val="1400"/>
              <a:buFont typeface="Calibri"/>
              <a:buNone/>
              <a:defRPr b="1" sz="2400"/>
            </a:lvl1pPr>
            <a:lvl2pPr indent="-228600" lvl="1" marL="9144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 b="1" sz="2000"/>
            </a:lvl2pPr>
            <a:lvl3pPr indent="-228600" lvl="2" marL="13716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 b="1" sz="1800"/>
            </a:lvl3pPr>
            <a:lvl4pPr indent="-228600" lvl="3" marL="18288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4pPr>
            <a:lvl5pPr indent="-228600" lvl="4" marL="22860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5pPr>
            <a:lvl6pPr indent="-228600" lvl="5" marL="27432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6pPr>
            <a:lvl7pPr indent="-228600" lvl="6" marL="32004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7pPr>
            <a:lvl8pPr indent="-228600" lvl="7" marL="36576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8pPr>
            <a:lvl9pPr indent="-228600" lvl="8" marL="41148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3200"/>
            </a:lvl1pPr>
            <a:lvl2pPr indent="-317500" lvl="1" marL="914400" rtl="0"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2800"/>
            </a:lvl2pPr>
            <a:lvl3pPr indent="-317500" lvl="2" marL="1371600" rtl="0"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2400"/>
            </a:lvl3pPr>
            <a:lvl4pPr indent="-317500" lvl="3" marL="1828800" rtl="0"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2000"/>
            </a:lvl4pPr>
            <a:lvl5pPr indent="-317500" lvl="4" marL="2286000" rtl="0"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2000"/>
            </a:lvl5pPr>
            <a:lvl6pPr indent="-317500" lvl="5" marL="2743200" rtl="0"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2000"/>
            </a:lvl6pPr>
            <a:lvl7pPr indent="-317500" lvl="6" marL="3200400" rtl="0"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2000"/>
            </a:lvl7pPr>
            <a:lvl8pPr indent="-317500" lvl="7" marL="3657600" rtl="0"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2000"/>
            </a:lvl8pPr>
            <a:lvl9pPr indent="-317500" lvl="8" marL="4114800" rtl="0"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1000"/>
              </a:spcBef>
              <a:spcAft>
                <a:spcPts val="0"/>
              </a:spcAft>
              <a:buSzPts val="1400"/>
              <a:buFont typeface="Calibri"/>
              <a:buNone/>
              <a:defRPr sz="1600"/>
            </a:lvl1pPr>
            <a:lvl2pPr indent="-228600" lvl="1" marL="9144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 sz="1400"/>
            </a:lvl2pPr>
            <a:lvl3pPr indent="-228600" lvl="2" marL="13716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 sz="1200"/>
            </a:lvl3pPr>
            <a:lvl4pPr indent="-228600" lvl="3" marL="18288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 sz="1000"/>
            </a:lvl4pPr>
            <a:lvl5pPr indent="-228600" lvl="4" marL="22860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 sz="1000"/>
            </a:lvl5pPr>
            <a:lvl6pPr indent="-228600" lvl="5" marL="27432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 sz="1000"/>
            </a:lvl6pPr>
            <a:lvl7pPr indent="-228600" lvl="6" marL="32004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 sz="1000"/>
            </a:lvl7pPr>
            <a:lvl8pPr indent="-228600" lvl="7" marL="36576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 sz="1000"/>
            </a:lvl8pPr>
            <a:lvl9pPr indent="-228600" lvl="8" marL="41148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3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1000"/>
              </a:spcBef>
              <a:spcAft>
                <a:spcPts val="0"/>
              </a:spcAft>
              <a:buSzPts val="1400"/>
              <a:buFont typeface="Calibri"/>
              <a:buNone/>
              <a:defRPr sz="1600"/>
            </a:lvl1pPr>
            <a:lvl2pPr indent="-228600" lvl="1" marL="9144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 sz="1400"/>
            </a:lvl2pPr>
            <a:lvl3pPr indent="-228600" lvl="2" marL="13716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 sz="1200"/>
            </a:lvl3pPr>
            <a:lvl4pPr indent="-228600" lvl="3" marL="18288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 sz="1000"/>
            </a:lvl4pPr>
            <a:lvl5pPr indent="-228600" lvl="4" marL="22860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 sz="1000"/>
            </a:lvl5pPr>
            <a:lvl6pPr indent="-228600" lvl="5" marL="27432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 sz="1000"/>
            </a:lvl6pPr>
            <a:lvl7pPr indent="-228600" lvl="6" marL="32004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 sz="1000"/>
            </a:lvl7pPr>
            <a:lvl8pPr indent="-228600" lvl="7" marL="36576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 sz="1000"/>
            </a:lvl8pPr>
            <a:lvl9pPr indent="-228600" lvl="8" marL="4114800" rtl="0">
              <a:spcBef>
                <a:spcPts val="500"/>
              </a:spcBef>
              <a:spcAft>
                <a:spcPts val="0"/>
              </a:spcAft>
              <a:buSzPts val="1400"/>
              <a:buFont typeface="Calibri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png"/><Relationship Id="rId4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1.pn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Relationship Id="rId4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5.png"/><Relationship Id="rId4" Type="http://schemas.openxmlformats.org/officeDocument/2006/relationships/image" Target="../media/image33.png"/><Relationship Id="rId5" Type="http://schemas.openxmlformats.org/officeDocument/2006/relationships/image" Target="../media/image1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0.png"/><Relationship Id="rId4" Type="http://schemas.openxmlformats.org/officeDocument/2006/relationships/image" Target="../media/image2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0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1524000" y="629994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SABM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524000" y="3827121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Modeling the Co-evolution of Networks and Behaviors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/>
          <p:nvPr/>
        </p:nvSpPr>
        <p:spPr>
          <a:xfrm>
            <a:off x="6750147" y="3798276"/>
            <a:ext cx="3742006" cy="1589649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1378633" y="3798277"/>
            <a:ext cx="3742006" cy="1589649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>
            <p:ph type="title"/>
          </p:nvPr>
        </p:nvSpPr>
        <p:spPr>
          <a:xfrm>
            <a:off x="838200" y="280717"/>
            <a:ext cx="10515600" cy="7321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SABM applies?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838200" y="1488001"/>
            <a:ext cx="10515600" cy="5039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 and behavior data captured at two or more points in time</a:t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try understanding the co-evolution of network-behavior dynamics</a:t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</a:t>
            </a: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Networks                                                Behaviors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3615397" y="3066757"/>
            <a:ext cx="4586068" cy="731519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/>
          <p:nvPr/>
        </p:nvSpPr>
        <p:spPr>
          <a:xfrm rot="10800000">
            <a:off x="3615397" y="5377032"/>
            <a:ext cx="4586068" cy="731519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838200" y="280717"/>
            <a:ext cx="10515600" cy="7321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SABM apply?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5"/>
          <p:cNvSpPr txBox="1"/>
          <p:nvPr>
            <p:ph idx="1" type="body"/>
          </p:nvPr>
        </p:nvSpPr>
        <p:spPr>
          <a:xfrm>
            <a:off x="838200" y="148800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08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 size is reasonable</a:t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enough changes in network and behaviors</a:t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usually directed networks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title"/>
          </p:nvPr>
        </p:nvSpPr>
        <p:spPr>
          <a:xfrm>
            <a:off x="838200" y="280717"/>
            <a:ext cx="10515600" cy="7321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Some assumptions of SABM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6"/>
          <p:cNvSpPr txBox="1"/>
          <p:nvPr>
            <p:ph idx="1" type="body"/>
          </p:nvPr>
        </p:nvSpPr>
        <p:spPr>
          <a:xfrm>
            <a:off x="838200" y="1164443"/>
            <a:ext cx="10515600" cy="53770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agents, each ego is only allowed to change her/his own outgoing ties and behaviors/attributes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egos have full knowledge about the network and behaviors/attributes of others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evolution is seen as an outcome of a Markov process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first observation is not modeled but treated as starting value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ego follows a mini-step strategy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/>
          <p:nvPr/>
        </p:nvSpPr>
        <p:spPr>
          <a:xfrm>
            <a:off x="1828798" y="4710332"/>
            <a:ext cx="309489" cy="309489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2974142" y="4710331"/>
            <a:ext cx="309489" cy="309489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5532118" y="4707985"/>
            <a:ext cx="309489" cy="309489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6591299" y="4703293"/>
            <a:ext cx="309489" cy="309489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2974142" y="5419572"/>
            <a:ext cx="309489" cy="309489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1828797" y="6128824"/>
            <a:ext cx="309489" cy="309489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5532118" y="5419572"/>
            <a:ext cx="309489" cy="309489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6591299" y="5434812"/>
            <a:ext cx="309489" cy="309489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1836416" y="5414887"/>
            <a:ext cx="309489" cy="309489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2974138" y="6128824"/>
            <a:ext cx="309489" cy="309489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5532117" y="6128824"/>
            <a:ext cx="309489" cy="309489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6591298" y="6171016"/>
            <a:ext cx="309489" cy="309489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2974142" y="4079630"/>
            <a:ext cx="309489" cy="309489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5532118" y="4079630"/>
            <a:ext cx="309489" cy="309489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6591299" y="4079629"/>
            <a:ext cx="309489" cy="309489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1828799" y="4079631"/>
            <a:ext cx="309489" cy="309489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 txBox="1"/>
          <p:nvPr>
            <p:ph type="title"/>
          </p:nvPr>
        </p:nvSpPr>
        <p:spPr>
          <a:xfrm>
            <a:off x="838200" y="280717"/>
            <a:ext cx="10515600" cy="7321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Social selection and social influence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 txBox="1"/>
          <p:nvPr>
            <p:ph idx="1" type="body"/>
          </p:nvPr>
        </p:nvSpPr>
        <p:spPr>
          <a:xfrm>
            <a:off x="838200" y="1164443"/>
            <a:ext cx="10515600" cy="55458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Social selection: I become your friend because we share certain characteristics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Social influence: I come to share your characteristics because we are friends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two are very difficult to distinguish looking at a single point in time.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Time 1                                Time 2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      i                j                                    i               j    </a:t>
            </a:r>
            <a:endParaRPr/>
          </a:p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      i                j                                    i               j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60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      i                j                                    i               j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60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      i                j                                    i               j    </a:t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3965326" y="4224989"/>
            <a:ext cx="984739" cy="787793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3917262" y="5467639"/>
            <a:ext cx="984739" cy="787793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" name="Google Shape;132;p17"/>
          <p:cNvCxnSpPr/>
          <p:nvPr/>
        </p:nvCxnSpPr>
        <p:spPr>
          <a:xfrm>
            <a:off x="5855674" y="4234373"/>
            <a:ext cx="749692" cy="0"/>
          </a:xfrm>
          <a:prstGeom prst="straightConnector1">
            <a:avLst/>
          </a:prstGeom>
          <a:noFill/>
          <a:ln cap="flat" cmpd="sng" w="6350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33" name="Google Shape;133;p17"/>
          <p:cNvCxnSpPr/>
          <p:nvPr/>
        </p:nvCxnSpPr>
        <p:spPr>
          <a:xfrm>
            <a:off x="5855674" y="4865075"/>
            <a:ext cx="749692" cy="0"/>
          </a:xfrm>
          <a:prstGeom prst="straightConnector1">
            <a:avLst/>
          </a:prstGeom>
          <a:noFill/>
          <a:ln cap="flat" cmpd="sng" w="6350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34" name="Google Shape;134;p17"/>
          <p:cNvCxnSpPr/>
          <p:nvPr/>
        </p:nvCxnSpPr>
        <p:spPr>
          <a:xfrm>
            <a:off x="5855674" y="5589556"/>
            <a:ext cx="749692" cy="0"/>
          </a:xfrm>
          <a:prstGeom prst="straightConnector1">
            <a:avLst/>
          </a:prstGeom>
          <a:noFill/>
          <a:ln cap="flat" cmpd="sng" w="6350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35" name="Google Shape;135;p17"/>
          <p:cNvCxnSpPr/>
          <p:nvPr/>
        </p:nvCxnSpPr>
        <p:spPr>
          <a:xfrm>
            <a:off x="5841606" y="6283568"/>
            <a:ext cx="749692" cy="0"/>
          </a:xfrm>
          <a:prstGeom prst="straightConnector1">
            <a:avLst/>
          </a:prstGeom>
          <a:noFill/>
          <a:ln cap="flat" cmpd="sng" w="6350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36" name="Google Shape;136;p17"/>
          <p:cNvCxnSpPr/>
          <p:nvPr/>
        </p:nvCxnSpPr>
        <p:spPr>
          <a:xfrm>
            <a:off x="2224446" y="5589556"/>
            <a:ext cx="749692" cy="0"/>
          </a:xfrm>
          <a:prstGeom prst="straightConnector1">
            <a:avLst/>
          </a:prstGeom>
          <a:noFill/>
          <a:ln cap="flat" cmpd="sng" w="6350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37" name="Google Shape;137;p17"/>
          <p:cNvCxnSpPr/>
          <p:nvPr/>
        </p:nvCxnSpPr>
        <p:spPr>
          <a:xfrm>
            <a:off x="2224446" y="6283568"/>
            <a:ext cx="749692" cy="0"/>
          </a:xfrm>
          <a:prstGeom prst="straightConnector1">
            <a:avLst/>
          </a:prstGeom>
          <a:noFill/>
          <a:ln cap="flat" cmpd="sng" w="6350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138" name="Google Shape;138;p17"/>
          <p:cNvSpPr/>
          <p:nvPr/>
        </p:nvSpPr>
        <p:spPr>
          <a:xfrm>
            <a:off x="7474045" y="4072581"/>
            <a:ext cx="154744" cy="937854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635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7473456" y="5467639"/>
            <a:ext cx="154744" cy="937854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635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8197945" y="3999077"/>
            <a:ext cx="3169922" cy="2858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Social selection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(homophily)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Social Influence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(assimilation)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"/>
          <p:cNvSpPr txBox="1"/>
          <p:nvPr>
            <p:ph type="title"/>
          </p:nvPr>
        </p:nvSpPr>
        <p:spPr>
          <a:xfrm>
            <a:off x="838200" y="280717"/>
            <a:ext cx="10515600" cy="7321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Modeling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230" y="1705661"/>
            <a:ext cx="10911540" cy="41183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9"/>
          <p:cNvSpPr txBox="1"/>
          <p:nvPr>
            <p:ph type="title"/>
          </p:nvPr>
        </p:nvSpPr>
        <p:spPr>
          <a:xfrm>
            <a:off x="838200" y="280717"/>
            <a:ext cx="10515600" cy="7321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Rate function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9"/>
          <p:cNvSpPr txBox="1"/>
          <p:nvPr>
            <p:ph idx="1" type="body"/>
          </p:nvPr>
        </p:nvSpPr>
        <p:spPr>
          <a:xfrm>
            <a:off x="838200" y="1012871"/>
            <a:ext cx="10515600" cy="543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‘how fast is change / opportunity for change ?’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Rate of change of the network by ego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denoted λ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expected frequency of changes by ego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between observations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Simple specification: rate functions are constant within periods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generally, rate functions can depend on observation period (t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m-1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t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), ego covariates, and network position (degrees etc.), through an exponential link function.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"/>
          <p:cNvSpPr txBox="1"/>
          <p:nvPr>
            <p:ph type="title"/>
          </p:nvPr>
        </p:nvSpPr>
        <p:spPr>
          <a:xfrm>
            <a:off x="838200" y="280717"/>
            <a:ext cx="10515600" cy="7321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 function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0"/>
          <p:cNvSpPr txBox="1"/>
          <p:nvPr>
            <p:ph idx="1" type="body"/>
          </p:nvPr>
        </p:nvSpPr>
        <p:spPr>
          <a:xfrm>
            <a:off x="838200" y="1012871"/>
            <a:ext cx="10515600" cy="543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‘what is the direction of change?’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objective function f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(β, x) indicates preferred ‘directions’ of change, here β is a statistical parameter,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the ego (node), x the network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ego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gets an opportunity for change, s/he has the possibility to change one outgoing tie variable x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ij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, or leave everything unchanged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Higher values of the objective function indicate the preferred direction of changes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1"/>
          <p:cNvSpPr txBox="1"/>
          <p:nvPr>
            <p:ph type="title"/>
          </p:nvPr>
        </p:nvSpPr>
        <p:spPr>
          <a:xfrm>
            <a:off x="838200" y="280717"/>
            <a:ext cx="10515600" cy="7321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Possible network effects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1"/>
          <p:cNvSpPr txBox="1"/>
          <p:nvPr>
            <p:ph idx="1" type="body"/>
          </p:nvPr>
        </p:nvSpPr>
        <p:spPr>
          <a:xfrm>
            <a:off x="838200" y="1448970"/>
            <a:ext cx="10515600" cy="543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out-degree effect, controlling the density / average degree,</a:t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reciprocity effect, number of reciprocated ties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" name="Google Shape;16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98386" y="2143737"/>
            <a:ext cx="2847893" cy="8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4663" y="3679753"/>
            <a:ext cx="2476500" cy="86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/>
          <p:nvPr>
            <p:ph type="title"/>
          </p:nvPr>
        </p:nvSpPr>
        <p:spPr>
          <a:xfrm>
            <a:off x="838200" y="280717"/>
            <a:ext cx="10515600" cy="7321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Possible network effects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2"/>
          <p:cNvSpPr txBox="1"/>
          <p:nvPr>
            <p:ph idx="1" type="body"/>
          </p:nvPr>
        </p:nvSpPr>
        <p:spPr>
          <a:xfrm>
            <a:off x="838200" y="1448970"/>
            <a:ext cx="10515600" cy="543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transitive ties effect,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number of alters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whom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tied indirectly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(through at least one intermediary: x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ih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x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hj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1,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and also directly x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ij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1),</a:t>
            </a:r>
            <a:endParaRPr/>
          </a:p>
        </p:txBody>
      </p:sp>
      <p:pic>
        <p:nvPicPr>
          <p:cNvPr id="173" name="Google Shape;17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4775" y="3869593"/>
            <a:ext cx="5634037" cy="681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97105" y="2188431"/>
            <a:ext cx="3019425" cy="336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3"/>
          <p:cNvSpPr txBox="1"/>
          <p:nvPr>
            <p:ph type="title"/>
          </p:nvPr>
        </p:nvSpPr>
        <p:spPr>
          <a:xfrm>
            <a:off x="838200" y="280717"/>
            <a:ext cx="10515600" cy="7321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Possible network effects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3"/>
          <p:cNvSpPr txBox="1"/>
          <p:nvPr>
            <p:ph idx="1" type="body"/>
          </p:nvPr>
        </p:nvSpPr>
        <p:spPr>
          <a:xfrm>
            <a:off x="838200" y="1448970"/>
            <a:ext cx="10515600" cy="543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three cycles effect, number of three-cycles in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’s ties                               (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This represents a kind of generalized reciprocity,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and absence of hierarchy</a:t>
            </a:r>
            <a:endParaRPr/>
          </a:p>
        </p:txBody>
      </p:sp>
      <p:pic>
        <p:nvPicPr>
          <p:cNvPr id="181" name="Google Shape;18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0188" y="2481263"/>
            <a:ext cx="2878137" cy="86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88948" y="2478110"/>
            <a:ext cx="2647950" cy="337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4"/>
          <p:cNvSpPr txBox="1"/>
          <p:nvPr>
            <p:ph type="title"/>
          </p:nvPr>
        </p:nvSpPr>
        <p:spPr>
          <a:xfrm>
            <a:off x="838200" y="280717"/>
            <a:ext cx="10515600" cy="7321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Possible network effects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4"/>
          <p:cNvSpPr txBox="1"/>
          <p:nvPr>
            <p:ph idx="1" type="body"/>
          </p:nvPr>
        </p:nvSpPr>
        <p:spPr>
          <a:xfrm>
            <a:off x="838200" y="1448970"/>
            <a:ext cx="10515600" cy="543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indirect ties effect,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number of alters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whom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tied indirectly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(through at least one intermediary: x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ih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x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hj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1 )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but not directly x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ij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0),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= number of geodesic distances equal to 2,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9" name="Google Shape;18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9413" y="4391025"/>
            <a:ext cx="5695950" cy="681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4234" y="2142672"/>
            <a:ext cx="2781300" cy="330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5"/>
          <p:cNvSpPr txBox="1"/>
          <p:nvPr>
            <p:ph type="title"/>
          </p:nvPr>
        </p:nvSpPr>
        <p:spPr>
          <a:xfrm>
            <a:off x="838200" y="280717"/>
            <a:ext cx="10515600" cy="7321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Possible network effects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5"/>
          <p:cNvSpPr txBox="1"/>
          <p:nvPr>
            <p:ph idx="1" type="body"/>
          </p:nvPr>
        </p:nvSpPr>
        <p:spPr>
          <a:xfrm>
            <a:off x="838200" y="1448970"/>
            <a:ext cx="10515600" cy="543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in-degree related popularity effect, sum friends’ in-degrees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related to preferential attachment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(Barabási &amp; Albert, 1999)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 and potentially many others ...</a:t>
            </a:r>
            <a:endParaRPr/>
          </a:p>
        </p:txBody>
      </p:sp>
      <p:pic>
        <p:nvPicPr>
          <p:cNvPr id="197" name="Google Shape;19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6848" y="3315834"/>
            <a:ext cx="5138738" cy="95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50309" y="2465436"/>
            <a:ext cx="3800475" cy="395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6"/>
          <p:cNvSpPr txBox="1"/>
          <p:nvPr>
            <p:ph type="title"/>
          </p:nvPr>
        </p:nvSpPr>
        <p:spPr>
          <a:xfrm>
            <a:off x="838200" y="280717"/>
            <a:ext cx="10515600" cy="7321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Evaluation function effect with ego covariate</a:t>
            </a:r>
            <a:endParaRPr/>
          </a:p>
        </p:txBody>
      </p:sp>
      <p:sp>
        <p:nvSpPr>
          <p:cNvPr id="204" name="Google Shape;204;p26"/>
          <p:cNvSpPr txBox="1"/>
          <p:nvPr>
            <p:ph idx="1" type="body"/>
          </p:nvPr>
        </p:nvSpPr>
        <p:spPr>
          <a:xfrm>
            <a:off x="838200" y="1448970"/>
            <a:ext cx="10515600" cy="543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covariate-related popularity, ‘alter’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sum of covariate over all of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’s friends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covariate-related activity, ‘ego’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’s out-degree weighted by covariate</a:t>
            </a:r>
            <a:endParaRPr/>
          </a:p>
        </p:txBody>
      </p:sp>
      <p:pic>
        <p:nvPicPr>
          <p:cNvPr id="205" name="Google Shape;20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6013" y="2771775"/>
            <a:ext cx="2382837" cy="865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87787" y="5456238"/>
            <a:ext cx="1919288" cy="55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7"/>
          <p:cNvSpPr txBox="1"/>
          <p:nvPr>
            <p:ph type="title"/>
          </p:nvPr>
        </p:nvSpPr>
        <p:spPr>
          <a:xfrm>
            <a:off x="838200" y="280717"/>
            <a:ext cx="10515600" cy="7321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Evaluation function effect with ego covariate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7"/>
          <p:cNvSpPr txBox="1"/>
          <p:nvPr>
            <p:ph idx="1" type="body"/>
          </p:nvPr>
        </p:nvSpPr>
        <p:spPr>
          <a:xfrm>
            <a:off x="838200" y="1448970"/>
            <a:ext cx="10515600" cy="543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covariate-related similarity,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sum of measure of covariate similarity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between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her/his alters,</a:t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where sim(v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v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) is the similarity between v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v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,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R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being the range of v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" name="Google Shape;21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0063" y="2925763"/>
            <a:ext cx="3557587" cy="865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70225" y="4387850"/>
            <a:ext cx="3497263" cy="120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8"/>
          <p:cNvSpPr txBox="1"/>
          <p:nvPr>
            <p:ph type="title"/>
          </p:nvPr>
        </p:nvSpPr>
        <p:spPr>
          <a:xfrm>
            <a:off x="838200" y="280717"/>
            <a:ext cx="10515600" cy="7321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Evaluation function effect for dyadic covariates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8"/>
          <p:cNvSpPr txBox="1"/>
          <p:nvPr>
            <p:ph idx="1" type="body"/>
          </p:nvPr>
        </p:nvSpPr>
        <p:spPr>
          <a:xfrm>
            <a:off x="838200" y="1448970"/>
            <a:ext cx="10515600" cy="543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covariate-related preference,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sum of covariate over all of i’s friends,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i.e., values of w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ij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summed over all others to whom i is tied,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If this has a positive effect, then the value of a tie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becomes higher when w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ij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becomes higher.</a:t>
            </a:r>
            <a:endParaRPr/>
          </a:p>
        </p:txBody>
      </p:sp>
      <p:pic>
        <p:nvPicPr>
          <p:cNvPr id="221" name="Google Shape;22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33775" y="2925763"/>
            <a:ext cx="2568575" cy="865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9"/>
          <p:cNvSpPr txBox="1"/>
          <p:nvPr>
            <p:ph type="title"/>
          </p:nvPr>
        </p:nvSpPr>
        <p:spPr>
          <a:xfrm>
            <a:off x="838200" y="280717"/>
            <a:ext cx="10515600" cy="7321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9"/>
          <p:cNvSpPr txBox="1"/>
          <p:nvPr>
            <p:ph idx="1" type="body"/>
          </p:nvPr>
        </p:nvSpPr>
        <p:spPr>
          <a:xfrm>
            <a:off x="838200" y="1448970"/>
            <a:ext cx="10515600" cy="543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NetSense project</a:t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- 196 ND students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- 4 semesters: Fall 2011, Spring 2012, Summer 2012, &amp; Fall 2012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- Networks through SMS &amp; voice calls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- Behavior surveys through limesurvey on-line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0"/>
          <p:cNvSpPr txBox="1"/>
          <p:nvPr>
            <p:ph type="title"/>
          </p:nvPr>
        </p:nvSpPr>
        <p:spPr>
          <a:xfrm>
            <a:off x="1097280" y="132055"/>
            <a:ext cx="10058400" cy="6921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3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Net1 – Fall 2011</a:t>
            </a:r>
            <a:endParaRPr b="0" i="0" sz="3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280" y="1261743"/>
            <a:ext cx="5520878" cy="5300043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0"/>
          <p:cNvSpPr txBox="1"/>
          <p:nvPr>
            <p:ph idx="1" type="body"/>
          </p:nvPr>
        </p:nvSpPr>
        <p:spPr>
          <a:xfrm>
            <a:off x="7392471" y="309093"/>
            <a:ext cx="4662153" cy="62526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n=196 (17 isolates)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l=790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∆=0.021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Gender (node color)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Red – Female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Blue – Male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Race (node shape)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Circle – White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Square – non-white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Drinking frequency (node size)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0~4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1"/>
          <p:cNvSpPr txBox="1"/>
          <p:nvPr>
            <p:ph type="title"/>
          </p:nvPr>
        </p:nvSpPr>
        <p:spPr>
          <a:xfrm>
            <a:off x="1097280" y="132055"/>
            <a:ext cx="10058400" cy="6921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3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Net2 – Spring 2012</a:t>
            </a:r>
            <a:endParaRPr b="0" i="0" sz="3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31"/>
          <p:cNvSpPr txBox="1"/>
          <p:nvPr>
            <p:ph idx="1" type="body"/>
          </p:nvPr>
        </p:nvSpPr>
        <p:spPr>
          <a:xfrm>
            <a:off x="7392471" y="309093"/>
            <a:ext cx="4662153" cy="62526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n=196 (25 isolates)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l=670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∆=0.018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Gender (node color)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Red – Female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Blue – Male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Race (node shape)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Circle – White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Square – non-white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Drinking frequency (node size)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0~4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280" y="1111195"/>
            <a:ext cx="5528603" cy="5307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2"/>
          <p:cNvSpPr txBox="1"/>
          <p:nvPr>
            <p:ph type="title"/>
          </p:nvPr>
        </p:nvSpPr>
        <p:spPr>
          <a:xfrm>
            <a:off x="1097280" y="132055"/>
            <a:ext cx="10058400" cy="6921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3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Net3 – Summer 2012</a:t>
            </a:r>
            <a:endParaRPr b="0" i="0" sz="3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32"/>
          <p:cNvSpPr txBox="1"/>
          <p:nvPr>
            <p:ph idx="1" type="body"/>
          </p:nvPr>
        </p:nvSpPr>
        <p:spPr>
          <a:xfrm>
            <a:off x="7392471" y="309093"/>
            <a:ext cx="4662153" cy="62526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n=196 (70 isolates)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l=269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∆=0.007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Gender (node color)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Red – Female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Blue – Male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Race (node shape)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Circle – White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Square – non-white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Drinking frequency (node size)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0~4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8" name="Google Shape;24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280" y="1051977"/>
            <a:ext cx="5485714" cy="52662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3"/>
          <p:cNvSpPr txBox="1"/>
          <p:nvPr>
            <p:ph type="title"/>
          </p:nvPr>
        </p:nvSpPr>
        <p:spPr>
          <a:xfrm>
            <a:off x="1097280" y="132055"/>
            <a:ext cx="10058400" cy="6921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3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Net4 – Fall 2012</a:t>
            </a:r>
            <a:endParaRPr b="0" i="0" sz="3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33"/>
          <p:cNvSpPr txBox="1"/>
          <p:nvPr>
            <p:ph idx="1" type="body"/>
          </p:nvPr>
        </p:nvSpPr>
        <p:spPr>
          <a:xfrm>
            <a:off x="7392471" y="309093"/>
            <a:ext cx="4662153" cy="62526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n=196 (34 isolates)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l=495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∆=0.013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Gender (node color)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Red – Female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Blue – Male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Race (node shape)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Circle – White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Square – non-white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Drinking frequency (node size)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0~4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5" name="Google Shape;25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280" y="1083212"/>
            <a:ext cx="5485714" cy="52662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4"/>
          <p:cNvSpPr txBox="1"/>
          <p:nvPr>
            <p:ph type="title"/>
          </p:nvPr>
        </p:nvSpPr>
        <p:spPr>
          <a:xfrm>
            <a:off x="838200" y="238516"/>
            <a:ext cx="10515600" cy="760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Very simple model: only out-degree and reciprocity effects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34"/>
          <p:cNvSpPr txBox="1"/>
          <p:nvPr>
            <p:ph idx="1" type="body"/>
          </p:nvPr>
        </p:nvSpPr>
        <p:spPr>
          <a:xfrm>
            <a:off x="838200" y="1023766"/>
            <a:ext cx="10515600" cy="5658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rate parameters: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node about 12 opportunities for change between the first two observations;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decreases to about 8 opportunities at later waves</a:t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2" name="Google Shape;262;p34"/>
          <p:cNvGraphicFramePr/>
          <p:nvPr/>
        </p:nvGraphicFramePr>
        <p:xfrm>
          <a:off x="4656406" y="13504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{2F47425C-3E23-4647-A863-A74B1C7646E3}</a:tableStyleId>
              </a:tblPr>
              <a:tblGrid>
                <a:gridCol w="1392700"/>
                <a:gridCol w="1223900"/>
                <a:gridCol w="12801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Model 1a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 hMerge="1"/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Effect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par.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(s.e.)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Rate t</a:t>
                      </a:r>
                      <a:r>
                        <a:rPr baseline="-25000" lang="en-US" sz="1800" u="none" cap="none" strike="noStrike"/>
                        <a:t>1</a:t>
                      </a:r>
                      <a:r>
                        <a:rPr lang="en-US" sz="1800" u="none" cap="none" strike="noStrike"/>
                        <a:t> – t</a:t>
                      </a:r>
                      <a:r>
                        <a:rPr baseline="-25000" lang="en-US" sz="1800" u="none" cap="none" strike="noStrike"/>
                        <a:t>2</a:t>
                      </a:r>
                      <a:endParaRPr baseline="-25000"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11.91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0.96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Calibri"/>
                        <a:buNone/>
                      </a:pPr>
                      <a:r>
                        <a:rPr lang="en-US" sz="1800" u="none" cap="none" strike="noStrike"/>
                        <a:t>Rate t</a:t>
                      </a:r>
                      <a:r>
                        <a:rPr baseline="-25000" lang="en-US" sz="1800" u="none" cap="none" strike="noStrike"/>
                        <a:t>2</a:t>
                      </a:r>
                      <a:r>
                        <a:rPr lang="en-US" sz="1800" u="none" cap="none" strike="noStrike"/>
                        <a:t> – t</a:t>
                      </a:r>
                      <a:r>
                        <a:rPr baseline="-25000" lang="en-US" sz="18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8.43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0.78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Calibri"/>
                        <a:buNone/>
                      </a:pPr>
                      <a:r>
                        <a:rPr lang="en-US" sz="1800" u="none" cap="none" strike="noStrike"/>
                        <a:t>Rate t</a:t>
                      </a:r>
                      <a:r>
                        <a:rPr baseline="-25000" lang="en-US" sz="1800" u="none" cap="none" strike="noStrike"/>
                        <a:t>2</a:t>
                      </a:r>
                      <a:r>
                        <a:rPr lang="en-US" sz="1800" u="none" cap="none" strike="noStrike"/>
                        <a:t> – t</a:t>
                      </a:r>
                      <a:r>
                        <a:rPr baseline="-25000" lang="en-US" sz="18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8.62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1.36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Out-degree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-6.09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0.20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Reciprocity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7.76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0.33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1537" y="294322"/>
            <a:ext cx="10448925" cy="6269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6"/>
          <p:cNvSpPr txBox="1"/>
          <p:nvPr>
            <p:ph idx="1" type="body"/>
          </p:nvPr>
        </p:nvSpPr>
        <p:spPr>
          <a:xfrm>
            <a:off x="880404" y="306313"/>
            <a:ext cx="10515600" cy="6221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out-degree parameter negative: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average, cost of friendship ties higher than their benefits;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reciprocity effect strong and highly significant (t=7.76/ 0.33=23.52)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Evaluation function is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Adding a reciprocated tie (i.e., for which x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ji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1) gives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-6.09+7.76= 1.67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Adding a non-reciprocated tie (i.e., for which x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ji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0) gives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-6.09,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i.e., this has negative benefits.</a:t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3" name="Google Shape;27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64147" y="3135507"/>
            <a:ext cx="3763962" cy="69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7"/>
          <p:cNvSpPr txBox="1"/>
          <p:nvPr>
            <p:ph idx="1" type="body"/>
          </p:nvPr>
        </p:nvSpPr>
        <p:spPr>
          <a:xfrm>
            <a:off x="880404" y="1136306"/>
            <a:ext cx="10515600" cy="34075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reciprocated ties are valued positively, unreciprocated ties negatively;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egos will be reluctant to form unreciprocated ties;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 ‘chance’ (the random term), such ties will be formed nevertheless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these are the stuff on the basis of which reciprocation by others can start.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8"/>
          <p:cNvSpPr txBox="1"/>
          <p:nvPr>
            <p:ph type="title"/>
          </p:nvPr>
        </p:nvSpPr>
        <p:spPr>
          <a:xfrm>
            <a:off x="838200" y="238516"/>
            <a:ext cx="10515600" cy="760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Structural model with one network closure effect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38"/>
          <p:cNvSpPr txBox="1"/>
          <p:nvPr>
            <p:ph idx="1" type="body"/>
          </p:nvPr>
        </p:nvSpPr>
        <p:spPr>
          <a:xfrm>
            <a:off x="838200" y="1023766"/>
            <a:ext cx="10515600" cy="5658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5" name="Google Shape;285;p38"/>
          <p:cNvGraphicFramePr/>
          <p:nvPr/>
        </p:nvGraphicFramePr>
        <p:xfrm>
          <a:off x="4360985" y="13504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{2F47425C-3E23-4647-A863-A74B1C7646E3}</a:tableStyleId>
              </a:tblPr>
              <a:tblGrid>
                <a:gridCol w="1498275"/>
                <a:gridCol w="1316675"/>
                <a:gridCol w="13772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Model 2a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 hMerge="1"/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Effect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par.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(s.e.)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Rate t</a:t>
                      </a:r>
                      <a:r>
                        <a:rPr baseline="-25000" lang="en-US" sz="1800" u="none" cap="none" strike="noStrike"/>
                        <a:t>1</a:t>
                      </a:r>
                      <a:r>
                        <a:rPr lang="en-US" sz="1800" u="none" cap="none" strike="noStrike"/>
                        <a:t> – t</a:t>
                      </a:r>
                      <a:r>
                        <a:rPr baseline="-25000" lang="en-US" sz="1800" u="none" cap="none" strike="noStrike"/>
                        <a:t>2</a:t>
                      </a:r>
                      <a:endParaRPr baseline="-25000"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13.98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1.24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Calibri"/>
                        <a:buNone/>
                      </a:pPr>
                      <a:r>
                        <a:rPr lang="en-US" sz="1800" u="none" cap="none" strike="noStrike"/>
                        <a:t>Rate t</a:t>
                      </a:r>
                      <a:r>
                        <a:rPr baseline="-25000" lang="en-US" sz="1800" u="none" cap="none" strike="noStrike"/>
                        <a:t>2</a:t>
                      </a:r>
                      <a:r>
                        <a:rPr lang="en-US" sz="1800" u="none" cap="none" strike="noStrike"/>
                        <a:t> – t</a:t>
                      </a:r>
                      <a:r>
                        <a:rPr baseline="-25000" lang="en-US" sz="18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9.60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1.01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Calibri"/>
                        <a:buNone/>
                      </a:pPr>
                      <a:r>
                        <a:rPr lang="en-US" sz="1800" u="none" cap="none" strike="noStrike"/>
                        <a:t>Rate t</a:t>
                      </a:r>
                      <a:r>
                        <a:rPr baseline="-25000" lang="en-US" sz="1800" u="none" cap="none" strike="noStrike"/>
                        <a:t>2</a:t>
                      </a:r>
                      <a:r>
                        <a:rPr lang="en-US" sz="1800" u="none" cap="none" strike="noStrike"/>
                        <a:t> – t</a:t>
                      </a:r>
                      <a:r>
                        <a:rPr baseline="-25000" lang="en-US" sz="18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10.92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1.73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Out-degree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-6.16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0.18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185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Reciprocity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7.40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0.30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185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Transitive ties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0.92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0.06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9"/>
          <p:cNvSpPr txBox="1"/>
          <p:nvPr>
            <p:ph type="title"/>
          </p:nvPr>
        </p:nvSpPr>
        <p:spPr>
          <a:xfrm>
            <a:off x="838200" y="238516"/>
            <a:ext cx="10515600" cy="760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Personal network of ego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39"/>
          <p:cNvSpPr txBox="1"/>
          <p:nvPr>
            <p:ph idx="1" type="body"/>
          </p:nvPr>
        </p:nvSpPr>
        <p:spPr>
          <a:xfrm>
            <a:off x="7737230" y="1023766"/>
            <a:ext cx="3616569" cy="28026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ego: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out-degree x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i+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4,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#{recip. ties} = 2,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#{trans. ties } = 3.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2" name="Google Shape;292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883089"/>
            <a:ext cx="4869010" cy="56428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0"/>
          <p:cNvSpPr txBox="1"/>
          <p:nvPr>
            <p:ph idx="1" type="body"/>
          </p:nvPr>
        </p:nvSpPr>
        <p:spPr>
          <a:xfrm>
            <a:off x="880404" y="306313"/>
            <a:ext cx="10515600" cy="6221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evaluation function is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(note:                                  is #{trans. ties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 its current value for this actor is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8" name="Google Shape;29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2155" y="1046456"/>
            <a:ext cx="8021735" cy="8808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03525" y="4216400"/>
            <a:ext cx="6669088" cy="566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7308" y="1988643"/>
            <a:ext cx="2705100" cy="881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1"/>
          <p:cNvSpPr txBox="1"/>
          <p:nvPr>
            <p:ph type="title"/>
          </p:nvPr>
        </p:nvSpPr>
        <p:spPr>
          <a:xfrm>
            <a:off x="838200" y="238516"/>
            <a:ext cx="10515600" cy="760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Options when ‘ego’ has opportunity for change: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6" name="Google Shape;306;p41"/>
          <p:cNvGraphicFramePr/>
          <p:nvPr/>
        </p:nvGraphicFramePr>
        <p:xfrm>
          <a:off x="838200" y="18256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{2F47425C-3E23-4647-A863-A74B1C7646E3}</a:tableStyleId>
              </a:tblPr>
              <a:tblGrid>
                <a:gridCol w="1511100"/>
                <a:gridCol w="1322375"/>
                <a:gridCol w="1237950"/>
                <a:gridCol w="1505250"/>
                <a:gridCol w="1139475"/>
                <a:gridCol w="1139475"/>
                <a:gridCol w="1237950"/>
                <a:gridCol w="1422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out-degree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reciprocity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Transitive ties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value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gain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exp(gain)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probability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current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-7.08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0.35%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new ties to C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-4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+3.08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21.76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7.58%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new ties to D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-12.32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-5.24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0.01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0.00%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new ties to G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-12.32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-5.24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0.01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0.00%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drop ties to A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-11.08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-4.00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0.02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0.01%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drop ties to B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-2.76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+4.32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75.19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26.20%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drop ties to E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-1.84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+5.24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188.67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65.75%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drop ties to F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-8.32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-1.24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0.29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0.10%</a:t>
                      </a:r>
                      <a:endParaRPr/>
                    </a:p>
                  </a:txBody>
                  <a:tcPr marT="9525" marB="0" marR="9525" marL="9525" anchor="b"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2"/>
          <p:cNvSpPr txBox="1"/>
          <p:nvPr>
            <p:ph type="title"/>
          </p:nvPr>
        </p:nvSpPr>
        <p:spPr>
          <a:xfrm>
            <a:off x="838200" y="238516"/>
            <a:ext cx="10515600" cy="760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with more structural effects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2" name="Google Shape;312;p42"/>
          <p:cNvGraphicFramePr/>
          <p:nvPr/>
        </p:nvGraphicFramePr>
        <p:xfrm>
          <a:off x="2172567" y="140320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{2F47425C-3E23-4647-A863-A74B1C7646E3}</a:tableStyleId>
              </a:tblPr>
              <a:tblGrid>
                <a:gridCol w="2984525"/>
                <a:gridCol w="2299775"/>
                <a:gridCol w="24985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Model 2b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 hMerge="1"/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Effect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par.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(s.e.)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Rate t</a:t>
                      </a:r>
                      <a:r>
                        <a:rPr baseline="-25000" lang="en-US" sz="1800" u="none" cap="none" strike="noStrike"/>
                        <a:t>1</a:t>
                      </a:r>
                      <a:r>
                        <a:rPr lang="en-US" sz="1800" u="none" cap="none" strike="noStrike"/>
                        <a:t> – t</a:t>
                      </a:r>
                      <a:r>
                        <a:rPr baseline="-25000" lang="en-US" sz="1800" u="none" cap="none" strike="noStrike"/>
                        <a:t>2</a:t>
                      </a:r>
                      <a:endParaRPr baseline="-25000"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14.5568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1.1001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Calibri"/>
                        <a:buNone/>
                      </a:pPr>
                      <a:r>
                        <a:rPr lang="en-US" sz="1800" u="none" cap="none" strike="noStrike"/>
                        <a:t>Rate t</a:t>
                      </a:r>
                      <a:r>
                        <a:rPr baseline="-25000" lang="en-US" sz="1800" u="none" cap="none" strike="noStrike"/>
                        <a:t>2</a:t>
                      </a:r>
                      <a:r>
                        <a:rPr lang="en-US" sz="1800" u="none" cap="none" strike="noStrike"/>
                        <a:t> – t</a:t>
                      </a:r>
                      <a:r>
                        <a:rPr baseline="-25000" lang="en-US" sz="18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9.7021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0.7518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Calibri"/>
                        <a:buNone/>
                      </a:pPr>
                      <a:r>
                        <a:rPr lang="en-US" sz="1800" u="none" cap="none" strike="noStrike"/>
                        <a:t>Rate t</a:t>
                      </a:r>
                      <a:r>
                        <a:rPr baseline="-25000" lang="en-US" sz="1800" u="none" cap="none" strike="noStrike"/>
                        <a:t>2</a:t>
                      </a:r>
                      <a:r>
                        <a:rPr lang="en-US" sz="1800" u="none" cap="none" strike="noStrike"/>
                        <a:t> – t</a:t>
                      </a:r>
                      <a:r>
                        <a:rPr baseline="-25000" lang="en-US" sz="18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11.1766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1.1702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185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Out-degree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-5.8730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0.3709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Reciprocity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7.3459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0.2350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4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Transitive ties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0.5525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0.1066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Three-cycles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0.6524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0.1632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Calibri"/>
                        <a:buNone/>
                      </a:pPr>
                      <a:r>
                        <a:rPr lang="en-US" sz="1800" u="none" cap="none" strike="noStrike"/>
                        <a:t>Number of distance at 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 0.1347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0.0840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Indegree popularity (sqrd)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-0.3288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0.3006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3"/>
          <p:cNvSpPr txBox="1"/>
          <p:nvPr>
            <p:ph type="title"/>
          </p:nvPr>
        </p:nvSpPr>
        <p:spPr>
          <a:xfrm>
            <a:off x="838200" y="238516"/>
            <a:ext cx="10515600" cy="760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effects of residence, gender, race, and age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8" name="Google Shape;318;p43"/>
          <p:cNvGraphicFramePr/>
          <p:nvPr/>
        </p:nvGraphicFramePr>
        <p:xfrm>
          <a:off x="588465" y="11018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{2F47425C-3E23-4647-A863-A74B1C7646E3}</a:tableStyleId>
              </a:tblPr>
              <a:tblGrid>
                <a:gridCol w="2657000"/>
                <a:gridCol w="1068950"/>
                <a:gridCol w="10045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Model 3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 hMerge="1"/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Effect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par.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(s.e.)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Rate t</a:t>
                      </a:r>
                      <a:r>
                        <a:rPr baseline="-25000" lang="en-US" sz="1800" u="none" cap="none" strike="noStrike"/>
                        <a:t>1</a:t>
                      </a:r>
                      <a:r>
                        <a:rPr lang="en-US" sz="1800" u="none" cap="none" strike="noStrike"/>
                        <a:t> – t</a:t>
                      </a:r>
                      <a:r>
                        <a:rPr baseline="-25000" lang="en-US" sz="1800" u="none" cap="none" strike="noStrike"/>
                        <a:t>2</a:t>
                      </a:r>
                      <a:endParaRPr baseline="-25000"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15.91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1.22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Calibri"/>
                        <a:buNone/>
                      </a:pPr>
                      <a:r>
                        <a:rPr lang="en-US" sz="1800" u="none" cap="none" strike="noStrike"/>
                        <a:t>Rate t</a:t>
                      </a:r>
                      <a:r>
                        <a:rPr baseline="-25000" lang="en-US" sz="1800" u="none" cap="none" strike="noStrike"/>
                        <a:t>2</a:t>
                      </a:r>
                      <a:r>
                        <a:rPr lang="en-US" sz="1800" u="none" cap="none" strike="noStrike"/>
                        <a:t> – t</a:t>
                      </a:r>
                      <a:r>
                        <a:rPr baseline="-25000" lang="en-US" sz="18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10.25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0.75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Calibri"/>
                        <a:buNone/>
                      </a:pPr>
                      <a:r>
                        <a:rPr lang="en-US" sz="1800" u="none" cap="none" strike="noStrike"/>
                        <a:t>Rate t</a:t>
                      </a:r>
                      <a:r>
                        <a:rPr baseline="-25000" lang="en-US" sz="1800" u="none" cap="none" strike="noStrike"/>
                        <a:t>2</a:t>
                      </a:r>
                      <a:r>
                        <a:rPr lang="en-US" sz="1800" u="none" cap="none" strike="noStrike"/>
                        <a:t> – t</a:t>
                      </a:r>
                      <a:r>
                        <a:rPr baseline="-25000" lang="en-US" sz="18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13.24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1.38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185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Out-degree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-5.84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0.38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Reciprocity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7.20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0.28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24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Transitive ties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0.50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0.10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Three-cycles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0.66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0.15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Calibri"/>
                        <a:buNone/>
                      </a:pPr>
                      <a:r>
                        <a:rPr lang="en-US" sz="1800" u="none" cap="none" strike="noStrike"/>
                        <a:t>Number of distance at 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0.17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0.07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Indegree popularity (sqrd)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-0.41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0.28</a:t>
                      </a:r>
                      <a:endParaRPr/>
                    </a:p>
                  </a:txBody>
                  <a:tcPr marT="9525" marB="0" marR="9525" marL="9525" anchor="b"/>
                </a:tc>
              </a:tr>
            </a:tbl>
          </a:graphicData>
        </a:graphic>
      </p:graphicFrame>
      <p:graphicFrame>
        <p:nvGraphicFramePr>
          <p:cNvPr id="319" name="Google Shape;319;p43"/>
          <p:cNvGraphicFramePr/>
          <p:nvPr/>
        </p:nvGraphicFramePr>
        <p:xfrm>
          <a:off x="5943930" y="11125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{2F47425C-3E23-4647-A863-A74B1C7646E3}</a:tableStyleId>
              </a:tblPr>
              <a:tblGrid>
                <a:gridCol w="2657000"/>
                <a:gridCol w="1068950"/>
                <a:gridCol w="10045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Model 3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 hMerge="1"/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Effect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par.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(s.e.)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185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Same hall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0.86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0.10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185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Calibri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Sex (F) alter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-0.10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0.12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Calibri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Sex (F) ego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0.16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0.13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Calibri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Sex similarity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-0.03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0.07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185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Race (W) alter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0.15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0.14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Race (W) ego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-0.13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0.14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24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Race similarity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0.26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0.08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 alter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-0.09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0.14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Calibri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 ego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-0.02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0.13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182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 similarity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0.12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0.14</a:t>
                      </a:r>
                      <a:endParaRPr/>
                    </a:p>
                  </a:txBody>
                  <a:tcPr marT="9525" marB="0" marR="9525" marL="9525" anchor="b"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4"/>
          <p:cNvSpPr txBox="1"/>
          <p:nvPr>
            <p:ph idx="1" type="body"/>
          </p:nvPr>
        </p:nvSpPr>
        <p:spPr>
          <a:xfrm>
            <a:off x="880404" y="306313"/>
            <a:ext cx="10515600" cy="6221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joint effect of the gender-related effects for the tie variable x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ij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from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 seem not to like female friends...?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5" name="Google Shape;3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06800" y="1774825"/>
            <a:ext cx="5064125" cy="5556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26" name="Google Shape;326;p44"/>
          <p:cNvGraphicFramePr/>
          <p:nvPr/>
        </p:nvGraphicFramePr>
        <p:xfrm>
          <a:off x="2238062" y="26871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{2F47425C-3E23-4647-A863-A74B1C7646E3}</a:tableStyleId>
              </a:tblPr>
              <a:tblGrid>
                <a:gridCol w="2709325"/>
                <a:gridCol w="2709325"/>
                <a:gridCol w="27093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i \ j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Male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Female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Male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-0.03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-0.13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Female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0.16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0.03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5"/>
          <p:cNvSpPr txBox="1"/>
          <p:nvPr>
            <p:ph type="title"/>
          </p:nvPr>
        </p:nvSpPr>
        <p:spPr>
          <a:xfrm>
            <a:off x="838200" y="238516"/>
            <a:ext cx="10515600" cy="760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Behavior model with shape effect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45"/>
          <p:cNvSpPr txBox="1"/>
          <p:nvPr>
            <p:ph idx="1" type="body"/>
          </p:nvPr>
        </p:nvSpPr>
        <p:spPr>
          <a:xfrm>
            <a:off x="838200" y="1023766"/>
            <a:ext cx="10515600" cy="5658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3" name="Google Shape;333;p45"/>
          <p:cNvGraphicFramePr/>
          <p:nvPr/>
        </p:nvGraphicFramePr>
        <p:xfrm>
          <a:off x="3644722" y="11830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{2F47425C-3E23-4647-A863-A74B1C7646E3}</a:tableStyleId>
              </a:tblPr>
              <a:tblGrid>
                <a:gridCol w="1952900"/>
                <a:gridCol w="1444550"/>
                <a:gridCol w="15109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Model 1a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 hMerge="1"/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Effect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par.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(s.e.)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Rate t</a:t>
                      </a:r>
                      <a:r>
                        <a:rPr baseline="-25000" lang="en-US" sz="1800" u="none" cap="none" strike="noStrike"/>
                        <a:t>1</a:t>
                      </a:r>
                      <a:r>
                        <a:rPr lang="en-US" sz="1800" u="none" cap="none" strike="noStrike"/>
                        <a:t> – t</a:t>
                      </a:r>
                      <a:r>
                        <a:rPr baseline="-25000" lang="en-US" sz="1800" u="none" cap="none" strike="noStrike"/>
                        <a:t>2</a:t>
                      </a:r>
                      <a:endParaRPr baseline="-25000"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4.82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1.57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Calibri"/>
                        <a:buNone/>
                      </a:pPr>
                      <a:r>
                        <a:rPr lang="en-US" sz="1800" u="none" cap="none" strike="noStrike"/>
                        <a:t>Rate t</a:t>
                      </a:r>
                      <a:r>
                        <a:rPr baseline="-25000" lang="en-US" sz="1800" u="none" cap="none" strike="noStrike"/>
                        <a:t>2</a:t>
                      </a:r>
                      <a:r>
                        <a:rPr lang="en-US" sz="1800" u="none" cap="none" strike="noStrike"/>
                        <a:t> – t</a:t>
                      </a:r>
                      <a:r>
                        <a:rPr baseline="-25000" lang="en-US" sz="18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1.07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0.19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Calibri"/>
                        <a:buNone/>
                      </a:pPr>
                      <a:r>
                        <a:rPr lang="en-US" sz="1800" u="none" cap="none" strike="noStrike"/>
                        <a:t>Rate t</a:t>
                      </a:r>
                      <a:r>
                        <a:rPr baseline="-25000" lang="en-US" sz="1800" u="none" cap="none" strike="noStrike"/>
                        <a:t>2</a:t>
                      </a:r>
                      <a:r>
                        <a:rPr lang="en-US" sz="1800" u="none" cap="none" strike="noStrike"/>
                        <a:t> – t</a:t>
                      </a:r>
                      <a:r>
                        <a:rPr baseline="-25000" lang="en-US" sz="18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2.28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0.34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Linear shape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-0.41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0.07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185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Quadratic shape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0.10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0.03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34" name="Google Shape;334;p45"/>
          <p:cNvSpPr txBox="1"/>
          <p:nvPr/>
        </p:nvSpPr>
        <p:spPr>
          <a:xfrm>
            <a:off x="838200" y="3963910"/>
            <a:ext cx="10515600" cy="260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Negative linear shape: an overall tendency for actors to adopt low levels of alcohol use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Positive quadratic shape: the higher the level of alcohol consumption of a student already is, the more likely it is that it will increase further (i.e., a positive feedback effect)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6"/>
          <p:cNvSpPr txBox="1"/>
          <p:nvPr>
            <p:ph idx="1" type="body"/>
          </p:nvPr>
        </p:nvSpPr>
        <p:spPr>
          <a:xfrm>
            <a:off x="880404" y="306313"/>
            <a:ext cx="10515600" cy="6221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Evaluation function is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z: 0~4, mean=1.06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0" name="Google Shape;340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75025" y="1046163"/>
            <a:ext cx="4537075" cy="49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74383" y="2284488"/>
            <a:ext cx="7652198" cy="4070764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46"/>
          <p:cNvSpPr txBox="1"/>
          <p:nvPr/>
        </p:nvSpPr>
        <p:spPr>
          <a:xfrm>
            <a:off x="3375025" y="4369330"/>
            <a:ext cx="6344897" cy="4240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/>
              <a:t>0                      1                     2                      3                      4</a:t>
            </a:r>
            <a:endParaRPr b="0" i="0" sz="2000" u="none" cap="none" strike="noStrike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7" name="Google Shape;347;p47"/>
          <p:cNvGraphicFramePr/>
          <p:nvPr/>
        </p:nvGraphicFramePr>
        <p:xfrm>
          <a:off x="1932903" y="3162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{2F47425C-3E23-4647-A863-A74B1C7646E3}</a:tableStyleId>
              </a:tblPr>
              <a:tblGrid>
                <a:gridCol w="1511100"/>
                <a:gridCol w="1322375"/>
                <a:gridCol w="1139475"/>
                <a:gridCol w="1139475"/>
                <a:gridCol w="1237950"/>
                <a:gridCol w="1422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value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gain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exp(gain)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probability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Stay same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0.54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62.60%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0.02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-0.51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0.60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37.40%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0.54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0.51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1.67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49.21%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Stay same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0.02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29.41%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-0.29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-0.32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0.73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21.38%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0.02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0.32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1.38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42.20%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Stay same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-0.29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30.68%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-0.42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-0.12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0.88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27.13%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12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-0.29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0.12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1.13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35.26%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259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Stay same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-0.42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31.19%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206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-0.34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0.07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1.08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33.55%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15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-0.42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-0.07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0.93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48.17%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Stay same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-0.34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51.83%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8"/>
          <p:cNvSpPr txBox="1"/>
          <p:nvPr>
            <p:ph type="title"/>
          </p:nvPr>
        </p:nvSpPr>
        <p:spPr>
          <a:xfrm>
            <a:off x="838200" y="238516"/>
            <a:ext cx="10515600" cy="760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average alter effect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3" name="Google Shape;353;p48"/>
          <p:cNvGraphicFramePr/>
          <p:nvPr/>
        </p:nvGraphicFramePr>
        <p:xfrm>
          <a:off x="3644722" y="123854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{2F47425C-3E23-4647-A863-A74B1C7646E3}</a:tableStyleId>
              </a:tblPr>
              <a:tblGrid>
                <a:gridCol w="1952900"/>
                <a:gridCol w="1444550"/>
                <a:gridCol w="15109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Model 4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 hMerge="1"/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Effect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par.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(s.e.)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Rate t</a:t>
                      </a:r>
                      <a:r>
                        <a:rPr baseline="-25000" lang="en-US" sz="1800" u="none" cap="none" strike="noStrike"/>
                        <a:t>1</a:t>
                      </a:r>
                      <a:r>
                        <a:rPr lang="en-US" sz="1800" u="none" cap="none" strike="noStrike"/>
                        <a:t> – t</a:t>
                      </a:r>
                      <a:r>
                        <a:rPr baseline="-25000" lang="en-US" sz="1800" u="none" cap="none" strike="noStrike"/>
                        <a:t>2</a:t>
                      </a:r>
                      <a:endParaRPr baseline="-25000"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5.70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1.56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Calibri"/>
                        <a:buNone/>
                      </a:pPr>
                      <a:r>
                        <a:rPr lang="en-US" sz="1800" u="none" cap="none" strike="noStrike"/>
                        <a:t>Rate t</a:t>
                      </a:r>
                      <a:r>
                        <a:rPr baseline="-25000" lang="en-US" sz="1800" u="none" cap="none" strike="noStrike"/>
                        <a:t>2</a:t>
                      </a:r>
                      <a:r>
                        <a:rPr lang="en-US" sz="1800" u="none" cap="none" strike="noStrike"/>
                        <a:t> – t</a:t>
                      </a:r>
                      <a:r>
                        <a:rPr baseline="-25000" lang="en-US" sz="18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1.09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0.19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Calibri"/>
                        <a:buNone/>
                      </a:pPr>
                      <a:r>
                        <a:rPr lang="en-US" sz="1800" u="none" cap="none" strike="noStrike"/>
                        <a:t>Rate t</a:t>
                      </a:r>
                      <a:r>
                        <a:rPr baseline="-25000" lang="en-US" sz="1800" u="none" cap="none" strike="noStrike"/>
                        <a:t>2</a:t>
                      </a:r>
                      <a:r>
                        <a:rPr lang="en-US" sz="1800" u="none" cap="none" strike="noStrike"/>
                        <a:t> – t</a:t>
                      </a:r>
                      <a:r>
                        <a:rPr baseline="-25000" lang="en-US" sz="18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2.40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0.38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Linear shape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-0.39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0.06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182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Quadratic shape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0.03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0.04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182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Average alter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0.29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0.14</a:t>
                      </a:r>
                      <a:endParaRPr/>
                    </a:p>
                  </a:txBody>
                  <a:tcPr marT="9525" marB="0" marR="9525" marL="9525" anchor="b"/>
                </a:tc>
              </a:tr>
            </a:tbl>
          </a:graphicData>
        </a:graphic>
      </p:graphicFrame>
      <p:sp>
        <p:nvSpPr>
          <p:cNvPr id="354" name="Google Shape;354;p48"/>
          <p:cNvSpPr txBox="1"/>
          <p:nvPr/>
        </p:nvSpPr>
        <p:spPr>
          <a:xfrm>
            <a:off x="838200" y="4663725"/>
            <a:ext cx="10515600" cy="1554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Positive and significant average alter effect: additional tendencies for ego to change their drinking behaviors to be reinforced by the average drinking behaviors of their friends.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9"/>
          <p:cNvSpPr txBox="1"/>
          <p:nvPr/>
        </p:nvSpPr>
        <p:spPr>
          <a:xfrm>
            <a:off x="908538" y="330877"/>
            <a:ext cx="10515600" cy="14135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Evaluation function is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0" name="Google Shape;360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0788" y="985545"/>
            <a:ext cx="7531100" cy="496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97576" y="1744394"/>
            <a:ext cx="8382855" cy="5029713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49"/>
          <p:cNvSpPr txBox="1"/>
          <p:nvPr/>
        </p:nvSpPr>
        <p:spPr>
          <a:xfrm>
            <a:off x="3320312" y="4153252"/>
            <a:ext cx="6908395" cy="380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/>
              <a:t>0                               1                               2                               3                               4                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7" name="Google Shape;367;p50"/>
          <p:cNvGraphicFramePr/>
          <p:nvPr/>
        </p:nvGraphicFramePr>
        <p:xfrm>
          <a:off x="1932903" y="3162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{2F47425C-3E23-4647-A863-A74B1C7646E3}</a:tableStyleId>
              </a:tblPr>
              <a:tblGrid>
                <a:gridCol w="1132275"/>
                <a:gridCol w="1262125"/>
                <a:gridCol w="1275000"/>
                <a:gridCol w="1236375"/>
                <a:gridCol w="1236375"/>
                <a:gridCol w="1300775"/>
                <a:gridCol w="13136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Stay same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67.64%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60.94%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53.81%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46.51%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39.36%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32.36%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39.06%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46.19%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53.49%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60.64%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58.02%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48.06%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37.77%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28.05%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19.68%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Stay same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27.76%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30.80%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32.43%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32.25%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30.32%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14.22%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21.13%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29.80%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39.70%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49.99%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55.78%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45.67%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35.43%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25.96%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17.99%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Stay same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28.57%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31.33%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32.55%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31.95%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29.66%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15.66%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23.00%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32.02%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42.09%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52.35%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12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53.48%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43.26%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33.12%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23.95%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16.40%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259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Stay same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29.32%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31.77%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32.58%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31.55%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28.94%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206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17.20%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24.97%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34.30%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44.50%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54.66%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15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63.02%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55.99%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48.71%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41.49%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34.61%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Stay same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36.98%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44.01%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51.29%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58.51%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65.39%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1"/>
          <p:cNvSpPr txBox="1"/>
          <p:nvPr>
            <p:ph type="title"/>
          </p:nvPr>
        </p:nvSpPr>
        <p:spPr>
          <a:xfrm>
            <a:off x="838200" y="238516"/>
            <a:ext cx="10515600" cy="760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Full model – Network part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73" name="Google Shape;373;p51"/>
          <p:cNvGraphicFramePr/>
          <p:nvPr/>
        </p:nvGraphicFramePr>
        <p:xfrm>
          <a:off x="588465" y="11018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{2F47425C-3E23-4647-A863-A74B1C7646E3}</a:tableStyleId>
              </a:tblPr>
              <a:tblGrid>
                <a:gridCol w="2657000"/>
                <a:gridCol w="1068950"/>
                <a:gridCol w="10045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Model 4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 hMerge="1"/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Effect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par.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(s.e.)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Rate t</a:t>
                      </a:r>
                      <a:r>
                        <a:rPr baseline="-25000" lang="en-US" sz="1800" u="none" cap="none" strike="noStrike"/>
                        <a:t>1</a:t>
                      </a:r>
                      <a:r>
                        <a:rPr lang="en-US" sz="1800" u="none" cap="none" strike="noStrike"/>
                        <a:t> – t</a:t>
                      </a:r>
                      <a:r>
                        <a:rPr baseline="-25000" lang="en-US" sz="1800" u="none" cap="none" strike="noStrike"/>
                        <a:t>2</a:t>
                      </a:r>
                      <a:endParaRPr baseline="-25000"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15.67***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1.79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Calibri"/>
                        <a:buNone/>
                      </a:pPr>
                      <a:r>
                        <a:rPr lang="en-US" sz="1800" u="none" cap="none" strike="noStrike"/>
                        <a:t>Rate t</a:t>
                      </a:r>
                      <a:r>
                        <a:rPr baseline="-25000" lang="en-US" sz="1800" u="none" cap="none" strike="noStrike"/>
                        <a:t>2</a:t>
                      </a:r>
                      <a:r>
                        <a:rPr lang="en-US" sz="1800" u="none" cap="none" strike="noStrike"/>
                        <a:t> – t</a:t>
                      </a:r>
                      <a:r>
                        <a:rPr baseline="-25000" lang="en-US" sz="18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10.28***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0.87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Calibri"/>
                        <a:buNone/>
                      </a:pPr>
                      <a:r>
                        <a:rPr lang="en-US" sz="1800" u="none" cap="none" strike="noStrike"/>
                        <a:t>Rate t</a:t>
                      </a:r>
                      <a:r>
                        <a:rPr baseline="-25000" lang="en-US" sz="1800" u="none" cap="none" strike="noStrike"/>
                        <a:t>2</a:t>
                      </a:r>
                      <a:r>
                        <a:rPr lang="en-US" sz="1800" u="none" cap="none" strike="noStrike"/>
                        <a:t> – t</a:t>
                      </a:r>
                      <a:r>
                        <a:rPr baseline="-25000" lang="en-US" sz="18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13.78***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1.98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185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Out-degree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-5.87***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0.41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Reciprocity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7.22***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0.22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24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Transitive ties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0.50***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0.11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Three-cycles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0.65***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0.17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Calibri"/>
                        <a:buNone/>
                      </a:pPr>
                      <a:r>
                        <a:rPr lang="en-US" sz="1800" u="none" cap="none" strike="noStrike"/>
                        <a:t>Number of distance at 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0.18*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0.08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Indegree popularity (sqrd)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-0.42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0.30</a:t>
                      </a:r>
                      <a:endParaRPr/>
                    </a:p>
                  </a:txBody>
                  <a:tcPr marT="9525" marB="0" marR="9525" marL="9525" anchor="b"/>
                </a:tc>
              </a:tr>
            </a:tbl>
          </a:graphicData>
        </a:graphic>
      </p:graphicFrame>
      <p:graphicFrame>
        <p:nvGraphicFramePr>
          <p:cNvPr id="374" name="Google Shape;374;p51"/>
          <p:cNvGraphicFramePr/>
          <p:nvPr/>
        </p:nvGraphicFramePr>
        <p:xfrm>
          <a:off x="5943930" y="11125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{2F47425C-3E23-4647-A863-A74B1C7646E3}</a:tableStyleId>
              </a:tblPr>
              <a:tblGrid>
                <a:gridCol w="2657000"/>
                <a:gridCol w="1068950"/>
                <a:gridCol w="10045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Model 4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 hMerge="1"/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Effect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par.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(s.e.)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185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Same hall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0.90***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0.10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185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Calibri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Sex (F) alter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-0.11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0.13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Calibri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Sex (F) ego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0.13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0.13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Calibri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Sex similarity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-0.05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0.07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185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Race (W) alter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0.19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0.18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Race (W) ego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-0.11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0.17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24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Race similarity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0.24***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0.08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 alter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-0.08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0.15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Calibri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 ego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-0.01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0.13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182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 similarity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0.14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0.14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182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Drinking similarity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0.96***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0.27</a:t>
                      </a:r>
                      <a:endParaRPr/>
                    </a:p>
                  </a:txBody>
                  <a:tcPr marT="9525" marB="0" marR="9525" marL="9525" anchor="b"/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2"/>
          <p:cNvSpPr txBox="1"/>
          <p:nvPr>
            <p:ph type="title"/>
          </p:nvPr>
        </p:nvSpPr>
        <p:spPr>
          <a:xfrm>
            <a:off x="838200" y="238516"/>
            <a:ext cx="10515600" cy="760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Full model – Behavior part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0" name="Google Shape;380;p52"/>
          <p:cNvGraphicFramePr/>
          <p:nvPr/>
        </p:nvGraphicFramePr>
        <p:xfrm>
          <a:off x="3097699" y="129287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{2F47425C-3E23-4647-A863-A74B1C7646E3}</a:tableStyleId>
              </a:tblPr>
              <a:tblGrid>
                <a:gridCol w="2657000"/>
                <a:gridCol w="1068950"/>
                <a:gridCol w="10045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Model 4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 hMerge="1"/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Effect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par.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(s.e.)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185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Rate t</a:t>
                      </a:r>
                      <a:r>
                        <a:rPr baseline="-25000" lang="en-US" sz="1800" u="none" cap="none" strike="noStrike"/>
                        <a:t>1</a:t>
                      </a:r>
                      <a:r>
                        <a:rPr lang="en-US" sz="1800" u="none" cap="none" strike="noStrike"/>
                        <a:t> – t</a:t>
                      </a:r>
                      <a:r>
                        <a:rPr baseline="-25000" lang="en-US" sz="1800" u="none" cap="none" strike="noStrike"/>
                        <a:t>2</a:t>
                      </a:r>
                      <a:endParaRPr baseline="-25000"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5.70***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1.56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185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Calibri"/>
                        <a:buNone/>
                      </a:pPr>
                      <a:r>
                        <a:rPr lang="en-US" sz="1800" u="none" cap="none" strike="noStrike"/>
                        <a:t>Rate t</a:t>
                      </a:r>
                      <a:r>
                        <a:rPr baseline="-25000" lang="en-US" sz="1800" u="none" cap="none" strike="noStrike"/>
                        <a:t>2</a:t>
                      </a:r>
                      <a:r>
                        <a:rPr lang="en-US" sz="1800" u="none" cap="none" strike="noStrike"/>
                        <a:t> – t</a:t>
                      </a:r>
                      <a:r>
                        <a:rPr baseline="-25000" lang="en-US" sz="18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1.09***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0.19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Calibri"/>
                        <a:buNone/>
                      </a:pPr>
                      <a:r>
                        <a:rPr lang="en-US" sz="1800" u="none" cap="none" strike="noStrike"/>
                        <a:t>Rate t</a:t>
                      </a:r>
                      <a:r>
                        <a:rPr baseline="-25000" lang="en-US" sz="1800" u="none" cap="none" strike="noStrike"/>
                        <a:t>2</a:t>
                      </a:r>
                      <a:r>
                        <a:rPr lang="en-US" sz="1800" u="none" cap="none" strike="noStrike"/>
                        <a:t> – t</a:t>
                      </a:r>
                      <a:r>
                        <a:rPr baseline="-25000" lang="en-US" sz="18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2.40***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0.38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Linear shape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-0.39***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0.06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185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Quadratic shape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0.03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0.04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Average alter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0.29*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0.14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24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Effect from age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0.03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0.11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Effect from gender (F)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-0.15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0.11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Calibri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Effect for race (W)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0.16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0.12</a:t>
                      </a:r>
                      <a:endParaRPr/>
                    </a:p>
                  </a:txBody>
                  <a:tcPr marT="9525" marB="0" marR="9525" marL="9525" anchor="b"/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3"/>
          <p:cNvSpPr txBox="1"/>
          <p:nvPr>
            <p:ph type="title"/>
          </p:nvPr>
        </p:nvSpPr>
        <p:spPr>
          <a:xfrm>
            <a:off x="679294" y="435463"/>
            <a:ext cx="11013715" cy="689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relative contribution of drinking-based selection and influence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53"/>
          <p:cNvSpPr txBox="1"/>
          <p:nvPr/>
        </p:nvSpPr>
        <p:spPr>
          <a:xfrm>
            <a:off x="928352" y="1233588"/>
            <a:ext cx="10515600" cy="5399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Spatial autocorrelation, i.e., when assessed alone, development indicators are robust predictors of democracy, but their predictive power fades with the inclusion of diffusion variables. In particular,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diffusion predictors of spatial proximity and networks are robust predictors of democratic growth in both the world and across all regions (Wejnert, 2005).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 autocorrelation, can be the result of selection, influence, or both simultaneously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4"/>
          <p:cNvSpPr txBox="1"/>
          <p:nvPr>
            <p:ph idx="1" type="body"/>
          </p:nvPr>
        </p:nvSpPr>
        <p:spPr>
          <a:xfrm>
            <a:off x="880404" y="306313"/>
            <a:ext cx="10515600" cy="6221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Moran's I: cross-products of behavioral scores of relational partners (Moran, 1948, see also Geary's C, 1954)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Values close to zero indicate that relational partners are not more similar than one would expect under random pairing, while values close to one indicate a very strong network autocorrelation.</a:t>
            </a:r>
            <a:endParaRPr/>
          </a:p>
        </p:txBody>
      </p:sp>
      <p:pic>
        <p:nvPicPr>
          <p:cNvPr id="392" name="Google Shape;39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9310" y="1615871"/>
            <a:ext cx="6254549" cy="2994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7" name="Google Shape;397;p55"/>
          <p:cNvGraphicFramePr/>
          <p:nvPr/>
        </p:nvGraphicFramePr>
        <p:xfrm>
          <a:off x="393896" y="3162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{2F47425C-3E23-4647-A863-A74B1C7646E3}</a:tableStyleId>
              </a:tblPr>
              <a:tblGrid>
                <a:gridCol w="2518125"/>
                <a:gridCol w="1185100"/>
                <a:gridCol w="1349625"/>
                <a:gridCol w="1465000"/>
                <a:gridCol w="1642650"/>
                <a:gridCol w="1728200"/>
                <a:gridCol w="17453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null /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baseline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trend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control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selection /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no influence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Influence /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 no selection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full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Network model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    Rate function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√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√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√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√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√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    Out-degree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√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√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√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√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    Reciprocity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√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√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√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√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    Other network factors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√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√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√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√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    Individual covariates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√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√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√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√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    Drinking similarity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√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√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Behavior model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    Rate function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Calibri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√</a:t>
                      </a:r>
                      <a:endParaRPr/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√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√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√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√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2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    Linear shape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Calibri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√ 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√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√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√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√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9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    Quadratic shape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√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√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√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√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√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6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    Average alter drinking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√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√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    Other network factors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√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√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√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√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Calibri"/>
                        <a:buNone/>
                      </a:pPr>
                      <a:r>
                        <a:rPr lang="en-US" sz="1800" u="none" cap="none" strike="noStrike"/>
                        <a:t>    Individual covariates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√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√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√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√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98" name="Google Shape;398;p55"/>
          <p:cNvSpPr/>
          <p:nvPr/>
        </p:nvSpPr>
        <p:spPr>
          <a:xfrm>
            <a:off x="1213453" y="6325159"/>
            <a:ext cx="72190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expected value in the null model is -1/(n-1) (the n is number of actors)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3" name="Google Shape;403;p56"/>
          <p:cNvGraphicFramePr/>
          <p:nvPr/>
        </p:nvGraphicFramePr>
        <p:xfrm>
          <a:off x="1008282" y="12039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{2F47425C-3E23-4647-A863-A74B1C7646E3}</a:tableStyleId>
              </a:tblPr>
              <a:tblGrid>
                <a:gridCol w="2180250"/>
                <a:gridCol w="1324700"/>
                <a:gridCol w="1324700"/>
                <a:gridCol w="1324700"/>
                <a:gridCol w="1324700"/>
                <a:gridCol w="1324700"/>
                <a:gridCol w="1324700"/>
              </a:tblGrid>
              <a:tr h="413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700" marB="0" marR="20700" marL="20700" anchor="b"/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t2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700" marB="0" marR="20700" marL="20700" anchor="b"/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t3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700" marB="0" marR="20700" marL="20700" anchor="b"/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t4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700" marB="0" marR="20700" marL="20700" anchor="b"/>
                </a:tc>
                <a:tc hMerge="1"/>
              </a:tr>
              <a:tr h="413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Model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700" marB="0" marR="20700" marL="2070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Moran’s I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700" marB="0" marR="20700" marL="2070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s.d.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700" marB="0" marR="20700" marL="2070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Moran’s I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700" marB="0" marR="20700" marL="2070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s.d.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700" marB="0" marR="20700" marL="2070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Moran’s I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700" marB="0" marR="20700" marL="2070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s.d.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700" marB="0" marR="20700" marL="20700" anchor="b"/>
                </a:tc>
              </a:tr>
              <a:tr h="413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Null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700" marB="0" marR="20700" marL="2070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-0.005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700" marB="0" marR="20700" marL="2070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700" marB="0" marR="20700" marL="2070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-0.005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700" marB="0" marR="20700" marL="2070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700" marB="0" marR="20700" marL="2070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-0.005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700" marB="0" marR="20700" marL="2070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700" marB="0" marR="20700" marL="20700" anchor="b"/>
                </a:tc>
              </a:tr>
              <a:tr h="413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Trend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700" marB="0" marR="20700" marL="2070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-0.003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700" marB="0" marR="20700" marL="2070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0.032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700" marB="0" marR="20700" marL="2070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0.123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700" marB="0" marR="20700" marL="2070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0.031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700" marB="0" marR="20700" marL="2070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0.090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700" marB="0" marR="20700" marL="2070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0.052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700" marB="0" marR="20700" marL="20700" anchor="b"/>
                </a:tc>
              </a:tr>
              <a:tr h="413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Control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700" marB="0" marR="20700" marL="2070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0.027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700" marB="0" marR="20700" marL="2070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0.059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700" marB="0" marR="20700" marL="2070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0.181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700" marB="0" marR="20700" marL="2070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0.060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700" marB="0" marR="20700" marL="2070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0.131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700" marB="0" marR="20700" marL="2070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0.092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700" marB="0" marR="20700" marL="20700" anchor="b"/>
                </a:tc>
              </a:tr>
              <a:tr h="413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no influence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700" marB="0" marR="20700" marL="2070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0.076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700" marB="0" marR="20700" marL="2070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0.057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700" marB="0" marR="20700" marL="2070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0.299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700" marB="0" marR="20700" marL="2070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0.061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700" marB="0" marR="20700" marL="2070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0.292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700" marB="0" marR="20700" marL="2070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0.097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700" marB="0" marR="20700" marL="20700" anchor="b"/>
                </a:tc>
              </a:tr>
              <a:tr h="413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no similarity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700" marB="0" marR="20700" marL="2070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0.134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700" marB="0" marR="20700" marL="2070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0.074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700" marB="0" marR="20700" marL="2070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0.250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700" marB="0" marR="20700" marL="2070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0.063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700" marB="0" marR="20700" marL="2070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0.290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700" marB="0" marR="20700" marL="2070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0.106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700" marB="0" marR="20700" marL="20700" anchor="b"/>
                </a:tc>
              </a:tr>
              <a:tr h="413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Full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700" marB="0" marR="20700" marL="2070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0.174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700" marB="0" marR="20700" marL="2070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0.072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700" marB="0" marR="20700" marL="2070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0.373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700" marB="0" marR="20700" marL="2070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0.061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700" marB="0" marR="20700" marL="2070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0.468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700" marB="0" marR="20700" marL="2070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0.101</a:t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700" marB="0" marR="20700" marL="20700" anchor="b"/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7"/>
          <p:cNvSpPr txBox="1"/>
          <p:nvPr>
            <p:ph idx="1" type="body"/>
          </p:nvPr>
        </p:nvSpPr>
        <p:spPr>
          <a:xfrm>
            <a:off x="5528602" y="306313"/>
            <a:ext cx="5867401" cy="6221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Selection – the proportion of  similarity attributed to drinking-based friendship selection processes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Influence – the proportion of similarity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attributed to influence from egos’ friendship networks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– all selection and influence mechanisms except for drinking-based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selection and influence of friends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Trend – the consequences of the similarity observed in the preceding wave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9" name="Google Shape;409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94642" y="1421715"/>
            <a:ext cx="8064012" cy="48384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8"/>
          <p:cNvSpPr txBox="1"/>
          <p:nvPr>
            <p:ph type="title"/>
          </p:nvPr>
        </p:nvSpPr>
        <p:spPr>
          <a:xfrm>
            <a:off x="838200" y="365125"/>
            <a:ext cx="10515600" cy="8306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Other work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58"/>
          <p:cNvSpPr txBox="1"/>
          <p:nvPr>
            <p:ph idx="1" type="body"/>
          </p:nvPr>
        </p:nvSpPr>
        <p:spPr>
          <a:xfrm>
            <a:off x="838200" y="162867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Score tests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heterogeneity test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Goodness of fit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Bayesian estimation; Maximum Likelihood estimation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Non-directed networks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Bipartite networks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Multilevel network analysis (meta analysis approach)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Multivariate relations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59"/>
          <p:cNvSpPr txBox="1"/>
          <p:nvPr>
            <p:ph type="title"/>
          </p:nvPr>
        </p:nvSpPr>
        <p:spPr>
          <a:xfrm>
            <a:off x="838200" y="365125"/>
            <a:ext cx="10515600" cy="8306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Some sources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5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lot of material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– programs, manuals, scripts, sample data, papers, workshop   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announcements –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can be found at the Siena website: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http://www.stats.ox.ac.uk/siena/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is also a user’s group: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http://groups.yahoo.com/groups/stocnet/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