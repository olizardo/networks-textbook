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9144000"/>
  <p:notesSz cx="6858000" cy="9144000"/>
  <p:embeddedFontLst>
    <p:embeddedFont>
      <p:font typeface="Junge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Junge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47b5dd974_0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47b5dd974_0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47b5dd974_0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47b5dd974_0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47b5dd974_0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47b5dd974_0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47b5dd974_0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47b5dd974_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47b5dd974_0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47b5dd974_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7b5dd974_0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7b5dd974_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7b5dd974_0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7b5dd974_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7b5dd974_0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47b5dd974_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7b5dd974_0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7b5dd974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7b5dd974_0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7b5dd974_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7b5dd974_0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47b5dd974_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7b5dd974_0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47b5dd974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7b5dd974_0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7b5dd974_0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7b5dd974_0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47b5dd974_0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7b5dd974_0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47b5dd974_0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7b5dd974_0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47b5dd974_0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7b5dd974_0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7b5dd974_0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47b5dd974_0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47b5dd974_0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7b5dd974_0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47b5dd974_0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7b5dd974_0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47b5dd974_0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47b5dd974_0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47b5dd974_0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47b5dd974_0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47b5dd974_0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7b5dd974_0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7b5dd974_0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47b5dd974_0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47b5dd974_0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7b5dd974_0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7b5dd974_0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7b5dd974_0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7b5dd974_0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47b5dd974_0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47b5dd974_0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DA000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>
              <a:spcBef>
                <a:spcPts val="600"/>
              </a:spcBef>
              <a:spcAft>
                <a:spcPts val="0"/>
              </a:spcAft>
              <a:buSzPts val="3600"/>
              <a:buFont typeface="Junge"/>
              <a:buChar char="●"/>
              <a:defRPr sz="3600">
                <a:latin typeface="Junge"/>
                <a:ea typeface="Junge"/>
                <a:cs typeface="Junge"/>
                <a:sym typeface="Junge"/>
              </a:defRPr>
            </a:lvl1pPr>
            <a:lvl2pPr indent="-419100" lvl="1" marL="91440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Junge"/>
              <a:buChar char="○"/>
              <a:defRPr sz="3000">
                <a:solidFill>
                  <a:srgbClr val="0000FF"/>
                </a:solidFill>
                <a:latin typeface="Junge"/>
                <a:ea typeface="Junge"/>
                <a:cs typeface="Junge"/>
                <a:sym typeface="Junge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Junge"/>
              <a:buChar char="■"/>
              <a:defRPr>
                <a:solidFill>
                  <a:srgbClr val="274E13"/>
                </a:solidFill>
                <a:latin typeface="Junge"/>
                <a:ea typeface="Junge"/>
                <a:cs typeface="Junge"/>
                <a:sym typeface="Junge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  <a:defRPr>
                <a:latin typeface="Junge"/>
                <a:ea typeface="Junge"/>
                <a:cs typeface="Junge"/>
                <a:sym typeface="Junge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○"/>
              <a:defRPr>
                <a:latin typeface="Junge"/>
                <a:ea typeface="Junge"/>
                <a:cs typeface="Junge"/>
                <a:sym typeface="Junge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■"/>
              <a:defRPr>
                <a:latin typeface="Junge"/>
                <a:ea typeface="Junge"/>
                <a:cs typeface="Junge"/>
                <a:sym typeface="Junge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  <a:defRPr>
                <a:latin typeface="Junge"/>
                <a:ea typeface="Junge"/>
                <a:cs typeface="Junge"/>
                <a:sym typeface="Junge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○"/>
              <a:defRPr>
                <a:latin typeface="Junge"/>
                <a:ea typeface="Junge"/>
                <a:cs typeface="Junge"/>
                <a:sym typeface="Junge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■"/>
              <a:defRPr>
                <a:latin typeface="Junge"/>
                <a:ea typeface="Junge"/>
                <a:cs typeface="Junge"/>
                <a:sym typeface="Junge"/>
              </a:defRPr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gif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Amy’s facebook network</a:t>
            </a:r>
            <a:endParaRPr/>
          </a:p>
        </p:txBody>
      </p:sp>
      <p:pic>
        <p:nvPicPr>
          <p:cNvPr descr="amy-cliques.PNG" id="36" name="Google Shape;36;p8"/>
          <p:cNvPicPr preferRelativeResize="0"/>
          <p:nvPr/>
        </p:nvPicPr>
        <p:blipFill rotWithShape="1">
          <a:blip r:embed="rId3">
            <a:alphaModFix/>
          </a:blip>
          <a:srcRect b="0" l="53216" r="0" t="13704"/>
          <a:stretch/>
        </p:blipFill>
        <p:spPr>
          <a:xfrm>
            <a:off x="1862663" y="1577450"/>
            <a:ext cx="5418675" cy="501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Backstrom and Kleinberg</a:t>
            </a:r>
            <a:endParaRPr/>
          </a:p>
        </p:txBody>
      </p:sp>
      <p:pic>
        <p:nvPicPr>
          <p:cNvPr descr="28bits-lohr-tmagArticle-v2.jpg" id="42" name="Google Shape;4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850" y="1598854"/>
            <a:ext cx="7326300" cy="498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/>
          <p:nvPr/>
        </p:nvSpPr>
        <p:spPr>
          <a:xfrm>
            <a:off x="4340250" y="4010525"/>
            <a:ext cx="463500" cy="30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D85C6"/>
                </a:solidFill>
              </a:rPr>
              <a:t>You</a:t>
            </a:r>
            <a:endParaRPr b="1" sz="1200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Backstrom and Kleinberg</a:t>
            </a:r>
            <a:endParaRPr/>
          </a:p>
        </p:txBody>
      </p:sp>
      <p:pic>
        <p:nvPicPr>
          <p:cNvPr descr="28bits-lohr-tmagArticle-v2.jpg" id="49" name="Google Shape;4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850" y="1598854"/>
            <a:ext cx="7326300" cy="498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/>
          <p:nvPr/>
        </p:nvSpPr>
        <p:spPr>
          <a:xfrm>
            <a:off x="3885725" y="5178000"/>
            <a:ext cx="312000" cy="303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" name="Google Shape;51;p10"/>
          <p:cNvCxnSpPr>
            <a:stCxn id="52" idx="3"/>
            <a:endCxn id="50" idx="3"/>
          </p:cNvCxnSpPr>
          <p:nvPr/>
        </p:nvCxnSpPr>
        <p:spPr>
          <a:xfrm flipH="1" rot="10800000">
            <a:off x="2290475" y="5436575"/>
            <a:ext cx="1641000" cy="86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" name="Google Shape;52;p10"/>
          <p:cNvSpPr txBox="1"/>
          <p:nvPr/>
        </p:nvSpPr>
        <p:spPr>
          <a:xfrm>
            <a:off x="1158575" y="6024575"/>
            <a:ext cx="1131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Significant Other?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3" name="Google Shape;53;p10"/>
          <p:cNvSpPr txBox="1"/>
          <p:nvPr/>
        </p:nvSpPr>
        <p:spPr>
          <a:xfrm>
            <a:off x="4340250" y="4010525"/>
            <a:ext cx="463500" cy="30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D85C6"/>
                </a:solidFill>
              </a:rPr>
              <a:t>You</a:t>
            </a:r>
            <a:endParaRPr b="1" sz="1200">
              <a:solidFill>
                <a:srgbClr val="3D85C6"/>
              </a:solidFill>
            </a:endParaRPr>
          </a:p>
        </p:txBody>
      </p:sp>
      <p:sp>
        <p:nvSpPr>
          <p:cNvPr id="54" name="Google Shape;54;p10"/>
          <p:cNvSpPr txBox="1"/>
          <p:nvPr/>
        </p:nvSpPr>
        <p:spPr>
          <a:xfrm>
            <a:off x="6577250" y="5850875"/>
            <a:ext cx="11409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unge"/>
                <a:ea typeface="Junge"/>
                <a:cs typeface="Junge"/>
                <a:sym typeface="Junge"/>
              </a:rPr>
              <a:t>Why?</a:t>
            </a:r>
            <a:endParaRPr sz="24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simple ideas</a:t>
            </a:r>
            <a:endParaRPr/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600"/>
              <a:buAutoNum type="arabicPeriod"/>
            </a:pPr>
            <a:r>
              <a:rPr lang="en">
                <a:solidFill>
                  <a:srgbClr val="000000"/>
                </a:solidFill>
              </a:rPr>
              <a:t>Network connections not just </a:t>
            </a:r>
            <a:r>
              <a:rPr b="1" lang="en">
                <a:solidFill>
                  <a:srgbClr val="000000"/>
                </a:solidFill>
              </a:rPr>
              <a:t>pipes </a:t>
            </a:r>
            <a:r>
              <a:rPr lang="en">
                <a:solidFill>
                  <a:srgbClr val="000000"/>
                </a:solidFill>
              </a:rPr>
              <a:t>through which things flow; also </a:t>
            </a:r>
            <a:r>
              <a:rPr b="1" lang="en">
                <a:solidFill>
                  <a:srgbClr val="000000"/>
                </a:solidFill>
              </a:rPr>
              <a:t>prisms</a:t>
            </a:r>
            <a:r>
              <a:rPr lang="en">
                <a:solidFill>
                  <a:srgbClr val="000000"/>
                </a:solidFill>
              </a:rPr>
              <a:t> reflecting who we are to others</a:t>
            </a:r>
            <a:endParaRPr>
              <a:solidFill>
                <a:srgbClr val="000000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AutoNum type="arabicPeriod"/>
            </a:pPr>
            <a:r>
              <a:rPr lang="en">
                <a:solidFill>
                  <a:srgbClr val="CCCCCC"/>
                </a:solidFill>
              </a:rPr>
              <a:t>If we know the </a:t>
            </a:r>
            <a:r>
              <a:rPr b="1" lang="en">
                <a:solidFill>
                  <a:srgbClr val="CCCCCC"/>
                </a:solidFill>
              </a:rPr>
              <a:t>rules </a:t>
            </a:r>
            <a:r>
              <a:rPr lang="en">
                <a:solidFill>
                  <a:srgbClr val="CCCCCC"/>
                </a:solidFill>
              </a:rPr>
              <a:t>people follow when they connect, then we can guess some things about the </a:t>
            </a:r>
            <a:r>
              <a:rPr b="1" lang="en">
                <a:solidFill>
                  <a:srgbClr val="CCCCCC"/>
                </a:solidFill>
              </a:rPr>
              <a:t>whole </a:t>
            </a:r>
            <a:r>
              <a:rPr lang="en">
                <a:solidFill>
                  <a:srgbClr val="CCCCCC"/>
                </a:solidFill>
              </a:rPr>
              <a:t>network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simple ideas</a:t>
            </a:r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3600"/>
              <a:buAutoNum type="arabicPeriod"/>
            </a:pPr>
            <a:r>
              <a:rPr lang="en">
                <a:solidFill>
                  <a:srgbClr val="CCCCCC"/>
                </a:solidFill>
              </a:rPr>
              <a:t>Network connections not just </a:t>
            </a:r>
            <a:r>
              <a:rPr b="1" lang="en">
                <a:solidFill>
                  <a:srgbClr val="CCCCCC"/>
                </a:solidFill>
              </a:rPr>
              <a:t>pipes </a:t>
            </a:r>
            <a:r>
              <a:rPr lang="en">
                <a:solidFill>
                  <a:srgbClr val="CCCCCC"/>
                </a:solidFill>
              </a:rPr>
              <a:t>through which things flow; also </a:t>
            </a:r>
            <a:r>
              <a:rPr b="1" lang="en">
                <a:solidFill>
                  <a:srgbClr val="CCCCCC"/>
                </a:solidFill>
              </a:rPr>
              <a:t>prisms</a:t>
            </a:r>
            <a:r>
              <a:rPr lang="en">
                <a:solidFill>
                  <a:srgbClr val="CCCCCC"/>
                </a:solidFill>
              </a:rPr>
              <a:t> reflecting who we are to others</a:t>
            </a:r>
            <a:endParaRPr>
              <a:solidFill>
                <a:srgbClr val="CCCCCC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lang="en"/>
              <a:t>we know the </a:t>
            </a:r>
            <a:r>
              <a:rPr b="1" lang="en"/>
              <a:t>rules </a:t>
            </a:r>
            <a:r>
              <a:rPr lang="en"/>
              <a:t>people follow when they connect, then we can guess some things about the </a:t>
            </a:r>
            <a:r>
              <a:rPr b="1" lang="en"/>
              <a:t>whole </a:t>
            </a:r>
            <a:r>
              <a:rPr lang="en"/>
              <a:t>network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We have talked about networks as static structures (flow model)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But networks have a history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The “grow” over time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How do they grow?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“statics” to “dynamics”</a:t>
            </a:r>
            <a:endParaRPr/>
          </a:p>
        </p:txBody>
      </p:sp>
      <p:pic>
        <p:nvPicPr>
          <p:cNvPr descr="img17.gif" id="73" name="Google Shape;7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563" y="4197675"/>
            <a:ext cx="5466874" cy="246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457200" y="1600200"/>
            <a:ext cx="46227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unge"/>
              <a:buChar char="●"/>
            </a:pPr>
            <a:r>
              <a:rPr lang="en"/>
              <a:t>We have seen one possible growth mechanism	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Like connects to like (homophily)</a:t>
            </a:r>
            <a:endParaRPr/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Junge"/>
              <a:buChar char="■"/>
            </a:pPr>
            <a:r>
              <a:rPr lang="en"/>
              <a:t>Not the only possible one</a:t>
            </a:r>
            <a:endParaRPr/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Junge"/>
              <a:buChar char="○"/>
            </a:pPr>
            <a:r>
              <a:rPr lang="en"/>
              <a:t>Why? 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“statics” to “dynamics”</a:t>
            </a:r>
            <a:endParaRPr/>
          </a:p>
        </p:txBody>
      </p:sp>
      <p:pic>
        <p:nvPicPr>
          <p:cNvPr descr="networking.jpg"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750" y="2164674"/>
            <a:ext cx="3724050" cy="400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57200" y="1600200"/>
            <a:ext cx="49347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unge"/>
              <a:buChar char="●"/>
            </a:pPr>
            <a:r>
              <a:rPr lang="en"/>
              <a:t>Durkheim:</a:t>
            </a:r>
            <a:endParaRPr/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unge"/>
              <a:buChar char="○"/>
            </a:pPr>
            <a:r>
              <a:rPr lang="en"/>
              <a:t>Mechanical solidarity</a:t>
            </a:r>
            <a:endParaRPr/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Social unity via sameness</a:t>
            </a:r>
            <a:endParaRPr/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Organic solidarity</a:t>
            </a:r>
            <a:endParaRPr/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Social unity via differences</a:t>
            </a:r>
            <a:endParaRPr/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When?</a:t>
            </a:r>
            <a:endParaRPr/>
          </a:p>
        </p:txBody>
      </p:sp>
      <p:sp>
        <p:nvSpPr>
          <p:cNvPr id="86" name="Google Shape;86;p15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“statics” to “dynamics”</a:t>
            </a:r>
            <a:endParaRPr/>
          </a:p>
        </p:txBody>
      </p:sp>
      <p:pic>
        <p:nvPicPr>
          <p:cNvPr descr="durkheim_09.jpg"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4625" y="1871575"/>
            <a:ext cx="3116500" cy="45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457200" y="1600200"/>
            <a:ext cx="49347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unge"/>
              <a:buChar char="●"/>
            </a:pPr>
            <a:r>
              <a:rPr lang="en"/>
              <a:t>Organic solidarity</a:t>
            </a:r>
            <a:endParaRPr/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Social unity via differences</a:t>
            </a:r>
            <a:endParaRPr/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Market Exchange</a:t>
            </a:r>
            <a:endParaRPr/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Complementarity</a:t>
            </a:r>
            <a:endParaRPr/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General case:</a:t>
            </a:r>
            <a:endParaRPr/>
          </a:p>
          <a:p>
            <a: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Somebody has something we lack</a:t>
            </a:r>
            <a:endParaRPr/>
          </a:p>
          <a:p>
            <a: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Connecting to others connects us to that something</a:t>
            </a:r>
            <a:endParaRPr/>
          </a:p>
        </p:txBody>
      </p:sp>
      <p:sp>
        <p:nvSpPr>
          <p:cNvPr id="93" name="Google Shape;93;p16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“statics” to “dynamics”</a:t>
            </a:r>
            <a:endParaRPr/>
          </a:p>
        </p:txBody>
      </p:sp>
      <p:pic>
        <p:nvPicPr>
          <p:cNvPr descr="durkheim_09.jpg"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4625" y="1871575"/>
            <a:ext cx="3116500" cy="45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form a network: Two rules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457200" y="1600200"/>
            <a:ext cx="4444500" cy="50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unge"/>
              <a:buChar char="●"/>
            </a:pPr>
            <a:r>
              <a:rPr lang="en"/>
              <a:t>Mechanical solidarity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Connect to those who share your trait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Organic solidarity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Connect to those that do not share your trait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5338450" y="2932125"/>
            <a:ext cx="615000" cy="597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02" name="Google Shape;102;p17"/>
          <p:cNvCxnSpPr>
            <a:stCxn id="101" idx="6"/>
            <a:endCxn id="103" idx="2"/>
          </p:cNvCxnSpPr>
          <p:nvPr/>
        </p:nvCxnSpPr>
        <p:spPr>
          <a:xfrm>
            <a:off x="5953450" y="3230775"/>
            <a:ext cx="165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" name="Google Shape;103;p17"/>
          <p:cNvSpPr/>
          <p:nvPr/>
        </p:nvSpPr>
        <p:spPr>
          <a:xfrm>
            <a:off x="7612150" y="2932125"/>
            <a:ext cx="615000" cy="597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338450" y="4831325"/>
            <a:ext cx="615000" cy="597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05" name="Google Shape;105;p17"/>
          <p:cNvCxnSpPr>
            <a:stCxn id="104" idx="6"/>
            <a:endCxn id="106" idx="2"/>
          </p:cNvCxnSpPr>
          <p:nvPr/>
        </p:nvCxnSpPr>
        <p:spPr>
          <a:xfrm>
            <a:off x="5953450" y="5129975"/>
            <a:ext cx="165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6" name="Google Shape;106;p17"/>
          <p:cNvSpPr/>
          <p:nvPr/>
        </p:nvSpPr>
        <p:spPr>
          <a:xfrm>
            <a:off x="7612150" y="4831325"/>
            <a:ext cx="615000" cy="597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form a network: Two rules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457200" y="1600200"/>
            <a:ext cx="5915100" cy="50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unge"/>
              <a:buChar char="●"/>
            </a:pPr>
            <a:r>
              <a:rPr lang="en"/>
              <a:t>Two cases of organic solidarity</a:t>
            </a:r>
            <a:endParaRPr/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unge"/>
              <a:buChar char="○"/>
            </a:pPr>
            <a:r>
              <a:rPr lang="en"/>
              <a:t>“Uninteresting”</a:t>
            </a:r>
            <a:endParaRPr/>
          </a:p>
          <a:p>
            <a:pPr indent="-457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unge"/>
              <a:buChar char="■"/>
            </a:pPr>
            <a:r>
              <a:rPr lang="en"/>
              <a:t>The trait is “exogenous” to the network: beauty, money, expertise, etc.</a:t>
            </a:r>
            <a:endParaRPr/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unge"/>
              <a:buChar char="○"/>
            </a:pPr>
            <a:r>
              <a:rPr lang="en"/>
              <a:t>“Interesting”</a:t>
            </a:r>
            <a:endParaRPr/>
          </a:p>
          <a:p>
            <a:pPr indent="-457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unge"/>
              <a:buChar char="■"/>
            </a:pPr>
            <a:r>
              <a:rPr lang="en"/>
              <a:t>The trait is “endogenous” to the network (e.g. How many friends the other person has)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5097825" y="2655850"/>
            <a:ext cx="615000" cy="597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14" name="Google Shape;114;p18"/>
          <p:cNvCxnSpPr>
            <a:stCxn id="113" idx="6"/>
            <a:endCxn id="115" idx="2"/>
          </p:cNvCxnSpPr>
          <p:nvPr/>
        </p:nvCxnSpPr>
        <p:spPr>
          <a:xfrm>
            <a:off x="5712825" y="2954500"/>
            <a:ext cx="1658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5" name="Google Shape;115;p18"/>
          <p:cNvSpPr/>
          <p:nvPr/>
        </p:nvSpPr>
        <p:spPr>
          <a:xfrm>
            <a:off x="7371525" y="2655850"/>
            <a:ext cx="615000" cy="597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5097825" y="4635275"/>
            <a:ext cx="615000" cy="597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17" name="Google Shape;117;p18"/>
          <p:cNvCxnSpPr>
            <a:stCxn id="116" idx="6"/>
            <a:endCxn id="118" idx="2"/>
          </p:cNvCxnSpPr>
          <p:nvPr/>
        </p:nvCxnSpPr>
        <p:spPr>
          <a:xfrm>
            <a:off x="5712825" y="4933925"/>
            <a:ext cx="16587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8" name="Google Shape;118;p18"/>
          <p:cNvSpPr/>
          <p:nvPr/>
        </p:nvSpPr>
        <p:spPr>
          <a:xfrm>
            <a:off x="7371525" y="4635275"/>
            <a:ext cx="615000" cy="597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19" name="Google Shape;119;p18"/>
          <p:cNvCxnSpPr>
            <a:endCxn id="118" idx="0"/>
          </p:cNvCxnSpPr>
          <p:nvPr/>
        </p:nvCxnSpPr>
        <p:spPr>
          <a:xfrm flipH="1">
            <a:off x="7679025" y="3778775"/>
            <a:ext cx="11400" cy="856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8"/>
          <p:cNvCxnSpPr>
            <a:endCxn id="118" idx="7"/>
          </p:cNvCxnSpPr>
          <p:nvPr/>
        </p:nvCxnSpPr>
        <p:spPr>
          <a:xfrm flipH="1">
            <a:off x="7896460" y="3885748"/>
            <a:ext cx="667200" cy="83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8"/>
          <p:cNvCxnSpPr>
            <a:endCxn id="118" idx="4"/>
          </p:cNvCxnSpPr>
          <p:nvPr/>
        </p:nvCxnSpPr>
        <p:spPr>
          <a:xfrm flipH="1" rot="10800000">
            <a:off x="7673325" y="5232575"/>
            <a:ext cx="5700" cy="916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8"/>
          <p:cNvCxnSpPr>
            <a:endCxn id="118" idx="5"/>
          </p:cNvCxnSpPr>
          <p:nvPr/>
        </p:nvCxnSpPr>
        <p:spPr>
          <a:xfrm rot="10800000">
            <a:off x="7896460" y="5145102"/>
            <a:ext cx="810000" cy="71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8"/>
          <p:cNvCxnSpPr>
            <a:endCxn id="118" idx="6"/>
          </p:cNvCxnSpPr>
          <p:nvPr/>
        </p:nvCxnSpPr>
        <p:spPr>
          <a:xfrm rot="10800000">
            <a:off x="7986525" y="4933925"/>
            <a:ext cx="835800" cy="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8"/>
          <p:cNvCxnSpPr>
            <a:stCxn id="118" idx="3"/>
          </p:cNvCxnSpPr>
          <p:nvPr/>
        </p:nvCxnSpPr>
        <p:spPr>
          <a:xfrm flipH="1">
            <a:off x="6843890" y="5145102"/>
            <a:ext cx="617700" cy="74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8"/>
          <p:cNvCxnSpPr>
            <a:stCxn id="118" idx="1"/>
          </p:cNvCxnSpPr>
          <p:nvPr/>
        </p:nvCxnSpPr>
        <p:spPr>
          <a:xfrm rot="10800000">
            <a:off x="6603890" y="4028248"/>
            <a:ext cx="857700" cy="69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form a network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3627300" y="1600200"/>
            <a:ext cx="5059500" cy="49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Why is the “endogenous” case interesting?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Agents follow a local rule generate “global” consequences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“Rich get richer,” even though nobody “wanted” it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ich.jpg"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33574"/>
            <a:ext cx="3312700" cy="382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form a network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457200" y="1600200"/>
            <a:ext cx="8229600" cy="49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If persons prefer to connect with those who are already connected…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The distribution of connections gets a little funny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tributions.gif"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438" y="3673700"/>
            <a:ext cx="7131125" cy="29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form a network</a:t>
            </a:r>
            <a:endParaRPr/>
          </a:p>
        </p:txBody>
      </p:sp>
      <p:pic>
        <p:nvPicPr>
          <p:cNvPr descr="whoever-has-to-him-more-shall-be-given-and-he-will-have-an-abundance-matthew-13-12.jpg"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177" y="1594575"/>
            <a:ext cx="7499625" cy="50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form a network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3912500" y="1600200"/>
            <a:ext cx="477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The “Matthew Effect”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First noted by sociologist Robert Merton in the context of citations in science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The consequence?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obert_K_Merton.jpg"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3" y="1686800"/>
            <a:ext cx="3416050" cy="479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form a network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457200" y="1600200"/>
            <a:ext cx="3767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Papers that </a:t>
            </a:r>
            <a:r>
              <a:rPr b="1" lang="en">
                <a:solidFill>
                  <a:srgbClr val="38761D"/>
                </a:solidFill>
              </a:rPr>
              <a:t>already </a:t>
            </a:r>
            <a:r>
              <a:rPr lang="en"/>
              <a:t>have a </a:t>
            </a:r>
            <a:r>
              <a:rPr b="1" lang="en">
                <a:solidFill>
                  <a:srgbClr val="38761D"/>
                </a:solidFill>
              </a:rPr>
              <a:t>lot </a:t>
            </a:r>
            <a:r>
              <a:rPr lang="en"/>
              <a:t>of citations…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b="1" lang="en">
                <a:solidFill>
                  <a:srgbClr val="38761D"/>
                </a:solidFill>
              </a:rPr>
              <a:t>More likely </a:t>
            </a:r>
            <a:r>
              <a:rPr lang="en"/>
              <a:t>to be cited in the future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ncom-05-00055-g002.jpg"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550" y="2302875"/>
            <a:ext cx="4667250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form a network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457200" y="1600200"/>
            <a:ext cx="3767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Papers that </a:t>
            </a:r>
            <a:r>
              <a:rPr b="1" lang="en">
                <a:solidFill>
                  <a:srgbClr val="38761D"/>
                </a:solidFill>
              </a:rPr>
              <a:t>don’t </a:t>
            </a:r>
            <a:r>
              <a:rPr lang="en"/>
              <a:t>have a </a:t>
            </a:r>
            <a:r>
              <a:rPr b="1" lang="en">
                <a:solidFill>
                  <a:srgbClr val="38761D"/>
                </a:solidFill>
              </a:rPr>
              <a:t>lot </a:t>
            </a:r>
            <a:r>
              <a:rPr lang="en"/>
              <a:t>of citations…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b="1" lang="en">
                <a:solidFill>
                  <a:srgbClr val="38761D"/>
                </a:solidFill>
              </a:rPr>
              <a:t>Less likely </a:t>
            </a:r>
            <a:r>
              <a:rPr lang="en"/>
              <a:t>to be cited in the future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ncom-05-00055-g002.jpg"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550" y="2302875"/>
            <a:ext cx="4667250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form a network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457200" y="1600200"/>
            <a:ext cx="8187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The “Matthew Effect”: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Does it “work” for other things?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The World Wide Web (not to be confused with the internet!)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Sexual networks (success breeds success)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Corporate partnerships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Hollywood actors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Why?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Each setting probably has its own “explanation”</a:t>
            </a:r>
            <a:endParaRPr/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form a network</a:t>
            </a:r>
            <a:endParaRPr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457200" y="1600200"/>
            <a:ext cx="8187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The “Matthew Effect”: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Does it “work” for other things?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The World Wide Web (not to be confused with the internet!)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Sexual networks (success breeds success)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Corporate partnerships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Hollywood actors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Why?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Each setting probably has its own “explanation”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general idea is that previous history of connections signals something desirable about that person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form a network</a:t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457200" y="1600200"/>
            <a:ext cx="8187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The “Matthew Effect”: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Does it “work” for other things?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The World Wide Web (not to be confused with the internet!)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Sexual networks (success breeds success)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Corporate partnerships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Hollywood actors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Why?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Each setting probably has its own “explanation”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e.g. “Rating/Dating” complex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Forming a (scale free) network</a:t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457200" y="1600200"/>
            <a:ext cx="8187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General model: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New people come into the network (network grows)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When people enter the network they prefer to connect to people that already have a lot of connections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arabasisciam_Page_06.png" id="191" name="Google Shape;191;p28"/>
          <p:cNvPicPr preferRelativeResize="0"/>
          <p:nvPr/>
        </p:nvPicPr>
        <p:blipFill rotWithShape="1">
          <a:blip r:embed="rId3">
            <a:alphaModFix/>
          </a:blip>
          <a:srcRect b="63872" l="9418" r="7019" t="16348"/>
          <a:stretch/>
        </p:blipFill>
        <p:spPr>
          <a:xfrm>
            <a:off x="745163" y="4170950"/>
            <a:ext cx="7653673" cy="239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Forming a (scale free) network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457200" y="1600200"/>
            <a:ext cx="8187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unge"/>
              <a:buChar char="●"/>
            </a:pPr>
            <a:r>
              <a:rPr lang="en"/>
              <a:t>This process generates a “scale free” network (in terms of ‘degree”)</a:t>
            </a:r>
            <a:endParaRPr/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/>
              <a:t>What the heck is a “scale”?</a:t>
            </a:r>
            <a:endParaRPr/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It’s a statistic that objects don’t stray far from what you’d expect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-income-distribution-2010-1210x7201.gif" id="198" name="Google Shape;19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4500" y="3982738"/>
            <a:ext cx="4480300" cy="2665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in-qimg-7ca1b9aeab2a1ef304aa5df52b2f9524" id="199" name="Google Shape;19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425" y="4181200"/>
            <a:ext cx="3729976" cy="22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Forming a (scale free) network</a:t>
            </a:r>
            <a:endParaRPr/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457200" y="1600200"/>
            <a:ext cx="8187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Scale free networks have a number of “good” properties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They are resistant to disruption by the removal of any one single actor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arabasisciam_Page_06.png" id="206" name="Google Shape;206;p30"/>
          <p:cNvPicPr preferRelativeResize="0"/>
          <p:nvPr/>
        </p:nvPicPr>
        <p:blipFill rotWithShape="1">
          <a:blip r:embed="rId3">
            <a:alphaModFix/>
          </a:blip>
          <a:srcRect b="63872" l="9418" r="7019" t="16348"/>
          <a:stretch/>
        </p:blipFill>
        <p:spPr>
          <a:xfrm>
            <a:off x="745163" y="4170950"/>
            <a:ext cx="7653673" cy="239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scale free nets</a:t>
            </a:r>
            <a:endParaRPr/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457200" y="1600200"/>
            <a:ext cx="8187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“Scale free” networks have a number of “good” properties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They are resistant to disruption by the removal of any one single actor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arabasisciam_Page_08.png" id="213" name="Google Shape;213;p31"/>
          <p:cNvPicPr preferRelativeResize="0"/>
          <p:nvPr/>
        </p:nvPicPr>
        <p:blipFill rotWithShape="1">
          <a:blip r:embed="rId3">
            <a:alphaModFix/>
          </a:blip>
          <a:srcRect b="42041" l="9073" r="7531" t="37296"/>
          <a:stretch/>
        </p:blipFill>
        <p:spPr>
          <a:xfrm>
            <a:off x="692038" y="3921400"/>
            <a:ext cx="7717926" cy="2530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scale free nets</a:t>
            </a:r>
            <a:endParaRPr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457200" y="1600200"/>
            <a:ext cx="8187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Scale free networks have a number of “good” properties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They are good at transmitting things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this always good?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arabasisciam_Page_06.png" id="220" name="Google Shape;220;p32"/>
          <p:cNvPicPr preferRelativeResize="0"/>
          <p:nvPr/>
        </p:nvPicPr>
        <p:blipFill rotWithShape="1">
          <a:blip r:embed="rId3">
            <a:alphaModFix/>
          </a:blip>
          <a:srcRect b="63872" l="9418" r="7019" t="16348"/>
          <a:stretch/>
        </p:blipFill>
        <p:spPr>
          <a:xfrm>
            <a:off x="745163" y="4170950"/>
            <a:ext cx="7653673" cy="239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scale free nets</a:t>
            </a:r>
            <a:endParaRPr/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457200" y="1600200"/>
            <a:ext cx="8187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Scale free networks have a number of “good” properties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But they are vulnerable to targeted attacks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arabasisciam_Page_06.png" id="227" name="Google Shape;227;p33"/>
          <p:cNvPicPr preferRelativeResize="0"/>
          <p:nvPr/>
        </p:nvPicPr>
        <p:blipFill rotWithShape="1">
          <a:blip r:embed="rId3">
            <a:alphaModFix/>
          </a:blip>
          <a:srcRect b="63872" l="9418" r="7019" t="16348"/>
          <a:stretch/>
        </p:blipFill>
        <p:spPr>
          <a:xfrm>
            <a:off x="745163" y="4170950"/>
            <a:ext cx="7653673" cy="239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scale free nets</a:t>
            </a:r>
            <a:endParaRPr/>
          </a:p>
        </p:txBody>
      </p:sp>
      <p:sp>
        <p:nvSpPr>
          <p:cNvPr id="233" name="Google Shape;233;p34"/>
          <p:cNvSpPr txBox="1"/>
          <p:nvPr>
            <p:ph idx="1" type="body"/>
          </p:nvPr>
        </p:nvSpPr>
        <p:spPr>
          <a:xfrm>
            <a:off x="457200" y="1600200"/>
            <a:ext cx="8187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Scale free networks have a number of “good” properties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But they are vulnerable to targeted attacks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arabasisciam_Page_08.png" id="234" name="Google Shape;234;p34"/>
          <p:cNvPicPr preferRelativeResize="0"/>
          <p:nvPr/>
        </p:nvPicPr>
        <p:blipFill rotWithShape="1">
          <a:blip r:embed="rId3">
            <a:alphaModFix/>
          </a:blip>
          <a:srcRect b="22286" l="8735" r="7188" t="57311"/>
          <a:stretch/>
        </p:blipFill>
        <p:spPr>
          <a:xfrm>
            <a:off x="747100" y="3773251"/>
            <a:ext cx="7649801" cy="2456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