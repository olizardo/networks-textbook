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</p:sldIdLst>
  <p:sldSz cy="5143500" cx="9144000"/>
  <p:notesSz cx="6858000" cy="9144000"/>
  <p:embeddedFontLst>
    <p:embeddedFont>
      <p:font typeface="Economica"/>
      <p:regular r:id="rId69"/>
      <p:bold r:id="rId70"/>
      <p:italic r:id="rId71"/>
      <p:boldItalic r:id="rId72"/>
    </p:embeddedFont>
    <p:embeddedFont>
      <p:font typeface="Comfortaa"/>
      <p:regular r:id="rId73"/>
      <p:bold r:id="rId74"/>
    </p:embeddedFont>
    <p:embeddedFont>
      <p:font typeface="Open Sans"/>
      <p:regular r:id="rId75"/>
      <p:bold r:id="rId76"/>
      <p:italic r:id="rId77"/>
      <p:boldItalic r:id="rId7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font" Target="fonts/Comfortaa-regular.fntdata"/><Relationship Id="rId72" Type="http://schemas.openxmlformats.org/officeDocument/2006/relationships/font" Target="fonts/Economica-boldItalic.fntdata"/><Relationship Id="rId31" Type="http://schemas.openxmlformats.org/officeDocument/2006/relationships/slide" Target="slides/slide26.xml"/><Relationship Id="rId75" Type="http://schemas.openxmlformats.org/officeDocument/2006/relationships/font" Target="fonts/OpenSans-regular.fntdata"/><Relationship Id="rId30" Type="http://schemas.openxmlformats.org/officeDocument/2006/relationships/slide" Target="slides/slide25.xml"/><Relationship Id="rId74" Type="http://schemas.openxmlformats.org/officeDocument/2006/relationships/font" Target="fonts/Comfortaa-bold.fntdata"/><Relationship Id="rId33" Type="http://schemas.openxmlformats.org/officeDocument/2006/relationships/slide" Target="slides/slide28.xml"/><Relationship Id="rId77" Type="http://schemas.openxmlformats.org/officeDocument/2006/relationships/font" Target="fonts/OpenSans-italic.fntdata"/><Relationship Id="rId32" Type="http://schemas.openxmlformats.org/officeDocument/2006/relationships/slide" Target="slides/slide27.xml"/><Relationship Id="rId76" Type="http://schemas.openxmlformats.org/officeDocument/2006/relationships/font" Target="fonts/OpenSans-bold.fntdata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8" Type="http://schemas.openxmlformats.org/officeDocument/2006/relationships/font" Target="fonts/OpenSans-boldItalic.fntdata"/><Relationship Id="rId71" Type="http://schemas.openxmlformats.org/officeDocument/2006/relationships/font" Target="fonts/Economica-italic.fntdata"/><Relationship Id="rId70" Type="http://schemas.openxmlformats.org/officeDocument/2006/relationships/font" Target="fonts/Economica-bold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Economica-regular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bfd924ab23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bfd924ab23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bfd924ab23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bfd924ab23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bfd924ab23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bfd924ab23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bfd924ab23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bfd924ab23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6ac31ee58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6ac31ee58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bfd924ab23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bfd924ab23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bfd924ab23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bfd924ab23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bfd924ab23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bfd924ab23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bfd924ab23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bfd924ab23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bfd924ab23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bfd924ab23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bfd924ab23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bfd924ab23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bfd924ab23_0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bfd924ab23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bfd924ab23_0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bfd924ab23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bfd924ab23_0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bfd924ab23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bfd924ab23_0_3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bfd924ab23_0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26ac31ee58d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26ac31ee58d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bfd924ab23_0_3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bfd924ab23_0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bfd924ab23_0_4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bfd924ab23_0_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bfd924ab23_0_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bfd924ab23_0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bfd924ab23_0_4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bfd924ab23_0_4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26ac31ee58d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26ac31ee58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bfd924ab23_0_5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bfd924ab23_0_5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bfd924ab23_0_5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bfd924ab23_0_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bfd924ab23_0_6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9" name="Google Shape;649;gbfd924ab23_0_6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bfd924ab23_0_6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1" name="Google Shape;701;gbfd924ab23_0_6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bfd924ab23_0_7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3" name="Google Shape;753;gbfd924ab23_0_7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26ac31ee58d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5" name="Google Shape;805;g26ac31ee58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bfd924ab23_0_7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0" name="Google Shape;810;gbfd924ab23_0_7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gbfd924ab23_0_7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7" name="Google Shape;817;gbfd924ab23_0_7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gbfd924ab23_0_7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4" name="Google Shape;824;gbfd924ab23_0_7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bfd924ab23_0_7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1" name="Google Shape;831;gbfd924ab23_0_7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bfd924ab23_0_7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9" name="Google Shape;849;gbfd924ab23_0_7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gbfd924ab23_0_8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7" name="Google Shape;867;gbfd924ab23_0_8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bfd924ab23_0_8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4" name="Google Shape;874;gbfd924ab23_0_8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bfd924ab23_0_8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2" name="Google Shape;882;gbfd924ab23_0_8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gbfd924ab23_0_8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8" name="Google Shape;918;gbfd924ab23_0_8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gbfd924ab23_0_8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4" name="Google Shape;954;gbfd924ab23_0_8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gbfd924ab23_0_9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3" name="Google Shape;993;gbfd924ab23_0_9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gbfd924ab23_0_9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2" name="Google Shape;1032;gbfd924ab23_0_9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gbfd924ab23_0_10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2" name="Google Shape;1072;gbfd924ab23_0_10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gbfd924ab23_0_10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2" name="Google Shape;1112;gbfd924ab23_0_10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g26ac31ee58d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1" name="Google Shape;1151;g26ac31ee58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g117ab7be488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6" name="Google Shape;1156;g117ab7be488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2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g117ab7be488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4" name="Google Shape;1164;g117ab7be488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g117ab7be488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0" name="Google Shape;1180;g117ab7be488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0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g117ab7be488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2" name="Google Shape;1202;g117ab7be488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g2c05484c297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3" name="Google Shape;1233;g2c05484c297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g2c05484c297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4" name="Google Shape;1264;g2c05484c29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2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g2c05484c297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4" name="Google Shape;1284;g2c05484c297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4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g2c05484c297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6" name="Google Shape;1316;g2c05484c297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g2c05484c297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8" name="Google Shape;1348;g2c05484c297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0" name="Shape 1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Google Shape;1401;g2c05484c297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2" name="Google Shape;1402;g2c05484c297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2" name="Shape 1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Google Shape;1433;g2c0bb9cfb23_1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4" name="Google Shape;1434;g2c0bb9cfb23_1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7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g2c0bb9cfb2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9" name="Google Shape;1439;g2c0bb9cfb2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4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Google Shape;1445;g2c0bb9cfb23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6" name="Google Shape;1446;g2c0bb9cfb23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0" name="Shape 1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Google Shape;1461;g2c0bb9cfb23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2" name="Google Shape;1462;g2c0bb9cfb23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5" name="Shape 1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Google Shape;1476;g2c0bb9cfb23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7" name="Google Shape;1477;g2c0bb9cfb23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g2c0bb9cfb23_1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2" name="Google Shape;1492;g2c0bb9cfb23_1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5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Google Shape;1506;g2c0bb9cfb23_1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7" name="Google Shape;1507;g2c0bb9cfb23_1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g2c0bb9cfb23_1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3" name="Google Shape;1513;g2c0bb9cfb23_1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3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Google Shape;1524;g2c0bb9cfb23_1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5" name="Google Shape;1525;g2c0bb9cfb23_1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5" name="Shape 1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Google Shape;1536;g2c0bb9cfb23_1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7" name="Google Shape;1537;g2c0bb9cfb23_1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6" name="Shape 1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Google Shape;1557;g2c0bb9cfb23_1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8" name="Google Shape;1558;g2c0bb9cfb23_1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7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5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3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9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Valenced interactions</a:t>
            </a:r>
            <a:endParaRPr/>
          </a:p>
        </p:txBody>
      </p:sp>
      <p:sp>
        <p:nvSpPr>
          <p:cNvPr id="63" name="Google Shape;63;p13"/>
          <p:cNvSpPr txBox="1"/>
          <p:nvPr>
            <p:ph idx="1" type="body"/>
          </p:nvPr>
        </p:nvSpPr>
        <p:spPr>
          <a:xfrm>
            <a:off x="311700" y="1225225"/>
            <a:ext cx="4959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Most social network theories assume ties and network flows are usually positive or neutral: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Ties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Friendship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Kinship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Co-membership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Flows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Information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Support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■"/>
            </a:pPr>
            <a:r>
              <a:rPr b="1" lang="en">
                <a:solidFill>
                  <a:srgbClr val="FF0000"/>
                </a:solidFill>
              </a:rPr>
              <a:t>Gossip</a:t>
            </a:r>
            <a:endParaRPr b="1">
              <a:solidFill>
                <a:srgbClr val="FF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■"/>
            </a:pPr>
            <a:r>
              <a:rPr b="1" lang="en">
                <a:solidFill>
                  <a:srgbClr val="FF0000"/>
                </a:solidFill>
              </a:rPr>
              <a:t>Violence</a:t>
            </a:r>
            <a:endParaRPr b="1">
              <a:solidFill>
                <a:srgbClr val="FF0000"/>
              </a:solidFill>
            </a:endParaRPr>
          </a:p>
        </p:txBody>
      </p:sp>
      <p:pic>
        <p:nvPicPr>
          <p:cNvPr id="64" name="Google Shape;6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0574" y="1007713"/>
            <a:ext cx="3226100" cy="378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Valenced interactions</a:t>
            </a:r>
            <a:endParaRPr/>
          </a:p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>
            <a:off x="311700" y="1225225"/>
            <a:ext cx="4959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Most real-world social networks feature a mix of: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Positive and negative ties: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Friends and enemies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Liking and disliking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Members of same group versus rival groups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Positive and negative flows: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Gossip versus compliments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Helping versus violence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These are called </a:t>
            </a:r>
            <a:r>
              <a:rPr b="1" lang="en"/>
              <a:t>valenced relationships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1" name="Google Shape;7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0574" y="1007713"/>
            <a:ext cx="3226100" cy="378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Valenced interactions</a:t>
            </a:r>
            <a:endParaRPr/>
          </a:p>
        </p:txBody>
      </p:sp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311700" y="1225225"/>
            <a:ext cx="4959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Core network concepts change meaning when ties are valenced!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In-degree centrality: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Friendship (good)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Disliking (bad!)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Support (good!)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Enemies (bad?)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same goes for out-degree: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 bully is a person who has lots of outgoing negative 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And other network metrics: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Closeness, Betweenness, Eigenvector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8" name="Google Shape;7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0574" y="1007713"/>
            <a:ext cx="3226100" cy="378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Valenced interactions</a:t>
            </a:r>
            <a:endParaRPr/>
          </a:p>
        </p:txBody>
      </p:sp>
      <p:sp>
        <p:nvSpPr>
          <p:cNvPr id="84" name="Google Shape;84;p16"/>
          <p:cNvSpPr txBox="1"/>
          <p:nvPr>
            <p:ph idx="1" type="body"/>
          </p:nvPr>
        </p:nvSpPr>
        <p:spPr>
          <a:xfrm>
            <a:off x="311700" y="1225225"/>
            <a:ext cx="4260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have seen on network theory (</a:t>
            </a:r>
            <a:r>
              <a:rPr b="1" lang="en"/>
              <a:t>balance</a:t>
            </a:r>
            <a:r>
              <a:rPr lang="en"/>
              <a:t>) designed to explain valenced relationships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this is not the only approach!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Status theory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(an extension of balance theory)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Karma Theory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Rich get richer effect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Solidarity Theory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Homophily based on positive and </a:t>
            </a:r>
            <a:r>
              <a:rPr lang="en"/>
              <a:t>negative</a:t>
            </a:r>
            <a:r>
              <a:rPr lang="en"/>
              <a:t> interactions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5" name="Google Shape;8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0574" y="1007713"/>
            <a:ext cx="3226100" cy="378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Status Theory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/>
          <p:nvPr/>
        </p:nvSpPr>
        <p:spPr>
          <a:xfrm>
            <a:off x="8027125" y="86350"/>
            <a:ext cx="981600" cy="1179600"/>
          </a:xfrm>
          <a:prstGeom prst="rect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Valenced interactions: Status theory</a:t>
            </a:r>
            <a:endParaRPr/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311700" y="1225225"/>
            <a:ext cx="4564800" cy="35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Status Theory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Designed to explain distribution of positive and negative ties in </a:t>
            </a:r>
            <a:r>
              <a:rPr b="1" lang="en"/>
              <a:t>valenced</a:t>
            </a:r>
            <a:r>
              <a:rPr lang="en"/>
              <a:t> networks with </a:t>
            </a:r>
            <a:r>
              <a:rPr b="1" lang="en"/>
              <a:t>directed</a:t>
            </a:r>
            <a:r>
              <a:rPr lang="en"/>
              <a:t> 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First principle: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Status in valenced networks is determined by sign of ties received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High status</a:t>
            </a:r>
            <a:endParaRPr>
              <a:solidFill>
                <a:srgbClr val="000000"/>
              </a:solidFill>
            </a:endParaRPr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i="1" lang="en"/>
              <a:t>Lots of incoming </a:t>
            </a:r>
            <a:r>
              <a:rPr b="1" i="1" lang="en">
                <a:solidFill>
                  <a:srgbClr val="6AA84F"/>
                </a:solidFill>
              </a:rPr>
              <a:t>positive</a:t>
            </a:r>
            <a:r>
              <a:rPr i="1" lang="en"/>
              <a:t> ties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Low status </a:t>
            </a:r>
            <a:endParaRPr>
              <a:solidFill>
                <a:srgbClr val="000000"/>
              </a:solidFill>
            </a:endParaRPr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i="1" lang="en"/>
              <a:t>Lots of incoming </a:t>
            </a:r>
            <a:r>
              <a:rPr b="1" i="1" lang="en">
                <a:solidFill>
                  <a:srgbClr val="FF0000"/>
                </a:solidFill>
              </a:rPr>
              <a:t>negative</a:t>
            </a:r>
            <a:r>
              <a:rPr i="1" lang="en"/>
              <a:t> ties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Directed </a:t>
            </a:r>
            <a:r>
              <a:rPr b="1" lang="en"/>
              <a:t>positive</a:t>
            </a:r>
            <a:r>
              <a:rPr lang="en"/>
              <a:t> tie from i →j: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 thinks of j as </a:t>
            </a:r>
            <a:r>
              <a:rPr b="1" lang="en"/>
              <a:t>higher</a:t>
            </a:r>
            <a:r>
              <a:rPr lang="en"/>
              <a:t> status</a:t>
            </a:r>
            <a:endParaRPr/>
          </a:p>
          <a:p>
            <a:pPr indent="0" lvl="0" marL="18288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/>
              <a:t> </a:t>
            </a:r>
            <a:endParaRPr i="1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8"/>
          <p:cNvSpPr/>
          <p:nvPr/>
        </p:nvSpPr>
        <p:spPr>
          <a:xfrm>
            <a:off x="6598775" y="2235400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8"/>
          <p:cNvSpPr/>
          <p:nvPr/>
        </p:nvSpPr>
        <p:spPr>
          <a:xfrm>
            <a:off x="6108150" y="1369000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8"/>
          <p:cNvSpPr/>
          <p:nvPr/>
        </p:nvSpPr>
        <p:spPr>
          <a:xfrm>
            <a:off x="6598763" y="1369000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8"/>
          <p:cNvSpPr/>
          <p:nvPr/>
        </p:nvSpPr>
        <p:spPr>
          <a:xfrm>
            <a:off x="7111100" y="1369000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2" name="Google Shape;102;p18"/>
          <p:cNvCxnSpPr>
            <a:stCxn id="99" idx="4"/>
            <a:endCxn id="98" idx="1"/>
          </p:cNvCxnSpPr>
          <p:nvPr/>
        </p:nvCxnSpPr>
        <p:spPr>
          <a:xfrm>
            <a:off x="6291150" y="1725100"/>
            <a:ext cx="361200" cy="562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3" name="Google Shape;103;p18"/>
          <p:cNvCxnSpPr>
            <a:stCxn id="100" idx="4"/>
            <a:endCxn id="98" idx="0"/>
          </p:cNvCxnSpPr>
          <p:nvPr/>
        </p:nvCxnSpPr>
        <p:spPr>
          <a:xfrm>
            <a:off x="6781763" y="1725100"/>
            <a:ext cx="0" cy="5103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4" name="Google Shape;104;p18"/>
          <p:cNvCxnSpPr>
            <a:stCxn id="101" idx="4"/>
            <a:endCxn id="98" idx="7"/>
          </p:cNvCxnSpPr>
          <p:nvPr/>
        </p:nvCxnSpPr>
        <p:spPr>
          <a:xfrm flipH="1">
            <a:off x="6911300" y="1725100"/>
            <a:ext cx="382800" cy="562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5" name="Google Shape;105;p18"/>
          <p:cNvSpPr/>
          <p:nvPr/>
        </p:nvSpPr>
        <p:spPr>
          <a:xfrm>
            <a:off x="8192860" y="472152"/>
            <a:ext cx="191400" cy="1932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8"/>
          <p:cNvSpPr/>
          <p:nvPr/>
        </p:nvSpPr>
        <p:spPr>
          <a:xfrm>
            <a:off x="8192860" y="216793"/>
            <a:ext cx="191400" cy="193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7" name="Google Shape;107;p18"/>
          <p:cNvCxnSpPr/>
          <p:nvPr/>
        </p:nvCxnSpPr>
        <p:spPr>
          <a:xfrm flipH="1" rot="10800000">
            <a:off x="8124842" y="847730"/>
            <a:ext cx="327600" cy="5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" name="Google Shape;108;p18"/>
          <p:cNvCxnSpPr/>
          <p:nvPr/>
        </p:nvCxnSpPr>
        <p:spPr>
          <a:xfrm flipH="1" rot="10800000">
            <a:off x="8124842" y="1076729"/>
            <a:ext cx="327600" cy="57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9" name="Google Shape;109;p18"/>
          <p:cNvSpPr txBox="1"/>
          <p:nvPr/>
        </p:nvSpPr>
        <p:spPr>
          <a:xfrm>
            <a:off x="8384249" y="151200"/>
            <a:ext cx="676500" cy="1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Ego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Other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Neg.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Pos.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10" name="Google Shape;110;p18"/>
          <p:cNvSpPr txBox="1"/>
          <p:nvPr/>
        </p:nvSpPr>
        <p:spPr>
          <a:xfrm>
            <a:off x="6198125" y="2670675"/>
            <a:ext cx="11673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High Status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1" name="Google Shape;111;p18"/>
          <p:cNvSpPr/>
          <p:nvPr/>
        </p:nvSpPr>
        <p:spPr>
          <a:xfrm>
            <a:off x="6587925" y="4059200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8"/>
          <p:cNvSpPr/>
          <p:nvPr/>
        </p:nvSpPr>
        <p:spPr>
          <a:xfrm>
            <a:off x="6097300" y="3192800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8"/>
          <p:cNvSpPr/>
          <p:nvPr/>
        </p:nvSpPr>
        <p:spPr>
          <a:xfrm>
            <a:off x="6587913" y="3192800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8"/>
          <p:cNvSpPr/>
          <p:nvPr/>
        </p:nvSpPr>
        <p:spPr>
          <a:xfrm>
            <a:off x="7100250" y="3192800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5" name="Google Shape;115;p18"/>
          <p:cNvCxnSpPr>
            <a:stCxn id="112" idx="4"/>
            <a:endCxn id="111" idx="1"/>
          </p:cNvCxnSpPr>
          <p:nvPr/>
        </p:nvCxnSpPr>
        <p:spPr>
          <a:xfrm>
            <a:off x="6280300" y="3548900"/>
            <a:ext cx="361200" cy="562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" name="Google Shape;116;p18"/>
          <p:cNvCxnSpPr>
            <a:stCxn id="113" idx="4"/>
            <a:endCxn id="111" idx="0"/>
          </p:cNvCxnSpPr>
          <p:nvPr/>
        </p:nvCxnSpPr>
        <p:spPr>
          <a:xfrm>
            <a:off x="6770913" y="3548900"/>
            <a:ext cx="0" cy="510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" name="Google Shape;117;p18"/>
          <p:cNvCxnSpPr>
            <a:stCxn id="114" idx="4"/>
            <a:endCxn id="111" idx="7"/>
          </p:cNvCxnSpPr>
          <p:nvPr/>
        </p:nvCxnSpPr>
        <p:spPr>
          <a:xfrm flipH="1">
            <a:off x="6900450" y="3548900"/>
            <a:ext cx="382800" cy="562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8" name="Google Shape;118;p18"/>
          <p:cNvSpPr txBox="1"/>
          <p:nvPr/>
        </p:nvSpPr>
        <p:spPr>
          <a:xfrm>
            <a:off x="6187275" y="4494475"/>
            <a:ext cx="11673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Low Status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/>
          <p:nvPr/>
        </p:nvSpPr>
        <p:spPr>
          <a:xfrm>
            <a:off x="8027125" y="86350"/>
            <a:ext cx="981600" cy="1179600"/>
          </a:xfrm>
          <a:prstGeom prst="rect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Valenced interactions: Status theory</a:t>
            </a:r>
            <a:endParaRPr/>
          </a:p>
        </p:txBody>
      </p:sp>
      <p:sp>
        <p:nvSpPr>
          <p:cNvPr id="125" name="Google Shape;125;p19"/>
          <p:cNvSpPr txBox="1"/>
          <p:nvPr>
            <p:ph idx="1" type="body"/>
          </p:nvPr>
        </p:nvSpPr>
        <p:spPr>
          <a:xfrm>
            <a:off x="311700" y="1225225"/>
            <a:ext cx="4564800" cy="35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Status Theory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Designed to explain distribution of positive and negative ties in </a:t>
            </a:r>
            <a:r>
              <a:rPr b="1" lang="en"/>
              <a:t>valenced</a:t>
            </a:r>
            <a:r>
              <a:rPr lang="en"/>
              <a:t> networks with </a:t>
            </a:r>
            <a:r>
              <a:rPr b="1" lang="en"/>
              <a:t>directed</a:t>
            </a:r>
            <a:r>
              <a:rPr lang="en"/>
              <a:t> 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First principle: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Status in valenced networks is determined by sign of ties received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High status</a:t>
            </a:r>
            <a:endParaRPr>
              <a:solidFill>
                <a:srgbClr val="000000"/>
              </a:solidFill>
            </a:endParaRPr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i="1" lang="en"/>
              <a:t>Lots of incoming </a:t>
            </a:r>
            <a:r>
              <a:rPr b="1" i="1" lang="en">
                <a:solidFill>
                  <a:srgbClr val="6AA84F"/>
                </a:solidFill>
              </a:rPr>
              <a:t>positive</a:t>
            </a:r>
            <a:r>
              <a:rPr i="1" lang="en"/>
              <a:t> ties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Low status </a:t>
            </a:r>
            <a:endParaRPr>
              <a:solidFill>
                <a:srgbClr val="000000"/>
              </a:solidFill>
            </a:endParaRPr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i="1" lang="en"/>
              <a:t>Lots of incoming </a:t>
            </a:r>
            <a:r>
              <a:rPr b="1" i="1" lang="en">
                <a:solidFill>
                  <a:srgbClr val="FF0000"/>
                </a:solidFill>
              </a:rPr>
              <a:t>negative</a:t>
            </a:r>
            <a:r>
              <a:rPr i="1" lang="en"/>
              <a:t> ties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Directed </a:t>
            </a:r>
            <a:r>
              <a:rPr b="1" lang="en"/>
              <a:t>negative</a:t>
            </a:r>
            <a:r>
              <a:rPr lang="en"/>
              <a:t> tie from i →j: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 thinks of j as </a:t>
            </a:r>
            <a:r>
              <a:rPr b="1" lang="en"/>
              <a:t>lower</a:t>
            </a:r>
            <a:r>
              <a:rPr lang="en"/>
              <a:t> status</a:t>
            </a:r>
            <a:endParaRPr/>
          </a:p>
          <a:p>
            <a:pPr indent="0" lvl="0" marL="18288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400"/>
              <a:t> </a:t>
            </a:r>
            <a:endParaRPr i="1" sz="1400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9"/>
          <p:cNvSpPr/>
          <p:nvPr/>
        </p:nvSpPr>
        <p:spPr>
          <a:xfrm>
            <a:off x="6598775" y="2235400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9"/>
          <p:cNvSpPr/>
          <p:nvPr/>
        </p:nvSpPr>
        <p:spPr>
          <a:xfrm>
            <a:off x="6108150" y="1369000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9"/>
          <p:cNvSpPr/>
          <p:nvPr/>
        </p:nvSpPr>
        <p:spPr>
          <a:xfrm>
            <a:off x="6598763" y="1369000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9"/>
          <p:cNvSpPr/>
          <p:nvPr/>
        </p:nvSpPr>
        <p:spPr>
          <a:xfrm>
            <a:off x="7111100" y="1369000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0" name="Google Shape;130;p19"/>
          <p:cNvCxnSpPr>
            <a:stCxn id="127" idx="4"/>
            <a:endCxn id="126" idx="1"/>
          </p:cNvCxnSpPr>
          <p:nvPr/>
        </p:nvCxnSpPr>
        <p:spPr>
          <a:xfrm>
            <a:off x="6291150" y="1725100"/>
            <a:ext cx="361200" cy="562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" name="Google Shape;131;p19"/>
          <p:cNvCxnSpPr>
            <a:stCxn id="128" idx="4"/>
            <a:endCxn id="126" idx="0"/>
          </p:cNvCxnSpPr>
          <p:nvPr/>
        </p:nvCxnSpPr>
        <p:spPr>
          <a:xfrm>
            <a:off x="6781763" y="1725100"/>
            <a:ext cx="0" cy="5103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" name="Google Shape;132;p19"/>
          <p:cNvCxnSpPr>
            <a:stCxn id="129" idx="4"/>
            <a:endCxn id="126" idx="7"/>
          </p:cNvCxnSpPr>
          <p:nvPr/>
        </p:nvCxnSpPr>
        <p:spPr>
          <a:xfrm flipH="1">
            <a:off x="6911300" y="1725100"/>
            <a:ext cx="382800" cy="562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3" name="Google Shape;133;p19"/>
          <p:cNvSpPr/>
          <p:nvPr/>
        </p:nvSpPr>
        <p:spPr>
          <a:xfrm>
            <a:off x="8192860" y="472152"/>
            <a:ext cx="191400" cy="1932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9"/>
          <p:cNvSpPr/>
          <p:nvPr/>
        </p:nvSpPr>
        <p:spPr>
          <a:xfrm>
            <a:off x="8192860" y="216793"/>
            <a:ext cx="191400" cy="193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5" name="Google Shape;135;p19"/>
          <p:cNvCxnSpPr/>
          <p:nvPr/>
        </p:nvCxnSpPr>
        <p:spPr>
          <a:xfrm flipH="1" rot="10800000">
            <a:off x="8124842" y="847730"/>
            <a:ext cx="327600" cy="5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6" name="Google Shape;136;p19"/>
          <p:cNvCxnSpPr/>
          <p:nvPr/>
        </p:nvCxnSpPr>
        <p:spPr>
          <a:xfrm flipH="1" rot="10800000">
            <a:off x="8124842" y="1076729"/>
            <a:ext cx="327600" cy="57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7" name="Google Shape;137;p19"/>
          <p:cNvSpPr txBox="1"/>
          <p:nvPr/>
        </p:nvSpPr>
        <p:spPr>
          <a:xfrm>
            <a:off x="8384249" y="151200"/>
            <a:ext cx="676500" cy="1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Ego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Other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Neg.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Pos.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38" name="Google Shape;138;p19"/>
          <p:cNvSpPr txBox="1"/>
          <p:nvPr/>
        </p:nvSpPr>
        <p:spPr>
          <a:xfrm>
            <a:off x="6198125" y="2670675"/>
            <a:ext cx="11673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High Status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9"/>
          <p:cNvSpPr/>
          <p:nvPr/>
        </p:nvSpPr>
        <p:spPr>
          <a:xfrm>
            <a:off x="6587925" y="4059200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9"/>
          <p:cNvSpPr/>
          <p:nvPr/>
        </p:nvSpPr>
        <p:spPr>
          <a:xfrm>
            <a:off x="6097300" y="3192800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9"/>
          <p:cNvSpPr/>
          <p:nvPr/>
        </p:nvSpPr>
        <p:spPr>
          <a:xfrm>
            <a:off x="6587913" y="3192800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9"/>
          <p:cNvSpPr/>
          <p:nvPr/>
        </p:nvSpPr>
        <p:spPr>
          <a:xfrm>
            <a:off x="7100250" y="3192800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3" name="Google Shape;143;p19"/>
          <p:cNvCxnSpPr>
            <a:stCxn id="140" idx="4"/>
            <a:endCxn id="139" idx="1"/>
          </p:cNvCxnSpPr>
          <p:nvPr/>
        </p:nvCxnSpPr>
        <p:spPr>
          <a:xfrm>
            <a:off x="6280300" y="3548900"/>
            <a:ext cx="361200" cy="562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4" name="Google Shape;144;p19"/>
          <p:cNvCxnSpPr>
            <a:stCxn id="141" idx="4"/>
            <a:endCxn id="139" idx="0"/>
          </p:cNvCxnSpPr>
          <p:nvPr/>
        </p:nvCxnSpPr>
        <p:spPr>
          <a:xfrm>
            <a:off x="6770913" y="3548900"/>
            <a:ext cx="0" cy="510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5" name="Google Shape;145;p19"/>
          <p:cNvCxnSpPr>
            <a:stCxn id="142" idx="4"/>
            <a:endCxn id="139" idx="7"/>
          </p:cNvCxnSpPr>
          <p:nvPr/>
        </p:nvCxnSpPr>
        <p:spPr>
          <a:xfrm flipH="1">
            <a:off x="6900450" y="3548900"/>
            <a:ext cx="382800" cy="562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6" name="Google Shape;146;p19"/>
          <p:cNvSpPr txBox="1"/>
          <p:nvPr/>
        </p:nvSpPr>
        <p:spPr>
          <a:xfrm>
            <a:off x="6187275" y="4494475"/>
            <a:ext cx="11673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Low Status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0"/>
          <p:cNvSpPr/>
          <p:nvPr/>
        </p:nvSpPr>
        <p:spPr>
          <a:xfrm>
            <a:off x="5776550" y="1332338"/>
            <a:ext cx="2739900" cy="15939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Valenced interactions: Status theory</a:t>
            </a:r>
            <a:endParaRPr/>
          </a:p>
        </p:txBody>
      </p:sp>
      <p:sp>
        <p:nvSpPr>
          <p:cNvPr id="153" name="Google Shape;153;p20"/>
          <p:cNvSpPr txBox="1"/>
          <p:nvPr>
            <p:ph idx="1" type="body"/>
          </p:nvPr>
        </p:nvSpPr>
        <p:spPr>
          <a:xfrm>
            <a:off x="311700" y="1225225"/>
            <a:ext cx="4535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Status Theory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Designed to explain distribution of positive and negative ties in </a:t>
            </a:r>
            <a:r>
              <a:rPr b="1" lang="en"/>
              <a:t>valenced</a:t>
            </a:r>
            <a:r>
              <a:rPr lang="en"/>
              <a:t> networks with </a:t>
            </a:r>
            <a:r>
              <a:rPr b="1" lang="en"/>
              <a:t>directed</a:t>
            </a:r>
            <a:r>
              <a:rPr lang="en"/>
              <a:t> 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Second principle: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Status of nodes is also determined by the sign of their connections to (high and low status) others</a:t>
            </a:r>
            <a:r>
              <a:rPr i="1" lang="en"/>
              <a:t> 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■"/>
            </a:pPr>
            <a:r>
              <a:rPr lang="en">
                <a:solidFill>
                  <a:srgbClr val="FF0000"/>
                </a:solidFill>
              </a:rPr>
              <a:t>Positive ties to high status others increase status</a:t>
            </a:r>
            <a:endParaRPr>
              <a:solidFill>
                <a:srgbClr val="FF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Positive ties to low status others decrease status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0"/>
          <p:cNvSpPr/>
          <p:nvPr/>
        </p:nvSpPr>
        <p:spPr>
          <a:xfrm>
            <a:off x="7360375" y="2245300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0"/>
          <p:cNvSpPr/>
          <p:nvPr/>
        </p:nvSpPr>
        <p:spPr>
          <a:xfrm>
            <a:off x="6869750" y="1378900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0"/>
          <p:cNvSpPr/>
          <p:nvPr/>
        </p:nvSpPr>
        <p:spPr>
          <a:xfrm>
            <a:off x="7360363" y="1378900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7" name="Google Shape;157;p20"/>
          <p:cNvCxnSpPr>
            <a:stCxn id="155" idx="4"/>
            <a:endCxn id="154" idx="1"/>
          </p:cNvCxnSpPr>
          <p:nvPr/>
        </p:nvCxnSpPr>
        <p:spPr>
          <a:xfrm>
            <a:off x="7052750" y="1735000"/>
            <a:ext cx="361200" cy="562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8" name="Google Shape;158;p20"/>
          <p:cNvCxnSpPr>
            <a:stCxn id="156" idx="4"/>
            <a:endCxn id="154" idx="0"/>
          </p:cNvCxnSpPr>
          <p:nvPr/>
        </p:nvCxnSpPr>
        <p:spPr>
          <a:xfrm>
            <a:off x="7543363" y="1735000"/>
            <a:ext cx="0" cy="5103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" name="Google Shape;159;p20"/>
          <p:cNvCxnSpPr>
            <a:stCxn id="160" idx="4"/>
            <a:endCxn id="154" idx="7"/>
          </p:cNvCxnSpPr>
          <p:nvPr/>
        </p:nvCxnSpPr>
        <p:spPr>
          <a:xfrm flipH="1">
            <a:off x="7672776" y="1734950"/>
            <a:ext cx="382800" cy="562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1" name="Google Shape;161;p20"/>
          <p:cNvSpPr txBox="1"/>
          <p:nvPr/>
        </p:nvSpPr>
        <p:spPr>
          <a:xfrm>
            <a:off x="6224950" y="2680575"/>
            <a:ext cx="19020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Status Boost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2" name="Google Shape;162;p20"/>
          <p:cNvSpPr/>
          <p:nvPr/>
        </p:nvSpPr>
        <p:spPr>
          <a:xfrm>
            <a:off x="7349525" y="4069100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0"/>
          <p:cNvSpPr/>
          <p:nvPr/>
        </p:nvSpPr>
        <p:spPr>
          <a:xfrm>
            <a:off x="6858900" y="3202700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0"/>
          <p:cNvSpPr/>
          <p:nvPr/>
        </p:nvSpPr>
        <p:spPr>
          <a:xfrm>
            <a:off x="7349513" y="3202700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0"/>
          <p:cNvSpPr/>
          <p:nvPr/>
        </p:nvSpPr>
        <p:spPr>
          <a:xfrm>
            <a:off x="7861850" y="3202700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6" name="Google Shape;166;p20"/>
          <p:cNvCxnSpPr>
            <a:stCxn id="163" idx="4"/>
            <a:endCxn id="162" idx="1"/>
          </p:cNvCxnSpPr>
          <p:nvPr/>
        </p:nvCxnSpPr>
        <p:spPr>
          <a:xfrm>
            <a:off x="7041900" y="3558800"/>
            <a:ext cx="361200" cy="562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7" name="Google Shape;167;p20"/>
          <p:cNvCxnSpPr>
            <a:stCxn id="164" idx="4"/>
            <a:endCxn id="162" idx="0"/>
          </p:cNvCxnSpPr>
          <p:nvPr/>
        </p:nvCxnSpPr>
        <p:spPr>
          <a:xfrm>
            <a:off x="7532513" y="3558800"/>
            <a:ext cx="0" cy="510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8" name="Google Shape;168;p20"/>
          <p:cNvCxnSpPr>
            <a:stCxn id="165" idx="4"/>
            <a:endCxn id="162" idx="7"/>
          </p:cNvCxnSpPr>
          <p:nvPr/>
        </p:nvCxnSpPr>
        <p:spPr>
          <a:xfrm flipH="1">
            <a:off x="7662050" y="3558800"/>
            <a:ext cx="382800" cy="562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9" name="Google Shape;169;p20"/>
          <p:cNvSpPr txBox="1"/>
          <p:nvPr/>
        </p:nvSpPr>
        <p:spPr>
          <a:xfrm>
            <a:off x="6403350" y="4504375"/>
            <a:ext cx="17127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Status Loss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5955825" y="2255175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1" name="Google Shape;171;p20"/>
          <p:cNvCxnSpPr>
            <a:stCxn id="154" idx="2"/>
            <a:endCxn id="170" idx="6"/>
          </p:cNvCxnSpPr>
          <p:nvPr/>
        </p:nvCxnSpPr>
        <p:spPr>
          <a:xfrm flipH="1">
            <a:off x="6321775" y="2423350"/>
            <a:ext cx="1038600" cy="99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72" name="Google Shape;172;p20"/>
          <p:cNvSpPr/>
          <p:nvPr/>
        </p:nvSpPr>
        <p:spPr>
          <a:xfrm>
            <a:off x="5955825" y="4069100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3" name="Google Shape;173;p20"/>
          <p:cNvCxnSpPr>
            <a:stCxn id="162" idx="2"/>
            <a:endCxn id="172" idx="6"/>
          </p:cNvCxnSpPr>
          <p:nvPr/>
        </p:nvCxnSpPr>
        <p:spPr>
          <a:xfrm rot="10800000">
            <a:off x="6321725" y="4247150"/>
            <a:ext cx="10278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74" name="Google Shape;174;p20"/>
          <p:cNvSpPr/>
          <p:nvPr/>
        </p:nvSpPr>
        <p:spPr>
          <a:xfrm>
            <a:off x="8027125" y="86350"/>
            <a:ext cx="981600" cy="1179600"/>
          </a:xfrm>
          <a:prstGeom prst="rect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0"/>
          <p:cNvSpPr/>
          <p:nvPr/>
        </p:nvSpPr>
        <p:spPr>
          <a:xfrm>
            <a:off x="8192860" y="472152"/>
            <a:ext cx="191400" cy="1932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0"/>
          <p:cNvSpPr/>
          <p:nvPr/>
        </p:nvSpPr>
        <p:spPr>
          <a:xfrm>
            <a:off x="8192860" y="216793"/>
            <a:ext cx="191400" cy="193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7" name="Google Shape;177;p20"/>
          <p:cNvCxnSpPr/>
          <p:nvPr/>
        </p:nvCxnSpPr>
        <p:spPr>
          <a:xfrm flipH="1" rot="10800000">
            <a:off x="8124842" y="847730"/>
            <a:ext cx="327600" cy="5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8" name="Google Shape;178;p20"/>
          <p:cNvCxnSpPr/>
          <p:nvPr/>
        </p:nvCxnSpPr>
        <p:spPr>
          <a:xfrm flipH="1" rot="10800000">
            <a:off x="8124842" y="1076729"/>
            <a:ext cx="327600" cy="57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9" name="Google Shape;179;p20"/>
          <p:cNvSpPr txBox="1"/>
          <p:nvPr/>
        </p:nvSpPr>
        <p:spPr>
          <a:xfrm>
            <a:off x="8384249" y="151200"/>
            <a:ext cx="676500" cy="1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Ego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Other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Neg.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Pos.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7872700" y="1378900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"/>
          <p:cNvSpPr/>
          <p:nvPr/>
        </p:nvSpPr>
        <p:spPr>
          <a:xfrm>
            <a:off x="5682800" y="3173288"/>
            <a:ext cx="2739900" cy="15939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Valenced interactions: Status theory</a:t>
            </a:r>
            <a:endParaRPr/>
          </a:p>
        </p:txBody>
      </p:sp>
      <p:sp>
        <p:nvSpPr>
          <p:cNvPr id="187" name="Google Shape;187;p21"/>
          <p:cNvSpPr txBox="1"/>
          <p:nvPr>
            <p:ph idx="1" type="body"/>
          </p:nvPr>
        </p:nvSpPr>
        <p:spPr>
          <a:xfrm>
            <a:off x="311700" y="1225225"/>
            <a:ext cx="4535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Status Theory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Designed to explain distribution of positive and negative ties in </a:t>
            </a:r>
            <a:r>
              <a:rPr b="1" lang="en"/>
              <a:t>valenced</a:t>
            </a:r>
            <a:r>
              <a:rPr lang="en"/>
              <a:t> networks with </a:t>
            </a:r>
            <a:r>
              <a:rPr b="1" lang="en"/>
              <a:t>directed</a:t>
            </a:r>
            <a:r>
              <a:rPr lang="en"/>
              <a:t> 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Second principle: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Status of nodes is also determined by the sign of their connections to (high and low status) others</a:t>
            </a:r>
            <a:r>
              <a:rPr i="1" lang="en"/>
              <a:t> 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Positive ties to high status others increase status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■"/>
            </a:pPr>
            <a:r>
              <a:rPr lang="en">
                <a:solidFill>
                  <a:srgbClr val="FF0000"/>
                </a:solidFill>
              </a:rPr>
              <a:t>Positive ties to low status others decrease status</a:t>
            </a:r>
            <a:endParaRPr>
              <a:solidFill>
                <a:srgbClr val="FF0000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1"/>
          <p:cNvSpPr/>
          <p:nvPr/>
        </p:nvSpPr>
        <p:spPr>
          <a:xfrm>
            <a:off x="7360375" y="2245300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1"/>
          <p:cNvSpPr/>
          <p:nvPr/>
        </p:nvSpPr>
        <p:spPr>
          <a:xfrm>
            <a:off x="6869750" y="1378900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1"/>
          <p:cNvSpPr/>
          <p:nvPr/>
        </p:nvSpPr>
        <p:spPr>
          <a:xfrm>
            <a:off x="7360363" y="1378900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1"/>
          <p:cNvSpPr/>
          <p:nvPr/>
        </p:nvSpPr>
        <p:spPr>
          <a:xfrm>
            <a:off x="7872700" y="1378900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2" name="Google Shape;192;p21"/>
          <p:cNvCxnSpPr>
            <a:stCxn id="189" idx="4"/>
            <a:endCxn id="188" idx="1"/>
          </p:cNvCxnSpPr>
          <p:nvPr/>
        </p:nvCxnSpPr>
        <p:spPr>
          <a:xfrm>
            <a:off x="7052750" y="1735000"/>
            <a:ext cx="361200" cy="562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3" name="Google Shape;193;p21"/>
          <p:cNvCxnSpPr>
            <a:stCxn id="190" idx="4"/>
            <a:endCxn id="188" idx="0"/>
          </p:cNvCxnSpPr>
          <p:nvPr/>
        </p:nvCxnSpPr>
        <p:spPr>
          <a:xfrm>
            <a:off x="7543363" y="1735000"/>
            <a:ext cx="0" cy="5103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4" name="Google Shape;194;p21"/>
          <p:cNvCxnSpPr>
            <a:stCxn id="191" idx="4"/>
            <a:endCxn id="188" idx="7"/>
          </p:cNvCxnSpPr>
          <p:nvPr/>
        </p:nvCxnSpPr>
        <p:spPr>
          <a:xfrm flipH="1">
            <a:off x="7672900" y="1735000"/>
            <a:ext cx="382800" cy="562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5" name="Google Shape;195;p21"/>
          <p:cNvSpPr txBox="1"/>
          <p:nvPr/>
        </p:nvSpPr>
        <p:spPr>
          <a:xfrm>
            <a:off x="6224950" y="2680575"/>
            <a:ext cx="19020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Status Boost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7349525" y="4069100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1"/>
          <p:cNvSpPr/>
          <p:nvPr/>
        </p:nvSpPr>
        <p:spPr>
          <a:xfrm>
            <a:off x="6858900" y="3202700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1"/>
          <p:cNvSpPr/>
          <p:nvPr/>
        </p:nvSpPr>
        <p:spPr>
          <a:xfrm>
            <a:off x="7349513" y="3202700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1"/>
          <p:cNvSpPr/>
          <p:nvPr/>
        </p:nvSpPr>
        <p:spPr>
          <a:xfrm>
            <a:off x="7861850" y="3202700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0" name="Google Shape;200;p21"/>
          <p:cNvCxnSpPr>
            <a:stCxn id="197" idx="4"/>
            <a:endCxn id="196" idx="1"/>
          </p:cNvCxnSpPr>
          <p:nvPr/>
        </p:nvCxnSpPr>
        <p:spPr>
          <a:xfrm>
            <a:off x="7041900" y="3558800"/>
            <a:ext cx="361200" cy="562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1" name="Google Shape;201;p21"/>
          <p:cNvCxnSpPr>
            <a:stCxn id="198" idx="4"/>
            <a:endCxn id="196" idx="0"/>
          </p:cNvCxnSpPr>
          <p:nvPr/>
        </p:nvCxnSpPr>
        <p:spPr>
          <a:xfrm>
            <a:off x="7532513" y="3558800"/>
            <a:ext cx="0" cy="510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2" name="Google Shape;202;p21"/>
          <p:cNvCxnSpPr>
            <a:stCxn id="199" idx="4"/>
            <a:endCxn id="196" idx="7"/>
          </p:cNvCxnSpPr>
          <p:nvPr/>
        </p:nvCxnSpPr>
        <p:spPr>
          <a:xfrm flipH="1">
            <a:off x="7662050" y="3558800"/>
            <a:ext cx="382800" cy="562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3" name="Google Shape;203;p21"/>
          <p:cNvSpPr txBox="1"/>
          <p:nvPr/>
        </p:nvSpPr>
        <p:spPr>
          <a:xfrm>
            <a:off x="6403350" y="4504375"/>
            <a:ext cx="17127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Status Loss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5955825" y="2255175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5" name="Google Shape;205;p21"/>
          <p:cNvCxnSpPr>
            <a:stCxn id="188" idx="2"/>
            <a:endCxn id="204" idx="6"/>
          </p:cNvCxnSpPr>
          <p:nvPr/>
        </p:nvCxnSpPr>
        <p:spPr>
          <a:xfrm flipH="1">
            <a:off x="6321775" y="2423350"/>
            <a:ext cx="1038600" cy="99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06" name="Google Shape;206;p21"/>
          <p:cNvSpPr/>
          <p:nvPr/>
        </p:nvSpPr>
        <p:spPr>
          <a:xfrm>
            <a:off x="5955825" y="4069100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7" name="Google Shape;207;p21"/>
          <p:cNvCxnSpPr>
            <a:stCxn id="196" idx="2"/>
            <a:endCxn id="206" idx="6"/>
          </p:cNvCxnSpPr>
          <p:nvPr/>
        </p:nvCxnSpPr>
        <p:spPr>
          <a:xfrm rot="10800000">
            <a:off x="6321725" y="4247150"/>
            <a:ext cx="10278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08" name="Google Shape;208;p21"/>
          <p:cNvSpPr/>
          <p:nvPr/>
        </p:nvSpPr>
        <p:spPr>
          <a:xfrm>
            <a:off x="8027125" y="86350"/>
            <a:ext cx="981600" cy="1179600"/>
          </a:xfrm>
          <a:prstGeom prst="rect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1"/>
          <p:cNvSpPr/>
          <p:nvPr/>
        </p:nvSpPr>
        <p:spPr>
          <a:xfrm>
            <a:off x="8192860" y="472152"/>
            <a:ext cx="191400" cy="1932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1"/>
          <p:cNvSpPr/>
          <p:nvPr/>
        </p:nvSpPr>
        <p:spPr>
          <a:xfrm>
            <a:off x="8192860" y="216793"/>
            <a:ext cx="191400" cy="193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1" name="Google Shape;211;p21"/>
          <p:cNvCxnSpPr/>
          <p:nvPr/>
        </p:nvCxnSpPr>
        <p:spPr>
          <a:xfrm flipH="1" rot="10800000">
            <a:off x="8124842" y="847730"/>
            <a:ext cx="327600" cy="5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2" name="Google Shape;212;p21"/>
          <p:cNvCxnSpPr/>
          <p:nvPr/>
        </p:nvCxnSpPr>
        <p:spPr>
          <a:xfrm flipH="1" rot="10800000">
            <a:off x="8124842" y="1076729"/>
            <a:ext cx="327600" cy="57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3" name="Google Shape;213;p21"/>
          <p:cNvSpPr txBox="1"/>
          <p:nvPr/>
        </p:nvSpPr>
        <p:spPr>
          <a:xfrm>
            <a:off x="8384249" y="151200"/>
            <a:ext cx="676500" cy="1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Ego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Other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Neg.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Pos.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2"/>
          <p:cNvSpPr/>
          <p:nvPr/>
        </p:nvSpPr>
        <p:spPr>
          <a:xfrm>
            <a:off x="5776550" y="1332338"/>
            <a:ext cx="2739900" cy="15939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219" name="Google Shape;219;p22"/>
          <p:cNvSpPr/>
          <p:nvPr/>
        </p:nvSpPr>
        <p:spPr>
          <a:xfrm>
            <a:off x="7872700" y="1378900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Valenced interactions: Status theory</a:t>
            </a:r>
            <a:endParaRPr/>
          </a:p>
        </p:txBody>
      </p:sp>
      <p:sp>
        <p:nvSpPr>
          <p:cNvPr id="221" name="Google Shape;221;p22"/>
          <p:cNvSpPr txBox="1"/>
          <p:nvPr>
            <p:ph idx="1" type="body"/>
          </p:nvPr>
        </p:nvSpPr>
        <p:spPr>
          <a:xfrm>
            <a:off x="311700" y="1225225"/>
            <a:ext cx="4605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Status Theory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Designed to explain distribution of positive and negative ties in </a:t>
            </a:r>
            <a:r>
              <a:rPr b="1" lang="en"/>
              <a:t>valenced</a:t>
            </a:r>
            <a:r>
              <a:rPr lang="en"/>
              <a:t> networks with </a:t>
            </a:r>
            <a:r>
              <a:rPr b="1" lang="en"/>
              <a:t>directed</a:t>
            </a:r>
            <a:r>
              <a:rPr lang="en"/>
              <a:t> 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Second principle: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Status of nodes is also determined by the sign of their connections to (high and low status) others</a:t>
            </a:r>
            <a:r>
              <a:rPr i="1" lang="en"/>
              <a:t> 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■"/>
            </a:pPr>
            <a:r>
              <a:rPr i="1" lang="en">
                <a:solidFill>
                  <a:srgbClr val="FF0000"/>
                </a:solidFill>
              </a:rPr>
              <a:t>Negative ties to high status others decrease status</a:t>
            </a:r>
            <a:endParaRPr i="1">
              <a:solidFill>
                <a:srgbClr val="FF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Negative ties to low status others increase status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/>
          <p:nvPr/>
        </p:nvSpPr>
        <p:spPr>
          <a:xfrm>
            <a:off x="7360375" y="2245300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2"/>
          <p:cNvSpPr/>
          <p:nvPr/>
        </p:nvSpPr>
        <p:spPr>
          <a:xfrm>
            <a:off x="6869750" y="1378900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2"/>
          <p:cNvSpPr/>
          <p:nvPr/>
        </p:nvSpPr>
        <p:spPr>
          <a:xfrm>
            <a:off x="7360363" y="1378900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5" name="Google Shape;225;p22"/>
          <p:cNvCxnSpPr>
            <a:stCxn id="223" idx="4"/>
            <a:endCxn id="222" idx="1"/>
          </p:cNvCxnSpPr>
          <p:nvPr/>
        </p:nvCxnSpPr>
        <p:spPr>
          <a:xfrm>
            <a:off x="7052750" y="1735000"/>
            <a:ext cx="361200" cy="562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6" name="Google Shape;226;p22"/>
          <p:cNvCxnSpPr>
            <a:stCxn id="224" idx="4"/>
            <a:endCxn id="222" idx="0"/>
          </p:cNvCxnSpPr>
          <p:nvPr/>
        </p:nvCxnSpPr>
        <p:spPr>
          <a:xfrm>
            <a:off x="7543363" y="1735000"/>
            <a:ext cx="0" cy="5103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7" name="Google Shape;227;p22"/>
          <p:cNvCxnSpPr>
            <a:stCxn id="219" idx="4"/>
            <a:endCxn id="222" idx="7"/>
          </p:cNvCxnSpPr>
          <p:nvPr/>
        </p:nvCxnSpPr>
        <p:spPr>
          <a:xfrm flipH="1">
            <a:off x="7672900" y="1735000"/>
            <a:ext cx="382800" cy="562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8" name="Google Shape;228;p22"/>
          <p:cNvSpPr txBox="1"/>
          <p:nvPr/>
        </p:nvSpPr>
        <p:spPr>
          <a:xfrm>
            <a:off x="6224950" y="2680575"/>
            <a:ext cx="19020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Status Loss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7349525" y="4069100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2"/>
          <p:cNvSpPr/>
          <p:nvPr/>
        </p:nvSpPr>
        <p:spPr>
          <a:xfrm>
            <a:off x="6858900" y="3202700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2"/>
          <p:cNvSpPr/>
          <p:nvPr/>
        </p:nvSpPr>
        <p:spPr>
          <a:xfrm>
            <a:off x="7349513" y="3202700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2"/>
          <p:cNvSpPr/>
          <p:nvPr/>
        </p:nvSpPr>
        <p:spPr>
          <a:xfrm>
            <a:off x="7861850" y="3202700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3" name="Google Shape;233;p22"/>
          <p:cNvCxnSpPr>
            <a:stCxn id="230" idx="4"/>
            <a:endCxn id="229" idx="1"/>
          </p:cNvCxnSpPr>
          <p:nvPr/>
        </p:nvCxnSpPr>
        <p:spPr>
          <a:xfrm>
            <a:off x="7041900" y="3558800"/>
            <a:ext cx="361200" cy="562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4" name="Google Shape;234;p22"/>
          <p:cNvCxnSpPr>
            <a:stCxn id="231" idx="4"/>
            <a:endCxn id="229" idx="0"/>
          </p:cNvCxnSpPr>
          <p:nvPr/>
        </p:nvCxnSpPr>
        <p:spPr>
          <a:xfrm>
            <a:off x="7532513" y="3558800"/>
            <a:ext cx="0" cy="510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5" name="Google Shape;235;p22"/>
          <p:cNvCxnSpPr>
            <a:stCxn id="232" idx="4"/>
            <a:endCxn id="229" idx="7"/>
          </p:cNvCxnSpPr>
          <p:nvPr/>
        </p:nvCxnSpPr>
        <p:spPr>
          <a:xfrm flipH="1">
            <a:off x="7662050" y="3558800"/>
            <a:ext cx="382800" cy="562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6" name="Google Shape;236;p22"/>
          <p:cNvSpPr txBox="1"/>
          <p:nvPr/>
        </p:nvSpPr>
        <p:spPr>
          <a:xfrm>
            <a:off x="6403350" y="4504375"/>
            <a:ext cx="17127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Status Boost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5955825" y="2255175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8" name="Google Shape;238;p22"/>
          <p:cNvCxnSpPr>
            <a:stCxn id="222" idx="2"/>
            <a:endCxn id="237" idx="6"/>
          </p:cNvCxnSpPr>
          <p:nvPr/>
        </p:nvCxnSpPr>
        <p:spPr>
          <a:xfrm flipH="1">
            <a:off x="6321775" y="2423350"/>
            <a:ext cx="1038600" cy="9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39" name="Google Shape;239;p22"/>
          <p:cNvSpPr/>
          <p:nvPr/>
        </p:nvSpPr>
        <p:spPr>
          <a:xfrm>
            <a:off x="5955825" y="4069100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0" name="Google Shape;240;p22"/>
          <p:cNvCxnSpPr>
            <a:stCxn id="229" idx="2"/>
            <a:endCxn id="239" idx="6"/>
          </p:cNvCxnSpPr>
          <p:nvPr/>
        </p:nvCxnSpPr>
        <p:spPr>
          <a:xfrm rot="10800000">
            <a:off x="6321725" y="4247150"/>
            <a:ext cx="10278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41" name="Google Shape;241;p22"/>
          <p:cNvSpPr/>
          <p:nvPr/>
        </p:nvSpPr>
        <p:spPr>
          <a:xfrm>
            <a:off x="8027125" y="86350"/>
            <a:ext cx="981600" cy="1179600"/>
          </a:xfrm>
          <a:prstGeom prst="rect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2"/>
          <p:cNvSpPr/>
          <p:nvPr/>
        </p:nvSpPr>
        <p:spPr>
          <a:xfrm>
            <a:off x="8192860" y="472152"/>
            <a:ext cx="191400" cy="1932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2"/>
          <p:cNvSpPr/>
          <p:nvPr/>
        </p:nvSpPr>
        <p:spPr>
          <a:xfrm>
            <a:off x="8192860" y="216793"/>
            <a:ext cx="191400" cy="193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4" name="Google Shape;244;p22"/>
          <p:cNvCxnSpPr/>
          <p:nvPr/>
        </p:nvCxnSpPr>
        <p:spPr>
          <a:xfrm flipH="1" rot="10800000">
            <a:off x="8124842" y="847730"/>
            <a:ext cx="327600" cy="5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5" name="Google Shape;245;p22"/>
          <p:cNvCxnSpPr/>
          <p:nvPr/>
        </p:nvCxnSpPr>
        <p:spPr>
          <a:xfrm flipH="1" rot="10800000">
            <a:off x="8124842" y="1076729"/>
            <a:ext cx="327600" cy="57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6" name="Google Shape;246;p22"/>
          <p:cNvSpPr txBox="1"/>
          <p:nvPr/>
        </p:nvSpPr>
        <p:spPr>
          <a:xfrm>
            <a:off x="8384249" y="151200"/>
            <a:ext cx="676500" cy="1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Ego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Other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Neg.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Pos.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3"/>
          <p:cNvSpPr/>
          <p:nvPr/>
        </p:nvSpPr>
        <p:spPr>
          <a:xfrm>
            <a:off x="5682800" y="3173288"/>
            <a:ext cx="2739900" cy="15939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252" name="Google Shape;252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Valenced interactions: Status theory</a:t>
            </a:r>
            <a:endParaRPr/>
          </a:p>
        </p:txBody>
      </p:sp>
      <p:sp>
        <p:nvSpPr>
          <p:cNvPr id="253" name="Google Shape;253;p23"/>
          <p:cNvSpPr txBox="1"/>
          <p:nvPr>
            <p:ph idx="1" type="body"/>
          </p:nvPr>
        </p:nvSpPr>
        <p:spPr>
          <a:xfrm>
            <a:off x="311700" y="1225225"/>
            <a:ext cx="4605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Status Theory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Designed to explain distribution of positive and negative ties in </a:t>
            </a:r>
            <a:r>
              <a:rPr b="1" lang="en"/>
              <a:t>valenced</a:t>
            </a:r>
            <a:r>
              <a:rPr lang="en"/>
              <a:t> networks with </a:t>
            </a:r>
            <a:r>
              <a:rPr b="1" lang="en"/>
              <a:t>directed</a:t>
            </a:r>
            <a:r>
              <a:rPr lang="en"/>
              <a:t> 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Second principle: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Status of nodes is also determined by the sign of their connections to (high and low status) others</a:t>
            </a:r>
            <a:r>
              <a:rPr i="1" lang="en"/>
              <a:t> 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Negative ties to high status others decrease status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■"/>
            </a:pPr>
            <a:r>
              <a:rPr i="1" lang="en">
                <a:solidFill>
                  <a:srgbClr val="FF0000"/>
                </a:solidFill>
              </a:rPr>
              <a:t>Negative ties to low status others increase status</a:t>
            </a:r>
            <a:endParaRPr i="1">
              <a:solidFill>
                <a:srgbClr val="FF0000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3"/>
          <p:cNvSpPr/>
          <p:nvPr/>
        </p:nvSpPr>
        <p:spPr>
          <a:xfrm>
            <a:off x="7360375" y="2245300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3"/>
          <p:cNvSpPr/>
          <p:nvPr/>
        </p:nvSpPr>
        <p:spPr>
          <a:xfrm>
            <a:off x="6869750" y="1378900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3"/>
          <p:cNvSpPr/>
          <p:nvPr/>
        </p:nvSpPr>
        <p:spPr>
          <a:xfrm>
            <a:off x="7360363" y="1378900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7" name="Google Shape;257;p23"/>
          <p:cNvCxnSpPr>
            <a:stCxn id="255" idx="4"/>
            <a:endCxn id="254" idx="1"/>
          </p:cNvCxnSpPr>
          <p:nvPr/>
        </p:nvCxnSpPr>
        <p:spPr>
          <a:xfrm>
            <a:off x="7052750" y="1735000"/>
            <a:ext cx="361200" cy="562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8" name="Google Shape;258;p23"/>
          <p:cNvCxnSpPr>
            <a:stCxn id="256" idx="4"/>
            <a:endCxn id="254" idx="0"/>
          </p:cNvCxnSpPr>
          <p:nvPr/>
        </p:nvCxnSpPr>
        <p:spPr>
          <a:xfrm>
            <a:off x="7543363" y="1735000"/>
            <a:ext cx="0" cy="5103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9" name="Google Shape;259;p23"/>
          <p:cNvSpPr txBox="1"/>
          <p:nvPr/>
        </p:nvSpPr>
        <p:spPr>
          <a:xfrm>
            <a:off x="6224950" y="2680575"/>
            <a:ext cx="19020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Status Loss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0" name="Google Shape;260;p23"/>
          <p:cNvSpPr/>
          <p:nvPr/>
        </p:nvSpPr>
        <p:spPr>
          <a:xfrm>
            <a:off x="7349525" y="4069100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3"/>
          <p:cNvSpPr/>
          <p:nvPr/>
        </p:nvSpPr>
        <p:spPr>
          <a:xfrm>
            <a:off x="6858900" y="3202700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3"/>
          <p:cNvSpPr/>
          <p:nvPr/>
        </p:nvSpPr>
        <p:spPr>
          <a:xfrm>
            <a:off x="7349513" y="3202700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3"/>
          <p:cNvSpPr/>
          <p:nvPr/>
        </p:nvSpPr>
        <p:spPr>
          <a:xfrm>
            <a:off x="7861850" y="3202700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4" name="Google Shape;264;p23"/>
          <p:cNvCxnSpPr>
            <a:stCxn id="261" idx="4"/>
            <a:endCxn id="260" idx="1"/>
          </p:cNvCxnSpPr>
          <p:nvPr/>
        </p:nvCxnSpPr>
        <p:spPr>
          <a:xfrm>
            <a:off x="7041900" y="3558800"/>
            <a:ext cx="361200" cy="562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5" name="Google Shape;265;p23"/>
          <p:cNvCxnSpPr>
            <a:stCxn id="262" idx="4"/>
            <a:endCxn id="260" idx="0"/>
          </p:cNvCxnSpPr>
          <p:nvPr/>
        </p:nvCxnSpPr>
        <p:spPr>
          <a:xfrm>
            <a:off x="7532513" y="3558800"/>
            <a:ext cx="0" cy="510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6" name="Google Shape;266;p23"/>
          <p:cNvCxnSpPr>
            <a:stCxn id="263" idx="4"/>
            <a:endCxn id="260" idx="7"/>
          </p:cNvCxnSpPr>
          <p:nvPr/>
        </p:nvCxnSpPr>
        <p:spPr>
          <a:xfrm flipH="1">
            <a:off x="7662050" y="3558800"/>
            <a:ext cx="382800" cy="562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7" name="Google Shape;267;p23"/>
          <p:cNvSpPr txBox="1"/>
          <p:nvPr/>
        </p:nvSpPr>
        <p:spPr>
          <a:xfrm>
            <a:off x="6403350" y="4504375"/>
            <a:ext cx="17127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Status Boost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8" name="Google Shape;268;p23"/>
          <p:cNvSpPr/>
          <p:nvPr/>
        </p:nvSpPr>
        <p:spPr>
          <a:xfrm>
            <a:off x="5955825" y="2255175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9" name="Google Shape;269;p23"/>
          <p:cNvCxnSpPr>
            <a:stCxn id="254" idx="2"/>
            <a:endCxn id="268" idx="6"/>
          </p:cNvCxnSpPr>
          <p:nvPr/>
        </p:nvCxnSpPr>
        <p:spPr>
          <a:xfrm flipH="1">
            <a:off x="6321775" y="2423350"/>
            <a:ext cx="1038600" cy="9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70" name="Google Shape;270;p23"/>
          <p:cNvSpPr/>
          <p:nvPr/>
        </p:nvSpPr>
        <p:spPr>
          <a:xfrm>
            <a:off x="5955825" y="4069100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1" name="Google Shape;271;p23"/>
          <p:cNvCxnSpPr>
            <a:stCxn id="260" idx="2"/>
            <a:endCxn id="270" idx="6"/>
          </p:cNvCxnSpPr>
          <p:nvPr/>
        </p:nvCxnSpPr>
        <p:spPr>
          <a:xfrm rot="10800000">
            <a:off x="6321725" y="4247150"/>
            <a:ext cx="10278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72" name="Google Shape;272;p23"/>
          <p:cNvSpPr/>
          <p:nvPr/>
        </p:nvSpPr>
        <p:spPr>
          <a:xfrm>
            <a:off x="8027125" y="86350"/>
            <a:ext cx="981600" cy="1179600"/>
          </a:xfrm>
          <a:prstGeom prst="rect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3"/>
          <p:cNvSpPr/>
          <p:nvPr/>
        </p:nvSpPr>
        <p:spPr>
          <a:xfrm>
            <a:off x="8192860" y="472152"/>
            <a:ext cx="191400" cy="1932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3"/>
          <p:cNvSpPr/>
          <p:nvPr/>
        </p:nvSpPr>
        <p:spPr>
          <a:xfrm>
            <a:off x="8192860" y="216793"/>
            <a:ext cx="191400" cy="193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5" name="Google Shape;275;p23"/>
          <p:cNvCxnSpPr/>
          <p:nvPr/>
        </p:nvCxnSpPr>
        <p:spPr>
          <a:xfrm flipH="1" rot="10800000">
            <a:off x="8124842" y="847730"/>
            <a:ext cx="327600" cy="5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6" name="Google Shape;276;p23"/>
          <p:cNvCxnSpPr/>
          <p:nvPr/>
        </p:nvCxnSpPr>
        <p:spPr>
          <a:xfrm flipH="1" rot="10800000">
            <a:off x="8124842" y="1076729"/>
            <a:ext cx="327600" cy="57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7" name="Google Shape;277;p23"/>
          <p:cNvSpPr txBox="1"/>
          <p:nvPr/>
        </p:nvSpPr>
        <p:spPr>
          <a:xfrm>
            <a:off x="8384249" y="151200"/>
            <a:ext cx="676500" cy="1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Ego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Other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Neg.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Pos.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78" name="Google Shape;278;p23"/>
          <p:cNvSpPr/>
          <p:nvPr/>
        </p:nvSpPr>
        <p:spPr>
          <a:xfrm>
            <a:off x="7872700" y="1378900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9" name="Google Shape;279;p23"/>
          <p:cNvCxnSpPr>
            <a:stCxn id="278" idx="4"/>
          </p:cNvCxnSpPr>
          <p:nvPr/>
        </p:nvCxnSpPr>
        <p:spPr>
          <a:xfrm flipH="1">
            <a:off x="7672900" y="1735000"/>
            <a:ext cx="382800" cy="562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Valenced interactions: Status theory</a:t>
            </a:r>
            <a:endParaRPr/>
          </a:p>
        </p:txBody>
      </p:sp>
      <p:sp>
        <p:nvSpPr>
          <p:cNvPr id="285" name="Google Shape;285;p24"/>
          <p:cNvSpPr txBox="1"/>
          <p:nvPr>
            <p:ph idx="1" type="body"/>
          </p:nvPr>
        </p:nvSpPr>
        <p:spPr>
          <a:xfrm>
            <a:off x="311700" y="1225225"/>
            <a:ext cx="8697000" cy="20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Status Theory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Designed to explain distribution of positive and negative ties in </a:t>
            </a:r>
            <a:r>
              <a:rPr b="1" lang="en"/>
              <a:t>valenced</a:t>
            </a:r>
            <a:r>
              <a:rPr lang="en"/>
              <a:t> networks with </a:t>
            </a:r>
            <a:r>
              <a:rPr b="1" lang="en"/>
              <a:t>directed</a:t>
            </a:r>
            <a:r>
              <a:rPr lang="en"/>
              <a:t> 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Third principle: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People aim to </a:t>
            </a:r>
            <a:r>
              <a:rPr b="1" lang="en"/>
              <a:t>avoid</a:t>
            </a:r>
            <a:r>
              <a:rPr lang="en"/>
              <a:t> status </a:t>
            </a:r>
            <a:r>
              <a:rPr b="1" lang="en"/>
              <a:t>loss</a:t>
            </a:r>
            <a:r>
              <a:rPr lang="en"/>
              <a:t> and </a:t>
            </a:r>
            <a:r>
              <a:rPr b="1" lang="en"/>
              <a:t>seek</a:t>
            </a:r>
            <a:r>
              <a:rPr lang="en"/>
              <a:t> status </a:t>
            </a:r>
            <a:r>
              <a:rPr b="1" lang="en"/>
              <a:t>boosts</a:t>
            </a:r>
            <a:r>
              <a:rPr lang="en"/>
              <a:t>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High status individuals will accumulate positive ties</a:t>
            </a:r>
            <a:endParaRPr i="1"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Rich get richer effect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4"/>
          <p:cNvSpPr/>
          <p:nvPr/>
        </p:nvSpPr>
        <p:spPr>
          <a:xfrm>
            <a:off x="8027125" y="86350"/>
            <a:ext cx="981600" cy="1179600"/>
          </a:xfrm>
          <a:prstGeom prst="rect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4"/>
          <p:cNvSpPr/>
          <p:nvPr/>
        </p:nvSpPr>
        <p:spPr>
          <a:xfrm>
            <a:off x="8192860" y="472152"/>
            <a:ext cx="191400" cy="1932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4"/>
          <p:cNvSpPr/>
          <p:nvPr/>
        </p:nvSpPr>
        <p:spPr>
          <a:xfrm>
            <a:off x="8192860" y="216793"/>
            <a:ext cx="191400" cy="193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9" name="Google Shape;289;p24"/>
          <p:cNvCxnSpPr/>
          <p:nvPr/>
        </p:nvCxnSpPr>
        <p:spPr>
          <a:xfrm flipH="1" rot="10800000">
            <a:off x="8124842" y="847730"/>
            <a:ext cx="327600" cy="5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0" name="Google Shape;290;p24"/>
          <p:cNvCxnSpPr/>
          <p:nvPr/>
        </p:nvCxnSpPr>
        <p:spPr>
          <a:xfrm flipH="1" rot="10800000">
            <a:off x="8124842" y="1076729"/>
            <a:ext cx="327600" cy="57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1" name="Google Shape;291;p24"/>
          <p:cNvSpPr txBox="1"/>
          <p:nvPr/>
        </p:nvSpPr>
        <p:spPr>
          <a:xfrm>
            <a:off x="8384249" y="151200"/>
            <a:ext cx="676500" cy="1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Ego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Other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Neg.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Pos.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92" name="Google Shape;292;p24"/>
          <p:cNvSpPr/>
          <p:nvPr/>
        </p:nvSpPr>
        <p:spPr>
          <a:xfrm>
            <a:off x="1989375" y="4236613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4"/>
          <p:cNvSpPr/>
          <p:nvPr/>
        </p:nvSpPr>
        <p:spPr>
          <a:xfrm>
            <a:off x="1498750" y="3370213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4"/>
          <p:cNvSpPr/>
          <p:nvPr/>
        </p:nvSpPr>
        <p:spPr>
          <a:xfrm>
            <a:off x="1989363" y="3370213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4"/>
          <p:cNvSpPr/>
          <p:nvPr/>
        </p:nvSpPr>
        <p:spPr>
          <a:xfrm>
            <a:off x="2501700" y="3370213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6" name="Google Shape;296;p24"/>
          <p:cNvCxnSpPr>
            <a:stCxn id="293" idx="4"/>
            <a:endCxn id="292" idx="1"/>
          </p:cNvCxnSpPr>
          <p:nvPr/>
        </p:nvCxnSpPr>
        <p:spPr>
          <a:xfrm>
            <a:off x="1681750" y="3726313"/>
            <a:ext cx="361200" cy="562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7" name="Google Shape;297;p24"/>
          <p:cNvCxnSpPr>
            <a:stCxn id="294" idx="4"/>
            <a:endCxn id="292" idx="0"/>
          </p:cNvCxnSpPr>
          <p:nvPr/>
        </p:nvCxnSpPr>
        <p:spPr>
          <a:xfrm>
            <a:off x="2172363" y="3726313"/>
            <a:ext cx="0" cy="5103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8" name="Google Shape;298;p24"/>
          <p:cNvCxnSpPr>
            <a:stCxn id="295" idx="4"/>
            <a:endCxn id="292" idx="7"/>
          </p:cNvCxnSpPr>
          <p:nvPr/>
        </p:nvCxnSpPr>
        <p:spPr>
          <a:xfrm flipH="1">
            <a:off x="2301900" y="3726313"/>
            <a:ext cx="382800" cy="562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9" name="Google Shape;299;p24"/>
          <p:cNvSpPr txBox="1"/>
          <p:nvPr/>
        </p:nvSpPr>
        <p:spPr>
          <a:xfrm>
            <a:off x="1114000" y="4670725"/>
            <a:ext cx="11355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Time 1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0" name="Google Shape;300;p24"/>
          <p:cNvSpPr/>
          <p:nvPr/>
        </p:nvSpPr>
        <p:spPr>
          <a:xfrm>
            <a:off x="584825" y="4246488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4"/>
          <p:cNvSpPr/>
          <p:nvPr/>
        </p:nvSpPr>
        <p:spPr>
          <a:xfrm>
            <a:off x="7574113" y="4100438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4"/>
          <p:cNvSpPr/>
          <p:nvPr/>
        </p:nvSpPr>
        <p:spPr>
          <a:xfrm>
            <a:off x="7083488" y="3234038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4"/>
          <p:cNvSpPr/>
          <p:nvPr/>
        </p:nvSpPr>
        <p:spPr>
          <a:xfrm>
            <a:off x="7574100" y="3234038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4"/>
          <p:cNvSpPr/>
          <p:nvPr/>
        </p:nvSpPr>
        <p:spPr>
          <a:xfrm>
            <a:off x="8086438" y="3234038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5" name="Google Shape;305;p24"/>
          <p:cNvCxnSpPr>
            <a:stCxn id="302" idx="4"/>
            <a:endCxn id="301" idx="1"/>
          </p:cNvCxnSpPr>
          <p:nvPr/>
        </p:nvCxnSpPr>
        <p:spPr>
          <a:xfrm>
            <a:off x="7266488" y="3590138"/>
            <a:ext cx="361200" cy="562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6" name="Google Shape;306;p24"/>
          <p:cNvCxnSpPr>
            <a:stCxn id="303" idx="4"/>
            <a:endCxn id="301" idx="0"/>
          </p:cNvCxnSpPr>
          <p:nvPr/>
        </p:nvCxnSpPr>
        <p:spPr>
          <a:xfrm>
            <a:off x="7757100" y="3590138"/>
            <a:ext cx="0" cy="5103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7" name="Google Shape;307;p24"/>
          <p:cNvCxnSpPr>
            <a:stCxn id="304" idx="4"/>
            <a:endCxn id="301" idx="7"/>
          </p:cNvCxnSpPr>
          <p:nvPr/>
        </p:nvCxnSpPr>
        <p:spPr>
          <a:xfrm flipH="1">
            <a:off x="7886638" y="3590138"/>
            <a:ext cx="382800" cy="562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8" name="Google Shape;308;p24"/>
          <p:cNvSpPr txBox="1"/>
          <p:nvPr/>
        </p:nvSpPr>
        <p:spPr>
          <a:xfrm>
            <a:off x="6698745" y="4602600"/>
            <a:ext cx="11355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Time 2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9" name="Google Shape;309;p24"/>
          <p:cNvSpPr/>
          <p:nvPr/>
        </p:nvSpPr>
        <p:spPr>
          <a:xfrm>
            <a:off x="6169563" y="4110313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0" name="Google Shape;310;p24"/>
          <p:cNvCxnSpPr>
            <a:stCxn id="301" idx="2"/>
            <a:endCxn id="309" idx="6"/>
          </p:cNvCxnSpPr>
          <p:nvPr/>
        </p:nvCxnSpPr>
        <p:spPr>
          <a:xfrm flipH="1">
            <a:off x="6535513" y="4278488"/>
            <a:ext cx="1038600" cy="99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311" name="Google Shape;311;p24"/>
          <p:cNvSpPr/>
          <p:nvPr/>
        </p:nvSpPr>
        <p:spPr>
          <a:xfrm>
            <a:off x="3818050" y="3706900"/>
            <a:ext cx="1355100" cy="708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5"/>
          <p:cNvSpPr txBox="1"/>
          <p:nvPr>
            <p:ph idx="1" type="body"/>
          </p:nvPr>
        </p:nvSpPr>
        <p:spPr>
          <a:xfrm>
            <a:off x="311700" y="1225225"/>
            <a:ext cx="8697000" cy="193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Status Theory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Designed to explain distribution of positive and negative ties in </a:t>
            </a:r>
            <a:r>
              <a:rPr b="1" lang="en"/>
              <a:t>valenced</a:t>
            </a:r>
            <a:r>
              <a:rPr lang="en"/>
              <a:t> networks with </a:t>
            </a:r>
            <a:r>
              <a:rPr b="1" lang="en"/>
              <a:t>directed</a:t>
            </a:r>
            <a:r>
              <a:rPr lang="en"/>
              <a:t> 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Third principle: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People aim to </a:t>
            </a:r>
            <a:r>
              <a:rPr b="1" lang="en"/>
              <a:t>avoid</a:t>
            </a:r>
            <a:r>
              <a:rPr lang="en"/>
              <a:t> status </a:t>
            </a:r>
            <a:r>
              <a:rPr b="1" lang="en"/>
              <a:t>loss</a:t>
            </a:r>
            <a:r>
              <a:rPr lang="en"/>
              <a:t> and </a:t>
            </a:r>
            <a:r>
              <a:rPr b="1" lang="en"/>
              <a:t>seek</a:t>
            </a:r>
            <a:r>
              <a:rPr lang="en"/>
              <a:t> status </a:t>
            </a:r>
            <a:r>
              <a:rPr b="1" lang="en"/>
              <a:t>boosts</a:t>
            </a:r>
            <a:r>
              <a:rPr lang="en"/>
              <a:t>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Low status individuals will accumulate negative ties</a:t>
            </a:r>
            <a:endParaRPr i="1"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“Gang up” effect (Poor get poorer)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Valenced interactions: Status theory</a:t>
            </a:r>
            <a:endParaRPr/>
          </a:p>
        </p:txBody>
      </p:sp>
      <p:sp>
        <p:nvSpPr>
          <p:cNvPr id="318" name="Google Shape;318;p25"/>
          <p:cNvSpPr/>
          <p:nvPr/>
        </p:nvSpPr>
        <p:spPr>
          <a:xfrm>
            <a:off x="8027125" y="86350"/>
            <a:ext cx="981600" cy="1179600"/>
          </a:xfrm>
          <a:prstGeom prst="rect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5"/>
          <p:cNvSpPr/>
          <p:nvPr/>
        </p:nvSpPr>
        <p:spPr>
          <a:xfrm>
            <a:off x="8192860" y="472152"/>
            <a:ext cx="191400" cy="1932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5"/>
          <p:cNvSpPr/>
          <p:nvPr/>
        </p:nvSpPr>
        <p:spPr>
          <a:xfrm>
            <a:off x="8192860" y="216793"/>
            <a:ext cx="191400" cy="193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1" name="Google Shape;321;p25"/>
          <p:cNvCxnSpPr/>
          <p:nvPr/>
        </p:nvCxnSpPr>
        <p:spPr>
          <a:xfrm flipH="1" rot="10800000">
            <a:off x="8124842" y="847730"/>
            <a:ext cx="327600" cy="5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2" name="Google Shape;322;p25"/>
          <p:cNvCxnSpPr/>
          <p:nvPr/>
        </p:nvCxnSpPr>
        <p:spPr>
          <a:xfrm flipH="1" rot="10800000">
            <a:off x="8124842" y="1076729"/>
            <a:ext cx="327600" cy="57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3" name="Google Shape;323;p25"/>
          <p:cNvSpPr txBox="1"/>
          <p:nvPr/>
        </p:nvSpPr>
        <p:spPr>
          <a:xfrm>
            <a:off x="8384249" y="151200"/>
            <a:ext cx="676500" cy="1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Ego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Other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Neg.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Pos.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24" name="Google Shape;324;p25"/>
          <p:cNvSpPr/>
          <p:nvPr/>
        </p:nvSpPr>
        <p:spPr>
          <a:xfrm>
            <a:off x="1989375" y="4236613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5"/>
          <p:cNvSpPr/>
          <p:nvPr/>
        </p:nvSpPr>
        <p:spPr>
          <a:xfrm>
            <a:off x="1498750" y="3370213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5"/>
          <p:cNvSpPr/>
          <p:nvPr/>
        </p:nvSpPr>
        <p:spPr>
          <a:xfrm>
            <a:off x="1989363" y="3370213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5"/>
          <p:cNvSpPr/>
          <p:nvPr/>
        </p:nvSpPr>
        <p:spPr>
          <a:xfrm>
            <a:off x="2501700" y="3370213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8" name="Google Shape;328;p25"/>
          <p:cNvCxnSpPr>
            <a:stCxn id="325" idx="4"/>
            <a:endCxn id="324" idx="1"/>
          </p:cNvCxnSpPr>
          <p:nvPr/>
        </p:nvCxnSpPr>
        <p:spPr>
          <a:xfrm>
            <a:off x="1681750" y="3726313"/>
            <a:ext cx="361200" cy="562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9" name="Google Shape;329;p25"/>
          <p:cNvCxnSpPr>
            <a:stCxn id="326" idx="4"/>
            <a:endCxn id="324" idx="0"/>
          </p:cNvCxnSpPr>
          <p:nvPr/>
        </p:nvCxnSpPr>
        <p:spPr>
          <a:xfrm>
            <a:off x="2172363" y="3726313"/>
            <a:ext cx="0" cy="510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0" name="Google Shape;330;p25"/>
          <p:cNvCxnSpPr>
            <a:stCxn id="327" idx="4"/>
            <a:endCxn id="324" idx="7"/>
          </p:cNvCxnSpPr>
          <p:nvPr/>
        </p:nvCxnSpPr>
        <p:spPr>
          <a:xfrm flipH="1">
            <a:off x="2301900" y="3726313"/>
            <a:ext cx="382800" cy="562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1" name="Google Shape;331;p25"/>
          <p:cNvSpPr txBox="1"/>
          <p:nvPr/>
        </p:nvSpPr>
        <p:spPr>
          <a:xfrm>
            <a:off x="1114000" y="4670725"/>
            <a:ext cx="11355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Time 1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2" name="Google Shape;332;p25"/>
          <p:cNvSpPr/>
          <p:nvPr/>
        </p:nvSpPr>
        <p:spPr>
          <a:xfrm>
            <a:off x="584825" y="4246488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5"/>
          <p:cNvSpPr/>
          <p:nvPr/>
        </p:nvSpPr>
        <p:spPr>
          <a:xfrm>
            <a:off x="7574113" y="4100438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5"/>
          <p:cNvSpPr/>
          <p:nvPr/>
        </p:nvSpPr>
        <p:spPr>
          <a:xfrm>
            <a:off x="7083488" y="3234038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5"/>
          <p:cNvSpPr/>
          <p:nvPr/>
        </p:nvSpPr>
        <p:spPr>
          <a:xfrm>
            <a:off x="7574100" y="3234038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5"/>
          <p:cNvSpPr/>
          <p:nvPr/>
        </p:nvSpPr>
        <p:spPr>
          <a:xfrm>
            <a:off x="8086438" y="3234038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7" name="Google Shape;337;p25"/>
          <p:cNvCxnSpPr>
            <a:stCxn id="334" idx="4"/>
            <a:endCxn id="333" idx="1"/>
          </p:cNvCxnSpPr>
          <p:nvPr/>
        </p:nvCxnSpPr>
        <p:spPr>
          <a:xfrm>
            <a:off x="7266488" y="3590138"/>
            <a:ext cx="361200" cy="562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8" name="Google Shape;338;p25"/>
          <p:cNvCxnSpPr>
            <a:stCxn id="335" idx="4"/>
            <a:endCxn id="333" idx="0"/>
          </p:cNvCxnSpPr>
          <p:nvPr/>
        </p:nvCxnSpPr>
        <p:spPr>
          <a:xfrm>
            <a:off x="7757100" y="3590138"/>
            <a:ext cx="0" cy="510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9" name="Google Shape;339;p25"/>
          <p:cNvCxnSpPr>
            <a:stCxn id="336" idx="4"/>
            <a:endCxn id="333" idx="7"/>
          </p:cNvCxnSpPr>
          <p:nvPr/>
        </p:nvCxnSpPr>
        <p:spPr>
          <a:xfrm flipH="1">
            <a:off x="7886638" y="3590138"/>
            <a:ext cx="382800" cy="562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0" name="Google Shape;340;p25"/>
          <p:cNvSpPr txBox="1"/>
          <p:nvPr/>
        </p:nvSpPr>
        <p:spPr>
          <a:xfrm>
            <a:off x="6698745" y="4602600"/>
            <a:ext cx="11355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Time 2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1" name="Google Shape;341;p25"/>
          <p:cNvSpPr/>
          <p:nvPr/>
        </p:nvSpPr>
        <p:spPr>
          <a:xfrm>
            <a:off x="6169563" y="4110313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2" name="Google Shape;342;p25"/>
          <p:cNvCxnSpPr>
            <a:stCxn id="333" idx="2"/>
            <a:endCxn id="341" idx="6"/>
          </p:cNvCxnSpPr>
          <p:nvPr/>
        </p:nvCxnSpPr>
        <p:spPr>
          <a:xfrm flipH="1">
            <a:off x="6535513" y="4278488"/>
            <a:ext cx="1038600" cy="9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343" name="Google Shape;343;p25"/>
          <p:cNvSpPr/>
          <p:nvPr/>
        </p:nvSpPr>
        <p:spPr>
          <a:xfrm>
            <a:off x="3818050" y="3706900"/>
            <a:ext cx="1355100" cy="708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Valenced interactions: Status theory</a:t>
            </a:r>
            <a:endParaRPr/>
          </a:p>
        </p:txBody>
      </p:sp>
      <p:sp>
        <p:nvSpPr>
          <p:cNvPr id="349" name="Google Shape;349;p26"/>
          <p:cNvSpPr txBox="1"/>
          <p:nvPr>
            <p:ph idx="1" type="body"/>
          </p:nvPr>
        </p:nvSpPr>
        <p:spPr>
          <a:xfrm>
            <a:off x="311700" y="1225225"/>
            <a:ext cx="8697000" cy="19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Status Theory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Designed to explain distribution of positive and negative ties in </a:t>
            </a:r>
            <a:r>
              <a:rPr b="1" lang="en"/>
              <a:t>valenced</a:t>
            </a:r>
            <a:r>
              <a:rPr lang="en"/>
              <a:t> networks with </a:t>
            </a:r>
            <a:r>
              <a:rPr b="1" lang="en"/>
              <a:t>directed</a:t>
            </a:r>
            <a:r>
              <a:rPr lang="en"/>
              <a:t> 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Third principle: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People aim to </a:t>
            </a:r>
            <a:r>
              <a:rPr b="1" lang="en"/>
              <a:t>avoid</a:t>
            </a:r>
            <a:r>
              <a:rPr lang="en"/>
              <a:t> status </a:t>
            </a:r>
            <a:r>
              <a:rPr b="1" lang="en"/>
              <a:t>loss</a:t>
            </a:r>
            <a:r>
              <a:rPr lang="en"/>
              <a:t> and </a:t>
            </a:r>
            <a:r>
              <a:rPr b="1" lang="en"/>
              <a:t>seek</a:t>
            </a:r>
            <a:r>
              <a:rPr lang="en"/>
              <a:t> status </a:t>
            </a:r>
            <a:r>
              <a:rPr b="1" lang="en"/>
              <a:t>boosts</a:t>
            </a:r>
            <a:r>
              <a:rPr lang="en"/>
              <a:t>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High status individuals will lose negative ties</a:t>
            </a:r>
            <a:endParaRPr i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6"/>
          <p:cNvSpPr/>
          <p:nvPr/>
        </p:nvSpPr>
        <p:spPr>
          <a:xfrm>
            <a:off x="8027125" y="86350"/>
            <a:ext cx="981600" cy="1179600"/>
          </a:xfrm>
          <a:prstGeom prst="rect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6"/>
          <p:cNvSpPr/>
          <p:nvPr/>
        </p:nvSpPr>
        <p:spPr>
          <a:xfrm>
            <a:off x="8192860" y="472152"/>
            <a:ext cx="191400" cy="1932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26"/>
          <p:cNvSpPr/>
          <p:nvPr/>
        </p:nvSpPr>
        <p:spPr>
          <a:xfrm>
            <a:off x="8192860" y="216793"/>
            <a:ext cx="191400" cy="193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53" name="Google Shape;353;p26"/>
          <p:cNvCxnSpPr/>
          <p:nvPr/>
        </p:nvCxnSpPr>
        <p:spPr>
          <a:xfrm flipH="1" rot="10800000">
            <a:off x="8124842" y="847730"/>
            <a:ext cx="327600" cy="5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4" name="Google Shape;354;p26"/>
          <p:cNvCxnSpPr/>
          <p:nvPr/>
        </p:nvCxnSpPr>
        <p:spPr>
          <a:xfrm flipH="1" rot="10800000">
            <a:off x="8124842" y="1076729"/>
            <a:ext cx="327600" cy="57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5" name="Google Shape;355;p26"/>
          <p:cNvSpPr txBox="1"/>
          <p:nvPr/>
        </p:nvSpPr>
        <p:spPr>
          <a:xfrm>
            <a:off x="8384249" y="151200"/>
            <a:ext cx="676500" cy="1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Ego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Other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Neg.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Pos.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56" name="Google Shape;356;p26"/>
          <p:cNvSpPr/>
          <p:nvPr/>
        </p:nvSpPr>
        <p:spPr>
          <a:xfrm>
            <a:off x="1989375" y="4236613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6"/>
          <p:cNvSpPr/>
          <p:nvPr/>
        </p:nvSpPr>
        <p:spPr>
          <a:xfrm>
            <a:off x="1498750" y="3370213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6"/>
          <p:cNvSpPr/>
          <p:nvPr/>
        </p:nvSpPr>
        <p:spPr>
          <a:xfrm>
            <a:off x="1989363" y="3370213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6"/>
          <p:cNvSpPr/>
          <p:nvPr/>
        </p:nvSpPr>
        <p:spPr>
          <a:xfrm>
            <a:off x="2501700" y="3370213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0" name="Google Shape;360;p26"/>
          <p:cNvCxnSpPr>
            <a:stCxn id="357" idx="4"/>
            <a:endCxn id="356" idx="1"/>
          </p:cNvCxnSpPr>
          <p:nvPr/>
        </p:nvCxnSpPr>
        <p:spPr>
          <a:xfrm>
            <a:off x="1681750" y="3726313"/>
            <a:ext cx="361200" cy="562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1" name="Google Shape;361;p26"/>
          <p:cNvCxnSpPr>
            <a:stCxn id="358" idx="4"/>
            <a:endCxn id="356" idx="0"/>
          </p:cNvCxnSpPr>
          <p:nvPr/>
        </p:nvCxnSpPr>
        <p:spPr>
          <a:xfrm>
            <a:off x="2172363" y="3726313"/>
            <a:ext cx="0" cy="5103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2" name="Google Shape;362;p26"/>
          <p:cNvCxnSpPr>
            <a:stCxn id="359" idx="4"/>
            <a:endCxn id="356" idx="7"/>
          </p:cNvCxnSpPr>
          <p:nvPr/>
        </p:nvCxnSpPr>
        <p:spPr>
          <a:xfrm flipH="1">
            <a:off x="2301900" y="3726313"/>
            <a:ext cx="382800" cy="562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3" name="Google Shape;363;p26"/>
          <p:cNvSpPr txBox="1"/>
          <p:nvPr/>
        </p:nvSpPr>
        <p:spPr>
          <a:xfrm>
            <a:off x="1114000" y="4670725"/>
            <a:ext cx="11355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Time 1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4" name="Google Shape;364;p26"/>
          <p:cNvSpPr/>
          <p:nvPr/>
        </p:nvSpPr>
        <p:spPr>
          <a:xfrm>
            <a:off x="584825" y="4246488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6"/>
          <p:cNvSpPr/>
          <p:nvPr/>
        </p:nvSpPr>
        <p:spPr>
          <a:xfrm>
            <a:off x="7574113" y="4100438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6"/>
          <p:cNvSpPr/>
          <p:nvPr/>
        </p:nvSpPr>
        <p:spPr>
          <a:xfrm>
            <a:off x="7083488" y="3234038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26"/>
          <p:cNvSpPr/>
          <p:nvPr/>
        </p:nvSpPr>
        <p:spPr>
          <a:xfrm>
            <a:off x="7574100" y="3234038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26"/>
          <p:cNvSpPr/>
          <p:nvPr/>
        </p:nvSpPr>
        <p:spPr>
          <a:xfrm>
            <a:off x="8086438" y="3234038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9" name="Google Shape;369;p26"/>
          <p:cNvCxnSpPr>
            <a:stCxn id="366" idx="4"/>
            <a:endCxn id="365" idx="1"/>
          </p:cNvCxnSpPr>
          <p:nvPr/>
        </p:nvCxnSpPr>
        <p:spPr>
          <a:xfrm>
            <a:off x="7266488" y="3590138"/>
            <a:ext cx="361200" cy="562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0" name="Google Shape;370;p26"/>
          <p:cNvCxnSpPr>
            <a:stCxn id="367" idx="4"/>
            <a:endCxn id="365" idx="0"/>
          </p:cNvCxnSpPr>
          <p:nvPr/>
        </p:nvCxnSpPr>
        <p:spPr>
          <a:xfrm>
            <a:off x="7757100" y="3590138"/>
            <a:ext cx="0" cy="5103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1" name="Google Shape;371;p26"/>
          <p:cNvCxnSpPr>
            <a:stCxn id="368" idx="4"/>
            <a:endCxn id="365" idx="7"/>
          </p:cNvCxnSpPr>
          <p:nvPr/>
        </p:nvCxnSpPr>
        <p:spPr>
          <a:xfrm flipH="1">
            <a:off x="7886638" y="3590138"/>
            <a:ext cx="382800" cy="562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2" name="Google Shape;372;p26"/>
          <p:cNvSpPr txBox="1"/>
          <p:nvPr/>
        </p:nvSpPr>
        <p:spPr>
          <a:xfrm>
            <a:off x="6698745" y="4602600"/>
            <a:ext cx="11355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Time 2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3" name="Google Shape;373;p26"/>
          <p:cNvSpPr/>
          <p:nvPr/>
        </p:nvSpPr>
        <p:spPr>
          <a:xfrm>
            <a:off x="6169563" y="4110313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74" name="Google Shape;374;p26"/>
          <p:cNvCxnSpPr>
            <a:stCxn id="356" idx="2"/>
            <a:endCxn id="364" idx="6"/>
          </p:cNvCxnSpPr>
          <p:nvPr/>
        </p:nvCxnSpPr>
        <p:spPr>
          <a:xfrm flipH="1">
            <a:off x="950775" y="4414663"/>
            <a:ext cx="1038600" cy="9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375" name="Google Shape;375;p26"/>
          <p:cNvSpPr/>
          <p:nvPr/>
        </p:nvSpPr>
        <p:spPr>
          <a:xfrm>
            <a:off x="3818050" y="3706900"/>
            <a:ext cx="1355100" cy="708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Valenced interactions: Status theory</a:t>
            </a:r>
            <a:endParaRPr/>
          </a:p>
        </p:txBody>
      </p:sp>
      <p:sp>
        <p:nvSpPr>
          <p:cNvPr id="381" name="Google Shape;381;p27"/>
          <p:cNvSpPr txBox="1"/>
          <p:nvPr>
            <p:ph idx="1" type="body"/>
          </p:nvPr>
        </p:nvSpPr>
        <p:spPr>
          <a:xfrm>
            <a:off x="311700" y="1225225"/>
            <a:ext cx="8697000" cy="21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Status Theory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Designed to explain distribution of positive and negative ties in </a:t>
            </a:r>
            <a:r>
              <a:rPr b="1" lang="en"/>
              <a:t>valenced</a:t>
            </a:r>
            <a:r>
              <a:rPr lang="en"/>
              <a:t> networks with </a:t>
            </a:r>
            <a:r>
              <a:rPr b="1" lang="en"/>
              <a:t>directed</a:t>
            </a:r>
            <a:r>
              <a:rPr lang="en"/>
              <a:t> 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Third principle: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People aim to </a:t>
            </a:r>
            <a:r>
              <a:rPr b="1" lang="en"/>
              <a:t>avoid</a:t>
            </a:r>
            <a:r>
              <a:rPr lang="en"/>
              <a:t> status </a:t>
            </a:r>
            <a:r>
              <a:rPr b="1" lang="en"/>
              <a:t>loss</a:t>
            </a:r>
            <a:r>
              <a:rPr lang="en"/>
              <a:t> and </a:t>
            </a:r>
            <a:r>
              <a:rPr b="1" lang="en"/>
              <a:t>seek</a:t>
            </a:r>
            <a:r>
              <a:rPr lang="en"/>
              <a:t> status </a:t>
            </a:r>
            <a:r>
              <a:rPr b="1" lang="en"/>
              <a:t>boosts</a:t>
            </a:r>
            <a:r>
              <a:rPr lang="en"/>
              <a:t>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Low status individuals will lose positive  ties</a:t>
            </a:r>
            <a:endParaRPr i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7"/>
          <p:cNvSpPr/>
          <p:nvPr/>
        </p:nvSpPr>
        <p:spPr>
          <a:xfrm>
            <a:off x="8027125" y="86350"/>
            <a:ext cx="981600" cy="1179600"/>
          </a:xfrm>
          <a:prstGeom prst="rect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7"/>
          <p:cNvSpPr/>
          <p:nvPr/>
        </p:nvSpPr>
        <p:spPr>
          <a:xfrm>
            <a:off x="8192860" y="472152"/>
            <a:ext cx="191400" cy="1932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7"/>
          <p:cNvSpPr/>
          <p:nvPr/>
        </p:nvSpPr>
        <p:spPr>
          <a:xfrm>
            <a:off x="8192860" y="216793"/>
            <a:ext cx="191400" cy="193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5" name="Google Shape;385;p27"/>
          <p:cNvCxnSpPr/>
          <p:nvPr/>
        </p:nvCxnSpPr>
        <p:spPr>
          <a:xfrm flipH="1" rot="10800000">
            <a:off x="8124842" y="847730"/>
            <a:ext cx="327600" cy="5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6" name="Google Shape;386;p27"/>
          <p:cNvCxnSpPr/>
          <p:nvPr/>
        </p:nvCxnSpPr>
        <p:spPr>
          <a:xfrm flipH="1" rot="10800000">
            <a:off x="8124842" y="1076729"/>
            <a:ext cx="327600" cy="57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7" name="Google Shape;387;p27"/>
          <p:cNvSpPr txBox="1"/>
          <p:nvPr/>
        </p:nvSpPr>
        <p:spPr>
          <a:xfrm>
            <a:off x="8384249" y="151200"/>
            <a:ext cx="676500" cy="1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Ego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Other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Neg.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Pos.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88" name="Google Shape;388;p27"/>
          <p:cNvSpPr/>
          <p:nvPr/>
        </p:nvSpPr>
        <p:spPr>
          <a:xfrm>
            <a:off x="1989375" y="4236613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27"/>
          <p:cNvSpPr/>
          <p:nvPr/>
        </p:nvSpPr>
        <p:spPr>
          <a:xfrm>
            <a:off x="1498750" y="3370213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27"/>
          <p:cNvSpPr/>
          <p:nvPr/>
        </p:nvSpPr>
        <p:spPr>
          <a:xfrm>
            <a:off x="1989363" y="3370213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7"/>
          <p:cNvSpPr/>
          <p:nvPr/>
        </p:nvSpPr>
        <p:spPr>
          <a:xfrm>
            <a:off x="2501700" y="3370213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2" name="Google Shape;392;p27"/>
          <p:cNvCxnSpPr>
            <a:stCxn id="389" idx="4"/>
            <a:endCxn id="388" idx="1"/>
          </p:cNvCxnSpPr>
          <p:nvPr/>
        </p:nvCxnSpPr>
        <p:spPr>
          <a:xfrm>
            <a:off x="1681750" y="3726313"/>
            <a:ext cx="361200" cy="562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3" name="Google Shape;393;p27"/>
          <p:cNvCxnSpPr>
            <a:stCxn id="390" idx="4"/>
            <a:endCxn id="388" idx="0"/>
          </p:cNvCxnSpPr>
          <p:nvPr/>
        </p:nvCxnSpPr>
        <p:spPr>
          <a:xfrm>
            <a:off x="2172363" y="3726313"/>
            <a:ext cx="0" cy="510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4" name="Google Shape;394;p27"/>
          <p:cNvCxnSpPr>
            <a:stCxn id="391" idx="4"/>
            <a:endCxn id="388" idx="7"/>
          </p:cNvCxnSpPr>
          <p:nvPr/>
        </p:nvCxnSpPr>
        <p:spPr>
          <a:xfrm flipH="1">
            <a:off x="2301900" y="3726313"/>
            <a:ext cx="382800" cy="562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5" name="Google Shape;395;p27"/>
          <p:cNvSpPr txBox="1"/>
          <p:nvPr/>
        </p:nvSpPr>
        <p:spPr>
          <a:xfrm>
            <a:off x="1114000" y="4670725"/>
            <a:ext cx="11355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Time 1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6" name="Google Shape;396;p27"/>
          <p:cNvSpPr/>
          <p:nvPr/>
        </p:nvSpPr>
        <p:spPr>
          <a:xfrm>
            <a:off x="584825" y="4246488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7"/>
          <p:cNvSpPr/>
          <p:nvPr/>
        </p:nvSpPr>
        <p:spPr>
          <a:xfrm>
            <a:off x="7574113" y="4100438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7"/>
          <p:cNvSpPr/>
          <p:nvPr/>
        </p:nvSpPr>
        <p:spPr>
          <a:xfrm>
            <a:off x="7083488" y="3234038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7"/>
          <p:cNvSpPr/>
          <p:nvPr/>
        </p:nvSpPr>
        <p:spPr>
          <a:xfrm>
            <a:off x="7574100" y="3234038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27"/>
          <p:cNvSpPr/>
          <p:nvPr/>
        </p:nvSpPr>
        <p:spPr>
          <a:xfrm>
            <a:off x="8086438" y="3234038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1" name="Google Shape;401;p27"/>
          <p:cNvCxnSpPr>
            <a:stCxn id="398" idx="4"/>
            <a:endCxn id="397" idx="1"/>
          </p:cNvCxnSpPr>
          <p:nvPr/>
        </p:nvCxnSpPr>
        <p:spPr>
          <a:xfrm>
            <a:off x="7266488" y="3590138"/>
            <a:ext cx="361200" cy="562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2" name="Google Shape;402;p27"/>
          <p:cNvCxnSpPr>
            <a:stCxn id="399" idx="4"/>
            <a:endCxn id="397" idx="0"/>
          </p:cNvCxnSpPr>
          <p:nvPr/>
        </p:nvCxnSpPr>
        <p:spPr>
          <a:xfrm>
            <a:off x="7757100" y="3590138"/>
            <a:ext cx="0" cy="510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3" name="Google Shape;403;p27"/>
          <p:cNvCxnSpPr>
            <a:stCxn id="400" idx="4"/>
            <a:endCxn id="397" idx="7"/>
          </p:cNvCxnSpPr>
          <p:nvPr/>
        </p:nvCxnSpPr>
        <p:spPr>
          <a:xfrm flipH="1">
            <a:off x="7886638" y="3590138"/>
            <a:ext cx="382800" cy="562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4" name="Google Shape;404;p27"/>
          <p:cNvSpPr txBox="1"/>
          <p:nvPr/>
        </p:nvSpPr>
        <p:spPr>
          <a:xfrm>
            <a:off x="6698745" y="4602600"/>
            <a:ext cx="11355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Time 2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5" name="Google Shape;405;p27"/>
          <p:cNvSpPr/>
          <p:nvPr/>
        </p:nvSpPr>
        <p:spPr>
          <a:xfrm>
            <a:off x="6169563" y="4110313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6" name="Google Shape;406;p27"/>
          <p:cNvCxnSpPr>
            <a:stCxn id="388" idx="2"/>
            <a:endCxn id="396" idx="6"/>
          </p:cNvCxnSpPr>
          <p:nvPr/>
        </p:nvCxnSpPr>
        <p:spPr>
          <a:xfrm flipH="1">
            <a:off x="950775" y="4414663"/>
            <a:ext cx="1038600" cy="99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407" name="Google Shape;407;p27"/>
          <p:cNvSpPr/>
          <p:nvPr/>
        </p:nvSpPr>
        <p:spPr>
          <a:xfrm>
            <a:off x="3818050" y="3706900"/>
            <a:ext cx="1355100" cy="708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8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Karma </a:t>
            </a:r>
            <a:r>
              <a:rPr lang="en"/>
              <a:t>Theory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Valenced interactions: Karma theory</a:t>
            </a:r>
            <a:endParaRPr/>
          </a:p>
        </p:txBody>
      </p:sp>
      <p:sp>
        <p:nvSpPr>
          <p:cNvPr id="418" name="Google Shape;418;p29"/>
          <p:cNvSpPr txBox="1"/>
          <p:nvPr>
            <p:ph idx="1" type="body"/>
          </p:nvPr>
        </p:nvSpPr>
        <p:spPr>
          <a:xfrm>
            <a:off x="311700" y="1225225"/>
            <a:ext cx="8697000" cy="161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Karma Theory: </a:t>
            </a:r>
            <a:r>
              <a:rPr lang="en"/>
              <a:t>You get what you spread out!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Status theory is based on (negative and positive) </a:t>
            </a:r>
            <a:r>
              <a:rPr b="1" lang="en"/>
              <a:t>popularity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Graph-theoretic </a:t>
            </a:r>
            <a:r>
              <a:rPr i="1" lang="en"/>
              <a:t>indegree</a:t>
            </a:r>
            <a:r>
              <a:rPr lang="en"/>
              <a:t> centrality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Karma theory is based on (negative and positive) </a:t>
            </a:r>
            <a:r>
              <a:rPr b="1" lang="en"/>
              <a:t>activity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Graph theoretic </a:t>
            </a:r>
            <a:r>
              <a:rPr i="1" lang="en"/>
              <a:t>outdegree</a:t>
            </a:r>
            <a:r>
              <a:rPr lang="en"/>
              <a:t> centrality </a:t>
            </a:r>
            <a:endParaRPr i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29"/>
          <p:cNvSpPr/>
          <p:nvPr/>
        </p:nvSpPr>
        <p:spPr>
          <a:xfrm>
            <a:off x="8027125" y="86350"/>
            <a:ext cx="981600" cy="1179600"/>
          </a:xfrm>
          <a:prstGeom prst="rect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29"/>
          <p:cNvSpPr/>
          <p:nvPr/>
        </p:nvSpPr>
        <p:spPr>
          <a:xfrm>
            <a:off x="8192860" y="472152"/>
            <a:ext cx="191400" cy="1932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29"/>
          <p:cNvSpPr/>
          <p:nvPr/>
        </p:nvSpPr>
        <p:spPr>
          <a:xfrm>
            <a:off x="8192860" y="216793"/>
            <a:ext cx="191400" cy="193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22" name="Google Shape;422;p29"/>
          <p:cNvCxnSpPr/>
          <p:nvPr/>
        </p:nvCxnSpPr>
        <p:spPr>
          <a:xfrm flipH="1" rot="10800000">
            <a:off x="8124842" y="847730"/>
            <a:ext cx="327600" cy="5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3" name="Google Shape;423;p29"/>
          <p:cNvCxnSpPr/>
          <p:nvPr/>
        </p:nvCxnSpPr>
        <p:spPr>
          <a:xfrm flipH="1" rot="10800000">
            <a:off x="8124842" y="1076729"/>
            <a:ext cx="327600" cy="57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4" name="Google Shape;424;p29"/>
          <p:cNvSpPr txBox="1"/>
          <p:nvPr/>
        </p:nvSpPr>
        <p:spPr>
          <a:xfrm>
            <a:off x="8384249" y="151200"/>
            <a:ext cx="676500" cy="1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Ego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Other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Neg.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Pos.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25" name="Google Shape;425;p29"/>
          <p:cNvSpPr/>
          <p:nvPr/>
        </p:nvSpPr>
        <p:spPr>
          <a:xfrm>
            <a:off x="1989375" y="4236613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29"/>
          <p:cNvSpPr/>
          <p:nvPr/>
        </p:nvSpPr>
        <p:spPr>
          <a:xfrm>
            <a:off x="1498750" y="3370213"/>
            <a:ext cx="366000" cy="356100"/>
          </a:xfrm>
          <a:prstGeom prst="ellipse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9"/>
          <p:cNvSpPr/>
          <p:nvPr/>
        </p:nvSpPr>
        <p:spPr>
          <a:xfrm>
            <a:off x="1989363" y="3370213"/>
            <a:ext cx="366000" cy="356100"/>
          </a:xfrm>
          <a:prstGeom prst="ellipse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9"/>
          <p:cNvSpPr/>
          <p:nvPr/>
        </p:nvSpPr>
        <p:spPr>
          <a:xfrm>
            <a:off x="2501700" y="3370213"/>
            <a:ext cx="366000" cy="356100"/>
          </a:xfrm>
          <a:prstGeom prst="ellipse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29" name="Google Shape;429;p29"/>
          <p:cNvCxnSpPr>
            <a:stCxn id="426" idx="4"/>
            <a:endCxn id="425" idx="1"/>
          </p:cNvCxnSpPr>
          <p:nvPr/>
        </p:nvCxnSpPr>
        <p:spPr>
          <a:xfrm>
            <a:off x="1681750" y="3726313"/>
            <a:ext cx="361200" cy="562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30" name="Google Shape;430;p29"/>
          <p:cNvCxnSpPr>
            <a:stCxn id="427" idx="4"/>
            <a:endCxn id="425" idx="0"/>
          </p:cNvCxnSpPr>
          <p:nvPr/>
        </p:nvCxnSpPr>
        <p:spPr>
          <a:xfrm>
            <a:off x="2172363" y="3726313"/>
            <a:ext cx="0" cy="510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31" name="Google Shape;431;p29"/>
          <p:cNvCxnSpPr>
            <a:stCxn id="428" idx="4"/>
            <a:endCxn id="425" idx="7"/>
          </p:cNvCxnSpPr>
          <p:nvPr/>
        </p:nvCxnSpPr>
        <p:spPr>
          <a:xfrm flipH="1">
            <a:off x="2301900" y="3726313"/>
            <a:ext cx="382800" cy="562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432" name="Google Shape;432;p29"/>
          <p:cNvSpPr txBox="1"/>
          <p:nvPr/>
        </p:nvSpPr>
        <p:spPr>
          <a:xfrm>
            <a:off x="1114000" y="4670725"/>
            <a:ext cx="11355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Time 1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3" name="Google Shape;433;p29"/>
          <p:cNvSpPr/>
          <p:nvPr/>
        </p:nvSpPr>
        <p:spPr>
          <a:xfrm>
            <a:off x="584825" y="4246488"/>
            <a:ext cx="366000" cy="356100"/>
          </a:xfrm>
          <a:prstGeom prst="ellipse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29"/>
          <p:cNvSpPr/>
          <p:nvPr/>
        </p:nvSpPr>
        <p:spPr>
          <a:xfrm>
            <a:off x="7574113" y="4100438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29"/>
          <p:cNvSpPr/>
          <p:nvPr/>
        </p:nvSpPr>
        <p:spPr>
          <a:xfrm>
            <a:off x="7083488" y="3234038"/>
            <a:ext cx="366000" cy="356100"/>
          </a:xfrm>
          <a:prstGeom prst="ellipse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29"/>
          <p:cNvSpPr/>
          <p:nvPr/>
        </p:nvSpPr>
        <p:spPr>
          <a:xfrm>
            <a:off x="7574100" y="3234038"/>
            <a:ext cx="366000" cy="356100"/>
          </a:xfrm>
          <a:prstGeom prst="ellipse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29"/>
          <p:cNvSpPr/>
          <p:nvPr/>
        </p:nvSpPr>
        <p:spPr>
          <a:xfrm>
            <a:off x="8086438" y="3234038"/>
            <a:ext cx="366000" cy="356100"/>
          </a:xfrm>
          <a:prstGeom prst="ellipse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8" name="Google Shape;438;p29"/>
          <p:cNvCxnSpPr>
            <a:stCxn id="435" idx="4"/>
            <a:endCxn id="434" idx="1"/>
          </p:cNvCxnSpPr>
          <p:nvPr/>
        </p:nvCxnSpPr>
        <p:spPr>
          <a:xfrm>
            <a:off x="7266488" y="3590138"/>
            <a:ext cx="361200" cy="562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39" name="Google Shape;439;p29"/>
          <p:cNvCxnSpPr>
            <a:stCxn id="436" idx="4"/>
            <a:endCxn id="434" idx="0"/>
          </p:cNvCxnSpPr>
          <p:nvPr/>
        </p:nvCxnSpPr>
        <p:spPr>
          <a:xfrm>
            <a:off x="7757100" y="3590138"/>
            <a:ext cx="0" cy="510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40" name="Google Shape;440;p29"/>
          <p:cNvCxnSpPr>
            <a:stCxn id="437" idx="4"/>
            <a:endCxn id="434" idx="7"/>
          </p:cNvCxnSpPr>
          <p:nvPr/>
        </p:nvCxnSpPr>
        <p:spPr>
          <a:xfrm flipH="1">
            <a:off x="7886638" y="3590138"/>
            <a:ext cx="382800" cy="562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441" name="Google Shape;441;p29"/>
          <p:cNvSpPr txBox="1"/>
          <p:nvPr/>
        </p:nvSpPr>
        <p:spPr>
          <a:xfrm>
            <a:off x="6698745" y="4602600"/>
            <a:ext cx="11355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Time 2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42" name="Google Shape;442;p29"/>
          <p:cNvSpPr/>
          <p:nvPr/>
        </p:nvSpPr>
        <p:spPr>
          <a:xfrm>
            <a:off x="6169563" y="4110313"/>
            <a:ext cx="366000" cy="356100"/>
          </a:xfrm>
          <a:prstGeom prst="ellipse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9"/>
          <p:cNvSpPr/>
          <p:nvPr/>
        </p:nvSpPr>
        <p:spPr>
          <a:xfrm>
            <a:off x="3818050" y="3706900"/>
            <a:ext cx="1355100" cy="708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Valenced interactions: Karma theory</a:t>
            </a:r>
            <a:endParaRPr/>
          </a:p>
        </p:txBody>
      </p:sp>
      <p:sp>
        <p:nvSpPr>
          <p:cNvPr id="449" name="Google Shape;449;p30"/>
          <p:cNvSpPr txBox="1"/>
          <p:nvPr>
            <p:ph idx="1" type="body"/>
          </p:nvPr>
        </p:nvSpPr>
        <p:spPr>
          <a:xfrm>
            <a:off x="311700" y="1225225"/>
            <a:ext cx="8697000" cy="161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Karma Theory: </a:t>
            </a:r>
            <a:r>
              <a:rPr lang="en"/>
              <a:t>You get what you spread out!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Status theory is based on (negative and positive) </a:t>
            </a:r>
            <a:r>
              <a:rPr b="1" lang="en"/>
              <a:t>popularity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Graph theoretic </a:t>
            </a:r>
            <a:r>
              <a:rPr i="1" lang="en"/>
              <a:t>indegree</a:t>
            </a:r>
            <a:r>
              <a:rPr lang="en"/>
              <a:t> centrality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Karma theory is based on (negative and positive) </a:t>
            </a:r>
            <a:r>
              <a:rPr b="1" lang="en"/>
              <a:t>activity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Predict valenced indegree (what you get) from valenced outdegree (what you spread)</a:t>
            </a:r>
            <a:endParaRPr i="1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30"/>
          <p:cNvSpPr/>
          <p:nvPr/>
        </p:nvSpPr>
        <p:spPr>
          <a:xfrm>
            <a:off x="8027125" y="86350"/>
            <a:ext cx="981600" cy="1179600"/>
          </a:xfrm>
          <a:prstGeom prst="rect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30"/>
          <p:cNvSpPr/>
          <p:nvPr/>
        </p:nvSpPr>
        <p:spPr>
          <a:xfrm>
            <a:off x="8192860" y="472152"/>
            <a:ext cx="191400" cy="1932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30"/>
          <p:cNvSpPr/>
          <p:nvPr/>
        </p:nvSpPr>
        <p:spPr>
          <a:xfrm>
            <a:off x="8192860" y="216793"/>
            <a:ext cx="191400" cy="193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53" name="Google Shape;453;p30"/>
          <p:cNvCxnSpPr/>
          <p:nvPr/>
        </p:nvCxnSpPr>
        <p:spPr>
          <a:xfrm flipH="1" rot="10800000">
            <a:off x="8124842" y="847730"/>
            <a:ext cx="327600" cy="5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4" name="Google Shape;454;p30"/>
          <p:cNvCxnSpPr/>
          <p:nvPr/>
        </p:nvCxnSpPr>
        <p:spPr>
          <a:xfrm flipH="1" rot="10800000">
            <a:off x="8124842" y="1076729"/>
            <a:ext cx="327600" cy="57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55" name="Google Shape;455;p30"/>
          <p:cNvSpPr txBox="1"/>
          <p:nvPr/>
        </p:nvSpPr>
        <p:spPr>
          <a:xfrm>
            <a:off x="8384249" y="151200"/>
            <a:ext cx="676500" cy="1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Ego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Other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Neg.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Pos.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56" name="Google Shape;456;p30"/>
          <p:cNvSpPr/>
          <p:nvPr/>
        </p:nvSpPr>
        <p:spPr>
          <a:xfrm>
            <a:off x="1989375" y="4236613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30"/>
          <p:cNvSpPr/>
          <p:nvPr/>
        </p:nvSpPr>
        <p:spPr>
          <a:xfrm>
            <a:off x="1498750" y="3370213"/>
            <a:ext cx="366000" cy="356100"/>
          </a:xfrm>
          <a:prstGeom prst="ellipse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30"/>
          <p:cNvSpPr/>
          <p:nvPr/>
        </p:nvSpPr>
        <p:spPr>
          <a:xfrm>
            <a:off x="1989363" y="3370213"/>
            <a:ext cx="366000" cy="356100"/>
          </a:xfrm>
          <a:prstGeom prst="ellipse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0"/>
          <p:cNvSpPr/>
          <p:nvPr/>
        </p:nvSpPr>
        <p:spPr>
          <a:xfrm>
            <a:off x="2501700" y="3370213"/>
            <a:ext cx="366000" cy="356100"/>
          </a:xfrm>
          <a:prstGeom prst="ellipse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60" name="Google Shape;460;p30"/>
          <p:cNvCxnSpPr>
            <a:stCxn id="457" idx="4"/>
            <a:endCxn id="456" idx="1"/>
          </p:cNvCxnSpPr>
          <p:nvPr/>
        </p:nvCxnSpPr>
        <p:spPr>
          <a:xfrm>
            <a:off x="1681750" y="3726313"/>
            <a:ext cx="361200" cy="562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61" name="Google Shape;461;p30"/>
          <p:cNvCxnSpPr>
            <a:stCxn id="458" idx="4"/>
            <a:endCxn id="456" idx="0"/>
          </p:cNvCxnSpPr>
          <p:nvPr/>
        </p:nvCxnSpPr>
        <p:spPr>
          <a:xfrm>
            <a:off x="2172363" y="3726313"/>
            <a:ext cx="0" cy="510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62" name="Google Shape;462;p30"/>
          <p:cNvCxnSpPr>
            <a:stCxn id="459" idx="4"/>
            <a:endCxn id="456" idx="7"/>
          </p:cNvCxnSpPr>
          <p:nvPr/>
        </p:nvCxnSpPr>
        <p:spPr>
          <a:xfrm flipH="1">
            <a:off x="2301900" y="3726313"/>
            <a:ext cx="382800" cy="562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463" name="Google Shape;463;p30"/>
          <p:cNvSpPr txBox="1"/>
          <p:nvPr/>
        </p:nvSpPr>
        <p:spPr>
          <a:xfrm>
            <a:off x="1114000" y="4670725"/>
            <a:ext cx="11355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Time 1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4" name="Google Shape;464;p30"/>
          <p:cNvSpPr/>
          <p:nvPr/>
        </p:nvSpPr>
        <p:spPr>
          <a:xfrm>
            <a:off x="584825" y="4246488"/>
            <a:ext cx="366000" cy="356100"/>
          </a:xfrm>
          <a:prstGeom prst="ellipse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30"/>
          <p:cNvSpPr/>
          <p:nvPr/>
        </p:nvSpPr>
        <p:spPr>
          <a:xfrm>
            <a:off x="7574113" y="4100438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30"/>
          <p:cNvSpPr/>
          <p:nvPr/>
        </p:nvSpPr>
        <p:spPr>
          <a:xfrm>
            <a:off x="7083488" y="3234038"/>
            <a:ext cx="366000" cy="356100"/>
          </a:xfrm>
          <a:prstGeom prst="ellipse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30"/>
          <p:cNvSpPr/>
          <p:nvPr/>
        </p:nvSpPr>
        <p:spPr>
          <a:xfrm>
            <a:off x="7574100" y="3234038"/>
            <a:ext cx="366000" cy="356100"/>
          </a:xfrm>
          <a:prstGeom prst="ellipse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30"/>
          <p:cNvSpPr/>
          <p:nvPr/>
        </p:nvSpPr>
        <p:spPr>
          <a:xfrm>
            <a:off x="8086438" y="3234038"/>
            <a:ext cx="366000" cy="356100"/>
          </a:xfrm>
          <a:prstGeom prst="ellipse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69" name="Google Shape;469;p30"/>
          <p:cNvCxnSpPr>
            <a:stCxn id="466" idx="4"/>
            <a:endCxn id="465" idx="1"/>
          </p:cNvCxnSpPr>
          <p:nvPr/>
        </p:nvCxnSpPr>
        <p:spPr>
          <a:xfrm>
            <a:off x="7266488" y="3590138"/>
            <a:ext cx="361200" cy="562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70" name="Google Shape;470;p30"/>
          <p:cNvCxnSpPr>
            <a:stCxn id="467" idx="4"/>
            <a:endCxn id="465" idx="0"/>
          </p:cNvCxnSpPr>
          <p:nvPr/>
        </p:nvCxnSpPr>
        <p:spPr>
          <a:xfrm>
            <a:off x="7757100" y="3590138"/>
            <a:ext cx="0" cy="510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71" name="Google Shape;471;p30"/>
          <p:cNvCxnSpPr>
            <a:stCxn id="468" idx="4"/>
            <a:endCxn id="465" idx="7"/>
          </p:cNvCxnSpPr>
          <p:nvPr/>
        </p:nvCxnSpPr>
        <p:spPr>
          <a:xfrm flipH="1">
            <a:off x="7886638" y="3590138"/>
            <a:ext cx="382800" cy="562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472" name="Google Shape;472;p30"/>
          <p:cNvSpPr txBox="1"/>
          <p:nvPr/>
        </p:nvSpPr>
        <p:spPr>
          <a:xfrm>
            <a:off x="6698745" y="4602600"/>
            <a:ext cx="11355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Time 2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73" name="Google Shape;473;p30"/>
          <p:cNvSpPr/>
          <p:nvPr/>
        </p:nvSpPr>
        <p:spPr>
          <a:xfrm>
            <a:off x="6169563" y="4110313"/>
            <a:ext cx="366000" cy="356100"/>
          </a:xfrm>
          <a:prstGeom prst="ellipse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30"/>
          <p:cNvSpPr/>
          <p:nvPr/>
        </p:nvSpPr>
        <p:spPr>
          <a:xfrm>
            <a:off x="3818050" y="3706900"/>
            <a:ext cx="1355100" cy="708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Valenced interactions: Karma theory</a:t>
            </a:r>
            <a:endParaRPr/>
          </a:p>
        </p:txBody>
      </p:sp>
      <p:sp>
        <p:nvSpPr>
          <p:cNvPr id="480" name="Google Shape;480;p31"/>
          <p:cNvSpPr txBox="1"/>
          <p:nvPr>
            <p:ph idx="1" type="body"/>
          </p:nvPr>
        </p:nvSpPr>
        <p:spPr>
          <a:xfrm>
            <a:off x="311700" y="1225225"/>
            <a:ext cx="8697000" cy="21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Karma Theory: </a:t>
            </a:r>
            <a:r>
              <a:rPr lang="en"/>
              <a:t>You get what you spread out!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Status theory is based on (negative and positive) </a:t>
            </a:r>
            <a:r>
              <a:rPr b="1" lang="en"/>
              <a:t>popularity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Graph theoretic </a:t>
            </a:r>
            <a:r>
              <a:rPr i="1" lang="en"/>
              <a:t>indegree</a:t>
            </a:r>
            <a:r>
              <a:rPr lang="en"/>
              <a:t> centrality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Karma theory is based on (negative and positive) </a:t>
            </a:r>
            <a:r>
              <a:rPr b="1" lang="en"/>
              <a:t>activity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Predict valenced indegree (what you get) from valenced outdegree (what you spread)</a:t>
            </a:r>
            <a:endParaRPr b="1"/>
          </a:p>
        </p:txBody>
      </p:sp>
      <p:sp>
        <p:nvSpPr>
          <p:cNvPr id="481" name="Google Shape;481;p31"/>
          <p:cNvSpPr/>
          <p:nvPr/>
        </p:nvSpPr>
        <p:spPr>
          <a:xfrm>
            <a:off x="8027125" y="86350"/>
            <a:ext cx="981600" cy="1179600"/>
          </a:xfrm>
          <a:prstGeom prst="rect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1"/>
          <p:cNvSpPr/>
          <p:nvPr/>
        </p:nvSpPr>
        <p:spPr>
          <a:xfrm>
            <a:off x="8192860" y="472152"/>
            <a:ext cx="191400" cy="1932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31"/>
          <p:cNvSpPr/>
          <p:nvPr/>
        </p:nvSpPr>
        <p:spPr>
          <a:xfrm>
            <a:off x="8192860" y="216793"/>
            <a:ext cx="191400" cy="193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84" name="Google Shape;484;p31"/>
          <p:cNvCxnSpPr/>
          <p:nvPr/>
        </p:nvCxnSpPr>
        <p:spPr>
          <a:xfrm flipH="1" rot="10800000">
            <a:off x="8124842" y="847730"/>
            <a:ext cx="327600" cy="5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5" name="Google Shape;485;p31"/>
          <p:cNvCxnSpPr/>
          <p:nvPr/>
        </p:nvCxnSpPr>
        <p:spPr>
          <a:xfrm flipH="1" rot="10800000">
            <a:off x="8124842" y="1076729"/>
            <a:ext cx="327600" cy="57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86" name="Google Shape;486;p31"/>
          <p:cNvSpPr txBox="1"/>
          <p:nvPr/>
        </p:nvSpPr>
        <p:spPr>
          <a:xfrm>
            <a:off x="8384249" y="151200"/>
            <a:ext cx="676500" cy="1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Ego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Other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Neg.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Pos.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87" name="Google Shape;487;p31"/>
          <p:cNvSpPr/>
          <p:nvPr/>
        </p:nvSpPr>
        <p:spPr>
          <a:xfrm>
            <a:off x="1989375" y="4236613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31"/>
          <p:cNvSpPr/>
          <p:nvPr/>
        </p:nvSpPr>
        <p:spPr>
          <a:xfrm>
            <a:off x="1498750" y="3370213"/>
            <a:ext cx="366000" cy="356100"/>
          </a:xfrm>
          <a:prstGeom prst="ellipse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31"/>
          <p:cNvSpPr/>
          <p:nvPr/>
        </p:nvSpPr>
        <p:spPr>
          <a:xfrm>
            <a:off x="1989363" y="3370213"/>
            <a:ext cx="366000" cy="356100"/>
          </a:xfrm>
          <a:prstGeom prst="ellipse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31"/>
          <p:cNvSpPr/>
          <p:nvPr/>
        </p:nvSpPr>
        <p:spPr>
          <a:xfrm>
            <a:off x="2501700" y="3370213"/>
            <a:ext cx="366000" cy="356100"/>
          </a:xfrm>
          <a:prstGeom prst="ellipse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91" name="Google Shape;491;p31"/>
          <p:cNvCxnSpPr>
            <a:stCxn id="488" idx="4"/>
            <a:endCxn id="487" idx="1"/>
          </p:cNvCxnSpPr>
          <p:nvPr/>
        </p:nvCxnSpPr>
        <p:spPr>
          <a:xfrm>
            <a:off x="1681750" y="3726313"/>
            <a:ext cx="361200" cy="562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92" name="Google Shape;492;p31"/>
          <p:cNvCxnSpPr>
            <a:stCxn id="489" idx="4"/>
            <a:endCxn id="487" idx="0"/>
          </p:cNvCxnSpPr>
          <p:nvPr/>
        </p:nvCxnSpPr>
        <p:spPr>
          <a:xfrm>
            <a:off x="2172363" y="3726313"/>
            <a:ext cx="0" cy="510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93" name="Google Shape;493;p31"/>
          <p:cNvCxnSpPr>
            <a:stCxn id="490" idx="4"/>
            <a:endCxn id="487" idx="7"/>
          </p:cNvCxnSpPr>
          <p:nvPr/>
        </p:nvCxnSpPr>
        <p:spPr>
          <a:xfrm flipH="1">
            <a:off x="2301900" y="3726313"/>
            <a:ext cx="382800" cy="562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494" name="Google Shape;494;p31"/>
          <p:cNvSpPr txBox="1"/>
          <p:nvPr/>
        </p:nvSpPr>
        <p:spPr>
          <a:xfrm>
            <a:off x="1114000" y="4670725"/>
            <a:ext cx="11355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Time 1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5" name="Google Shape;495;p31"/>
          <p:cNvSpPr/>
          <p:nvPr/>
        </p:nvSpPr>
        <p:spPr>
          <a:xfrm>
            <a:off x="584825" y="4246488"/>
            <a:ext cx="366000" cy="356100"/>
          </a:xfrm>
          <a:prstGeom prst="ellipse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31"/>
          <p:cNvSpPr/>
          <p:nvPr/>
        </p:nvSpPr>
        <p:spPr>
          <a:xfrm>
            <a:off x="7574113" y="4100438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31"/>
          <p:cNvSpPr/>
          <p:nvPr/>
        </p:nvSpPr>
        <p:spPr>
          <a:xfrm>
            <a:off x="7083488" y="3234038"/>
            <a:ext cx="366000" cy="356100"/>
          </a:xfrm>
          <a:prstGeom prst="ellipse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31"/>
          <p:cNvSpPr/>
          <p:nvPr/>
        </p:nvSpPr>
        <p:spPr>
          <a:xfrm>
            <a:off x="7574100" y="3234038"/>
            <a:ext cx="366000" cy="356100"/>
          </a:xfrm>
          <a:prstGeom prst="ellipse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31"/>
          <p:cNvSpPr/>
          <p:nvPr/>
        </p:nvSpPr>
        <p:spPr>
          <a:xfrm>
            <a:off x="8086438" y="3234038"/>
            <a:ext cx="366000" cy="356100"/>
          </a:xfrm>
          <a:prstGeom prst="ellipse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0" name="Google Shape;500;p31"/>
          <p:cNvCxnSpPr>
            <a:stCxn id="497" idx="4"/>
            <a:endCxn id="496" idx="1"/>
          </p:cNvCxnSpPr>
          <p:nvPr/>
        </p:nvCxnSpPr>
        <p:spPr>
          <a:xfrm>
            <a:off x="7266488" y="3590138"/>
            <a:ext cx="361200" cy="562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01" name="Google Shape;501;p31"/>
          <p:cNvCxnSpPr>
            <a:stCxn id="498" idx="4"/>
            <a:endCxn id="496" idx="0"/>
          </p:cNvCxnSpPr>
          <p:nvPr/>
        </p:nvCxnSpPr>
        <p:spPr>
          <a:xfrm>
            <a:off x="7757100" y="3590138"/>
            <a:ext cx="0" cy="510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02" name="Google Shape;502;p31"/>
          <p:cNvCxnSpPr>
            <a:stCxn id="499" idx="4"/>
            <a:endCxn id="496" idx="7"/>
          </p:cNvCxnSpPr>
          <p:nvPr/>
        </p:nvCxnSpPr>
        <p:spPr>
          <a:xfrm flipH="1">
            <a:off x="7886638" y="3590138"/>
            <a:ext cx="382800" cy="562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503" name="Google Shape;503;p31"/>
          <p:cNvSpPr txBox="1"/>
          <p:nvPr/>
        </p:nvSpPr>
        <p:spPr>
          <a:xfrm>
            <a:off x="6698745" y="4602600"/>
            <a:ext cx="11355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Time 2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04" name="Google Shape;504;p31"/>
          <p:cNvSpPr/>
          <p:nvPr/>
        </p:nvSpPr>
        <p:spPr>
          <a:xfrm>
            <a:off x="6169563" y="4110313"/>
            <a:ext cx="366000" cy="356100"/>
          </a:xfrm>
          <a:prstGeom prst="ellipse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31"/>
          <p:cNvSpPr/>
          <p:nvPr/>
        </p:nvSpPr>
        <p:spPr>
          <a:xfrm>
            <a:off x="3818050" y="3706900"/>
            <a:ext cx="1355100" cy="708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6" name="Google Shape;506;p31"/>
          <p:cNvCxnSpPr>
            <a:stCxn id="496" idx="2"/>
            <a:endCxn id="504" idx="6"/>
          </p:cNvCxnSpPr>
          <p:nvPr/>
        </p:nvCxnSpPr>
        <p:spPr>
          <a:xfrm flipH="1">
            <a:off x="6535513" y="4278488"/>
            <a:ext cx="1038600" cy="9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507" name="Google Shape;507;p31"/>
          <p:cNvSpPr txBox="1"/>
          <p:nvPr/>
        </p:nvSpPr>
        <p:spPr>
          <a:xfrm>
            <a:off x="2937725" y="4510450"/>
            <a:ext cx="29082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Bullies get bullied!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Valenced interactions: Karma theory</a:t>
            </a:r>
            <a:endParaRPr/>
          </a:p>
        </p:txBody>
      </p:sp>
      <p:sp>
        <p:nvSpPr>
          <p:cNvPr id="513" name="Google Shape;513;p32"/>
          <p:cNvSpPr txBox="1"/>
          <p:nvPr>
            <p:ph idx="1" type="body"/>
          </p:nvPr>
        </p:nvSpPr>
        <p:spPr>
          <a:xfrm>
            <a:off x="311700" y="1225225"/>
            <a:ext cx="8697000" cy="21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Karma Theory: </a:t>
            </a:r>
            <a:r>
              <a:rPr lang="en"/>
              <a:t>You get what you spread out!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Status theory is based on (negative and positive) </a:t>
            </a:r>
            <a:r>
              <a:rPr b="1" lang="en"/>
              <a:t>popularity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Graph theoretic </a:t>
            </a:r>
            <a:r>
              <a:rPr i="1" lang="en"/>
              <a:t>indegree</a:t>
            </a:r>
            <a:r>
              <a:rPr lang="en"/>
              <a:t> centrality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Karma theory is based on (negative and positive) </a:t>
            </a:r>
            <a:r>
              <a:rPr b="1" lang="en"/>
              <a:t>activity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Predict valenced indegree (what you get) from valenced outdegree (what you spread)</a:t>
            </a:r>
            <a:endParaRPr b="1"/>
          </a:p>
        </p:txBody>
      </p:sp>
      <p:sp>
        <p:nvSpPr>
          <p:cNvPr id="514" name="Google Shape;514;p32"/>
          <p:cNvSpPr/>
          <p:nvPr/>
        </p:nvSpPr>
        <p:spPr>
          <a:xfrm>
            <a:off x="8027125" y="86350"/>
            <a:ext cx="981600" cy="1179600"/>
          </a:xfrm>
          <a:prstGeom prst="rect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32"/>
          <p:cNvSpPr/>
          <p:nvPr/>
        </p:nvSpPr>
        <p:spPr>
          <a:xfrm>
            <a:off x="8192860" y="472152"/>
            <a:ext cx="191400" cy="1932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32"/>
          <p:cNvSpPr/>
          <p:nvPr/>
        </p:nvSpPr>
        <p:spPr>
          <a:xfrm>
            <a:off x="8192860" y="216793"/>
            <a:ext cx="191400" cy="193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17" name="Google Shape;517;p32"/>
          <p:cNvCxnSpPr/>
          <p:nvPr/>
        </p:nvCxnSpPr>
        <p:spPr>
          <a:xfrm flipH="1" rot="10800000">
            <a:off x="8124842" y="847730"/>
            <a:ext cx="327600" cy="5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8" name="Google Shape;518;p32"/>
          <p:cNvCxnSpPr/>
          <p:nvPr/>
        </p:nvCxnSpPr>
        <p:spPr>
          <a:xfrm flipH="1" rot="10800000">
            <a:off x="8124842" y="1076729"/>
            <a:ext cx="327600" cy="57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19" name="Google Shape;519;p32"/>
          <p:cNvSpPr txBox="1"/>
          <p:nvPr/>
        </p:nvSpPr>
        <p:spPr>
          <a:xfrm>
            <a:off x="8384249" y="151200"/>
            <a:ext cx="676500" cy="1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Ego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Other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Neg.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Pos.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20" name="Google Shape;520;p32"/>
          <p:cNvSpPr/>
          <p:nvPr/>
        </p:nvSpPr>
        <p:spPr>
          <a:xfrm>
            <a:off x="1989375" y="4236613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32"/>
          <p:cNvSpPr/>
          <p:nvPr/>
        </p:nvSpPr>
        <p:spPr>
          <a:xfrm>
            <a:off x="1498750" y="3370213"/>
            <a:ext cx="366000" cy="356100"/>
          </a:xfrm>
          <a:prstGeom prst="ellipse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32"/>
          <p:cNvSpPr/>
          <p:nvPr/>
        </p:nvSpPr>
        <p:spPr>
          <a:xfrm>
            <a:off x="1989363" y="3370213"/>
            <a:ext cx="366000" cy="356100"/>
          </a:xfrm>
          <a:prstGeom prst="ellipse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32"/>
          <p:cNvSpPr/>
          <p:nvPr/>
        </p:nvSpPr>
        <p:spPr>
          <a:xfrm>
            <a:off x="2501700" y="3370213"/>
            <a:ext cx="366000" cy="356100"/>
          </a:xfrm>
          <a:prstGeom prst="ellipse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24" name="Google Shape;524;p32"/>
          <p:cNvCxnSpPr>
            <a:stCxn id="521" idx="4"/>
            <a:endCxn id="520" idx="1"/>
          </p:cNvCxnSpPr>
          <p:nvPr/>
        </p:nvCxnSpPr>
        <p:spPr>
          <a:xfrm>
            <a:off x="1681750" y="3726313"/>
            <a:ext cx="361200" cy="562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25" name="Google Shape;525;p32"/>
          <p:cNvCxnSpPr>
            <a:stCxn id="522" idx="4"/>
            <a:endCxn id="520" idx="0"/>
          </p:cNvCxnSpPr>
          <p:nvPr/>
        </p:nvCxnSpPr>
        <p:spPr>
          <a:xfrm>
            <a:off x="2172363" y="3726313"/>
            <a:ext cx="0" cy="5103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26" name="Google Shape;526;p32"/>
          <p:cNvCxnSpPr>
            <a:stCxn id="523" idx="4"/>
            <a:endCxn id="520" idx="7"/>
          </p:cNvCxnSpPr>
          <p:nvPr/>
        </p:nvCxnSpPr>
        <p:spPr>
          <a:xfrm flipH="1">
            <a:off x="2301900" y="3726313"/>
            <a:ext cx="382800" cy="562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527" name="Google Shape;527;p32"/>
          <p:cNvSpPr txBox="1"/>
          <p:nvPr/>
        </p:nvSpPr>
        <p:spPr>
          <a:xfrm>
            <a:off x="1114000" y="4670725"/>
            <a:ext cx="11355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Time 1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8" name="Google Shape;528;p32"/>
          <p:cNvSpPr/>
          <p:nvPr/>
        </p:nvSpPr>
        <p:spPr>
          <a:xfrm>
            <a:off x="584825" y="4246488"/>
            <a:ext cx="366000" cy="356100"/>
          </a:xfrm>
          <a:prstGeom prst="ellipse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32"/>
          <p:cNvSpPr/>
          <p:nvPr/>
        </p:nvSpPr>
        <p:spPr>
          <a:xfrm>
            <a:off x="7574113" y="4100438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32"/>
          <p:cNvSpPr/>
          <p:nvPr/>
        </p:nvSpPr>
        <p:spPr>
          <a:xfrm>
            <a:off x="7083488" y="3234038"/>
            <a:ext cx="366000" cy="356100"/>
          </a:xfrm>
          <a:prstGeom prst="ellipse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32"/>
          <p:cNvSpPr/>
          <p:nvPr/>
        </p:nvSpPr>
        <p:spPr>
          <a:xfrm>
            <a:off x="7574100" y="3234038"/>
            <a:ext cx="366000" cy="356100"/>
          </a:xfrm>
          <a:prstGeom prst="ellipse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32"/>
          <p:cNvSpPr/>
          <p:nvPr/>
        </p:nvSpPr>
        <p:spPr>
          <a:xfrm>
            <a:off x="8086438" y="3234038"/>
            <a:ext cx="366000" cy="356100"/>
          </a:xfrm>
          <a:prstGeom prst="ellipse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33" name="Google Shape;533;p32"/>
          <p:cNvCxnSpPr>
            <a:stCxn id="530" idx="4"/>
            <a:endCxn id="529" idx="1"/>
          </p:cNvCxnSpPr>
          <p:nvPr/>
        </p:nvCxnSpPr>
        <p:spPr>
          <a:xfrm>
            <a:off x="7266488" y="3590138"/>
            <a:ext cx="361200" cy="562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34" name="Google Shape;534;p32"/>
          <p:cNvCxnSpPr>
            <a:stCxn id="531" idx="4"/>
            <a:endCxn id="529" idx="0"/>
          </p:cNvCxnSpPr>
          <p:nvPr/>
        </p:nvCxnSpPr>
        <p:spPr>
          <a:xfrm>
            <a:off x="7757100" y="3590138"/>
            <a:ext cx="0" cy="5103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35" name="Google Shape;535;p32"/>
          <p:cNvCxnSpPr>
            <a:stCxn id="532" idx="4"/>
            <a:endCxn id="529" idx="7"/>
          </p:cNvCxnSpPr>
          <p:nvPr/>
        </p:nvCxnSpPr>
        <p:spPr>
          <a:xfrm flipH="1">
            <a:off x="7886638" y="3590138"/>
            <a:ext cx="382800" cy="562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536" name="Google Shape;536;p32"/>
          <p:cNvSpPr txBox="1"/>
          <p:nvPr/>
        </p:nvSpPr>
        <p:spPr>
          <a:xfrm>
            <a:off x="6698745" y="4602600"/>
            <a:ext cx="11355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Time 2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37" name="Google Shape;537;p32"/>
          <p:cNvSpPr/>
          <p:nvPr/>
        </p:nvSpPr>
        <p:spPr>
          <a:xfrm>
            <a:off x="6169563" y="4110313"/>
            <a:ext cx="366000" cy="356100"/>
          </a:xfrm>
          <a:prstGeom prst="ellipse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32"/>
          <p:cNvSpPr/>
          <p:nvPr/>
        </p:nvSpPr>
        <p:spPr>
          <a:xfrm>
            <a:off x="3818050" y="3706900"/>
            <a:ext cx="1355100" cy="708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39" name="Google Shape;539;p32"/>
          <p:cNvCxnSpPr>
            <a:stCxn id="529" idx="2"/>
            <a:endCxn id="537" idx="6"/>
          </p:cNvCxnSpPr>
          <p:nvPr/>
        </p:nvCxnSpPr>
        <p:spPr>
          <a:xfrm flipH="1">
            <a:off x="6535513" y="4278488"/>
            <a:ext cx="1038600" cy="99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540" name="Google Shape;540;p32"/>
          <p:cNvSpPr txBox="1"/>
          <p:nvPr/>
        </p:nvSpPr>
        <p:spPr>
          <a:xfrm>
            <a:off x="2937725" y="4510450"/>
            <a:ext cx="29082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AA84F"/>
                </a:solidFill>
                <a:latin typeface="Open Sans"/>
                <a:ea typeface="Open Sans"/>
                <a:cs typeface="Open Sans"/>
                <a:sym typeface="Open Sans"/>
              </a:rPr>
              <a:t>Likers get liked!</a:t>
            </a:r>
            <a:endParaRPr b="1">
              <a:solidFill>
                <a:srgbClr val="6AA84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3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Solidarity </a:t>
            </a:r>
            <a:r>
              <a:rPr lang="en"/>
              <a:t>Theory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Valenced interactions: Solidarity theory</a:t>
            </a:r>
            <a:endParaRPr/>
          </a:p>
        </p:txBody>
      </p:sp>
      <p:sp>
        <p:nvSpPr>
          <p:cNvPr id="551" name="Google Shape;551;p34"/>
          <p:cNvSpPr txBox="1"/>
          <p:nvPr>
            <p:ph idx="1" type="body"/>
          </p:nvPr>
        </p:nvSpPr>
        <p:spPr>
          <a:xfrm>
            <a:off x="311700" y="1225225"/>
            <a:ext cx="8697000" cy="17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Solidarity Theory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People in the same</a:t>
            </a:r>
            <a:r>
              <a:rPr b="1" lang="en"/>
              <a:t> position in the valenced interaction network</a:t>
            </a:r>
            <a:r>
              <a:rPr lang="en"/>
              <a:t> link via positive 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Two types of solidarity: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Status solidarity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Karma solidarity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34"/>
          <p:cNvSpPr/>
          <p:nvPr/>
        </p:nvSpPr>
        <p:spPr>
          <a:xfrm>
            <a:off x="8027125" y="86350"/>
            <a:ext cx="981600" cy="1179600"/>
          </a:xfrm>
          <a:prstGeom prst="rect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34"/>
          <p:cNvSpPr/>
          <p:nvPr/>
        </p:nvSpPr>
        <p:spPr>
          <a:xfrm>
            <a:off x="8192860" y="472152"/>
            <a:ext cx="191400" cy="1932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34"/>
          <p:cNvSpPr/>
          <p:nvPr/>
        </p:nvSpPr>
        <p:spPr>
          <a:xfrm>
            <a:off x="8192860" y="216793"/>
            <a:ext cx="191400" cy="193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55" name="Google Shape;555;p34"/>
          <p:cNvCxnSpPr/>
          <p:nvPr/>
        </p:nvCxnSpPr>
        <p:spPr>
          <a:xfrm flipH="1" rot="10800000">
            <a:off x="8124842" y="847730"/>
            <a:ext cx="327600" cy="5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6" name="Google Shape;556;p34"/>
          <p:cNvCxnSpPr/>
          <p:nvPr/>
        </p:nvCxnSpPr>
        <p:spPr>
          <a:xfrm flipH="1" rot="10800000">
            <a:off x="8124842" y="1076729"/>
            <a:ext cx="327600" cy="57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57" name="Google Shape;557;p34"/>
          <p:cNvSpPr txBox="1"/>
          <p:nvPr/>
        </p:nvSpPr>
        <p:spPr>
          <a:xfrm>
            <a:off x="8384249" y="151200"/>
            <a:ext cx="676500" cy="1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Ego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Other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Neg.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Pos.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58" name="Google Shape;558;p34"/>
          <p:cNvSpPr txBox="1"/>
          <p:nvPr/>
        </p:nvSpPr>
        <p:spPr>
          <a:xfrm>
            <a:off x="1114000" y="4670725"/>
            <a:ext cx="11355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Time 1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9" name="Google Shape;559;p34"/>
          <p:cNvSpPr txBox="1"/>
          <p:nvPr/>
        </p:nvSpPr>
        <p:spPr>
          <a:xfrm>
            <a:off x="6698745" y="4602600"/>
            <a:ext cx="11355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Time 2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0" name="Google Shape;560;p34"/>
          <p:cNvSpPr/>
          <p:nvPr/>
        </p:nvSpPr>
        <p:spPr>
          <a:xfrm>
            <a:off x="3818050" y="3706900"/>
            <a:ext cx="1355100" cy="708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34"/>
          <p:cNvSpPr/>
          <p:nvPr/>
        </p:nvSpPr>
        <p:spPr>
          <a:xfrm>
            <a:off x="1034750" y="4204225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34"/>
          <p:cNvSpPr/>
          <p:nvPr/>
        </p:nvSpPr>
        <p:spPr>
          <a:xfrm>
            <a:off x="544125" y="3337825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34"/>
          <p:cNvSpPr/>
          <p:nvPr/>
        </p:nvSpPr>
        <p:spPr>
          <a:xfrm>
            <a:off x="1034738" y="3337825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34"/>
          <p:cNvSpPr/>
          <p:nvPr/>
        </p:nvSpPr>
        <p:spPr>
          <a:xfrm>
            <a:off x="1547075" y="3337825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65" name="Google Shape;565;p34"/>
          <p:cNvCxnSpPr>
            <a:stCxn id="562" idx="4"/>
            <a:endCxn id="561" idx="1"/>
          </p:cNvCxnSpPr>
          <p:nvPr/>
        </p:nvCxnSpPr>
        <p:spPr>
          <a:xfrm>
            <a:off x="727125" y="3693925"/>
            <a:ext cx="361200" cy="562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6" name="Google Shape;566;p34"/>
          <p:cNvCxnSpPr>
            <a:stCxn id="563" idx="4"/>
            <a:endCxn id="561" idx="0"/>
          </p:cNvCxnSpPr>
          <p:nvPr/>
        </p:nvCxnSpPr>
        <p:spPr>
          <a:xfrm>
            <a:off x="1217738" y="3693925"/>
            <a:ext cx="0" cy="5103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7" name="Google Shape;567;p34"/>
          <p:cNvCxnSpPr>
            <a:stCxn id="564" idx="4"/>
            <a:endCxn id="561" idx="7"/>
          </p:cNvCxnSpPr>
          <p:nvPr/>
        </p:nvCxnSpPr>
        <p:spPr>
          <a:xfrm flipH="1">
            <a:off x="1347275" y="3693925"/>
            <a:ext cx="382800" cy="562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68" name="Google Shape;568;p34"/>
          <p:cNvSpPr/>
          <p:nvPr/>
        </p:nvSpPr>
        <p:spPr>
          <a:xfrm>
            <a:off x="2059400" y="4204225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34"/>
          <p:cNvSpPr/>
          <p:nvPr/>
        </p:nvSpPr>
        <p:spPr>
          <a:xfrm>
            <a:off x="2059400" y="3337825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34"/>
          <p:cNvSpPr/>
          <p:nvPr/>
        </p:nvSpPr>
        <p:spPr>
          <a:xfrm>
            <a:off x="2571725" y="3337825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71" name="Google Shape;571;p34"/>
          <p:cNvCxnSpPr>
            <a:stCxn id="564" idx="4"/>
            <a:endCxn id="568" idx="1"/>
          </p:cNvCxnSpPr>
          <p:nvPr/>
        </p:nvCxnSpPr>
        <p:spPr>
          <a:xfrm>
            <a:off x="1730075" y="3693925"/>
            <a:ext cx="382800" cy="562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2" name="Google Shape;572;p34"/>
          <p:cNvCxnSpPr>
            <a:stCxn id="563" idx="4"/>
            <a:endCxn id="568" idx="1"/>
          </p:cNvCxnSpPr>
          <p:nvPr/>
        </p:nvCxnSpPr>
        <p:spPr>
          <a:xfrm>
            <a:off x="1217738" y="3693925"/>
            <a:ext cx="895200" cy="562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3" name="Google Shape;573;p34"/>
          <p:cNvCxnSpPr>
            <a:stCxn id="569" idx="4"/>
            <a:endCxn id="561" idx="7"/>
          </p:cNvCxnSpPr>
          <p:nvPr/>
        </p:nvCxnSpPr>
        <p:spPr>
          <a:xfrm flipH="1">
            <a:off x="1347200" y="3693925"/>
            <a:ext cx="895200" cy="562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4" name="Google Shape;574;p34"/>
          <p:cNvCxnSpPr>
            <a:stCxn id="570" idx="4"/>
            <a:endCxn id="568" idx="0"/>
          </p:cNvCxnSpPr>
          <p:nvPr/>
        </p:nvCxnSpPr>
        <p:spPr>
          <a:xfrm flipH="1">
            <a:off x="2242325" y="3693925"/>
            <a:ext cx="512400" cy="5103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5" name="Google Shape;575;p34"/>
          <p:cNvCxnSpPr>
            <a:stCxn id="569" idx="4"/>
            <a:endCxn id="568" idx="0"/>
          </p:cNvCxnSpPr>
          <p:nvPr/>
        </p:nvCxnSpPr>
        <p:spPr>
          <a:xfrm>
            <a:off x="2242400" y="3693925"/>
            <a:ext cx="0" cy="5103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6" name="Google Shape;576;p34"/>
          <p:cNvCxnSpPr>
            <a:stCxn id="562" idx="5"/>
            <a:endCxn id="568" idx="1"/>
          </p:cNvCxnSpPr>
          <p:nvPr/>
        </p:nvCxnSpPr>
        <p:spPr>
          <a:xfrm>
            <a:off x="856526" y="3641775"/>
            <a:ext cx="1256400" cy="6147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7" name="Google Shape;577;p34"/>
          <p:cNvCxnSpPr>
            <a:stCxn id="570" idx="3"/>
            <a:endCxn id="561" idx="7"/>
          </p:cNvCxnSpPr>
          <p:nvPr/>
        </p:nvCxnSpPr>
        <p:spPr>
          <a:xfrm flipH="1">
            <a:off x="1347024" y="3641775"/>
            <a:ext cx="1278300" cy="6147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8" name="Google Shape;578;p34"/>
          <p:cNvSpPr/>
          <p:nvPr/>
        </p:nvSpPr>
        <p:spPr>
          <a:xfrm>
            <a:off x="6727100" y="4230325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34"/>
          <p:cNvSpPr/>
          <p:nvPr/>
        </p:nvSpPr>
        <p:spPr>
          <a:xfrm>
            <a:off x="6236475" y="3363925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34"/>
          <p:cNvSpPr/>
          <p:nvPr/>
        </p:nvSpPr>
        <p:spPr>
          <a:xfrm>
            <a:off x="6727088" y="3363925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34"/>
          <p:cNvSpPr/>
          <p:nvPr/>
        </p:nvSpPr>
        <p:spPr>
          <a:xfrm>
            <a:off x="7239425" y="3363925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82" name="Google Shape;582;p34"/>
          <p:cNvCxnSpPr>
            <a:stCxn id="579" idx="4"/>
            <a:endCxn id="578" idx="1"/>
          </p:cNvCxnSpPr>
          <p:nvPr/>
        </p:nvCxnSpPr>
        <p:spPr>
          <a:xfrm>
            <a:off x="6419475" y="3720025"/>
            <a:ext cx="361200" cy="562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3" name="Google Shape;583;p34"/>
          <p:cNvCxnSpPr>
            <a:stCxn id="580" idx="4"/>
            <a:endCxn id="578" idx="0"/>
          </p:cNvCxnSpPr>
          <p:nvPr/>
        </p:nvCxnSpPr>
        <p:spPr>
          <a:xfrm>
            <a:off x="6910088" y="3720025"/>
            <a:ext cx="0" cy="5103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4" name="Google Shape;584;p34"/>
          <p:cNvCxnSpPr>
            <a:stCxn id="581" idx="4"/>
            <a:endCxn id="578" idx="7"/>
          </p:cNvCxnSpPr>
          <p:nvPr/>
        </p:nvCxnSpPr>
        <p:spPr>
          <a:xfrm flipH="1">
            <a:off x="7039625" y="3720025"/>
            <a:ext cx="382800" cy="562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85" name="Google Shape;585;p34"/>
          <p:cNvSpPr/>
          <p:nvPr/>
        </p:nvSpPr>
        <p:spPr>
          <a:xfrm>
            <a:off x="7751750" y="4230325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34"/>
          <p:cNvSpPr/>
          <p:nvPr/>
        </p:nvSpPr>
        <p:spPr>
          <a:xfrm>
            <a:off x="7751750" y="3363925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34"/>
          <p:cNvSpPr/>
          <p:nvPr/>
        </p:nvSpPr>
        <p:spPr>
          <a:xfrm>
            <a:off x="8264075" y="3363925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88" name="Google Shape;588;p34"/>
          <p:cNvCxnSpPr>
            <a:stCxn id="581" idx="4"/>
            <a:endCxn id="585" idx="1"/>
          </p:cNvCxnSpPr>
          <p:nvPr/>
        </p:nvCxnSpPr>
        <p:spPr>
          <a:xfrm>
            <a:off x="7422425" y="3720025"/>
            <a:ext cx="382800" cy="562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9" name="Google Shape;589;p34"/>
          <p:cNvCxnSpPr>
            <a:stCxn id="580" idx="4"/>
            <a:endCxn id="585" idx="1"/>
          </p:cNvCxnSpPr>
          <p:nvPr/>
        </p:nvCxnSpPr>
        <p:spPr>
          <a:xfrm>
            <a:off x="6910088" y="3720025"/>
            <a:ext cx="895200" cy="562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0" name="Google Shape;590;p34"/>
          <p:cNvCxnSpPr>
            <a:stCxn id="586" idx="4"/>
            <a:endCxn id="578" idx="7"/>
          </p:cNvCxnSpPr>
          <p:nvPr/>
        </p:nvCxnSpPr>
        <p:spPr>
          <a:xfrm flipH="1">
            <a:off x="7039550" y="3720025"/>
            <a:ext cx="895200" cy="562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1" name="Google Shape;591;p34"/>
          <p:cNvCxnSpPr>
            <a:stCxn id="587" idx="4"/>
            <a:endCxn id="585" idx="0"/>
          </p:cNvCxnSpPr>
          <p:nvPr/>
        </p:nvCxnSpPr>
        <p:spPr>
          <a:xfrm flipH="1">
            <a:off x="7934675" y="3720025"/>
            <a:ext cx="512400" cy="5103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2" name="Google Shape;592;p34"/>
          <p:cNvCxnSpPr>
            <a:stCxn id="586" idx="4"/>
            <a:endCxn id="585" idx="0"/>
          </p:cNvCxnSpPr>
          <p:nvPr/>
        </p:nvCxnSpPr>
        <p:spPr>
          <a:xfrm>
            <a:off x="7934750" y="3720025"/>
            <a:ext cx="0" cy="5103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3" name="Google Shape;593;p34"/>
          <p:cNvCxnSpPr>
            <a:stCxn id="579" idx="5"/>
            <a:endCxn id="585" idx="1"/>
          </p:cNvCxnSpPr>
          <p:nvPr/>
        </p:nvCxnSpPr>
        <p:spPr>
          <a:xfrm>
            <a:off x="6548876" y="3667875"/>
            <a:ext cx="1256400" cy="6147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4" name="Google Shape;594;p34"/>
          <p:cNvCxnSpPr>
            <a:stCxn id="587" idx="3"/>
            <a:endCxn id="578" idx="7"/>
          </p:cNvCxnSpPr>
          <p:nvPr/>
        </p:nvCxnSpPr>
        <p:spPr>
          <a:xfrm flipH="1">
            <a:off x="7039374" y="3667875"/>
            <a:ext cx="1278300" cy="6147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Valenced interactions: Solidarity theory</a:t>
            </a:r>
            <a:endParaRPr/>
          </a:p>
        </p:txBody>
      </p:sp>
      <p:sp>
        <p:nvSpPr>
          <p:cNvPr id="600" name="Google Shape;600;p35"/>
          <p:cNvSpPr txBox="1"/>
          <p:nvPr>
            <p:ph idx="1" type="body"/>
          </p:nvPr>
        </p:nvSpPr>
        <p:spPr>
          <a:xfrm>
            <a:off x="311700" y="1225225"/>
            <a:ext cx="8697000" cy="17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Solidarity Theory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People in the same </a:t>
            </a:r>
            <a:r>
              <a:rPr b="1" lang="en"/>
              <a:t>position in the valenced interaction network</a:t>
            </a:r>
            <a:r>
              <a:rPr lang="en"/>
              <a:t> link via positive 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Two types of solidarity: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Status solidarity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Karma solidarity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35"/>
          <p:cNvSpPr/>
          <p:nvPr/>
        </p:nvSpPr>
        <p:spPr>
          <a:xfrm>
            <a:off x="8027125" y="86350"/>
            <a:ext cx="981600" cy="1179600"/>
          </a:xfrm>
          <a:prstGeom prst="rect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35"/>
          <p:cNvSpPr/>
          <p:nvPr/>
        </p:nvSpPr>
        <p:spPr>
          <a:xfrm>
            <a:off x="8192860" y="472152"/>
            <a:ext cx="191400" cy="1932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35"/>
          <p:cNvSpPr/>
          <p:nvPr/>
        </p:nvSpPr>
        <p:spPr>
          <a:xfrm>
            <a:off x="8192860" y="216793"/>
            <a:ext cx="191400" cy="193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04" name="Google Shape;604;p35"/>
          <p:cNvCxnSpPr/>
          <p:nvPr/>
        </p:nvCxnSpPr>
        <p:spPr>
          <a:xfrm flipH="1" rot="10800000">
            <a:off x="8124842" y="847730"/>
            <a:ext cx="327600" cy="5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5" name="Google Shape;605;p35"/>
          <p:cNvCxnSpPr/>
          <p:nvPr/>
        </p:nvCxnSpPr>
        <p:spPr>
          <a:xfrm flipH="1" rot="10800000">
            <a:off x="8124842" y="1076729"/>
            <a:ext cx="327600" cy="57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06" name="Google Shape;606;p35"/>
          <p:cNvSpPr txBox="1"/>
          <p:nvPr/>
        </p:nvSpPr>
        <p:spPr>
          <a:xfrm>
            <a:off x="8384249" y="151200"/>
            <a:ext cx="676500" cy="1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Ego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Other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Neg.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Pos.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07" name="Google Shape;607;p35"/>
          <p:cNvSpPr txBox="1"/>
          <p:nvPr/>
        </p:nvSpPr>
        <p:spPr>
          <a:xfrm>
            <a:off x="1114000" y="4670725"/>
            <a:ext cx="11355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Time 1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08" name="Google Shape;608;p35"/>
          <p:cNvSpPr txBox="1"/>
          <p:nvPr/>
        </p:nvSpPr>
        <p:spPr>
          <a:xfrm>
            <a:off x="6698745" y="4602600"/>
            <a:ext cx="11355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Time 2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09" name="Google Shape;609;p35"/>
          <p:cNvSpPr/>
          <p:nvPr/>
        </p:nvSpPr>
        <p:spPr>
          <a:xfrm>
            <a:off x="3818050" y="3706900"/>
            <a:ext cx="1355100" cy="708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35"/>
          <p:cNvSpPr/>
          <p:nvPr/>
        </p:nvSpPr>
        <p:spPr>
          <a:xfrm>
            <a:off x="1034750" y="4204225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35"/>
          <p:cNvSpPr/>
          <p:nvPr/>
        </p:nvSpPr>
        <p:spPr>
          <a:xfrm>
            <a:off x="544125" y="3337825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35"/>
          <p:cNvSpPr/>
          <p:nvPr/>
        </p:nvSpPr>
        <p:spPr>
          <a:xfrm>
            <a:off x="1034738" y="3337825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35"/>
          <p:cNvSpPr/>
          <p:nvPr/>
        </p:nvSpPr>
        <p:spPr>
          <a:xfrm>
            <a:off x="1547075" y="3337825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4" name="Google Shape;614;p35"/>
          <p:cNvCxnSpPr>
            <a:stCxn id="611" idx="4"/>
            <a:endCxn id="610" idx="1"/>
          </p:cNvCxnSpPr>
          <p:nvPr/>
        </p:nvCxnSpPr>
        <p:spPr>
          <a:xfrm>
            <a:off x="727125" y="3693925"/>
            <a:ext cx="361200" cy="562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5" name="Google Shape;615;p35"/>
          <p:cNvCxnSpPr>
            <a:stCxn id="612" idx="4"/>
            <a:endCxn id="610" idx="0"/>
          </p:cNvCxnSpPr>
          <p:nvPr/>
        </p:nvCxnSpPr>
        <p:spPr>
          <a:xfrm>
            <a:off x="1217738" y="3693925"/>
            <a:ext cx="0" cy="5103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6" name="Google Shape;616;p35"/>
          <p:cNvCxnSpPr>
            <a:stCxn id="613" idx="4"/>
            <a:endCxn id="610" idx="7"/>
          </p:cNvCxnSpPr>
          <p:nvPr/>
        </p:nvCxnSpPr>
        <p:spPr>
          <a:xfrm flipH="1">
            <a:off x="1347275" y="3693925"/>
            <a:ext cx="382800" cy="562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17" name="Google Shape;617;p35"/>
          <p:cNvSpPr/>
          <p:nvPr/>
        </p:nvSpPr>
        <p:spPr>
          <a:xfrm>
            <a:off x="2059400" y="4204225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35"/>
          <p:cNvSpPr/>
          <p:nvPr/>
        </p:nvSpPr>
        <p:spPr>
          <a:xfrm>
            <a:off x="2059400" y="3337825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35"/>
          <p:cNvSpPr/>
          <p:nvPr/>
        </p:nvSpPr>
        <p:spPr>
          <a:xfrm>
            <a:off x="2571725" y="3337825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20" name="Google Shape;620;p35"/>
          <p:cNvCxnSpPr>
            <a:stCxn id="613" idx="4"/>
            <a:endCxn id="617" idx="1"/>
          </p:cNvCxnSpPr>
          <p:nvPr/>
        </p:nvCxnSpPr>
        <p:spPr>
          <a:xfrm>
            <a:off x="1730075" y="3693925"/>
            <a:ext cx="382800" cy="562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1" name="Google Shape;621;p35"/>
          <p:cNvCxnSpPr>
            <a:stCxn id="612" idx="4"/>
            <a:endCxn id="617" idx="1"/>
          </p:cNvCxnSpPr>
          <p:nvPr/>
        </p:nvCxnSpPr>
        <p:spPr>
          <a:xfrm>
            <a:off x="1217738" y="3693925"/>
            <a:ext cx="895200" cy="562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2" name="Google Shape;622;p35"/>
          <p:cNvCxnSpPr>
            <a:stCxn id="618" idx="4"/>
            <a:endCxn id="610" idx="7"/>
          </p:cNvCxnSpPr>
          <p:nvPr/>
        </p:nvCxnSpPr>
        <p:spPr>
          <a:xfrm flipH="1">
            <a:off x="1347200" y="3693925"/>
            <a:ext cx="895200" cy="562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3" name="Google Shape;623;p35"/>
          <p:cNvCxnSpPr>
            <a:stCxn id="619" idx="4"/>
            <a:endCxn id="617" idx="0"/>
          </p:cNvCxnSpPr>
          <p:nvPr/>
        </p:nvCxnSpPr>
        <p:spPr>
          <a:xfrm flipH="1">
            <a:off x="2242325" y="3693925"/>
            <a:ext cx="512400" cy="5103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4" name="Google Shape;624;p35"/>
          <p:cNvCxnSpPr>
            <a:stCxn id="618" idx="4"/>
            <a:endCxn id="617" idx="0"/>
          </p:cNvCxnSpPr>
          <p:nvPr/>
        </p:nvCxnSpPr>
        <p:spPr>
          <a:xfrm>
            <a:off x="2242400" y="3693925"/>
            <a:ext cx="0" cy="5103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5" name="Google Shape;625;p35"/>
          <p:cNvCxnSpPr>
            <a:stCxn id="611" idx="5"/>
            <a:endCxn id="617" idx="1"/>
          </p:cNvCxnSpPr>
          <p:nvPr/>
        </p:nvCxnSpPr>
        <p:spPr>
          <a:xfrm>
            <a:off x="856526" y="3641775"/>
            <a:ext cx="1256400" cy="6147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6" name="Google Shape;626;p35"/>
          <p:cNvCxnSpPr>
            <a:stCxn id="619" idx="3"/>
            <a:endCxn id="610" idx="7"/>
          </p:cNvCxnSpPr>
          <p:nvPr/>
        </p:nvCxnSpPr>
        <p:spPr>
          <a:xfrm flipH="1">
            <a:off x="1347024" y="3641775"/>
            <a:ext cx="1278300" cy="6147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27" name="Google Shape;627;p35"/>
          <p:cNvSpPr/>
          <p:nvPr/>
        </p:nvSpPr>
        <p:spPr>
          <a:xfrm>
            <a:off x="6727100" y="4230325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35"/>
          <p:cNvSpPr/>
          <p:nvPr/>
        </p:nvSpPr>
        <p:spPr>
          <a:xfrm>
            <a:off x="6236475" y="3363925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35"/>
          <p:cNvSpPr/>
          <p:nvPr/>
        </p:nvSpPr>
        <p:spPr>
          <a:xfrm>
            <a:off x="6727088" y="3363925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35"/>
          <p:cNvSpPr/>
          <p:nvPr/>
        </p:nvSpPr>
        <p:spPr>
          <a:xfrm>
            <a:off x="7239425" y="3363925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31" name="Google Shape;631;p35"/>
          <p:cNvCxnSpPr>
            <a:stCxn id="628" idx="4"/>
            <a:endCxn id="627" idx="1"/>
          </p:cNvCxnSpPr>
          <p:nvPr/>
        </p:nvCxnSpPr>
        <p:spPr>
          <a:xfrm>
            <a:off x="6419475" y="3720025"/>
            <a:ext cx="361200" cy="562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2" name="Google Shape;632;p35"/>
          <p:cNvCxnSpPr>
            <a:stCxn id="629" idx="4"/>
            <a:endCxn id="627" idx="0"/>
          </p:cNvCxnSpPr>
          <p:nvPr/>
        </p:nvCxnSpPr>
        <p:spPr>
          <a:xfrm>
            <a:off x="6910088" y="3720025"/>
            <a:ext cx="0" cy="5103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3" name="Google Shape;633;p35"/>
          <p:cNvCxnSpPr>
            <a:stCxn id="630" idx="4"/>
            <a:endCxn id="627" idx="7"/>
          </p:cNvCxnSpPr>
          <p:nvPr/>
        </p:nvCxnSpPr>
        <p:spPr>
          <a:xfrm flipH="1">
            <a:off x="7039625" y="3720025"/>
            <a:ext cx="382800" cy="562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4" name="Google Shape;634;p35"/>
          <p:cNvSpPr/>
          <p:nvPr/>
        </p:nvSpPr>
        <p:spPr>
          <a:xfrm>
            <a:off x="7751750" y="4230325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35"/>
          <p:cNvSpPr/>
          <p:nvPr/>
        </p:nvSpPr>
        <p:spPr>
          <a:xfrm>
            <a:off x="7751750" y="3363925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35"/>
          <p:cNvSpPr/>
          <p:nvPr/>
        </p:nvSpPr>
        <p:spPr>
          <a:xfrm>
            <a:off x="8264075" y="3363925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37" name="Google Shape;637;p35"/>
          <p:cNvCxnSpPr>
            <a:stCxn id="630" idx="4"/>
            <a:endCxn id="634" idx="1"/>
          </p:cNvCxnSpPr>
          <p:nvPr/>
        </p:nvCxnSpPr>
        <p:spPr>
          <a:xfrm>
            <a:off x="7422425" y="3720025"/>
            <a:ext cx="382800" cy="562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8" name="Google Shape;638;p35"/>
          <p:cNvCxnSpPr>
            <a:stCxn id="629" idx="4"/>
            <a:endCxn id="634" idx="1"/>
          </p:cNvCxnSpPr>
          <p:nvPr/>
        </p:nvCxnSpPr>
        <p:spPr>
          <a:xfrm>
            <a:off x="6910088" y="3720025"/>
            <a:ext cx="895200" cy="562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9" name="Google Shape;639;p35"/>
          <p:cNvCxnSpPr>
            <a:stCxn id="635" idx="4"/>
            <a:endCxn id="627" idx="7"/>
          </p:cNvCxnSpPr>
          <p:nvPr/>
        </p:nvCxnSpPr>
        <p:spPr>
          <a:xfrm flipH="1">
            <a:off x="7039550" y="3720025"/>
            <a:ext cx="895200" cy="562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0" name="Google Shape;640;p35"/>
          <p:cNvCxnSpPr>
            <a:stCxn id="636" idx="4"/>
            <a:endCxn id="634" idx="0"/>
          </p:cNvCxnSpPr>
          <p:nvPr/>
        </p:nvCxnSpPr>
        <p:spPr>
          <a:xfrm flipH="1">
            <a:off x="7934675" y="3720025"/>
            <a:ext cx="512400" cy="5103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1" name="Google Shape;641;p35"/>
          <p:cNvCxnSpPr>
            <a:stCxn id="635" idx="4"/>
            <a:endCxn id="634" idx="0"/>
          </p:cNvCxnSpPr>
          <p:nvPr/>
        </p:nvCxnSpPr>
        <p:spPr>
          <a:xfrm>
            <a:off x="7934750" y="3720025"/>
            <a:ext cx="0" cy="5103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2" name="Google Shape;642;p35"/>
          <p:cNvCxnSpPr>
            <a:stCxn id="628" idx="5"/>
            <a:endCxn id="634" idx="1"/>
          </p:cNvCxnSpPr>
          <p:nvPr/>
        </p:nvCxnSpPr>
        <p:spPr>
          <a:xfrm>
            <a:off x="6548876" y="3667875"/>
            <a:ext cx="1256400" cy="6147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3" name="Google Shape;643;p35"/>
          <p:cNvCxnSpPr>
            <a:stCxn id="636" idx="3"/>
            <a:endCxn id="627" idx="7"/>
          </p:cNvCxnSpPr>
          <p:nvPr/>
        </p:nvCxnSpPr>
        <p:spPr>
          <a:xfrm flipH="1">
            <a:off x="7039374" y="3667875"/>
            <a:ext cx="1278300" cy="6147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4" name="Google Shape;644;p35"/>
          <p:cNvCxnSpPr>
            <a:stCxn id="627" idx="6"/>
            <a:endCxn id="634" idx="2"/>
          </p:cNvCxnSpPr>
          <p:nvPr/>
        </p:nvCxnSpPr>
        <p:spPr>
          <a:xfrm>
            <a:off x="7093100" y="4408375"/>
            <a:ext cx="6588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5" name="Google Shape;645;p35"/>
          <p:cNvCxnSpPr>
            <a:stCxn id="634" idx="3"/>
            <a:endCxn id="627" idx="5"/>
          </p:cNvCxnSpPr>
          <p:nvPr/>
        </p:nvCxnSpPr>
        <p:spPr>
          <a:xfrm rot="10800000">
            <a:off x="7039449" y="4534275"/>
            <a:ext cx="7659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46" name="Google Shape;646;p35"/>
          <p:cNvSpPr txBox="1"/>
          <p:nvPr/>
        </p:nvSpPr>
        <p:spPr>
          <a:xfrm>
            <a:off x="2937725" y="4510450"/>
            <a:ext cx="29082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AA84F"/>
                </a:solidFill>
                <a:latin typeface="Open Sans"/>
                <a:ea typeface="Open Sans"/>
                <a:cs typeface="Open Sans"/>
                <a:sym typeface="Open Sans"/>
              </a:rPr>
              <a:t>Popular “in-crowd” effect</a:t>
            </a:r>
            <a:endParaRPr b="1">
              <a:solidFill>
                <a:srgbClr val="6AA84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Valenced interactions: Solidarity theory</a:t>
            </a:r>
            <a:endParaRPr/>
          </a:p>
        </p:txBody>
      </p:sp>
      <p:sp>
        <p:nvSpPr>
          <p:cNvPr id="652" name="Google Shape;652;p36"/>
          <p:cNvSpPr txBox="1"/>
          <p:nvPr>
            <p:ph idx="1" type="body"/>
          </p:nvPr>
        </p:nvSpPr>
        <p:spPr>
          <a:xfrm>
            <a:off x="311700" y="1225225"/>
            <a:ext cx="8697000" cy="17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Solidarity Theory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People in the same </a:t>
            </a:r>
            <a:r>
              <a:rPr b="1" lang="en"/>
              <a:t>position in the valenced interaction network </a:t>
            </a:r>
            <a:r>
              <a:rPr lang="en"/>
              <a:t>are likely to link via positive 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Two types of solidarity: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Status solidarity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Karma solidarity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36"/>
          <p:cNvSpPr/>
          <p:nvPr/>
        </p:nvSpPr>
        <p:spPr>
          <a:xfrm>
            <a:off x="8027125" y="86350"/>
            <a:ext cx="981600" cy="1179600"/>
          </a:xfrm>
          <a:prstGeom prst="rect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36"/>
          <p:cNvSpPr/>
          <p:nvPr/>
        </p:nvSpPr>
        <p:spPr>
          <a:xfrm>
            <a:off x="8192860" y="472152"/>
            <a:ext cx="191400" cy="1932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36"/>
          <p:cNvSpPr/>
          <p:nvPr/>
        </p:nvSpPr>
        <p:spPr>
          <a:xfrm>
            <a:off x="8192860" y="216793"/>
            <a:ext cx="191400" cy="193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56" name="Google Shape;656;p36"/>
          <p:cNvCxnSpPr/>
          <p:nvPr/>
        </p:nvCxnSpPr>
        <p:spPr>
          <a:xfrm flipH="1" rot="10800000">
            <a:off x="8124842" y="847730"/>
            <a:ext cx="327600" cy="5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7" name="Google Shape;657;p36"/>
          <p:cNvCxnSpPr/>
          <p:nvPr/>
        </p:nvCxnSpPr>
        <p:spPr>
          <a:xfrm flipH="1" rot="10800000">
            <a:off x="8124842" y="1076729"/>
            <a:ext cx="327600" cy="57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58" name="Google Shape;658;p36"/>
          <p:cNvSpPr txBox="1"/>
          <p:nvPr/>
        </p:nvSpPr>
        <p:spPr>
          <a:xfrm>
            <a:off x="8384249" y="151200"/>
            <a:ext cx="676500" cy="1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Ego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Other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Neg.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Pos.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59" name="Google Shape;659;p36"/>
          <p:cNvSpPr txBox="1"/>
          <p:nvPr/>
        </p:nvSpPr>
        <p:spPr>
          <a:xfrm>
            <a:off x="1114000" y="4670725"/>
            <a:ext cx="11355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Time 1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0" name="Google Shape;660;p36"/>
          <p:cNvSpPr txBox="1"/>
          <p:nvPr/>
        </p:nvSpPr>
        <p:spPr>
          <a:xfrm>
            <a:off x="6698745" y="4602600"/>
            <a:ext cx="11355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Time 2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1" name="Google Shape;661;p36"/>
          <p:cNvSpPr/>
          <p:nvPr/>
        </p:nvSpPr>
        <p:spPr>
          <a:xfrm>
            <a:off x="3818050" y="3706900"/>
            <a:ext cx="1355100" cy="708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36"/>
          <p:cNvSpPr/>
          <p:nvPr/>
        </p:nvSpPr>
        <p:spPr>
          <a:xfrm>
            <a:off x="1034750" y="4204225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36"/>
          <p:cNvSpPr/>
          <p:nvPr/>
        </p:nvSpPr>
        <p:spPr>
          <a:xfrm>
            <a:off x="544125" y="3337825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36"/>
          <p:cNvSpPr/>
          <p:nvPr/>
        </p:nvSpPr>
        <p:spPr>
          <a:xfrm>
            <a:off x="1034738" y="3337825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36"/>
          <p:cNvSpPr/>
          <p:nvPr/>
        </p:nvSpPr>
        <p:spPr>
          <a:xfrm>
            <a:off x="1547075" y="3337825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66" name="Google Shape;666;p36"/>
          <p:cNvCxnSpPr>
            <a:stCxn id="663" idx="4"/>
            <a:endCxn id="662" idx="1"/>
          </p:cNvCxnSpPr>
          <p:nvPr/>
        </p:nvCxnSpPr>
        <p:spPr>
          <a:xfrm>
            <a:off x="727125" y="3693925"/>
            <a:ext cx="361200" cy="562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7" name="Google Shape;667;p36"/>
          <p:cNvCxnSpPr>
            <a:stCxn id="664" idx="4"/>
            <a:endCxn id="662" idx="0"/>
          </p:cNvCxnSpPr>
          <p:nvPr/>
        </p:nvCxnSpPr>
        <p:spPr>
          <a:xfrm>
            <a:off x="1217738" y="3693925"/>
            <a:ext cx="0" cy="510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8" name="Google Shape;668;p36"/>
          <p:cNvCxnSpPr>
            <a:stCxn id="665" idx="4"/>
            <a:endCxn id="662" idx="7"/>
          </p:cNvCxnSpPr>
          <p:nvPr/>
        </p:nvCxnSpPr>
        <p:spPr>
          <a:xfrm flipH="1">
            <a:off x="1347275" y="3693925"/>
            <a:ext cx="382800" cy="562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69" name="Google Shape;669;p36"/>
          <p:cNvSpPr/>
          <p:nvPr/>
        </p:nvSpPr>
        <p:spPr>
          <a:xfrm>
            <a:off x="2059400" y="4204225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36"/>
          <p:cNvSpPr/>
          <p:nvPr/>
        </p:nvSpPr>
        <p:spPr>
          <a:xfrm>
            <a:off x="2059400" y="3337825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36"/>
          <p:cNvSpPr/>
          <p:nvPr/>
        </p:nvSpPr>
        <p:spPr>
          <a:xfrm>
            <a:off x="2571725" y="3337825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72" name="Google Shape;672;p36"/>
          <p:cNvCxnSpPr>
            <a:stCxn id="665" idx="4"/>
            <a:endCxn id="669" idx="1"/>
          </p:cNvCxnSpPr>
          <p:nvPr/>
        </p:nvCxnSpPr>
        <p:spPr>
          <a:xfrm>
            <a:off x="1730075" y="3693925"/>
            <a:ext cx="382800" cy="562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3" name="Google Shape;673;p36"/>
          <p:cNvCxnSpPr>
            <a:stCxn id="664" idx="4"/>
            <a:endCxn id="669" idx="1"/>
          </p:cNvCxnSpPr>
          <p:nvPr/>
        </p:nvCxnSpPr>
        <p:spPr>
          <a:xfrm>
            <a:off x="1217738" y="3693925"/>
            <a:ext cx="895200" cy="562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4" name="Google Shape;674;p36"/>
          <p:cNvCxnSpPr>
            <a:stCxn id="670" idx="4"/>
            <a:endCxn id="662" idx="7"/>
          </p:cNvCxnSpPr>
          <p:nvPr/>
        </p:nvCxnSpPr>
        <p:spPr>
          <a:xfrm flipH="1">
            <a:off x="1347200" y="3693925"/>
            <a:ext cx="895200" cy="562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5" name="Google Shape;675;p36"/>
          <p:cNvCxnSpPr>
            <a:stCxn id="671" idx="4"/>
            <a:endCxn id="669" idx="0"/>
          </p:cNvCxnSpPr>
          <p:nvPr/>
        </p:nvCxnSpPr>
        <p:spPr>
          <a:xfrm flipH="1">
            <a:off x="2242325" y="3693925"/>
            <a:ext cx="512400" cy="510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6" name="Google Shape;676;p36"/>
          <p:cNvCxnSpPr>
            <a:stCxn id="670" idx="4"/>
            <a:endCxn id="669" idx="0"/>
          </p:cNvCxnSpPr>
          <p:nvPr/>
        </p:nvCxnSpPr>
        <p:spPr>
          <a:xfrm>
            <a:off x="2242400" y="3693925"/>
            <a:ext cx="0" cy="510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7" name="Google Shape;677;p36"/>
          <p:cNvCxnSpPr>
            <a:stCxn id="663" idx="5"/>
            <a:endCxn id="669" idx="1"/>
          </p:cNvCxnSpPr>
          <p:nvPr/>
        </p:nvCxnSpPr>
        <p:spPr>
          <a:xfrm>
            <a:off x="856526" y="3641775"/>
            <a:ext cx="1256400" cy="614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8" name="Google Shape;678;p36"/>
          <p:cNvCxnSpPr>
            <a:stCxn id="671" idx="3"/>
            <a:endCxn id="662" idx="7"/>
          </p:cNvCxnSpPr>
          <p:nvPr/>
        </p:nvCxnSpPr>
        <p:spPr>
          <a:xfrm flipH="1">
            <a:off x="1347024" y="3641775"/>
            <a:ext cx="1278300" cy="614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79" name="Google Shape;679;p36"/>
          <p:cNvSpPr/>
          <p:nvPr/>
        </p:nvSpPr>
        <p:spPr>
          <a:xfrm>
            <a:off x="6727100" y="4230325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36"/>
          <p:cNvSpPr/>
          <p:nvPr/>
        </p:nvSpPr>
        <p:spPr>
          <a:xfrm>
            <a:off x="6236475" y="3363925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36"/>
          <p:cNvSpPr/>
          <p:nvPr/>
        </p:nvSpPr>
        <p:spPr>
          <a:xfrm>
            <a:off x="6727088" y="3363925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36"/>
          <p:cNvSpPr/>
          <p:nvPr/>
        </p:nvSpPr>
        <p:spPr>
          <a:xfrm>
            <a:off x="7239425" y="3363925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83" name="Google Shape;683;p36"/>
          <p:cNvCxnSpPr>
            <a:stCxn id="680" idx="4"/>
            <a:endCxn id="679" idx="1"/>
          </p:cNvCxnSpPr>
          <p:nvPr/>
        </p:nvCxnSpPr>
        <p:spPr>
          <a:xfrm>
            <a:off x="6419475" y="3720025"/>
            <a:ext cx="361200" cy="562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4" name="Google Shape;684;p36"/>
          <p:cNvCxnSpPr>
            <a:stCxn id="681" idx="4"/>
            <a:endCxn id="679" idx="0"/>
          </p:cNvCxnSpPr>
          <p:nvPr/>
        </p:nvCxnSpPr>
        <p:spPr>
          <a:xfrm>
            <a:off x="6910088" y="3720025"/>
            <a:ext cx="0" cy="510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5" name="Google Shape;685;p36"/>
          <p:cNvCxnSpPr>
            <a:stCxn id="682" idx="4"/>
            <a:endCxn id="679" idx="7"/>
          </p:cNvCxnSpPr>
          <p:nvPr/>
        </p:nvCxnSpPr>
        <p:spPr>
          <a:xfrm flipH="1">
            <a:off x="7039625" y="3720025"/>
            <a:ext cx="382800" cy="562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6" name="Google Shape;686;p36"/>
          <p:cNvSpPr/>
          <p:nvPr/>
        </p:nvSpPr>
        <p:spPr>
          <a:xfrm>
            <a:off x="7751750" y="4230325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36"/>
          <p:cNvSpPr/>
          <p:nvPr/>
        </p:nvSpPr>
        <p:spPr>
          <a:xfrm>
            <a:off x="7751750" y="3363925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36"/>
          <p:cNvSpPr/>
          <p:nvPr/>
        </p:nvSpPr>
        <p:spPr>
          <a:xfrm>
            <a:off x="8264075" y="3363925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89" name="Google Shape;689;p36"/>
          <p:cNvCxnSpPr>
            <a:stCxn id="682" idx="4"/>
            <a:endCxn id="686" idx="1"/>
          </p:cNvCxnSpPr>
          <p:nvPr/>
        </p:nvCxnSpPr>
        <p:spPr>
          <a:xfrm>
            <a:off x="7422425" y="3720025"/>
            <a:ext cx="382800" cy="562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0" name="Google Shape;690;p36"/>
          <p:cNvCxnSpPr>
            <a:stCxn id="681" idx="4"/>
            <a:endCxn id="686" idx="1"/>
          </p:cNvCxnSpPr>
          <p:nvPr/>
        </p:nvCxnSpPr>
        <p:spPr>
          <a:xfrm>
            <a:off x="6910088" y="3720025"/>
            <a:ext cx="895200" cy="562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1" name="Google Shape;691;p36"/>
          <p:cNvCxnSpPr>
            <a:stCxn id="687" idx="4"/>
            <a:endCxn id="679" idx="7"/>
          </p:cNvCxnSpPr>
          <p:nvPr/>
        </p:nvCxnSpPr>
        <p:spPr>
          <a:xfrm flipH="1">
            <a:off x="7039550" y="3720025"/>
            <a:ext cx="895200" cy="562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2" name="Google Shape;692;p36"/>
          <p:cNvCxnSpPr>
            <a:stCxn id="688" idx="4"/>
            <a:endCxn id="686" idx="0"/>
          </p:cNvCxnSpPr>
          <p:nvPr/>
        </p:nvCxnSpPr>
        <p:spPr>
          <a:xfrm flipH="1">
            <a:off x="7934675" y="3720025"/>
            <a:ext cx="512400" cy="510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3" name="Google Shape;693;p36"/>
          <p:cNvCxnSpPr>
            <a:stCxn id="687" idx="4"/>
            <a:endCxn id="686" idx="0"/>
          </p:cNvCxnSpPr>
          <p:nvPr/>
        </p:nvCxnSpPr>
        <p:spPr>
          <a:xfrm>
            <a:off x="7934750" y="3720025"/>
            <a:ext cx="0" cy="510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4" name="Google Shape;694;p36"/>
          <p:cNvCxnSpPr>
            <a:stCxn id="680" idx="5"/>
            <a:endCxn id="686" idx="1"/>
          </p:cNvCxnSpPr>
          <p:nvPr/>
        </p:nvCxnSpPr>
        <p:spPr>
          <a:xfrm>
            <a:off x="6548876" y="3667875"/>
            <a:ext cx="1256400" cy="614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5" name="Google Shape;695;p36"/>
          <p:cNvCxnSpPr>
            <a:stCxn id="688" idx="3"/>
            <a:endCxn id="679" idx="7"/>
          </p:cNvCxnSpPr>
          <p:nvPr/>
        </p:nvCxnSpPr>
        <p:spPr>
          <a:xfrm flipH="1">
            <a:off x="7039374" y="3667875"/>
            <a:ext cx="1278300" cy="614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6" name="Google Shape;696;p36"/>
          <p:cNvCxnSpPr>
            <a:stCxn id="679" idx="6"/>
            <a:endCxn id="686" idx="2"/>
          </p:cNvCxnSpPr>
          <p:nvPr/>
        </p:nvCxnSpPr>
        <p:spPr>
          <a:xfrm>
            <a:off x="7093100" y="4408375"/>
            <a:ext cx="6588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7" name="Google Shape;697;p36"/>
          <p:cNvCxnSpPr>
            <a:stCxn id="686" idx="3"/>
            <a:endCxn id="679" idx="5"/>
          </p:cNvCxnSpPr>
          <p:nvPr/>
        </p:nvCxnSpPr>
        <p:spPr>
          <a:xfrm rot="10800000">
            <a:off x="7039449" y="4534275"/>
            <a:ext cx="7659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98" name="Google Shape;698;p36"/>
          <p:cNvSpPr txBox="1"/>
          <p:nvPr/>
        </p:nvSpPr>
        <p:spPr>
          <a:xfrm>
            <a:off x="2754725" y="4510450"/>
            <a:ext cx="32484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The downtrodden stick together!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Valenced interactions: Solidarity theory</a:t>
            </a:r>
            <a:endParaRPr/>
          </a:p>
        </p:txBody>
      </p:sp>
      <p:sp>
        <p:nvSpPr>
          <p:cNvPr id="704" name="Google Shape;704;p37"/>
          <p:cNvSpPr txBox="1"/>
          <p:nvPr>
            <p:ph idx="1" type="body"/>
          </p:nvPr>
        </p:nvSpPr>
        <p:spPr>
          <a:xfrm>
            <a:off x="311700" y="1225225"/>
            <a:ext cx="8697000" cy="17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Solidarity Theory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People in the same </a:t>
            </a:r>
            <a:r>
              <a:rPr b="1" lang="en"/>
              <a:t>position in the valenced interaction network</a:t>
            </a:r>
            <a:r>
              <a:rPr lang="en"/>
              <a:t> are likely to link via positive 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Two types of solidarity: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Status solidarity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Karma solidarity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37"/>
          <p:cNvSpPr/>
          <p:nvPr/>
        </p:nvSpPr>
        <p:spPr>
          <a:xfrm>
            <a:off x="8027125" y="86350"/>
            <a:ext cx="981600" cy="1179600"/>
          </a:xfrm>
          <a:prstGeom prst="rect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37"/>
          <p:cNvSpPr/>
          <p:nvPr/>
        </p:nvSpPr>
        <p:spPr>
          <a:xfrm>
            <a:off x="8192860" y="472152"/>
            <a:ext cx="191400" cy="1932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37"/>
          <p:cNvSpPr/>
          <p:nvPr/>
        </p:nvSpPr>
        <p:spPr>
          <a:xfrm>
            <a:off x="8192860" y="216793"/>
            <a:ext cx="191400" cy="193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08" name="Google Shape;708;p37"/>
          <p:cNvCxnSpPr/>
          <p:nvPr/>
        </p:nvCxnSpPr>
        <p:spPr>
          <a:xfrm flipH="1" rot="10800000">
            <a:off x="8124842" y="847730"/>
            <a:ext cx="327600" cy="5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9" name="Google Shape;709;p37"/>
          <p:cNvCxnSpPr/>
          <p:nvPr/>
        </p:nvCxnSpPr>
        <p:spPr>
          <a:xfrm flipH="1" rot="10800000">
            <a:off x="8124842" y="1076729"/>
            <a:ext cx="327600" cy="57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10" name="Google Shape;710;p37"/>
          <p:cNvSpPr txBox="1"/>
          <p:nvPr/>
        </p:nvSpPr>
        <p:spPr>
          <a:xfrm>
            <a:off x="8384249" y="151200"/>
            <a:ext cx="676500" cy="1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Ego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Other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Neg.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Pos.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11" name="Google Shape;711;p37"/>
          <p:cNvSpPr txBox="1"/>
          <p:nvPr/>
        </p:nvSpPr>
        <p:spPr>
          <a:xfrm>
            <a:off x="1114000" y="4670725"/>
            <a:ext cx="11355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Time 1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2" name="Google Shape;712;p37"/>
          <p:cNvSpPr txBox="1"/>
          <p:nvPr/>
        </p:nvSpPr>
        <p:spPr>
          <a:xfrm>
            <a:off x="6698745" y="4602600"/>
            <a:ext cx="11355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Time 2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3" name="Google Shape;713;p37"/>
          <p:cNvSpPr/>
          <p:nvPr/>
        </p:nvSpPr>
        <p:spPr>
          <a:xfrm>
            <a:off x="3818050" y="3706900"/>
            <a:ext cx="1355100" cy="708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37"/>
          <p:cNvSpPr/>
          <p:nvPr/>
        </p:nvSpPr>
        <p:spPr>
          <a:xfrm>
            <a:off x="1034750" y="4204225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37"/>
          <p:cNvSpPr/>
          <p:nvPr/>
        </p:nvSpPr>
        <p:spPr>
          <a:xfrm>
            <a:off x="544125" y="3337825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37"/>
          <p:cNvSpPr/>
          <p:nvPr/>
        </p:nvSpPr>
        <p:spPr>
          <a:xfrm>
            <a:off x="1034738" y="3337825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37"/>
          <p:cNvSpPr/>
          <p:nvPr/>
        </p:nvSpPr>
        <p:spPr>
          <a:xfrm>
            <a:off x="1547075" y="3337825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18" name="Google Shape;718;p37"/>
          <p:cNvCxnSpPr>
            <a:stCxn id="715" idx="4"/>
            <a:endCxn id="714" idx="1"/>
          </p:cNvCxnSpPr>
          <p:nvPr/>
        </p:nvCxnSpPr>
        <p:spPr>
          <a:xfrm>
            <a:off x="727125" y="3693925"/>
            <a:ext cx="361200" cy="562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19" name="Google Shape;719;p37"/>
          <p:cNvCxnSpPr>
            <a:stCxn id="716" idx="4"/>
            <a:endCxn id="714" idx="0"/>
          </p:cNvCxnSpPr>
          <p:nvPr/>
        </p:nvCxnSpPr>
        <p:spPr>
          <a:xfrm>
            <a:off x="1217738" y="3693925"/>
            <a:ext cx="0" cy="510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20" name="Google Shape;720;p37"/>
          <p:cNvCxnSpPr>
            <a:stCxn id="717" idx="4"/>
            <a:endCxn id="714" idx="7"/>
          </p:cNvCxnSpPr>
          <p:nvPr/>
        </p:nvCxnSpPr>
        <p:spPr>
          <a:xfrm flipH="1">
            <a:off x="1347275" y="3693925"/>
            <a:ext cx="382800" cy="562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721" name="Google Shape;721;p37"/>
          <p:cNvSpPr/>
          <p:nvPr/>
        </p:nvSpPr>
        <p:spPr>
          <a:xfrm>
            <a:off x="2059400" y="4204225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37"/>
          <p:cNvSpPr/>
          <p:nvPr/>
        </p:nvSpPr>
        <p:spPr>
          <a:xfrm>
            <a:off x="2059400" y="3337825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37"/>
          <p:cNvSpPr/>
          <p:nvPr/>
        </p:nvSpPr>
        <p:spPr>
          <a:xfrm>
            <a:off x="2571725" y="3337825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24" name="Google Shape;724;p37"/>
          <p:cNvCxnSpPr>
            <a:stCxn id="717" idx="4"/>
            <a:endCxn id="721" idx="1"/>
          </p:cNvCxnSpPr>
          <p:nvPr/>
        </p:nvCxnSpPr>
        <p:spPr>
          <a:xfrm>
            <a:off x="1730075" y="3693925"/>
            <a:ext cx="382800" cy="562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25" name="Google Shape;725;p37"/>
          <p:cNvCxnSpPr>
            <a:stCxn id="716" idx="4"/>
            <a:endCxn id="721" idx="1"/>
          </p:cNvCxnSpPr>
          <p:nvPr/>
        </p:nvCxnSpPr>
        <p:spPr>
          <a:xfrm>
            <a:off x="1217738" y="3693925"/>
            <a:ext cx="895200" cy="562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26" name="Google Shape;726;p37"/>
          <p:cNvCxnSpPr>
            <a:stCxn id="722" idx="4"/>
            <a:endCxn id="714" idx="7"/>
          </p:cNvCxnSpPr>
          <p:nvPr/>
        </p:nvCxnSpPr>
        <p:spPr>
          <a:xfrm flipH="1">
            <a:off x="1347200" y="3693925"/>
            <a:ext cx="895200" cy="562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27" name="Google Shape;727;p37"/>
          <p:cNvCxnSpPr>
            <a:stCxn id="723" idx="4"/>
            <a:endCxn id="721" idx="0"/>
          </p:cNvCxnSpPr>
          <p:nvPr/>
        </p:nvCxnSpPr>
        <p:spPr>
          <a:xfrm flipH="1">
            <a:off x="2242325" y="3693925"/>
            <a:ext cx="512400" cy="510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28" name="Google Shape;728;p37"/>
          <p:cNvCxnSpPr>
            <a:stCxn id="722" idx="4"/>
            <a:endCxn id="721" idx="0"/>
          </p:cNvCxnSpPr>
          <p:nvPr/>
        </p:nvCxnSpPr>
        <p:spPr>
          <a:xfrm>
            <a:off x="2242400" y="3693925"/>
            <a:ext cx="0" cy="510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29" name="Google Shape;729;p37"/>
          <p:cNvCxnSpPr>
            <a:stCxn id="715" idx="5"/>
            <a:endCxn id="721" idx="1"/>
          </p:cNvCxnSpPr>
          <p:nvPr/>
        </p:nvCxnSpPr>
        <p:spPr>
          <a:xfrm>
            <a:off x="856526" y="3641775"/>
            <a:ext cx="1256400" cy="614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30" name="Google Shape;730;p37"/>
          <p:cNvCxnSpPr>
            <a:stCxn id="723" idx="3"/>
            <a:endCxn id="714" idx="7"/>
          </p:cNvCxnSpPr>
          <p:nvPr/>
        </p:nvCxnSpPr>
        <p:spPr>
          <a:xfrm flipH="1">
            <a:off x="1347024" y="3641775"/>
            <a:ext cx="1278300" cy="614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731" name="Google Shape;731;p37"/>
          <p:cNvSpPr/>
          <p:nvPr/>
        </p:nvSpPr>
        <p:spPr>
          <a:xfrm>
            <a:off x="6727100" y="4230325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37"/>
          <p:cNvSpPr/>
          <p:nvPr/>
        </p:nvSpPr>
        <p:spPr>
          <a:xfrm>
            <a:off x="6236475" y="3363925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37"/>
          <p:cNvSpPr/>
          <p:nvPr/>
        </p:nvSpPr>
        <p:spPr>
          <a:xfrm>
            <a:off x="6727088" y="3363925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37"/>
          <p:cNvSpPr/>
          <p:nvPr/>
        </p:nvSpPr>
        <p:spPr>
          <a:xfrm>
            <a:off x="7239425" y="3363925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35" name="Google Shape;735;p37"/>
          <p:cNvCxnSpPr>
            <a:stCxn id="732" idx="4"/>
            <a:endCxn id="731" idx="1"/>
          </p:cNvCxnSpPr>
          <p:nvPr/>
        </p:nvCxnSpPr>
        <p:spPr>
          <a:xfrm>
            <a:off x="6419475" y="3720025"/>
            <a:ext cx="361200" cy="562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36" name="Google Shape;736;p37"/>
          <p:cNvCxnSpPr>
            <a:stCxn id="733" idx="4"/>
            <a:endCxn id="731" idx="0"/>
          </p:cNvCxnSpPr>
          <p:nvPr/>
        </p:nvCxnSpPr>
        <p:spPr>
          <a:xfrm>
            <a:off x="6910088" y="3720025"/>
            <a:ext cx="0" cy="510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37" name="Google Shape;737;p37"/>
          <p:cNvCxnSpPr>
            <a:stCxn id="734" idx="4"/>
            <a:endCxn id="731" idx="7"/>
          </p:cNvCxnSpPr>
          <p:nvPr/>
        </p:nvCxnSpPr>
        <p:spPr>
          <a:xfrm flipH="1">
            <a:off x="7039625" y="3720025"/>
            <a:ext cx="382800" cy="562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738" name="Google Shape;738;p37"/>
          <p:cNvSpPr/>
          <p:nvPr/>
        </p:nvSpPr>
        <p:spPr>
          <a:xfrm>
            <a:off x="7751750" y="4230325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37"/>
          <p:cNvSpPr/>
          <p:nvPr/>
        </p:nvSpPr>
        <p:spPr>
          <a:xfrm>
            <a:off x="7751750" y="3363925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37"/>
          <p:cNvSpPr/>
          <p:nvPr/>
        </p:nvSpPr>
        <p:spPr>
          <a:xfrm>
            <a:off x="8264075" y="3363925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41" name="Google Shape;741;p37"/>
          <p:cNvCxnSpPr>
            <a:stCxn id="734" idx="4"/>
            <a:endCxn id="738" idx="1"/>
          </p:cNvCxnSpPr>
          <p:nvPr/>
        </p:nvCxnSpPr>
        <p:spPr>
          <a:xfrm>
            <a:off x="7422425" y="3720025"/>
            <a:ext cx="382800" cy="562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42" name="Google Shape;742;p37"/>
          <p:cNvCxnSpPr>
            <a:stCxn id="733" idx="4"/>
            <a:endCxn id="738" idx="1"/>
          </p:cNvCxnSpPr>
          <p:nvPr/>
        </p:nvCxnSpPr>
        <p:spPr>
          <a:xfrm>
            <a:off x="6910088" y="3720025"/>
            <a:ext cx="895200" cy="562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43" name="Google Shape;743;p37"/>
          <p:cNvCxnSpPr>
            <a:stCxn id="739" idx="4"/>
            <a:endCxn id="731" idx="7"/>
          </p:cNvCxnSpPr>
          <p:nvPr/>
        </p:nvCxnSpPr>
        <p:spPr>
          <a:xfrm flipH="1">
            <a:off x="7039550" y="3720025"/>
            <a:ext cx="895200" cy="562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44" name="Google Shape;744;p37"/>
          <p:cNvCxnSpPr>
            <a:stCxn id="740" idx="4"/>
            <a:endCxn id="738" idx="0"/>
          </p:cNvCxnSpPr>
          <p:nvPr/>
        </p:nvCxnSpPr>
        <p:spPr>
          <a:xfrm flipH="1">
            <a:off x="7934675" y="3720025"/>
            <a:ext cx="512400" cy="510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45" name="Google Shape;745;p37"/>
          <p:cNvCxnSpPr>
            <a:stCxn id="739" idx="4"/>
            <a:endCxn id="738" idx="0"/>
          </p:cNvCxnSpPr>
          <p:nvPr/>
        </p:nvCxnSpPr>
        <p:spPr>
          <a:xfrm>
            <a:off x="7934750" y="3720025"/>
            <a:ext cx="0" cy="510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46" name="Google Shape;746;p37"/>
          <p:cNvCxnSpPr>
            <a:stCxn id="732" idx="5"/>
            <a:endCxn id="738" idx="1"/>
          </p:cNvCxnSpPr>
          <p:nvPr/>
        </p:nvCxnSpPr>
        <p:spPr>
          <a:xfrm>
            <a:off x="6548876" y="3667875"/>
            <a:ext cx="1256400" cy="614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47" name="Google Shape;747;p37"/>
          <p:cNvCxnSpPr>
            <a:stCxn id="740" idx="3"/>
            <a:endCxn id="731" idx="7"/>
          </p:cNvCxnSpPr>
          <p:nvPr/>
        </p:nvCxnSpPr>
        <p:spPr>
          <a:xfrm flipH="1">
            <a:off x="7039374" y="3667875"/>
            <a:ext cx="1278300" cy="614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48" name="Google Shape;748;p37"/>
          <p:cNvCxnSpPr>
            <a:stCxn id="731" idx="6"/>
            <a:endCxn id="738" idx="2"/>
          </p:cNvCxnSpPr>
          <p:nvPr/>
        </p:nvCxnSpPr>
        <p:spPr>
          <a:xfrm>
            <a:off x="7093100" y="4408375"/>
            <a:ext cx="6588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9" name="Google Shape;749;p37"/>
          <p:cNvCxnSpPr>
            <a:stCxn id="738" idx="3"/>
            <a:endCxn id="731" idx="5"/>
          </p:cNvCxnSpPr>
          <p:nvPr/>
        </p:nvCxnSpPr>
        <p:spPr>
          <a:xfrm rot="10800000">
            <a:off x="7039449" y="4534275"/>
            <a:ext cx="7659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50" name="Google Shape;750;p37"/>
          <p:cNvSpPr txBox="1"/>
          <p:nvPr/>
        </p:nvSpPr>
        <p:spPr>
          <a:xfrm>
            <a:off x="2937725" y="4510450"/>
            <a:ext cx="29082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Bullies stick together!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Valenced interactions: Solidarity theory</a:t>
            </a:r>
            <a:endParaRPr/>
          </a:p>
        </p:txBody>
      </p:sp>
      <p:sp>
        <p:nvSpPr>
          <p:cNvPr id="756" name="Google Shape;756;p38"/>
          <p:cNvSpPr txBox="1"/>
          <p:nvPr>
            <p:ph idx="1" type="body"/>
          </p:nvPr>
        </p:nvSpPr>
        <p:spPr>
          <a:xfrm>
            <a:off x="311700" y="1225225"/>
            <a:ext cx="8697000" cy="17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Solidarity Theory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People in the same position in the valenced interaction network are likely to link via positive 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Two types of solidarity: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Status solidarity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Karma solidarity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38"/>
          <p:cNvSpPr/>
          <p:nvPr/>
        </p:nvSpPr>
        <p:spPr>
          <a:xfrm>
            <a:off x="8027125" y="86350"/>
            <a:ext cx="981600" cy="1179600"/>
          </a:xfrm>
          <a:prstGeom prst="rect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38"/>
          <p:cNvSpPr/>
          <p:nvPr/>
        </p:nvSpPr>
        <p:spPr>
          <a:xfrm>
            <a:off x="8192860" y="472152"/>
            <a:ext cx="191400" cy="1932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38"/>
          <p:cNvSpPr/>
          <p:nvPr/>
        </p:nvSpPr>
        <p:spPr>
          <a:xfrm>
            <a:off x="8192860" y="216793"/>
            <a:ext cx="191400" cy="193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60" name="Google Shape;760;p38"/>
          <p:cNvCxnSpPr/>
          <p:nvPr/>
        </p:nvCxnSpPr>
        <p:spPr>
          <a:xfrm flipH="1" rot="10800000">
            <a:off x="8124842" y="847730"/>
            <a:ext cx="327600" cy="5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1" name="Google Shape;761;p38"/>
          <p:cNvCxnSpPr/>
          <p:nvPr/>
        </p:nvCxnSpPr>
        <p:spPr>
          <a:xfrm flipH="1" rot="10800000">
            <a:off x="8124842" y="1076729"/>
            <a:ext cx="327600" cy="57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62" name="Google Shape;762;p38"/>
          <p:cNvSpPr txBox="1"/>
          <p:nvPr/>
        </p:nvSpPr>
        <p:spPr>
          <a:xfrm>
            <a:off x="8384249" y="151200"/>
            <a:ext cx="676500" cy="1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Ego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Other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Neg.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Pos.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63" name="Google Shape;763;p38"/>
          <p:cNvSpPr txBox="1"/>
          <p:nvPr/>
        </p:nvSpPr>
        <p:spPr>
          <a:xfrm>
            <a:off x="1114000" y="4670725"/>
            <a:ext cx="11355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Time 1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64" name="Google Shape;764;p38"/>
          <p:cNvSpPr txBox="1"/>
          <p:nvPr/>
        </p:nvSpPr>
        <p:spPr>
          <a:xfrm>
            <a:off x="6698745" y="4602600"/>
            <a:ext cx="11355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Time 2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65" name="Google Shape;765;p38"/>
          <p:cNvSpPr/>
          <p:nvPr/>
        </p:nvSpPr>
        <p:spPr>
          <a:xfrm>
            <a:off x="3818050" y="3706900"/>
            <a:ext cx="1355100" cy="708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38"/>
          <p:cNvSpPr/>
          <p:nvPr/>
        </p:nvSpPr>
        <p:spPr>
          <a:xfrm>
            <a:off x="1034750" y="4204225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38"/>
          <p:cNvSpPr/>
          <p:nvPr/>
        </p:nvSpPr>
        <p:spPr>
          <a:xfrm>
            <a:off x="544125" y="3337825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38"/>
          <p:cNvSpPr/>
          <p:nvPr/>
        </p:nvSpPr>
        <p:spPr>
          <a:xfrm>
            <a:off x="1034738" y="3337825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38"/>
          <p:cNvSpPr/>
          <p:nvPr/>
        </p:nvSpPr>
        <p:spPr>
          <a:xfrm>
            <a:off x="1547075" y="3337825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70" name="Google Shape;770;p38"/>
          <p:cNvCxnSpPr>
            <a:stCxn id="767" idx="4"/>
            <a:endCxn id="766" idx="1"/>
          </p:cNvCxnSpPr>
          <p:nvPr/>
        </p:nvCxnSpPr>
        <p:spPr>
          <a:xfrm>
            <a:off x="727125" y="3693925"/>
            <a:ext cx="361200" cy="562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71" name="Google Shape;771;p38"/>
          <p:cNvCxnSpPr>
            <a:stCxn id="768" idx="4"/>
            <a:endCxn id="766" idx="0"/>
          </p:cNvCxnSpPr>
          <p:nvPr/>
        </p:nvCxnSpPr>
        <p:spPr>
          <a:xfrm>
            <a:off x="1217738" y="3693925"/>
            <a:ext cx="0" cy="5103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72" name="Google Shape;772;p38"/>
          <p:cNvCxnSpPr>
            <a:stCxn id="769" idx="4"/>
            <a:endCxn id="766" idx="7"/>
          </p:cNvCxnSpPr>
          <p:nvPr/>
        </p:nvCxnSpPr>
        <p:spPr>
          <a:xfrm flipH="1">
            <a:off x="1347275" y="3693925"/>
            <a:ext cx="382800" cy="562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773" name="Google Shape;773;p38"/>
          <p:cNvSpPr/>
          <p:nvPr/>
        </p:nvSpPr>
        <p:spPr>
          <a:xfrm>
            <a:off x="2059400" y="4204225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38"/>
          <p:cNvSpPr/>
          <p:nvPr/>
        </p:nvSpPr>
        <p:spPr>
          <a:xfrm>
            <a:off x="2059400" y="3337825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38"/>
          <p:cNvSpPr/>
          <p:nvPr/>
        </p:nvSpPr>
        <p:spPr>
          <a:xfrm>
            <a:off x="2571725" y="3337825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76" name="Google Shape;776;p38"/>
          <p:cNvCxnSpPr>
            <a:stCxn id="769" idx="4"/>
            <a:endCxn id="773" idx="1"/>
          </p:cNvCxnSpPr>
          <p:nvPr/>
        </p:nvCxnSpPr>
        <p:spPr>
          <a:xfrm>
            <a:off x="1730075" y="3693925"/>
            <a:ext cx="382800" cy="562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77" name="Google Shape;777;p38"/>
          <p:cNvCxnSpPr>
            <a:stCxn id="768" idx="4"/>
            <a:endCxn id="773" idx="1"/>
          </p:cNvCxnSpPr>
          <p:nvPr/>
        </p:nvCxnSpPr>
        <p:spPr>
          <a:xfrm>
            <a:off x="1217738" y="3693925"/>
            <a:ext cx="895200" cy="562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78" name="Google Shape;778;p38"/>
          <p:cNvCxnSpPr>
            <a:stCxn id="774" idx="4"/>
            <a:endCxn id="766" idx="7"/>
          </p:cNvCxnSpPr>
          <p:nvPr/>
        </p:nvCxnSpPr>
        <p:spPr>
          <a:xfrm flipH="1">
            <a:off x="1347200" y="3693925"/>
            <a:ext cx="895200" cy="562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79" name="Google Shape;779;p38"/>
          <p:cNvCxnSpPr>
            <a:stCxn id="775" idx="4"/>
            <a:endCxn id="773" idx="0"/>
          </p:cNvCxnSpPr>
          <p:nvPr/>
        </p:nvCxnSpPr>
        <p:spPr>
          <a:xfrm flipH="1">
            <a:off x="2242325" y="3693925"/>
            <a:ext cx="512400" cy="5103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80" name="Google Shape;780;p38"/>
          <p:cNvCxnSpPr>
            <a:stCxn id="774" idx="4"/>
            <a:endCxn id="773" idx="0"/>
          </p:cNvCxnSpPr>
          <p:nvPr/>
        </p:nvCxnSpPr>
        <p:spPr>
          <a:xfrm>
            <a:off x="2242400" y="3693925"/>
            <a:ext cx="0" cy="5103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81" name="Google Shape;781;p38"/>
          <p:cNvCxnSpPr>
            <a:stCxn id="767" idx="5"/>
            <a:endCxn id="773" idx="1"/>
          </p:cNvCxnSpPr>
          <p:nvPr/>
        </p:nvCxnSpPr>
        <p:spPr>
          <a:xfrm>
            <a:off x="856526" y="3641775"/>
            <a:ext cx="1256400" cy="6147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82" name="Google Shape;782;p38"/>
          <p:cNvCxnSpPr>
            <a:stCxn id="775" idx="3"/>
            <a:endCxn id="766" idx="7"/>
          </p:cNvCxnSpPr>
          <p:nvPr/>
        </p:nvCxnSpPr>
        <p:spPr>
          <a:xfrm flipH="1">
            <a:off x="1347024" y="3641775"/>
            <a:ext cx="1278300" cy="6147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783" name="Google Shape;783;p38"/>
          <p:cNvSpPr/>
          <p:nvPr/>
        </p:nvSpPr>
        <p:spPr>
          <a:xfrm>
            <a:off x="6727100" y="4230325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38"/>
          <p:cNvSpPr/>
          <p:nvPr/>
        </p:nvSpPr>
        <p:spPr>
          <a:xfrm>
            <a:off x="6236475" y="3363925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38"/>
          <p:cNvSpPr/>
          <p:nvPr/>
        </p:nvSpPr>
        <p:spPr>
          <a:xfrm>
            <a:off x="6727088" y="3363925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38"/>
          <p:cNvSpPr/>
          <p:nvPr/>
        </p:nvSpPr>
        <p:spPr>
          <a:xfrm>
            <a:off x="7239425" y="3363925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87" name="Google Shape;787;p38"/>
          <p:cNvCxnSpPr>
            <a:stCxn id="784" idx="4"/>
            <a:endCxn id="783" idx="1"/>
          </p:cNvCxnSpPr>
          <p:nvPr/>
        </p:nvCxnSpPr>
        <p:spPr>
          <a:xfrm>
            <a:off x="6419475" y="3720025"/>
            <a:ext cx="361200" cy="562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88" name="Google Shape;788;p38"/>
          <p:cNvCxnSpPr>
            <a:stCxn id="785" idx="4"/>
            <a:endCxn id="783" idx="0"/>
          </p:cNvCxnSpPr>
          <p:nvPr/>
        </p:nvCxnSpPr>
        <p:spPr>
          <a:xfrm>
            <a:off x="6910088" y="3720025"/>
            <a:ext cx="0" cy="5103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89" name="Google Shape;789;p38"/>
          <p:cNvCxnSpPr>
            <a:stCxn id="786" idx="4"/>
            <a:endCxn id="783" idx="7"/>
          </p:cNvCxnSpPr>
          <p:nvPr/>
        </p:nvCxnSpPr>
        <p:spPr>
          <a:xfrm flipH="1">
            <a:off x="7039625" y="3720025"/>
            <a:ext cx="382800" cy="562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790" name="Google Shape;790;p38"/>
          <p:cNvSpPr/>
          <p:nvPr/>
        </p:nvSpPr>
        <p:spPr>
          <a:xfrm>
            <a:off x="7751750" y="4230325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38"/>
          <p:cNvSpPr/>
          <p:nvPr/>
        </p:nvSpPr>
        <p:spPr>
          <a:xfrm>
            <a:off x="7751750" y="3363925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38"/>
          <p:cNvSpPr/>
          <p:nvPr/>
        </p:nvSpPr>
        <p:spPr>
          <a:xfrm>
            <a:off x="8264075" y="3363925"/>
            <a:ext cx="366000" cy="3561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93" name="Google Shape;793;p38"/>
          <p:cNvCxnSpPr>
            <a:stCxn id="786" idx="4"/>
            <a:endCxn id="790" idx="1"/>
          </p:cNvCxnSpPr>
          <p:nvPr/>
        </p:nvCxnSpPr>
        <p:spPr>
          <a:xfrm>
            <a:off x="7422425" y="3720025"/>
            <a:ext cx="382800" cy="562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94" name="Google Shape;794;p38"/>
          <p:cNvCxnSpPr>
            <a:stCxn id="785" idx="4"/>
            <a:endCxn id="790" idx="1"/>
          </p:cNvCxnSpPr>
          <p:nvPr/>
        </p:nvCxnSpPr>
        <p:spPr>
          <a:xfrm>
            <a:off x="6910088" y="3720025"/>
            <a:ext cx="895200" cy="562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95" name="Google Shape;795;p38"/>
          <p:cNvCxnSpPr>
            <a:stCxn id="791" idx="4"/>
            <a:endCxn id="783" idx="7"/>
          </p:cNvCxnSpPr>
          <p:nvPr/>
        </p:nvCxnSpPr>
        <p:spPr>
          <a:xfrm flipH="1">
            <a:off x="7039550" y="3720025"/>
            <a:ext cx="895200" cy="562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96" name="Google Shape;796;p38"/>
          <p:cNvCxnSpPr>
            <a:stCxn id="792" idx="4"/>
            <a:endCxn id="790" idx="0"/>
          </p:cNvCxnSpPr>
          <p:nvPr/>
        </p:nvCxnSpPr>
        <p:spPr>
          <a:xfrm flipH="1">
            <a:off x="7934675" y="3720025"/>
            <a:ext cx="512400" cy="5103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97" name="Google Shape;797;p38"/>
          <p:cNvCxnSpPr>
            <a:stCxn id="791" idx="4"/>
            <a:endCxn id="790" idx="0"/>
          </p:cNvCxnSpPr>
          <p:nvPr/>
        </p:nvCxnSpPr>
        <p:spPr>
          <a:xfrm>
            <a:off x="7934750" y="3720025"/>
            <a:ext cx="0" cy="5103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98" name="Google Shape;798;p38"/>
          <p:cNvCxnSpPr>
            <a:stCxn id="784" idx="5"/>
            <a:endCxn id="790" idx="1"/>
          </p:cNvCxnSpPr>
          <p:nvPr/>
        </p:nvCxnSpPr>
        <p:spPr>
          <a:xfrm>
            <a:off x="6548876" y="3667875"/>
            <a:ext cx="1256400" cy="6147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99" name="Google Shape;799;p38"/>
          <p:cNvCxnSpPr>
            <a:stCxn id="792" idx="3"/>
            <a:endCxn id="783" idx="7"/>
          </p:cNvCxnSpPr>
          <p:nvPr/>
        </p:nvCxnSpPr>
        <p:spPr>
          <a:xfrm flipH="1">
            <a:off x="7039374" y="3667875"/>
            <a:ext cx="1278300" cy="6147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800" name="Google Shape;800;p38"/>
          <p:cNvCxnSpPr>
            <a:stCxn id="783" idx="6"/>
            <a:endCxn id="790" idx="2"/>
          </p:cNvCxnSpPr>
          <p:nvPr/>
        </p:nvCxnSpPr>
        <p:spPr>
          <a:xfrm>
            <a:off x="7093100" y="4408375"/>
            <a:ext cx="6588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01" name="Google Shape;801;p38"/>
          <p:cNvCxnSpPr>
            <a:stCxn id="790" idx="3"/>
            <a:endCxn id="783" idx="5"/>
          </p:cNvCxnSpPr>
          <p:nvPr/>
        </p:nvCxnSpPr>
        <p:spPr>
          <a:xfrm rot="10800000">
            <a:off x="7039449" y="4534275"/>
            <a:ext cx="7659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02" name="Google Shape;802;p38"/>
          <p:cNvSpPr txBox="1"/>
          <p:nvPr/>
        </p:nvSpPr>
        <p:spPr>
          <a:xfrm>
            <a:off x="2937725" y="4510450"/>
            <a:ext cx="29082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AA84F"/>
                </a:solidFill>
                <a:latin typeface="Open Sans"/>
                <a:ea typeface="Open Sans"/>
                <a:cs typeface="Open Sans"/>
                <a:sym typeface="Open Sans"/>
              </a:rPr>
              <a:t>Cool kids stick together!</a:t>
            </a:r>
            <a:endParaRPr b="1">
              <a:solidFill>
                <a:srgbClr val="6AA84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39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Dominance Hierarchies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Dominance orders among animals </a:t>
            </a:r>
            <a:endParaRPr/>
          </a:p>
        </p:txBody>
      </p:sp>
      <p:sp>
        <p:nvSpPr>
          <p:cNvPr id="813" name="Google Shape;813;p40"/>
          <p:cNvSpPr txBox="1"/>
          <p:nvPr>
            <p:ph idx="1" type="body"/>
          </p:nvPr>
        </p:nvSpPr>
        <p:spPr>
          <a:xfrm>
            <a:off x="311700" y="1225225"/>
            <a:ext cx="4327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Dominance hierarchies: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Observed across </a:t>
            </a:r>
            <a:r>
              <a:rPr lang="en"/>
              <a:t>many</a:t>
            </a:r>
            <a:r>
              <a:rPr lang="en"/>
              <a:t> species in the animal kingdom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Including (most notably) among chickens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lang="en">
                <a:solidFill>
                  <a:srgbClr val="FF0000"/>
                </a:solidFill>
              </a:rPr>
              <a:t>You do not need a big brain to create a (complex) social network!</a:t>
            </a:r>
            <a:endParaRPr>
              <a:solidFill>
                <a:srgbClr val="FF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</a:pPr>
            <a:r>
              <a:rPr lang="en">
                <a:solidFill>
                  <a:srgbClr val="434343"/>
                </a:solidFill>
              </a:rPr>
              <a:t>“Pure” dominance order:</a:t>
            </a:r>
            <a:endParaRPr>
              <a:solidFill>
                <a:srgbClr val="434343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</a:pPr>
            <a:r>
              <a:rPr lang="en">
                <a:solidFill>
                  <a:srgbClr val="434343"/>
                </a:solidFill>
              </a:rPr>
              <a:t>Directed</a:t>
            </a:r>
            <a:endParaRPr>
              <a:solidFill>
                <a:srgbClr val="434343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</a:pPr>
            <a:r>
              <a:rPr lang="en">
                <a:solidFill>
                  <a:srgbClr val="434343"/>
                </a:solidFill>
              </a:rPr>
              <a:t>A dominates B</a:t>
            </a:r>
            <a:endParaRPr>
              <a:solidFill>
                <a:srgbClr val="434343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</a:pPr>
            <a:r>
              <a:rPr lang="en">
                <a:solidFill>
                  <a:srgbClr val="434343"/>
                </a:solidFill>
              </a:rPr>
              <a:t>Anti-symmetric</a:t>
            </a:r>
            <a:endParaRPr>
              <a:solidFill>
                <a:srgbClr val="434343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</a:pPr>
            <a:r>
              <a:rPr lang="en">
                <a:solidFill>
                  <a:srgbClr val="434343"/>
                </a:solidFill>
              </a:rPr>
              <a:t>If A dominates B then B </a:t>
            </a:r>
            <a:r>
              <a:rPr b="1" lang="en">
                <a:solidFill>
                  <a:srgbClr val="434343"/>
                </a:solidFill>
              </a:rPr>
              <a:t>cannot </a:t>
            </a:r>
            <a:r>
              <a:rPr lang="en">
                <a:solidFill>
                  <a:srgbClr val="434343"/>
                </a:solidFill>
              </a:rPr>
              <a:t>dominate A</a:t>
            </a:r>
            <a:endParaRPr>
              <a:solidFill>
                <a:srgbClr val="434343"/>
              </a:solidFill>
            </a:endParaRPr>
          </a:p>
        </p:txBody>
      </p:sp>
      <p:pic>
        <p:nvPicPr>
          <p:cNvPr id="814" name="Google Shape;81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2675" y="1225225"/>
            <a:ext cx="4327500" cy="33373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Dominance orders among animals </a:t>
            </a:r>
            <a:endParaRPr/>
          </a:p>
        </p:txBody>
      </p:sp>
      <p:sp>
        <p:nvSpPr>
          <p:cNvPr id="820" name="Google Shape;820;p41"/>
          <p:cNvSpPr txBox="1"/>
          <p:nvPr>
            <p:ph idx="1" type="body"/>
          </p:nvPr>
        </p:nvSpPr>
        <p:spPr>
          <a:xfrm>
            <a:off x="311700" y="1225225"/>
            <a:ext cx="4327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Dominance hierarchies: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Observed across </a:t>
            </a:r>
            <a:r>
              <a:rPr lang="en"/>
              <a:t>many</a:t>
            </a:r>
            <a:r>
              <a:rPr lang="en"/>
              <a:t> species in the animal kingdom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Including (most notably) among chickens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lang="en">
                <a:solidFill>
                  <a:srgbClr val="FF0000"/>
                </a:solidFill>
              </a:rPr>
              <a:t>You do not need a big brain to create a (complex) social network!</a:t>
            </a:r>
            <a:endParaRPr>
              <a:solidFill>
                <a:srgbClr val="FF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</a:pPr>
            <a:r>
              <a:rPr lang="en">
                <a:solidFill>
                  <a:srgbClr val="434343"/>
                </a:solidFill>
              </a:rPr>
              <a:t>“Pure” dominance order:</a:t>
            </a:r>
            <a:endParaRPr>
              <a:solidFill>
                <a:srgbClr val="434343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</a:pPr>
            <a:r>
              <a:rPr lang="en">
                <a:solidFill>
                  <a:srgbClr val="434343"/>
                </a:solidFill>
              </a:rPr>
              <a:t>Complete (all ties present)</a:t>
            </a:r>
            <a:endParaRPr>
              <a:solidFill>
                <a:srgbClr val="434343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</a:pPr>
            <a:r>
              <a:rPr lang="en">
                <a:solidFill>
                  <a:srgbClr val="434343"/>
                </a:solidFill>
              </a:rPr>
              <a:t>Either A dominates B or B dominates A</a:t>
            </a:r>
            <a:endParaRPr>
              <a:solidFill>
                <a:srgbClr val="434343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434343"/>
              </a:solidFill>
            </a:endParaRPr>
          </a:p>
        </p:txBody>
      </p:sp>
      <p:pic>
        <p:nvPicPr>
          <p:cNvPr id="821" name="Google Shape;82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2675" y="1225225"/>
            <a:ext cx="4327500" cy="33373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4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Dominance orders among animals </a:t>
            </a:r>
            <a:endParaRPr/>
          </a:p>
        </p:txBody>
      </p:sp>
      <p:sp>
        <p:nvSpPr>
          <p:cNvPr id="827" name="Google Shape;827;p42"/>
          <p:cNvSpPr txBox="1"/>
          <p:nvPr>
            <p:ph idx="1" type="body"/>
          </p:nvPr>
        </p:nvSpPr>
        <p:spPr>
          <a:xfrm>
            <a:off x="311700" y="1225225"/>
            <a:ext cx="4327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Dominance hierarchies: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Observed across </a:t>
            </a:r>
            <a:r>
              <a:rPr lang="en"/>
              <a:t>many</a:t>
            </a:r>
            <a:r>
              <a:rPr lang="en"/>
              <a:t> species in the animal kingdom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Including (most notably) among chickens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lang="en">
                <a:solidFill>
                  <a:srgbClr val="FF0000"/>
                </a:solidFill>
              </a:rPr>
              <a:t>You do not need a big brain to create a (complex) social network!</a:t>
            </a:r>
            <a:endParaRPr>
              <a:solidFill>
                <a:srgbClr val="FF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</a:pPr>
            <a:r>
              <a:rPr lang="en">
                <a:solidFill>
                  <a:srgbClr val="434343"/>
                </a:solidFill>
              </a:rPr>
              <a:t>“Pure” dominance order:</a:t>
            </a:r>
            <a:endParaRPr>
              <a:solidFill>
                <a:srgbClr val="434343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</a:pPr>
            <a:r>
              <a:rPr lang="en">
                <a:solidFill>
                  <a:srgbClr val="434343"/>
                </a:solidFill>
              </a:rPr>
              <a:t>Transitive (all ties present)</a:t>
            </a:r>
            <a:endParaRPr>
              <a:solidFill>
                <a:srgbClr val="434343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</a:pPr>
            <a:r>
              <a:rPr lang="en">
                <a:solidFill>
                  <a:srgbClr val="434343"/>
                </a:solidFill>
              </a:rPr>
              <a:t>If A dominates B, and B dominates C, then by necessity A dominates C</a:t>
            </a:r>
            <a:endParaRPr>
              <a:solidFill>
                <a:srgbClr val="434343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434343"/>
              </a:solidFill>
            </a:endParaRPr>
          </a:p>
        </p:txBody>
      </p:sp>
      <p:pic>
        <p:nvPicPr>
          <p:cNvPr id="828" name="Google Shape;82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2675" y="1225225"/>
            <a:ext cx="4327500" cy="33373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4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Algebraic Requirements for Dominance Order</a:t>
            </a:r>
            <a:endParaRPr/>
          </a:p>
        </p:txBody>
      </p:sp>
      <p:sp>
        <p:nvSpPr>
          <p:cNvPr id="834" name="Google Shape;834;p43"/>
          <p:cNvSpPr txBox="1"/>
          <p:nvPr/>
        </p:nvSpPr>
        <p:spPr>
          <a:xfrm>
            <a:off x="4572000" y="1343200"/>
            <a:ext cx="4214700" cy="13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Economica"/>
              <a:buChar char="●"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A linear dominance order is </a:t>
            </a:r>
            <a:r>
              <a:rPr b="1" lang="en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transitive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Economica"/>
              <a:buChar char="●"/>
            </a:pPr>
            <a:r>
              <a:rPr lang="en" sz="1800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Transitivity is a relation between node </a:t>
            </a:r>
            <a:r>
              <a:rPr b="1" lang="en" sz="1800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triples</a:t>
            </a:r>
            <a:endParaRPr b="1" sz="1800">
              <a:latin typeface="Economica"/>
              <a:ea typeface="Economica"/>
              <a:cs typeface="Economica"/>
              <a:sym typeface="Economica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Economica"/>
              <a:buChar char="○"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If a dominates  b, and b dominates c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Font typeface="Economica"/>
              <a:buChar char="■"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Then a </a:t>
            </a: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necessarily </a:t>
            </a: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dominates c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grpSp>
        <p:nvGrpSpPr>
          <p:cNvPr id="835" name="Google Shape;835;p43"/>
          <p:cNvGrpSpPr/>
          <p:nvPr/>
        </p:nvGrpSpPr>
        <p:grpSpPr>
          <a:xfrm>
            <a:off x="6672775" y="2881150"/>
            <a:ext cx="1647600" cy="1580100"/>
            <a:chOff x="6494400" y="3563400"/>
            <a:chExt cx="1647600" cy="1580100"/>
          </a:xfrm>
        </p:grpSpPr>
        <p:sp>
          <p:nvSpPr>
            <p:cNvPr id="836" name="Google Shape;836;p43"/>
            <p:cNvSpPr/>
            <p:nvPr/>
          </p:nvSpPr>
          <p:spPr>
            <a:xfrm>
              <a:off x="6494400" y="3563400"/>
              <a:ext cx="1647600" cy="1580100"/>
            </a:xfrm>
            <a:prstGeom prst="ellipse">
              <a:avLst/>
            </a:prstGeom>
            <a:noFill/>
            <a:ln cap="flat" cmpd="sng" w="285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43"/>
            <p:cNvSpPr/>
            <p:nvPr/>
          </p:nvSpPr>
          <p:spPr>
            <a:xfrm>
              <a:off x="6673050" y="3952250"/>
              <a:ext cx="390600" cy="368700"/>
            </a:xfrm>
            <a:prstGeom prst="ellipse">
              <a:avLst/>
            </a:prstGeom>
            <a:solidFill>
              <a:srgbClr val="EFEFEF"/>
            </a:solidFill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a</a:t>
              </a:r>
              <a:endParaRPr/>
            </a:p>
          </p:txBody>
        </p:sp>
        <p:sp>
          <p:nvSpPr>
            <p:cNvPr id="838" name="Google Shape;838;p43"/>
            <p:cNvSpPr/>
            <p:nvPr/>
          </p:nvSpPr>
          <p:spPr>
            <a:xfrm>
              <a:off x="7572750" y="3952250"/>
              <a:ext cx="390600" cy="368700"/>
            </a:xfrm>
            <a:prstGeom prst="ellipse">
              <a:avLst/>
            </a:prstGeom>
            <a:solidFill>
              <a:srgbClr val="EFEFEF"/>
            </a:solidFill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b</a:t>
              </a:r>
              <a:endParaRPr/>
            </a:p>
          </p:txBody>
        </p:sp>
        <p:sp>
          <p:nvSpPr>
            <p:cNvPr id="839" name="Google Shape;839;p43"/>
            <p:cNvSpPr/>
            <p:nvPr/>
          </p:nvSpPr>
          <p:spPr>
            <a:xfrm>
              <a:off x="7122900" y="4638375"/>
              <a:ext cx="390600" cy="368700"/>
            </a:xfrm>
            <a:prstGeom prst="ellipse">
              <a:avLst/>
            </a:prstGeom>
            <a:solidFill>
              <a:srgbClr val="EFEFEF"/>
            </a:solidFill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c</a:t>
              </a:r>
              <a:endParaRPr/>
            </a:p>
          </p:txBody>
        </p:sp>
        <p:cxnSp>
          <p:nvCxnSpPr>
            <p:cNvPr id="840" name="Google Shape;840;p43"/>
            <p:cNvCxnSpPr>
              <a:stCxn id="837" idx="6"/>
              <a:endCxn id="838" idx="2"/>
            </p:cNvCxnSpPr>
            <p:nvPr/>
          </p:nvCxnSpPr>
          <p:spPr>
            <a:xfrm>
              <a:off x="7063650" y="4136600"/>
              <a:ext cx="509100" cy="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841" name="Google Shape;841;p43"/>
            <p:cNvCxnSpPr>
              <a:stCxn id="838" idx="3"/>
              <a:endCxn id="839" idx="0"/>
            </p:cNvCxnSpPr>
            <p:nvPr/>
          </p:nvCxnSpPr>
          <p:spPr>
            <a:xfrm flipH="1">
              <a:off x="7318252" y="4266955"/>
              <a:ext cx="311700" cy="3714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842" name="Google Shape;842;p43"/>
            <p:cNvCxnSpPr>
              <a:stCxn id="837" idx="4"/>
              <a:endCxn id="839" idx="0"/>
            </p:cNvCxnSpPr>
            <p:nvPr/>
          </p:nvCxnSpPr>
          <p:spPr>
            <a:xfrm>
              <a:off x="6868350" y="4320950"/>
              <a:ext cx="450000" cy="3174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</p:grpSp>
      <p:sp>
        <p:nvSpPr>
          <p:cNvPr id="843" name="Google Shape;843;p43"/>
          <p:cNvSpPr txBox="1"/>
          <p:nvPr/>
        </p:nvSpPr>
        <p:spPr>
          <a:xfrm rot="-1409">
            <a:off x="5124250" y="4270791"/>
            <a:ext cx="1464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This arc has to exist!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844" name="Google Shape;844;p43"/>
          <p:cNvCxnSpPr>
            <a:stCxn id="843" idx="3"/>
          </p:cNvCxnSpPr>
          <p:nvPr/>
        </p:nvCxnSpPr>
        <p:spPr>
          <a:xfrm flipH="1" rot="10800000">
            <a:off x="6588250" y="3875091"/>
            <a:ext cx="562200" cy="549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5" name="Google Shape;845;p43"/>
          <p:cNvSpPr txBox="1"/>
          <p:nvPr/>
        </p:nvSpPr>
        <p:spPr>
          <a:xfrm>
            <a:off x="6672775" y="4507992"/>
            <a:ext cx="16476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Transitive Triad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id="846" name="Google Shape;846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99625"/>
            <a:ext cx="4267197" cy="3319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4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Algebraic Requirements for Dominance Order</a:t>
            </a:r>
            <a:endParaRPr/>
          </a:p>
        </p:txBody>
      </p:sp>
      <p:sp>
        <p:nvSpPr>
          <p:cNvPr id="852" name="Google Shape;852;p44"/>
          <p:cNvSpPr txBox="1"/>
          <p:nvPr/>
        </p:nvSpPr>
        <p:spPr>
          <a:xfrm>
            <a:off x="4572000" y="1343201"/>
            <a:ext cx="4214700" cy="15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Economica"/>
              <a:buChar char="●"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A linear dominance order contains no </a:t>
            </a:r>
            <a:r>
              <a:rPr b="1" lang="en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cycles</a:t>
            </a: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 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Economica"/>
              <a:buChar char="○"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Flashback: </a:t>
            </a: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A cycle is a path that begins and ends with the same node</a:t>
            </a:r>
            <a:endParaRPr b="1" sz="18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grpSp>
        <p:nvGrpSpPr>
          <p:cNvPr id="853" name="Google Shape;853;p44"/>
          <p:cNvGrpSpPr/>
          <p:nvPr/>
        </p:nvGrpSpPr>
        <p:grpSpPr>
          <a:xfrm>
            <a:off x="6672800" y="2880360"/>
            <a:ext cx="1647600" cy="1580100"/>
            <a:chOff x="6494400" y="3563400"/>
            <a:chExt cx="1647600" cy="1580100"/>
          </a:xfrm>
        </p:grpSpPr>
        <p:sp>
          <p:nvSpPr>
            <p:cNvPr id="854" name="Google Shape;854;p44"/>
            <p:cNvSpPr/>
            <p:nvPr/>
          </p:nvSpPr>
          <p:spPr>
            <a:xfrm>
              <a:off x="6494400" y="3563400"/>
              <a:ext cx="1647600" cy="1580100"/>
            </a:xfrm>
            <a:prstGeom prst="ellipse">
              <a:avLst/>
            </a:prstGeom>
            <a:noFill/>
            <a:ln cap="flat" cmpd="sng" w="285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44"/>
            <p:cNvSpPr/>
            <p:nvPr/>
          </p:nvSpPr>
          <p:spPr>
            <a:xfrm>
              <a:off x="6673050" y="3952250"/>
              <a:ext cx="390600" cy="368700"/>
            </a:xfrm>
            <a:prstGeom prst="ellipse">
              <a:avLst/>
            </a:prstGeom>
            <a:solidFill>
              <a:srgbClr val="EFEFEF"/>
            </a:solidFill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a</a:t>
              </a:r>
              <a:endParaRPr/>
            </a:p>
          </p:txBody>
        </p:sp>
        <p:sp>
          <p:nvSpPr>
            <p:cNvPr id="856" name="Google Shape;856;p44"/>
            <p:cNvSpPr/>
            <p:nvPr/>
          </p:nvSpPr>
          <p:spPr>
            <a:xfrm>
              <a:off x="7572750" y="3952250"/>
              <a:ext cx="390600" cy="368700"/>
            </a:xfrm>
            <a:prstGeom prst="ellipse">
              <a:avLst/>
            </a:prstGeom>
            <a:solidFill>
              <a:srgbClr val="EFEFEF"/>
            </a:solidFill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b</a:t>
              </a:r>
              <a:endParaRPr/>
            </a:p>
          </p:txBody>
        </p:sp>
        <p:sp>
          <p:nvSpPr>
            <p:cNvPr id="857" name="Google Shape;857;p44"/>
            <p:cNvSpPr/>
            <p:nvPr/>
          </p:nvSpPr>
          <p:spPr>
            <a:xfrm>
              <a:off x="7122900" y="4638375"/>
              <a:ext cx="390600" cy="368700"/>
            </a:xfrm>
            <a:prstGeom prst="ellipse">
              <a:avLst/>
            </a:prstGeom>
            <a:solidFill>
              <a:srgbClr val="EFEFEF"/>
            </a:solidFill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c</a:t>
              </a:r>
              <a:endParaRPr/>
            </a:p>
          </p:txBody>
        </p:sp>
        <p:cxnSp>
          <p:nvCxnSpPr>
            <p:cNvPr id="858" name="Google Shape;858;p44"/>
            <p:cNvCxnSpPr>
              <a:stCxn id="855" idx="6"/>
              <a:endCxn id="856" idx="2"/>
            </p:cNvCxnSpPr>
            <p:nvPr/>
          </p:nvCxnSpPr>
          <p:spPr>
            <a:xfrm>
              <a:off x="7063650" y="4136600"/>
              <a:ext cx="509100" cy="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859" name="Google Shape;859;p44"/>
            <p:cNvCxnSpPr>
              <a:stCxn id="856" idx="3"/>
              <a:endCxn id="857" idx="0"/>
            </p:cNvCxnSpPr>
            <p:nvPr/>
          </p:nvCxnSpPr>
          <p:spPr>
            <a:xfrm flipH="1">
              <a:off x="7318252" y="4266955"/>
              <a:ext cx="311700" cy="3714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860" name="Google Shape;860;p44"/>
            <p:cNvCxnSpPr>
              <a:stCxn id="855" idx="4"/>
              <a:endCxn id="857" idx="0"/>
            </p:cNvCxnSpPr>
            <p:nvPr/>
          </p:nvCxnSpPr>
          <p:spPr>
            <a:xfrm>
              <a:off x="6868350" y="4320950"/>
              <a:ext cx="450000" cy="3174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stealth"/>
              <a:tailEnd len="med" w="med" type="none"/>
            </a:ln>
          </p:spPr>
        </p:cxnSp>
      </p:grpSp>
      <p:sp>
        <p:nvSpPr>
          <p:cNvPr id="861" name="Google Shape;861;p44"/>
          <p:cNvSpPr txBox="1"/>
          <p:nvPr/>
        </p:nvSpPr>
        <p:spPr>
          <a:xfrm rot="-1409">
            <a:off x="5124275" y="4270548"/>
            <a:ext cx="1464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This would be weird!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862" name="Google Shape;862;p44"/>
          <p:cNvCxnSpPr>
            <a:stCxn id="861" idx="3"/>
          </p:cNvCxnSpPr>
          <p:nvPr/>
        </p:nvCxnSpPr>
        <p:spPr>
          <a:xfrm flipH="1" rot="10800000">
            <a:off x="6588275" y="3874848"/>
            <a:ext cx="562200" cy="549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63" name="Google Shape;863;p44"/>
          <p:cNvSpPr txBox="1"/>
          <p:nvPr/>
        </p:nvSpPr>
        <p:spPr>
          <a:xfrm>
            <a:off x="6672800" y="4510175"/>
            <a:ext cx="16476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Cyclical Triad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id="864" name="Google Shape;86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99625"/>
            <a:ext cx="4267197" cy="3319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4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emergence of dominance hierarchies</a:t>
            </a:r>
            <a:endParaRPr/>
          </a:p>
        </p:txBody>
      </p:sp>
      <p:sp>
        <p:nvSpPr>
          <p:cNvPr id="870" name="Google Shape;870;p45"/>
          <p:cNvSpPr txBox="1"/>
          <p:nvPr>
            <p:ph idx="1" type="body"/>
          </p:nvPr>
        </p:nvSpPr>
        <p:spPr>
          <a:xfrm>
            <a:off x="311700" y="1225225"/>
            <a:ext cx="8520600" cy="14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dominance order can be represented as </a:t>
            </a:r>
            <a:r>
              <a:rPr b="1" lang="en"/>
              <a:t>dominance network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Nodes</a:t>
            </a:r>
            <a:r>
              <a:rPr lang="en"/>
              <a:t> are animals (whether human or not)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Directed, antisymmetric </a:t>
            </a:r>
            <a:r>
              <a:rPr b="1" lang="en"/>
              <a:t>links</a:t>
            </a:r>
            <a:r>
              <a:rPr lang="en"/>
              <a:t> indicate that animal i dominates animal j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Types of </a:t>
            </a:r>
            <a:r>
              <a:rPr b="1" lang="en"/>
              <a:t>possible</a:t>
            </a:r>
            <a:r>
              <a:rPr lang="en"/>
              <a:t> </a:t>
            </a:r>
            <a:r>
              <a:rPr b="1" lang="en"/>
              <a:t>triads</a:t>
            </a:r>
            <a:r>
              <a:rPr lang="en"/>
              <a:t> in dominance networks:</a:t>
            </a:r>
            <a:endParaRPr/>
          </a:p>
        </p:txBody>
      </p:sp>
      <p:pic>
        <p:nvPicPr>
          <p:cNvPr id="871" name="Google Shape;87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2743200"/>
            <a:ext cx="8520599" cy="14451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4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emergence of dominance hierarchies</a:t>
            </a:r>
            <a:endParaRPr/>
          </a:p>
        </p:txBody>
      </p:sp>
      <p:sp>
        <p:nvSpPr>
          <p:cNvPr id="877" name="Google Shape;877;p46"/>
          <p:cNvSpPr txBox="1"/>
          <p:nvPr>
            <p:ph idx="1" type="body"/>
          </p:nvPr>
        </p:nvSpPr>
        <p:spPr>
          <a:xfrm>
            <a:off x="311700" y="1225225"/>
            <a:ext cx="8520600" cy="14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dominance order can be represented as </a:t>
            </a:r>
            <a:r>
              <a:rPr b="1" lang="en"/>
              <a:t>dominance network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Nodes</a:t>
            </a:r>
            <a:r>
              <a:rPr lang="en"/>
              <a:t> are animals (whether human or not)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Directed, antisymmetric </a:t>
            </a:r>
            <a:r>
              <a:rPr b="1" lang="en"/>
              <a:t>links</a:t>
            </a:r>
            <a:r>
              <a:rPr lang="en"/>
              <a:t> indicate that animal i dominates animal j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Types of </a:t>
            </a:r>
            <a:r>
              <a:rPr b="1" lang="en"/>
              <a:t>expected</a:t>
            </a:r>
            <a:r>
              <a:rPr lang="en"/>
              <a:t> </a:t>
            </a:r>
            <a:r>
              <a:rPr b="1" lang="en"/>
              <a:t>triads</a:t>
            </a:r>
            <a:r>
              <a:rPr lang="en"/>
              <a:t> in dominance networks:</a:t>
            </a:r>
            <a:endParaRPr/>
          </a:p>
        </p:txBody>
      </p:sp>
      <p:pic>
        <p:nvPicPr>
          <p:cNvPr id="878" name="Google Shape;87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2743200"/>
            <a:ext cx="8520599" cy="1445131"/>
          </a:xfrm>
          <a:prstGeom prst="rect">
            <a:avLst/>
          </a:prstGeom>
          <a:noFill/>
          <a:ln>
            <a:noFill/>
          </a:ln>
        </p:spPr>
      </p:pic>
      <p:sp>
        <p:nvSpPr>
          <p:cNvPr id="879" name="Google Shape;879;p46"/>
          <p:cNvSpPr/>
          <p:nvPr/>
        </p:nvSpPr>
        <p:spPr>
          <a:xfrm>
            <a:off x="7200900" y="2650825"/>
            <a:ext cx="1453200" cy="1137600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4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emergence of dominance hierarchies</a:t>
            </a:r>
            <a:endParaRPr/>
          </a:p>
        </p:txBody>
      </p:sp>
      <p:sp>
        <p:nvSpPr>
          <p:cNvPr id="885" name="Google Shape;885;p47"/>
          <p:cNvSpPr txBox="1"/>
          <p:nvPr>
            <p:ph idx="1" type="body"/>
          </p:nvPr>
        </p:nvSpPr>
        <p:spPr>
          <a:xfrm>
            <a:off x="311700" y="1225225"/>
            <a:ext cx="4396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Chickens form perfectly linear hierarchies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breaks down at about N=10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are these social structures formed?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 </a:t>
            </a:r>
            <a:r>
              <a:rPr b="1" lang="en"/>
              <a:t>attribute based-</a:t>
            </a:r>
            <a:r>
              <a:rPr lang="en"/>
              <a:t>model says position in the hierarchy is a function of individual characteristics (size, age, strength, etc.)</a:t>
            </a:r>
            <a:endParaRPr/>
          </a:p>
        </p:txBody>
      </p:sp>
      <p:sp>
        <p:nvSpPr>
          <p:cNvPr id="886" name="Google Shape;886;p47"/>
          <p:cNvSpPr/>
          <p:nvPr/>
        </p:nvSpPr>
        <p:spPr>
          <a:xfrm>
            <a:off x="5371050" y="3120000"/>
            <a:ext cx="356100" cy="36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47"/>
          <p:cNvSpPr/>
          <p:nvPr/>
        </p:nvSpPr>
        <p:spPr>
          <a:xfrm>
            <a:off x="5474000" y="3727400"/>
            <a:ext cx="356100" cy="36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47"/>
          <p:cNvSpPr/>
          <p:nvPr/>
        </p:nvSpPr>
        <p:spPr>
          <a:xfrm>
            <a:off x="5903350" y="2754000"/>
            <a:ext cx="356100" cy="36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47"/>
          <p:cNvSpPr/>
          <p:nvPr/>
        </p:nvSpPr>
        <p:spPr>
          <a:xfrm>
            <a:off x="5830100" y="3342550"/>
            <a:ext cx="356100" cy="36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47"/>
          <p:cNvSpPr/>
          <p:nvPr/>
        </p:nvSpPr>
        <p:spPr>
          <a:xfrm>
            <a:off x="5909388" y="3931100"/>
            <a:ext cx="356100" cy="36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47"/>
          <p:cNvSpPr/>
          <p:nvPr/>
        </p:nvSpPr>
        <p:spPr>
          <a:xfrm>
            <a:off x="6289150" y="3159550"/>
            <a:ext cx="356100" cy="36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47"/>
          <p:cNvSpPr txBox="1"/>
          <p:nvPr/>
        </p:nvSpPr>
        <p:spPr>
          <a:xfrm>
            <a:off x="4796525" y="1804513"/>
            <a:ext cx="2601300" cy="6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mfortaa"/>
                <a:ea typeface="Comfortaa"/>
                <a:cs typeface="Comfortaa"/>
                <a:sym typeface="Comfortaa"/>
              </a:rPr>
              <a:t>How do we </a:t>
            </a:r>
            <a:endParaRPr sz="18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mfortaa"/>
                <a:ea typeface="Comfortaa"/>
                <a:cs typeface="Comfortaa"/>
                <a:sym typeface="Comfortaa"/>
              </a:rPr>
              <a:t>go from:</a:t>
            </a:r>
            <a:endParaRPr sz="18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93" name="Google Shape;893;p47"/>
          <p:cNvSpPr txBox="1"/>
          <p:nvPr/>
        </p:nvSpPr>
        <p:spPr>
          <a:xfrm>
            <a:off x="5644250" y="4599175"/>
            <a:ext cx="7278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mfortaa"/>
                <a:ea typeface="Comfortaa"/>
                <a:cs typeface="Comfortaa"/>
                <a:sym typeface="Comfortaa"/>
              </a:rPr>
              <a:t>This</a:t>
            </a:r>
            <a:endParaRPr sz="18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94" name="Google Shape;894;p47"/>
          <p:cNvSpPr txBox="1"/>
          <p:nvPr/>
        </p:nvSpPr>
        <p:spPr>
          <a:xfrm>
            <a:off x="7177300" y="4599175"/>
            <a:ext cx="11001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mfortaa"/>
                <a:ea typeface="Comfortaa"/>
                <a:cs typeface="Comfortaa"/>
                <a:sym typeface="Comfortaa"/>
              </a:rPr>
              <a:t>To this?</a:t>
            </a:r>
            <a:endParaRPr sz="18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95" name="Google Shape;895;p47"/>
          <p:cNvSpPr/>
          <p:nvPr/>
        </p:nvSpPr>
        <p:spPr>
          <a:xfrm>
            <a:off x="7549300" y="2506613"/>
            <a:ext cx="356100" cy="36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47"/>
          <p:cNvSpPr/>
          <p:nvPr/>
        </p:nvSpPr>
        <p:spPr>
          <a:xfrm>
            <a:off x="7549300" y="1403713"/>
            <a:ext cx="356100" cy="36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47"/>
          <p:cNvSpPr/>
          <p:nvPr/>
        </p:nvSpPr>
        <p:spPr>
          <a:xfrm>
            <a:off x="7549300" y="1955163"/>
            <a:ext cx="356100" cy="36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47"/>
          <p:cNvSpPr/>
          <p:nvPr/>
        </p:nvSpPr>
        <p:spPr>
          <a:xfrm>
            <a:off x="7549300" y="3609513"/>
            <a:ext cx="356100" cy="36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47"/>
          <p:cNvSpPr/>
          <p:nvPr/>
        </p:nvSpPr>
        <p:spPr>
          <a:xfrm>
            <a:off x="7549300" y="4143488"/>
            <a:ext cx="356100" cy="36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47"/>
          <p:cNvSpPr/>
          <p:nvPr/>
        </p:nvSpPr>
        <p:spPr>
          <a:xfrm>
            <a:off x="7549300" y="3075538"/>
            <a:ext cx="356100" cy="36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1" name="Google Shape;901;p47"/>
          <p:cNvCxnSpPr>
            <a:stCxn id="896" idx="4"/>
            <a:endCxn id="897" idx="0"/>
          </p:cNvCxnSpPr>
          <p:nvPr/>
        </p:nvCxnSpPr>
        <p:spPr>
          <a:xfrm>
            <a:off x="7727350" y="1769713"/>
            <a:ext cx="0" cy="185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2" name="Google Shape;902;p47"/>
          <p:cNvCxnSpPr>
            <a:stCxn id="897" idx="4"/>
            <a:endCxn id="895" idx="0"/>
          </p:cNvCxnSpPr>
          <p:nvPr/>
        </p:nvCxnSpPr>
        <p:spPr>
          <a:xfrm>
            <a:off x="7727350" y="2321163"/>
            <a:ext cx="0" cy="185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3" name="Google Shape;903;p47"/>
          <p:cNvCxnSpPr>
            <a:stCxn id="895" idx="4"/>
            <a:endCxn id="900" idx="0"/>
          </p:cNvCxnSpPr>
          <p:nvPr/>
        </p:nvCxnSpPr>
        <p:spPr>
          <a:xfrm>
            <a:off x="7727350" y="2872613"/>
            <a:ext cx="0" cy="202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4" name="Google Shape;904;p47"/>
          <p:cNvCxnSpPr>
            <a:stCxn id="900" idx="4"/>
            <a:endCxn id="898" idx="0"/>
          </p:cNvCxnSpPr>
          <p:nvPr/>
        </p:nvCxnSpPr>
        <p:spPr>
          <a:xfrm>
            <a:off x="7727350" y="3441538"/>
            <a:ext cx="0" cy="168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5" name="Google Shape;905;p47"/>
          <p:cNvCxnSpPr>
            <a:stCxn id="898" idx="4"/>
            <a:endCxn id="899" idx="0"/>
          </p:cNvCxnSpPr>
          <p:nvPr/>
        </p:nvCxnSpPr>
        <p:spPr>
          <a:xfrm>
            <a:off x="7727350" y="3975513"/>
            <a:ext cx="0" cy="168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6" name="Google Shape;906;p47"/>
          <p:cNvCxnSpPr>
            <a:stCxn id="896" idx="6"/>
            <a:endCxn id="895" idx="6"/>
          </p:cNvCxnSpPr>
          <p:nvPr/>
        </p:nvCxnSpPr>
        <p:spPr>
          <a:xfrm>
            <a:off x="7905400" y="1586713"/>
            <a:ext cx="600" cy="11028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07" name="Google Shape;907;p47"/>
          <p:cNvCxnSpPr>
            <a:stCxn id="896" idx="2"/>
            <a:endCxn id="900" idx="2"/>
          </p:cNvCxnSpPr>
          <p:nvPr/>
        </p:nvCxnSpPr>
        <p:spPr>
          <a:xfrm>
            <a:off x="7549300" y="1586713"/>
            <a:ext cx="600" cy="16719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08" name="Google Shape;908;p47"/>
          <p:cNvCxnSpPr>
            <a:stCxn id="896" idx="6"/>
            <a:endCxn id="898" idx="6"/>
          </p:cNvCxnSpPr>
          <p:nvPr/>
        </p:nvCxnSpPr>
        <p:spPr>
          <a:xfrm>
            <a:off x="7905400" y="1586713"/>
            <a:ext cx="600" cy="22059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09" name="Google Shape;909;p47"/>
          <p:cNvCxnSpPr>
            <a:stCxn id="896" idx="2"/>
            <a:endCxn id="899" idx="2"/>
          </p:cNvCxnSpPr>
          <p:nvPr/>
        </p:nvCxnSpPr>
        <p:spPr>
          <a:xfrm>
            <a:off x="7549300" y="1586713"/>
            <a:ext cx="600" cy="27399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10" name="Google Shape;910;p47"/>
          <p:cNvCxnSpPr>
            <a:stCxn id="897" idx="6"/>
            <a:endCxn id="900" idx="6"/>
          </p:cNvCxnSpPr>
          <p:nvPr/>
        </p:nvCxnSpPr>
        <p:spPr>
          <a:xfrm>
            <a:off x="7905400" y="2138163"/>
            <a:ext cx="600" cy="11205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11" name="Google Shape;911;p47"/>
          <p:cNvCxnSpPr>
            <a:stCxn id="897" idx="2"/>
            <a:endCxn id="898" idx="2"/>
          </p:cNvCxnSpPr>
          <p:nvPr/>
        </p:nvCxnSpPr>
        <p:spPr>
          <a:xfrm>
            <a:off x="7549300" y="2138163"/>
            <a:ext cx="600" cy="16545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12" name="Google Shape;912;p47"/>
          <p:cNvCxnSpPr>
            <a:stCxn id="897" idx="6"/>
            <a:endCxn id="899" idx="6"/>
          </p:cNvCxnSpPr>
          <p:nvPr/>
        </p:nvCxnSpPr>
        <p:spPr>
          <a:xfrm>
            <a:off x="7905400" y="2138163"/>
            <a:ext cx="600" cy="21882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13" name="Google Shape;913;p47"/>
          <p:cNvCxnSpPr>
            <a:stCxn id="895" idx="6"/>
            <a:endCxn id="898" idx="6"/>
          </p:cNvCxnSpPr>
          <p:nvPr/>
        </p:nvCxnSpPr>
        <p:spPr>
          <a:xfrm>
            <a:off x="7905400" y="2689613"/>
            <a:ext cx="600" cy="11028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14" name="Google Shape;914;p47"/>
          <p:cNvCxnSpPr>
            <a:stCxn id="895" idx="2"/>
            <a:endCxn id="899" idx="2"/>
          </p:cNvCxnSpPr>
          <p:nvPr/>
        </p:nvCxnSpPr>
        <p:spPr>
          <a:xfrm>
            <a:off x="7549300" y="2689613"/>
            <a:ext cx="600" cy="16368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15" name="Google Shape;915;p47"/>
          <p:cNvCxnSpPr>
            <a:stCxn id="900" idx="6"/>
            <a:endCxn id="899" idx="6"/>
          </p:cNvCxnSpPr>
          <p:nvPr/>
        </p:nvCxnSpPr>
        <p:spPr>
          <a:xfrm>
            <a:off x="7905400" y="3258538"/>
            <a:ext cx="600" cy="10680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4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emergence of dominance hierarchies</a:t>
            </a:r>
            <a:endParaRPr/>
          </a:p>
        </p:txBody>
      </p:sp>
      <p:sp>
        <p:nvSpPr>
          <p:cNvPr id="921" name="Google Shape;921;p48"/>
          <p:cNvSpPr txBox="1"/>
          <p:nvPr>
            <p:ph idx="1" type="body"/>
          </p:nvPr>
        </p:nvSpPr>
        <p:spPr>
          <a:xfrm>
            <a:off x="311700" y="1225225"/>
            <a:ext cx="4396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Chickens form perfectly linear hierarchies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Breaks down at about N=10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are these social structures formed?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/>
              <a:t>interaction-based model</a:t>
            </a:r>
            <a:r>
              <a:rPr lang="en"/>
              <a:t> says the hierarchy emerges from local network processes partially independently from attributes</a:t>
            </a:r>
            <a:endParaRPr/>
          </a:p>
        </p:txBody>
      </p:sp>
      <p:sp>
        <p:nvSpPr>
          <p:cNvPr id="922" name="Google Shape;922;p48"/>
          <p:cNvSpPr/>
          <p:nvPr/>
        </p:nvSpPr>
        <p:spPr>
          <a:xfrm>
            <a:off x="5371050" y="3120000"/>
            <a:ext cx="356100" cy="36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48"/>
          <p:cNvSpPr/>
          <p:nvPr/>
        </p:nvSpPr>
        <p:spPr>
          <a:xfrm>
            <a:off x="5474000" y="3727400"/>
            <a:ext cx="356100" cy="36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48"/>
          <p:cNvSpPr/>
          <p:nvPr/>
        </p:nvSpPr>
        <p:spPr>
          <a:xfrm>
            <a:off x="5903350" y="2754000"/>
            <a:ext cx="356100" cy="36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48"/>
          <p:cNvSpPr/>
          <p:nvPr/>
        </p:nvSpPr>
        <p:spPr>
          <a:xfrm>
            <a:off x="5830100" y="3342550"/>
            <a:ext cx="356100" cy="36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48"/>
          <p:cNvSpPr/>
          <p:nvPr/>
        </p:nvSpPr>
        <p:spPr>
          <a:xfrm>
            <a:off x="5909388" y="3931100"/>
            <a:ext cx="356100" cy="36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48"/>
          <p:cNvSpPr/>
          <p:nvPr/>
        </p:nvSpPr>
        <p:spPr>
          <a:xfrm>
            <a:off x="6289150" y="3159550"/>
            <a:ext cx="356100" cy="36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48"/>
          <p:cNvSpPr txBox="1"/>
          <p:nvPr/>
        </p:nvSpPr>
        <p:spPr>
          <a:xfrm>
            <a:off x="5644250" y="4599175"/>
            <a:ext cx="7278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mfortaa"/>
                <a:ea typeface="Comfortaa"/>
                <a:cs typeface="Comfortaa"/>
                <a:sym typeface="Comfortaa"/>
              </a:rPr>
              <a:t>This</a:t>
            </a:r>
            <a:endParaRPr sz="18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29" name="Google Shape;929;p48"/>
          <p:cNvSpPr txBox="1"/>
          <p:nvPr/>
        </p:nvSpPr>
        <p:spPr>
          <a:xfrm>
            <a:off x="7177300" y="4599175"/>
            <a:ext cx="11001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mfortaa"/>
                <a:ea typeface="Comfortaa"/>
                <a:cs typeface="Comfortaa"/>
                <a:sym typeface="Comfortaa"/>
              </a:rPr>
              <a:t>To this?</a:t>
            </a:r>
            <a:endParaRPr sz="18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30" name="Google Shape;930;p48"/>
          <p:cNvSpPr/>
          <p:nvPr/>
        </p:nvSpPr>
        <p:spPr>
          <a:xfrm>
            <a:off x="7549300" y="2506613"/>
            <a:ext cx="356100" cy="36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48"/>
          <p:cNvSpPr/>
          <p:nvPr/>
        </p:nvSpPr>
        <p:spPr>
          <a:xfrm>
            <a:off x="7549300" y="1403713"/>
            <a:ext cx="356100" cy="36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p48"/>
          <p:cNvSpPr/>
          <p:nvPr/>
        </p:nvSpPr>
        <p:spPr>
          <a:xfrm>
            <a:off x="7549300" y="1955163"/>
            <a:ext cx="356100" cy="36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48"/>
          <p:cNvSpPr/>
          <p:nvPr/>
        </p:nvSpPr>
        <p:spPr>
          <a:xfrm>
            <a:off x="7549300" y="3609513"/>
            <a:ext cx="356100" cy="36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48"/>
          <p:cNvSpPr/>
          <p:nvPr/>
        </p:nvSpPr>
        <p:spPr>
          <a:xfrm>
            <a:off x="7549300" y="4143488"/>
            <a:ext cx="356100" cy="36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48"/>
          <p:cNvSpPr/>
          <p:nvPr/>
        </p:nvSpPr>
        <p:spPr>
          <a:xfrm>
            <a:off x="7549300" y="3075538"/>
            <a:ext cx="356100" cy="36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36" name="Google Shape;936;p48"/>
          <p:cNvCxnSpPr>
            <a:stCxn id="931" idx="4"/>
            <a:endCxn id="932" idx="0"/>
          </p:cNvCxnSpPr>
          <p:nvPr/>
        </p:nvCxnSpPr>
        <p:spPr>
          <a:xfrm>
            <a:off x="7727350" y="1769713"/>
            <a:ext cx="0" cy="185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7" name="Google Shape;937;p48"/>
          <p:cNvCxnSpPr>
            <a:stCxn id="932" idx="4"/>
            <a:endCxn id="930" idx="0"/>
          </p:cNvCxnSpPr>
          <p:nvPr/>
        </p:nvCxnSpPr>
        <p:spPr>
          <a:xfrm>
            <a:off x="7727350" y="2321163"/>
            <a:ext cx="0" cy="185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8" name="Google Shape;938;p48"/>
          <p:cNvCxnSpPr>
            <a:stCxn id="930" idx="4"/>
            <a:endCxn id="935" idx="0"/>
          </p:cNvCxnSpPr>
          <p:nvPr/>
        </p:nvCxnSpPr>
        <p:spPr>
          <a:xfrm>
            <a:off x="7727350" y="2872613"/>
            <a:ext cx="0" cy="202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9" name="Google Shape;939;p48"/>
          <p:cNvCxnSpPr>
            <a:stCxn id="935" idx="4"/>
            <a:endCxn id="933" idx="0"/>
          </p:cNvCxnSpPr>
          <p:nvPr/>
        </p:nvCxnSpPr>
        <p:spPr>
          <a:xfrm>
            <a:off x="7727350" y="3441538"/>
            <a:ext cx="0" cy="168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0" name="Google Shape;940;p48"/>
          <p:cNvCxnSpPr>
            <a:stCxn id="933" idx="4"/>
            <a:endCxn id="934" idx="0"/>
          </p:cNvCxnSpPr>
          <p:nvPr/>
        </p:nvCxnSpPr>
        <p:spPr>
          <a:xfrm>
            <a:off x="7727350" y="3975513"/>
            <a:ext cx="0" cy="168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1" name="Google Shape;941;p48"/>
          <p:cNvCxnSpPr>
            <a:stCxn id="931" idx="6"/>
            <a:endCxn id="930" idx="6"/>
          </p:cNvCxnSpPr>
          <p:nvPr/>
        </p:nvCxnSpPr>
        <p:spPr>
          <a:xfrm>
            <a:off x="7905400" y="1586713"/>
            <a:ext cx="600" cy="11028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42" name="Google Shape;942;p48"/>
          <p:cNvCxnSpPr>
            <a:stCxn id="931" idx="2"/>
            <a:endCxn id="935" idx="2"/>
          </p:cNvCxnSpPr>
          <p:nvPr/>
        </p:nvCxnSpPr>
        <p:spPr>
          <a:xfrm>
            <a:off x="7549300" y="1586713"/>
            <a:ext cx="600" cy="16719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43" name="Google Shape;943;p48"/>
          <p:cNvCxnSpPr>
            <a:stCxn id="931" idx="6"/>
            <a:endCxn id="933" idx="6"/>
          </p:cNvCxnSpPr>
          <p:nvPr/>
        </p:nvCxnSpPr>
        <p:spPr>
          <a:xfrm>
            <a:off x="7905400" y="1586713"/>
            <a:ext cx="600" cy="22059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44" name="Google Shape;944;p48"/>
          <p:cNvCxnSpPr>
            <a:stCxn id="931" idx="2"/>
            <a:endCxn id="934" idx="2"/>
          </p:cNvCxnSpPr>
          <p:nvPr/>
        </p:nvCxnSpPr>
        <p:spPr>
          <a:xfrm>
            <a:off x="7549300" y="1586713"/>
            <a:ext cx="600" cy="27399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45" name="Google Shape;945;p48"/>
          <p:cNvCxnSpPr>
            <a:stCxn id="932" idx="6"/>
            <a:endCxn id="935" idx="6"/>
          </p:cNvCxnSpPr>
          <p:nvPr/>
        </p:nvCxnSpPr>
        <p:spPr>
          <a:xfrm>
            <a:off x="7905400" y="2138163"/>
            <a:ext cx="600" cy="11205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46" name="Google Shape;946;p48"/>
          <p:cNvCxnSpPr>
            <a:stCxn id="932" idx="2"/>
            <a:endCxn id="933" idx="2"/>
          </p:cNvCxnSpPr>
          <p:nvPr/>
        </p:nvCxnSpPr>
        <p:spPr>
          <a:xfrm>
            <a:off x="7549300" y="2138163"/>
            <a:ext cx="600" cy="16545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47" name="Google Shape;947;p48"/>
          <p:cNvCxnSpPr>
            <a:stCxn id="932" idx="6"/>
            <a:endCxn id="934" idx="6"/>
          </p:cNvCxnSpPr>
          <p:nvPr/>
        </p:nvCxnSpPr>
        <p:spPr>
          <a:xfrm>
            <a:off x="7905400" y="2138163"/>
            <a:ext cx="600" cy="21882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48" name="Google Shape;948;p48"/>
          <p:cNvCxnSpPr>
            <a:stCxn id="930" idx="6"/>
            <a:endCxn id="933" idx="6"/>
          </p:cNvCxnSpPr>
          <p:nvPr/>
        </p:nvCxnSpPr>
        <p:spPr>
          <a:xfrm>
            <a:off x="7905400" y="2689613"/>
            <a:ext cx="600" cy="11028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49" name="Google Shape;949;p48"/>
          <p:cNvCxnSpPr>
            <a:stCxn id="930" idx="2"/>
            <a:endCxn id="934" idx="2"/>
          </p:cNvCxnSpPr>
          <p:nvPr/>
        </p:nvCxnSpPr>
        <p:spPr>
          <a:xfrm>
            <a:off x="7549300" y="2689613"/>
            <a:ext cx="600" cy="16368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50" name="Google Shape;950;p48"/>
          <p:cNvCxnSpPr>
            <a:stCxn id="935" idx="6"/>
            <a:endCxn id="934" idx="6"/>
          </p:cNvCxnSpPr>
          <p:nvPr/>
        </p:nvCxnSpPr>
        <p:spPr>
          <a:xfrm>
            <a:off x="7905400" y="3258538"/>
            <a:ext cx="600" cy="10680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51" name="Google Shape;951;p48"/>
          <p:cNvSpPr txBox="1"/>
          <p:nvPr/>
        </p:nvSpPr>
        <p:spPr>
          <a:xfrm>
            <a:off x="4796525" y="1804513"/>
            <a:ext cx="2601300" cy="6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mfortaa"/>
                <a:ea typeface="Comfortaa"/>
                <a:cs typeface="Comfortaa"/>
                <a:sym typeface="Comfortaa"/>
              </a:rPr>
              <a:t>How do we </a:t>
            </a:r>
            <a:endParaRPr sz="18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mfortaa"/>
                <a:ea typeface="Comfortaa"/>
                <a:cs typeface="Comfortaa"/>
                <a:sym typeface="Comfortaa"/>
              </a:rPr>
              <a:t>go from:</a:t>
            </a:r>
            <a:endParaRPr sz="18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4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Agonistic Competition as Iterative and Social</a:t>
            </a:r>
            <a:endParaRPr/>
          </a:p>
        </p:txBody>
      </p:sp>
      <p:sp>
        <p:nvSpPr>
          <p:cNvPr id="957" name="Google Shape;957;p49"/>
          <p:cNvSpPr/>
          <p:nvPr/>
        </p:nvSpPr>
        <p:spPr>
          <a:xfrm>
            <a:off x="5628775" y="1863261"/>
            <a:ext cx="332100" cy="33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49"/>
          <p:cNvSpPr/>
          <p:nvPr/>
        </p:nvSpPr>
        <p:spPr>
          <a:xfrm>
            <a:off x="5923928" y="1264244"/>
            <a:ext cx="332100" cy="3360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59" name="Google Shape;959;p49"/>
          <p:cNvCxnSpPr>
            <a:stCxn id="958" idx="4"/>
            <a:endCxn id="957" idx="0"/>
          </p:cNvCxnSpPr>
          <p:nvPr/>
        </p:nvCxnSpPr>
        <p:spPr>
          <a:xfrm flipH="1">
            <a:off x="5794778" y="1600244"/>
            <a:ext cx="295200" cy="263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60" name="Google Shape;960;p49"/>
          <p:cNvSpPr/>
          <p:nvPr/>
        </p:nvSpPr>
        <p:spPr>
          <a:xfrm>
            <a:off x="6936564" y="1583262"/>
            <a:ext cx="415200" cy="399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49"/>
          <p:cNvSpPr/>
          <p:nvPr/>
        </p:nvSpPr>
        <p:spPr>
          <a:xfrm>
            <a:off x="7737067" y="1863273"/>
            <a:ext cx="332100" cy="33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49"/>
          <p:cNvSpPr/>
          <p:nvPr/>
        </p:nvSpPr>
        <p:spPr>
          <a:xfrm>
            <a:off x="8327443" y="1863273"/>
            <a:ext cx="332100" cy="33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49"/>
          <p:cNvSpPr/>
          <p:nvPr/>
        </p:nvSpPr>
        <p:spPr>
          <a:xfrm>
            <a:off x="8032220" y="1264256"/>
            <a:ext cx="332100" cy="3360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64" name="Google Shape;964;p49"/>
          <p:cNvCxnSpPr>
            <a:stCxn id="963" idx="4"/>
            <a:endCxn id="961" idx="0"/>
          </p:cNvCxnSpPr>
          <p:nvPr/>
        </p:nvCxnSpPr>
        <p:spPr>
          <a:xfrm flipH="1">
            <a:off x="7903070" y="1600256"/>
            <a:ext cx="295200" cy="263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5" name="Google Shape;965;p49"/>
          <p:cNvCxnSpPr>
            <a:stCxn id="963" idx="4"/>
            <a:endCxn id="962" idx="0"/>
          </p:cNvCxnSpPr>
          <p:nvPr/>
        </p:nvCxnSpPr>
        <p:spPr>
          <a:xfrm>
            <a:off x="8198270" y="1600256"/>
            <a:ext cx="295200" cy="263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66" name="Google Shape;966;p49"/>
          <p:cNvSpPr txBox="1"/>
          <p:nvPr/>
        </p:nvSpPr>
        <p:spPr>
          <a:xfrm>
            <a:off x="5447850" y="4598800"/>
            <a:ext cx="9891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fortaa"/>
                <a:ea typeface="Comfortaa"/>
                <a:cs typeface="Comfortaa"/>
                <a:sym typeface="Comfortaa"/>
              </a:rPr>
              <a:t>Time 1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67" name="Google Shape;967;p49"/>
          <p:cNvSpPr txBox="1"/>
          <p:nvPr/>
        </p:nvSpPr>
        <p:spPr>
          <a:xfrm>
            <a:off x="7703725" y="4598850"/>
            <a:ext cx="9891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fortaa"/>
                <a:ea typeface="Comfortaa"/>
                <a:cs typeface="Comfortaa"/>
                <a:sym typeface="Comfortaa"/>
              </a:rPr>
              <a:t>Time 2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68" name="Google Shape;968;p49"/>
          <p:cNvSpPr txBox="1"/>
          <p:nvPr>
            <p:ph idx="1" type="body"/>
          </p:nvPr>
        </p:nvSpPr>
        <p:spPr>
          <a:xfrm>
            <a:off x="311700" y="1225225"/>
            <a:ext cx="5314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Three possible mechanisms: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Winner Effects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Confidence, testosterone boost, experience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Emergence of </a:t>
            </a:r>
            <a:r>
              <a:rPr b="1" lang="en"/>
              <a:t>double-dominant triads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Loser Effects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Lowered confidence, injury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Emergence of </a:t>
            </a:r>
            <a:r>
              <a:rPr b="1" lang="en"/>
              <a:t>double-loser triads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Bystander Effects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Confidence </a:t>
            </a:r>
            <a:r>
              <a:rPr lang="en"/>
              <a:t>vis-à-vis</a:t>
            </a:r>
            <a:r>
              <a:rPr lang="en"/>
              <a:t> winner and loser changes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From </a:t>
            </a:r>
            <a:r>
              <a:rPr b="1" lang="en"/>
              <a:t>single-edge</a:t>
            </a:r>
            <a:r>
              <a:rPr lang="en"/>
              <a:t> to either: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Double-dominant triads</a:t>
            </a:r>
            <a:endParaRPr b="1"/>
          </a:p>
        </p:txBody>
      </p:sp>
      <p:sp>
        <p:nvSpPr>
          <p:cNvPr id="969" name="Google Shape;969;p49"/>
          <p:cNvSpPr txBox="1"/>
          <p:nvPr/>
        </p:nvSpPr>
        <p:spPr>
          <a:xfrm>
            <a:off x="6468095" y="1147225"/>
            <a:ext cx="13461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mfortaa"/>
                <a:ea typeface="Comfortaa"/>
                <a:cs typeface="Comfortaa"/>
                <a:sym typeface="Comfortaa"/>
              </a:rPr>
              <a:t>Winner Effects</a:t>
            </a:r>
            <a:endParaRPr b="1" sz="12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70" name="Google Shape;970;p49"/>
          <p:cNvSpPr/>
          <p:nvPr/>
        </p:nvSpPr>
        <p:spPr>
          <a:xfrm>
            <a:off x="5628788" y="2974750"/>
            <a:ext cx="332100" cy="3360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49"/>
          <p:cNvSpPr/>
          <p:nvPr/>
        </p:nvSpPr>
        <p:spPr>
          <a:xfrm>
            <a:off x="5923940" y="2375734"/>
            <a:ext cx="332100" cy="33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72" name="Google Shape;972;p49"/>
          <p:cNvCxnSpPr>
            <a:stCxn id="971" idx="4"/>
            <a:endCxn id="970" idx="0"/>
          </p:cNvCxnSpPr>
          <p:nvPr/>
        </p:nvCxnSpPr>
        <p:spPr>
          <a:xfrm flipH="1">
            <a:off x="5794790" y="2711734"/>
            <a:ext cx="295200" cy="263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73" name="Google Shape;973;p49"/>
          <p:cNvSpPr/>
          <p:nvPr/>
        </p:nvSpPr>
        <p:spPr>
          <a:xfrm>
            <a:off x="6936576" y="2694751"/>
            <a:ext cx="415200" cy="399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49"/>
          <p:cNvSpPr/>
          <p:nvPr/>
        </p:nvSpPr>
        <p:spPr>
          <a:xfrm>
            <a:off x="7737080" y="2974762"/>
            <a:ext cx="332100" cy="3360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49"/>
          <p:cNvSpPr/>
          <p:nvPr/>
        </p:nvSpPr>
        <p:spPr>
          <a:xfrm>
            <a:off x="8327455" y="2974762"/>
            <a:ext cx="332100" cy="33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49"/>
          <p:cNvSpPr/>
          <p:nvPr/>
        </p:nvSpPr>
        <p:spPr>
          <a:xfrm>
            <a:off x="8032233" y="2375745"/>
            <a:ext cx="332100" cy="33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77" name="Google Shape;977;p49"/>
          <p:cNvCxnSpPr>
            <a:stCxn id="976" idx="4"/>
            <a:endCxn id="974" idx="0"/>
          </p:cNvCxnSpPr>
          <p:nvPr/>
        </p:nvCxnSpPr>
        <p:spPr>
          <a:xfrm flipH="1">
            <a:off x="7903083" y="2711745"/>
            <a:ext cx="295200" cy="263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8" name="Google Shape;978;p49"/>
          <p:cNvCxnSpPr>
            <a:stCxn id="975" idx="2"/>
            <a:endCxn id="974" idx="6"/>
          </p:cNvCxnSpPr>
          <p:nvPr/>
        </p:nvCxnSpPr>
        <p:spPr>
          <a:xfrm rot="10800000">
            <a:off x="8069155" y="3142762"/>
            <a:ext cx="2583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79" name="Google Shape;979;p49"/>
          <p:cNvSpPr txBox="1"/>
          <p:nvPr/>
        </p:nvSpPr>
        <p:spPr>
          <a:xfrm>
            <a:off x="6468108" y="2258714"/>
            <a:ext cx="13461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mfortaa"/>
                <a:ea typeface="Comfortaa"/>
                <a:cs typeface="Comfortaa"/>
                <a:sym typeface="Comfortaa"/>
              </a:rPr>
              <a:t>Loser Effects</a:t>
            </a:r>
            <a:endParaRPr b="1" sz="12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80" name="Google Shape;980;p49"/>
          <p:cNvSpPr/>
          <p:nvPr/>
        </p:nvSpPr>
        <p:spPr>
          <a:xfrm>
            <a:off x="5625763" y="4086250"/>
            <a:ext cx="332100" cy="33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49"/>
          <p:cNvSpPr/>
          <p:nvPr/>
        </p:nvSpPr>
        <p:spPr>
          <a:xfrm>
            <a:off x="6216138" y="4086250"/>
            <a:ext cx="332100" cy="3360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49"/>
          <p:cNvSpPr/>
          <p:nvPr/>
        </p:nvSpPr>
        <p:spPr>
          <a:xfrm>
            <a:off x="5920915" y="3487234"/>
            <a:ext cx="332100" cy="33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83" name="Google Shape;983;p49"/>
          <p:cNvCxnSpPr>
            <a:stCxn id="982" idx="4"/>
            <a:endCxn id="980" idx="0"/>
          </p:cNvCxnSpPr>
          <p:nvPr/>
        </p:nvCxnSpPr>
        <p:spPr>
          <a:xfrm flipH="1">
            <a:off x="5791765" y="3823234"/>
            <a:ext cx="295200" cy="263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84" name="Google Shape;984;p49"/>
          <p:cNvSpPr/>
          <p:nvPr/>
        </p:nvSpPr>
        <p:spPr>
          <a:xfrm>
            <a:off x="6933551" y="3806251"/>
            <a:ext cx="415200" cy="399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5" name="Google Shape;985;p49"/>
          <p:cNvSpPr/>
          <p:nvPr/>
        </p:nvSpPr>
        <p:spPr>
          <a:xfrm>
            <a:off x="7734055" y="4086262"/>
            <a:ext cx="332100" cy="33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p49"/>
          <p:cNvSpPr/>
          <p:nvPr/>
        </p:nvSpPr>
        <p:spPr>
          <a:xfrm>
            <a:off x="8324430" y="4086262"/>
            <a:ext cx="332100" cy="3360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p49"/>
          <p:cNvSpPr/>
          <p:nvPr/>
        </p:nvSpPr>
        <p:spPr>
          <a:xfrm>
            <a:off x="8029208" y="3487245"/>
            <a:ext cx="332100" cy="33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88" name="Google Shape;988;p49"/>
          <p:cNvCxnSpPr>
            <a:stCxn id="987" idx="4"/>
            <a:endCxn id="985" idx="0"/>
          </p:cNvCxnSpPr>
          <p:nvPr/>
        </p:nvCxnSpPr>
        <p:spPr>
          <a:xfrm flipH="1">
            <a:off x="7900058" y="3823245"/>
            <a:ext cx="295200" cy="263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89" name="Google Shape;989;p49"/>
          <p:cNvSpPr txBox="1"/>
          <p:nvPr/>
        </p:nvSpPr>
        <p:spPr>
          <a:xfrm>
            <a:off x="6333350" y="3370225"/>
            <a:ext cx="16149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mfortaa"/>
                <a:ea typeface="Comfortaa"/>
                <a:cs typeface="Comfortaa"/>
                <a:sym typeface="Comfortaa"/>
              </a:rPr>
              <a:t>Bystander Effects</a:t>
            </a:r>
            <a:endParaRPr b="1" sz="1200"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990" name="Google Shape;990;p49"/>
          <p:cNvCxnSpPr>
            <a:stCxn id="987" idx="4"/>
            <a:endCxn id="986" idx="0"/>
          </p:cNvCxnSpPr>
          <p:nvPr/>
        </p:nvCxnSpPr>
        <p:spPr>
          <a:xfrm>
            <a:off x="8195258" y="3823245"/>
            <a:ext cx="295200" cy="263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5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Agonistic Competition as Iterative and Social</a:t>
            </a:r>
            <a:endParaRPr/>
          </a:p>
        </p:txBody>
      </p:sp>
      <p:sp>
        <p:nvSpPr>
          <p:cNvPr id="996" name="Google Shape;996;p50"/>
          <p:cNvSpPr/>
          <p:nvPr/>
        </p:nvSpPr>
        <p:spPr>
          <a:xfrm>
            <a:off x="5628775" y="1863261"/>
            <a:ext cx="332100" cy="33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50"/>
          <p:cNvSpPr/>
          <p:nvPr/>
        </p:nvSpPr>
        <p:spPr>
          <a:xfrm>
            <a:off x="5923928" y="1264244"/>
            <a:ext cx="332100" cy="3360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98" name="Google Shape;998;p50"/>
          <p:cNvCxnSpPr>
            <a:stCxn id="997" idx="4"/>
            <a:endCxn id="996" idx="0"/>
          </p:cNvCxnSpPr>
          <p:nvPr/>
        </p:nvCxnSpPr>
        <p:spPr>
          <a:xfrm flipH="1">
            <a:off x="5794778" y="1600244"/>
            <a:ext cx="295200" cy="263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99" name="Google Shape;999;p50"/>
          <p:cNvSpPr/>
          <p:nvPr/>
        </p:nvSpPr>
        <p:spPr>
          <a:xfrm>
            <a:off x="6936564" y="1583262"/>
            <a:ext cx="415200" cy="399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50"/>
          <p:cNvSpPr/>
          <p:nvPr/>
        </p:nvSpPr>
        <p:spPr>
          <a:xfrm>
            <a:off x="7737067" y="1863273"/>
            <a:ext cx="332100" cy="33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50"/>
          <p:cNvSpPr/>
          <p:nvPr/>
        </p:nvSpPr>
        <p:spPr>
          <a:xfrm>
            <a:off x="8327443" y="1863273"/>
            <a:ext cx="332100" cy="33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50"/>
          <p:cNvSpPr/>
          <p:nvPr/>
        </p:nvSpPr>
        <p:spPr>
          <a:xfrm>
            <a:off x="8032220" y="1264256"/>
            <a:ext cx="332100" cy="3360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03" name="Google Shape;1003;p50"/>
          <p:cNvCxnSpPr>
            <a:stCxn id="1002" idx="4"/>
            <a:endCxn id="1000" idx="0"/>
          </p:cNvCxnSpPr>
          <p:nvPr/>
        </p:nvCxnSpPr>
        <p:spPr>
          <a:xfrm flipH="1">
            <a:off x="7903070" y="1600256"/>
            <a:ext cx="295200" cy="263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04" name="Google Shape;1004;p50"/>
          <p:cNvCxnSpPr>
            <a:stCxn id="1002" idx="4"/>
            <a:endCxn id="1001" idx="0"/>
          </p:cNvCxnSpPr>
          <p:nvPr/>
        </p:nvCxnSpPr>
        <p:spPr>
          <a:xfrm>
            <a:off x="8198270" y="1600256"/>
            <a:ext cx="295200" cy="263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05" name="Google Shape;1005;p50"/>
          <p:cNvSpPr txBox="1"/>
          <p:nvPr/>
        </p:nvSpPr>
        <p:spPr>
          <a:xfrm>
            <a:off x="5447850" y="4598800"/>
            <a:ext cx="9891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fortaa"/>
                <a:ea typeface="Comfortaa"/>
                <a:cs typeface="Comfortaa"/>
                <a:sym typeface="Comfortaa"/>
              </a:rPr>
              <a:t>Time 1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06" name="Google Shape;1006;p50"/>
          <p:cNvSpPr txBox="1"/>
          <p:nvPr/>
        </p:nvSpPr>
        <p:spPr>
          <a:xfrm>
            <a:off x="7703725" y="4598850"/>
            <a:ext cx="9891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fortaa"/>
                <a:ea typeface="Comfortaa"/>
                <a:cs typeface="Comfortaa"/>
                <a:sym typeface="Comfortaa"/>
              </a:rPr>
              <a:t>Time 2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07" name="Google Shape;1007;p50"/>
          <p:cNvSpPr txBox="1"/>
          <p:nvPr>
            <p:ph idx="1" type="body"/>
          </p:nvPr>
        </p:nvSpPr>
        <p:spPr>
          <a:xfrm>
            <a:off x="311700" y="1225225"/>
            <a:ext cx="5314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Three possible mechanisms: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Winner Effects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Confidence, testosterone boost, experience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Emergence of </a:t>
            </a:r>
            <a:r>
              <a:rPr b="1" lang="en"/>
              <a:t>double-dominant triads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Loser Effects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Lowered confidence, injury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Emergence of </a:t>
            </a:r>
            <a:r>
              <a:rPr b="1" lang="en"/>
              <a:t>double-loser triads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Bystander Effects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Confidence vis-a-vis winner and loser changes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From </a:t>
            </a:r>
            <a:r>
              <a:rPr b="1" lang="en"/>
              <a:t>single-edge</a:t>
            </a:r>
            <a:r>
              <a:rPr lang="en"/>
              <a:t> to either: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Double-loser triads</a:t>
            </a:r>
            <a:endParaRPr b="1"/>
          </a:p>
        </p:txBody>
      </p:sp>
      <p:sp>
        <p:nvSpPr>
          <p:cNvPr id="1008" name="Google Shape;1008;p50"/>
          <p:cNvSpPr txBox="1"/>
          <p:nvPr/>
        </p:nvSpPr>
        <p:spPr>
          <a:xfrm>
            <a:off x="6468095" y="1147225"/>
            <a:ext cx="13461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mfortaa"/>
                <a:ea typeface="Comfortaa"/>
                <a:cs typeface="Comfortaa"/>
                <a:sym typeface="Comfortaa"/>
              </a:rPr>
              <a:t>Winner Effects</a:t>
            </a:r>
            <a:endParaRPr b="1" sz="12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09" name="Google Shape;1009;p50"/>
          <p:cNvSpPr/>
          <p:nvPr/>
        </p:nvSpPr>
        <p:spPr>
          <a:xfrm>
            <a:off x="5628788" y="2974750"/>
            <a:ext cx="332100" cy="3360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p50"/>
          <p:cNvSpPr/>
          <p:nvPr/>
        </p:nvSpPr>
        <p:spPr>
          <a:xfrm>
            <a:off x="5923940" y="2375734"/>
            <a:ext cx="332100" cy="33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11" name="Google Shape;1011;p50"/>
          <p:cNvCxnSpPr>
            <a:stCxn id="1010" idx="4"/>
            <a:endCxn id="1009" idx="0"/>
          </p:cNvCxnSpPr>
          <p:nvPr/>
        </p:nvCxnSpPr>
        <p:spPr>
          <a:xfrm flipH="1">
            <a:off x="5794790" y="2711734"/>
            <a:ext cx="295200" cy="263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12" name="Google Shape;1012;p50"/>
          <p:cNvSpPr/>
          <p:nvPr/>
        </p:nvSpPr>
        <p:spPr>
          <a:xfrm>
            <a:off x="6936576" y="2694751"/>
            <a:ext cx="415200" cy="399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50"/>
          <p:cNvSpPr/>
          <p:nvPr/>
        </p:nvSpPr>
        <p:spPr>
          <a:xfrm>
            <a:off x="7737080" y="2974762"/>
            <a:ext cx="332100" cy="3360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p50"/>
          <p:cNvSpPr/>
          <p:nvPr/>
        </p:nvSpPr>
        <p:spPr>
          <a:xfrm>
            <a:off x="8327455" y="2974762"/>
            <a:ext cx="332100" cy="33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50"/>
          <p:cNvSpPr/>
          <p:nvPr/>
        </p:nvSpPr>
        <p:spPr>
          <a:xfrm>
            <a:off x="8032233" y="2375745"/>
            <a:ext cx="332100" cy="33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16" name="Google Shape;1016;p50"/>
          <p:cNvCxnSpPr>
            <a:stCxn id="1015" idx="4"/>
            <a:endCxn id="1013" idx="0"/>
          </p:cNvCxnSpPr>
          <p:nvPr/>
        </p:nvCxnSpPr>
        <p:spPr>
          <a:xfrm flipH="1">
            <a:off x="7903083" y="2711745"/>
            <a:ext cx="295200" cy="263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7" name="Google Shape;1017;p50"/>
          <p:cNvCxnSpPr>
            <a:stCxn id="1014" idx="2"/>
            <a:endCxn id="1013" idx="6"/>
          </p:cNvCxnSpPr>
          <p:nvPr/>
        </p:nvCxnSpPr>
        <p:spPr>
          <a:xfrm rot="10800000">
            <a:off x="8069155" y="3142762"/>
            <a:ext cx="2583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18" name="Google Shape;1018;p50"/>
          <p:cNvSpPr txBox="1"/>
          <p:nvPr/>
        </p:nvSpPr>
        <p:spPr>
          <a:xfrm>
            <a:off x="6468108" y="2258714"/>
            <a:ext cx="13461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mfortaa"/>
                <a:ea typeface="Comfortaa"/>
                <a:cs typeface="Comfortaa"/>
                <a:sym typeface="Comfortaa"/>
              </a:rPr>
              <a:t>Loser Effects</a:t>
            </a:r>
            <a:endParaRPr b="1" sz="12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19" name="Google Shape;1019;p50"/>
          <p:cNvSpPr/>
          <p:nvPr/>
        </p:nvSpPr>
        <p:spPr>
          <a:xfrm>
            <a:off x="5625763" y="4086250"/>
            <a:ext cx="332100" cy="33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50"/>
          <p:cNvSpPr/>
          <p:nvPr/>
        </p:nvSpPr>
        <p:spPr>
          <a:xfrm>
            <a:off x="6216138" y="4086250"/>
            <a:ext cx="332100" cy="3360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50"/>
          <p:cNvSpPr/>
          <p:nvPr/>
        </p:nvSpPr>
        <p:spPr>
          <a:xfrm>
            <a:off x="5920915" y="3487234"/>
            <a:ext cx="332100" cy="33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22" name="Google Shape;1022;p50"/>
          <p:cNvCxnSpPr>
            <a:stCxn id="1021" idx="4"/>
            <a:endCxn id="1019" idx="0"/>
          </p:cNvCxnSpPr>
          <p:nvPr/>
        </p:nvCxnSpPr>
        <p:spPr>
          <a:xfrm flipH="1">
            <a:off x="5791765" y="3823234"/>
            <a:ext cx="295200" cy="263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23" name="Google Shape;1023;p50"/>
          <p:cNvSpPr/>
          <p:nvPr/>
        </p:nvSpPr>
        <p:spPr>
          <a:xfrm>
            <a:off x="6933551" y="3806251"/>
            <a:ext cx="415200" cy="399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50"/>
          <p:cNvSpPr/>
          <p:nvPr/>
        </p:nvSpPr>
        <p:spPr>
          <a:xfrm>
            <a:off x="7734055" y="4086262"/>
            <a:ext cx="332100" cy="33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p50"/>
          <p:cNvSpPr/>
          <p:nvPr/>
        </p:nvSpPr>
        <p:spPr>
          <a:xfrm>
            <a:off x="8324430" y="4086262"/>
            <a:ext cx="332100" cy="3360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50"/>
          <p:cNvSpPr/>
          <p:nvPr/>
        </p:nvSpPr>
        <p:spPr>
          <a:xfrm>
            <a:off x="8029208" y="3487245"/>
            <a:ext cx="332100" cy="33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27" name="Google Shape;1027;p50"/>
          <p:cNvCxnSpPr>
            <a:stCxn id="1026" idx="4"/>
            <a:endCxn id="1024" idx="0"/>
          </p:cNvCxnSpPr>
          <p:nvPr/>
        </p:nvCxnSpPr>
        <p:spPr>
          <a:xfrm flipH="1">
            <a:off x="7900058" y="3823245"/>
            <a:ext cx="295200" cy="263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28" name="Google Shape;1028;p50"/>
          <p:cNvSpPr txBox="1"/>
          <p:nvPr/>
        </p:nvSpPr>
        <p:spPr>
          <a:xfrm>
            <a:off x="6333350" y="3370225"/>
            <a:ext cx="16149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mfortaa"/>
                <a:ea typeface="Comfortaa"/>
                <a:cs typeface="Comfortaa"/>
                <a:sym typeface="Comfortaa"/>
              </a:rPr>
              <a:t>Bystander Effects</a:t>
            </a:r>
            <a:endParaRPr b="1" sz="1200"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1029" name="Google Shape;1029;p50"/>
          <p:cNvCxnSpPr>
            <a:stCxn id="1025" idx="2"/>
            <a:endCxn id="1024" idx="6"/>
          </p:cNvCxnSpPr>
          <p:nvPr/>
        </p:nvCxnSpPr>
        <p:spPr>
          <a:xfrm rot="10800000">
            <a:off x="8066130" y="4254262"/>
            <a:ext cx="2583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5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Agonistic Competition as Iterative and Social</a:t>
            </a:r>
            <a:endParaRPr/>
          </a:p>
        </p:txBody>
      </p:sp>
      <p:sp>
        <p:nvSpPr>
          <p:cNvPr id="1035" name="Google Shape;1035;p51"/>
          <p:cNvSpPr/>
          <p:nvPr/>
        </p:nvSpPr>
        <p:spPr>
          <a:xfrm>
            <a:off x="5628775" y="1863261"/>
            <a:ext cx="332100" cy="33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51"/>
          <p:cNvSpPr/>
          <p:nvPr/>
        </p:nvSpPr>
        <p:spPr>
          <a:xfrm>
            <a:off x="5923928" y="1264244"/>
            <a:ext cx="332100" cy="3360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37" name="Google Shape;1037;p51"/>
          <p:cNvCxnSpPr>
            <a:stCxn id="1036" idx="4"/>
            <a:endCxn id="1035" idx="0"/>
          </p:cNvCxnSpPr>
          <p:nvPr/>
        </p:nvCxnSpPr>
        <p:spPr>
          <a:xfrm flipH="1">
            <a:off x="5794778" y="1600244"/>
            <a:ext cx="295200" cy="263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38" name="Google Shape;1038;p51"/>
          <p:cNvSpPr/>
          <p:nvPr/>
        </p:nvSpPr>
        <p:spPr>
          <a:xfrm>
            <a:off x="6936564" y="1583262"/>
            <a:ext cx="415200" cy="399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9" name="Google Shape;1039;p51"/>
          <p:cNvSpPr/>
          <p:nvPr/>
        </p:nvSpPr>
        <p:spPr>
          <a:xfrm>
            <a:off x="7737067" y="1863273"/>
            <a:ext cx="332100" cy="33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51"/>
          <p:cNvSpPr/>
          <p:nvPr/>
        </p:nvSpPr>
        <p:spPr>
          <a:xfrm>
            <a:off x="8327443" y="1863273"/>
            <a:ext cx="332100" cy="33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51"/>
          <p:cNvSpPr/>
          <p:nvPr/>
        </p:nvSpPr>
        <p:spPr>
          <a:xfrm>
            <a:off x="8032220" y="1264256"/>
            <a:ext cx="332100" cy="3360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42" name="Google Shape;1042;p51"/>
          <p:cNvCxnSpPr>
            <a:stCxn id="1041" idx="4"/>
            <a:endCxn id="1039" idx="0"/>
          </p:cNvCxnSpPr>
          <p:nvPr/>
        </p:nvCxnSpPr>
        <p:spPr>
          <a:xfrm flipH="1">
            <a:off x="7903070" y="1600256"/>
            <a:ext cx="295200" cy="263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43" name="Google Shape;1043;p51"/>
          <p:cNvCxnSpPr>
            <a:stCxn id="1041" idx="4"/>
            <a:endCxn id="1040" idx="0"/>
          </p:cNvCxnSpPr>
          <p:nvPr/>
        </p:nvCxnSpPr>
        <p:spPr>
          <a:xfrm>
            <a:off x="8198270" y="1600256"/>
            <a:ext cx="295200" cy="263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44" name="Google Shape;1044;p51"/>
          <p:cNvSpPr txBox="1"/>
          <p:nvPr/>
        </p:nvSpPr>
        <p:spPr>
          <a:xfrm>
            <a:off x="5447850" y="4598800"/>
            <a:ext cx="9891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fortaa"/>
                <a:ea typeface="Comfortaa"/>
                <a:cs typeface="Comfortaa"/>
                <a:sym typeface="Comfortaa"/>
              </a:rPr>
              <a:t>Time 1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45" name="Google Shape;1045;p51"/>
          <p:cNvSpPr txBox="1"/>
          <p:nvPr/>
        </p:nvSpPr>
        <p:spPr>
          <a:xfrm>
            <a:off x="7703725" y="4598850"/>
            <a:ext cx="9891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fortaa"/>
                <a:ea typeface="Comfortaa"/>
                <a:cs typeface="Comfortaa"/>
                <a:sym typeface="Comfortaa"/>
              </a:rPr>
              <a:t>Time 2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46" name="Google Shape;1046;p51"/>
          <p:cNvSpPr txBox="1"/>
          <p:nvPr>
            <p:ph idx="1" type="body"/>
          </p:nvPr>
        </p:nvSpPr>
        <p:spPr>
          <a:xfrm>
            <a:off x="311700" y="1225225"/>
            <a:ext cx="5314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Three possible mechanisms: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Winner Effects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Confidence, testosterone boost, experience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Emergence of </a:t>
            </a:r>
            <a:r>
              <a:rPr b="1" lang="en"/>
              <a:t>double-dominant triads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Loser Effects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Lowered confidence, injury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Emergence of </a:t>
            </a:r>
            <a:r>
              <a:rPr b="1" lang="en"/>
              <a:t>double-loser triads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Bystander Effects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Bystanders almost never dominate initial dominant</a:t>
            </a:r>
            <a:endParaRPr b="1"/>
          </a:p>
        </p:txBody>
      </p:sp>
      <p:sp>
        <p:nvSpPr>
          <p:cNvPr id="1047" name="Google Shape;1047;p51"/>
          <p:cNvSpPr txBox="1"/>
          <p:nvPr/>
        </p:nvSpPr>
        <p:spPr>
          <a:xfrm>
            <a:off x="6468095" y="1147225"/>
            <a:ext cx="13461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mfortaa"/>
                <a:ea typeface="Comfortaa"/>
                <a:cs typeface="Comfortaa"/>
                <a:sym typeface="Comfortaa"/>
              </a:rPr>
              <a:t>Winner Effects</a:t>
            </a:r>
            <a:endParaRPr b="1" sz="12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48" name="Google Shape;1048;p51"/>
          <p:cNvSpPr/>
          <p:nvPr/>
        </p:nvSpPr>
        <p:spPr>
          <a:xfrm>
            <a:off x="5628788" y="2974750"/>
            <a:ext cx="332100" cy="3360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9" name="Google Shape;1049;p51"/>
          <p:cNvSpPr/>
          <p:nvPr/>
        </p:nvSpPr>
        <p:spPr>
          <a:xfrm>
            <a:off x="5923940" y="2375734"/>
            <a:ext cx="332100" cy="33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50" name="Google Shape;1050;p51"/>
          <p:cNvCxnSpPr>
            <a:stCxn id="1049" idx="4"/>
            <a:endCxn id="1048" idx="0"/>
          </p:cNvCxnSpPr>
          <p:nvPr/>
        </p:nvCxnSpPr>
        <p:spPr>
          <a:xfrm flipH="1">
            <a:off x="5794790" y="2711734"/>
            <a:ext cx="295200" cy="263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51" name="Google Shape;1051;p51"/>
          <p:cNvSpPr/>
          <p:nvPr/>
        </p:nvSpPr>
        <p:spPr>
          <a:xfrm>
            <a:off x="6936576" y="2694751"/>
            <a:ext cx="415200" cy="399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p51"/>
          <p:cNvSpPr/>
          <p:nvPr/>
        </p:nvSpPr>
        <p:spPr>
          <a:xfrm>
            <a:off x="7737080" y="2974762"/>
            <a:ext cx="332100" cy="3360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3" name="Google Shape;1053;p51"/>
          <p:cNvSpPr/>
          <p:nvPr/>
        </p:nvSpPr>
        <p:spPr>
          <a:xfrm>
            <a:off x="8327455" y="2974762"/>
            <a:ext cx="332100" cy="33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4" name="Google Shape;1054;p51"/>
          <p:cNvSpPr/>
          <p:nvPr/>
        </p:nvSpPr>
        <p:spPr>
          <a:xfrm>
            <a:off x="8032233" y="2375745"/>
            <a:ext cx="332100" cy="33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55" name="Google Shape;1055;p51"/>
          <p:cNvCxnSpPr>
            <a:stCxn id="1054" idx="4"/>
            <a:endCxn id="1052" idx="0"/>
          </p:cNvCxnSpPr>
          <p:nvPr/>
        </p:nvCxnSpPr>
        <p:spPr>
          <a:xfrm flipH="1">
            <a:off x="7903083" y="2711745"/>
            <a:ext cx="295200" cy="263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6" name="Google Shape;1056;p51"/>
          <p:cNvCxnSpPr>
            <a:stCxn id="1053" idx="2"/>
            <a:endCxn id="1052" idx="6"/>
          </p:cNvCxnSpPr>
          <p:nvPr/>
        </p:nvCxnSpPr>
        <p:spPr>
          <a:xfrm rot="10800000">
            <a:off x="8069155" y="3142762"/>
            <a:ext cx="2583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57" name="Google Shape;1057;p51"/>
          <p:cNvSpPr txBox="1"/>
          <p:nvPr/>
        </p:nvSpPr>
        <p:spPr>
          <a:xfrm>
            <a:off x="6468108" y="2258714"/>
            <a:ext cx="13461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mfortaa"/>
                <a:ea typeface="Comfortaa"/>
                <a:cs typeface="Comfortaa"/>
                <a:sym typeface="Comfortaa"/>
              </a:rPr>
              <a:t>Loser Effects</a:t>
            </a:r>
            <a:endParaRPr b="1" sz="12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58" name="Google Shape;1058;p51"/>
          <p:cNvSpPr/>
          <p:nvPr/>
        </p:nvSpPr>
        <p:spPr>
          <a:xfrm>
            <a:off x="5625763" y="4086250"/>
            <a:ext cx="332100" cy="33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51"/>
          <p:cNvSpPr/>
          <p:nvPr/>
        </p:nvSpPr>
        <p:spPr>
          <a:xfrm>
            <a:off x="6216138" y="4086250"/>
            <a:ext cx="332100" cy="3360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51"/>
          <p:cNvSpPr/>
          <p:nvPr/>
        </p:nvSpPr>
        <p:spPr>
          <a:xfrm>
            <a:off x="5920915" y="3487234"/>
            <a:ext cx="332100" cy="33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61" name="Google Shape;1061;p51"/>
          <p:cNvCxnSpPr>
            <a:stCxn id="1060" idx="4"/>
            <a:endCxn id="1058" idx="0"/>
          </p:cNvCxnSpPr>
          <p:nvPr/>
        </p:nvCxnSpPr>
        <p:spPr>
          <a:xfrm flipH="1">
            <a:off x="5791765" y="3823234"/>
            <a:ext cx="295200" cy="263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62" name="Google Shape;1062;p51"/>
          <p:cNvSpPr/>
          <p:nvPr/>
        </p:nvSpPr>
        <p:spPr>
          <a:xfrm>
            <a:off x="6933551" y="3806251"/>
            <a:ext cx="415200" cy="399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51"/>
          <p:cNvSpPr/>
          <p:nvPr/>
        </p:nvSpPr>
        <p:spPr>
          <a:xfrm>
            <a:off x="7734055" y="4086262"/>
            <a:ext cx="332100" cy="33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4" name="Google Shape;1064;p51"/>
          <p:cNvSpPr/>
          <p:nvPr/>
        </p:nvSpPr>
        <p:spPr>
          <a:xfrm>
            <a:off x="8324430" y="4086262"/>
            <a:ext cx="332100" cy="3360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5" name="Google Shape;1065;p51"/>
          <p:cNvSpPr/>
          <p:nvPr/>
        </p:nvSpPr>
        <p:spPr>
          <a:xfrm>
            <a:off x="8029208" y="3487245"/>
            <a:ext cx="332100" cy="33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66" name="Google Shape;1066;p51"/>
          <p:cNvCxnSpPr>
            <a:stCxn id="1065" idx="4"/>
            <a:endCxn id="1063" idx="0"/>
          </p:cNvCxnSpPr>
          <p:nvPr/>
        </p:nvCxnSpPr>
        <p:spPr>
          <a:xfrm flipH="1">
            <a:off x="7900058" y="3823245"/>
            <a:ext cx="295200" cy="263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67" name="Google Shape;1067;p51"/>
          <p:cNvCxnSpPr>
            <a:stCxn id="1064" idx="0"/>
            <a:endCxn id="1065" idx="4"/>
          </p:cNvCxnSpPr>
          <p:nvPr/>
        </p:nvCxnSpPr>
        <p:spPr>
          <a:xfrm rot="10800000">
            <a:off x="8195280" y="3823162"/>
            <a:ext cx="295200" cy="263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68" name="Google Shape;1068;p51"/>
          <p:cNvSpPr txBox="1"/>
          <p:nvPr/>
        </p:nvSpPr>
        <p:spPr>
          <a:xfrm>
            <a:off x="6333350" y="3370225"/>
            <a:ext cx="16149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mfortaa"/>
                <a:ea typeface="Comfortaa"/>
                <a:cs typeface="Comfortaa"/>
                <a:sym typeface="Comfortaa"/>
              </a:rPr>
              <a:t>Bystander Effects</a:t>
            </a:r>
            <a:endParaRPr b="1" sz="12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69" name="Google Shape;1069;p51"/>
          <p:cNvSpPr txBox="1"/>
          <p:nvPr/>
        </p:nvSpPr>
        <p:spPr>
          <a:xfrm>
            <a:off x="6666775" y="4322525"/>
            <a:ext cx="9144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Weird!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5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Agonistic Competition as Iterative and Social</a:t>
            </a:r>
            <a:endParaRPr/>
          </a:p>
        </p:txBody>
      </p:sp>
      <p:sp>
        <p:nvSpPr>
          <p:cNvPr id="1075" name="Google Shape;1075;p52"/>
          <p:cNvSpPr/>
          <p:nvPr/>
        </p:nvSpPr>
        <p:spPr>
          <a:xfrm>
            <a:off x="5628775" y="1863261"/>
            <a:ext cx="332100" cy="33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6" name="Google Shape;1076;p52"/>
          <p:cNvSpPr/>
          <p:nvPr/>
        </p:nvSpPr>
        <p:spPr>
          <a:xfrm>
            <a:off x="5923928" y="1264244"/>
            <a:ext cx="332100" cy="3360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77" name="Google Shape;1077;p52"/>
          <p:cNvCxnSpPr>
            <a:stCxn id="1076" idx="4"/>
            <a:endCxn id="1075" idx="0"/>
          </p:cNvCxnSpPr>
          <p:nvPr/>
        </p:nvCxnSpPr>
        <p:spPr>
          <a:xfrm flipH="1">
            <a:off x="5794778" y="1600244"/>
            <a:ext cx="295200" cy="263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78" name="Google Shape;1078;p52"/>
          <p:cNvSpPr/>
          <p:nvPr/>
        </p:nvSpPr>
        <p:spPr>
          <a:xfrm>
            <a:off x="6936564" y="1583262"/>
            <a:ext cx="415200" cy="399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9" name="Google Shape;1079;p52"/>
          <p:cNvSpPr/>
          <p:nvPr/>
        </p:nvSpPr>
        <p:spPr>
          <a:xfrm>
            <a:off x="7737067" y="1863273"/>
            <a:ext cx="332100" cy="33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0" name="Google Shape;1080;p52"/>
          <p:cNvSpPr/>
          <p:nvPr/>
        </p:nvSpPr>
        <p:spPr>
          <a:xfrm>
            <a:off x="8327443" y="1863273"/>
            <a:ext cx="332100" cy="33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1" name="Google Shape;1081;p52"/>
          <p:cNvSpPr/>
          <p:nvPr/>
        </p:nvSpPr>
        <p:spPr>
          <a:xfrm>
            <a:off x="8032220" y="1264256"/>
            <a:ext cx="332100" cy="3360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82" name="Google Shape;1082;p52"/>
          <p:cNvCxnSpPr>
            <a:stCxn id="1081" idx="4"/>
            <a:endCxn id="1079" idx="0"/>
          </p:cNvCxnSpPr>
          <p:nvPr/>
        </p:nvCxnSpPr>
        <p:spPr>
          <a:xfrm flipH="1">
            <a:off x="7903070" y="1600256"/>
            <a:ext cx="295200" cy="263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3" name="Google Shape;1083;p52"/>
          <p:cNvCxnSpPr>
            <a:stCxn id="1081" idx="4"/>
            <a:endCxn id="1080" idx="0"/>
          </p:cNvCxnSpPr>
          <p:nvPr/>
        </p:nvCxnSpPr>
        <p:spPr>
          <a:xfrm>
            <a:off x="8198270" y="1600256"/>
            <a:ext cx="295200" cy="263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84" name="Google Shape;1084;p52"/>
          <p:cNvSpPr txBox="1"/>
          <p:nvPr/>
        </p:nvSpPr>
        <p:spPr>
          <a:xfrm>
            <a:off x="5447850" y="4598800"/>
            <a:ext cx="9891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fortaa"/>
                <a:ea typeface="Comfortaa"/>
                <a:cs typeface="Comfortaa"/>
                <a:sym typeface="Comfortaa"/>
              </a:rPr>
              <a:t>Time 1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85" name="Google Shape;1085;p52"/>
          <p:cNvSpPr txBox="1"/>
          <p:nvPr/>
        </p:nvSpPr>
        <p:spPr>
          <a:xfrm>
            <a:off x="7703725" y="4598850"/>
            <a:ext cx="9891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fortaa"/>
                <a:ea typeface="Comfortaa"/>
                <a:cs typeface="Comfortaa"/>
                <a:sym typeface="Comfortaa"/>
              </a:rPr>
              <a:t>Time 2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86" name="Google Shape;1086;p52"/>
          <p:cNvSpPr txBox="1"/>
          <p:nvPr>
            <p:ph idx="1" type="body"/>
          </p:nvPr>
        </p:nvSpPr>
        <p:spPr>
          <a:xfrm>
            <a:off x="311700" y="1225225"/>
            <a:ext cx="5314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Three possible mechanisms: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Winner Effects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Confidence, testosterone boost, experience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Emergence of </a:t>
            </a:r>
            <a:r>
              <a:rPr b="1" lang="en"/>
              <a:t>double-dominant triads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Loser Effects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Lowered confidence, injury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Emergence of </a:t>
            </a:r>
            <a:r>
              <a:rPr b="1" lang="en"/>
              <a:t>double-loser triads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Bystander Effects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Bystanders almost never dominate initial dominant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Bystanders almost never get dominated by initial loser</a:t>
            </a:r>
            <a:endParaRPr/>
          </a:p>
        </p:txBody>
      </p:sp>
      <p:sp>
        <p:nvSpPr>
          <p:cNvPr id="1087" name="Google Shape;1087;p52"/>
          <p:cNvSpPr txBox="1"/>
          <p:nvPr/>
        </p:nvSpPr>
        <p:spPr>
          <a:xfrm>
            <a:off x="6468095" y="1147225"/>
            <a:ext cx="13461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mfortaa"/>
                <a:ea typeface="Comfortaa"/>
                <a:cs typeface="Comfortaa"/>
                <a:sym typeface="Comfortaa"/>
              </a:rPr>
              <a:t>Winner Effects</a:t>
            </a:r>
            <a:endParaRPr b="1" sz="12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88" name="Google Shape;1088;p52"/>
          <p:cNvSpPr/>
          <p:nvPr/>
        </p:nvSpPr>
        <p:spPr>
          <a:xfrm>
            <a:off x="5628788" y="2974750"/>
            <a:ext cx="332100" cy="33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9" name="Google Shape;1089;p52"/>
          <p:cNvSpPr/>
          <p:nvPr/>
        </p:nvSpPr>
        <p:spPr>
          <a:xfrm>
            <a:off x="5923940" y="2375734"/>
            <a:ext cx="332100" cy="3360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90" name="Google Shape;1090;p52"/>
          <p:cNvCxnSpPr>
            <a:stCxn id="1089" idx="4"/>
            <a:endCxn id="1088" idx="0"/>
          </p:cNvCxnSpPr>
          <p:nvPr/>
        </p:nvCxnSpPr>
        <p:spPr>
          <a:xfrm flipH="1">
            <a:off x="5794790" y="2711734"/>
            <a:ext cx="295200" cy="263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91" name="Google Shape;1091;p52"/>
          <p:cNvSpPr/>
          <p:nvPr/>
        </p:nvSpPr>
        <p:spPr>
          <a:xfrm>
            <a:off x="6936576" y="2694751"/>
            <a:ext cx="415200" cy="399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2" name="Google Shape;1092;p52"/>
          <p:cNvSpPr/>
          <p:nvPr/>
        </p:nvSpPr>
        <p:spPr>
          <a:xfrm>
            <a:off x="7737080" y="2974762"/>
            <a:ext cx="332100" cy="33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3" name="Google Shape;1093;p52"/>
          <p:cNvSpPr/>
          <p:nvPr/>
        </p:nvSpPr>
        <p:spPr>
          <a:xfrm>
            <a:off x="8327455" y="2974762"/>
            <a:ext cx="332100" cy="33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52"/>
          <p:cNvSpPr/>
          <p:nvPr/>
        </p:nvSpPr>
        <p:spPr>
          <a:xfrm>
            <a:off x="8032233" y="2375745"/>
            <a:ext cx="332100" cy="3360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95" name="Google Shape;1095;p52"/>
          <p:cNvCxnSpPr>
            <a:stCxn id="1094" idx="4"/>
            <a:endCxn id="1092" idx="0"/>
          </p:cNvCxnSpPr>
          <p:nvPr/>
        </p:nvCxnSpPr>
        <p:spPr>
          <a:xfrm flipH="1">
            <a:off x="7903083" y="2711745"/>
            <a:ext cx="295200" cy="263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6" name="Google Shape;1096;p52"/>
          <p:cNvCxnSpPr>
            <a:stCxn id="1093" idx="2"/>
            <a:endCxn id="1092" idx="6"/>
          </p:cNvCxnSpPr>
          <p:nvPr/>
        </p:nvCxnSpPr>
        <p:spPr>
          <a:xfrm rot="10800000">
            <a:off x="8069155" y="3142762"/>
            <a:ext cx="2583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97" name="Google Shape;1097;p52"/>
          <p:cNvSpPr txBox="1"/>
          <p:nvPr/>
        </p:nvSpPr>
        <p:spPr>
          <a:xfrm>
            <a:off x="6468108" y="2258714"/>
            <a:ext cx="13461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mfortaa"/>
                <a:ea typeface="Comfortaa"/>
                <a:cs typeface="Comfortaa"/>
                <a:sym typeface="Comfortaa"/>
              </a:rPr>
              <a:t>Loser Effects</a:t>
            </a:r>
            <a:endParaRPr b="1" sz="12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98" name="Google Shape;1098;p52"/>
          <p:cNvSpPr/>
          <p:nvPr/>
        </p:nvSpPr>
        <p:spPr>
          <a:xfrm>
            <a:off x="5625763" y="4086250"/>
            <a:ext cx="332100" cy="33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Google Shape;1099;p52"/>
          <p:cNvSpPr/>
          <p:nvPr/>
        </p:nvSpPr>
        <p:spPr>
          <a:xfrm>
            <a:off x="6216138" y="4086250"/>
            <a:ext cx="332100" cy="3360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0" name="Google Shape;1100;p52"/>
          <p:cNvSpPr/>
          <p:nvPr/>
        </p:nvSpPr>
        <p:spPr>
          <a:xfrm>
            <a:off x="5920915" y="3487234"/>
            <a:ext cx="332100" cy="33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01" name="Google Shape;1101;p52"/>
          <p:cNvCxnSpPr>
            <a:stCxn id="1100" idx="4"/>
            <a:endCxn id="1098" idx="0"/>
          </p:cNvCxnSpPr>
          <p:nvPr/>
        </p:nvCxnSpPr>
        <p:spPr>
          <a:xfrm flipH="1">
            <a:off x="5791765" y="3823234"/>
            <a:ext cx="295200" cy="263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02" name="Google Shape;1102;p52"/>
          <p:cNvSpPr/>
          <p:nvPr/>
        </p:nvSpPr>
        <p:spPr>
          <a:xfrm>
            <a:off x="6933551" y="3806251"/>
            <a:ext cx="415200" cy="399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Google Shape;1103;p52"/>
          <p:cNvSpPr/>
          <p:nvPr/>
        </p:nvSpPr>
        <p:spPr>
          <a:xfrm>
            <a:off x="7734055" y="4086262"/>
            <a:ext cx="332100" cy="33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4" name="Google Shape;1104;p52"/>
          <p:cNvSpPr/>
          <p:nvPr/>
        </p:nvSpPr>
        <p:spPr>
          <a:xfrm>
            <a:off x="8324430" y="4086262"/>
            <a:ext cx="332100" cy="3360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5" name="Google Shape;1105;p52"/>
          <p:cNvSpPr/>
          <p:nvPr/>
        </p:nvSpPr>
        <p:spPr>
          <a:xfrm>
            <a:off x="8029208" y="3487245"/>
            <a:ext cx="332100" cy="33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06" name="Google Shape;1106;p52"/>
          <p:cNvCxnSpPr>
            <a:stCxn id="1105" idx="4"/>
            <a:endCxn id="1103" idx="0"/>
          </p:cNvCxnSpPr>
          <p:nvPr/>
        </p:nvCxnSpPr>
        <p:spPr>
          <a:xfrm flipH="1">
            <a:off x="7900058" y="3823245"/>
            <a:ext cx="295200" cy="263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7" name="Google Shape;1107;p52"/>
          <p:cNvCxnSpPr>
            <a:stCxn id="1103" idx="6"/>
            <a:endCxn id="1104" idx="2"/>
          </p:cNvCxnSpPr>
          <p:nvPr/>
        </p:nvCxnSpPr>
        <p:spPr>
          <a:xfrm>
            <a:off x="8066155" y="4254262"/>
            <a:ext cx="2583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08" name="Google Shape;1108;p52"/>
          <p:cNvSpPr txBox="1"/>
          <p:nvPr/>
        </p:nvSpPr>
        <p:spPr>
          <a:xfrm>
            <a:off x="6333350" y="3370225"/>
            <a:ext cx="16149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mfortaa"/>
                <a:ea typeface="Comfortaa"/>
                <a:cs typeface="Comfortaa"/>
                <a:sym typeface="Comfortaa"/>
              </a:rPr>
              <a:t>Bystander Effects</a:t>
            </a:r>
            <a:endParaRPr b="1" sz="12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109" name="Google Shape;1109;p52"/>
          <p:cNvSpPr txBox="1"/>
          <p:nvPr/>
        </p:nvSpPr>
        <p:spPr>
          <a:xfrm>
            <a:off x="6666775" y="4322525"/>
            <a:ext cx="9144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Also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Weird!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p5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Agonistic Competition as Iterative and Social</a:t>
            </a:r>
            <a:endParaRPr/>
          </a:p>
        </p:txBody>
      </p:sp>
      <p:sp>
        <p:nvSpPr>
          <p:cNvPr id="1115" name="Google Shape;1115;p53"/>
          <p:cNvSpPr txBox="1"/>
          <p:nvPr/>
        </p:nvSpPr>
        <p:spPr>
          <a:xfrm>
            <a:off x="5447850" y="4598800"/>
            <a:ext cx="9891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fortaa"/>
                <a:ea typeface="Comfortaa"/>
                <a:cs typeface="Comfortaa"/>
                <a:sym typeface="Comfortaa"/>
              </a:rPr>
              <a:t>Time 1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116" name="Google Shape;1116;p53"/>
          <p:cNvSpPr txBox="1"/>
          <p:nvPr/>
        </p:nvSpPr>
        <p:spPr>
          <a:xfrm>
            <a:off x="7703725" y="4598850"/>
            <a:ext cx="9891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fortaa"/>
                <a:ea typeface="Comfortaa"/>
                <a:cs typeface="Comfortaa"/>
                <a:sym typeface="Comfortaa"/>
              </a:rPr>
              <a:t>Time 2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117" name="Google Shape;1117;p53"/>
          <p:cNvSpPr txBox="1"/>
          <p:nvPr>
            <p:ph idx="1" type="body"/>
          </p:nvPr>
        </p:nvSpPr>
        <p:spPr>
          <a:xfrm>
            <a:off x="311700" y="1225225"/>
            <a:ext cx="5314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Three possible mechanisms: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Winner Effects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Confidence, testosterone boost, experience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Emergence of </a:t>
            </a:r>
            <a:r>
              <a:rPr b="1" lang="en"/>
              <a:t>double-dominant triads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Loser Effects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Lowered confidence, injury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Emergence of </a:t>
            </a:r>
            <a:r>
              <a:rPr b="1" lang="en"/>
              <a:t>double-loser triads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Bystander Effects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Bystanders almost never dominate initial dominant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Bystanders almost never get dominated by initial loser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This guarantees transitivity and linearity!</a:t>
            </a:r>
            <a:endParaRPr/>
          </a:p>
        </p:txBody>
      </p:sp>
      <p:sp>
        <p:nvSpPr>
          <p:cNvPr id="1118" name="Google Shape;1118;p53"/>
          <p:cNvSpPr txBox="1"/>
          <p:nvPr/>
        </p:nvSpPr>
        <p:spPr>
          <a:xfrm>
            <a:off x="6468095" y="1147225"/>
            <a:ext cx="13461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mfortaa"/>
                <a:ea typeface="Comfortaa"/>
                <a:cs typeface="Comfortaa"/>
                <a:sym typeface="Comfortaa"/>
              </a:rPr>
              <a:t>Winner Effects</a:t>
            </a:r>
            <a:endParaRPr b="1" sz="12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119" name="Google Shape;1119;p53"/>
          <p:cNvSpPr/>
          <p:nvPr/>
        </p:nvSpPr>
        <p:spPr>
          <a:xfrm>
            <a:off x="6700621" y="2690275"/>
            <a:ext cx="1060500" cy="5844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53"/>
          <p:cNvSpPr txBox="1"/>
          <p:nvPr/>
        </p:nvSpPr>
        <p:spPr>
          <a:xfrm>
            <a:off x="6468108" y="1483214"/>
            <a:ext cx="13461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mfortaa"/>
                <a:ea typeface="Comfortaa"/>
                <a:cs typeface="Comfortaa"/>
                <a:sym typeface="Comfortaa"/>
              </a:rPr>
              <a:t>Loser Effects</a:t>
            </a:r>
            <a:endParaRPr b="1" sz="12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121" name="Google Shape;1121;p53"/>
          <p:cNvSpPr txBox="1"/>
          <p:nvPr/>
        </p:nvSpPr>
        <p:spPr>
          <a:xfrm>
            <a:off x="6333700" y="1827125"/>
            <a:ext cx="16149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mfortaa"/>
                <a:ea typeface="Comfortaa"/>
                <a:cs typeface="Comfortaa"/>
                <a:sym typeface="Comfortaa"/>
              </a:rPr>
              <a:t>Bystander Effects</a:t>
            </a:r>
            <a:endParaRPr b="1" sz="12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122" name="Google Shape;1122;p53"/>
          <p:cNvSpPr/>
          <p:nvPr/>
        </p:nvSpPr>
        <p:spPr>
          <a:xfrm>
            <a:off x="8186375" y="2527213"/>
            <a:ext cx="356100" cy="36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3" name="Google Shape;1123;p53"/>
          <p:cNvSpPr/>
          <p:nvPr/>
        </p:nvSpPr>
        <p:spPr>
          <a:xfrm>
            <a:off x="8186375" y="1424313"/>
            <a:ext cx="356100" cy="36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4" name="Google Shape;1124;p53"/>
          <p:cNvSpPr/>
          <p:nvPr/>
        </p:nvSpPr>
        <p:spPr>
          <a:xfrm>
            <a:off x="8186375" y="1975763"/>
            <a:ext cx="356100" cy="36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5" name="Google Shape;1125;p53"/>
          <p:cNvSpPr/>
          <p:nvPr/>
        </p:nvSpPr>
        <p:spPr>
          <a:xfrm>
            <a:off x="8186375" y="3630113"/>
            <a:ext cx="356100" cy="36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6" name="Google Shape;1126;p53"/>
          <p:cNvSpPr/>
          <p:nvPr/>
        </p:nvSpPr>
        <p:spPr>
          <a:xfrm>
            <a:off x="8186375" y="4164088"/>
            <a:ext cx="356100" cy="36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7" name="Google Shape;1127;p53"/>
          <p:cNvSpPr/>
          <p:nvPr/>
        </p:nvSpPr>
        <p:spPr>
          <a:xfrm>
            <a:off x="8186375" y="3096138"/>
            <a:ext cx="356100" cy="36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28" name="Google Shape;1128;p53"/>
          <p:cNvCxnSpPr>
            <a:stCxn id="1123" idx="4"/>
            <a:endCxn id="1124" idx="0"/>
          </p:cNvCxnSpPr>
          <p:nvPr/>
        </p:nvCxnSpPr>
        <p:spPr>
          <a:xfrm>
            <a:off x="8364425" y="1790313"/>
            <a:ext cx="0" cy="185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9" name="Google Shape;1129;p53"/>
          <p:cNvCxnSpPr>
            <a:stCxn id="1124" idx="4"/>
            <a:endCxn id="1122" idx="0"/>
          </p:cNvCxnSpPr>
          <p:nvPr/>
        </p:nvCxnSpPr>
        <p:spPr>
          <a:xfrm>
            <a:off x="8364425" y="2341763"/>
            <a:ext cx="0" cy="185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0" name="Google Shape;1130;p53"/>
          <p:cNvCxnSpPr>
            <a:stCxn id="1122" idx="4"/>
            <a:endCxn id="1127" idx="0"/>
          </p:cNvCxnSpPr>
          <p:nvPr/>
        </p:nvCxnSpPr>
        <p:spPr>
          <a:xfrm>
            <a:off x="8364425" y="2893213"/>
            <a:ext cx="0" cy="202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1" name="Google Shape;1131;p53"/>
          <p:cNvCxnSpPr>
            <a:stCxn id="1127" idx="4"/>
            <a:endCxn id="1125" idx="0"/>
          </p:cNvCxnSpPr>
          <p:nvPr/>
        </p:nvCxnSpPr>
        <p:spPr>
          <a:xfrm>
            <a:off x="8364425" y="3462138"/>
            <a:ext cx="0" cy="168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2" name="Google Shape;1132;p53"/>
          <p:cNvCxnSpPr>
            <a:stCxn id="1125" idx="4"/>
            <a:endCxn id="1126" idx="0"/>
          </p:cNvCxnSpPr>
          <p:nvPr/>
        </p:nvCxnSpPr>
        <p:spPr>
          <a:xfrm>
            <a:off x="8364425" y="3996113"/>
            <a:ext cx="0" cy="168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3" name="Google Shape;1133;p53"/>
          <p:cNvCxnSpPr>
            <a:stCxn id="1123" idx="6"/>
            <a:endCxn id="1122" idx="6"/>
          </p:cNvCxnSpPr>
          <p:nvPr/>
        </p:nvCxnSpPr>
        <p:spPr>
          <a:xfrm>
            <a:off x="8542475" y="1607313"/>
            <a:ext cx="600" cy="11028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34" name="Google Shape;1134;p53"/>
          <p:cNvCxnSpPr>
            <a:stCxn id="1123" idx="2"/>
            <a:endCxn id="1127" idx="2"/>
          </p:cNvCxnSpPr>
          <p:nvPr/>
        </p:nvCxnSpPr>
        <p:spPr>
          <a:xfrm>
            <a:off x="8186375" y="1607313"/>
            <a:ext cx="600" cy="16719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35" name="Google Shape;1135;p53"/>
          <p:cNvCxnSpPr>
            <a:stCxn id="1123" idx="6"/>
            <a:endCxn id="1125" idx="6"/>
          </p:cNvCxnSpPr>
          <p:nvPr/>
        </p:nvCxnSpPr>
        <p:spPr>
          <a:xfrm>
            <a:off x="8542475" y="1607313"/>
            <a:ext cx="600" cy="22059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36" name="Google Shape;1136;p53"/>
          <p:cNvCxnSpPr>
            <a:stCxn id="1123" idx="2"/>
            <a:endCxn id="1126" idx="2"/>
          </p:cNvCxnSpPr>
          <p:nvPr/>
        </p:nvCxnSpPr>
        <p:spPr>
          <a:xfrm>
            <a:off x="8186375" y="1607313"/>
            <a:ext cx="600" cy="27399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37" name="Google Shape;1137;p53"/>
          <p:cNvCxnSpPr>
            <a:stCxn id="1124" idx="6"/>
            <a:endCxn id="1127" idx="6"/>
          </p:cNvCxnSpPr>
          <p:nvPr/>
        </p:nvCxnSpPr>
        <p:spPr>
          <a:xfrm>
            <a:off x="8542475" y="2158763"/>
            <a:ext cx="600" cy="11205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38" name="Google Shape;1138;p53"/>
          <p:cNvCxnSpPr>
            <a:stCxn id="1124" idx="2"/>
            <a:endCxn id="1125" idx="2"/>
          </p:cNvCxnSpPr>
          <p:nvPr/>
        </p:nvCxnSpPr>
        <p:spPr>
          <a:xfrm>
            <a:off x="8186375" y="2158763"/>
            <a:ext cx="600" cy="16545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39" name="Google Shape;1139;p53"/>
          <p:cNvCxnSpPr>
            <a:stCxn id="1124" idx="6"/>
            <a:endCxn id="1126" idx="6"/>
          </p:cNvCxnSpPr>
          <p:nvPr/>
        </p:nvCxnSpPr>
        <p:spPr>
          <a:xfrm>
            <a:off x="8542475" y="2158763"/>
            <a:ext cx="600" cy="21882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40" name="Google Shape;1140;p53"/>
          <p:cNvCxnSpPr>
            <a:stCxn id="1122" idx="6"/>
            <a:endCxn id="1125" idx="6"/>
          </p:cNvCxnSpPr>
          <p:nvPr/>
        </p:nvCxnSpPr>
        <p:spPr>
          <a:xfrm>
            <a:off x="8542475" y="2710213"/>
            <a:ext cx="600" cy="11028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41" name="Google Shape;1141;p53"/>
          <p:cNvCxnSpPr>
            <a:stCxn id="1122" idx="2"/>
            <a:endCxn id="1126" idx="2"/>
          </p:cNvCxnSpPr>
          <p:nvPr/>
        </p:nvCxnSpPr>
        <p:spPr>
          <a:xfrm>
            <a:off x="8186375" y="2710213"/>
            <a:ext cx="600" cy="16368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42" name="Google Shape;1142;p53"/>
          <p:cNvCxnSpPr>
            <a:stCxn id="1127" idx="6"/>
            <a:endCxn id="1126" idx="6"/>
          </p:cNvCxnSpPr>
          <p:nvPr/>
        </p:nvCxnSpPr>
        <p:spPr>
          <a:xfrm>
            <a:off x="8542475" y="3279138"/>
            <a:ext cx="600" cy="10680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43" name="Google Shape;1143;p53"/>
          <p:cNvSpPr/>
          <p:nvPr/>
        </p:nvSpPr>
        <p:spPr>
          <a:xfrm>
            <a:off x="5247425" y="2467463"/>
            <a:ext cx="356100" cy="36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4" name="Google Shape;1144;p53"/>
          <p:cNvSpPr/>
          <p:nvPr/>
        </p:nvSpPr>
        <p:spPr>
          <a:xfrm>
            <a:off x="5350375" y="3074863"/>
            <a:ext cx="356100" cy="36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5" name="Google Shape;1145;p53"/>
          <p:cNvSpPr/>
          <p:nvPr/>
        </p:nvSpPr>
        <p:spPr>
          <a:xfrm>
            <a:off x="5779725" y="2101463"/>
            <a:ext cx="356100" cy="36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6" name="Google Shape;1146;p53"/>
          <p:cNvSpPr/>
          <p:nvPr/>
        </p:nvSpPr>
        <p:spPr>
          <a:xfrm>
            <a:off x="5706475" y="2690013"/>
            <a:ext cx="356100" cy="36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7" name="Google Shape;1147;p53"/>
          <p:cNvSpPr/>
          <p:nvPr/>
        </p:nvSpPr>
        <p:spPr>
          <a:xfrm>
            <a:off x="5785763" y="3278563"/>
            <a:ext cx="356100" cy="36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8" name="Google Shape;1148;p53"/>
          <p:cNvSpPr/>
          <p:nvPr/>
        </p:nvSpPr>
        <p:spPr>
          <a:xfrm>
            <a:off x="6165525" y="2507013"/>
            <a:ext cx="356100" cy="36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p54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Tendencies in Negative Tie Networks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5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Tendencies in Negative Tie Networks</a:t>
            </a:r>
            <a:endParaRPr/>
          </a:p>
        </p:txBody>
      </p:sp>
      <p:sp>
        <p:nvSpPr>
          <p:cNvPr id="1159" name="Google Shape;1159;p55"/>
          <p:cNvSpPr txBox="1"/>
          <p:nvPr>
            <p:ph idx="1" type="body"/>
          </p:nvPr>
        </p:nvSpPr>
        <p:spPr>
          <a:xfrm>
            <a:off x="311700" y="1225225"/>
            <a:ext cx="5058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Most of the tendencies discussed previously exist in negative tie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E.g., homicides between gangs, bullying, etc.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60" name="Google Shape;1160;p55"/>
          <p:cNvSpPr txBox="1"/>
          <p:nvPr/>
        </p:nvSpPr>
        <p:spPr>
          <a:xfrm>
            <a:off x="5940038" y="1147225"/>
            <a:ext cx="11355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Time 1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61" name="Google Shape;1161;p55"/>
          <p:cNvSpPr txBox="1"/>
          <p:nvPr/>
        </p:nvSpPr>
        <p:spPr>
          <a:xfrm>
            <a:off x="7645570" y="1092075"/>
            <a:ext cx="11355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Time 2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p5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Tendencies in Negative Tie Networks</a:t>
            </a:r>
            <a:endParaRPr/>
          </a:p>
        </p:txBody>
      </p:sp>
      <p:sp>
        <p:nvSpPr>
          <p:cNvPr id="1167" name="Google Shape;1167;p56"/>
          <p:cNvSpPr txBox="1"/>
          <p:nvPr>
            <p:ph idx="1" type="body"/>
          </p:nvPr>
        </p:nvSpPr>
        <p:spPr>
          <a:xfrm>
            <a:off x="311700" y="1225225"/>
            <a:ext cx="5058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Most of the tendencies discussed previously exist in negative tie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E.g., homicides between gangs, bullying, etc.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Reciprocity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People are likely to direct negative ties to those they receive them from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68" name="Google Shape;1168;p56"/>
          <p:cNvSpPr/>
          <p:nvPr/>
        </p:nvSpPr>
        <p:spPr>
          <a:xfrm>
            <a:off x="7518025" y="1462150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9" name="Google Shape;1169;p56"/>
          <p:cNvSpPr/>
          <p:nvPr/>
        </p:nvSpPr>
        <p:spPr>
          <a:xfrm>
            <a:off x="8542675" y="1462150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70" name="Google Shape;1170;p56"/>
          <p:cNvCxnSpPr>
            <a:stCxn id="1168" idx="6"/>
            <a:endCxn id="1169" idx="2"/>
          </p:cNvCxnSpPr>
          <p:nvPr/>
        </p:nvCxnSpPr>
        <p:spPr>
          <a:xfrm>
            <a:off x="7884025" y="1640200"/>
            <a:ext cx="6588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1" name="Google Shape;1171;p56"/>
          <p:cNvCxnSpPr>
            <a:stCxn id="1169" idx="3"/>
            <a:endCxn id="1168" idx="5"/>
          </p:cNvCxnSpPr>
          <p:nvPr/>
        </p:nvCxnSpPr>
        <p:spPr>
          <a:xfrm rot="10800000">
            <a:off x="7830374" y="1766100"/>
            <a:ext cx="7659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72" name="Google Shape;1172;p56"/>
          <p:cNvSpPr txBox="1"/>
          <p:nvPr/>
        </p:nvSpPr>
        <p:spPr>
          <a:xfrm>
            <a:off x="6584925" y="1862788"/>
            <a:ext cx="16476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Reciprocity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173" name="Google Shape;1173;p56"/>
          <p:cNvSpPr txBox="1"/>
          <p:nvPr/>
        </p:nvSpPr>
        <p:spPr>
          <a:xfrm>
            <a:off x="5940038" y="1147225"/>
            <a:ext cx="11355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Time 1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74" name="Google Shape;1174;p56"/>
          <p:cNvSpPr txBox="1"/>
          <p:nvPr/>
        </p:nvSpPr>
        <p:spPr>
          <a:xfrm>
            <a:off x="7645570" y="1092075"/>
            <a:ext cx="11355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Time 2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75" name="Google Shape;1175;p56"/>
          <p:cNvSpPr/>
          <p:nvPr/>
        </p:nvSpPr>
        <p:spPr>
          <a:xfrm>
            <a:off x="5812475" y="1462150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6" name="Google Shape;1176;p56"/>
          <p:cNvSpPr/>
          <p:nvPr/>
        </p:nvSpPr>
        <p:spPr>
          <a:xfrm>
            <a:off x="6837125" y="1462150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77" name="Google Shape;1177;p56"/>
          <p:cNvCxnSpPr>
            <a:stCxn id="1175" idx="6"/>
            <a:endCxn id="1176" idx="2"/>
          </p:cNvCxnSpPr>
          <p:nvPr/>
        </p:nvCxnSpPr>
        <p:spPr>
          <a:xfrm>
            <a:off x="6178475" y="1640200"/>
            <a:ext cx="6588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p5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Tendencies in Negative Tie Networks</a:t>
            </a:r>
            <a:endParaRPr/>
          </a:p>
        </p:txBody>
      </p:sp>
      <p:sp>
        <p:nvSpPr>
          <p:cNvPr id="1183" name="Google Shape;1183;p57"/>
          <p:cNvSpPr txBox="1"/>
          <p:nvPr>
            <p:ph idx="1" type="body"/>
          </p:nvPr>
        </p:nvSpPr>
        <p:spPr>
          <a:xfrm>
            <a:off x="311700" y="1225225"/>
            <a:ext cx="5058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Most of the tendencies discussed previously exist in negative tie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E.g., homicides between gangs, bullying, etc.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Reciprocity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People are likely to direct negative ties to those they receive them from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Homophily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Negative ties are more likely to be shared by people who belong to the same group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84" name="Google Shape;1184;p57"/>
          <p:cNvSpPr/>
          <p:nvPr/>
        </p:nvSpPr>
        <p:spPr>
          <a:xfrm>
            <a:off x="7518025" y="1462150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5" name="Google Shape;1185;p57"/>
          <p:cNvSpPr/>
          <p:nvPr/>
        </p:nvSpPr>
        <p:spPr>
          <a:xfrm>
            <a:off x="8542675" y="1462150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86" name="Google Shape;1186;p57"/>
          <p:cNvCxnSpPr>
            <a:stCxn id="1184" idx="6"/>
            <a:endCxn id="1185" idx="2"/>
          </p:cNvCxnSpPr>
          <p:nvPr/>
        </p:nvCxnSpPr>
        <p:spPr>
          <a:xfrm>
            <a:off x="7884025" y="1640200"/>
            <a:ext cx="6588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7" name="Google Shape;1187;p57"/>
          <p:cNvCxnSpPr>
            <a:stCxn id="1185" idx="3"/>
            <a:endCxn id="1184" idx="5"/>
          </p:cNvCxnSpPr>
          <p:nvPr/>
        </p:nvCxnSpPr>
        <p:spPr>
          <a:xfrm rot="10800000">
            <a:off x="7830374" y="1766100"/>
            <a:ext cx="7659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88" name="Google Shape;1188;p57"/>
          <p:cNvSpPr txBox="1"/>
          <p:nvPr/>
        </p:nvSpPr>
        <p:spPr>
          <a:xfrm>
            <a:off x="6584925" y="1862788"/>
            <a:ext cx="16476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Reciprocity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189" name="Google Shape;1189;p57"/>
          <p:cNvSpPr txBox="1"/>
          <p:nvPr/>
        </p:nvSpPr>
        <p:spPr>
          <a:xfrm>
            <a:off x="5940038" y="1147225"/>
            <a:ext cx="11355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Time 1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90" name="Google Shape;1190;p57"/>
          <p:cNvSpPr txBox="1"/>
          <p:nvPr/>
        </p:nvSpPr>
        <p:spPr>
          <a:xfrm>
            <a:off x="7645570" y="1092075"/>
            <a:ext cx="11355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Time 2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91" name="Google Shape;1191;p57"/>
          <p:cNvSpPr/>
          <p:nvPr/>
        </p:nvSpPr>
        <p:spPr>
          <a:xfrm>
            <a:off x="5812475" y="1462150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2" name="Google Shape;1192;p57"/>
          <p:cNvSpPr/>
          <p:nvPr/>
        </p:nvSpPr>
        <p:spPr>
          <a:xfrm>
            <a:off x="6837125" y="1462150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93" name="Google Shape;1193;p57"/>
          <p:cNvCxnSpPr>
            <a:stCxn id="1191" idx="6"/>
            <a:endCxn id="1192" idx="2"/>
          </p:cNvCxnSpPr>
          <p:nvPr/>
        </p:nvCxnSpPr>
        <p:spPr>
          <a:xfrm>
            <a:off x="6178475" y="1640200"/>
            <a:ext cx="6588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94" name="Google Shape;1194;p57"/>
          <p:cNvSpPr/>
          <p:nvPr/>
        </p:nvSpPr>
        <p:spPr>
          <a:xfrm>
            <a:off x="7638625" y="2731550"/>
            <a:ext cx="366000" cy="3561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5" name="Google Shape;1195;p57"/>
          <p:cNvSpPr/>
          <p:nvPr/>
        </p:nvSpPr>
        <p:spPr>
          <a:xfrm>
            <a:off x="8663275" y="2731550"/>
            <a:ext cx="366000" cy="3561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96" name="Google Shape;1196;p57"/>
          <p:cNvCxnSpPr>
            <a:stCxn id="1194" idx="6"/>
            <a:endCxn id="1195" idx="2"/>
          </p:cNvCxnSpPr>
          <p:nvPr/>
        </p:nvCxnSpPr>
        <p:spPr>
          <a:xfrm>
            <a:off x="8004625" y="2909600"/>
            <a:ext cx="6588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97" name="Google Shape;1197;p57"/>
          <p:cNvSpPr txBox="1"/>
          <p:nvPr/>
        </p:nvSpPr>
        <p:spPr>
          <a:xfrm>
            <a:off x="6577975" y="3187688"/>
            <a:ext cx="16476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Homophily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198" name="Google Shape;1198;p57"/>
          <p:cNvSpPr/>
          <p:nvPr/>
        </p:nvSpPr>
        <p:spPr>
          <a:xfrm>
            <a:off x="5848425" y="2731550"/>
            <a:ext cx="366000" cy="3561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9" name="Google Shape;1199;p57"/>
          <p:cNvSpPr/>
          <p:nvPr/>
        </p:nvSpPr>
        <p:spPr>
          <a:xfrm>
            <a:off x="6873075" y="2731550"/>
            <a:ext cx="366000" cy="3561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p5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Tendencies in Negative Tie Networks</a:t>
            </a:r>
            <a:endParaRPr/>
          </a:p>
        </p:txBody>
      </p:sp>
      <p:sp>
        <p:nvSpPr>
          <p:cNvPr id="1205" name="Google Shape;1205;p58"/>
          <p:cNvSpPr txBox="1"/>
          <p:nvPr>
            <p:ph idx="1" type="body"/>
          </p:nvPr>
        </p:nvSpPr>
        <p:spPr>
          <a:xfrm>
            <a:off x="311700" y="1225225"/>
            <a:ext cx="5058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Most of the tendencies discussed previously exist in negative tie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E.g., homicides between gangs, bullying, etc.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Reciprocity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People are likely to direct negative ties to those they receive them from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Homophily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Negative ties are more likely to be shared by people who belong to the same group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Diffusion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Recipients of negative ties tend to direct them at others</a:t>
            </a:r>
            <a:endParaRPr/>
          </a:p>
        </p:txBody>
      </p:sp>
      <p:sp>
        <p:nvSpPr>
          <p:cNvPr id="1206" name="Google Shape;1206;p58"/>
          <p:cNvSpPr/>
          <p:nvPr/>
        </p:nvSpPr>
        <p:spPr>
          <a:xfrm>
            <a:off x="7518025" y="1462150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7" name="Google Shape;1207;p58"/>
          <p:cNvSpPr/>
          <p:nvPr/>
        </p:nvSpPr>
        <p:spPr>
          <a:xfrm>
            <a:off x="8542675" y="1462150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08" name="Google Shape;1208;p58"/>
          <p:cNvCxnSpPr>
            <a:stCxn id="1206" idx="6"/>
            <a:endCxn id="1207" idx="2"/>
          </p:cNvCxnSpPr>
          <p:nvPr/>
        </p:nvCxnSpPr>
        <p:spPr>
          <a:xfrm>
            <a:off x="7884025" y="1640200"/>
            <a:ext cx="6588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9" name="Google Shape;1209;p58"/>
          <p:cNvCxnSpPr>
            <a:stCxn id="1207" idx="3"/>
            <a:endCxn id="1206" idx="5"/>
          </p:cNvCxnSpPr>
          <p:nvPr/>
        </p:nvCxnSpPr>
        <p:spPr>
          <a:xfrm rot="10800000">
            <a:off x="7830374" y="1766100"/>
            <a:ext cx="7659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10" name="Google Shape;1210;p58"/>
          <p:cNvSpPr txBox="1"/>
          <p:nvPr/>
        </p:nvSpPr>
        <p:spPr>
          <a:xfrm>
            <a:off x="6584925" y="1862788"/>
            <a:ext cx="16476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Reciprocity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211" name="Google Shape;1211;p58"/>
          <p:cNvSpPr txBox="1"/>
          <p:nvPr/>
        </p:nvSpPr>
        <p:spPr>
          <a:xfrm>
            <a:off x="5940038" y="1147225"/>
            <a:ext cx="11355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Time 1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12" name="Google Shape;1212;p58"/>
          <p:cNvSpPr txBox="1"/>
          <p:nvPr/>
        </p:nvSpPr>
        <p:spPr>
          <a:xfrm>
            <a:off x="7645570" y="1092075"/>
            <a:ext cx="11355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Time 2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13" name="Google Shape;1213;p58"/>
          <p:cNvSpPr/>
          <p:nvPr/>
        </p:nvSpPr>
        <p:spPr>
          <a:xfrm>
            <a:off x="5812475" y="1462150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4" name="Google Shape;1214;p58"/>
          <p:cNvSpPr/>
          <p:nvPr/>
        </p:nvSpPr>
        <p:spPr>
          <a:xfrm>
            <a:off x="6837125" y="1462150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15" name="Google Shape;1215;p58"/>
          <p:cNvCxnSpPr>
            <a:stCxn id="1213" idx="6"/>
            <a:endCxn id="1214" idx="2"/>
          </p:cNvCxnSpPr>
          <p:nvPr/>
        </p:nvCxnSpPr>
        <p:spPr>
          <a:xfrm>
            <a:off x="6178475" y="1640200"/>
            <a:ext cx="6588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16" name="Google Shape;1216;p58"/>
          <p:cNvSpPr/>
          <p:nvPr/>
        </p:nvSpPr>
        <p:spPr>
          <a:xfrm>
            <a:off x="7638625" y="2731550"/>
            <a:ext cx="366000" cy="3561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58"/>
          <p:cNvSpPr/>
          <p:nvPr/>
        </p:nvSpPr>
        <p:spPr>
          <a:xfrm>
            <a:off x="8663275" y="2731550"/>
            <a:ext cx="366000" cy="3561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18" name="Google Shape;1218;p58"/>
          <p:cNvCxnSpPr>
            <a:stCxn id="1216" idx="6"/>
            <a:endCxn id="1217" idx="2"/>
          </p:cNvCxnSpPr>
          <p:nvPr/>
        </p:nvCxnSpPr>
        <p:spPr>
          <a:xfrm>
            <a:off x="8004625" y="2909600"/>
            <a:ext cx="6588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19" name="Google Shape;1219;p58"/>
          <p:cNvSpPr txBox="1"/>
          <p:nvPr/>
        </p:nvSpPr>
        <p:spPr>
          <a:xfrm>
            <a:off x="6577975" y="3187688"/>
            <a:ext cx="16476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Homophily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220" name="Google Shape;1220;p58"/>
          <p:cNvSpPr/>
          <p:nvPr/>
        </p:nvSpPr>
        <p:spPr>
          <a:xfrm>
            <a:off x="5848425" y="2731550"/>
            <a:ext cx="366000" cy="3561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1" name="Google Shape;1221;p58"/>
          <p:cNvSpPr/>
          <p:nvPr/>
        </p:nvSpPr>
        <p:spPr>
          <a:xfrm>
            <a:off x="6873075" y="2731550"/>
            <a:ext cx="366000" cy="3561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2" name="Google Shape;1222;p58"/>
          <p:cNvSpPr/>
          <p:nvPr/>
        </p:nvSpPr>
        <p:spPr>
          <a:xfrm>
            <a:off x="5812550" y="4278650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3" name="Google Shape;1223;p58"/>
          <p:cNvSpPr/>
          <p:nvPr/>
        </p:nvSpPr>
        <p:spPr>
          <a:xfrm>
            <a:off x="6837200" y="4278650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24" name="Google Shape;1224;p58"/>
          <p:cNvCxnSpPr>
            <a:stCxn id="1222" idx="6"/>
            <a:endCxn id="1223" idx="2"/>
          </p:cNvCxnSpPr>
          <p:nvPr/>
        </p:nvCxnSpPr>
        <p:spPr>
          <a:xfrm>
            <a:off x="6178550" y="4456700"/>
            <a:ext cx="6588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25" name="Google Shape;1225;p58"/>
          <p:cNvSpPr/>
          <p:nvPr/>
        </p:nvSpPr>
        <p:spPr>
          <a:xfrm>
            <a:off x="7638700" y="4278650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6" name="Google Shape;1226;p58"/>
          <p:cNvSpPr/>
          <p:nvPr/>
        </p:nvSpPr>
        <p:spPr>
          <a:xfrm>
            <a:off x="8663350" y="4278650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27" name="Google Shape;1227;p58"/>
          <p:cNvCxnSpPr>
            <a:stCxn id="1225" idx="6"/>
            <a:endCxn id="1226" idx="2"/>
          </p:cNvCxnSpPr>
          <p:nvPr/>
        </p:nvCxnSpPr>
        <p:spPr>
          <a:xfrm>
            <a:off x="8004700" y="4456700"/>
            <a:ext cx="6588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28" name="Google Shape;1228;p58"/>
          <p:cNvSpPr/>
          <p:nvPr/>
        </p:nvSpPr>
        <p:spPr>
          <a:xfrm>
            <a:off x="8151025" y="3543025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29" name="Google Shape;1229;p58"/>
          <p:cNvCxnSpPr>
            <a:stCxn id="1226" idx="1"/>
            <a:endCxn id="1228" idx="5"/>
          </p:cNvCxnSpPr>
          <p:nvPr/>
        </p:nvCxnSpPr>
        <p:spPr>
          <a:xfrm rot="10800000">
            <a:off x="8463449" y="3846900"/>
            <a:ext cx="253500" cy="483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30" name="Google Shape;1230;p58"/>
          <p:cNvSpPr txBox="1"/>
          <p:nvPr/>
        </p:nvSpPr>
        <p:spPr>
          <a:xfrm>
            <a:off x="6584925" y="4671963"/>
            <a:ext cx="16476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Diffusion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4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p5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Tendencies in Negative Tie Networks</a:t>
            </a:r>
            <a:endParaRPr/>
          </a:p>
        </p:txBody>
      </p:sp>
      <p:sp>
        <p:nvSpPr>
          <p:cNvPr id="1236" name="Google Shape;1236;p59"/>
          <p:cNvSpPr txBox="1"/>
          <p:nvPr>
            <p:ph idx="1" type="body"/>
          </p:nvPr>
        </p:nvSpPr>
        <p:spPr>
          <a:xfrm>
            <a:off x="311700" y="1225225"/>
            <a:ext cx="5058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Most of the tendencies discussed previously exist in negative tie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E.g., homicides between gangs, bullying, etc.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Reciprocity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People are likely to direct negative ties to those they receive them from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Homophily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Negative ties are more likely to be shared by people who belong to the same group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Diffusion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Recipients of negative ties tend to direct them at others</a:t>
            </a:r>
            <a:endParaRPr/>
          </a:p>
        </p:txBody>
      </p:sp>
      <p:sp>
        <p:nvSpPr>
          <p:cNvPr id="1237" name="Google Shape;1237;p59"/>
          <p:cNvSpPr/>
          <p:nvPr/>
        </p:nvSpPr>
        <p:spPr>
          <a:xfrm>
            <a:off x="7518025" y="1462150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8" name="Google Shape;1238;p59"/>
          <p:cNvSpPr/>
          <p:nvPr/>
        </p:nvSpPr>
        <p:spPr>
          <a:xfrm>
            <a:off x="8542675" y="1462150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39" name="Google Shape;1239;p59"/>
          <p:cNvCxnSpPr>
            <a:stCxn id="1237" idx="6"/>
            <a:endCxn id="1238" idx="2"/>
          </p:cNvCxnSpPr>
          <p:nvPr/>
        </p:nvCxnSpPr>
        <p:spPr>
          <a:xfrm>
            <a:off x="7884025" y="1640200"/>
            <a:ext cx="6588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0" name="Google Shape;1240;p59"/>
          <p:cNvCxnSpPr>
            <a:stCxn id="1238" idx="3"/>
            <a:endCxn id="1237" idx="5"/>
          </p:cNvCxnSpPr>
          <p:nvPr/>
        </p:nvCxnSpPr>
        <p:spPr>
          <a:xfrm rot="10800000">
            <a:off x="7830374" y="1766100"/>
            <a:ext cx="7659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41" name="Google Shape;1241;p59"/>
          <p:cNvSpPr txBox="1"/>
          <p:nvPr/>
        </p:nvSpPr>
        <p:spPr>
          <a:xfrm>
            <a:off x="6584925" y="1862788"/>
            <a:ext cx="16476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Reciprocity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242" name="Google Shape;1242;p59"/>
          <p:cNvSpPr txBox="1"/>
          <p:nvPr/>
        </p:nvSpPr>
        <p:spPr>
          <a:xfrm>
            <a:off x="5940038" y="1147225"/>
            <a:ext cx="11355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Time 1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43" name="Google Shape;1243;p59"/>
          <p:cNvSpPr txBox="1"/>
          <p:nvPr/>
        </p:nvSpPr>
        <p:spPr>
          <a:xfrm>
            <a:off x="7645570" y="1092075"/>
            <a:ext cx="11355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Time 2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44" name="Google Shape;1244;p59"/>
          <p:cNvSpPr/>
          <p:nvPr/>
        </p:nvSpPr>
        <p:spPr>
          <a:xfrm>
            <a:off x="5812475" y="1462150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5" name="Google Shape;1245;p59"/>
          <p:cNvSpPr/>
          <p:nvPr/>
        </p:nvSpPr>
        <p:spPr>
          <a:xfrm>
            <a:off x="6837125" y="1462150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46" name="Google Shape;1246;p59"/>
          <p:cNvCxnSpPr>
            <a:stCxn id="1244" idx="6"/>
            <a:endCxn id="1245" idx="2"/>
          </p:cNvCxnSpPr>
          <p:nvPr/>
        </p:nvCxnSpPr>
        <p:spPr>
          <a:xfrm>
            <a:off x="6178475" y="1640200"/>
            <a:ext cx="6588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47" name="Google Shape;1247;p59"/>
          <p:cNvSpPr/>
          <p:nvPr/>
        </p:nvSpPr>
        <p:spPr>
          <a:xfrm>
            <a:off x="7638625" y="2731550"/>
            <a:ext cx="366000" cy="3561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8" name="Google Shape;1248;p59"/>
          <p:cNvSpPr/>
          <p:nvPr/>
        </p:nvSpPr>
        <p:spPr>
          <a:xfrm>
            <a:off x="8663275" y="2731550"/>
            <a:ext cx="366000" cy="3561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49" name="Google Shape;1249;p59"/>
          <p:cNvCxnSpPr>
            <a:stCxn id="1247" idx="6"/>
            <a:endCxn id="1248" idx="2"/>
          </p:cNvCxnSpPr>
          <p:nvPr/>
        </p:nvCxnSpPr>
        <p:spPr>
          <a:xfrm>
            <a:off x="8004625" y="2909600"/>
            <a:ext cx="6588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50" name="Google Shape;1250;p59"/>
          <p:cNvSpPr txBox="1"/>
          <p:nvPr/>
        </p:nvSpPr>
        <p:spPr>
          <a:xfrm>
            <a:off x="6577975" y="3187688"/>
            <a:ext cx="16476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Homophily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251" name="Google Shape;1251;p59"/>
          <p:cNvSpPr/>
          <p:nvPr/>
        </p:nvSpPr>
        <p:spPr>
          <a:xfrm>
            <a:off x="5848425" y="2731550"/>
            <a:ext cx="366000" cy="3561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2" name="Google Shape;1252;p59"/>
          <p:cNvSpPr/>
          <p:nvPr/>
        </p:nvSpPr>
        <p:spPr>
          <a:xfrm>
            <a:off x="6873075" y="2731550"/>
            <a:ext cx="366000" cy="3561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3" name="Google Shape;1253;p59"/>
          <p:cNvSpPr/>
          <p:nvPr/>
        </p:nvSpPr>
        <p:spPr>
          <a:xfrm>
            <a:off x="5812550" y="4278650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4" name="Google Shape;1254;p59"/>
          <p:cNvSpPr/>
          <p:nvPr/>
        </p:nvSpPr>
        <p:spPr>
          <a:xfrm>
            <a:off x="6837200" y="4278650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55" name="Google Shape;1255;p59"/>
          <p:cNvCxnSpPr>
            <a:stCxn id="1253" idx="6"/>
            <a:endCxn id="1254" idx="2"/>
          </p:cNvCxnSpPr>
          <p:nvPr/>
        </p:nvCxnSpPr>
        <p:spPr>
          <a:xfrm>
            <a:off x="6178550" y="4456700"/>
            <a:ext cx="6588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56" name="Google Shape;1256;p59"/>
          <p:cNvSpPr/>
          <p:nvPr/>
        </p:nvSpPr>
        <p:spPr>
          <a:xfrm>
            <a:off x="7638700" y="4278650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7" name="Google Shape;1257;p59"/>
          <p:cNvSpPr/>
          <p:nvPr/>
        </p:nvSpPr>
        <p:spPr>
          <a:xfrm>
            <a:off x="8663350" y="4278650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58" name="Google Shape;1258;p59"/>
          <p:cNvCxnSpPr>
            <a:stCxn id="1256" idx="6"/>
            <a:endCxn id="1257" idx="2"/>
          </p:cNvCxnSpPr>
          <p:nvPr/>
        </p:nvCxnSpPr>
        <p:spPr>
          <a:xfrm>
            <a:off x="8004700" y="4456700"/>
            <a:ext cx="6588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59" name="Google Shape;1259;p59"/>
          <p:cNvSpPr/>
          <p:nvPr/>
        </p:nvSpPr>
        <p:spPr>
          <a:xfrm>
            <a:off x="8151025" y="3543025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60" name="Google Shape;1260;p59"/>
          <p:cNvCxnSpPr>
            <a:stCxn id="1257" idx="1"/>
            <a:endCxn id="1259" idx="5"/>
          </p:cNvCxnSpPr>
          <p:nvPr/>
        </p:nvCxnSpPr>
        <p:spPr>
          <a:xfrm rot="10800000">
            <a:off x="8463449" y="3846900"/>
            <a:ext cx="253500" cy="483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61" name="Google Shape;1261;p59"/>
          <p:cNvSpPr txBox="1"/>
          <p:nvPr/>
        </p:nvSpPr>
        <p:spPr>
          <a:xfrm>
            <a:off x="6584925" y="4671963"/>
            <a:ext cx="16476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Diffusion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p6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Tendencies in Negative Tie Networks</a:t>
            </a:r>
            <a:endParaRPr/>
          </a:p>
        </p:txBody>
      </p:sp>
      <p:sp>
        <p:nvSpPr>
          <p:cNvPr id="1267" name="Google Shape;1267;p60"/>
          <p:cNvSpPr txBox="1"/>
          <p:nvPr>
            <p:ph idx="1" type="body"/>
          </p:nvPr>
        </p:nvSpPr>
        <p:spPr>
          <a:xfrm>
            <a:off x="311700" y="1225225"/>
            <a:ext cx="5058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not all the tendencies that exist in positive tie networks exist in negative networks!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positive tie networks we see </a:t>
            </a:r>
            <a:r>
              <a:rPr b="1" lang="en"/>
              <a:t>transitivity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Friends of friends are friends</a:t>
            </a:r>
            <a:r>
              <a:rPr b="1" lang="en"/>
              <a:t> </a:t>
            </a:r>
            <a:endParaRPr b="1"/>
          </a:p>
        </p:txBody>
      </p:sp>
      <p:sp>
        <p:nvSpPr>
          <p:cNvPr id="1268" name="Google Shape;1268;p60"/>
          <p:cNvSpPr/>
          <p:nvPr/>
        </p:nvSpPr>
        <p:spPr>
          <a:xfrm>
            <a:off x="7518025" y="1462150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60"/>
          <p:cNvSpPr/>
          <p:nvPr/>
        </p:nvSpPr>
        <p:spPr>
          <a:xfrm>
            <a:off x="8542675" y="1462150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70" name="Google Shape;1270;p60"/>
          <p:cNvCxnSpPr>
            <a:stCxn id="1268" idx="6"/>
            <a:endCxn id="1269" idx="2"/>
          </p:cNvCxnSpPr>
          <p:nvPr/>
        </p:nvCxnSpPr>
        <p:spPr>
          <a:xfrm>
            <a:off x="7884025" y="1640200"/>
            <a:ext cx="6588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71" name="Google Shape;1271;p60"/>
          <p:cNvCxnSpPr>
            <a:stCxn id="1268" idx="4"/>
            <a:endCxn id="1272" idx="1"/>
          </p:cNvCxnSpPr>
          <p:nvPr/>
        </p:nvCxnSpPr>
        <p:spPr>
          <a:xfrm>
            <a:off x="7701025" y="1818250"/>
            <a:ext cx="383100" cy="6189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73" name="Google Shape;1273;p60"/>
          <p:cNvSpPr txBox="1"/>
          <p:nvPr/>
        </p:nvSpPr>
        <p:spPr>
          <a:xfrm>
            <a:off x="6564225" y="2821163"/>
            <a:ext cx="16476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Transitivity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274" name="Google Shape;1274;p60"/>
          <p:cNvSpPr txBox="1"/>
          <p:nvPr/>
        </p:nvSpPr>
        <p:spPr>
          <a:xfrm>
            <a:off x="5940038" y="1147225"/>
            <a:ext cx="11355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Time 1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75" name="Google Shape;1275;p60"/>
          <p:cNvSpPr txBox="1"/>
          <p:nvPr/>
        </p:nvSpPr>
        <p:spPr>
          <a:xfrm>
            <a:off x="7645570" y="1092075"/>
            <a:ext cx="11355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Time 2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76" name="Google Shape;1276;p60"/>
          <p:cNvSpPr/>
          <p:nvPr/>
        </p:nvSpPr>
        <p:spPr>
          <a:xfrm>
            <a:off x="5812475" y="1462150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7" name="Google Shape;1277;p60"/>
          <p:cNvSpPr/>
          <p:nvPr/>
        </p:nvSpPr>
        <p:spPr>
          <a:xfrm>
            <a:off x="6837125" y="1462150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cxnSp>
        <p:nvCxnSpPr>
          <p:cNvPr id="1278" name="Google Shape;1278;p60"/>
          <p:cNvCxnSpPr>
            <a:stCxn id="1276" idx="6"/>
            <a:endCxn id="1277" idx="2"/>
          </p:cNvCxnSpPr>
          <p:nvPr/>
        </p:nvCxnSpPr>
        <p:spPr>
          <a:xfrm>
            <a:off x="6178475" y="1640200"/>
            <a:ext cx="6588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79" name="Google Shape;1279;p60"/>
          <p:cNvSpPr/>
          <p:nvPr/>
        </p:nvSpPr>
        <p:spPr>
          <a:xfrm>
            <a:off x="6324875" y="2248875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cxnSp>
        <p:nvCxnSpPr>
          <p:cNvPr id="1280" name="Google Shape;1280;p60"/>
          <p:cNvCxnSpPr>
            <a:stCxn id="1276" idx="4"/>
            <a:endCxn id="1279" idx="1"/>
          </p:cNvCxnSpPr>
          <p:nvPr/>
        </p:nvCxnSpPr>
        <p:spPr>
          <a:xfrm>
            <a:off x="5995475" y="1818250"/>
            <a:ext cx="383100" cy="4827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72" name="Google Shape;1272;p60"/>
          <p:cNvSpPr/>
          <p:nvPr/>
        </p:nvSpPr>
        <p:spPr>
          <a:xfrm>
            <a:off x="8030425" y="2384975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cxnSp>
        <p:nvCxnSpPr>
          <p:cNvPr id="1281" name="Google Shape;1281;p60"/>
          <p:cNvCxnSpPr>
            <a:stCxn id="1272" idx="7"/>
            <a:endCxn id="1269" idx="3"/>
          </p:cNvCxnSpPr>
          <p:nvPr/>
        </p:nvCxnSpPr>
        <p:spPr>
          <a:xfrm flipH="1" rot="10800000">
            <a:off x="8342826" y="1766025"/>
            <a:ext cx="253500" cy="6711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5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p6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Tendencies in Negative Tie Networks</a:t>
            </a:r>
            <a:endParaRPr/>
          </a:p>
        </p:txBody>
      </p:sp>
      <p:sp>
        <p:nvSpPr>
          <p:cNvPr id="1287" name="Google Shape;1287;p61"/>
          <p:cNvSpPr txBox="1"/>
          <p:nvPr>
            <p:ph idx="1" type="body"/>
          </p:nvPr>
        </p:nvSpPr>
        <p:spPr>
          <a:xfrm>
            <a:off x="311700" y="1225225"/>
            <a:ext cx="5058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not all the tendencies that exist in positive tie networks exist in negative networks!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positive tie networks we see </a:t>
            </a:r>
            <a:r>
              <a:rPr b="1" lang="en"/>
              <a:t>transitivity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Friends of friends are friends</a:t>
            </a:r>
            <a:r>
              <a:rPr b="1" lang="en"/>
              <a:t> 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negative tie networks we see less of a tendency to transitivity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Enemies of enemies are not likely to be enemies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If </a:t>
            </a:r>
            <a:r>
              <a:rPr b="1" lang="en"/>
              <a:t>balance </a:t>
            </a:r>
            <a:r>
              <a:rPr lang="en"/>
              <a:t>applies they are a friend!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While positive ties tend to spread in networks negative ties don’t</a:t>
            </a:r>
            <a:endParaRPr/>
          </a:p>
        </p:txBody>
      </p:sp>
      <p:sp>
        <p:nvSpPr>
          <p:cNvPr id="1288" name="Google Shape;1288;p61"/>
          <p:cNvSpPr/>
          <p:nvPr/>
        </p:nvSpPr>
        <p:spPr>
          <a:xfrm>
            <a:off x="7518025" y="1462150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9" name="Google Shape;1289;p61"/>
          <p:cNvSpPr/>
          <p:nvPr/>
        </p:nvSpPr>
        <p:spPr>
          <a:xfrm>
            <a:off x="8542675" y="1462150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90" name="Google Shape;1290;p61"/>
          <p:cNvCxnSpPr>
            <a:stCxn id="1288" idx="6"/>
            <a:endCxn id="1289" idx="2"/>
          </p:cNvCxnSpPr>
          <p:nvPr/>
        </p:nvCxnSpPr>
        <p:spPr>
          <a:xfrm>
            <a:off x="7884025" y="1640200"/>
            <a:ext cx="6588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91" name="Google Shape;1291;p61"/>
          <p:cNvCxnSpPr>
            <a:stCxn id="1288" idx="4"/>
            <a:endCxn id="1292" idx="1"/>
          </p:cNvCxnSpPr>
          <p:nvPr/>
        </p:nvCxnSpPr>
        <p:spPr>
          <a:xfrm>
            <a:off x="7701025" y="1818250"/>
            <a:ext cx="383100" cy="6189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93" name="Google Shape;1293;p61"/>
          <p:cNvSpPr txBox="1"/>
          <p:nvPr/>
        </p:nvSpPr>
        <p:spPr>
          <a:xfrm>
            <a:off x="6564225" y="2821163"/>
            <a:ext cx="16476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Transitivity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294" name="Google Shape;1294;p61"/>
          <p:cNvSpPr txBox="1"/>
          <p:nvPr/>
        </p:nvSpPr>
        <p:spPr>
          <a:xfrm>
            <a:off x="5940038" y="1147225"/>
            <a:ext cx="11355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Time 1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95" name="Google Shape;1295;p61"/>
          <p:cNvSpPr txBox="1"/>
          <p:nvPr/>
        </p:nvSpPr>
        <p:spPr>
          <a:xfrm>
            <a:off x="7645570" y="1092075"/>
            <a:ext cx="11355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Time 2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96" name="Google Shape;1296;p61"/>
          <p:cNvSpPr/>
          <p:nvPr/>
        </p:nvSpPr>
        <p:spPr>
          <a:xfrm>
            <a:off x="5812475" y="1462150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7" name="Google Shape;1297;p61"/>
          <p:cNvSpPr/>
          <p:nvPr/>
        </p:nvSpPr>
        <p:spPr>
          <a:xfrm>
            <a:off x="6837125" y="1462150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cxnSp>
        <p:nvCxnSpPr>
          <p:cNvPr id="1298" name="Google Shape;1298;p61"/>
          <p:cNvCxnSpPr>
            <a:stCxn id="1296" idx="6"/>
            <a:endCxn id="1297" idx="2"/>
          </p:cNvCxnSpPr>
          <p:nvPr/>
        </p:nvCxnSpPr>
        <p:spPr>
          <a:xfrm>
            <a:off x="6178475" y="1640200"/>
            <a:ext cx="6588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99" name="Google Shape;1299;p61"/>
          <p:cNvSpPr/>
          <p:nvPr/>
        </p:nvSpPr>
        <p:spPr>
          <a:xfrm>
            <a:off x="6324875" y="2248875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292" name="Google Shape;1292;p61"/>
          <p:cNvSpPr/>
          <p:nvPr/>
        </p:nvSpPr>
        <p:spPr>
          <a:xfrm>
            <a:off x="8030425" y="2384975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cxnSp>
        <p:nvCxnSpPr>
          <p:cNvPr id="1300" name="Google Shape;1300;p61"/>
          <p:cNvCxnSpPr>
            <a:stCxn id="1292" idx="7"/>
            <a:endCxn id="1289" idx="3"/>
          </p:cNvCxnSpPr>
          <p:nvPr/>
        </p:nvCxnSpPr>
        <p:spPr>
          <a:xfrm flipH="1" rot="10800000">
            <a:off x="8342826" y="1766025"/>
            <a:ext cx="253500" cy="6711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01" name="Google Shape;1301;p61"/>
          <p:cNvSpPr/>
          <p:nvPr/>
        </p:nvSpPr>
        <p:spPr>
          <a:xfrm>
            <a:off x="7518025" y="3235750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61"/>
          <p:cNvSpPr/>
          <p:nvPr/>
        </p:nvSpPr>
        <p:spPr>
          <a:xfrm>
            <a:off x="8542675" y="3235750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03" name="Google Shape;1303;p61"/>
          <p:cNvCxnSpPr>
            <a:stCxn id="1301" idx="6"/>
            <a:endCxn id="1302" idx="2"/>
          </p:cNvCxnSpPr>
          <p:nvPr/>
        </p:nvCxnSpPr>
        <p:spPr>
          <a:xfrm>
            <a:off x="7884025" y="3413800"/>
            <a:ext cx="6588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04" name="Google Shape;1304;p61"/>
          <p:cNvSpPr txBox="1"/>
          <p:nvPr/>
        </p:nvSpPr>
        <p:spPr>
          <a:xfrm>
            <a:off x="6564225" y="4594763"/>
            <a:ext cx="16476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No Transitivity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305" name="Google Shape;1305;p61"/>
          <p:cNvSpPr/>
          <p:nvPr/>
        </p:nvSpPr>
        <p:spPr>
          <a:xfrm>
            <a:off x="5812475" y="3235750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6" name="Google Shape;1306;p61"/>
          <p:cNvSpPr/>
          <p:nvPr/>
        </p:nvSpPr>
        <p:spPr>
          <a:xfrm>
            <a:off x="6837125" y="3235750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cxnSp>
        <p:nvCxnSpPr>
          <p:cNvPr id="1307" name="Google Shape;1307;p61"/>
          <p:cNvCxnSpPr>
            <a:stCxn id="1305" idx="6"/>
            <a:endCxn id="1306" idx="2"/>
          </p:cNvCxnSpPr>
          <p:nvPr/>
        </p:nvCxnSpPr>
        <p:spPr>
          <a:xfrm>
            <a:off x="6178475" y="3413800"/>
            <a:ext cx="6588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08" name="Google Shape;1308;p61"/>
          <p:cNvSpPr/>
          <p:nvPr/>
        </p:nvSpPr>
        <p:spPr>
          <a:xfrm>
            <a:off x="6324875" y="4022475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cxnSp>
        <p:nvCxnSpPr>
          <p:cNvPr id="1309" name="Google Shape;1309;p61"/>
          <p:cNvCxnSpPr>
            <a:stCxn id="1308" idx="7"/>
            <a:endCxn id="1306" idx="3"/>
          </p:cNvCxnSpPr>
          <p:nvPr/>
        </p:nvCxnSpPr>
        <p:spPr>
          <a:xfrm flipH="1" rot="10800000">
            <a:off x="6637276" y="3539725"/>
            <a:ext cx="253500" cy="534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10" name="Google Shape;1310;p61"/>
          <p:cNvSpPr/>
          <p:nvPr/>
        </p:nvSpPr>
        <p:spPr>
          <a:xfrm>
            <a:off x="8030425" y="4158575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cxnSp>
        <p:nvCxnSpPr>
          <p:cNvPr id="1311" name="Google Shape;1311;p61"/>
          <p:cNvCxnSpPr>
            <a:stCxn id="1299" idx="7"/>
            <a:endCxn id="1297" idx="3"/>
          </p:cNvCxnSpPr>
          <p:nvPr/>
        </p:nvCxnSpPr>
        <p:spPr>
          <a:xfrm flipH="1" rot="10800000">
            <a:off x="6637276" y="1766125"/>
            <a:ext cx="253500" cy="5349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2" name="Google Shape;1312;p61"/>
          <p:cNvCxnSpPr>
            <a:stCxn id="1310" idx="7"/>
            <a:endCxn id="1302" idx="3"/>
          </p:cNvCxnSpPr>
          <p:nvPr/>
        </p:nvCxnSpPr>
        <p:spPr>
          <a:xfrm flipH="1" rot="10800000">
            <a:off x="8342826" y="3539625"/>
            <a:ext cx="253500" cy="671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3" name="Google Shape;1313;p61"/>
          <p:cNvCxnSpPr>
            <a:stCxn id="1301" idx="4"/>
            <a:endCxn id="1310" idx="1"/>
          </p:cNvCxnSpPr>
          <p:nvPr/>
        </p:nvCxnSpPr>
        <p:spPr>
          <a:xfrm>
            <a:off x="7701025" y="3591850"/>
            <a:ext cx="383100" cy="6189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p6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Tendencies in Negative Tie Networks</a:t>
            </a:r>
            <a:endParaRPr/>
          </a:p>
        </p:txBody>
      </p:sp>
      <p:sp>
        <p:nvSpPr>
          <p:cNvPr id="1319" name="Google Shape;1319;p62"/>
          <p:cNvSpPr txBox="1"/>
          <p:nvPr>
            <p:ph idx="1" type="body"/>
          </p:nvPr>
        </p:nvSpPr>
        <p:spPr>
          <a:xfrm>
            <a:off x="311700" y="1225225"/>
            <a:ext cx="5058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not all the tendencies that exist in positive tie networks exist in negative networks!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positive tie networks we see </a:t>
            </a:r>
            <a:r>
              <a:rPr b="1" lang="en"/>
              <a:t>transitivity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Friends of friends are friends</a:t>
            </a:r>
            <a:r>
              <a:rPr b="1" lang="en"/>
              <a:t> 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negative tie networks we see less of a tendency to transitivity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Enemies of enemies are not likely to be enemies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If </a:t>
            </a:r>
            <a:r>
              <a:rPr b="1" lang="en"/>
              <a:t>balance </a:t>
            </a:r>
            <a:r>
              <a:rPr lang="en"/>
              <a:t>applies they are a friend!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While positive ties tend to spread in networks negative ties don’t</a:t>
            </a:r>
            <a:endParaRPr/>
          </a:p>
        </p:txBody>
      </p:sp>
      <p:sp>
        <p:nvSpPr>
          <p:cNvPr id="1320" name="Google Shape;1320;p62"/>
          <p:cNvSpPr/>
          <p:nvPr/>
        </p:nvSpPr>
        <p:spPr>
          <a:xfrm>
            <a:off x="7518025" y="1462150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1" name="Google Shape;1321;p62"/>
          <p:cNvSpPr/>
          <p:nvPr/>
        </p:nvSpPr>
        <p:spPr>
          <a:xfrm>
            <a:off x="8542675" y="1462150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22" name="Google Shape;1322;p62"/>
          <p:cNvCxnSpPr>
            <a:stCxn id="1320" idx="6"/>
            <a:endCxn id="1321" idx="2"/>
          </p:cNvCxnSpPr>
          <p:nvPr/>
        </p:nvCxnSpPr>
        <p:spPr>
          <a:xfrm>
            <a:off x="7884025" y="1640200"/>
            <a:ext cx="6588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3" name="Google Shape;1323;p62"/>
          <p:cNvCxnSpPr>
            <a:stCxn id="1320" idx="4"/>
            <a:endCxn id="1324" idx="1"/>
          </p:cNvCxnSpPr>
          <p:nvPr/>
        </p:nvCxnSpPr>
        <p:spPr>
          <a:xfrm>
            <a:off x="7701025" y="1818250"/>
            <a:ext cx="383100" cy="6189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25" name="Google Shape;1325;p62"/>
          <p:cNvSpPr txBox="1"/>
          <p:nvPr/>
        </p:nvSpPr>
        <p:spPr>
          <a:xfrm>
            <a:off x="6564225" y="2821163"/>
            <a:ext cx="16476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Transitivity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326" name="Google Shape;1326;p62"/>
          <p:cNvSpPr txBox="1"/>
          <p:nvPr/>
        </p:nvSpPr>
        <p:spPr>
          <a:xfrm>
            <a:off x="5940038" y="1147225"/>
            <a:ext cx="11355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Time 1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27" name="Google Shape;1327;p62"/>
          <p:cNvSpPr txBox="1"/>
          <p:nvPr/>
        </p:nvSpPr>
        <p:spPr>
          <a:xfrm>
            <a:off x="7645570" y="1092075"/>
            <a:ext cx="11355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Time 2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28" name="Google Shape;1328;p62"/>
          <p:cNvSpPr/>
          <p:nvPr/>
        </p:nvSpPr>
        <p:spPr>
          <a:xfrm>
            <a:off x="5812475" y="1462150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9" name="Google Shape;1329;p62"/>
          <p:cNvSpPr/>
          <p:nvPr/>
        </p:nvSpPr>
        <p:spPr>
          <a:xfrm>
            <a:off x="6837125" y="1462150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cxnSp>
        <p:nvCxnSpPr>
          <p:cNvPr id="1330" name="Google Shape;1330;p62"/>
          <p:cNvCxnSpPr>
            <a:stCxn id="1328" idx="6"/>
            <a:endCxn id="1329" idx="2"/>
          </p:cNvCxnSpPr>
          <p:nvPr/>
        </p:nvCxnSpPr>
        <p:spPr>
          <a:xfrm>
            <a:off x="6178475" y="1640200"/>
            <a:ext cx="6588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31" name="Google Shape;1331;p62"/>
          <p:cNvSpPr/>
          <p:nvPr/>
        </p:nvSpPr>
        <p:spPr>
          <a:xfrm>
            <a:off x="6324875" y="2248875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324" name="Google Shape;1324;p62"/>
          <p:cNvSpPr/>
          <p:nvPr/>
        </p:nvSpPr>
        <p:spPr>
          <a:xfrm>
            <a:off x="8030425" y="2384975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cxnSp>
        <p:nvCxnSpPr>
          <p:cNvPr id="1332" name="Google Shape;1332;p62"/>
          <p:cNvCxnSpPr>
            <a:stCxn id="1324" idx="7"/>
            <a:endCxn id="1321" idx="3"/>
          </p:cNvCxnSpPr>
          <p:nvPr/>
        </p:nvCxnSpPr>
        <p:spPr>
          <a:xfrm flipH="1" rot="10800000">
            <a:off x="8342826" y="1766025"/>
            <a:ext cx="253500" cy="6711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33" name="Google Shape;1333;p62"/>
          <p:cNvSpPr/>
          <p:nvPr/>
        </p:nvSpPr>
        <p:spPr>
          <a:xfrm>
            <a:off x="7518025" y="3235750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4" name="Google Shape;1334;p62"/>
          <p:cNvSpPr/>
          <p:nvPr/>
        </p:nvSpPr>
        <p:spPr>
          <a:xfrm>
            <a:off x="8542675" y="3235750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35" name="Google Shape;1335;p62"/>
          <p:cNvCxnSpPr>
            <a:stCxn id="1333" idx="6"/>
            <a:endCxn id="1334" idx="2"/>
          </p:cNvCxnSpPr>
          <p:nvPr/>
        </p:nvCxnSpPr>
        <p:spPr>
          <a:xfrm>
            <a:off x="7884025" y="3413800"/>
            <a:ext cx="6588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36" name="Google Shape;1336;p62"/>
          <p:cNvSpPr txBox="1"/>
          <p:nvPr/>
        </p:nvSpPr>
        <p:spPr>
          <a:xfrm>
            <a:off x="6564225" y="4594763"/>
            <a:ext cx="16476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No Transitivity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337" name="Google Shape;1337;p62"/>
          <p:cNvSpPr/>
          <p:nvPr/>
        </p:nvSpPr>
        <p:spPr>
          <a:xfrm>
            <a:off x="5812475" y="3235750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p62"/>
          <p:cNvSpPr/>
          <p:nvPr/>
        </p:nvSpPr>
        <p:spPr>
          <a:xfrm>
            <a:off x="6837125" y="3235750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cxnSp>
        <p:nvCxnSpPr>
          <p:cNvPr id="1339" name="Google Shape;1339;p62"/>
          <p:cNvCxnSpPr>
            <a:stCxn id="1337" idx="6"/>
            <a:endCxn id="1338" idx="2"/>
          </p:cNvCxnSpPr>
          <p:nvPr/>
        </p:nvCxnSpPr>
        <p:spPr>
          <a:xfrm>
            <a:off x="6178475" y="3413800"/>
            <a:ext cx="6588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40" name="Google Shape;1340;p62"/>
          <p:cNvSpPr/>
          <p:nvPr/>
        </p:nvSpPr>
        <p:spPr>
          <a:xfrm>
            <a:off x="6324875" y="4022475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cxnSp>
        <p:nvCxnSpPr>
          <p:cNvPr id="1341" name="Google Shape;1341;p62"/>
          <p:cNvCxnSpPr>
            <a:stCxn id="1340" idx="7"/>
            <a:endCxn id="1338" idx="3"/>
          </p:cNvCxnSpPr>
          <p:nvPr/>
        </p:nvCxnSpPr>
        <p:spPr>
          <a:xfrm flipH="1" rot="10800000">
            <a:off x="6637276" y="3539725"/>
            <a:ext cx="253500" cy="534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42" name="Google Shape;1342;p62"/>
          <p:cNvSpPr/>
          <p:nvPr/>
        </p:nvSpPr>
        <p:spPr>
          <a:xfrm>
            <a:off x="8030425" y="4158575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cxnSp>
        <p:nvCxnSpPr>
          <p:cNvPr id="1343" name="Google Shape;1343;p62"/>
          <p:cNvCxnSpPr>
            <a:stCxn id="1331" idx="7"/>
            <a:endCxn id="1329" idx="3"/>
          </p:cNvCxnSpPr>
          <p:nvPr/>
        </p:nvCxnSpPr>
        <p:spPr>
          <a:xfrm flipH="1" rot="10800000">
            <a:off x="6637276" y="1766125"/>
            <a:ext cx="253500" cy="5349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44" name="Google Shape;1344;p62"/>
          <p:cNvCxnSpPr>
            <a:stCxn id="1342" idx="7"/>
            <a:endCxn id="1334" idx="3"/>
          </p:cNvCxnSpPr>
          <p:nvPr/>
        </p:nvCxnSpPr>
        <p:spPr>
          <a:xfrm flipH="1" rot="10800000">
            <a:off x="8342826" y="3539625"/>
            <a:ext cx="253500" cy="671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45" name="Google Shape;1345;p62"/>
          <p:cNvCxnSpPr>
            <a:stCxn id="1333" idx="4"/>
            <a:endCxn id="1342" idx="1"/>
          </p:cNvCxnSpPr>
          <p:nvPr/>
        </p:nvCxnSpPr>
        <p:spPr>
          <a:xfrm>
            <a:off x="7701025" y="3591850"/>
            <a:ext cx="383100" cy="6189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9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p6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Tendencies in Negative Tie Networks</a:t>
            </a:r>
            <a:endParaRPr/>
          </a:p>
        </p:txBody>
      </p:sp>
      <p:sp>
        <p:nvSpPr>
          <p:cNvPr id="1351" name="Google Shape;1351;p63"/>
          <p:cNvSpPr txBox="1"/>
          <p:nvPr>
            <p:ph idx="1" type="body"/>
          </p:nvPr>
        </p:nvSpPr>
        <p:spPr>
          <a:xfrm>
            <a:off x="311700" y="1225225"/>
            <a:ext cx="47244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Centrality</a:t>
            </a:r>
            <a:r>
              <a:rPr lang="en"/>
              <a:t> measures have different interpretations in negative tie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more degree centrality in terms of negative ties the </a:t>
            </a:r>
            <a:r>
              <a:rPr b="1" lang="en"/>
              <a:t>less</a:t>
            </a:r>
            <a:r>
              <a:rPr lang="en"/>
              <a:t> central you are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Outdegree</a:t>
            </a:r>
            <a:r>
              <a:rPr lang="en"/>
              <a:t> </a:t>
            </a:r>
            <a:r>
              <a:rPr lang="en"/>
              <a:t>you</a:t>
            </a:r>
            <a:r>
              <a:rPr lang="en"/>
              <a:t> hate everyone else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Indegree</a:t>
            </a:r>
            <a:r>
              <a:rPr lang="en"/>
              <a:t> everyone else hates you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Bad in either case!</a:t>
            </a:r>
            <a:endParaRPr/>
          </a:p>
        </p:txBody>
      </p:sp>
      <p:sp>
        <p:nvSpPr>
          <p:cNvPr id="1352" name="Google Shape;1352;p63"/>
          <p:cNvSpPr txBox="1"/>
          <p:nvPr/>
        </p:nvSpPr>
        <p:spPr>
          <a:xfrm>
            <a:off x="6135875" y="2839488"/>
            <a:ext cx="16476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Outdegree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353" name="Google Shape;1353;p63"/>
          <p:cNvSpPr txBox="1"/>
          <p:nvPr/>
        </p:nvSpPr>
        <p:spPr>
          <a:xfrm>
            <a:off x="5385113" y="1179263"/>
            <a:ext cx="11355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Good!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54" name="Google Shape;1354;p63"/>
          <p:cNvSpPr txBox="1"/>
          <p:nvPr/>
        </p:nvSpPr>
        <p:spPr>
          <a:xfrm>
            <a:off x="7548845" y="1147225"/>
            <a:ext cx="11355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Bad!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55" name="Google Shape;1355;p63"/>
          <p:cNvSpPr/>
          <p:nvPr/>
        </p:nvSpPr>
        <p:spPr>
          <a:xfrm>
            <a:off x="5769875" y="2312950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cxnSp>
        <p:nvCxnSpPr>
          <p:cNvPr id="1356" name="Google Shape;1356;p63"/>
          <p:cNvCxnSpPr>
            <a:stCxn id="1355" idx="0"/>
            <a:endCxn id="1357" idx="4"/>
          </p:cNvCxnSpPr>
          <p:nvPr/>
        </p:nvCxnSpPr>
        <p:spPr>
          <a:xfrm flipH="1" rot="10800000">
            <a:off x="5952875" y="1919650"/>
            <a:ext cx="454200" cy="3933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8" name="Google Shape;1358;p63"/>
          <p:cNvCxnSpPr>
            <a:stCxn id="1355" idx="1"/>
            <a:endCxn id="1359" idx="6"/>
          </p:cNvCxnSpPr>
          <p:nvPr/>
        </p:nvCxnSpPr>
        <p:spPr>
          <a:xfrm rot="10800000">
            <a:off x="5401974" y="2165600"/>
            <a:ext cx="421500" cy="1995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59" name="Google Shape;1359;p63"/>
          <p:cNvSpPr/>
          <p:nvPr/>
        </p:nvSpPr>
        <p:spPr>
          <a:xfrm>
            <a:off x="5036088" y="1987600"/>
            <a:ext cx="366000" cy="356100"/>
          </a:xfrm>
          <a:prstGeom prst="ellipse">
            <a:avLst/>
          </a:prstGeom>
          <a:solidFill>
            <a:srgbClr val="B7B7B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360" name="Google Shape;1360;p63"/>
          <p:cNvSpPr/>
          <p:nvPr/>
        </p:nvSpPr>
        <p:spPr>
          <a:xfrm>
            <a:off x="5302300" y="1563500"/>
            <a:ext cx="366000" cy="356100"/>
          </a:xfrm>
          <a:prstGeom prst="ellipse">
            <a:avLst/>
          </a:prstGeom>
          <a:solidFill>
            <a:srgbClr val="B7B7B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357" name="Google Shape;1357;p63"/>
          <p:cNvSpPr/>
          <p:nvPr/>
        </p:nvSpPr>
        <p:spPr>
          <a:xfrm>
            <a:off x="6224163" y="1563500"/>
            <a:ext cx="366000" cy="356100"/>
          </a:xfrm>
          <a:prstGeom prst="ellipse">
            <a:avLst/>
          </a:prstGeom>
          <a:solidFill>
            <a:srgbClr val="B7B7B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361" name="Google Shape;1361;p63"/>
          <p:cNvSpPr/>
          <p:nvPr/>
        </p:nvSpPr>
        <p:spPr>
          <a:xfrm>
            <a:off x="6457938" y="1992925"/>
            <a:ext cx="366000" cy="356100"/>
          </a:xfrm>
          <a:prstGeom prst="ellipse">
            <a:avLst/>
          </a:prstGeom>
          <a:solidFill>
            <a:srgbClr val="B7B7B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cxnSp>
        <p:nvCxnSpPr>
          <p:cNvPr id="1362" name="Google Shape;1362;p63"/>
          <p:cNvCxnSpPr>
            <a:stCxn id="1355" idx="0"/>
            <a:endCxn id="1360" idx="4"/>
          </p:cNvCxnSpPr>
          <p:nvPr/>
        </p:nvCxnSpPr>
        <p:spPr>
          <a:xfrm rot="10800000">
            <a:off x="5485175" y="1919650"/>
            <a:ext cx="467700" cy="3933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63" name="Google Shape;1363;p63"/>
          <p:cNvCxnSpPr>
            <a:stCxn id="1355" idx="7"/>
            <a:endCxn id="1361" idx="2"/>
          </p:cNvCxnSpPr>
          <p:nvPr/>
        </p:nvCxnSpPr>
        <p:spPr>
          <a:xfrm flipH="1" rot="10800000">
            <a:off x="6082276" y="2171000"/>
            <a:ext cx="375600" cy="1941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64" name="Google Shape;1364;p63"/>
          <p:cNvSpPr/>
          <p:nvPr/>
        </p:nvSpPr>
        <p:spPr>
          <a:xfrm>
            <a:off x="5763238" y="1456700"/>
            <a:ext cx="366000" cy="356100"/>
          </a:xfrm>
          <a:prstGeom prst="ellipse">
            <a:avLst/>
          </a:prstGeom>
          <a:solidFill>
            <a:srgbClr val="B7B7B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cxnSp>
        <p:nvCxnSpPr>
          <p:cNvPr id="1365" name="Google Shape;1365;p63"/>
          <p:cNvCxnSpPr>
            <a:stCxn id="1355" idx="0"/>
            <a:endCxn id="1364" idx="4"/>
          </p:cNvCxnSpPr>
          <p:nvPr/>
        </p:nvCxnSpPr>
        <p:spPr>
          <a:xfrm rot="10800000">
            <a:off x="5946275" y="1812850"/>
            <a:ext cx="6600" cy="5001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66" name="Google Shape;1366;p63"/>
          <p:cNvSpPr/>
          <p:nvPr/>
        </p:nvSpPr>
        <p:spPr>
          <a:xfrm>
            <a:off x="7936900" y="2280925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cxnSp>
        <p:nvCxnSpPr>
          <p:cNvPr id="1367" name="Google Shape;1367;p63"/>
          <p:cNvCxnSpPr>
            <a:stCxn id="1366" idx="0"/>
            <a:endCxn id="1368" idx="4"/>
          </p:cNvCxnSpPr>
          <p:nvPr/>
        </p:nvCxnSpPr>
        <p:spPr>
          <a:xfrm flipH="1" rot="10800000">
            <a:off x="8119900" y="1887625"/>
            <a:ext cx="454200" cy="393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69" name="Google Shape;1369;p63"/>
          <p:cNvCxnSpPr>
            <a:stCxn id="1366" idx="1"/>
            <a:endCxn id="1370" idx="6"/>
          </p:cNvCxnSpPr>
          <p:nvPr/>
        </p:nvCxnSpPr>
        <p:spPr>
          <a:xfrm rot="10800000">
            <a:off x="7568999" y="2133575"/>
            <a:ext cx="421500" cy="199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70" name="Google Shape;1370;p63"/>
          <p:cNvSpPr/>
          <p:nvPr/>
        </p:nvSpPr>
        <p:spPr>
          <a:xfrm>
            <a:off x="7203113" y="1955575"/>
            <a:ext cx="366000" cy="356100"/>
          </a:xfrm>
          <a:prstGeom prst="ellipse">
            <a:avLst/>
          </a:prstGeom>
          <a:solidFill>
            <a:srgbClr val="B7B7B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371" name="Google Shape;1371;p63"/>
          <p:cNvSpPr/>
          <p:nvPr/>
        </p:nvSpPr>
        <p:spPr>
          <a:xfrm>
            <a:off x="7469325" y="1531475"/>
            <a:ext cx="366000" cy="356100"/>
          </a:xfrm>
          <a:prstGeom prst="ellipse">
            <a:avLst/>
          </a:prstGeom>
          <a:solidFill>
            <a:srgbClr val="B7B7B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368" name="Google Shape;1368;p63"/>
          <p:cNvSpPr/>
          <p:nvPr/>
        </p:nvSpPr>
        <p:spPr>
          <a:xfrm>
            <a:off x="8391188" y="1531475"/>
            <a:ext cx="366000" cy="356100"/>
          </a:xfrm>
          <a:prstGeom prst="ellipse">
            <a:avLst/>
          </a:prstGeom>
          <a:solidFill>
            <a:srgbClr val="B7B7B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372" name="Google Shape;1372;p63"/>
          <p:cNvSpPr/>
          <p:nvPr/>
        </p:nvSpPr>
        <p:spPr>
          <a:xfrm>
            <a:off x="8624963" y="1960900"/>
            <a:ext cx="366000" cy="356100"/>
          </a:xfrm>
          <a:prstGeom prst="ellipse">
            <a:avLst/>
          </a:prstGeom>
          <a:solidFill>
            <a:srgbClr val="B7B7B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cxnSp>
        <p:nvCxnSpPr>
          <p:cNvPr id="1373" name="Google Shape;1373;p63"/>
          <p:cNvCxnSpPr>
            <a:stCxn id="1366" idx="0"/>
            <a:endCxn id="1371" idx="4"/>
          </p:cNvCxnSpPr>
          <p:nvPr/>
        </p:nvCxnSpPr>
        <p:spPr>
          <a:xfrm rot="10800000">
            <a:off x="7652200" y="1887625"/>
            <a:ext cx="467700" cy="393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74" name="Google Shape;1374;p63"/>
          <p:cNvCxnSpPr>
            <a:stCxn id="1366" idx="7"/>
            <a:endCxn id="1372" idx="2"/>
          </p:cNvCxnSpPr>
          <p:nvPr/>
        </p:nvCxnSpPr>
        <p:spPr>
          <a:xfrm flipH="1" rot="10800000">
            <a:off x="8249301" y="2138975"/>
            <a:ext cx="375600" cy="194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75" name="Google Shape;1375;p63"/>
          <p:cNvSpPr/>
          <p:nvPr/>
        </p:nvSpPr>
        <p:spPr>
          <a:xfrm>
            <a:off x="7930263" y="1424675"/>
            <a:ext cx="366000" cy="356100"/>
          </a:xfrm>
          <a:prstGeom prst="ellipse">
            <a:avLst/>
          </a:prstGeom>
          <a:solidFill>
            <a:srgbClr val="B7B7B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cxnSp>
        <p:nvCxnSpPr>
          <p:cNvPr id="1376" name="Google Shape;1376;p63"/>
          <p:cNvCxnSpPr>
            <a:stCxn id="1366" idx="0"/>
            <a:endCxn id="1375" idx="4"/>
          </p:cNvCxnSpPr>
          <p:nvPr/>
        </p:nvCxnSpPr>
        <p:spPr>
          <a:xfrm rot="10800000">
            <a:off x="8113300" y="1780825"/>
            <a:ext cx="6600" cy="500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77" name="Google Shape;1377;p63"/>
          <p:cNvSpPr txBox="1"/>
          <p:nvPr/>
        </p:nvSpPr>
        <p:spPr>
          <a:xfrm>
            <a:off x="6082013" y="4609538"/>
            <a:ext cx="16476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Indegree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378" name="Google Shape;1378;p63"/>
          <p:cNvSpPr/>
          <p:nvPr/>
        </p:nvSpPr>
        <p:spPr>
          <a:xfrm>
            <a:off x="5716013" y="4083000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cxnSp>
        <p:nvCxnSpPr>
          <p:cNvPr id="1379" name="Google Shape;1379;p63"/>
          <p:cNvCxnSpPr>
            <a:stCxn id="1378" idx="0"/>
            <a:endCxn id="1380" idx="4"/>
          </p:cNvCxnSpPr>
          <p:nvPr/>
        </p:nvCxnSpPr>
        <p:spPr>
          <a:xfrm flipH="1" rot="10800000">
            <a:off x="5899013" y="3689700"/>
            <a:ext cx="454200" cy="3933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381" name="Google Shape;1381;p63"/>
          <p:cNvCxnSpPr>
            <a:stCxn id="1378" idx="1"/>
            <a:endCxn id="1382" idx="6"/>
          </p:cNvCxnSpPr>
          <p:nvPr/>
        </p:nvCxnSpPr>
        <p:spPr>
          <a:xfrm rot="10800000">
            <a:off x="5348112" y="3935650"/>
            <a:ext cx="421500" cy="1995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382" name="Google Shape;1382;p63"/>
          <p:cNvSpPr/>
          <p:nvPr/>
        </p:nvSpPr>
        <p:spPr>
          <a:xfrm>
            <a:off x="4982225" y="3757650"/>
            <a:ext cx="366000" cy="356100"/>
          </a:xfrm>
          <a:prstGeom prst="ellipse">
            <a:avLst/>
          </a:prstGeom>
          <a:solidFill>
            <a:srgbClr val="B7B7B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383" name="Google Shape;1383;p63"/>
          <p:cNvSpPr/>
          <p:nvPr/>
        </p:nvSpPr>
        <p:spPr>
          <a:xfrm>
            <a:off x="5248438" y="3333550"/>
            <a:ext cx="366000" cy="356100"/>
          </a:xfrm>
          <a:prstGeom prst="ellipse">
            <a:avLst/>
          </a:prstGeom>
          <a:solidFill>
            <a:srgbClr val="B7B7B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380" name="Google Shape;1380;p63"/>
          <p:cNvSpPr/>
          <p:nvPr/>
        </p:nvSpPr>
        <p:spPr>
          <a:xfrm>
            <a:off x="6170300" y="3333550"/>
            <a:ext cx="366000" cy="356100"/>
          </a:xfrm>
          <a:prstGeom prst="ellipse">
            <a:avLst/>
          </a:prstGeom>
          <a:solidFill>
            <a:srgbClr val="B7B7B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384" name="Google Shape;1384;p63"/>
          <p:cNvSpPr/>
          <p:nvPr/>
        </p:nvSpPr>
        <p:spPr>
          <a:xfrm>
            <a:off x="6404075" y="3762975"/>
            <a:ext cx="366000" cy="356100"/>
          </a:xfrm>
          <a:prstGeom prst="ellipse">
            <a:avLst/>
          </a:prstGeom>
          <a:solidFill>
            <a:srgbClr val="B7B7B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cxnSp>
        <p:nvCxnSpPr>
          <p:cNvPr id="1385" name="Google Shape;1385;p63"/>
          <p:cNvCxnSpPr>
            <a:stCxn id="1378" idx="0"/>
            <a:endCxn id="1383" idx="4"/>
          </p:cNvCxnSpPr>
          <p:nvPr/>
        </p:nvCxnSpPr>
        <p:spPr>
          <a:xfrm rot="10800000">
            <a:off x="5431313" y="3689700"/>
            <a:ext cx="467700" cy="3933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386" name="Google Shape;1386;p63"/>
          <p:cNvCxnSpPr>
            <a:stCxn id="1378" idx="7"/>
            <a:endCxn id="1384" idx="2"/>
          </p:cNvCxnSpPr>
          <p:nvPr/>
        </p:nvCxnSpPr>
        <p:spPr>
          <a:xfrm flipH="1" rot="10800000">
            <a:off x="6028413" y="3941050"/>
            <a:ext cx="375600" cy="1941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387" name="Google Shape;1387;p63"/>
          <p:cNvSpPr/>
          <p:nvPr/>
        </p:nvSpPr>
        <p:spPr>
          <a:xfrm>
            <a:off x="5709375" y="3226750"/>
            <a:ext cx="366000" cy="356100"/>
          </a:xfrm>
          <a:prstGeom prst="ellipse">
            <a:avLst/>
          </a:prstGeom>
          <a:solidFill>
            <a:srgbClr val="B7B7B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cxnSp>
        <p:nvCxnSpPr>
          <p:cNvPr id="1388" name="Google Shape;1388;p63"/>
          <p:cNvCxnSpPr>
            <a:stCxn id="1378" idx="0"/>
            <a:endCxn id="1387" idx="4"/>
          </p:cNvCxnSpPr>
          <p:nvPr/>
        </p:nvCxnSpPr>
        <p:spPr>
          <a:xfrm rot="10800000">
            <a:off x="5892413" y="3582900"/>
            <a:ext cx="6600" cy="5001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389" name="Google Shape;1389;p63"/>
          <p:cNvSpPr/>
          <p:nvPr/>
        </p:nvSpPr>
        <p:spPr>
          <a:xfrm>
            <a:off x="7883038" y="4050975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cxnSp>
        <p:nvCxnSpPr>
          <p:cNvPr id="1390" name="Google Shape;1390;p63"/>
          <p:cNvCxnSpPr>
            <a:stCxn id="1389" idx="0"/>
            <a:endCxn id="1391" idx="4"/>
          </p:cNvCxnSpPr>
          <p:nvPr/>
        </p:nvCxnSpPr>
        <p:spPr>
          <a:xfrm flipH="1" rot="10800000">
            <a:off x="8066038" y="3657675"/>
            <a:ext cx="454200" cy="393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392" name="Google Shape;1392;p63"/>
          <p:cNvCxnSpPr>
            <a:stCxn id="1389" idx="1"/>
            <a:endCxn id="1393" idx="6"/>
          </p:cNvCxnSpPr>
          <p:nvPr/>
        </p:nvCxnSpPr>
        <p:spPr>
          <a:xfrm rot="10800000">
            <a:off x="7515137" y="3903625"/>
            <a:ext cx="421500" cy="199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393" name="Google Shape;1393;p63"/>
          <p:cNvSpPr/>
          <p:nvPr/>
        </p:nvSpPr>
        <p:spPr>
          <a:xfrm>
            <a:off x="7149250" y="3725625"/>
            <a:ext cx="366000" cy="356100"/>
          </a:xfrm>
          <a:prstGeom prst="ellipse">
            <a:avLst/>
          </a:prstGeom>
          <a:solidFill>
            <a:srgbClr val="B7B7B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394" name="Google Shape;1394;p63"/>
          <p:cNvSpPr/>
          <p:nvPr/>
        </p:nvSpPr>
        <p:spPr>
          <a:xfrm>
            <a:off x="7415463" y="3301525"/>
            <a:ext cx="366000" cy="356100"/>
          </a:xfrm>
          <a:prstGeom prst="ellipse">
            <a:avLst/>
          </a:prstGeom>
          <a:solidFill>
            <a:srgbClr val="B7B7B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391" name="Google Shape;1391;p63"/>
          <p:cNvSpPr/>
          <p:nvPr/>
        </p:nvSpPr>
        <p:spPr>
          <a:xfrm>
            <a:off x="8337325" y="3301525"/>
            <a:ext cx="366000" cy="356100"/>
          </a:xfrm>
          <a:prstGeom prst="ellipse">
            <a:avLst/>
          </a:prstGeom>
          <a:solidFill>
            <a:srgbClr val="B7B7B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395" name="Google Shape;1395;p63"/>
          <p:cNvSpPr/>
          <p:nvPr/>
        </p:nvSpPr>
        <p:spPr>
          <a:xfrm>
            <a:off x="8571100" y="3730950"/>
            <a:ext cx="366000" cy="356100"/>
          </a:xfrm>
          <a:prstGeom prst="ellipse">
            <a:avLst/>
          </a:prstGeom>
          <a:solidFill>
            <a:srgbClr val="B7B7B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cxnSp>
        <p:nvCxnSpPr>
          <p:cNvPr id="1396" name="Google Shape;1396;p63"/>
          <p:cNvCxnSpPr>
            <a:stCxn id="1389" idx="0"/>
            <a:endCxn id="1394" idx="4"/>
          </p:cNvCxnSpPr>
          <p:nvPr/>
        </p:nvCxnSpPr>
        <p:spPr>
          <a:xfrm rot="10800000">
            <a:off x="7598338" y="3657675"/>
            <a:ext cx="467700" cy="393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397" name="Google Shape;1397;p63"/>
          <p:cNvCxnSpPr>
            <a:stCxn id="1389" idx="7"/>
            <a:endCxn id="1395" idx="2"/>
          </p:cNvCxnSpPr>
          <p:nvPr/>
        </p:nvCxnSpPr>
        <p:spPr>
          <a:xfrm flipH="1" rot="10800000">
            <a:off x="8195438" y="3909025"/>
            <a:ext cx="375600" cy="194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398" name="Google Shape;1398;p63"/>
          <p:cNvSpPr/>
          <p:nvPr/>
        </p:nvSpPr>
        <p:spPr>
          <a:xfrm>
            <a:off x="7876400" y="3194725"/>
            <a:ext cx="366000" cy="356100"/>
          </a:xfrm>
          <a:prstGeom prst="ellipse">
            <a:avLst/>
          </a:prstGeom>
          <a:solidFill>
            <a:srgbClr val="B7B7B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cxnSp>
        <p:nvCxnSpPr>
          <p:cNvPr id="1399" name="Google Shape;1399;p63"/>
          <p:cNvCxnSpPr>
            <a:stCxn id="1389" idx="0"/>
            <a:endCxn id="1398" idx="4"/>
          </p:cNvCxnSpPr>
          <p:nvPr/>
        </p:nvCxnSpPr>
        <p:spPr>
          <a:xfrm rot="10800000">
            <a:off x="8059438" y="3550875"/>
            <a:ext cx="6600" cy="500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3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p6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Tendencies in Negative Tie Networks</a:t>
            </a:r>
            <a:endParaRPr/>
          </a:p>
        </p:txBody>
      </p:sp>
      <p:sp>
        <p:nvSpPr>
          <p:cNvPr id="1405" name="Google Shape;1405;p64"/>
          <p:cNvSpPr txBox="1"/>
          <p:nvPr>
            <p:ph idx="1" type="body"/>
          </p:nvPr>
        </p:nvSpPr>
        <p:spPr>
          <a:xfrm>
            <a:off x="311700" y="1225225"/>
            <a:ext cx="47244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Centrality</a:t>
            </a:r>
            <a:r>
              <a:rPr lang="en"/>
              <a:t> measures have different interpretations in negative tie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Path based centrality measures don’t have an intuitive interpretation in negative ties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Based on idea that things (advice, information, exchanges, favors) </a:t>
            </a:r>
            <a:r>
              <a:rPr b="1" lang="en"/>
              <a:t>flow </a:t>
            </a:r>
            <a:r>
              <a:rPr lang="en"/>
              <a:t>via positive 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 makes sense to </a:t>
            </a:r>
            <a:r>
              <a:rPr b="1" lang="en"/>
              <a:t>reach</a:t>
            </a:r>
            <a:r>
              <a:rPr lang="en"/>
              <a:t> or be a </a:t>
            </a:r>
            <a:r>
              <a:rPr b="1" lang="en"/>
              <a:t>mediator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nothing flows via negative ties!</a:t>
            </a:r>
            <a:endParaRPr/>
          </a:p>
        </p:txBody>
      </p:sp>
      <p:sp>
        <p:nvSpPr>
          <p:cNvPr id="1406" name="Google Shape;1406;p64"/>
          <p:cNvSpPr txBox="1"/>
          <p:nvPr/>
        </p:nvSpPr>
        <p:spPr>
          <a:xfrm>
            <a:off x="6134650" y="2308638"/>
            <a:ext cx="16476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Closeness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407" name="Google Shape;1407;p64"/>
          <p:cNvSpPr txBox="1"/>
          <p:nvPr/>
        </p:nvSpPr>
        <p:spPr>
          <a:xfrm>
            <a:off x="5385113" y="1179263"/>
            <a:ext cx="11355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Good!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08" name="Google Shape;1408;p64"/>
          <p:cNvSpPr txBox="1"/>
          <p:nvPr/>
        </p:nvSpPr>
        <p:spPr>
          <a:xfrm>
            <a:off x="7548845" y="1147225"/>
            <a:ext cx="11355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??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09" name="Google Shape;1409;p64"/>
          <p:cNvSpPr txBox="1"/>
          <p:nvPr/>
        </p:nvSpPr>
        <p:spPr>
          <a:xfrm>
            <a:off x="6075488" y="4270813"/>
            <a:ext cx="16476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Betweenness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410" name="Google Shape;1410;p64"/>
          <p:cNvSpPr/>
          <p:nvPr/>
        </p:nvSpPr>
        <p:spPr>
          <a:xfrm>
            <a:off x="6395000" y="1852825"/>
            <a:ext cx="366000" cy="356100"/>
          </a:xfrm>
          <a:prstGeom prst="ellipse">
            <a:avLst/>
          </a:prstGeom>
          <a:solidFill>
            <a:srgbClr val="B7B7B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cxnSp>
        <p:nvCxnSpPr>
          <p:cNvPr id="1411" name="Google Shape;1411;p64"/>
          <p:cNvCxnSpPr>
            <a:stCxn id="1410" idx="2"/>
            <a:endCxn id="1412" idx="6"/>
          </p:cNvCxnSpPr>
          <p:nvPr/>
        </p:nvCxnSpPr>
        <p:spPr>
          <a:xfrm rot="10800000">
            <a:off x="6075500" y="2030875"/>
            <a:ext cx="3195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413" name="Google Shape;1413;p64"/>
          <p:cNvSpPr/>
          <p:nvPr/>
        </p:nvSpPr>
        <p:spPr>
          <a:xfrm>
            <a:off x="5036088" y="1852825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412" name="Google Shape;1412;p64"/>
          <p:cNvSpPr/>
          <p:nvPr/>
        </p:nvSpPr>
        <p:spPr>
          <a:xfrm>
            <a:off x="5709375" y="1852825"/>
            <a:ext cx="366000" cy="356100"/>
          </a:xfrm>
          <a:prstGeom prst="ellipse">
            <a:avLst/>
          </a:prstGeom>
          <a:solidFill>
            <a:srgbClr val="B7B7B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cxnSp>
        <p:nvCxnSpPr>
          <p:cNvPr id="1414" name="Google Shape;1414;p64"/>
          <p:cNvCxnSpPr>
            <a:stCxn id="1412" idx="2"/>
            <a:endCxn id="1413" idx="6"/>
          </p:cNvCxnSpPr>
          <p:nvPr/>
        </p:nvCxnSpPr>
        <p:spPr>
          <a:xfrm rot="10800000">
            <a:off x="5402175" y="2030875"/>
            <a:ext cx="3072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415" name="Google Shape;1415;p64"/>
          <p:cNvSpPr/>
          <p:nvPr/>
        </p:nvSpPr>
        <p:spPr>
          <a:xfrm>
            <a:off x="8526200" y="1852825"/>
            <a:ext cx="366000" cy="356100"/>
          </a:xfrm>
          <a:prstGeom prst="ellipse">
            <a:avLst/>
          </a:prstGeom>
          <a:solidFill>
            <a:srgbClr val="B7B7B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cxnSp>
        <p:nvCxnSpPr>
          <p:cNvPr id="1416" name="Google Shape;1416;p64"/>
          <p:cNvCxnSpPr>
            <a:stCxn id="1415" idx="2"/>
            <a:endCxn id="1417" idx="6"/>
          </p:cNvCxnSpPr>
          <p:nvPr/>
        </p:nvCxnSpPr>
        <p:spPr>
          <a:xfrm rot="10800000">
            <a:off x="8206700" y="2030875"/>
            <a:ext cx="3195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418" name="Google Shape;1418;p64"/>
          <p:cNvSpPr/>
          <p:nvPr/>
        </p:nvSpPr>
        <p:spPr>
          <a:xfrm>
            <a:off x="7167288" y="1852825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417" name="Google Shape;1417;p64"/>
          <p:cNvSpPr/>
          <p:nvPr/>
        </p:nvSpPr>
        <p:spPr>
          <a:xfrm>
            <a:off x="7840575" y="1852825"/>
            <a:ext cx="366000" cy="356100"/>
          </a:xfrm>
          <a:prstGeom prst="ellipse">
            <a:avLst/>
          </a:prstGeom>
          <a:solidFill>
            <a:srgbClr val="B7B7B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cxnSp>
        <p:nvCxnSpPr>
          <p:cNvPr id="1419" name="Google Shape;1419;p64"/>
          <p:cNvCxnSpPr>
            <a:stCxn id="1417" idx="2"/>
            <a:endCxn id="1418" idx="6"/>
          </p:cNvCxnSpPr>
          <p:nvPr/>
        </p:nvCxnSpPr>
        <p:spPr>
          <a:xfrm rot="10800000">
            <a:off x="7533375" y="2030875"/>
            <a:ext cx="3072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420" name="Google Shape;1420;p64"/>
          <p:cNvSpPr/>
          <p:nvPr/>
        </p:nvSpPr>
        <p:spPr>
          <a:xfrm>
            <a:off x="6336675" y="3778475"/>
            <a:ext cx="366000" cy="356100"/>
          </a:xfrm>
          <a:prstGeom prst="ellipse">
            <a:avLst/>
          </a:prstGeom>
          <a:solidFill>
            <a:srgbClr val="B7B7B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cxnSp>
        <p:nvCxnSpPr>
          <p:cNvPr id="1421" name="Google Shape;1421;p64"/>
          <p:cNvCxnSpPr>
            <a:stCxn id="1420" idx="2"/>
            <a:endCxn id="1422" idx="6"/>
          </p:cNvCxnSpPr>
          <p:nvPr/>
        </p:nvCxnSpPr>
        <p:spPr>
          <a:xfrm rot="10800000">
            <a:off x="6017175" y="3956525"/>
            <a:ext cx="3195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423" name="Google Shape;1423;p64"/>
          <p:cNvSpPr/>
          <p:nvPr/>
        </p:nvSpPr>
        <p:spPr>
          <a:xfrm>
            <a:off x="4977763" y="3778475"/>
            <a:ext cx="366000" cy="3561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422" name="Google Shape;1422;p64"/>
          <p:cNvSpPr/>
          <p:nvPr/>
        </p:nvSpPr>
        <p:spPr>
          <a:xfrm>
            <a:off x="5651050" y="3778475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cxnSp>
        <p:nvCxnSpPr>
          <p:cNvPr id="1424" name="Google Shape;1424;p64"/>
          <p:cNvCxnSpPr>
            <a:stCxn id="1422" idx="2"/>
            <a:endCxn id="1423" idx="6"/>
          </p:cNvCxnSpPr>
          <p:nvPr/>
        </p:nvCxnSpPr>
        <p:spPr>
          <a:xfrm rot="10800000">
            <a:off x="5343850" y="3956525"/>
            <a:ext cx="3072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25" name="Google Shape;1425;p64"/>
          <p:cNvSpPr/>
          <p:nvPr/>
        </p:nvSpPr>
        <p:spPr>
          <a:xfrm>
            <a:off x="8467875" y="3778475"/>
            <a:ext cx="366000" cy="356100"/>
          </a:xfrm>
          <a:prstGeom prst="ellipse">
            <a:avLst/>
          </a:prstGeom>
          <a:solidFill>
            <a:srgbClr val="B7B7B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cxnSp>
        <p:nvCxnSpPr>
          <p:cNvPr id="1426" name="Google Shape;1426;p64"/>
          <p:cNvCxnSpPr>
            <a:stCxn id="1425" idx="2"/>
            <a:endCxn id="1427" idx="6"/>
          </p:cNvCxnSpPr>
          <p:nvPr/>
        </p:nvCxnSpPr>
        <p:spPr>
          <a:xfrm rot="10800000">
            <a:off x="8148375" y="3956525"/>
            <a:ext cx="3195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428" name="Google Shape;1428;p64"/>
          <p:cNvSpPr/>
          <p:nvPr/>
        </p:nvSpPr>
        <p:spPr>
          <a:xfrm>
            <a:off x="7108963" y="3778475"/>
            <a:ext cx="366000" cy="3561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427" name="Google Shape;1427;p64"/>
          <p:cNvSpPr/>
          <p:nvPr/>
        </p:nvSpPr>
        <p:spPr>
          <a:xfrm>
            <a:off x="7782250" y="3778475"/>
            <a:ext cx="366000" cy="3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cxnSp>
        <p:nvCxnSpPr>
          <p:cNvPr id="1429" name="Google Shape;1429;p64"/>
          <p:cNvCxnSpPr>
            <a:stCxn id="1427" idx="2"/>
            <a:endCxn id="1428" idx="6"/>
          </p:cNvCxnSpPr>
          <p:nvPr/>
        </p:nvCxnSpPr>
        <p:spPr>
          <a:xfrm rot="10800000">
            <a:off x="7475050" y="3956525"/>
            <a:ext cx="3072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30" name="Google Shape;1430;p64"/>
          <p:cNvSpPr txBox="1"/>
          <p:nvPr/>
        </p:nvSpPr>
        <p:spPr>
          <a:xfrm>
            <a:off x="5249688" y="3180100"/>
            <a:ext cx="11355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Good!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31" name="Google Shape;1431;p64"/>
          <p:cNvSpPr txBox="1"/>
          <p:nvPr/>
        </p:nvSpPr>
        <p:spPr>
          <a:xfrm>
            <a:off x="7413420" y="3148063"/>
            <a:ext cx="11355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??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435" name="Shape 1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" name="Google Shape;1436;p65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Papachristos’ (2009) Gang Violence Study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0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p66"/>
          <p:cNvSpPr txBox="1"/>
          <p:nvPr>
            <p:ph type="title"/>
          </p:nvPr>
        </p:nvSpPr>
        <p:spPr>
          <a:xfrm>
            <a:off x="311700" y="315925"/>
            <a:ext cx="8520600" cy="144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Violence Never Solves Anything, Except Agonistic Encounters</a:t>
            </a:r>
            <a:endParaRPr/>
          </a:p>
        </p:txBody>
      </p:sp>
      <p:sp>
        <p:nvSpPr>
          <p:cNvPr id="1442" name="Google Shape;1442;p66"/>
          <p:cNvSpPr txBox="1"/>
          <p:nvPr>
            <p:ph idx="1" type="body"/>
          </p:nvPr>
        </p:nvSpPr>
        <p:spPr>
          <a:xfrm>
            <a:off x="311700" y="1925600"/>
            <a:ext cx="8520600" cy="26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Obvious explanation:</a:t>
            </a:r>
            <a:r>
              <a:rPr lang="en"/>
              <a:t> Gangs fight over drug routes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Structural</a:t>
            </a:r>
            <a:r>
              <a:rPr b="1" lang="en"/>
              <a:t> explanation:</a:t>
            </a:r>
            <a:r>
              <a:rPr lang="en"/>
              <a:t> Status competition between local </a:t>
            </a:r>
            <a:r>
              <a:rPr lang="en"/>
              <a:t>groups</a:t>
            </a:r>
            <a:endParaRPr/>
          </a:p>
        </p:txBody>
      </p:sp>
      <p:sp>
        <p:nvSpPr>
          <p:cNvPr id="1443" name="Google Shape;1443;p66"/>
          <p:cNvSpPr txBox="1"/>
          <p:nvPr/>
        </p:nvSpPr>
        <p:spPr>
          <a:xfrm>
            <a:off x="5775775" y="4671900"/>
            <a:ext cx="44526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Recap of Papachristos 2009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7" name="Shape 1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8" name="Google Shape;1448;p67"/>
          <p:cNvPicPr preferRelativeResize="0"/>
          <p:nvPr/>
        </p:nvPicPr>
        <p:blipFill rotWithShape="1">
          <a:blip r:embed="rId3">
            <a:alphaModFix/>
          </a:blip>
          <a:srcRect b="14384" l="0" r="0" t="0"/>
          <a:stretch/>
        </p:blipFill>
        <p:spPr>
          <a:xfrm>
            <a:off x="1663850" y="174350"/>
            <a:ext cx="5327350" cy="4230376"/>
          </a:xfrm>
          <a:prstGeom prst="rect">
            <a:avLst/>
          </a:prstGeom>
          <a:noFill/>
          <a:ln>
            <a:noFill/>
          </a:ln>
        </p:spPr>
      </p:pic>
      <p:sp>
        <p:nvSpPr>
          <p:cNvPr id="1449" name="Google Shape;1449;p67"/>
          <p:cNvSpPr/>
          <p:nvPr/>
        </p:nvSpPr>
        <p:spPr>
          <a:xfrm>
            <a:off x="246050" y="483725"/>
            <a:ext cx="461700" cy="252600"/>
          </a:xfrm>
          <a:prstGeom prst="rect">
            <a:avLst/>
          </a:prstGeom>
          <a:solidFill>
            <a:srgbClr val="B7B7B7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0" name="Google Shape;1450;p67"/>
          <p:cNvSpPr/>
          <p:nvPr/>
        </p:nvSpPr>
        <p:spPr>
          <a:xfrm>
            <a:off x="306500" y="824275"/>
            <a:ext cx="340800" cy="3408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1" name="Google Shape;1451;p67"/>
          <p:cNvSpPr/>
          <p:nvPr/>
        </p:nvSpPr>
        <p:spPr>
          <a:xfrm>
            <a:off x="246050" y="1297075"/>
            <a:ext cx="461700" cy="296700"/>
          </a:xfrm>
          <a:prstGeom prst="diamond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2" name="Google Shape;1452;p67"/>
          <p:cNvSpPr/>
          <p:nvPr/>
        </p:nvSpPr>
        <p:spPr>
          <a:xfrm>
            <a:off x="246050" y="1725775"/>
            <a:ext cx="461700" cy="2967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3" name="Google Shape;1453;p67"/>
          <p:cNvSpPr txBox="1"/>
          <p:nvPr/>
        </p:nvSpPr>
        <p:spPr>
          <a:xfrm>
            <a:off x="707750" y="461675"/>
            <a:ext cx="8352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Black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54" name="Google Shape;1454;p67"/>
          <p:cNvSpPr txBox="1"/>
          <p:nvPr/>
        </p:nvSpPr>
        <p:spPr>
          <a:xfrm>
            <a:off x="707750" y="846325"/>
            <a:ext cx="9561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Hispanic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55" name="Google Shape;1455;p67"/>
          <p:cNvSpPr txBox="1"/>
          <p:nvPr/>
        </p:nvSpPr>
        <p:spPr>
          <a:xfrm>
            <a:off x="707750" y="1286050"/>
            <a:ext cx="8352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Asian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56" name="Google Shape;1456;p67"/>
          <p:cNvSpPr txBox="1"/>
          <p:nvPr/>
        </p:nvSpPr>
        <p:spPr>
          <a:xfrm>
            <a:off x="707750" y="1725775"/>
            <a:ext cx="8352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White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57" name="Google Shape;1457;p67"/>
          <p:cNvSpPr txBox="1"/>
          <p:nvPr/>
        </p:nvSpPr>
        <p:spPr>
          <a:xfrm>
            <a:off x="6584425" y="494575"/>
            <a:ext cx="2432100" cy="16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Racial Homophily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Number of Nodes: 48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Density: 0.07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Reciprocal dyads: 36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Self-loops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58" name="Google Shape;1458;p67"/>
          <p:cNvSpPr txBox="1"/>
          <p:nvPr/>
        </p:nvSpPr>
        <p:spPr>
          <a:xfrm>
            <a:off x="1970700" y="4353875"/>
            <a:ext cx="5202600" cy="3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The social structure of gang homicide in Chicago, 1994</a:t>
            </a:r>
            <a:endParaRPr b="1"/>
          </a:p>
        </p:txBody>
      </p:sp>
      <p:sp>
        <p:nvSpPr>
          <p:cNvPr id="1459" name="Google Shape;1459;p67"/>
          <p:cNvSpPr txBox="1"/>
          <p:nvPr/>
        </p:nvSpPr>
        <p:spPr>
          <a:xfrm>
            <a:off x="7493675" y="4671900"/>
            <a:ext cx="27345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Papachristos 2009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3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p68"/>
          <p:cNvSpPr/>
          <p:nvPr/>
        </p:nvSpPr>
        <p:spPr>
          <a:xfrm>
            <a:off x="246050" y="483725"/>
            <a:ext cx="461700" cy="252600"/>
          </a:xfrm>
          <a:prstGeom prst="rect">
            <a:avLst/>
          </a:prstGeom>
          <a:solidFill>
            <a:srgbClr val="B7B7B7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5" name="Google Shape;1465;p68"/>
          <p:cNvSpPr/>
          <p:nvPr/>
        </p:nvSpPr>
        <p:spPr>
          <a:xfrm>
            <a:off x="306500" y="824275"/>
            <a:ext cx="340800" cy="3408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6" name="Google Shape;1466;p68"/>
          <p:cNvSpPr/>
          <p:nvPr/>
        </p:nvSpPr>
        <p:spPr>
          <a:xfrm>
            <a:off x="246050" y="1297075"/>
            <a:ext cx="461700" cy="296700"/>
          </a:xfrm>
          <a:prstGeom prst="diamond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7" name="Google Shape;1467;p68"/>
          <p:cNvSpPr/>
          <p:nvPr/>
        </p:nvSpPr>
        <p:spPr>
          <a:xfrm>
            <a:off x="246050" y="1725775"/>
            <a:ext cx="461700" cy="2967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8" name="Google Shape;1468;p68"/>
          <p:cNvSpPr txBox="1"/>
          <p:nvPr/>
        </p:nvSpPr>
        <p:spPr>
          <a:xfrm>
            <a:off x="707750" y="461675"/>
            <a:ext cx="8352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Black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69" name="Google Shape;1469;p68"/>
          <p:cNvSpPr txBox="1"/>
          <p:nvPr/>
        </p:nvSpPr>
        <p:spPr>
          <a:xfrm>
            <a:off x="707750" y="846325"/>
            <a:ext cx="9561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Hispanic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70" name="Google Shape;1470;p68"/>
          <p:cNvSpPr txBox="1"/>
          <p:nvPr/>
        </p:nvSpPr>
        <p:spPr>
          <a:xfrm>
            <a:off x="707750" y="1286050"/>
            <a:ext cx="8352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Asian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71" name="Google Shape;1471;p68"/>
          <p:cNvSpPr txBox="1"/>
          <p:nvPr/>
        </p:nvSpPr>
        <p:spPr>
          <a:xfrm>
            <a:off x="707750" y="1725775"/>
            <a:ext cx="8352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White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72" name="Google Shape;1472;p68"/>
          <p:cNvSpPr txBox="1"/>
          <p:nvPr/>
        </p:nvSpPr>
        <p:spPr>
          <a:xfrm>
            <a:off x="1970700" y="4353875"/>
            <a:ext cx="5202600" cy="3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The social structure of gang homicide in Chicago, 1998</a:t>
            </a:r>
            <a:endParaRPr b="1"/>
          </a:p>
        </p:txBody>
      </p:sp>
      <p:pic>
        <p:nvPicPr>
          <p:cNvPr id="1473" name="Google Shape;1473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0700" y="174300"/>
            <a:ext cx="4615775" cy="3823691"/>
          </a:xfrm>
          <a:prstGeom prst="rect">
            <a:avLst/>
          </a:prstGeom>
          <a:noFill/>
          <a:ln>
            <a:noFill/>
          </a:ln>
        </p:spPr>
      </p:pic>
      <p:sp>
        <p:nvSpPr>
          <p:cNvPr id="1474" name="Google Shape;1474;p68"/>
          <p:cNvSpPr txBox="1"/>
          <p:nvPr/>
        </p:nvSpPr>
        <p:spPr>
          <a:xfrm>
            <a:off x="7493675" y="4671900"/>
            <a:ext cx="27345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Papachristos 2009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p69"/>
          <p:cNvSpPr/>
          <p:nvPr/>
        </p:nvSpPr>
        <p:spPr>
          <a:xfrm>
            <a:off x="246050" y="483725"/>
            <a:ext cx="461700" cy="252600"/>
          </a:xfrm>
          <a:prstGeom prst="rect">
            <a:avLst/>
          </a:prstGeom>
          <a:solidFill>
            <a:srgbClr val="B7B7B7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0" name="Google Shape;1480;p69"/>
          <p:cNvSpPr/>
          <p:nvPr/>
        </p:nvSpPr>
        <p:spPr>
          <a:xfrm>
            <a:off x="306500" y="824275"/>
            <a:ext cx="340800" cy="3408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1" name="Google Shape;1481;p69"/>
          <p:cNvSpPr/>
          <p:nvPr/>
        </p:nvSpPr>
        <p:spPr>
          <a:xfrm>
            <a:off x="246050" y="1297075"/>
            <a:ext cx="461700" cy="296700"/>
          </a:xfrm>
          <a:prstGeom prst="diamond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2" name="Google Shape;1482;p69"/>
          <p:cNvSpPr/>
          <p:nvPr/>
        </p:nvSpPr>
        <p:spPr>
          <a:xfrm>
            <a:off x="246050" y="1725775"/>
            <a:ext cx="461700" cy="2967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3" name="Google Shape;1483;p69"/>
          <p:cNvSpPr txBox="1"/>
          <p:nvPr/>
        </p:nvSpPr>
        <p:spPr>
          <a:xfrm>
            <a:off x="707750" y="461675"/>
            <a:ext cx="8352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Black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84" name="Google Shape;1484;p69"/>
          <p:cNvSpPr txBox="1"/>
          <p:nvPr/>
        </p:nvSpPr>
        <p:spPr>
          <a:xfrm>
            <a:off x="707750" y="846325"/>
            <a:ext cx="9561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Hispanic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85" name="Google Shape;1485;p69"/>
          <p:cNvSpPr txBox="1"/>
          <p:nvPr/>
        </p:nvSpPr>
        <p:spPr>
          <a:xfrm>
            <a:off x="707750" y="1286050"/>
            <a:ext cx="8352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Asian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86" name="Google Shape;1486;p69"/>
          <p:cNvSpPr txBox="1"/>
          <p:nvPr/>
        </p:nvSpPr>
        <p:spPr>
          <a:xfrm>
            <a:off x="707750" y="1725775"/>
            <a:ext cx="8352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White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87" name="Google Shape;1487;p69"/>
          <p:cNvSpPr txBox="1"/>
          <p:nvPr/>
        </p:nvSpPr>
        <p:spPr>
          <a:xfrm>
            <a:off x="1970700" y="4353875"/>
            <a:ext cx="5202600" cy="3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The social structure of gang homicide in Chicago, 2002</a:t>
            </a:r>
            <a:endParaRPr b="1"/>
          </a:p>
        </p:txBody>
      </p:sp>
      <p:pic>
        <p:nvPicPr>
          <p:cNvPr id="1488" name="Google Shape;1488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0700" y="327500"/>
            <a:ext cx="4615775" cy="3817165"/>
          </a:xfrm>
          <a:prstGeom prst="rect">
            <a:avLst/>
          </a:prstGeom>
          <a:noFill/>
          <a:ln>
            <a:noFill/>
          </a:ln>
        </p:spPr>
      </p:pic>
      <p:sp>
        <p:nvSpPr>
          <p:cNvPr id="1489" name="Google Shape;1489;p69"/>
          <p:cNvSpPr txBox="1"/>
          <p:nvPr/>
        </p:nvSpPr>
        <p:spPr>
          <a:xfrm>
            <a:off x="7493675" y="4671900"/>
            <a:ext cx="27345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Papachristos 2009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3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p70"/>
          <p:cNvSpPr/>
          <p:nvPr/>
        </p:nvSpPr>
        <p:spPr>
          <a:xfrm>
            <a:off x="246050" y="483725"/>
            <a:ext cx="461700" cy="252600"/>
          </a:xfrm>
          <a:prstGeom prst="rect">
            <a:avLst/>
          </a:prstGeom>
          <a:solidFill>
            <a:srgbClr val="B7B7B7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5" name="Google Shape;1495;p70"/>
          <p:cNvSpPr/>
          <p:nvPr/>
        </p:nvSpPr>
        <p:spPr>
          <a:xfrm>
            <a:off x="306500" y="824275"/>
            <a:ext cx="340800" cy="3408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6" name="Google Shape;1496;p70"/>
          <p:cNvSpPr/>
          <p:nvPr/>
        </p:nvSpPr>
        <p:spPr>
          <a:xfrm>
            <a:off x="246050" y="1297075"/>
            <a:ext cx="461700" cy="296700"/>
          </a:xfrm>
          <a:prstGeom prst="diamond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7" name="Google Shape;1497;p70"/>
          <p:cNvSpPr/>
          <p:nvPr/>
        </p:nvSpPr>
        <p:spPr>
          <a:xfrm>
            <a:off x="246050" y="1725775"/>
            <a:ext cx="461700" cy="2967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8" name="Google Shape;1498;p70"/>
          <p:cNvSpPr txBox="1"/>
          <p:nvPr/>
        </p:nvSpPr>
        <p:spPr>
          <a:xfrm>
            <a:off x="707750" y="461675"/>
            <a:ext cx="8352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Black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99" name="Google Shape;1499;p70"/>
          <p:cNvSpPr txBox="1"/>
          <p:nvPr/>
        </p:nvSpPr>
        <p:spPr>
          <a:xfrm>
            <a:off x="707750" y="846325"/>
            <a:ext cx="9561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Hispanic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00" name="Google Shape;1500;p70"/>
          <p:cNvSpPr txBox="1"/>
          <p:nvPr/>
        </p:nvSpPr>
        <p:spPr>
          <a:xfrm>
            <a:off x="707750" y="1286050"/>
            <a:ext cx="8352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Asian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01" name="Google Shape;1501;p70"/>
          <p:cNvSpPr txBox="1"/>
          <p:nvPr/>
        </p:nvSpPr>
        <p:spPr>
          <a:xfrm>
            <a:off x="707750" y="1725775"/>
            <a:ext cx="8352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White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02" name="Google Shape;1502;p70"/>
          <p:cNvSpPr txBox="1"/>
          <p:nvPr/>
        </p:nvSpPr>
        <p:spPr>
          <a:xfrm>
            <a:off x="1970700" y="4353875"/>
            <a:ext cx="5202600" cy="3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The social structure of gang homicide in Chicago, 1994</a:t>
            </a:r>
            <a:endParaRPr b="1"/>
          </a:p>
        </p:txBody>
      </p:sp>
      <p:pic>
        <p:nvPicPr>
          <p:cNvPr id="1503" name="Google Shape;1503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0275" y="171200"/>
            <a:ext cx="5668565" cy="4182675"/>
          </a:xfrm>
          <a:prstGeom prst="rect">
            <a:avLst/>
          </a:prstGeom>
          <a:noFill/>
          <a:ln>
            <a:noFill/>
          </a:ln>
        </p:spPr>
      </p:pic>
      <p:sp>
        <p:nvSpPr>
          <p:cNvPr id="1504" name="Google Shape;1504;p70"/>
          <p:cNvSpPr txBox="1"/>
          <p:nvPr/>
        </p:nvSpPr>
        <p:spPr>
          <a:xfrm>
            <a:off x="7493675" y="4671900"/>
            <a:ext cx="27345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Papachristos 2009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8" name="Shape 1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9" name="Google Shape;1509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8525" y="155950"/>
            <a:ext cx="4225374" cy="4831599"/>
          </a:xfrm>
          <a:prstGeom prst="rect">
            <a:avLst/>
          </a:prstGeom>
          <a:noFill/>
          <a:ln>
            <a:noFill/>
          </a:ln>
        </p:spPr>
      </p:pic>
      <p:sp>
        <p:nvSpPr>
          <p:cNvPr id="1510" name="Google Shape;1510;p71"/>
          <p:cNvSpPr txBox="1"/>
          <p:nvPr/>
        </p:nvSpPr>
        <p:spPr>
          <a:xfrm>
            <a:off x="7493675" y="4671900"/>
            <a:ext cx="27345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Papachristos 2009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4" name="Shape 1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Google Shape;1515;p7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does violence occur?</a:t>
            </a:r>
            <a:endParaRPr/>
          </a:p>
        </p:txBody>
      </p:sp>
      <p:sp>
        <p:nvSpPr>
          <p:cNvPr id="1516" name="Google Shape;1516;p72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Average overlap between 2 gangs: 10%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Overlap that results in murder: 25%+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Every 1% increase doubles the probability of a murder increasing</a:t>
            </a:r>
            <a:endParaRPr/>
          </a:p>
        </p:txBody>
      </p:sp>
      <p:sp>
        <p:nvSpPr>
          <p:cNvPr id="1517" name="Google Shape;1517;p72"/>
          <p:cNvSpPr/>
          <p:nvPr/>
        </p:nvSpPr>
        <p:spPr>
          <a:xfrm>
            <a:off x="805050" y="2897975"/>
            <a:ext cx="1169100" cy="9249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8" name="Google Shape;1518;p72"/>
          <p:cNvSpPr/>
          <p:nvPr/>
        </p:nvSpPr>
        <p:spPr>
          <a:xfrm>
            <a:off x="1709875" y="3562825"/>
            <a:ext cx="1087500" cy="10164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9" name="Google Shape;1519;p72"/>
          <p:cNvSpPr/>
          <p:nvPr/>
        </p:nvSpPr>
        <p:spPr>
          <a:xfrm>
            <a:off x="5633375" y="3070000"/>
            <a:ext cx="1169100" cy="9249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0" name="Google Shape;1520;p72"/>
          <p:cNvSpPr/>
          <p:nvPr/>
        </p:nvSpPr>
        <p:spPr>
          <a:xfrm>
            <a:off x="6192475" y="3482650"/>
            <a:ext cx="1087500" cy="10164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1" name="Google Shape;1521;p72"/>
          <p:cNvSpPr txBox="1"/>
          <p:nvPr/>
        </p:nvSpPr>
        <p:spPr>
          <a:xfrm>
            <a:off x="916875" y="4579225"/>
            <a:ext cx="17991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Not unusual, peace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22" name="Google Shape;1522;p72"/>
          <p:cNvSpPr txBox="1"/>
          <p:nvPr/>
        </p:nvSpPr>
        <p:spPr>
          <a:xfrm>
            <a:off x="5257225" y="4499050"/>
            <a:ext cx="23076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Very bad things happen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6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p7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does violence occur?</a:t>
            </a:r>
            <a:endParaRPr/>
          </a:p>
        </p:txBody>
      </p:sp>
      <p:sp>
        <p:nvSpPr>
          <p:cNvPr id="1528" name="Google Shape;1528;p7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Papachristos argues we can think of murder as a network phenomenon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Crime is not some individual in isolation responding to a set of deprivations, but inherently a social phenomena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29" name="Google Shape;1529;p73"/>
          <p:cNvSpPr/>
          <p:nvPr/>
        </p:nvSpPr>
        <p:spPr>
          <a:xfrm>
            <a:off x="805050" y="2897975"/>
            <a:ext cx="1169100" cy="9249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0" name="Google Shape;1530;p73"/>
          <p:cNvSpPr/>
          <p:nvPr/>
        </p:nvSpPr>
        <p:spPr>
          <a:xfrm>
            <a:off x="1709875" y="3562825"/>
            <a:ext cx="1087500" cy="10164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1" name="Google Shape;1531;p73"/>
          <p:cNvSpPr/>
          <p:nvPr/>
        </p:nvSpPr>
        <p:spPr>
          <a:xfrm>
            <a:off x="5633375" y="3070000"/>
            <a:ext cx="1169100" cy="9249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2" name="Google Shape;1532;p73"/>
          <p:cNvSpPr/>
          <p:nvPr/>
        </p:nvSpPr>
        <p:spPr>
          <a:xfrm>
            <a:off x="6192475" y="3482650"/>
            <a:ext cx="1087500" cy="10164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3" name="Google Shape;1533;p73"/>
          <p:cNvSpPr txBox="1"/>
          <p:nvPr/>
        </p:nvSpPr>
        <p:spPr>
          <a:xfrm>
            <a:off x="916875" y="4579225"/>
            <a:ext cx="17991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Not unusual, peace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34" name="Google Shape;1534;p73"/>
          <p:cNvSpPr txBox="1"/>
          <p:nvPr/>
        </p:nvSpPr>
        <p:spPr>
          <a:xfrm>
            <a:off x="5257225" y="4499050"/>
            <a:ext cx="23076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Very bad things happen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8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Google Shape;1539;p7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ways violence spreads</a:t>
            </a:r>
            <a:endParaRPr/>
          </a:p>
        </p:txBody>
      </p:sp>
      <p:sp>
        <p:nvSpPr>
          <p:cNvPr id="1540" name="Google Shape;1540;p74"/>
          <p:cNvSpPr txBox="1"/>
          <p:nvPr/>
        </p:nvSpPr>
        <p:spPr>
          <a:xfrm>
            <a:off x="1379975" y="4161025"/>
            <a:ext cx="15372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Time 1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541" name="Google Shape;1541;p74"/>
          <p:cNvSpPr/>
          <p:nvPr/>
        </p:nvSpPr>
        <p:spPr>
          <a:xfrm>
            <a:off x="663325" y="1814650"/>
            <a:ext cx="786000" cy="705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Gang 1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542" name="Google Shape;1542;p74"/>
          <p:cNvSpPr/>
          <p:nvPr/>
        </p:nvSpPr>
        <p:spPr>
          <a:xfrm>
            <a:off x="2942475" y="1814650"/>
            <a:ext cx="786000" cy="705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Gang 2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543" name="Google Shape;1543;p74"/>
          <p:cNvSpPr/>
          <p:nvPr/>
        </p:nvSpPr>
        <p:spPr>
          <a:xfrm>
            <a:off x="663325" y="3192275"/>
            <a:ext cx="786000" cy="7050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Gang 3</a:t>
            </a:r>
            <a:endParaRPr b="1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544" name="Google Shape;1544;p74"/>
          <p:cNvCxnSpPr>
            <a:stCxn id="1541" idx="7"/>
            <a:endCxn id="1542" idx="1"/>
          </p:cNvCxnSpPr>
          <p:nvPr/>
        </p:nvCxnSpPr>
        <p:spPr>
          <a:xfrm flipH="1" rot="-5400000">
            <a:off x="2195668" y="1056445"/>
            <a:ext cx="600" cy="1723500"/>
          </a:xfrm>
          <a:prstGeom prst="curvedConnector3">
            <a:avLst>
              <a:gd fmla="val -56894977" name="adj1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45" name="Google Shape;1545;p74"/>
          <p:cNvSpPr txBox="1"/>
          <p:nvPr/>
        </p:nvSpPr>
        <p:spPr>
          <a:xfrm>
            <a:off x="1414625" y="1174750"/>
            <a:ext cx="14679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Murder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46" name="Google Shape;1546;p74"/>
          <p:cNvSpPr txBox="1"/>
          <p:nvPr/>
        </p:nvSpPr>
        <p:spPr>
          <a:xfrm>
            <a:off x="5938275" y="4161025"/>
            <a:ext cx="15372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Time 2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547" name="Google Shape;1547;p74"/>
          <p:cNvSpPr/>
          <p:nvPr/>
        </p:nvSpPr>
        <p:spPr>
          <a:xfrm>
            <a:off x="5221625" y="1814650"/>
            <a:ext cx="786000" cy="705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Gang 1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548" name="Google Shape;1548;p74"/>
          <p:cNvSpPr/>
          <p:nvPr/>
        </p:nvSpPr>
        <p:spPr>
          <a:xfrm>
            <a:off x="7500775" y="1814650"/>
            <a:ext cx="786000" cy="705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Gang 2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549" name="Google Shape;1549;p74"/>
          <p:cNvSpPr/>
          <p:nvPr/>
        </p:nvSpPr>
        <p:spPr>
          <a:xfrm>
            <a:off x="5221625" y="3192275"/>
            <a:ext cx="786000" cy="7050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Gang 3</a:t>
            </a:r>
            <a:endParaRPr b="1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550" name="Google Shape;1550;p74"/>
          <p:cNvCxnSpPr>
            <a:stCxn id="1547" idx="7"/>
            <a:endCxn id="1548" idx="1"/>
          </p:cNvCxnSpPr>
          <p:nvPr/>
        </p:nvCxnSpPr>
        <p:spPr>
          <a:xfrm flipH="1" rot="-5400000">
            <a:off x="6753968" y="1056445"/>
            <a:ext cx="600" cy="1723500"/>
          </a:xfrm>
          <a:prstGeom prst="curvedConnector3">
            <a:avLst>
              <a:gd fmla="val -56894977" name="adj1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51" name="Google Shape;1551;p74"/>
          <p:cNvSpPr txBox="1"/>
          <p:nvPr/>
        </p:nvSpPr>
        <p:spPr>
          <a:xfrm>
            <a:off x="6020325" y="1190875"/>
            <a:ext cx="14679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Murder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552" name="Google Shape;1552;p74"/>
          <p:cNvCxnSpPr>
            <a:stCxn id="1548" idx="3"/>
            <a:endCxn id="1547" idx="5"/>
          </p:cNvCxnSpPr>
          <p:nvPr/>
        </p:nvCxnSpPr>
        <p:spPr>
          <a:xfrm rot="5400000">
            <a:off x="6753832" y="1554955"/>
            <a:ext cx="600" cy="1723500"/>
          </a:xfrm>
          <a:prstGeom prst="curvedConnector3">
            <a:avLst>
              <a:gd fmla="val 56894977" name="adj1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53" name="Google Shape;1553;p74"/>
          <p:cNvSpPr txBox="1"/>
          <p:nvPr/>
        </p:nvSpPr>
        <p:spPr>
          <a:xfrm>
            <a:off x="5972925" y="2804025"/>
            <a:ext cx="14679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Payback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54" name="Google Shape;1554;p74"/>
          <p:cNvSpPr txBox="1"/>
          <p:nvPr/>
        </p:nvSpPr>
        <p:spPr>
          <a:xfrm>
            <a:off x="2882525" y="4507825"/>
            <a:ext cx="30558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Economica"/>
                <a:ea typeface="Economica"/>
                <a:cs typeface="Economica"/>
                <a:sym typeface="Economica"/>
              </a:rPr>
              <a:t>Direct Retaliation (Reciprocity)</a:t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555" name="Google Shape;1555;p74"/>
          <p:cNvSpPr/>
          <p:nvPr/>
        </p:nvSpPr>
        <p:spPr>
          <a:xfrm>
            <a:off x="4017800" y="2779325"/>
            <a:ext cx="818700" cy="5997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9" name="Shape 1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0" name="Google Shape;1560;p7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ways violence spreads</a:t>
            </a:r>
            <a:endParaRPr/>
          </a:p>
        </p:txBody>
      </p:sp>
      <p:sp>
        <p:nvSpPr>
          <p:cNvPr id="1561" name="Google Shape;1561;p75"/>
          <p:cNvSpPr txBox="1"/>
          <p:nvPr/>
        </p:nvSpPr>
        <p:spPr>
          <a:xfrm>
            <a:off x="1379975" y="4161025"/>
            <a:ext cx="15372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Time 1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562" name="Google Shape;1562;p75"/>
          <p:cNvSpPr/>
          <p:nvPr/>
        </p:nvSpPr>
        <p:spPr>
          <a:xfrm>
            <a:off x="663325" y="1814650"/>
            <a:ext cx="786000" cy="705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Gang 1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563" name="Google Shape;1563;p75"/>
          <p:cNvSpPr/>
          <p:nvPr/>
        </p:nvSpPr>
        <p:spPr>
          <a:xfrm>
            <a:off x="2942475" y="1814650"/>
            <a:ext cx="786000" cy="705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Gang 2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564" name="Google Shape;1564;p75"/>
          <p:cNvSpPr/>
          <p:nvPr/>
        </p:nvSpPr>
        <p:spPr>
          <a:xfrm>
            <a:off x="663325" y="3192275"/>
            <a:ext cx="786000" cy="7050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Gang 3</a:t>
            </a:r>
            <a:endParaRPr b="1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565" name="Google Shape;1565;p75"/>
          <p:cNvCxnSpPr>
            <a:stCxn id="1562" idx="7"/>
            <a:endCxn id="1563" idx="1"/>
          </p:cNvCxnSpPr>
          <p:nvPr/>
        </p:nvCxnSpPr>
        <p:spPr>
          <a:xfrm flipH="1" rot="-5400000">
            <a:off x="2195668" y="1056445"/>
            <a:ext cx="600" cy="1723500"/>
          </a:xfrm>
          <a:prstGeom prst="curvedConnector3">
            <a:avLst>
              <a:gd fmla="val -56894977" name="adj1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66" name="Google Shape;1566;p75"/>
          <p:cNvSpPr txBox="1"/>
          <p:nvPr/>
        </p:nvSpPr>
        <p:spPr>
          <a:xfrm>
            <a:off x="1414625" y="1174750"/>
            <a:ext cx="14679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Murder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67" name="Google Shape;1567;p75"/>
          <p:cNvSpPr txBox="1"/>
          <p:nvPr/>
        </p:nvSpPr>
        <p:spPr>
          <a:xfrm>
            <a:off x="5938275" y="4161025"/>
            <a:ext cx="15372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Time 2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568" name="Google Shape;1568;p75"/>
          <p:cNvSpPr/>
          <p:nvPr/>
        </p:nvSpPr>
        <p:spPr>
          <a:xfrm>
            <a:off x="5221625" y="1814650"/>
            <a:ext cx="786000" cy="705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Gang 1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569" name="Google Shape;1569;p75"/>
          <p:cNvSpPr/>
          <p:nvPr/>
        </p:nvSpPr>
        <p:spPr>
          <a:xfrm>
            <a:off x="7500775" y="1814650"/>
            <a:ext cx="786000" cy="705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Gang 2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570" name="Google Shape;1570;p75"/>
          <p:cNvSpPr/>
          <p:nvPr/>
        </p:nvSpPr>
        <p:spPr>
          <a:xfrm>
            <a:off x="5221625" y="3192275"/>
            <a:ext cx="786000" cy="705000"/>
          </a:xfrm>
          <a:prstGeom prst="ellipse">
            <a:avLst/>
          </a:prstGeom>
          <a:solidFill>
            <a:srgbClr val="45818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Gang 3</a:t>
            </a:r>
            <a:endParaRPr b="1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571" name="Google Shape;1571;p75"/>
          <p:cNvCxnSpPr>
            <a:stCxn id="1568" idx="7"/>
            <a:endCxn id="1569" idx="1"/>
          </p:cNvCxnSpPr>
          <p:nvPr/>
        </p:nvCxnSpPr>
        <p:spPr>
          <a:xfrm flipH="1" rot="-5400000">
            <a:off x="6753968" y="1056445"/>
            <a:ext cx="600" cy="1723500"/>
          </a:xfrm>
          <a:prstGeom prst="curvedConnector3">
            <a:avLst>
              <a:gd fmla="val -56894977" name="adj1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72" name="Google Shape;1572;p75"/>
          <p:cNvSpPr txBox="1"/>
          <p:nvPr/>
        </p:nvSpPr>
        <p:spPr>
          <a:xfrm>
            <a:off x="6020325" y="1190875"/>
            <a:ext cx="14679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Murder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573" name="Google Shape;1573;p75"/>
          <p:cNvCxnSpPr>
            <a:stCxn id="1569" idx="4"/>
            <a:endCxn id="1570" idx="6"/>
          </p:cNvCxnSpPr>
          <p:nvPr/>
        </p:nvCxnSpPr>
        <p:spPr>
          <a:xfrm rot="5400000">
            <a:off x="6438175" y="2089150"/>
            <a:ext cx="1025100" cy="1886100"/>
          </a:xfrm>
          <a:prstGeom prst="curvedConnector2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74" name="Google Shape;1574;p75"/>
          <p:cNvSpPr txBox="1"/>
          <p:nvPr/>
        </p:nvSpPr>
        <p:spPr>
          <a:xfrm rot="-1831922">
            <a:off x="6689506" y="3254761"/>
            <a:ext cx="1468052" cy="34199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Show of force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75" name="Google Shape;1575;p75"/>
          <p:cNvSpPr txBox="1"/>
          <p:nvPr/>
        </p:nvSpPr>
        <p:spPr>
          <a:xfrm>
            <a:off x="2882525" y="4507825"/>
            <a:ext cx="33039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Economica"/>
                <a:ea typeface="Economica"/>
                <a:cs typeface="Economica"/>
                <a:sym typeface="Economica"/>
              </a:rPr>
              <a:t>Generalized Violence (Diffusion)</a:t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576" name="Google Shape;1576;p75"/>
          <p:cNvSpPr/>
          <p:nvPr/>
        </p:nvSpPr>
        <p:spPr>
          <a:xfrm>
            <a:off x="4017800" y="2779325"/>
            <a:ext cx="818700" cy="5997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