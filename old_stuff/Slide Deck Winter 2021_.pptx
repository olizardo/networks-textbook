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image/gif" Extension="gif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222.xml"/>
  <Override ContentType="application/vnd.openxmlformats-officedocument.presentationml.notesSlide+xml" PartName="/ppt/notesSlides/notesSlide311.xml"/>
  <Override ContentType="application/vnd.openxmlformats-officedocument.presentationml.notesSlide+xml" PartName="/ppt/notesSlides/notesSlide583.xml"/>
  <Override ContentType="application/vnd.openxmlformats-officedocument.presentationml.notesSlide+xml" PartName="/ppt/notesSlides/notesSlide672.xml"/>
  <Override ContentType="application/vnd.openxmlformats-officedocument.presentationml.notesSlide+xml" PartName="/ppt/notesSlides/notesSlide397.xml"/>
  <Override ContentType="application/vnd.openxmlformats-officedocument.presentationml.notesSlide+xml" PartName="/ppt/notesSlides/notesSlide125.xml"/>
  <Override ContentType="application/vnd.openxmlformats-officedocument.presentationml.notesSlide+xml" PartName="/ppt/notesSlides/notesSlide575.xml"/>
  <Override ContentType="application/vnd.openxmlformats-officedocument.presentationml.notesSlide+xml" PartName="/ppt/notesSlides/notesSlide680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117.xml"/>
  <Override ContentType="application/vnd.openxmlformats-officedocument.presentationml.notesSlide+xml" PartName="/ppt/notesSlides/notesSlide591.xml"/>
  <Override ContentType="application/vnd.openxmlformats-officedocument.presentationml.notesSlide+xml" PartName="/ppt/notesSlides/notesSlide486.xml"/>
  <Override ContentType="application/vnd.openxmlformats-officedocument.presentationml.notesSlide+xml" PartName="/ppt/notesSlides/notesSlide206.xml"/>
  <Override ContentType="application/vnd.openxmlformats-officedocument.presentationml.notesSlide+xml" PartName="/ppt/notesSlides/notesSlide656.xml"/>
  <Override ContentType="application/vnd.openxmlformats-officedocument.presentationml.notesSlide+xml" PartName="/ppt/notesSlides/notesSlide230.xml"/>
  <Override ContentType="application/vnd.openxmlformats-officedocument.presentationml.notesSlide+xml" PartName="/ppt/notesSlides/notesSlide494.xml"/>
  <Override ContentType="application/vnd.openxmlformats-officedocument.presentationml.notesSlide+xml" PartName="/ppt/notesSlides/notesSlide559.xml"/>
  <Override ContentType="application/vnd.openxmlformats-officedocument.presentationml.notesSlide+xml" PartName="/ppt/notesSlides/notesSlide133.xml"/>
  <Override ContentType="application/vnd.openxmlformats-officedocument.presentationml.notesSlide+xml" PartName="/ppt/notesSlides/notesSlide109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6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03.xml"/>
  <Override ContentType="application/vnd.openxmlformats-officedocument.presentationml.notesSlide+xml" PartName="/ppt/notesSlides/notesSlide389.xml"/>
  <Override ContentType="application/vnd.openxmlformats-officedocument.presentationml.notesSlide+xml" PartName="/ppt/notesSlides/notesSlide400.xml"/>
  <Override ContentType="application/vnd.openxmlformats-officedocument.presentationml.notesSlide+xml" PartName="/ppt/notesSlides/notesSlide478.xml"/>
  <Override ContentType="application/vnd.openxmlformats-officedocument.presentationml.notesSlide+xml" PartName="/ppt/notesSlides/notesSlide214.xml"/>
  <Override ContentType="application/vnd.openxmlformats-officedocument.presentationml.notesSlide+xml" PartName="/ppt/notesSlides/notesSlide664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90.xml"/>
  <Override ContentType="application/vnd.openxmlformats-officedocument.presentationml.notesSlide+xml" PartName="/ppt/notesSlides/notesSlide407.xml"/>
  <Override ContentType="application/vnd.openxmlformats-officedocument.presentationml.notesSlide+xml" PartName="/ppt/notesSlides/notesSlide687.xml"/>
  <Override ContentType="application/vnd.openxmlformats-officedocument.presentationml.notesSlide+xml" PartName="/ppt/notesSlides/notesSlide196.xml"/>
  <Override ContentType="application/vnd.openxmlformats-officedocument.presentationml.notesSlide+xml" PartName="/ppt/notesSlides/notesSlide423.xml"/>
  <Override ContentType="application/vnd.openxmlformats-officedocument.presentationml.notesSlide+xml" PartName="/ppt/notesSlides/notesSlide148.xml"/>
  <Override ContentType="application/vnd.openxmlformats-officedocument.presentationml.notesSlide+xml" PartName="/ppt/notesSlides/notesSlide520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293.xml"/>
  <Override ContentType="application/vnd.openxmlformats-officedocument.presentationml.notesSlide+xml" PartName="/ppt/notesSlides/notesSlide552.xml"/>
  <Override ContentType="application/vnd.openxmlformats-officedocument.presentationml.notesSlide+xml" PartName="/ppt/notesSlides/notesSlide277.xml"/>
  <Override ContentType="application/vnd.openxmlformats-officedocument.presentationml.notesSlide+xml" PartName="/ppt/notesSlides/notesSlide455.xml"/>
  <Override ContentType="application/vnd.openxmlformats-officedocument.presentationml.notesSlide+xml" PartName="/ppt/notesSlides/notesSlide87.xml"/>
  <Override ContentType="application/vnd.openxmlformats-officedocument.presentationml.notesSlide+xml" PartName="/ppt/notesSlides/notesSlide471.xml"/>
  <Override ContentType="application/vnd.openxmlformats-officedocument.presentationml.notesSlide+xml" PartName="/ppt/notesSlides/notesSlide141.xml"/>
  <Override ContentType="application/vnd.openxmlformats-officedocument.presentationml.notesSlide+xml" PartName="/ppt/notesSlides/notesSlide326.xml"/>
  <Override ContentType="application/vnd.openxmlformats-officedocument.presentationml.notesSlide+xml" PartName="/ppt/notesSlides/notesSlide110.xml"/>
  <Override ContentType="application/vnd.openxmlformats-officedocument.presentationml.notesSlide+xml" PartName="/ppt/notesSlides/notesSlide601.xml"/>
  <Override ContentType="application/vnd.openxmlformats-officedocument.presentationml.notesSlide+xml" PartName="/ppt/notesSlides/notesSlide374.xml"/>
  <Override ContentType="application/vnd.openxmlformats-officedocument.presentationml.notesSlide+xml" PartName="/ppt/notesSlides/notesSlide504.xml"/>
  <Override ContentType="application/vnd.openxmlformats-officedocument.presentationml.notesSlide+xml" PartName="/ppt/notesSlides/notesSlide229.xml"/>
  <Override ContentType="application/vnd.openxmlformats-officedocument.presentationml.notesSlide+xml" PartName="/ppt/notesSlides/notesSlide609.xml"/>
  <Override ContentType="application/vnd.openxmlformats-officedocument.presentationml.notesSlide+xml" PartName="/ppt/notesSlides/notesSlide528.xml"/>
  <Override ContentType="application/vnd.openxmlformats-officedocument.presentationml.notesSlide+xml" PartName="/ppt/notesSlides/notesSlide180.xml"/>
  <Override ContentType="application/vnd.openxmlformats-officedocument.presentationml.notesSlide+xml" PartName="/ppt/notesSlides/notesSlide172.xml"/>
  <Override ContentType="application/vnd.openxmlformats-officedocument.presentationml.notesSlide+xml" PartName="/ppt/notesSlides/notesSlide261.xml"/>
  <Override ContentType="application/vnd.openxmlformats-officedocument.presentationml.notesSlide+xml" PartName="/ppt/notesSlides/notesSlide63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63.xml"/>
  <Override ContentType="application/vnd.openxmlformats-officedocument.presentationml.notesSlide+xml" PartName="/ppt/notesSlides/notesSlide358.xml"/>
  <Override ContentType="application/vnd.openxmlformats-officedocument.presentationml.notesSlide+xml" PartName="/ppt/notesSlides/notesSlide342.xml"/>
  <Override ContentType="application/vnd.openxmlformats-officedocument.presentationml.notesSlide+xml" PartName="/ppt/notesSlides/notesSlide270.xml"/>
  <Override ContentType="application/vnd.openxmlformats-officedocument.presentationml.notesSlide+xml" PartName="/ppt/notesSlides/notesSlide616.xml"/>
  <Override ContentType="application/vnd.openxmlformats-officedocument.presentationml.notesSlide+xml" PartName="/ppt/notesSlides/notesSlide695.xml"/>
  <Override ContentType="application/vnd.openxmlformats-officedocument.presentationml.notesSlide+xml" PartName="/ppt/notesSlides/notesSlide447.xml"/>
  <Override ContentType="application/vnd.openxmlformats-officedocument.presentationml.notesSlide+xml" PartName="/ppt/notesSlides/notesSlide439.xml"/>
  <Override ContentType="application/vnd.openxmlformats-officedocument.presentationml.notesSlide+xml" PartName="/ppt/notesSlides/notesSlide253.xml"/>
  <Override ContentType="application/vnd.openxmlformats-officedocument.presentationml.notesSlide+xml" PartName="/ppt/notesSlides/notesSlide705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38.xml"/>
  <Override ContentType="application/vnd.openxmlformats-officedocument.presentationml.notesSlide+xml" PartName="/ppt/notesSlides/notesSlide462.xml"/>
  <Override ContentType="application/vnd.openxmlformats-officedocument.presentationml.notesSlide+xml" PartName="/ppt/notesSlides/notesSlide157.xml"/>
  <Override ContentType="application/vnd.openxmlformats-officedocument.presentationml.notesSlide+xml" PartName="/ppt/notesSlides/notesSlide513.xml"/>
  <Override ContentType="application/vnd.openxmlformats-officedocument.presentationml.notesSlide+xml" PartName="/ppt/notesSlides/notesSlide101.xml"/>
  <Override ContentType="application/vnd.openxmlformats-officedocument.presentationml.notesSlide+xml" PartName="/ppt/notesSlides/notesSlide432.xml"/>
  <Override ContentType="application/vnd.openxmlformats-officedocument.presentationml.notesSlide+xml" PartName="/ppt/notesSlides/notesSlide95.xml"/>
  <Override ContentType="application/vnd.openxmlformats-officedocument.presentationml.notesSlide+xml" PartName="/ppt/notesSlides/notesSlide351.xml"/>
  <Override ContentType="application/vnd.openxmlformats-officedocument.presentationml.notesSlide+xml" PartName="/ppt/notesSlides/notesSlide319.xml"/>
  <Override ContentType="application/vnd.openxmlformats-officedocument.presentationml.notesSlide+xml" PartName="/ppt/notesSlides/notesSlide334.xml"/>
  <Override ContentType="application/vnd.openxmlformats-officedocument.presentationml.notesSlide+xml" PartName="/ppt/notesSlides/notesSlide349.xml"/>
  <Override ContentType="application/vnd.openxmlformats-officedocument.presentationml.notesSlide+xml" PartName="/ppt/notesSlides/notesSlide187.xml"/>
  <Override ContentType="application/vnd.openxmlformats-officedocument.presentationml.notesSlide+xml" PartName="/ppt/notesSlides/notesSlide624.xml"/>
  <Override ContentType="application/vnd.openxmlformats-officedocument.presentationml.notesSlide+xml" PartName="/ppt/notesSlides/notesSlide78.xml"/>
  <Override ContentType="application/vnd.openxmlformats-officedocument.presentationml.notesSlide+xml" PartName="/ppt/notesSlides/notesSlide366.xml"/>
  <Override ContentType="application/vnd.openxmlformats-officedocument.presentationml.notesSlide+xml" PartName="/ppt/notesSlides/notesSlide641.xml"/>
  <Override ContentType="application/vnd.openxmlformats-officedocument.presentationml.notesSlide+xml" PartName="/ppt/notesSlides/notesSlide648.xml"/>
  <Override ContentType="application/vnd.openxmlformats-officedocument.presentationml.notesSlide+xml" PartName="/ppt/notesSlides/notesSlide71.xml"/>
  <Override ContentType="application/vnd.openxmlformats-officedocument.presentationml.notesSlide+xml" PartName="/ppt/notesSlides/notesSlide285.xml"/>
  <Override ContentType="application/vnd.openxmlformats-officedocument.presentationml.notesSlide+xml" PartName="/ppt/notesSlides/notesSlide543.xml"/>
  <Override ContentType="application/vnd.openxmlformats-officedocument.presentationml.notesSlide+xml" PartName="/ppt/notesSlides/notesSlide560.xml"/>
  <Override ContentType="application/vnd.openxmlformats-officedocument.presentationml.notesSlide+xml" PartName="/ppt/notesSlides/notesSlide415.xml"/>
  <Override ContentType="application/vnd.openxmlformats-officedocument.presentationml.notesSlide+xml" PartName="/ppt/notesSlides/notesSlide268.xml"/>
  <Override ContentType="application/vnd.openxmlformats-officedocument.presentationml.notesSlide+xml" PartName="/ppt/notesSlides/notesSlide599.xml"/>
  <Override ContentType="application/vnd.openxmlformats-officedocument.presentationml.notesSlide+xml" PartName="/ppt/notesSlides/notesSlide558.xml"/>
  <Override ContentType="application/vnd.openxmlformats-officedocument.presentationml.notesSlide+xml" PartName="/ppt/notesSlides/notesSlide647.xml"/>
  <Override ContentType="application/vnd.openxmlformats-officedocument.presentationml.notesSlide+xml" PartName="/ppt/notesSlides/notesSlide302.xml"/>
  <Override ContentType="application/vnd.openxmlformats-officedocument.presentationml.notesSlide+xml" PartName="/ppt/notesSlides/notesSlide663.xml"/>
  <Override ContentType="application/vnd.openxmlformats-officedocument.presentationml.notesSlide+xml" PartName="/ppt/notesSlides/notesSlide592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574.xml"/>
  <Override ContentType="application/vnd.openxmlformats-officedocument.presentationml.notesSlide+xml" PartName="/ppt/notesSlides/notesSlide124.xml"/>
  <Override ContentType="application/vnd.openxmlformats-officedocument.presentationml.notesSlide+xml" PartName="/ppt/notesSlides/notesSlide213.xml"/>
  <Override ContentType="application/vnd.openxmlformats-officedocument.presentationml.notesSlide+xml" PartName="/ppt/notesSlides/notesSlide388.xml"/>
  <Override ContentType="application/vnd.openxmlformats-officedocument.presentationml.notesSlide+xml" PartName="/ppt/notesSlides/notesSlide223.xml"/>
  <Override ContentType="application/vnd.openxmlformats-officedocument.presentationml.notesSlide+xml" PartName="/ppt/notesSlides/notesSlide408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231.xml"/>
  <Override ContentType="application/vnd.openxmlformats-officedocument.presentationml.notesSlide+xml" PartName="/ppt/notesSlides/notesSlide94.xml"/>
  <Override ContentType="application/vnd.openxmlformats-officedocument.presentationml.notesSlide+xml" PartName="/ppt/notesSlides/notesSlide495.xml"/>
  <Override ContentType="application/vnd.openxmlformats-officedocument.presentationml.notesSlide+xml" PartName="/ppt/notesSlides/notesSlide681.xml"/>
  <Override ContentType="application/vnd.openxmlformats-officedocument.presentationml.notesSlide+xml" PartName="/ppt/notesSlides/notesSlide584.xml"/>
  <Override ContentType="application/vnd.openxmlformats-officedocument.presentationml.notesSlide+xml" PartName="/ppt/notesSlides/notesSlide134.xml"/>
  <Override ContentType="application/vnd.openxmlformats-officedocument.presentationml.notesSlide+xml" PartName="/ppt/notesSlides/notesSlide320.xml"/>
  <Override ContentType="application/vnd.openxmlformats-officedocument.presentationml.notesSlide+xml" PartName="/ppt/notesSlides/notesSlide246.xml"/>
  <Override ContentType="application/vnd.openxmlformats-officedocument.presentationml.notesSlide+xml" PartName="/ppt/notesSlides/notesSlide521.xml"/>
  <Override ContentType="application/vnd.openxmlformats-officedocument.presentationml.notesSlide+xml" PartName="/ppt/notesSlides/notesSlide470.xml"/>
  <Override ContentType="application/vnd.openxmlformats-officedocument.presentationml.notesSlide+xml" PartName="/ppt/notesSlides/notesSlide56.xml"/>
  <Override ContentType="application/vnd.openxmlformats-officedocument.presentationml.notesSlide+xml" PartName="/ppt/notesSlides/notesSlide195.xml"/>
  <Override ContentType="application/vnd.openxmlformats-officedocument.presentationml.notesSlide+xml" PartName="/ppt/notesSlides/notesSlide535.xml"/>
  <Override ContentType="application/vnd.openxmlformats-officedocument.presentationml.notesSlide+xml" PartName="/ppt/notesSlides/notesSlide373.xml"/>
  <Override ContentType="application/vnd.openxmlformats-officedocument.presentationml.notesSlide+xml" PartName="/ppt/notesSlides/notesSlide479.xml"/>
  <Override ContentType="application/vnd.openxmlformats-officedocument.presentationml.notesSlide+xml" PartName="/ppt/notesSlides/notesSlide391.xml"/>
  <Override ContentType="application/vnd.openxmlformats-officedocument.presentationml.notesSlide+xml" PartName="/ppt/notesSlides/notesSlide503.xml"/>
  <Override ContentType="application/vnd.openxmlformats-officedocument.presentationml.notesSlide+xml" PartName="/ppt/notesSlides/notesSlide118.xml"/>
  <Override ContentType="application/vnd.openxmlformats-officedocument.presentationml.notesSlide+xml" PartName="/ppt/notesSlides/notesSlide485.xml"/>
  <Override ContentType="application/vnd.openxmlformats-officedocument.presentationml.notesSlide+xml" PartName="/ppt/notesSlides/notesSlide632.xml"/>
  <Override ContentType="application/vnd.openxmlformats-officedocument.presentationml.notesSlide+xml" PartName="/ppt/notesSlides/notesSlide140.xml"/>
  <Override ContentType="application/vnd.openxmlformats-officedocument.presentationml.notesSlide+xml" PartName="/ppt/notesSlides/notesSlide657.xml"/>
  <Override ContentType="application/vnd.openxmlformats-officedocument.presentationml.notesSlide+xml" PartName="/ppt/notesSlides/notesSlide88.xml"/>
  <Override ContentType="application/vnd.openxmlformats-officedocument.presentationml.notesSlide+xml" PartName="/ppt/notesSlides/notesSlide357.xml"/>
  <Override ContentType="application/vnd.openxmlformats-officedocument.presentationml.notesSlide+xml" PartName="/ppt/notesSlides/notesSlide424.xml"/>
  <Override ContentType="application/vnd.openxmlformats-officedocument.presentationml.notesSlide+xml" PartName="/ppt/notesSlides/notesSlide294.xml"/>
  <Override ContentType="application/vnd.openxmlformats-officedocument.presentationml.notesSlide+xml" PartName="/ppt/notesSlides/notesSlide149.xml"/>
  <Override ContentType="application/vnd.openxmlformats-officedocument.presentationml.notesSlide+xml" PartName="/ppt/notesSlides/notesSlide252.xml"/>
  <Override ContentType="application/vnd.openxmlformats-officedocument.presentationml.notesSlide+xml" PartName="/ppt/notesSlides/notesSlide62.xml"/>
  <Override ContentType="application/vnd.openxmlformats-officedocument.presentationml.notesSlide+xml" PartName="/ppt/notesSlides/notesSlide642.xml"/>
  <Override ContentType="application/vnd.openxmlformats-officedocument.presentationml.notesSlide+xml" PartName="/ppt/notesSlides/notesSlide341.xml"/>
  <Override ContentType="application/vnd.openxmlformats-officedocument.presentationml.notesSlide+xml" PartName="/ppt/notesSlides/notesSlide553.xml"/>
  <Override ContentType="application/vnd.openxmlformats-officedocument.presentationml.notesSlide+xml" PartName="/ppt/notesSlides/notesSlide367.xml"/>
  <Override ContentType="application/vnd.openxmlformats-officedocument.presentationml.notesSlide+xml" PartName="/ppt/notesSlides/notesSlide529.xml"/>
  <Override ContentType="application/vnd.openxmlformats-officedocument.presentationml.notesSlide+xml" PartName="/ppt/notesSlides/notesSlide139.xml"/>
  <Override ContentType="application/vnd.openxmlformats-officedocument.presentationml.notesSlide+xml" PartName="/ppt/notesSlides/notesSlide278.xml"/>
  <Override ContentType="application/vnd.openxmlformats-officedocument.presentationml.notesSlide+xml" PartName="/ppt/notesSlides/notesSlide414.xml"/>
  <Override ContentType="application/vnd.openxmlformats-officedocument.presentationml.notesSlide+xml" PartName="/ppt/notesSlides/notesSlide228.xml"/>
  <Override ContentType="application/vnd.openxmlformats-officedocument.presentationml.notesSlide+xml" PartName="/ppt/notesSlides/notesSlide55.xml"/>
  <Override ContentType="application/vnd.openxmlformats-officedocument.presentationml.notesSlide+xml" PartName="/ppt/notesSlides/notesSlide156.xml"/>
  <Override ContentType="application/vnd.openxmlformats-officedocument.presentationml.notesSlide+xml" PartName="/ppt/notesSlides/notesSlide245.xml"/>
  <Override ContentType="application/vnd.openxmlformats-officedocument.presentationml.notesSlide+xml" PartName="/ppt/notesSlides/notesSlide589.xml"/>
  <Override ContentType="application/vnd.openxmlformats-officedocument.presentationml.notesSlide+xml" PartName="/ppt/notesSlides/notesSlide72.xml"/>
  <Override ContentType="application/vnd.openxmlformats-officedocument.presentationml.notesSlide+xml" PartName="/ppt/notesSlides/notesSlide431.xml"/>
  <Override ContentType="application/vnd.openxmlformats-officedocument.presentationml.notesSlide+xml" PartName="/ppt/notesSlides/notesSlide190.xml"/>
  <Override ContentType="application/vnd.openxmlformats-officedocument.presentationml.notesSlide+xml" PartName="/ppt/notesSlides/notesSlide608.xml"/>
  <Override ContentType="application/vnd.openxmlformats-officedocument.presentationml.notesSlide+xml" PartName="/ppt/notesSlides/notesSlide26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536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73.xml"/>
  <Override ContentType="application/vnd.openxmlformats-officedocument.presentationml.notesSlide+xml" PartName="/ppt/notesSlides/notesSlide519.xml"/>
  <Override ContentType="application/vnd.openxmlformats-officedocument.presentationml.notesSlide+xml" PartName="/ppt/notesSlides/notesSlide625.xml"/>
  <Override ContentType="application/vnd.openxmlformats-officedocument.presentationml.notesSlide+xml" PartName="/ppt/notesSlides/notesSlide335.xml"/>
  <Override ContentType="application/vnd.openxmlformats-officedocument.presentationml.notesSlide+xml" PartName="/ppt/notesSlides/notesSlide696.xml"/>
  <Override ContentType="application/vnd.openxmlformats-officedocument.presentationml.notesSlide+xml" PartName="/ppt/notesSlides/notesSlide318.xml"/>
  <Override ContentType="application/vnd.openxmlformats-officedocument.presentationml.notesSlide+xml" PartName="/ppt/notesSlides/notesSlide284.xml"/>
  <Override ContentType="application/vnd.openxmlformats-officedocument.presentationml.notesSlide+xml" PartName="/ppt/notesSlides/notesSlide352.xml"/>
  <Override ContentType="application/vnd.openxmlformats-officedocument.presentationml.notesSlide+xml" PartName="/ppt/notesSlides/notesSlide267.xml"/>
  <Override ContentType="application/vnd.openxmlformats-officedocument.presentationml.notesSlide+xml" PartName="/ppt/notesSlides/notesSlide704.xml"/>
  <Override ContentType="application/vnd.openxmlformats-officedocument.presentationml.notesSlide+xml" PartName="/ppt/notesSlides/notesSlide542.xml"/>
  <Override ContentType="application/vnd.openxmlformats-officedocument.presentationml.notesSlide+xml" PartName="/ppt/notesSlides/notesSlide429.xml"/>
  <Override ContentType="application/vnd.openxmlformats-officedocument.presentationml.notesSlide+xml" PartName="/ppt/notesSlides/notesSlide463.xml"/>
  <Override ContentType="application/vnd.openxmlformats-officedocument.presentationml.notesSlide+xml" PartName="/ppt/notesSlides/notesSlide480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207.xml"/>
  <Override ContentType="application/vnd.openxmlformats-officedocument.presentationml.notesSlide+xml" PartName="/ppt/notesSlides/notesSlide299.xml"/>
  <Override ContentType="application/vnd.openxmlformats-officedocument.presentationml.notesSlide+xml" PartName="/ppt/notesSlides/notesSlide568.xml"/>
  <Override ContentType="application/vnd.openxmlformats-officedocument.presentationml.notesSlide+xml" PartName="/ppt/notesSlides/notesSlide102.xml"/>
  <Override ContentType="application/vnd.openxmlformats-officedocument.presentationml.notesSlide+xml" PartName="/ppt/notesSlides/notesSlide446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610.xml"/>
  <Override ContentType="application/vnd.openxmlformats-officedocument.presentationml.notesSlide+xml" PartName="/ppt/notesSlides/notesSlide188.xml"/>
  <Override ContentType="application/vnd.openxmlformats-officedocument.presentationml.notesSlide+xml" PartName="/ppt/notesSlides/notesSlide679.xml"/>
  <Override ContentType="application/vnd.openxmlformats-officedocument.presentationml.notesSlide+xml" PartName="/ppt/notesSlides/notesSlide291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239.xml"/>
  <Override ContentType="application/vnd.openxmlformats-officedocument.presentationml.notesSlide+xml" PartName="/ppt/notesSlides/notesSlide107.xml"/>
  <Override ContentType="application/vnd.openxmlformats-officedocument.presentationml.notesSlide+xml" PartName="/ppt/notesSlides/notesSlide186.xml"/>
  <Override ContentType="application/vnd.openxmlformats-officedocument.presentationml.notesSlide+xml" PartName="/ppt/notesSlides/notesSlide143.xml"/>
  <Override ContentType="application/vnd.openxmlformats-officedocument.presentationml.notesSlide+xml" PartName="/ppt/notesSlides/notesSlide151.xml"/>
  <Override ContentType="application/vnd.openxmlformats-officedocument.presentationml.notesSlide+xml" PartName="/ppt/notesSlides/notesSlide689.xml"/>
  <Override ContentType="application/vnd.openxmlformats-officedocument.presentationml.notesSlide+xml" PartName="/ppt/notesSlides/notesSlide700.xml"/>
  <Override ContentType="application/vnd.openxmlformats-officedocument.presentationml.notesSlide+xml" PartName="/ppt/notesSlides/notesSlide100.xml"/>
  <Override ContentType="application/vnd.openxmlformats-officedocument.presentationml.notesSlide+xml" PartName="/ppt/notesSlides/notesSlide646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593.xml"/>
  <Override ContentType="application/vnd.openxmlformats-officedocument.presentationml.notesSlide+xml" PartName="/ppt/notesSlides/notesSlide603.xml"/>
  <Override ContentType="application/vnd.openxmlformats-officedocument.presentationml.notesSlide+xml" PartName="/ppt/notesSlides/notesSlide85.xml"/>
  <Override ContentType="application/vnd.openxmlformats-officedocument.presentationml.notesSlide+xml" PartName="/ppt/notesSlides/notesSlide550.xml"/>
  <Override ContentType="application/vnd.openxmlformats-officedocument.presentationml.notesSlide+xml" PartName="/ppt/notesSlides/notesSlide194.xml"/>
  <Override ContentType="application/vnd.openxmlformats-officedocument.presentationml.notesSlide+xml" PartName="/ppt/notesSlides/notesSlide638.xml"/>
  <Override ContentType="application/vnd.openxmlformats-officedocument.presentationml.notesSlide+xml" PartName="/ppt/notesSlides/notesSlide409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17.xml"/>
  <Override ContentType="application/vnd.openxmlformats-officedocument.presentationml.notesSlide+xml" PartName="/ppt/notesSlides/notesSlide77.xml"/>
  <Override ContentType="application/vnd.openxmlformats-officedocument.presentationml.notesSlide+xml" PartName="/ppt/notesSlides/notesSlide372.xml"/>
  <Override ContentType="application/vnd.openxmlformats-officedocument.presentationml.notesSlide+xml" PartName="/ppt/notesSlides/notesSlide263.xml"/>
  <Override ContentType="application/vnd.openxmlformats-officedocument.presentationml.notesSlide+xml" PartName="/ppt/notesSlides/notesSlide437.xml"/>
  <Override ContentType="application/vnd.openxmlformats-officedocument.presentationml.notesSlide+xml" PartName="/ppt/notesSlides/notesSlide259.xml"/>
  <Override ContentType="application/vnd.openxmlformats-officedocument.presentationml.notesSlide+xml" PartName="/ppt/notesSlides/notesSlide658.xml"/>
  <Override ContentType="application/vnd.openxmlformats-officedocument.presentationml.notesSlide+xml" PartName="/ppt/notesSlides/notesSlide166.xml"/>
  <Override ContentType="application/vnd.openxmlformats-officedocument.presentationml.notesSlide+xml" PartName="/ppt/notesSlides/notesSlide220.xml"/>
  <Override ContentType="application/vnd.openxmlformats-officedocument.presentationml.notesSlide+xml" PartName="/ppt/notesSlides/notesSlide631.xml"/>
  <Override ContentType="application/vnd.openxmlformats-officedocument.presentationml.notesSlide+xml" PartName="/ppt/notesSlides/notesSlide518.xml"/>
  <Override ContentType="application/vnd.openxmlformats-officedocument.presentationml.notesSlide+xml" PartName="/ppt/notesSlides/notesSlide178.xml"/>
  <Override ContentType="application/vnd.openxmlformats-officedocument.presentationml.notesSlide+xml" PartName="/ppt/notesSlides/notesSlide615.xml"/>
  <Override ContentType="application/vnd.openxmlformats-officedocument.presentationml.notesSlide+xml" PartName="/ppt/notesSlides/notesSlide674.xml"/>
  <Override ContentType="application/vnd.openxmlformats-officedocument.presentationml.notesSlide+xml" PartName="/ppt/notesSlides/notesSlide135.xml"/>
  <Override ContentType="application/vnd.openxmlformats-officedocument.presentationml.notesSlide+xml" PartName="/ppt/notesSlides/notesSlide93.xml"/>
  <Override ContentType="application/vnd.openxmlformats-officedocument.presentationml.notesSlide+xml" PartName="/ppt/notesSlides/notesSlide522.xml"/>
  <Override ContentType="application/vnd.openxmlformats-officedocument.presentationml.notesSlide+xml" PartName="/ppt/notesSlides/notesSlide301.xml"/>
  <Override ContentType="application/vnd.openxmlformats-officedocument.presentationml.notesSlide+xml" PartName="/ppt/notesSlides/notesSlide57.xml"/>
  <Override ContentType="application/vnd.openxmlformats-officedocument.presentationml.notesSlide+xml" PartName="/ppt/notesSlides/notesSlide565.xml"/>
  <Override ContentType="application/vnd.openxmlformats-officedocument.presentationml.notesSlide+xml" PartName="/ppt/notesSlides/notesSlide123.xml"/>
  <Override ContentType="application/vnd.openxmlformats-officedocument.presentationml.notesSlide+xml" PartName="/ppt/notesSlides/notesSlide171.xml"/>
  <Override ContentType="application/vnd.openxmlformats-officedocument.presentationml.notesSlide+xml" PartName="/ppt/notesSlides/notesSlide344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16.xml"/>
  <Override ContentType="application/vnd.openxmlformats-officedocument.presentationml.notesSlide+xml" PartName="/ppt/notesSlides/notesSlide387.xml"/>
  <Override ContentType="application/vnd.openxmlformats-officedocument.presentationml.notesSlide+xml" PartName="/ppt/notesSlides/notesSlide588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138.xml"/>
  <Override ContentType="application/vnd.openxmlformats-officedocument.presentationml.notesSlide+xml" PartName="/ppt/notesSlides/notesSlide163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502.xml"/>
  <Override ContentType="application/vnd.openxmlformats-officedocument.presentationml.notesSlide+xml" PartName="/ppt/notesSlides/notesSlide421.xml"/>
  <Override ContentType="application/vnd.openxmlformats-officedocument.presentationml.notesSlide+xml" PartName="/ppt/notesSlides/notesSlide473.xml"/>
  <Override ContentType="application/vnd.openxmlformats-officedocument.presentationml.notesSlide+xml" PartName="/ppt/notesSlides/notesSlide430.xml"/>
  <Override ContentType="application/vnd.openxmlformats-officedocument.presentationml.notesSlide+xml" PartName="/ppt/notesSlides/notesSlide287.xml"/>
  <Override ContentType="application/vnd.openxmlformats-officedocument.presentationml.notesSlide+xml" PartName="/ppt/notesSlides/notesSlide392.xml"/>
  <Override ContentType="application/vnd.openxmlformats-officedocument.presentationml.notesSlide+xml" PartName="/ppt/notesSlides/notesSlide537.xml"/>
  <Override ContentType="application/vnd.openxmlformats-officedocument.presentationml.notesSlide+xml" PartName="/ppt/notesSlides/notesSlide693.xml"/>
  <Override ContentType="application/vnd.openxmlformats-officedocument.presentationml.notesSlide+xml" PartName="/ppt/notesSlides/notesSlide464.xml"/>
  <Override ContentType="application/vnd.openxmlformats-officedocument.presentationml.notesSlide+xml" PartName="/ppt/notesSlides/notesSlide120.xml"/>
  <Override ContentType="application/vnd.openxmlformats-officedocument.presentationml.notesSlide+xml" PartName="/ppt/notesSlides/notesSlide308.xml"/>
  <Override ContentType="application/vnd.openxmlformats-officedocument.presentationml.notesSlide+xml" PartName="/ppt/notesSlides/notesSlide650.xml"/>
  <Override ContentType="application/vnd.openxmlformats-officedocument.presentationml.notesSlide+xml" PartName="/ppt/notesSlides/notesSlide600.xml"/>
  <Override ContentType="application/vnd.openxmlformats-officedocument.presentationml.notesSlide+xml" PartName="/ppt/notesSlides/notesSlide643.xml"/>
  <Override ContentType="application/vnd.openxmlformats-officedocument.presentationml.notesSlide+xml" PartName="/ppt/notesSlides/notesSlide686.xml"/>
  <Override ContentType="application/vnd.openxmlformats-officedocument.presentationml.notesSlide+xml" PartName="/ppt/notesSlides/notesSlide279.xml"/>
  <Override ContentType="application/vnd.openxmlformats-officedocument.presentationml.notesSlide+xml" PartName="/ppt/notesSlides/notesSlide236.xml"/>
  <Override ContentType="application/vnd.openxmlformats-officedocument.presentationml.notesSlide+xml" PartName="/ppt/notesSlides/notesSlide244.xml"/>
  <Override ContentType="application/vnd.openxmlformats-officedocument.presentationml.notesSlide+xml" PartName="/ppt/notesSlides/notesSlide201.xml"/>
  <Override ContentType="application/vnd.openxmlformats-officedocument.presentationml.notesSlide+xml" PartName="/ppt/notesSlides/notesSlide545.xml"/>
  <Override ContentType="application/vnd.openxmlformats-officedocument.presentationml.notesSlide+xml" PartName="/ppt/notesSlides/notesSlide509.xml"/>
  <Override ContentType="application/vnd.openxmlformats-officedocument.presentationml.notesSlide+xml" PartName="/ppt/notesSlides/notesSlide402.xml"/>
  <Override ContentType="application/vnd.openxmlformats-officedocument.presentationml.notesSlide+xml" PartName="/ppt/notesSlides/notesSlide445.xml"/>
  <Override ContentType="application/vnd.openxmlformats-officedocument.presentationml.notesSlide+xml" PartName="/ppt/notesSlides/notesSlide191.xml"/>
  <Override ContentType="application/vnd.openxmlformats-officedocument.presentationml.notesSlide+xml" PartName="/ppt/notesSlides/notesSlide488.xml"/>
  <Override ContentType="application/vnd.openxmlformats-officedocument.presentationml.notesSlide+xml" PartName="/ppt/notesSlides/notesSlide20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321.xml"/>
  <Override ContentType="application/vnd.openxmlformats-officedocument.presentationml.notesSlide+xml" PartName="/ppt/notesSlides/notesSlide364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622.xml"/>
  <Override ContentType="application/vnd.openxmlformats-officedocument.presentationml.notesSlide+xml" PartName="/ppt/notesSlides/notesSlide65.xml"/>
  <Override ContentType="application/vnd.openxmlformats-officedocument.presentationml.notesSlide+xml" PartName="/ppt/notesSlides/notesSlide492.xml"/>
  <Override ContentType="application/vnd.openxmlformats-officedocument.presentationml.notesSlide+xml" PartName="/ppt/notesSlides/notesSlide665.xml"/>
  <Override ContentType="application/vnd.openxmlformats-officedocument.presentationml.notesSlide+xml" PartName="/ppt/notesSlides/notesSlide317.xml"/>
  <Override ContentType="application/vnd.openxmlformats-officedocument.presentationml.notesSlide+xml" PartName="/ppt/notesSlides/notesSlide336.xml"/>
  <Override ContentType="application/vnd.openxmlformats-officedocument.presentationml.notesSlide+xml" PartName="/ppt/notesSlides/notesSlide272.xml"/>
  <Override ContentType="application/vnd.openxmlformats-officedocument.presentationml.notesSlide+xml" PartName="/ppt/notesSlides/notesSlide671.xml"/>
  <Override ContentType="application/vnd.openxmlformats-officedocument.presentationml.notesSlide+xml" PartName="/ppt/notesSlides/notesSlide379.xml"/>
  <Override ContentType="application/vnd.openxmlformats-officedocument.presentationml.notesSlide+xml" PartName="/ppt/notesSlides/notesSlide618.xml"/>
  <Override ContentType="application/vnd.openxmlformats-officedocument.presentationml.notesSlide+xml" PartName="/ppt/notesSlides/notesSlide573.xml"/>
  <Override ContentType="application/vnd.openxmlformats-officedocument.presentationml.notesSlide+xml" PartName="/ppt/notesSlides/notesSlide530.xml"/>
  <Override ContentType="application/vnd.openxmlformats-officedocument.presentationml.notesSlide+xml" PartName="/ppt/notesSlides/notesSlide703.xml"/>
  <Override ContentType="application/vnd.openxmlformats-officedocument.presentationml.notesSlide+xml" PartName="/ppt/notesSlides/notesSlide92.xml"/>
  <Override ContentType="application/vnd.openxmlformats-officedocument.presentationml.notesSlide+xml" PartName="/ppt/notesSlides/notesSlide193.xml"/>
  <Override ContentType="application/vnd.openxmlformats-officedocument.presentationml.notesSlide+xml" PartName="/ppt/notesSlides/notesSlide701.xml"/>
  <Override ContentType="application/vnd.openxmlformats-officedocument.presentationml.notesSlide+xml" PartName="/ppt/notesSlides/notesSlide150.xml"/>
  <Override ContentType="application/vnd.openxmlformats-officedocument.presentationml.notesSlide+xml" PartName="/ppt/notesSlides/notesSlide523.xml"/>
  <Override ContentType="application/vnd.openxmlformats-officedocument.presentationml.notesSlide+xml" PartName="/ppt/notesSlides/notesSlide142.xml"/>
  <Override ContentType="application/vnd.openxmlformats-officedocument.presentationml.notesSlide+xml" PartName="/ppt/notesSlides/notesSlide566.xml"/>
  <Override ContentType="application/vnd.openxmlformats-officedocument.presentationml.notesSlide+xml" PartName="/ppt/notesSlides/notesSlide116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59.xml"/>
  <Override ContentType="application/vnd.openxmlformats-officedocument.presentationml.notesSlide+xml" PartName="/ppt/notesSlides/notesSlide185.xml"/>
  <Override ContentType="application/vnd.openxmlformats-officedocument.presentationml.notesSlide+xml" PartName="/ppt/notesSlides/notesSlide371.xml"/>
  <Override ContentType="application/vnd.openxmlformats-officedocument.presentationml.notesSlide+xml" PartName="/ppt/notesSlides/notesSlide639.xml"/>
  <Override ContentType="application/vnd.openxmlformats-officedocument.presentationml.notesSlide+xml" PartName="/ppt/notesSlides/notesSlide215.xml"/>
  <Override ContentType="application/vnd.openxmlformats-officedocument.presentationml.notesSlide+xml" PartName="/ppt/notesSlides/notesSlide401.xml"/>
  <Override ContentType="application/vnd.openxmlformats-officedocument.presentationml.notesSlide+xml" PartName="/ppt/notesSlides/notesSlide444.xml"/>
  <Override ContentType="application/vnd.openxmlformats-officedocument.presentationml.notesSlide+xml" PartName="/ppt/notesSlides/notesSlide673.xml"/>
  <Override ContentType="application/vnd.openxmlformats-officedocument.presentationml.notesSlide+xml" PartName="/ppt/notesSlides/notesSlide258.xml"/>
  <Override ContentType="application/vnd.openxmlformats-officedocument.presentationml.notesSlide+xml" PartName="/ppt/notesSlides/notesSlide487.xml"/>
  <Override ContentType="application/vnd.openxmlformats-officedocument.presentationml.notesSlide+xml" PartName="/ppt/notesSlides/notesSlide630.xml"/>
  <Override ContentType="application/vnd.openxmlformats-officedocument.presentationml.notesSlide+xml" PartName="/ppt/notesSlides/notesSlide292.xml"/>
  <Override ContentType="application/vnd.openxmlformats-officedocument.presentationml.notesSlide+xml" PartName="/ppt/notesSlides/notesSlide337.xml"/>
  <Override ContentType="application/vnd.openxmlformats-officedocument.presentationml.notesSlide+xml" PartName="/ppt/notesSlides/notesSlide10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86.xml"/>
  <Override ContentType="application/vnd.openxmlformats-officedocument.presentationml.notesSlide+xml" PartName="/ppt/notesSlides/notesSlide594.xml"/>
  <Override ContentType="application/vnd.openxmlformats-officedocument.presentationml.notesSlide+xml" PartName="/ppt/notesSlides/notesSlide179.xml"/>
  <Override ContentType="application/vnd.openxmlformats-officedocument.presentationml.notesSlide+xml" PartName="/ppt/notesSlides/notesSlide343.xml"/>
  <Override ContentType="application/vnd.openxmlformats-officedocument.presentationml.notesSlide+xml" PartName="/ppt/notesSlides/notesSlide300.xml"/>
  <Override ContentType="application/vnd.openxmlformats-officedocument.presentationml.notesSlide+xml" PartName="/ppt/notesSlides/notesSlide551.xml"/>
  <Override ContentType="application/vnd.openxmlformats-officedocument.presentationml.notesSlide+xml" PartName="/ppt/notesSlides/notesSlide645.xml"/>
  <Override ContentType="application/vnd.openxmlformats-officedocument.presentationml.notesSlide+xml" PartName="/ppt/notesSlides/notesSlide165.xml"/>
  <Override ContentType="application/vnd.openxmlformats-officedocument.presentationml.notesSlide+xml" PartName="/ppt/notesSlides/notesSlide602.xml"/>
  <Override ContentType="application/vnd.openxmlformats-officedocument.presentationml.notesSlide+xml" PartName="/ppt/notesSlides/notesSlide386.xml"/>
  <Override ContentType="application/vnd.openxmlformats-officedocument.presentationml.notesSlide+xml" PartName="/ppt/notesSlides/notesSlide122.xml"/>
  <Override ContentType="application/vnd.openxmlformats-officedocument.presentationml.notesSlide+xml" PartName="/ppt/notesSlides/notesSlide264.xml"/>
  <Override ContentType="application/vnd.openxmlformats-officedocument.presentationml.notesSlide+xml" PartName="/ppt/notesSlides/notesSlide170.xml"/>
  <Override ContentType="application/vnd.openxmlformats-officedocument.presentationml.notesSlide+xml" PartName="/ppt/notesSlides/notesSlide221.xml"/>
  <Override ContentType="application/vnd.openxmlformats-officedocument.presentationml.notesSlide+xml" PartName="/ppt/notesSlides/notesSlide58.xml"/>
  <Override ContentType="application/vnd.openxmlformats-officedocument.presentationml.notesSlide+xml" PartName="/ppt/notesSlides/notesSlide472.xml"/>
  <Override ContentType="application/vnd.openxmlformats-officedocument.presentationml.notesSlide+xml" PartName="/ppt/notesSlides/notesSlide517.xml"/>
  <Override ContentType="application/vnd.openxmlformats-officedocument.presentationml.notesSlide+xml" PartName="/ppt/notesSlides/notesSlide688.xml"/>
  <Override ContentType="application/vnd.openxmlformats-officedocument.presentationml.notesSlide+xml" PartName="/ppt/notesSlides/notesSlide136.xml"/>
  <Override ContentType="application/vnd.openxmlformats-officedocument.presentationml.notesSlide+xml" PartName="/ppt/notesSlides/notesSlide309.xml"/>
  <Override ContentType="application/vnd.openxmlformats-officedocument.presentationml.notesSlide+xml" PartName="/ppt/notesSlides/notesSlide359.xml"/>
  <Override ContentType="application/vnd.openxmlformats-officedocument.presentationml.notesSlide+xml" PartName="/ppt/notesSlides/notesSlide617.xml"/>
  <Override ContentType="application/vnd.openxmlformats-officedocument.presentationml.notesSlide+xml" PartName="/ppt/notesSlides/notesSlide316.xml"/>
  <Override ContentType="application/vnd.openxmlformats-officedocument.presentationml.notesSlide+xml" PartName="/ppt/notesSlides/notesSlide70.xml"/>
  <Override ContentType="application/vnd.openxmlformats-officedocument.presentationml.notesSlide+xml" PartName="/ppt/notesSlides/notesSlide243.xml"/>
  <Override ContentType="application/vnd.openxmlformats-officedocument.presentationml.notesSlide+xml" PartName="/ppt/notesSlides/notesSlide501.xml"/>
  <Override ContentType="application/vnd.openxmlformats-officedocument.presentationml.notesSlide+xml" PartName="/ppt/notesSlides/notesSlide544.xml"/>
  <Override ContentType="application/vnd.openxmlformats-officedocument.presentationml.notesSlide+xml" PartName="/ppt/notesSlides/notesSlide587.xml"/>
  <Override ContentType="application/vnd.openxmlformats-officedocument.presentationml.notesSlide+xml" PartName="/ppt/notesSlides/notesSlide200.xml"/>
  <Override ContentType="application/vnd.openxmlformats-officedocument.presentationml.notesSlide+xml" PartName="/ppt/notesSlides/notesSlide438.xml"/>
  <Override ContentType="application/vnd.openxmlformats-officedocument.presentationml.notesSlide+xml" PartName="/ppt/notesSlides/notesSlide350.xml"/>
  <Override ContentType="application/vnd.openxmlformats-officedocument.presentationml.notesSlide+xml" PartName="/ppt/notesSlides/notesSlide393.xml"/>
  <Override ContentType="application/vnd.openxmlformats-officedocument.presentationml.notesSlide+xml" PartName="/ppt/notesSlides/notesSlide209.xml"/>
  <Override ContentType="application/vnd.openxmlformats-officedocument.presentationml.notesSlide+xml" PartName="/ppt/notesSlides/notesSlide465.xml"/>
  <Override ContentType="application/vnd.openxmlformats-officedocument.presentationml.notesSlide+xml" PartName="/ppt/notesSlides/notesSlide651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164.xml"/>
  <Override ContentType="application/vnd.openxmlformats-officedocument.presentationml.notesSlide+xml" PartName="/ppt/notesSlides/notesSlide422.xml"/>
  <Override ContentType="application/vnd.openxmlformats-officedocument.presentationml.notesSlide+xml" PartName="/ppt/notesSlides/notesSlide694.xml"/>
  <Override ContentType="application/vnd.openxmlformats-officedocument.presentationml.notesSlide+xml" PartName="/ppt/notesSlides/notesSlide64.xml"/>
  <Override ContentType="application/vnd.openxmlformats-officedocument.presentationml.notesSlide+xml" PartName="/ppt/notesSlides/notesSlide121.xml"/>
  <Override ContentType="application/vnd.openxmlformats-officedocument.presentationml.notesSlide+xml" PartName="/ppt/notesSlides/notesSlide666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271.xml"/>
  <Override ContentType="application/vnd.openxmlformats-officedocument.presentationml.notesSlide+xml" PartName="/ppt/notesSlides/notesSlide623.xml"/>
  <Override ContentType="application/vnd.openxmlformats-officedocument.presentationml.notesSlide+xml" PartName="/ppt/notesSlides/notesSlide365.xml"/>
  <Override ContentType="application/vnd.openxmlformats-officedocument.presentationml.notesSlide+xml" PartName="/ppt/notesSlides/notesSlide416.xml"/>
  <Override ContentType="application/vnd.openxmlformats-officedocument.presentationml.notesSlide+xml" PartName="/ppt/notesSlides/notesSlide459.xml"/>
  <Override ContentType="application/vnd.openxmlformats-officedocument.presentationml.notesSlide+xml" PartName="/ppt/notesSlides/notesSlide237.xml"/>
  <Override ContentType="application/vnd.openxmlformats-officedocument.presentationml.notesSlide+xml" PartName="/ppt/notesSlides/notesSlide572.xml"/>
  <Override ContentType="application/vnd.openxmlformats-officedocument.presentationml.notesSlide+xml" PartName="/ppt/notesSlides/notesSlide79.xml"/>
  <Override ContentType="application/vnd.openxmlformats-officedocument.presentationml.notesSlide+xml" PartName="/ppt/notesSlides/notesSlide450.xml"/>
  <Override ContentType="application/vnd.openxmlformats-officedocument.presentationml.notesSlide+xml" PartName="/ppt/notesSlides/notesSlide493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2.xml"/>
  <Override ContentType="application/vnd.openxmlformats-officedocument.presentationml.notesSlide+xml" PartName="/ppt/notesSlides/notesSlide538.xml"/>
  <Override ContentType="application/vnd.openxmlformats-officedocument.presentationml.notesSlide+xml" PartName="/ppt/notesSlides/notesSlide286.xml"/>
  <Override ContentType="application/vnd.openxmlformats-officedocument.presentationml.notesSlide+xml" PartName="/ppt/notesSlides/notesSlide115.xml"/>
  <Override ContentType="application/vnd.openxmlformats-officedocument.presentationml.notesSlide+xml" PartName="/ppt/notesSlides/notesSlide158.xml"/>
  <Override ContentType="application/vnd.openxmlformats-officedocument.presentationml.notesSlide+xml" PartName="/ppt/notesSlides/notesSlide322.xml"/>
  <Override ContentType="application/vnd.openxmlformats-officedocument.presentationml.notesSlide+xml" PartName="/ppt/notesSlides/notesSlide67.xml"/>
  <Override ContentType="application/vnd.openxmlformats-officedocument.presentationml.notesSlide+xml" PartName="/ppt/notesSlides/notesSlide168.xml"/>
  <Override ContentType="application/vnd.openxmlformats-officedocument.presentationml.notesSlide+xml" PartName="/ppt/notesSlides/notesSlide354.xml"/>
  <Override ContentType="application/vnd.openxmlformats-officedocument.presentationml.notesSlide+xml" PartName="/ppt/notesSlides/notesSlide540.xml"/>
  <Override ContentType="application/vnd.openxmlformats-officedocument.presentationml.notesSlide+xml" PartName="/ppt/notesSlides/notesSlide257.xml"/>
  <Override ContentType="application/vnd.openxmlformats-officedocument.presentationml.notesSlide+xml" PartName="/ppt/notesSlides/notesSlide265.xml"/>
  <Override ContentType="application/vnd.openxmlformats-officedocument.presentationml.notesSlide+xml" PartName="/ppt/notesSlides/notesSlide443.xml"/>
  <Override ContentType="application/vnd.openxmlformats-officedocument.presentationml.notesSlide+xml" PartName="/ppt/notesSlides/notesSlide59.xml"/>
  <Override ContentType="application/vnd.openxmlformats-officedocument.presentationml.notesSlide+xml" PartName="/ppt/notesSlides/notesSlide249.xml"/>
  <Override ContentType="application/vnd.openxmlformats-officedocument.presentationml.notesSlide+xml" PartName="/ppt/notesSlides/notesSlide273.xml"/>
  <Override ContentType="application/vnd.openxmlformats-officedocument.presentationml.notesSlide+xml" PartName="/ppt/notesSlides/notesSlide524.xml"/>
  <Override ContentType="application/vnd.openxmlformats-officedocument.presentationml.notesSlide+xml" PartName="/ppt/notesSlides/notesSlide338.xml"/>
  <Override ContentType="application/vnd.openxmlformats-officedocument.presentationml.notesSlide+xml" PartName="/ppt/notesSlides/notesSlide362.xml"/>
  <Override ContentType="application/vnd.openxmlformats-officedocument.presentationml.notesSlide+xml" PartName="/ppt/notesSlides/notesSlide91.xml"/>
  <Override ContentType="application/vnd.openxmlformats-officedocument.presentationml.notesSlide+xml" PartName="/ppt/notesSlides/notesSlide176.xml"/>
  <Override ContentType="application/vnd.openxmlformats-officedocument.presentationml.notesSlide+xml" PartName="/ppt/notesSlides/notesSlide613.xml"/>
  <Override ContentType="application/vnd.openxmlformats-officedocument.presentationml.notesSlide+xml" PartName="/ppt/notesSlides/notesSlide702.xml"/>
  <Override ContentType="application/vnd.openxmlformats-officedocument.presentationml.notesSlide+xml" PartName="/ppt/notesSlides/notesSlide451.xml"/>
  <Override ContentType="application/vnd.openxmlformats-officedocument.presentationml.notesSlide+xml" PartName="/ppt/notesSlides/notesSlide427.xml"/>
  <Override ContentType="application/vnd.openxmlformats-officedocument.presentationml.notesSlide+xml" PartName="/ppt/notesSlides/notesSlide699.xml"/>
  <Override ContentType="application/vnd.openxmlformats-officedocument.presentationml.notesSlide+xml" PartName="/ppt/notesSlides/notesSlide435.xml"/>
  <Override ContentType="application/vnd.openxmlformats-officedocument.presentationml.notesSlide+xml" PartName="/ppt/notesSlides/notesSlide621.xml"/>
  <Override ContentType="application/vnd.openxmlformats-officedocument.presentationml.notesSlide+xml" PartName="/ppt/notesSlides/notesSlide346.xml"/>
  <Override ContentType="application/vnd.openxmlformats-officedocument.presentationml.notesSlide+xml" PartName="/ppt/notesSlides/notesSlide532.xml"/>
  <Override ContentType="application/vnd.openxmlformats-officedocument.presentationml.notesSlide+xml" PartName="/ppt/notesSlides/notesSlide628.xml"/>
  <Override ContentType="application/vnd.openxmlformats-officedocument.presentationml.notesSlide+xml" PartName="/ppt/notesSlides/notesSlide644.xml"/>
  <Override ContentType="application/vnd.openxmlformats-officedocument.presentationml.notesSlide+xml" PartName="/ppt/notesSlides/notesSlide369.xml"/>
  <Override ContentType="application/vnd.openxmlformats-officedocument.presentationml.notesSlide+xml" PartName="/ppt/notesSlides/notesSlide250.xml"/>
  <Override ContentType="application/vnd.openxmlformats-officedocument.presentationml.notesSlide+xml" PartName="/ppt/notesSlides/notesSlide105.xml"/>
  <Override ContentType="application/vnd.openxmlformats-officedocument.presentationml.notesSlide+xml" PartName="/ppt/notesSlides/notesSlide202.xml"/>
  <Override ContentType="application/vnd.openxmlformats-officedocument.presentationml.notesSlide+xml" PartName="/ppt/notesSlides/notesSlide466.xml"/>
  <Override ContentType="application/vnd.openxmlformats-officedocument.presentationml.notesSlide+xml" PartName="/ppt/notesSlides/notesSlide137.xml"/>
  <Override ContentType="application/vnd.openxmlformats-officedocument.presentationml.notesSlide+xml" PartName="/ppt/notesSlides/notesSlide419.xml"/>
  <Override ContentType="application/vnd.openxmlformats-officedocument.presentationml.notesSlide+xml" PartName="/ppt/notesSlides/notesSlide498.xml"/>
  <Override ContentType="application/vnd.openxmlformats-officedocument.presentationml.notesSlide+xml" PartName="/ppt/notesSlides/notesSlide516.xml"/>
  <Override ContentType="application/vnd.openxmlformats-officedocument.presentationml.notesSlide+xml" PartName="/ppt/notesSlides/notesSlide595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34.xml"/>
  <Override ContentType="application/vnd.openxmlformats-officedocument.presentationml.notesSlide+xml" PartName="/ppt/notesSlides/notesSlide153.xml"/>
  <Override ContentType="application/vnd.openxmlformats-officedocument.presentationml.notesSlide+xml" PartName="/ppt/notesSlides/notesSlide184.xml"/>
  <Override ContentType="application/vnd.openxmlformats-officedocument.presentationml.notesSlide+xml" PartName="/ppt/notesSlides/notesSlide75.xml"/>
  <Override ContentType="application/vnd.openxmlformats-officedocument.presentationml.notesSlide+xml" PartName="/ppt/notesSlides/notesSlide547.xml"/>
  <Override ContentType="application/vnd.openxmlformats-officedocument.presentationml.notesSlide+xml" PartName="/ppt/notesSlides/notesSlide281.xml"/>
  <Override ContentType="application/vnd.openxmlformats-officedocument.presentationml.notesSlide+xml" PartName="/ppt/notesSlides/notesSlide331.xml"/>
  <Override ContentType="application/vnd.openxmlformats-officedocument.presentationml.notesSlide+xml" PartName="/ppt/notesSlides/notesSlide692.xml"/>
  <Override ContentType="application/vnd.openxmlformats-officedocument.presentationml.notesSlide+xml" PartName="/ppt/notesSlides/notesSlide490.xml"/>
  <Override ContentType="application/vnd.openxmlformats-officedocument.presentationml.notesSlide+xml" PartName="/ppt/notesSlides/notesSlide676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210.xml"/>
  <Override ContentType="application/vnd.openxmlformats-officedocument.presentationml.notesSlide+xml" PartName="/ppt/notesSlides/notesSlide377.xml"/>
  <Override ContentType="application/vnd.openxmlformats-officedocument.presentationml.notesSlide+xml" PartName="/ppt/notesSlides/notesSlide660.xml"/>
  <Override ContentType="application/vnd.openxmlformats-officedocument.presentationml.notesSlide+xml" PartName="/ppt/notesSlides/notesSlide315.xml"/>
  <Override ContentType="application/vnd.openxmlformats-officedocument.presentationml.notesSlide+xml" PartName="/ppt/notesSlides/notesSlide129.xml"/>
  <Override ContentType="application/vnd.openxmlformats-officedocument.presentationml.notesSlide+xml" PartName="/ppt/notesSlides/notesSlide659.xml"/>
  <Override ContentType="application/vnd.openxmlformats-officedocument.presentationml.notesSlide+xml" PartName="/ppt/notesSlides/notesSlide404.xml"/>
  <Override ContentType="application/vnd.openxmlformats-officedocument.presentationml.notesSlide+xml" PartName="/ppt/notesSlides/notesSlide394.xml"/>
  <Override ContentType="application/vnd.openxmlformats-officedocument.presentationml.notesSlide+xml" PartName="/ppt/notesSlides/notesSlide60.xml"/>
  <Override ContentType="application/vnd.openxmlformats-officedocument.presentationml.notesSlide+xml" PartName="/ppt/notesSlides/notesSlide296.xml"/>
  <Override ContentType="application/vnd.openxmlformats-officedocument.presentationml.notesSlide+xml" PartName="/ppt/notesSlides/notesSlide385.xml"/>
  <Override ContentType="application/vnd.openxmlformats-officedocument.presentationml.notesSlide+xml" PartName="/ppt/notesSlides/notesSlide571.xml"/>
  <Override ContentType="application/vnd.openxmlformats-officedocument.presentationml.notesSlide+xml" PartName="/ppt/notesSlides/notesSlide144.xml"/>
  <Override ContentType="application/vnd.openxmlformats-officedocument.presentationml.notesSlide+xml" PartName="/ppt/notesSlides/notesSlide539.xml"/>
  <Override ContentType="application/vnd.openxmlformats-officedocument.presentationml.notesSlide+xml" PartName="/ppt/notesSlides/notesSlide475.xml"/>
  <Override ContentType="application/vnd.openxmlformats-officedocument.presentationml.notesSlide+xml" PartName="/ppt/notesSlides/notesSlide114.xml"/>
  <Override ContentType="application/vnd.openxmlformats-officedocument.presentationml.notesSlide+xml" PartName="/ppt/notesSlides/notesSlide52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161.xml"/>
  <Override ContentType="application/vnd.openxmlformats-officedocument.presentationml.notesSlide+xml" PartName="/ppt/notesSlides/notesSlide306.xml"/>
  <Override ContentType="application/vnd.openxmlformats-officedocument.presentationml.notesSlide+xml" PartName="/ppt/notesSlides/notesSlide637.xml"/>
  <Override ContentType="application/vnd.openxmlformats-officedocument.presentationml.notesSlide+xml" PartName="/ppt/notesSlides/notesSlide652.xml"/>
  <Override ContentType="application/vnd.openxmlformats-officedocument.presentationml.notesSlide+xml" PartName="/ppt/notesSlides/notesSlide667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23.xml"/>
  <Override ContentType="application/vnd.openxmlformats-officedocument.presentationml.notesSlide+xml" PartName="/ppt/notesSlides/notesSlide605.xml"/>
  <Override ContentType="application/vnd.openxmlformats-officedocument.presentationml.notesSlide+xml" PartName="/ppt/notesSlides/notesSlide684.xml"/>
  <Override ContentType="application/vnd.openxmlformats-officedocument.presentationml.notesSlide+xml" PartName="/ppt/notesSlides/notesSlide370.xml"/>
  <Override ContentType="application/vnd.openxmlformats-officedocument.presentationml.notesSlide+xml" PartName="/ppt/notesSlides/notesSlide458.xml"/>
  <Override ContentType="application/vnd.openxmlformats-officedocument.presentationml.notesSlide+xml" PartName="/ppt/notesSlides/notesSlide500.xml"/>
  <Override ContentType="application/vnd.openxmlformats-officedocument.presentationml.notesSlide+xml" PartName="/ppt/notesSlides/notesSlide225.xml"/>
  <Override ContentType="application/vnd.openxmlformats-officedocument.presentationml.notesSlide+xml" PartName="/ppt/notesSlides/notesSlide556.xml"/>
  <Override ContentType="application/vnd.openxmlformats-officedocument.presentationml.notesSlide+xml" PartName="/ppt/notesSlides/notesSlide242.xml"/>
  <Override ContentType="application/vnd.openxmlformats-officedocument.presentationml.notesSlide+xml" PartName="/ppt/notesSlides/notesSlide586.xml"/>
  <Override ContentType="application/vnd.openxmlformats-officedocument.presentationml.notesSlide+xml" PartName="/ppt/notesSlides/notesSlide329.xml"/>
  <Override ContentType="application/vnd.openxmlformats-officedocument.presentationml.notesSlide+xml" PartName="/ppt/notesSlides/notesSlide515.xml"/>
  <Override ContentType="application/vnd.openxmlformats-officedocument.presentationml.notesSlide+xml" PartName="/ppt/notesSlides/notesSlide290.xml"/>
  <Override ContentType="application/vnd.openxmlformats-officedocument.presentationml.notesSlide+xml" PartName="/ppt/notesSlides/notesSlide418.xml"/>
  <Override ContentType="application/vnd.openxmlformats-officedocument.presentationml.notesSlide+xml" PartName="/ppt/notesSlides/notesSlide274.xml"/>
  <Override ContentType="application/vnd.openxmlformats-officedocument.presentationml.notesSlide+xml" PartName="/ppt/notesSlides/notesSlide604.xml"/>
  <Override ContentType="application/vnd.openxmlformats-officedocument.presentationml.notesSlide+xml" PartName="/ppt/notesSlides/notesSlide84.xml"/>
  <Override ContentType="application/vnd.openxmlformats-officedocument.presentationml.notesSlide+xml" PartName="/ppt/notesSlides/notesSlide76.xml"/>
  <Override ContentType="application/vnd.openxmlformats-officedocument.presentationml.notesSlide+xml" PartName="/ppt/notesSlides/notesSlide345.xml"/>
  <Override ContentType="application/vnd.openxmlformats-officedocument.presentationml.notesSlide+xml" PartName="/ppt/notesSlides/notesSlide620.xml"/>
  <Override ContentType="application/vnd.openxmlformats-officedocument.presentationml.notesSlide+xml" PartName="/ppt/notesSlides/notesSlide442.xml"/>
  <Override ContentType="application/vnd.openxmlformats-officedocument.presentationml.notesSlide+xml" PartName="/ppt/notesSlides/notesSlide507.xml"/>
  <Override ContentType="application/vnd.openxmlformats-officedocument.presentationml.notesSlide+xml" PartName="/ppt/notesSlides/notesSlide256.xml"/>
  <Override ContentType="application/vnd.openxmlformats-officedocument.presentationml.notesSlide+xml" PartName="/ppt/notesSlides/notesSlide531.xml"/>
  <Override ContentType="application/vnd.openxmlformats-officedocument.presentationml.notesSlide+xml" PartName="/ppt/notesSlides/notesSlide541.xml"/>
  <Override ContentType="application/vnd.openxmlformats-officedocument.presentationml.notesSlide+xml" PartName="/ppt/notesSlides/notesSlide629.xml"/>
  <Override ContentType="application/vnd.openxmlformats-officedocument.presentationml.notesSlide+xml" PartName="/ppt/notesSlides/notesSlide82.xml"/>
  <Override ContentType="application/vnd.openxmlformats-officedocument.presentationml.notesSlide+xml" PartName="/ppt/notesSlides/notesSlide177.xml"/>
  <Override ContentType="application/vnd.openxmlformats-officedocument.presentationml.notesSlide+xml" PartName="/ppt/notesSlides/notesSlide363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266.xml"/>
  <Override ContentType="application/vnd.openxmlformats-officedocument.presentationml.notesSlide+xml" PartName="/ppt/notesSlides/notesSlide90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452.xml"/>
  <Override ContentType="application/vnd.openxmlformats-officedocument.presentationml.notesSlide+xml" PartName="/ppt/notesSlides/notesSlide203.xml"/>
  <Override ContentType="application/vnd.openxmlformats-officedocument.presentationml.notesSlide+xml" PartName="/ppt/notesSlides/notesSlide330.xml"/>
  <Override ContentType="application/vnd.openxmlformats-officedocument.presentationml.notesSlide+xml" PartName="/ppt/notesSlides/notesSlide564.xml"/>
  <Override ContentType="application/vnd.openxmlformats-officedocument.presentationml.notesSlide+xml" PartName="/ppt/notesSlides/notesSlide691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06.xml"/>
  <Override ContentType="application/vnd.openxmlformats-officedocument.presentationml.notesSlide+xml" PartName="/ppt/notesSlides/notesSlide99.xml"/>
  <Override ContentType="application/vnd.openxmlformats-officedocument.presentationml.notesSlide+xml" PartName="/ppt/notesSlides/notesSlide152.xml"/>
  <Override ContentType="application/vnd.openxmlformats-officedocument.presentationml.notesSlide+xml" PartName="/ppt/notesSlides/notesSlide289.xml"/>
  <Override ContentType="application/vnd.openxmlformats-officedocument.presentationml.notesSlide+xml" PartName="/ppt/notesSlides/notesSlide280.xml"/>
  <Override ContentType="application/vnd.openxmlformats-officedocument.presentationml.notesSlide+xml" PartName="/ppt/notesSlides/notesSlide183.xml"/>
  <Override ContentType="application/vnd.openxmlformats-officedocument.presentationml.notesSlide+xml" PartName="/ppt/notesSlides/notesSlide217.xml"/>
  <Override ContentType="application/vnd.openxmlformats-officedocument.presentationml.notesSlide+xml" PartName="/ppt/notesSlides/notesSlide61.xml"/>
  <Override ContentType="application/vnd.openxmlformats-officedocument.presentationml.notesSlide+xml" PartName="/ppt/notesSlides/notesSlide436.xml"/>
  <Override ContentType="application/vnd.openxmlformats-officedocument.presentationml.notesSlide+xml" PartName="/ppt/notesSlides/notesSlide167.xml"/>
  <Override ContentType="application/vnd.openxmlformats-officedocument.presentationml.notesSlide+xml" PartName="/ppt/notesSlides/notesSlide578.xml"/>
  <Override ContentType="application/vnd.openxmlformats-officedocument.presentationml.notesSlide+xml" PartName="/ppt/notesSlides/notesSlide314.xml"/>
  <Override ContentType="application/vnd.openxmlformats-officedocument.presentationml.notesSlide+xml" PartName="/ppt/notesSlides/notesSlide614.xml"/>
  <Override ContentType="application/vnd.openxmlformats-officedocument.presentationml.notesSlide+xml" PartName="/ppt/notesSlides/notesSlide675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339.xml"/>
  <Override ContentType="application/vnd.openxmlformats-officedocument.presentationml.notesSlide+xml" PartName="/ppt/notesSlides/notesSlide251.xml"/>
  <Override ContentType="application/vnd.openxmlformats-officedocument.presentationml.notesSlide+xml" PartName="/ppt/notesSlides/notesSlide467.xml"/>
  <Override ContentType="application/vnd.openxmlformats-officedocument.presentationml.notesSlide+xml" PartName="/ppt/notesSlides/notesSlide295.xml"/>
  <Override ContentType="application/vnd.openxmlformats-officedocument.presentationml.notesSlide+xml" PartName="/ppt/notesSlides/notesSlide384.xml"/>
  <Override ContentType="application/vnd.openxmlformats-officedocument.presentationml.notesSlide+xml" PartName="/ppt/notesSlides/notesSlide510.xml"/>
  <Override ContentType="application/vnd.openxmlformats-officedocument.presentationml.notesSlide+xml" PartName="/ppt/notesSlides/notesSlide324.xml"/>
  <Override ContentType="application/vnd.openxmlformats-officedocument.presentationml.notesSlide+xml" PartName="/ppt/notesSlides/notesSlide235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685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596.xml"/>
  <Override ContentType="application/vnd.openxmlformats-officedocument.presentationml.notesSlide+xml" PartName="/ppt/notesSlides/notesSlide570.xml"/>
  <Override ContentType="application/vnd.openxmlformats-officedocument.presentationml.notesSlide+xml" PartName="/ppt/notesSlides/notesSlide546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113.xml"/>
  <Override ContentType="application/vnd.openxmlformats-officedocument.presentationml.notesSlide+xml" PartName="/ppt/notesSlides/notesSlide474.xml"/>
  <Override ContentType="application/vnd.openxmlformats-officedocument.presentationml.notesSlide+xml" PartName="/ppt/notesSlides/notesSlide199.xml"/>
  <Override ContentType="application/vnd.openxmlformats-officedocument.presentationml.notesSlide+xml" PartName="/ppt/notesSlides/notesSlide457.xml"/>
  <Override ContentType="application/vnd.openxmlformats-officedocument.presentationml.notesSlide+xml" PartName="/ppt/notesSlides/notesSlide563.xml"/>
  <Override ContentType="application/vnd.openxmlformats-officedocument.presentationml.notesSlide+xml" PartName="/ppt/notesSlides/notesSlide98.xml"/>
  <Override ContentType="application/vnd.openxmlformats-officedocument.presentationml.notesSlide+xml" PartName="/ppt/notesSlides/notesSlide288.xml"/>
  <Override ContentType="application/vnd.openxmlformats-officedocument.presentationml.notesSlide+xml" PartName="/ppt/notesSlides/notesSlide579.xml"/>
  <Override ContentType="application/vnd.openxmlformats-officedocument.presentationml.notesSlide+xml" PartName="/ppt/notesSlides/notesSlide218.xml"/>
  <Override ContentType="application/vnd.openxmlformats-officedocument.presentationml.notesSlide+xml" PartName="/ppt/notesSlides/notesSlide668.xml"/>
  <Override ContentType="application/vnd.openxmlformats-officedocument.presentationml.notesSlide+xml" PartName="/ppt/notesSlides/notesSlide130.xml"/>
  <Override ContentType="application/vnd.openxmlformats-officedocument.presentationml.notesSlide+xml" PartName="/ppt/notesSlides/notesSlide580.xml"/>
  <Override ContentType="application/vnd.openxmlformats-officedocument.presentationml.notesSlide+xml" PartName="/ppt/notesSlides/notesSlide307.xml"/>
  <Override ContentType="application/vnd.openxmlformats-officedocument.presentationml.notesSlide+xml" PartName="/ppt/notesSlides/notesSlide491.xml"/>
  <Override ContentType="application/vnd.openxmlformats-officedocument.presentationml.notesSlide+xml" PartName="/ppt/notesSlides/notesSlide378.xml"/>
  <Override ContentType="application/vnd.openxmlformats-officedocument.presentationml.notesSlide+xml" PartName="/ppt/notesSlides/notesSlide636.xml"/>
  <Override ContentType="application/vnd.openxmlformats-officedocument.presentationml.notesSlide+xml" PartName="/ppt/notesSlides/notesSlide653.xml"/>
  <Override ContentType="application/vnd.openxmlformats-officedocument.presentationml.notesSlide+xml" PartName="/ppt/notesSlides/notesSlide395.xml"/>
  <Override ContentType="application/vnd.openxmlformats-officedocument.presentationml.notesSlide+xml" PartName="/ppt/notesSlides/notesSlide619.xml"/>
  <Override ContentType="application/vnd.openxmlformats-officedocument.presentationml.notesSlide+xml" PartName="/ppt/notesSlides/notesSlide670.xml"/>
  <Override ContentType="application/vnd.openxmlformats-officedocument.presentationml.notesSlide+xml" PartName="/ppt/notesSlides/notesSlide128.xml"/>
  <Override ContentType="application/vnd.openxmlformats-officedocument.presentationml.notesSlide+xml" PartName="/ppt/notesSlides/notesSlide224.xml"/>
  <Override ContentType="application/vnd.openxmlformats-officedocument.presentationml.notesSlide+xml" PartName="/ppt/notesSlides/notesSlide403.xml"/>
  <Override ContentType="application/vnd.openxmlformats-officedocument.presentationml.notesSlide+xml" PartName="/ppt/notesSlides/notesSlide241.xml"/>
  <Override ContentType="application/vnd.openxmlformats-officedocument.presentationml.notesSlide+xml" PartName="/ppt/notesSlides/notesSlide585.xml"/>
  <Override ContentType="application/vnd.openxmlformats-officedocument.presentationml.notesSlide+xml" PartName="/ppt/notesSlides/notesSlide162.xml"/>
  <Override ContentType="application/vnd.openxmlformats-officedocument.presentationml.notesSlide+xml" PartName="/ppt/notesSlides/notesSlide420.xml"/>
  <Override ContentType="application/vnd.openxmlformats-officedocument.presentationml.notesSlide+xml" PartName="/ppt/notesSlides/notesSlide508.xml"/>
  <Override ContentType="application/vnd.openxmlformats-officedocument.presentationml.notesSlide+xml" PartName="/ppt/notesSlides/notesSlide145.xml"/>
  <Override ContentType="application/vnd.openxmlformats-officedocument.presentationml.notesSlide+xml" PartName="/ppt/notesSlides/notesSlide525.xml"/>
  <Override ContentType="application/vnd.openxmlformats-officedocument.presentationml.notesSlide+xml" PartName="/ppt/notesSlides/notesSlide83.xml"/>
  <Override ContentType="application/vnd.openxmlformats-officedocument.presentationml.notesSlide+xml" PartName="/ppt/notesSlides/notesSlide489.xml"/>
  <Override ContentType="application/vnd.openxmlformats-officedocument.presentationml.notesSlide+xml" PartName="/ppt/notesSlides/notesSlide66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611.xml"/>
  <Override ContentType="application/vnd.openxmlformats-officedocument.presentationml.notesSlide+xml" PartName="/ppt/notesSlides/notesSlide240.xml"/>
  <Override ContentType="application/vnd.openxmlformats-officedocument.presentationml.notesSlide+xml" PartName="/ppt/notesSlides/notesSlide425.xml"/>
  <Override ContentType="application/vnd.openxmlformats-officedocument.presentationml.notesSlide+xml" PartName="/ppt/notesSlides/notesSlide557.xml"/>
  <Override ContentType="application/vnd.openxmlformats-officedocument.presentationml.notesSlide+xml" PartName="/ppt/notesSlides/notesSlide283.xml"/>
  <Override ContentType="application/vnd.openxmlformats-officedocument.presentationml.notesSlide+xml" PartName="/ppt/notesSlides/notesSlide461.xml"/>
  <Override ContentType="application/vnd.openxmlformats-officedocument.presentationml.notesSlide+xml" PartName="/ppt/notesSlides/notesSlide232.xml"/>
  <Override ContentType="application/vnd.openxmlformats-officedocument.presentationml.notesSlide+xml" PartName="/ppt/notesSlides/notesSlide275.xml"/>
  <Override ContentType="application/vnd.openxmlformats-officedocument.presentationml.notesSlide+xml" PartName="/ppt/notesSlides/notesSlide380.xml"/>
  <Override ContentType="application/vnd.openxmlformats-officedocument.presentationml.notesSlide+xml" PartName="/ppt/notesSlides/notesSlide514.xml"/>
  <Override ContentType="application/vnd.openxmlformats-officedocument.presentationml.notesSlide+xml" PartName="/ppt/notesSlides/notesSlide328.xml"/>
  <Override ContentType="application/vnd.openxmlformats-officedocument.presentationml.notesSlide+xml" PartName="/ppt/notesSlides/notesSlide549.xml"/>
  <Override ContentType="application/vnd.openxmlformats-officedocument.presentationml.notesSlide+xml" PartName="/ppt/notesSlides/notesSlide506.xml"/>
  <Override ContentType="application/vnd.openxmlformats-officedocument.presentationml.notesSlide+xml" PartName="/ppt/notesSlides/notesSlide690.xml"/>
  <Override ContentType="application/vnd.openxmlformats-officedocument.presentationml.notesSlide+xml" PartName="/ppt/notesSlides/notesSlide360.xml"/>
  <Override ContentType="application/vnd.openxmlformats-officedocument.presentationml.notesSlide+xml" PartName="/ppt/notesSlides/notesSlide534.xml"/>
  <Override ContentType="application/vnd.openxmlformats-officedocument.presentationml.notesSlide+xml" PartName="/ppt/notesSlides/notesSlide73.xml"/>
  <Override ContentType="application/vnd.openxmlformats-officedocument.presentationml.notesSlide+xml" PartName="/ppt/notesSlides/notesSlide119.xml"/>
  <Override ContentType="application/vnd.openxmlformats-officedocument.presentationml.notesSlide+xml" PartName="/ppt/notesSlides/notesSlide81.xml"/>
  <Override ContentType="application/vnd.openxmlformats-officedocument.presentationml.notesSlide+xml" PartName="/ppt/notesSlides/notesSlide182.xml"/>
  <Override ContentType="application/vnd.openxmlformats-officedocument.presentationml.notesSlide+xml" PartName="/ppt/notesSlides/notesSlide577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313.xml"/>
  <Override ContentType="application/vnd.openxmlformats-officedocument.presentationml.notesSlide+xml" PartName="/ppt/notesSlides/notesSlide453.xml"/>
  <Override ContentType="application/vnd.openxmlformats-officedocument.presentationml.notesSlide+xml" PartName="/ppt/notesSlides/notesSlide399.xml"/>
  <Override ContentType="application/vnd.openxmlformats-officedocument.presentationml.notesSlide+xml" PartName="/ppt/notesSlides/notesSlide410.xml"/>
  <Override ContentType="application/vnd.openxmlformats-officedocument.presentationml.notesSlide+xml" PartName="/ppt/notesSlides/notesSlide69.xml"/>
  <Override ContentType="application/vnd.openxmlformats-officedocument.presentationml.notesSlide+xml" PartName="/ppt/notesSlides/notesSlide356.xml"/>
  <Override ContentType="application/vnd.openxmlformats-officedocument.presentationml.notesSlide+xml" PartName="/ppt/notesSlides/notesSlide496.xml"/>
  <Override ContentType="application/vnd.openxmlformats-officedocument.presentationml.notesSlide+xml" PartName="/ppt/notesSlides/notesSlide581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468.xml"/>
  <Override ContentType="application/vnd.openxmlformats-officedocument.presentationml.notesSlide+xml" PartName="/ppt/notesSlides/notesSlide204.xml"/>
  <Override ContentType="application/vnd.openxmlformats-officedocument.presentationml.notesSlide+xml" PartName="/ppt/notesSlides/notesSlide247.xml"/>
  <Override ContentType="application/vnd.openxmlformats-officedocument.presentationml.notesSlide+xml" PartName="/ppt/notesSlides/notesSlide441.xml"/>
  <Override ContentType="application/vnd.openxmlformats-officedocument.presentationml.notesSlide+xml" PartName="/ppt/notesSlides/notesSlide484.xml"/>
  <Override ContentType="application/vnd.openxmlformats-officedocument.presentationml.notesSlide+xml" PartName="/ppt/notesSlides/notesSlide662.xml"/>
  <Override ContentType="application/vnd.openxmlformats-officedocument.presentationml.notesSlide+xml" PartName="/ppt/notesSlides/notesSlide227.xml"/>
  <Override ContentType="application/vnd.openxmlformats-officedocument.presentationml.notesSlide+xml" PartName="/ppt/notesSlides/notesSlide54.xml"/>
  <Override ContentType="application/vnd.openxmlformats-officedocument.presentationml.notesSlide+xml" PartName="/ppt/notesSlides/notesSlide198.xml"/>
  <Override ContentType="application/vnd.openxmlformats-officedocument.presentationml.notesSlide+xml" PartName="/ppt/notesSlides/notesSlide456.xml"/>
  <Override ContentType="application/vnd.openxmlformats-officedocument.presentationml.notesSlide+xml" PartName="/ppt/notesSlides/notesSlide481.xml"/>
  <Override ContentType="application/vnd.openxmlformats-officedocument.presentationml.notesSlide+xml" PartName="/ppt/notesSlides/notesSlide112.xml"/>
  <Override ContentType="application/vnd.openxmlformats-officedocument.presentationml.notesSlide+xml" PartName="/ppt/notesSlides/notesSlide103.xml"/>
  <Override ContentType="application/vnd.openxmlformats-officedocument.presentationml.notesSlide+xml" PartName="/ppt/notesSlides/notesSlide97.xml"/>
  <Override ContentType="application/vnd.openxmlformats-officedocument.presentationml.notesSlide+xml" PartName="/ppt/notesSlides/notesSlide155.xml"/>
  <Override ContentType="application/vnd.openxmlformats-officedocument.presentationml.notesSlide+xml" PartName="/ppt/notesSlides/notesSlide499.xml"/>
  <Override ContentType="application/vnd.openxmlformats-officedocument.presentationml.notesSlide+xml" PartName="/ppt/notesSlides/notesSlide189.xml"/>
  <Override ContentType="application/vnd.openxmlformats-officedocument.presentationml.notesSlide+xml" PartName="/ppt/notesSlides/notesSlide626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375.xml"/>
  <Override ContentType="application/vnd.openxmlformats-officedocument.presentationml.notesSlide+xml" PartName="/ppt/notesSlides/notesSlide89.xml"/>
  <Override ContentType="application/vnd.openxmlformats-officedocument.presentationml.notesSlide+xml" PartName="/ppt/notesSlides/notesSlide146.xml"/>
  <Override ContentType="application/vnd.openxmlformats-officedocument.presentationml.notesSlide+xml" PartName="/ppt/notesSlides/notesSlide219.xml"/>
  <Override ContentType="application/vnd.openxmlformats-officedocument.presentationml.notesSlide+xml" PartName="/ppt/notesSlides/notesSlide669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332.xml"/>
  <Override ContentType="application/vnd.openxmlformats-officedocument.presentationml.notesSlide+xml" PartName="/ppt/notesSlides/notesSlide511.xml"/>
  <Override ContentType="application/vnd.openxmlformats-officedocument.presentationml.notesSlide+xml" PartName="/ppt/notesSlides/notesSlide325.xml"/>
  <Override ContentType="application/vnd.openxmlformats-officedocument.presentationml.notesSlide+xml" PartName="/ppt/notesSlides/notesSlide368.xml"/>
  <Override ContentType="application/vnd.openxmlformats-officedocument.presentationml.notesSlide+xml" PartName="/ppt/notesSlides/notesSlide607.xml"/>
  <Override ContentType="application/vnd.openxmlformats-officedocument.presentationml.notesSlide+xml" PartName="/ppt/notesSlides/notesSlide597.xml"/>
  <Override ContentType="application/vnd.openxmlformats-officedocument.presentationml.notesSlide+xml" PartName="/ppt/notesSlides/notesSlide554.xml"/>
  <Override ContentType="application/vnd.openxmlformats-officedocument.presentationml.notesSlide+xml" PartName="/ppt/notesSlides/notesSlide562.xml"/>
  <Override ContentType="application/vnd.openxmlformats-officedocument.presentationml.notesSlide+xml" PartName="/ppt/notesSlides/notesSlide413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131.xml"/>
  <Override ContentType="application/vnd.openxmlformats-officedocument.presentationml.notesSlide+xml" PartName="/ppt/notesSlides/notesSlide569.xml"/>
  <Override ContentType="application/vnd.openxmlformats-officedocument.presentationml.notesSlide+xml" PartName="/ppt/notesSlides/notesSlide127.xml"/>
  <Override ContentType="application/vnd.openxmlformats-officedocument.presentationml.notesSlide+xml" PartName="/ppt/notesSlides/notesSlide526.xml"/>
  <Override ContentType="application/vnd.openxmlformats-officedocument.presentationml.notesSlide+xml" PartName="/ppt/notesSlides/notesSlide682.xml"/>
  <Override ContentType="application/vnd.openxmlformats-officedocument.presentationml.notesSlide+xml" PartName="/ppt/notesSlides/notesSlide174.xml"/>
  <Override ContentType="application/vnd.openxmlformats-officedocument.presentationml.notesSlide+xml" PartName="/ppt/notesSlides/notesSlide347.xml"/>
  <Override ContentType="application/vnd.openxmlformats-officedocument.presentationml.notesSlide+xml" PartName="/ppt/notesSlides/notesSlide654.xml"/>
  <Override ContentType="application/vnd.openxmlformats-officedocument.presentationml.notesSlide+xml" PartName="/ppt/notesSlides/notesSlide678.xml"/>
  <Override ContentType="application/vnd.openxmlformats-officedocument.presentationml.notesSlide+xml" PartName="/ppt/notesSlides/notesSlide304.xml"/>
  <Override ContentType="application/vnd.openxmlformats-officedocument.presentationml.notesSlide+xml" PartName="/ppt/notesSlides/notesSlide396.xml"/>
  <Override ContentType="application/vnd.openxmlformats-officedocument.presentationml.notesSlide+xml" PartName="/ppt/notesSlides/notesSlide635.xml"/>
  <Override ContentType="application/vnd.openxmlformats-officedocument.presentationml.notesSlide+xml" PartName="/ppt/notesSlides/notesSlide310.xml"/>
  <Override ContentType="application/vnd.openxmlformats-officedocument.presentationml.notesSlide+xml" PartName="/ppt/notesSlides/notesSlide340.xml"/>
  <Override ContentType="application/vnd.openxmlformats-officedocument.presentationml.notesSlide+xml" PartName="/ppt/notesSlides/notesSlide697.xml"/>
  <Override ContentType="application/vnd.openxmlformats-officedocument.presentationml.notesSlide+xml" PartName="/ppt/notesSlides/notesSlide353.xml"/>
  <Override ContentType="application/vnd.openxmlformats-officedocument.presentationml.notesSlide+xml" PartName="/ppt/notesSlides/notesSlide590.xml"/>
  <Override ContentType="application/vnd.openxmlformats-officedocument.presentationml.notesSlide+xml" PartName="/ppt/notesSlides/notesSlide255.xml"/>
  <Override ContentType="application/vnd.openxmlformats-officedocument.presentationml.notesSlide+xml" PartName="/ppt/notesSlides/notesSlide428.xml"/>
  <Override ContentType="application/vnd.openxmlformats-officedocument.presentationml.notesSlide+xml" PartName="/ppt/notesSlides/notesSlide212.xml"/>
  <Override ContentType="application/vnd.openxmlformats-officedocument.presentationml.notesSlide+xml" PartName="/ppt/notesSlides/notesSlide298.xml"/>
  <Override ContentType="application/vnd.openxmlformats-officedocument.presentationml.notesSlide+xml" PartName="/ppt/notesSlides/notesSlide383.xml"/>
  <Override ContentType="application/vnd.openxmlformats-officedocument.presentationml.notesSlide+xml" PartName="/ppt/notesSlides/notesSlide282.xml"/>
  <Override ContentType="application/vnd.openxmlformats-officedocument.presentationml.notesSlide+xml" PartName="/ppt/notesSlides/notesSlide655.xml"/>
  <Override ContentType="application/vnd.openxmlformats-officedocument.presentationml.notesSlide+xml" PartName="/ppt/notesSlides/notesSlide248.xml"/>
  <Override ContentType="application/vnd.openxmlformats-officedocument.presentationml.notesSlide+xml" PartName="/ppt/notesSlides/notesSlide698.xml"/>
  <Override ContentType="application/vnd.openxmlformats-officedocument.presentationml.notesSlide+xml" PartName="/ppt/notesSlides/notesSlide477.xml"/>
  <Override ContentType="application/vnd.openxmlformats-officedocument.presentationml.notesSlide+xml" PartName="/ppt/notesSlides/notesSlide434.xml"/>
  <Override ContentType="application/vnd.openxmlformats-officedocument.presentationml.notesSlide+xml" PartName="/ppt/notesSlides/notesSlide460.xml"/>
  <Override ContentType="application/vnd.openxmlformats-officedocument.presentationml.notesSlide+xml" PartName="/ppt/notesSlides/notesSlide576.xml"/>
  <Override ContentType="application/vnd.openxmlformats-officedocument.presentationml.notesSlide+xml" PartName="/ppt/notesSlides/notesSlide126.xml"/>
  <Override ContentType="application/vnd.openxmlformats-officedocument.presentationml.notesSlide+xml" PartName="/ppt/notesSlides/notesSlide68.xml"/>
  <Override ContentType="application/vnd.openxmlformats-officedocument.presentationml.notesSlide+xml" PartName="/ppt/notesSlides/notesSlide355.xml"/>
  <Override ContentType="application/vnd.openxmlformats-officedocument.presentationml.notesSlide+xml" PartName="/ppt/notesSlides/notesSlide312.xml"/>
  <Override ContentType="application/vnd.openxmlformats-officedocument.presentationml.notesSlide+xml" PartName="/ppt/notesSlides/notesSlide169.xml"/>
  <Override ContentType="application/vnd.openxmlformats-officedocument.presentationml.notesSlide+xml" PartName="/ppt/notesSlides/notesSlide205.xml"/>
  <Override ContentType="application/vnd.openxmlformats-officedocument.presentationml.notesSlide+xml" PartName="/ppt/notesSlides/notesSlide381.xml"/>
  <Override ContentType="application/vnd.openxmlformats-officedocument.presentationml.notesSlide+xml" PartName="/ppt/notesSlides/notesSlide398.xml"/>
  <Override ContentType="application/vnd.openxmlformats-officedocument.presentationml.notesSlide+xml" PartName="/ppt/notesSlides/notesSlide469.xml"/>
  <Override ContentType="application/vnd.openxmlformats-officedocument.presentationml.notesSlide+xml" PartName="/ppt/notesSlides/notesSlide426.xml"/>
  <Override ContentType="application/vnd.openxmlformats-officedocument.presentationml.notesSlide+xml" PartName="/ppt/notesSlides/notesSlide612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60.xml"/>
  <Override ContentType="application/vnd.openxmlformats-officedocument.presentationml.notesSlide+xml" PartName="/ppt/notesSlides/notesSlide276.xml"/>
  <Override ContentType="application/vnd.openxmlformats-officedocument.presentationml.notesSlide+xml" PartName="/ppt/notesSlides/notesSlide661.xml"/>
  <Override ContentType="application/vnd.openxmlformats-officedocument.presentationml.notesSlide+xml" PartName="/ppt/notesSlides/notesSlide497.xml"/>
  <Override ContentType="application/vnd.openxmlformats-officedocument.presentationml.notesSlide+xml" PartName="/ppt/notesSlides/notesSlide233.xml"/>
  <Override ContentType="application/vnd.openxmlformats-officedocument.presentationml.notesSlide+xml" PartName="/ppt/notesSlides/notesSlide327.xml"/>
  <Override ContentType="application/vnd.openxmlformats-officedocument.presentationml.notesSlide+xml" PartName="/ppt/notesSlides/notesSlide548.xml"/>
  <Override ContentType="application/vnd.openxmlformats-officedocument.presentationml.notesSlide+xml" PartName="/ppt/notesSlides/notesSlide483.xml"/>
  <Override ContentType="application/vnd.openxmlformats-officedocument.presentationml.notesSlide+xml" PartName="/ppt/notesSlides/notesSlide440.xml"/>
  <Override ContentType="application/vnd.openxmlformats-officedocument.presentationml.notesSlide+xml" PartName="/ppt/notesSlides/notesSlide505.xml"/>
  <Override ContentType="application/vnd.openxmlformats-officedocument.presentationml.notesSlide+xml" PartName="/ppt/notesSlides/notesSlide533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80.xml"/>
  <Override ContentType="application/vnd.openxmlformats-officedocument.presentationml.notesSlide+xml" PartName="/ppt/notesSlides/notesSlide449.xml"/>
  <Override ContentType="application/vnd.openxmlformats-officedocument.presentationml.notesSlide+xml" PartName="/ppt/notesSlides/notesSlide361.xml"/>
  <Override ContentType="application/vnd.openxmlformats-officedocument.presentationml.notesSlide+xml" PartName="/ppt/notesSlides/notesSlide582.xml"/>
  <Override ContentType="application/vnd.openxmlformats-officedocument.presentationml.notesSlide+xml" PartName="/ppt/notesSlides/notesSlide74.xml"/>
  <Override ContentType="application/vnd.openxmlformats-officedocument.presentationml.notesSlide+xml" PartName="/ppt/notesSlides/notesSlide197.xml"/>
  <Override ContentType="application/vnd.openxmlformats-officedocument.presentationml.notesSlide+xml" PartName="/ppt/notesSlides/notesSlide406.xml"/>
  <Override ContentType="application/vnd.openxmlformats-officedocument.presentationml.notesSlide+xml" PartName="/ppt/notesSlides/notesSlide15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54.xml"/>
  <Override ContentType="application/vnd.openxmlformats-officedocument.presentationml.notesSlide+xml" PartName="/ppt/notesSlides/notesSlide627.xml"/>
  <Override ContentType="application/vnd.openxmlformats-officedocument.presentationml.notesSlide+xml" PartName="/ppt/notesSlides/notesSlide411.xml"/>
  <Override ContentType="application/vnd.openxmlformats-officedocument.presentationml.notesSlide+xml" PartName="/ppt/notesSlides/notesSlide260.xml"/>
  <Override ContentType="application/vnd.openxmlformats-officedocument.presentationml.notesSlide+xml" PartName="/ppt/notesSlides/notesSlide448.xml"/>
  <Override ContentType="application/vnd.openxmlformats-officedocument.presentationml.notesSlide+xml" PartName="/ppt/notesSlides/notesSlide634.xml"/>
  <Override ContentType="application/vnd.openxmlformats-officedocument.presentationml.notesSlide+xml" PartName="/ppt/notesSlides/notesSlide405.xml"/>
  <Override ContentType="application/vnd.openxmlformats-officedocument.presentationml.notesSlide+xml" PartName="/ppt/notesSlides/notesSlide111.xml"/>
  <Override ContentType="application/vnd.openxmlformats-officedocument.presentationml.notesSlide+xml" PartName="/ppt/notesSlides/notesSlide561.xml"/>
  <Override ContentType="application/vnd.openxmlformats-officedocument.presentationml.notesSlide+xml" PartName="/ppt/notesSlides/notesSlide226.xml"/>
  <Override ContentType="application/vnd.openxmlformats-officedocument.presentationml.notesSlide+xml" PartName="/ppt/notesSlides/notesSlide269.xml"/>
  <Override ContentType="application/vnd.openxmlformats-officedocument.presentationml.notesSlide+xml" PartName="/ppt/notesSlides/notesSlide706.xml"/>
  <Override ContentType="application/vnd.openxmlformats-officedocument.presentationml.notesSlide+xml" PartName="/ppt/notesSlides/notesSlide412.xml"/>
  <Override ContentType="application/vnd.openxmlformats-officedocument.presentationml.notesSlide+xml" PartName="/ppt/notesSlides/notesSlide181.xml"/>
  <Override ContentType="application/vnd.openxmlformats-officedocument.presentationml.notesSlide+xml" PartName="/ppt/notesSlides/notesSlide527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482.xml"/>
  <Override ContentType="application/vnd.openxmlformats-officedocument.presentationml.notesSlide+xml" PartName="/ppt/notesSlides/notesSlide104.xml"/>
  <Override ContentType="application/vnd.openxmlformats-officedocument.presentationml.notesSlide+xml" PartName="/ppt/notesSlides/notesSlide147.xml"/>
  <Override ContentType="application/vnd.openxmlformats-officedocument.presentationml.notesSlide+xml" PartName="/ppt/notesSlides/notesSlide376.xml"/>
  <Override ContentType="application/vnd.openxmlformats-officedocument.presentationml.notesSlide+xml" PartName="/ppt/notesSlides/notesSlide677.xml"/>
  <Override ContentType="application/vnd.openxmlformats-officedocument.presentationml.notesSlide+xml" PartName="/ppt/notesSlides/notesSlide333.xml"/>
  <Override ContentType="application/vnd.openxmlformats-officedocument.presentationml.notesSlide+xml" PartName="/ppt/notesSlides/notesSlide305.xml"/>
  <Override ContentType="application/vnd.openxmlformats-officedocument.presentationml.notesSlide+xml" PartName="/ppt/notesSlides/notesSlide606.xml"/>
  <Override ContentType="application/vnd.openxmlformats-officedocument.presentationml.notesSlide+xml" PartName="/ppt/notesSlides/notesSlide683.xml"/>
  <Override ContentType="application/vnd.openxmlformats-officedocument.presentationml.notesSlide+xml" PartName="/ppt/notesSlides/notesSlide512.xml"/>
  <Override ContentType="application/vnd.openxmlformats-officedocument.presentationml.notesSlide+xml" PartName="/ppt/notesSlides/notesSlide297.xml"/>
  <Override ContentType="application/vnd.openxmlformats-officedocument.presentationml.notesSlide+xml" PartName="/ppt/notesSlides/notesSlide382.xml"/>
  <Override ContentType="application/vnd.openxmlformats-officedocument.presentationml.notesSlide+xml" PartName="/ppt/notesSlides/notesSlide555.xml"/>
  <Override ContentType="application/vnd.openxmlformats-officedocument.presentationml.notesSlide+xml" PartName="/ppt/notesSlides/notesSlide211.xml"/>
  <Override ContentType="application/vnd.openxmlformats-officedocument.presentationml.notesSlide+xml" PartName="/ppt/notesSlides/notesSlide598.xml"/>
  <Override ContentType="application/vnd.openxmlformats-officedocument.presentationml.notesSlide+xml" PartName="/ppt/notesSlides/notesSlide254.xml"/>
  <Override ContentType="application/vnd.openxmlformats-officedocument.presentationml.notesSlide+xml" PartName="/ppt/notesSlides/notesSlide132.xml"/>
  <Override ContentType="application/vnd.openxmlformats-officedocument.presentationml.notesSlide+xml" PartName="/ppt/notesSlides/notesSlide433.xml"/>
  <Override ContentType="application/vnd.openxmlformats-officedocument.presentationml.notesSlide+xml" PartName="/ppt/notesSlides/notesSlide9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53.xml"/>
  <Override ContentType="application/vnd.openxmlformats-officedocument.presentationml.notesSlide+xml" PartName="/ppt/notesSlides/notesSlide476.xml"/>
  <Override ContentType="application/vnd.openxmlformats-officedocument.presentationml.notesSlide+xml" PartName="/ppt/notesSlides/notesSlide640.xml"/>
  <Override ContentType="application/vnd.openxmlformats-officedocument.presentationml.notesSlide+xml" PartName="/ppt/notesSlides/notesSlide649.xml"/>
  <Override ContentType="application/vnd.openxmlformats-officedocument.presentationml.notesSlide+xml" PartName="/ppt/notesSlides/notesSlide175.xml"/>
  <Override ContentType="application/vnd.openxmlformats-officedocument.presentationml.notesSlide+xml" PartName="/ppt/notesSlides/notesSlide348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+xml" PartName="/ppt/slides/slide164.xml"/>
  <Override ContentType="application/vnd.openxmlformats-officedocument.presentationml.slide+xml" PartName="/ppt/slides/slide253.xml"/>
  <Override ContentType="application/vnd.openxmlformats-officedocument.presentationml.slide+xml" PartName="/ppt/slides/slide43.xml"/>
  <Override ContentType="application/vnd.openxmlformats-officedocument.presentationml.slide+xml" PartName="/ppt/slides/slide350.xml"/>
  <Override ContentType="application/vnd.openxmlformats-officedocument.presentationml.slide+xml" PartName="/ppt/slides/slide35.xml"/>
  <Override ContentType="application/vnd.openxmlformats-officedocument.presentationml.slide+xml" PartName="/ppt/slides/slide334.xml"/>
  <Override ContentType="application/vnd.openxmlformats-officedocument.presentationml.slide+xml" PartName="/ppt/slides/slide148.xml"/>
  <Override ContentType="application/vnd.openxmlformats-officedocument.presentationml.slide+xml" PartName="/ppt/slides/slide598.xml"/>
  <Override ContentType="application/vnd.openxmlformats-officedocument.presentationml.slide+xml" PartName="/ppt/slides/slide172.xml"/>
  <Override ContentType="application/vnd.openxmlformats-officedocument.presentationml.slide+xml" PartName="/ppt/slides/slide423.xml"/>
  <Override ContentType="application/vnd.openxmlformats-officedocument.presentationml.slide+xml" PartName="/ppt/slides/slide19.xml"/>
  <Override ContentType="application/vnd.openxmlformats-officedocument.presentationml.slide+xml" PartName="/ppt/slides/slide326.xml"/>
  <Override ContentType="application/vnd.openxmlformats-officedocument.presentationml.slide+xml" PartName="/ppt/slides/slide512.xml"/>
  <Override ContentType="application/vnd.openxmlformats-officedocument.presentationml.slide+xml" PartName="/ppt/slides/slide687.xml"/>
  <Override ContentType="application/vnd.openxmlformats-officedocument.presentationml.slide+xml" PartName="/ppt/slides/slide237.xml"/>
  <Override ContentType="application/vnd.openxmlformats-officedocument.presentationml.slide+xml" PartName="/ppt/slides/slide261.xml"/>
  <Override ContentType="application/vnd.openxmlformats-officedocument.presentationml.slide+xml" PartName="/ppt/slides/slide519.xml"/>
  <Override ContentType="application/vnd.openxmlformats-officedocument.presentationml.slide+xml" PartName="/ppt/slides/slide520.xml"/>
  <Override ContentType="application/vnd.openxmlformats-officedocument.presentationml.slide+xml" PartName="/ppt/slides/slide705.xml"/>
  <Override ContentType="application/vnd.openxmlformats-officedocument.presentationml.slide+xml" PartName="/ppt/slides/slide51.xml"/>
  <Override ContentType="application/vnd.openxmlformats-officedocument.presentationml.slide+xml" PartName="/ppt/slides/slide245.xml"/>
  <Override ContentType="application/vnd.openxmlformats-officedocument.presentationml.slide+xml" PartName="/ppt/slides/slide695.xml"/>
  <Override ContentType="application/vnd.openxmlformats-officedocument.presentationml.slide+xml" PartName="/ppt/slides/slide342.xml"/>
  <Override ContentType="application/vnd.openxmlformats-officedocument.presentationml.slide+xml" PartName="/ppt/slides/slide431.xml"/>
  <Override ContentType="application/vnd.openxmlformats-officedocument.presentationml.slide+xml" PartName="/ppt/slides/slide608.xml"/>
  <Override ContentType="application/vnd.openxmlformats-officedocument.presentationml.slide+xml" PartName="/ppt/slides/slide156.xml"/>
  <Override ContentType="application/vnd.openxmlformats-officedocument.presentationml.slide+xml" PartName="/ppt/slides/slide535.xml"/>
  <Override ContentType="application/vnd.openxmlformats-officedocument.presentationml.slide+xml" PartName="/ppt/slides/slide438.xml"/>
  <Override ContentType="application/vnd.openxmlformats-officedocument.presentationml.slide+xml" PartName="/ppt/slides/slide454.xml"/>
  <Override ContentType="application/vnd.openxmlformats-officedocument.presentationml.slide+xml" PartName="/ppt/slides/slide179.xml"/>
  <Override ContentType="application/vnd.openxmlformats-officedocument.presentationml.slide+xml" PartName="/ppt/slides/slide616.xml"/>
  <Override ContentType="application/vnd.openxmlformats-officedocument.presentationml.slide+xml" PartName="/ppt/slides/slide276.xml"/>
  <Override ContentType="application/vnd.openxmlformats-officedocument.presentationml.slide+xml" PartName="/ppt/slides/slide551.xml"/>
  <Override ContentType="application/vnd.openxmlformats-officedocument.presentationml.slide+xml" PartName="/ppt/slides/slide504.xml"/>
  <Override ContentType="application/vnd.openxmlformats-officedocument.presentationml.slide+xml" PartName="/ppt/slides/slide680.xml"/>
  <Override ContentType="application/vnd.openxmlformats-officedocument.presentationml.slide+xml" PartName="/ppt/slides/slide66.xml"/>
  <Override ContentType="application/vnd.openxmlformats-officedocument.presentationml.slide+xml" PartName="/ppt/slides/slide583.xml"/>
  <Override ContentType="application/vnd.openxmlformats-officedocument.presentationml.slide+xml" PartName="/ppt/slides/slide601.xml"/>
  <Override ContentType="application/vnd.openxmlformats-officedocument.presentationml.slide+xml" PartName="/ppt/slides/slide229.xml"/>
  <Override ContentType="application/vnd.openxmlformats-officedocument.presentationml.slide+xml" PartName="/ppt/slides/slide357.xml"/>
  <Override ContentType="application/vnd.openxmlformats-officedocument.presentationml.slide+xml" PartName="/ppt/slides/slide141.xml"/>
  <Override ContentType="application/vnd.openxmlformats-officedocument.presentationml.slide+xml" PartName="/ppt/slides/slide407.xml"/>
  <Override ContentType="application/vnd.openxmlformats-officedocument.presentationml.slide+xml" PartName="/ppt/slides/slide632.xml"/>
  <Override ContentType="application/vnd.openxmlformats-officedocument.presentationml.slide+xml" PartName="/ppt/slides/slide648.xml"/>
  <Override ContentType="application/vnd.openxmlformats-officedocument.presentationml.slide+xml" PartName="/ppt/slides/slide656.xml"/>
  <Override ContentType="application/vnd.openxmlformats-officedocument.presentationml.slide+xml" PartName="/ppt/slides/slide82.xml"/>
  <Override ContentType="application/vnd.openxmlformats-officedocument.presentationml.slide+xml" PartName="/ppt/slides/slide639.xml"/>
  <Override ContentType="application/vnd.openxmlformats-officedocument.presentationml.slide+xml" PartName="/ppt/slides/slide575.xml"/>
  <Override ContentType="application/vnd.openxmlformats-officedocument.presentationml.slide+xml" PartName="/ppt/slides/slide486.xml"/>
  <Override ContentType="application/vnd.openxmlformats-officedocument.presentationml.slide+xml" PartName="/ppt/slides/slide9.xml"/>
  <Override ContentType="application/vnd.openxmlformats-officedocument.presentationml.slide+xml" PartName="/ppt/slides/slide12.xml"/>
  <Override ContentType="application/vnd.openxmlformats-officedocument.presentationml.slide+xml" PartName="/ppt/slides/slide108.xml"/>
  <Override ContentType="application/vnd.openxmlformats-officedocument.presentationml.slide+xml" PartName="/ppt/slides/slide469.xml"/>
  <Override ContentType="application/vnd.openxmlformats-officedocument.presentationml.slide+xml" PartName="/ppt/slides/slide470.xml"/>
  <Override ContentType="application/vnd.openxmlformats-officedocument.presentationml.slide+xml" PartName="/ppt/slides/slide187.xml"/>
  <Override ContentType="application/vnd.openxmlformats-officedocument.presentationml.slide+xml" PartName="/ppt/slides/slide558.xml"/>
  <Override ContentType="application/vnd.openxmlformats-officedocument.presentationml.slide+xml" PartName="/ppt/slides/slide98.xml"/>
  <Override ContentType="application/vnd.openxmlformats-officedocument.presentationml.slide+xml" PartName="/ppt/slides/slide125.xml"/>
  <Override ContentType="application/vnd.openxmlformats-officedocument.presentationml.slide+xml" PartName="/ppt/slides/slide20.xml"/>
  <Override ContentType="application/vnd.openxmlformats-officedocument.presentationml.slide+xml" PartName="/ppt/slides/slide400.xml"/>
  <Override ContentType="application/vnd.openxmlformats-officedocument.presentationml.slide+xml" PartName="/ppt/slides/slide214.xml"/>
  <Override ContentType="application/vnd.openxmlformats-officedocument.presentationml.slide+xml" PartName="/ppt/slides/slide206.xml"/>
  <Override ContentType="application/vnd.openxmlformats-officedocument.presentationml.slide+xml" PartName="/ppt/slides/slide381.xml"/>
  <Override ContentType="application/vnd.openxmlformats-officedocument.presentationml.slide+xml" PartName="/ppt/slides/slide195.xml"/>
  <Override ContentType="application/vnd.openxmlformats-officedocument.presentationml.slide+xml" PartName="/ppt/slides/slide567.xml"/>
  <Override ContentType="application/vnd.openxmlformats-officedocument.presentationml.slide+xml" PartName="/ppt/slides/slide560.xml"/>
  <Override ContentType="application/vnd.openxmlformats-officedocument.presentationml.slide+xml" PartName="/ppt/slides/slide590.xml"/>
  <Override ContentType="application/vnd.openxmlformats-officedocument.presentationml.slide+xml" PartName="/ppt/slides/slide624.xml"/>
  <Override ContentType="application/vnd.openxmlformats-officedocument.presentationml.slide+xml" PartName="/ppt/slides/slide59.xml"/>
  <Override ContentType="application/vnd.openxmlformats-officedocument.presentationml.slide+xml" PartName="/ppt/slides/slide285.xml"/>
  <Override ContentType="application/vnd.openxmlformats-officedocument.presentationml.slide+xml" PartName="/ppt/slides/slide89.xml"/>
  <Override ContentType="application/vnd.openxmlformats-officedocument.presentationml.slide+xml" PartName="/ppt/slides/slide349.xml"/>
  <Override ContentType="application/vnd.openxmlformats-officedocument.presentationml.slide+xml" PartName="/ppt/slides/slide477.xml"/>
  <Override ContentType="application/vnd.openxmlformats-officedocument.presentationml.slide+xml" PartName="/ppt/slides/slide101.xml"/>
  <Override ContentType="application/vnd.openxmlformats-officedocument.presentationml.slide+xml" PartName="/ppt/slides/slide116.xml"/>
  <Override ContentType="application/vnd.openxmlformats-officedocument.presentationml.slide+xml" PartName="/ppt/slides/slide462.xml"/>
  <Override ContentType="application/vnd.openxmlformats-officedocument.presentationml.slide+xml" PartName="/ppt/slides/slide447.xml"/>
  <Override ContentType="application/vnd.openxmlformats-officedocument.presentationml.slide+xml" PartName="/ppt/slides/slide133.xml"/>
  <Override ContentType="application/vnd.openxmlformats-officedocument.presentationml.slide+xml" PartName="/ppt/slides/slide494.xml"/>
  <Override ContentType="application/vnd.openxmlformats-officedocument.presentationml.slide+xml" PartName="/ppt/slides/slide91.xml"/>
  <Override ContentType="application/vnd.openxmlformats-officedocument.presentationml.slide+xml" PartName="/ppt/slides/slide415.xml"/>
  <Override ContentType="application/vnd.openxmlformats-officedocument.presentationml.slide+xml" PartName="/ppt/slides/slide74.xml"/>
  <Override ContentType="application/vnd.openxmlformats-officedocument.presentationml.slide+xml" PartName="/ppt/slides/slide268.xml"/>
  <Override ContentType="application/vnd.openxmlformats-officedocument.presentationml.slide+xml" PartName="/ppt/slides/slide27.xml"/>
  <Override ContentType="application/vnd.openxmlformats-officedocument.presentationml.slide+xml" PartName="/ppt/slides/slide641.xml"/>
  <Override ContentType="application/vnd.openxmlformats-officedocument.presentationml.slide+xml" PartName="/ppt/slides/slide2.xml"/>
  <Override ContentType="application/vnd.openxmlformats-officedocument.presentationml.slide+xml" PartName="/ppt/slides/slide310.xml"/>
  <Override ContentType="application/vnd.openxmlformats-officedocument.presentationml.slide+xml" PartName="/ppt/slides/slide543.xml"/>
  <Override ContentType="application/vnd.openxmlformats-officedocument.presentationml.slide+xml" PartName="/ppt/slides/slide366.xml"/>
  <Override ContentType="application/vnd.openxmlformats-officedocument.presentationml.slide+xml" PartName="/ppt/slides/slide396.xml"/>
  <Override ContentType="application/vnd.openxmlformats-officedocument.presentationml.slide+xml" PartName="/ppt/slides/slide180.xml"/>
  <Override ContentType="application/vnd.openxmlformats-officedocument.presentationml.slide+xml" PartName="/ppt/slides/slide671.xml"/>
  <Override ContentType="application/vnd.openxmlformats-officedocument.presentationml.slide+xml" PartName="/ppt/slides/slide511.xml"/>
  <Override ContentType="application/vnd.openxmlformats-officedocument.presentationml.slide+xml" PartName="/ppt/slides/slide18.xml"/>
  <Override ContentType="application/vnd.openxmlformats-officedocument.presentationml.slide+xml" PartName="/ppt/slides/slide597.xml"/>
  <Override ContentType="application/vnd.openxmlformats-officedocument.presentationml.slide+xml" PartName="/ppt/slides/slide333.xml"/>
  <Override ContentType="application/vnd.openxmlformats-officedocument.presentationml.slide+xml" PartName="/ppt/slides/slide309.xml"/>
  <Override ContentType="application/vnd.openxmlformats-officedocument.presentationml.slide+xml" PartName="/ppt/slides/slide244.xml"/>
  <Override ContentType="application/vnd.openxmlformats-officedocument.presentationml.slide+xml" PartName="/ppt/slides/slide52.xml"/>
  <Override ContentType="application/vnd.openxmlformats-officedocument.presentationml.slide+xml" PartName="/ppt/slides/slide694.xml"/>
  <Override ContentType="application/vnd.openxmlformats-officedocument.presentationml.slide+xml" PartName="/ppt/slides/slide270.xml"/>
  <Override ContentType="application/vnd.openxmlformats-officedocument.presentationml.slide+xml" PartName="/ppt/slides/slide406.xml"/>
  <Override ContentType="application/vnd.openxmlformats-officedocument.presentationml.slide+xml" PartName="/ppt/slides/slide181.xml"/>
  <Override ContentType="application/vnd.openxmlformats-officedocument.presentationml.slide+xml" PartName="/ppt/slides/slide157.xml"/>
  <Override ContentType="application/vnd.openxmlformats-officedocument.presentationml.slide+xml" PartName="/ppt/slides/slide343.xml"/>
  <Override ContentType="application/vnd.openxmlformats-officedocument.presentationml.slide+xml" PartName="/ppt/slides/slide528.xml"/>
  <Override ContentType="application/vnd.openxmlformats-officedocument.presentationml.slide+xml" PartName="/ppt/slides/slide617.xml"/>
  <Override ContentType="application/vnd.openxmlformats-officedocument.presentationml.slide+xml" PartName="/ppt/slides/slide165.xml"/>
  <Override ContentType="application/vnd.openxmlformats-officedocument.presentationml.slide+xml" PartName="/ppt/slides/slide34.xml"/>
  <Override ContentType="application/vnd.openxmlformats-officedocument.presentationml.slide+xml" PartName="/ppt/slides/slide254.xml"/>
  <Override ContentType="application/vnd.openxmlformats-officedocument.presentationml.slide+xml" PartName="/ppt/slides/slide440.xml"/>
  <Override ContentType="application/vnd.openxmlformats-officedocument.presentationml.slide+xml" PartName="/ppt/slides/slide706.xml"/>
  <Override ContentType="application/vnd.openxmlformats-officedocument.presentationml.slide+xml" PartName="/ppt/slides/slide147.xml"/>
  <Override ContentType="application/vnd.openxmlformats-officedocument.presentationml.slide+xml" PartName="/ppt/slides/slide236.xml"/>
  <Override ContentType="application/vnd.openxmlformats-officedocument.presentationml.slide+xml" PartName="/ppt/slides/slide422.xml"/>
  <Override ContentType="application/vnd.openxmlformats-officedocument.presentationml.slide+xml" PartName="/ppt/slides/slide505.xml"/>
  <Override ContentType="application/vnd.openxmlformats-officedocument.presentationml.slide+xml" PartName="/ppt/slides/slide110.xml"/>
  <Override ContentType="application/vnd.openxmlformats-officedocument.presentationml.slide+xml" PartName="/ppt/slides/slide455.xml"/>
  <Override ContentType="application/vnd.openxmlformats-officedocument.presentationml.slide+xml" PartName="/ppt/slides/slide293.xml"/>
  <Override ContentType="application/vnd.openxmlformats-officedocument.presentationml.slide+xml" PartName="/ppt/slides/slide358.xml"/>
  <Override ContentType="application/vnd.openxmlformats-officedocument.presentationml.slide+xml" PartName="/ppt/slides/slide471.xml"/>
  <Override ContentType="application/vnd.openxmlformats-officedocument.presentationml.slide+xml" PartName="/ppt/slides/slide67.xml"/>
  <Override ContentType="application/vnd.openxmlformats-officedocument.presentationml.slide+xml" PartName="/ppt/slides/slide196.xml"/>
  <Override ContentType="application/vnd.openxmlformats-officedocument.presentationml.slide+xml" PartName="/ppt/slides/slide566.xml"/>
  <Override ContentType="application/vnd.openxmlformats-officedocument.presentationml.slide+xml" PartName="/ppt/slides/slide633.xml"/>
  <Override ContentType="application/vnd.openxmlformats-officedocument.presentationml.slide+xml" PartName="/ppt/slides/slide171.xml"/>
  <Override ContentType="application/vnd.openxmlformats-officedocument.presentationml.slide+xml" PartName="/ppt/slides/slide259.xml"/>
  <Override ContentType="application/vnd.openxmlformats-officedocument.presentationml.slide+xml" PartName="/ppt/slides/slide534.xml"/>
  <Override ContentType="application/vnd.openxmlformats-officedocument.presentationml.slide+xml" PartName="/ppt/slides/slide49.xml"/>
  <Override ContentType="application/vnd.openxmlformats-officedocument.presentationml.slide+xml" PartName="/ppt/slides/slide327.xml"/>
  <Override ContentType="application/vnd.openxmlformats-officedocument.presentationml.slide+xml" PartName="/ppt/slides/slide688.xml"/>
  <Override ContentType="application/vnd.openxmlformats-officedocument.presentationml.slide+xml" PartName="/ppt/slides/slide83.xml"/>
  <Override ContentType="application/vnd.openxmlformats-officedocument.presentationml.slide+xml" PartName="/ppt/slides/slide582.xml"/>
  <Override ContentType="application/vnd.openxmlformats-officedocument.presentationml.slide+xml" PartName="/ppt/slides/slide602.xml"/>
  <Override ContentType="application/vnd.openxmlformats-officedocument.presentationml.slide+xml" PartName="/ppt/slides/slide437.xml"/>
  <Override ContentType="application/vnd.openxmlformats-officedocument.presentationml.slide+xml" PartName="/ppt/slides/slide221.xml"/>
  <Override ContentType="application/vnd.openxmlformats-officedocument.presentationml.slide+xml" PartName="/ppt/slides/slide73.xml"/>
  <Override ContentType="application/vnd.openxmlformats-officedocument.presentationml.slide+xml" PartName="/ppt/slides/slide559.xml"/>
  <Override ContentType="application/vnd.openxmlformats-officedocument.presentationml.slide+xml" PartName="/ppt/slides/slide126.xml"/>
  <Override ContentType="application/vnd.openxmlformats-officedocument.presentationml.slide+xml" PartName="/ppt/slides/slide186.xml"/>
  <Override ContentType="application/vnd.openxmlformats-officedocument.presentationml.slide+xml" PartName="/ppt/slides/slide215.xml"/>
  <Override ContentType="application/vnd.openxmlformats-officedocument.presentationml.slide+xml" PartName="/ppt/slides/slide401.xml"/>
  <Override ContentType="application/vnd.openxmlformats-officedocument.presentationml.slide+xml" PartName="/ppt/slides/slide576.xml"/>
  <Override ContentType="application/vnd.openxmlformats-officedocument.presentationml.slide+xml" PartName="/ppt/slides/slide109.xml"/>
  <Override ContentType="application/vnd.openxmlformats-officedocument.presentationml.slide+xml" PartName="/ppt/slides/slide99.xml"/>
  <Override ContentType="application/vnd.openxmlformats-officedocument.presentationml.slide+xml" PartName="/ppt/slides/slide311.xml"/>
  <Override ContentType="application/vnd.openxmlformats-officedocument.presentationml.slide+xml" PartName="/ppt/slides/slide672.xml"/>
  <Override ContentType="application/vnd.openxmlformats-officedocument.presentationml.slide+xml" PartName="/ppt/slides/slide13.xml"/>
  <Override ContentType="application/vnd.openxmlformats-officedocument.presentationml.slide+xml" PartName="/ppt/slides/slide222.xml"/>
  <Override ContentType="application/vnd.openxmlformats-officedocument.presentationml.slide+xml" PartName="/ppt/slides/slide655.xml"/>
  <Override ContentType="application/vnd.openxmlformats-officedocument.presentationml.slide+xml" PartName="/ppt/slides/slide205.xml"/>
  <Override ContentType="application/vnd.openxmlformats-officedocument.presentationml.slide+xml" PartName="/ppt/slides/slide638.xml"/>
  <Override ContentType="application/vnd.openxmlformats-officedocument.presentationml.slide+xml" PartName="/ppt/slides/slide292.xml"/>
  <Override ContentType="application/vnd.openxmlformats-officedocument.presentationml.slide+xml" PartName="/ppt/slides/slide100.xml"/>
  <Override ContentType="application/vnd.openxmlformats-officedocument.presentationml.slide+xml" PartName="/ppt/slides/slide461.xml"/>
  <Override ContentType="application/vnd.openxmlformats-officedocument.presentationml.slide+xml" PartName="/ppt/slides/slide550.xml"/>
  <Override ContentType="application/vnd.openxmlformats-officedocument.presentationml.slide+xml" PartName="/ppt/slides/slide90.xml"/>
  <Override ContentType="application/vnd.openxmlformats-officedocument.presentationml.slide+xml" PartName="/ppt/slides/slide275.xml"/>
  <Override ContentType="application/vnd.openxmlformats-officedocument.presentationml.slide+xml" PartName="/ppt/slides/slide487.xml"/>
  <Override ContentType="application/vnd.openxmlformats-officedocument.presentationml.slide+xml" PartName="/ppt/slides/slide476.xml"/>
  <Override ContentType="application/vnd.openxmlformats-officedocument.presentationml.slide+xml" PartName="/ppt/slides/slide132.xml"/>
  <Override ContentType="application/vnd.openxmlformats-officedocument.presentationml.slide+xml" PartName="/ppt/slides/slide416.xml"/>
  <Override ContentType="application/vnd.openxmlformats-officedocument.presentationml.slide+xml" PartName="/ppt/slides/slide269.xml"/>
  <Override ContentType="application/vnd.openxmlformats-officedocument.presentationml.slide+xml" PartName="/ppt/slides/slide493.xml"/>
  <Override ContentType="application/vnd.openxmlformats-officedocument.presentationml.slide+xml" PartName="/ppt/slides/slide544.xml"/>
  <Override ContentType="application/vnd.openxmlformats-officedocument.presentationml.slide+xml" PartName="/ppt/slides/slide640.xml"/>
  <Override ContentType="application/vnd.openxmlformats-officedocument.presentationml.slide+xml" PartName="/ppt/slides/slide1.xml"/>
  <Override ContentType="application/vnd.openxmlformats-officedocument.presentationml.slide+xml" PartName="/ppt/slides/slide365.xml"/>
  <Override ContentType="application/vnd.openxmlformats-officedocument.presentationml.slide+xml" PartName="/ppt/slides/slide28.xml"/>
  <Override ContentType="application/vnd.openxmlformats-officedocument.presentationml.slide+xml" PartName="/ppt/slides/slide382.xml"/>
  <Override ContentType="application/vnd.openxmlformats-officedocument.presentationml.slide+xml" PartName="/ppt/slides/slide527.xml"/>
  <Override ContentType="application/vnd.openxmlformats-officedocument.presentationml.slide+xml" PartName="/ppt/slides/slide397.xml"/>
  <Override ContentType="application/vnd.openxmlformats-officedocument.presentationml.slide+xml" PartName="/ppt/slides/slide649.xml"/>
  <Override ContentType="application/vnd.openxmlformats-officedocument.presentationml.slide+xml" PartName="/ppt/slides/slide200.xml"/>
  <Override ContentType="application/vnd.openxmlformats-officedocument.presentationml.slide+xml" PartName="/ppt/slides/slide561.xml"/>
  <Override ContentType="application/vnd.openxmlformats-officedocument.presentationml.slide+xml" PartName="/ppt/slides/slide623.xml"/>
  <Override ContentType="application/vnd.openxmlformats-officedocument.presentationml.slide+xml" PartName="/ppt/slides/slide348.xml"/>
  <Override ContentType="application/vnd.openxmlformats-officedocument.presentationml.slide+xml" PartName="/ppt/slides/slide88.xml"/>
  <Override ContentType="application/vnd.openxmlformats-officedocument.presentationml.slide+xml" PartName="/ppt/slides/slide286.xml"/>
  <Override ContentType="application/vnd.openxmlformats-officedocument.presentationml.slide+xml" PartName="/ppt/slides/slide115.xml"/>
  <Override ContentType="application/vnd.openxmlformats-officedocument.presentationml.slide+xml" PartName="/ppt/slides/slide260.xml"/>
  <Override ContentType="application/vnd.openxmlformats-officedocument.presentationml.slide+xml" PartName="/ppt/slides/slide618.xml"/>
  <Override ContentType="application/vnd.openxmlformats-officedocument.presentationml.slide+xml" PartName="/ppt/slides/slide626.xml"/>
  <Override ContentType="application/vnd.openxmlformats-officedocument.presentationml.slide+xml" PartName="/ppt/slides/slide553.xml"/>
  <Override ContentType="application/vnd.openxmlformats-officedocument.presentationml.slide+xml" PartName="/ppt/slides/slide367.xml"/>
  <Override ContentType="application/vnd.openxmlformats-officedocument.presentationml.slide+xml" PartName="/ppt/slides/slide17.xml"/>
  <Override ContentType="application/vnd.openxmlformats-officedocument.presentationml.slide+xml" PartName="/ppt/slides/slide138.xml"/>
  <Override ContentType="application/vnd.openxmlformats-officedocument.presentationml.slide+xml" PartName="/ppt/slides/slide271.xml"/>
  <Override ContentType="application/vnd.openxmlformats-officedocument.presentationml.slide+xml" PartName="/ppt/slides/slide324.xml"/>
  <Override ContentType="application/vnd.openxmlformats-officedocument.presentationml.slide+xml" PartName="/ppt/slides/slide510.xml"/>
  <Override ContentType="application/vnd.openxmlformats-officedocument.presentationml.slide+xml" PartName="/ppt/slides/slide174.xml"/>
  <Override ContentType="application/vnd.openxmlformats-officedocument.presentationml.slide+xml" PartName="/ppt/slides/slide588.xml"/>
  <Override ContentType="application/vnd.openxmlformats-officedocument.presentationml.slide+xml" PartName="/ppt/slides/slide545.xml"/>
  <Override ContentType="application/vnd.openxmlformats-officedocument.presentationml.slide+xml" PartName="/ppt/slides/slide360.xml"/>
  <Override ContentType="application/vnd.openxmlformats-officedocument.presentationml.slide+xml" PartName="/ppt/slides/slide219.xml"/>
  <Override ContentType="application/vnd.openxmlformats-officedocument.presentationml.slide+xml" PartName="/ppt/slides/slide405.xml"/>
  <Override ContentType="application/vnd.openxmlformats-officedocument.presentationml.slide+xml" PartName="/ppt/slides/slide502.xml"/>
  <Override ContentType="application/vnd.openxmlformats-officedocument.presentationml.slide+xml" PartName="/ppt/slides/slide669.xml"/>
  <Override ContentType="application/vnd.openxmlformats-officedocument.presentationml.slide+xml" PartName="/ppt/slides/slide359.xml"/>
  <Override ContentType="application/vnd.openxmlformats-officedocument.presentationml.slide+xml" PartName="/ppt/slides/slide316.xml"/>
  <Override ContentType="application/vnd.openxmlformats-officedocument.presentationml.slide+xml" PartName="/ppt/slides/slide448.xml"/>
  <Override ContentType="application/vnd.openxmlformats-officedocument.presentationml.slide+xml" PartName="/ppt/slides/slide204.xml"/>
  <Override ContentType="application/vnd.openxmlformats-officedocument.presentationml.slide+xml" PartName="/ppt/slides/slide247.xml"/>
  <Override ContentType="application/vnd.openxmlformats-officedocument.presentationml.slide+xml" PartName="/ppt/slides/slide84.xml"/>
  <Override ContentType="application/vnd.openxmlformats-officedocument.presentationml.slide+xml" PartName="/ppt/slides/slide344.xml"/>
  <Override ContentType="application/vnd.openxmlformats-officedocument.presentationml.slide+xml" PartName="/ppt/slides/slide387.xml"/>
  <Override ContentType="application/vnd.openxmlformats-officedocument.presentationml.slide+xml" PartName="/ppt/slides/slide425.xml"/>
  <Override ContentType="application/vnd.openxmlformats-officedocument.presentationml.slide+xml" PartName="/ppt/slides/slide37.xml"/>
  <Override ContentType="application/vnd.openxmlformats-officedocument.presentationml.slide+xml" PartName="/ppt/slides/slide123.xml"/>
  <Override ContentType="application/vnd.openxmlformats-officedocument.presentationml.slide+xml" PartName="/ppt/slides/slide294.xml"/>
  <Override ContentType="application/vnd.openxmlformats-officedocument.presentationml.slide+xml" PartName="/ppt/slides/slide468.xml"/>
  <Override ContentType="application/vnd.openxmlformats-officedocument.presentationml.slide+xml" PartName="/ppt/slides/slide581.xml"/>
  <Override ContentType="application/vnd.openxmlformats-officedocument.presentationml.slide+xml" PartName="/ppt/slides/slide689.xml"/>
  <Override ContentType="application/vnd.openxmlformats-officedocument.presentationml.slide+xml" PartName="/ppt/slides/slide166.xml"/>
  <Override ContentType="application/vnd.openxmlformats-officedocument.presentationml.slide+xml" PartName="/ppt/slides/slide603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646.xml"/>
  <Override ContentType="application/vnd.openxmlformats-officedocument.presentationml.slide+xml" PartName="/ppt/slides/slide517.xml"/>
  <Override ContentType="application/vnd.openxmlformats-officedocument.presentationml.slide+xml" PartName="/ppt/slides/slide596.xml"/>
  <Override ContentType="application/vnd.openxmlformats-officedocument.presentationml.slide+xml" PartName="/ppt/slides/slide375.xml"/>
  <Override ContentType="application/vnd.openxmlformats-officedocument.presentationml.slide+xml" PartName="/ppt/slides/slide332.xml"/>
  <Override ContentType="application/vnd.openxmlformats-officedocument.presentationml.slide+xml" PartName="/ppt/slides/slide251.xml"/>
  <Override ContentType="application/vnd.openxmlformats-officedocument.presentationml.slide+xml" PartName="/ppt/slides/slide472.xml"/>
  <Override ContentType="application/vnd.openxmlformats-officedocument.presentationml.slide+xml" PartName="/ppt/slides/slide301.xml"/>
  <Override ContentType="application/vnd.openxmlformats-officedocument.presentationml.slide+xml" PartName="/ppt/slides/slide223.xml"/>
  <Override ContentType="application/vnd.openxmlformats-officedocument.presentationml.slide+xml" PartName="/ppt/slides/slide673.xml"/>
  <Override ContentType="application/vnd.openxmlformats-officedocument.presentationml.slide+xml" PartName="/ppt/slides/slide266.xml"/>
  <Override ContentType="application/vnd.openxmlformats-officedocument.presentationml.slide+xml" PartName="/ppt/slides/slide347.xml"/>
  <Override ContentType="application/vnd.openxmlformats-officedocument.presentationml.slide+xml" PartName="/ppt/slides/slide372.xml"/>
  <Override ContentType="application/vnd.openxmlformats-officedocument.presentationml.slide+xml" PartName="/ppt/slides/slide22.xml"/>
  <Override ContentType="application/vnd.openxmlformats-officedocument.presentationml.slide+xml" PartName="/ppt/slides/slide304.xml"/>
  <Override ContentType="application/vnd.openxmlformats-officedocument.presentationml.slide+xml" PartName="/ppt/slides/slide231.xml"/>
  <Override ContentType="application/vnd.openxmlformats-officedocument.presentationml.slide+xml" PartName="/ppt/slides/slide65.xml"/>
  <Override ContentType="application/vnd.openxmlformats-officedocument.presentationml.slide+xml" PartName="/ppt/slides/slide118.xml"/>
  <Override ContentType="application/vnd.openxmlformats-officedocument.presentationml.slide+xml" PartName="/ppt/slides/slide274.xml"/>
  <Override ContentType="application/vnd.openxmlformats-officedocument.presentationml.slide+xml" PartName="/ppt/slides/slide460.xml"/>
  <Override ContentType="application/vnd.openxmlformats-officedocument.presentationml.slide+xml" PartName="/ppt/slides/slide488.xml"/>
  <Override ContentType="application/vnd.openxmlformats-officedocument.presentationml.slide+xml" PartName="/ppt/slides/slide410.xml"/>
  <Override ContentType="application/vnd.openxmlformats-officedocument.presentationml.slide+xml" PartName="/ppt/slides/slide72.xml"/>
  <Override ContentType="application/vnd.openxmlformats-officedocument.presentationml.slide+xml" PartName="/ppt/slides/slide453.xml"/>
  <Override ContentType="application/vnd.openxmlformats-officedocument.presentationml.slide+xml" PartName="/ppt/slides/slide496.xml"/>
  <Override ContentType="application/vnd.openxmlformats-officedocument.presentationml.slide+xml" PartName="/ppt/slides/slide682.xml"/>
  <Override ContentType="application/vnd.openxmlformats-officedocument.presentationml.slide+xml" PartName="/ppt/slides/slide630.xml"/>
  <Override ContentType="application/vnd.openxmlformats-officedocument.presentationml.slide+xml" PartName="/ppt/slides/slide29.xml"/>
  <Override ContentType="application/vnd.openxmlformats-officedocument.presentationml.slide+xml" PartName="/ppt/slides/slide530.xml"/>
  <Override ContentType="application/vnd.openxmlformats-officedocument.presentationml.slide+xml" PartName="/ppt/slides/slide697.xml"/>
  <Override ContentType="application/vnd.openxmlformats-officedocument.presentationml.slide+xml" PartName="/ppt/slides/slide319.xml"/>
  <Override ContentType="application/vnd.openxmlformats-officedocument.presentationml.slide+xml" PartName="/ppt/slides/slide573.xml"/>
  <Override ContentType="application/vnd.openxmlformats-officedocument.presentationml.slide+xml" PartName="/ppt/slides/slide611.xml"/>
  <Override ContentType="application/vnd.openxmlformats-officedocument.presentationml.slide+xml" PartName="/ppt/slides/slide654.xml"/>
  <Override ContentType="application/vnd.openxmlformats-officedocument.presentationml.slide+xml" PartName="/ppt/slides/slide417.xml"/>
  <Override ContentType="application/vnd.openxmlformats-officedocument.presentationml.slide+xml" PartName="/ppt/slides/slide131.xml"/>
  <Override ContentType="application/vnd.openxmlformats-officedocument.presentationml.slide+xml" PartName="/ppt/slides/slide93.xml"/>
  <Override ContentType="application/vnd.openxmlformats-officedocument.presentationml.slide+xml" PartName="/ppt/slides/slide432.xml"/>
  <Override ContentType="application/vnd.openxmlformats-officedocument.presentationml.slide+xml" PartName="/ppt/slides/slide103.xml"/>
  <Override ContentType="application/vnd.openxmlformats-officedocument.presentationml.slide+xml" PartName="/ppt/slides/slide445.xml"/>
  <Override ContentType="application/vnd.openxmlformats-officedocument.presentationml.slide+xml" PartName="/ppt/slides/slide402.xml"/>
  <Override ContentType="application/vnd.openxmlformats-officedocument.presentationml.slide+xml" PartName="/ppt/slides/slide703.xml"/>
  <Override ContentType="application/vnd.openxmlformats-officedocument.presentationml.slide+xml" PartName="/ppt/slides/slide146.xml"/>
  <Override ContentType="application/vnd.openxmlformats-officedocument.presentationml.slide+xml" PartName="/ppt/slides/slide150.xml"/>
  <Override ContentType="application/vnd.openxmlformats-officedocument.presentationml.slide+xml" PartName="/ppt/slides/slide189.xml"/>
  <Override ContentType="application/vnd.openxmlformats-officedocument.presentationml.slide+xml" PartName="/ppt/slides/slide481.xml"/>
  <Override ContentType="application/vnd.openxmlformats-officedocument.presentationml.slide+xml" PartName="/ppt/slides/slide87.xml"/>
  <Override ContentType="application/vnd.openxmlformats-officedocument.presentationml.slide+xml" PartName="/ppt/slides/slide57.xml"/>
  <Override ContentType="application/vnd.openxmlformats-officedocument.presentationml.slide+xml" PartName="/ppt/slides/slide238.xml"/>
  <Override ContentType="application/vnd.openxmlformats-officedocument.presentationml.slide+xml" PartName="/ppt/slides/slide44.xml"/>
  <Override ContentType="application/vnd.openxmlformats-officedocument.presentationml.slide+xml" PartName="/ppt/slides/slide193.xml"/>
  <Override ContentType="application/vnd.openxmlformats-officedocument.presentationml.slide+xml" PartName="/ppt/slides/slide569.xml"/>
  <Override ContentType="application/vnd.openxmlformats-officedocument.presentationml.slide+xml" PartName="/ppt/slides/slide14.xml"/>
  <Override ContentType="application/vnd.openxmlformats-officedocument.presentationml.slide+xml" PartName="/ppt/slides/slide526.xml"/>
  <Override ContentType="application/vnd.openxmlformats-officedocument.presentationml.slide+xml" PartName="/ppt/slides/slide589.xml"/>
  <Override ContentType="application/vnd.openxmlformats-officedocument.presentationml.slide+xml" PartName="/ppt/slides/slide139.xml"/>
  <Override ContentType="application/vnd.openxmlformats-officedocument.presentationml.slide+xml" PartName="/ppt/slides/slide325.xml"/>
  <Override ContentType="application/vnd.openxmlformats-officedocument.presentationml.slide+xml" PartName="/ppt/slides/slide503.xml"/>
  <Override ContentType="application/vnd.openxmlformats-officedocument.presentationml.slide+xml" PartName="/ppt/slides/slide546.xml"/>
  <Override ContentType="application/vnd.openxmlformats-officedocument.presentationml.slide+xml" PartName="/ppt/slides/slide430.xml"/>
  <Override ContentType="application/vnd.openxmlformats-officedocument.presentationml.slide+xml" PartName="/ppt/slides/slide317.xml"/>
  <Override ContentType="application/vnd.openxmlformats-officedocument.presentationml.slide+xml" PartName="/ppt/slides/slide473.xml"/>
  <Override ContentType="application/vnd.openxmlformats-officedocument.presentationml.slide+xml" PartName="/ppt/slides/slide85.xml"/>
  <Override ContentType="application/vnd.openxmlformats-officedocument.presentationml.slide+xml" PartName="/ppt/slides/slide42.xml"/>
  <Override ContentType="application/vnd.openxmlformats-officedocument.presentationml.slide+xml" PartName="/ppt/slides/slide439.xml"/>
  <Override ContentType="application/vnd.openxmlformats-officedocument.presentationml.slide+xml" PartName="/ppt/slides/slide50.xml"/>
  <Override ContentType="application/vnd.openxmlformats-officedocument.presentationml.slide+xml" PartName="/ppt/slides/slide218.xml"/>
  <Override ContentType="application/vnd.openxmlformats-officedocument.presentationml.slide+xml" PartName="/ppt/slides/slide668.xml"/>
  <Override ContentType="application/vnd.openxmlformats-officedocument.presentationml.slide+xml" PartName="/ppt/slides/slide625.xml"/>
  <Override ContentType="application/vnd.openxmlformats-officedocument.presentationml.slide+xml" PartName="/ppt/slides/slide130.xml"/>
  <Override ContentType="application/vnd.openxmlformats-officedocument.presentationml.slide+xml" PartName="/ppt/slides/slide173.xml"/>
  <Override ContentType="application/vnd.openxmlformats-officedocument.presentationml.slide+xml" PartName="/ppt/slides/slide16.xml"/>
  <Override ContentType="application/vnd.openxmlformats-officedocument.presentationml.slide+xml" PartName="/ppt/slides/slide351.xml"/>
  <Override ContentType="application/vnd.openxmlformats-officedocument.presentationml.slide+xml" PartName="/ppt/slides/slide580.xml"/>
  <Override ContentType="application/vnd.openxmlformats-officedocument.presentationml.slide+xml" PartName="/ppt/slides/slide368.xml"/>
  <Override ContentType="application/vnd.openxmlformats-officedocument.presentationml.slide+xml" PartName="/ppt/slides/slide394.xml"/>
  <Override ContentType="application/vnd.openxmlformats-officedocument.presentationml.slide+xml" PartName="/ppt/slides/slide331.xml"/>
  <Override ContentType="application/vnd.openxmlformats-officedocument.presentationml.slide+xml" PartName="/ppt/slides/slide595.xml"/>
  <Override ContentType="application/vnd.openxmlformats-officedocument.presentationml.slide+xml" PartName="/ppt/slides/slide280.xml"/>
  <Override ContentType="application/vnd.openxmlformats-officedocument.presentationml.slide+xml" PartName="/ppt/slides/slide374.xml"/>
  <Override ContentType="application/vnd.openxmlformats-officedocument.presentationml.slide+xml" PartName="/ppt/slides/slide345.xml"/>
  <Override ContentType="application/vnd.openxmlformats-officedocument.presentationml.slide+xml" PartName="/ppt/slides/slide518.xml"/>
  <Override ContentType="application/vnd.openxmlformats-officedocument.presentationml.slide+xml" PartName="/ppt/slides/slide302.xml"/>
  <Override ContentType="application/vnd.openxmlformats-officedocument.presentationml.slide+xml" PartName="/ppt/slides/slide289.xml"/>
  <Override ContentType="application/vnd.openxmlformats-officedocument.presentationml.slide+xml" PartName="/ppt/slides/slide36.xml"/>
  <Override ContentType="application/vnd.openxmlformats-officedocument.presentationml.slide+xml" PartName="/ppt/slides/slide631.xml"/>
  <Override ContentType="application/vnd.openxmlformats-officedocument.presentationml.slide+xml" PartName="/ppt/slides/slide79.xml"/>
  <Override ContentType="application/vnd.openxmlformats-officedocument.presentationml.slide+xml" PartName="/ppt/slides/slide246.xml"/>
  <Override ContentType="application/vnd.openxmlformats-officedocument.presentationml.slide+xml" PartName="/ppt/slides/slide203.xml"/>
  <Override ContentType="application/vnd.openxmlformats-officedocument.presentationml.slide+xml" PartName="/ppt/slides/slide252.xml"/>
  <Override ContentType="application/vnd.openxmlformats-officedocument.presentationml.slide+xml" PartName="/ppt/slides/slide295.xml"/>
  <Override ContentType="application/vnd.openxmlformats-officedocument.presentationml.slide+xml" PartName="/ppt/slides/slide467.xml"/>
  <Override ContentType="application/vnd.openxmlformats-officedocument.presentationml.slide+xml" PartName="/ppt/slides/slide388.xml"/>
  <Override ContentType="application/vnd.openxmlformats-officedocument.presentationml.slide+xml" PartName="/ppt/slides/slide124.xml"/>
  <Override ContentType="application/vnd.openxmlformats-officedocument.presentationml.slide+xml" PartName="/ppt/slides/slide167.xml"/>
  <Override ContentType="application/vnd.openxmlformats-officedocument.presentationml.slide+xml" PartName="/ppt/slides/slide70.xml"/>
  <Override ContentType="application/vnd.openxmlformats-officedocument.presentationml.slide+xml" PartName="/ppt/slides/slide424.xml"/>
  <Override ContentType="application/vnd.openxmlformats-officedocument.presentationml.slide+xml" PartName="/ppt/slides/slide552.xml"/>
  <Override ContentType="application/vnd.openxmlformats-officedocument.presentationml.slide+xml" PartName="/ppt/slides/slide194.xml"/>
  <Override ContentType="application/vnd.openxmlformats-officedocument.presentationml.slide+xml" PartName="/ppt/slides/slide380.xml"/>
  <Override ContentType="application/vnd.openxmlformats-officedocument.presentationml.slide+xml" PartName="/ppt/slides/slide151.xml"/>
  <Override ContentType="application/vnd.openxmlformats-officedocument.presentationml.slide+xml" PartName="/ppt/slides/slide681.xml"/>
  <Override ContentType="application/vnd.openxmlformats-officedocument.presentationml.slide+xml" PartName="/ppt/slides/slide495.xml"/>
  <Override ContentType="application/vnd.openxmlformats-officedocument.presentationml.slide+xml" PartName="/ppt/slides/slide452.xml"/>
  <Override ContentType="application/vnd.openxmlformats-officedocument.presentationml.slide+xml" PartName="/ppt/slides/slide568.xml"/>
  <Override ContentType="application/vnd.openxmlformats-officedocument.presentationml.slide+xml" PartName="/ppt/slides/slide525.xml"/>
  <Override ContentType="application/vnd.openxmlformats-officedocument.presentationml.slide+xml" PartName="/ppt/slides/slide339.xml"/>
  <Override ContentType="application/vnd.openxmlformats-officedocument.presentationml.slide+xml" PartName="/ppt/slides/slide224.xml"/>
  <Override ContentType="application/vnd.openxmlformats-officedocument.presentationml.slide+xml" PartName="/ppt/slides/slide674.xml"/>
  <Override ContentType="application/vnd.openxmlformats-officedocument.presentationml.slide+xml" PartName="/ppt/slides/slide330.xml"/>
  <Override ContentType="application/vnd.openxmlformats-officedocument.presentationml.slide+xml" PartName="/ppt/slides/slide267.xml"/>
  <Override ContentType="application/vnd.openxmlformats-officedocument.presentationml.slide+xml" PartName="/ppt/slides/slide373.xml"/>
  <Override ContentType="application/vnd.openxmlformats-officedocument.presentationml.slide+xml" PartName="/ppt/slides/slide389.xml"/>
  <Override ContentType="application/vnd.openxmlformats-officedocument.presentationml.slide+xml" PartName="/ppt/slides/slide21.xml"/>
  <Override ContentType="application/vnd.openxmlformats-officedocument.presentationml.slide+xml" PartName="/ppt/slides/slide346.xml"/>
  <Override ContentType="application/vnd.openxmlformats-officedocument.presentationml.slide+xml" PartName="/ppt/slides/slide303.xml"/>
  <Override ContentType="application/vnd.openxmlformats-officedocument.presentationml.slide+xml" PartName="/ppt/slides/slide604.xml"/>
  <Override ContentType="application/vnd.openxmlformats-officedocument.presentationml.slide+xml" PartName="/ppt/slides/slide64.xml"/>
  <Override ContentType="application/vnd.openxmlformats-officedocument.presentationml.slide+xml" PartName="/ppt/slides/slide418.xml"/>
  <Override ContentType="application/vnd.openxmlformats-officedocument.presentationml.slide+xml" PartName="/ppt/slides/slide647.xml"/>
  <Override ContentType="application/vnd.openxmlformats-officedocument.presentationml.slide+xml" PartName="/ppt/slides/slide8.xml"/>
  <Override ContentType="application/vnd.openxmlformats-officedocument.presentationml.slide+xml" PartName="/ppt/slides/slide117.xml"/>
  <Override ContentType="application/vnd.openxmlformats-officedocument.presentationml.slide+xml" PartName="/ppt/slides/slide145.xml"/>
  <Override ContentType="application/vnd.openxmlformats-officedocument.presentationml.slide+xml" PartName="/ppt/slides/slide188.xml"/>
  <Override ContentType="application/vnd.openxmlformats-officedocument.presentationml.slide+xml" PartName="/ppt/slides/slide403.xml"/>
  <Override ContentType="application/vnd.openxmlformats-officedocument.presentationml.slide+xml" PartName="/ppt/slides/slide704.xml"/>
  <Override ContentType="application/vnd.openxmlformats-officedocument.presentationml.slide+xml" PartName="/ppt/slides/slide480.xml"/>
  <Override ContentType="application/vnd.openxmlformats-officedocument.presentationml.slide+xml" PartName="/ppt/slides/slide395.xml"/>
  <Override ContentType="application/vnd.openxmlformats-officedocument.presentationml.slide+xml" PartName="/ppt/slides/slide352.xml"/>
  <Override ContentType="application/vnd.openxmlformats-officedocument.presentationml.slide+xml" PartName="/ppt/slides/slide58.xml"/>
  <Override ContentType="application/vnd.openxmlformats-officedocument.presentationml.slide+xml" PartName="/ppt/slides/slide239.xml"/>
  <Override ContentType="application/vnd.openxmlformats-officedocument.presentationml.slide+xml" PartName="/ppt/slides/slide696.xml"/>
  <Override ContentType="application/vnd.openxmlformats-officedocument.presentationml.slide+xml" PartName="/ppt/slides/slide15.xml"/>
  <Override ContentType="application/vnd.openxmlformats-officedocument.presentationml.slide+xml" PartName="/ppt/slides/slide318.xml"/>
  <Override ContentType="application/vnd.openxmlformats-officedocument.presentationml.slide+xml" PartName="/ppt/slides/slide230.xml"/>
  <Override ContentType="application/vnd.openxmlformats-officedocument.presentationml.slide+xml" PartName="/ppt/slides/slide531.xml"/>
  <Override ContentType="application/vnd.openxmlformats-officedocument.presentationml.slide+xml" PartName="/ppt/slides/slide653.xml"/>
  <Override ContentType="application/vnd.openxmlformats-officedocument.presentationml.slide+xml" PartName="/ppt/slides/slide574.xml"/>
  <Override ContentType="application/vnd.openxmlformats-officedocument.presentationml.slide+xml" PartName="/ppt/slides/slide610.xml"/>
  <Override ContentType="application/vnd.openxmlformats-officedocument.presentationml.slide+xml" PartName="/ppt/slides/slide273.xml"/>
  <Override ContentType="application/vnd.openxmlformats-officedocument.presentationml.slide+xml" PartName="/ppt/slides/slide446.xml"/>
  <Override ContentType="application/vnd.openxmlformats-officedocument.presentationml.slide+xml" PartName="/ppt/slides/slide489.xml"/>
  <Override ContentType="application/vnd.openxmlformats-officedocument.presentationml.slide+xml" PartName="/ppt/slides/slide619.xml"/>
  <Override ContentType="application/vnd.openxmlformats-officedocument.presentationml.slide+xml" PartName="/ppt/slides/slide92.xml"/>
  <Override ContentType="application/vnd.openxmlformats-officedocument.presentationml.slide+xml" PartName="/ppt/slides/slide102.xml"/>
  <Override ContentType="application/vnd.openxmlformats-officedocument.presentationml.slide+xml" PartName="/ppt/slides/slide121.xml"/>
  <Override ContentType="application/vnd.openxmlformats-officedocument.presentationml.slide+xml" PartName="/ppt/slides/slide296.xml"/>
  <Override ContentType="application/vnd.openxmlformats-officedocument.presentationml.slide+xml" PartName="/ppt/slides/slide482.xml"/>
  <Override ContentType="application/vnd.openxmlformats-officedocument.presentationml.slide+xml" PartName="/ppt/slides/slide199.xml"/>
  <Override ContentType="application/vnd.openxmlformats-officedocument.presentationml.slide+xml" PartName="/ppt/slides/slide210.xml"/>
  <Override ContentType="application/vnd.openxmlformats-officedocument.presentationml.slide+xml" PartName="/ppt/slides/slide385.xml"/>
  <Override ContentType="application/vnd.openxmlformats-officedocument.presentationml.slide+xml" PartName="/ppt/slides/slide78.xml"/>
  <Override ContentType="application/vnd.openxmlformats-officedocument.presentationml.slide+xml" PartName="/ppt/slides/slide86.xml"/>
  <Override ContentType="application/vnd.openxmlformats-officedocument.presentationml.slide+xml" PartName="/ppt/slides/slide490.xml"/>
  <Override ContentType="application/vnd.openxmlformats-officedocument.presentationml.slide+xml" PartName="/ppt/slides/slide571.xml"/>
  <Override ContentType="application/vnd.openxmlformats-officedocument.presentationml.slide+xml" PartName="/ppt/slides/slide202.xml"/>
  <Override ContentType="application/vnd.openxmlformats-officedocument.presentationml.slide+xml" PartName="/ppt/slides/slide466.xml"/>
  <Override ContentType="application/vnd.openxmlformats-officedocument.presentationml.slide+xml" PartName="/ppt/slides/slide105.xml"/>
  <Override ContentType="application/vnd.openxmlformats-officedocument.presentationml.slide+xml" PartName="/ppt/slides/slide555.xml"/>
  <Override ContentType="application/vnd.openxmlformats-officedocument.presentationml.slide+xml" PartName="/ppt/slides/slide644.xml"/>
  <Override ContentType="application/vnd.openxmlformats-officedocument.presentationml.slide+xml" PartName="/ppt/slides/slide5.xml"/>
  <Override ContentType="application/vnd.openxmlformats-officedocument.presentationml.slide+xml" PartName="/ppt/slides/slide369.xml"/>
  <Override ContentType="application/vnd.openxmlformats-officedocument.presentationml.slide+xml" PartName="/ppt/slides/slide393.xml"/>
  <Override ContentType="application/vnd.openxmlformats-officedocument.presentationml.slide+xml" PartName="/ppt/slides/slide652.xml"/>
  <Override ContentType="application/vnd.openxmlformats-officedocument.presentationml.slide+xml" PartName="/ppt/slides/slide377.xml"/>
  <Override ContentType="application/vnd.openxmlformats-officedocument.presentationml.slide+xml" PartName="/ppt/slides/slide563.xml"/>
  <Override ContentType="application/vnd.openxmlformats-officedocument.presentationml.slide+xml" PartName="/ppt/slides/slide113.xml"/>
  <Override ContentType="application/vnd.openxmlformats-officedocument.presentationml.slide+xml" PartName="/ppt/slides/slide288.xml"/>
  <Override ContentType="application/vnd.openxmlformats-officedocument.presentationml.slide+xml" PartName="/ppt/slides/slide474.xml"/>
  <Override ContentType="application/vnd.openxmlformats-officedocument.presentationml.slide+xml" PartName="/ppt/slides/slide660.xml"/>
  <Override ContentType="application/vnd.openxmlformats-officedocument.presentationml.slide+xml" PartName="/ppt/slides/slide94.xml"/>
  <Override ContentType="application/vnd.openxmlformats-officedocument.presentationml.slide+xml" PartName="/ppt/slides/slide578.xml"/>
  <Override ContentType="application/vnd.openxmlformats-officedocument.presentationml.slide+xml" PartName="/ppt/slides/slide217.xml"/>
  <Override ContentType="application/vnd.openxmlformats-officedocument.presentationml.slide+xml" PartName="/ppt/slides/slide281.xml"/>
  <Override ContentType="application/vnd.openxmlformats-officedocument.presentationml.slide+xml" PartName="/ppt/slides/slide71.xml"/>
  <Override ContentType="application/vnd.openxmlformats-officedocument.presentationml.slide+xml" PartName="/ppt/slides/slide497.xml"/>
  <Override ContentType="application/vnd.openxmlformats-officedocument.presentationml.slide+xml" PartName="/ppt/slides/slide659.xml"/>
  <Override ContentType="application/vnd.openxmlformats-officedocument.presentationml.slide+xml" PartName="/ppt/slides/slide233.xml"/>
  <Override ContentType="application/vnd.openxmlformats-officedocument.presentationml.slide+xml" PartName="/ppt/slides/slide594.xml"/>
  <Override ContentType="application/vnd.openxmlformats-officedocument.presentationml.slide+xml" PartName="/ppt/slides/slide362.xml"/>
  <Override ContentType="application/vnd.openxmlformats-officedocument.presentationml.slide+xml" PartName="/ppt/slides/slide265.xml"/>
  <Override ContentType="application/vnd.openxmlformats-officedocument.presentationml.slide+xml" PartName="/ppt/slides/slide23.xml"/>
  <Override ContentType="application/vnd.openxmlformats-officedocument.presentationml.slide+xml" PartName="/ppt/slides/slide628.xml"/>
  <Override ContentType="application/vnd.openxmlformats-officedocument.presentationml.slide+xml" PartName="/ppt/slides/slide136.xml"/>
  <Override ContentType="application/vnd.openxmlformats-officedocument.presentationml.slide+xml" PartName="/ppt/slides/slide547.xml"/>
  <Override ContentType="application/vnd.openxmlformats-officedocument.presentationml.slide+xml" PartName="/ppt/slides/slide184.xml"/>
  <Override ContentType="application/vnd.openxmlformats-officedocument.presentationml.slide+xml" PartName="/ppt/slides/slide411.xml"/>
  <Override ContentType="application/vnd.openxmlformats-officedocument.presentationml.slide+xml" PartName="/ppt/slides/slide314.xml"/>
  <Override ContentType="application/vnd.openxmlformats-officedocument.presentationml.slide+xml" PartName="/ppt/slides/slide675.xml"/>
  <Override ContentType="application/vnd.openxmlformats-officedocument.presentationml.slide+xml" PartName="/ppt/slides/slide419.xml"/>
  <Override ContentType="application/vnd.openxmlformats-officedocument.presentationml.slide+xml" PartName="/ppt/slides/slide338.xml"/>
  <Override ContentType="application/vnd.openxmlformats-officedocument.presentationml.slide+xml" PartName="/ppt/slides/slide613.xml"/>
  <Override ContentType="application/vnd.openxmlformats-officedocument.presentationml.slide+xml" PartName="/ppt/slides/slide507.xml"/>
  <Override ContentType="application/vnd.openxmlformats-officedocument.presentationml.slide+xml" PartName="/ppt/slides/slide443.xml"/>
  <Override ContentType="application/vnd.openxmlformats-officedocument.presentationml.slide+xml" PartName="/ppt/slides/slide168.xml"/>
  <Override ContentType="application/vnd.openxmlformats-officedocument.presentationml.slide+xml" PartName="/ppt/slides/slide605.xml"/>
  <Override ContentType="application/vnd.openxmlformats-officedocument.presentationml.slide+xml" PartName="/ppt/slides/slide426.xml"/>
  <Override ContentType="application/vnd.openxmlformats-officedocument.presentationml.slide+xml" PartName="/ppt/slides/slide152.xml"/>
  <Override ContentType="application/vnd.openxmlformats-officedocument.presentationml.slide+xml" PartName="/ppt/slides/slide257.xml"/>
  <Override ContentType="application/vnd.openxmlformats-officedocument.presentationml.slide+xml" PartName="/ppt/slides/slide161.xml"/>
  <Override ContentType="application/vnd.openxmlformats-officedocument.presentationml.slide+xml" PartName="/ppt/slides/slide532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524.xml"/>
  <Override ContentType="application/vnd.openxmlformats-officedocument.presentationml.slide+xml" PartName="/ppt/slides/slide699.xml"/>
  <Override ContentType="application/vnd.openxmlformats-officedocument.presentationml.slide+xml" PartName="/ppt/slides/slide701.xml"/>
  <Override ContentType="application/vnd.openxmlformats-officedocument.presentationml.slide+xml" PartName="/ppt/slides/slide515.xml"/>
  <Override ContentType="application/vnd.openxmlformats-officedocument.presentationml.slide+xml" PartName="/ppt/slides/slide55.xml"/>
  <Override ContentType="application/vnd.openxmlformats-officedocument.presentationml.slide+xml" PartName="/ppt/slides/slide249.xml"/>
  <Override ContentType="application/vnd.openxmlformats-officedocument.presentationml.slide+xml" PartName="/ppt/slides/slide306.xml"/>
  <Override ContentType="application/vnd.openxmlformats-officedocument.presentationml.slide+xml" PartName="/ppt/slides/slide667.xml"/>
  <Override ContentType="application/vnd.openxmlformats-officedocument.presentationml.slide+xml" PartName="/ppt/slides/slide272.xml"/>
  <Override ContentType="application/vnd.openxmlformats-officedocument.presentationml.slide+xml" PartName="/ppt/slides/slide323.xml"/>
  <Override ContentType="application/vnd.openxmlformats-officedocument.presentationml.slide+xml" PartName="/ppt/slides/slide242.xml"/>
  <Override ContentType="application/vnd.openxmlformats-officedocument.presentationml.slide+xml" PartName="/ppt/slides/slide586.xml"/>
  <Override ContentType="application/vnd.openxmlformats-officedocument.presentationml.slide+xml" PartName="/ppt/slides/slide129.xml"/>
  <Override ContentType="application/vnd.openxmlformats-officedocument.presentationml.slide+xml" PartName="/ppt/slides/slide63.xml"/>
  <Override ContentType="application/vnd.openxmlformats-officedocument.presentationml.slide+xml" PartName="/ppt/slides/slide159.xml"/>
  <Override ContentType="application/vnd.openxmlformats-officedocument.presentationml.slide+xml" PartName="/ppt/slides/slide404.xml"/>
  <Override ContentType="application/vnd.openxmlformats-officedocument.presentationml.slide+xml" PartName="/ppt/slides/slide144.xml"/>
  <Override ContentType="application/vnd.openxmlformats-officedocument.presentationml.slide+xml" PartName="/ppt/slides/slide434.xml"/>
  <Override ContentType="application/vnd.openxmlformats-officedocument.presentationml.slide+xml" PartName="/ppt/slides/slide451.xml"/>
  <Override ContentType="application/vnd.openxmlformats-officedocument.presentationml.slide+xml" PartName="/ppt/slides/slide31.xml"/>
  <Override ContentType="application/vnd.openxmlformats-officedocument.presentationml.slide+xml" PartName="/ppt/slides/slide458.xml"/>
  <Override ContentType="application/vnd.openxmlformats-officedocument.presentationml.slide+xml" PartName="/ppt/slides/slide176.xml"/>
  <Override ContentType="application/vnd.openxmlformats-officedocument.presentationml.slide+xml" PartName="/ppt/slides/slide225.xml"/>
  <Override ContentType="application/vnd.openxmlformats-officedocument.presentationml.slide+xml" PartName="/ppt/slides/slide370.xml"/>
  <Override ContentType="application/vnd.openxmlformats-officedocument.presentationml.slide+xml" PartName="/ppt/slides/slide500.xml"/>
  <Override ContentType="application/vnd.openxmlformats-officedocument.presentationml.slide+xml" PartName="/ppt/slides/slide684.xml"/>
  <Override ContentType="application/vnd.openxmlformats-officedocument.presentationml.slide+xml" PartName="/ppt/slides/slide539.xml"/>
  <Override ContentType="application/vnd.openxmlformats-officedocument.presentationml.slide+xml" PartName="/ppt/slides/slide353.xml"/>
  <Override ContentType="application/vnd.openxmlformats-officedocument.presentationml.slide+xml" PartName="/ppt/slides/slide651.xml"/>
  <Override ContentType="application/vnd.openxmlformats-officedocument.presentationml.slide+xml" PartName="/ppt/slides/slide465.xml"/>
  <Override ContentType="application/vnd.openxmlformats-officedocument.presentationml.slide+xml" PartName="/ppt/slides/slide201.xml"/>
  <Override ContentType="application/vnd.openxmlformats-officedocument.presentationml.slide+xml" PartName="/ppt/slides/slide287.xml"/>
  <Override ContentType="application/vnd.openxmlformats-officedocument.presentationml.slide+xml" PartName="/ppt/slides/slide376.xml"/>
  <Override ContentType="application/vnd.openxmlformats-officedocument.presentationml.slide+xml" PartName="/ppt/slides/slide538.xml"/>
  <Override ContentType="application/vnd.openxmlformats-officedocument.presentationml.slide+xml" PartName="/ppt/slides/slide562.xml"/>
  <Override ContentType="application/vnd.openxmlformats-officedocument.presentationml.slide+xml" PartName="/ppt/slides/slide449.xml"/>
  <Override ContentType="application/vnd.openxmlformats-officedocument.presentationml.slide+xml" PartName="/ppt/slides/slide95.xml"/>
  <Override ContentType="application/vnd.openxmlformats-officedocument.presentationml.slide+xml" PartName="/ppt/slides/slide386.xml"/>
  <Override ContentType="application/vnd.openxmlformats-officedocument.presentationml.slide+xml" PartName="/ppt/slides/slide475.xml"/>
  <Override ContentType="application/vnd.openxmlformats-officedocument.presentationml.slide+xml" PartName="/ppt/slides/slide211.xml"/>
  <Override ContentType="application/vnd.openxmlformats-officedocument.presentationml.slide+xml" PartName="/ppt/slides/slide483.xml"/>
  <Override ContentType="application/vnd.openxmlformats-officedocument.presentationml.slide+xml" PartName="/ppt/slides/slide661.xml"/>
  <Override ContentType="application/vnd.openxmlformats-officedocument.presentationml.slide+xml" PartName="/ppt/slides/slide77.xml"/>
  <Override ContentType="application/vnd.openxmlformats-officedocument.presentationml.slide+xml" PartName="/ppt/slides/slide297.xml"/>
  <Override ContentType="application/vnd.openxmlformats-officedocument.presentationml.slide+xml" PartName="/ppt/slides/slide122.xml"/>
  <Override ContentType="application/vnd.openxmlformats-officedocument.presentationml.slide+xml" PartName="/ppt/slides/slide572.xml"/>
  <Override ContentType="application/vnd.openxmlformats-officedocument.presentationml.slide+xml" PartName="/ppt/slides/slide191.xml"/>
  <Override ContentType="application/vnd.openxmlformats-officedocument.presentationml.slide+xml" PartName="/ppt/slides/slide279.xml"/>
  <Override ContentType="application/vnd.openxmlformats-officedocument.presentationml.slide+xml" PartName="/ppt/slides/slide104.xml"/>
  <Override ContentType="application/vnd.openxmlformats-officedocument.presentationml.slide+xml" PartName="/ppt/slides/slide554.xml"/>
  <Override ContentType="application/vnd.openxmlformats-officedocument.presentationml.slide+xml" PartName="/ppt/slides/slide24.xml"/>
  <Override ContentType="application/vnd.openxmlformats-officedocument.presentationml.slide+xml" PartName="/ppt/slides/slide137.xml"/>
  <Override ContentType="application/vnd.openxmlformats-officedocument.presentationml.slide+xml" PartName="/ppt/slides/slide548.xml"/>
  <Override ContentType="application/vnd.openxmlformats-officedocument.presentationml.slide+xml" PartName="/ppt/slides/slide361.xml"/>
  <Override ContentType="application/vnd.openxmlformats-officedocument.presentationml.slide+xml" PartName="/ppt/slides/slide412.xml"/>
  <Override ContentType="application/vnd.openxmlformats-officedocument.presentationml.slide+xml" PartName="/ppt/slides/slide250.xml"/>
  <Override ContentType="application/vnd.openxmlformats-officedocument.presentationml.slide+xml" PartName="/ppt/slides/slide676.xml"/>
  <Override ContentType="application/vnd.openxmlformats-officedocument.presentationml.slide+xml" PartName="/ppt/slides/slide153.xml"/>
  <Override ContentType="application/vnd.openxmlformats-officedocument.presentationml.slide+xml" PartName="/ppt/slides/slide248.xml"/>
  <Override ContentType="application/vnd.openxmlformats-officedocument.presentationml.slide+xml" PartName="/ppt/slides/slide300.xml"/>
  <Override ContentType="application/vnd.openxmlformats-officedocument.presentationml.slide+xml" PartName="/ppt/slides/slide315.xml"/>
  <Override ContentType="application/vnd.openxmlformats-officedocument.presentationml.slide+xml" PartName="/ppt/slides/slide392.xml"/>
  <Override ContentType="application/vnd.openxmlformats-officedocument.presentationml.slide+xml" PartName="/ppt/slides/slide577.xml"/>
  <Override ContentType="application/vnd.openxmlformats-officedocument.presentationml.slide+xml" PartName="/ppt/slides/slide282.xml"/>
  <Override ContentType="application/vnd.openxmlformats-officedocument.presentationml.slide+xml" PartName="/ppt/slides/slide216.xml"/>
  <Override ContentType="application/vnd.openxmlformats-officedocument.presentationml.slide+xml" PartName="/ppt/slides/slide627.xml"/>
  <Override ContentType="application/vnd.openxmlformats-officedocument.presentationml.slide+xml" PartName="/ppt/slides/slide6.xml"/>
  <Override ContentType="application/vnd.openxmlformats-officedocument.presentationml.slide+xml" PartName="/ppt/slides/slide264.xml"/>
  <Override ContentType="application/vnd.openxmlformats-officedocument.presentationml.slide+xml" PartName="/ppt/slides/slide498.xml"/>
  <Override ContentType="application/vnd.openxmlformats-officedocument.presentationml.slide+xml" PartName="/ppt/slides/slide119.xml"/>
  <Override ContentType="application/vnd.openxmlformats-officedocument.presentationml.slide+xml" PartName="/ppt/slides/slide645.xml"/>
  <Override ContentType="application/vnd.openxmlformats-officedocument.presentationml.slide+xml" PartName="/ppt/slides/slide40.xml"/>
  <Override ContentType="application/vnd.openxmlformats-officedocument.presentationml.slide+xml" PartName="/ppt/slides/slide169.xml"/>
  <Override ContentType="application/vnd.openxmlformats-officedocument.presentationml.slide+xml" PartName="/ppt/slides/slide516.xml"/>
  <Override ContentType="application/vnd.openxmlformats-officedocument.presentationml.slide+xml" PartName="/ppt/slides/slide258.xml"/>
  <Override ContentType="application/vnd.openxmlformats-officedocument.presentationml.slide+xml" PartName="/ppt/slides/slide30.xml"/>
  <Override ContentType="application/vnd.openxmlformats-officedocument.presentationml.slide+xml" PartName="/ppt/slides/slide444.xml"/>
  <Override ContentType="application/vnd.openxmlformats-officedocument.presentationml.slide+xml" PartName="/ppt/slides/slide702.xml"/>
  <Override ContentType="application/vnd.openxmlformats-officedocument.presentationml.slide+xml" PartName="/ppt/slides/slide427.xml"/>
  <Override ContentType="application/vnd.openxmlformats-officedocument.presentationml.slide+xml" PartName="/ppt/slides/slide533.xml"/>
  <Override ContentType="application/vnd.openxmlformats-officedocument.presentationml.slide+xml" PartName="/ppt/slides/slide371.xml"/>
  <Override ContentType="application/vnd.openxmlformats-officedocument.presentationml.slide+xml" PartName="/ppt/slides/slide39.xml"/>
  <Override ContentType="application/vnd.openxmlformats-officedocument.presentationml.slide+xml" PartName="/ppt/slides/slide56.xml"/>
  <Override ContentType="application/vnd.openxmlformats-officedocument.presentationml.slide+xml" PartName="/ppt/slides/slide540.xml"/>
  <Override ContentType="application/vnd.openxmlformats-officedocument.presentationml.slide+xml" PartName="/ppt/slides/slide354.xml"/>
  <Override ContentType="application/vnd.openxmlformats-officedocument.presentationml.slide+xml" PartName="/ppt/slides/slide337.xml"/>
  <Override ContentType="application/vnd.openxmlformats-officedocument.presentationml.slide+xml" PartName="/ppt/slides/slide698.xml"/>
  <Override ContentType="application/vnd.openxmlformats-officedocument.presentationml.slide+xml" PartName="/ppt/slides/slide523.xml"/>
  <Override ContentType="application/vnd.openxmlformats-officedocument.presentationml.slide+xml" PartName="/ppt/slides/slide506.xml"/>
  <Override ContentType="application/vnd.openxmlformats-officedocument.presentationml.slide+xml" PartName="/ppt/slides/slide160.xml"/>
  <Override ContentType="application/vnd.openxmlformats-officedocument.presentationml.slide+xml" PartName="/ppt/slides/slide612.xml"/>
  <Override ContentType="application/vnd.openxmlformats-officedocument.presentationml.slide+xml" PartName="/ppt/slides/slide232.xml"/>
  <Override ContentType="application/vnd.openxmlformats-officedocument.presentationml.slide+xml" PartName="/ppt/slides/slide593.xml"/>
  <Override ContentType="application/vnd.openxmlformats-officedocument.presentationml.slide+xml" PartName="/ppt/slides/slide143.xml"/>
  <Override ContentType="application/vnd.openxmlformats-officedocument.presentationml.slide+xml" PartName="/ppt/slides/slide433.xml"/>
  <Override ContentType="application/vnd.openxmlformats-officedocument.presentationml.slide+xml" PartName="/ppt/slides/slide450.xml"/>
  <Override ContentType="application/vnd.openxmlformats-officedocument.presentationml.slide+xml" PartName="/ppt/slides/slide62.xml"/>
  <Override ContentType="application/vnd.openxmlformats-officedocument.presentationml.slide+xml" PartName="/ppt/slides/slide587.xml"/>
  <Override ContentType="application/vnd.openxmlformats-officedocument.presentationml.slide+xml" PartName="/ppt/slides/slide175.xml"/>
  <Override ContentType="application/vnd.openxmlformats-officedocument.presentationml.slide+xml" PartName="/ppt/slides/slide322.xml"/>
  <Override ContentType="application/vnd.openxmlformats-officedocument.presentationml.slide+xml" PartName="/ppt/slides/slide501.xml"/>
  <Override ContentType="application/vnd.openxmlformats-officedocument.presentationml.slide+xml" PartName="/ppt/slides/slide683.xml"/>
  <Override ContentType="application/vnd.openxmlformats-officedocument.presentationml.slide+xml" PartName="/ppt/slides/slide192.xml"/>
  <Override ContentType="application/vnd.openxmlformats-officedocument.presentationml.slide+xml" PartName="/ppt/slides/slide45.xml"/>
  <Override ContentType="application/vnd.openxmlformats-officedocument.presentationml.slide+xml" PartName="/ppt/slides/slide226.xml"/>
  <Override ContentType="application/vnd.openxmlformats-officedocument.presentationml.slide+xml" PartName="/ppt/slides/slide209.xml"/>
  <Override ContentType="application/vnd.openxmlformats-officedocument.presentationml.slide+xml" PartName="/ppt/slides/slide606.xml"/>
  <Override ContentType="application/vnd.openxmlformats-officedocument.presentationml.slide+xml" PartName="/ppt/slides/slide305.xml"/>
  <Override ContentType="application/vnd.openxmlformats-officedocument.presentationml.slide+xml" PartName="/ppt/slides/slide243.xml"/>
  <Override ContentType="application/vnd.openxmlformats-officedocument.presentationml.slide+xml" PartName="/ppt/slides/slide666.xml"/>
  <Override ContentType="application/vnd.openxmlformats-officedocument.presentationml.slide+xml" PartName="/ppt/slides/slide459.xml"/>
  <Override ContentType="application/vnd.openxmlformats-officedocument.presentationml.slide+xml" PartName="/ppt/slides/slide158.xml"/>
  <Override ContentType="application/vnd.openxmlformats-officedocument.presentationml.slide+xml" PartName="/ppt/slides/slide308.xml"/>
  <Override ContentType="application/vnd.openxmlformats-officedocument.presentationml.slide+xml" PartName="/ppt/slides/slide3.xml"/>
  <Override ContentType="application/vnd.openxmlformats-officedocument.presentationml.slide+xml" PartName="/ppt/slides/slide529.xml"/>
  <Override ContentType="application/vnd.openxmlformats-officedocument.presentationml.slide+xml" PartName="/ppt/slides/slide685.xml"/>
  <Override ContentType="application/vnd.openxmlformats-officedocument.presentationml.slide+xml" PartName="/ppt/slides/slide182.xml"/>
  <Override ContentType="application/vnd.openxmlformats-officedocument.presentationml.slide+xml" PartName="/ppt/slides/slide499.xml"/>
  <Override ContentType="application/vnd.openxmlformats-officedocument.presentationml.slide+xml" PartName="/ppt/slides/slide25.xml"/>
  <Override ContentType="application/vnd.openxmlformats-officedocument.presentationml.slide+xml" PartName="/ppt/slides/slide642.xml"/>
  <Override ContentType="application/vnd.openxmlformats-officedocument.presentationml.slide+xml" PartName="/ppt/slides/slide190.xml"/>
  <Override ContentType="application/vnd.openxmlformats-officedocument.presentationml.slide+xml" PartName="/ppt/slides/slide227.xml"/>
  <Override ContentType="application/vnd.openxmlformats-officedocument.presentationml.slide+xml" PartName="/ppt/slides/slide413.xml"/>
  <Override ContentType="application/vnd.openxmlformats-officedocument.presentationml.slide+xml" PartName="/ppt/slides/slide456.xml"/>
  <Override ContentType="application/vnd.openxmlformats-officedocument.presentationml.slide+xml" PartName="/ppt/slides/slide492.xml"/>
  <Override ContentType="application/vnd.openxmlformats-officedocument.presentationml.slide+xml" PartName="/ppt/slides/slide33.xml"/>
  <Override ContentType="application/vnd.openxmlformats-officedocument.presentationml.slide+xml" PartName="/ppt/slides/slide634.xml"/>
  <Override ContentType="application/vnd.openxmlformats-officedocument.presentationml.slide+xml" PartName="/ppt/slides/slide677.xml"/>
  <Override ContentType="application/vnd.openxmlformats-officedocument.presentationml.slide+xml" PartName="/ppt/slides/slide537.xml"/>
  <Override ContentType="application/vnd.openxmlformats-officedocument.presentationml.slide+xml" PartName="/ppt/slides/slide68.xml"/>
  <Override ContentType="application/vnd.openxmlformats-officedocument.presentationml.slide+xml" PartName="/ppt/slides/slide170.xml"/>
  <Override ContentType="application/vnd.openxmlformats-officedocument.presentationml.slide+xml" PartName="/ppt/slides/slide565.xml"/>
  <Override ContentType="application/vnd.openxmlformats-officedocument.presentationml.slide+xml" PartName="/ppt/slides/slide522.xml"/>
  <Override ContentType="application/vnd.openxmlformats-officedocument.presentationml.slide+xml" PartName="/ppt/slides/slide107.xml"/>
  <Override ContentType="application/vnd.openxmlformats-officedocument.presentationml.slide+xml" PartName="/ppt/slides/slide662.xml"/>
  <Override ContentType="application/vnd.openxmlformats-officedocument.presentationml.slide+xml" PartName="/ppt/slides/slide441.xml"/>
  <Override ContentType="application/vnd.openxmlformats-officedocument.presentationml.slide+xml" PartName="/ppt/slides/slide220.xml"/>
  <Override ContentType="application/vnd.openxmlformats-officedocument.presentationml.slide+xml" PartName="/ppt/slides/slide263.xml"/>
  <Override ContentType="application/vnd.openxmlformats-officedocument.presentationml.slide+xml" PartName="/ppt/slides/slide549.xml"/>
  <Override ContentType="application/vnd.openxmlformats-officedocument.presentationml.slide+xml" PartName="/ppt/slides/slide700.xml"/>
  <Override ContentType="application/vnd.openxmlformats-officedocument.presentationml.slide+xml" PartName="/ppt/slides/slide484.xml"/>
  <Override ContentType="application/vnd.openxmlformats-officedocument.presentationml.slide+xml" PartName="/ppt/slides/slide391.xml"/>
  <Override ContentType="application/vnd.openxmlformats-officedocument.presentationml.slide+xml" PartName="/ppt/slides/slide328.xml"/>
  <Override ContentType="application/vnd.openxmlformats-officedocument.presentationml.slide+xml" PartName="/ppt/slides/slide235.xml"/>
  <Override ContentType="application/vnd.openxmlformats-officedocument.presentationml.slide+xml" PartName="/ppt/slides/slide650.xml"/>
  <Override ContentType="application/vnd.openxmlformats-officedocument.presentationml.slide+xml" PartName="/ppt/slides/slide278.xml"/>
  <Override ContentType="application/vnd.openxmlformats-officedocument.presentationml.slide+xml" PartName="/ppt/slides/slide614.xml"/>
  <Override ContentType="application/vnd.openxmlformats-officedocument.presentationml.slide+xml" PartName="/ppt/slides/slide693.xml"/>
  <Override ContentType="application/vnd.openxmlformats-officedocument.presentationml.slide+xml" PartName="/ppt/slides/slide154.xml"/>
  <Override ContentType="application/vnd.openxmlformats-officedocument.presentationml.slide+xml" PartName="/ppt/slides/slide197.xml"/>
  <Override ContentType="application/vnd.openxmlformats-officedocument.presentationml.slide+xml" PartName="/ppt/slides/slide10.xml"/>
  <Override ContentType="application/vnd.openxmlformats-officedocument.presentationml.slide+xml" PartName="/ppt/slides/slide111.xml"/>
  <Override ContentType="application/vnd.openxmlformats-officedocument.presentationml.slide+xml" PartName="/ppt/slides/slide53.xml"/>
  <Override ContentType="application/vnd.openxmlformats-officedocument.presentationml.slide+xml" PartName="/ppt/slides/slide96.xml"/>
  <Override ContentType="application/vnd.openxmlformats-officedocument.presentationml.slide+xml" PartName="/ppt/slides/slide48.xml"/>
  <Override ContentType="application/vnd.openxmlformats-officedocument.presentationml.slide+xml" PartName="/ppt/slides/slide355.xml"/>
  <Override ContentType="application/vnd.openxmlformats-officedocument.presentationml.slide+xml" PartName="/ppt/slides/slide541.xml"/>
  <Override ContentType="application/vnd.openxmlformats-officedocument.presentationml.slide+xml" PartName="/ppt/slides/slide584.xml"/>
  <Override ContentType="application/vnd.openxmlformats-officedocument.presentationml.slide+xml" PartName="/ppt/slides/slide283.xml"/>
  <Override ContentType="application/vnd.openxmlformats-officedocument.presentationml.slide+xml" PartName="/ppt/slides/slide291.xml"/>
  <Override ContentType="application/vnd.openxmlformats-officedocument.presentationml.slide+xml" PartName="/ppt/slides/slide312.xml"/>
  <Override ContentType="application/vnd.openxmlformats-officedocument.presentationml.slide+xml" PartName="/ppt/slides/slide398.xml"/>
  <Override ContentType="application/vnd.openxmlformats-officedocument.presentationml.slide+xml" PartName="/ppt/slides/slide240.xml"/>
  <Override ContentType="application/vnd.openxmlformats-officedocument.presentationml.slide+xml" PartName="/ppt/slides/slide665.xml"/>
  <Override ContentType="application/vnd.openxmlformats-officedocument.presentationml.slide+xml" PartName="/ppt/slides/slide690.xml"/>
  <Override ContentType="application/vnd.openxmlformats-officedocument.presentationml.slide+xml" PartName="/ppt/slides/slide436.xml"/>
  <Override ContentType="application/vnd.openxmlformats-officedocument.presentationml.slide+xml" PartName="/ppt/slides/slide479.xml"/>
  <Override ContentType="application/vnd.openxmlformats-officedocument.presentationml.slide+xml" PartName="/ppt/slides/slide185.xml"/>
  <Override ContentType="application/vnd.openxmlformats-officedocument.presentationml.slide+xml" PartName="/ppt/slides/slide622.xml"/>
  <Override ContentType="application/vnd.openxmlformats-officedocument.presentationml.slide+xml" PartName="/ppt/slides/slide142.xml"/>
  <Override ContentType="application/vnd.openxmlformats-officedocument.presentationml.slide+xml" PartName="/ppt/slides/slide592.xml"/>
  <Override ContentType="application/vnd.openxmlformats-officedocument.presentationml.slide+xml" PartName="/ppt/slides/slide135.xml"/>
  <Override ContentType="application/vnd.openxmlformats-officedocument.presentationml.slide+xml" PartName="/ppt/slides/slide321.xml"/>
  <Override ContentType="application/vnd.openxmlformats-officedocument.presentationml.slide+xml" PartName="/ppt/slides/slide178.xml"/>
  <Override ContentType="application/vnd.openxmlformats-officedocument.presentationml.slide+xml" PartName="/ppt/slides/slide364.xml"/>
  <Override ContentType="application/vnd.openxmlformats-officedocument.presentationml.slide+xml" PartName="/ppt/slides/slide409.xml"/>
  <Override ContentType="application/vnd.openxmlformats-officedocument.presentationml.slide+xml" PartName="/ppt/slides/slide379.xml"/>
  <Override ContentType="application/vnd.openxmlformats-officedocument.presentationml.slide+xml" PartName="/ppt/slides/slide637.xml"/>
  <Override ContentType="application/vnd.openxmlformats-officedocument.presentationml.slide+xml" PartName="/ppt/slides/slide212.xml"/>
  <Override ContentType="application/vnd.openxmlformats-officedocument.presentationml.slide+xml" PartName="/ppt/slides/slide336.xml"/>
  <Override ContentType="application/vnd.openxmlformats-officedocument.presentationml.slide+xml" PartName="/ppt/slides/slide255.xml"/>
  <Override ContentType="application/vnd.openxmlformats-officedocument.presentationml.slide+xml" PartName="/ppt/slides/slide76.xml"/>
  <Override ContentType="application/vnd.openxmlformats-officedocument.presentationml.slide+xml" PartName="/ppt/slides/slide298.xml"/>
  <Override ContentType="application/vnd.openxmlformats-officedocument.presentationml.slide+xml" PartName="/ppt/slides/slide80.xml"/>
  <Override ContentType="application/vnd.openxmlformats-officedocument.presentationml.slide+xml" PartName="/ppt/slides/slide607.xml"/>
  <Override ContentType="application/vnd.openxmlformats-officedocument.presentationml.slide+xml" PartName="/ppt/slides/slide61.xml"/>
  <Override ContentType="application/vnd.openxmlformats-officedocument.presentationml.slide+xml" PartName="/ppt/slides/slide421.xml"/>
  <Override ContentType="application/vnd.openxmlformats-officedocument.presentationml.slide+xml" PartName="/ppt/slides/slide114.xml"/>
  <Override ContentType="application/vnd.openxmlformats-officedocument.presentationml.slide+xml" PartName="/ppt/slides/slide163.xml"/>
  <Override ContentType="application/vnd.openxmlformats-officedocument.presentationml.slide+xml" PartName="/ppt/slides/slide127.xml"/>
  <Override ContentType="application/vnd.openxmlformats-officedocument.presentationml.slide+xml" PartName="/ppt/slides/slide464.xml"/>
  <Override ContentType="application/vnd.openxmlformats-officedocument.presentationml.slide+xml" PartName="/ppt/slides/slide120.xml"/>
  <Override ContentType="application/vnd.openxmlformats-officedocument.presentationml.slide+xml" PartName="/ppt/slides/slide509.xml"/>
  <Override ContentType="application/vnd.openxmlformats-officedocument.presentationml.slide+xml" PartName="/ppt/slides/slide599.xml"/>
  <Override ContentType="application/vnd.openxmlformats-officedocument.presentationml.slide+xml" PartName="/ppt/slides/slide428.xml"/>
  <Override ContentType="application/vnd.openxmlformats-officedocument.presentationml.slide+xml" PartName="/ppt/slides/slide383.xml"/>
  <Override ContentType="application/vnd.openxmlformats-officedocument.presentationml.slide+xml" PartName="/ppt/slides/slide556.xml"/>
  <Override ContentType="application/vnd.openxmlformats-officedocument.presentationml.slide+xml" PartName="/ppt/slides/slide208.xml"/>
  <Override ContentType="application/vnd.openxmlformats-officedocument.presentationml.slide+xml" PartName="/ppt/slides/slide340.xml"/>
  <Override ContentType="application/vnd.openxmlformats-officedocument.presentationml.slide+xml" PartName="/ppt/slides/slide513.xml"/>
  <Override ContentType="application/vnd.openxmlformats-officedocument.presentationml.slide+xml" PartName="/ppt/slides/slide457.xml"/>
  <Override ContentType="application/vnd.openxmlformats-officedocument.presentationml.slide+xml" PartName="/ppt/slides/slide643.xml"/>
  <Override ContentType="application/vnd.openxmlformats-officedocument.presentationml.slide+xml" PartName="/ppt/slides/slide4.xml"/>
  <Override ContentType="application/vnd.openxmlformats-officedocument.presentationml.slide+xml" PartName="/ppt/slides/slide228.xml"/>
  <Override ContentType="application/vnd.openxmlformats-officedocument.presentationml.slide+xml" PartName="/ppt/slides/slide600.xml"/>
  <Override ContentType="application/vnd.openxmlformats-officedocument.presentationml.slide+xml" PartName="/ppt/slides/slide678.xml"/>
  <Override ContentType="application/vnd.openxmlformats-officedocument.presentationml.slide+xml" PartName="/ppt/slides/slide60.xml"/>
  <Override ContentType="application/vnd.openxmlformats-officedocument.presentationml.slide+xml" PartName="/ppt/slides/slide414.xml"/>
  <Override ContentType="application/vnd.openxmlformats-officedocument.presentationml.slide+xml" PartName="/ppt/slides/slide609.xml"/>
  <Override ContentType="application/vnd.openxmlformats-officedocument.presentationml.slide+xml" PartName="/ppt/slides/slide26.xml"/>
  <Override ContentType="application/vnd.openxmlformats-officedocument.presentationml.slide+xml" PartName="/ppt/slides/slide112.xml"/>
  <Override ContentType="application/vnd.openxmlformats-officedocument.presentationml.slide+xml" PartName="/ppt/slides/slide384.xml"/>
  <Override ContentType="application/vnd.openxmlformats-officedocument.presentationml.slide+xml" PartName="/ppt/slides/slide198.xml"/>
  <Override ContentType="application/vnd.openxmlformats-officedocument.presentationml.slide+xml" PartName="/ppt/slides/slide635.xml"/>
  <Override ContentType="application/vnd.openxmlformats-officedocument.presentationml.slide+xml" PartName="/ppt/slides/slide155.xml"/>
  <Override ContentType="application/vnd.openxmlformats-officedocument.presentationml.slide+xml" PartName="/ppt/slides/slide341.xml"/>
  <Override ContentType="application/vnd.openxmlformats-officedocument.presentationml.slide+xml" PartName="/ppt/slides/slide69.xml"/>
  <Override ContentType="application/vnd.openxmlformats-officedocument.presentationml.slide+xml" PartName="/ppt/slides/slide536.xml"/>
  <Override ContentType="application/vnd.openxmlformats-officedocument.presentationml.slide+xml" PartName="/ppt/slides/slide307.xml"/>
  <Override ContentType="application/vnd.openxmlformats-officedocument.presentationml.slide+xml" PartName="/ppt/slides/slide491.xml"/>
  <Override ContentType="application/vnd.openxmlformats-officedocument.presentationml.slide+xml" PartName="/ppt/slides/slide262.xml"/>
  <Override ContentType="application/vnd.openxmlformats-officedocument.presentationml.slide+xml" PartName="/ppt/slides/slide686.xml"/>
  <Override ContentType="application/vnd.openxmlformats-officedocument.presentationml.slide+xml" PartName="/ppt/slides/slide97.xml"/>
  <Override ContentType="application/vnd.openxmlformats-officedocument.presentationml.slide+xml" PartName="/ppt/slides/slide408.xml"/>
  <Override ContentType="application/vnd.openxmlformats-officedocument.presentationml.slide+xml" PartName="/ppt/slides/slide692.xml"/>
  <Override ContentType="application/vnd.openxmlformats-officedocument.presentationml.slide+xml" PartName="/ppt/slides/slide140.xml"/>
  <Override ContentType="application/vnd.openxmlformats-officedocument.presentationml.slide+xml" PartName="/ppt/slides/slide277.xml"/>
  <Override ContentType="application/vnd.openxmlformats-officedocument.presentationml.slide+xml" PartName="/ppt/slides/slide11.xml"/>
  <Override ContentType="application/vnd.openxmlformats-officedocument.presentationml.slide+xml" PartName="/ppt/slides/slide629.xml"/>
  <Override ContentType="application/vnd.openxmlformats-officedocument.presentationml.slide+xml" PartName="/ppt/slides/slide183.xml"/>
  <Override ContentType="application/vnd.openxmlformats-officedocument.presentationml.slide+xml" PartName="/ppt/slides/slide564.xml"/>
  <Override ContentType="application/vnd.openxmlformats-officedocument.presentationml.slide+xml" PartName="/ppt/slides/slide579.xml"/>
  <Override ContentType="application/vnd.openxmlformats-officedocument.presentationml.slide+xml" PartName="/ppt/slides/slide620.xml"/>
  <Override ContentType="application/vnd.openxmlformats-officedocument.presentationml.slide+xml" PartName="/ppt/slides/slide54.xml"/>
  <Override ContentType="application/vnd.openxmlformats-officedocument.presentationml.slide+xml" PartName="/ppt/slides/slide313.xml"/>
  <Override ContentType="application/vnd.openxmlformats-officedocument.presentationml.slide+xml" PartName="/ppt/slides/slide149.xml"/>
  <Override ContentType="application/vnd.openxmlformats-officedocument.presentationml.slide+xml" PartName="/ppt/slides/slide663.xml"/>
  <Override ContentType="application/vnd.openxmlformats-officedocument.presentationml.slide+xml" PartName="/ppt/slides/slide521.xml"/>
  <Override ContentType="application/vnd.openxmlformats-officedocument.presentationml.slide+xml" PartName="/ppt/slides/slide570.xml"/>
  <Override ContentType="application/vnd.openxmlformats-officedocument.presentationml.slide+xml" PartName="/ppt/slides/slide442.xml"/>
  <Override ContentType="application/vnd.openxmlformats-officedocument.presentationml.slide+xml" PartName="/ppt/slides/slide485.xml"/>
  <Override ContentType="application/vnd.openxmlformats-officedocument.presentationml.slide+xml" PartName="/ppt/slides/slide615.xml"/>
  <Override ContentType="application/vnd.openxmlformats-officedocument.presentationml.slide+xml" PartName="/ppt/slides/slide658.xml"/>
  <Override ContentType="application/vnd.openxmlformats-officedocument.presentationml.slide+xml" PartName="/ppt/slides/slide106.xml"/>
  <Override ContentType="application/vnd.openxmlformats-officedocument.presentationml.slide+xml" PartName="/ppt/slides/slide234.xml"/>
  <Override ContentType="application/vnd.openxmlformats-officedocument.presentationml.slide+xml" PartName="/ppt/slides/slide177.xml"/>
  <Override ContentType="application/vnd.openxmlformats-officedocument.presentationml.slide+xml" PartName="/ppt/slides/slide363.xml"/>
  <Override ContentType="application/vnd.openxmlformats-officedocument.presentationml.slide+xml" PartName="/ppt/slides/slide134.xml"/>
  <Override ContentType="application/vnd.openxmlformats-officedocument.presentationml.slide+xml" PartName="/ppt/slides/slide320.xml"/>
  <Override ContentType="application/vnd.openxmlformats-officedocument.presentationml.slide+xml" PartName="/ppt/slides/slide508.xml"/>
  <Override ContentType="application/vnd.openxmlformats-officedocument.presentationml.slide+xml" PartName="/ppt/slides/slide207.xml"/>
  <Override ContentType="application/vnd.openxmlformats-officedocument.presentationml.slide+xml" PartName="/ppt/slides/slide657.xml"/>
  <Override ContentType="application/vnd.openxmlformats-officedocument.presentationml.slide+xml" PartName="/ppt/slides/slide356.xml"/>
  <Override ContentType="application/vnd.openxmlformats-officedocument.presentationml.slide+xml" PartName="/ppt/slides/slide542.xml"/>
  <Override ContentType="application/vnd.openxmlformats-officedocument.presentationml.slide+xml" PartName="/ppt/slides/slide284.xml"/>
  <Override ContentType="application/vnd.openxmlformats-officedocument.presentationml.slide+xml" PartName="/ppt/slides/slide399.xml"/>
  <Override ContentType="application/vnd.openxmlformats-officedocument.presentationml.slide+xml" PartName="/ppt/slides/slide585.xml"/>
  <Override ContentType="application/vnd.openxmlformats-officedocument.presentationml.slide+xml" PartName="/ppt/slides/slide47.xml"/>
  <Override ContentType="application/vnd.openxmlformats-officedocument.presentationml.slide+xml" PartName="/ppt/slides/slide241.xml"/>
  <Override ContentType="application/vnd.openxmlformats-officedocument.presentationml.slide+xml" PartName="/ppt/slides/slide691.xml"/>
  <Override ContentType="application/vnd.openxmlformats-officedocument.presentationml.slide+xml" PartName="/ppt/slides/slide478.xml"/>
  <Override ContentType="application/vnd.openxmlformats-officedocument.presentationml.slide+xml" PartName="/ppt/slides/slide664.xml"/>
  <Override ContentType="application/vnd.openxmlformats-officedocument.presentationml.slide+xml" PartName="/ppt/slides/slide390.xml"/>
  <Override ContentType="application/vnd.openxmlformats-officedocument.presentationml.slide+xml" PartName="/ppt/slides/slide621.xml"/>
  <Override ContentType="application/vnd.openxmlformats-officedocument.presentationml.slide+xml" PartName="/ppt/slides/slide81.xml"/>
  <Override ContentType="application/vnd.openxmlformats-officedocument.presentationml.slide+xml" PartName="/ppt/slides/slide435.xml"/>
  <Override ContentType="application/vnd.openxmlformats-officedocument.presentationml.slide+xml" PartName="/ppt/slides/slide329.xml"/>
  <Override ContentType="application/vnd.openxmlformats-officedocument.presentationml.slide+xml" PartName="/ppt/slides/slide463.xml"/>
  <Override ContentType="application/vnd.openxmlformats-officedocument.presentationml.slide+xml" PartName="/ppt/slides/slide162.xml"/>
  <Override ContentType="application/vnd.openxmlformats-officedocument.presentationml.slide+xml" PartName="/ppt/slides/slide32.xml"/>
  <Override ContentType="application/vnd.openxmlformats-officedocument.presentationml.slide+xml" PartName="/ppt/slides/slide75.xml"/>
  <Override ContentType="application/vnd.openxmlformats-officedocument.presentationml.slide+xml" PartName="/ppt/slides/slide213.xml"/>
  <Override ContentType="application/vnd.openxmlformats-officedocument.presentationml.slide+xml" PartName="/ppt/slides/slide557.xml"/>
  <Override ContentType="application/vnd.openxmlformats-officedocument.presentationml.slide+xml" PartName="/ppt/slides/slide514.xml"/>
  <Override ContentType="application/vnd.openxmlformats-officedocument.presentationml.slide+xml" PartName="/ppt/slides/slide670.xml"/>
  <Override ContentType="application/vnd.openxmlformats-officedocument.presentationml.slide+xml" PartName="/ppt/slides/slide679.xml"/>
  <Override ContentType="application/vnd.openxmlformats-officedocument.presentationml.slide+xml" PartName="/ppt/slides/slide290.xml"/>
  <Override ContentType="application/vnd.openxmlformats-officedocument.presentationml.slide+xml" PartName="/ppt/slides/slide378.xml"/>
  <Override ContentType="application/vnd.openxmlformats-officedocument.presentationml.slide+xml" PartName="/ppt/slides/slide636.xml"/>
  <Override ContentType="application/vnd.openxmlformats-officedocument.presentationml.slide+xml" PartName="/ppt/slides/slide335.xml"/>
  <Override ContentType="application/vnd.openxmlformats-officedocument.presentationml.slide+xml" PartName="/ppt/slides/slide256.xml"/>
  <Override ContentType="application/vnd.openxmlformats-officedocument.presentationml.slide+xml" PartName="/ppt/slides/slide429.xml"/>
  <Override ContentType="application/vnd.openxmlformats-officedocument.presentationml.slide+xml" PartName="/ppt/slides/slide299.xml"/>
  <Override ContentType="application/vnd.openxmlformats-officedocument.presentationml.slide+xml" PartName="/ppt/slides/slide128.xml"/>
  <Override ContentType="application/vnd.openxmlformats-officedocument.presentationml.slide+xml" PartName="/ppt/slides/slide591.xml"/>
  <Override ContentType="application/vnd.openxmlformats-officedocument.presentationml.slide+xml" PartName="/ppt/slides/slide42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93" r:id="rId5"/>
    <p:sldMasterId id="2147483694" r:id="rId6"/>
    <p:sldMasterId id="2147483695" r:id="rId7"/>
    <p:sldMasterId id="2147483696" r:id="rId8"/>
  </p:sldMasterIdLst>
  <p:notesMasterIdLst>
    <p:notesMasterId r:id="rId9"/>
  </p:notesMasterIdLst>
  <p:sldIdLst>
    <p:sldId id="256" r:id="rId10"/>
    <p:sldId id="257" r:id="rId11"/>
    <p:sldId id="258" r:id="rId12"/>
    <p:sldId id="259" r:id="rId13"/>
    <p:sldId id="260" r:id="rId14"/>
    <p:sldId id="261" r:id="rId15"/>
    <p:sldId id="262" r:id="rId16"/>
    <p:sldId id="263" r:id="rId17"/>
    <p:sldId id="264" r:id="rId18"/>
    <p:sldId id="265" r:id="rId19"/>
    <p:sldId id="266" r:id="rId20"/>
    <p:sldId id="267" r:id="rId21"/>
    <p:sldId id="268" r:id="rId22"/>
    <p:sldId id="269" r:id="rId23"/>
    <p:sldId id="270" r:id="rId24"/>
    <p:sldId id="271" r:id="rId25"/>
    <p:sldId id="272" r:id="rId26"/>
    <p:sldId id="273" r:id="rId27"/>
    <p:sldId id="274" r:id="rId28"/>
    <p:sldId id="275" r:id="rId29"/>
    <p:sldId id="276" r:id="rId30"/>
    <p:sldId id="277" r:id="rId31"/>
    <p:sldId id="278" r:id="rId32"/>
    <p:sldId id="279" r:id="rId33"/>
    <p:sldId id="280" r:id="rId34"/>
    <p:sldId id="281" r:id="rId35"/>
    <p:sldId id="282" r:id="rId36"/>
    <p:sldId id="283" r:id="rId37"/>
    <p:sldId id="284" r:id="rId38"/>
    <p:sldId id="285" r:id="rId39"/>
    <p:sldId id="286" r:id="rId40"/>
    <p:sldId id="287" r:id="rId41"/>
    <p:sldId id="288" r:id="rId42"/>
    <p:sldId id="289" r:id="rId43"/>
    <p:sldId id="290" r:id="rId44"/>
    <p:sldId id="291" r:id="rId45"/>
    <p:sldId id="292" r:id="rId46"/>
    <p:sldId id="293" r:id="rId47"/>
    <p:sldId id="294" r:id="rId48"/>
    <p:sldId id="295" r:id="rId49"/>
    <p:sldId id="296" r:id="rId50"/>
    <p:sldId id="297" r:id="rId51"/>
    <p:sldId id="298" r:id="rId52"/>
    <p:sldId id="299" r:id="rId53"/>
    <p:sldId id="300" r:id="rId54"/>
    <p:sldId id="301" r:id="rId55"/>
    <p:sldId id="302" r:id="rId56"/>
    <p:sldId id="303" r:id="rId57"/>
    <p:sldId id="304" r:id="rId58"/>
    <p:sldId id="305" r:id="rId59"/>
    <p:sldId id="306" r:id="rId60"/>
    <p:sldId id="307" r:id="rId61"/>
    <p:sldId id="308" r:id="rId62"/>
    <p:sldId id="309" r:id="rId63"/>
    <p:sldId id="310" r:id="rId64"/>
    <p:sldId id="311" r:id="rId65"/>
    <p:sldId id="312" r:id="rId66"/>
    <p:sldId id="313" r:id="rId67"/>
    <p:sldId id="314" r:id="rId68"/>
    <p:sldId id="315" r:id="rId69"/>
    <p:sldId id="316" r:id="rId70"/>
    <p:sldId id="317" r:id="rId71"/>
    <p:sldId id="318" r:id="rId72"/>
    <p:sldId id="319" r:id="rId73"/>
    <p:sldId id="320" r:id="rId74"/>
    <p:sldId id="321" r:id="rId75"/>
    <p:sldId id="322" r:id="rId76"/>
    <p:sldId id="323" r:id="rId77"/>
    <p:sldId id="324" r:id="rId78"/>
    <p:sldId id="325" r:id="rId79"/>
    <p:sldId id="326" r:id="rId80"/>
    <p:sldId id="327" r:id="rId81"/>
    <p:sldId id="328" r:id="rId82"/>
    <p:sldId id="329" r:id="rId83"/>
    <p:sldId id="330" r:id="rId84"/>
    <p:sldId id="331" r:id="rId85"/>
    <p:sldId id="332" r:id="rId86"/>
    <p:sldId id="333" r:id="rId87"/>
    <p:sldId id="334" r:id="rId88"/>
    <p:sldId id="335" r:id="rId89"/>
    <p:sldId id="336" r:id="rId90"/>
    <p:sldId id="337" r:id="rId91"/>
    <p:sldId id="338" r:id="rId92"/>
    <p:sldId id="339" r:id="rId93"/>
    <p:sldId id="340" r:id="rId94"/>
    <p:sldId id="341" r:id="rId95"/>
    <p:sldId id="342" r:id="rId96"/>
    <p:sldId id="343" r:id="rId97"/>
    <p:sldId id="344" r:id="rId98"/>
    <p:sldId id="345" r:id="rId99"/>
    <p:sldId id="346" r:id="rId100"/>
    <p:sldId id="347" r:id="rId101"/>
    <p:sldId id="348" r:id="rId102"/>
    <p:sldId id="349" r:id="rId103"/>
    <p:sldId id="350" r:id="rId104"/>
    <p:sldId id="351" r:id="rId105"/>
    <p:sldId id="352" r:id="rId106"/>
    <p:sldId id="353" r:id="rId107"/>
    <p:sldId id="354" r:id="rId108"/>
    <p:sldId id="355" r:id="rId109"/>
    <p:sldId id="356" r:id="rId110"/>
    <p:sldId id="357" r:id="rId111"/>
    <p:sldId id="358" r:id="rId112"/>
    <p:sldId id="359" r:id="rId113"/>
    <p:sldId id="360" r:id="rId114"/>
    <p:sldId id="361" r:id="rId115"/>
    <p:sldId id="362" r:id="rId116"/>
    <p:sldId id="363" r:id="rId117"/>
    <p:sldId id="364" r:id="rId118"/>
    <p:sldId id="365" r:id="rId119"/>
    <p:sldId id="366" r:id="rId120"/>
    <p:sldId id="367" r:id="rId121"/>
    <p:sldId id="368" r:id="rId122"/>
    <p:sldId id="369" r:id="rId123"/>
    <p:sldId id="370" r:id="rId124"/>
    <p:sldId id="371" r:id="rId125"/>
    <p:sldId id="372" r:id="rId126"/>
    <p:sldId id="373" r:id="rId127"/>
    <p:sldId id="374" r:id="rId128"/>
    <p:sldId id="375" r:id="rId129"/>
    <p:sldId id="376" r:id="rId130"/>
    <p:sldId id="377" r:id="rId131"/>
    <p:sldId id="378" r:id="rId132"/>
    <p:sldId id="379" r:id="rId133"/>
    <p:sldId id="380" r:id="rId134"/>
    <p:sldId id="381" r:id="rId135"/>
    <p:sldId id="382" r:id="rId136"/>
    <p:sldId id="383" r:id="rId137"/>
    <p:sldId id="384" r:id="rId138"/>
    <p:sldId id="385" r:id="rId139"/>
    <p:sldId id="386" r:id="rId140"/>
    <p:sldId id="387" r:id="rId141"/>
    <p:sldId id="388" r:id="rId142"/>
    <p:sldId id="389" r:id="rId143"/>
    <p:sldId id="390" r:id="rId144"/>
    <p:sldId id="391" r:id="rId145"/>
    <p:sldId id="392" r:id="rId146"/>
    <p:sldId id="393" r:id="rId147"/>
    <p:sldId id="394" r:id="rId148"/>
    <p:sldId id="395" r:id="rId149"/>
    <p:sldId id="396" r:id="rId150"/>
    <p:sldId id="397" r:id="rId151"/>
    <p:sldId id="398" r:id="rId152"/>
    <p:sldId id="399" r:id="rId153"/>
    <p:sldId id="400" r:id="rId154"/>
    <p:sldId id="401" r:id="rId155"/>
    <p:sldId id="402" r:id="rId156"/>
    <p:sldId id="403" r:id="rId157"/>
    <p:sldId id="404" r:id="rId158"/>
    <p:sldId id="405" r:id="rId159"/>
    <p:sldId id="406" r:id="rId160"/>
    <p:sldId id="407" r:id="rId161"/>
    <p:sldId id="408" r:id="rId162"/>
    <p:sldId id="409" r:id="rId163"/>
    <p:sldId id="410" r:id="rId164"/>
    <p:sldId id="411" r:id="rId165"/>
    <p:sldId id="412" r:id="rId166"/>
    <p:sldId id="413" r:id="rId167"/>
    <p:sldId id="414" r:id="rId168"/>
    <p:sldId id="415" r:id="rId169"/>
    <p:sldId id="416" r:id="rId170"/>
    <p:sldId id="417" r:id="rId171"/>
    <p:sldId id="418" r:id="rId172"/>
    <p:sldId id="419" r:id="rId173"/>
    <p:sldId id="420" r:id="rId174"/>
    <p:sldId id="421" r:id="rId175"/>
    <p:sldId id="422" r:id="rId176"/>
    <p:sldId id="423" r:id="rId177"/>
    <p:sldId id="424" r:id="rId178"/>
    <p:sldId id="425" r:id="rId179"/>
    <p:sldId id="426" r:id="rId180"/>
    <p:sldId id="427" r:id="rId181"/>
    <p:sldId id="428" r:id="rId182"/>
    <p:sldId id="429" r:id="rId183"/>
    <p:sldId id="430" r:id="rId184"/>
    <p:sldId id="431" r:id="rId185"/>
    <p:sldId id="432" r:id="rId186"/>
    <p:sldId id="433" r:id="rId187"/>
    <p:sldId id="434" r:id="rId188"/>
    <p:sldId id="435" r:id="rId189"/>
    <p:sldId id="436" r:id="rId190"/>
    <p:sldId id="437" r:id="rId191"/>
    <p:sldId id="438" r:id="rId192"/>
    <p:sldId id="439" r:id="rId193"/>
    <p:sldId id="440" r:id="rId194"/>
    <p:sldId id="441" r:id="rId195"/>
    <p:sldId id="442" r:id="rId196"/>
    <p:sldId id="443" r:id="rId197"/>
    <p:sldId id="444" r:id="rId198"/>
    <p:sldId id="445" r:id="rId199"/>
    <p:sldId id="446" r:id="rId200"/>
    <p:sldId id="447" r:id="rId201"/>
    <p:sldId id="448" r:id="rId202"/>
    <p:sldId id="449" r:id="rId203"/>
    <p:sldId id="450" r:id="rId204"/>
    <p:sldId id="451" r:id="rId205"/>
    <p:sldId id="452" r:id="rId206"/>
    <p:sldId id="453" r:id="rId207"/>
    <p:sldId id="454" r:id="rId208"/>
    <p:sldId id="455" r:id="rId209"/>
    <p:sldId id="456" r:id="rId210"/>
    <p:sldId id="457" r:id="rId211"/>
    <p:sldId id="458" r:id="rId212"/>
    <p:sldId id="459" r:id="rId213"/>
    <p:sldId id="460" r:id="rId214"/>
    <p:sldId id="461" r:id="rId215"/>
    <p:sldId id="462" r:id="rId216"/>
    <p:sldId id="463" r:id="rId217"/>
    <p:sldId id="464" r:id="rId218"/>
    <p:sldId id="465" r:id="rId219"/>
    <p:sldId id="466" r:id="rId220"/>
    <p:sldId id="467" r:id="rId221"/>
    <p:sldId id="468" r:id="rId222"/>
    <p:sldId id="469" r:id="rId223"/>
    <p:sldId id="470" r:id="rId224"/>
    <p:sldId id="471" r:id="rId225"/>
    <p:sldId id="472" r:id="rId226"/>
    <p:sldId id="473" r:id="rId227"/>
    <p:sldId id="474" r:id="rId228"/>
    <p:sldId id="475" r:id="rId229"/>
    <p:sldId id="476" r:id="rId230"/>
    <p:sldId id="477" r:id="rId231"/>
    <p:sldId id="478" r:id="rId232"/>
    <p:sldId id="479" r:id="rId233"/>
    <p:sldId id="480" r:id="rId234"/>
    <p:sldId id="481" r:id="rId235"/>
    <p:sldId id="482" r:id="rId236"/>
    <p:sldId id="483" r:id="rId237"/>
    <p:sldId id="484" r:id="rId238"/>
    <p:sldId id="485" r:id="rId239"/>
    <p:sldId id="486" r:id="rId240"/>
    <p:sldId id="487" r:id="rId241"/>
    <p:sldId id="488" r:id="rId242"/>
    <p:sldId id="489" r:id="rId243"/>
    <p:sldId id="490" r:id="rId244"/>
    <p:sldId id="491" r:id="rId245"/>
    <p:sldId id="492" r:id="rId246"/>
    <p:sldId id="493" r:id="rId247"/>
    <p:sldId id="494" r:id="rId248"/>
    <p:sldId id="495" r:id="rId249"/>
    <p:sldId id="496" r:id="rId250"/>
    <p:sldId id="497" r:id="rId251"/>
    <p:sldId id="498" r:id="rId252"/>
    <p:sldId id="499" r:id="rId253"/>
    <p:sldId id="500" r:id="rId254"/>
    <p:sldId id="501" r:id="rId255"/>
    <p:sldId id="502" r:id="rId256"/>
    <p:sldId id="503" r:id="rId257"/>
    <p:sldId id="504" r:id="rId258"/>
    <p:sldId id="505" r:id="rId259"/>
    <p:sldId id="506" r:id="rId260"/>
    <p:sldId id="507" r:id="rId261"/>
    <p:sldId id="508" r:id="rId262"/>
    <p:sldId id="509" r:id="rId263"/>
    <p:sldId id="510" r:id="rId264"/>
    <p:sldId id="511" r:id="rId265"/>
    <p:sldId id="512" r:id="rId266"/>
    <p:sldId id="513" r:id="rId267"/>
    <p:sldId id="514" r:id="rId268"/>
    <p:sldId id="515" r:id="rId269"/>
    <p:sldId id="516" r:id="rId270"/>
    <p:sldId id="517" r:id="rId271"/>
    <p:sldId id="518" r:id="rId272"/>
    <p:sldId id="519" r:id="rId273"/>
    <p:sldId id="520" r:id="rId274"/>
    <p:sldId id="521" r:id="rId275"/>
    <p:sldId id="522" r:id="rId276"/>
    <p:sldId id="523" r:id="rId277"/>
    <p:sldId id="524" r:id="rId278"/>
    <p:sldId id="525" r:id="rId279"/>
    <p:sldId id="526" r:id="rId280"/>
    <p:sldId id="527" r:id="rId281"/>
    <p:sldId id="528" r:id="rId282"/>
    <p:sldId id="529" r:id="rId283"/>
    <p:sldId id="530" r:id="rId284"/>
    <p:sldId id="531" r:id="rId285"/>
    <p:sldId id="532" r:id="rId286"/>
    <p:sldId id="533" r:id="rId287"/>
    <p:sldId id="534" r:id="rId288"/>
    <p:sldId id="535" r:id="rId289"/>
    <p:sldId id="536" r:id="rId290"/>
    <p:sldId id="537" r:id="rId291"/>
    <p:sldId id="538" r:id="rId292"/>
    <p:sldId id="539" r:id="rId293"/>
    <p:sldId id="540" r:id="rId294"/>
    <p:sldId id="541" r:id="rId295"/>
    <p:sldId id="542" r:id="rId296"/>
    <p:sldId id="543" r:id="rId297"/>
    <p:sldId id="544" r:id="rId298"/>
    <p:sldId id="545" r:id="rId299"/>
    <p:sldId id="546" r:id="rId300"/>
    <p:sldId id="547" r:id="rId301"/>
    <p:sldId id="548" r:id="rId302"/>
    <p:sldId id="549" r:id="rId303"/>
    <p:sldId id="550" r:id="rId304"/>
    <p:sldId id="551" r:id="rId305"/>
    <p:sldId id="552" r:id="rId306"/>
    <p:sldId id="553" r:id="rId307"/>
    <p:sldId id="554" r:id="rId308"/>
    <p:sldId id="555" r:id="rId309"/>
    <p:sldId id="556" r:id="rId310"/>
    <p:sldId id="557" r:id="rId311"/>
    <p:sldId id="558" r:id="rId312"/>
    <p:sldId id="559" r:id="rId313"/>
    <p:sldId id="560" r:id="rId314"/>
    <p:sldId id="561" r:id="rId315"/>
    <p:sldId id="562" r:id="rId316"/>
    <p:sldId id="563" r:id="rId317"/>
    <p:sldId id="564" r:id="rId318"/>
    <p:sldId id="565" r:id="rId319"/>
    <p:sldId id="566" r:id="rId320"/>
    <p:sldId id="567" r:id="rId321"/>
    <p:sldId id="568" r:id="rId322"/>
    <p:sldId id="569" r:id="rId323"/>
    <p:sldId id="570" r:id="rId324"/>
    <p:sldId id="571" r:id="rId325"/>
    <p:sldId id="572" r:id="rId326"/>
    <p:sldId id="573" r:id="rId327"/>
    <p:sldId id="574" r:id="rId328"/>
    <p:sldId id="575" r:id="rId329"/>
    <p:sldId id="576" r:id="rId330"/>
    <p:sldId id="577" r:id="rId331"/>
    <p:sldId id="578" r:id="rId332"/>
    <p:sldId id="579" r:id="rId333"/>
    <p:sldId id="580" r:id="rId334"/>
    <p:sldId id="581" r:id="rId335"/>
    <p:sldId id="582" r:id="rId336"/>
    <p:sldId id="583" r:id="rId337"/>
    <p:sldId id="584" r:id="rId338"/>
    <p:sldId id="585" r:id="rId339"/>
    <p:sldId id="586" r:id="rId340"/>
    <p:sldId id="587" r:id="rId341"/>
    <p:sldId id="588" r:id="rId342"/>
    <p:sldId id="589" r:id="rId343"/>
    <p:sldId id="590" r:id="rId344"/>
    <p:sldId id="591" r:id="rId345"/>
    <p:sldId id="592" r:id="rId346"/>
    <p:sldId id="593" r:id="rId347"/>
    <p:sldId id="594" r:id="rId348"/>
    <p:sldId id="595" r:id="rId349"/>
    <p:sldId id="596" r:id="rId350"/>
    <p:sldId id="597" r:id="rId351"/>
    <p:sldId id="598" r:id="rId352"/>
    <p:sldId id="599" r:id="rId353"/>
    <p:sldId id="600" r:id="rId354"/>
    <p:sldId id="601" r:id="rId355"/>
    <p:sldId id="602" r:id="rId356"/>
    <p:sldId id="603" r:id="rId357"/>
    <p:sldId id="604" r:id="rId358"/>
    <p:sldId id="605" r:id="rId359"/>
    <p:sldId id="606" r:id="rId360"/>
    <p:sldId id="607" r:id="rId361"/>
    <p:sldId id="608" r:id="rId362"/>
    <p:sldId id="609" r:id="rId363"/>
    <p:sldId id="610" r:id="rId364"/>
    <p:sldId id="611" r:id="rId365"/>
    <p:sldId id="612" r:id="rId366"/>
    <p:sldId id="613" r:id="rId367"/>
    <p:sldId id="614" r:id="rId368"/>
    <p:sldId id="615" r:id="rId369"/>
    <p:sldId id="616" r:id="rId370"/>
    <p:sldId id="617" r:id="rId371"/>
    <p:sldId id="618" r:id="rId372"/>
    <p:sldId id="619" r:id="rId373"/>
    <p:sldId id="620" r:id="rId374"/>
    <p:sldId id="621" r:id="rId375"/>
    <p:sldId id="622" r:id="rId376"/>
    <p:sldId id="623" r:id="rId377"/>
    <p:sldId id="624" r:id="rId378"/>
    <p:sldId id="625" r:id="rId379"/>
    <p:sldId id="626" r:id="rId380"/>
    <p:sldId id="627" r:id="rId381"/>
    <p:sldId id="628" r:id="rId382"/>
    <p:sldId id="629" r:id="rId383"/>
    <p:sldId id="630" r:id="rId384"/>
    <p:sldId id="631" r:id="rId385"/>
    <p:sldId id="632" r:id="rId386"/>
    <p:sldId id="633" r:id="rId387"/>
    <p:sldId id="634" r:id="rId388"/>
    <p:sldId id="635" r:id="rId389"/>
    <p:sldId id="636" r:id="rId390"/>
    <p:sldId id="637" r:id="rId391"/>
    <p:sldId id="638" r:id="rId392"/>
    <p:sldId id="639" r:id="rId393"/>
    <p:sldId id="640" r:id="rId394"/>
    <p:sldId id="641" r:id="rId395"/>
    <p:sldId id="642" r:id="rId396"/>
    <p:sldId id="643" r:id="rId397"/>
    <p:sldId id="644" r:id="rId398"/>
    <p:sldId id="645" r:id="rId399"/>
    <p:sldId id="646" r:id="rId400"/>
    <p:sldId id="647" r:id="rId401"/>
    <p:sldId id="648" r:id="rId402"/>
    <p:sldId id="649" r:id="rId403"/>
    <p:sldId id="650" r:id="rId404"/>
    <p:sldId id="651" r:id="rId405"/>
    <p:sldId id="652" r:id="rId406"/>
    <p:sldId id="653" r:id="rId407"/>
    <p:sldId id="654" r:id="rId408"/>
    <p:sldId id="655" r:id="rId409"/>
    <p:sldId id="656" r:id="rId410"/>
    <p:sldId id="657" r:id="rId411"/>
    <p:sldId id="658" r:id="rId412"/>
    <p:sldId id="659" r:id="rId413"/>
    <p:sldId id="660" r:id="rId414"/>
    <p:sldId id="661" r:id="rId415"/>
    <p:sldId id="662" r:id="rId416"/>
    <p:sldId id="663" r:id="rId417"/>
    <p:sldId id="664" r:id="rId418"/>
    <p:sldId id="665" r:id="rId419"/>
    <p:sldId id="666" r:id="rId420"/>
    <p:sldId id="667" r:id="rId421"/>
    <p:sldId id="668" r:id="rId422"/>
    <p:sldId id="669" r:id="rId423"/>
    <p:sldId id="670" r:id="rId424"/>
    <p:sldId id="671" r:id="rId425"/>
    <p:sldId id="672" r:id="rId426"/>
    <p:sldId id="673" r:id="rId427"/>
    <p:sldId id="674" r:id="rId428"/>
    <p:sldId id="675" r:id="rId429"/>
    <p:sldId id="676" r:id="rId430"/>
    <p:sldId id="677" r:id="rId431"/>
    <p:sldId id="678" r:id="rId432"/>
    <p:sldId id="679" r:id="rId433"/>
    <p:sldId id="680" r:id="rId434"/>
    <p:sldId id="681" r:id="rId435"/>
    <p:sldId id="682" r:id="rId436"/>
    <p:sldId id="683" r:id="rId437"/>
    <p:sldId id="684" r:id="rId438"/>
    <p:sldId id="685" r:id="rId439"/>
    <p:sldId id="686" r:id="rId440"/>
    <p:sldId id="687" r:id="rId441"/>
    <p:sldId id="688" r:id="rId442"/>
    <p:sldId id="689" r:id="rId443"/>
    <p:sldId id="690" r:id="rId444"/>
    <p:sldId id="691" r:id="rId445"/>
    <p:sldId id="692" r:id="rId446"/>
    <p:sldId id="693" r:id="rId447"/>
    <p:sldId id="694" r:id="rId448"/>
    <p:sldId id="695" r:id="rId449"/>
    <p:sldId id="696" r:id="rId450"/>
    <p:sldId id="697" r:id="rId451"/>
    <p:sldId id="698" r:id="rId452"/>
    <p:sldId id="699" r:id="rId453"/>
    <p:sldId id="700" r:id="rId454"/>
    <p:sldId id="701" r:id="rId455"/>
    <p:sldId id="702" r:id="rId456"/>
    <p:sldId id="703" r:id="rId457"/>
    <p:sldId id="704" r:id="rId458"/>
    <p:sldId id="705" r:id="rId459"/>
    <p:sldId id="706" r:id="rId460"/>
    <p:sldId id="707" r:id="rId461"/>
    <p:sldId id="708" r:id="rId462"/>
    <p:sldId id="709" r:id="rId463"/>
    <p:sldId id="710" r:id="rId464"/>
    <p:sldId id="711" r:id="rId465"/>
    <p:sldId id="712" r:id="rId466"/>
    <p:sldId id="713" r:id="rId467"/>
    <p:sldId id="714" r:id="rId468"/>
    <p:sldId id="715" r:id="rId469"/>
    <p:sldId id="716" r:id="rId470"/>
    <p:sldId id="717" r:id="rId471"/>
    <p:sldId id="718" r:id="rId472"/>
    <p:sldId id="719" r:id="rId473"/>
    <p:sldId id="720" r:id="rId474"/>
    <p:sldId id="721" r:id="rId475"/>
    <p:sldId id="722" r:id="rId476"/>
    <p:sldId id="723" r:id="rId477"/>
    <p:sldId id="724" r:id="rId478"/>
    <p:sldId id="725" r:id="rId479"/>
    <p:sldId id="726" r:id="rId480"/>
    <p:sldId id="727" r:id="rId481"/>
    <p:sldId id="728" r:id="rId482"/>
    <p:sldId id="729" r:id="rId483"/>
    <p:sldId id="730" r:id="rId484"/>
    <p:sldId id="731" r:id="rId485"/>
    <p:sldId id="732" r:id="rId486"/>
    <p:sldId id="733" r:id="rId487"/>
    <p:sldId id="734" r:id="rId488"/>
    <p:sldId id="735" r:id="rId489"/>
    <p:sldId id="736" r:id="rId490"/>
    <p:sldId id="737" r:id="rId491"/>
    <p:sldId id="738" r:id="rId492"/>
    <p:sldId id="739" r:id="rId493"/>
    <p:sldId id="740" r:id="rId494"/>
    <p:sldId id="741" r:id="rId495"/>
    <p:sldId id="742" r:id="rId496"/>
    <p:sldId id="743" r:id="rId497"/>
    <p:sldId id="744" r:id="rId498"/>
    <p:sldId id="745" r:id="rId499"/>
    <p:sldId id="746" r:id="rId500"/>
    <p:sldId id="747" r:id="rId501"/>
    <p:sldId id="748" r:id="rId502"/>
    <p:sldId id="749" r:id="rId503"/>
    <p:sldId id="750" r:id="rId504"/>
    <p:sldId id="751" r:id="rId505"/>
    <p:sldId id="752" r:id="rId506"/>
    <p:sldId id="753" r:id="rId507"/>
    <p:sldId id="754" r:id="rId508"/>
    <p:sldId id="755" r:id="rId509"/>
    <p:sldId id="756" r:id="rId510"/>
    <p:sldId id="757" r:id="rId511"/>
    <p:sldId id="758" r:id="rId512"/>
    <p:sldId id="759" r:id="rId513"/>
    <p:sldId id="760" r:id="rId514"/>
    <p:sldId id="761" r:id="rId515"/>
    <p:sldId id="762" r:id="rId516"/>
    <p:sldId id="763" r:id="rId517"/>
    <p:sldId id="764" r:id="rId518"/>
    <p:sldId id="765" r:id="rId519"/>
    <p:sldId id="766" r:id="rId520"/>
    <p:sldId id="767" r:id="rId521"/>
    <p:sldId id="768" r:id="rId522"/>
    <p:sldId id="769" r:id="rId523"/>
    <p:sldId id="770" r:id="rId524"/>
    <p:sldId id="771" r:id="rId525"/>
    <p:sldId id="772" r:id="rId526"/>
    <p:sldId id="773" r:id="rId527"/>
    <p:sldId id="774" r:id="rId528"/>
    <p:sldId id="775" r:id="rId529"/>
    <p:sldId id="776" r:id="rId530"/>
    <p:sldId id="777" r:id="rId531"/>
    <p:sldId id="778" r:id="rId532"/>
    <p:sldId id="779" r:id="rId533"/>
    <p:sldId id="780" r:id="rId534"/>
    <p:sldId id="781" r:id="rId535"/>
    <p:sldId id="782" r:id="rId536"/>
    <p:sldId id="783" r:id="rId537"/>
    <p:sldId id="784" r:id="rId538"/>
    <p:sldId id="785" r:id="rId539"/>
    <p:sldId id="786" r:id="rId540"/>
    <p:sldId id="787" r:id="rId541"/>
    <p:sldId id="788" r:id="rId542"/>
    <p:sldId id="789" r:id="rId543"/>
    <p:sldId id="790" r:id="rId544"/>
    <p:sldId id="791" r:id="rId545"/>
    <p:sldId id="792" r:id="rId546"/>
    <p:sldId id="793" r:id="rId547"/>
    <p:sldId id="794" r:id="rId548"/>
    <p:sldId id="795" r:id="rId549"/>
    <p:sldId id="796" r:id="rId550"/>
    <p:sldId id="797" r:id="rId551"/>
    <p:sldId id="798" r:id="rId552"/>
    <p:sldId id="799" r:id="rId553"/>
    <p:sldId id="800" r:id="rId554"/>
    <p:sldId id="801" r:id="rId555"/>
    <p:sldId id="802" r:id="rId556"/>
    <p:sldId id="803" r:id="rId557"/>
    <p:sldId id="804" r:id="rId558"/>
    <p:sldId id="805" r:id="rId559"/>
    <p:sldId id="806" r:id="rId560"/>
    <p:sldId id="807" r:id="rId561"/>
    <p:sldId id="808" r:id="rId562"/>
    <p:sldId id="809" r:id="rId563"/>
    <p:sldId id="810" r:id="rId564"/>
    <p:sldId id="811" r:id="rId565"/>
    <p:sldId id="812" r:id="rId566"/>
    <p:sldId id="813" r:id="rId567"/>
    <p:sldId id="814" r:id="rId568"/>
    <p:sldId id="815" r:id="rId569"/>
    <p:sldId id="816" r:id="rId570"/>
    <p:sldId id="817" r:id="rId571"/>
    <p:sldId id="818" r:id="rId572"/>
    <p:sldId id="819" r:id="rId573"/>
    <p:sldId id="820" r:id="rId574"/>
    <p:sldId id="821" r:id="rId575"/>
    <p:sldId id="822" r:id="rId576"/>
    <p:sldId id="823" r:id="rId577"/>
    <p:sldId id="824" r:id="rId578"/>
    <p:sldId id="825" r:id="rId579"/>
    <p:sldId id="826" r:id="rId580"/>
    <p:sldId id="827" r:id="rId581"/>
    <p:sldId id="828" r:id="rId582"/>
    <p:sldId id="829" r:id="rId583"/>
    <p:sldId id="830" r:id="rId584"/>
    <p:sldId id="831" r:id="rId585"/>
    <p:sldId id="832" r:id="rId586"/>
    <p:sldId id="833" r:id="rId587"/>
    <p:sldId id="834" r:id="rId588"/>
    <p:sldId id="835" r:id="rId589"/>
    <p:sldId id="836" r:id="rId590"/>
    <p:sldId id="837" r:id="rId591"/>
    <p:sldId id="838" r:id="rId592"/>
    <p:sldId id="839" r:id="rId593"/>
    <p:sldId id="840" r:id="rId594"/>
    <p:sldId id="841" r:id="rId595"/>
    <p:sldId id="842" r:id="rId596"/>
    <p:sldId id="843" r:id="rId597"/>
    <p:sldId id="844" r:id="rId598"/>
    <p:sldId id="845" r:id="rId599"/>
    <p:sldId id="846" r:id="rId600"/>
    <p:sldId id="847" r:id="rId601"/>
    <p:sldId id="848" r:id="rId602"/>
    <p:sldId id="849" r:id="rId603"/>
    <p:sldId id="850" r:id="rId604"/>
    <p:sldId id="851" r:id="rId605"/>
    <p:sldId id="852" r:id="rId606"/>
    <p:sldId id="853" r:id="rId607"/>
    <p:sldId id="854" r:id="rId608"/>
    <p:sldId id="855" r:id="rId609"/>
    <p:sldId id="856" r:id="rId610"/>
    <p:sldId id="857" r:id="rId611"/>
    <p:sldId id="858" r:id="rId612"/>
    <p:sldId id="859" r:id="rId613"/>
    <p:sldId id="860" r:id="rId614"/>
    <p:sldId id="861" r:id="rId615"/>
    <p:sldId id="862" r:id="rId616"/>
    <p:sldId id="863" r:id="rId617"/>
    <p:sldId id="864" r:id="rId618"/>
    <p:sldId id="865" r:id="rId619"/>
    <p:sldId id="866" r:id="rId620"/>
    <p:sldId id="867" r:id="rId621"/>
    <p:sldId id="868" r:id="rId622"/>
    <p:sldId id="869" r:id="rId623"/>
    <p:sldId id="870" r:id="rId624"/>
    <p:sldId id="871" r:id="rId625"/>
    <p:sldId id="872" r:id="rId626"/>
    <p:sldId id="873" r:id="rId627"/>
    <p:sldId id="874" r:id="rId628"/>
    <p:sldId id="875" r:id="rId629"/>
    <p:sldId id="876" r:id="rId630"/>
    <p:sldId id="877" r:id="rId631"/>
    <p:sldId id="878" r:id="rId632"/>
    <p:sldId id="879" r:id="rId633"/>
    <p:sldId id="880" r:id="rId634"/>
    <p:sldId id="881" r:id="rId635"/>
    <p:sldId id="882" r:id="rId636"/>
    <p:sldId id="883" r:id="rId637"/>
    <p:sldId id="884" r:id="rId638"/>
    <p:sldId id="885" r:id="rId639"/>
    <p:sldId id="886" r:id="rId640"/>
    <p:sldId id="887" r:id="rId641"/>
    <p:sldId id="888" r:id="rId642"/>
    <p:sldId id="889" r:id="rId643"/>
    <p:sldId id="890" r:id="rId644"/>
    <p:sldId id="891" r:id="rId645"/>
    <p:sldId id="892" r:id="rId646"/>
    <p:sldId id="893" r:id="rId647"/>
    <p:sldId id="894" r:id="rId648"/>
    <p:sldId id="895" r:id="rId649"/>
    <p:sldId id="896" r:id="rId650"/>
    <p:sldId id="897" r:id="rId651"/>
    <p:sldId id="898" r:id="rId652"/>
    <p:sldId id="899" r:id="rId653"/>
    <p:sldId id="900" r:id="rId654"/>
    <p:sldId id="901" r:id="rId655"/>
    <p:sldId id="902" r:id="rId656"/>
    <p:sldId id="903" r:id="rId657"/>
    <p:sldId id="904" r:id="rId658"/>
    <p:sldId id="905" r:id="rId659"/>
    <p:sldId id="906" r:id="rId660"/>
    <p:sldId id="907" r:id="rId661"/>
    <p:sldId id="908" r:id="rId662"/>
    <p:sldId id="909" r:id="rId663"/>
    <p:sldId id="910" r:id="rId664"/>
    <p:sldId id="911" r:id="rId665"/>
    <p:sldId id="912" r:id="rId666"/>
    <p:sldId id="913" r:id="rId667"/>
    <p:sldId id="914" r:id="rId668"/>
    <p:sldId id="915" r:id="rId669"/>
    <p:sldId id="916" r:id="rId670"/>
    <p:sldId id="917" r:id="rId671"/>
    <p:sldId id="918" r:id="rId672"/>
    <p:sldId id="919" r:id="rId673"/>
    <p:sldId id="920" r:id="rId674"/>
    <p:sldId id="921" r:id="rId675"/>
    <p:sldId id="922" r:id="rId676"/>
    <p:sldId id="923" r:id="rId677"/>
    <p:sldId id="924" r:id="rId678"/>
    <p:sldId id="925" r:id="rId679"/>
    <p:sldId id="926" r:id="rId680"/>
    <p:sldId id="927" r:id="rId681"/>
    <p:sldId id="928" r:id="rId682"/>
    <p:sldId id="929" r:id="rId683"/>
    <p:sldId id="930" r:id="rId684"/>
    <p:sldId id="931" r:id="rId685"/>
    <p:sldId id="932" r:id="rId686"/>
    <p:sldId id="933" r:id="rId687"/>
    <p:sldId id="934" r:id="rId688"/>
    <p:sldId id="935" r:id="rId689"/>
    <p:sldId id="936" r:id="rId690"/>
    <p:sldId id="937" r:id="rId691"/>
    <p:sldId id="938" r:id="rId692"/>
    <p:sldId id="939" r:id="rId693"/>
    <p:sldId id="940" r:id="rId694"/>
    <p:sldId id="941" r:id="rId695"/>
    <p:sldId id="942" r:id="rId696"/>
    <p:sldId id="943" r:id="rId697"/>
    <p:sldId id="944" r:id="rId698"/>
    <p:sldId id="945" r:id="rId699"/>
    <p:sldId id="946" r:id="rId700"/>
    <p:sldId id="947" r:id="rId701"/>
    <p:sldId id="948" r:id="rId702"/>
    <p:sldId id="949" r:id="rId703"/>
    <p:sldId id="950" r:id="rId704"/>
    <p:sldId id="951" r:id="rId705"/>
    <p:sldId id="952" r:id="rId706"/>
    <p:sldId id="953" r:id="rId707"/>
    <p:sldId id="954" r:id="rId708"/>
    <p:sldId id="955" r:id="rId709"/>
    <p:sldId id="956" r:id="rId710"/>
    <p:sldId id="957" r:id="rId711"/>
    <p:sldId id="958" r:id="rId712"/>
    <p:sldId id="959" r:id="rId713"/>
    <p:sldId id="960" r:id="rId714"/>
    <p:sldId id="961" r:id="rId715"/>
  </p:sldIdLst>
  <p:sldSz cy="5143500" cx="9144000"/>
  <p:notesSz cx="6858000" cy="9144000"/>
  <p:embeddedFontLst>
    <p:embeddedFont>
      <p:font typeface="Josefin Slab"/>
      <p:regular r:id="rId716"/>
      <p:bold r:id="rId717"/>
      <p:italic r:id="rId718"/>
      <p:boldItalic r:id="rId719"/>
    </p:embeddedFont>
    <p:embeddedFont>
      <p:font typeface="Oxygen"/>
      <p:regular r:id="rId720"/>
      <p:bold r:id="rId721"/>
    </p:embeddedFont>
    <p:embeddedFont>
      <p:font typeface="Garamond"/>
      <p:regular r:id="rId722"/>
      <p:bold r:id="rId723"/>
      <p:italic r:id="rId724"/>
      <p:boldItalic r:id="rId725"/>
    </p:embeddedFont>
    <p:embeddedFont>
      <p:font typeface="Habibi"/>
      <p:regular r:id="rId726"/>
    </p:embeddedFont>
    <p:embeddedFont>
      <p:font typeface="Pacifico"/>
      <p:regular r:id="rId727"/>
    </p:embeddedFont>
    <p:embeddedFont>
      <p:font typeface="Junge"/>
      <p:regular r:id="rId728"/>
    </p:embeddedFont>
    <p:embeddedFont>
      <p:font typeface="Roboto"/>
      <p:regular r:id="rId729"/>
      <p:bold r:id="rId730"/>
      <p:italic r:id="rId731"/>
      <p:boldItalic r:id="rId732"/>
    </p:embeddedFont>
    <p:embeddedFont>
      <p:font typeface="Economica"/>
      <p:regular r:id="rId733"/>
      <p:bold r:id="rId734"/>
      <p:italic r:id="rId735"/>
      <p:boldItalic r:id="rId736"/>
    </p:embeddedFont>
    <p:embeddedFont>
      <p:font typeface="Antic Didone"/>
      <p:regular r:id="rId737"/>
    </p:embeddedFont>
    <p:embeddedFont>
      <p:font typeface="Cantarell"/>
      <p:regular r:id="rId738"/>
      <p:bold r:id="rId739"/>
      <p:italic r:id="rId740"/>
      <p:boldItalic r:id="rId741"/>
    </p:embeddedFont>
    <p:embeddedFont>
      <p:font typeface="Comfortaa"/>
      <p:regular r:id="rId742"/>
      <p:bold r:id="rId743"/>
    </p:embeddedFont>
    <p:embeddedFont>
      <p:font typeface="Open Sans"/>
      <p:regular r:id="rId744"/>
      <p:bold r:id="rId745"/>
      <p:italic r:id="rId746"/>
      <p:boldItalic r:id="rId74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7B2FEFFF-135B-445C-9654-54C8218E9254}">
  <a:tblStyle styleId="{7B2FEFFF-135B-445C-9654-54C8218E9254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  <a:tblStyle styleId="{632AA907-9878-4405-B012-53F35075F722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190" Type="http://schemas.openxmlformats.org/officeDocument/2006/relationships/slide" Target="slides/slide181.xml"/><Relationship Id="rId194" Type="http://schemas.openxmlformats.org/officeDocument/2006/relationships/slide" Target="slides/slide185.xml"/><Relationship Id="rId193" Type="http://schemas.openxmlformats.org/officeDocument/2006/relationships/slide" Target="slides/slide184.xml"/><Relationship Id="rId192" Type="http://schemas.openxmlformats.org/officeDocument/2006/relationships/slide" Target="slides/slide183.xml"/><Relationship Id="rId191" Type="http://schemas.openxmlformats.org/officeDocument/2006/relationships/slide" Target="slides/slide182.xml"/><Relationship Id="rId187" Type="http://schemas.openxmlformats.org/officeDocument/2006/relationships/slide" Target="slides/slide178.xml"/><Relationship Id="rId186" Type="http://schemas.openxmlformats.org/officeDocument/2006/relationships/slide" Target="slides/slide177.xml"/><Relationship Id="rId185" Type="http://schemas.openxmlformats.org/officeDocument/2006/relationships/slide" Target="slides/slide176.xml"/><Relationship Id="rId184" Type="http://schemas.openxmlformats.org/officeDocument/2006/relationships/slide" Target="slides/slide175.xml"/><Relationship Id="rId189" Type="http://schemas.openxmlformats.org/officeDocument/2006/relationships/slide" Target="slides/slide180.xml"/><Relationship Id="rId188" Type="http://schemas.openxmlformats.org/officeDocument/2006/relationships/slide" Target="slides/slide179.xml"/><Relationship Id="rId183" Type="http://schemas.openxmlformats.org/officeDocument/2006/relationships/slide" Target="slides/slide174.xml"/><Relationship Id="rId182" Type="http://schemas.openxmlformats.org/officeDocument/2006/relationships/slide" Target="slides/slide173.xml"/><Relationship Id="rId181" Type="http://schemas.openxmlformats.org/officeDocument/2006/relationships/slide" Target="slides/slide172.xml"/><Relationship Id="rId180" Type="http://schemas.openxmlformats.org/officeDocument/2006/relationships/slide" Target="slides/slide171.xml"/><Relationship Id="rId176" Type="http://schemas.openxmlformats.org/officeDocument/2006/relationships/slide" Target="slides/slide167.xml"/><Relationship Id="rId297" Type="http://schemas.openxmlformats.org/officeDocument/2006/relationships/slide" Target="slides/slide288.xml"/><Relationship Id="rId175" Type="http://schemas.openxmlformats.org/officeDocument/2006/relationships/slide" Target="slides/slide166.xml"/><Relationship Id="rId296" Type="http://schemas.openxmlformats.org/officeDocument/2006/relationships/slide" Target="slides/slide287.xml"/><Relationship Id="rId174" Type="http://schemas.openxmlformats.org/officeDocument/2006/relationships/slide" Target="slides/slide165.xml"/><Relationship Id="rId295" Type="http://schemas.openxmlformats.org/officeDocument/2006/relationships/slide" Target="slides/slide286.xml"/><Relationship Id="rId173" Type="http://schemas.openxmlformats.org/officeDocument/2006/relationships/slide" Target="slides/slide164.xml"/><Relationship Id="rId294" Type="http://schemas.openxmlformats.org/officeDocument/2006/relationships/slide" Target="slides/slide285.xml"/><Relationship Id="rId179" Type="http://schemas.openxmlformats.org/officeDocument/2006/relationships/slide" Target="slides/slide170.xml"/><Relationship Id="rId178" Type="http://schemas.openxmlformats.org/officeDocument/2006/relationships/slide" Target="slides/slide169.xml"/><Relationship Id="rId299" Type="http://schemas.openxmlformats.org/officeDocument/2006/relationships/slide" Target="slides/slide290.xml"/><Relationship Id="rId177" Type="http://schemas.openxmlformats.org/officeDocument/2006/relationships/slide" Target="slides/slide168.xml"/><Relationship Id="rId298" Type="http://schemas.openxmlformats.org/officeDocument/2006/relationships/slide" Target="slides/slide289.xml"/><Relationship Id="rId198" Type="http://schemas.openxmlformats.org/officeDocument/2006/relationships/slide" Target="slides/slide189.xml"/><Relationship Id="rId197" Type="http://schemas.openxmlformats.org/officeDocument/2006/relationships/slide" Target="slides/slide188.xml"/><Relationship Id="rId196" Type="http://schemas.openxmlformats.org/officeDocument/2006/relationships/slide" Target="slides/slide187.xml"/><Relationship Id="rId195" Type="http://schemas.openxmlformats.org/officeDocument/2006/relationships/slide" Target="slides/slide186.xml"/><Relationship Id="rId199" Type="http://schemas.openxmlformats.org/officeDocument/2006/relationships/slide" Target="slides/slide190.xml"/><Relationship Id="rId150" Type="http://schemas.openxmlformats.org/officeDocument/2006/relationships/slide" Target="slides/slide141.xml"/><Relationship Id="rId271" Type="http://schemas.openxmlformats.org/officeDocument/2006/relationships/slide" Target="slides/slide262.xml"/><Relationship Id="rId392" Type="http://schemas.openxmlformats.org/officeDocument/2006/relationships/slide" Target="slides/slide383.xml"/><Relationship Id="rId270" Type="http://schemas.openxmlformats.org/officeDocument/2006/relationships/slide" Target="slides/slide261.xml"/><Relationship Id="rId391" Type="http://schemas.openxmlformats.org/officeDocument/2006/relationships/slide" Target="slides/slide382.xml"/><Relationship Id="rId390" Type="http://schemas.openxmlformats.org/officeDocument/2006/relationships/slide" Target="slides/slide381.xml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149" Type="http://schemas.openxmlformats.org/officeDocument/2006/relationships/slide" Target="slides/slide140.xml"/><Relationship Id="rId4" Type="http://schemas.openxmlformats.org/officeDocument/2006/relationships/tableStyles" Target="tableStyles.xml"/><Relationship Id="rId148" Type="http://schemas.openxmlformats.org/officeDocument/2006/relationships/slide" Target="slides/slide139.xml"/><Relationship Id="rId269" Type="http://schemas.openxmlformats.org/officeDocument/2006/relationships/slide" Target="slides/slide260.xml"/><Relationship Id="rId9" Type="http://schemas.openxmlformats.org/officeDocument/2006/relationships/notesMaster" Target="notesMasters/notesMaster1.xml"/><Relationship Id="rId143" Type="http://schemas.openxmlformats.org/officeDocument/2006/relationships/slide" Target="slides/slide134.xml"/><Relationship Id="rId264" Type="http://schemas.openxmlformats.org/officeDocument/2006/relationships/slide" Target="slides/slide255.xml"/><Relationship Id="rId385" Type="http://schemas.openxmlformats.org/officeDocument/2006/relationships/slide" Target="slides/slide376.xml"/><Relationship Id="rId142" Type="http://schemas.openxmlformats.org/officeDocument/2006/relationships/slide" Target="slides/slide133.xml"/><Relationship Id="rId263" Type="http://schemas.openxmlformats.org/officeDocument/2006/relationships/slide" Target="slides/slide254.xml"/><Relationship Id="rId384" Type="http://schemas.openxmlformats.org/officeDocument/2006/relationships/slide" Target="slides/slide375.xml"/><Relationship Id="rId141" Type="http://schemas.openxmlformats.org/officeDocument/2006/relationships/slide" Target="slides/slide132.xml"/><Relationship Id="rId262" Type="http://schemas.openxmlformats.org/officeDocument/2006/relationships/slide" Target="slides/slide253.xml"/><Relationship Id="rId383" Type="http://schemas.openxmlformats.org/officeDocument/2006/relationships/slide" Target="slides/slide374.xml"/><Relationship Id="rId140" Type="http://schemas.openxmlformats.org/officeDocument/2006/relationships/slide" Target="slides/slide131.xml"/><Relationship Id="rId261" Type="http://schemas.openxmlformats.org/officeDocument/2006/relationships/slide" Target="slides/slide252.xml"/><Relationship Id="rId382" Type="http://schemas.openxmlformats.org/officeDocument/2006/relationships/slide" Target="slides/slide373.xml"/><Relationship Id="rId5" Type="http://schemas.openxmlformats.org/officeDocument/2006/relationships/slideMaster" Target="slideMasters/slideMaster1.xml"/><Relationship Id="rId147" Type="http://schemas.openxmlformats.org/officeDocument/2006/relationships/slide" Target="slides/slide138.xml"/><Relationship Id="rId268" Type="http://schemas.openxmlformats.org/officeDocument/2006/relationships/slide" Target="slides/slide259.xml"/><Relationship Id="rId389" Type="http://schemas.openxmlformats.org/officeDocument/2006/relationships/slide" Target="slides/slide380.xml"/><Relationship Id="rId6" Type="http://schemas.openxmlformats.org/officeDocument/2006/relationships/slideMaster" Target="slideMasters/slideMaster2.xml"/><Relationship Id="rId146" Type="http://schemas.openxmlformats.org/officeDocument/2006/relationships/slide" Target="slides/slide137.xml"/><Relationship Id="rId267" Type="http://schemas.openxmlformats.org/officeDocument/2006/relationships/slide" Target="slides/slide258.xml"/><Relationship Id="rId388" Type="http://schemas.openxmlformats.org/officeDocument/2006/relationships/slide" Target="slides/slide379.xml"/><Relationship Id="rId7" Type="http://schemas.openxmlformats.org/officeDocument/2006/relationships/slideMaster" Target="slideMasters/slideMaster3.xml"/><Relationship Id="rId145" Type="http://schemas.openxmlformats.org/officeDocument/2006/relationships/slide" Target="slides/slide136.xml"/><Relationship Id="rId266" Type="http://schemas.openxmlformats.org/officeDocument/2006/relationships/slide" Target="slides/slide257.xml"/><Relationship Id="rId387" Type="http://schemas.openxmlformats.org/officeDocument/2006/relationships/slide" Target="slides/slide378.xml"/><Relationship Id="rId8" Type="http://schemas.openxmlformats.org/officeDocument/2006/relationships/slideMaster" Target="slideMasters/slideMaster4.xml"/><Relationship Id="rId144" Type="http://schemas.openxmlformats.org/officeDocument/2006/relationships/slide" Target="slides/slide135.xml"/><Relationship Id="rId265" Type="http://schemas.openxmlformats.org/officeDocument/2006/relationships/slide" Target="slides/slide256.xml"/><Relationship Id="rId386" Type="http://schemas.openxmlformats.org/officeDocument/2006/relationships/slide" Target="slides/slide377.xml"/><Relationship Id="rId260" Type="http://schemas.openxmlformats.org/officeDocument/2006/relationships/slide" Target="slides/slide251.xml"/><Relationship Id="rId381" Type="http://schemas.openxmlformats.org/officeDocument/2006/relationships/slide" Target="slides/slide372.xml"/><Relationship Id="rId380" Type="http://schemas.openxmlformats.org/officeDocument/2006/relationships/slide" Target="slides/slide371.xml"/><Relationship Id="rId139" Type="http://schemas.openxmlformats.org/officeDocument/2006/relationships/slide" Target="slides/slide130.xml"/><Relationship Id="rId138" Type="http://schemas.openxmlformats.org/officeDocument/2006/relationships/slide" Target="slides/slide129.xml"/><Relationship Id="rId259" Type="http://schemas.openxmlformats.org/officeDocument/2006/relationships/slide" Target="slides/slide250.xml"/><Relationship Id="rId137" Type="http://schemas.openxmlformats.org/officeDocument/2006/relationships/slide" Target="slides/slide128.xml"/><Relationship Id="rId258" Type="http://schemas.openxmlformats.org/officeDocument/2006/relationships/slide" Target="slides/slide249.xml"/><Relationship Id="rId379" Type="http://schemas.openxmlformats.org/officeDocument/2006/relationships/slide" Target="slides/slide370.xml"/><Relationship Id="rId132" Type="http://schemas.openxmlformats.org/officeDocument/2006/relationships/slide" Target="slides/slide123.xml"/><Relationship Id="rId253" Type="http://schemas.openxmlformats.org/officeDocument/2006/relationships/slide" Target="slides/slide244.xml"/><Relationship Id="rId374" Type="http://schemas.openxmlformats.org/officeDocument/2006/relationships/slide" Target="slides/slide365.xml"/><Relationship Id="rId495" Type="http://schemas.openxmlformats.org/officeDocument/2006/relationships/slide" Target="slides/slide486.xml"/><Relationship Id="rId131" Type="http://schemas.openxmlformats.org/officeDocument/2006/relationships/slide" Target="slides/slide122.xml"/><Relationship Id="rId252" Type="http://schemas.openxmlformats.org/officeDocument/2006/relationships/slide" Target="slides/slide243.xml"/><Relationship Id="rId373" Type="http://schemas.openxmlformats.org/officeDocument/2006/relationships/slide" Target="slides/slide364.xml"/><Relationship Id="rId494" Type="http://schemas.openxmlformats.org/officeDocument/2006/relationships/slide" Target="slides/slide485.xml"/><Relationship Id="rId130" Type="http://schemas.openxmlformats.org/officeDocument/2006/relationships/slide" Target="slides/slide121.xml"/><Relationship Id="rId251" Type="http://schemas.openxmlformats.org/officeDocument/2006/relationships/slide" Target="slides/slide242.xml"/><Relationship Id="rId372" Type="http://schemas.openxmlformats.org/officeDocument/2006/relationships/slide" Target="slides/slide363.xml"/><Relationship Id="rId493" Type="http://schemas.openxmlformats.org/officeDocument/2006/relationships/slide" Target="slides/slide484.xml"/><Relationship Id="rId250" Type="http://schemas.openxmlformats.org/officeDocument/2006/relationships/slide" Target="slides/slide241.xml"/><Relationship Id="rId371" Type="http://schemas.openxmlformats.org/officeDocument/2006/relationships/slide" Target="slides/slide362.xml"/><Relationship Id="rId492" Type="http://schemas.openxmlformats.org/officeDocument/2006/relationships/slide" Target="slides/slide483.xml"/><Relationship Id="rId136" Type="http://schemas.openxmlformats.org/officeDocument/2006/relationships/slide" Target="slides/slide127.xml"/><Relationship Id="rId257" Type="http://schemas.openxmlformats.org/officeDocument/2006/relationships/slide" Target="slides/slide248.xml"/><Relationship Id="rId378" Type="http://schemas.openxmlformats.org/officeDocument/2006/relationships/slide" Target="slides/slide369.xml"/><Relationship Id="rId499" Type="http://schemas.openxmlformats.org/officeDocument/2006/relationships/slide" Target="slides/slide490.xml"/><Relationship Id="rId135" Type="http://schemas.openxmlformats.org/officeDocument/2006/relationships/slide" Target="slides/slide126.xml"/><Relationship Id="rId256" Type="http://schemas.openxmlformats.org/officeDocument/2006/relationships/slide" Target="slides/slide247.xml"/><Relationship Id="rId377" Type="http://schemas.openxmlformats.org/officeDocument/2006/relationships/slide" Target="slides/slide368.xml"/><Relationship Id="rId498" Type="http://schemas.openxmlformats.org/officeDocument/2006/relationships/slide" Target="slides/slide489.xml"/><Relationship Id="rId134" Type="http://schemas.openxmlformats.org/officeDocument/2006/relationships/slide" Target="slides/slide125.xml"/><Relationship Id="rId255" Type="http://schemas.openxmlformats.org/officeDocument/2006/relationships/slide" Target="slides/slide246.xml"/><Relationship Id="rId376" Type="http://schemas.openxmlformats.org/officeDocument/2006/relationships/slide" Target="slides/slide367.xml"/><Relationship Id="rId497" Type="http://schemas.openxmlformats.org/officeDocument/2006/relationships/slide" Target="slides/slide488.xml"/><Relationship Id="rId133" Type="http://schemas.openxmlformats.org/officeDocument/2006/relationships/slide" Target="slides/slide124.xml"/><Relationship Id="rId254" Type="http://schemas.openxmlformats.org/officeDocument/2006/relationships/slide" Target="slides/slide245.xml"/><Relationship Id="rId375" Type="http://schemas.openxmlformats.org/officeDocument/2006/relationships/slide" Target="slides/slide366.xml"/><Relationship Id="rId496" Type="http://schemas.openxmlformats.org/officeDocument/2006/relationships/slide" Target="slides/slide487.xml"/><Relationship Id="rId172" Type="http://schemas.openxmlformats.org/officeDocument/2006/relationships/slide" Target="slides/slide163.xml"/><Relationship Id="rId293" Type="http://schemas.openxmlformats.org/officeDocument/2006/relationships/slide" Target="slides/slide284.xml"/><Relationship Id="rId171" Type="http://schemas.openxmlformats.org/officeDocument/2006/relationships/slide" Target="slides/slide162.xml"/><Relationship Id="rId292" Type="http://schemas.openxmlformats.org/officeDocument/2006/relationships/slide" Target="slides/slide283.xml"/><Relationship Id="rId170" Type="http://schemas.openxmlformats.org/officeDocument/2006/relationships/slide" Target="slides/slide161.xml"/><Relationship Id="rId291" Type="http://schemas.openxmlformats.org/officeDocument/2006/relationships/slide" Target="slides/slide282.xml"/><Relationship Id="rId290" Type="http://schemas.openxmlformats.org/officeDocument/2006/relationships/slide" Target="slides/slide281.xml"/><Relationship Id="rId165" Type="http://schemas.openxmlformats.org/officeDocument/2006/relationships/slide" Target="slides/slide156.xml"/><Relationship Id="rId286" Type="http://schemas.openxmlformats.org/officeDocument/2006/relationships/slide" Target="slides/slide277.xml"/><Relationship Id="rId164" Type="http://schemas.openxmlformats.org/officeDocument/2006/relationships/slide" Target="slides/slide155.xml"/><Relationship Id="rId285" Type="http://schemas.openxmlformats.org/officeDocument/2006/relationships/slide" Target="slides/slide276.xml"/><Relationship Id="rId163" Type="http://schemas.openxmlformats.org/officeDocument/2006/relationships/slide" Target="slides/slide154.xml"/><Relationship Id="rId284" Type="http://schemas.openxmlformats.org/officeDocument/2006/relationships/slide" Target="slides/slide275.xml"/><Relationship Id="rId162" Type="http://schemas.openxmlformats.org/officeDocument/2006/relationships/slide" Target="slides/slide153.xml"/><Relationship Id="rId283" Type="http://schemas.openxmlformats.org/officeDocument/2006/relationships/slide" Target="slides/slide274.xml"/><Relationship Id="rId169" Type="http://schemas.openxmlformats.org/officeDocument/2006/relationships/slide" Target="slides/slide160.xml"/><Relationship Id="rId168" Type="http://schemas.openxmlformats.org/officeDocument/2006/relationships/slide" Target="slides/slide159.xml"/><Relationship Id="rId289" Type="http://schemas.openxmlformats.org/officeDocument/2006/relationships/slide" Target="slides/slide280.xml"/><Relationship Id="rId167" Type="http://schemas.openxmlformats.org/officeDocument/2006/relationships/slide" Target="slides/slide158.xml"/><Relationship Id="rId288" Type="http://schemas.openxmlformats.org/officeDocument/2006/relationships/slide" Target="slides/slide279.xml"/><Relationship Id="rId166" Type="http://schemas.openxmlformats.org/officeDocument/2006/relationships/slide" Target="slides/slide157.xml"/><Relationship Id="rId287" Type="http://schemas.openxmlformats.org/officeDocument/2006/relationships/slide" Target="slides/slide278.xml"/><Relationship Id="rId161" Type="http://schemas.openxmlformats.org/officeDocument/2006/relationships/slide" Target="slides/slide152.xml"/><Relationship Id="rId282" Type="http://schemas.openxmlformats.org/officeDocument/2006/relationships/slide" Target="slides/slide273.xml"/><Relationship Id="rId160" Type="http://schemas.openxmlformats.org/officeDocument/2006/relationships/slide" Target="slides/slide151.xml"/><Relationship Id="rId281" Type="http://schemas.openxmlformats.org/officeDocument/2006/relationships/slide" Target="slides/slide272.xml"/><Relationship Id="rId280" Type="http://schemas.openxmlformats.org/officeDocument/2006/relationships/slide" Target="slides/slide271.xml"/><Relationship Id="rId159" Type="http://schemas.openxmlformats.org/officeDocument/2006/relationships/slide" Target="slides/slide150.xml"/><Relationship Id="rId154" Type="http://schemas.openxmlformats.org/officeDocument/2006/relationships/slide" Target="slides/slide145.xml"/><Relationship Id="rId275" Type="http://schemas.openxmlformats.org/officeDocument/2006/relationships/slide" Target="slides/slide266.xml"/><Relationship Id="rId396" Type="http://schemas.openxmlformats.org/officeDocument/2006/relationships/slide" Target="slides/slide387.xml"/><Relationship Id="rId153" Type="http://schemas.openxmlformats.org/officeDocument/2006/relationships/slide" Target="slides/slide144.xml"/><Relationship Id="rId274" Type="http://schemas.openxmlformats.org/officeDocument/2006/relationships/slide" Target="slides/slide265.xml"/><Relationship Id="rId395" Type="http://schemas.openxmlformats.org/officeDocument/2006/relationships/slide" Target="slides/slide386.xml"/><Relationship Id="rId152" Type="http://schemas.openxmlformats.org/officeDocument/2006/relationships/slide" Target="slides/slide143.xml"/><Relationship Id="rId273" Type="http://schemas.openxmlformats.org/officeDocument/2006/relationships/slide" Target="slides/slide264.xml"/><Relationship Id="rId394" Type="http://schemas.openxmlformats.org/officeDocument/2006/relationships/slide" Target="slides/slide385.xml"/><Relationship Id="rId151" Type="http://schemas.openxmlformats.org/officeDocument/2006/relationships/slide" Target="slides/slide142.xml"/><Relationship Id="rId272" Type="http://schemas.openxmlformats.org/officeDocument/2006/relationships/slide" Target="slides/slide263.xml"/><Relationship Id="rId393" Type="http://schemas.openxmlformats.org/officeDocument/2006/relationships/slide" Target="slides/slide384.xml"/><Relationship Id="rId158" Type="http://schemas.openxmlformats.org/officeDocument/2006/relationships/slide" Target="slides/slide149.xml"/><Relationship Id="rId279" Type="http://schemas.openxmlformats.org/officeDocument/2006/relationships/slide" Target="slides/slide270.xml"/><Relationship Id="rId157" Type="http://schemas.openxmlformats.org/officeDocument/2006/relationships/slide" Target="slides/slide148.xml"/><Relationship Id="rId278" Type="http://schemas.openxmlformats.org/officeDocument/2006/relationships/slide" Target="slides/slide269.xml"/><Relationship Id="rId399" Type="http://schemas.openxmlformats.org/officeDocument/2006/relationships/slide" Target="slides/slide390.xml"/><Relationship Id="rId156" Type="http://schemas.openxmlformats.org/officeDocument/2006/relationships/slide" Target="slides/slide147.xml"/><Relationship Id="rId277" Type="http://schemas.openxmlformats.org/officeDocument/2006/relationships/slide" Target="slides/slide268.xml"/><Relationship Id="rId398" Type="http://schemas.openxmlformats.org/officeDocument/2006/relationships/slide" Target="slides/slide389.xml"/><Relationship Id="rId155" Type="http://schemas.openxmlformats.org/officeDocument/2006/relationships/slide" Target="slides/slide146.xml"/><Relationship Id="rId276" Type="http://schemas.openxmlformats.org/officeDocument/2006/relationships/slide" Target="slides/slide267.xml"/><Relationship Id="rId397" Type="http://schemas.openxmlformats.org/officeDocument/2006/relationships/slide" Target="slides/slide388.xml"/><Relationship Id="rId40" Type="http://schemas.openxmlformats.org/officeDocument/2006/relationships/slide" Target="slides/slide31.xml"/><Relationship Id="rId42" Type="http://schemas.openxmlformats.org/officeDocument/2006/relationships/slide" Target="slides/slide33.xml"/><Relationship Id="rId41" Type="http://schemas.openxmlformats.org/officeDocument/2006/relationships/slide" Target="slides/slide32.xml"/><Relationship Id="rId44" Type="http://schemas.openxmlformats.org/officeDocument/2006/relationships/slide" Target="slides/slide35.xml"/><Relationship Id="rId43" Type="http://schemas.openxmlformats.org/officeDocument/2006/relationships/slide" Target="slides/slide34.xml"/><Relationship Id="rId46" Type="http://schemas.openxmlformats.org/officeDocument/2006/relationships/slide" Target="slides/slide37.xml"/><Relationship Id="rId45" Type="http://schemas.openxmlformats.org/officeDocument/2006/relationships/slide" Target="slides/slide36.xml"/><Relationship Id="rId509" Type="http://schemas.openxmlformats.org/officeDocument/2006/relationships/slide" Target="slides/slide500.xml"/><Relationship Id="rId508" Type="http://schemas.openxmlformats.org/officeDocument/2006/relationships/slide" Target="slides/slide499.xml"/><Relationship Id="rId629" Type="http://schemas.openxmlformats.org/officeDocument/2006/relationships/slide" Target="slides/slide620.xml"/><Relationship Id="rId503" Type="http://schemas.openxmlformats.org/officeDocument/2006/relationships/slide" Target="slides/slide494.xml"/><Relationship Id="rId624" Type="http://schemas.openxmlformats.org/officeDocument/2006/relationships/slide" Target="slides/slide615.xml"/><Relationship Id="rId745" Type="http://schemas.openxmlformats.org/officeDocument/2006/relationships/font" Target="fonts/OpenSans-bold.fntdata"/><Relationship Id="rId502" Type="http://schemas.openxmlformats.org/officeDocument/2006/relationships/slide" Target="slides/slide493.xml"/><Relationship Id="rId623" Type="http://schemas.openxmlformats.org/officeDocument/2006/relationships/slide" Target="slides/slide614.xml"/><Relationship Id="rId744" Type="http://schemas.openxmlformats.org/officeDocument/2006/relationships/font" Target="fonts/OpenSans-regular.fntdata"/><Relationship Id="rId501" Type="http://schemas.openxmlformats.org/officeDocument/2006/relationships/slide" Target="slides/slide492.xml"/><Relationship Id="rId622" Type="http://schemas.openxmlformats.org/officeDocument/2006/relationships/slide" Target="slides/slide613.xml"/><Relationship Id="rId743" Type="http://schemas.openxmlformats.org/officeDocument/2006/relationships/font" Target="fonts/Comfortaa-bold.fntdata"/><Relationship Id="rId500" Type="http://schemas.openxmlformats.org/officeDocument/2006/relationships/slide" Target="slides/slide491.xml"/><Relationship Id="rId621" Type="http://schemas.openxmlformats.org/officeDocument/2006/relationships/slide" Target="slides/slide612.xml"/><Relationship Id="rId742" Type="http://schemas.openxmlformats.org/officeDocument/2006/relationships/font" Target="fonts/Comfortaa-regular.fntdata"/><Relationship Id="rId507" Type="http://schemas.openxmlformats.org/officeDocument/2006/relationships/slide" Target="slides/slide498.xml"/><Relationship Id="rId628" Type="http://schemas.openxmlformats.org/officeDocument/2006/relationships/slide" Target="slides/slide619.xml"/><Relationship Id="rId506" Type="http://schemas.openxmlformats.org/officeDocument/2006/relationships/slide" Target="slides/slide497.xml"/><Relationship Id="rId627" Type="http://schemas.openxmlformats.org/officeDocument/2006/relationships/slide" Target="slides/slide618.xml"/><Relationship Id="rId505" Type="http://schemas.openxmlformats.org/officeDocument/2006/relationships/slide" Target="slides/slide496.xml"/><Relationship Id="rId626" Type="http://schemas.openxmlformats.org/officeDocument/2006/relationships/slide" Target="slides/slide617.xml"/><Relationship Id="rId747" Type="http://schemas.openxmlformats.org/officeDocument/2006/relationships/font" Target="fonts/OpenSans-boldItalic.fntdata"/><Relationship Id="rId504" Type="http://schemas.openxmlformats.org/officeDocument/2006/relationships/slide" Target="slides/slide495.xml"/><Relationship Id="rId625" Type="http://schemas.openxmlformats.org/officeDocument/2006/relationships/slide" Target="slides/slide616.xml"/><Relationship Id="rId746" Type="http://schemas.openxmlformats.org/officeDocument/2006/relationships/font" Target="fonts/OpenSans-italic.fntdata"/><Relationship Id="rId48" Type="http://schemas.openxmlformats.org/officeDocument/2006/relationships/slide" Target="slides/slide39.xml"/><Relationship Id="rId47" Type="http://schemas.openxmlformats.org/officeDocument/2006/relationships/slide" Target="slides/slide38.xml"/><Relationship Id="rId49" Type="http://schemas.openxmlformats.org/officeDocument/2006/relationships/slide" Target="slides/slide40.xml"/><Relationship Id="rId620" Type="http://schemas.openxmlformats.org/officeDocument/2006/relationships/slide" Target="slides/slide611.xml"/><Relationship Id="rId741" Type="http://schemas.openxmlformats.org/officeDocument/2006/relationships/font" Target="fonts/Cantarell-boldItalic.fntdata"/><Relationship Id="rId740" Type="http://schemas.openxmlformats.org/officeDocument/2006/relationships/font" Target="fonts/Cantarell-italic.fntdata"/><Relationship Id="rId31" Type="http://schemas.openxmlformats.org/officeDocument/2006/relationships/slide" Target="slides/slide22.xml"/><Relationship Id="rId30" Type="http://schemas.openxmlformats.org/officeDocument/2006/relationships/slide" Target="slides/slide21.xml"/><Relationship Id="rId33" Type="http://schemas.openxmlformats.org/officeDocument/2006/relationships/slide" Target="slides/slide24.xml"/><Relationship Id="rId32" Type="http://schemas.openxmlformats.org/officeDocument/2006/relationships/slide" Target="slides/slide23.xml"/><Relationship Id="rId35" Type="http://schemas.openxmlformats.org/officeDocument/2006/relationships/slide" Target="slides/slide26.xml"/><Relationship Id="rId34" Type="http://schemas.openxmlformats.org/officeDocument/2006/relationships/slide" Target="slides/slide25.xml"/><Relationship Id="rId619" Type="http://schemas.openxmlformats.org/officeDocument/2006/relationships/slide" Target="slides/slide610.xml"/><Relationship Id="rId618" Type="http://schemas.openxmlformats.org/officeDocument/2006/relationships/slide" Target="slides/slide609.xml"/><Relationship Id="rId739" Type="http://schemas.openxmlformats.org/officeDocument/2006/relationships/font" Target="fonts/Cantarell-bold.fntdata"/><Relationship Id="rId613" Type="http://schemas.openxmlformats.org/officeDocument/2006/relationships/slide" Target="slides/slide604.xml"/><Relationship Id="rId734" Type="http://schemas.openxmlformats.org/officeDocument/2006/relationships/font" Target="fonts/Economica-bold.fntdata"/><Relationship Id="rId612" Type="http://schemas.openxmlformats.org/officeDocument/2006/relationships/slide" Target="slides/slide603.xml"/><Relationship Id="rId733" Type="http://schemas.openxmlformats.org/officeDocument/2006/relationships/font" Target="fonts/Economica-regular.fntdata"/><Relationship Id="rId611" Type="http://schemas.openxmlformats.org/officeDocument/2006/relationships/slide" Target="slides/slide602.xml"/><Relationship Id="rId732" Type="http://schemas.openxmlformats.org/officeDocument/2006/relationships/font" Target="fonts/Roboto-boldItalic.fntdata"/><Relationship Id="rId610" Type="http://schemas.openxmlformats.org/officeDocument/2006/relationships/slide" Target="slides/slide601.xml"/><Relationship Id="rId731" Type="http://schemas.openxmlformats.org/officeDocument/2006/relationships/font" Target="fonts/Roboto-italic.fntdata"/><Relationship Id="rId617" Type="http://schemas.openxmlformats.org/officeDocument/2006/relationships/slide" Target="slides/slide608.xml"/><Relationship Id="rId738" Type="http://schemas.openxmlformats.org/officeDocument/2006/relationships/font" Target="fonts/Cantarell-regular.fntdata"/><Relationship Id="rId616" Type="http://schemas.openxmlformats.org/officeDocument/2006/relationships/slide" Target="slides/slide607.xml"/><Relationship Id="rId737" Type="http://schemas.openxmlformats.org/officeDocument/2006/relationships/font" Target="fonts/AnticDidone-regular.fntdata"/><Relationship Id="rId615" Type="http://schemas.openxmlformats.org/officeDocument/2006/relationships/slide" Target="slides/slide606.xml"/><Relationship Id="rId736" Type="http://schemas.openxmlformats.org/officeDocument/2006/relationships/font" Target="fonts/Economica-boldItalic.fntdata"/><Relationship Id="rId614" Type="http://schemas.openxmlformats.org/officeDocument/2006/relationships/slide" Target="slides/slide605.xml"/><Relationship Id="rId735" Type="http://schemas.openxmlformats.org/officeDocument/2006/relationships/font" Target="fonts/Economica-italic.fntdata"/><Relationship Id="rId37" Type="http://schemas.openxmlformats.org/officeDocument/2006/relationships/slide" Target="slides/slide28.xml"/><Relationship Id="rId36" Type="http://schemas.openxmlformats.org/officeDocument/2006/relationships/slide" Target="slides/slide27.xml"/><Relationship Id="rId39" Type="http://schemas.openxmlformats.org/officeDocument/2006/relationships/slide" Target="slides/slide30.xml"/><Relationship Id="rId38" Type="http://schemas.openxmlformats.org/officeDocument/2006/relationships/slide" Target="slides/slide29.xml"/><Relationship Id="rId730" Type="http://schemas.openxmlformats.org/officeDocument/2006/relationships/font" Target="fonts/Roboto-bold.fntdata"/><Relationship Id="rId20" Type="http://schemas.openxmlformats.org/officeDocument/2006/relationships/slide" Target="slides/slide11.xml"/><Relationship Id="rId22" Type="http://schemas.openxmlformats.org/officeDocument/2006/relationships/slide" Target="slides/slide13.xml"/><Relationship Id="rId21" Type="http://schemas.openxmlformats.org/officeDocument/2006/relationships/slide" Target="slides/slide12.xml"/><Relationship Id="rId24" Type="http://schemas.openxmlformats.org/officeDocument/2006/relationships/slide" Target="slides/slide15.xml"/><Relationship Id="rId23" Type="http://schemas.openxmlformats.org/officeDocument/2006/relationships/slide" Target="slides/slide14.xml"/><Relationship Id="rId409" Type="http://schemas.openxmlformats.org/officeDocument/2006/relationships/slide" Target="slides/slide400.xml"/><Relationship Id="rId404" Type="http://schemas.openxmlformats.org/officeDocument/2006/relationships/slide" Target="slides/slide395.xml"/><Relationship Id="rId525" Type="http://schemas.openxmlformats.org/officeDocument/2006/relationships/slide" Target="slides/slide516.xml"/><Relationship Id="rId646" Type="http://schemas.openxmlformats.org/officeDocument/2006/relationships/slide" Target="slides/slide637.xml"/><Relationship Id="rId403" Type="http://schemas.openxmlformats.org/officeDocument/2006/relationships/slide" Target="slides/slide394.xml"/><Relationship Id="rId524" Type="http://schemas.openxmlformats.org/officeDocument/2006/relationships/slide" Target="slides/slide515.xml"/><Relationship Id="rId645" Type="http://schemas.openxmlformats.org/officeDocument/2006/relationships/slide" Target="slides/slide636.xml"/><Relationship Id="rId402" Type="http://schemas.openxmlformats.org/officeDocument/2006/relationships/slide" Target="slides/slide393.xml"/><Relationship Id="rId523" Type="http://schemas.openxmlformats.org/officeDocument/2006/relationships/slide" Target="slides/slide514.xml"/><Relationship Id="rId644" Type="http://schemas.openxmlformats.org/officeDocument/2006/relationships/slide" Target="slides/slide635.xml"/><Relationship Id="rId401" Type="http://schemas.openxmlformats.org/officeDocument/2006/relationships/slide" Target="slides/slide392.xml"/><Relationship Id="rId522" Type="http://schemas.openxmlformats.org/officeDocument/2006/relationships/slide" Target="slides/slide513.xml"/><Relationship Id="rId643" Type="http://schemas.openxmlformats.org/officeDocument/2006/relationships/slide" Target="slides/slide634.xml"/><Relationship Id="rId408" Type="http://schemas.openxmlformats.org/officeDocument/2006/relationships/slide" Target="slides/slide399.xml"/><Relationship Id="rId529" Type="http://schemas.openxmlformats.org/officeDocument/2006/relationships/slide" Target="slides/slide520.xml"/><Relationship Id="rId407" Type="http://schemas.openxmlformats.org/officeDocument/2006/relationships/slide" Target="slides/slide398.xml"/><Relationship Id="rId528" Type="http://schemas.openxmlformats.org/officeDocument/2006/relationships/slide" Target="slides/slide519.xml"/><Relationship Id="rId649" Type="http://schemas.openxmlformats.org/officeDocument/2006/relationships/slide" Target="slides/slide640.xml"/><Relationship Id="rId406" Type="http://schemas.openxmlformats.org/officeDocument/2006/relationships/slide" Target="slides/slide397.xml"/><Relationship Id="rId527" Type="http://schemas.openxmlformats.org/officeDocument/2006/relationships/slide" Target="slides/slide518.xml"/><Relationship Id="rId648" Type="http://schemas.openxmlformats.org/officeDocument/2006/relationships/slide" Target="slides/slide639.xml"/><Relationship Id="rId405" Type="http://schemas.openxmlformats.org/officeDocument/2006/relationships/slide" Target="slides/slide396.xml"/><Relationship Id="rId526" Type="http://schemas.openxmlformats.org/officeDocument/2006/relationships/slide" Target="slides/slide517.xml"/><Relationship Id="rId647" Type="http://schemas.openxmlformats.org/officeDocument/2006/relationships/slide" Target="slides/slide638.xml"/><Relationship Id="rId26" Type="http://schemas.openxmlformats.org/officeDocument/2006/relationships/slide" Target="slides/slide17.xml"/><Relationship Id="rId25" Type="http://schemas.openxmlformats.org/officeDocument/2006/relationships/slide" Target="slides/slide16.xml"/><Relationship Id="rId28" Type="http://schemas.openxmlformats.org/officeDocument/2006/relationships/slide" Target="slides/slide19.xml"/><Relationship Id="rId27" Type="http://schemas.openxmlformats.org/officeDocument/2006/relationships/slide" Target="slides/slide18.xml"/><Relationship Id="rId400" Type="http://schemas.openxmlformats.org/officeDocument/2006/relationships/slide" Target="slides/slide391.xml"/><Relationship Id="rId521" Type="http://schemas.openxmlformats.org/officeDocument/2006/relationships/slide" Target="slides/slide512.xml"/><Relationship Id="rId642" Type="http://schemas.openxmlformats.org/officeDocument/2006/relationships/slide" Target="slides/slide633.xml"/><Relationship Id="rId29" Type="http://schemas.openxmlformats.org/officeDocument/2006/relationships/slide" Target="slides/slide20.xml"/><Relationship Id="rId520" Type="http://schemas.openxmlformats.org/officeDocument/2006/relationships/slide" Target="slides/slide511.xml"/><Relationship Id="rId641" Type="http://schemas.openxmlformats.org/officeDocument/2006/relationships/slide" Target="slides/slide632.xml"/><Relationship Id="rId640" Type="http://schemas.openxmlformats.org/officeDocument/2006/relationships/slide" Target="slides/slide631.xml"/><Relationship Id="rId11" Type="http://schemas.openxmlformats.org/officeDocument/2006/relationships/slide" Target="slides/slide2.xml"/><Relationship Id="rId10" Type="http://schemas.openxmlformats.org/officeDocument/2006/relationships/slide" Target="slides/slide1.xml"/><Relationship Id="rId13" Type="http://schemas.openxmlformats.org/officeDocument/2006/relationships/slide" Target="slides/slide4.xml"/><Relationship Id="rId12" Type="http://schemas.openxmlformats.org/officeDocument/2006/relationships/slide" Target="slides/slide3.xml"/><Relationship Id="rId519" Type="http://schemas.openxmlformats.org/officeDocument/2006/relationships/slide" Target="slides/slide510.xml"/><Relationship Id="rId514" Type="http://schemas.openxmlformats.org/officeDocument/2006/relationships/slide" Target="slides/slide505.xml"/><Relationship Id="rId635" Type="http://schemas.openxmlformats.org/officeDocument/2006/relationships/slide" Target="slides/slide626.xml"/><Relationship Id="rId513" Type="http://schemas.openxmlformats.org/officeDocument/2006/relationships/slide" Target="slides/slide504.xml"/><Relationship Id="rId634" Type="http://schemas.openxmlformats.org/officeDocument/2006/relationships/slide" Target="slides/slide625.xml"/><Relationship Id="rId512" Type="http://schemas.openxmlformats.org/officeDocument/2006/relationships/slide" Target="slides/slide503.xml"/><Relationship Id="rId633" Type="http://schemas.openxmlformats.org/officeDocument/2006/relationships/slide" Target="slides/slide624.xml"/><Relationship Id="rId511" Type="http://schemas.openxmlformats.org/officeDocument/2006/relationships/slide" Target="slides/slide502.xml"/><Relationship Id="rId632" Type="http://schemas.openxmlformats.org/officeDocument/2006/relationships/slide" Target="slides/slide623.xml"/><Relationship Id="rId518" Type="http://schemas.openxmlformats.org/officeDocument/2006/relationships/slide" Target="slides/slide509.xml"/><Relationship Id="rId639" Type="http://schemas.openxmlformats.org/officeDocument/2006/relationships/slide" Target="slides/slide630.xml"/><Relationship Id="rId517" Type="http://schemas.openxmlformats.org/officeDocument/2006/relationships/slide" Target="slides/slide508.xml"/><Relationship Id="rId638" Type="http://schemas.openxmlformats.org/officeDocument/2006/relationships/slide" Target="slides/slide629.xml"/><Relationship Id="rId516" Type="http://schemas.openxmlformats.org/officeDocument/2006/relationships/slide" Target="slides/slide507.xml"/><Relationship Id="rId637" Type="http://schemas.openxmlformats.org/officeDocument/2006/relationships/slide" Target="slides/slide628.xml"/><Relationship Id="rId515" Type="http://schemas.openxmlformats.org/officeDocument/2006/relationships/slide" Target="slides/slide506.xml"/><Relationship Id="rId636" Type="http://schemas.openxmlformats.org/officeDocument/2006/relationships/slide" Target="slides/slide627.xml"/><Relationship Id="rId15" Type="http://schemas.openxmlformats.org/officeDocument/2006/relationships/slide" Target="slides/slide6.xml"/><Relationship Id="rId14" Type="http://schemas.openxmlformats.org/officeDocument/2006/relationships/slide" Target="slides/slide5.xml"/><Relationship Id="rId17" Type="http://schemas.openxmlformats.org/officeDocument/2006/relationships/slide" Target="slides/slide8.xml"/><Relationship Id="rId16" Type="http://schemas.openxmlformats.org/officeDocument/2006/relationships/slide" Target="slides/slide7.xml"/><Relationship Id="rId19" Type="http://schemas.openxmlformats.org/officeDocument/2006/relationships/slide" Target="slides/slide10.xml"/><Relationship Id="rId510" Type="http://schemas.openxmlformats.org/officeDocument/2006/relationships/slide" Target="slides/slide501.xml"/><Relationship Id="rId631" Type="http://schemas.openxmlformats.org/officeDocument/2006/relationships/slide" Target="slides/slide622.xml"/><Relationship Id="rId18" Type="http://schemas.openxmlformats.org/officeDocument/2006/relationships/slide" Target="slides/slide9.xml"/><Relationship Id="rId630" Type="http://schemas.openxmlformats.org/officeDocument/2006/relationships/slide" Target="slides/slide621.xml"/><Relationship Id="rId84" Type="http://schemas.openxmlformats.org/officeDocument/2006/relationships/slide" Target="slides/slide75.xml"/><Relationship Id="rId83" Type="http://schemas.openxmlformats.org/officeDocument/2006/relationships/slide" Target="slides/slide74.xml"/><Relationship Id="rId86" Type="http://schemas.openxmlformats.org/officeDocument/2006/relationships/slide" Target="slides/slide77.xml"/><Relationship Id="rId85" Type="http://schemas.openxmlformats.org/officeDocument/2006/relationships/slide" Target="slides/slide76.xml"/><Relationship Id="rId88" Type="http://schemas.openxmlformats.org/officeDocument/2006/relationships/slide" Target="slides/slide79.xml"/><Relationship Id="rId87" Type="http://schemas.openxmlformats.org/officeDocument/2006/relationships/slide" Target="slides/slide78.xml"/><Relationship Id="rId89" Type="http://schemas.openxmlformats.org/officeDocument/2006/relationships/slide" Target="slides/slide80.xml"/><Relationship Id="rId709" Type="http://schemas.openxmlformats.org/officeDocument/2006/relationships/slide" Target="slides/slide700.xml"/><Relationship Id="rId708" Type="http://schemas.openxmlformats.org/officeDocument/2006/relationships/slide" Target="slides/slide699.xml"/><Relationship Id="rId707" Type="http://schemas.openxmlformats.org/officeDocument/2006/relationships/slide" Target="slides/slide698.xml"/><Relationship Id="rId706" Type="http://schemas.openxmlformats.org/officeDocument/2006/relationships/slide" Target="slides/slide697.xml"/><Relationship Id="rId80" Type="http://schemas.openxmlformats.org/officeDocument/2006/relationships/slide" Target="slides/slide71.xml"/><Relationship Id="rId82" Type="http://schemas.openxmlformats.org/officeDocument/2006/relationships/slide" Target="slides/slide73.xml"/><Relationship Id="rId81" Type="http://schemas.openxmlformats.org/officeDocument/2006/relationships/slide" Target="slides/slide72.xml"/><Relationship Id="rId701" Type="http://schemas.openxmlformats.org/officeDocument/2006/relationships/slide" Target="slides/slide692.xml"/><Relationship Id="rId700" Type="http://schemas.openxmlformats.org/officeDocument/2006/relationships/slide" Target="slides/slide691.xml"/><Relationship Id="rId705" Type="http://schemas.openxmlformats.org/officeDocument/2006/relationships/slide" Target="slides/slide696.xml"/><Relationship Id="rId704" Type="http://schemas.openxmlformats.org/officeDocument/2006/relationships/slide" Target="slides/slide695.xml"/><Relationship Id="rId703" Type="http://schemas.openxmlformats.org/officeDocument/2006/relationships/slide" Target="slides/slide694.xml"/><Relationship Id="rId702" Type="http://schemas.openxmlformats.org/officeDocument/2006/relationships/slide" Target="slides/slide693.xml"/><Relationship Id="rId73" Type="http://schemas.openxmlformats.org/officeDocument/2006/relationships/slide" Target="slides/slide64.xml"/><Relationship Id="rId72" Type="http://schemas.openxmlformats.org/officeDocument/2006/relationships/slide" Target="slides/slide63.xml"/><Relationship Id="rId75" Type="http://schemas.openxmlformats.org/officeDocument/2006/relationships/slide" Target="slides/slide66.xml"/><Relationship Id="rId74" Type="http://schemas.openxmlformats.org/officeDocument/2006/relationships/slide" Target="slides/slide65.xml"/><Relationship Id="rId77" Type="http://schemas.openxmlformats.org/officeDocument/2006/relationships/slide" Target="slides/slide68.xml"/><Relationship Id="rId76" Type="http://schemas.openxmlformats.org/officeDocument/2006/relationships/slide" Target="slides/slide67.xml"/><Relationship Id="rId79" Type="http://schemas.openxmlformats.org/officeDocument/2006/relationships/slide" Target="slides/slide70.xml"/><Relationship Id="rId78" Type="http://schemas.openxmlformats.org/officeDocument/2006/relationships/slide" Target="slides/slide69.xml"/><Relationship Id="rId71" Type="http://schemas.openxmlformats.org/officeDocument/2006/relationships/slide" Target="slides/slide62.xml"/><Relationship Id="rId70" Type="http://schemas.openxmlformats.org/officeDocument/2006/relationships/slide" Target="slides/slide61.xml"/><Relationship Id="rId62" Type="http://schemas.openxmlformats.org/officeDocument/2006/relationships/slide" Target="slides/slide53.xml"/><Relationship Id="rId61" Type="http://schemas.openxmlformats.org/officeDocument/2006/relationships/slide" Target="slides/slide52.xml"/><Relationship Id="rId64" Type="http://schemas.openxmlformats.org/officeDocument/2006/relationships/slide" Target="slides/slide55.xml"/><Relationship Id="rId63" Type="http://schemas.openxmlformats.org/officeDocument/2006/relationships/slide" Target="slides/slide54.xml"/><Relationship Id="rId66" Type="http://schemas.openxmlformats.org/officeDocument/2006/relationships/slide" Target="slides/slide57.xml"/><Relationship Id="rId65" Type="http://schemas.openxmlformats.org/officeDocument/2006/relationships/slide" Target="slides/slide56.xml"/><Relationship Id="rId68" Type="http://schemas.openxmlformats.org/officeDocument/2006/relationships/slide" Target="slides/slide59.xml"/><Relationship Id="rId67" Type="http://schemas.openxmlformats.org/officeDocument/2006/relationships/slide" Target="slides/slide58.xml"/><Relationship Id="rId609" Type="http://schemas.openxmlformats.org/officeDocument/2006/relationships/slide" Target="slides/slide600.xml"/><Relationship Id="rId608" Type="http://schemas.openxmlformats.org/officeDocument/2006/relationships/slide" Target="slides/slide599.xml"/><Relationship Id="rId729" Type="http://schemas.openxmlformats.org/officeDocument/2006/relationships/font" Target="fonts/Roboto-regular.fntdata"/><Relationship Id="rId607" Type="http://schemas.openxmlformats.org/officeDocument/2006/relationships/slide" Target="slides/slide598.xml"/><Relationship Id="rId728" Type="http://schemas.openxmlformats.org/officeDocument/2006/relationships/font" Target="fonts/Junge-regular.fntdata"/><Relationship Id="rId60" Type="http://schemas.openxmlformats.org/officeDocument/2006/relationships/slide" Target="slides/slide51.xml"/><Relationship Id="rId602" Type="http://schemas.openxmlformats.org/officeDocument/2006/relationships/slide" Target="slides/slide593.xml"/><Relationship Id="rId723" Type="http://schemas.openxmlformats.org/officeDocument/2006/relationships/font" Target="fonts/Garamond-bold.fntdata"/><Relationship Id="rId601" Type="http://schemas.openxmlformats.org/officeDocument/2006/relationships/slide" Target="slides/slide592.xml"/><Relationship Id="rId722" Type="http://schemas.openxmlformats.org/officeDocument/2006/relationships/font" Target="fonts/Garamond-regular.fntdata"/><Relationship Id="rId600" Type="http://schemas.openxmlformats.org/officeDocument/2006/relationships/slide" Target="slides/slide591.xml"/><Relationship Id="rId721" Type="http://schemas.openxmlformats.org/officeDocument/2006/relationships/font" Target="fonts/Oxygen-bold.fntdata"/><Relationship Id="rId720" Type="http://schemas.openxmlformats.org/officeDocument/2006/relationships/font" Target="fonts/Oxygen-regular.fntdata"/><Relationship Id="rId606" Type="http://schemas.openxmlformats.org/officeDocument/2006/relationships/slide" Target="slides/slide597.xml"/><Relationship Id="rId727" Type="http://schemas.openxmlformats.org/officeDocument/2006/relationships/font" Target="fonts/Pacifico-regular.fntdata"/><Relationship Id="rId605" Type="http://schemas.openxmlformats.org/officeDocument/2006/relationships/slide" Target="slides/slide596.xml"/><Relationship Id="rId726" Type="http://schemas.openxmlformats.org/officeDocument/2006/relationships/font" Target="fonts/Habibi-regular.fntdata"/><Relationship Id="rId604" Type="http://schemas.openxmlformats.org/officeDocument/2006/relationships/slide" Target="slides/slide595.xml"/><Relationship Id="rId725" Type="http://schemas.openxmlformats.org/officeDocument/2006/relationships/font" Target="fonts/Garamond-boldItalic.fntdata"/><Relationship Id="rId603" Type="http://schemas.openxmlformats.org/officeDocument/2006/relationships/slide" Target="slides/slide594.xml"/><Relationship Id="rId724" Type="http://schemas.openxmlformats.org/officeDocument/2006/relationships/font" Target="fonts/Garamond-italic.fntdata"/><Relationship Id="rId69" Type="http://schemas.openxmlformats.org/officeDocument/2006/relationships/slide" Target="slides/slide60.xml"/><Relationship Id="rId51" Type="http://schemas.openxmlformats.org/officeDocument/2006/relationships/slide" Target="slides/slide42.xml"/><Relationship Id="rId50" Type="http://schemas.openxmlformats.org/officeDocument/2006/relationships/slide" Target="slides/slide41.xml"/><Relationship Id="rId53" Type="http://schemas.openxmlformats.org/officeDocument/2006/relationships/slide" Target="slides/slide44.xml"/><Relationship Id="rId52" Type="http://schemas.openxmlformats.org/officeDocument/2006/relationships/slide" Target="slides/slide43.xml"/><Relationship Id="rId55" Type="http://schemas.openxmlformats.org/officeDocument/2006/relationships/slide" Target="slides/slide46.xml"/><Relationship Id="rId54" Type="http://schemas.openxmlformats.org/officeDocument/2006/relationships/slide" Target="slides/slide45.xml"/><Relationship Id="rId57" Type="http://schemas.openxmlformats.org/officeDocument/2006/relationships/slide" Target="slides/slide48.xml"/><Relationship Id="rId56" Type="http://schemas.openxmlformats.org/officeDocument/2006/relationships/slide" Target="slides/slide47.xml"/><Relationship Id="rId719" Type="http://schemas.openxmlformats.org/officeDocument/2006/relationships/font" Target="fonts/JosefinSlab-boldItalic.fntdata"/><Relationship Id="rId718" Type="http://schemas.openxmlformats.org/officeDocument/2006/relationships/font" Target="fonts/JosefinSlab-italic.fntdata"/><Relationship Id="rId717" Type="http://schemas.openxmlformats.org/officeDocument/2006/relationships/font" Target="fonts/JosefinSlab-bold.fntdata"/><Relationship Id="rId712" Type="http://schemas.openxmlformats.org/officeDocument/2006/relationships/slide" Target="slides/slide703.xml"/><Relationship Id="rId711" Type="http://schemas.openxmlformats.org/officeDocument/2006/relationships/slide" Target="slides/slide702.xml"/><Relationship Id="rId710" Type="http://schemas.openxmlformats.org/officeDocument/2006/relationships/slide" Target="slides/slide701.xml"/><Relationship Id="rId716" Type="http://schemas.openxmlformats.org/officeDocument/2006/relationships/font" Target="fonts/JosefinSlab-regular.fntdata"/><Relationship Id="rId715" Type="http://schemas.openxmlformats.org/officeDocument/2006/relationships/slide" Target="slides/slide706.xml"/><Relationship Id="rId714" Type="http://schemas.openxmlformats.org/officeDocument/2006/relationships/slide" Target="slides/slide705.xml"/><Relationship Id="rId713" Type="http://schemas.openxmlformats.org/officeDocument/2006/relationships/slide" Target="slides/slide704.xml"/><Relationship Id="rId59" Type="http://schemas.openxmlformats.org/officeDocument/2006/relationships/slide" Target="slides/slide50.xml"/><Relationship Id="rId58" Type="http://schemas.openxmlformats.org/officeDocument/2006/relationships/slide" Target="slides/slide49.xml"/><Relationship Id="rId590" Type="http://schemas.openxmlformats.org/officeDocument/2006/relationships/slide" Target="slides/slide581.xml"/><Relationship Id="rId107" Type="http://schemas.openxmlformats.org/officeDocument/2006/relationships/slide" Target="slides/slide98.xml"/><Relationship Id="rId228" Type="http://schemas.openxmlformats.org/officeDocument/2006/relationships/slide" Target="slides/slide219.xml"/><Relationship Id="rId349" Type="http://schemas.openxmlformats.org/officeDocument/2006/relationships/slide" Target="slides/slide340.xml"/><Relationship Id="rId106" Type="http://schemas.openxmlformats.org/officeDocument/2006/relationships/slide" Target="slides/slide97.xml"/><Relationship Id="rId227" Type="http://schemas.openxmlformats.org/officeDocument/2006/relationships/slide" Target="slides/slide218.xml"/><Relationship Id="rId348" Type="http://schemas.openxmlformats.org/officeDocument/2006/relationships/slide" Target="slides/slide339.xml"/><Relationship Id="rId469" Type="http://schemas.openxmlformats.org/officeDocument/2006/relationships/slide" Target="slides/slide460.xml"/><Relationship Id="rId105" Type="http://schemas.openxmlformats.org/officeDocument/2006/relationships/slide" Target="slides/slide96.xml"/><Relationship Id="rId226" Type="http://schemas.openxmlformats.org/officeDocument/2006/relationships/slide" Target="slides/slide217.xml"/><Relationship Id="rId347" Type="http://schemas.openxmlformats.org/officeDocument/2006/relationships/slide" Target="slides/slide338.xml"/><Relationship Id="rId468" Type="http://schemas.openxmlformats.org/officeDocument/2006/relationships/slide" Target="slides/slide459.xml"/><Relationship Id="rId589" Type="http://schemas.openxmlformats.org/officeDocument/2006/relationships/slide" Target="slides/slide580.xml"/><Relationship Id="rId104" Type="http://schemas.openxmlformats.org/officeDocument/2006/relationships/slide" Target="slides/slide95.xml"/><Relationship Id="rId225" Type="http://schemas.openxmlformats.org/officeDocument/2006/relationships/slide" Target="slides/slide216.xml"/><Relationship Id="rId346" Type="http://schemas.openxmlformats.org/officeDocument/2006/relationships/slide" Target="slides/slide337.xml"/><Relationship Id="rId467" Type="http://schemas.openxmlformats.org/officeDocument/2006/relationships/slide" Target="slides/slide458.xml"/><Relationship Id="rId588" Type="http://schemas.openxmlformats.org/officeDocument/2006/relationships/slide" Target="slides/slide579.xml"/><Relationship Id="rId109" Type="http://schemas.openxmlformats.org/officeDocument/2006/relationships/slide" Target="slides/slide100.xml"/><Relationship Id="rId108" Type="http://schemas.openxmlformats.org/officeDocument/2006/relationships/slide" Target="slides/slide99.xml"/><Relationship Id="rId229" Type="http://schemas.openxmlformats.org/officeDocument/2006/relationships/slide" Target="slides/slide220.xml"/><Relationship Id="rId220" Type="http://schemas.openxmlformats.org/officeDocument/2006/relationships/slide" Target="slides/slide211.xml"/><Relationship Id="rId341" Type="http://schemas.openxmlformats.org/officeDocument/2006/relationships/slide" Target="slides/slide332.xml"/><Relationship Id="rId462" Type="http://schemas.openxmlformats.org/officeDocument/2006/relationships/slide" Target="slides/slide453.xml"/><Relationship Id="rId583" Type="http://schemas.openxmlformats.org/officeDocument/2006/relationships/slide" Target="slides/slide574.xml"/><Relationship Id="rId340" Type="http://schemas.openxmlformats.org/officeDocument/2006/relationships/slide" Target="slides/slide331.xml"/><Relationship Id="rId461" Type="http://schemas.openxmlformats.org/officeDocument/2006/relationships/slide" Target="slides/slide452.xml"/><Relationship Id="rId582" Type="http://schemas.openxmlformats.org/officeDocument/2006/relationships/slide" Target="slides/slide573.xml"/><Relationship Id="rId460" Type="http://schemas.openxmlformats.org/officeDocument/2006/relationships/slide" Target="slides/slide451.xml"/><Relationship Id="rId581" Type="http://schemas.openxmlformats.org/officeDocument/2006/relationships/slide" Target="slides/slide572.xml"/><Relationship Id="rId580" Type="http://schemas.openxmlformats.org/officeDocument/2006/relationships/slide" Target="slides/slide571.xml"/><Relationship Id="rId103" Type="http://schemas.openxmlformats.org/officeDocument/2006/relationships/slide" Target="slides/slide94.xml"/><Relationship Id="rId224" Type="http://schemas.openxmlformats.org/officeDocument/2006/relationships/slide" Target="slides/slide215.xml"/><Relationship Id="rId345" Type="http://schemas.openxmlformats.org/officeDocument/2006/relationships/slide" Target="slides/slide336.xml"/><Relationship Id="rId466" Type="http://schemas.openxmlformats.org/officeDocument/2006/relationships/slide" Target="slides/slide457.xml"/><Relationship Id="rId587" Type="http://schemas.openxmlformats.org/officeDocument/2006/relationships/slide" Target="slides/slide578.xml"/><Relationship Id="rId102" Type="http://schemas.openxmlformats.org/officeDocument/2006/relationships/slide" Target="slides/slide93.xml"/><Relationship Id="rId223" Type="http://schemas.openxmlformats.org/officeDocument/2006/relationships/slide" Target="slides/slide214.xml"/><Relationship Id="rId344" Type="http://schemas.openxmlformats.org/officeDocument/2006/relationships/slide" Target="slides/slide335.xml"/><Relationship Id="rId465" Type="http://schemas.openxmlformats.org/officeDocument/2006/relationships/slide" Target="slides/slide456.xml"/><Relationship Id="rId586" Type="http://schemas.openxmlformats.org/officeDocument/2006/relationships/slide" Target="slides/slide577.xml"/><Relationship Id="rId101" Type="http://schemas.openxmlformats.org/officeDocument/2006/relationships/slide" Target="slides/slide92.xml"/><Relationship Id="rId222" Type="http://schemas.openxmlformats.org/officeDocument/2006/relationships/slide" Target="slides/slide213.xml"/><Relationship Id="rId343" Type="http://schemas.openxmlformats.org/officeDocument/2006/relationships/slide" Target="slides/slide334.xml"/><Relationship Id="rId464" Type="http://schemas.openxmlformats.org/officeDocument/2006/relationships/slide" Target="slides/slide455.xml"/><Relationship Id="rId585" Type="http://schemas.openxmlformats.org/officeDocument/2006/relationships/slide" Target="slides/slide576.xml"/><Relationship Id="rId100" Type="http://schemas.openxmlformats.org/officeDocument/2006/relationships/slide" Target="slides/slide91.xml"/><Relationship Id="rId221" Type="http://schemas.openxmlformats.org/officeDocument/2006/relationships/slide" Target="slides/slide212.xml"/><Relationship Id="rId342" Type="http://schemas.openxmlformats.org/officeDocument/2006/relationships/slide" Target="slides/slide333.xml"/><Relationship Id="rId463" Type="http://schemas.openxmlformats.org/officeDocument/2006/relationships/slide" Target="slides/slide454.xml"/><Relationship Id="rId584" Type="http://schemas.openxmlformats.org/officeDocument/2006/relationships/slide" Target="slides/slide575.xml"/><Relationship Id="rId217" Type="http://schemas.openxmlformats.org/officeDocument/2006/relationships/slide" Target="slides/slide208.xml"/><Relationship Id="rId338" Type="http://schemas.openxmlformats.org/officeDocument/2006/relationships/slide" Target="slides/slide329.xml"/><Relationship Id="rId459" Type="http://schemas.openxmlformats.org/officeDocument/2006/relationships/slide" Target="slides/slide450.xml"/><Relationship Id="rId216" Type="http://schemas.openxmlformats.org/officeDocument/2006/relationships/slide" Target="slides/slide207.xml"/><Relationship Id="rId337" Type="http://schemas.openxmlformats.org/officeDocument/2006/relationships/slide" Target="slides/slide328.xml"/><Relationship Id="rId458" Type="http://schemas.openxmlformats.org/officeDocument/2006/relationships/slide" Target="slides/slide449.xml"/><Relationship Id="rId579" Type="http://schemas.openxmlformats.org/officeDocument/2006/relationships/slide" Target="slides/slide570.xml"/><Relationship Id="rId215" Type="http://schemas.openxmlformats.org/officeDocument/2006/relationships/slide" Target="slides/slide206.xml"/><Relationship Id="rId336" Type="http://schemas.openxmlformats.org/officeDocument/2006/relationships/slide" Target="slides/slide327.xml"/><Relationship Id="rId457" Type="http://schemas.openxmlformats.org/officeDocument/2006/relationships/slide" Target="slides/slide448.xml"/><Relationship Id="rId578" Type="http://schemas.openxmlformats.org/officeDocument/2006/relationships/slide" Target="slides/slide569.xml"/><Relationship Id="rId699" Type="http://schemas.openxmlformats.org/officeDocument/2006/relationships/slide" Target="slides/slide690.xml"/><Relationship Id="rId214" Type="http://schemas.openxmlformats.org/officeDocument/2006/relationships/slide" Target="slides/slide205.xml"/><Relationship Id="rId335" Type="http://schemas.openxmlformats.org/officeDocument/2006/relationships/slide" Target="slides/slide326.xml"/><Relationship Id="rId456" Type="http://schemas.openxmlformats.org/officeDocument/2006/relationships/slide" Target="slides/slide447.xml"/><Relationship Id="rId577" Type="http://schemas.openxmlformats.org/officeDocument/2006/relationships/slide" Target="slides/slide568.xml"/><Relationship Id="rId698" Type="http://schemas.openxmlformats.org/officeDocument/2006/relationships/slide" Target="slides/slide689.xml"/><Relationship Id="rId219" Type="http://schemas.openxmlformats.org/officeDocument/2006/relationships/slide" Target="slides/slide210.xml"/><Relationship Id="rId218" Type="http://schemas.openxmlformats.org/officeDocument/2006/relationships/slide" Target="slides/slide209.xml"/><Relationship Id="rId339" Type="http://schemas.openxmlformats.org/officeDocument/2006/relationships/slide" Target="slides/slide330.xml"/><Relationship Id="rId330" Type="http://schemas.openxmlformats.org/officeDocument/2006/relationships/slide" Target="slides/slide321.xml"/><Relationship Id="rId451" Type="http://schemas.openxmlformats.org/officeDocument/2006/relationships/slide" Target="slides/slide442.xml"/><Relationship Id="rId572" Type="http://schemas.openxmlformats.org/officeDocument/2006/relationships/slide" Target="slides/slide563.xml"/><Relationship Id="rId693" Type="http://schemas.openxmlformats.org/officeDocument/2006/relationships/slide" Target="slides/slide684.xml"/><Relationship Id="rId450" Type="http://schemas.openxmlformats.org/officeDocument/2006/relationships/slide" Target="slides/slide441.xml"/><Relationship Id="rId571" Type="http://schemas.openxmlformats.org/officeDocument/2006/relationships/slide" Target="slides/slide562.xml"/><Relationship Id="rId692" Type="http://schemas.openxmlformats.org/officeDocument/2006/relationships/slide" Target="slides/slide683.xml"/><Relationship Id="rId570" Type="http://schemas.openxmlformats.org/officeDocument/2006/relationships/slide" Target="slides/slide561.xml"/><Relationship Id="rId691" Type="http://schemas.openxmlformats.org/officeDocument/2006/relationships/slide" Target="slides/slide682.xml"/><Relationship Id="rId690" Type="http://schemas.openxmlformats.org/officeDocument/2006/relationships/slide" Target="slides/slide681.xml"/><Relationship Id="rId213" Type="http://schemas.openxmlformats.org/officeDocument/2006/relationships/slide" Target="slides/slide204.xml"/><Relationship Id="rId334" Type="http://schemas.openxmlformats.org/officeDocument/2006/relationships/slide" Target="slides/slide325.xml"/><Relationship Id="rId455" Type="http://schemas.openxmlformats.org/officeDocument/2006/relationships/slide" Target="slides/slide446.xml"/><Relationship Id="rId576" Type="http://schemas.openxmlformats.org/officeDocument/2006/relationships/slide" Target="slides/slide567.xml"/><Relationship Id="rId697" Type="http://schemas.openxmlformats.org/officeDocument/2006/relationships/slide" Target="slides/slide688.xml"/><Relationship Id="rId212" Type="http://schemas.openxmlformats.org/officeDocument/2006/relationships/slide" Target="slides/slide203.xml"/><Relationship Id="rId333" Type="http://schemas.openxmlformats.org/officeDocument/2006/relationships/slide" Target="slides/slide324.xml"/><Relationship Id="rId454" Type="http://schemas.openxmlformats.org/officeDocument/2006/relationships/slide" Target="slides/slide445.xml"/><Relationship Id="rId575" Type="http://schemas.openxmlformats.org/officeDocument/2006/relationships/slide" Target="slides/slide566.xml"/><Relationship Id="rId696" Type="http://schemas.openxmlformats.org/officeDocument/2006/relationships/slide" Target="slides/slide687.xml"/><Relationship Id="rId211" Type="http://schemas.openxmlformats.org/officeDocument/2006/relationships/slide" Target="slides/slide202.xml"/><Relationship Id="rId332" Type="http://schemas.openxmlformats.org/officeDocument/2006/relationships/slide" Target="slides/slide323.xml"/><Relationship Id="rId453" Type="http://schemas.openxmlformats.org/officeDocument/2006/relationships/slide" Target="slides/slide444.xml"/><Relationship Id="rId574" Type="http://schemas.openxmlformats.org/officeDocument/2006/relationships/slide" Target="slides/slide565.xml"/><Relationship Id="rId695" Type="http://schemas.openxmlformats.org/officeDocument/2006/relationships/slide" Target="slides/slide686.xml"/><Relationship Id="rId210" Type="http://schemas.openxmlformats.org/officeDocument/2006/relationships/slide" Target="slides/slide201.xml"/><Relationship Id="rId331" Type="http://schemas.openxmlformats.org/officeDocument/2006/relationships/slide" Target="slides/slide322.xml"/><Relationship Id="rId452" Type="http://schemas.openxmlformats.org/officeDocument/2006/relationships/slide" Target="slides/slide443.xml"/><Relationship Id="rId573" Type="http://schemas.openxmlformats.org/officeDocument/2006/relationships/slide" Target="slides/slide564.xml"/><Relationship Id="rId694" Type="http://schemas.openxmlformats.org/officeDocument/2006/relationships/slide" Target="slides/slide685.xml"/><Relationship Id="rId370" Type="http://schemas.openxmlformats.org/officeDocument/2006/relationships/slide" Target="slides/slide361.xml"/><Relationship Id="rId491" Type="http://schemas.openxmlformats.org/officeDocument/2006/relationships/slide" Target="slides/slide482.xml"/><Relationship Id="rId490" Type="http://schemas.openxmlformats.org/officeDocument/2006/relationships/slide" Target="slides/slide481.xml"/><Relationship Id="rId129" Type="http://schemas.openxmlformats.org/officeDocument/2006/relationships/slide" Target="slides/slide120.xml"/><Relationship Id="rId128" Type="http://schemas.openxmlformats.org/officeDocument/2006/relationships/slide" Target="slides/slide119.xml"/><Relationship Id="rId249" Type="http://schemas.openxmlformats.org/officeDocument/2006/relationships/slide" Target="slides/slide240.xml"/><Relationship Id="rId127" Type="http://schemas.openxmlformats.org/officeDocument/2006/relationships/slide" Target="slides/slide118.xml"/><Relationship Id="rId248" Type="http://schemas.openxmlformats.org/officeDocument/2006/relationships/slide" Target="slides/slide239.xml"/><Relationship Id="rId369" Type="http://schemas.openxmlformats.org/officeDocument/2006/relationships/slide" Target="slides/slide360.xml"/><Relationship Id="rId126" Type="http://schemas.openxmlformats.org/officeDocument/2006/relationships/slide" Target="slides/slide117.xml"/><Relationship Id="rId247" Type="http://schemas.openxmlformats.org/officeDocument/2006/relationships/slide" Target="slides/slide238.xml"/><Relationship Id="rId368" Type="http://schemas.openxmlformats.org/officeDocument/2006/relationships/slide" Target="slides/slide359.xml"/><Relationship Id="rId489" Type="http://schemas.openxmlformats.org/officeDocument/2006/relationships/slide" Target="slides/slide480.xml"/><Relationship Id="rId121" Type="http://schemas.openxmlformats.org/officeDocument/2006/relationships/slide" Target="slides/slide112.xml"/><Relationship Id="rId242" Type="http://schemas.openxmlformats.org/officeDocument/2006/relationships/slide" Target="slides/slide233.xml"/><Relationship Id="rId363" Type="http://schemas.openxmlformats.org/officeDocument/2006/relationships/slide" Target="slides/slide354.xml"/><Relationship Id="rId484" Type="http://schemas.openxmlformats.org/officeDocument/2006/relationships/slide" Target="slides/slide475.xml"/><Relationship Id="rId120" Type="http://schemas.openxmlformats.org/officeDocument/2006/relationships/slide" Target="slides/slide111.xml"/><Relationship Id="rId241" Type="http://schemas.openxmlformats.org/officeDocument/2006/relationships/slide" Target="slides/slide232.xml"/><Relationship Id="rId362" Type="http://schemas.openxmlformats.org/officeDocument/2006/relationships/slide" Target="slides/slide353.xml"/><Relationship Id="rId483" Type="http://schemas.openxmlformats.org/officeDocument/2006/relationships/slide" Target="slides/slide474.xml"/><Relationship Id="rId240" Type="http://schemas.openxmlformats.org/officeDocument/2006/relationships/slide" Target="slides/slide231.xml"/><Relationship Id="rId361" Type="http://schemas.openxmlformats.org/officeDocument/2006/relationships/slide" Target="slides/slide352.xml"/><Relationship Id="rId482" Type="http://schemas.openxmlformats.org/officeDocument/2006/relationships/slide" Target="slides/slide473.xml"/><Relationship Id="rId360" Type="http://schemas.openxmlformats.org/officeDocument/2006/relationships/slide" Target="slides/slide351.xml"/><Relationship Id="rId481" Type="http://schemas.openxmlformats.org/officeDocument/2006/relationships/slide" Target="slides/slide472.xml"/><Relationship Id="rId125" Type="http://schemas.openxmlformats.org/officeDocument/2006/relationships/slide" Target="slides/slide116.xml"/><Relationship Id="rId246" Type="http://schemas.openxmlformats.org/officeDocument/2006/relationships/slide" Target="slides/slide237.xml"/><Relationship Id="rId367" Type="http://schemas.openxmlformats.org/officeDocument/2006/relationships/slide" Target="slides/slide358.xml"/><Relationship Id="rId488" Type="http://schemas.openxmlformats.org/officeDocument/2006/relationships/slide" Target="slides/slide479.xml"/><Relationship Id="rId124" Type="http://schemas.openxmlformats.org/officeDocument/2006/relationships/slide" Target="slides/slide115.xml"/><Relationship Id="rId245" Type="http://schemas.openxmlformats.org/officeDocument/2006/relationships/slide" Target="slides/slide236.xml"/><Relationship Id="rId366" Type="http://schemas.openxmlformats.org/officeDocument/2006/relationships/slide" Target="slides/slide357.xml"/><Relationship Id="rId487" Type="http://schemas.openxmlformats.org/officeDocument/2006/relationships/slide" Target="slides/slide478.xml"/><Relationship Id="rId123" Type="http://schemas.openxmlformats.org/officeDocument/2006/relationships/slide" Target="slides/slide114.xml"/><Relationship Id="rId244" Type="http://schemas.openxmlformats.org/officeDocument/2006/relationships/slide" Target="slides/slide235.xml"/><Relationship Id="rId365" Type="http://schemas.openxmlformats.org/officeDocument/2006/relationships/slide" Target="slides/slide356.xml"/><Relationship Id="rId486" Type="http://schemas.openxmlformats.org/officeDocument/2006/relationships/slide" Target="slides/slide477.xml"/><Relationship Id="rId122" Type="http://schemas.openxmlformats.org/officeDocument/2006/relationships/slide" Target="slides/slide113.xml"/><Relationship Id="rId243" Type="http://schemas.openxmlformats.org/officeDocument/2006/relationships/slide" Target="slides/slide234.xml"/><Relationship Id="rId364" Type="http://schemas.openxmlformats.org/officeDocument/2006/relationships/slide" Target="slides/slide355.xml"/><Relationship Id="rId485" Type="http://schemas.openxmlformats.org/officeDocument/2006/relationships/slide" Target="slides/slide476.xml"/><Relationship Id="rId95" Type="http://schemas.openxmlformats.org/officeDocument/2006/relationships/slide" Target="slides/slide86.xml"/><Relationship Id="rId94" Type="http://schemas.openxmlformats.org/officeDocument/2006/relationships/slide" Target="slides/slide85.xml"/><Relationship Id="rId97" Type="http://schemas.openxmlformats.org/officeDocument/2006/relationships/slide" Target="slides/slide88.xml"/><Relationship Id="rId96" Type="http://schemas.openxmlformats.org/officeDocument/2006/relationships/slide" Target="slides/slide87.xml"/><Relationship Id="rId99" Type="http://schemas.openxmlformats.org/officeDocument/2006/relationships/slide" Target="slides/slide90.xml"/><Relationship Id="rId480" Type="http://schemas.openxmlformats.org/officeDocument/2006/relationships/slide" Target="slides/slide471.xml"/><Relationship Id="rId98" Type="http://schemas.openxmlformats.org/officeDocument/2006/relationships/slide" Target="slides/slide89.xml"/><Relationship Id="rId91" Type="http://schemas.openxmlformats.org/officeDocument/2006/relationships/slide" Target="slides/slide82.xml"/><Relationship Id="rId90" Type="http://schemas.openxmlformats.org/officeDocument/2006/relationships/slide" Target="slides/slide81.xml"/><Relationship Id="rId93" Type="http://schemas.openxmlformats.org/officeDocument/2006/relationships/slide" Target="slides/slide84.xml"/><Relationship Id="rId92" Type="http://schemas.openxmlformats.org/officeDocument/2006/relationships/slide" Target="slides/slide83.xml"/><Relationship Id="rId118" Type="http://schemas.openxmlformats.org/officeDocument/2006/relationships/slide" Target="slides/slide109.xml"/><Relationship Id="rId239" Type="http://schemas.openxmlformats.org/officeDocument/2006/relationships/slide" Target="slides/slide230.xml"/><Relationship Id="rId117" Type="http://schemas.openxmlformats.org/officeDocument/2006/relationships/slide" Target="slides/slide108.xml"/><Relationship Id="rId238" Type="http://schemas.openxmlformats.org/officeDocument/2006/relationships/slide" Target="slides/slide229.xml"/><Relationship Id="rId359" Type="http://schemas.openxmlformats.org/officeDocument/2006/relationships/slide" Target="slides/slide350.xml"/><Relationship Id="rId116" Type="http://schemas.openxmlformats.org/officeDocument/2006/relationships/slide" Target="slides/slide107.xml"/><Relationship Id="rId237" Type="http://schemas.openxmlformats.org/officeDocument/2006/relationships/slide" Target="slides/slide228.xml"/><Relationship Id="rId358" Type="http://schemas.openxmlformats.org/officeDocument/2006/relationships/slide" Target="slides/slide349.xml"/><Relationship Id="rId479" Type="http://schemas.openxmlformats.org/officeDocument/2006/relationships/slide" Target="slides/slide470.xml"/><Relationship Id="rId115" Type="http://schemas.openxmlformats.org/officeDocument/2006/relationships/slide" Target="slides/slide106.xml"/><Relationship Id="rId236" Type="http://schemas.openxmlformats.org/officeDocument/2006/relationships/slide" Target="slides/slide227.xml"/><Relationship Id="rId357" Type="http://schemas.openxmlformats.org/officeDocument/2006/relationships/slide" Target="slides/slide348.xml"/><Relationship Id="rId478" Type="http://schemas.openxmlformats.org/officeDocument/2006/relationships/slide" Target="slides/slide469.xml"/><Relationship Id="rId599" Type="http://schemas.openxmlformats.org/officeDocument/2006/relationships/slide" Target="slides/slide590.xml"/><Relationship Id="rId119" Type="http://schemas.openxmlformats.org/officeDocument/2006/relationships/slide" Target="slides/slide110.xml"/><Relationship Id="rId110" Type="http://schemas.openxmlformats.org/officeDocument/2006/relationships/slide" Target="slides/slide101.xml"/><Relationship Id="rId231" Type="http://schemas.openxmlformats.org/officeDocument/2006/relationships/slide" Target="slides/slide222.xml"/><Relationship Id="rId352" Type="http://schemas.openxmlformats.org/officeDocument/2006/relationships/slide" Target="slides/slide343.xml"/><Relationship Id="rId473" Type="http://schemas.openxmlformats.org/officeDocument/2006/relationships/slide" Target="slides/slide464.xml"/><Relationship Id="rId594" Type="http://schemas.openxmlformats.org/officeDocument/2006/relationships/slide" Target="slides/slide585.xml"/><Relationship Id="rId230" Type="http://schemas.openxmlformats.org/officeDocument/2006/relationships/slide" Target="slides/slide221.xml"/><Relationship Id="rId351" Type="http://schemas.openxmlformats.org/officeDocument/2006/relationships/slide" Target="slides/slide342.xml"/><Relationship Id="rId472" Type="http://schemas.openxmlformats.org/officeDocument/2006/relationships/slide" Target="slides/slide463.xml"/><Relationship Id="rId593" Type="http://schemas.openxmlformats.org/officeDocument/2006/relationships/slide" Target="slides/slide584.xml"/><Relationship Id="rId350" Type="http://schemas.openxmlformats.org/officeDocument/2006/relationships/slide" Target="slides/slide341.xml"/><Relationship Id="rId471" Type="http://schemas.openxmlformats.org/officeDocument/2006/relationships/slide" Target="slides/slide462.xml"/><Relationship Id="rId592" Type="http://schemas.openxmlformats.org/officeDocument/2006/relationships/slide" Target="slides/slide583.xml"/><Relationship Id="rId470" Type="http://schemas.openxmlformats.org/officeDocument/2006/relationships/slide" Target="slides/slide461.xml"/><Relationship Id="rId591" Type="http://schemas.openxmlformats.org/officeDocument/2006/relationships/slide" Target="slides/slide582.xml"/><Relationship Id="rId114" Type="http://schemas.openxmlformats.org/officeDocument/2006/relationships/slide" Target="slides/slide105.xml"/><Relationship Id="rId235" Type="http://schemas.openxmlformats.org/officeDocument/2006/relationships/slide" Target="slides/slide226.xml"/><Relationship Id="rId356" Type="http://schemas.openxmlformats.org/officeDocument/2006/relationships/slide" Target="slides/slide347.xml"/><Relationship Id="rId477" Type="http://schemas.openxmlformats.org/officeDocument/2006/relationships/slide" Target="slides/slide468.xml"/><Relationship Id="rId598" Type="http://schemas.openxmlformats.org/officeDocument/2006/relationships/slide" Target="slides/slide589.xml"/><Relationship Id="rId113" Type="http://schemas.openxmlformats.org/officeDocument/2006/relationships/slide" Target="slides/slide104.xml"/><Relationship Id="rId234" Type="http://schemas.openxmlformats.org/officeDocument/2006/relationships/slide" Target="slides/slide225.xml"/><Relationship Id="rId355" Type="http://schemas.openxmlformats.org/officeDocument/2006/relationships/slide" Target="slides/slide346.xml"/><Relationship Id="rId476" Type="http://schemas.openxmlformats.org/officeDocument/2006/relationships/slide" Target="slides/slide467.xml"/><Relationship Id="rId597" Type="http://schemas.openxmlformats.org/officeDocument/2006/relationships/slide" Target="slides/slide588.xml"/><Relationship Id="rId112" Type="http://schemas.openxmlformats.org/officeDocument/2006/relationships/slide" Target="slides/slide103.xml"/><Relationship Id="rId233" Type="http://schemas.openxmlformats.org/officeDocument/2006/relationships/slide" Target="slides/slide224.xml"/><Relationship Id="rId354" Type="http://schemas.openxmlformats.org/officeDocument/2006/relationships/slide" Target="slides/slide345.xml"/><Relationship Id="rId475" Type="http://schemas.openxmlformats.org/officeDocument/2006/relationships/slide" Target="slides/slide466.xml"/><Relationship Id="rId596" Type="http://schemas.openxmlformats.org/officeDocument/2006/relationships/slide" Target="slides/slide587.xml"/><Relationship Id="rId111" Type="http://schemas.openxmlformats.org/officeDocument/2006/relationships/slide" Target="slides/slide102.xml"/><Relationship Id="rId232" Type="http://schemas.openxmlformats.org/officeDocument/2006/relationships/slide" Target="slides/slide223.xml"/><Relationship Id="rId353" Type="http://schemas.openxmlformats.org/officeDocument/2006/relationships/slide" Target="slides/slide344.xml"/><Relationship Id="rId474" Type="http://schemas.openxmlformats.org/officeDocument/2006/relationships/slide" Target="slides/slide465.xml"/><Relationship Id="rId595" Type="http://schemas.openxmlformats.org/officeDocument/2006/relationships/slide" Target="slides/slide586.xml"/><Relationship Id="rId305" Type="http://schemas.openxmlformats.org/officeDocument/2006/relationships/slide" Target="slides/slide296.xml"/><Relationship Id="rId426" Type="http://schemas.openxmlformats.org/officeDocument/2006/relationships/slide" Target="slides/slide417.xml"/><Relationship Id="rId547" Type="http://schemas.openxmlformats.org/officeDocument/2006/relationships/slide" Target="slides/slide538.xml"/><Relationship Id="rId668" Type="http://schemas.openxmlformats.org/officeDocument/2006/relationships/slide" Target="slides/slide659.xml"/><Relationship Id="rId304" Type="http://schemas.openxmlformats.org/officeDocument/2006/relationships/slide" Target="slides/slide295.xml"/><Relationship Id="rId425" Type="http://schemas.openxmlformats.org/officeDocument/2006/relationships/slide" Target="slides/slide416.xml"/><Relationship Id="rId546" Type="http://schemas.openxmlformats.org/officeDocument/2006/relationships/slide" Target="slides/slide537.xml"/><Relationship Id="rId667" Type="http://schemas.openxmlformats.org/officeDocument/2006/relationships/slide" Target="slides/slide658.xml"/><Relationship Id="rId303" Type="http://schemas.openxmlformats.org/officeDocument/2006/relationships/slide" Target="slides/slide294.xml"/><Relationship Id="rId424" Type="http://schemas.openxmlformats.org/officeDocument/2006/relationships/slide" Target="slides/slide415.xml"/><Relationship Id="rId545" Type="http://schemas.openxmlformats.org/officeDocument/2006/relationships/slide" Target="slides/slide536.xml"/><Relationship Id="rId666" Type="http://schemas.openxmlformats.org/officeDocument/2006/relationships/slide" Target="slides/slide657.xml"/><Relationship Id="rId302" Type="http://schemas.openxmlformats.org/officeDocument/2006/relationships/slide" Target="slides/slide293.xml"/><Relationship Id="rId423" Type="http://schemas.openxmlformats.org/officeDocument/2006/relationships/slide" Target="slides/slide414.xml"/><Relationship Id="rId544" Type="http://schemas.openxmlformats.org/officeDocument/2006/relationships/slide" Target="slides/slide535.xml"/><Relationship Id="rId665" Type="http://schemas.openxmlformats.org/officeDocument/2006/relationships/slide" Target="slides/slide656.xml"/><Relationship Id="rId309" Type="http://schemas.openxmlformats.org/officeDocument/2006/relationships/slide" Target="slides/slide300.xml"/><Relationship Id="rId308" Type="http://schemas.openxmlformats.org/officeDocument/2006/relationships/slide" Target="slides/slide299.xml"/><Relationship Id="rId429" Type="http://schemas.openxmlformats.org/officeDocument/2006/relationships/slide" Target="slides/slide420.xml"/><Relationship Id="rId307" Type="http://schemas.openxmlformats.org/officeDocument/2006/relationships/slide" Target="slides/slide298.xml"/><Relationship Id="rId428" Type="http://schemas.openxmlformats.org/officeDocument/2006/relationships/slide" Target="slides/slide419.xml"/><Relationship Id="rId549" Type="http://schemas.openxmlformats.org/officeDocument/2006/relationships/slide" Target="slides/slide540.xml"/><Relationship Id="rId306" Type="http://schemas.openxmlformats.org/officeDocument/2006/relationships/slide" Target="slides/slide297.xml"/><Relationship Id="rId427" Type="http://schemas.openxmlformats.org/officeDocument/2006/relationships/slide" Target="slides/slide418.xml"/><Relationship Id="rId548" Type="http://schemas.openxmlformats.org/officeDocument/2006/relationships/slide" Target="slides/slide539.xml"/><Relationship Id="rId669" Type="http://schemas.openxmlformats.org/officeDocument/2006/relationships/slide" Target="slides/slide660.xml"/><Relationship Id="rId660" Type="http://schemas.openxmlformats.org/officeDocument/2006/relationships/slide" Target="slides/slide651.xml"/><Relationship Id="rId301" Type="http://schemas.openxmlformats.org/officeDocument/2006/relationships/slide" Target="slides/slide292.xml"/><Relationship Id="rId422" Type="http://schemas.openxmlformats.org/officeDocument/2006/relationships/slide" Target="slides/slide413.xml"/><Relationship Id="rId543" Type="http://schemas.openxmlformats.org/officeDocument/2006/relationships/slide" Target="slides/slide534.xml"/><Relationship Id="rId664" Type="http://schemas.openxmlformats.org/officeDocument/2006/relationships/slide" Target="slides/slide655.xml"/><Relationship Id="rId300" Type="http://schemas.openxmlformats.org/officeDocument/2006/relationships/slide" Target="slides/slide291.xml"/><Relationship Id="rId421" Type="http://schemas.openxmlformats.org/officeDocument/2006/relationships/slide" Target="slides/slide412.xml"/><Relationship Id="rId542" Type="http://schemas.openxmlformats.org/officeDocument/2006/relationships/slide" Target="slides/slide533.xml"/><Relationship Id="rId663" Type="http://schemas.openxmlformats.org/officeDocument/2006/relationships/slide" Target="slides/slide654.xml"/><Relationship Id="rId420" Type="http://schemas.openxmlformats.org/officeDocument/2006/relationships/slide" Target="slides/slide411.xml"/><Relationship Id="rId541" Type="http://schemas.openxmlformats.org/officeDocument/2006/relationships/slide" Target="slides/slide532.xml"/><Relationship Id="rId662" Type="http://schemas.openxmlformats.org/officeDocument/2006/relationships/slide" Target="slides/slide653.xml"/><Relationship Id="rId540" Type="http://schemas.openxmlformats.org/officeDocument/2006/relationships/slide" Target="slides/slide531.xml"/><Relationship Id="rId661" Type="http://schemas.openxmlformats.org/officeDocument/2006/relationships/slide" Target="slides/slide652.xml"/><Relationship Id="rId415" Type="http://schemas.openxmlformats.org/officeDocument/2006/relationships/slide" Target="slides/slide406.xml"/><Relationship Id="rId536" Type="http://schemas.openxmlformats.org/officeDocument/2006/relationships/slide" Target="slides/slide527.xml"/><Relationship Id="rId657" Type="http://schemas.openxmlformats.org/officeDocument/2006/relationships/slide" Target="slides/slide648.xml"/><Relationship Id="rId414" Type="http://schemas.openxmlformats.org/officeDocument/2006/relationships/slide" Target="slides/slide405.xml"/><Relationship Id="rId535" Type="http://schemas.openxmlformats.org/officeDocument/2006/relationships/slide" Target="slides/slide526.xml"/><Relationship Id="rId656" Type="http://schemas.openxmlformats.org/officeDocument/2006/relationships/slide" Target="slides/slide647.xml"/><Relationship Id="rId413" Type="http://schemas.openxmlformats.org/officeDocument/2006/relationships/slide" Target="slides/slide404.xml"/><Relationship Id="rId534" Type="http://schemas.openxmlformats.org/officeDocument/2006/relationships/slide" Target="slides/slide525.xml"/><Relationship Id="rId655" Type="http://schemas.openxmlformats.org/officeDocument/2006/relationships/slide" Target="slides/slide646.xml"/><Relationship Id="rId412" Type="http://schemas.openxmlformats.org/officeDocument/2006/relationships/slide" Target="slides/slide403.xml"/><Relationship Id="rId533" Type="http://schemas.openxmlformats.org/officeDocument/2006/relationships/slide" Target="slides/slide524.xml"/><Relationship Id="rId654" Type="http://schemas.openxmlformats.org/officeDocument/2006/relationships/slide" Target="slides/slide645.xml"/><Relationship Id="rId419" Type="http://schemas.openxmlformats.org/officeDocument/2006/relationships/slide" Target="slides/slide410.xml"/><Relationship Id="rId418" Type="http://schemas.openxmlformats.org/officeDocument/2006/relationships/slide" Target="slides/slide409.xml"/><Relationship Id="rId539" Type="http://schemas.openxmlformats.org/officeDocument/2006/relationships/slide" Target="slides/slide530.xml"/><Relationship Id="rId417" Type="http://schemas.openxmlformats.org/officeDocument/2006/relationships/slide" Target="slides/slide408.xml"/><Relationship Id="rId538" Type="http://schemas.openxmlformats.org/officeDocument/2006/relationships/slide" Target="slides/slide529.xml"/><Relationship Id="rId659" Type="http://schemas.openxmlformats.org/officeDocument/2006/relationships/slide" Target="slides/slide650.xml"/><Relationship Id="rId416" Type="http://schemas.openxmlformats.org/officeDocument/2006/relationships/slide" Target="slides/slide407.xml"/><Relationship Id="rId537" Type="http://schemas.openxmlformats.org/officeDocument/2006/relationships/slide" Target="slides/slide528.xml"/><Relationship Id="rId658" Type="http://schemas.openxmlformats.org/officeDocument/2006/relationships/slide" Target="slides/slide649.xml"/><Relationship Id="rId411" Type="http://schemas.openxmlformats.org/officeDocument/2006/relationships/slide" Target="slides/slide402.xml"/><Relationship Id="rId532" Type="http://schemas.openxmlformats.org/officeDocument/2006/relationships/slide" Target="slides/slide523.xml"/><Relationship Id="rId653" Type="http://schemas.openxmlformats.org/officeDocument/2006/relationships/slide" Target="slides/slide644.xml"/><Relationship Id="rId410" Type="http://schemas.openxmlformats.org/officeDocument/2006/relationships/slide" Target="slides/slide401.xml"/><Relationship Id="rId531" Type="http://schemas.openxmlformats.org/officeDocument/2006/relationships/slide" Target="slides/slide522.xml"/><Relationship Id="rId652" Type="http://schemas.openxmlformats.org/officeDocument/2006/relationships/slide" Target="slides/slide643.xml"/><Relationship Id="rId530" Type="http://schemas.openxmlformats.org/officeDocument/2006/relationships/slide" Target="slides/slide521.xml"/><Relationship Id="rId651" Type="http://schemas.openxmlformats.org/officeDocument/2006/relationships/slide" Target="slides/slide642.xml"/><Relationship Id="rId650" Type="http://schemas.openxmlformats.org/officeDocument/2006/relationships/slide" Target="slides/slide641.xml"/><Relationship Id="rId206" Type="http://schemas.openxmlformats.org/officeDocument/2006/relationships/slide" Target="slides/slide197.xml"/><Relationship Id="rId327" Type="http://schemas.openxmlformats.org/officeDocument/2006/relationships/slide" Target="slides/slide318.xml"/><Relationship Id="rId448" Type="http://schemas.openxmlformats.org/officeDocument/2006/relationships/slide" Target="slides/slide439.xml"/><Relationship Id="rId569" Type="http://schemas.openxmlformats.org/officeDocument/2006/relationships/slide" Target="slides/slide560.xml"/><Relationship Id="rId205" Type="http://schemas.openxmlformats.org/officeDocument/2006/relationships/slide" Target="slides/slide196.xml"/><Relationship Id="rId326" Type="http://schemas.openxmlformats.org/officeDocument/2006/relationships/slide" Target="slides/slide317.xml"/><Relationship Id="rId447" Type="http://schemas.openxmlformats.org/officeDocument/2006/relationships/slide" Target="slides/slide438.xml"/><Relationship Id="rId568" Type="http://schemas.openxmlformats.org/officeDocument/2006/relationships/slide" Target="slides/slide559.xml"/><Relationship Id="rId689" Type="http://schemas.openxmlformats.org/officeDocument/2006/relationships/slide" Target="slides/slide680.xml"/><Relationship Id="rId204" Type="http://schemas.openxmlformats.org/officeDocument/2006/relationships/slide" Target="slides/slide195.xml"/><Relationship Id="rId325" Type="http://schemas.openxmlformats.org/officeDocument/2006/relationships/slide" Target="slides/slide316.xml"/><Relationship Id="rId446" Type="http://schemas.openxmlformats.org/officeDocument/2006/relationships/slide" Target="slides/slide437.xml"/><Relationship Id="rId567" Type="http://schemas.openxmlformats.org/officeDocument/2006/relationships/slide" Target="slides/slide558.xml"/><Relationship Id="rId688" Type="http://schemas.openxmlformats.org/officeDocument/2006/relationships/slide" Target="slides/slide679.xml"/><Relationship Id="rId203" Type="http://schemas.openxmlformats.org/officeDocument/2006/relationships/slide" Target="slides/slide194.xml"/><Relationship Id="rId324" Type="http://schemas.openxmlformats.org/officeDocument/2006/relationships/slide" Target="slides/slide315.xml"/><Relationship Id="rId445" Type="http://schemas.openxmlformats.org/officeDocument/2006/relationships/slide" Target="slides/slide436.xml"/><Relationship Id="rId566" Type="http://schemas.openxmlformats.org/officeDocument/2006/relationships/slide" Target="slides/slide557.xml"/><Relationship Id="rId687" Type="http://schemas.openxmlformats.org/officeDocument/2006/relationships/slide" Target="slides/slide678.xml"/><Relationship Id="rId209" Type="http://schemas.openxmlformats.org/officeDocument/2006/relationships/slide" Target="slides/slide200.xml"/><Relationship Id="rId208" Type="http://schemas.openxmlformats.org/officeDocument/2006/relationships/slide" Target="slides/slide199.xml"/><Relationship Id="rId329" Type="http://schemas.openxmlformats.org/officeDocument/2006/relationships/slide" Target="slides/slide320.xml"/><Relationship Id="rId207" Type="http://schemas.openxmlformats.org/officeDocument/2006/relationships/slide" Target="slides/slide198.xml"/><Relationship Id="rId328" Type="http://schemas.openxmlformats.org/officeDocument/2006/relationships/slide" Target="slides/slide319.xml"/><Relationship Id="rId449" Type="http://schemas.openxmlformats.org/officeDocument/2006/relationships/slide" Target="slides/slide440.xml"/><Relationship Id="rId440" Type="http://schemas.openxmlformats.org/officeDocument/2006/relationships/slide" Target="slides/slide431.xml"/><Relationship Id="rId561" Type="http://schemas.openxmlformats.org/officeDocument/2006/relationships/slide" Target="slides/slide552.xml"/><Relationship Id="rId682" Type="http://schemas.openxmlformats.org/officeDocument/2006/relationships/slide" Target="slides/slide673.xml"/><Relationship Id="rId560" Type="http://schemas.openxmlformats.org/officeDocument/2006/relationships/slide" Target="slides/slide551.xml"/><Relationship Id="rId681" Type="http://schemas.openxmlformats.org/officeDocument/2006/relationships/slide" Target="slides/slide672.xml"/><Relationship Id="rId680" Type="http://schemas.openxmlformats.org/officeDocument/2006/relationships/slide" Target="slides/slide671.xml"/><Relationship Id="rId202" Type="http://schemas.openxmlformats.org/officeDocument/2006/relationships/slide" Target="slides/slide193.xml"/><Relationship Id="rId323" Type="http://schemas.openxmlformats.org/officeDocument/2006/relationships/slide" Target="slides/slide314.xml"/><Relationship Id="rId444" Type="http://schemas.openxmlformats.org/officeDocument/2006/relationships/slide" Target="slides/slide435.xml"/><Relationship Id="rId565" Type="http://schemas.openxmlformats.org/officeDocument/2006/relationships/slide" Target="slides/slide556.xml"/><Relationship Id="rId686" Type="http://schemas.openxmlformats.org/officeDocument/2006/relationships/slide" Target="slides/slide677.xml"/><Relationship Id="rId201" Type="http://schemas.openxmlformats.org/officeDocument/2006/relationships/slide" Target="slides/slide192.xml"/><Relationship Id="rId322" Type="http://schemas.openxmlformats.org/officeDocument/2006/relationships/slide" Target="slides/slide313.xml"/><Relationship Id="rId443" Type="http://schemas.openxmlformats.org/officeDocument/2006/relationships/slide" Target="slides/slide434.xml"/><Relationship Id="rId564" Type="http://schemas.openxmlformats.org/officeDocument/2006/relationships/slide" Target="slides/slide555.xml"/><Relationship Id="rId685" Type="http://schemas.openxmlformats.org/officeDocument/2006/relationships/slide" Target="slides/slide676.xml"/><Relationship Id="rId200" Type="http://schemas.openxmlformats.org/officeDocument/2006/relationships/slide" Target="slides/slide191.xml"/><Relationship Id="rId321" Type="http://schemas.openxmlformats.org/officeDocument/2006/relationships/slide" Target="slides/slide312.xml"/><Relationship Id="rId442" Type="http://schemas.openxmlformats.org/officeDocument/2006/relationships/slide" Target="slides/slide433.xml"/><Relationship Id="rId563" Type="http://schemas.openxmlformats.org/officeDocument/2006/relationships/slide" Target="slides/slide554.xml"/><Relationship Id="rId684" Type="http://schemas.openxmlformats.org/officeDocument/2006/relationships/slide" Target="slides/slide675.xml"/><Relationship Id="rId320" Type="http://schemas.openxmlformats.org/officeDocument/2006/relationships/slide" Target="slides/slide311.xml"/><Relationship Id="rId441" Type="http://schemas.openxmlformats.org/officeDocument/2006/relationships/slide" Target="slides/slide432.xml"/><Relationship Id="rId562" Type="http://schemas.openxmlformats.org/officeDocument/2006/relationships/slide" Target="slides/slide553.xml"/><Relationship Id="rId683" Type="http://schemas.openxmlformats.org/officeDocument/2006/relationships/slide" Target="slides/slide674.xml"/><Relationship Id="rId316" Type="http://schemas.openxmlformats.org/officeDocument/2006/relationships/slide" Target="slides/slide307.xml"/><Relationship Id="rId437" Type="http://schemas.openxmlformats.org/officeDocument/2006/relationships/slide" Target="slides/slide428.xml"/><Relationship Id="rId558" Type="http://schemas.openxmlformats.org/officeDocument/2006/relationships/slide" Target="slides/slide549.xml"/><Relationship Id="rId679" Type="http://schemas.openxmlformats.org/officeDocument/2006/relationships/slide" Target="slides/slide670.xml"/><Relationship Id="rId315" Type="http://schemas.openxmlformats.org/officeDocument/2006/relationships/slide" Target="slides/slide306.xml"/><Relationship Id="rId436" Type="http://schemas.openxmlformats.org/officeDocument/2006/relationships/slide" Target="slides/slide427.xml"/><Relationship Id="rId557" Type="http://schemas.openxmlformats.org/officeDocument/2006/relationships/slide" Target="slides/slide548.xml"/><Relationship Id="rId678" Type="http://schemas.openxmlformats.org/officeDocument/2006/relationships/slide" Target="slides/slide669.xml"/><Relationship Id="rId314" Type="http://schemas.openxmlformats.org/officeDocument/2006/relationships/slide" Target="slides/slide305.xml"/><Relationship Id="rId435" Type="http://schemas.openxmlformats.org/officeDocument/2006/relationships/slide" Target="slides/slide426.xml"/><Relationship Id="rId556" Type="http://schemas.openxmlformats.org/officeDocument/2006/relationships/slide" Target="slides/slide547.xml"/><Relationship Id="rId677" Type="http://schemas.openxmlformats.org/officeDocument/2006/relationships/slide" Target="slides/slide668.xml"/><Relationship Id="rId313" Type="http://schemas.openxmlformats.org/officeDocument/2006/relationships/slide" Target="slides/slide304.xml"/><Relationship Id="rId434" Type="http://schemas.openxmlformats.org/officeDocument/2006/relationships/slide" Target="slides/slide425.xml"/><Relationship Id="rId555" Type="http://schemas.openxmlformats.org/officeDocument/2006/relationships/slide" Target="slides/slide546.xml"/><Relationship Id="rId676" Type="http://schemas.openxmlformats.org/officeDocument/2006/relationships/slide" Target="slides/slide667.xml"/><Relationship Id="rId319" Type="http://schemas.openxmlformats.org/officeDocument/2006/relationships/slide" Target="slides/slide310.xml"/><Relationship Id="rId318" Type="http://schemas.openxmlformats.org/officeDocument/2006/relationships/slide" Target="slides/slide309.xml"/><Relationship Id="rId439" Type="http://schemas.openxmlformats.org/officeDocument/2006/relationships/slide" Target="slides/slide430.xml"/><Relationship Id="rId317" Type="http://schemas.openxmlformats.org/officeDocument/2006/relationships/slide" Target="slides/slide308.xml"/><Relationship Id="rId438" Type="http://schemas.openxmlformats.org/officeDocument/2006/relationships/slide" Target="slides/slide429.xml"/><Relationship Id="rId559" Type="http://schemas.openxmlformats.org/officeDocument/2006/relationships/slide" Target="slides/slide550.xml"/><Relationship Id="rId550" Type="http://schemas.openxmlformats.org/officeDocument/2006/relationships/slide" Target="slides/slide541.xml"/><Relationship Id="rId671" Type="http://schemas.openxmlformats.org/officeDocument/2006/relationships/slide" Target="slides/slide662.xml"/><Relationship Id="rId670" Type="http://schemas.openxmlformats.org/officeDocument/2006/relationships/slide" Target="slides/slide661.xml"/><Relationship Id="rId312" Type="http://schemas.openxmlformats.org/officeDocument/2006/relationships/slide" Target="slides/slide303.xml"/><Relationship Id="rId433" Type="http://schemas.openxmlformats.org/officeDocument/2006/relationships/slide" Target="slides/slide424.xml"/><Relationship Id="rId554" Type="http://schemas.openxmlformats.org/officeDocument/2006/relationships/slide" Target="slides/slide545.xml"/><Relationship Id="rId675" Type="http://schemas.openxmlformats.org/officeDocument/2006/relationships/slide" Target="slides/slide666.xml"/><Relationship Id="rId311" Type="http://schemas.openxmlformats.org/officeDocument/2006/relationships/slide" Target="slides/slide302.xml"/><Relationship Id="rId432" Type="http://schemas.openxmlformats.org/officeDocument/2006/relationships/slide" Target="slides/slide423.xml"/><Relationship Id="rId553" Type="http://schemas.openxmlformats.org/officeDocument/2006/relationships/slide" Target="slides/slide544.xml"/><Relationship Id="rId674" Type="http://schemas.openxmlformats.org/officeDocument/2006/relationships/slide" Target="slides/slide665.xml"/><Relationship Id="rId310" Type="http://schemas.openxmlformats.org/officeDocument/2006/relationships/slide" Target="slides/slide301.xml"/><Relationship Id="rId431" Type="http://schemas.openxmlformats.org/officeDocument/2006/relationships/slide" Target="slides/slide422.xml"/><Relationship Id="rId552" Type="http://schemas.openxmlformats.org/officeDocument/2006/relationships/slide" Target="slides/slide543.xml"/><Relationship Id="rId673" Type="http://schemas.openxmlformats.org/officeDocument/2006/relationships/slide" Target="slides/slide664.xml"/><Relationship Id="rId430" Type="http://schemas.openxmlformats.org/officeDocument/2006/relationships/slide" Target="slides/slide421.xml"/><Relationship Id="rId551" Type="http://schemas.openxmlformats.org/officeDocument/2006/relationships/slide" Target="slides/slide542.xml"/><Relationship Id="rId672" Type="http://schemas.openxmlformats.org/officeDocument/2006/relationships/slide" Target="slides/slide66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gbd14bdbd8f_0_10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" name="Google Shape;214;gbd14bdbd8f_0_10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gbd14bdbd8f_0_10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" name="Google Shape;221;gbd14bdbd8f_0_10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gbd14bdbd8f_0_10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" name="Google Shape;229;gbd14bdbd8f_0_10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gbd14bdbd8f_0_10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" name="Google Shape;237;gbd14bdbd8f_0_10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gbd14bdbd8f_0_11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" name="Google Shape;269;gbd14bdbd8f_0_11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7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gbd14bdbd8f_0_11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9" name="Google Shape;279;gbd14bdbd8f_0_11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" name="Google Shape;298;gbd14bdbd8f_0_1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9" name="Google Shape;299;gbd14bdbd8f_0_1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7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Google Shape;318;gbd14bdbd8f_0_11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9" name="Google Shape;319;gbd14bdbd8f_0_11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gbd14bdbd8f_0_1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" name="Google Shape;334;gbd14bdbd8f_0_1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gbd14bdbd8f_0_1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" name="Google Shape;350;gbd14bdbd8f_0_1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gbd14bdbd8f_0_11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7" name="Google Shape;367;gbd14bdbd8f_0_11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0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gbd14bdbd8f_0_12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2" name="Google Shape;382;gbd14bdbd8f_0_12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gbd14bdbd8f_0_12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" name="Google Shape;399;gbd14bdbd8f_0_12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3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gbd14bdbd8f_0_12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5" name="Google Shape;405;gbd14bdbd8f_0_12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4" name="Shape 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Google Shape;415;gbd14bdbd8f_0_12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6" name="Google Shape;416;gbd14bdbd8f_0_1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3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" name="Google Shape;434;gbd14bdbd8f_0_12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5" name="Google Shape;435;gbd14bdbd8f_0_12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2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gbd14bdbd8f_0_12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4" name="Google Shape;454;gbd14bdbd8f_0_12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gbd14bdbd8f_0_12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3" name="Google Shape;473;gbd14bdbd8f_0_12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0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gbd14bdbd8f_0_13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2" name="Google Shape;492;gbd14bdbd8f_0_13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9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gbd14bdbd8f_0_13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1" name="Google Shape;511;gbd14bdbd8f_0_13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bd14bdbd8f_0_13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bd14bdbd8f_0_13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0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Google Shape;571;gbd14bdbd8f_0_13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2" name="Google Shape;572;gbd14bdbd8f_0_13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0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gbd14bdbd8f_0_14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" name="Google Shape;622;gbd14bdbd8f_0_14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6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gbd14bdbd8f_0_14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" name="Google Shape;628;gbd14bdbd8f_0_14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5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Google Shape;676;gbd14bdbd8f_0_14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7" name="Google Shape;677;gbd14bdbd8f_0_14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5" name="Shape 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" name="Google Shape;726;gbd14bdbd8f_0_15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" name="Google Shape;727;gbd14bdbd8f_0_15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8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" name="Google Shape;739;gbd14bdbd8f_0_15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0" name="Google Shape;740;gbd14bdbd8f_0_15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3" name="Shape 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Google Shape;754;gbd14bdbd8f_0_15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5" name="Google Shape;755;gbd14bdbd8f_0_15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8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gbd14bdbd8f_0_15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0" name="Google Shape;770;gbd14bdbd8f_0_15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5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" name="Google Shape;786;gbd14bdbd8f_0_15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7" name="Google Shape;787;gbd14bdbd8f_0_15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2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gbd14bdbd8f_0_16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4" name="Google Shape;804;gbd14bdbd8f_0_16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9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gbd14bdbd8f_0_16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" name="Google Shape;821;gbd14bdbd8f_0_1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7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gbd14bdbd8f_0_16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9" name="Google Shape;829;gbd14bdbd8f_0_16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" name="Google Shape;836;gbd14bdbd8f_0_17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" name="Google Shape;837;gbd14bdbd8f_0_17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6" name="Shape 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" name="Google Shape;857;g3481bac2c15_0_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8" name="Google Shape;858;g3481bac2c15_0_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3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Google Shape;864;g3481bac2c15_0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" name="Google Shape;865;g3481bac2c15_0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gbd14bdbd8f_0_18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" name="Google Shape;883;gbd14bdbd8f_0_18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3" name="Shape 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" name="Google Shape;914;gbd14bdbd8f_0_18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" name="Google Shape;915;gbd14bdbd8f_0_18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gbd14bdbd8f_0_18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7" name="Google Shape;947;gbd14bdbd8f_0_18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3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gbd14bdbd8f_0_19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5" name="Google Shape;985;gbd14bdbd8f_0_19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9" name="Shape 1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" name="Google Shape;1020;gbd14bdbd8f_0_1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1" name="Google Shape;1021;gbd14bdbd8f_0_1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25" name="Shape 1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Google Shape;1026;gbd14bdbd8f_0_19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7" name="Google Shape;1027;gbd14bdbd8f_0_19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0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Google Shape;1041;gbd14bdbd8f_0_19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2" name="Google Shape;1042;gbd14bdbd8f_0_19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7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bd14bdbd8f_0_19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bd14bdbd8f_0_19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4" name="Shape 1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Google Shape;1075;gbd14bdbd8f_0_20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6" name="Google Shape;1076;gbd14bdbd8f_0_20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1" name="Shape 1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" name="Google Shape;1092;gbd14bdbd8f_0_20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3" name="Google Shape;1093;gbd14bdbd8f_0_20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7" name="Shape 1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Google Shape;1098;gbd14bdbd8f_0_20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9" name="Google Shape;1099;gbd14bdbd8f_0_20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4" name="Shape 1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" name="Google Shape;1115;gbd14bdbd8f_0_20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6" name="Google Shape;1116;gbd14bdbd8f_0_20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9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gbd14bdbd8f_0_20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1" name="Google Shape;1121;gbd14bdbd8f_0_20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0" name="Shape 1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" name="Google Shape;1141;gbd14bdbd8f_0_21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2" name="Google Shape;1142;gbd14bdbd8f_0_21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4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" name="Google Shape;1165;gbd14bdbd8f_0_2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6" name="Google Shape;1166;gbd14bdbd8f_0_2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8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gbd14bdbd8f_0_2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0" name="Google Shape;1190;gbd14bdbd8f_0_2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1" name="Shape 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" name="Google Shape;1212;gbd14bdbd8f_0_2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3" name="Google Shape;1213;gbd14bdbd8f_0_2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2" name="Shape 1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" name="Google Shape;1233;gbd14bdbd8f_0_22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4" name="Google Shape;1234;gbd14bdbd8f_0_22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5" name="Shape 1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" name="Google Shape;1256;gbd14bdbd8f_0_22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7" name="Google Shape;1257;gbd14bdbd8f_0_22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7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" name="Google Shape;1278;gbd14bdbd8f_0_22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9" name="Google Shape;1279;gbd14bdbd8f_0_22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8" name="Shape 1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" name="Google Shape;1299;gbd14bdbd8f_0_2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0" name="Google Shape;1300;gbd14bdbd8f_0_2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9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bd14bdbd8f_0_22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1" name="Google Shape;1321;gbd14bdbd8f_0_22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0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" name="Google Shape;1341;gbd14bdbd8f_0_23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2" name="Google Shape;1342;gbd14bdbd8f_0_23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1" name="Shape 1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2" name="Google Shape;1352;gbd14bdbd8f_0_23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3" name="Google Shape;1353;gbd14bdbd8f_0_23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2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gbd14bdbd8f_0_2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4" name="Google Shape;1374;gbd14bdbd8f_0_2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3" name="Shape 1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4" name="Google Shape;1394;gbd14bdbd8f_0_2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5" name="Google Shape;1395;gbd14bdbd8f_0_2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06" name="Shape 1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" name="Google Shape;1407;gbd14bdbd8f_0_2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8" name="Google Shape;1408;gbd14bdbd8f_0_2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7" name="Shape 1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" name="Google Shape;1428;gbd14bdbd8f_0_23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9" name="Google Shape;1429;gbd14bdbd8f_0_23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8" name="Shape 1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" name="Google Shape;1449;gbd14bdbd8f_0_24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0" name="Google Shape;1450;gbd14bdbd8f_0_24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4" name="Shape 1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" name="Google Shape;1465;gbd14bdbd8f_0_24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6" name="Google Shape;1466;gbd14bdbd8f_0_24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5" name="Shape 1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6" name="Google Shape;1486;gbd14bdbd8f_0_24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7" name="Google Shape;1487;gbd14bdbd8f_0_24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6" name="Shape 1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" name="Google Shape;1507;gbd14bdbd8f_0_24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8" name="Google Shape;1508;gbd14bdbd8f_0_24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8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gbd14bdbd8f_0_24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0" name="Google Shape;1530;gbd14bdbd8f_0_24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9" name="Shape 1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0" name="Google Shape;1550;gbd14bdbd8f_0_25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1" name="Google Shape;1551;gbd14bdbd8f_0_25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1" name="Shape 1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2" name="Google Shape;1572;gbd14bdbd8f_0_25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3" name="Google Shape;1573;gbd14bdbd8f_0_25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5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gbd14bdbd8f_0_25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7" name="Google Shape;1597;gbd14bdbd8f_0_25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9" name="Shape 1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0" name="Google Shape;1640;gbd14bdbd8f_0_25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1" name="Google Shape;1641;gbd14bdbd8f_0_25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2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gbd14bdbd8f_0_2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4" name="Google Shape;1684;gbd14bdbd8f_0_2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25" name="Shape 1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6" name="Google Shape;1726;gbd14bdbd8f_0_26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7" name="Google Shape;1727;gbd14bdbd8f_0_26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8" name="Shape 1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9" name="Google Shape;1769;gbd14bdbd8f_0_27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0" name="Google Shape;1770;gbd14bdbd8f_0_27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11" name="Shape 1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" name="Google Shape;1812;gbd14bdbd8f_0_2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3" name="Google Shape;1813;gbd14bdbd8f_0_2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56" name="Shape 1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7" name="Google Shape;1857;gbd14bdbd8f_0_28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8" name="Google Shape;1858;gbd14bdbd8f_0_28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7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8" name="Google Shape;1878;gbd14bdbd8f_0_28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9" name="Google Shape;1879;gbd14bdbd8f_0_2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8" name="Shape 1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9" name="Google Shape;1899;gbd14bdbd8f_0_28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0" name="Google Shape;1900;gbd14bdbd8f_0_28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20" name="Shape 1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" name="Google Shape;1921;gbd14bdbd8f_0_28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2" name="Google Shape;1922;gbd14bdbd8f_0_28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42" name="Shape 1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" name="Google Shape;1943;gbd14bdbd8f_0_28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4" name="Google Shape;1944;gbd14bdbd8f_0_28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4" name="Shape 1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5" name="Google Shape;1965;gbd14bdbd8f_0_29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6" name="Google Shape;1966;gbd14bdbd8f_0_29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6" name="Shape 1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7" name="Google Shape;1987;gbd14bdbd8f_0_29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8" name="Google Shape;1988;gbd14bdbd8f_0_29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08" name="Shape 2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9" name="Google Shape;2009;gbd14bdbd8f_0_29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10" name="Google Shape;2010;gbd14bdbd8f_0_29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30" name="Shape 2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1" name="Google Shape;2031;gbd14bdbd8f_0_29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2" name="Google Shape;2032;gbd14bdbd8f_0_29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74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gbd14bdbd8f_0_30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6" name="Google Shape;2076;gbd14bdbd8f_0_30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0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1" name="Google Shape;2091;gbd14bdbd8f_0_30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2" name="Google Shape;2092;gbd14bdbd8f_0_30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4" name="Shape 2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5" name="Google Shape;2105;gbd14bdbd8f_0_30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6" name="Google Shape;2106;gbd14bdbd8f_0_30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9" name="Shape 2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0" name="Google Shape;2110;gbd14bdbd8f_0_31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1" name="Google Shape;2111;gbd14bdbd8f_0_31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26" name="Shape 2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7" name="Google Shape;2127;gbd14bdbd8f_0_3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8" name="Google Shape;2128;gbd14bdbd8f_0_3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43" name="Shape 2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4" name="Google Shape;2144;gbd14bdbd8f_0_3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5" name="Google Shape;2145;gbd14bdbd8f_0_3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62" name="Shape 2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3" name="Google Shape;2163;gbd14bdbd8f_0_31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4" name="Google Shape;2164;gbd14bdbd8f_0_31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82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gbd14bdbd8f_0_31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4" name="Google Shape;2184;gbd14bdbd8f_0_31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2" name="Shape 2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3" name="Google Shape;2203;gbd14bdbd8f_0_31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4" name="Google Shape;2204;gbd14bdbd8f_0_31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21" name="Shape 2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" name="Google Shape;2222;gbd14bdbd8f_0_32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3" name="Google Shape;2223;gbd14bdbd8f_0_32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40" name="Shape 2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1" name="Google Shape;2241;gbd14bdbd8f_0_32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2" name="Google Shape;2242;gbd14bdbd8f_0_32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59" name="Shape 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0" name="Google Shape;2260;gbd14bdbd8f_0_3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1" name="Google Shape;2261;gbd14bdbd8f_0_3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75" name="Shape 2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6" name="Google Shape;2276;gbd14bdbd8f_0_3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77" name="Google Shape;2277;gbd14bdbd8f_0_3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95" name="Shape 2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6" name="Google Shape;2296;gbd14bdbd8f_0_32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7" name="Google Shape;2297;gbd14bdbd8f_0_32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5" name="Shape 2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6" name="Google Shape;2316;gbd14bdbd8f_0_32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7" name="Google Shape;2317;gbd14bdbd8f_0_32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37" name="Shape 2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8" name="Google Shape;2338;gbd14bdbd8f_0_33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9" name="Google Shape;2339;gbd14bdbd8f_0_33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59" name="Shape 2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0" name="Google Shape;2360;gbd14bdbd8f_0_33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1" name="Google Shape;2361;gbd14bdbd8f_0_33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81" name="Shape 2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2" name="Google Shape;2382;gbd14bdbd8f_0_3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3" name="Google Shape;2383;gbd14bdbd8f_0_3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03" name="Shape 2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4" name="Google Shape;2404;gbd14bdbd8f_0_33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5" name="Google Shape;2405;gbd14bdbd8f_0_33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25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" name="Google Shape;2426;gbd14bdbd8f_0_34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7" name="Google Shape;2427;gbd14bdbd8f_0_34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45" name="Shape 2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6" name="Google Shape;2446;gbd14bdbd8f_0_34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7" name="Google Shape;2447;gbd14bdbd8f_0_34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65" name="Shape 2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6" name="Google Shape;2466;gbd14bdbd8f_0_34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7" name="Google Shape;2467;gbd14bdbd8f_0_34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85" name="Shape 2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6" name="Google Shape;2486;gbd14bdbd8f_0_34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87" name="Google Shape;2487;gbd14bdbd8f_0_34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05" name="Shape 2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6" name="Google Shape;2506;gbd14bdbd8f_0_34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07" name="Google Shape;2507;gbd14bdbd8f_0_34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26" name="Shape 2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7" name="Google Shape;2527;gbd14bdbd8f_0_67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28" name="Google Shape;2528;gbd14bdbd8f_0_67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43" name="Shape 2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4" name="Google Shape;2544;gbd14bdbd8f_0_67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5" name="Google Shape;2545;gbd14bdbd8f_0_67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60" name="Shape 2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" name="Google Shape;2561;gbd14bdbd8f_0_67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2" name="Google Shape;2562;gbd14bdbd8f_0_67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80" name="Shape 2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1" name="Google Shape;2581;gbd14bdbd8f_0_67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2" name="Google Shape;2582;gbd14bdbd8f_0_67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00" name="Shape 2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1" name="Google Shape;2601;gbd14bdbd8f_0_68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2" name="Google Shape;2602;gbd14bdbd8f_0_68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0" name="Shape 2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" name="Google Shape;2621;gbd14bdbd8f_0_34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2" name="Google Shape;2622;gbd14bdbd8f_0_34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38" name="Shape 2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9" name="Google Shape;2639;gbd14bdbd8f_0_3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0" name="Google Shape;2640;gbd14bdbd8f_0_3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56" name="Shape 2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7" name="Google Shape;2657;gbd14bdbd8f_0_35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58" name="Google Shape;2658;gbd14bdbd8f_0_35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74" name="Shape 2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5" name="Google Shape;2675;gbd14bdbd8f_0_35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6" name="Google Shape;2676;gbd14bdbd8f_0_35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2" name="Shape 2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" name="Google Shape;2693;gbd14bdbd8f_0_35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4" name="Google Shape;2694;gbd14bdbd8f_0_35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10" name="Shape 2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1" name="Google Shape;2711;gbd14bdbd8f_0_35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2" name="Google Shape;2712;gbd14bdbd8f_0_35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28" name="Shape 2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9" name="Google Shape;2729;gbd14bdbd8f_0_3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30" name="Google Shape;2730;gbd14bdbd8f_0_3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46" name="Shape 2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7" name="Google Shape;2747;gbd14bdbd8f_0_36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8" name="Google Shape;2748;gbd14bdbd8f_0_36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53" name="Shape 2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" name="Google Shape;2754;gbd14bdbd8f_0_36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55" name="Google Shape;2755;gbd14bdbd8f_0_36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6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gbd14bdbd8f_0_36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63" name="Google Shape;2763;gbd14bdbd8f_0_36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69" name="Shape 2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0" name="Google Shape;2770;gbd14bdbd8f_0_36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71" name="Google Shape;2771;gbd14bdbd8f_0_36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77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8" name="Google Shape;2778;gbd14bdbd8f_0_3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79" name="Google Shape;2779;gbd14bdbd8f_0_3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90" name="Shape 2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1" name="Google Shape;2791;gbd14bdbd8f_0_36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92" name="Google Shape;2792;gbd14bdbd8f_0_36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04" name="Shape 2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" name="Google Shape;2805;gbd14bdbd8f_0_36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6" name="Google Shape;2806;gbd14bdbd8f_0_36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23" name="Shape 2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4" name="Google Shape;2824;gbd14bdbd8f_0_36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25" name="Google Shape;2825;gbd14bdbd8f_0_36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30" name="Shape 2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1" name="Google Shape;2831;gbd14bdbd8f_0_36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32" name="Google Shape;2832;gbd14bdbd8f_0_36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38" name="Shape 2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9" name="Google Shape;2839;gbd14bdbd8f_0_37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40" name="Google Shape;2840;gbd14bdbd8f_0_37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46" name="Shape 2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7" name="Google Shape;2847;gbd14bdbd8f_0_37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48" name="Google Shape;2848;gbd14bdbd8f_0_37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53" name="Shape 2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4" name="Google Shape;2854;gbd14bdbd8f_0_37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55" name="Google Shape;2855;gbd14bdbd8f_0_37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62" name="Shape 2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3" name="Google Shape;2863;gbd14bdbd8f_0_37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4" name="Google Shape;2864;gbd14bdbd8f_0_37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73" name="Shape 2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4" name="Google Shape;2874;gbd14bdbd8f_0_37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75" name="Google Shape;2875;gbd14bdbd8f_0_37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80" name="Shape 2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1" name="Google Shape;2881;gbd14bdbd8f_0_127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82" name="Google Shape;2882;gbd14bdbd8f_0_127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85" name="Shape 2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6" name="Google Shape;2886;gbd14bdbd8f_0_127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87" name="Google Shape;2887;gbd14bdbd8f_0_127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02" name="Shape 2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3" name="Google Shape;2903;gbd14bdbd8f_0_127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04" name="Google Shape;2904;gbd14bdbd8f_0_127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22" name="Shape 2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3" name="Google Shape;2923;gbd14bdbd8f_0_127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24" name="Google Shape;2924;gbd14bdbd8f_0_127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42" name="Shape 2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3" name="Google Shape;2943;gbd14bdbd8f_0_128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44" name="Google Shape;2944;gbd14bdbd8f_0_128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62" name="Shape 2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3" name="Google Shape;2963;gbd14bdbd8f_0_128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4" name="Google Shape;2964;gbd14bdbd8f_0_12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82" name="Shape 2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3" name="Google Shape;2983;gbd14bdbd8f_0_128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4" name="Google Shape;2984;gbd14bdbd8f_0_128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99" name="Shape 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" name="Google Shape;3000;gbd14bdbd8f_0_128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01" name="Google Shape;3001;gbd14bdbd8f_0_128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18" name="Shape 3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9" name="Google Shape;3019;gbd14bdbd8f_0_12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0" name="Google Shape;3020;gbd14bdbd8f_0_12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37" name="Shape 3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8" name="Google Shape;3038;gbd14bdbd8f_0_128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39" name="Google Shape;3039;gbd14bdbd8f_0_128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54" name="Shape 3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5" name="Google Shape;3055;gbd14bdbd8f_0_37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6" name="Google Shape;3056;gbd14bdbd8f_0_37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77" name="Shape 3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8" name="Google Shape;3078;gbd14bdbd8f_0_38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9" name="Google Shape;3079;gbd14bdbd8f_0_38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96" name="Shape 3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7" name="Google Shape;3097;gbd14bdbd8f_0_38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98" name="Google Shape;3098;gbd14bdbd8f_0_38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13" name="Shape 3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4" name="Google Shape;3114;gbd14bdbd8f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15" name="Google Shape;3115;gbd14bdbd8f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30" name="Shape 3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1" name="Google Shape;3131;gbd14bdbd8f_0_38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32" name="Google Shape;3132;gbd14bdbd8f_0_38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47" name="Shape 3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8" name="Google Shape;3148;gbd14bdbd8f_0_38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9" name="Google Shape;3149;gbd14bdbd8f_0_38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64" name="Shape 3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5" name="Google Shape;3165;gbd14bdbd8f_0_3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66" name="Google Shape;3166;gbd14bdbd8f_0_3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8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bd14bdbd8f_0_39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3" name="Google Shape;3183;gbd14bdbd8f_0_39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98" name="Shape 3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9" name="Google Shape;3199;gbd14bdbd8f_0_39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0" name="Google Shape;3200;gbd14bdbd8f_0_39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5" name="Shape 3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6" name="Google Shape;3216;gbd14bdbd8f_0_39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7" name="Google Shape;3217;gbd14bdbd8f_0_39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32" name="Shape 3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3" name="Google Shape;3233;gbd14bdbd8f_0_39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34" name="Google Shape;3234;gbd14bdbd8f_0_39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49" name="Shape 3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0" name="Google Shape;3250;gbd14bdbd8f_0_39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1" name="Google Shape;3251;gbd14bdbd8f_0_39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56" name="Shape 3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7" name="Google Shape;3257;gbd14bdbd8f_0_39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8" name="Google Shape;3258;gbd14bdbd8f_0_39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76" name="Shape 3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" name="Google Shape;3277;gbd14bdbd8f_0_40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78" name="Google Shape;3278;gbd14bdbd8f_0_40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96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" name="Google Shape;3297;gbd14bdbd8f_0_40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98" name="Google Shape;3298;gbd14bdbd8f_0_40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16" name="Shape 3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" name="Google Shape;3317;gbd14bdbd8f_0_40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18" name="Google Shape;3318;gbd14bdbd8f_0_40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36" name="Shape 3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7" name="Google Shape;3337;gbd14bdbd8f_0_40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8" name="Google Shape;3338;gbd14bdbd8f_0_40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56" name="Shape 3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7" name="Google Shape;3357;gbd14bdbd8f_0_40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8" name="Google Shape;3358;gbd14bdbd8f_0_40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77" name="Shape 3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8" name="Google Shape;3378;gbd14bdbd8f_0_40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9" name="Google Shape;3379;gbd14bdbd8f_0_40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99" name="Shape 3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0" name="Google Shape;3400;gbd14bdbd8f_0_4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01" name="Google Shape;3401;gbd14bdbd8f_0_4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21" name="Shape 3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2" name="Google Shape;3422;gbd14bdbd8f_0_4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23" name="Google Shape;3423;gbd14bdbd8f_0_4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43" name="Shape 3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4" name="Google Shape;3444;gbd14bdbd8f_0_4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5" name="Google Shape;3445;gbd14bdbd8f_0_4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48" name="Shape 3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9" name="Google Shape;3449;gbd14bdbd8f_0_48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50" name="Google Shape;3450;gbd14bdbd8f_0_48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56" name="Shape 3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7" name="Google Shape;3457;gbd14bdbd8f_0_48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58" name="Google Shape;3458;gbd14bdbd8f_0_48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64" name="Shape 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gbd14bdbd8f_0_48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6" name="Google Shape;3466;gbd14bdbd8f_0_48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72" name="Shape 3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3" name="Google Shape;3473;gbd14bdbd8f_0_48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74" name="Google Shape;3474;gbd14bdbd8f_0_48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82" name="Shape 3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3" name="Google Shape;3483;gbd14bdbd8f_0_48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84" name="Google Shape;3484;gbd14bdbd8f_0_48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90" name="Shape 3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1" name="Google Shape;3491;gbd14bdbd8f_0_48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92" name="Google Shape;3492;gbd14bdbd8f_0_48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98" name="Shape 3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9" name="Google Shape;3499;gbd14bdbd8f_0_48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0" name="Google Shape;3500;gbd14bdbd8f_0_48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08" name="Shape 3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9" name="Google Shape;3509;gbd14bdbd8f_0_48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10" name="Google Shape;3510;gbd14bdbd8f_0_48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19" name="Shape 3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0" name="Google Shape;3520;gbd14bdbd8f_0_48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21" name="Google Shape;3521;gbd14bdbd8f_0_48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30" name="Shape 3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1" name="Google Shape;3531;gbd14bdbd8f_0_48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32" name="Google Shape;3532;gbd14bdbd8f_0_48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41" name="Shape 3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2" name="Google Shape;3542;gbd14bdbd8f_0_48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3" name="Google Shape;3543;gbd14bdbd8f_0_48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53" name="Shape 3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4" name="Google Shape;3554;gbd14bdbd8f_0_4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55" name="Google Shape;3555;gbd14bdbd8f_0_4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65" name="Shape 3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6" name="Google Shape;3566;gbd14bdbd8f_0_49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7" name="Google Shape;3567;gbd14bdbd8f_0_49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77" name="Shape 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gbd14bdbd8f_0_49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9" name="Google Shape;3579;gbd14bdbd8f_0_49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89" name="Shape 3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0" name="Google Shape;3590;gbd14bdbd8f_0_49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91" name="Google Shape;3591;gbd14bdbd8f_0_49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00" name="Shape 3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1" name="Google Shape;3601;gbd14bdbd8f_0_49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02" name="Google Shape;3602;gbd14bdbd8f_0_49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11" name="Shape 3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2" name="Google Shape;3612;gbd14bdbd8f_0_49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13" name="Google Shape;3613;gbd14bdbd8f_0_49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22" name="Shape 3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3" name="Google Shape;3623;gbd14bdbd8f_0_49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24" name="Google Shape;3624;gbd14bdbd8f_0_49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35" name="Shape 3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6" name="Google Shape;3636;gbd14bdbd8f_0_49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7" name="Google Shape;3637;gbd14bdbd8f_0_49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46" name="Shape 3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7" name="Google Shape;3647;gbd14bdbd8f_0_49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8" name="Google Shape;3648;gbd14bdbd8f_0_49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57" name="Shape 3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8" name="Google Shape;3658;gbd14bdbd8f_0_49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59" name="Google Shape;3659;gbd14bdbd8f_0_49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68" name="Shape 3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9" name="Google Shape;3669;gbd14bdbd8f_0_50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70" name="Google Shape;3670;gbd14bdbd8f_0_50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79" name="Shape 3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0" name="Google Shape;3680;gbd14bdbd8f_0_50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81" name="Google Shape;3681;gbd14bdbd8f_0_50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90" name="Shape 3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1" name="Google Shape;3691;gbd14bdbd8f_0_50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92" name="Google Shape;3692;gbd14bdbd8f_0_50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01" name="Shape 3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2" name="Google Shape;3702;gbd14bdbd8f_0_50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3" name="Google Shape;3703;gbd14bdbd8f_0_50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11" name="Shape 3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2" name="Google Shape;3712;gbd14bdbd8f_0_50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3" name="Google Shape;3713;gbd14bdbd8f_0_50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21" name="Shape 3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2" name="Google Shape;3722;gbd14bdbd8f_0_50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3" name="Google Shape;3723;gbd14bdbd8f_0_50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35" name="Shape 3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6" name="Google Shape;3736;gbd14bdbd8f_0_50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37" name="Google Shape;3737;gbd14bdbd8f_0_50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51" name="Shape 3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2" name="Google Shape;3752;gbd14bdbd8f_0_50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3" name="Google Shape;3753;gbd14bdbd8f_0_50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68" name="Shape 3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9" name="Google Shape;3769;gbd14bdbd8f_0_50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0" name="Google Shape;3770;gbd14bdbd8f_0_50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76" name="Shape 3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7" name="Google Shape;3777;gbd14bdbd8f_0_51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8" name="Google Shape;3778;gbd14bdbd8f_0_51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85" name="Shape 3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6" name="Google Shape;3786;gbd14bdbd8f_0_51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87" name="Google Shape;3787;gbd14bdbd8f_0_5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94" name="Shape 3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5" name="Google Shape;3795;gbd14bdbd8f_0_51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96" name="Google Shape;3796;gbd14bdbd8f_0_51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03" name="Shape 3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4" name="Google Shape;3804;gbd14bdbd8f_0_5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5" name="Google Shape;3805;gbd14bdbd8f_0_5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12" name="Shape 3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3" name="Google Shape;3813;gbd14bdbd8f_0_51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4" name="Google Shape;3814;gbd14bdbd8f_0_51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20" name="Shape 3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1" name="Google Shape;3821;gbd14bdbd8f_0_5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22" name="Google Shape;3822;gbd14bdbd8f_0_5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43" name="Shape 3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4" name="Google Shape;3844;gbd14bdbd8f_0_51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45" name="Google Shape;3845;gbd14bdbd8f_0_5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66" name="Shape 3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7" name="Google Shape;3867;gbd14bdbd8f_0_51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8" name="Google Shape;3868;gbd14bdbd8f_0_51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89" name="Shape 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0" name="Google Shape;3890;gbd14bdbd8f_0_52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91" name="Google Shape;3891;gbd14bdbd8f_0_52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12" name="Shape 3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3" name="Google Shape;3913;gbd14bdbd8f_0_52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4" name="Google Shape;3914;gbd14bdbd8f_0_52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35" name="Shape 3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6" name="Google Shape;3936;gbd14bdbd8f_0_5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37" name="Google Shape;3937;gbd14bdbd8f_0_5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58" name="Shape 3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9" name="Google Shape;3959;gbd14bdbd8f_0_53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60" name="Google Shape;3960;gbd14bdbd8f_0_53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65" name="Shape 3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6" name="Google Shape;3966;gbd14bdbd8f_0_5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67" name="Google Shape;3967;gbd14bdbd8f_0_5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14" name="Shape 4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5" name="Google Shape;4015;gbd14bdbd8f_0_5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6" name="Google Shape;4016;gbd14bdbd8f_0_5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64" name="Shape 4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5" name="Google Shape;4065;gbd14bdbd8f_0_54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66" name="Google Shape;4066;gbd14bdbd8f_0_54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97" name="Shape 4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Google Shape;4098;gbd14bdbd8f_0_55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9" name="Google Shape;4099;gbd14bdbd8f_0_55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16" name="Shape 4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7" name="Google Shape;4117;gbd14bdbd8f_0_55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18" name="Google Shape;4118;gbd14bdbd8f_0_55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35" name="Shape 4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6" name="Google Shape;4136;gbd14bdbd8f_0_55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37" name="Google Shape;4137;gbd14bdbd8f_0_55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47" name="Shape 4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8" name="Google Shape;4148;gbd14bdbd8f_0_5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9" name="Google Shape;4149;gbd14bdbd8f_0_5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61" name="Shape 4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2" name="Google Shape;4162;gbd14bdbd8f_0_55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63" name="Google Shape;4163;gbd14bdbd8f_0_55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78" name="Shape 4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9" name="Google Shape;4179;gbd14bdbd8f_0_55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80" name="Google Shape;4180;gbd14bdbd8f_0_55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97" name="Shape 4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" name="Google Shape;4198;gbd14bdbd8f_0_56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99" name="Google Shape;4199;gbd14bdbd8f_0_56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05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gbd14bdbd8f_0_56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7" name="Google Shape;4207;gbd14bdbd8f_0_56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13" name="Shape 4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4" name="Google Shape;4214;gbd14bdbd8f_0_56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15" name="Google Shape;4215;gbd14bdbd8f_0_56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20" name="Shape 4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1" name="Google Shape;4221;gbd14bdbd8f_0_56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22" name="Google Shape;4222;gbd14bdbd8f_0_56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29" name="Shape 4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0" name="Google Shape;4230;gbd14bdbd8f_0_56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1" name="Google Shape;4231;gbd14bdbd8f_0_56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80" name="Shape 4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1" name="Google Shape;4281;gbd14bdbd8f_0_5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82" name="Google Shape;4282;gbd14bdbd8f_0_5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31" name="Shape 4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2" name="Google Shape;4332;gbd14bdbd8f_0_57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3" name="Google Shape;4333;gbd14bdbd8f_0_57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83" name="Shape 4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4" name="Google Shape;4384;gbd14bdbd8f_0_5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5" name="Google Shape;4385;gbd14bdbd8f_0_5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91" name="Shape 4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" name="Google Shape;4392;gbd14bdbd8f_0_57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3" name="Google Shape;4393;gbd14bdbd8f_0_57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00" name="Shape 4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1" name="Google Shape;4401;gbd14bdbd8f_0_58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02" name="Google Shape;4402;gbd14bdbd8f_0_58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07" name="Shape 4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8" name="Google Shape;4408;gbd14bdbd8f_0_58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09" name="Google Shape;4409;gbd14bdbd8f_0_58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14" name="Shape 4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5" name="Google Shape;4415;gbd14bdbd8f_0_58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16" name="Google Shape;4416;gbd14bdbd8f_0_58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21" name="Shape 4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2" name="Google Shape;4422;gbd14bdbd8f_0_5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3" name="Google Shape;4423;gbd14bdbd8f_0_5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56" name="Shape 4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7" name="Google Shape;4457;gbd14bdbd8f_0_58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58" name="Google Shape;4458;gbd14bdbd8f_0_58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91" name="Shape 4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2" name="Google Shape;4492;gbd14bdbd8f_0_58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3" name="Google Shape;4493;gbd14bdbd8f_0_58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99" name="Shape 4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0" name="Google Shape;4500;gbd14bdbd8f_0_5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01" name="Google Shape;4501;gbd14bdbd8f_0_5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37" name="Shape 4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8" name="Google Shape;4538;gbd14bdbd8f_0_59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39" name="Google Shape;4539;gbd14bdbd8f_0_59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70" name="Shape 4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1" name="Google Shape;4571;gbd14bdbd8f_0_59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72" name="Google Shape;4572;gbd14bdbd8f_0_59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19" name="Shape 4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0" name="Google Shape;4620;gbd14bdbd8f_0_60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1" name="Google Shape;4621;gbd14bdbd8f_0_60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27" name="Shape 4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8" name="Google Shape;4628;gbd14bdbd8f_0_60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9" name="Google Shape;4629;gbd14bdbd8f_0_60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51" name="Shape 4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2" name="Google Shape;4652;gbd14bdbd8f_0_60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3" name="Google Shape;4653;gbd14bdbd8f_0_60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75" name="Shape 4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6" name="Google Shape;4676;gbd14bdbd8f_0_60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7" name="Google Shape;4677;gbd14bdbd8f_0_60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08" name="Shape 4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9" name="Google Shape;4709;gbd14bdbd8f_0_6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0" name="Google Shape;4710;gbd14bdbd8f_0_6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14" name="Shape 4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5" name="Google Shape;4715;gbd14bdbd8f_0_6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6" name="Google Shape;4716;gbd14bdbd8f_0_6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87" name="Shape 4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8" name="Google Shape;4788;gbd14bdbd8f_0_6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9" name="Google Shape;4789;gbd14bdbd8f_0_6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64" name="Shape 4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5" name="Google Shape;4865;gbd14bdbd8f_0_62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66" name="Google Shape;4866;gbd14bdbd8f_0_62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19" name="Shape 4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0" name="Google Shape;4920;gbd14bdbd8f_0_6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21" name="Google Shape;4921;gbd14bdbd8f_0_6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78" name="Shape 4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9" name="Google Shape;4979;gbd14bdbd8f_0_63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80" name="Google Shape;4980;gbd14bdbd8f_0_63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35" name="Shape 5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6" name="Google Shape;5036;gbd14bdbd8f_0_64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37" name="Google Shape;5037;gbd14bdbd8f_0_64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81" name="Shape 5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2" name="Google Shape;5082;gbd14bdbd8f_0_64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83" name="Google Shape;5083;gbd14bdbd8f_0_64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16" name="Shape 5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7" name="Google Shape;5117;gbd14bdbd8f_0_65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18" name="Google Shape;5118;gbd14bdbd8f_0_65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43" name="Shape 5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4" name="Google Shape;5144;gbd14bdbd8f_0_65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45" name="Google Shape;5145;gbd14bdbd8f_0_65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70" name="Shape 5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" name="Google Shape;5171;gbd14bdbd8f_0_65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2" name="Google Shape;5172;gbd14bdbd8f_0_65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98" name="Shape 5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9" name="Google Shape;5199;gbd14bdbd8f_0_65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00" name="Google Shape;5200;gbd14bdbd8f_0_65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26" name="Shape 5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7" name="Google Shape;5227;gbd14bdbd8f_0_66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28" name="Google Shape;5228;gbd14bdbd8f_0_66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64" name="Shape 5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5" name="Google Shape;5265;gbd14bdbd8f_0_66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66" name="Google Shape;5266;gbd14bdbd8f_0_66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14" name="Shape 5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5" name="Google Shape;5315;gbd14bdbd8f_0_68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16" name="Google Shape;5316;gbd14bdbd8f_0_68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20" name="Shape 5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1" name="Google Shape;5321;gbd14bdbd8f_0_6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22" name="Google Shape;5322;gbd14bdbd8f_0_6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69" name="Shape 5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0" name="Google Shape;5370;gbd14bdbd8f_0_69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1" name="Google Shape;5371;gbd14bdbd8f_0_69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19" name="Shape 5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0" name="Google Shape;5420;gbd14bdbd8f_0_69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1" name="Google Shape;5421;gbd14bdbd8f_0_69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26" name="Shape 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" name="Google Shape;5427;gbd14bdbd8f_0_70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8" name="Google Shape;5428;gbd14bdbd8f_0_70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33" name="Shape 5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4" name="Google Shape;5434;gbd14bdbd8f_0_70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35" name="Google Shape;5435;gbd14bdbd8f_0_70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40" name="Shape 5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1" name="Google Shape;5441;gbd14bdbd8f_0_70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42" name="Google Shape;5442;gbd14bdbd8f_0_70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47" name="Shape 5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8" name="Google Shape;5448;gbd14bdbd8f_0_70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49" name="Google Shape;5449;gbd14bdbd8f_0_70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54" name="Shape 5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5" name="Google Shape;5455;gbd14bdbd8f_0_70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56" name="Google Shape;5456;gbd14bdbd8f_0_70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65" name="Shape 5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6" name="Google Shape;5466;gbd14bdbd8f_0_70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67" name="Google Shape;5467;gbd14bdbd8f_0_70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76" name="Shape 5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7" name="Google Shape;5477;gbd14bdbd8f_0_70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78" name="Google Shape;5478;gbd14bdbd8f_0_70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87" name="Shape 5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8" name="Google Shape;5488;gbd14bdbd8f_0_70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9" name="Google Shape;5489;gbd14bdbd8f_0_70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00" name="Shape 5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1" name="Google Shape;5501;gbd14bdbd8f_0_70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2" name="Google Shape;5502;gbd14bdbd8f_0_70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13" name="Shape 5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4" name="Google Shape;5514;gbd14bdbd8f_0_70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15" name="Google Shape;5515;gbd14bdbd8f_0_70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24" name="Shape 5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5" name="Google Shape;5525;gbd14bdbd8f_0_70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6" name="Google Shape;5526;gbd14bdbd8f_0_70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36" name="Shape 5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7" name="Google Shape;5537;gbd14bdbd8f_0_7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8" name="Google Shape;5538;gbd14bdbd8f_0_7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48" name="Shape 5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9" name="Google Shape;5549;gbd14bdbd8f_0_7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50" name="Google Shape;5550;gbd14bdbd8f_0_7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62" name="Shape 5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3" name="Google Shape;5563;gbd14bdbd8f_0_7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64" name="Google Shape;5564;gbd14bdbd8f_0_7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74" name="Shape 5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5" name="Google Shape;5575;gbd14bdbd8f_0_7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76" name="Google Shape;5576;gbd14bdbd8f_0_7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86" name="Shape 5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7" name="Google Shape;5587;gbd14bdbd8f_0_71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8" name="Google Shape;5588;gbd14bdbd8f_0_71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00" name="Shape 5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1" name="Google Shape;5601;gbd14bdbd8f_0_7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02" name="Google Shape;5602;gbd14bdbd8f_0_7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55" name="Shape 5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6" name="Google Shape;5656;gbd14bdbd8f_0_72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57" name="Google Shape;5657;gbd14bdbd8f_0_72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12" name="Shape 5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3" name="Google Shape;5713;gbd14bdbd8f_0_7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14" name="Google Shape;5714;gbd14bdbd8f_0_7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68" name="Shape 5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9" name="Google Shape;5769;gbd14bdbd8f_0_73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0" name="Google Shape;5770;gbd14bdbd8f_0_73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23" name="Shape 5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4" name="Google Shape;5824;gbd14bdbd8f_0_73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5" name="Google Shape;5825;gbd14bdbd8f_0_73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79" name="Shape 5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0" name="Google Shape;5880;gbd14bdbd8f_0_74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81" name="Google Shape;5881;gbd14bdbd8f_0_74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36" name="Shape 5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7" name="Google Shape;5937;gbd14bdbd8f_0_74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38" name="Google Shape;5938;gbd14bdbd8f_0_74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93" name="Shape 5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4" name="Google Shape;5994;gbd14bdbd8f_0_75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95" name="Google Shape;5995;gbd14bdbd8f_0_75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50" name="Shape 6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" name="Google Shape;6051;gbd14bdbd8f_0_7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52" name="Google Shape;6052;gbd14bdbd8f_0_7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07" name="Shape 6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8" name="Google Shape;6108;gbd14bdbd8f_0_76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9" name="Google Shape;6109;gbd14bdbd8f_0_76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64" name="Shape 6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5" name="Google Shape;6165;gbd14bdbd8f_0_77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6" name="Google Shape;6166;gbd14bdbd8f_0_77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20" name="Shape 6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1" name="Google Shape;6221;gbd14bdbd8f_0_77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2" name="Google Shape;6222;gbd14bdbd8f_0_77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76" name="Shape 6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" name="Google Shape;6277;gbd14bdbd8f_0_7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78" name="Google Shape;6278;gbd14bdbd8f_0_7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33" name="Shape 6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4" name="Google Shape;6334;gbd14bdbd8f_0_78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35" name="Google Shape;6335;gbd14bdbd8f_0_78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89" name="Shape 6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0" name="Google Shape;6390;gbd14bdbd8f_0_79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1" name="Google Shape;6391;gbd14bdbd8f_0_79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45" name="Shape 6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6" name="Google Shape;6446;gbd14bdbd8f_0_79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47" name="Google Shape;6447;gbd14bdbd8f_0_79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01" name="Shape 6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2" name="Google Shape;6502;gbd14bdbd8f_0_80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3" name="Google Shape;6503;gbd14bdbd8f_0_80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57" name="Shape 6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8" name="Google Shape;6558;gbd14bdbd8f_0_80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59" name="Google Shape;6559;gbd14bdbd8f_0_80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13" name="Shape 6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4" name="Google Shape;6614;gbd14bdbd8f_0_81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15" name="Google Shape;6615;gbd14bdbd8f_0_81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69" name="Shape 6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0" name="Google Shape;6670;gbd14bdbd8f_0_82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1" name="Google Shape;6671;gbd14bdbd8f_0_82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26" name="Shape 6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7" name="Google Shape;6727;gbd14bdbd8f_0_82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28" name="Google Shape;6728;gbd14bdbd8f_0_82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49" name="Shape 6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0" name="Google Shape;6750;gbd14bdbd8f_0_82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1" name="Google Shape;6751;gbd14bdbd8f_0_82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72" name="Shape 6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3" name="Google Shape;6773;gbd14bdbd8f_0_83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74" name="Google Shape;6774;gbd14bdbd8f_0_83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95" name="Shape 6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6" name="Google Shape;6796;gbd14bdbd8f_0_83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97" name="Google Shape;6797;gbd14bdbd8f_0_83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18" name="Shape 6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9" name="Google Shape;6819;gbd14bdbd8f_0_83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0" name="Google Shape;6820;gbd14bdbd8f_0_83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74" name="Shape 6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5" name="Google Shape;6875;gbd14bdbd8f_0_84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76" name="Google Shape;6876;gbd14bdbd8f_0_84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31" name="Shape 6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2" name="Google Shape;6932;gbd14bdbd8f_0_84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33" name="Google Shape;6933;gbd14bdbd8f_0_84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92" name="Shape 6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3" name="Google Shape;6993;gbd14bdbd8f_0_85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94" name="Google Shape;6994;gbd14bdbd8f_0_85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49" name="Shape 7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0" name="Google Shape;7050;gbd14bdbd8f_0_85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1" name="Google Shape;7051;gbd14bdbd8f_0_85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06" name="Shape 7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7" name="Google Shape;7107;gbd14bdbd8f_0_8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8" name="Google Shape;7108;gbd14bdbd8f_0_8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63" name="Shape 7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4" name="Google Shape;7164;gbd14bdbd8f_0_86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65" name="Google Shape;7165;gbd14bdbd8f_0_86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69" name="Shape 7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Google Shape;7170;gbd14bdbd8f_0_87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1" name="Google Shape;7171;gbd14bdbd8f_0_87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75" name="Shape 7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6" name="Google Shape;7176;gbd14bdbd8f_0_87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7" name="Google Shape;7177;gbd14bdbd8f_0_87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24" name="Shape 7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5" name="Google Shape;7225;gbd14bdbd8f_0_88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26" name="Google Shape;7226;gbd14bdbd8f_0_88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74" name="Shape 7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5" name="Google Shape;7275;gbd14bdbd8f_0_88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6" name="Google Shape;7276;gbd14bdbd8f_0_88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80" name="Shape 7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1" name="Google Shape;7281;gbd14bdbd8f_0_88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82" name="Google Shape;7282;gbd14bdbd8f_0_88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86" name="Shape 7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7" name="Google Shape;7287;gbd14bdbd8f_0_88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88" name="Google Shape;7288;gbd14bdbd8f_0_88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92" name="Shape 7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3" name="Google Shape;7293;gbd14bdbd8f_0_88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4" name="Google Shape;7294;gbd14bdbd8f_0_88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99" name="Shape 7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0" name="Google Shape;7300;gbd14bdbd8f_0_88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01" name="Google Shape;7301;gbd14bdbd8f_0_88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38" name="Shape 7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9" name="Google Shape;7339;gbd14bdbd8f_0_89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40" name="Google Shape;7340;gbd14bdbd8f_0_89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78" name="Shape 7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9" name="Google Shape;7379;gbd14bdbd8f_0_89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0" name="Google Shape;7380;gbd14bdbd8f_0_89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18" name="Shape 7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9" name="Google Shape;7419;gbd14bdbd8f_0_89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20" name="Google Shape;7420;gbd14bdbd8f_0_89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58" name="Shape 7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9" name="Google Shape;7459;gbd14bdbd8f_0_9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0" name="Google Shape;7460;gbd14bdbd8f_0_9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98" name="Shape 7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9" name="Google Shape;7499;gbd14bdbd8f_0_90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00" name="Google Shape;7500;gbd14bdbd8f_0_90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39" name="Shape 7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0" name="Google Shape;7540;gbd14bdbd8f_0_91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41" name="Google Shape;7541;gbd14bdbd8f_0_9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80" name="Shape 7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1" name="Google Shape;7581;gbd14bdbd8f_0_91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82" name="Google Shape;7582;gbd14bdbd8f_0_91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21" name="Shape 7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2" name="Google Shape;7622;gbd14bdbd8f_0_91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3" name="Google Shape;7623;gbd14bdbd8f_0_91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64" name="Shape 7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5" name="Google Shape;7665;gbd14bdbd8f_0_92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66" name="Google Shape;7666;gbd14bdbd8f_0_9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09" name="Shape 7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0" name="Google Shape;7710;gbd14bdbd8f_0_92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11" name="Google Shape;7711;gbd14bdbd8f_0_92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56" name="Shape 7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7" name="Google Shape;7757;gbd14bdbd8f_0_93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8" name="Google Shape;7758;gbd14bdbd8f_0_93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03" name="Shape 7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4" name="Google Shape;7804;gbd14bdbd8f_0_93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05" name="Google Shape;7805;gbd14bdbd8f_0_93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50" name="Shape 7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1" name="Google Shape;7851;gbd14bdbd8f_0_94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52" name="Google Shape;7852;gbd14bdbd8f_0_94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97" name="Shape 7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8" name="Google Shape;7898;gbd14bdbd8f_0_94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99" name="Google Shape;7899;gbd14bdbd8f_0_94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40" name="Shape 7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1" name="Google Shape;7941;gbd14bdbd8f_0_95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42" name="Google Shape;7942;gbd14bdbd8f_0_95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87" name="Shape 7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8" name="Google Shape;7988;gbd14bdbd8f_0_95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89" name="Google Shape;7989;gbd14bdbd8f_0_95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34" name="Shape 8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5" name="Google Shape;8035;gbd14bdbd8f_0_95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6" name="Google Shape;8036;gbd14bdbd8f_0_95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80" name="Shape 8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1" name="Google Shape;8081;gbd14bdbd8f_0_96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82" name="Google Shape;8082;gbd14bdbd8f_0_96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24" name="Shape 8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5" name="Google Shape;8125;gbd14bdbd8f_0_96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6" name="Google Shape;8126;gbd14bdbd8f_0_96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69" name="Shape 8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0" name="Google Shape;8170;gbd14bdbd8f_0_97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71" name="Google Shape;8171;gbd14bdbd8f_0_97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15" name="Shape 8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6" name="Google Shape;8216;gbd14bdbd8f_0_9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7" name="Google Shape;8217;gbd14bdbd8f_0_9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60" name="Shape 8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1" name="Google Shape;8261;gbd14bdbd8f_0_98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2" name="Google Shape;8262;gbd14bdbd8f_0_98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04" name="Shape 8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5" name="Google Shape;8305;gbd14bdbd8f_0_98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06" name="Google Shape;8306;gbd14bdbd8f_0_98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50" name="Shape 8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1" name="Google Shape;8351;gbd14bdbd8f_0_12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52" name="Google Shape;8352;gbd14bdbd8f_0_12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98" name="Shape 8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9" name="Google Shape;8399;gbd14bdbd8f_0_130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00" name="Google Shape;8400;gbd14bdbd8f_0_130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44" name="Shape 8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5" name="Google Shape;8445;gbd14bdbd8f_0_130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6" name="Google Shape;8446;gbd14bdbd8f_0_130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91" name="Shape 8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2" name="Google Shape;8492;gbd14bdbd8f_0_131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93" name="Google Shape;8493;gbd14bdbd8f_0_131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37" name="Shape 8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8" name="Google Shape;8538;gbd14bdbd8f_0_131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9" name="Google Shape;8539;gbd14bdbd8f_0_131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78" name="Shape 8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9" name="Google Shape;8579;gbd14bdbd8f_0_99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80" name="Google Shape;8580;gbd14bdbd8f_0_99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19" name="Shape 8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0" name="Google Shape;8620;gbd14bdbd8f_0_99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1" name="Google Shape;8621;gbd14bdbd8f_0_99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69" name="Shape 8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0" name="Google Shape;8670;gbd14bdbd8f_0_99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71" name="Google Shape;8671;gbd14bdbd8f_0_99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18" name="Shape 8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9" name="Google Shape;8719;gbd14bdbd8f_0_10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20" name="Google Shape;8720;gbd14bdbd8f_0_10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61" name="Shape 8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2" name="Google Shape;8762;gbd14bdbd8f_0_10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63" name="Google Shape;8763;gbd14bdbd8f_0_10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11" name="Shape 8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2" name="Google Shape;8812;gbd14bdbd8f_0_10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13" name="Google Shape;8813;gbd14bdbd8f_0_10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48" name="Shape 8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9" name="Google Shape;8849;gbd14bdbd8f_0_10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0" name="Google Shape;8850;gbd14bdbd8f_0_10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00" name="Shape 8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1" name="Google Shape;8901;gbd14bdbd8f_0_10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02" name="Google Shape;8902;gbd14bdbd8f_0_10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38" name="Shape 8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9" name="Google Shape;8939;gbd14bdbd8f_0_10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40" name="Google Shape;8940;gbd14bdbd8f_0_10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70" name="Shape 8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1" name="Google Shape;8971;gbd14bdbd8f_0_102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72" name="Google Shape;8972;gbd14bdbd8f_0_102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16" name="Shape 9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7" name="Google Shape;9017;gbd14bdbd8f_0_103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18" name="Google Shape;9018;gbd14bdbd8f_0_103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63" name="Shape 9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4" name="Google Shape;9064;gbd14bdbd8f_0_103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65" name="Google Shape;9065;gbd14bdbd8f_0_103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09" name="Shape 9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0" name="Google Shape;9110;gbd14bdbd8f_0_104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11" name="Google Shape;9111;gbd14bdbd8f_0_104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55" name="Shape 9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6" name="Google Shape;9156;gbd14bdbd8f_0_104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7" name="Google Shape;9157;gbd14bdbd8f_0_104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02" name="Shape 9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3" name="Google Shape;9203;gbd14bdbd8f_0_105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04" name="Google Shape;9204;gbd14bdbd8f_0_105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45" name="Shape 9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6" name="Google Shape;9246;gbd14bdbd8f_0_105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47" name="Google Shape;9247;gbd14bdbd8f_0_105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78" name="Shape 9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9" name="Google Shape;9279;gbd14bdbd8f_0_105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80" name="Google Shape;9280;gbd14bdbd8f_0_105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27" name="Shape 9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8" name="Google Shape;9328;gbd14bdbd8f_0_106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9" name="Google Shape;9329;gbd14bdbd8f_0_106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76" name="Shape 9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7" name="Google Shape;9377;gbd14bdbd8f_0_106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8" name="Google Shape;9378;gbd14bdbd8f_0_106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25" name="Shape 9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6" name="Google Shape;9426;gbd14bdbd8f_0_107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27" name="Google Shape;9427;gbd14bdbd8f_0_107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75" name="Shape 9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6" name="Google Shape;9476;gbd14bdbd8f_0_107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77" name="Google Shape;9477;gbd14bdbd8f_0_107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25" name="Shape 9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6" name="Google Shape;9526;gbd14bdbd8f_0_108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27" name="Google Shape;9527;gbd14bdbd8f_0_108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75" name="Shape 9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6" name="Google Shape;9576;gbd14bdbd8f_0_108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77" name="Google Shape;9577;gbd14bdbd8f_0_108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24" name="Shape 9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" name="Google Shape;9625;gbd14bdbd8f_0_109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26" name="Google Shape;9626;gbd14bdbd8f_0_109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72" name="Shape 9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3" name="Google Shape;9673;gbd14bdbd8f_0_109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74" name="Google Shape;9674;gbd14bdbd8f_0_109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20" name="Shape 9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1" name="Google Shape;9721;gbd14bdbd8f_0_110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22" name="Google Shape;9722;gbd14bdbd8f_0_110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71" name="Shape 9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2" name="Google Shape;9872;gbd14bdbd8f_0_111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73" name="Google Shape;9873;gbd14bdbd8f_0_111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24" name="Shape 10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5" name="Google Shape;10025;gbd14bdbd8f_0_113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26" name="Google Shape;10026;gbd14bdbd8f_0_113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77" name="Shape 10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8" name="Google Shape;10178;gbd14bdbd8f_0_114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79" name="Google Shape;10179;gbd14bdbd8f_0_114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24" name="Shape 10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5" name="Google Shape;10325;gbd14bdbd8f_0_116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6" name="Google Shape;10326;gbd14bdbd8f_0_116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71" name="Shape 10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2" name="Google Shape;10472;gbd14bdbd8f_0_117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73" name="Google Shape;10473;gbd14bdbd8f_0_117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09" name="Shape 10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0" name="Google Shape;10610;gbd14bdbd8f_0_119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11" name="Google Shape;10611;gbd14bdbd8f_0_119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37" name="Shape 10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8" name="Google Shape;10738;gbd14bdbd8f_0_120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39" name="Google Shape;10739;gbd14bdbd8f_0_120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63" name="Shape 10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4" name="Google Shape;10864;gbd14bdbd8f_0_1215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65" name="Google Shape;10865;gbd14bdbd8f_0_121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72" name="Shape 10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3" name="Google Shape;10873;gbd14bdbd8f_0_121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74" name="Google Shape;10874;gbd14bdbd8f_0_12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49" name="Shape 10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0" name="Google Shape;10950;gbd14bdbd8f_0_122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51" name="Google Shape;10951;gbd14bdbd8f_0_122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27" name="Shape 1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8" name="Google Shape;11028;gbd14bdbd8f_0_123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29" name="Google Shape;11029;gbd14bdbd8f_0_123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05" name="Shape 1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6" name="Google Shape;11106;gbd14bdbd8f_0_123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07" name="Google Shape;11107;gbd14bdbd8f_0_123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76" name="Shape 11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7" name="Google Shape;11177;gbd14bdbd8f_0_124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78" name="Google Shape;11178;gbd14bdbd8f_0_124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48" name="Shape 11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9" name="Google Shape;11249;gbd14bdbd8f_0_125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50" name="Google Shape;11250;gbd14bdbd8f_0_125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20" name="Shape 1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1" name="Google Shape;11321;gbd14bdbd8f_0_126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22" name="Google Shape;11322;gbd14bdbd8f_0_126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89" name="Shape 11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0" name="Google Shape;11390;gbd14bdbd8f_0_126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91" name="Google Shape;11391;gbd14bdbd8f_0_126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95" name="Shape 11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6" name="Google Shape;11396;gbd14bdbd8f_0_126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97" name="Google Shape;11397;gbd14bdbd8f_0_126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01" name="Shape 11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2" name="Google Shape;11402;gbd14bdbd8f_0_126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03" name="Google Shape;11403;gbd14bdbd8f_0_126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07" name="Shape 11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8" name="Google Shape;11408;gbd14bdbd8f_0_13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09" name="Google Shape;11409;gbd14bdbd8f_0_13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13" name="Shape 11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4" name="Google Shape;11414;gbd14bdbd8f_0_132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15" name="Google Shape;11415;gbd14bdbd8f_0_132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62" name="Shape 11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3" name="Google Shape;11463;gbd14bdbd8f_0_132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64" name="Google Shape;11464;gbd14bdbd8f_0_132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12" name="Shape 11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3" name="Google Shape;11513;gbd14bdbd8f_0_13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14" name="Google Shape;11514;gbd14bdbd8f_0_13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31" name="Shape 1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2" name="Google Shape;11532;gbd14bdbd8f_0_133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33" name="Google Shape;11533;gbd14bdbd8f_0_133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50" name="Shape 11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1" name="Google Shape;11551;gbd14bdbd8f_0_133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52" name="Google Shape;11552;gbd14bdbd8f_0_133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71" name="Shape 11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2" name="Google Shape;11572;gbd14bdbd8f_0_134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73" name="Google Shape;11573;gbd14bdbd8f_0_134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92" name="Shape 11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3" name="Google Shape;11593;gbd14bdbd8f_0_134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94" name="Google Shape;11594;gbd14bdbd8f_0_134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13" name="Shape 1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4" name="Google Shape;11614;gbd14bdbd8f_0_13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15" name="Google Shape;11615;gbd14bdbd8f_0_13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34" name="Shape 11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5" name="Google Shape;11635;gbd14bdbd8f_0_134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36" name="Google Shape;11636;gbd14bdbd8f_0_134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79" name="Shape 1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0" name="Google Shape;11680;gbd21ea9295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81" name="Google Shape;11681;gbd21ea9295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24" name="Shape 11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25" name="Google Shape;11725;gbd14bdbd8f_0_135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26" name="Google Shape;11726;gbd14bdbd8f_0_135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46" name="Shape 11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7" name="Google Shape;11747;gbd14bdbd8f_0_135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48" name="Google Shape;11748;gbd14bdbd8f_0_135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52" name="Shape 1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3" name="Google Shape;11753;gbd14bdbd8f_0_135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54" name="Google Shape;11754;gbd14bdbd8f_0_135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59" name="Shape 11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0" name="Google Shape;11760;gbd14bdbd8f_0_135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61" name="Google Shape;11761;gbd14bdbd8f_0_135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67" name="Shape 11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8" name="Google Shape;11768;gbd14bdbd8f_0_135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69" name="Google Shape;11769;gbd14bdbd8f_0_135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76" name="Shape 1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7" name="Google Shape;11777;gbd14bdbd8f_0_135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78" name="Google Shape;11778;gbd14bdbd8f_0_135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88" name="Shape 1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9" name="Google Shape;11789;gbd14bdbd8f_0_135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90" name="Google Shape;11790;gbd14bdbd8f_0_135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01" name="Shape 1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2" name="Google Shape;11802;gbd14bdbd8f_0_136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03" name="Google Shape;11803;gbd14bdbd8f_0_136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14" name="Shape 11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5" name="Google Shape;11815;gbd14bdbd8f_0_136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16" name="Google Shape;11816;gbd14bdbd8f_0_136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27" name="Shape 11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8" name="Google Shape;11828;gbd14bdbd8f_0_13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29" name="Google Shape;11829;gbd14bdbd8f_0_13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40" name="Shape 11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1" name="Google Shape;11841;gbd14bdbd8f_0_136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42" name="Google Shape;11842;gbd14bdbd8f_0_136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53" name="Shape 11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4" name="Google Shape;11854;gbd14bdbd8f_1_1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55" name="Google Shape;11855;gbd14bdbd8f_1_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59" name="Shape 11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0" name="Google Shape;11860;gbd14bdbd8f_0_136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61" name="Google Shape;11861;gbd14bdbd8f_0_136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92" name="Shape 11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3" name="Google Shape;11893;gbd14bdbd8f_1_1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94" name="Google Shape;11894;gbd14bdbd8f_1_1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25" name="Shape 11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6" name="Google Shape;11926;gbd14bdbd8f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27" name="Google Shape;11927;gbd14bdbd8f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83" name="Shape 11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4" name="Google Shape;11984;gbd14bdbd8f_1_1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85" name="Google Shape;11985;gbd14bdbd8f_1_1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40" name="Shape 1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1" name="Google Shape;12041;gbd14bdbd8f_1_2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42" name="Google Shape;12042;gbd14bdbd8f_1_2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99" name="Shape 12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0" name="Google Shape;12100;gbd14bdbd8f_1_2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01" name="Google Shape;12101;gbd14bdbd8f_1_2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58" name="Shape 12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9" name="Google Shape;12159;gbd14bdbd8f_1_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60" name="Google Shape;12160;gbd14bdbd8f_1_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15" name="Shape 12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6" name="Google Shape;12216;gbd14bdbd8f_1_4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17" name="Google Shape;12217;gbd14bdbd8f_1_4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73" name="Shape 12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4" name="Google Shape;12274;gbd14bdbd8f_1_4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75" name="Google Shape;12275;gbd14bdbd8f_1_4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30" name="Shape 12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1" name="Google Shape;12331;gbd14bdbd8f_1_5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32" name="Google Shape;12332;gbd14bdbd8f_1_5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88" name="Shape 12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9" name="Google Shape;12389;gbd14bdbd8f_1_6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90" name="Google Shape;12390;gbd14bdbd8f_1_6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46" name="Shape 12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47" name="Google Shape;12447;gbd14bdbd8f_1_6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48" name="Google Shape;12448;gbd14bdbd8f_1_6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04" name="Shape 12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5" name="Google Shape;12505;gbd14bdbd8f_1_7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06" name="Google Shape;12506;gbd14bdbd8f_1_7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62" name="Shape 12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3" name="Google Shape;12563;gbd14bdbd8f_1_8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4" name="Google Shape;12564;gbd14bdbd8f_1_8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20" name="Shape 12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1" name="Google Shape;12621;gbd14bdbd8f_1_8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22" name="Google Shape;12622;gbd14bdbd8f_1_8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78" name="Shape 12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79" name="Google Shape;12679;gbd21ea9295_0_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80" name="Google Shape;12680;gbd21ea9295_0_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36" name="Shape 12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7" name="Google Shape;12737;gbd21ea9295_0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38" name="Google Shape;12738;gbd21ea9295_0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94" name="Shape 12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5" name="Google Shape;12795;gbe90636a03_0_1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96" name="Google Shape;12796;gbe90636a03_0_1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08" name="Shape 12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9" name="Google Shape;12809;gbe90636a03_0_11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10" name="Google Shape;12810;gbe90636a03_0_11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23" name="Shape 12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4" name="Google Shape;12824;gbe90636a03_0_1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25" name="Google Shape;12825;gbe90636a03_0_1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38" name="Shape 12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39" name="Google Shape;12839;gbe90636a03_0_12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40" name="Google Shape;12840;gbe90636a03_0_12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55" name="Shape 12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6" name="Google Shape;12856;gbe90636a03_0_12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57" name="Google Shape;12857;gbe90636a03_0_12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70" name="Shape 12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71" name="Google Shape;12871;gbe90636a03_0_12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72" name="Google Shape;12872;gbe90636a03_0_12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86" name="Shape 12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7" name="Google Shape;12887;gbe90636a03_0_13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88" name="Google Shape;12888;gbe90636a03_0_13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02" name="Shape 12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3" name="Google Shape;12903;gbe90636a03_0_12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04" name="Google Shape;12904;gbe90636a03_0_12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18" name="Shape 12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19" name="Google Shape;12919;gbe90636a03_0_13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20" name="Google Shape;12920;gbe90636a03_0_13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35" name="Shape 12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6" name="Google Shape;12936;gbe90636a03_0_13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37" name="Google Shape;12937;gbe90636a03_0_13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52" name="Shape 12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3" name="Google Shape;12953;gbe90636a03_0_9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54" name="Google Shape;12954;gbe90636a03_0_9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69" name="Shape 12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0" name="Google Shape;12970;gbe90636a03_0_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71" name="Google Shape;12971;gbe90636a03_0_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83" name="Shape 12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4" name="Google Shape;12984;gbe90636a03_0_2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85" name="Google Shape;12985;gbe90636a03_0_2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89" name="Shape 12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0" name="Google Shape;12990;gbe90636a03_0_2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91" name="Google Shape;12991;gbe90636a03_0_2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96" name="Shape 12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7" name="Google Shape;12997;gbe90636a03_0_2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98" name="Google Shape;12998;gbe90636a03_0_2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03" name="Shape 13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" name="Google Shape;13004;gbe90636a03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05" name="Google Shape;13005;gbe90636a03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09" name="Shape 13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0" name="Google Shape;13010;gbe90636a03_0_3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11" name="Google Shape;13011;gbe90636a03_0_3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32" name="Shape 13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3" name="Google Shape;13033;gbe90636a03_0_3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34" name="Google Shape;13034;gbe90636a03_0_3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49" name="Shape 13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0" name="Google Shape;13050;gbe90636a03_0_3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51" name="Google Shape;13051;gbe90636a03_0_3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66" name="Shape 13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67" name="Google Shape;13067;gbe90636a03_0_3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68" name="Google Shape;13068;gbe90636a03_0_3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82" name="Shape 13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83" name="Google Shape;13083;gbe90636a03_0_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84" name="Google Shape;13084;gbe90636a03_0_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98" name="Shape 13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9" name="Google Shape;13099;gbe90636a03_0_3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00" name="Google Shape;13100;gbe90636a03_0_3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08" name="Shape 13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9" name="Google Shape;13109;gbe90636a03_0_3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10" name="Google Shape;13110;gbe90636a03_0_3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24" name="Shape 13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5" name="Google Shape;13125;gbe90636a03_0_4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26" name="Google Shape;13126;gbe90636a03_0_4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31" name="Shape 13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32" name="Google Shape;13132;gbe90636a03_0_4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33" name="Google Shape;13133;gbe90636a03_0_4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47" name="Shape 13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8" name="Google Shape;13148;gbe90636a03_0_4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49" name="Google Shape;13149;gbe90636a03_0_4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54" name="Shape 13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5" name="Google Shape;13155;gbe90636a03_0_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56" name="Google Shape;13156;gbe90636a03_0_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62" name="Shape 13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63" name="Google Shape;13163;gbe90636a03_0_4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64" name="Google Shape;13164;gbe90636a03_0_4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70" name="Shape 1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71" name="Google Shape;13171;gbe90636a03_0_4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72" name="Google Shape;13172;gbe90636a03_0_4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78" name="Shape 13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79" name="Google Shape;13179;gbe90636a03_0_4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80" name="Google Shape;13180;gbe90636a03_0_4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85" name="Shape 13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6" name="Google Shape;13186;gbe90636a03_0_4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87" name="Google Shape;13187;gbe90636a03_0_4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93" name="Shape 13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94" name="Google Shape;13194;gbe90636a03_0_4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95" name="Google Shape;13195;gbe90636a03_0_4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43" name="Shape 13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4" name="Google Shape;13244;gbe90636a03_0_10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45" name="Google Shape;13245;gbe90636a03_0_10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50" name="Shape 13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1" name="Google Shape;13251;gbe90636a03_0_10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52" name="Google Shape;13252;gbe90636a03_0_10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78" name="Shape 13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9" name="Google Shape;13279;gbe90636a03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80" name="Google Shape;13280;gbe90636a03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02" name="Shape 13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3" name="Google Shape;13303;gbe90636a03_0_10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04" name="Google Shape;13304;gbe90636a03_0_10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29" name="Shape 13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0" name="Google Shape;13330;gbe90636a03_0_10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31" name="Google Shape;13331;gbe90636a03_0_10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55" name="Shape 13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6" name="Google Shape;13356;gbe90636a03_0_11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57" name="Google Shape;13357;gbe90636a03_0_11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82" name="Shape 13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3" name="Google Shape;13383;gbe90636a03_0_1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84" name="Google Shape;13384;gbe90636a03_0_1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16" name="Shape 13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7" name="Google Shape;13417;gbe90636a03_0_5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18" name="Google Shape;13418;gbe90636a03_0_5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64" name="Shape 1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5" name="Google Shape;13465;gbe90636a03_0_5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66" name="Google Shape;13466;gbe90636a03_0_5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26" name="Shape 13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27" name="Google Shape;13527;gbe90636a03_0_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28" name="Google Shape;13528;gbe90636a03_0_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74" name="Shape 13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5" name="Google Shape;13575;gbe90636a03_0_6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6" name="Google Shape;13576;gbe90636a03_0_6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22" name="Shape 13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3" name="Google Shape;13623;gbe90636a03_0_7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24" name="Google Shape;13624;gbe90636a03_0_7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70" name="Shape 13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71" name="Google Shape;13671;gbe90636a03_0_7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72" name="Google Shape;13672;gbe90636a03_0_7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91" name="Shape 13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2" name="Google Shape;13692;gbe90636a03_0_7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93" name="Google Shape;13693;gbe90636a03_0_7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14" name="Shape 1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15" name="Google Shape;13715;gbe90636a03_0_8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16" name="Google Shape;13716;gbe90636a03_0_8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37" name="Shape 13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8" name="Google Shape;13738;gbe90636a03_0_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39" name="Google Shape;13739;gbe90636a03_0_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64" name="Shape 13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5" name="Google Shape;13765;gbe90636a03_0_8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66" name="Google Shape;13766;gbe90636a03_0_8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97" name="Shape 13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8" name="Google Shape;13798;gbe90636a03_0_8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99" name="Google Shape;13799;gbe90636a03_0_8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20" name="Shape 13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1" name="Google Shape;13821;gbe90636a03_0_1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22" name="Google Shape;13822;gbe90636a03_0_1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36" name="Shape 13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37" name="Google Shape;13837;gbf94a8daab_0_10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38" name="Google Shape;13838;gbf94a8daab_0_10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41" name="Shape 13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2" name="Google Shape;13842;gbf94a8daab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43" name="Google Shape;13843;gbf94a8daab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48" name="Shape 13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9" name="Google Shape;13849;gbf94a8daab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50" name="Google Shape;13850;gbf94a8daab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55" name="Shape 13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6" name="Google Shape;13856;gbf94a8daab_0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57" name="Google Shape;13857;gbf94a8daab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62" name="Shape 13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63" name="Google Shape;13863;gbf94a8daab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64" name="Google Shape;13864;gbf94a8daab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69" name="Shape 13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0" name="Google Shape;13870;gbf94a8daab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71" name="Google Shape;13871;gbf94a8daab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97" name="Shape 13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8" name="Google Shape;13898;gbf94a8daab_0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99" name="Google Shape;13899;gbf94a8daab_0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25" name="Shape 13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" name="Google Shape;13926;gbf94a8daab_0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27" name="Google Shape;13927;gbf94a8daab_0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59" name="Shape 13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0" name="Google Shape;13960;gbf94a8daab_0_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61" name="Google Shape;13961;gbf94a8daab_0_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92" name="Shape 13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3" name="Google Shape;13993;gbf94a8daab_0_1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94" name="Google Shape;13994;gbf94a8daab_0_1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025" name="Shape 14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6" name="Google Shape;14026;gbf94a8daab_0_1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27" name="Google Shape;14027;gbf94a8daab_0_1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058" name="Shape 14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9" name="Google Shape;14059;gbf94a8daab_0_2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60" name="Google Shape;14060;gbf94a8daab_0_2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090" name="Shape 1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1" name="Google Shape;14091;gbf94a8daab_0_2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92" name="Google Shape;14092;gbf94a8daab_0_2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122" name="Shape 14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3" name="Google Shape;14123;gbf94a8daab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24" name="Google Shape;14124;gbf94a8daab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154" name="Shape 14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5" name="Google Shape;14155;gbf94a8daab_0_3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56" name="Google Shape;14156;gbf94a8daab_0_3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186" name="Shape 14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87" name="Google Shape;14187;gbf94a8daab_0_3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88" name="Google Shape;14188;gbf94a8daab_0_3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17" name="Shape 14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18" name="Google Shape;14218;gbf94a8daab_0_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19" name="Google Shape;14219;gbf94a8daab_0_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48" name="Shape 14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49" name="Google Shape;14249;gbf94a8daab_0_3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50" name="Google Shape;14250;gbf94a8daab_0_3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81" name="Shape 14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2" name="Google Shape;14282;gbf94a8daab_0_4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83" name="Google Shape;14283;gbf94a8daab_0_4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14" name="Shape 14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5" name="Google Shape;14315;gbf94a8daab_0_4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16" name="Google Shape;14316;gbf94a8daab_0_4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63" name="Shape 14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4" name="Google Shape;14364;gbf94a8daab_0_5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65" name="Google Shape;14365;gbf94a8daab_0_5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15" name="Shape 14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16" name="Google Shape;14416;gbf94a8daab_0_5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17" name="Google Shape;14417;gbf94a8daab_0_5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67" name="Shape 14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8" name="Google Shape;14468;gbf94a8daab_0_6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69" name="Google Shape;14469;gbf94a8daab_0_6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19" name="Shape 14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0" name="Google Shape;14520;gbf94a8daab_0_6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21" name="Google Shape;14521;gbf94a8daab_0_6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71" name="Shape 14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2" name="Google Shape;14572;gbf94a8daab_0_7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73" name="Google Shape;14573;gbf94a8daab_0_7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78" name="Shape 14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9" name="Google Shape;14579;gbf94a8daab_0_7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80" name="Google Shape;14580;gbf94a8daab_0_7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85" name="Shape 14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86" name="Google Shape;14586;gbf94a8daab_0_7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87" name="Google Shape;14587;gbf94a8daab_0_7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92" name="Shape 14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3" name="Google Shape;14593;gbf94a8daab_0_7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94" name="Google Shape;14594;gbf94a8daab_0_7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10" name="Shape 14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1" name="Google Shape;14611;gbf94a8daab_0_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12" name="Google Shape;14612;gbf94a8daab_0_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28" name="Shape 14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29" name="Google Shape;14629;gbf94a8daab_0_7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30" name="Google Shape;14630;gbf94a8daab_0_7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35" name="Shape 14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36" name="Google Shape;14636;gbf94a8daab_0_7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37" name="Google Shape;14637;gbf94a8daab_0_7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43" name="Shape 14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4" name="Google Shape;14644;gbf94a8daab_0_7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45" name="Google Shape;14645;gbf94a8daab_0_7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79" name="Shape 14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0" name="Google Shape;14680;gbf94a8daab_0_7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81" name="Google Shape;14681;gbf94a8daab_0_7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15" name="Shape 14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16" name="Google Shape;14716;gbf94a8daab_0_8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17" name="Google Shape;14717;gbf94a8daab_0_8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54" name="Shape 14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5" name="Google Shape;14755;gbf94a8daab_0_10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56" name="Google Shape;14756;gbf94a8daab_0_10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93" name="Shape 14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4" name="Google Shape;14794;gbf94a8daab_0_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95" name="Google Shape;14795;gbf94a8daab_0_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33" name="Shape 14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4" name="Google Shape;14834;gbf94a8daab_0_9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35" name="Google Shape;14835;gbf94a8daab_0_9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73" name="Shape 14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4" name="Google Shape;14874;gbf94a8daab_0_9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75" name="Google Shape;14875;gbf94a8daab_0_9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12" name="Shape 14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3" name="Google Shape;14913;gc0e92dafc8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14" name="Google Shape;14914;gc0e92dafc8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18" name="Shape 14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9" name="Google Shape;14919;gc0e92dafc8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20" name="Google Shape;14920;gc0e92dafc8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24" name="Shape 14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5" name="Google Shape;14925;gc0e92dafc8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26" name="Google Shape;14926;gc0e92dafc8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30" name="Shape 14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1" name="Google Shape;14931;gc0e92dafc8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2" name="Google Shape;14932;gc0e92dafc8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36" name="Shape 14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7" name="Google Shape;14937;gc0e92dafc8_0_9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8" name="Google Shape;14938;gc0e92dafc8_0_9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43" name="Shape 14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4" name="Google Shape;14944;gc0e92dafc8_0_9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45" name="Google Shape;14945;gc0e92dafc8_0_9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50" name="Shape 14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1" name="Google Shape;14951;gc0e92dafc8_0_9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52" name="Google Shape;14952;gc0e92dafc8_0_9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57" name="Shape 14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8" name="Google Shape;14958;gc0e92dafc8_0_9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59" name="Google Shape;14959;gc0e92dafc8_0_9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64" name="Shape 14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5" name="Google Shape;14965;gc0e92dafc8_0_8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66" name="Google Shape;14966;gc0e92dafc8_0_8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96" name="Shape 14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7" name="Google Shape;14997;gc0e92dafc8_0_8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98" name="Google Shape;14998;gc0e92dafc8_0_8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28" name="Shape 15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9" name="Google Shape;15029;gc0e92dafc8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30" name="Google Shape;15030;gc0e92dafc8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60" name="Shape 15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61" name="Google Shape;15061;gc0e92dafc8_0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62" name="Google Shape;15062;gc0e92dafc8_0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91" name="Shape 15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2" name="Google Shape;15092;gc0e92dafc8_0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93" name="Google Shape;15093;gc0e92dafc8_0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22" name="Shape 15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3" name="Google Shape;15123;gc0e92dafc8_0_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24" name="Google Shape;15124;gc0e92dafc8_0_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53" name="Shape 15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4" name="Google Shape;15154;gc0e92dafc8_0_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55" name="Google Shape;15155;gc0e92dafc8_0_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84" name="Shape 15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5" name="Google Shape;15185;gc0e92dafc8_0_1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86" name="Google Shape;15186;gc0e92dafc8_0_1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15" name="Shape 15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6" name="Google Shape;15216;gc0e92dafc8_0_2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17" name="Google Shape;15217;gc0e92dafc8_0_2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49" name="Shape 15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0" name="Google Shape;15250;gc0e92dafc8_0_2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51" name="Google Shape;15251;gc0e92dafc8_0_2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83" name="Shape 15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84" name="Google Shape;15284;gc0e92dafc8_0_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85" name="Google Shape;15285;gc0e92dafc8_0_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97" name="Shape 15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8" name="Google Shape;15298;gc0e92dafc8_0_2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99" name="Google Shape;15299;gc0e92dafc8_0_2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06" name="Shape 15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7" name="Google Shape;15307;gc0e92dafc8_0_2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08" name="Google Shape;15308;gc0e92dafc8_0_2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16" name="Shape 15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17" name="Google Shape;15317;gc0e92dafc8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18" name="Google Shape;15318;gc0e92dafc8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39" name="Shape 15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0" name="Google Shape;15340;gc0e92dafc8_0_3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41" name="Google Shape;15341;gc0e92dafc8_0_3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66" name="Shape 15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7" name="Google Shape;15367;gc0e92dafc8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68" name="Google Shape;15368;gc0e92dafc8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95" name="Shape 15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6" name="Google Shape;15396;gc0e92dafc8_0_3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97" name="Google Shape;15397;gc0e92dafc8_0_3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24" name="Shape 15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25" name="Google Shape;15425;gc0e92dafc8_0_4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26" name="Google Shape;15426;gc0e92dafc8_0_4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46" name="Shape 15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47" name="Google Shape;15447;gc0e92dafc8_0_4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48" name="Google Shape;15448;gc0e92dafc8_0_4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64" name="Shape 15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5" name="Google Shape;15465;gc0e92dafc8_0_4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66" name="Google Shape;15466;gc0e92dafc8_0_4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82" name="Shape 15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83" name="Google Shape;15483;gc0e92dafc8_0_4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84" name="Google Shape;15484;gc0e92dafc8_0_4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96" name="Shape 15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7" name="Google Shape;15497;gc0e92dafc8_0_4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98" name="Google Shape;15498;gc0e92dafc8_0_4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11" name="Shape 15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2" name="Google Shape;15512;gc0e92dafc8_0_5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13" name="Google Shape;15513;gc0e92dafc8_0_5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26" name="Shape 15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7" name="Google Shape;15527;gbf523dfaa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28" name="Google Shape;15528;gbf523dfaa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41" name="Shape 15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42" name="Google Shape;15542;gc0e92dafc8_0_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43" name="Google Shape;15543;gc0e92dafc8_0_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56" name="Shape 15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57" name="Google Shape;15557;gc0e92dafc8_0_5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58" name="Google Shape;15558;gc0e92dafc8_0_5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70" name="Shape 15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71" name="Google Shape;15571;gc0e92dafc8_0_5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72" name="Google Shape;15572;gc0e92dafc8_0_5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79" name="Shape 15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80" name="Google Shape;15580;gc0e92dafc8_0_5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81" name="Google Shape;15581;gc0e92dafc8_0_5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93" name="Shape 15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94" name="Google Shape;15594;gc0e92dafc8_0_5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95" name="Google Shape;15595;gc0e92dafc8_0_5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01" name="Shape 15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02" name="Google Shape;15602;gc0e92dafc8_0_5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03" name="Google Shape;15603;gc0e92dafc8_0_5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33" name="Shape 15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34" name="Google Shape;15634;gc0e92dafc8_0_6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35" name="Google Shape;15635;gc0e92dafc8_0_6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59" name="Shape 15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0" name="Google Shape;15660;gc0e92dafc8_0_6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61" name="Google Shape;15661;gc0e92dafc8_0_6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33" name="Shape 15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4" name="Google Shape;15734;gc0e92dafc8_0_9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35" name="Google Shape;15735;gc0e92dafc8_0_9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40" name="Shape 15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41" name="Google Shape;15741;gc0e92dafc8_0_9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42" name="Google Shape;15742;gc0e92dafc8_0_9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47" name="Shape 15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48" name="Google Shape;15748;gc0e92dafc8_0_9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49" name="Google Shape;15749;gc0e92dafc8_0_9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54" name="Shape 15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55" name="Google Shape;15755;gc0e92dafc8_0_9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56" name="Google Shape;15756;gc0e92dafc8_0_9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61" name="Shape 15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2" name="Google Shape;15762;gc0e92dafc8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63" name="Google Shape;15763;gc0e92dafc8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67" name="Shape 15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8" name="Google Shape;15768;gc0e92dafc8_0_7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69" name="Google Shape;15769;gc0e92dafc8_0_7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73" name="Shape 15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4" name="Google Shape;15774;gc27e75cbf5_0_2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75" name="Google Shape;15775;gc27e75cbf5_0_2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79" name="Shape 15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0" name="Google Shape;15780;gc27e75cbf5_0_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81" name="Google Shape;15781;gc27e75cbf5_0_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28" name="Shape 15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29" name="Google Shape;15829;gc27e75cbf5_0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30" name="Google Shape;15830;gc27e75cbf5_0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78" name="Shape 15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9" name="Google Shape;15879;gc27e75cbf5_0_3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80" name="Google Shape;15880;gc27e75cbf5_0_3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85" name="Shape 15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6" name="Google Shape;15886;gc27e75cbf5_0_3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87" name="Google Shape;15887;gc27e75cbf5_0_3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14" name="Shape 15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15" name="Google Shape;15915;gc27e75cbf5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16" name="Google Shape;15916;gc27e75cbf5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47" name="Shape 15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48" name="Google Shape;15948;gc27e75cbf5_0_3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49" name="Google Shape;15949;gc27e75cbf5_0_3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84" name="Shape 15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85" name="Google Shape;15985;gc27e75cbf5_0_4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86" name="Google Shape;15986;gc27e75cbf5_0_4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21" name="Shape 16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2" name="Google Shape;16022;gc27e75cbf5_0_4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23" name="Google Shape;16023;gc27e75cbf5_0_4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58" name="Shape 16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9" name="Google Shape;16059;gc27e75cbf5_0_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60" name="Google Shape;16060;gc27e75cbf5_0_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71" name="Shape 16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2" name="Google Shape;16072;gc27e75cbf5_0_5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73" name="Google Shape;16073;gc27e75cbf5_0_5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86" name="Shape 16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7" name="Google Shape;16087;gc27e75cbf5_0_6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88" name="Google Shape;16088;gc27e75cbf5_0_6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93" name="Shape 16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94" name="Google Shape;16094;gc27e75cbf5_0_7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95" name="Google Shape;16095;gc27e75cbf5_0_7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00" name="Shape 16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1" name="Google Shape;16101;gc27e75cbf5_0_7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02" name="Google Shape;16102;gc27e75cbf5_0_7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07" name="Shape 16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8" name="Google Shape;16108;gc27e75cbf5_0_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09" name="Google Shape;16109;gc27e75cbf5_0_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22" name="Shape 16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3" name="Google Shape;16123;gc27e75cbf5_0_7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4" name="Google Shape;16124;gc27e75cbf5_0_7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41" name="Shape 16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2" name="Google Shape;16142;gc27e75cbf5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43" name="Google Shape;16143;gc27e75cbf5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47" name="Shape 16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8" name="Google Shape;16148;gc27e75cbf5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49" name="Google Shape;16149;gc27e75cbf5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54" name="Shape 16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5" name="Google Shape;16155;gc27e75cbf5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56" name="Google Shape;16156;gc27e75cbf5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62" name="Shape 16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3" name="Google Shape;16163;gc27e75cbf5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64" name="Google Shape;16164;gc27e75cbf5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71" name="Shape 16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2" name="Google Shape;16172;gc27e75cbf5_0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73" name="Google Shape;16173;gc27e75cbf5_0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80" name="Shape 16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1" name="Google Shape;16181;gc27e75cbf5_0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82" name="Google Shape;16182;gc27e75cbf5_0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89" name="Shape 16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0" name="Google Shape;16190;gc27e75cbf5_0_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91" name="Google Shape;16191;gc27e75cbf5_0_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97" name="Shape 16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8" name="Google Shape;16198;gc27e75cbf5_0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99" name="Google Shape;16199;gc27e75cbf5_0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05" name="Shape 16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6" name="Google Shape;16206;gc27e75cbf5_0_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07" name="Google Shape;16207;gc27e75cbf5_0_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13" name="Shape 16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4" name="Google Shape;16214;gc27e75cbf5_0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15" name="Google Shape;16215;gc27e75cbf5_0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22" name="Shape 16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3" name="Google Shape;16223;gc27e75cbf5_0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24" name="Google Shape;16224;gc27e75cbf5_0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30" name="Shape 16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1" name="Google Shape;16231;gc27e75cbf5_0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32" name="Google Shape;16232;gc27e75cbf5_0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37" name="Shape 16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8" name="Google Shape;16238;gc27e75cbf5_0_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39" name="Google Shape;16239;gc27e75cbf5_0_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44" name="Shape 16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5" name="Google Shape;16245;gc27e75cbf5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46" name="Google Shape;16246;gc27e75cbf5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51" name="Shape 16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52" name="Google Shape;16252;gc27e75cbf5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53" name="Google Shape;16253;gc27e75cbf5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62" name="Shape 16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63" name="Google Shape;16263;gc27e75cbf5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64" name="Google Shape;16264;gc27e75cbf5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68" name="Shape 16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69" name="Google Shape;16269;gc27e75cbf5_0_7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70" name="Google Shape;16270;gc27e75cbf5_0_7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75" name="Shape 16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76" name="Google Shape;16276;gc27e75cbf5_0_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77" name="Google Shape;16277;gc27e75cbf5_0_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82" name="Shape 16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3" name="Google Shape;16283;gc27e75cbf5_0_1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84" name="Google Shape;16284;gc27e75cbf5_0_1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89" name="Shape 16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0" name="Google Shape;16290;gc27e75cbf5_0_1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91" name="Google Shape;16291;gc27e75cbf5_0_1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96" name="Shape 16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7" name="Google Shape;16297;gc27e75cbf5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98" name="Google Shape;16298;gc27e75cbf5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03" name="Shape 16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4" name="Google Shape;16304;gc27e75cbf5_0_1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05" name="Google Shape;16305;gc27e75cbf5_0_1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10" name="Shape 16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1" name="Google Shape;16311;gc27e75cbf5_0_1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12" name="Google Shape;16312;gc27e75cbf5_0_1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18" name="Shape 16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9" name="Google Shape;16319;gc54ea21364_0_0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20" name="Google Shape;16320;gc54ea2136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23" name="Shape 16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4" name="Google Shape;16324;gc54ea21364_0_4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25" name="Google Shape;16325;gc54ea21364_0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29" name="Shape 16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0" name="Google Shape;16330;gc54ea21364_0_9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31" name="Google Shape;16331;gc54ea21364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44" name="Shape 16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5" name="Google Shape;16345;gc54ea21364_0_23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46" name="Google Shape;16346;gc54ea21364_0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59" name="Shape 16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0" name="Google Shape;16360;gc54ea21364_0_37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61" name="Google Shape;16361;gc54ea21364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75" name="Shape 16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6" name="Google Shape;16376;gc54ea21364_0_52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77" name="Google Shape;16377;gc54ea21364_0_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92" name="Shape 16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3" name="Google Shape;16393;gc54ea21364_0_68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94" name="Google Shape;16394;gc54ea21364_0_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10" name="Shape 16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1" name="Google Shape;16411;gc54ea21364_0_8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12" name="Google Shape;16412;gc54ea21364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33" name="Shape 16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4" name="Google Shape;16434;gc54ea21364_0_107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35" name="Google Shape;16435;gc54ea21364_0_1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44" name="Shape 16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45" name="Google Shape;16445;gc54ea21364_0_117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46" name="Google Shape;16446;gc54ea21364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50" name="Shape 16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1" name="Google Shape;16451;gc54ea21364_0_122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52" name="Google Shape;16452;gc54ea21364_0_1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57" name="Shape 16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8" name="Google Shape;16458;gc54ea21364_0_128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59" name="Google Shape;16459;gc54ea21364_0_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83" name="Shape 16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4" name="Google Shape;16484;gc54ea21364_0_153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85" name="Google Shape;16485;gc54ea21364_0_1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09" name="Shape 16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0" name="Google Shape;16510;gc54ea21364_0_178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11" name="Google Shape;16511;gc54ea21364_0_1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17" name="Shape 16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8" name="Google Shape;16518;gc54ea21364_0_18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19" name="Google Shape;16519;gc54ea21364_0_1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23" name="Shape 16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4" name="Google Shape;16524;gc54ea21364_0_190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25" name="Google Shape;16525;gc54ea21364_0_1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29" name="Shape 16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0" name="Google Shape;16530;gc54ea21364_0_19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31" name="Google Shape;16531;gc54ea21364_0_1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50" name="Shape 16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51" name="Google Shape;16551;gc54ea21364_0_21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52" name="Google Shape;16552;gc54ea21364_0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71" name="Shape 16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72" name="Google Shape;16572;gc54ea21364_0_23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73" name="Google Shape;16573;gc54ea21364_0_2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07" name="Shape 16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08" name="Google Shape;16608;gc54ea21364_0_270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09" name="Google Shape;16609;gc54ea21364_0_2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22" name="Shape 16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23" name="Google Shape;16623;gc54ea21364_0_673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24" name="Google Shape;16624;gc54ea21364_0_6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37" name="Shape 16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38" name="Google Shape;16638;gc54ea21364_0_284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39" name="Google Shape;16639;gc54ea21364_0_2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56" name="Shape 16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57" name="Google Shape;16657;gc54ea21364_0_302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58" name="Google Shape;16658;gc54ea21364_0_3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79" name="Shape 16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0" name="Google Shape;16680;gc54ea21364_0_324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81" name="Google Shape;16681;gc54ea21364_0_3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02" name="Shape 16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3" name="Google Shape;16703;gc54ea21364_0_346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04" name="Google Shape;16704;gc54ea21364_0_3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25" name="Shape 16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26" name="Google Shape;16726;gc54ea21364_0_368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27" name="Google Shape;16727;gc54ea21364_0_3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37" name="Shape 16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8" name="Google Shape;16738;gc54ea21364_0_379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39" name="Google Shape;16739;gc54ea21364_0_3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51" name="Shape 16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2" name="Google Shape;16752;gc54ea21364_0_392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53" name="Google Shape;16753;gc54ea21364_0_3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66" name="Shape 16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7" name="Google Shape;16767;gc54ea21364_0_406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68" name="Google Shape;16768;gc54ea21364_0_4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75" name="Shape 16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6" name="Google Shape;16776;gc54ea21364_0_418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77" name="Google Shape;16777;gc54ea21364_0_4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83" name="Shape 16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84" name="Google Shape;16784;gc54ea21364_0_42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85" name="Google Shape;16785;gc54ea21364_0_4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93" name="Shape 16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4" name="Google Shape;16794;gc54ea21364_0_434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95" name="Google Shape;16795;gc54ea21364_0_4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04" name="Shape 16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5" name="Google Shape;16805;gc54ea21364_0_444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06" name="Google Shape;16806;gc54ea21364_0_4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13" name="Shape 16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4" name="Google Shape;16814;gc54ea21364_0_452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15" name="Google Shape;16815;gc54ea21364_0_4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21" name="Shape 16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2" name="Google Shape;16822;gc54ea21364_0_593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23" name="Google Shape;16823;gc54ea21364_0_5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28" name="Shape 16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9" name="Google Shape;16829;gc54ea21364_0_599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30" name="Google Shape;16830;gc54ea21364_0_5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35" name="Shape 16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6" name="Google Shape;16836;gc54ea21364_0_60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37" name="Google Shape;16837;gc54ea21364_0_6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42" name="Shape 16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3" name="Google Shape;16843;gc54ea21364_0_611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44" name="Google Shape;16844;gc54ea21364_0_6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49" name="Shape 16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50" name="Google Shape;16850;gc54ea21364_0_69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51" name="Google Shape;16851;gc54ea21364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55" name="Shape 16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56" name="Google Shape;16856;gc54ea21364_0_700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57" name="Google Shape;16857;gc54ea21364_0_7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58" name="Shape 16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59" name="Google Shape;16959;gc54ea21364_0_791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60" name="Google Shape;16960;gc54ea21364_0_7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64" name="Shape 16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5" name="Google Shape;16965;gc54ea21364_0_796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66" name="Google Shape;16966;gc54ea21364_0_7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75" name="Shape 16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76" name="Google Shape;16976;gc54ea21364_0_806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77" name="Google Shape;16977;gc54ea21364_0_8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86" name="Shape 16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7" name="Google Shape;16987;gc54ea21364_0_816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88" name="Google Shape;16988;gc54ea21364_0_8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97" name="Shape 16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" name="Google Shape;16998;gc54ea21364_0_826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99" name="Google Shape;16999;gc54ea21364_0_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03" name="Shape 17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4" name="Google Shape;17004;gc5fba60758_0_93:notes"/>
          <p:cNvSpPr/>
          <p:nvPr>
            <p:ph idx="2" type="sldImg"/>
          </p:nvPr>
        </p:nvSpPr>
        <p:spPr>
          <a:xfrm>
            <a:off x="381186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05" name="Google Shape;17005;gc5fba60758_0_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09" name="Shape 17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0" name="Google Shape;17010;gc442f462d7_0_110:notes"/>
          <p:cNvSpPr/>
          <p:nvPr>
            <p:ph idx="2" type="sldImg"/>
          </p:nvPr>
        </p:nvSpPr>
        <p:spPr>
          <a:xfrm>
            <a:off x="381186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11" name="Google Shape;17011;gc442f462d7_0_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15" name="Shape 17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6" name="Google Shape;17016;gc442f462d7_0_115:notes"/>
          <p:cNvSpPr/>
          <p:nvPr>
            <p:ph idx="2" type="sldImg"/>
          </p:nvPr>
        </p:nvSpPr>
        <p:spPr>
          <a:xfrm>
            <a:off x="381186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17" name="Google Shape;17017;gc442f462d7_0_1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21" name="Shape 17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2" name="Google Shape;17022;gc442f462d7_0_176:notes"/>
          <p:cNvSpPr/>
          <p:nvPr>
            <p:ph idx="2" type="sldImg"/>
          </p:nvPr>
        </p:nvSpPr>
        <p:spPr>
          <a:xfrm>
            <a:off x="381186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23" name="Google Shape;17023;gc442f462d7_0_1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34" name="Shape 17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35" name="Google Shape;17035;gc442f462d7_0_244:notes"/>
          <p:cNvSpPr/>
          <p:nvPr>
            <p:ph idx="2" type="sldImg"/>
          </p:nvPr>
        </p:nvSpPr>
        <p:spPr>
          <a:xfrm>
            <a:off x="381186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36" name="Google Shape;17036;gc442f462d7_0_2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41" name="Shape 17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2" name="Google Shape;17042;gc442f462d7_0_307:notes"/>
          <p:cNvSpPr/>
          <p:nvPr>
            <p:ph idx="2" type="sldImg"/>
          </p:nvPr>
        </p:nvSpPr>
        <p:spPr>
          <a:xfrm>
            <a:off x="381186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43" name="Google Shape;17043;gc442f462d7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48" name="Shape 17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9" name="Google Shape;17049;gc442f462d7_0_31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50" name="Google Shape;17050;gc442f462d7_0_3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74" name="Shape 17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75" name="Google Shape;17075;gc442f462d7_0_340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76" name="Google Shape;17076;gc442f462d7_0_3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102" name="Shape 17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3" name="Google Shape;17103;gc442f462d7_0_367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04" name="Google Shape;17104;gc442f462d7_0_3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136" name="Shape 17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37" name="Google Shape;17137;gc442f462d7_0_400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38" name="Google Shape;17138;gc442f462d7_0_4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168" name="Shape 17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69" name="Google Shape;17169;gc442f462d7_0_431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70" name="Google Shape;17170;gc442f462d7_0_4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203" name="Shape 17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4" name="Google Shape;17204;gc442f462d7_0_46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05" name="Google Shape;17205;gc442f462d7_0_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244" name="Shape 17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45" name="Google Shape;17245;gc442f462d7_0_50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46" name="Google Shape;17246;gc442f462d7_0_5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279" name="Shape 17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80" name="Google Shape;17280;gc5fba60758_0_2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1" name="Google Shape;17281;gc5fba60758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315" name="Shape 17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16" name="Google Shape;17316;gc442f462d7_0_59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17" name="Google Shape;17317;gc442f462d7_0_5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323" name="Shape 17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24" name="Google Shape;17324;gc442f462d7_0_602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25" name="Google Shape;17325;gc442f462d7_0_6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357" name="Shape 17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58" name="Google Shape;17358;gc442f462d7_0_635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59" name="Google Shape;17359;gc442f462d7_0_6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391" name="Shape 17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2" name="Google Shape;17392;gc442f462d7_0_668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93" name="Google Shape;17393;gc442f462d7_0_6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25" name="Shape 17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26" name="Google Shape;17426;gc442f462d7_0_701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27" name="Google Shape;17427;gc442f462d7_0_7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59" name="Shape 17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60" name="Google Shape;17460;gc442f462d7_0_790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61" name="Google Shape;17461;gc442f462d7_0_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91" name="Shape 17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92" name="Google Shape;17492;gc442f462d7_0_21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93" name="Google Shape;17493;gc442f462d7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98" name="Shape 17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99" name="Google Shape;17499;gc442f462d7_0_27:notes"/>
          <p:cNvSpPr/>
          <p:nvPr>
            <p:ph idx="2" type="sldImg"/>
          </p:nvPr>
        </p:nvSpPr>
        <p:spPr>
          <a:xfrm>
            <a:off x="381178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00" name="Google Shape;17500;gc442f462d7_0_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26" name="Shape 17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27" name="Google Shape;17527;gc74b6c82fc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28" name="Google Shape;17528;gc74b6c82fc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32" name="Shape 17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3" name="Google Shape;17533;gc74b6c82fc_0_2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34" name="Google Shape;17534;gc74b6c82fc_0_2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38" name="Shape 17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9" name="Google Shape;17539;gc74b6c82fc_0_2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40" name="Google Shape;17540;gc74b6c82fc_0_2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45" name="Shape 17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46" name="Google Shape;17546;gc74b6c82fc_0_5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47" name="Google Shape;17547;gc74b6c82fc_0_5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52" name="Shape 17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53" name="Google Shape;17553;gc74b6c82fc_0_5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54" name="Google Shape;17554;gc74b6c82fc_0_5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59" name="Shape 17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60" name="Google Shape;17560;gc74b6c82fc_0_5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61" name="Google Shape;17561;gc74b6c82fc_0_5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67" name="Shape 17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68" name="Google Shape;17568;gc74b6c82fc_0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69" name="Google Shape;17569;gc74b6c82fc_0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75" name="Shape 17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76" name="Google Shape;17576;gc74b6c82fc_0_5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77" name="Google Shape;17577;gc74b6c82fc_0_5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83" name="Shape 17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4" name="Google Shape;17584;gc74b6c82fc_0_5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85" name="Google Shape;17585;gc74b6c82fc_0_5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91" name="Shape 17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92" name="Google Shape;17592;gc74b6c82fc_0_2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93" name="Google Shape;17593;gc74b6c82fc_0_2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97" name="Shape 17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98" name="Google Shape;17598;gc74b6c82fc_0_3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99" name="Google Shape;17599;gc74b6c82fc_0_3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03" name="Shape 17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04" name="Google Shape;17604;gc74b6c82fc_0_3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05" name="Google Shape;17605;gc74b6c82fc_0_3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09" name="Shape 17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0" name="Google Shape;17610;gc74b6c82fc_0_3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11" name="Google Shape;17611;gc74b6c82fc_0_3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15" name="Shape 17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6" name="Google Shape;17616;gc74b6c82fc_0_3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17" name="Google Shape;17617;gc74b6c82fc_0_3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24" name="Shape 17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25" name="Google Shape;17625;gc74b6c82fc_0_3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26" name="Google Shape;17626;gc74b6c82fc_0_3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35" name="Shape 17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36" name="Google Shape;17636;gc74b6c82fc_0_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37" name="Google Shape;17637;gc74b6c82fc_0_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44" name="Shape 17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45" name="Google Shape;17645;gc74b6c82fc_0_6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46" name="Google Shape;17646;gc74b6c82fc_0_6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53" name="Shape 17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54" name="Google Shape;17654;gc74b6c82fc_0_6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55" name="Google Shape;17655;gc74b6c82fc_0_6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62" name="Shape 17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63" name="Google Shape;17663;gc74b6c82fc_0_3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64" name="Google Shape;17664;gc74b6c82fc_0_3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71" name="Shape 17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72" name="Google Shape;17672;gc74b6c82fc_0_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73" name="Google Shape;17673;gc74b6c82fc_0_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80" name="Shape 17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81" name="Google Shape;17681;gc74b6c82fc_0_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82" name="Google Shape;17682;gc74b6c82fc_0_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86" name="Shape 17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87" name="Google Shape;17687;gc74b6c82fc_0_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88" name="Google Shape;17688;gc74b6c82fc_0_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92" name="Shape 17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93" name="Google Shape;17693;gc74b6c82fc_0_3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94" name="Google Shape;17694;gc74b6c82fc_0_3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98" name="Shape 17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99" name="Google Shape;17699;gc74b6c82fc_0_3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00" name="Google Shape;17700;gc74b6c82fc_0_3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04" name="Shape 17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5" name="Google Shape;17705;gc74b6c82fc_0_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06" name="Google Shape;17706;gc74b6c82fc_0_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10" name="Shape 17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1" name="Google Shape;17711;gc74b6c82fc_0_3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12" name="Google Shape;17712;gc74b6c82fc_0_3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16" name="Shape 17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7" name="Google Shape;17717;gc74b6c82fc_0_3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18" name="Google Shape;17718;gc74b6c82fc_0_3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23" name="Shape 17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24" name="Google Shape;17724;gc74b6c82fc_0_4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25" name="Google Shape;17725;gc74b6c82fc_0_4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32" name="Shape 17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33" name="Google Shape;17733;gc74b6c82fc_0_4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34" name="Google Shape;17734;gc74b6c82fc_0_4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41" name="Shape 17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42" name="Google Shape;17742;gc74b6c82fc_0_4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43" name="Google Shape;17743;gc74b6c82fc_0_4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60" name="Shape 17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61" name="Google Shape;17761;gc74b6c82fc_0_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62" name="Google Shape;17762;gc74b6c82fc_0_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79" name="Shape 17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80" name="Google Shape;17780;gc74b6c82fc_0_4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81" name="Google Shape;17781;gc74b6c82fc_0_4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98" name="Shape 17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99" name="Google Shape;17799;gc74b6c82fc_0_4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00" name="Google Shape;17800;gc74b6c82fc_0_4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17" name="Shape 17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8" name="Google Shape;17818;gc74b6c82fc_0_4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19" name="Google Shape;17819;gc74b6c82fc_0_4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24" name="Shape 17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25" name="Google Shape;17825;gc74b6c82fc_0_6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26" name="Google Shape;17826;gc74b6c82fc_0_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31" name="Shape 17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32" name="Google Shape;17832;gc74b6c82fc_0_4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33" name="Google Shape;17833;gc74b6c82fc_0_4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38" name="Shape 17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39" name="Google Shape;17839;gc74b6c82fc_0_5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40" name="Google Shape;17840;gc74b6c82fc_0_5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45" name="Shape 17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46" name="Google Shape;17846;gc74b6c82fc_0_6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47" name="Google Shape;17847;gc74b6c82fc_0_6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50" name="Shape 17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51" name="Google Shape;17851;gc74b6c82fc_0_5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52" name="Google Shape;17852;gc74b6c82fc_0_5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" name="Google Shape;12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" name="Google Shape;15;p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" name="Google Shape;18;p4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" name="Google Shape;22;p5"/>
          <p:cNvSpPr txBox="1"/>
          <p:nvPr>
            <p:ph idx="1" type="body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3" name="Google Shape;23;p5"/>
          <p:cNvSpPr txBox="1"/>
          <p:nvPr>
            <p:ph idx="2" type="body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" name="Google Shape;24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" name="Google Shape;30;p7"/>
          <p:cNvSpPr txBox="1"/>
          <p:nvPr>
            <p:ph idx="1" type="body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" name="Google Shape;31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/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4" name="Google Shape;34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8" name="Google Shape;38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9" name="Google Shape;39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0" name="Google Shape;40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/>
          <p:nvPr>
            <p:ph idx="1" type="body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43" name="Google Shape;43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7" name="Google Shape;47;p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4"/>
          <p:cNvSpPr/>
          <p:nvPr/>
        </p:nvSpPr>
        <p:spPr>
          <a:xfrm>
            <a:off x="2744013" y="756700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56" name="Google Shape;56;p14"/>
          <p:cNvSpPr/>
          <p:nvPr/>
        </p:nvSpPr>
        <p:spPr>
          <a:xfrm rot="10800000">
            <a:off x="5318350" y="32667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57" name="Google Shape;57;p14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58" name="Google Shape;58;p14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59" name="Google Shape;59;p1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5"/>
          <p:cNvSpPr/>
          <p:nvPr/>
        </p:nvSpPr>
        <p:spPr>
          <a:xfrm flipH="1">
            <a:off x="7595938" y="4602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62" name="Google Shape;62;p15"/>
          <p:cNvSpPr/>
          <p:nvPr/>
        </p:nvSpPr>
        <p:spPr>
          <a:xfrm flipH="1" rot="10800000">
            <a:off x="466425" y="35583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63" name="Google Shape;63;p15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64" name="Google Shape;64;p1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16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1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68" name="Google Shape;68;p16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9" name="Google Shape;69;p1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72" name="Google Shape;72;p17"/>
          <p:cNvSpPr txBox="1"/>
          <p:nvPr>
            <p:ph idx="1" type="body"/>
          </p:nvPr>
        </p:nvSpPr>
        <p:spPr>
          <a:xfrm>
            <a:off x="311700" y="1225225"/>
            <a:ext cx="39999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73" name="Google Shape;73;p17"/>
          <p:cNvSpPr txBox="1"/>
          <p:nvPr>
            <p:ph idx="2" type="body"/>
          </p:nvPr>
        </p:nvSpPr>
        <p:spPr>
          <a:xfrm>
            <a:off x="4832400" y="1225225"/>
            <a:ext cx="39999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74" name="Google Shape;74;p1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77" name="Google Shape;77;p1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9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0" name="Google Shape;80;p19"/>
          <p:cNvSpPr txBox="1"/>
          <p:nvPr>
            <p:ph idx="1" type="body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81" name="Google Shape;81;p1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20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20"/>
          <p:cNvSpPr txBox="1"/>
          <p:nvPr>
            <p:ph type="title"/>
          </p:nvPr>
        </p:nvSpPr>
        <p:spPr>
          <a:xfrm>
            <a:off x="490250" y="450150"/>
            <a:ext cx="5878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85" name="Google Shape;85;p2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21"/>
          <p:cNvSpPr/>
          <p:nvPr/>
        </p:nvSpPr>
        <p:spPr>
          <a:xfrm>
            <a:off x="4572000" y="-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" name="Google Shape;88;p21"/>
          <p:cNvCxnSpPr/>
          <p:nvPr/>
        </p:nvCxnSpPr>
        <p:spPr>
          <a:xfrm>
            <a:off x="5029675" y="4495500"/>
            <a:ext cx="4683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89" name="Google Shape;89;p21"/>
          <p:cNvSpPr txBox="1"/>
          <p:nvPr>
            <p:ph type="title"/>
          </p:nvPr>
        </p:nvSpPr>
        <p:spPr>
          <a:xfrm>
            <a:off x="265500" y="929275"/>
            <a:ext cx="4045200" cy="178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90" name="Google Shape;90;p21"/>
          <p:cNvSpPr txBox="1"/>
          <p:nvPr>
            <p:ph idx="1" type="subTitle"/>
          </p:nvPr>
        </p:nvSpPr>
        <p:spPr>
          <a:xfrm>
            <a:off x="265500" y="2769001"/>
            <a:ext cx="4045200" cy="157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91" name="Google Shape;91;p21"/>
          <p:cNvSpPr txBox="1"/>
          <p:nvPr>
            <p:ph idx="2" type="body"/>
          </p:nvPr>
        </p:nvSpPr>
        <p:spPr>
          <a:xfrm>
            <a:off x="4939500" y="724200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Char char="●"/>
              <a:defRPr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2" name="Google Shape;92;p2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p22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1pPr>
          </a:lstStyle>
          <a:p/>
        </p:txBody>
      </p:sp>
      <p:sp>
        <p:nvSpPr>
          <p:cNvPr id="95" name="Google Shape;95;p2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23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23"/>
          <p:cNvSpPr txBox="1"/>
          <p:nvPr>
            <p:ph hasCustomPrompt="1" type="title"/>
          </p:nvPr>
        </p:nvSpPr>
        <p:spPr>
          <a:xfrm>
            <a:off x="311700" y="957125"/>
            <a:ext cx="8520600" cy="212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" name="Google Shape;99;p23"/>
          <p:cNvSpPr txBox="1"/>
          <p:nvPr>
            <p:ph idx="1" type="body"/>
          </p:nvPr>
        </p:nvSpPr>
        <p:spPr>
          <a:xfrm>
            <a:off x="311700" y="3162000"/>
            <a:ext cx="8520600" cy="10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0" name="Google Shape;100;p2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2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BJECT" type="obj">
  <p:cSld name="OBJECT"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25"/>
          <p:cNvSpPr txBox="1"/>
          <p:nvPr>
            <p:ph type="title"/>
          </p:nvPr>
        </p:nvSpPr>
        <p:spPr>
          <a:xfrm>
            <a:off x="457200" y="205978"/>
            <a:ext cx="82296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L="45720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L="91440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L="137160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L="182880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05" name="Google Shape;105;p25"/>
          <p:cNvSpPr txBox="1"/>
          <p:nvPr>
            <p:ph idx="1" type="body"/>
          </p:nvPr>
        </p:nvSpPr>
        <p:spPr>
          <a:xfrm>
            <a:off x="457200" y="1200150"/>
            <a:ext cx="8229600" cy="339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Char char="●"/>
              <a:defRPr sz="32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317500" lvl="1" marL="914400" rtl="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Char char="●"/>
              <a:defRPr sz="2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317500" lvl="2" marL="1371600" rtl="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Char char="●"/>
              <a:defRPr sz="2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317500" lvl="3" marL="182880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Char char="●"/>
              <a:defRPr sz="20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317500" lvl="4" marL="228600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Char char="●"/>
              <a:defRPr sz="20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317500" lvl="5" marL="274320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Char char="●"/>
              <a:defRPr sz="20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317500" lvl="6" marL="320040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Char char="●"/>
              <a:defRPr sz="20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317500" lvl="7" marL="365760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Char char="●"/>
              <a:defRPr sz="20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317500" lvl="8" marL="4114800" rtl="0" algn="l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alibri"/>
              <a:buChar char="●"/>
              <a:defRPr sz="20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27"/>
          <p:cNvSpPr/>
          <p:nvPr/>
        </p:nvSpPr>
        <p:spPr>
          <a:xfrm>
            <a:off x="2744013" y="756700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112" name="Google Shape;112;p27"/>
          <p:cNvSpPr/>
          <p:nvPr/>
        </p:nvSpPr>
        <p:spPr>
          <a:xfrm rot="10800000">
            <a:off x="5318350" y="32667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113" name="Google Shape;113;p27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14" name="Google Shape;114;p27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115" name="Google Shape;115;p2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28"/>
          <p:cNvSpPr/>
          <p:nvPr/>
        </p:nvSpPr>
        <p:spPr>
          <a:xfrm flipH="1">
            <a:off x="7595938" y="4602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118" name="Google Shape;118;p28"/>
          <p:cNvSpPr/>
          <p:nvPr/>
        </p:nvSpPr>
        <p:spPr>
          <a:xfrm flipH="1" rot="10800000">
            <a:off x="466425" y="35583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119" name="Google Shape;119;p28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20" name="Google Shape;120;p2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29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2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24" name="Google Shape;124;p29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25" name="Google Shape;125;p2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3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28" name="Google Shape;128;p30"/>
          <p:cNvSpPr txBox="1"/>
          <p:nvPr>
            <p:ph idx="1" type="body"/>
          </p:nvPr>
        </p:nvSpPr>
        <p:spPr>
          <a:xfrm>
            <a:off x="311700" y="1225225"/>
            <a:ext cx="39999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29" name="Google Shape;129;p30"/>
          <p:cNvSpPr txBox="1"/>
          <p:nvPr>
            <p:ph idx="2" type="body"/>
          </p:nvPr>
        </p:nvSpPr>
        <p:spPr>
          <a:xfrm>
            <a:off x="4832400" y="1225225"/>
            <a:ext cx="39999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30" name="Google Shape;130;p3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3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33" name="Google Shape;133;p3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32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36" name="Google Shape;136;p32"/>
          <p:cNvSpPr txBox="1"/>
          <p:nvPr>
            <p:ph idx="1" type="body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37" name="Google Shape;137;p3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33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33"/>
          <p:cNvSpPr txBox="1"/>
          <p:nvPr>
            <p:ph type="title"/>
          </p:nvPr>
        </p:nvSpPr>
        <p:spPr>
          <a:xfrm>
            <a:off x="490250" y="450150"/>
            <a:ext cx="5878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41" name="Google Shape;141;p3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34"/>
          <p:cNvSpPr/>
          <p:nvPr/>
        </p:nvSpPr>
        <p:spPr>
          <a:xfrm>
            <a:off x="4572000" y="-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" name="Google Shape;144;p34"/>
          <p:cNvCxnSpPr/>
          <p:nvPr/>
        </p:nvCxnSpPr>
        <p:spPr>
          <a:xfrm>
            <a:off x="5029675" y="4495500"/>
            <a:ext cx="4683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45" name="Google Shape;145;p34"/>
          <p:cNvSpPr txBox="1"/>
          <p:nvPr>
            <p:ph type="title"/>
          </p:nvPr>
        </p:nvSpPr>
        <p:spPr>
          <a:xfrm>
            <a:off x="265500" y="929275"/>
            <a:ext cx="4045200" cy="178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146" name="Google Shape;146;p34"/>
          <p:cNvSpPr txBox="1"/>
          <p:nvPr>
            <p:ph idx="1" type="subTitle"/>
          </p:nvPr>
        </p:nvSpPr>
        <p:spPr>
          <a:xfrm>
            <a:off x="265500" y="2769001"/>
            <a:ext cx="4045200" cy="157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147" name="Google Shape;147;p34"/>
          <p:cNvSpPr txBox="1"/>
          <p:nvPr>
            <p:ph idx="2" type="body"/>
          </p:nvPr>
        </p:nvSpPr>
        <p:spPr>
          <a:xfrm>
            <a:off x="4939500" y="724200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Char char="●"/>
              <a:defRPr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8" name="Google Shape;148;p3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35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1pPr>
          </a:lstStyle>
          <a:p/>
        </p:txBody>
      </p:sp>
      <p:sp>
        <p:nvSpPr>
          <p:cNvPr id="151" name="Google Shape;151;p3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36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36"/>
          <p:cNvSpPr txBox="1"/>
          <p:nvPr>
            <p:ph hasCustomPrompt="1" type="title"/>
          </p:nvPr>
        </p:nvSpPr>
        <p:spPr>
          <a:xfrm>
            <a:off x="311700" y="957125"/>
            <a:ext cx="8520600" cy="212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5" name="Google Shape;155;p36"/>
          <p:cNvSpPr txBox="1"/>
          <p:nvPr>
            <p:ph idx="1" type="body"/>
          </p:nvPr>
        </p:nvSpPr>
        <p:spPr>
          <a:xfrm>
            <a:off x="311700" y="3162000"/>
            <a:ext cx="8520600" cy="10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56" name="Google Shape;156;p3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3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39"/>
          <p:cNvSpPr/>
          <p:nvPr/>
        </p:nvSpPr>
        <p:spPr>
          <a:xfrm>
            <a:off x="2744013" y="756700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165" name="Google Shape;165;p39"/>
          <p:cNvSpPr/>
          <p:nvPr/>
        </p:nvSpPr>
        <p:spPr>
          <a:xfrm rot="10800000">
            <a:off x="5318350" y="32667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166" name="Google Shape;166;p39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67" name="Google Shape;167;p39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Economica"/>
              <a:buNone/>
              <a:defRPr sz="2100"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168" name="Google Shape;168;p3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40"/>
          <p:cNvSpPr/>
          <p:nvPr/>
        </p:nvSpPr>
        <p:spPr>
          <a:xfrm flipH="1">
            <a:off x="7595938" y="4602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171" name="Google Shape;171;p40"/>
          <p:cNvSpPr/>
          <p:nvPr/>
        </p:nvSpPr>
        <p:spPr>
          <a:xfrm flipH="1" rot="10800000">
            <a:off x="466425" y="3558325"/>
            <a:ext cx="1081625" cy="1124950"/>
          </a:xfrm>
          <a:custGeom>
            <a:rect b="b" l="l" r="r" t="t"/>
            <a:pathLst>
              <a:path extrusionOk="0" h="44998" w="43265">
                <a:moveTo>
                  <a:pt x="0" y="44998"/>
                </a:moveTo>
                <a:lnTo>
                  <a:pt x="0" y="0"/>
                </a:lnTo>
                <a:lnTo>
                  <a:pt x="43265" y="0"/>
                </a:lnTo>
              </a:path>
            </a:pathLst>
          </a:custGeom>
          <a:noFill/>
          <a:ln cap="flat" cmpd="sng" w="28575">
            <a:solidFill>
              <a:schemeClr val="lt2"/>
            </a:solidFill>
            <a:prstDash val="solid"/>
            <a:miter lim="8000"/>
            <a:headEnd len="sm" w="sm" type="none"/>
            <a:tailEnd len="sm" w="sm" type="none"/>
          </a:ln>
        </p:spPr>
      </p:sp>
      <p:sp>
        <p:nvSpPr>
          <p:cNvPr id="172" name="Google Shape;172;p40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73" name="Google Shape;173;p4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41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4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77" name="Google Shape;177;p41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78" name="Google Shape;178;p4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4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81" name="Google Shape;181;p42"/>
          <p:cNvSpPr txBox="1"/>
          <p:nvPr>
            <p:ph idx="1" type="body"/>
          </p:nvPr>
        </p:nvSpPr>
        <p:spPr>
          <a:xfrm>
            <a:off x="311700" y="1225225"/>
            <a:ext cx="39999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82" name="Google Shape;182;p42"/>
          <p:cNvSpPr txBox="1"/>
          <p:nvPr>
            <p:ph idx="2" type="body"/>
          </p:nvPr>
        </p:nvSpPr>
        <p:spPr>
          <a:xfrm>
            <a:off x="4832400" y="1225225"/>
            <a:ext cx="39999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83" name="Google Shape;183;p4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4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9pPr>
          </a:lstStyle>
          <a:p/>
        </p:txBody>
      </p:sp>
      <p:sp>
        <p:nvSpPr>
          <p:cNvPr id="186" name="Google Shape;186;p4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44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89" name="Google Shape;189;p44"/>
          <p:cNvSpPr txBox="1"/>
          <p:nvPr>
            <p:ph idx="1" type="body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90" name="Google Shape;190;p4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45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45"/>
          <p:cNvSpPr txBox="1"/>
          <p:nvPr>
            <p:ph type="title"/>
          </p:nvPr>
        </p:nvSpPr>
        <p:spPr>
          <a:xfrm>
            <a:off x="490250" y="450150"/>
            <a:ext cx="5878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94" name="Google Shape;194;p4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46"/>
          <p:cNvSpPr/>
          <p:nvPr/>
        </p:nvSpPr>
        <p:spPr>
          <a:xfrm>
            <a:off x="4572000" y="-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7" name="Google Shape;197;p46"/>
          <p:cNvCxnSpPr/>
          <p:nvPr/>
        </p:nvCxnSpPr>
        <p:spPr>
          <a:xfrm>
            <a:off x="5029675" y="4495500"/>
            <a:ext cx="4683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98" name="Google Shape;198;p46"/>
          <p:cNvSpPr txBox="1"/>
          <p:nvPr>
            <p:ph type="title"/>
          </p:nvPr>
        </p:nvSpPr>
        <p:spPr>
          <a:xfrm>
            <a:off x="265500" y="929275"/>
            <a:ext cx="4045200" cy="178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199" name="Google Shape;199;p46"/>
          <p:cNvSpPr txBox="1"/>
          <p:nvPr>
            <p:ph idx="1" type="subTitle"/>
          </p:nvPr>
        </p:nvSpPr>
        <p:spPr>
          <a:xfrm>
            <a:off x="265500" y="2769001"/>
            <a:ext cx="4045200" cy="157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200" name="Google Shape;200;p46"/>
          <p:cNvSpPr txBox="1"/>
          <p:nvPr>
            <p:ph idx="2" type="body"/>
          </p:nvPr>
        </p:nvSpPr>
        <p:spPr>
          <a:xfrm>
            <a:off x="4939500" y="724200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Char char="●"/>
              <a:defRPr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01" name="Google Shape;201;p4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47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None/>
              <a:defRPr sz="2400">
                <a:latin typeface="Economica"/>
                <a:ea typeface="Economica"/>
                <a:cs typeface="Economica"/>
                <a:sym typeface="Economica"/>
              </a:defRPr>
            </a:lvl1pPr>
          </a:lstStyle>
          <a:p/>
        </p:txBody>
      </p:sp>
      <p:sp>
        <p:nvSpPr>
          <p:cNvPr id="204" name="Google Shape;204;p4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48"/>
          <p:cNvSpPr/>
          <p:nvPr/>
        </p:nvSpPr>
        <p:spPr>
          <a:xfrm>
            <a:off x="0" y="5045700"/>
            <a:ext cx="9144000" cy="9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48"/>
          <p:cNvSpPr txBox="1"/>
          <p:nvPr>
            <p:ph hasCustomPrompt="1" type="title"/>
          </p:nvPr>
        </p:nvSpPr>
        <p:spPr>
          <a:xfrm>
            <a:off x="311700" y="957125"/>
            <a:ext cx="8520600" cy="212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0"/>
              <a:buNone/>
              <a:defRPr sz="16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8" name="Google Shape;208;p48"/>
          <p:cNvSpPr txBox="1"/>
          <p:nvPr>
            <p:ph idx="1" type="body"/>
          </p:nvPr>
        </p:nvSpPr>
        <p:spPr>
          <a:xfrm>
            <a:off x="311700" y="3162000"/>
            <a:ext cx="8520600" cy="10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09" name="Google Shape;209;p4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4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2" Type="http://schemas.openxmlformats.org/officeDocument/2006/relationships/theme" Target="../theme/theme2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21.xml"/><Relationship Id="rId13" Type="http://schemas.openxmlformats.org/officeDocument/2006/relationships/theme" Target="../theme/theme3.xml"/><Relationship Id="rId1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/Relationships>
</file>

<file path=ppt/slideMasters/_rels/slideMaster3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34.xml"/><Relationship Id="rId10" Type="http://schemas.openxmlformats.org/officeDocument/2006/relationships/slideLayout" Target="../slideLayouts/slideLayout33.xml"/><Relationship Id="rId12" Type="http://schemas.openxmlformats.org/officeDocument/2006/relationships/theme" Target="../theme/theme1.xml"/><Relationship Id="rId1" Type="http://schemas.openxmlformats.org/officeDocument/2006/relationships/slideLayout" Target="../slideLayouts/slideLayout24.xml"/><Relationship Id="rId2" Type="http://schemas.openxmlformats.org/officeDocument/2006/relationships/slideLayout" Target="../slideLayouts/slideLayout25.xml"/><Relationship Id="rId3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Relationship Id="rId5" Type="http://schemas.openxmlformats.org/officeDocument/2006/relationships/slideLayout" Target="../slideLayouts/slideLayout28.xml"/><Relationship Id="rId6" Type="http://schemas.openxmlformats.org/officeDocument/2006/relationships/slideLayout" Target="../slideLayouts/slideLayout29.xml"/><Relationship Id="rId7" Type="http://schemas.openxmlformats.org/officeDocument/2006/relationships/slideLayout" Target="../slideLayouts/slideLayout30.xml"/><Relationship Id="rId8" Type="http://schemas.openxmlformats.org/officeDocument/2006/relationships/slideLayout" Target="../slideLayouts/slideLayout31.xml"/></Relationships>
</file>

<file path=ppt/slideMasters/_rels/slideMaster4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44.xml"/><Relationship Id="rId12" Type="http://schemas.openxmlformats.org/officeDocument/2006/relationships/theme" Target="../theme/theme5.xml"/><Relationship Id="rId1" Type="http://schemas.openxmlformats.org/officeDocument/2006/relationships/slideLayout" Target="../slideLayouts/slideLayout35.xml"/><Relationship Id="rId2" Type="http://schemas.openxmlformats.org/officeDocument/2006/relationships/slideLayout" Target="../slideLayouts/slideLayout36.xml"/><Relationship Id="rId3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5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0.xml"/><Relationship Id="rId7" Type="http://schemas.openxmlformats.org/officeDocument/2006/relationships/slideLayout" Target="../slideLayouts/slideLayout41.xml"/><Relationship Id="rId8" Type="http://schemas.openxmlformats.org/officeDocument/2006/relationships/slideLayout" Target="../slideLayouts/slideLayout4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luxe">
    <p:bg>
      <p:bgPr>
        <a:solidFill>
          <a:schemeClr val="lt1"/>
        </a:solid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52" name="Google Shape;52;p13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  <a:defRPr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53" name="Google Shape;53;p1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  <p:sldLayoutId id="2147483670" r:id="rId1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luxe">
    <p:bg>
      <p:bgPr>
        <a:solidFill>
          <a:schemeClr val="lt1"/>
        </a:solidFill>
      </p:bgPr>
    </p:bg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2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108" name="Google Shape;108;p26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  <a:defRPr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109" name="Google Shape;109;p2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  <p:sldLayoutId id="2147483672" r:id="rId2"/>
    <p:sldLayoutId id="2147483673" r:id="rId3"/>
    <p:sldLayoutId id="2147483674" r:id="rId4"/>
    <p:sldLayoutId id="2147483675" r:id="rId5"/>
    <p:sldLayoutId id="2147483676" r:id="rId6"/>
    <p:sldLayoutId id="2147483677" r:id="rId7"/>
    <p:sldLayoutId id="2147483678" r:id="rId8"/>
    <p:sldLayoutId id="2147483679" r:id="rId9"/>
    <p:sldLayoutId id="2147483680" r:id="rId10"/>
    <p:sldLayoutId id="2147483681" r:id="rId11"/>
  </p:sldLayoutIdLst>
  <mc:AlternateContent>
    <mc:Choice Requires="p14">
      <p:transition spd="slow" p14:dur="1000">
        <p:fade/>
      </p:transition>
    </mc:Choice>
    <mc:Fallback>
      <p:transition spd="slow">
        <p:fade/>
      </p:transition>
    </mc:Fallback>
  </mc:AlternateConten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luxe">
    <p:bg>
      <p:bgPr>
        <a:solidFill>
          <a:schemeClr val="lt1"/>
        </a:solidFill>
      </p:bgPr>
    </p:bg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3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Economica"/>
              <a:buNone/>
              <a:defRPr sz="4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161" name="Google Shape;161;p38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  <a:defRPr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162" name="Google Shape;162;p3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1pPr>
            <a:lvl2pPr lvl="1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2pPr>
            <a:lvl3pPr lvl="2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3pPr>
            <a:lvl4pPr lvl="3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4pPr>
            <a:lvl5pPr lvl="4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5pPr>
            <a:lvl6pPr lvl="5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6pPr>
            <a:lvl7pPr lvl="6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7pPr>
            <a:lvl8pPr lvl="7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8pPr>
            <a:lvl9pPr lvl="8" rtl="0" algn="r">
              <a:buNone/>
              <a:defRPr sz="10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2" r:id="rId1"/>
    <p:sldLayoutId id="2147483683" r:id="rId2"/>
    <p:sldLayoutId id="2147483684" r:id="rId3"/>
    <p:sldLayoutId id="2147483685" r:id="rId4"/>
    <p:sldLayoutId id="2147483686" r:id="rId5"/>
    <p:sldLayoutId id="2147483687" r:id="rId6"/>
    <p:sldLayoutId id="2147483688" r:id="rId7"/>
    <p:sldLayoutId id="2147483689" r:id="rId8"/>
    <p:sldLayoutId id="2147483690" r:id="rId9"/>
    <p:sldLayoutId id="2147483691" r:id="rId10"/>
    <p:sldLayoutId id="2147483692" r:id="rId1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5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5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5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7.jpg"/><Relationship Id="rId4" Type="http://schemas.openxmlformats.org/officeDocument/2006/relationships/image" Target="../media/image2.png"/><Relationship Id="rId5" Type="http://schemas.openxmlformats.org/officeDocument/2006/relationships/image" Target="../media/image12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2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16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16.pn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27.png"/><Relationship Id="rId4" Type="http://schemas.openxmlformats.org/officeDocument/2006/relationships/image" Target="../media/image11.jpg"/><Relationship Id="rId5" Type="http://schemas.openxmlformats.org/officeDocument/2006/relationships/image" Target="../media/image14.png"/><Relationship Id="rId6" Type="http://schemas.openxmlformats.org/officeDocument/2006/relationships/image" Target="../media/image5.jpg"/><Relationship Id="rId7" Type="http://schemas.openxmlformats.org/officeDocument/2006/relationships/image" Target="../media/image4.jpg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1.jpg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.xml"/></Relationships>
</file>

<file path=ppt/slides/_rels/slide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.xml"/></Relationships>
</file>

<file path=ppt/slides/_rels/slide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.xml"/></Relationships>
</file>

<file path=ppt/slides/_rels/slide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.xml"/></Relationships>
</file>

<file path=ppt/slides/_rels/slide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.xml"/></Relationships>
</file>

<file path=ppt/slides/_rels/slide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.xml"/></Relationships>
</file>

<file path=ppt/slides/_rels/slide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.xml"/></Relationships>
</file>

<file path=ppt/slides/_rels/slide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.xml"/></Relationships>
</file>

<file path=ppt/slides/_rels/slide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.xml"/></Relationships>
</file>

<file path=ppt/slides/_rels/slide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.xml"/></Relationships>
</file>

<file path=ppt/slides/_rels/slide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.xml"/></Relationships>
</file>

<file path=ppt/slides/_rels/slide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.xml"/></Relationships>
</file>

<file path=ppt/slides/_rels/slide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3.xml"/></Relationships>
</file>

<file path=ppt/slides/_rels/slide6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.xml"/></Relationships>
</file>

<file path=ppt/slides/_rels/slide6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.xml"/></Relationships>
</file>

<file path=ppt/slides/_rels/slide6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.xml"/></Relationships>
</file>

<file path=ppt/slides/_rels/slide6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7.xml"/></Relationships>
</file>

<file path=ppt/slides/_rels/slide6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8.xml"/></Relationships>
</file>

<file path=ppt/slides/_rels/slide6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9.xml"/></Relationships>
</file>

<file path=ppt/slides/_rels/slide7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0.xml"/></Relationships>
</file>

<file path=ppt/slides/_rels/slide7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1.xml"/></Relationships>
</file>

<file path=ppt/slides/_rels/slide7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2.xml"/></Relationships>
</file>

<file path=ppt/slides/_rels/slide7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3.xml"/><Relationship Id="rId3" Type="http://schemas.openxmlformats.org/officeDocument/2006/relationships/image" Target="../media/image13.gif"/></Relationships>
</file>

<file path=ppt/slides/_rels/slide7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4.xml"/><Relationship Id="rId3" Type="http://schemas.openxmlformats.org/officeDocument/2006/relationships/image" Target="../media/image10.gif"/></Relationships>
</file>

<file path=ppt/slides/_rels/slide7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5.xml"/><Relationship Id="rId3" Type="http://schemas.openxmlformats.org/officeDocument/2006/relationships/image" Target="../media/image6.gif"/></Relationships>
</file>

<file path=ppt/slides/_rels/slide7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6.xml"/><Relationship Id="rId3" Type="http://schemas.openxmlformats.org/officeDocument/2006/relationships/image" Target="../media/image8.gif"/></Relationships>
</file>

<file path=ppt/slides/_rels/slide7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7.xml"/><Relationship Id="rId3" Type="http://schemas.openxmlformats.org/officeDocument/2006/relationships/image" Target="../media/image23.gif"/></Relationships>
</file>

<file path=ppt/slides/_rels/slide7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8.xml"/></Relationships>
</file>

<file path=ppt/slides/_rels/slide7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9.xml"/></Relationships>
</file>

<file path=ppt/slides/_rels/slide8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0.xml"/><Relationship Id="rId3" Type="http://schemas.openxmlformats.org/officeDocument/2006/relationships/image" Target="../media/image18.gif"/></Relationships>
</file>

<file path=ppt/slides/_rels/slide8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1.xml"/><Relationship Id="rId3" Type="http://schemas.openxmlformats.org/officeDocument/2006/relationships/image" Target="../media/image17.gif"/></Relationships>
</file>

<file path=ppt/slides/_rels/slide8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2.xml"/><Relationship Id="rId3" Type="http://schemas.openxmlformats.org/officeDocument/2006/relationships/image" Target="../media/image19.gif"/></Relationships>
</file>

<file path=ppt/slides/_rels/slide8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3.xml"/><Relationship Id="rId3" Type="http://schemas.openxmlformats.org/officeDocument/2006/relationships/image" Target="../media/image22.gif"/></Relationships>
</file>

<file path=ppt/slides/_rels/slide8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4.xml"/><Relationship Id="rId3" Type="http://schemas.openxmlformats.org/officeDocument/2006/relationships/image" Target="../media/image26.gif"/></Relationships>
</file>

<file path=ppt/slides/_rels/slide8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5.xml"/><Relationship Id="rId3" Type="http://schemas.openxmlformats.org/officeDocument/2006/relationships/image" Target="../media/image26.gif"/></Relationships>
</file>

<file path=ppt/slides/_rels/slide8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6.xml"/></Relationships>
</file>

<file path=ppt/slides/_rels/slide8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7.xml"/></Relationships>
</file>

<file path=ppt/slides/_rels/slide8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8.xml"/></Relationships>
</file>

<file path=ppt/slides/_rels/slide8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9.xml"/></Relationships>
</file>

<file path=ppt/slides/_rels/slide9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0.xml"/></Relationships>
</file>

<file path=ppt/slides/_rels/slide9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1.xml"/></Relationships>
</file>

<file path=ppt/slides/_rels/slide9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2.xml"/></Relationships>
</file>

<file path=ppt/slides/_rels/slide9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3.xml"/></Relationships>
</file>

<file path=ppt/slides/_rels/slide9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4.xml"/></Relationships>
</file>

<file path=ppt/slides/_rels/slide9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5.xml"/></Relationships>
</file>

<file path=ppt/slides/_rels/slide9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6.xml"/></Relationships>
</file>

<file path=ppt/slides/_rels/slide9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7.xml"/></Relationships>
</file>

<file path=ppt/slides/_rels/slide9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8.xml"/></Relationships>
</file>

<file path=ppt/slides/_rels/slide9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9.xml"/></Relationships>
</file>

<file path=ppt/slides/_rels/slide10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0.xml"/></Relationships>
</file>

<file path=ppt/slides/_rels/slide10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1.xml"/></Relationships>
</file>

<file path=ppt/slides/_rels/slide10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2.xml"/></Relationships>
</file>

<file path=ppt/slides/_rels/slide10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3.xml"/></Relationships>
</file>

<file path=ppt/slides/_rels/slide10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4.xml"/></Relationships>
</file>

<file path=ppt/slides/_rels/slide10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5.xml"/></Relationships>
</file>

<file path=ppt/slides/_rels/slide10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6.xml"/></Relationships>
</file>

<file path=ppt/slides/_rels/slide10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7.xml"/></Relationships>
</file>

<file path=ppt/slides/_rels/slide10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8.xml"/></Relationships>
</file>

<file path=ppt/slides/_rels/slide10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9.xml"/></Relationships>
</file>

<file path=ppt/slides/_rels/slide1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0.xml"/></Relationships>
</file>

<file path=ppt/slides/_rels/slide1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1.xml"/></Relationships>
</file>

<file path=ppt/slides/_rels/slide1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2.xml"/></Relationships>
</file>

<file path=ppt/slides/_rels/slide1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3.xml"/></Relationships>
</file>

<file path=ppt/slides/_rels/slide1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4.xml"/></Relationships>
</file>

<file path=ppt/slides/_rels/slide1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5.xml"/></Relationships>
</file>

<file path=ppt/slides/_rels/slide1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6.xml"/></Relationships>
</file>

<file path=ppt/slides/_rels/slide1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7.xml"/></Relationships>
</file>

<file path=ppt/slides/_rels/slide1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8.xml"/></Relationships>
</file>

<file path=ppt/slides/_rels/slide1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9.xml"/></Relationships>
</file>

<file path=ppt/slides/_rels/slide1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0.xml"/></Relationships>
</file>

<file path=ppt/slides/_rels/slide1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1.xml"/></Relationships>
</file>

<file path=ppt/slides/_rels/slide1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2.xml"/></Relationships>
</file>

<file path=ppt/slides/_rels/slide1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3.xml"/><Relationship Id="rId3" Type="http://schemas.openxmlformats.org/officeDocument/2006/relationships/image" Target="../media/image20.png"/></Relationships>
</file>

<file path=ppt/slides/_rels/slide1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4.xml"/><Relationship Id="rId3" Type="http://schemas.openxmlformats.org/officeDocument/2006/relationships/image" Target="../media/image20.png"/></Relationships>
</file>

<file path=ppt/slides/_rels/slide1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5.xml"/><Relationship Id="rId3" Type="http://schemas.openxmlformats.org/officeDocument/2006/relationships/image" Target="../media/image24.jpg"/></Relationships>
</file>

<file path=ppt/slides/_rels/slide1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6.xml"/><Relationship Id="rId3" Type="http://schemas.openxmlformats.org/officeDocument/2006/relationships/image" Target="../media/image20.png"/></Relationships>
</file>

<file path=ppt/slides/_rels/slide1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7.xml"/><Relationship Id="rId3" Type="http://schemas.openxmlformats.org/officeDocument/2006/relationships/image" Target="../media/image25.jpg"/></Relationships>
</file>

<file path=ppt/slides/_rels/slide1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8.xml"/><Relationship Id="rId3" Type="http://schemas.openxmlformats.org/officeDocument/2006/relationships/image" Target="../media/image25.jpg"/></Relationships>
</file>

<file path=ppt/slides/_rels/slide1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9.xml"/><Relationship Id="rId3" Type="http://schemas.openxmlformats.org/officeDocument/2006/relationships/image" Target="../media/image25.jpg"/></Relationships>
</file>

<file path=ppt/slides/_rels/slide1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0.xml"/><Relationship Id="rId3" Type="http://schemas.openxmlformats.org/officeDocument/2006/relationships/image" Target="../media/image21.png"/></Relationships>
</file>

<file path=ppt/slides/_rels/slide1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1.xml"/><Relationship Id="rId3" Type="http://schemas.openxmlformats.org/officeDocument/2006/relationships/image" Target="../media/image21.png"/></Relationships>
</file>

<file path=ppt/slides/_rels/slide1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2.xml"/><Relationship Id="rId3" Type="http://schemas.openxmlformats.org/officeDocument/2006/relationships/image" Target="../media/image21.png"/></Relationships>
</file>

<file path=ppt/slides/_rels/slide1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3.xml"/><Relationship Id="rId3" Type="http://schemas.openxmlformats.org/officeDocument/2006/relationships/image" Target="../media/image21.png"/></Relationships>
</file>

<file path=ppt/slides/_rels/slide1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4.xml"/><Relationship Id="rId3" Type="http://schemas.openxmlformats.org/officeDocument/2006/relationships/image" Target="../media/image21.png"/></Relationships>
</file>

<file path=ppt/slides/_rels/slide1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5.xml"/><Relationship Id="rId3" Type="http://schemas.openxmlformats.org/officeDocument/2006/relationships/image" Target="../media/image21.png"/></Relationships>
</file>

<file path=ppt/slides/_rels/slide1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6.xml"/></Relationships>
</file>

<file path=ppt/slides/_rels/slide1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7.xml"/></Relationships>
</file>

<file path=ppt/slides/_rels/slide1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8.xml"/></Relationships>
</file>

<file path=ppt/slides/_rels/slide1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9.xml"/></Relationships>
</file>

<file path=ppt/slides/_rels/slide1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0.xml"/></Relationships>
</file>

<file path=ppt/slides/_rels/slide1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1.xml"/></Relationships>
</file>

<file path=ppt/slides/_rels/slide1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2.xml"/></Relationships>
</file>

<file path=ppt/slides/_rels/slide1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3.xml"/></Relationships>
</file>

<file path=ppt/slides/_rels/slide1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4.xml"/></Relationships>
</file>

<file path=ppt/slides/_rels/slide1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5.xml"/></Relationships>
</file>

<file path=ppt/slides/_rels/slide1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6.xml"/></Relationships>
</file>

<file path=ppt/slides/_rels/slide1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7.xml"/></Relationships>
</file>

<file path=ppt/slides/_rels/slide1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8.xml"/></Relationships>
</file>

<file path=ppt/slides/_rels/slide1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9.xml"/></Relationships>
</file>

<file path=ppt/slides/_rels/slide1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0.xml"/></Relationships>
</file>

<file path=ppt/slides/_rels/slide1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1.xml"/></Relationships>
</file>

<file path=ppt/slides/_rels/slide1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2.xml"/></Relationships>
</file>

<file path=ppt/slides/_rels/slide1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3.xml"/></Relationships>
</file>

<file path=ppt/slides/_rels/slide1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4.xml"/></Relationships>
</file>

<file path=ppt/slides/_rels/slide1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5.xml"/></Relationships>
</file>

<file path=ppt/slides/_rels/slide1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6.xml"/></Relationships>
</file>

<file path=ppt/slides/_rels/slide1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7.xml"/></Relationships>
</file>

<file path=ppt/slides/_rels/slide1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8.xml"/><Relationship Id="rId3" Type="http://schemas.openxmlformats.org/officeDocument/2006/relationships/image" Target="../media/image30.png"/></Relationships>
</file>

<file path=ppt/slides/_rels/slide1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9.xml"/></Relationships>
</file>

<file path=ppt/slides/_rels/slide1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0.xml"/></Relationships>
</file>

<file path=ppt/slides/_rels/slide1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1.xml"/></Relationships>
</file>

<file path=ppt/slides/_rels/slide1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2.xml"/></Relationships>
</file>

<file path=ppt/slides/_rels/slide1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3.xml"/></Relationships>
</file>

<file path=ppt/slides/_rels/slide16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4.xml"/></Relationships>
</file>

<file path=ppt/slides/_rels/slide16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5.xml"/></Relationships>
</file>

<file path=ppt/slides/_rels/slide16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6.xml"/></Relationships>
</file>

<file path=ppt/slides/_rels/slide16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7.xml"/></Relationships>
</file>

<file path=ppt/slides/_rels/slide16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8.xml"/></Relationships>
</file>

<file path=ppt/slides/_rels/slide16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9.xml"/></Relationships>
</file>

<file path=ppt/slides/_rels/slide17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0.xml"/></Relationships>
</file>

<file path=ppt/slides/_rels/slide17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1.xml"/></Relationships>
</file>

<file path=ppt/slides/_rels/slide17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2.xml"/></Relationships>
</file>

<file path=ppt/slides/_rels/slide17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3.xml"/></Relationships>
</file>

<file path=ppt/slides/_rels/slide17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4.xml"/></Relationships>
</file>

<file path=ppt/slides/_rels/slide17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5.xml"/><Relationship Id="rId3" Type="http://schemas.openxmlformats.org/officeDocument/2006/relationships/image" Target="../media/image28.png"/></Relationships>
</file>

<file path=ppt/slides/_rels/slide17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6.xml"/><Relationship Id="rId3" Type="http://schemas.openxmlformats.org/officeDocument/2006/relationships/image" Target="../media/image28.png"/></Relationships>
</file>

<file path=ppt/slides/_rels/slide17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7.xml"/><Relationship Id="rId3" Type="http://schemas.openxmlformats.org/officeDocument/2006/relationships/image" Target="../media/image28.png"/></Relationships>
</file>

<file path=ppt/slides/_rels/slide17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8.xml"/><Relationship Id="rId3" Type="http://schemas.openxmlformats.org/officeDocument/2006/relationships/image" Target="../media/image28.png"/></Relationships>
</file>

<file path=ppt/slides/_rels/slide17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9.xml"/><Relationship Id="rId3" Type="http://schemas.openxmlformats.org/officeDocument/2006/relationships/image" Target="../media/image28.png"/></Relationships>
</file>

<file path=ppt/slides/_rels/slide18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0.xml"/><Relationship Id="rId3" Type="http://schemas.openxmlformats.org/officeDocument/2006/relationships/image" Target="../media/image28.png"/></Relationships>
</file>

<file path=ppt/slides/_rels/slide18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1.xml"/><Relationship Id="rId3" Type="http://schemas.openxmlformats.org/officeDocument/2006/relationships/image" Target="../media/image28.png"/></Relationships>
</file>

<file path=ppt/slides/_rels/slide18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2.xml"/><Relationship Id="rId3" Type="http://schemas.openxmlformats.org/officeDocument/2006/relationships/image" Target="../media/image28.png"/></Relationships>
</file>

<file path=ppt/slides/_rels/slide18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3.xml"/><Relationship Id="rId3" Type="http://schemas.openxmlformats.org/officeDocument/2006/relationships/image" Target="../media/image28.png"/></Relationships>
</file>

<file path=ppt/slides/_rels/slide18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4.xml"/><Relationship Id="rId3" Type="http://schemas.openxmlformats.org/officeDocument/2006/relationships/image" Target="../media/image28.png"/></Relationships>
</file>

<file path=ppt/slides/_rels/slide18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5.xml"/><Relationship Id="rId3" Type="http://schemas.openxmlformats.org/officeDocument/2006/relationships/image" Target="../media/image28.png"/></Relationships>
</file>

<file path=ppt/slides/_rels/slide18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6.xml"/><Relationship Id="rId3" Type="http://schemas.openxmlformats.org/officeDocument/2006/relationships/image" Target="../media/image28.png"/></Relationships>
</file>

<file path=ppt/slides/_rels/slide18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7.xml"/><Relationship Id="rId3" Type="http://schemas.openxmlformats.org/officeDocument/2006/relationships/image" Target="../media/image28.png"/></Relationships>
</file>

<file path=ppt/slides/_rels/slide18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8.xml"/><Relationship Id="rId3" Type="http://schemas.openxmlformats.org/officeDocument/2006/relationships/image" Target="../media/image28.png"/></Relationships>
</file>

<file path=ppt/slides/_rels/slide18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9.xml"/><Relationship Id="rId3" Type="http://schemas.openxmlformats.org/officeDocument/2006/relationships/image" Target="../media/image28.png"/></Relationships>
</file>

<file path=ppt/slides/_rels/slide19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0.xml"/><Relationship Id="rId3" Type="http://schemas.openxmlformats.org/officeDocument/2006/relationships/image" Target="../media/image28.png"/></Relationships>
</file>

<file path=ppt/slides/_rels/slide19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1.xml"/><Relationship Id="rId3" Type="http://schemas.openxmlformats.org/officeDocument/2006/relationships/image" Target="../media/image28.png"/></Relationships>
</file>

<file path=ppt/slides/_rels/slide19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2.xml"/><Relationship Id="rId3" Type="http://schemas.openxmlformats.org/officeDocument/2006/relationships/image" Target="../media/image28.png"/></Relationships>
</file>

<file path=ppt/slides/_rels/slide19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3.xml"/><Relationship Id="rId3" Type="http://schemas.openxmlformats.org/officeDocument/2006/relationships/image" Target="../media/image28.png"/></Relationships>
</file>

<file path=ppt/slides/_rels/slide19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4.xml"/><Relationship Id="rId3" Type="http://schemas.openxmlformats.org/officeDocument/2006/relationships/image" Target="../media/image28.png"/></Relationships>
</file>

<file path=ppt/slides/_rels/slide19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5.xml"/><Relationship Id="rId3" Type="http://schemas.openxmlformats.org/officeDocument/2006/relationships/image" Target="../media/image28.png"/></Relationships>
</file>

<file path=ppt/slides/_rels/slide19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6.xml"/><Relationship Id="rId3" Type="http://schemas.openxmlformats.org/officeDocument/2006/relationships/image" Target="../media/image28.png"/></Relationships>
</file>

<file path=ppt/slides/_rels/slide19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97.xml"/><Relationship Id="rId3" Type="http://schemas.openxmlformats.org/officeDocument/2006/relationships/image" Target="../media/image28.png"/></Relationships>
</file>

<file path=ppt/slides/_rels/slide19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198.xml"/><Relationship Id="rId3" Type="http://schemas.openxmlformats.org/officeDocument/2006/relationships/image" Target="../media/image20.png"/></Relationships>
</file>

<file path=ppt/slides/_rels/slide19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199.xml"/><Relationship Id="rId3" Type="http://schemas.openxmlformats.org/officeDocument/2006/relationships/image" Target="../media/image20.png"/></Relationships>
</file>

<file path=ppt/slides/_rels/slide20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00.xml"/><Relationship Id="rId3" Type="http://schemas.openxmlformats.org/officeDocument/2006/relationships/image" Target="../media/image20.png"/></Relationships>
</file>

<file path=ppt/slides/_rels/slide20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01.xml"/><Relationship Id="rId3" Type="http://schemas.openxmlformats.org/officeDocument/2006/relationships/image" Target="../media/image20.png"/></Relationships>
</file>

<file path=ppt/slides/_rels/slide20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02.xml"/><Relationship Id="rId3" Type="http://schemas.openxmlformats.org/officeDocument/2006/relationships/image" Target="../media/image20.png"/></Relationships>
</file>

<file path=ppt/slides/_rels/slide20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03.xml"/><Relationship Id="rId3" Type="http://schemas.openxmlformats.org/officeDocument/2006/relationships/image" Target="../media/image20.png"/></Relationships>
</file>

<file path=ppt/slides/_rels/slide20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4.xml"/></Relationships>
</file>

<file path=ppt/slides/_rels/slide20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5.xml"/></Relationships>
</file>

<file path=ppt/slides/_rels/slide20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6.xml"/></Relationships>
</file>

<file path=ppt/slides/_rels/slide20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7.xml"/></Relationships>
</file>

<file path=ppt/slides/_rels/slide20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8.xml"/></Relationships>
</file>

<file path=ppt/slides/_rels/slide20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9.xml"/></Relationships>
</file>

<file path=ppt/slides/_rels/slide2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0.xml"/></Relationships>
</file>

<file path=ppt/slides/_rels/slide2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1.xml"/></Relationships>
</file>

<file path=ppt/slides/_rels/slide2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2.xml"/></Relationships>
</file>

<file path=ppt/slides/_rels/slide2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3.xml"/></Relationships>
</file>

<file path=ppt/slides/_rels/slide2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4.xml"/></Relationships>
</file>

<file path=ppt/slides/_rels/slide2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5.xml"/></Relationships>
</file>

<file path=ppt/slides/_rels/slide2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6.xml"/></Relationships>
</file>

<file path=ppt/slides/_rels/slide2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7.xml"/></Relationships>
</file>

<file path=ppt/slides/_rels/slide2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8.xml"/></Relationships>
</file>

<file path=ppt/slides/_rels/slide2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9.xml"/></Relationships>
</file>

<file path=ppt/slides/_rels/slide2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0.xml"/><Relationship Id="rId3" Type="http://schemas.openxmlformats.org/officeDocument/2006/relationships/image" Target="../media/image34.jpg"/></Relationships>
</file>

<file path=ppt/slides/_rels/slide2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1.xml"/><Relationship Id="rId3" Type="http://schemas.openxmlformats.org/officeDocument/2006/relationships/image" Target="../media/image36.png"/></Relationships>
</file>

<file path=ppt/slides/_rels/slide2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2.xml"/><Relationship Id="rId3" Type="http://schemas.openxmlformats.org/officeDocument/2006/relationships/image" Target="../media/image36.png"/></Relationships>
</file>

<file path=ppt/slides/_rels/slide2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3.xml"/><Relationship Id="rId3" Type="http://schemas.openxmlformats.org/officeDocument/2006/relationships/image" Target="../media/image29.jpg"/><Relationship Id="rId4" Type="http://schemas.openxmlformats.org/officeDocument/2006/relationships/hyperlink" Target="https://en.wikipedia.org/wiki/Peter_Blau" TargetMode="External"/></Relationships>
</file>

<file path=ppt/slides/_rels/slide2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4.xml"/><Relationship Id="rId3" Type="http://schemas.openxmlformats.org/officeDocument/2006/relationships/image" Target="../media/image29.jpg"/><Relationship Id="rId4" Type="http://schemas.openxmlformats.org/officeDocument/2006/relationships/hyperlink" Target="https://en.wikipedia.org/wiki/Peter_Blau" TargetMode="External"/><Relationship Id="rId5" Type="http://schemas.openxmlformats.org/officeDocument/2006/relationships/image" Target="../media/image35.png"/><Relationship Id="rId6" Type="http://schemas.openxmlformats.org/officeDocument/2006/relationships/image" Target="../media/image31.png"/></Relationships>
</file>

<file path=ppt/slides/_rels/slide2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5.xml"/><Relationship Id="rId3" Type="http://schemas.openxmlformats.org/officeDocument/2006/relationships/image" Target="../media/image29.jpg"/><Relationship Id="rId4" Type="http://schemas.openxmlformats.org/officeDocument/2006/relationships/hyperlink" Target="https://en.wikipedia.org/wiki/Peter_Blau" TargetMode="External"/><Relationship Id="rId5" Type="http://schemas.openxmlformats.org/officeDocument/2006/relationships/image" Target="../media/image35.png"/><Relationship Id="rId6" Type="http://schemas.openxmlformats.org/officeDocument/2006/relationships/image" Target="../media/image31.png"/></Relationships>
</file>

<file path=ppt/slides/_rels/slide2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6.xml"/><Relationship Id="rId3" Type="http://schemas.openxmlformats.org/officeDocument/2006/relationships/image" Target="../media/image29.jpg"/><Relationship Id="rId4" Type="http://schemas.openxmlformats.org/officeDocument/2006/relationships/hyperlink" Target="https://en.wikipedia.org/wiki/Peter_Blau" TargetMode="External"/><Relationship Id="rId5" Type="http://schemas.openxmlformats.org/officeDocument/2006/relationships/image" Target="../media/image35.png"/><Relationship Id="rId6" Type="http://schemas.openxmlformats.org/officeDocument/2006/relationships/image" Target="../media/image31.png"/></Relationships>
</file>

<file path=ppt/slides/_rels/slide2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7.xml"/><Relationship Id="rId3" Type="http://schemas.openxmlformats.org/officeDocument/2006/relationships/image" Target="../media/image43.png"/><Relationship Id="rId4" Type="http://schemas.openxmlformats.org/officeDocument/2006/relationships/image" Target="../media/image47.jpg"/></Relationships>
</file>

<file path=ppt/slides/_rels/slide2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8.xml"/><Relationship Id="rId3" Type="http://schemas.openxmlformats.org/officeDocument/2006/relationships/image" Target="../media/image47.jpg"/><Relationship Id="rId4" Type="http://schemas.openxmlformats.org/officeDocument/2006/relationships/image" Target="../media/image45.gif"/></Relationships>
</file>

<file path=ppt/slides/_rels/slide2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9.xml"/><Relationship Id="rId3" Type="http://schemas.openxmlformats.org/officeDocument/2006/relationships/image" Target="../media/image42.gif"/></Relationships>
</file>

<file path=ppt/slides/_rels/slide2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0.xml"/><Relationship Id="rId3" Type="http://schemas.openxmlformats.org/officeDocument/2006/relationships/image" Target="../media/image48.png"/></Relationships>
</file>

<file path=ppt/slides/_rels/slide2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1.xml"/><Relationship Id="rId3" Type="http://schemas.openxmlformats.org/officeDocument/2006/relationships/image" Target="../media/image41.png"/></Relationships>
</file>

<file path=ppt/slides/_rels/slide2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2.xml"/><Relationship Id="rId3" Type="http://schemas.openxmlformats.org/officeDocument/2006/relationships/image" Target="../media/image31.png"/><Relationship Id="rId4" Type="http://schemas.openxmlformats.org/officeDocument/2006/relationships/image" Target="../media/image49.png"/></Relationships>
</file>

<file path=ppt/slides/_rels/slide2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3.xml"/><Relationship Id="rId3" Type="http://schemas.openxmlformats.org/officeDocument/2006/relationships/image" Target="../media/image31.png"/><Relationship Id="rId4" Type="http://schemas.openxmlformats.org/officeDocument/2006/relationships/image" Target="../media/image35.png"/><Relationship Id="rId5" Type="http://schemas.openxmlformats.org/officeDocument/2006/relationships/image" Target="../media/image49.png"/></Relationships>
</file>

<file path=ppt/slides/_rels/slide2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4.xml"/><Relationship Id="rId3" Type="http://schemas.openxmlformats.org/officeDocument/2006/relationships/image" Target="../media/image49.png"/></Relationships>
</file>

<file path=ppt/slides/_rels/slide2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5.xml"/><Relationship Id="rId3" Type="http://schemas.openxmlformats.org/officeDocument/2006/relationships/image" Target="../media/image38.png"/></Relationships>
</file>

<file path=ppt/slides/_rels/slide2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6.xml"/></Relationships>
</file>

<file path=ppt/slides/_rels/slide2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7.xml"/><Relationship Id="rId3" Type="http://schemas.openxmlformats.org/officeDocument/2006/relationships/image" Target="../media/image35.png"/><Relationship Id="rId4" Type="http://schemas.openxmlformats.org/officeDocument/2006/relationships/image" Target="../media/image31.png"/><Relationship Id="rId5" Type="http://schemas.openxmlformats.org/officeDocument/2006/relationships/image" Target="../media/image44.jpg"/><Relationship Id="rId6" Type="http://schemas.openxmlformats.org/officeDocument/2006/relationships/hyperlink" Target="https://scholar.harvard.edu/pvmarsden/home" TargetMode="External"/></Relationships>
</file>

<file path=ppt/slides/_rels/slide2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8.xml"/><Relationship Id="rId3" Type="http://schemas.openxmlformats.org/officeDocument/2006/relationships/image" Target="../media/image44.jpg"/><Relationship Id="rId4" Type="http://schemas.openxmlformats.org/officeDocument/2006/relationships/hyperlink" Target="https://scholar.harvard.edu/pvmarsden/home" TargetMode="External"/></Relationships>
</file>

<file path=ppt/slides/_rels/slide2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9.xml"/></Relationships>
</file>

<file path=ppt/slides/_rels/slide2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0.xml"/><Relationship Id="rId3" Type="http://schemas.openxmlformats.org/officeDocument/2006/relationships/image" Target="../media/image50.png"/></Relationships>
</file>

<file path=ppt/slides/_rels/slide2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1.xml"/></Relationships>
</file>

<file path=ppt/slides/_rels/slide2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2.xml"/></Relationships>
</file>

<file path=ppt/slides/_rels/slide2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3.xml"/></Relationships>
</file>

<file path=ppt/slides/_rels/slide2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4.xml"/></Relationships>
</file>

<file path=ppt/slides/_rels/slide2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5.xml"/></Relationships>
</file>

<file path=ppt/slides/_rels/slide2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6.xml"/></Relationships>
</file>

<file path=ppt/slides/_rels/slide2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7.xml"/><Relationship Id="rId3" Type="http://schemas.openxmlformats.org/officeDocument/2006/relationships/image" Target="../media/image37.png"/></Relationships>
</file>

<file path=ppt/slides/_rels/slide2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8.xml"/><Relationship Id="rId3" Type="http://schemas.openxmlformats.org/officeDocument/2006/relationships/image" Target="../media/image39.png"/></Relationships>
</file>

<file path=ppt/slides/_rels/slide2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9.xml"/></Relationships>
</file>

<file path=ppt/slides/_rels/slide2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0.xml"/></Relationships>
</file>

<file path=ppt/slides/_rels/slide2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1.xml"/></Relationships>
</file>

<file path=ppt/slides/_rels/slide2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2.xml"/></Relationships>
</file>

<file path=ppt/slides/_rels/slide2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3.xml"/></Relationships>
</file>

<file path=ppt/slides/_rels/slide2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4.xml"/></Relationships>
</file>

<file path=ppt/slides/_rels/slide2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5.xml"/></Relationships>
</file>

<file path=ppt/slides/_rels/slide2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56.xml"/></Relationships>
</file>

<file path=ppt/slides/_rels/slide2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57.xml"/></Relationships>
</file>

<file path=ppt/slides/_rels/slide2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58.xml"/></Relationships>
</file>

<file path=ppt/slides/_rels/slide2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9.xml"/><Relationship Id="rId3" Type="http://schemas.openxmlformats.org/officeDocument/2006/relationships/image" Target="../media/image46.png"/></Relationships>
</file>

<file path=ppt/slides/_rels/slide2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0.xml"/><Relationship Id="rId3" Type="http://schemas.openxmlformats.org/officeDocument/2006/relationships/image" Target="../media/image46.png"/></Relationships>
</file>

<file path=ppt/slides/_rels/slide2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1.xml"/><Relationship Id="rId3" Type="http://schemas.openxmlformats.org/officeDocument/2006/relationships/image" Target="../media/image46.png"/></Relationships>
</file>

<file path=ppt/slides/_rels/slide2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2.xml"/><Relationship Id="rId3" Type="http://schemas.openxmlformats.org/officeDocument/2006/relationships/image" Target="../media/image46.png"/></Relationships>
</file>

<file path=ppt/slides/_rels/slide2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3.xml"/><Relationship Id="rId3" Type="http://schemas.openxmlformats.org/officeDocument/2006/relationships/image" Target="../media/image46.png"/></Relationships>
</file>

<file path=ppt/slides/_rels/slide26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4.xml"/><Relationship Id="rId3" Type="http://schemas.openxmlformats.org/officeDocument/2006/relationships/image" Target="../media/image28.png"/></Relationships>
</file>

<file path=ppt/slides/_rels/slide26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5.xml"/><Relationship Id="rId3" Type="http://schemas.openxmlformats.org/officeDocument/2006/relationships/image" Target="../media/image28.png"/></Relationships>
</file>

<file path=ppt/slides/_rels/slide26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6.xml"/><Relationship Id="rId3" Type="http://schemas.openxmlformats.org/officeDocument/2006/relationships/image" Target="../media/image28.png"/></Relationships>
</file>

<file path=ppt/slides/_rels/slide26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7.xml"/><Relationship Id="rId3" Type="http://schemas.openxmlformats.org/officeDocument/2006/relationships/image" Target="../media/image28.png"/></Relationships>
</file>

<file path=ppt/slides/_rels/slide26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8.xml"/><Relationship Id="rId3" Type="http://schemas.openxmlformats.org/officeDocument/2006/relationships/image" Target="../media/image28.png"/></Relationships>
</file>

<file path=ppt/slides/_rels/slide26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9.xml"/><Relationship Id="rId3" Type="http://schemas.openxmlformats.org/officeDocument/2006/relationships/image" Target="../media/image28.png"/><Relationship Id="rId4" Type="http://schemas.openxmlformats.org/officeDocument/2006/relationships/image" Target="../media/image58.jpg"/></Relationships>
</file>

<file path=ppt/slides/_rels/slide27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0.xml"/><Relationship Id="rId3" Type="http://schemas.openxmlformats.org/officeDocument/2006/relationships/image" Target="../media/image58.jpg"/><Relationship Id="rId4" Type="http://schemas.openxmlformats.org/officeDocument/2006/relationships/image" Target="../media/image28.png"/><Relationship Id="rId5" Type="http://schemas.openxmlformats.org/officeDocument/2006/relationships/image" Target="../media/image54.gif"/></Relationships>
</file>

<file path=ppt/slides/_rels/slide27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1.xml"/><Relationship Id="rId3" Type="http://schemas.openxmlformats.org/officeDocument/2006/relationships/image" Target="../media/image58.jpg"/><Relationship Id="rId4" Type="http://schemas.openxmlformats.org/officeDocument/2006/relationships/image" Target="../media/image54.gif"/><Relationship Id="rId5" Type="http://schemas.openxmlformats.org/officeDocument/2006/relationships/image" Target="../media/image28.png"/></Relationships>
</file>

<file path=ppt/slides/_rels/slide27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2.xml"/><Relationship Id="rId3" Type="http://schemas.openxmlformats.org/officeDocument/2006/relationships/image" Target="../media/image58.jpg"/><Relationship Id="rId4" Type="http://schemas.openxmlformats.org/officeDocument/2006/relationships/image" Target="../media/image54.gif"/><Relationship Id="rId5" Type="http://schemas.openxmlformats.org/officeDocument/2006/relationships/image" Target="../media/image28.png"/></Relationships>
</file>

<file path=ppt/slides/_rels/slide27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3.xml"/><Relationship Id="rId3" Type="http://schemas.openxmlformats.org/officeDocument/2006/relationships/image" Target="../media/image28.png"/><Relationship Id="rId4" Type="http://schemas.openxmlformats.org/officeDocument/2006/relationships/image" Target="../media/image58.jpg"/><Relationship Id="rId5" Type="http://schemas.openxmlformats.org/officeDocument/2006/relationships/image" Target="../media/image52.gif"/></Relationships>
</file>

<file path=ppt/slides/_rels/slide27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4.xml"/><Relationship Id="rId3" Type="http://schemas.openxmlformats.org/officeDocument/2006/relationships/image" Target="../media/image28.png"/><Relationship Id="rId4" Type="http://schemas.openxmlformats.org/officeDocument/2006/relationships/image" Target="../media/image58.jpg"/><Relationship Id="rId5" Type="http://schemas.openxmlformats.org/officeDocument/2006/relationships/image" Target="../media/image52.gif"/></Relationships>
</file>

<file path=ppt/slides/_rels/slide27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5.xml"/><Relationship Id="rId3" Type="http://schemas.openxmlformats.org/officeDocument/2006/relationships/image" Target="../media/image28.png"/><Relationship Id="rId4" Type="http://schemas.openxmlformats.org/officeDocument/2006/relationships/image" Target="../media/image58.jpg"/><Relationship Id="rId5" Type="http://schemas.openxmlformats.org/officeDocument/2006/relationships/image" Target="../media/image52.gif"/></Relationships>
</file>

<file path=ppt/slides/_rels/slide27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76.xml"/></Relationships>
</file>

<file path=ppt/slides/_rels/slide27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77.xml"/></Relationships>
</file>

<file path=ppt/slides/_rels/slide27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78.xml"/></Relationships>
</file>

<file path=ppt/slides/_rels/slide27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79.xml"/></Relationships>
</file>

<file path=ppt/slides/_rels/slide28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0.xml"/></Relationships>
</file>

<file path=ppt/slides/_rels/slide28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1.xml"/></Relationships>
</file>

<file path=ppt/slides/_rels/slide28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2.xml"/></Relationships>
</file>

<file path=ppt/slides/_rels/slide28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3.xml"/></Relationships>
</file>

<file path=ppt/slides/_rels/slide28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4.xml"/></Relationships>
</file>

<file path=ppt/slides/_rels/slide28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5.xml"/></Relationships>
</file>

<file path=ppt/slides/_rels/slide28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6.xml"/><Relationship Id="rId3" Type="http://schemas.openxmlformats.org/officeDocument/2006/relationships/image" Target="../media/image62.gif"/></Relationships>
</file>

<file path=ppt/slides/_rels/slide28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7.xml"/></Relationships>
</file>

<file path=ppt/slides/_rels/slide28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8.xml"/></Relationships>
</file>

<file path=ppt/slides/_rels/slide28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9.xml"/></Relationships>
</file>

<file path=ppt/slides/_rels/slide29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0.xml"/></Relationships>
</file>

<file path=ppt/slides/_rels/slide29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1.xml"/></Relationships>
</file>

<file path=ppt/slides/_rels/slide29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2.xml"/></Relationships>
</file>

<file path=ppt/slides/_rels/slide29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3.xml"/></Relationships>
</file>

<file path=ppt/slides/_rels/slide29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4.xml"/></Relationships>
</file>

<file path=ppt/slides/_rels/slide29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5.xml"/></Relationships>
</file>

<file path=ppt/slides/_rels/slide29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6.xml"/></Relationships>
</file>

<file path=ppt/slides/_rels/slide29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7.xml"/></Relationships>
</file>

<file path=ppt/slides/_rels/slide29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8.xml"/></Relationships>
</file>

<file path=ppt/slides/_rels/slide29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9.xml"/></Relationships>
</file>

<file path=ppt/slides/_rels/slide30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0.xml"/></Relationships>
</file>

<file path=ppt/slides/_rels/slide30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1.xml"/></Relationships>
</file>

<file path=ppt/slides/_rels/slide30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2.xml"/></Relationships>
</file>

<file path=ppt/slides/_rels/slide30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3.xml"/></Relationships>
</file>

<file path=ppt/slides/_rels/slide30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4.xml"/></Relationships>
</file>

<file path=ppt/slides/_rels/slide30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5.xml"/></Relationships>
</file>

<file path=ppt/slides/_rels/slide30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06.xml"/></Relationships>
</file>

<file path=ppt/slides/_rels/slide30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07.xml"/></Relationships>
</file>

<file path=ppt/slides/_rels/slide30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8.xml"/></Relationships>
</file>

<file path=ppt/slides/_rels/slide30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09.xml"/></Relationships>
</file>

<file path=ppt/slides/_rels/slide3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0.xml"/></Relationships>
</file>

<file path=ppt/slides/_rels/slide3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1.xml"/></Relationships>
</file>

<file path=ppt/slides/_rels/slide3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2.xml"/></Relationships>
</file>

<file path=ppt/slides/_rels/slide3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3.xml"/><Relationship Id="rId3" Type="http://schemas.openxmlformats.org/officeDocument/2006/relationships/image" Target="../media/image65.png"/></Relationships>
</file>

<file path=ppt/slides/_rels/slide3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4.xml"/></Relationships>
</file>

<file path=ppt/slides/_rels/slide3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5.xml"/></Relationships>
</file>

<file path=ppt/slides/_rels/slide3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6.xml"/></Relationships>
</file>

<file path=ppt/slides/_rels/slide3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7.xml"/></Relationships>
</file>

<file path=ppt/slides/_rels/slide3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8.xml"/></Relationships>
</file>

<file path=ppt/slides/_rels/slide3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9.xml"/></Relationships>
</file>

<file path=ppt/slides/_rels/slide3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0.xml"/></Relationships>
</file>

<file path=ppt/slides/_rels/slide3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1.xml"/></Relationships>
</file>

<file path=ppt/slides/_rels/slide3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2.xml"/></Relationships>
</file>

<file path=ppt/slides/_rels/slide3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3.xml"/></Relationships>
</file>

<file path=ppt/slides/_rels/slide3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4.xml"/></Relationships>
</file>

<file path=ppt/slides/_rels/slide3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5.xml"/></Relationships>
</file>

<file path=ppt/slides/_rels/slide3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6.xml"/></Relationships>
</file>

<file path=ppt/slides/_rels/slide3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7.xml"/></Relationships>
</file>

<file path=ppt/slides/_rels/slide3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8.xml"/></Relationships>
</file>

<file path=ppt/slides/_rels/slide3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9.xml"/></Relationships>
</file>

<file path=ppt/slides/_rels/slide3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0.xml"/></Relationships>
</file>

<file path=ppt/slides/_rels/slide3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1.xml"/></Relationships>
</file>

<file path=ppt/slides/_rels/slide3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2.xml"/></Relationships>
</file>

<file path=ppt/slides/_rels/slide3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3.xml"/></Relationships>
</file>

<file path=ppt/slides/_rels/slide3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4.xml"/></Relationships>
</file>

<file path=ppt/slides/_rels/slide3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5.xml"/></Relationships>
</file>

<file path=ppt/slides/_rels/slide3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6.xml"/></Relationships>
</file>

<file path=ppt/slides/_rels/slide3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7.xml"/></Relationships>
</file>

<file path=ppt/slides/_rels/slide3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8.xml"/></Relationships>
</file>

<file path=ppt/slides/_rels/slide3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9.xml"/></Relationships>
</file>

<file path=ppt/slides/_rels/slide3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0.xml"/></Relationships>
</file>

<file path=ppt/slides/_rels/slide3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1.xml"/></Relationships>
</file>

<file path=ppt/slides/_rels/slide3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2.xml"/></Relationships>
</file>

<file path=ppt/slides/_rels/slide3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3.xml"/></Relationships>
</file>

<file path=ppt/slides/_rels/slide3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4.xml"/></Relationships>
</file>

<file path=ppt/slides/_rels/slide3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5.xml"/></Relationships>
</file>

<file path=ppt/slides/_rels/slide3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6.xml"/></Relationships>
</file>

<file path=ppt/slides/_rels/slide3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7.xml"/></Relationships>
</file>

<file path=ppt/slides/_rels/slide3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8.xml"/></Relationships>
</file>

<file path=ppt/slides/_rels/slide3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9.xml"/></Relationships>
</file>

<file path=ppt/slides/_rels/slide3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0.xml"/></Relationships>
</file>

<file path=ppt/slides/_rels/slide3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1.xml"/></Relationships>
</file>

<file path=ppt/slides/_rels/slide3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2.xml"/></Relationships>
</file>

<file path=ppt/slides/_rels/slide3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3.xml"/></Relationships>
</file>

<file path=ppt/slides/_rels/slide3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4.xml"/></Relationships>
</file>

<file path=ppt/slides/_rels/slide3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5.xml"/></Relationships>
</file>

<file path=ppt/slides/_rels/slide3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6.xml"/></Relationships>
</file>

<file path=ppt/slides/_rels/slide3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7.xml"/></Relationships>
</file>

<file path=ppt/slides/_rels/slide3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8.xml"/></Relationships>
</file>

<file path=ppt/slides/_rels/slide3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9.xml"/></Relationships>
</file>

<file path=ppt/slides/_rels/slide3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0.xml"/></Relationships>
</file>

<file path=ppt/slides/_rels/slide3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1.xml"/></Relationships>
</file>

<file path=ppt/slides/_rels/slide3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2.xml"/></Relationships>
</file>

<file path=ppt/slides/_rels/slide3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3.xml"/></Relationships>
</file>

<file path=ppt/slides/_rels/slide36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4.xml"/></Relationships>
</file>

<file path=ppt/slides/_rels/slide36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5.xml"/></Relationships>
</file>

<file path=ppt/slides/_rels/slide36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6.xml"/></Relationships>
</file>

<file path=ppt/slides/_rels/slide36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7.xml"/></Relationships>
</file>

<file path=ppt/slides/_rels/slide36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68.xml"/></Relationships>
</file>

<file path=ppt/slides/_rels/slide36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69.xml"/></Relationships>
</file>

<file path=ppt/slides/_rels/slide37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0.xml"/></Relationships>
</file>

<file path=ppt/slides/_rels/slide37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1.xml"/></Relationships>
</file>

<file path=ppt/slides/_rels/slide37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2.xml"/></Relationships>
</file>

<file path=ppt/slides/_rels/slide37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3.xml"/></Relationships>
</file>

<file path=ppt/slides/_rels/slide37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4.xml"/></Relationships>
</file>

<file path=ppt/slides/_rels/slide37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5.xml"/></Relationships>
</file>

<file path=ppt/slides/_rels/slide37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76.xml"/><Relationship Id="rId3" Type="http://schemas.openxmlformats.org/officeDocument/2006/relationships/hyperlink" Target="https://www.jstor.org/stable/pdf/3088904.pdf" TargetMode="External"/><Relationship Id="rId4" Type="http://schemas.openxmlformats.org/officeDocument/2006/relationships/image" Target="../media/image60.jpg"/><Relationship Id="rId5" Type="http://schemas.openxmlformats.org/officeDocument/2006/relationships/image" Target="../media/image53.jpg"/><Relationship Id="rId6" Type="http://schemas.openxmlformats.org/officeDocument/2006/relationships/image" Target="../media/image59.jpg"/></Relationships>
</file>

<file path=ppt/slides/_rels/slide37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7.xml"/></Relationships>
</file>

<file path=ppt/slides/_rels/slide37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8.xml"/></Relationships>
</file>

<file path=ppt/slides/_rels/slide37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79.xml"/></Relationships>
</file>

<file path=ppt/slides/_rels/slide38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80.xml"/></Relationships>
</file>

<file path=ppt/slides/_rels/slide38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81.xml"/></Relationships>
</file>

<file path=ppt/slides/_rels/slide38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82.xml"/></Relationships>
</file>

<file path=ppt/slides/_rels/slide38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83.xml"/></Relationships>
</file>

<file path=ppt/slides/_rels/slide38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84.xml"/></Relationships>
</file>

<file path=ppt/slides/_rels/slide38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85.xml"/></Relationships>
</file>

<file path=ppt/slides/_rels/slide38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86.xml"/></Relationships>
</file>

<file path=ppt/slides/_rels/slide38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87.xml"/></Relationships>
</file>

<file path=ppt/slides/_rels/slide38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88.xml"/></Relationships>
</file>

<file path=ppt/slides/_rels/slide38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89.xml"/></Relationships>
</file>

<file path=ppt/slides/_rels/slide39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0.xml"/></Relationships>
</file>

<file path=ppt/slides/_rels/slide39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1.xml"/></Relationships>
</file>

<file path=ppt/slides/_rels/slide39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2.xml"/></Relationships>
</file>

<file path=ppt/slides/_rels/slide39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3.xml"/></Relationships>
</file>

<file path=ppt/slides/_rels/slide39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4.xml"/></Relationships>
</file>

<file path=ppt/slides/_rels/slide39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5.xml"/></Relationships>
</file>

<file path=ppt/slides/_rels/slide39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6.xml"/></Relationships>
</file>

<file path=ppt/slides/_rels/slide39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7.xml"/></Relationships>
</file>

<file path=ppt/slides/_rels/slide39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8.xml"/><Relationship Id="rId3" Type="http://schemas.openxmlformats.org/officeDocument/2006/relationships/image" Target="../media/image70.jpg"/></Relationships>
</file>

<file path=ppt/slides/_rels/slide39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9.xml"/></Relationships>
</file>

<file path=ppt/slides/_rels/slide40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0.xml"/></Relationships>
</file>

<file path=ppt/slides/_rels/slide40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1.xml"/></Relationships>
</file>

<file path=ppt/slides/_rels/slide40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2.xml"/></Relationships>
</file>

<file path=ppt/slides/_rels/slide40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3.xml"/></Relationships>
</file>

<file path=ppt/slides/_rels/slide40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4.xml"/></Relationships>
</file>

<file path=ppt/slides/_rels/slide40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5.xml"/></Relationships>
</file>

<file path=ppt/slides/_rels/slide40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6.xml"/></Relationships>
</file>

<file path=ppt/slides/_rels/slide40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7.xml"/></Relationships>
</file>

<file path=ppt/slides/_rels/slide40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8.xml"/></Relationships>
</file>

<file path=ppt/slides/_rels/slide40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9.xml"/></Relationships>
</file>

<file path=ppt/slides/_rels/slide4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0.xml"/></Relationships>
</file>

<file path=ppt/slides/_rels/slide4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1.xml"/></Relationships>
</file>

<file path=ppt/slides/_rels/slide4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2.xml"/></Relationships>
</file>

<file path=ppt/slides/_rels/slide4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3.xml"/></Relationships>
</file>

<file path=ppt/slides/_rels/slide4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4.xml"/></Relationships>
</file>

<file path=ppt/slides/_rels/slide4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5.xml"/></Relationships>
</file>

<file path=ppt/slides/_rels/slide4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6.xml"/></Relationships>
</file>

<file path=ppt/slides/_rels/slide4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7.xml"/></Relationships>
</file>

<file path=ppt/slides/_rels/slide4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8.xml"/></Relationships>
</file>

<file path=ppt/slides/_rels/slide4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19.xml"/></Relationships>
</file>

<file path=ppt/slides/_rels/slide4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0.xml"/></Relationships>
</file>

<file path=ppt/slides/_rels/slide4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1.xml"/></Relationships>
</file>

<file path=ppt/slides/_rels/slide4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2.xml"/></Relationships>
</file>

<file path=ppt/slides/_rels/slide4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3.xml"/></Relationships>
</file>

<file path=ppt/slides/_rels/slide4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4.xml"/></Relationships>
</file>

<file path=ppt/slides/_rels/slide4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5.xml"/></Relationships>
</file>

<file path=ppt/slides/_rels/slide4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6.xml"/></Relationships>
</file>

<file path=ppt/slides/_rels/slide4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7.xml"/></Relationships>
</file>

<file path=ppt/slides/_rels/slide4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8.xml"/></Relationships>
</file>

<file path=ppt/slides/_rels/slide4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9.xml"/></Relationships>
</file>

<file path=ppt/slides/_rels/slide4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0.xml"/></Relationships>
</file>

<file path=ppt/slides/_rels/slide4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1.xml"/></Relationships>
</file>

<file path=ppt/slides/_rels/slide4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2.xml"/></Relationships>
</file>

<file path=ppt/slides/_rels/slide4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3.xml"/></Relationships>
</file>

<file path=ppt/slides/_rels/slide4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4.xml"/></Relationships>
</file>

<file path=ppt/slides/_rels/slide4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5.xml"/></Relationships>
</file>

<file path=ppt/slides/_rels/slide4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6.xml"/></Relationships>
</file>

<file path=ppt/slides/_rels/slide4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7.xml"/></Relationships>
</file>

<file path=ppt/slides/_rels/slide4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8.xml"/></Relationships>
</file>

<file path=ppt/slides/_rels/slide4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39.xml"/></Relationships>
</file>

<file path=ppt/slides/_rels/slide4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0.xml"/><Relationship Id="rId3" Type="http://schemas.openxmlformats.org/officeDocument/2006/relationships/image" Target="../media/image55.jpg"/></Relationships>
</file>

<file path=ppt/slides/_rels/slide4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1.xml"/><Relationship Id="rId3" Type="http://schemas.openxmlformats.org/officeDocument/2006/relationships/image" Target="../media/image55.jpg"/></Relationships>
</file>

<file path=ppt/slides/_rels/slide4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2.xml"/></Relationships>
</file>

<file path=ppt/slides/_rels/slide4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3.xml"/></Relationships>
</file>

<file path=ppt/slides/_rels/slide4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4.xml"/></Relationships>
</file>

<file path=ppt/slides/_rels/slide4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5.xml"/></Relationships>
</file>

<file path=ppt/slides/_rels/slide4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6.xml"/></Relationships>
</file>

<file path=ppt/slides/_rels/slide4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7.xml"/><Relationship Id="rId3" Type="http://schemas.openxmlformats.org/officeDocument/2006/relationships/image" Target="../media/image56.jpg"/></Relationships>
</file>

<file path=ppt/slides/_rels/slide4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8.xml"/><Relationship Id="rId3" Type="http://schemas.openxmlformats.org/officeDocument/2006/relationships/image" Target="../media/image56.jpg"/></Relationships>
</file>

<file path=ppt/slides/_rels/slide4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9.xml"/><Relationship Id="rId3" Type="http://schemas.openxmlformats.org/officeDocument/2006/relationships/image" Target="../media/image56.jpg"/></Relationships>
</file>

<file path=ppt/slides/_rels/slide4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0.xml"/><Relationship Id="rId3" Type="http://schemas.openxmlformats.org/officeDocument/2006/relationships/image" Target="../media/image57.gif"/></Relationships>
</file>

<file path=ppt/slides/_rels/slide4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1.xml"/><Relationship Id="rId3" Type="http://schemas.openxmlformats.org/officeDocument/2006/relationships/image" Target="../media/image56.jpg"/></Relationships>
</file>

<file path=ppt/slides/_rels/slide4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2.xml"/><Relationship Id="rId3" Type="http://schemas.openxmlformats.org/officeDocument/2006/relationships/image" Target="../media/image63.png"/></Relationships>
</file>

<file path=ppt/slides/_rels/slide4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3.xml"/><Relationship Id="rId3" Type="http://schemas.openxmlformats.org/officeDocument/2006/relationships/image" Target="../media/image63.png"/></Relationships>
</file>

<file path=ppt/slides/_rels/slide4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4.xml"/><Relationship Id="rId3" Type="http://schemas.openxmlformats.org/officeDocument/2006/relationships/image" Target="../media/image63.png"/></Relationships>
</file>

<file path=ppt/slides/_rels/slide4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5.xml"/><Relationship Id="rId3" Type="http://schemas.openxmlformats.org/officeDocument/2006/relationships/image" Target="../media/image63.png"/></Relationships>
</file>

<file path=ppt/slides/_rels/slide4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6.xml"/><Relationship Id="rId3" Type="http://schemas.openxmlformats.org/officeDocument/2006/relationships/image" Target="../media/image67.png"/></Relationships>
</file>

<file path=ppt/slides/_rels/slide4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7.xml"/><Relationship Id="rId3" Type="http://schemas.openxmlformats.org/officeDocument/2006/relationships/image" Target="../media/image72.jpg"/><Relationship Id="rId4" Type="http://schemas.openxmlformats.org/officeDocument/2006/relationships/image" Target="../media/image63.png"/></Relationships>
</file>

<file path=ppt/slides/_rels/slide4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8.xml"/></Relationships>
</file>

<file path=ppt/slides/_rels/slide4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9.xml"/><Relationship Id="rId3" Type="http://schemas.openxmlformats.org/officeDocument/2006/relationships/image" Target="../media/image61.png"/></Relationships>
</file>

<file path=ppt/slides/_rels/slide4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0.xml"/></Relationships>
</file>

<file path=ppt/slides/_rels/slide4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1.xml"/></Relationships>
</file>

<file path=ppt/slides/_rels/slide4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2.xml"/></Relationships>
</file>

<file path=ppt/slides/_rels/slide4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3.xml"/></Relationships>
</file>

<file path=ppt/slides/_rels/slide46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4.xml"/></Relationships>
</file>

<file path=ppt/slides/_rels/slide46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5.xml"/></Relationships>
</file>

<file path=ppt/slides/_rels/slide46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6.xml"/></Relationships>
</file>

<file path=ppt/slides/_rels/slide46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67.xml"/></Relationships>
</file>

<file path=ppt/slides/_rels/slide46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8.xml"/></Relationships>
</file>

<file path=ppt/slides/_rels/slide46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9.xml"/></Relationships>
</file>

<file path=ppt/slides/_rels/slide47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0.xml"/></Relationships>
</file>

<file path=ppt/slides/_rels/slide47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1.xml"/></Relationships>
</file>

<file path=ppt/slides/_rels/slide47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2.xml"/></Relationships>
</file>

<file path=ppt/slides/_rels/slide47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3.xml"/></Relationships>
</file>

<file path=ppt/slides/_rels/slide47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4.xml"/></Relationships>
</file>

<file path=ppt/slides/_rels/slide47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5.xml"/></Relationships>
</file>

<file path=ppt/slides/_rels/slide47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6.xml"/></Relationships>
</file>

<file path=ppt/slides/_rels/slide47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7.xml"/></Relationships>
</file>

<file path=ppt/slides/_rels/slide47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478.xml"/></Relationships>
</file>

<file path=ppt/slides/_rels/slide47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9.xml"/><Relationship Id="rId3" Type="http://schemas.openxmlformats.org/officeDocument/2006/relationships/image" Target="../media/image21.png"/></Relationships>
</file>

<file path=ppt/slides/_rels/slide48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0.xml"/><Relationship Id="rId3" Type="http://schemas.openxmlformats.org/officeDocument/2006/relationships/image" Target="../media/image21.png"/></Relationships>
</file>

<file path=ppt/slides/_rels/slide48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1.xml"/><Relationship Id="rId3" Type="http://schemas.openxmlformats.org/officeDocument/2006/relationships/image" Target="../media/image21.png"/></Relationships>
</file>

<file path=ppt/slides/_rels/slide48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2.xml"/><Relationship Id="rId3" Type="http://schemas.openxmlformats.org/officeDocument/2006/relationships/image" Target="../media/image21.png"/></Relationships>
</file>

<file path=ppt/slides/_rels/slide48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3.xml"/></Relationships>
</file>

<file path=ppt/slides/_rels/slide48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4.xml"/></Relationships>
</file>

<file path=ppt/slides/_rels/slide48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5.xml"/></Relationships>
</file>

<file path=ppt/slides/_rels/slide48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6.xml"/></Relationships>
</file>

<file path=ppt/slides/_rels/slide48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7.xml"/></Relationships>
</file>

<file path=ppt/slides/_rels/slide48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8.xml"/></Relationships>
</file>

<file path=ppt/slides/_rels/slide48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9.xml"/></Relationships>
</file>

<file path=ppt/slides/_rels/slide49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0.xml"/></Relationships>
</file>

<file path=ppt/slides/_rels/slide49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1.xml"/></Relationships>
</file>

<file path=ppt/slides/_rels/slide49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2.xml"/></Relationships>
</file>

<file path=ppt/slides/_rels/slide49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3.xml"/></Relationships>
</file>

<file path=ppt/slides/_rels/slide49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4.xml"/></Relationships>
</file>

<file path=ppt/slides/_rels/slide49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5.xml"/></Relationships>
</file>

<file path=ppt/slides/_rels/slide49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6.xml"/></Relationships>
</file>

<file path=ppt/slides/_rels/slide49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7.xml"/></Relationships>
</file>

<file path=ppt/slides/_rels/slide49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8.xml"/></Relationships>
</file>

<file path=ppt/slides/_rels/slide49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9.xml"/></Relationships>
</file>

<file path=ppt/slides/_rels/slide50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0.xml"/></Relationships>
</file>

<file path=ppt/slides/_rels/slide50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1.xml"/></Relationships>
</file>

<file path=ppt/slides/_rels/slide50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2.xml"/><Relationship Id="rId3" Type="http://schemas.openxmlformats.org/officeDocument/2006/relationships/image" Target="../media/image82.jpg"/></Relationships>
</file>

<file path=ppt/slides/_rels/slide50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3.xml"/><Relationship Id="rId3" Type="http://schemas.openxmlformats.org/officeDocument/2006/relationships/image" Target="../media/image82.jpg"/></Relationships>
</file>

<file path=ppt/slides/_rels/slide50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4.xml"/><Relationship Id="rId3" Type="http://schemas.openxmlformats.org/officeDocument/2006/relationships/image" Target="../media/image82.jpg"/></Relationships>
</file>

<file path=ppt/slides/_rels/slide50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5.xml"/><Relationship Id="rId3" Type="http://schemas.openxmlformats.org/officeDocument/2006/relationships/image" Target="../media/image69.jpg"/></Relationships>
</file>

<file path=ppt/slides/_rels/slide50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6.xml"/><Relationship Id="rId3" Type="http://schemas.openxmlformats.org/officeDocument/2006/relationships/image" Target="../media/image69.jpg"/></Relationships>
</file>

<file path=ppt/slides/_rels/slide50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7.xml"/><Relationship Id="rId3" Type="http://schemas.openxmlformats.org/officeDocument/2006/relationships/image" Target="../media/image81.png"/></Relationships>
</file>

<file path=ppt/slides/_rels/slide50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8.xml"/><Relationship Id="rId3" Type="http://schemas.openxmlformats.org/officeDocument/2006/relationships/image" Target="../media/image81.png"/></Relationships>
</file>

<file path=ppt/slides/_rels/slide50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9.xml"/></Relationships>
</file>

<file path=ppt/slides/_rels/slide5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0.xml"/></Relationships>
</file>

<file path=ppt/slides/_rels/slide5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1.xml"/></Relationships>
</file>

<file path=ppt/slides/_rels/slide5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2.xml"/></Relationships>
</file>

<file path=ppt/slides/_rels/slide5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3.xml"/></Relationships>
</file>

<file path=ppt/slides/_rels/slide5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4.xml"/></Relationships>
</file>

<file path=ppt/slides/_rels/slide5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5.xml"/></Relationships>
</file>

<file path=ppt/slides/_rels/slide5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16.xml"/></Relationships>
</file>

<file path=ppt/slides/_rels/slide5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7.xml"/></Relationships>
</file>

<file path=ppt/slides/_rels/slide5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8.xml"/></Relationships>
</file>

<file path=ppt/slides/_rels/slide5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9.xml"/></Relationships>
</file>

<file path=ppt/slides/_rels/slide5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0.xml"/><Relationship Id="rId3" Type="http://schemas.openxmlformats.org/officeDocument/2006/relationships/image" Target="../media/image84.png"/></Relationships>
</file>

<file path=ppt/slides/_rels/slide5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1.xml"/><Relationship Id="rId3" Type="http://schemas.openxmlformats.org/officeDocument/2006/relationships/image" Target="../media/image71.gif"/></Relationships>
</file>

<file path=ppt/slides/_rels/slide5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2.xml"/><Relationship Id="rId3" Type="http://schemas.openxmlformats.org/officeDocument/2006/relationships/image" Target="../media/image64.jpg"/></Relationships>
</file>

<file path=ppt/slides/_rels/slide5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3.xml"/><Relationship Id="rId3" Type="http://schemas.openxmlformats.org/officeDocument/2006/relationships/image" Target="../media/image66.jpg"/></Relationships>
</file>

<file path=ppt/slides/_rels/slide5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4.xml"/></Relationships>
</file>

<file path=ppt/slides/_rels/slide5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5.xml"/></Relationships>
</file>

<file path=ppt/slides/_rels/slide5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6.xml"/></Relationships>
</file>

<file path=ppt/slides/_rels/slide5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7.xml"/></Relationships>
</file>

<file path=ppt/slides/_rels/slide5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8.xml"/></Relationships>
</file>

<file path=ppt/slides/_rels/slide5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29.xml"/></Relationships>
</file>

<file path=ppt/slides/_rels/slide5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0.xml"/></Relationships>
</file>

<file path=ppt/slides/_rels/slide5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1.xml"/></Relationships>
</file>

<file path=ppt/slides/_rels/slide5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2.xml"/><Relationship Id="rId3" Type="http://schemas.openxmlformats.org/officeDocument/2006/relationships/image" Target="../media/image68.png"/></Relationships>
</file>

<file path=ppt/slides/_rels/slide5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3.xml"/><Relationship Id="rId3" Type="http://schemas.openxmlformats.org/officeDocument/2006/relationships/image" Target="../media/image73.png"/></Relationships>
</file>

<file path=ppt/slides/_rels/slide5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4.xml"/></Relationships>
</file>

<file path=ppt/slides/_rels/slide5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5.xml"/></Relationships>
</file>

<file path=ppt/slides/_rels/slide5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6.xml"/></Relationships>
</file>

<file path=ppt/slides/_rels/slide5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7.xml"/></Relationships>
</file>

<file path=ppt/slides/_rels/slide5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8.xml"/></Relationships>
</file>

<file path=ppt/slides/_rels/slide5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39.xml"/><Relationship Id="rId3" Type="http://schemas.openxmlformats.org/officeDocument/2006/relationships/image" Target="../media/image75.png"/><Relationship Id="rId4" Type="http://schemas.openxmlformats.org/officeDocument/2006/relationships/image" Target="../media/image77.png"/></Relationships>
</file>

<file path=ppt/slides/_rels/slide5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0.xml"/><Relationship Id="rId3" Type="http://schemas.openxmlformats.org/officeDocument/2006/relationships/image" Target="../media/image75.png"/><Relationship Id="rId4" Type="http://schemas.openxmlformats.org/officeDocument/2006/relationships/image" Target="../media/image77.png"/></Relationships>
</file>

<file path=ppt/slides/_rels/slide5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1.xml"/><Relationship Id="rId3" Type="http://schemas.openxmlformats.org/officeDocument/2006/relationships/image" Target="../media/image75.png"/><Relationship Id="rId4" Type="http://schemas.openxmlformats.org/officeDocument/2006/relationships/image" Target="../media/image77.png"/></Relationships>
</file>

<file path=ppt/slides/_rels/slide5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2.xml"/></Relationships>
</file>

<file path=ppt/slides/_rels/slide5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3.xml"/></Relationships>
</file>

<file path=ppt/slides/_rels/slide5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4.xml"/></Relationships>
</file>

<file path=ppt/slides/_rels/slide5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5.xml"/></Relationships>
</file>

<file path=ppt/slides/_rels/slide5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6.xml"/></Relationships>
</file>

<file path=ppt/slides/_rels/slide5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7.xml"/></Relationships>
</file>

<file path=ppt/slides/_rels/slide5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8.xml"/></Relationships>
</file>

<file path=ppt/slides/_rels/slide5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49.xml"/></Relationships>
</file>

<file path=ppt/slides/_rels/slide5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0.xml"/></Relationships>
</file>

<file path=ppt/slides/_rels/slide5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1.xml"/></Relationships>
</file>

<file path=ppt/slides/_rels/slide5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2.xml"/></Relationships>
</file>

<file path=ppt/slides/_rels/slide5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3.xml"/></Relationships>
</file>

<file path=ppt/slides/_rels/slide5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4.xml"/></Relationships>
</file>

<file path=ppt/slides/_rels/slide5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5.xml"/></Relationships>
</file>

<file path=ppt/slides/_rels/slide5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6.xml"/><Relationship Id="rId3" Type="http://schemas.openxmlformats.org/officeDocument/2006/relationships/image" Target="../media/image84.png"/></Relationships>
</file>

<file path=ppt/slides/_rels/slide5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7.xml"/><Relationship Id="rId3" Type="http://schemas.openxmlformats.org/officeDocument/2006/relationships/image" Target="../media/image71.gif"/></Relationships>
</file>

<file path=ppt/slides/_rels/slide5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8.xml"/><Relationship Id="rId3" Type="http://schemas.openxmlformats.org/officeDocument/2006/relationships/image" Target="../media/image64.jpg"/></Relationships>
</file>

<file path=ppt/slides/_rels/slide5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9.xml"/><Relationship Id="rId3" Type="http://schemas.openxmlformats.org/officeDocument/2006/relationships/image" Target="../media/image66.jpg"/></Relationships>
</file>

<file path=ppt/slides/_rels/slide5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0.xml"/></Relationships>
</file>

<file path=ppt/slides/_rels/slide5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1.xml"/></Relationships>
</file>

<file path=ppt/slides/_rels/slide5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62.xml"/></Relationships>
</file>

<file path=ppt/slides/_rels/slide5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563.xml"/></Relationships>
</file>

<file path=ppt/slides/_rels/slide56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564.xml"/></Relationships>
</file>

<file path=ppt/slides/_rels/slide56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5.xml"/><Relationship Id="rId3" Type="http://schemas.openxmlformats.org/officeDocument/2006/relationships/image" Target="../media/image15.png"/></Relationships>
</file>

<file path=ppt/slides/_rels/slide56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6.xml"/></Relationships>
</file>

<file path=ppt/slides/_rels/slide56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7.xml"/></Relationships>
</file>

<file path=ppt/slides/_rels/slide56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8.xml"/></Relationships>
</file>

<file path=ppt/slides/_rels/slide56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9.xml"/></Relationships>
</file>

<file path=ppt/slides/_rels/slide57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0.xml"/></Relationships>
</file>

<file path=ppt/slides/_rels/slide57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1.xml"/><Relationship Id="rId3" Type="http://schemas.openxmlformats.org/officeDocument/2006/relationships/image" Target="../media/image80.png"/><Relationship Id="rId4" Type="http://schemas.openxmlformats.org/officeDocument/2006/relationships/image" Target="../media/image93.png"/></Relationships>
</file>

<file path=ppt/slides/_rels/slide57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2.xml"/><Relationship Id="rId3" Type="http://schemas.openxmlformats.org/officeDocument/2006/relationships/image" Target="../media/image96.png"/><Relationship Id="rId4" Type="http://schemas.openxmlformats.org/officeDocument/2006/relationships/image" Target="../media/image83.png"/><Relationship Id="rId5" Type="http://schemas.openxmlformats.org/officeDocument/2006/relationships/image" Target="../media/image79.png"/></Relationships>
</file>

<file path=ppt/slides/_rels/slide57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3.xml"/><Relationship Id="rId3" Type="http://schemas.openxmlformats.org/officeDocument/2006/relationships/image" Target="../media/image76.png"/></Relationships>
</file>

<file path=ppt/slides/_rels/slide57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4.xml"/><Relationship Id="rId3" Type="http://schemas.openxmlformats.org/officeDocument/2006/relationships/image" Target="../media/image76.png"/></Relationships>
</file>

<file path=ppt/slides/_rels/slide57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5.xml"/><Relationship Id="rId3" Type="http://schemas.openxmlformats.org/officeDocument/2006/relationships/image" Target="../media/image76.png"/></Relationships>
</file>

<file path=ppt/slides/_rels/slide57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6.xml"/><Relationship Id="rId3" Type="http://schemas.openxmlformats.org/officeDocument/2006/relationships/image" Target="../media/image96.png"/><Relationship Id="rId4" Type="http://schemas.openxmlformats.org/officeDocument/2006/relationships/image" Target="../media/image83.png"/><Relationship Id="rId5" Type="http://schemas.openxmlformats.org/officeDocument/2006/relationships/image" Target="../media/image79.png"/></Relationships>
</file>

<file path=ppt/slides/_rels/slide57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7.xml"/><Relationship Id="rId3" Type="http://schemas.openxmlformats.org/officeDocument/2006/relationships/image" Target="../media/image96.png"/><Relationship Id="rId4" Type="http://schemas.openxmlformats.org/officeDocument/2006/relationships/image" Target="../media/image83.png"/><Relationship Id="rId5" Type="http://schemas.openxmlformats.org/officeDocument/2006/relationships/image" Target="../media/image79.png"/></Relationships>
</file>

<file path=ppt/slides/_rels/slide57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78.xml"/></Relationships>
</file>

<file path=ppt/slides/_rels/slide57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9.xml"/><Relationship Id="rId3" Type="http://schemas.openxmlformats.org/officeDocument/2006/relationships/image" Target="../media/image88.png"/></Relationships>
</file>

<file path=ppt/slides/_rels/slide58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0.xml"/><Relationship Id="rId3" Type="http://schemas.openxmlformats.org/officeDocument/2006/relationships/image" Target="../media/image88.png"/></Relationships>
</file>

<file path=ppt/slides/_rels/slide58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1.xml"/><Relationship Id="rId3" Type="http://schemas.openxmlformats.org/officeDocument/2006/relationships/image" Target="../media/image102.png"/><Relationship Id="rId4" Type="http://schemas.openxmlformats.org/officeDocument/2006/relationships/image" Target="../media/image88.png"/></Relationships>
</file>

<file path=ppt/slides/_rels/slide58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2.xml"/><Relationship Id="rId3" Type="http://schemas.openxmlformats.org/officeDocument/2006/relationships/image" Target="../media/image90.png"/><Relationship Id="rId4" Type="http://schemas.openxmlformats.org/officeDocument/2006/relationships/image" Target="../media/image88.png"/></Relationships>
</file>

<file path=ppt/slides/_rels/slide58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3.xml"/><Relationship Id="rId3" Type="http://schemas.openxmlformats.org/officeDocument/2006/relationships/image" Target="../media/image87.png"/><Relationship Id="rId4" Type="http://schemas.openxmlformats.org/officeDocument/2006/relationships/image" Target="../media/image88.png"/></Relationships>
</file>

<file path=ppt/slides/_rels/slide58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4.xml"/><Relationship Id="rId3" Type="http://schemas.openxmlformats.org/officeDocument/2006/relationships/image" Target="../media/image88.png"/></Relationships>
</file>

<file path=ppt/slides/_rels/slide58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5.xml"/><Relationship Id="rId3" Type="http://schemas.openxmlformats.org/officeDocument/2006/relationships/image" Target="../media/image88.png"/></Relationships>
</file>

<file path=ppt/slides/_rels/slide58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6.xml"/><Relationship Id="rId3" Type="http://schemas.openxmlformats.org/officeDocument/2006/relationships/image" Target="../media/image88.png"/></Relationships>
</file>

<file path=ppt/slides/_rels/slide58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7.xml"/><Relationship Id="rId3" Type="http://schemas.openxmlformats.org/officeDocument/2006/relationships/image" Target="../media/image88.png"/></Relationships>
</file>

<file path=ppt/slides/_rels/slide58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8.xml"/><Relationship Id="rId3" Type="http://schemas.openxmlformats.org/officeDocument/2006/relationships/image" Target="../media/image88.png"/></Relationships>
</file>

<file path=ppt/slides/_rels/slide58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9.xml"/><Relationship Id="rId3" Type="http://schemas.openxmlformats.org/officeDocument/2006/relationships/image" Target="../media/image85.png"/></Relationships>
</file>

<file path=ppt/slides/_rels/slide59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0.xml"/><Relationship Id="rId3" Type="http://schemas.openxmlformats.org/officeDocument/2006/relationships/image" Target="../media/image99.gif"/></Relationships>
</file>

<file path=ppt/slides/_rels/slide59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1.xml"/><Relationship Id="rId3" Type="http://schemas.openxmlformats.org/officeDocument/2006/relationships/image" Target="../media/image89.gif"/></Relationships>
</file>

<file path=ppt/slides/_rels/slide59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2.xml"/><Relationship Id="rId3" Type="http://schemas.openxmlformats.org/officeDocument/2006/relationships/image" Target="../media/image85.png"/></Relationships>
</file>

<file path=ppt/slides/_rels/slide59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3.xml"/></Relationships>
</file>

<file path=ppt/slides/_rels/slide59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4.xml"/><Relationship Id="rId3" Type="http://schemas.openxmlformats.org/officeDocument/2006/relationships/image" Target="../media/image86.png"/></Relationships>
</file>

<file path=ppt/slides/_rels/slide59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5.xml"/><Relationship Id="rId3" Type="http://schemas.openxmlformats.org/officeDocument/2006/relationships/image" Target="../media/image95.png"/></Relationships>
</file>

<file path=ppt/slides/_rels/slide59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6.xml"/><Relationship Id="rId3" Type="http://schemas.openxmlformats.org/officeDocument/2006/relationships/image" Target="../media/image95.png"/></Relationships>
</file>

<file path=ppt/slides/_rels/slide59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7.xml"/><Relationship Id="rId3" Type="http://schemas.openxmlformats.org/officeDocument/2006/relationships/image" Target="../media/image95.png"/></Relationships>
</file>

<file path=ppt/slides/_rels/slide59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8.xml"/><Relationship Id="rId3" Type="http://schemas.openxmlformats.org/officeDocument/2006/relationships/image" Target="../media/image95.png"/></Relationships>
</file>

<file path=ppt/slides/_rels/slide59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9.xml"/><Relationship Id="rId3" Type="http://schemas.openxmlformats.org/officeDocument/2006/relationships/image" Target="../media/image94.png"/></Relationships>
</file>

<file path=ppt/slides/_rels/slide60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0.xml"/><Relationship Id="rId3" Type="http://schemas.openxmlformats.org/officeDocument/2006/relationships/image" Target="../media/image86.png"/></Relationships>
</file>

<file path=ppt/slides/_rels/slide60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601.xml"/></Relationships>
</file>

<file path=ppt/slides/_rels/slide60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02.xml"/><Relationship Id="rId3" Type="http://schemas.openxmlformats.org/officeDocument/2006/relationships/hyperlink" Target="http://www.theatlantic.com/technology/archive/2012/04/the-100-year-march-of-technology-in-1-graph/255573/" TargetMode="External"/><Relationship Id="rId4" Type="http://schemas.openxmlformats.org/officeDocument/2006/relationships/image" Target="../media/image114.gif"/></Relationships>
</file>

<file path=ppt/slides/_rels/slide60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3.xml"/></Relationships>
</file>

<file path=ppt/slides/_rels/slide60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4.xml"/></Relationships>
</file>

<file path=ppt/slides/_rels/slide60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5.xml"/></Relationships>
</file>

<file path=ppt/slides/_rels/slide60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6.xml"/></Relationships>
</file>

<file path=ppt/slides/_rels/slide60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7.xml"/></Relationships>
</file>

<file path=ppt/slides/_rels/slide60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8.xml"/></Relationships>
</file>

<file path=ppt/slides/_rels/slide60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09.xml"/><Relationship Id="rId3" Type="http://schemas.openxmlformats.org/officeDocument/2006/relationships/image" Target="../media/image107.png"/></Relationships>
</file>

<file path=ppt/slides/_rels/slide6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10.xml"/><Relationship Id="rId3" Type="http://schemas.openxmlformats.org/officeDocument/2006/relationships/hyperlink" Target="http://www.theatlantic.com/technology/archive/2012/04/the-100-year-march-of-technology-in-1-graph/255573/" TargetMode="External"/><Relationship Id="rId4" Type="http://schemas.openxmlformats.org/officeDocument/2006/relationships/image" Target="../media/image114.gif"/></Relationships>
</file>

<file path=ppt/slides/_rels/slide6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1.xml"/><Relationship Id="rId3" Type="http://schemas.openxmlformats.org/officeDocument/2006/relationships/image" Target="../media/image97.jpg"/></Relationships>
</file>

<file path=ppt/slides/_rels/slide6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2.xml"/></Relationships>
</file>

<file path=ppt/slides/_rels/slide6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3.xml"/></Relationships>
</file>

<file path=ppt/slides/_rels/slide6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4.xml"/><Relationship Id="rId3" Type="http://schemas.openxmlformats.org/officeDocument/2006/relationships/hyperlink" Target="http://www.youtube.com/watch?v=pJfq-o5nZQ4" TargetMode="External"/><Relationship Id="rId4" Type="http://schemas.openxmlformats.org/officeDocument/2006/relationships/image" Target="../media/image101.jpg"/><Relationship Id="rId5" Type="http://schemas.openxmlformats.org/officeDocument/2006/relationships/hyperlink" Target="https://www.nature.com/articles/srep00454" TargetMode="External"/><Relationship Id="rId6" Type="http://schemas.openxmlformats.org/officeDocument/2006/relationships/image" Target="../media/image92.jpg"/><Relationship Id="rId7" Type="http://schemas.openxmlformats.org/officeDocument/2006/relationships/hyperlink" Target="https://scholar.google.com/scholar?hl=en&amp;as_sdt=0%2C5&amp;q=papachristos+gun+violence+spread+contagion&amp;btnG=" TargetMode="External"/></Relationships>
</file>

<file path=ppt/slides/_rels/slide6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5.xml"/><Relationship Id="rId3" Type="http://schemas.openxmlformats.org/officeDocument/2006/relationships/hyperlink" Target="http://www.youtube.com/watch?v=5EyC3o4UsI0" TargetMode="External"/><Relationship Id="rId4" Type="http://schemas.openxmlformats.org/officeDocument/2006/relationships/image" Target="../media/image91.jpg"/></Relationships>
</file>

<file path=ppt/slides/_rels/slide6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6.xml"/><Relationship Id="rId3" Type="http://schemas.openxmlformats.org/officeDocument/2006/relationships/hyperlink" Target="http://netlogoweb.org/launch#http://netlogoweb.org/assets/modelslib/Sample%20Models/Networks/Small%20Worlds.nlogo" TargetMode="External"/><Relationship Id="rId4" Type="http://schemas.openxmlformats.org/officeDocument/2006/relationships/image" Target="../media/image100.png"/></Relationships>
</file>

<file path=ppt/slides/_rels/slide6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7.xml"/></Relationships>
</file>

<file path=ppt/slides/_rels/slide6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8.xml"/></Relationships>
</file>

<file path=ppt/slides/_rels/slide6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9.xml"/></Relationships>
</file>

<file path=ppt/slides/_rels/slide6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0.xml"/></Relationships>
</file>

<file path=ppt/slides/_rels/slide6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1.xml"/></Relationships>
</file>

<file path=ppt/slides/_rels/slide6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2.xml"/></Relationships>
</file>

<file path=ppt/slides/_rels/slide6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3.xml"/></Relationships>
</file>

<file path=ppt/slides/_rels/slide6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4.xml"/></Relationships>
</file>

<file path=ppt/slides/_rels/slide6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5.xml"/></Relationships>
</file>

<file path=ppt/slides/_rels/slide6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6.xml"/><Relationship Id="rId3" Type="http://schemas.openxmlformats.org/officeDocument/2006/relationships/hyperlink" Target="https://www.nature.com/articles/srep00197.pdf" TargetMode="External"/><Relationship Id="rId4" Type="http://schemas.openxmlformats.org/officeDocument/2006/relationships/image" Target="../media/image112.png"/><Relationship Id="rId5" Type="http://schemas.openxmlformats.org/officeDocument/2006/relationships/hyperlink" Target="https://www.nature.com/articles/srep00197.pdf" TargetMode="External"/><Relationship Id="rId6" Type="http://schemas.openxmlformats.org/officeDocument/2006/relationships/hyperlink" Target="https://www.nature.com/articles/srep00197.pdf" TargetMode="External"/><Relationship Id="rId7" Type="http://schemas.openxmlformats.org/officeDocument/2006/relationships/hyperlink" Target="https://www.nature.com/articles/srep00197.pdf" TargetMode="External"/><Relationship Id="rId8" Type="http://schemas.openxmlformats.org/officeDocument/2006/relationships/image" Target="../media/image108.jpg"/></Relationships>
</file>

<file path=ppt/slides/_rels/slide6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7.xml"/><Relationship Id="rId3" Type="http://schemas.openxmlformats.org/officeDocument/2006/relationships/hyperlink" Target="https://www.nature.com/articles/srep00197.pdf" TargetMode="External"/><Relationship Id="rId4" Type="http://schemas.openxmlformats.org/officeDocument/2006/relationships/image" Target="../media/image112.png"/><Relationship Id="rId5" Type="http://schemas.openxmlformats.org/officeDocument/2006/relationships/hyperlink" Target="https://www.nature.com/articles/srep00197.pdf" TargetMode="External"/><Relationship Id="rId6" Type="http://schemas.openxmlformats.org/officeDocument/2006/relationships/hyperlink" Target="https://www.nature.com/articles/srep00197.pdf" TargetMode="External"/><Relationship Id="rId7" Type="http://schemas.openxmlformats.org/officeDocument/2006/relationships/hyperlink" Target="https://www.nature.com/articles/srep00197.pdf" TargetMode="External"/><Relationship Id="rId8" Type="http://schemas.openxmlformats.org/officeDocument/2006/relationships/image" Target="../media/image108.jpg"/></Relationships>
</file>

<file path=ppt/slides/_rels/slide6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8.xml"/><Relationship Id="rId3" Type="http://schemas.openxmlformats.org/officeDocument/2006/relationships/hyperlink" Target="https://www.nature.com/articles/srep00197.pdf" TargetMode="External"/><Relationship Id="rId4" Type="http://schemas.openxmlformats.org/officeDocument/2006/relationships/image" Target="../media/image112.png"/><Relationship Id="rId5" Type="http://schemas.openxmlformats.org/officeDocument/2006/relationships/hyperlink" Target="https://www.nature.com/articles/srep00197.pdf" TargetMode="External"/><Relationship Id="rId6" Type="http://schemas.openxmlformats.org/officeDocument/2006/relationships/hyperlink" Target="https://www.nature.com/articles/srep00197.pdf" TargetMode="External"/><Relationship Id="rId7" Type="http://schemas.openxmlformats.org/officeDocument/2006/relationships/hyperlink" Target="https://www.nature.com/articles/srep00197.pdf" TargetMode="External"/><Relationship Id="rId8" Type="http://schemas.openxmlformats.org/officeDocument/2006/relationships/image" Target="../media/image108.jpg"/></Relationships>
</file>

<file path=ppt/slides/_rels/slide6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29.xml"/><Relationship Id="rId3" Type="http://schemas.openxmlformats.org/officeDocument/2006/relationships/image" Target="../media/image98.png"/></Relationships>
</file>

<file path=ppt/slides/_rels/slide6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30.xml"/><Relationship Id="rId3" Type="http://schemas.openxmlformats.org/officeDocument/2006/relationships/image" Target="../media/image98.png"/></Relationships>
</file>

<file path=ppt/slides/_rels/slide6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31.xml"/><Relationship Id="rId3" Type="http://schemas.openxmlformats.org/officeDocument/2006/relationships/image" Target="../media/image98.png"/></Relationships>
</file>

<file path=ppt/slides/_rels/slide6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32.xml"/><Relationship Id="rId3" Type="http://schemas.openxmlformats.org/officeDocument/2006/relationships/image" Target="../media/image98.png"/></Relationships>
</file>

<file path=ppt/slides/_rels/slide6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33.xml"/><Relationship Id="rId3" Type="http://schemas.openxmlformats.org/officeDocument/2006/relationships/image" Target="../media/image113.png"/><Relationship Id="rId4" Type="http://schemas.openxmlformats.org/officeDocument/2006/relationships/hyperlink" Target="http://timkastelle.org/blog/2012/02/two-problems-caused-by-the-innovation-diffusion-curve/" TargetMode="External"/></Relationships>
</file>

<file path=ppt/slides/_rels/slide6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34.xml"/><Relationship Id="rId3" Type="http://schemas.openxmlformats.org/officeDocument/2006/relationships/image" Target="../media/image98.png"/></Relationships>
</file>

<file path=ppt/slides/_rels/slide6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35.xml"/><Relationship Id="rId3" Type="http://schemas.openxmlformats.org/officeDocument/2006/relationships/image" Target="../media/image110.jpg"/></Relationships>
</file>

<file path=ppt/slides/_rels/slide6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36.xml"/><Relationship Id="rId3" Type="http://schemas.openxmlformats.org/officeDocument/2006/relationships/image" Target="../media/image110.jpg"/></Relationships>
</file>

<file path=ppt/slides/_rels/slide6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37.xml"/><Relationship Id="rId3" Type="http://schemas.openxmlformats.org/officeDocument/2006/relationships/image" Target="../media/image110.jpg"/></Relationships>
</file>

<file path=ppt/slides/_rels/slide6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38.xml"/><Relationship Id="rId3" Type="http://schemas.openxmlformats.org/officeDocument/2006/relationships/image" Target="../media/image110.jpg"/></Relationships>
</file>

<file path=ppt/slides/_rels/slide6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39.xml"/></Relationships>
</file>

<file path=ppt/slides/_rels/slide6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0.xml"/></Relationships>
</file>

<file path=ppt/slides/_rels/slide6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1.xml"/></Relationships>
</file>

<file path=ppt/slides/_rels/slide6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2.xml"/></Relationships>
</file>

<file path=ppt/slides/_rels/slide6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3.xml"/></Relationships>
</file>

<file path=ppt/slides/_rels/slide6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4.xml"/></Relationships>
</file>

<file path=ppt/slides/_rels/slide6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5.xml"/></Relationships>
</file>

<file path=ppt/slides/_rels/slide6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646.xml"/></Relationships>
</file>

<file path=ppt/slides/_rels/slide6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7.xml"/></Relationships>
</file>

<file path=ppt/slides/_rels/slide6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8.xml"/></Relationships>
</file>

<file path=ppt/slides/_rels/slide6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9.xml"/><Relationship Id="rId3" Type="http://schemas.openxmlformats.org/officeDocument/2006/relationships/image" Target="../media/image28.png"/></Relationships>
</file>

<file path=ppt/slides/_rels/slide6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0.xml"/><Relationship Id="rId3" Type="http://schemas.openxmlformats.org/officeDocument/2006/relationships/image" Target="../media/image118.png"/></Relationships>
</file>

<file path=ppt/slides/_rels/slide6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1.xml"/><Relationship Id="rId3" Type="http://schemas.openxmlformats.org/officeDocument/2006/relationships/image" Target="../media/image118.png"/></Relationships>
</file>

<file path=ppt/slides/_rels/slide6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2.xml"/><Relationship Id="rId3" Type="http://schemas.openxmlformats.org/officeDocument/2006/relationships/image" Target="../media/image111.png"/><Relationship Id="rId4" Type="http://schemas.openxmlformats.org/officeDocument/2006/relationships/image" Target="../media/image104.png"/><Relationship Id="rId5" Type="http://schemas.openxmlformats.org/officeDocument/2006/relationships/image" Target="../media/image103.png"/></Relationships>
</file>

<file path=ppt/slides/_rels/slide6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3.xml"/><Relationship Id="rId3" Type="http://schemas.openxmlformats.org/officeDocument/2006/relationships/image" Target="../media/image111.png"/><Relationship Id="rId4" Type="http://schemas.openxmlformats.org/officeDocument/2006/relationships/image" Target="../media/image104.png"/><Relationship Id="rId5" Type="http://schemas.openxmlformats.org/officeDocument/2006/relationships/image" Target="../media/image103.png"/></Relationships>
</file>

<file path=ppt/slides/_rels/slide6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4.xml"/></Relationships>
</file>

<file path=ppt/slides/_rels/slide6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5.xml"/></Relationships>
</file>

<file path=ppt/slides/_rels/slide6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6.xml"/></Relationships>
</file>

<file path=ppt/slides/_rels/slide6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7.xml"/></Relationships>
</file>

<file path=ppt/slides/_rels/slide6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8.xml"/></Relationships>
</file>

<file path=ppt/slides/_rels/slide6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659.xml"/></Relationships>
</file>

<file path=ppt/slides/_rels/slide6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0.xml"/><Relationship Id="rId3" Type="http://schemas.openxmlformats.org/officeDocument/2006/relationships/image" Target="../media/image106.jpg"/></Relationships>
</file>

<file path=ppt/slides/_rels/slide6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1.xml"/></Relationships>
</file>

<file path=ppt/slides/_rels/slide6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2.xml"/></Relationships>
</file>

<file path=ppt/slides/_rels/slide6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3.xml"/></Relationships>
</file>

<file path=ppt/slides/_rels/slide66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4.xml"/></Relationships>
</file>

<file path=ppt/slides/_rels/slide66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665.xml"/></Relationships>
</file>

<file path=ppt/slides/_rels/slide66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6.xml"/><Relationship Id="rId3" Type="http://schemas.openxmlformats.org/officeDocument/2006/relationships/image" Target="../media/image109.png"/></Relationships>
</file>

<file path=ppt/slides/_rels/slide66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7.xml"/></Relationships>
</file>

<file path=ppt/slides/_rels/slide66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668.xml"/></Relationships>
</file>

<file path=ppt/slides/_rels/slide66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69.xml"/></Relationships>
</file>

<file path=ppt/slides/_rels/slide67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0.xml"/><Relationship Id="rId3" Type="http://schemas.openxmlformats.org/officeDocument/2006/relationships/image" Target="../media/image119.jpg"/></Relationships>
</file>

<file path=ppt/slides/_rels/slide67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1.xml"/><Relationship Id="rId3" Type="http://schemas.openxmlformats.org/officeDocument/2006/relationships/image" Target="../media/image119.jpg"/></Relationships>
</file>

<file path=ppt/slides/_rels/slide67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2.xml"/><Relationship Id="rId3" Type="http://schemas.openxmlformats.org/officeDocument/2006/relationships/image" Target="../media/image119.jpg"/></Relationships>
</file>

<file path=ppt/slides/_rels/slide67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3.xml"/><Relationship Id="rId3" Type="http://schemas.openxmlformats.org/officeDocument/2006/relationships/image" Target="../media/image119.jpg"/><Relationship Id="rId4" Type="http://schemas.openxmlformats.org/officeDocument/2006/relationships/image" Target="../media/image117.jpg"/></Relationships>
</file>

<file path=ppt/slides/_rels/slide67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4.xml"/><Relationship Id="rId3" Type="http://schemas.openxmlformats.org/officeDocument/2006/relationships/image" Target="../media/image119.jpg"/><Relationship Id="rId4" Type="http://schemas.openxmlformats.org/officeDocument/2006/relationships/image" Target="../media/image117.jpg"/></Relationships>
</file>

<file path=ppt/slides/_rels/slide67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5.xml"/><Relationship Id="rId3" Type="http://schemas.openxmlformats.org/officeDocument/2006/relationships/image" Target="../media/image119.jpg"/><Relationship Id="rId4" Type="http://schemas.openxmlformats.org/officeDocument/2006/relationships/image" Target="../media/image117.jpg"/></Relationships>
</file>

<file path=ppt/slides/_rels/slide67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6.xml"/><Relationship Id="rId3" Type="http://schemas.openxmlformats.org/officeDocument/2006/relationships/image" Target="../media/image119.jpg"/><Relationship Id="rId4" Type="http://schemas.openxmlformats.org/officeDocument/2006/relationships/image" Target="../media/image117.jpg"/></Relationships>
</file>

<file path=ppt/slides/_rels/slide67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7.xml"/></Relationships>
</file>

<file path=ppt/slides/_rels/slide67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8.xml"/></Relationships>
</file>

<file path=ppt/slides/_rels/slide67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79.xml"/></Relationships>
</file>

<file path=ppt/slides/_rels/slide68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0.xml"/></Relationships>
</file>

<file path=ppt/slides/_rels/slide68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1.xml"/><Relationship Id="rId3" Type="http://schemas.openxmlformats.org/officeDocument/2006/relationships/image" Target="../media/image121.png"/><Relationship Id="rId4" Type="http://schemas.openxmlformats.org/officeDocument/2006/relationships/image" Target="../media/image115.png"/></Relationships>
</file>

<file path=ppt/slides/_rels/slide68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2.xml"/><Relationship Id="rId3" Type="http://schemas.openxmlformats.org/officeDocument/2006/relationships/image" Target="../media/image115.png"/><Relationship Id="rId4" Type="http://schemas.openxmlformats.org/officeDocument/2006/relationships/image" Target="../media/image116.png"/></Relationships>
</file>

<file path=ppt/slides/_rels/slide68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3.xml"/><Relationship Id="rId3" Type="http://schemas.openxmlformats.org/officeDocument/2006/relationships/image" Target="../media/image115.png"/></Relationships>
</file>

<file path=ppt/slides/_rels/slide68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4.xml"/><Relationship Id="rId3" Type="http://schemas.openxmlformats.org/officeDocument/2006/relationships/image" Target="../media/image115.png"/></Relationships>
</file>

<file path=ppt/slides/_rels/slide68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5.xml"/><Relationship Id="rId3" Type="http://schemas.openxmlformats.org/officeDocument/2006/relationships/image" Target="../media/image115.png"/></Relationships>
</file>

<file path=ppt/slides/_rels/slide68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6.xml"/><Relationship Id="rId3" Type="http://schemas.openxmlformats.org/officeDocument/2006/relationships/image" Target="../media/image115.png"/></Relationships>
</file>

<file path=ppt/slides/_rels/slide68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7.xml"/><Relationship Id="rId3" Type="http://schemas.openxmlformats.org/officeDocument/2006/relationships/image" Target="../media/image115.png"/></Relationships>
</file>

<file path=ppt/slides/_rels/slide68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8.xml"/></Relationships>
</file>

<file path=ppt/slides/_rels/slide68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89.xml"/></Relationships>
</file>

<file path=ppt/slides/_rels/slide69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0.xml"/></Relationships>
</file>

<file path=ppt/slides/_rels/slide69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1.xml"/></Relationships>
</file>

<file path=ppt/slides/_rels/slide69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2.xml"/></Relationships>
</file>

<file path=ppt/slides/_rels/slide69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3.xml"/></Relationships>
</file>

<file path=ppt/slides/_rels/slide69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4.xml"/><Relationship Id="rId3" Type="http://schemas.openxmlformats.org/officeDocument/2006/relationships/image" Target="../media/image122.png"/></Relationships>
</file>

<file path=ppt/slides/_rels/slide69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5.xml"/><Relationship Id="rId3" Type="http://schemas.openxmlformats.org/officeDocument/2006/relationships/image" Target="../media/image122.png"/></Relationships>
</file>

<file path=ppt/slides/_rels/slide69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6.xml"/><Relationship Id="rId3" Type="http://schemas.openxmlformats.org/officeDocument/2006/relationships/image" Target="../media/image122.png"/></Relationships>
</file>

<file path=ppt/slides/_rels/slide69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7.xml"/></Relationships>
</file>

<file path=ppt/slides/_rels/slide69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8.xml"/></Relationships>
</file>

<file path=ppt/slides/_rels/slide69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699.xml"/></Relationships>
</file>

<file path=ppt/slides/_rels/slide70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700.xml"/></Relationships>
</file>

<file path=ppt/slides/_rels/slide70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701.xml"/><Relationship Id="rId3" Type="http://schemas.openxmlformats.org/officeDocument/2006/relationships/image" Target="../media/image120.jpg"/></Relationships>
</file>

<file path=ppt/slides/_rels/slide70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702.xml"/><Relationship Id="rId3" Type="http://schemas.openxmlformats.org/officeDocument/2006/relationships/image" Target="../media/image120.jpg"/></Relationships>
</file>

<file path=ppt/slides/_rels/slide70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703.xml"/><Relationship Id="rId3" Type="http://schemas.openxmlformats.org/officeDocument/2006/relationships/image" Target="../media/image120.jpg"/></Relationships>
</file>

<file path=ppt/slides/_rels/slide70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704.xml"/><Relationship Id="rId3" Type="http://schemas.openxmlformats.org/officeDocument/2006/relationships/image" Target="../media/image120.jpg"/></Relationships>
</file>

<file path=ppt/slides/_rels/slide70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705.xml"/></Relationships>
</file>

<file path=ppt/slides/_rels/slide70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706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p50"/>
          <p:cNvSpPr txBox="1"/>
          <p:nvPr>
            <p:ph idx="1" type="body"/>
          </p:nvPr>
        </p:nvSpPr>
        <p:spPr>
          <a:xfrm>
            <a:off x="319500" y="52577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network?</a:t>
            </a:r>
            <a:endParaRPr b="1" sz="3000"/>
          </a:p>
        </p:txBody>
      </p:sp>
      <p:pic>
        <p:nvPicPr>
          <p:cNvPr id="217" name="Google Shape;217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91175" y="614688"/>
            <a:ext cx="5252818" cy="3914125"/>
          </a:xfrm>
          <a:prstGeom prst="rect">
            <a:avLst/>
          </a:prstGeom>
          <a:noFill/>
          <a:ln>
            <a:noFill/>
          </a:ln>
        </p:spPr>
      </p:pic>
      <p:sp>
        <p:nvSpPr>
          <p:cNvPr id="218" name="Google Shape;218;p50"/>
          <p:cNvSpPr txBox="1"/>
          <p:nvPr/>
        </p:nvSpPr>
        <p:spPr>
          <a:xfrm>
            <a:off x="319500" y="1314775"/>
            <a:ext cx="3463500" cy="171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Char char="●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A set of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entities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Nodes, Vertices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Char char="●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Joined via a set of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relations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Links, Ties, Edges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3" name="Google Shape;223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91175" y="614688"/>
            <a:ext cx="5252818" cy="3914125"/>
          </a:xfrm>
          <a:prstGeom prst="rect">
            <a:avLst/>
          </a:prstGeom>
          <a:noFill/>
          <a:ln>
            <a:noFill/>
          </a:ln>
        </p:spPr>
      </p:pic>
      <p:sp>
        <p:nvSpPr>
          <p:cNvPr id="224" name="Google Shape;224;p51"/>
          <p:cNvSpPr txBox="1"/>
          <p:nvPr/>
        </p:nvSpPr>
        <p:spPr>
          <a:xfrm>
            <a:off x="319500" y="1314775"/>
            <a:ext cx="3463500" cy="171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Char char="●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A set of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entities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Nodes, Vertices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Char char="●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Joined via a set of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relations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Links, Ties, Edges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225" name="Google Shape;225;p51"/>
          <p:cNvSpPr txBox="1"/>
          <p:nvPr/>
        </p:nvSpPr>
        <p:spPr>
          <a:xfrm>
            <a:off x="319500" y="3258950"/>
            <a:ext cx="3056700" cy="146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In a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point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and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line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plot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○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Entities are some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shape (e.g., circles)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○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Relations are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lines</a:t>
            </a:r>
            <a:endParaRPr/>
          </a:p>
        </p:txBody>
      </p:sp>
      <p:sp>
        <p:nvSpPr>
          <p:cNvPr id="226" name="Google Shape;226;p51"/>
          <p:cNvSpPr txBox="1"/>
          <p:nvPr>
            <p:ph idx="1" type="body"/>
          </p:nvPr>
        </p:nvSpPr>
        <p:spPr>
          <a:xfrm>
            <a:off x="319500" y="52577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network?</a:t>
            </a:r>
            <a:endParaRPr b="1" sz="30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1" name="Google Shape;231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91175" y="614688"/>
            <a:ext cx="5252818" cy="3914125"/>
          </a:xfrm>
          <a:prstGeom prst="rect">
            <a:avLst/>
          </a:prstGeom>
          <a:noFill/>
          <a:ln>
            <a:noFill/>
          </a:ln>
        </p:spPr>
      </p:pic>
      <p:sp>
        <p:nvSpPr>
          <p:cNvPr id="232" name="Google Shape;232;p52"/>
          <p:cNvSpPr txBox="1"/>
          <p:nvPr/>
        </p:nvSpPr>
        <p:spPr>
          <a:xfrm>
            <a:off x="319500" y="1314775"/>
            <a:ext cx="3463500" cy="95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Playfair Display"/>
              <a:buChar char="●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Don’t confuse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pictures of networks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with the real thing!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233" name="Google Shape;233;p52"/>
          <p:cNvSpPr txBox="1"/>
          <p:nvPr/>
        </p:nvSpPr>
        <p:spPr>
          <a:xfrm>
            <a:off x="319500" y="3258950"/>
            <a:ext cx="3056700" cy="146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In a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point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and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line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plot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○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Entities are some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shape (e.g., circles)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○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Relations are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lines</a:t>
            </a:r>
            <a:endParaRPr/>
          </a:p>
        </p:txBody>
      </p:sp>
      <p:sp>
        <p:nvSpPr>
          <p:cNvPr id="234" name="Google Shape;234;p52"/>
          <p:cNvSpPr txBox="1"/>
          <p:nvPr>
            <p:ph idx="1" type="body"/>
          </p:nvPr>
        </p:nvSpPr>
        <p:spPr>
          <a:xfrm>
            <a:off x="319500" y="52577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network?</a:t>
            </a:r>
            <a:endParaRPr b="1" sz="300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53"/>
          <p:cNvSpPr txBox="1"/>
          <p:nvPr/>
        </p:nvSpPr>
        <p:spPr>
          <a:xfrm>
            <a:off x="616675" y="1509125"/>
            <a:ext cx="2012100" cy="206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Playfair Display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Lots of things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in the world are networks 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240" name="Google Shape;240;p53"/>
          <p:cNvSpPr/>
          <p:nvPr/>
        </p:nvSpPr>
        <p:spPr>
          <a:xfrm>
            <a:off x="4601226" y="1311875"/>
            <a:ext cx="1790100" cy="442500"/>
          </a:xfrm>
          <a:prstGeom prst="roundRect">
            <a:avLst>
              <a:gd fmla="val 50000" name="adj"/>
            </a:avLst>
          </a:pr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241" name="Google Shape;241;p53"/>
          <p:cNvSpPr/>
          <p:nvPr/>
        </p:nvSpPr>
        <p:spPr>
          <a:xfrm>
            <a:off x="4590425" y="2673950"/>
            <a:ext cx="18117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Technological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242" name="Google Shape;242;p53"/>
          <p:cNvSpPr/>
          <p:nvPr/>
        </p:nvSpPr>
        <p:spPr>
          <a:xfrm>
            <a:off x="2466875" y="2673825"/>
            <a:ext cx="13848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Social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43" name="Google Shape;243;p53"/>
          <p:cNvCxnSpPr>
            <a:stCxn id="240" idx="2"/>
            <a:endCxn id="241" idx="0"/>
          </p:cNvCxnSpPr>
          <p:nvPr/>
        </p:nvCxnSpPr>
        <p:spPr>
          <a:xfrm flipH="1" rot="-5400000">
            <a:off x="5036826" y="2213825"/>
            <a:ext cx="919500" cy="600"/>
          </a:xfrm>
          <a:prstGeom prst="bentConnector3">
            <a:avLst>
              <a:gd fmla="val 50004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44" name="Google Shape;244;p53"/>
          <p:cNvCxnSpPr>
            <a:stCxn id="242" idx="0"/>
            <a:endCxn id="240" idx="2"/>
          </p:cNvCxnSpPr>
          <p:nvPr/>
        </p:nvCxnSpPr>
        <p:spPr>
          <a:xfrm rot="-5400000">
            <a:off x="3868025" y="1045575"/>
            <a:ext cx="919500" cy="23370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45" name="Google Shape;245;p53"/>
          <p:cNvSpPr/>
          <p:nvPr/>
        </p:nvSpPr>
        <p:spPr>
          <a:xfrm>
            <a:off x="7140875" y="2673825"/>
            <a:ext cx="1790100" cy="442500"/>
          </a:xfrm>
          <a:prstGeom prst="roundRect">
            <a:avLst>
              <a:gd fmla="val 50000" name="adj"/>
            </a:avLst>
          </a:prstGeom>
          <a:solidFill>
            <a:srgbClr val="6AA84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Biological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46" name="Google Shape;246;p53"/>
          <p:cNvCxnSpPr>
            <a:stCxn id="245" idx="0"/>
            <a:endCxn id="240" idx="2"/>
          </p:cNvCxnSpPr>
          <p:nvPr/>
        </p:nvCxnSpPr>
        <p:spPr>
          <a:xfrm flipH="1" rot="5400000">
            <a:off x="6306425" y="944325"/>
            <a:ext cx="919500" cy="25395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47" name="Google Shape;247;p53"/>
          <p:cNvSpPr/>
          <p:nvPr/>
        </p:nvSpPr>
        <p:spPr>
          <a:xfrm>
            <a:off x="151725" y="4101525"/>
            <a:ext cx="11685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Schools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48" name="Google Shape;248;p53"/>
          <p:cNvCxnSpPr>
            <a:stCxn id="242" idx="2"/>
            <a:endCxn id="247" idx="0"/>
          </p:cNvCxnSpPr>
          <p:nvPr/>
        </p:nvCxnSpPr>
        <p:spPr>
          <a:xfrm rot="5400000">
            <a:off x="1454975" y="2397225"/>
            <a:ext cx="985200" cy="24234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49" name="Google Shape;249;p53"/>
          <p:cNvSpPr/>
          <p:nvPr/>
        </p:nvSpPr>
        <p:spPr>
          <a:xfrm>
            <a:off x="3018250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Workplaces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250" name="Google Shape;250;p53"/>
          <p:cNvSpPr/>
          <p:nvPr/>
        </p:nvSpPr>
        <p:spPr>
          <a:xfrm>
            <a:off x="839300" y="4606500"/>
            <a:ext cx="20121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Instagram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51" name="Google Shape;251;p53"/>
          <p:cNvCxnSpPr>
            <a:stCxn id="242" idx="2"/>
            <a:endCxn id="250" idx="0"/>
          </p:cNvCxnSpPr>
          <p:nvPr/>
        </p:nvCxnSpPr>
        <p:spPr>
          <a:xfrm rot="5400000">
            <a:off x="1757225" y="3204375"/>
            <a:ext cx="1490100" cy="1314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52" name="Google Shape;252;p53"/>
          <p:cNvCxnSpPr>
            <a:stCxn id="242" idx="2"/>
            <a:endCxn id="249" idx="0"/>
          </p:cNvCxnSpPr>
          <p:nvPr/>
        </p:nvCxnSpPr>
        <p:spPr>
          <a:xfrm flipH="1" rot="-5400000">
            <a:off x="2739725" y="3535875"/>
            <a:ext cx="1490100" cy="651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53" name="Google Shape;253;p53"/>
          <p:cNvSpPr/>
          <p:nvPr/>
        </p:nvSpPr>
        <p:spPr>
          <a:xfrm>
            <a:off x="5289125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The WWW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254" name="Google Shape;254;p53"/>
          <p:cNvSpPr/>
          <p:nvPr/>
        </p:nvSpPr>
        <p:spPr>
          <a:xfrm>
            <a:off x="5673975" y="331565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The Internet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255" name="Google Shape;255;p53"/>
          <p:cNvSpPr/>
          <p:nvPr/>
        </p:nvSpPr>
        <p:spPr>
          <a:xfrm>
            <a:off x="4399950" y="4099975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Airports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56" name="Google Shape;256;p53"/>
          <p:cNvCxnSpPr>
            <a:stCxn id="242" idx="2"/>
            <a:endCxn id="255" idx="0"/>
          </p:cNvCxnSpPr>
          <p:nvPr/>
        </p:nvCxnSpPr>
        <p:spPr>
          <a:xfrm flipH="1" rot="-5400000">
            <a:off x="3683825" y="2591775"/>
            <a:ext cx="983700" cy="20328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57" name="Google Shape;257;p53"/>
          <p:cNvCxnSpPr>
            <a:stCxn id="241" idx="2"/>
            <a:endCxn id="255" idx="0"/>
          </p:cNvCxnSpPr>
          <p:nvPr/>
        </p:nvCxnSpPr>
        <p:spPr>
          <a:xfrm rot="5400000">
            <a:off x="4852475" y="3456050"/>
            <a:ext cx="983400" cy="304200"/>
          </a:xfrm>
          <a:prstGeom prst="bentConnector3">
            <a:avLst>
              <a:gd fmla="val 50006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58" name="Google Shape;258;p53"/>
          <p:cNvCxnSpPr>
            <a:stCxn id="241" idx="2"/>
            <a:endCxn id="254" idx="0"/>
          </p:cNvCxnSpPr>
          <p:nvPr/>
        </p:nvCxnSpPr>
        <p:spPr>
          <a:xfrm flipH="1" rot="-5400000">
            <a:off x="5881475" y="2731250"/>
            <a:ext cx="199200" cy="9696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59" name="Google Shape;259;p53"/>
          <p:cNvCxnSpPr>
            <a:stCxn id="241" idx="2"/>
            <a:endCxn id="253" idx="0"/>
          </p:cNvCxnSpPr>
          <p:nvPr/>
        </p:nvCxnSpPr>
        <p:spPr>
          <a:xfrm flipH="1" rot="-5400000">
            <a:off x="5043725" y="3569000"/>
            <a:ext cx="1490100" cy="585000"/>
          </a:xfrm>
          <a:prstGeom prst="bentConnector3">
            <a:avLst>
              <a:gd fmla="val 49998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60" name="Google Shape;260;p53"/>
          <p:cNvCxnSpPr>
            <a:stCxn id="245" idx="2"/>
            <a:endCxn id="261" idx="0"/>
          </p:cNvCxnSpPr>
          <p:nvPr/>
        </p:nvCxnSpPr>
        <p:spPr>
          <a:xfrm rot="5400000">
            <a:off x="7192625" y="3289425"/>
            <a:ext cx="1016400" cy="670200"/>
          </a:xfrm>
          <a:prstGeom prst="bentConnector3">
            <a:avLst>
              <a:gd fmla="val 50002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61" name="Google Shape;261;p53"/>
          <p:cNvSpPr/>
          <p:nvPr/>
        </p:nvSpPr>
        <p:spPr>
          <a:xfrm>
            <a:off x="6573625" y="4132763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6AA84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The Brain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262" name="Google Shape;262;p53"/>
          <p:cNvSpPr/>
          <p:nvPr/>
        </p:nvSpPr>
        <p:spPr>
          <a:xfrm>
            <a:off x="7560000" y="4606488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6AA84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Ecosystems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63" name="Google Shape;263;p53"/>
          <p:cNvCxnSpPr>
            <a:stCxn id="245" idx="2"/>
            <a:endCxn id="262" idx="0"/>
          </p:cNvCxnSpPr>
          <p:nvPr/>
        </p:nvCxnSpPr>
        <p:spPr>
          <a:xfrm flipH="1" rot="-5400000">
            <a:off x="7448975" y="3703275"/>
            <a:ext cx="1490100" cy="316200"/>
          </a:xfrm>
          <a:prstGeom prst="bentConnector3">
            <a:avLst>
              <a:gd fmla="val 50002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64" name="Google Shape;264;p53"/>
          <p:cNvCxnSpPr>
            <a:stCxn id="242" idx="2"/>
            <a:endCxn id="253" idx="0"/>
          </p:cNvCxnSpPr>
          <p:nvPr/>
        </p:nvCxnSpPr>
        <p:spPr>
          <a:xfrm flipH="1" rot="-5400000">
            <a:off x="3875225" y="2400375"/>
            <a:ext cx="1490100" cy="2922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65" name="Google Shape;265;p53"/>
          <p:cNvCxnSpPr>
            <a:stCxn id="241" idx="2"/>
            <a:endCxn id="250" idx="0"/>
          </p:cNvCxnSpPr>
          <p:nvPr/>
        </p:nvCxnSpPr>
        <p:spPr>
          <a:xfrm rot="5400000">
            <a:off x="2925725" y="2036000"/>
            <a:ext cx="1490100" cy="3651000"/>
          </a:xfrm>
          <a:prstGeom prst="bentConnector3">
            <a:avLst>
              <a:gd fmla="val 49998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66" name="Google Shape;266;p53"/>
          <p:cNvSpPr txBox="1"/>
          <p:nvPr>
            <p:ph idx="1" type="body"/>
          </p:nvPr>
        </p:nvSpPr>
        <p:spPr>
          <a:xfrm>
            <a:off x="319500" y="52577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network?</a:t>
            </a:r>
            <a:endParaRPr b="1" sz="30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1" name="Google Shape;271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16325" y="62600"/>
            <a:ext cx="3215025" cy="2747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72" name="Google Shape;272;p54"/>
          <p:cNvPicPr preferRelativeResize="0"/>
          <p:nvPr/>
        </p:nvPicPr>
        <p:blipFill rotWithShape="1">
          <a:blip r:embed="rId4">
            <a:alphaModFix/>
          </a:blip>
          <a:srcRect b="18870" l="0" r="0" t="17767"/>
          <a:stretch/>
        </p:blipFill>
        <p:spPr>
          <a:xfrm>
            <a:off x="175200" y="212775"/>
            <a:ext cx="4336376" cy="27477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73" name="Google Shape;273;p5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93225" y="2164217"/>
            <a:ext cx="3215024" cy="2846157"/>
          </a:xfrm>
          <a:prstGeom prst="rect">
            <a:avLst/>
          </a:prstGeom>
          <a:noFill/>
          <a:ln>
            <a:noFill/>
          </a:ln>
        </p:spPr>
      </p:pic>
      <p:sp>
        <p:nvSpPr>
          <p:cNvPr id="274" name="Google Shape;274;p54"/>
          <p:cNvSpPr txBox="1"/>
          <p:nvPr/>
        </p:nvSpPr>
        <p:spPr>
          <a:xfrm>
            <a:off x="826575" y="2695700"/>
            <a:ext cx="2697600" cy="38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U.S. Airport Network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275" name="Google Shape;275;p54"/>
          <p:cNvSpPr txBox="1"/>
          <p:nvPr/>
        </p:nvSpPr>
        <p:spPr>
          <a:xfrm>
            <a:off x="2336750" y="4311400"/>
            <a:ext cx="1759800" cy="699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GoT’s Social Network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276" name="Google Shape;276;p54"/>
          <p:cNvSpPr txBox="1"/>
          <p:nvPr/>
        </p:nvSpPr>
        <p:spPr>
          <a:xfrm>
            <a:off x="7108250" y="2810375"/>
            <a:ext cx="1759800" cy="699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The Brain’s Neural Network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55"/>
          <p:cNvSpPr txBox="1"/>
          <p:nvPr>
            <p:ph idx="1" type="body"/>
          </p:nvPr>
        </p:nvSpPr>
        <p:spPr>
          <a:xfrm>
            <a:off x="616675" y="45862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social network?</a:t>
            </a:r>
            <a:endParaRPr b="1" sz="3000"/>
          </a:p>
        </p:txBody>
      </p:sp>
      <p:sp>
        <p:nvSpPr>
          <p:cNvPr id="282" name="Google Shape;282;p55"/>
          <p:cNvSpPr txBox="1"/>
          <p:nvPr/>
        </p:nvSpPr>
        <p:spPr>
          <a:xfrm>
            <a:off x="616675" y="1509125"/>
            <a:ext cx="2012100" cy="186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layfair Display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Some networks are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networks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283" name="Google Shape;283;p55"/>
          <p:cNvSpPr/>
          <p:nvPr/>
        </p:nvSpPr>
        <p:spPr>
          <a:xfrm>
            <a:off x="3810276" y="1247738"/>
            <a:ext cx="1790100" cy="442500"/>
          </a:xfrm>
          <a:prstGeom prst="roundRect">
            <a:avLst>
              <a:gd fmla="val 50000" name="adj"/>
            </a:avLst>
          </a:pr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284" name="Google Shape;284;p55"/>
          <p:cNvSpPr/>
          <p:nvPr/>
        </p:nvSpPr>
        <p:spPr>
          <a:xfrm>
            <a:off x="2466875" y="2673825"/>
            <a:ext cx="13848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Social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85" name="Google Shape;285;p55"/>
          <p:cNvCxnSpPr>
            <a:stCxn id="284" idx="0"/>
            <a:endCxn id="283" idx="2"/>
          </p:cNvCxnSpPr>
          <p:nvPr/>
        </p:nvCxnSpPr>
        <p:spPr>
          <a:xfrm rot="-5400000">
            <a:off x="3440525" y="1408875"/>
            <a:ext cx="983700" cy="1546200"/>
          </a:xfrm>
          <a:prstGeom prst="bentConnector3">
            <a:avLst>
              <a:gd fmla="val 49994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86" name="Google Shape;286;p55"/>
          <p:cNvSpPr/>
          <p:nvPr/>
        </p:nvSpPr>
        <p:spPr>
          <a:xfrm>
            <a:off x="151725" y="4101525"/>
            <a:ext cx="11685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Schools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87" name="Google Shape;287;p55"/>
          <p:cNvCxnSpPr>
            <a:stCxn id="284" idx="2"/>
            <a:endCxn id="286" idx="0"/>
          </p:cNvCxnSpPr>
          <p:nvPr/>
        </p:nvCxnSpPr>
        <p:spPr>
          <a:xfrm rot="5400000">
            <a:off x="1454975" y="2397225"/>
            <a:ext cx="985200" cy="24234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88" name="Google Shape;288;p55"/>
          <p:cNvSpPr/>
          <p:nvPr/>
        </p:nvSpPr>
        <p:spPr>
          <a:xfrm>
            <a:off x="3018250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Workplaces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289" name="Google Shape;289;p55"/>
          <p:cNvSpPr/>
          <p:nvPr/>
        </p:nvSpPr>
        <p:spPr>
          <a:xfrm>
            <a:off x="839300" y="4606500"/>
            <a:ext cx="20121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Instagram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90" name="Google Shape;290;p55"/>
          <p:cNvCxnSpPr>
            <a:stCxn id="284" idx="2"/>
            <a:endCxn id="289" idx="0"/>
          </p:cNvCxnSpPr>
          <p:nvPr/>
        </p:nvCxnSpPr>
        <p:spPr>
          <a:xfrm rot="5400000">
            <a:off x="1757225" y="3204375"/>
            <a:ext cx="1490100" cy="1314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91" name="Google Shape;291;p55"/>
          <p:cNvCxnSpPr>
            <a:stCxn id="284" idx="2"/>
            <a:endCxn id="288" idx="0"/>
          </p:cNvCxnSpPr>
          <p:nvPr/>
        </p:nvCxnSpPr>
        <p:spPr>
          <a:xfrm flipH="1" rot="-5400000">
            <a:off x="2739725" y="3535875"/>
            <a:ext cx="1490100" cy="651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92" name="Google Shape;292;p55"/>
          <p:cNvSpPr/>
          <p:nvPr/>
        </p:nvSpPr>
        <p:spPr>
          <a:xfrm>
            <a:off x="5289125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The WWW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293" name="Google Shape;293;p55"/>
          <p:cNvSpPr/>
          <p:nvPr/>
        </p:nvSpPr>
        <p:spPr>
          <a:xfrm>
            <a:off x="4399950" y="4099975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Airports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294" name="Google Shape;294;p55"/>
          <p:cNvCxnSpPr>
            <a:stCxn id="284" idx="2"/>
            <a:endCxn id="293" idx="0"/>
          </p:cNvCxnSpPr>
          <p:nvPr/>
        </p:nvCxnSpPr>
        <p:spPr>
          <a:xfrm flipH="1" rot="-5400000">
            <a:off x="3683825" y="2591775"/>
            <a:ext cx="983700" cy="20328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95" name="Google Shape;295;p55"/>
          <p:cNvCxnSpPr>
            <a:stCxn id="284" idx="2"/>
            <a:endCxn id="292" idx="0"/>
          </p:cNvCxnSpPr>
          <p:nvPr/>
        </p:nvCxnSpPr>
        <p:spPr>
          <a:xfrm flipH="1" rot="-5400000">
            <a:off x="3875225" y="2400375"/>
            <a:ext cx="1490100" cy="2922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96" name="Google Shape;296;p55"/>
          <p:cNvSpPr txBox="1"/>
          <p:nvPr/>
        </p:nvSpPr>
        <p:spPr>
          <a:xfrm>
            <a:off x="5789000" y="1911800"/>
            <a:ext cx="2617800" cy="140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layfair Display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 networks link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people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Via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relations </a:t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p56"/>
          <p:cNvSpPr txBox="1"/>
          <p:nvPr/>
        </p:nvSpPr>
        <p:spPr>
          <a:xfrm>
            <a:off x="616675" y="1509125"/>
            <a:ext cx="2012100" cy="186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layfair Display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Some networks are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networks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02" name="Google Shape;302;p56"/>
          <p:cNvSpPr/>
          <p:nvPr/>
        </p:nvSpPr>
        <p:spPr>
          <a:xfrm>
            <a:off x="3810276" y="1247613"/>
            <a:ext cx="1790100" cy="442500"/>
          </a:xfrm>
          <a:prstGeom prst="roundRect">
            <a:avLst>
              <a:gd fmla="val 50000" name="adj"/>
            </a:avLst>
          </a:prstGeom>
          <a:solidFill>
            <a:srgbClr val="0944A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303" name="Google Shape;303;p56"/>
          <p:cNvSpPr/>
          <p:nvPr/>
        </p:nvSpPr>
        <p:spPr>
          <a:xfrm>
            <a:off x="2466875" y="2673825"/>
            <a:ext cx="13848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Social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04" name="Google Shape;304;p56"/>
          <p:cNvCxnSpPr>
            <a:stCxn id="303" idx="0"/>
            <a:endCxn id="302" idx="2"/>
          </p:cNvCxnSpPr>
          <p:nvPr/>
        </p:nvCxnSpPr>
        <p:spPr>
          <a:xfrm rot="-5400000">
            <a:off x="3440525" y="1408875"/>
            <a:ext cx="983700" cy="1546200"/>
          </a:xfrm>
          <a:prstGeom prst="bentConnector3">
            <a:avLst>
              <a:gd fmla="val 50001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05" name="Google Shape;305;p56"/>
          <p:cNvSpPr/>
          <p:nvPr/>
        </p:nvSpPr>
        <p:spPr>
          <a:xfrm>
            <a:off x="151725" y="4101525"/>
            <a:ext cx="11685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Schools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06" name="Google Shape;306;p56"/>
          <p:cNvCxnSpPr>
            <a:stCxn id="303" idx="2"/>
            <a:endCxn id="305" idx="0"/>
          </p:cNvCxnSpPr>
          <p:nvPr/>
        </p:nvCxnSpPr>
        <p:spPr>
          <a:xfrm rot="5400000">
            <a:off x="1454975" y="2397225"/>
            <a:ext cx="985200" cy="24234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07" name="Google Shape;307;p56"/>
          <p:cNvSpPr/>
          <p:nvPr/>
        </p:nvSpPr>
        <p:spPr>
          <a:xfrm>
            <a:off x="3018250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Workplaces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308" name="Google Shape;308;p56"/>
          <p:cNvSpPr/>
          <p:nvPr/>
        </p:nvSpPr>
        <p:spPr>
          <a:xfrm>
            <a:off x="839300" y="4606500"/>
            <a:ext cx="20121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Instagram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09" name="Google Shape;309;p56"/>
          <p:cNvCxnSpPr>
            <a:stCxn id="303" idx="2"/>
            <a:endCxn id="308" idx="0"/>
          </p:cNvCxnSpPr>
          <p:nvPr/>
        </p:nvCxnSpPr>
        <p:spPr>
          <a:xfrm rot="5400000">
            <a:off x="1757225" y="3204375"/>
            <a:ext cx="1490100" cy="1314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310" name="Google Shape;310;p56"/>
          <p:cNvCxnSpPr>
            <a:stCxn id="303" idx="2"/>
            <a:endCxn id="307" idx="0"/>
          </p:cNvCxnSpPr>
          <p:nvPr/>
        </p:nvCxnSpPr>
        <p:spPr>
          <a:xfrm flipH="1" rot="-5400000">
            <a:off x="2739725" y="3535875"/>
            <a:ext cx="1490100" cy="651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11" name="Google Shape;311;p56"/>
          <p:cNvSpPr/>
          <p:nvPr/>
        </p:nvSpPr>
        <p:spPr>
          <a:xfrm>
            <a:off x="5289125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The WWW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312" name="Google Shape;312;p56"/>
          <p:cNvSpPr/>
          <p:nvPr/>
        </p:nvSpPr>
        <p:spPr>
          <a:xfrm>
            <a:off x="4399950" y="4099975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Airports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13" name="Google Shape;313;p56"/>
          <p:cNvCxnSpPr>
            <a:stCxn id="303" idx="2"/>
            <a:endCxn id="312" idx="0"/>
          </p:cNvCxnSpPr>
          <p:nvPr/>
        </p:nvCxnSpPr>
        <p:spPr>
          <a:xfrm flipH="1" rot="-5400000">
            <a:off x="3683825" y="2591775"/>
            <a:ext cx="983700" cy="20328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314" name="Google Shape;314;p56"/>
          <p:cNvCxnSpPr>
            <a:stCxn id="303" idx="2"/>
            <a:endCxn id="311" idx="0"/>
          </p:cNvCxnSpPr>
          <p:nvPr/>
        </p:nvCxnSpPr>
        <p:spPr>
          <a:xfrm flipH="1" rot="-5400000">
            <a:off x="3875225" y="2400375"/>
            <a:ext cx="1490100" cy="2922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pic>
        <p:nvPicPr>
          <p:cNvPr id="315" name="Google Shape;315;p5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641150" y="780525"/>
            <a:ext cx="3379499" cy="2991748"/>
          </a:xfrm>
          <a:prstGeom prst="rect">
            <a:avLst/>
          </a:prstGeom>
          <a:noFill/>
          <a:ln>
            <a:noFill/>
          </a:ln>
        </p:spPr>
      </p:pic>
      <p:sp>
        <p:nvSpPr>
          <p:cNvPr id="316" name="Google Shape;316;p56"/>
          <p:cNvSpPr txBox="1"/>
          <p:nvPr>
            <p:ph idx="1" type="body"/>
          </p:nvPr>
        </p:nvSpPr>
        <p:spPr>
          <a:xfrm>
            <a:off x="616675" y="45862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social network?</a:t>
            </a:r>
            <a:endParaRPr b="1" sz="30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" name="Shape 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" name="Google Shape;321;p57"/>
          <p:cNvSpPr/>
          <p:nvPr/>
        </p:nvSpPr>
        <p:spPr>
          <a:xfrm>
            <a:off x="4601226" y="1311875"/>
            <a:ext cx="1790100" cy="442500"/>
          </a:xfrm>
          <a:prstGeom prst="roundRect">
            <a:avLst>
              <a:gd fmla="val 50000" name="adj"/>
            </a:avLst>
          </a:pr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322" name="Google Shape;322;p57"/>
          <p:cNvSpPr/>
          <p:nvPr/>
        </p:nvSpPr>
        <p:spPr>
          <a:xfrm>
            <a:off x="4590425" y="2673950"/>
            <a:ext cx="18117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Technological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23" name="Google Shape;323;p57"/>
          <p:cNvCxnSpPr>
            <a:stCxn id="321" idx="2"/>
            <a:endCxn id="322" idx="0"/>
          </p:cNvCxnSpPr>
          <p:nvPr/>
        </p:nvCxnSpPr>
        <p:spPr>
          <a:xfrm flipH="1" rot="-5400000">
            <a:off x="5036826" y="2213825"/>
            <a:ext cx="919500" cy="600"/>
          </a:xfrm>
          <a:prstGeom prst="bentConnector3">
            <a:avLst>
              <a:gd fmla="val 50004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24" name="Google Shape;324;p57"/>
          <p:cNvSpPr/>
          <p:nvPr/>
        </p:nvSpPr>
        <p:spPr>
          <a:xfrm>
            <a:off x="839300" y="4606500"/>
            <a:ext cx="20121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Instagram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325" name="Google Shape;325;p57"/>
          <p:cNvSpPr/>
          <p:nvPr/>
        </p:nvSpPr>
        <p:spPr>
          <a:xfrm>
            <a:off x="5289125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The WWW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326" name="Google Shape;326;p57"/>
          <p:cNvSpPr/>
          <p:nvPr/>
        </p:nvSpPr>
        <p:spPr>
          <a:xfrm>
            <a:off x="4399950" y="4099975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Airports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27" name="Google Shape;327;p57"/>
          <p:cNvCxnSpPr>
            <a:stCxn id="322" idx="2"/>
            <a:endCxn id="326" idx="0"/>
          </p:cNvCxnSpPr>
          <p:nvPr/>
        </p:nvCxnSpPr>
        <p:spPr>
          <a:xfrm rot="5400000">
            <a:off x="4852475" y="3456050"/>
            <a:ext cx="983400" cy="304200"/>
          </a:xfrm>
          <a:prstGeom prst="bentConnector3">
            <a:avLst>
              <a:gd fmla="val 50006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328" name="Google Shape;328;p57"/>
          <p:cNvCxnSpPr>
            <a:stCxn id="322" idx="2"/>
            <a:endCxn id="325" idx="0"/>
          </p:cNvCxnSpPr>
          <p:nvPr/>
        </p:nvCxnSpPr>
        <p:spPr>
          <a:xfrm flipH="1" rot="-5400000">
            <a:off x="5043725" y="3569000"/>
            <a:ext cx="1490100" cy="585000"/>
          </a:xfrm>
          <a:prstGeom prst="bentConnector3">
            <a:avLst>
              <a:gd fmla="val 49998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329" name="Google Shape;329;p57"/>
          <p:cNvCxnSpPr>
            <a:stCxn id="322" idx="2"/>
            <a:endCxn id="324" idx="0"/>
          </p:cNvCxnSpPr>
          <p:nvPr/>
        </p:nvCxnSpPr>
        <p:spPr>
          <a:xfrm rot="5400000">
            <a:off x="2925725" y="2036000"/>
            <a:ext cx="1490100" cy="3651000"/>
          </a:xfrm>
          <a:prstGeom prst="bentConnector3">
            <a:avLst>
              <a:gd fmla="val 49998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30" name="Google Shape;330;p57"/>
          <p:cNvSpPr txBox="1"/>
          <p:nvPr/>
        </p:nvSpPr>
        <p:spPr>
          <a:xfrm>
            <a:off x="6385475" y="1974375"/>
            <a:ext cx="2617800" cy="140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Some networks are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both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social and technological</a:t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31" name="Google Shape;331;p57"/>
          <p:cNvSpPr txBox="1"/>
          <p:nvPr>
            <p:ph idx="1" type="body"/>
          </p:nvPr>
        </p:nvSpPr>
        <p:spPr>
          <a:xfrm>
            <a:off x="616675" y="45862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social network?</a:t>
            </a:r>
            <a:endParaRPr b="1" sz="30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p58"/>
          <p:cNvSpPr txBox="1"/>
          <p:nvPr/>
        </p:nvSpPr>
        <p:spPr>
          <a:xfrm>
            <a:off x="616675" y="1509125"/>
            <a:ext cx="2012100" cy="186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layfair Display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Some networks are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networks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37" name="Google Shape;337;p58"/>
          <p:cNvSpPr/>
          <p:nvPr/>
        </p:nvSpPr>
        <p:spPr>
          <a:xfrm>
            <a:off x="4601226" y="1311875"/>
            <a:ext cx="1790100" cy="442500"/>
          </a:xfrm>
          <a:prstGeom prst="roundRect">
            <a:avLst>
              <a:gd fmla="val 50000" name="adj"/>
            </a:avLst>
          </a:pr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338" name="Google Shape;338;p58"/>
          <p:cNvSpPr/>
          <p:nvPr/>
        </p:nvSpPr>
        <p:spPr>
          <a:xfrm>
            <a:off x="2466875" y="2673825"/>
            <a:ext cx="13848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Social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39" name="Google Shape;339;p58"/>
          <p:cNvCxnSpPr>
            <a:stCxn id="338" idx="0"/>
            <a:endCxn id="337" idx="2"/>
          </p:cNvCxnSpPr>
          <p:nvPr/>
        </p:nvCxnSpPr>
        <p:spPr>
          <a:xfrm rot="-5400000">
            <a:off x="3868025" y="1045575"/>
            <a:ext cx="919500" cy="23370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40" name="Google Shape;340;p58"/>
          <p:cNvSpPr/>
          <p:nvPr/>
        </p:nvSpPr>
        <p:spPr>
          <a:xfrm>
            <a:off x="151725" y="4101525"/>
            <a:ext cx="11685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Schools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41" name="Google Shape;341;p58"/>
          <p:cNvCxnSpPr>
            <a:stCxn id="338" idx="2"/>
            <a:endCxn id="340" idx="0"/>
          </p:cNvCxnSpPr>
          <p:nvPr/>
        </p:nvCxnSpPr>
        <p:spPr>
          <a:xfrm rot="5400000">
            <a:off x="1454975" y="2397225"/>
            <a:ext cx="985200" cy="24234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42" name="Google Shape;342;p58"/>
          <p:cNvSpPr/>
          <p:nvPr/>
        </p:nvSpPr>
        <p:spPr>
          <a:xfrm>
            <a:off x="3018250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Workplaces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43" name="Google Shape;343;p58"/>
          <p:cNvCxnSpPr>
            <a:stCxn id="338" idx="2"/>
            <a:endCxn id="342" idx="0"/>
          </p:cNvCxnSpPr>
          <p:nvPr/>
        </p:nvCxnSpPr>
        <p:spPr>
          <a:xfrm flipH="1" rot="-5400000">
            <a:off x="2739725" y="3535875"/>
            <a:ext cx="1490100" cy="651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44" name="Google Shape;344;p58"/>
          <p:cNvSpPr txBox="1"/>
          <p:nvPr/>
        </p:nvSpPr>
        <p:spPr>
          <a:xfrm>
            <a:off x="5789000" y="1911800"/>
            <a:ext cx="2617800" cy="140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layfair Display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Some networks are “purely” social</a:t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45" name="Google Shape;345;p58"/>
          <p:cNvSpPr txBox="1"/>
          <p:nvPr>
            <p:ph idx="1" type="body"/>
          </p:nvPr>
        </p:nvSpPr>
        <p:spPr>
          <a:xfrm>
            <a:off x="616675" y="45862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social network?</a:t>
            </a:r>
            <a:endParaRPr b="1" sz="3000"/>
          </a:p>
        </p:txBody>
      </p:sp>
      <p:sp>
        <p:nvSpPr>
          <p:cNvPr id="346" name="Google Shape;346;p58"/>
          <p:cNvSpPr/>
          <p:nvPr/>
        </p:nvSpPr>
        <p:spPr>
          <a:xfrm>
            <a:off x="839300" y="4606500"/>
            <a:ext cx="20121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Instagram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47" name="Google Shape;347;p58"/>
          <p:cNvCxnSpPr>
            <a:endCxn id="346" idx="0"/>
          </p:cNvCxnSpPr>
          <p:nvPr/>
        </p:nvCxnSpPr>
        <p:spPr>
          <a:xfrm rot="5400000">
            <a:off x="1757300" y="3204450"/>
            <a:ext cx="1490100" cy="13140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59"/>
          <p:cNvSpPr txBox="1"/>
          <p:nvPr/>
        </p:nvSpPr>
        <p:spPr>
          <a:xfrm>
            <a:off x="616675" y="1509125"/>
            <a:ext cx="2012100" cy="186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layfair Display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Some networks are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networks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53" name="Google Shape;353;p59"/>
          <p:cNvSpPr/>
          <p:nvPr/>
        </p:nvSpPr>
        <p:spPr>
          <a:xfrm>
            <a:off x="4601226" y="1311875"/>
            <a:ext cx="1790100" cy="442500"/>
          </a:xfrm>
          <a:prstGeom prst="roundRect">
            <a:avLst>
              <a:gd fmla="val 50000" name="adj"/>
            </a:avLst>
          </a:pr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354" name="Google Shape;354;p59"/>
          <p:cNvSpPr/>
          <p:nvPr/>
        </p:nvSpPr>
        <p:spPr>
          <a:xfrm>
            <a:off x="2466875" y="2673825"/>
            <a:ext cx="13848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Social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55" name="Google Shape;355;p59"/>
          <p:cNvCxnSpPr>
            <a:stCxn id="354" idx="0"/>
            <a:endCxn id="353" idx="2"/>
          </p:cNvCxnSpPr>
          <p:nvPr/>
        </p:nvCxnSpPr>
        <p:spPr>
          <a:xfrm rot="-5400000">
            <a:off x="3868025" y="1045575"/>
            <a:ext cx="919500" cy="23370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56" name="Google Shape;356;p59"/>
          <p:cNvSpPr/>
          <p:nvPr/>
        </p:nvSpPr>
        <p:spPr>
          <a:xfrm>
            <a:off x="151725" y="4101525"/>
            <a:ext cx="11685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Schools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57" name="Google Shape;357;p59"/>
          <p:cNvCxnSpPr>
            <a:stCxn id="354" idx="2"/>
            <a:endCxn id="356" idx="0"/>
          </p:cNvCxnSpPr>
          <p:nvPr/>
        </p:nvCxnSpPr>
        <p:spPr>
          <a:xfrm rot="5400000">
            <a:off x="1454975" y="2397225"/>
            <a:ext cx="985200" cy="24234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58" name="Google Shape;358;p59"/>
          <p:cNvSpPr/>
          <p:nvPr/>
        </p:nvSpPr>
        <p:spPr>
          <a:xfrm>
            <a:off x="3018250" y="4606500"/>
            <a:ext cx="15840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Workplaces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359" name="Google Shape;359;p59"/>
          <p:cNvSpPr/>
          <p:nvPr/>
        </p:nvSpPr>
        <p:spPr>
          <a:xfrm>
            <a:off x="839300" y="4606500"/>
            <a:ext cx="20121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Instagram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60" name="Google Shape;360;p59"/>
          <p:cNvCxnSpPr>
            <a:stCxn id="354" idx="2"/>
            <a:endCxn id="359" idx="0"/>
          </p:cNvCxnSpPr>
          <p:nvPr/>
        </p:nvCxnSpPr>
        <p:spPr>
          <a:xfrm rot="5400000">
            <a:off x="1757225" y="3204375"/>
            <a:ext cx="1490100" cy="1314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361" name="Google Shape;361;p59"/>
          <p:cNvCxnSpPr>
            <a:stCxn id="354" idx="2"/>
            <a:endCxn id="358" idx="0"/>
          </p:cNvCxnSpPr>
          <p:nvPr/>
        </p:nvCxnSpPr>
        <p:spPr>
          <a:xfrm flipH="1" rot="-5400000">
            <a:off x="2739725" y="3535875"/>
            <a:ext cx="1490100" cy="6510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62" name="Google Shape;362;p59"/>
          <p:cNvSpPr txBox="1"/>
          <p:nvPr/>
        </p:nvSpPr>
        <p:spPr>
          <a:xfrm>
            <a:off x="5073650" y="2380125"/>
            <a:ext cx="3226500" cy="135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layfair Display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In this quarter we will learn about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 network analysis (SNA)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63" name="Google Shape;363;p59"/>
          <p:cNvSpPr txBox="1"/>
          <p:nvPr/>
        </p:nvSpPr>
        <p:spPr>
          <a:xfrm>
            <a:off x="5073650" y="3642825"/>
            <a:ext cx="3226500" cy="135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layfair Display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We will look mostly at “pure” social networks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64" name="Google Shape;364;p59"/>
          <p:cNvSpPr txBox="1"/>
          <p:nvPr>
            <p:ph idx="1" type="body"/>
          </p:nvPr>
        </p:nvSpPr>
        <p:spPr>
          <a:xfrm>
            <a:off x="616675" y="458625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social network?</a:t>
            </a:r>
            <a:endParaRPr b="1" sz="3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60"/>
          <p:cNvSpPr txBox="1"/>
          <p:nvPr>
            <p:ph idx="1" type="body"/>
          </p:nvPr>
        </p:nvSpPr>
        <p:spPr>
          <a:xfrm>
            <a:off x="1019275" y="394650"/>
            <a:ext cx="48720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a social network analysis?</a:t>
            </a:r>
            <a:endParaRPr b="1" sz="3000"/>
          </a:p>
        </p:txBody>
      </p:sp>
      <p:sp>
        <p:nvSpPr>
          <p:cNvPr id="370" name="Google Shape;370;p60"/>
          <p:cNvSpPr/>
          <p:nvPr/>
        </p:nvSpPr>
        <p:spPr>
          <a:xfrm>
            <a:off x="3072000" y="1311825"/>
            <a:ext cx="3000000" cy="937500"/>
          </a:xfrm>
          <a:prstGeom prst="roundRect">
            <a:avLst>
              <a:gd fmla="val 50000" name="adj"/>
            </a:avLst>
          </a:pr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Social Network Analysis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371" name="Google Shape;371;p60"/>
          <p:cNvSpPr/>
          <p:nvPr/>
        </p:nvSpPr>
        <p:spPr>
          <a:xfrm>
            <a:off x="1528300" y="3540900"/>
            <a:ext cx="1384800" cy="442500"/>
          </a:xfrm>
          <a:prstGeom prst="roundRect">
            <a:avLst>
              <a:gd fmla="val 50000" name="adj"/>
            </a:avLst>
          </a:prstGeom>
          <a:solidFill>
            <a:srgbClr val="38761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Sociology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72" name="Google Shape;372;p60"/>
          <p:cNvCxnSpPr>
            <a:stCxn id="371" idx="0"/>
            <a:endCxn id="370" idx="2"/>
          </p:cNvCxnSpPr>
          <p:nvPr/>
        </p:nvCxnSpPr>
        <p:spPr>
          <a:xfrm rot="-5400000">
            <a:off x="2750650" y="1719450"/>
            <a:ext cx="1291500" cy="23514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73" name="Google Shape;373;p60"/>
          <p:cNvSpPr/>
          <p:nvPr/>
        </p:nvSpPr>
        <p:spPr>
          <a:xfrm>
            <a:off x="222325" y="4413175"/>
            <a:ext cx="1562700" cy="442500"/>
          </a:xfrm>
          <a:prstGeom prst="roundRect">
            <a:avLst>
              <a:gd fmla="val 50000" name="adj"/>
            </a:avLst>
          </a:prstGeom>
          <a:solidFill>
            <a:srgbClr val="FF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Psychology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74" name="Google Shape;374;p60"/>
          <p:cNvCxnSpPr>
            <a:stCxn id="370" idx="2"/>
            <a:endCxn id="373" idx="0"/>
          </p:cNvCxnSpPr>
          <p:nvPr/>
        </p:nvCxnSpPr>
        <p:spPr>
          <a:xfrm rot="5400000">
            <a:off x="1705950" y="1547175"/>
            <a:ext cx="2163900" cy="3568200"/>
          </a:xfrm>
          <a:prstGeom prst="bentConnector3">
            <a:avLst>
              <a:gd fmla="val 49999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75" name="Google Shape;375;p60"/>
          <p:cNvSpPr/>
          <p:nvPr/>
        </p:nvSpPr>
        <p:spPr>
          <a:xfrm>
            <a:off x="4014250" y="3540900"/>
            <a:ext cx="1776900" cy="442500"/>
          </a:xfrm>
          <a:prstGeom prst="roundRect">
            <a:avLst>
              <a:gd fmla="val 50000" name="adj"/>
            </a:avLst>
          </a:prstGeom>
          <a:solidFill>
            <a:srgbClr val="0D5D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Anthropology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376" name="Google Shape;376;p60"/>
          <p:cNvSpPr/>
          <p:nvPr/>
        </p:nvSpPr>
        <p:spPr>
          <a:xfrm>
            <a:off x="2046900" y="4408050"/>
            <a:ext cx="2525100" cy="442500"/>
          </a:xfrm>
          <a:prstGeom prst="roundRect">
            <a:avLst>
              <a:gd fmla="val 50000" name="adj"/>
            </a:avLst>
          </a:prstGeom>
          <a:solidFill>
            <a:srgbClr val="FF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Communication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77" name="Google Shape;377;p60"/>
          <p:cNvCxnSpPr>
            <a:stCxn id="370" idx="2"/>
            <a:endCxn id="376" idx="0"/>
          </p:cNvCxnSpPr>
          <p:nvPr/>
        </p:nvCxnSpPr>
        <p:spPr>
          <a:xfrm rot="5400000">
            <a:off x="2861400" y="2697525"/>
            <a:ext cx="2158800" cy="1262400"/>
          </a:xfrm>
          <a:prstGeom prst="bentConnector3">
            <a:avLst>
              <a:gd fmla="val 49998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378" name="Google Shape;378;p60"/>
          <p:cNvCxnSpPr>
            <a:stCxn id="370" idx="2"/>
            <a:endCxn id="375" idx="0"/>
          </p:cNvCxnSpPr>
          <p:nvPr/>
        </p:nvCxnSpPr>
        <p:spPr>
          <a:xfrm flipH="1" rot="-5400000">
            <a:off x="4091550" y="2729775"/>
            <a:ext cx="1291500" cy="3306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79" name="Google Shape;379;p60"/>
          <p:cNvSpPr txBox="1"/>
          <p:nvPr/>
        </p:nvSpPr>
        <p:spPr>
          <a:xfrm>
            <a:off x="5594025" y="2401075"/>
            <a:ext cx="3000000" cy="2563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SNA is an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interdisciplinary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field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in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science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in charge of studying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social</a:t>
            </a: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networks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3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" name="Google Shape;384;p61"/>
          <p:cNvSpPr txBox="1"/>
          <p:nvPr>
            <p:ph idx="1" type="body"/>
          </p:nvPr>
        </p:nvSpPr>
        <p:spPr>
          <a:xfrm>
            <a:off x="1019275" y="394650"/>
            <a:ext cx="3379500" cy="78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What is network science?</a:t>
            </a:r>
            <a:endParaRPr b="1" sz="3000"/>
          </a:p>
        </p:txBody>
      </p:sp>
      <p:sp>
        <p:nvSpPr>
          <p:cNvPr id="385" name="Google Shape;385;p61"/>
          <p:cNvSpPr/>
          <p:nvPr/>
        </p:nvSpPr>
        <p:spPr>
          <a:xfrm>
            <a:off x="1864675" y="3009975"/>
            <a:ext cx="2135100" cy="738900"/>
          </a:xfrm>
          <a:prstGeom prst="roundRect">
            <a:avLst>
              <a:gd fmla="val 50000" name="adj"/>
            </a:avLst>
          </a:pr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Social Network</a:t>
            </a:r>
            <a:endParaRPr sz="18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Analysis</a:t>
            </a:r>
            <a:endParaRPr sz="18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86" name="Google Shape;386;p61"/>
          <p:cNvSpPr txBox="1"/>
          <p:nvPr/>
        </p:nvSpPr>
        <p:spPr>
          <a:xfrm>
            <a:off x="5994500" y="3411675"/>
            <a:ext cx="3000000" cy="125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Economica"/>
              <a:buChar char="●"/>
            </a:pPr>
            <a:r>
              <a:rPr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SNA is part of the larger interdisciplinary field of </a:t>
            </a:r>
            <a:r>
              <a:rPr b="1" lang="en" sz="24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Network Science</a:t>
            </a:r>
            <a:endParaRPr b="1" sz="24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87" name="Google Shape;387;p61"/>
          <p:cNvSpPr/>
          <p:nvPr/>
        </p:nvSpPr>
        <p:spPr>
          <a:xfrm>
            <a:off x="5033475" y="863700"/>
            <a:ext cx="2337000" cy="789000"/>
          </a:xfrm>
          <a:prstGeom prst="roundRect">
            <a:avLst>
              <a:gd fmla="val 50000" name="adj"/>
            </a:avLst>
          </a:prstGeom>
          <a:solidFill>
            <a:srgbClr val="0944A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 Science</a:t>
            </a:r>
            <a:endParaRPr sz="2400">
              <a:solidFill>
                <a:srgbClr val="FFFFFF"/>
              </a:solidFill>
            </a:endParaRPr>
          </a:p>
        </p:txBody>
      </p:sp>
      <p:cxnSp>
        <p:nvCxnSpPr>
          <p:cNvPr id="388" name="Google Shape;388;p61"/>
          <p:cNvCxnSpPr>
            <a:stCxn id="387" idx="2"/>
            <a:endCxn id="385" idx="0"/>
          </p:cNvCxnSpPr>
          <p:nvPr/>
        </p:nvCxnSpPr>
        <p:spPr>
          <a:xfrm rot="5400000">
            <a:off x="3888525" y="696450"/>
            <a:ext cx="1357200" cy="32697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89" name="Google Shape;389;p61"/>
          <p:cNvSpPr/>
          <p:nvPr/>
        </p:nvSpPr>
        <p:spPr>
          <a:xfrm>
            <a:off x="3307025" y="4082550"/>
            <a:ext cx="1860900" cy="738900"/>
          </a:xfrm>
          <a:prstGeom prst="roundRect">
            <a:avLst>
              <a:gd fmla="val 50000" name="adj"/>
            </a:avLst>
          </a:prstGeom>
          <a:solidFill>
            <a:srgbClr val="38761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</a:t>
            </a:r>
            <a:endParaRPr sz="18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Neuroscience</a:t>
            </a:r>
            <a:endParaRPr sz="18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390" name="Google Shape;390;p61"/>
          <p:cNvCxnSpPr>
            <a:stCxn id="387" idx="2"/>
            <a:endCxn id="389" idx="0"/>
          </p:cNvCxnSpPr>
          <p:nvPr/>
        </p:nvCxnSpPr>
        <p:spPr>
          <a:xfrm rot="5400000">
            <a:off x="4004775" y="1885500"/>
            <a:ext cx="2430000" cy="19644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91" name="Google Shape;391;p61"/>
          <p:cNvSpPr/>
          <p:nvPr/>
        </p:nvSpPr>
        <p:spPr>
          <a:xfrm>
            <a:off x="6803400" y="2339950"/>
            <a:ext cx="1853700" cy="738900"/>
          </a:xfrm>
          <a:prstGeom prst="roundRect">
            <a:avLst>
              <a:gd fmla="val 50000" name="adj"/>
            </a:avLst>
          </a:prstGeom>
          <a:solidFill>
            <a:srgbClr val="CC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Psychological </a:t>
            </a:r>
            <a:endParaRPr sz="18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Networks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92" name="Google Shape;392;p61"/>
          <p:cNvCxnSpPr>
            <a:stCxn id="387" idx="2"/>
            <a:endCxn id="393" idx="0"/>
          </p:cNvCxnSpPr>
          <p:nvPr/>
        </p:nvCxnSpPr>
        <p:spPr>
          <a:xfrm rot="5400000">
            <a:off x="5080275" y="1888200"/>
            <a:ext cx="1357200" cy="886200"/>
          </a:xfrm>
          <a:prstGeom prst="bentConnector3">
            <a:avLst>
              <a:gd fmla="val 50003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93" name="Google Shape;393;p61"/>
          <p:cNvSpPr/>
          <p:nvPr/>
        </p:nvSpPr>
        <p:spPr>
          <a:xfrm>
            <a:off x="4534475" y="3009975"/>
            <a:ext cx="1562700" cy="738900"/>
          </a:xfrm>
          <a:prstGeom prst="roundRect">
            <a:avLst>
              <a:gd fmla="val 50000" name="adj"/>
            </a:avLst>
          </a:prstGeom>
          <a:solidFill>
            <a:srgbClr val="99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Network Biology</a:t>
            </a:r>
            <a:endParaRPr sz="1800">
              <a:solidFill>
                <a:srgbClr val="FFFFFF"/>
              </a:solidFill>
            </a:endParaRPr>
          </a:p>
        </p:txBody>
      </p:sp>
      <p:cxnSp>
        <p:nvCxnSpPr>
          <p:cNvPr id="394" name="Google Shape;394;p61"/>
          <p:cNvCxnSpPr>
            <a:stCxn id="387" idx="2"/>
            <a:endCxn id="391" idx="0"/>
          </p:cNvCxnSpPr>
          <p:nvPr/>
        </p:nvCxnSpPr>
        <p:spPr>
          <a:xfrm flipH="1" rot="-5400000">
            <a:off x="6622425" y="1232250"/>
            <a:ext cx="687300" cy="1528200"/>
          </a:xfrm>
          <a:prstGeom prst="bentConnector3">
            <a:avLst>
              <a:gd fmla="val 49996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95" name="Google Shape;395;p61"/>
          <p:cNvSpPr/>
          <p:nvPr/>
        </p:nvSpPr>
        <p:spPr>
          <a:xfrm>
            <a:off x="592575" y="4082550"/>
            <a:ext cx="1562700" cy="738900"/>
          </a:xfrm>
          <a:prstGeom prst="roundRect">
            <a:avLst>
              <a:gd fmla="val 50000" name="adj"/>
            </a:avLst>
          </a:prstGeom>
          <a:solidFill>
            <a:srgbClr val="FF00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Data Science</a:t>
            </a:r>
            <a:endParaRPr sz="18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396" name="Google Shape;396;p61"/>
          <p:cNvCxnSpPr>
            <a:stCxn id="387" idx="2"/>
            <a:endCxn id="395" idx="0"/>
          </p:cNvCxnSpPr>
          <p:nvPr/>
        </p:nvCxnSpPr>
        <p:spPr>
          <a:xfrm rot="5400000">
            <a:off x="2573025" y="453750"/>
            <a:ext cx="2430000" cy="48279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rgbClr val="C2C2C2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p6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Summary</a:t>
            </a:r>
            <a:endParaRPr/>
          </a:p>
        </p:txBody>
      </p:sp>
      <p:sp>
        <p:nvSpPr>
          <p:cNvPr id="402" name="Google Shape;402;p62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Networks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: Systems of entities linked by relations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Different kinds: Social, biological, technological, etc.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Networks: 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Systems of people (or groups of people) linked by social relations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Network Science: 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Interdisciplinary field in charge of studying all types of networks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Biology, mathematics, computer science, physics, etc. 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 Analysis: 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Interdisciplinary field in charge of studying social networks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Sociology, psychology, anthropology, communication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p6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Summary </a:t>
            </a:r>
            <a:endParaRPr/>
          </a:p>
        </p:txBody>
      </p:sp>
      <p:sp>
        <p:nvSpPr>
          <p:cNvPr id="408" name="Google Shape;408;p63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Networks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: Systems of entities linked by relations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Different kinds: Social, biological, technological, etc.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Networks: 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Systems of interactive people (or groups of people) linked by social relations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Network Science: 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Interdisciplinary field in charge of studying all types of networks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Biology, mathematics, computer science, physics, etc. 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 Analysis: 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Interdisciplinary field in charge of studying social networks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○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Sociology, psychology, anthropology, communication</a:t>
            </a:r>
            <a:endParaRPr/>
          </a:p>
        </p:txBody>
      </p:sp>
      <p:sp>
        <p:nvSpPr>
          <p:cNvPr id="409" name="Google Shape;409;p63"/>
          <p:cNvSpPr/>
          <p:nvPr/>
        </p:nvSpPr>
        <p:spPr>
          <a:xfrm>
            <a:off x="159600" y="1918063"/>
            <a:ext cx="3116100" cy="663300"/>
          </a:xfrm>
          <a:prstGeom prst="ellipse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63"/>
          <p:cNvSpPr/>
          <p:nvPr/>
        </p:nvSpPr>
        <p:spPr>
          <a:xfrm>
            <a:off x="59600" y="3352200"/>
            <a:ext cx="3404100" cy="663300"/>
          </a:xfrm>
          <a:prstGeom prst="ellipse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11" name="Google Shape;411;p63"/>
          <p:cNvCxnSpPr>
            <a:stCxn id="412" idx="1"/>
            <a:endCxn id="409" idx="6"/>
          </p:cNvCxnSpPr>
          <p:nvPr/>
        </p:nvCxnSpPr>
        <p:spPr>
          <a:xfrm flipH="1">
            <a:off x="3275800" y="1129250"/>
            <a:ext cx="3616800" cy="11205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413" name="Google Shape;413;p63"/>
          <p:cNvCxnSpPr>
            <a:stCxn id="412" idx="1"/>
            <a:endCxn id="410" idx="6"/>
          </p:cNvCxnSpPr>
          <p:nvPr/>
        </p:nvCxnSpPr>
        <p:spPr>
          <a:xfrm flipH="1">
            <a:off x="3463600" y="1129250"/>
            <a:ext cx="3429000" cy="25545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412" name="Google Shape;412;p63"/>
          <p:cNvSpPr txBox="1"/>
          <p:nvPr/>
        </p:nvSpPr>
        <p:spPr>
          <a:xfrm>
            <a:off x="6892600" y="403400"/>
            <a:ext cx="1677000" cy="1451700"/>
          </a:xfrm>
          <a:prstGeom prst="rect">
            <a:avLst/>
          </a:prstGeom>
          <a:solidFill>
            <a:srgbClr val="FFFFFF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This course is about these two things!</a:t>
            </a:r>
            <a:endParaRPr b="1" sz="24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7" name="Shape 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" name="Google Shape;418;p64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The two faces of social network analysis</a:t>
            </a:r>
            <a:endParaRPr b="1" sz="3000"/>
          </a:p>
        </p:txBody>
      </p:sp>
      <p:cxnSp>
        <p:nvCxnSpPr>
          <p:cNvPr id="419" name="Google Shape;419;p64"/>
          <p:cNvCxnSpPr>
            <a:stCxn id="420" idx="2"/>
            <a:endCxn id="421" idx="0"/>
          </p:cNvCxnSpPr>
          <p:nvPr/>
        </p:nvCxnSpPr>
        <p:spPr>
          <a:xfrm flipH="1" rot="-5400000">
            <a:off x="4338750" y="736850"/>
            <a:ext cx="574500" cy="16971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22" name="Google Shape;422;p64"/>
          <p:cNvCxnSpPr>
            <a:stCxn id="423" idx="2"/>
            <a:endCxn id="424" idx="0"/>
          </p:cNvCxnSpPr>
          <p:nvPr/>
        </p:nvCxnSpPr>
        <p:spPr>
          <a:xfrm flipH="1" rot="-5400000">
            <a:off x="18843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25" name="Google Shape;425;p64"/>
          <p:cNvCxnSpPr>
            <a:stCxn id="426" idx="0"/>
            <a:endCxn id="423" idx="2"/>
          </p:cNvCxnSpPr>
          <p:nvPr/>
        </p:nvCxnSpPr>
        <p:spPr>
          <a:xfrm rot="-5400000">
            <a:off x="10390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27" name="Google Shape;427;p64"/>
          <p:cNvCxnSpPr>
            <a:stCxn id="421" idx="2"/>
            <a:endCxn id="428" idx="0"/>
          </p:cNvCxnSpPr>
          <p:nvPr/>
        </p:nvCxnSpPr>
        <p:spPr>
          <a:xfrm flipH="1" rot="-5400000">
            <a:off x="54249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29" name="Google Shape;429;p64"/>
          <p:cNvCxnSpPr>
            <a:stCxn id="430" idx="0"/>
            <a:endCxn id="421" idx="2"/>
          </p:cNvCxnSpPr>
          <p:nvPr/>
        </p:nvCxnSpPr>
        <p:spPr>
          <a:xfrm rot="-5400000">
            <a:off x="45796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31" name="Google Shape;431;p64"/>
          <p:cNvCxnSpPr>
            <a:stCxn id="423" idx="0"/>
            <a:endCxn id="420" idx="2"/>
          </p:cNvCxnSpPr>
          <p:nvPr/>
        </p:nvCxnSpPr>
        <p:spPr>
          <a:xfrm rot="-5400000">
            <a:off x="2568450" y="663463"/>
            <a:ext cx="574500" cy="18438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20" name="Google Shape;420;p64"/>
          <p:cNvSpPr txBox="1"/>
          <p:nvPr/>
        </p:nvSpPr>
        <p:spPr>
          <a:xfrm>
            <a:off x="2499750" y="398150"/>
            <a:ext cx="2555400" cy="9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Analysis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(SNA)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3" name="Google Shape;423;p64"/>
          <p:cNvSpPr txBox="1"/>
          <p:nvPr/>
        </p:nvSpPr>
        <p:spPr>
          <a:xfrm>
            <a:off x="11647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Theory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1" name="Google Shape;421;p64"/>
          <p:cNvSpPr txBox="1"/>
          <p:nvPr/>
        </p:nvSpPr>
        <p:spPr>
          <a:xfrm>
            <a:off x="47053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Measurement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8" name="Google Shape;428;p64"/>
          <p:cNvSpPr txBox="1"/>
          <p:nvPr/>
        </p:nvSpPr>
        <p:spPr>
          <a:xfrm>
            <a:off x="55506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Network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Density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30" name="Google Shape;430;p64"/>
          <p:cNvSpPr txBox="1"/>
          <p:nvPr/>
        </p:nvSpPr>
        <p:spPr>
          <a:xfrm>
            <a:off x="38601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Degree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Centrality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4" name="Google Shape;424;p64"/>
          <p:cNvSpPr txBox="1"/>
          <p:nvPr/>
        </p:nvSpPr>
        <p:spPr>
          <a:xfrm>
            <a:off x="20100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Strength of Weak Ties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6" name="Google Shape;426;p64"/>
          <p:cNvSpPr txBox="1"/>
          <p:nvPr/>
        </p:nvSpPr>
        <p:spPr>
          <a:xfrm>
            <a:off x="3195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Structural 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Holes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32" name="Google Shape;432;p64"/>
          <p:cNvSpPr txBox="1"/>
          <p:nvPr/>
        </p:nvSpPr>
        <p:spPr>
          <a:xfrm>
            <a:off x="6319800" y="694625"/>
            <a:ext cx="2540700" cy="204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 theories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are general statements about how people behave in networks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6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37" name="Google Shape;437;p65"/>
          <p:cNvCxnSpPr>
            <a:stCxn id="438" idx="2"/>
            <a:endCxn id="439" idx="0"/>
          </p:cNvCxnSpPr>
          <p:nvPr/>
        </p:nvCxnSpPr>
        <p:spPr>
          <a:xfrm flipH="1" rot="-5400000">
            <a:off x="4338750" y="736850"/>
            <a:ext cx="574500" cy="16971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40" name="Google Shape;440;p65"/>
          <p:cNvCxnSpPr>
            <a:stCxn id="441" idx="2"/>
            <a:endCxn id="442" idx="0"/>
          </p:cNvCxnSpPr>
          <p:nvPr/>
        </p:nvCxnSpPr>
        <p:spPr>
          <a:xfrm flipH="1" rot="-5400000">
            <a:off x="18843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43" name="Google Shape;443;p65"/>
          <p:cNvCxnSpPr>
            <a:stCxn id="444" idx="0"/>
            <a:endCxn id="441" idx="2"/>
          </p:cNvCxnSpPr>
          <p:nvPr/>
        </p:nvCxnSpPr>
        <p:spPr>
          <a:xfrm rot="-5400000">
            <a:off x="10390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45" name="Google Shape;445;p65"/>
          <p:cNvCxnSpPr>
            <a:stCxn id="439" idx="2"/>
            <a:endCxn id="446" idx="0"/>
          </p:cNvCxnSpPr>
          <p:nvPr/>
        </p:nvCxnSpPr>
        <p:spPr>
          <a:xfrm flipH="1" rot="-5400000">
            <a:off x="54249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47" name="Google Shape;447;p65"/>
          <p:cNvCxnSpPr>
            <a:stCxn id="448" idx="0"/>
            <a:endCxn id="439" idx="2"/>
          </p:cNvCxnSpPr>
          <p:nvPr/>
        </p:nvCxnSpPr>
        <p:spPr>
          <a:xfrm rot="-5400000">
            <a:off x="45796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49" name="Google Shape;449;p65"/>
          <p:cNvCxnSpPr>
            <a:stCxn id="441" idx="0"/>
            <a:endCxn id="438" idx="2"/>
          </p:cNvCxnSpPr>
          <p:nvPr/>
        </p:nvCxnSpPr>
        <p:spPr>
          <a:xfrm rot="-5400000">
            <a:off x="2568450" y="663463"/>
            <a:ext cx="574500" cy="18438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38" name="Google Shape;438;p65"/>
          <p:cNvSpPr txBox="1"/>
          <p:nvPr/>
        </p:nvSpPr>
        <p:spPr>
          <a:xfrm>
            <a:off x="2499750" y="398150"/>
            <a:ext cx="2555400" cy="9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Analysis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(SNA)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41" name="Google Shape;441;p65"/>
          <p:cNvSpPr txBox="1"/>
          <p:nvPr/>
        </p:nvSpPr>
        <p:spPr>
          <a:xfrm>
            <a:off x="11647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Theory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39" name="Google Shape;439;p65"/>
          <p:cNvSpPr txBox="1"/>
          <p:nvPr/>
        </p:nvSpPr>
        <p:spPr>
          <a:xfrm>
            <a:off x="47053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Measurement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46" name="Google Shape;446;p65"/>
          <p:cNvSpPr txBox="1"/>
          <p:nvPr/>
        </p:nvSpPr>
        <p:spPr>
          <a:xfrm>
            <a:off x="55506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Network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Density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48" name="Google Shape;448;p65"/>
          <p:cNvSpPr txBox="1"/>
          <p:nvPr/>
        </p:nvSpPr>
        <p:spPr>
          <a:xfrm>
            <a:off x="38601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Degree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Centrality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42" name="Google Shape;442;p65"/>
          <p:cNvSpPr txBox="1"/>
          <p:nvPr/>
        </p:nvSpPr>
        <p:spPr>
          <a:xfrm>
            <a:off x="20100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Strength of Weak Ties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44" name="Google Shape;444;p65"/>
          <p:cNvSpPr txBox="1"/>
          <p:nvPr/>
        </p:nvSpPr>
        <p:spPr>
          <a:xfrm>
            <a:off x="3195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Structural 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Holes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50" name="Google Shape;450;p65"/>
          <p:cNvSpPr txBox="1"/>
          <p:nvPr/>
        </p:nvSpPr>
        <p:spPr>
          <a:xfrm>
            <a:off x="6305025" y="694625"/>
            <a:ext cx="2555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 theories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tell us what networks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do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,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where they come from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and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what difference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they make for people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51" name="Google Shape;451;p65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The two faces of social network analysis</a:t>
            </a:r>
            <a:endParaRPr b="1" sz="300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5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56" name="Google Shape;456;p66"/>
          <p:cNvCxnSpPr>
            <a:stCxn id="457" idx="2"/>
            <a:endCxn id="458" idx="0"/>
          </p:cNvCxnSpPr>
          <p:nvPr/>
        </p:nvCxnSpPr>
        <p:spPr>
          <a:xfrm flipH="1" rot="-5400000">
            <a:off x="4338750" y="736850"/>
            <a:ext cx="574500" cy="16971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59" name="Google Shape;459;p66"/>
          <p:cNvCxnSpPr>
            <a:stCxn id="460" idx="2"/>
            <a:endCxn id="461" idx="0"/>
          </p:cNvCxnSpPr>
          <p:nvPr/>
        </p:nvCxnSpPr>
        <p:spPr>
          <a:xfrm flipH="1" rot="-5400000">
            <a:off x="18843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62" name="Google Shape;462;p66"/>
          <p:cNvCxnSpPr>
            <a:stCxn id="463" idx="0"/>
            <a:endCxn id="460" idx="2"/>
          </p:cNvCxnSpPr>
          <p:nvPr/>
        </p:nvCxnSpPr>
        <p:spPr>
          <a:xfrm rot="-5400000">
            <a:off x="10390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64" name="Google Shape;464;p66"/>
          <p:cNvCxnSpPr>
            <a:stCxn id="458" idx="2"/>
            <a:endCxn id="465" idx="0"/>
          </p:cNvCxnSpPr>
          <p:nvPr/>
        </p:nvCxnSpPr>
        <p:spPr>
          <a:xfrm flipH="1" rot="-5400000">
            <a:off x="54249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66" name="Google Shape;466;p66"/>
          <p:cNvCxnSpPr>
            <a:stCxn id="467" idx="0"/>
            <a:endCxn id="458" idx="2"/>
          </p:cNvCxnSpPr>
          <p:nvPr/>
        </p:nvCxnSpPr>
        <p:spPr>
          <a:xfrm rot="-5400000">
            <a:off x="45796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68" name="Google Shape;468;p66"/>
          <p:cNvCxnSpPr>
            <a:stCxn id="460" idx="0"/>
            <a:endCxn id="457" idx="2"/>
          </p:cNvCxnSpPr>
          <p:nvPr/>
        </p:nvCxnSpPr>
        <p:spPr>
          <a:xfrm rot="-5400000">
            <a:off x="2568450" y="663463"/>
            <a:ext cx="574500" cy="18438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57" name="Google Shape;457;p66"/>
          <p:cNvSpPr txBox="1"/>
          <p:nvPr/>
        </p:nvSpPr>
        <p:spPr>
          <a:xfrm>
            <a:off x="2499750" y="398150"/>
            <a:ext cx="2555400" cy="9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Analysis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(SNA)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0" name="Google Shape;460;p66"/>
          <p:cNvSpPr txBox="1"/>
          <p:nvPr/>
        </p:nvSpPr>
        <p:spPr>
          <a:xfrm>
            <a:off x="11647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Theory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58" name="Google Shape;458;p66"/>
          <p:cNvSpPr txBox="1"/>
          <p:nvPr/>
        </p:nvSpPr>
        <p:spPr>
          <a:xfrm>
            <a:off x="47053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Measurement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5" name="Google Shape;465;p66"/>
          <p:cNvSpPr txBox="1"/>
          <p:nvPr/>
        </p:nvSpPr>
        <p:spPr>
          <a:xfrm>
            <a:off x="55506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Network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Density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7" name="Google Shape;467;p66"/>
          <p:cNvSpPr txBox="1"/>
          <p:nvPr/>
        </p:nvSpPr>
        <p:spPr>
          <a:xfrm>
            <a:off x="38601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Degree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Centrality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1" name="Google Shape;461;p66"/>
          <p:cNvSpPr txBox="1"/>
          <p:nvPr/>
        </p:nvSpPr>
        <p:spPr>
          <a:xfrm>
            <a:off x="20100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Strength of Weak Ties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3" name="Google Shape;463;p66"/>
          <p:cNvSpPr txBox="1"/>
          <p:nvPr/>
        </p:nvSpPr>
        <p:spPr>
          <a:xfrm>
            <a:off x="3195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Structural 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Holes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9" name="Google Shape;469;p66"/>
          <p:cNvSpPr txBox="1"/>
          <p:nvPr/>
        </p:nvSpPr>
        <p:spPr>
          <a:xfrm>
            <a:off x="6305025" y="694625"/>
            <a:ext cx="2555400" cy="294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 measurement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links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concepts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defined in social network theories to a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mathematical representation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70" name="Google Shape;470;p66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The two faces of social network analysis</a:t>
            </a:r>
            <a:endParaRPr b="1" sz="30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4" name="Shape 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5" name="Google Shape;475;p67"/>
          <p:cNvCxnSpPr>
            <a:stCxn id="476" idx="2"/>
            <a:endCxn id="477" idx="0"/>
          </p:cNvCxnSpPr>
          <p:nvPr/>
        </p:nvCxnSpPr>
        <p:spPr>
          <a:xfrm flipH="1" rot="-5400000">
            <a:off x="4338750" y="736850"/>
            <a:ext cx="574500" cy="16971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78" name="Google Shape;478;p67"/>
          <p:cNvCxnSpPr>
            <a:stCxn id="479" idx="2"/>
            <a:endCxn id="480" idx="0"/>
          </p:cNvCxnSpPr>
          <p:nvPr/>
        </p:nvCxnSpPr>
        <p:spPr>
          <a:xfrm flipH="1" rot="-5400000">
            <a:off x="18843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81" name="Google Shape;481;p67"/>
          <p:cNvCxnSpPr>
            <a:stCxn id="482" idx="0"/>
            <a:endCxn id="479" idx="2"/>
          </p:cNvCxnSpPr>
          <p:nvPr/>
        </p:nvCxnSpPr>
        <p:spPr>
          <a:xfrm rot="-5400000">
            <a:off x="10390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83" name="Google Shape;483;p67"/>
          <p:cNvCxnSpPr>
            <a:stCxn id="477" idx="2"/>
            <a:endCxn id="484" idx="0"/>
          </p:cNvCxnSpPr>
          <p:nvPr/>
        </p:nvCxnSpPr>
        <p:spPr>
          <a:xfrm flipH="1" rot="-5400000">
            <a:off x="54249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85" name="Google Shape;485;p67"/>
          <p:cNvCxnSpPr>
            <a:stCxn id="486" idx="0"/>
            <a:endCxn id="477" idx="2"/>
          </p:cNvCxnSpPr>
          <p:nvPr/>
        </p:nvCxnSpPr>
        <p:spPr>
          <a:xfrm rot="-5400000">
            <a:off x="45796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87" name="Google Shape;487;p67"/>
          <p:cNvCxnSpPr>
            <a:stCxn id="479" idx="0"/>
            <a:endCxn id="476" idx="2"/>
          </p:cNvCxnSpPr>
          <p:nvPr/>
        </p:nvCxnSpPr>
        <p:spPr>
          <a:xfrm rot="-5400000">
            <a:off x="2568450" y="663463"/>
            <a:ext cx="574500" cy="18438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76" name="Google Shape;476;p67"/>
          <p:cNvSpPr txBox="1"/>
          <p:nvPr/>
        </p:nvSpPr>
        <p:spPr>
          <a:xfrm>
            <a:off x="2499750" y="398150"/>
            <a:ext cx="2555400" cy="9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Analysis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(SNA)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79" name="Google Shape;479;p67"/>
          <p:cNvSpPr txBox="1"/>
          <p:nvPr/>
        </p:nvSpPr>
        <p:spPr>
          <a:xfrm>
            <a:off x="11647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Theory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77" name="Google Shape;477;p67"/>
          <p:cNvSpPr txBox="1"/>
          <p:nvPr/>
        </p:nvSpPr>
        <p:spPr>
          <a:xfrm>
            <a:off x="47053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Measurement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4" name="Google Shape;484;p67"/>
          <p:cNvSpPr txBox="1"/>
          <p:nvPr/>
        </p:nvSpPr>
        <p:spPr>
          <a:xfrm>
            <a:off x="55506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Network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Density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6" name="Google Shape;486;p67"/>
          <p:cNvSpPr txBox="1"/>
          <p:nvPr/>
        </p:nvSpPr>
        <p:spPr>
          <a:xfrm>
            <a:off x="38601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Degree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Centrality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0" name="Google Shape;480;p67"/>
          <p:cNvSpPr txBox="1"/>
          <p:nvPr/>
        </p:nvSpPr>
        <p:spPr>
          <a:xfrm>
            <a:off x="20100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Strength of Weak Ties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2" name="Google Shape;482;p67"/>
          <p:cNvSpPr txBox="1"/>
          <p:nvPr/>
        </p:nvSpPr>
        <p:spPr>
          <a:xfrm>
            <a:off x="3195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Structural 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Holes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" name="Google Shape;488;p67"/>
          <p:cNvSpPr txBox="1"/>
          <p:nvPr/>
        </p:nvSpPr>
        <p:spPr>
          <a:xfrm>
            <a:off x="6305025" y="694625"/>
            <a:ext cx="2555400" cy="294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 measurement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helps make natural language concepts (e.g., “popularity”) more precise 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89" name="Google Shape;489;p67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The two faces of social network analysis</a:t>
            </a:r>
            <a:endParaRPr b="1" sz="30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3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4" name="Google Shape;494;p68"/>
          <p:cNvCxnSpPr>
            <a:stCxn id="495" idx="2"/>
            <a:endCxn id="496" idx="0"/>
          </p:cNvCxnSpPr>
          <p:nvPr/>
        </p:nvCxnSpPr>
        <p:spPr>
          <a:xfrm flipH="1" rot="-5400000">
            <a:off x="4338750" y="736850"/>
            <a:ext cx="574500" cy="16971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97" name="Google Shape;497;p68"/>
          <p:cNvCxnSpPr>
            <a:stCxn id="498" idx="2"/>
            <a:endCxn id="499" idx="0"/>
          </p:cNvCxnSpPr>
          <p:nvPr/>
        </p:nvCxnSpPr>
        <p:spPr>
          <a:xfrm flipH="1" rot="-5400000">
            <a:off x="18843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00" name="Google Shape;500;p68"/>
          <p:cNvCxnSpPr>
            <a:stCxn id="501" idx="0"/>
            <a:endCxn id="498" idx="2"/>
          </p:cNvCxnSpPr>
          <p:nvPr/>
        </p:nvCxnSpPr>
        <p:spPr>
          <a:xfrm rot="-5400000">
            <a:off x="10390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02" name="Google Shape;502;p68"/>
          <p:cNvCxnSpPr>
            <a:stCxn id="496" idx="2"/>
            <a:endCxn id="503" idx="0"/>
          </p:cNvCxnSpPr>
          <p:nvPr/>
        </p:nvCxnSpPr>
        <p:spPr>
          <a:xfrm flipH="1" rot="-5400000">
            <a:off x="5424900" y="250651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04" name="Google Shape;504;p68"/>
          <p:cNvCxnSpPr>
            <a:stCxn id="505" idx="0"/>
            <a:endCxn id="496" idx="2"/>
          </p:cNvCxnSpPr>
          <p:nvPr/>
        </p:nvCxnSpPr>
        <p:spPr>
          <a:xfrm rot="-5400000">
            <a:off x="4579650" y="2506363"/>
            <a:ext cx="944400" cy="845400"/>
          </a:xfrm>
          <a:prstGeom prst="bentConnector3">
            <a:avLst>
              <a:gd fmla="val 49992" name="adj1"/>
            </a:avLst>
          </a:prstGeom>
          <a:noFill/>
          <a:ln cap="flat" cmpd="sng" w="9525">
            <a:solidFill>
              <a:srgbClr val="701C7F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06" name="Google Shape;506;p68"/>
          <p:cNvCxnSpPr>
            <a:stCxn id="498" idx="0"/>
            <a:endCxn id="495" idx="2"/>
          </p:cNvCxnSpPr>
          <p:nvPr/>
        </p:nvCxnSpPr>
        <p:spPr>
          <a:xfrm rot="-5400000">
            <a:off x="2568450" y="663463"/>
            <a:ext cx="574500" cy="1843800"/>
          </a:xfrm>
          <a:prstGeom prst="bentConnector3">
            <a:avLst>
              <a:gd fmla="val 49997" name="adj1"/>
            </a:avLst>
          </a:prstGeom>
          <a:noFill/>
          <a:ln cap="flat" cmpd="sng" w="9525">
            <a:solidFill>
              <a:srgbClr val="551561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95" name="Google Shape;495;p68"/>
          <p:cNvSpPr txBox="1"/>
          <p:nvPr/>
        </p:nvSpPr>
        <p:spPr>
          <a:xfrm>
            <a:off x="2499750" y="398150"/>
            <a:ext cx="2555400" cy="9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Analysis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(SNA)</a:t>
            </a:r>
            <a:endParaRPr sz="1800"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8" name="Google Shape;498;p68"/>
          <p:cNvSpPr txBox="1"/>
          <p:nvPr/>
        </p:nvSpPr>
        <p:spPr>
          <a:xfrm>
            <a:off x="11647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Theory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6" name="Google Shape;496;p68"/>
          <p:cNvSpPr txBox="1"/>
          <p:nvPr/>
        </p:nvSpPr>
        <p:spPr>
          <a:xfrm>
            <a:off x="4705350" y="187261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Social Network Measurement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" name="Google Shape;503;p68"/>
          <p:cNvSpPr txBox="1"/>
          <p:nvPr/>
        </p:nvSpPr>
        <p:spPr>
          <a:xfrm>
            <a:off x="55506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Network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Density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5" name="Google Shape;505;p68"/>
          <p:cNvSpPr txBox="1"/>
          <p:nvPr/>
        </p:nvSpPr>
        <p:spPr>
          <a:xfrm>
            <a:off x="38601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Degree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Centrality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9" name="Google Shape;499;p68"/>
          <p:cNvSpPr txBox="1"/>
          <p:nvPr/>
        </p:nvSpPr>
        <p:spPr>
          <a:xfrm>
            <a:off x="20100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Strength of Weak Ties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1" name="Google Shape;501;p68"/>
          <p:cNvSpPr txBox="1"/>
          <p:nvPr/>
        </p:nvSpPr>
        <p:spPr>
          <a:xfrm>
            <a:off x="319500" y="340126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Structural 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1C7F"/>
                </a:solidFill>
                <a:latin typeface="Roboto"/>
                <a:ea typeface="Roboto"/>
                <a:cs typeface="Roboto"/>
                <a:sym typeface="Roboto"/>
              </a:rPr>
              <a:t>Holes</a:t>
            </a:r>
            <a:endParaRPr>
              <a:solidFill>
                <a:srgbClr val="701C7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7" name="Google Shape;507;p68"/>
          <p:cNvSpPr txBox="1"/>
          <p:nvPr/>
        </p:nvSpPr>
        <p:spPr>
          <a:xfrm>
            <a:off x="6305025" y="694625"/>
            <a:ext cx="2555400" cy="294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Social network measurement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helps make natural language concepts (e.g., “popularity”) more precise 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08" name="Google Shape;508;p68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The two faces of social network analysis</a:t>
            </a:r>
            <a:endParaRPr b="1" sz="30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2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" name="Google Shape;513;p69"/>
          <p:cNvSpPr txBox="1"/>
          <p:nvPr>
            <p:ph idx="1" type="body"/>
          </p:nvPr>
        </p:nvSpPr>
        <p:spPr>
          <a:xfrm>
            <a:off x="319500" y="4218925"/>
            <a:ext cx="63471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/>
              <a:t>Two mathematical representations of networks</a:t>
            </a:r>
            <a:endParaRPr b="1" sz="3000"/>
          </a:p>
        </p:txBody>
      </p:sp>
      <p:pic>
        <p:nvPicPr>
          <p:cNvPr descr="figure1-300x297.png" id="514" name="Google Shape;514;p6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044350" y="248575"/>
            <a:ext cx="2048182" cy="202770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Each element of a matrix is ..." id="515" name="Google Shape;515;p6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044338" y="2376050"/>
            <a:ext cx="2338775" cy="1893251"/>
          </a:xfrm>
          <a:prstGeom prst="rect">
            <a:avLst/>
          </a:prstGeom>
          <a:noFill/>
          <a:ln>
            <a:noFill/>
          </a:ln>
        </p:spPr>
      </p:pic>
      <p:sp>
        <p:nvSpPr>
          <p:cNvPr id="516" name="Google Shape;516;p69"/>
          <p:cNvSpPr txBox="1"/>
          <p:nvPr/>
        </p:nvSpPr>
        <p:spPr>
          <a:xfrm>
            <a:off x="410050" y="1401600"/>
            <a:ext cx="3303900" cy="234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Social Networks can be mathematically represented in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two ways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Economica"/>
              <a:buChar char="●"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We will learn how to go </a:t>
            </a: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back and forth</a:t>
            </a: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 between the two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517" name="Google Shape;517;p69"/>
          <p:cNvCxnSpPr>
            <a:stCxn id="516" idx="3"/>
            <a:endCxn id="514" idx="1"/>
          </p:cNvCxnSpPr>
          <p:nvPr/>
        </p:nvCxnSpPr>
        <p:spPr>
          <a:xfrm flipH="1" rot="10800000">
            <a:off x="3713950" y="1262550"/>
            <a:ext cx="2330400" cy="13092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518" name="Google Shape;518;p69"/>
          <p:cNvCxnSpPr>
            <a:stCxn id="516" idx="3"/>
            <a:endCxn id="515" idx="1"/>
          </p:cNvCxnSpPr>
          <p:nvPr/>
        </p:nvCxnSpPr>
        <p:spPr>
          <a:xfrm>
            <a:off x="3713950" y="2571750"/>
            <a:ext cx="2330400" cy="750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519" name="Google Shape;519;p69"/>
          <p:cNvSpPr txBox="1"/>
          <p:nvPr/>
        </p:nvSpPr>
        <p:spPr>
          <a:xfrm>
            <a:off x="4655350" y="3471375"/>
            <a:ext cx="1389000" cy="598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A “Matrix”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20" name="Google Shape;520;p69"/>
          <p:cNvSpPr txBox="1"/>
          <p:nvPr/>
        </p:nvSpPr>
        <p:spPr>
          <a:xfrm>
            <a:off x="4655350" y="400950"/>
            <a:ext cx="1389000" cy="598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A “Graph”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4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5" name="Google Shape;525;p70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526" name="Google Shape;526;p70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27" name="Google Shape;527;p70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70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29" name="Google Shape;529;p70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0" name="Google Shape;530;p70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531" name="Google Shape;531;p70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2" name="Google Shape;532;p70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70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4" name="Google Shape;534;p70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5" name="Google Shape;535;p70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536" name="Google Shape;536;p70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7" name="Google Shape;537;p70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70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9" name="Google Shape;539;p70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40" name="Google Shape;540;p70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541" name="Google Shape;541;p70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42" name="Google Shape;542;p70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70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4" name="Google Shape;544;p70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45" name="Google Shape;545;p70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546" name="Google Shape;546;p70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47" name="Google Shape;547;p70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70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9" name="Google Shape;549;p70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50" name="Google Shape;550;p70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551" name="Google Shape;551;p70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52" name="Google Shape;552;p70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53" name="Google Shape;553;p70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54" name="Google Shape;554;p70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55" name="Google Shape;555;p70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56" name="Google Shape;556;p70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57" name="Google Shape;557;p70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58" name="Google Shape;558;p70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59" name="Google Shape;559;p70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60" name="Google Shape;560;p70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61" name="Google Shape;561;p70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62" name="Google Shape;562;p70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63" name="Google Shape;563;p70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64" name="Google Shape;564;p70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65" name="Google Shape;565;p70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66" name="Google Shape;566;p70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67" name="Google Shape;567;p70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sp>
        <p:nvSpPr>
          <p:cNvPr id="568" name="Google Shape;568;p70"/>
          <p:cNvSpPr txBox="1"/>
          <p:nvPr/>
        </p:nvSpPr>
        <p:spPr>
          <a:xfrm>
            <a:off x="78425" y="3815350"/>
            <a:ext cx="24333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We will be working through all these levels in the course!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69" name="Google Shape;569;p7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4" name="Google Shape;574;p71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575" name="Google Shape;575;p71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76" name="Google Shape;576;p71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71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78" name="Google Shape;578;p71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79" name="Google Shape;579;p71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580" name="Google Shape;580;p71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81" name="Google Shape;581;p71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71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83" name="Google Shape;583;p71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84" name="Google Shape;584;p71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585" name="Google Shape;585;p71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86" name="Google Shape;586;p71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71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88" name="Google Shape;588;p71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89" name="Google Shape;589;p71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590" name="Google Shape;590;p71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91" name="Google Shape;591;p71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71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93" name="Google Shape;593;p71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94" name="Google Shape;594;p71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595" name="Google Shape;595;p71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96" name="Google Shape;596;p71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71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98" name="Google Shape;598;p71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99" name="Google Shape;599;p71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600" name="Google Shape;600;p71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1" name="Google Shape;601;p71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2" name="Google Shape;602;p71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3" name="Google Shape;603;p71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4" name="Google Shape;604;p71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5" name="Google Shape;605;p71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6" name="Google Shape;606;p71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7" name="Google Shape;607;p71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8" name="Google Shape;608;p71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09" name="Google Shape;609;p71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10" name="Google Shape;610;p71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11" name="Google Shape;611;p71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12" name="Google Shape;612;p71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13" name="Google Shape;613;p71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14" name="Google Shape;614;p71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15" name="Google Shape;615;p71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16" name="Google Shape;616;p71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sp>
        <p:nvSpPr>
          <p:cNvPr id="617" name="Google Shape;617;p71"/>
          <p:cNvSpPr txBox="1"/>
          <p:nvPr/>
        </p:nvSpPr>
        <p:spPr>
          <a:xfrm>
            <a:off x="78425" y="3815350"/>
            <a:ext cx="24333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We will be working through all these levels in the course!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18" name="Google Shape;618;p7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  <p:sp>
        <p:nvSpPr>
          <p:cNvPr id="619" name="Google Shape;619;p71"/>
          <p:cNvSpPr txBox="1"/>
          <p:nvPr/>
        </p:nvSpPr>
        <p:spPr>
          <a:xfrm>
            <a:off x="6320675" y="4219725"/>
            <a:ext cx="2433300" cy="74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(But not in this order)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623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72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" name="Google Shape;625;p72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Ties in Social Networks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9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0" name="Google Shape;630;p73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631" name="Google Shape;631;p73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32" name="Google Shape;632;p73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73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34" name="Google Shape;634;p73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35" name="Google Shape;635;p73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636" name="Google Shape;636;p73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37" name="Google Shape;637;p73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73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39" name="Google Shape;639;p73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40" name="Google Shape;640;p73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641" name="Google Shape;641;p73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42" name="Google Shape;642;p73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73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4" name="Google Shape;644;p73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45" name="Google Shape;645;p73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646" name="Google Shape;646;p73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47" name="Google Shape;647;p73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73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9" name="Google Shape;649;p73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50" name="Google Shape;650;p73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651" name="Google Shape;651;p73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52" name="Google Shape;652;p73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73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54" name="Google Shape;654;p73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55" name="Google Shape;655;p73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656" name="Google Shape;656;p73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57" name="Google Shape;657;p73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58" name="Google Shape;658;p73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59" name="Google Shape;659;p73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0" name="Google Shape;660;p73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1" name="Google Shape;661;p73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2" name="Google Shape;662;p73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3" name="Google Shape;663;p73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4" name="Google Shape;664;p73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5" name="Google Shape;665;p73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6" name="Google Shape;666;p73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7" name="Google Shape;667;p73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8" name="Google Shape;668;p73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69" name="Google Shape;669;p73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70" name="Google Shape;670;p73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71" name="Google Shape;671;p73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672" name="Google Shape;672;p73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sp>
        <p:nvSpPr>
          <p:cNvPr id="673" name="Google Shape;673;p73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74" name="Google Shape;674;p7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8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9" name="Google Shape;679;p74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680" name="Google Shape;680;p74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81" name="Google Shape;681;p74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74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83" name="Google Shape;683;p74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84" name="Google Shape;684;p74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685" name="Google Shape;685;p74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86" name="Google Shape;686;p74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74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88" name="Google Shape;688;p74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89" name="Google Shape;689;p74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690" name="Google Shape;690;p74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91" name="Google Shape;691;p74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74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93" name="Google Shape;693;p74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94" name="Google Shape;694;p74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695" name="Google Shape;695;p74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696" name="Google Shape;696;p74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74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98" name="Google Shape;698;p74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99" name="Google Shape;699;p74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700" name="Google Shape;700;p74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1" name="Google Shape;701;p74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2" name="Google Shape;702;p74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3" name="Google Shape;703;p74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4" name="Google Shape;704;p74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5" name="Google Shape;705;p74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6" name="Google Shape;706;p74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7" name="Google Shape;707;p74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8" name="Google Shape;708;p74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09" name="Google Shape;709;p74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10" name="Google Shape;710;p74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11" name="Google Shape;711;p74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12" name="Google Shape;712;p74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13" name="Google Shape;713;p74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14" name="Google Shape;714;p74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15" name="Google Shape;715;p74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16" name="Google Shape;716;p74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grpSp>
        <p:nvGrpSpPr>
          <p:cNvPr id="717" name="Google Shape;717;p74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718" name="Google Shape;718;p74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19" name="Google Shape;719;p74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74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21" name="Google Shape;721;p74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722" name="Google Shape;722;p74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723" name="Google Shape;723;p7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  <p:sp>
        <p:nvSpPr>
          <p:cNvPr id="724" name="Google Shape;724;p74"/>
          <p:cNvSpPr/>
          <p:nvPr/>
        </p:nvSpPr>
        <p:spPr>
          <a:xfrm>
            <a:off x="1073075" y="1713500"/>
            <a:ext cx="4485000" cy="10140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Tie types and properties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8" name="Shape 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p7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Dyads in Social Networks</a:t>
            </a:r>
            <a:endParaRPr/>
          </a:p>
        </p:txBody>
      </p:sp>
      <p:sp>
        <p:nvSpPr>
          <p:cNvPr id="730" name="Google Shape;730;p75"/>
          <p:cNvSpPr txBox="1"/>
          <p:nvPr>
            <p:ph idx="1" type="body"/>
          </p:nvPr>
        </p:nvSpPr>
        <p:spPr>
          <a:xfrm>
            <a:off x="311700" y="1225225"/>
            <a:ext cx="416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network </a:t>
            </a:r>
            <a:r>
              <a:rPr i="1" lang="en">
                <a:solidFill>
                  <a:srgbClr val="FF0000"/>
                </a:solidFill>
              </a:rPr>
              <a:t>any</a:t>
            </a:r>
            <a:r>
              <a:rPr lang="en"/>
              <a:t> </a:t>
            </a:r>
            <a:r>
              <a:rPr b="1" lang="en"/>
              <a:t>two</a:t>
            </a:r>
            <a:r>
              <a:rPr lang="en"/>
              <a:t> pair of nodes is called a </a:t>
            </a:r>
            <a:r>
              <a:rPr b="1" lang="en"/>
              <a:t>dyad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Dyads can either be: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lang="en">
                <a:solidFill>
                  <a:srgbClr val="0000FF"/>
                </a:solidFill>
              </a:rPr>
              <a:t>Connected</a:t>
            </a:r>
            <a:endParaRPr>
              <a:solidFill>
                <a:srgbClr val="0000FF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If there as an edge linking them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Disconnected</a:t>
            </a:r>
            <a:endParaRPr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If there is no edge linking them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" name="Google Shape;731;p75"/>
          <p:cNvSpPr/>
          <p:nvPr/>
        </p:nvSpPr>
        <p:spPr>
          <a:xfrm>
            <a:off x="5601013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A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732" name="Google Shape;732;p75"/>
          <p:cNvCxnSpPr>
            <a:stCxn id="731" idx="6"/>
            <a:endCxn id="733" idx="2"/>
          </p:cNvCxnSpPr>
          <p:nvPr/>
        </p:nvCxnSpPr>
        <p:spPr>
          <a:xfrm>
            <a:off x="6498013" y="1802788"/>
            <a:ext cx="949200" cy="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3" name="Google Shape;733;p75"/>
          <p:cNvSpPr/>
          <p:nvPr/>
        </p:nvSpPr>
        <p:spPr>
          <a:xfrm>
            <a:off x="7447218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B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34" name="Google Shape;734;p75"/>
          <p:cNvSpPr/>
          <p:nvPr/>
        </p:nvSpPr>
        <p:spPr>
          <a:xfrm>
            <a:off x="5602213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D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35" name="Google Shape;735;p75"/>
          <p:cNvSpPr/>
          <p:nvPr/>
        </p:nvSpPr>
        <p:spPr>
          <a:xfrm>
            <a:off x="7448418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E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36" name="Google Shape;736;p75"/>
          <p:cNvSpPr txBox="1"/>
          <p:nvPr/>
        </p:nvSpPr>
        <p:spPr>
          <a:xfrm>
            <a:off x="5992963" y="2237938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Connected Dyad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37" name="Google Shape;737;p75"/>
          <p:cNvSpPr txBox="1"/>
          <p:nvPr/>
        </p:nvSpPr>
        <p:spPr>
          <a:xfrm>
            <a:off x="5946980" y="4059963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Disconnected Dyad</a:t>
            </a:r>
            <a:endParaRPr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p7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Dyads in Social Networks</a:t>
            </a:r>
            <a:endParaRPr/>
          </a:p>
        </p:txBody>
      </p:sp>
      <p:sp>
        <p:nvSpPr>
          <p:cNvPr id="743" name="Google Shape;743;p76"/>
          <p:cNvSpPr txBox="1"/>
          <p:nvPr>
            <p:ph idx="1" type="body"/>
          </p:nvPr>
        </p:nvSpPr>
        <p:spPr>
          <a:xfrm>
            <a:off x="311700" y="1225225"/>
            <a:ext cx="416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network </a:t>
            </a:r>
            <a:r>
              <a:rPr i="1" lang="en">
                <a:solidFill>
                  <a:srgbClr val="FF0000"/>
                </a:solidFill>
              </a:rPr>
              <a:t>any</a:t>
            </a:r>
            <a:r>
              <a:rPr lang="en"/>
              <a:t> </a:t>
            </a:r>
            <a:r>
              <a:rPr b="1" lang="en"/>
              <a:t>two</a:t>
            </a:r>
            <a:r>
              <a:rPr lang="en"/>
              <a:t> pair of nodes is called a </a:t>
            </a:r>
            <a:r>
              <a:rPr b="1" lang="en"/>
              <a:t>dyad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Dyads can either be: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lang="en">
                <a:solidFill>
                  <a:srgbClr val="0000FF"/>
                </a:solidFill>
              </a:rPr>
              <a:t>Connected</a:t>
            </a:r>
            <a:endParaRPr>
              <a:solidFill>
                <a:srgbClr val="0000FF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If there as an edge linking them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Disconnected</a:t>
            </a:r>
            <a:endParaRPr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If there is no edge linking them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social networks the link joining connected dyads is called a </a:t>
            </a:r>
            <a:r>
              <a:rPr b="1" lang="en"/>
              <a:t>social tie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" name="Google Shape;744;p76"/>
          <p:cNvSpPr/>
          <p:nvPr/>
        </p:nvSpPr>
        <p:spPr>
          <a:xfrm>
            <a:off x="5601013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A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745" name="Google Shape;745;p76"/>
          <p:cNvCxnSpPr>
            <a:stCxn id="744" idx="6"/>
            <a:endCxn id="746" idx="2"/>
          </p:cNvCxnSpPr>
          <p:nvPr/>
        </p:nvCxnSpPr>
        <p:spPr>
          <a:xfrm>
            <a:off x="6498013" y="1802788"/>
            <a:ext cx="949200" cy="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6" name="Google Shape;746;p76"/>
          <p:cNvSpPr/>
          <p:nvPr/>
        </p:nvSpPr>
        <p:spPr>
          <a:xfrm>
            <a:off x="7447218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B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47" name="Google Shape;747;p76"/>
          <p:cNvSpPr/>
          <p:nvPr/>
        </p:nvSpPr>
        <p:spPr>
          <a:xfrm>
            <a:off x="6197425" y="499325"/>
            <a:ext cx="1550400" cy="518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social tie!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48" name="Google Shape;748;p76"/>
          <p:cNvCxnSpPr>
            <a:stCxn id="747" idx="2"/>
          </p:cNvCxnSpPr>
          <p:nvPr/>
        </p:nvCxnSpPr>
        <p:spPr>
          <a:xfrm>
            <a:off x="6972625" y="1017725"/>
            <a:ext cx="2400" cy="641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49" name="Google Shape;749;p76"/>
          <p:cNvSpPr/>
          <p:nvPr/>
        </p:nvSpPr>
        <p:spPr>
          <a:xfrm>
            <a:off x="5602213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D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50" name="Google Shape;750;p76"/>
          <p:cNvSpPr/>
          <p:nvPr/>
        </p:nvSpPr>
        <p:spPr>
          <a:xfrm>
            <a:off x="7448418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E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51" name="Google Shape;751;p76"/>
          <p:cNvSpPr txBox="1"/>
          <p:nvPr/>
        </p:nvSpPr>
        <p:spPr>
          <a:xfrm>
            <a:off x="5992963" y="2237938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Connected Dyad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52" name="Google Shape;752;p76"/>
          <p:cNvSpPr txBox="1"/>
          <p:nvPr/>
        </p:nvSpPr>
        <p:spPr>
          <a:xfrm>
            <a:off x="5946980" y="4059963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Disconnected Dyad</a:t>
            </a:r>
            <a:endParaRPr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6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p7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Dyads in Social Networks</a:t>
            </a:r>
            <a:endParaRPr/>
          </a:p>
        </p:txBody>
      </p:sp>
      <p:sp>
        <p:nvSpPr>
          <p:cNvPr id="758" name="Google Shape;758;p77"/>
          <p:cNvSpPr txBox="1"/>
          <p:nvPr>
            <p:ph idx="1" type="body"/>
          </p:nvPr>
        </p:nvSpPr>
        <p:spPr>
          <a:xfrm>
            <a:off x="311700" y="1225225"/>
            <a:ext cx="416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Social ties are the </a:t>
            </a:r>
            <a:r>
              <a:rPr b="1" lang="en"/>
              <a:t>fundamental units</a:t>
            </a:r>
            <a:r>
              <a:rPr lang="en"/>
              <a:t> of social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Like the atom is to physics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Or the cell is to biology</a:t>
            </a:r>
            <a:endParaRPr sz="14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</a:t>
            </a:r>
            <a:r>
              <a:rPr b="1" lang="en"/>
              <a:t>different types</a:t>
            </a:r>
            <a:r>
              <a:rPr lang="en"/>
              <a:t> of social ties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" name="Google Shape;759;p77"/>
          <p:cNvSpPr/>
          <p:nvPr/>
        </p:nvSpPr>
        <p:spPr>
          <a:xfrm>
            <a:off x="5601013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A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760" name="Google Shape;760;p77"/>
          <p:cNvCxnSpPr>
            <a:stCxn id="759" idx="6"/>
            <a:endCxn id="761" idx="2"/>
          </p:cNvCxnSpPr>
          <p:nvPr/>
        </p:nvCxnSpPr>
        <p:spPr>
          <a:xfrm>
            <a:off x="6498013" y="1802788"/>
            <a:ext cx="949200" cy="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1" name="Google Shape;761;p77"/>
          <p:cNvSpPr/>
          <p:nvPr/>
        </p:nvSpPr>
        <p:spPr>
          <a:xfrm>
            <a:off x="7447218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B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62" name="Google Shape;762;p77"/>
          <p:cNvSpPr txBox="1"/>
          <p:nvPr/>
        </p:nvSpPr>
        <p:spPr>
          <a:xfrm>
            <a:off x="5992963" y="2237938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Connected Dyad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63" name="Google Shape;763;p77"/>
          <p:cNvSpPr/>
          <p:nvPr/>
        </p:nvSpPr>
        <p:spPr>
          <a:xfrm>
            <a:off x="5601013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D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64" name="Google Shape;764;p77"/>
          <p:cNvSpPr/>
          <p:nvPr/>
        </p:nvSpPr>
        <p:spPr>
          <a:xfrm>
            <a:off x="7447218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E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65" name="Google Shape;765;p77"/>
          <p:cNvSpPr txBox="1"/>
          <p:nvPr/>
        </p:nvSpPr>
        <p:spPr>
          <a:xfrm>
            <a:off x="5945780" y="4059963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Disconnected Dyad</a:t>
            </a:r>
            <a:endParaRPr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66" name="Google Shape;766;p77"/>
          <p:cNvSpPr/>
          <p:nvPr/>
        </p:nvSpPr>
        <p:spPr>
          <a:xfrm>
            <a:off x="6197425" y="499325"/>
            <a:ext cx="1550400" cy="518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social tie!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67" name="Google Shape;767;p77"/>
          <p:cNvCxnSpPr>
            <a:stCxn id="766" idx="2"/>
          </p:cNvCxnSpPr>
          <p:nvPr/>
        </p:nvCxnSpPr>
        <p:spPr>
          <a:xfrm>
            <a:off x="6972625" y="1017725"/>
            <a:ext cx="2400" cy="641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p7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Dyads in Social Networks</a:t>
            </a:r>
            <a:endParaRPr/>
          </a:p>
        </p:txBody>
      </p:sp>
      <p:sp>
        <p:nvSpPr>
          <p:cNvPr id="773" name="Google Shape;773;p78"/>
          <p:cNvSpPr txBox="1"/>
          <p:nvPr>
            <p:ph idx="1" type="body"/>
          </p:nvPr>
        </p:nvSpPr>
        <p:spPr>
          <a:xfrm>
            <a:off x="311700" y="1225225"/>
            <a:ext cx="416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Social ties are the </a:t>
            </a:r>
            <a:r>
              <a:rPr b="1" lang="en"/>
              <a:t>fundamental units</a:t>
            </a:r>
            <a:r>
              <a:rPr lang="en"/>
              <a:t> of social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Like the atom is to physics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Or the cell is to biology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</a:t>
            </a:r>
            <a:r>
              <a:rPr b="1" lang="en"/>
              <a:t>different types</a:t>
            </a:r>
            <a:r>
              <a:rPr lang="en"/>
              <a:t> of social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Social networks are </a:t>
            </a:r>
            <a:r>
              <a:rPr i="1" lang="en"/>
              <a:t>built up</a:t>
            </a:r>
            <a:r>
              <a:rPr lang="en"/>
              <a:t> from a </a:t>
            </a:r>
            <a:r>
              <a:rPr b="1" lang="en"/>
              <a:t>concatenation </a:t>
            </a:r>
            <a:r>
              <a:rPr lang="en"/>
              <a:t>of social ties</a:t>
            </a:r>
            <a:endParaRPr/>
          </a:p>
        </p:txBody>
      </p:sp>
      <p:sp>
        <p:nvSpPr>
          <p:cNvPr id="774" name="Google Shape;774;p78"/>
          <p:cNvSpPr/>
          <p:nvPr/>
        </p:nvSpPr>
        <p:spPr>
          <a:xfrm>
            <a:off x="5601013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A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775" name="Google Shape;775;p78"/>
          <p:cNvCxnSpPr>
            <a:stCxn id="774" idx="6"/>
            <a:endCxn id="776" idx="2"/>
          </p:cNvCxnSpPr>
          <p:nvPr/>
        </p:nvCxnSpPr>
        <p:spPr>
          <a:xfrm>
            <a:off x="6498013" y="1802788"/>
            <a:ext cx="949200" cy="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6" name="Google Shape;776;p78"/>
          <p:cNvSpPr/>
          <p:nvPr/>
        </p:nvSpPr>
        <p:spPr>
          <a:xfrm>
            <a:off x="7447218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B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77" name="Google Shape;777;p78"/>
          <p:cNvSpPr/>
          <p:nvPr/>
        </p:nvSpPr>
        <p:spPr>
          <a:xfrm>
            <a:off x="5602213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D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78" name="Google Shape;778;p78"/>
          <p:cNvSpPr/>
          <p:nvPr/>
        </p:nvSpPr>
        <p:spPr>
          <a:xfrm>
            <a:off x="7448418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E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79" name="Google Shape;779;p78"/>
          <p:cNvSpPr/>
          <p:nvPr/>
        </p:nvSpPr>
        <p:spPr>
          <a:xfrm>
            <a:off x="6197425" y="499325"/>
            <a:ext cx="1550400" cy="518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social tie!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80" name="Google Shape;780;p78"/>
          <p:cNvCxnSpPr>
            <a:stCxn id="779" idx="2"/>
          </p:cNvCxnSpPr>
          <p:nvPr/>
        </p:nvCxnSpPr>
        <p:spPr>
          <a:xfrm>
            <a:off x="6972625" y="1017725"/>
            <a:ext cx="2400" cy="641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81" name="Google Shape;781;p78"/>
          <p:cNvSpPr txBox="1"/>
          <p:nvPr/>
        </p:nvSpPr>
        <p:spPr>
          <a:xfrm>
            <a:off x="5992963" y="2237938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Connected Dyad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82" name="Google Shape;782;p78"/>
          <p:cNvSpPr txBox="1"/>
          <p:nvPr/>
        </p:nvSpPr>
        <p:spPr>
          <a:xfrm>
            <a:off x="5946980" y="4059963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Disconnected Dyad</a:t>
            </a:r>
            <a:endParaRPr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783" name="Google Shape;783;p78"/>
          <p:cNvCxnSpPr/>
          <p:nvPr/>
        </p:nvCxnSpPr>
        <p:spPr>
          <a:xfrm>
            <a:off x="6049513" y="2237938"/>
            <a:ext cx="0" cy="9516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4" name="Google Shape;784;p78"/>
          <p:cNvCxnSpPr/>
          <p:nvPr/>
        </p:nvCxnSpPr>
        <p:spPr>
          <a:xfrm>
            <a:off x="7895718" y="2237938"/>
            <a:ext cx="0" cy="9516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Google Shape;789;p7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Dyads in Social Networks</a:t>
            </a:r>
            <a:endParaRPr/>
          </a:p>
        </p:txBody>
      </p:sp>
      <p:sp>
        <p:nvSpPr>
          <p:cNvPr id="790" name="Google Shape;790;p79"/>
          <p:cNvSpPr txBox="1"/>
          <p:nvPr>
            <p:ph idx="1" type="body"/>
          </p:nvPr>
        </p:nvSpPr>
        <p:spPr>
          <a:xfrm>
            <a:off x="311700" y="1225225"/>
            <a:ext cx="416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Social ties are the </a:t>
            </a:r>
            <a:r>
              <a:rPr b="1" lang="en"/>
              <a:t>fundamental units</a:t>
            </a:r>
            <a:r>
              <a:rPr lang="en"/>
              <a:t> of social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Like the atom is to physics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Or the cell is to biology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</a:t>
            </a:r>
            <a:r>
              <a:rPr b="1" lang="en"/>
              <a:t>different types</a:t>
            </a:r>
            <a:r>
              <a:rPr lang="en"/>
              <a:t> of social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Social networks are </a:t>
            </a:r>
            <a:r>
              <a:rPr i="1" lang="en"/>
              <a:t>built up</a:t>
            </a:r>
            <a:r>
              <a:rPr lang="en"/>
              <a:t> from a </a:t>
            </a:r>
            <a:r>
              <a:rPr b="1" lang="en"/>
              <a:t>concatenation </a:t>
            </a:r>
            <a:r>
              <a:rPr lang="en"/>
              <a:t>of social 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But the absences (lack of ties) matter too!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" name="Google Shape;791;p79"/>
          <p:cNvSpPr/>
          <p:nvPr/>
        </p:nvSpPr>
        <p:spPr>
          <a:xfrm>
            <a:off x="5601013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A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792" name="Google Shape;792;p79"/>
          <p:cNvCxnSpPr>
            <a:stCxn id="791" idx="6"/>
            <a:endCxn id="793" idx="2"/>
          </p:cNvCxnSpPr>
          <p:nvPr/>
        </p:nvCxnSpPr>
        <p:spPr>
          <a:xfrm>
            <a:off x="6498013" y="1802788"/>
            <a:ext cx="949200" cy="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3" name="Google Shape;793;p79"/>
          <p:cNvSpPr/>
          <p:nvPr/>
        </p:nvSpPr>
        <p:spPr>
          <a:xfrm>
            <a:off x="7447218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B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94" name="Google Shape;794;p79"/>
          <p:cNvSpPr txBox="1"/>
          <p:nvPr/>
        </p:nvSpPr>
        <p:spPr>
          <a:xfrm>
            <a:off x="6180913" y="2237950"/>
            <a:ext cx="15834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Connected Dyad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95" name="Google Shape;795;p79"/>
          <p:cNvSpPr/>
          <p:nvPr/>
        </p:nvSpPr>
        <p:spPr>
          <a:xfrm>
            <a:off x="5601013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D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96" name="Google Shape;796;p79"/>
          <p:cNvSpPr/>
          <p:nvPr/>
        </p:nvSpPr>
        <p:spPr>
          <a:xfrm>
            <a:off x="7447218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E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797" name="Google Shape;797;p79"/>
          <p:cNvSpPr txBox="1"/>
          <p:nvPr/>
        </p:nvSpPr>
        <p:spPr>
          <a:xfrm>
            <a:off x="6133728" y="4059975"/>
            <a:ext cx="15834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Disconnected Dyad</a:t>
            </a:r>
            <a:endParaRPr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98" name="Google Shape;798;p79"/>
          <p:cNvSpPr/>
          <p:nvPr/>
        </p:nvSpPr>
        <p:spPr>
          <a:xfrm>
            <a:off x="6197425" y="499325"/>
            <a:ext cx="1550400" cy="518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social tie!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99" name="Google Shape;799;p79"/>
          <p:cNvCxnSpPr>
            <a:stCxn id="798" idx="2"/>
          </p:cNvCxnSpPr>
          <p:nvPr/>
        </p:nvCxnSpPr>
        <p:spPr>
          <a:xfrm>
            <a:off x="6972625" y="1017725"/>
            <a:ext cx="2400" cy="641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800" name="Google Shape;800;p79"/>
          <p:cNvCxnSpPr>
            <a:stCxn id="791" idx="4"/>
            <a:endCxn id="795" idx="0"/>
          </p:cNvCxnSpPr>
          <p:nvPr/>
        </p:nvCxnSpPr>
        <p:spPr>
          <a:xfrm>
            <a:off x="6049513" y="2237938"/>
            <a:ext cx="0" cy="9516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01" name="Google Shape;801;p79"/>
          <p:cNvCxnSpPr>
            <a:stCxn id="793" idx="4"/>
            <a:endCxn id="796" idx="0"/>
          </p:cNvCxnSpPr>
          <p:nvPr/>
        </p:nvCxnSpPr>
        <p:spPr>
          <a:xfrm>
            <a:off x="7895718" y="2237938"/>
            <a:ext cx="0" cy="9516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5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8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Dyads in Social Networks</a:t>
            </a:r>
            <a:endParaRPr/>
          </a:p>
        </p:txBody>
      </p:sp>
      <p:sp>
        <p:nvSpPr>
          <p:cNvPr id="807" name="Google Shape;807;p80"/>
          <p:cNvSpPr txBox="1"/>
          <p:nvPr>
            <p:ph idx="1" type="body"/>
          </p:nvPr>
        </p:nvSpPr>
        <p:spPr>
          <a:xfrm>
            <a:off x="311700" y="1225225"/>
            <a:ext cx="416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two ways to classify types of social ties in networks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either use: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Sociological Criteria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Graph Theory Criteria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</a:t>
            </a:r>
            <a:r>
              <a:rPr i="1" lang="en"/>
              <a:t>combine the two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Sociology + Graph theory =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Social Network Analysis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80"/>
          <p:cNvSpPr/>
          <p:nvPr/>
        </p:nvSpPr>
        <p:spPr>
          <a:xfrm>
            <a:off x="5601013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A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809" name="Google Shape;809;p80"/>
          <p:cNvCxnSpPr>
            <a:stCxn id="808" idx="6"/>
            <a:endCxn id="810" idx="2"/>
          </p:cNvCxnSpPr>
          <p:nvPr/>
        </p:nvCxnSpPr>
        <p:spPr>
          <a:xfrm>
            <a:off x="6498013" y="1802788"/>
            <a:ext cx="949200" cy="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0" name="Google Shape;810;p80"/>
          <p:cNvSpPr/>
          <p:nvPr/>
        </p:nvSpPr>
        <p:spPr>
          <a:xfrm>
            <a:off x="7447218" y="1367638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B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811" name="Google Shape;811;p80"/>
          <p:cNvSpPr txBox="1"/>
          <p:nvPr/>
        </p:nvSpPr>
        <p:spPr>
          <a:xfrm>
            <a:off x="5992963" y="2237938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Connected Dyad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812" name="Google Shape;812;p80"/>
          <p:cNvSpPr/>
          <p:nvPr/>
        </p:nvSpPr>
        <p:spPr>
          <a:xfrm>
            <a:off x="5602213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D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813" name="Google Shape;813;p80"/>
          <p:cNvSpPr/>
          <p:nvPr/>
        </p:nvSpPr>
        <p:spPr>
          <a:xfrm>
            <a:off x="7448418" y="3189663"/>
            <a:ext cx="897000" cy="8703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E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814" name="Google Shape;814;p80"/>
          <p:cNvSpPr txBox="1"/>
          <p:nvPr/>
        </p:nvSpPr>
        <p:spPr>
          <a:xfrm>
            <a:off x="5946980" y="4059963"/>
            <a:ext cx="19593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Disconnected Dyad</a:t>
            </a:r>
            <a:endParaRPr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815" name="Google Shape;815;p80"/>
          <p:cNvSpPr/>
          <p:nvPr/>
        </p:nvSpPr>
        <p:spPr>
          <a:xfrm>
            <a:off x="6197425" y="499325"/>
            <a:ext cx="1550400" cy="518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social tie!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816" name="Google Shape;816;p80"/>
          <p:cNvCxnSpPr>
            <a:stCxn id="815" idx="2"/>
          </p:cNvCxnSpPr>
          <p:nvPr/>
        </p:nvCxnSpPr>
        <p:spPr>
          <a:xfrm>
            <a:off x="6972625" y="1017725"/>
            <a:ext cx="2400" cy="641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817" name="Google Shape;817;p80"/>
          <p:cNvCxnSpPr/>
          <p:nvPr/>
        </p:nvCxnSpPr>
        <p:spPr>
          <a:xfrm>
            <a:off x="6049513" y="2237938"/>
            <a:ext cx="0" cy="9516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8" name="Google Shape;818;p80"/>
          <p:cNvCxnSpPr/>
          <p:nvPr/>
        </p:nvCxnSpPr>
        <p:spPr>
          <a:xfrm>
            <a:off x="7895718" y="2237938"/>
            <a:ext cx="0" cy="9516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8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social ties: Sociological Classification</a:t>
            </a:r>
            <a:endParaRPr/>
          </a:p>
        </p:txBody>
      </p:sp>
      <p:sp>
        <p:nvSpPr>
          <p:cNvPr id="824" name="Google Shape;824;p81"/>
          <p:cNvSpPr txBox="1"/>
          <p:nvPr>
            <p:ph idx="1" type="body"/>
          </p:nvPr>
        </p:nvSpPr>
        <p:spPr>
          <a:xfrm>
            <a:off x="311700" y="1225225"/>
            <a:ext cx="8520600" cy="10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social networks there are </a:t>
            </a:r>
            <a:r>
              <a:rPr b="1" lang="en"/>
              <a:t>four</a:t>
            </a:r>
            <a:r>
              <a:rPr lang="en"/>
              <a:t> different types of social 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Similarities, Relations, Interactions, and flows</a:t>
            </a:r>
            <a:endParaRPr/>
          </a:p>
        </p:txBody>
      </p:sp>
      <p:pic>
        <p:nvPicPr>
          <p:cNvPr descr="Screenshot 2017-08-22 at 09.35.16.png" id="825" name="Google Shape;825;p8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78263" y="2087125"/>
            <a:ext cx="7320080" cy="2245612"/>
          </a:xfrm>
          <a:prstGeom prst="rect">
            <a:avLst/>
          </a:prstGeom>
          <a:noFill/>
          <a:ln>
            <a:noFill/>
          </a:ln>
        </p:spPr>
      </p:pic>
      <p:sp>
        <p:nvSpPr>
          <p:cNvPr id="826" name="Google Shape;826;p81"/>
          <p:cNvSpPr txBox="1"/>
          <p:nvPr/>
        </p:nvSpPr>
        <p:spPr>
          <a:xfrm>
            <a:off x="311700" y="4503600"/>
            <a:ext cx="80532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Borgatti, S. P., Mehra, A., Brass, D. J., &amp; Labianca, G. (2009). Network analysis in the social sciences. </a:t>
            </a:r>
            <a:r>
              <a:rPr i="1" lang="en">
                <a:latin typeface="Economica"/>
                <a:ea typeface="Economica"/>
                <a:cs typeface="Economica"/>
                <a:sym typeface="Economica"/>
              </a:rPr>
              <a:t>Science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, 323(5916), 892-895.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0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" name="Google Shape;831;p8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social ties: Sociological Classification</a:t>
            </a:r>
            <a:endParaRPr/>
          </a:p>
        </p:txBody>
      </p:sp>
      <p:sp>
        <p:nvSpPr>
          <p:cNvPr id="832" name="Google Shape;832;p82"/>
          <p:cNvSpPr txBox="1"/>
          <p:nvPr>
            <p:ph idx="1" type="body"/>
          </p:nvPr>
        </p:nvSpPr>
        <p:spPr>
          <a:xfrm>
            <a:off x="311700" y="1225225"/>
            <a:ext cx="8520600" cy="10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social networks there are </a:t>
            </a:r>
            <a:r>
              <a:rPr b="1" lang="en"/>
              <a:t>four</a:t>
            </a:r>
            <a:r>
              <a:rPr lang="en"/>
              <a:t> different types of social 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Similarities and relations are types of </a:t>
            </a:r>
            <a:r>
              <a:rPr b="1" lang="en"/>
              <a:t>states </a:t>
            </a:r>
            <a:r>
              <a:rPr lang="en"/>
              <a:t>(static situations)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Interactions and flows are types of </a:t>
            </a:r>
            <a:r>
              <a:rPr b="1" lang="en"/>
              <a:t>events </a:t>
            </a:r>
            <a:r>
              <a:rPr lang="en"/>
              <a:t>(processes in time)</a:t>
            </a:r>
            <a:endParaRPr/>
          </a:p>
        </p:txBody>
      </p:sp>
      <p:pic>
        <p:nvPicPr>
          <p:cNvPr descr="Screenshot 2017-08-22 at 09.35.16.png" id="833" name="Google Shape;833;p8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78263" y="2087125"/>
            <a:ext cx="7320080" cy="2245612"/>
          </a:xfrm>
          <a:prstGeom prst="rect">
            <a:avLst/>
          </a:prstGeom>
          <a:noFill/>
          <a:ln>
            <a:noFill/>
          </a:ln>
        </p:spPr>
      </p:pic>
      <p:sp>
        <p:nvSpPr>
          <p:cNvPr id="834" name="Google Shape;834;p82"/>
          <p:cNvSpPr txBox="1"/>
          <p:nvPr/>
        </p:nvSpPr>
        <p:spPr>
          <a:xfrm>
            <a:off x="311700" y="4503600"/>
            <a:ext cx="80532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Borgatti, S. P., Mehra, A., Brass, D. J., &amp; Labianca, G. (2009). Network analysis in the social sciences. </a:t>
            </a:r>
            <a:r>
              <a:rPr i="1" lang="en">
                <a:latin typeface="Economica"/>
                <a:ea typeface="Economica"/>
                <a:cs typeface="Economica"/>
                <a:sym typeface="Economica"/>
              </a:rPr>
              <a:t>Science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, 323(5916), 892-895.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8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" name="Google Shape;839;p83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Summary: Types of Social Ties</a:t>
            </a:r>
            <a:endParaRPr/>
          </a:p>
        </p:txBody>
      </p:sp>
      <p:pic>
        <p:nvPicPr>
          <p:cNvPr id="840" name="Google Shape;840;p8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48675" y="2829025"/>
            <a:ext cx="1046440" cy="1046435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" name="Google Shape;841;p8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42125" y="3692825"/>
            <a:ext cx="1392450" cy="1380949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" name="Google Shape;842;p8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834575" y="3918139"/>
            <a:ext cx="1144801" cy="930312"/>
          </a:xfrm>
          <a:prstGeom prst="rect">
            <a:avLst/>
          </a:prstGeom>
          <a:noFill/>
          <a:ln>
            <a:noFill/>
          </a:ln>
        </p:spPr>
      </p:pic>
      <p:sp>
        <p:nvSpPr>
          <p:cNvPr id="843" name="Google Shape;843;p83"/>
          <p:cNvSpPr/>
          <p:nvPr/>
        </p:nvSpPr>
        <p:spPr>
          <a:xfrm>
            <a:off x="6959918" y="2287388"/>
            <a:ext cx="1848300" cy="4368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DCECD5"/>
              </a:gs>
              <a:gs pos="100000">
                <a:srgbClr val="93BC81"/>
              </a:gs>
            </a:gsLst>
            <a:path path="circle">
              <a:fillToRect b="50%" l="50%" r="50%" t="50%"/>
            </a:path>
            <a:tileRect/>
          </a:gradFill>
          <a:ln cap="flat" cmpd="sng" w="28575">
            <a:solidFill>
              <a:srgbClr val="0E945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xygen"/>
                <a:ea typeface="Oxygen"/>
                <a:cs typeface="Oxygen"/>
                <a:sym typeface="Oxygen"/>
              </a:rPr>
              <a:t>Antisymmetric</a:t>
            </a:r>
            <a:endParaRPr sz="18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844" name="Google Shape;844;p83"/>
          <p:cNvCxnSpPr>
            <a:stCxn id="845" idx="2"/>
            <a:endCxn id="846" idx="0"/>
          </p:cNvCxnSpPr>
          <p:nvPr/>
        </p:nvCxnSpPr>
        <p:spPr>
          <a:xfrm rot="5400000">
            <a:off x="2458650" y="174100"/>
            <a:ext cx="1380600" cy="2846100"/>
          </a:xfrm>
          <a:prstGeom prst="bentConnector3">
            <a:avLst>
              <a:gd fmla="val 4999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46" name="Google Shape;846;p83"/>
          <p:cNvSpPr/>
          <p:nvPr/>
        </p:nvSpPr>
        <p:spPr>
          <a:xfrm>
            <a:off x="801700" y="2287388"/>
            <a:ext cx="1848300" cy="4368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5D0D0"/>
              </a:gs>
              <a:gs pos="100000">
                <a:srgbClr val="D96868"/>
              </a:gs>
            </a:gsLst>
            <a:lin ang="5400012" scaled="0"/>
          </a:gradFill>
          <a:ln cap="flat" cmpd="sng" w="28575">
            <a:solidFill>
              <a:srgbClr val="DD7E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xygen"/>
                <a:ea typeface="Oxygen"/>
                <a:cs typeface="Oxygen"/>
                <a:sym typeface="Oxygen"/>
              </a:rPr>
              <a:t>Symmetric</a:t>
            </a:r>
            <a:endParaRPr b="1" sz="18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847" name="Google Shape;847;p83"/>
          <p:cNvCxnSpPr>
            <a:stCxn id="845" idx="2"/>
            <a:endCxn id="843" idx="0"/>
          </p:cNvCxnSpPr>
          <p:nvPr/>
        </p:nvCxnSpPr>
        <p:spPr>
          <a:xfrm flipH="1" rot="-5400000">
            <a:off x="5537700" y="-58850"/>
            <a:ext cx="1380600" cy="3312000"/>
          </a:xfrm>
          <a:prstGeom prst="bentConnector3">
            <a:avLst>
              <a:gd fmla="val 4999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48" name="Google Shape;848;p83"/>
          <p:cNvSpPr/>
          <p:nvPr/>
        </p:nvSpPr>
        <p:spPr>
          <a:xfrm>
            <a:off x="3647843" y="1807988"/>
            <a:ext cx="1848300" cy="4368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DECDB"/>
              </a:gs>
              <a:gs pos="100000">
                <a:srgbClr val="F0A963"/>
              </a:gs>
            </a:gsLst>
            <a:path path="circle">
              <a:fillToRect b="50%" l="50%" r="50%" t="50%"/>
            </a:path>
            <a:tileRect/>
          </a:gradFill>
          <a:ln cap="flat" cmpd="sng" w="28575">
            <a:solidFill>
              <a:srgbClr val="F6B2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xygen"/>
                <a:ea typeface="Oxygen"/>
                <a:cs typeface="Oxygen"/>
                <a:sym typeface="Oxygen"/>
              </a:rPr>
              <a:t>Asymmetric</a:t>
            </a:r>
            <a:endParaRPr sz="18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849" name="Google Shape;849;p83"/>
          <p:cNvCxnSpPr>
            <a:stCxn id="848" idx="2"/>
            <a:endCxn id="850" idx="0"/>
          </p:cNvCxnSpPr>
          <p:nvPr/>
        </p:nvCxnSpPr>
        <p:spPr>
          <a:xfrm flipH="1" rot="-5400000">
            <a:off x="4720643" y="2096138"/>
            <a:ext cx="932700" cy="1230000"/>
          </a:xfrm>
          <a:prstGeom prst="bentConnector3">
            <a:avLst>
              <a:gd fmla="val 49995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51" name="Google Shape;851;p83"/>
          <p:cNvSpPr/>
          <p:nvPr/>
        </p:nvSpPr>
        <p:spPr>
          <a:xfrm>
            <a:off x="2650008" y="3177406"/>
            <a:ext cx="1448700" cy="436800"/>
          </a:xfrm>
          <a:prstGeom prst="ellipse">
            <a:avLst/>
          </a:prstGeom>
          <a:gradFill>
            <a:gsLst>
              <a:gs pos="0">
                <a:srgbClr val="DFE9FB"/>
              </a:gs>
              <a:gs pos="100000">
                <a:srgbClr val="6E9BE7"/>
              </a:gs>
            </a:gsLst>
            <a:lin ang="5400012" scaled="0"/>
          </a:gradFill>
          <a:ln cap="flat" cmpd="sng" w="28575">
            <a:solidFill>
              <a:srgbClr val="9FC5E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xygen"/>
                <a:ea typeface="Oxygen"/>
                <a:cs typeface="Oxygen"/>
                <a:sym typeface="Oxygen"/>
              </a:rPr>
              <a:t>Reciprocal</a:t>
            </a:r>
            <a:endParaRPr sz="12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850" name="Google Shape;850;p83"/>
          <p:cNvSpPr/>
          <p:nvPr/>
        </p:nvSpPr>
        <p:spPr>
          <a:xfrm>
            <a:off x="4963654" y="3177388"/>
            <a:ext cx="1676700" cy="436800"/>
          </a:xfrm>
          <a:prstGeom prst="ellipse">
            <a:avLst/>
          </a:prstGeom>
          <a:gradFill>
            <a:gsLst>
              <a:gs pos="0">
                <a:srgbClr val="DBD4EB"/>
              </a:gs>
              <a:gs pos="100000">
                <a:srgbClr val="9180BB"/>
              </a:gs>
            </a:gsLst>
            <a:lin ang="5400012" scaled="0"/>
          </a:gradFill>
          <a:ln cap="flat" cmpd="sng" w="28575">
            <a:solidFill>
              <a:srgbClr val="B4A7D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xygen"/>
                <a:ea typeface="Oxygen"/>
                <a:cs typeface="Oxygen"/>
                <a:sym typeface="Oxygen"/>
              </a:rPr>
              <a:t>Nonreciprocal</a:t>
            </a:r>
            <a:endParaRPr sz="12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852" name="Google Shape;852;p83"/>
          <p:cNvCxnSpPr>
            <a:stCxn id="848" idx="2"/>
            <a:endCxn id="851" idx="0"/>
          </p:cNvCxnSpPr>
          <p:nvPr/>
        </p:nvCxnSpPr>
        <p:spPr>
          <a:xfrm rot="5400000">
            <a:off x="3506843" y="2112338"/>
            <a:ext cx="932700" cy="1197600"/>
          </a:xfrm>
          <a:prstGeom prst="bentConnector3">
            <a:avLst>
              <a:gd fmla="val 49996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45" name="Google Shape;845;p83"/>
          <p:cNvSpPr/>
          <p:nvPr/>
        </p:nvSpPr>
        <p:spPr>
          <a:xfrm>
            <a:off x="3355200" y="233650"/>
            <a:ext cx="2433600" cy="6732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/>
              </a:gs>
              <a:gs pos="100000">
                <a:srgbClr val="B3B3B3"/>
              </a:gs>
            </a:gsLst>
            <a:lin ang="5400012" scaled="0"/>
          </a:gradFill>
          <a:ln cap="flat" cmpd="sng" w="28575">
            <a:solidFill>
              <a:srgbClr val="CCCCC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Social Tie Types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853" name="Google Shape;853;p83"/>
          <p:cNvCxnSpPr>
            <a:stCxn id="845" idx="2"/>
            <a:endCxn id="848" idx="0"/>
          </p:cNvCxnSpPr>
          <p:nvPr/>
        </p:nvCxnSpPr>
        <p:spPr>
          <a:xfrm flipH="1" rot="-5400000">
            <a:off x="4121700" y="1357150"/>
            <a:ext cx="901200" cy="600"/>
          </a:xfrm>
          <a:prstGeom prst="bentConnector3">
            <a:avLst>
              <a:gd fmla="val 49997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854" name="Google Shape;854;p83"/>
          <p:cNvPicPr preferRelativeResize="0"/>
          <p:nvPr/>
        </p:nvPicPr>
        <p:blipFill rotWithShape="1">
          <a:blip r:embed="rId6">
            <a:alphaModFix/>
          </a:blip>
          <a:srcRect b="13603" l="0" r="0" t="16098"/>
          <a:stretch/>
        </p:blipFill>
        <p:spPr>
          <a:xfrm>
            <a:off x="7061113" y="2829025"/>
            <a:ext cx="1645925" cy="1157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5" name="Google Shape;855;p8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969675" y="3989638"/>
            <a:ext cx="1828801" cy="10809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859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" name="Google Shape;860;p8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Ties: Sociological classification (Kitts)</a:t>
            </a:r>
            <a:endParaRPr/>
          </a:p>
        </p:txBody>
      </p:sp>
      <p:sp>
        <p:nvSpPr>
          <p:cNvPr id="861" name="Google Shape;861;p84"/>
          <p:cNvSpPr txBox="1"/>
          <p:nvPr>
            <p:ph idx="1" type="body"/>
          </p:nvPr>
        </p:nvSpPr>
        <p:spPr>
          <a:xfrm>
            <a:off x="311700" y="1225225"/>
            <a:ext cx="8520600" cy="27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Role relations 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Friends, kin, business partners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Interpersonal sentiments and cognitions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Liking, trusting, acquaintanceship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Behavioral Social Interactions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Calling, texting, citing, supporting, resource exchange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Opportunity structure for exchange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Structural holes, brokerage, intermediation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“Non-ties” matter here</a:t>
            </a:r>
            <a:endParaRPr/>
          </a:p>
        </p:txBody>
      </p:sp>
      <p:sp>
        <p:nvSpPr>
          <p:cNvPr id="862" name="Google Shape;862;p84"/>
          <p:cNvSpPr txBox="1"/>
          <p:nvPr/>
        </p:nvSpPr>
        <p:spPr>
          <a:xfrm>
            <a:off x="392300" y="4016425"/>
            <a:ext cx="7933200" cy="53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Kitts, J. A. (2014). Beyond networks in structural theories of exchange: Promises from computational social science. In </a:t>
            </a:r>
            <a:r>
              <a:rPr i="1" lang="en">
                <a:latin typeface="Economica"/>
                <a:ea typeface="Economica"/>
                <a:cs typeface="Economica"/>
                <a:sym typeface="Economica"/>
              </a:rPr>
              <a:t>Advances in Group Processes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 (pp. 263-298). Emerald Group Publishing Limited.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866" name="Shape 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" name="Google Shape;867;p8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Dyad types: Graph theory classification</a:t>
            </a:r>
            <a:endParaRPr/>
          </a:p>
        </p:txBody>
      </p:sp>
      <p:sp>
        <p:nvSpPr>
          <p:cNvPr id="868" name="Google Shape;868;p85"/>
          <p:cNvSpPr txBox="1"/>
          <p:nvPr>
            <p:ph idx="1" type="body"/>
          </p:nvPr>
        </p:nvSpPr>
        <p:spPr>
          <a:xfrm>
            <a:off x="483325" y="1147225"/>
            <a:ext cx="3513600" cy="3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b="1" lang="en"/>
              <a:t>Symmetric </a:t>
            </a:r>
            <a:endParaRPr b="1"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it exists, if a is linked to b, then b is </a:t>
            </a:r>
            <a:r>
              <a:rPr b="1" lang="en"/>
              <a:t>necessarily </a:t>
            </a:r>
            <a:r>
              <a:rPr lang="en"/>
              <a:t>linked to a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Asymmetric</a:t>
            </a:r>
            <a:endParaRPr b="1"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it exists then if a is linked to b, then it is </a:t>
            </a:r>
            <a:r>
              <a:rPr b="1" lang="en"/>
              <a:t>not </a:t>
            </a:r>
            <a:r>
              <a:rPr lang="en"/>
              <a:t>a </a:t>
            </a:r>
            <a:r>
              <a:rPr b="1" lang="en"/>
              <a:t>necessity </a:t>
            </a:r>
            <a:r>
              <a:rPr lang="en"/>
              <a:t>that b is linked to a (but can happen)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Antisymmetric </a:t>
            </a:r>
            <a:endParaRPr b="1"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it exists then is a is linked to b, then b </a:t>
            </a:r>
            <a:r>
              <a:rPr b="1" lang="en"/>
              <a:t>cannot by</a:t>
            </a:r>
            <a:r>
              <a:rPr lang="en"/>
              <a:t> </a:t>
            </a:r>
            <a:r>
              <a:rPr b="1" lang="en"/>
              <a:t>necessity </a:t>
            </a:r>
            <a:r>
              <a:rPr lang="en"/>
              <a:t>be linked to a</a:t>
            </a:r>
            <a:endParaRPr/>
          </a:p>
        </p:txBody>
      </p:sp>
      <p:pic>
        <p:nvPicPr>
          <p:cNvPr id="869" name="Google Shape;869;p85"/>
          <p:cNvPicPr preferRelativeResize="0"/>
          <p:nvPr/>
        </p:nvPicPr>
        <p:blipFill rotWithShape="1">
          <a:blip r:embed="rId3">
            <a:alphaModFix/>
          </a:blip>
          <a:srcRect b="8497" l="4080" r="1899" t="55649"/>
          <a:stretch/>
        </p:blipFill>
        <p:spPr>
          <a:xfrm>
            <a:off x="3849688" y="3291350"/>
            <a:ext cx="5067624" cy="144934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0" name="Google Shape;870;p85"/>
          <p:cNvGrpSpPr/>
          <p:nvPr/>
        </p:nvGrpSpPr>
        <p:grpSpPr>
          <a:xfrm>
            <a:off x="4565425" y="1722300"/>
            <a:ext cx="3636158" cy="1210913"/>
            <a:chOff x="4565425" y="1722300"/>
            <a:chExt cx="3636158" cy="1210913"/>
          </a:xfrm>
        </p:grpSpPr>
        <p:grpSp>
          <p:nvGrpSpPr>
            <p:cNvPr id="871" name="Google Shape;871;p85"/>
            <p:cNvGrpSpPr/>
            <p:nvPr/>
          </p:nvGrpSpPr>
          <p:grpSpPr>
            <a:xfrm>
              <a:off x="4565425" y="1722300"/>
              <a:ext cx="3636158" cy="1210874"/>
              <a:chOff x="5273425" y="2408575"/>
              <a:chExt cx="3636158" cy="1210874"/>
            </a:xfrm>
          </p:grpSpPr>
          <p:pic>
            <p:nvPicPr>
              <p:cNvPr id="872" name="Google Shape;872;p85"/>
              <p:cNvPicPr preferRelativeResize="0"/>
              <p:nvPr/>
            </p:nvPicPr>
            <p:blipFill rotWithShape="1">
              <a:blip r:embed="rId3">
                <a:alphaModFix/>
              </a:blip>
              <a:srcRect b="65756" l="0" r="32537" t="13680"/>
              <a:stretch/>
            </p:blipFill>
            <p:spPr>
              <a:xfrm>
                <a:off x="5273425" y="2408575"/>
                <a:ext cx="3636158" cy="831299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873" name="Google Shape;873;p85"/>
              <p:cNvPicPr preferRelativeResize="0"/>
              <p:nvPr/>
            </p:nvPicPr>
            <p:blipFill rotWithShape="1">
              <a:blip r:embed="rId3">
                <a:alphaModFix/>
              </a:blip>
              <a:srcRect b="49977" l="0" r="32537" t="41591"/>
              <a:stretch/>
            </p:blipFill>
            <p:spPr>
              <a:xfrm>
                <a:off x="5273425" y="3278599"/>
                <a:ext cx="3636149" cy="34085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874" name="Google Shape;874;p85"/>
            <p:cNvSpPr txBox="1"/>
            <p:nvPr/>
          </p:nvSpPr>
          <p:spPr>
            <a:xfrm>
              <a:off x="7198525" y="1905000"/>
              <a:ext cx="425700" cy="224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875" name="Google Shape;875;p85"/>
            <p:cNvCxnSpPr>
              <a:stCxn id="874" idx="1"/>
              <a:endCxn id="874" idx="3"/>
            </p:cNvCxnSpPr>
            <p:nvPr/>
          </p:nvCxnSpPr>
          <p:spPr>
            <a:xfrm>
              <a:off x="7198525" y="2017050"/>
              <a:ext cx="425700" cy="0"/>
            </a:xfrm>
            <a:prstGeom prst="straightConnector1">
              <a:avLst/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6" name="Google Shape;876;p85"/>
            <p:cNvSpPr txBox="1"/>
            <p:nvPr/>
          </p:nvSpPr>
          <p:spPr>
            <a:xfrm>
              <a:off x="7198525" y="2526713"/>
              <a:ext cx="425700" cy="406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877" name="Google Shape;877;p85"/>
            <p:cNvCxnSpPr>
              <a:stCxn id="876" idx="1"/>
              <a:endCxn id="876" idx="3"/>
            </p:cNvCxnSpPr>
            <p:nvPr/>
          </p:nvCxnSpPr>
          <p:spPr>
            <a:xfrm>
              <a:off x="7198525" y="2729963"/>
              <a:ext cx="425700" cy="0"/>
            </a:xfrm>
            <a:prstGeom prst="straightConnector1">
              <a:avLst/>
            </a:prstGeom>
            <a:noFill/>
            <a:ln cap="flat" cmpd="sng" w="19050">
              <a:solidFill>
                <a:srgbClr val="000000"/>
              </a:solidFill>
              <a:prstDash val="dash"/>
              <a:round/>
              <a:headEnd len="med" w="med" type="stealth"/>
              <a:tailEnd len="med" w="med" type="none"/>
            </a:ln>
          </p:spPr>
        </p:cxnSp>
        <p:cxnSp>
          <p:nvCxnSpPr>
            <p:cNvPr id="878" name="Google Shape;878;p85"/>
            <p:cNvCxnSpPr/>
            <p:nvPr/>
          </p:nvCxnSpPr>
          <p:spPr>
            <a:xfrm>
              <a:off x="7198525" y="2848738"/>
              <a:ext cx="425700" cy="0"/>
            </a:xfrm>
            <a:prstGeom prst="straightConnector1">
              <a:avLst/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med" w="med" type="none"/>
              <a:tailEnd len="med" w="med" type="stealth"/>
            </a:ln>
          </p:spPr>
        </p:cxnSp>
        <p:sp>
          <p:nvSpPr>
            <p:cNvPr id="879" name="Google Shape;879;p85"/>
            <p:cNvSpPr txBox="1"/>
            <p:nvPr/>
          </p:nvSpPr>
          <p:spPr>
            <a:xfrm>
              <a:off x="7198525" y="2261463"/>
              <a:ext cx="425700" cy="224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880" name="Google Shape;880;p85"/>
            <p:cNvCxnSpPr/>
            <p:nvPr/>
          </p:nvCxnSpPr>
          <p:spPr>
            <a:xfrm>
              <a:off x="7198525" y="2406138"/>
              <a:ext cx="425700" cy="0"/>
            </a:xfrm>
            <a:prstGeom prst="straightConnector1">
              <a:avLst/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med" w="med" type="none"/>
              <a:tailEnd len="med" w="med" type="stealth"/>
            </a:ln>
          </p:spPr>
        </p:cxn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p86"/>
          <p:cNvSpPr txBox="1"/>
          <p:nvPr>
            <p:ph idx="1" type="body"/>
          </p:nvPr>
        </p:nvSpPr>
        <p:spPr>
          <a:xfrm>
            <a:off x="319500" y="4218925"/>
            <a:ext cx="65277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Ties: Linking sociological and graph theoretic types</a:t>
            </a:r>
            <a:endParaRPr/>
          </a:p>
        </p:txBody>
      </p:sp>
      <p:sp>
        <p:nvSpPr>
          <p:cNvPr id="886" name="Google Shape;886;p86"/>
          <p:cNvSpPr/>
          <p:nvPr/>
        </p:nvSpPr>
        <p:spPr>
          <a:xfrm>
            <a:off x="755413" y="2023988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7" name="Google Shape;887;p86"/>
          <p:cNvCxnSpPr/>
          <p:nvPr/>
        </p:nvCxnSpPr>
        <p:spPr>
          <a:xfrm>
            <a:off x="4870375" y="848275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8" name="Google Shape;888;p86"/>
          <p:cNvCxnSpPr/>
          <p:nvPr/>
        </p:nvCxnSpPr>
        <p:spPr>
          <a:xfrm>
            <a:off x="4870375" y="1231325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889" name="Google Shape;889;p86"/>
          <p:cNvSpPr/>
          <p:nvPr/>
        </p:nvSpPr>
        <p:spPr>
          <a:xfrm>
            <a:off x="755413" y="3177425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86"/>
          <p:cNvSpPr/>
          <p:nvPr/>
        </p:nvSpPr>
        <p:spPr>
          <a:xfrm>
            <a:off x="755413" y="87055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1" name="Google Shape;891;p86"/>
          <p:cNvCxnSpPr>
            <a:stCxn id="890" idx="4"/>
            <a:endCxn id="886" idx="0"/>
          </p:cNvCxnSpPr>
          <p:nvPr/>
        </p:nvCxnSpPr>
        <p:spPr>
          <a:xfrm>
            <a:off x="1065913" y="1475650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892" name="Google Shape;892;p86"/>
          <p:cNvCxnSpPr>
            <a:stCxn id="886" idx="4"/>
            <a:endCxn id="889" idx="0"/>
          </p:cNvCxnSpPr>
          <p:nvPr/>
        </p:nvCxnSpPr>
        <p:spPr>
          <a:xfrm>
            <a:off x="1065913" y="2629088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893" name="Google Shape;893;p86"/>
          <p:cNvCxnSpPr>
            <a:stCxn id="890" idx="6"/>
            <a:endCxn id="894" idx="2"/>
          </p:cNvCxnSpPr>
          <p:nvPr/>
        </p:nvCxnSpPr>
        <p:spPr>
          <a:xfrm>
            <a:off x="1376413" y="1173100"/>
            <a:ext cx="6573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4" name="Google Shape;894;p86"/>
          <p:cNvSpPr/>
          <p:nvPr/>
        </p:nvSpPr>
        <p:spPr>
          <a:xfrm>
            <a:off x="2033563" y="87055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86"/>
          <p:cNvSpPr/>
          <p:nvPr/>
        </p:nvSpPr>
        <p:spPr>
          <a:xfrm>
            <a:off x="2033563" y="202400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6" name="Google Shape;896;p86"/>
          <p:cNvCxnSpPr>
            <a:stCxn id="886" idx="6"/>
            <a:endCxn id="895" idx="2"/>
          </p:cNvCxnSpPr>
          <p:nvPr/>
        </p:nvCxnSpPr>
        <p:spPr>
          <a:xfrm>
            <a:off x="1376413" y="2326538"/>
            <a:ext cx="6573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7" name="Google Shape;897;p86"/>
          <p:cNvCxnSpPr>
            <a:stCxn id="894" idx="4"/>
            <a:endCxn id="895" idx="0"/>
          </p:cNvCxnSpPr>
          <p:nvPr/>
        </p:nvCxnSpPr>
        <p:spPr>
          <a:xfrm>
            <a:off x="2344063" y="1475650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898" name="Google Shape;898;p86"/>
          <p:cNvCxnSpPr>
            <a:stCxn id="889" idx="6"/>
            <a:endCxn id="899" idx="2"/>
          </p:cNvCxnSpPr>
          <p:nvPr/>
        </p:nvCxnSpPr>
        <p:spPr>
          <a:xfrm flipH="1" rot="10800000">
            <a:off x="1376413" y="3471275"/>
            <a:ext cx="657300" cy="870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9" name="Google Shape;899;p86"/>
          <p:cNvSpPr/>
          <p:nvPr/>
        </p:nvSpPr>
        <p:spPr>
          <a:xfrm>
            <a:off x="2033563" y="3168675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00" name="Google Shape;900;p86"/>
          <p:cNvCxnSpPr>
            <a:stCxn id="895" idx="4"/>
            <a:endCxn id="899" idx="0"/>
          </p:cNvCxnSpPr>
          <p:nvPr/>
        </p:nvCxnSpPr>
        <p:spPr>
          <a:xfrm>
            <a:off x="2344063" y="2629100"/>
            <a:ext cx="0" cy="539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01" name="Google Shape;901;p86"/>
          <p:cNvSpPr txBox="1"/>
          <p:nvPr/>
        </p:nvSpPr>
        <p:spPr>
          <a:xfrm>
            <a:off x="3151050" y="3316200"/>
            <a:ext cx="143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Third Generation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02" name="Google Shape;902;p86"/>
          <p:cNvSpPr txBox="1"/>
          <p:nvPr/>
        </p:nvSpPr>
        <p:spPr>
          <a:xfrm>
            <a:off x="3151065" y="2142250"/>
            <a:ext cx="17193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Second Generation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03" name="Google Shape;903;p86"/>
          <p:cNvSpPr txBox="1"/>
          <p:nvPr/>
        </p:nvSpPr>
        <p:spPr>
          <a:xfrm>
            <a:off x="3151050" y="968300"/>
            <a:ext cx="143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1st Generation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04" name="Google Shape;904;p86"/>
          <p:cNvCxnSpPr>
            <a:stCxn id="890" idx="2"/>
            <a:endCxn id="889" idx="2"/>
          </p:cNvCxnSpPr>
          <p:nvPr/>
        </p:nvCxnSpPr>
        <p:spPr>
          <a:xfrm>
            <a:off x="755413" y="1173100"/>
            <a:ext cx="600" cy="2307000"/>
          </a:xfrm>
          <a:prstGeom prst="bentConnector3">
            <a:avLst>
              <a:gd fmla="val -39687500" name="adj1"/>
            </a:avLst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05" name="Google Shape;905;p86"/>
          <p:cNvCxnSpPr>
            <a:stCxn id="886" idx="4"/>
            <a:endCxn id="899" idx="0"/>
          </p:cNvCxnSpPr>
          <p:nvPr/>
        </p:nvCxnSpPr>
        <p:spPr>
          <a:xfrm>
            <a:off x="1065913" y="2629088"/>
            <a:ext cx="1278300" cy="539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06" name="Google Shape;906;p86"/>
          <p:cNvCxnSpPr>
            <a:stCxn id="894" idx="4"/>
            <a:endCxn id="886" idx="0"/>
          </p:cNvCxnSpPr>
          <p:nvPr/>
        </p:nvCxnSpPr>
        <p:spPr>
          <a:xfrm flipH="1">
            <a:off x="1066063" y="1475650"/>
            <a:ext cx="12780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07" name="Google Shape;907;p86"/>
          <p:cNvCxnSpPr>
            <a:stCxn id="894" idx="6"/>
            <a:endCxn id="899" idx="6"/>
          </p:cNvCxnSpPr>
          <p:nvPr/>
        </p:nvCxnSpPr>
        <p:spPr>
          <a:xfrm>
            <a:off x="2654563" y="1173100"/>
            <a:ext cx="600" cy="2298000"/>
          </a:xfrm>
          <a:prstGeom prst="bentConnector3">
            <a:avLst>
              <a:gd fmla="val 39687500" name="adj1"/>
            </a:avLst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08" name="Google Shape;908;p86"/>
          <p:cNvSpPr txBox="1"/>
          <p:nvPr/>
        </p:nvSpPr>
        <p:spPr>
          <a:xfrm>
            <a:off x="5957275" y="1046975"/>
            <a:ext cx="29757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Antisymmetric kin (parent of, uncle of)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09" name="Google Shape;909;p86"/>
          <p:cNvSpPr txBox="1"/>
          <p:nvPr/>
        </p:nvSpPr>
        <p:spPr>
          <a:xfrm>
            <a:off x="4870375" y="2057400"/>
            <a:ext cx="3931800" cy="217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In Families: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Same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generation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ties are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symmetric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2" marL="13716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■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Sibling/Cousin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Cross-Generation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ties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antisymmetric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2" marL="13716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■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Parent/Uncle/Parent’s parent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10" name="Google Shape;910;p86"/>
          <p:cNvSpPr txBox="1"/>
          <p:nvPr/>
        </p:nvSpPr>
        <p:spPr>
          <a:xfrm>
            <a:off x="5957275" y="663925"/>
            <a:ext cx="26862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Symmetric kin (being a sibling of)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11" name="Google Shape;911;p86"/>
          <p:cNvCxnSpPr>
            <a:stCxn id="890" idx="4"/>
            <a:endCxn id="895" idx="0"/>
          </p:cNvCxnSpPr>
          <p:nvPr/>
        </p:nvCxnSpPr>
        <p:spPr>
          <a:xfrm>
            <a:off x="1065913" y="1475650"/>
            <a:ext cx="12783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12" name="Google Shape;912;p86"/>
          <p:cNvCxnSpPr>
            <a:stCxn id="895" idx="4"/>
            <a:endCxn id="889" idx="0"/>
          </p:cNvCxnSpPr>
          <p:nvPr/>
        </p:nvCxnSpPr>
        <p:spPr>
          <a:xfrm flipH="1">
            <a:off x="1066063" y="2629100"/>
            <a:ext cx="12780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6" name="Shape 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" name="Google Shape;917;p87"/>
          <p:cNvSpPr txBox="1"/>
          <p:nvPr/>
        </p:nvSpPr>
        <p:spPr>
          <a:xfrm>
            <a:off x="3151050" y="3316200"/>
            <a:ext cx="143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Workers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18" name="Google Shape;918;p87"/>
          <p:cNvSpPr txBox="1"/>
          <p:nvPr/>
        </p:nvSpPr>
        <p:spPr>
          <a:xfrm>
            <a:off x="3151065" y="2142250"/>
            <a:ext cx="17193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Managers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19" name="Google Shape;919;p87"/>
          <p:cNvSpPr txBox="1"/>
          <p:nvPr/>
        </p:nvSpPr>
        <p:spPr>
          <a:xfrm>
            <a:off x="3151050" y="968300"/>
            <a:ext cx="143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Executives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20" name="Google Shape;920;p87"/>
          <p:cNvSpPr txBox="1"/>
          <p:nvPr/>
        </p:nvSpPr>
        <p:spPr>
          <a:xfrm>
            <a:off x="4587450" y="2057400"/>
            <a:ext cx="4214700" cy="217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In Hierarchies or Organizations: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Same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authority level 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ties are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symmetric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Cross-Authority level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ties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antisymmetric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21" name="Google Shape;921;p87"/>
          <p:cNvCxnSpPr/>
          <p:nvPr/>
        </p:nvCxnSpPr>
        <p:spPr>
          <a:xfrm>
            <a:off x="4870375" y="848275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2" name="Google Shape;922;p87"/>
          <p:cNvCxnSpPr/>
          <p:nvPr/>
        </p:nvCxnSpPr>
        <p:spPr>
          <a:xfrm>
            <a:off x="4870375" y="1231325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23" name="Google Shape;923;p87"/>
          <p:cNvSpPr txBox="1"/>
          <p:nvPr/>
        </p:nvSpPr>
        <p:spPr>
          <a:xfrm>
            <a:off x="5957275" y="1046975"/>
            <a:ext cx="31095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Antisymmetric work (boss, supervisor)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24" name="Google Shape;924;p87"/>
          <p:cNvSpPr txBox="1"/>
          <p:nvPr/>
        </p:nvSpPr>
        <p:spPr>
          <a:xfrm>
            <a:off x="5957275" y="663925"/>
            <a:ext cx="30537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Symmetric work (coworker, officemate)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25" name="Google Shape;925;p87"/>
          <p:cNvSpPr/>
          <p:nvPr/>
        </p:nvSpPr>
        <p:spPr>
          <a:xfrm>
            <a:off x="755413" y="2023988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87"/>
          <p:cNvSpPr/>
          <p:nvPr/>
        </p:nvSpPr>
        <p:spPr>
          <a:xfrm>
            <a:off x="755413" y="3177425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" name="Google Shape;927;p87"/>
          <p:cNvSpPr/>
          <p:nvPr/>
        </p:nvSpPr>
        <p:spPr>
          <a:xfrm>
            <a:off x="755413" y="87055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8" name="Google Shape;928;p87"/>
          <p:cNvCxnSpPr>
            <a:stCxn id="927" idx="4"/>
            <a:endCxn id="925" idx="0"/>
          </p:cNvCxnSpPr>
          <p:nvPr/>
        </p:nvCxnSpPr>
        <p:spPr>
          <a:xfrm>
            <a:off x="1065913" y="1475650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29" name="Google Shape;929;p87"/>
          <p:cNvCxnSpPr>
            <a:stCxn id="925" idx="4"/>
            <a:endCxn id="926" idx="0"/>
          </p:cNvCxnSpPr>
          <p:nvPr/>
        </p:nvCxnSpPr>
        <p:spPr>
          <a:xfrm>
            <a:off x="1065913" y="2629088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30" name="Google Shape;930;p87"/>
          <p:cNvCxnSpPr>
            <a:stCxn id="927" idx="6"/>
            <a:endCxn id="931" idx="2"/>
          </p:cNvCxnSpPr>
          <p:nvPr/>
        </p:nvCxnSpPr>
        <p:spPr>
          <a:xfrm>
            <a:off x="1376413" y="1173100"/>
            <a:ext cx="6573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1" name="Google Shape;931;p87"/>
          <p:cNvSpPr/>
          <p:nvPr/>
        </p:nvSpPr>
        <p:spPr>
          <a:xfrm>
            <a:off x="2033563" y="87055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" name="Google Shape;932;p87"/>
          <p:cNvSpPr/>
          <p:nvPr/>
        </p:nvSpPr>
        <p:spPr>
          <a:xfrm>
            <a:off x="2033563" y="202400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3" name="Google Shape;933;p87"/>
          <p:cNvCxnSpPr>
            <a:stCxn id="925" idx="6"/>
            <a:endCxn id="932" idx="2"/>
          </p:cNvCxnSpPr>
          <p:nvPr/>
        </p:nvCxnSpPr>
        <p:spPr>
          <a:xfrm>
            <a:off x="1376413" y="2326538"/>
            <a:ext cx="6573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4" name="Google Shape;934;p87"/>
          <p:cNvCxnSpPr>
            <a:stCxn id="931" idx="4"/>
            <a:endCxn id="932" idx="0"/>
          </p:cNvCxnSpPr>
          <p:nvPr/>
        </p:nvCxnSpPr>
        <p:spPr>
          <a:xfrm>
            <a:off x="2344063" y="1475650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35" name="Google Shape;935;p87"/>
          <p:cNvCxnSpPr>
            <a:stCxn id="926" idx="6"/>
            <a:endCxn id="936" idx="2"/>
          </p:cNvCxnSpPr>
          <p:nvPr/>
        </p:nvCxnSpPr>
        <p:spPr>
          <a:xfrm flipH="1" rot="10800000">
            <a:off x="1376413" y="3471275"/>
            <a:ext cx="657300" cy="870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6" name="Google Shape;936;p87"/>
          <p:cNvSpPr/>
          <p:nvPr/>
        </p:nvSpPr>
        <p:spPr>
          <a:xfrm>
            <a:off x="2033563" y="3168675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7" name="Google Shape;937;p87"/>
          <p:cNvCxnSpPr>
            <a:stCxn id="932" idx="4"/>
            <a:endCxn id="936" idx="0"/>
          </p:cNvCxnSpPr>
          <p:nvPr/>
        </p:nvCxnSpPr>
        <p:spPr>
          <a:xfrm>
            <a:off x="2344063" y="2629100"/>
            <a:ext cx="0" cy="539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38" name="Google Shape;938;p87"/>
          <p:cNvCxnSpPr>
            <a:stCxn id="927" idx="2"/>
            <a:endCxn id="926" idx="2"/>
          </p:cNvCxnSpPr>
          <p:nvPr/>
        </p:nvCxnSpPr>
        <p:spPr>
          <a:xfrm>
            <a:off x="755413" y="1173100"/>
            <a:ext cx="600" cy="2307000"/>
          </a:xfrm>
          <a:prstGeom prst="bentConnector3">
            <a:avLst>
              <a:gd fmla="val -39687500" name="adj1"/>
            </a:avLst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39" name="Google Shape;939;p87"/>
          <p:cNvCxnSpPr>
            <a:stCxn id="925" idx="4"/>
            <a:endCxn id="936" idx="0"/>
          </p:cNvCxnSpPr>
          <p:nvPr/>
        </p:nvCxnSpPr>
        <p:spPr>
          <a:xfrm>
            <a:off x="1065913" y="2629088"/>
            <a:ext cx="1278300" cy="539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40" name="Google Shape;940;p87"/>
          <p:cNvCxnSpPr>
            <a:stCxn id="931" idx="4"/>
            <a:endCxn id="925" idx="0"/>
          </p:cNvCxnSpPr>
          <p:nvPr/>
        </p:nvCxnSpPr>
        <p:spPr>
          <a:xfrm flipH="1">
            <a:off x="1066063" y="1475650"/>
            <a:ext cx="12780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41" name="Google Shape;941;p87"/>
          <p:cNvCxnSpPr>
            <a:stCxn id="931" idx="6"/>
            <a:endCxn id="936" idx="6"/>
          </p:cNvCxnSpPr>
          <p:nvPr/>
        </p:nvCxnSpPr>
        <p:spPr>
          <a:xfrm>
            <a:off x="2654563" y="1173100"/>
            <a:ext cx="600" cy="2298000"/>
          </a:xfrm>
          <a:prstGeom prst="bentConnector3">
            <a:avLst>
              <a:gd fmla="val 39687500" name="adj1"/>
            </a:avLst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42" name="Google Shape;942;p87"/>
          <p:cNvCxnSpPr>
            <a:stCxn id="927" idx="4"/>
            <a:endCxn id="932" idx="0"/>
          </p:cNvCxnSpPr>
          <p:nvPr/>
        </p:nvCxnSpPr>
        <p:spPr>
          <a:xfrm>
            <a:off x="1065913" y="1475650"/>
            <a:ext cx="12783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43" name="Google Shape;943;p87"/>
          <p:cNvCxnSpPr>
            <a:stCxn id="932" idx="4"/>
            <a:endCxn id="926" idx="0"/>
          </p:cNvCxnSpPr>
          <p:nvPr/>
        </p:nvCxnSpPr>
        <p:spPr>
          <a:xfrm flipH="1">
            <a:off x="1066063" y="2629100"/>
            <a:ext cx="12780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44" name="Google Shape;944;p87"/>
          <p:cNvSpPr txBox="1"/>
          <p:nvPr>
            <p:ph idx="1" type="body"/>
          </p:nvPr>
        </p:nvSpPr>
        <p:spPr>
          <a:xfrm>
            <a:off x="319500" y="4218925"/>
            <a:ext cx="65277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Ties: Linking sociological and graph theoretic types</a:t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8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p88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=</a:t>
            </a:r>
            <a:r>
              <a:rPr lang="en"/>
              <a:t>Multiplexity</a:t>
            </a:r>
            <a:endParaRPr/>
          </a:p>
        </p:txBody>
      </p:sp>
      <p:sp>
        <p:nvSpPr>
          <p:cNvPr id="950" name="Google Shape;950;p88"/>
          <p:cNvSpPr/>
          <p:nvPr/>
        </p:nvSpPr>
        <p:spPr>
          <a:xfrm>
            <a:off x="755413" y="2023988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951" name="Google Shape;951;p88"/>
          <p:cNvSpPr/>
          <p:nvPr/>
        </p:nvSpPr>
        <p:spPr>
          <a:xfrm>
            <a:off x="755413" y="3177425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952" name="Google Shape;952;p88"/>
          <p:cNvSpPr/>
          <p:nvPr/>
        </p:nvSpPr>
        <p:spPr>
          <a:xfrm>
            <a:off x="755413" y="87055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cxnSp>
        <p:nvCxnSpPr>
          <p:cNvPr id="953" name="Google Shape;953;p88"/>
          <p:cNvCxnSpPr>
            <a:stCxn id="952" idx="4"/>
            <a:endCxn id="950" idx="0"/>
          </p:cNvCxnSpPr>
          <p:nvPr/>
        </p:nvCxnSpPr>
        <p:spPr>
          <a:xfrm>
            <a:off x="1065913" y="1475650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54" name="Google Shape;954;p88"/>
          <p:cNvCxnSpPr>
            <a:stCxn id="950" idx="4"/>
            <a:endCxn id="951" idx="0"/>
          </p:cNvCxnSpPr>
          <p:nvPr/>
        </p:nvCxnSpPr>
        <p:spPr>
          <a:xfrm>
            <a:off x="1065913" y="2629088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55" name="Google Shape;955;p88"/>
          <p:cNvCxnSpPr>
            <a:stCxn id="952" idx="6"/>
            <a:endCxn id="956" idx="2"/>
          </p:cNvCxnSpPr>
          <p:nvPr/>
        </p:nvCxnSpPr>
        <p:spPr>
          <a:xfrm>
            <a:off x="1376413" y="1173100"/>
            <a:ext cx="6573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6" name="Google Shape;956;p88"/>
          <p:cNvSpPr/>
          <p:nvPr/>
        </p:nvSpPr>
        <p:spPr>
          <a:xfrm>
            <a:off x="2033563" y="87055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88"/>
          <p:cNvSpPr/>
          <p:nvPr/>
        </p:nvSpPr>
        <p:spPr>
          <a:xfrm>
            <a:off x="2033563" y="202400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8" name="Google Shape;958;p88"/>
          <p:cNvCxnSpPr>
            <a:stCxn id="950" idx="6"/>
            <a:endCxn id="957" idx="2"/>
          </p:cNvCxnSpPr>
          <p:nvPr/>
        </p:nvCxnSpPr>
        <p:spPr>
          <a:xfrm>
            <a:off x="1376413" y="2326538"/>
            <a:ext cx="6573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9" name="Google Shape;959;p88"/>
          <p:cNvCxnSpPr>
            <a:stCxn id="956" idx="4"/>
            <a:endCxn id="957" idx="0"/>
          </p:cNvCxnSpPr>
          <p:nvPr/>
        </p:nvCxnSpPr>
        <p:spPr>
          <a:xfrm>
            <a:off x="2344063" y="1475650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60" name="Google Shape;960;p88"/>
          <p:cNvCxnSpPr>
            <a:stCxn id="951" idx="6"/>
            <a:endCxn id="961" idx="2"/>
          </p:cNvCxnSpPr>
          <p:nvPr/>
        </p:nvCxnSpPr>
        <p:spPr>
          <a:xfrm flipH="1" rot="10800000">
            <a:off x="1376413" y="3471275"/>
            <a:ext cx="657300" cy="870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1" name="Google Shape;961;p88"/>
          <p:cNvSpPr/>
          <p:nvPr/>
        </p:nvSpPr>
        <p:spPr>
          <a:xfrm>
            <a:off x="2033563" y="3168675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2" name="Google Shape;962;p88"/>
          <p:cNvCxnSpPr>
            <a:stCxn id="957" idx="4"/>
            <a:endCxn id="961" idx="0"/>
          </p:cNvCxnSpPr>
          <p:nvPr/>
        </p:nvCxnSpPr>
        <p:spPr>
          <a:xfrm>
            <a:off x="2344063" y="2629100"/>
            <a:ext cx="0" cy="539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63" name="Google Shape;963;p88"/>
          <p:cNvSpPr txBox="1"/>
          <p:nvPr/>
        </p:nvSpPr>
        <p:spPr>
          <a:xfrm>
            <a:off x="3151050" y="3316200"/>
            <a:ext cx="143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Workers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64" name="Google Shape;964;p88"/>
          <p:cNvSpPr txBox="1"/>
          <p:nvPr/>
        </p:nvSpPr>
        <p:spPr>
          <a:xfrm>
            <a:off x="3151065" y="2142250"/>
            <a:ext cx="17193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Managers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65" name="Google Shape;965;p88"/>
          <p:cNvSpPr txBox="1"/>
          <p:nvPr/>
        </p:nvSpPr>
        <p:spPr>
          <a:xfrm>
            <a:off x="3151050" y="968300"/>
            <a:ext cx="143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Executives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66" name="Google Shape;966;p88"/>
          <p:cNvCxnSpPr>
            <a:stCxn id="952" idx="2"/>
            <a:endCxn id="951" idx="2"/>
          </p:cNvCxnSpPr>
          <p:nvPr/>
        </p:nvCxnSpPr>
        <p:spPr>
          <a:xfrm>
            <a:off x="755413" y="1173100"/>
            <a:ext cx="600" cy="2307000"/>
          </a:xfrm>
          <a:prstGeom prst="bentConnector3">
            <a:avLst>
              <a:gd fmla="val -39687500" name="adj1"/>
            </a:avLst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67" name="Google Shape;967;p88"/>
          <p:cNvCxnSpPr>
            <a:stCxn id="950" idx="4"/>
            <a:endCxn id="961" idx="0"/>
          </p:cNvCxnSpPr>
          <p:nvPr/>
        </p:nvCxnSpPr>
        <p:spPr>
          <a:xfrm>
            <a:off x="1065913" y="2629088"/>
            <a:ext cx="1278300" cy="539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68" name="Google Shape;968;p88"/>
          <p:cNvCxnSpPr>
            <a:stCxn id="956" idx="4"/>
            <a:endCxn id="950" idx="0"/>
          </p:cNvCxnSpPr>
          <p:nvPr/>
        </p:nvCxnSpPr>
        <p:spPr>
          <a:xfrm flipH="1">
            <a:off x="1066063" y="1475650"/>
            <a:ext cx="12780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69" name="Google Shape;969;p88"/>
          <p:cNvCxnSpPr>
            <a:stCxn id="956" idx="6"/>
            <a:endCxn id="961" idx="6"/>
          </p:cNvCxnSpPr>
          <p:nvPr/>
        </p:nvCxnSpPr>
        <p:spPr>
          <a:xfrm>
            <a:off x="2654563" y="1173100"/>
            <a:ext cx="600" cy="2298000"/>
          </a:xfrm>
          <a:prstGeom prst="bentConnector3">
            <a:avLst>
              <a:gd fmla="val 39687500" name="adj1"/>
            </a:avLst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70" name="Google Shape;970;p88"/>
          <p:cNvCxnSpPr>
            <a:stCxn id="951" idx="5"/>
            <a:endCxn id="961" idx="3"/>
          </p:cNvCxnSpPr>
          <p:nvPr/>
        </p:nvCxnSpPr>
        <p:spPr>
          <a:xfrm rot="-5400000">
            <a:off x="1700669" y="3270010"/>
            <a:ext cx="8700" cy="839100"/>
          </a:xfrm>
          <a:prstGeom prst="curvedConnector3">
            <a:avLst>
              <a:gd fmla="val -3755630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71" name="Google Shape;971;p88"/>
          <p:cNvCxnSpPr>
            <a:stCxn id="961" idx="1"/>
            <a:endCxn id="951" idx="7"/>
          </p:cNvCxnSpPr>
          <p:nvPr/>
        </p:nvCxnSpPr>
        <p:spPr>
          <a:xfrm rot="5400000">
            <a:off x="1700606" y="2842090"/>
            <a:ext cx="8700" cy="839100"/>
          </a:xfrm>
          <a:prstGeom prst="curvedConnector3">
            <a:avLst>
              <a:gd fmla="val -3755630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72" name="Google Shape;972;p88"/>
          <p:cNvCxnSpPr>
            <a:stCxn id="961" idx="6"/>
            <a:endCxn id="956" idx="6"/>
          </p:cNvCxnSpPr>
          <p:nvPr/>
        </p:nvCxnSpPr>
        <p:spPr>
          <a:xfrm flipH="1" rot="10800000">
            <a:off x="2654563" y="1173225"/>
            <a:ext cx="600" cy="2298000"/>
          </a:xfrm>
          <a:prstGeom prst="curvedConnector3">
            <a:avLst>
              <a:gd fmla="val 73527083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73" name="Google Shape;973;p88"/>
          <p:cNvCxnSpPr>
            <a:stCxn id="950" idx="7"/>
            <a:endCxn id="957" idx="0"/>
          </p:cNvCxnSpPr>
          <p:nvPr/>
        </p:nvCxnSpPr>
        <p:spPr>
          <a:xfrm rot="-5400000">
            <a:off x="1770569" y="1539002"/>
            <a:ext cx="88500" cy="1058700"/>
          </a:xfrm>
          <a:prstGeom prst="curvedConnector3">
            <a:avLst>
              <a:gd fmla="val 369198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74" name="Google Shape;974;p88"/>
          <p:cNvCxnSpPr>
            <a:stCxn id="952" idx="2"/>
            <a:endCxn id="950" idx="2"/>
          </p:cNvCxnSpPr>
          <p:nvPr/>
        </p:nvCxnSpPr>
        <p:spPr>
          <a:xfrm>
            <a:off x="755413" y="1173100"/>
            <a:ext cx="600" cy="1153500"/>
          </a:xfrm>
          <a:prstGeom prst="curvedConnector3">
            <a:avLst>
              <a:gd fmla="val -39687500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75" name="Google Shape;975;p88"/>
          <p:cNvCxnSpPr>
            <a:stCxn id="956" idx="1"/>
            <a:endCxn id="952" idx="7"/>
          </p:cNvCxnSpPr>
          <p:nvPr/>
        </p:nvCxnSpPr>
        <p:spPr>
          <a:xfrm rot="5400000">
            <a:off x="1704656" y="539915"/>
            <a:ext cx="600" cy="839100"/>
          </a:xfrm>
          <a:prstGeom prst="curvedConnector3">
            <a:avLst>
              <a:gd fmla="val -54456640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76" name="Google Shape;976;p88"/>
          <p:cNvSpPr txBox="1"/>
          <p:nvPr/>
        </p:nvSpPr>
        <p:spPr>
          <a:xfrm>
            <a:off x="4170850" y="2057400"/>
            <a:ext cx="4631400" cy="250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People are usually linked by different types of ties at the same time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This is called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multiplexity 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Example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: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People joined via a either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symmetric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or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antisymmetric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role relations (e.g., supervisor)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Can also be linked via an asymmetric 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sentiment 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relation (liking, disliking)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77" name="Google Shape;977;p88"/>
          <p:cNvCxnSpPr/>
          <p:nvPr/>
        </p:nvCxnSpPr>
        <p:spPr>
          <a:xfrm>
            <a:off x="4870375" y="1644363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78" name="Google Shape;978;p88"/>
          <p:cNvSpPr txBox="1"/>
          <p:nvPr/>
        </p:nvSpPr>
        <p:spPr>
          <a:xfrm>
            <a:off x="5957275" y="1460025"/>
            <a:ext cx="278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Asymmetric work (like, dislike)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79" name="Google Shape;979;p88"/>
          <p:cNvCxnSpPr/>
          <p:nvPr/>
        </p:nvCxnSpPr>
        <p:spPr>
          <a:xfrm>
            <a:off x="4870375" y="848275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0" name="Google Shape;980;p88"/>
          <p:cNvCxnSpPr/>
          <p:nvPr/>
        </p:nvCxnSpPr>
        <p:spPr>
          <a:xfrm>
            <a:off x="4870375" y="1231325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81" name="Google Shape;981;p88"/>
          <p:cNvSpPr txBox="1"/>
          <p:nvPr/>
        </p:nvSpPr>
        <p:spPr>
          <a:xfrm>
            <a:off x="5957275" y="1046975"/>
            <a:ext cx="31095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Antisymmetric work (boss, supervisor)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82" name="Google Shape;982;p88"/>
          <p:cNvSpPr txBox="1"/>
          <p:nvPr/>
        </p:nvSpPr>
        <p:spPr>
          <a:xfrm>
            <a:off x="5957275" y="663925"/>
            <a:ext cx="30537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Symmetric work (coworker, officemate)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6" name="Shape 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" name="Google Shape;987;p89"/>
          <p:cNvSpPr txBox="1"/>
          <p:nvPr>
            <p:ph idx="1" type="body"/>
          </p:nvPr>
        </p:nvSpPr>
        <p:spPr>
          <a:xfrm>
            <a:off x="319500" y="4218925"/>
            <a:ext cx="59988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Multiplexity</a:t>
            </a:r>
            <a:endParaRPr/>
          </a:p>
        </p:txBody>
      </p:sp>
      <p:sp>
        <p:nvSpPr>
          <p:cNvPr id="988" name="Google Shape;988;p89"/>
          <p:cNvSpPr/>
          <p:nvPr/>
        </p:nvSpPr>
        <p:spPr>
          <a:xfrm>
            <a:off x="755413" y="2023988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Mom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89" name="Google Shape;989;p89"/>
          <p:cNvSpPr/>
          <p:nvPr/>
        </p:nvSpPr>
        <p:spPr>
          <a:xfrm>
            <a:off x="755413" y="3177425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You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990" name="Google Shape;990;p89"/>
          <p:cNvSpPr/>
          <p:nvPr/>
        </p:nvSpPr>
        <p:spPr>
          <a:xfrm>
            <a:off x="755413" y="87055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Gma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91" name="Google Shape;991;p89"/>
          <p:cNvCxnSpPr>
            <a:stCxn id="990" idx="4"/>
            <a:endCxn id="988" idx="0"/>
          </p:cNvCxnSpPr>
          <p:nvPr/>
        </p:nvCxnSpPr>
        <p:spPr>
          <a:xfrm>
            <a:off x="1065913" y="1475650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92" name="Google Shape;992;p89"/>
          <p:cNvCxnSpPr>
            <a:stCxn id="988" idx="4"/>
            <a:endCxn id="989" idx="0"/>
          </p:cNvCxnSpPr>
          <p:nvPr/>
        </p:nvCxnSpPr>
        <p:spPr>
          <a:xfrm>
            <a:off x="1065913" y="2629088"/>
            <a:ext cx="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993" name="Google Shape;993;p89"/>
          <p:cNvSpPr/>
          <p:nvPr/>
        </p:nvSpPr>
        <p:spPr>
          <a:xfrm>
            <a:off x="2033563" y="2024000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Unc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94" name="Google Shape;994;p89"/>
          <p:cNvCxnSpPr>
            <a:stCxn id="988" idx="6"/>
            <a:endCxn id="993" idx="2"/>
          </p:cNvCxnSpPr>
          <p:nvPr/>
        </p:nvCxnSpPr>
        <p:spPr>
          <a:xfrm>
            <a:off x="1376413" y="2326538"/>
            <a:ext cx="6573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5" name="Google Shape;995;p89"/>
          <p:cNvCxnSpPr>
            <a:stCxn id="989" idx="6"/>
            <a:endCxn id="996" idx="2"/>
          </p:cNvCxnSpPr>
          <p:nvPr/>
        </p:nvCxnSpPr>
        <p:spPr>
          <a:xfrm flipH="1" rot="10800000">
            <a:off x="1376413" y="3471275"/>
            <a:ext cx="657300" cy="870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6" name="Google Shape;996;p89"/>
          <p:cNvSpPr/>
          <p:nvPr/>
        </p:nvSpPr>
        <p:spPr>
          <a:xfrm>
            <a:off x="2033563" y="3168675"/>
            <a:ext cx="621000" cy="6051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Sis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997" name="Google Shape;997;p89"/>
          <p:cNvCxnSpPr>
            <a:stCxn id="993" idx="4"/>
            <a:endCxn id="996" idx="0"/>
          </p:cNvCxnSpPr>
          <p:nvPr/>
        </p:nvCxnSpPr>
        <p:spPr>
          <a:xfrm>
            <a:off x="2344063" y="2629100"/>
            <a:ext cx="0" cy="539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98" name="Google Shape;998;p89"/>
          <p:cNvCxnSpPr>
            <a:stCxn id="990" idx="2"/>
            <a:endCxn id="989" idx="2"/>
          </p:cNvCxnSpPr>
          <p:nvPr/>
        </p:nvCxnSpPr>
        <p:spPr>
          <a:xfrm>
            <a:off x="755413" y="1173100"/>
            <a:ext cx="600" cy="2307000"/>
          </a:xfrm>
          <a:prstGeom prst="bentConnector3">
            <a:avLst>
              <a:gd fmla="val -39687500" name="adj1"/>
            </a:avLst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99" name="Google Shape;999;p89"/>
          <p:cNvCxnSpPr>
            <a:stCxn id="988" idx="4"/>
            <a:endCxn id="996" idx="0"/>
          </p:cNvCxnSpPr>
          <p:nvPr/>
        </p:nvCxnSpPr>
        <p:spPr>
          <a:xfrm>
            <a:off x="1065913" y="2629088"/>
            <a:ext cx="1278300" cy="539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000" name="Google Shape;1000;p89"/>
          <p:cNvCxnSpPr/>
          <p:nvPr/>
        </p:nvCxnSpPr>
        <p:spPr>
          <a:xfrm>
            <a:off x="4870375" y="1644363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001" name="Google Shape;1001;p89"/>
          <p:cNvSpPr txBox="1"/>
          <p:nvPr/>
        </p:nvSpPr>
        <p:spPr>
          <a:xfrm>
            <a:off x="5957275" y="1460025"/>
            <a:ext cx="278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Asymmetric kin (social support)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02" name="Google Shape;1002;p89"/>
          <p:cNvCxnSpPr>
            <a:stCxn id="988" idx="2"/>
            <a:endCxn id="990" idx="3"/>
          </p:cNvCxnSpPr>
          <p:nvPr/>
        </p:nvCxnSpPr>
        <p:spPr>
          <a:xfrm flipH="1" rot="10800000">
            <a:off x="755413" y="1386938"/>
            <a:ext cx="90900" cy="939600"/>
          </a:xfrm>
          <a:prstGeom prst="curvedConnector4">
            <a:avLst>
              <a:gd fmla="val -261964" name="adj1"/>
              <a:gd fmla="val 61379" name="adj2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003" name="Google Shape;1003;p89"/>
          <p:cNvSpPr txBox="1"/>
          <p:nvPr/>
        </p:nvSpPr>
        <p:spPr>
          <a:xfrm>
            <a:off x="4587450" y="2057400"/>
            <a:ext cx="4214700" cy="241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People are usually linked by different types of ties at the same time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This is called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multiplexity 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Example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: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People joined via a either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symmetric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or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antisymmetric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role relations (e.g., kin ties)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Can be linked via an asymmetric 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social support 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relation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04" name="Google Shape;1004;p89"/>
          <p:cNvSpPr txBox="1"/>
          <p:nvPr/>
        </p:nvSpPr>
        <p:spPr>
          <a:xfrm>
            <a:off x="3151050" y="3316200"/>
            <a:ext cx="143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Third Generation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05" name="Google Shape;1005;p89"/>
          <p:cNvSpPr txBox="1"/>
          <p:nvPr/>
        </p:nvSpPr>
        <p:spPr>
          <a:xfrm>
            <a:off x="3151065" y="2142250"/>
            <a:ext cx="17193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Second Generation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06" name="Google Shape;1006;p89"/>
          <p:cNvSpPr txBox="1"/>
          <p:nvPr/>
        </p:nvSpPr>
        <p:spPr>
          <a:xfrm>
            <a:off x="3151050" y="968300"/>
            <a:ext cx="14364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1st Generation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07" name="Google Shape;1007;p89"/>
          <p:cNvCxnSpPr>
            <a:stCxn id="988" idx="2"/>
            <a:endCxn id="989" idx="1"/>
          </p:cNvCxnSpPr>
          <p:nvPr/>
        </p:nvCxnSpPr>
        <p:spPr>
          <a:xfrm>
            <a:off x="755413" y="2326538"/>
            <a:ext cx="90900" cy="939600"/>
          </a:xfrm>
          <a:prstGeom prst="curvedConnector4">
            <a:avLst>
              <a:gd fmla="val -261964" name="adj1"/>
              <a:gd fmla="val 61379" name="adj2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008" name="Google Shape;1008;p89"/>
          <p:cNvCxnSpPr>
            <a:stCxn id="990" idx="4"/>
            <a:endCxn id="993" idx="0"/>
          </p:cNvCxnSpPr>
          <p:nvPr/>
        </p:nvCxnSpPr>
        <p:spPr>
          <a:xfrm>
            <a:off x="1065913" y="1475650"/>
            <a:ext cx="12783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009" name="Google Shape;1009;p89"/>
          <p:cNvCxnSpPr>
            <a:stCxn id="990" idx="6"/>
            <a:endCxn id="996" idx="6"/>
          </p:cNvCxnSpPr>
          <p:nvPr/>
        </p:nvCxnSpPr>
        <p:spPr>
          <a:xfrm>
            <a:off x="1376413" y="1173100"/>
            <a:ext cx="1278300" cy="2298000"/>
          </a:xfrm>
          <a:prstGeom prst="bentConnector3">
            <a:avLst>
              <a:gd fmla="val 118617" name="adj1"/>
            </a:avLst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010" name="Google Shape;1010;p89"/>
          <p:cNvCxnSpPr>
            <a:stCxn id="990" idx="6"/>
            <a:endCxn id="993" idx="0"/>
          </p:cNvCxnSpPr>
          <p:nvPr/>
        </p:nvCxnSpPr>
        <p:spPr>
          <a:xfrm>
            <a:off x="1376413" y="1173100"/>
            <a:ext cx="967800" cy="850800"/>
          </a:xfrm>
          <a:prstGeom prst="curvedConnector2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011" name="Google Shape;1011;p89"/>
          <p:cNvCxnSpPr/>
          <p:nvPr/>
        </p:nvCxnSpPr>
        <p:spPr>
          <a:xfrm>
            <a:off x="4870375" y="848275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99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" name="Google Shape;1012;p89"/>
          <p:cNvCxnSpPr/>
          <p:nvPr/>
        </p:nvCxnSpPr>
        <p:spPr>
          <a:xfrm>
            <a:off x="4870375" y="1231325"/>
            <a:ext cx="1086900" cy="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013" name="Google Shape;1013;p89"/>
          <p:cNvSpPr txBox="1"/>
          <p:nvPr/>
        </p:nvSpPr>
        <p:spPr>
          <a:xfrm>
            <a:off x="5957275" y="1046975"/>
            <a:ext cx="29757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Antisymmetric kin (parent of, uncle of)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14" name="Google Shape;1014;p89"/>
          <p:cNvSpPr txBox="1"/>
          <p:nvPr/>
        </p:nvSpPr>
        <p:spPr>
          <a:xfrm>
            <a:off x="5957275" y="663925"/>
            <a:ext cx="2686200" cy="36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Symmetric kin (being a sibling of)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15" name="Google Shape;1015;p89"/>
          <p:cNvCxnSpPr>
            <a:stCxn id="993" idx="4"/>
            <a:endCxn id="989" idx="0"/>
          </p:cNvCxnSpPr>
          <p:nvPr/>
        </p:nvCxnSpPr>
        <p:spPr>
          <a:xfrm flipH="1">
            <a:off x="1066063" y="2629100"/>
            <a:ext cx="1278000" cy="548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016" name="Google Shape;1016;p89"/>
          <p:cNvCxnSpPr>
            <a:stCxn id="989" idx="5"/>
            <a:endCxn id="996" idx="3"/>
          </p:cNvCxnSpPr>
          <p:nvPr/>
        </p:nvCxnSpPr>
        <p:spPr>
          <a:xfrm rot="-5400000">
            <a:off x="1700669" y="3270010"/>
            <a:ext cx="8700" cy="839100"/>
          </a:xfrm>
          <a:prstGeom prst="curvedConnector3">
            <a:avLst>
              <a:gd fmla="val -2738102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017" name="Google Shape;1017;p89"/>
          <p:cNvCxnSpPr>
            <a:stCxn id="996" idx="1"/>
            <a:endCxn id="989" idx="7"/>
          </p:cNvCxnSpPr>
          <p:nvPr/>
        </p:nvCxnSpPr>
        <p:spPr>
          <a:xfrm rot="5400000">
            <a:off x="1700606" y="2842090"/>
            <a:ext cx="8700" cy="839100"/>
          </a:xfrm>
          <a:prstGeom prst="curvedConnector3">
            <a:avLst>
              <a:gd fmla="val -1997584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018" name="Google Shape;1018;p89"/>
          <p:cNvCxnSpPr>
            <a:stCxn id="988" idx="7"/>
            <a:endCxn id="993" idx="1"/>
          </p:cNvCxnSpPr>
          <p:nvPr/>
        </p:nvCxnSpPr>
        <p:spPr>
          <a:xfrm flipH="1" rot="-5400000">
            <a:off x="1704719" y="1693352"/>
            <a:ext cx="600" cy="839100"/>
          </a:xfrm>
          <a:prstGeom prst="curvedConnector3">
            <a:avLst>
              <a:gd fmla="val -41158724" name="adj1"/>
            </a:avLst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22" name="Shape 1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" name="Google Shape;1023;p90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Social Network Analysis social ties can have different </a:t>
            </a:r>
            <a:r>
              <a:rPr i="1" lang="en"/>
              <a:t>properties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property of social ties is a characteristic that can be different for ties of the same type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For instance: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ties are </a:t>
            </a:r>
            <a:r>
              <a:rPr b="1" lang="en"/>
              <a:t>new</a:t>
            </a:r>
            <a:r>
              <a:rPr lang="en"/>
              <a:t> and some ties are </a:t>
            </a:r>
            <a:r>
              <a:rPr b="1" lang="en"/>
              <a:t>old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New friends </a:t>
            </a:r>
            <a:r>
              <a:rPr lang="en"/>
              <a:t>versus </a:t>
            </a:r>
            <a:r>
              <a:rPr i="1" lang="en"/>
              <a:t>old friends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ties are </a:t>
            </a:r>
            <a:r>
              <a:rPr b="1" lang="en"/>
              <a:t>durable</a:t>
            </a:r>
            <a:r>
              <a:rPr lang="en"/>
              <a:t> (hard to break) others are </a:t>
            </a:r>
            <a:r>
              <a:rPr b="1" lang="en"/>
              <a:t>nondurable</a:t>
            </a:r>
            <a:r>
              <a:rPr lang="en"/>
              <a:t> (easy to break)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Durable relations </a:t>
            </a:r>
            <a:r>
              <a:rPr lang="en"/>
              <a:t>(mother) versus</a:t>
            </a:r>
            <a:r>
              <a:rPr i="1" lang="en"/>
              <a:t> non-durable relations</a:t>
            </a:r>
            <a:r>
              <a:rPr lang="en"/>
              <a:t> (coworker)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ties are </a:t>
            </a:r>
            <a:r>
              <a:rPr b="1" lang="en"/>
              <a:t>frequently activated</a:t>
            </a:r>
            <a:r>
              <a:rPr lang="en"/>
              <a:t> others are </a:t>
            </a:r>
            <a:r>
              <a:rPr b="1" lang="en"/>
              <a:t>infrequently activated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Friends you see all the time</a:t>
            </a:r>
            <a:r>
              <a:rPr lang="en"/>
              <a:t> versus </a:t>
            </a:r>
            <a:r>
              <a:rPr i="1" lang="en"/>
              <a:t>friends you see once in a while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ties are </a:t>
            </a:r>
            <a:r>
              <a:rPr b="1" lang="en"/>
              <a:t>intimate</a:t>
            </a:r>
            <a:r>
              <a:rPr lang="en"/>
              <a:t> and other ties are </a:t>
            </a:r>
            <a:r>
              <a:rPr b="1" lang="en"/>
              <a:t>not intimate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Friends you confide in</a:t>
            </a:r>
            <a:r>
              <a:rPr lang="en"/>
              <a:t> versus </a:t>
            </a:r>
            <a:r>
              <a:rPr i="1" lang="en"/>
              <a:t>Friends that you do not confide in</a:t>
            </a:r>
            <a:endParaRPr i="1"/>
          </a:p>
        </p:txBody>
      </p:sp>
      <p:sp>
        <p:nvSpPr>
          <p:cNvPr id="1024" name="Google Shape;1024;p9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Properties of Social Ties</a:t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28" name="Shape 1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" name="Google Shape;1029;p91"/>
          <p:cNvSpPr txBox="1"/>
          <p:nvPr>
            <p:ph idx="1" type="body"/>
          </p:nvPr>
        </p:nvSpPr>
        <p:spPr>
          <a:xfrm>
            <a:off x="311700" y="1225225"/>
            <a:ext cx="8520600" cy="23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Social Network Analysis social ties can have different </a:t>
            </a:r>
            <a:r>
              <a:rPr i="1" lang="en"/>
              <a:t>properties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property of social ties is a characteristic that differentiates ties of the same type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Out of all the properties </a:t>
            </a:r>
            <a:r>
              <a:rPr b="1" i="1" lang="en">
                <a:solidFill>
                  <a:srgbClr val="FF0000"/>
                </a:solidFill>
              </a:rPr>
              <a:t>tie strength</a:t>
            </a:r>
            <a:r>
              <a:rPr lang="en"/>
              <a:t> is the most important one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ties are </a:t>
            </a:r>
            <a:r>
              <a:rPr b="1" lang="en"/>
              <a:t>strong</a:t>
            </a:r>
            <a:r>
              <a:rPr lang="en"/>
              <a:t> and some ties are </a:t>
            </a:r>
            <a:r>
              <a:rPr b="1" lang="en"/>
              <a:t>weak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i="1" lang="en"/>
              <a:t>“The strength of a tie is a...combination of the amount of time, the emotional intensity, the intimacy (mutual confiding) and the reciprocal services which characterize the tie”</a:t>
            </a:r>
            <a:r>
              <a:rPr lang="en"/>
              <a:t> (Granovetter 1973:  1361).</a:t>
            </a:r>
            <a:endParaRPr b="1"/>
          </a:p>
        </p:txBody>
      </p:sp>
      <p:sp>
        <p:nvSpPr>
          <p:cNvPr id="1030" name="Google Shape;1030;p9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Tie properties: Strength</a:t>
            </a:r>
            <a:endParaRPr/>
          </a:p>
        </p:txBody>
      </p:sp>
      <p:sp>
        <p:nvSpPr>
          <p:cNvPr id="1031" name="Google Shape;1031;p91"/>
          <p:cNvSpPr/>
          <p:nvPr/>
        </p:nvSpPr>
        <p:spPr>
          <a:xfrm>
            <a:off x="1478238" y="3600675"/>
            <a:ext cx="573900" cy="5514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A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032" name="Google Shape;1032;p91"/>
          <p:cNvCxnSpPr>
            <a:stCxn id="1031" idx="6"/>
            <a:endCxn id="1033" idx="2"/>
          </p:cNvCxnSpPr>
          <p:nvPr/>
        </p:nvCxnSpPr>
        <p:spPr>
          <a:xfrm>
            <a:off x="2052138" y="3876375"/>
            <a:ext cx="607800" cy="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3" name="Google Shape;1033;p91"/>
          <p:cNvSpPr/>
          <p:nvPr/>
        </p:nvSpPr>
        <p:spPr>
          <a:xfrm>
            <a:off x="2659856" y="3600675"/>
            <a:ext cx="573900" cy="5514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B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034" name="Google Shape;1034;p91"/>
          <p:cNvSpPr txBox="1"/>
          <p:nvPr/>
        </p:nvSpPr>
        <p:spPr>
          <a:xfrm>
            <a:off x="1813682" y="4130071"/>
            <a:ext cx="1129500" cy="12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pen Sans"/>
                <a:ea typeface="Open Sans"/>
                <a:cs typeface="Open Sans"/>
                <a:sym typeface="Open Sans"/>
              </a:rPr>
              <a:t>Strong Tie</a:t>
            </a:r>
            <a:endParaRPr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35" name="Google Shape;1035;p91"/>
          <p:cNvSpPr/>
          <p:nvPr/>
        </p:nvSpPr>
        <p:spPr>
          <a:xfrm>
            <a:off x="5910238" y="3550475"/>
            <a:ext cx="573900" cy="5514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A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036" name="Google Shape;1036;p91"/>
          <p:cNvCxnSpPr>
            <a:stCxn id="1035" idx="6"/>
            <a:endCxn id="1037" idx="2"/>
          </p:cNvCxnSpPr>
          <p:nvPr/>
        </p:nvCxnSpPr>
        <p:spPr>
          <a:xfrm>
            <a:off x="6484138" y="3826175"/>
            <a:ext cx="607800" cy="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037" name="Google Shape;1037;p91"/>
          <p:cNvSpPr/>
          <p:nvPr/>
        </p:nvSpPr>
        <p:spPr>
          <a:xfrm>
            <a:off x="7091856" y="3550475"/>
            <a:ext cx="573900" cy="551400"/>
          </a:xfrm>
          <a:prstGeom prst="ellipse">
            <a:avLst/>
          </a:prstGeom>
          <a:solidFill>
            <a:schemeClr val="lt2"/>
          </a:solidFill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latin typeface="Cantarell"/>
                <a:ea typeface="Cantarell"/>
                <a:cs typeface="Cantarell"/>
                <a:sym typeface="Cantarell"/>
              </a:rPr>
              <a:t>B</a:t>
            </a:r>
            <a:endParaRPr sz="26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038" name="Google Shape;1038;p91"/>
          <p:cNvSpPr txBox="1"/>
          <p:nvPr/>
        </p:nvSpPr>
        <p:spPr>
          <a:xfrm>
            <a:off x="6245682" y="4079871"/>
            <a:ext cx="1129500" cy="12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pen Sans"/>
                <a:ea typeface="Open Sans"/>
                <a:cs typeface="Open Sans"/>
                <a:sym typeface="Open Sans"/>
              </a:rPr>
              <a:t>Weak Tie</a:t>
            </a:r>
            <a:endParaRPr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39" name="Google Shape;1039;p91"/>
          <p:cNvSpPr txBox="1"/>
          <p:nvPr/>
        </p:nvSpPr>
        <p:spPr>
          <a:xfrm>
            <a:off x="408750" y="4506175"/>
            <a:ext cx="7933200" cy="39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22222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Granovetter, M. S. (1973). The strength of weak ties. </a:t>
            </a:r>
            <a:r>
              <a:rPr i="1" lang="en">
                <a:solidFill>
                  <a:srgbClr val="222222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American journal of sociology</a:t>
            </a:r>
            <a:r>
              <a:rPr lang="en">
                <a:solidFill>
                  <a:srgbClr val="222222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, </a:t>
            </a:r>
            <a:r>
              <a:rPr i="1" lang="en">
                <a:solidFill>
                  <a:srgbClr val="222222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78</a:t>
            </a:r>
            <a:r>
              <a:rPr lang="en">
                <a:solidFill>
                  <a:srgbClr val="222222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(6), 1360-1380.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43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Google Shape;1044;p9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Tie properties: Strength</a:t>
            </a:r>
            <a:endParaRPr/>
          </a:p>
        </p:txBody>
      </p:sp>
      <p:sp>
        <p:nvSpPr>
          <p:cNvPr id="1045" name="Google Shape;1045;p92"/>
          <p:cNvSpPr txBox="1"/>
          <p:nvPr>
            <p:ph idx="1" type="body"/>
          </p:nvPr>
        </p:nvSpPr>
        <p:spPr>
          <a:xfrm>
            <a:off x="311700" y="1225225"/>
            <a:ext cx="8520600" cy="22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According to Granovetter, tie strength is a </a:t>
            </a:r>
            <a:r>
              <a:rPr i="1" lang="en"/>
              <a:t>combination of different tie properties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 it is a “superordinate” property of social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Ties are </a:t>
            </a:r>
            <a:r>
              <a:rPr b="1" lang="en"/>
              <a:t>strong</a:t>
            </a:r>
            <a:r>
              <a:rPr lang="en"/>
              <a:t> if: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lasted for a long time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Are frequently activated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Are emotionally intimate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Feature exchanges of favors</a:t>
            </a:r>
            <a:endParaRPr/>
          </a:p>
        </p:txBody>
      </p:sp>
      <p:sp>
        <p:nvSpPr>
          <p:cNvPr id="1046" name="Google Shape;1046;p92"/>
          <p:cNvSpPr/>
          <p:nvPr/>
        </p:nvSpPr>
        <p:spPr>
          <a:xfrm>
            <a:off x="3652111" y="3540918"/>
            <a:ext cx="1825500" cy="525300"/>
          </a:xfrm>
          <a:prstGeom prst="rect">
            <a:avLst/>
          </a:prstGeom>
          <a:solidFill>
            <a:srgbClr val="0856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Tie Strength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47" name="Google Shape;1047;p92"/>
          <p:cNvSpPr/>
          <p:nvPr/>
        </p:nvSpPr>
        <p:spPr>
          <a:xfrm>
            <a:off x="82424" y="4494484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Duration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48" name="Google Shape;1048;p92"/>
          <p:cNvSpPr/>
          <p:nvPr/>
        </p:nvSpPr>
        <p:spPr>
          <a:xfrm>
            <a:off x="1901517" y="4494496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Time Spent Together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49" name="Google Shape;1049;p92"/>
          <p:cNvCxnSpPr>
            <a:stCxn id="1046" idx="2"/>
            <a:endCxn id="1048" idx="0"/>
          </p:cNvCxnSpPr>
          <p:nvPr/>
        </p:nvCxnSpPr>
        <p:spPr>
          <a:xfrm rot="5400000">
            <a:off x="3446311" y="3376068"/>
            <a:ext cx="428400" cy="1808700"/>
          </a:xfrm>
          <a:prstGeom prst="bentConnector3">
            <a:avLst>
              <a:gd fmla="val 49986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50" name="Google Shape;1050;p92"/>
          <p:cNvCxnSpPr>
            <a:stCxn id="1047" idx="0"/>
            <a:endCxn id="1046" idx="2"/>
          </p:cNvCxnSpPr>
          <p:nvPr/>
        </p:nvCxnSpPr>
        <p:spPr>
          <a:xfrm rot="-5400000">
            <a:off x="2536724" y="2466334"/>
            <a:ext cx="428400" cy="3627900"/>
          </a:xfrm>
          <a:prstGeom prst="bentConnector3">
            <a:avLst>
              <a:gd fmla="val 49984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051" name="Google Shape;1051;p92"/>
          <p:cNvSpPr/>
          <p:nvPr/>
        </p:nvSpPr>
        <p:spPr>
          <a:xfrm>
            <a:off x="3717443" y="4494496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Emotional Intensity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52" name="Google Shape;1052;p92"/>
          <p:cNvSpPr/>
          <p:nvPr/>
        </p:nvSpPr>
        <p:spPr>
          <a:xfrm>
            <a:off x="5580718" y="4494484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Intimacy/Confiding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53" name="Google Shape;1053;p92"/>
          <p:cNvSpPr/>
          <p:nvPr/>
        </p:nvSpPr>
        <p:spPr>
          <a:xfrm>
            <a:off x="7352485" y="4494488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Interaction Freq.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54" name="Google Shape;1054;p92"/>
          <p:cNvCxnSpPr>
            <a:stCxn id="1051" idx="0"/>
            <a:endCxn id="1046" idx="2"/>
          </p:cNvCxnSpPr>
          <p:nvPr/>
        </p:nvCxnSpPr>
        <p:spPr>
          <a:xfrm flipH="1" rot="5400000">
            <a:off x="4354193" y="4276696"/>
            <a:ext cx="428400" cy="7200"/>
          </a:xfrm>
          <a:prstGeom prst="bentConnector3">
            <a:avLst>
              <a:gd fmla="val 49986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55" name="Google Shape;1055;p92"/>
          <p:cNvCxnSpPr>
            <a:stCxn id="1052" idx="0"/>
            <a:endCxn id="1046" idx="2"/>
          </p:cNvCxnSpPr>
          <p:nvPr/>
        </p:nvCxnSpPr>
        <p:spPr>
          <a:xfrm flipH="1" rot="5400000">
            <a:off x="5285818" y="3345034"/>
            <a:ext cx="428400" cy="1870500"/>
          </a:xfrm>
          <a:prstGeom prst="bentConnector3">
            <a:avLst>
              <a:gd fmla="val 49984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56" name="Google Shape;1056;p92"/>
          <p:cNvCxnSpPr>
            <a:stCxn id="1046" idx="2"/>
            <a:endCxn id="1053" idx="0"/>
          </p:cNvCxnSpPr>
          <p:nvPr/>
        </p:nvCxnSpPr>
        <p:spPr>
          <a:xfrm flipH="1" rot="-5400000">
            <a:off x="6171811" y="2459268"/>
            <a:ext cx="428400" cy="3642300"/>
          </a:xfrm>
          <a:prstGeom prst="bentConnector3">
            <a:avLst>
              <a:gd fmla="val 49985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0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9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Tie properties: Strength</a:t>
            </a:r>
            <a:endParaRPr/>
          </a:p>
        </p:txBody>
      </p:sp>
      <p:sp>
        <p:nvSpPr>
          <p:cNvPr id="1062" name="Google Shape;1062;p93"/>
          <p:cNvSpPr txBox="1"/>
          <p:nvPr>
            <p:ph idx="1" type="body"/>
          </p:nvPr>
        </p:nvSpPr>
        <p:spPr>
          <a:xfrm>
            <a:off x="311700" y="1225225"/>
            <a:ext cx="8520600" cy="22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According to Granovetter, tie strength is a </a:t>
            </a:r>
            <a:r>
              <a:rPr i="1" lang="en"/>
              <a:t>combination of different tie properties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 it is a “superordinate” property of social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Ties are </a:t>
            </a:r>
            <a:r>
              <a:rPr b="1" lang="en"/>
              <a:t>weak</a:t>
            </a:r>
            <a:r>
              <a:rPr lang="en"/>
              <a:t> if: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recently started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Are infrequently activated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Lack emotional intimacy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Don’t Feature exchanges of favors</a:t>
            </a:r>
            <a:endParaRPr/>
          </a:p>
        </p:txBody>
      </p:sp>
      <p:sp>
        <p:nvSpPr>
          <p:cNvPr id="1063" name="Google Shape;1063;p93"/>
          <p:cNvSpPr/>
          <p:nvPr/>
        </p:nvSpPr>
        <p:spPr>
          <a:xfrm>
            <a:off x="3652111" y="3540918"/>
            <a:ext cx="1825500" cy="525300"/>
          </a:xfrm>
          <a:prstGeom prst="rect">
            <a:avLst/>
          </a:prstGeom>
          <a:solidFill>
            <a:srgbClr val="0856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Tie Strength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64" name="Google Shape;1064;p93"/>
          <p:cNvSpPr/>
          <p:nvPr/>
        </p:nvSpPr>
        <p:spPr>
          <a:xfrm>
            <a:off x="82424" y="4494484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Duration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65" name="Google Shape;1065;p93"/>
          <p:cNvSpPr/>
          <p:nvPr/>
        </p:nvSpPr>
        <p:spPr>
          <a:xfrm>
            <a:off x="1901517" y="4494496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Time Spent Together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66" name="Google Shape;1066;p93"/>
          <p:cNvCxnSpPr>
            <a:stCxn id="1063" idx="2"/>
            <a:endCxn id="1065" idx="0"/>
          </p:cNvCxnSpPr>
          <p:nvPr/>
        </p:nvCxnSpPr>
        <p:spPr>
          <a:xfrm rot="5400000">
            <a:off x="3446311" y="3376068"/>
            <a:ext cx="428400" cy="1808700"/>
          </a:xfrm>
          <a:prstGeom prst="bentConnector3">
            <a:avLst>
              <a:gd fmla="val 49986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67" name="Google Shape;1067;p93"/>
          <p:cNvCxnSpPr>
            <a:stCxn id="1064" idx="0"/>
            <a:endCxn id="1063" idx="2"/>
          </p:cNvCxnSpPr>
          <p:nvPr/>
        </p:nvCxnSpPr>
        <p:spPr>
          <a:xfrm rot="-5400000">
            <a:off x="2536724" y="2466334"/>
            <a:ext cx="428400" cy="3627900"/>
          </a:xfrm>
          <a:prstGeom prst="bentConnector3">
            <a:avLst>
              <a:gd fmla="val 49984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068" name="Google Shape;1068;p93"/>
          <p:cNvSpPr/>
          <p:nvPr/>
        </p:nvSpPr>
        <p:spPr>
          <a:xfrm>
            <a:off x="3717443" y="4494496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Emotional Intensity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69" name="Google Shape;1069;p93"/>
          <p:cNvSpPr/>
          <p:nvPr/>
        </p:nvSpPr>
        <p:spPr>
          <a:xfrm>
            <a:off x="5580718" y="4494484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Intimacy/Confiding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70" name="Google Shape;1070;p93"/>
          <p:cNvSpPr/>
          <p:nvPr/>
        </p:nvSpPr>
        <p:spPr>
          <a:xfrm>
            <a:off x="7352485" y="4494488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Interaction Freq.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71" name="Google Shape;1071;p93"/>
          <p:cNvCxnSpPr>
            <a:stCxn id="1068" idx="0"/>
            <a:endCxn id="1063" idx="2"/>
          </p:cNvCxnSpPr>
          <p:nvPr/>
        </p:nvCxnSpPr>
        <p:spPr>
          <a:xfrm flipH="1" rot="5400000">
            <a:off x="4354193" y="4276696"/>
            <a:ext cx="428400" cy="7200"/>
          </a:xfrm>
          <a:prstGeom prst="bentConnector3">
            <a:avLst>
              <a:gd fmla="val 49986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72" name="Google Shape;1072;p93"/>
          <p:cNvCxnSpPr>
            <a:stCxn id="1069" idx="0"/>
            <a:endCxn id="1063" idx="2"/>
          </p:cNvCxnSpPr>
          <p:nvPr/>
        </p:nvCxnSpPr>
        <p:spPr>
          <a:xfrm flipH="1" rot="5400000">
            <a:off x="5285818" y="3345034"/>
            <a:ext cx="428400" cy="1870500"/>
          </a:xfrm>
          <a:prstGeom prst="bentConnector3">
            <a:avLst>
              <a:gd fmla="val 49984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73" name="Google Shape;1073;p93"/>
          <p:cNvCxnSpPr>
            <a:stCxn id="1063" idx="2"/>
            <a:endCxn id="1070" idx="0"/>
          </p:cNvCxnSpPr>
          <p:nvPr/>
        </p:nvCxnSpPr>
        <p:spPr>
          <a:xfrm flipH="1" rot="-5400000">
            <a:off x="6171811" y="2459268"/>
            <a:ext cx="428400" cy="3642300"/>
          </a:xfrm>
          <a:prstGeom prst="bentConnector3">
            <a:avLst>
              <a:gd fmla="val 49985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7" name="Shape 1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" name="Google Shape;1078;p9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Tie properties: Strength</a:t>
            </a:r>
            <a:endParaRPr/>
          </a:p>
        </p:txBody>
      </p:sp>
      <p:sp>
        <p:nvSpPr>
          <p:cNvPr id="1079" name="Google Shape;1079;p94"/>
          <p:cNvSpPr/>
          <p:nvPr/>
        </p:nvSpPr>
        <p:spPr>
          <a:xfrm>
            <a:off x="3652111" y="3540918"/>
            <a:ext cx="1825500" cy="525300"/>
          </a:xfrm>
          <a:prstGeom prst="rect">
            <a:avLst/>
          </a:prstGeom>
          <a:solidFill>
            <a:srgbClr val="0856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Tie Strength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80" name="Google Shape;1080;p94"/>
          <p:cNvSpPr/>
          <p:nvPr/>
        </p:nvSpPr>
        <p:spPr>
          <a:xfrm>
            <a:off x="82424" y="4494484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Duration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81" name="Google Shape;1081;p94"/>
          <p:cNvSpPr/>
          <p:nvPr/>
        </p:nvSpPr>
        <p:spPr>
          <a:xfrm>
            <a:off x="1901517" y="4494496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Time Spent Together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82" name="Google Shape;1082;p94"/>
          <p:cNvCxnSpPr>
            <a:stCxn id="1079" idx="2"/>
            <a:endCxn id="1081" idx="0"/>
          </p:cNvCxnSpPr>
          <p:nvPr/>
        </p:nvCxnSpPr>
        <p:spPr>
          <a:xfrm rot="5400000">
            <a:off x="3446311" y="3376068"/>
            <a:ext cx="428400" cy="1808700"/>
          </a:xfrm>
          <a:prstGeom prst="bentConnector3">
            <a:avLst>
              <a:gd fmla="val 49986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83" name="Google Shape;1083;p94"/>
          <p:cNvCxnSpPr>
            <a:stCxn id="1080" idx="0"/>
            <a:endCxn id="1079" idx="2"/>
          </p:cNvCxnSpPr>
          <p:nvPr/>
        </p:nvCxnSpPr>
        <p:spPr>
          <a:xfrm rot="-5400000">
            <a:off x="2536724" y="2466334"/>
            <a:ext cx="428400" cy="3627900"/>
          </a:xfrm>
          <a:prstGeom prst="bentConnector3">
            <a:avLst>
              <a:gd fmla="val 49984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084" name="Google Shape;1084;p94"/>
          <p:cNvSpPr/>
          <p:nvPr/>
        </p:nvSpPr>
        <p:spPr>
          <a:xfrm>
            <a:off x="3717443" y="4494496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Emotional Intensity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85" name="Google Shape;1085;p94"/>
          <p:cNvSpPr/>
          <p:nvPr/>
        </p:nvSpPr>
        <p:spPr>
          <a:xfrm>
            <a:off x="5580718" y="4494484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Intimacy/Confiding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086" name="Google Shape;1086;p94"/>
          <p:cNvSpPr/>
          <p:nvPr/>
        </p:nvSpPr>
        <p:spPr>
          <a:xfrm>
            <a:off x="7352485" y="4494488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Interaction Freq.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087" name="Google Shape;1087;p94"/>
          <p:cNvCxnSpPr>
            <a:stCxn id="1084" idx="0"/>
            <a:endCxn id="1079" idx="2"/>
          </p:cNvCxnSpPr>
          <p:nvPr/>
        </p:nvCxnSpPr>
        <p:spPr>
          <a:xfrm flipH="1" rot="5400000">
            <a:off x="4354193" y="4276696"/>
            <a:ext cx="428400" cy="7200"/>
          </a:xfrm>
          <a:prstGeom prst="bentConnector3">
            <a:avLst>
              <a:gd fmla="val 49986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88" name="Google Shape;1088;p94"/>
          <p:cNvCxnSpPr>
            <a:stCxn id="1085" idx="0"/>
            <a:endCxn id="1079" idx="2"/>
          </p:cNvCxnSpPr>
          <p:nvPr/>
        </p:nvCxnSpPr>
        <p:spPr>
          <a:xfrm flipH="1" rot="5400000">
            <a:off x="5285818" y="3345034"/>
            <a:ext cx="428400" cy="1870500"/>
          </a:xfrm>
          <a:prstGeom prst="bentConnector3">
            <a:avLst>
              <a:gd fmla="val 49984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089" name="Google Shape;1089;p94"/>
          <p:cNvCxnSpPr>
            <a:stCxn id="1079" idx="2"/>
            <a:endCxn id="1086" idx="0"/>
          </p:cNvCxnSpPr>
          <p:nvPr/>
        </p:nvCxnSpPr>
        <p:spPr>
          <a:xfrm flipH="1" rot="-5400000">
            <a:off x="6171811" y="2459268"/>
            <a:ext cx="428400" cy="3642300"/>
          </a:xfrm>
          <a:prstGeom prst="bentConnector3">
            <a:avLst>
              <a:gd fmla="val 49985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090" name="Google Shape;1090;p94"/>
          <p:cNvSpPr txBox="1"/>
          <p:nvPr>
            <p:ph idx="1" type="body"/>
          </p:nvPr>
        </p:nvSpPr>
        <p:spPr>
          <a:xfrm>
            <a:off x="311700" y="1225225"/>
            <a:ext cx="8520600" cy="22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Just having one property (e.g., frequent activation) is not sufficient for a tie to count as strong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You can see a coworker you hate every weekday</a:t>
            </a:r>
            <a:endParaRPr i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You can tell an acquaintance an intimate secret</a:t>
            </a:r>
            <a:endParaRPr i="1">
              <a:solidFill>
                <a:srgbClr val="0000FF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ties of a particular type (e.g., kin ties, same race ties) are </a:t>
            </a:r>
            <a:r>
              <a:rPr i="1" lang="en"/>
              <a:t>expected</a:t>
            </a:r>
            <a:r>
              <a:rPr lang="en"/>
              <a:t> to be strong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But the don’t have to be!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You can be estranged from your parents or siblings</a:t>
            </a:r>
            <a:endParaRPr i="1">
              <a:solidFill>
                <a:srgbClr val="0000FF"/>
              </a:solidFill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4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" name="Google Shape;1095;p9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Tie properties: Strength</a:t>
            </a:r>
            <a:endParaRPr/>
          </a:p>
        </p:txBody>
      </p:sp>
      <p:sp>
        <p:nvSpPr>
          <p:cNvPr id="1096" name="Google Shape;1096;p95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Just having one property (e.g., frequent activation) is not sufficient for a tie to count as strong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You can see a coworker you hate every weekday</a:t>
            </a:r>
            <a:endParaRPr i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You can tell an acquaintance an intimate secret</a:t>
            </a:r>
            <a:endParaRPr i="1">
              <a:solidFill>
                <a:srgbClr val="0000FF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It is better to say that there is a </a:t>
            </a:r>
            <a:r>
              <a:rPr b="1" lang="en"/>
              <a:t>positive correlation</a:t>
            </a:r>
            <a:r>
              <a:rPr lang="en"/>
              <a:t> between a tie being of some type (e.g., similarity, kin, positive sentiment) and tie strength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Similar-race ties are </a:t>
            </a:r>
            <a:r>
              <a:rPr i="1" lang="en"/>
              <a:t>likely </a:t>
            </a:r>
            <a:r>
              <a:rPr lang="en"/>
              <a:t>to be strong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Kin-ties are </a:t>
            </a:r>
            <a:r>
              <a:rPr i="1" lang="en"/>
              <a:t>likely </a:t>
            </a:r>
            <a:r>
              <a:rPr lang="en"/>
              <a:t>to be strong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Coworker ties are </a:t>
            </a:r>
            <a:r>
              <a:rPr i="1" lang="en"/>
              <a:t>likely </a:t>
            </a:r>
            <a:r>
              <a:rPr lang="en"/>
              <a:t>to be weak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Positive sentiment ties are </a:t>
            </a:r>
            <a:r>
              <a:rPr i="1" lang="en"/>
              <a:t>likely</a:t>
            </a:r>
            <a:r>
              <a:rPr lang="en"/>
              <a:t> to be strong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Same neighborhood ties are </a:t>
            </a:r>
            <a:r>
              <a:rPr i="1" lang="en"/>
              <a:t>likely </a:t>
            </a:r>
            <a:r>
              <a:rPr lang="en"/>
              <a:t>to be weak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Acquaintanceship ties are </a:t>
            </a:r>
            <a:r>
              <a:rPr i="1" lang="en"/>
              <a:t>likely</a:t>
            </a:r>
            <a:r>
              <a:rPr lang="en"/>
              <a:t> to be weak</a:t>
            </a:r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0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Google Shape;1101;p9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Tie properties: Strength</a:t>
            </a:r>
            <a:endParaRPr/>
          </a:p>
        </p:txBody>
      </p:sp>
      <p:sp>
        <p:nvSpPr>
          <p:cNvPr id="1102" name="Google Shape;1102;p96"/>
          <p:cNvSpPr/>
          <p:nvPr/>
        </p:nvSpPr>
        <p:spPr>
          <a:xfrm>
            <a:off x="3652111" y="3540918"/>
            <a:ext cx="1825500" cy="525300"/>
          </a:xfrm>
          <a:prstGeom prst="rect">
            <a:avLst/>
          </a:prstGeom>
          <a:solidFill>
            <a:srgbClr val="0856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Tie Strength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03" name="Google Shape;1103;p96"/>
          <p:cNvSpPr/>
          <p:nvPr/>
        </p:nvSpPr>
        <p:spPr>
          <a:xfrm>
            <a:off x="82424" y="4494484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Duration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04" name="Google Shape;1104;p96"/>
          <p:cNvSpPr/>
          <p:nvPr/>
        </p:nvSpPr>
        <p:spPr>
          <a:xfrm>
            <a:off x="1901517" y="4494496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Time Spent Together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105" name="Google Shape;1105;p96"/>
          <p:cNvCxnSpPr>
            <a:stCxn id="1102" idx="2"/>
            <a:endCxn id="1104" idx="0"/>
          </p:cNvCxnSpPr>
          <p:nvPr/>
        </p:nvCxnSpPr>
        <p:spPr>
          <a:xfrm rot="5400000">
            <a:off x="3446311" y="3376068"/>
            <a:ext cx="428400" cy="1808700"/>
          </a:xfrm>
          <a:prstGeom prst="bentConnector3">
            <a:avLst>
              <a:gd fmla="val 49986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106" name="Google Shape;1106;p96"/>
          <p:cNvCxnSpPr>
            <a:stCxn id="1103" idx="0"/>
            <a:endCxn id="1102" idx="2"/>
          </p:cNvCxnSpPr>
          <p:nvPr/>
        </p:nvCxnSpPr>
        <p:spPr>
          <a:xfrm rot="-5400000">
            <a:off x="2536724" y="2466334"/>
            <a:ext cx="428400" cy="3627900"/>
          </a:xfrm>
          <a:prstGeom prst="bentConnector3">
            <a:avLst>
              <a:gd fmla="val 49984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107" name="Google Shape;1107;p96"/>
          <p:cNvSpPr/>
          <p:nvPr/>
        </p:nvSpPr>
        <p:spPr>
          <a:xfrm>
            <a:off x="3717443" y="4494496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Emotional Intensity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08" name="Google Shape;1108;p96"/>
          <p:cNvSpPr/>
          <p:nvPr/>
        </p:nvSpPr>
        <p:spPr>
          <a:xfrm>
            <a:off x="5580718" y="4494484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Intimacy/Confiding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09" name="Google Shape;1109;p96"/>
          <p:cNvSpPr/>
          <p:nvPr/>
        </p:nvSpPr>
        <p:spPr>
          <a:xfrm>
            <a:off x="7352485" y="4494488"/>
            <a:ext cx="1709100" cy="525300"/>
          </a:xfrm>
          <a:prstGeom prst="rect">
            <a:avLst/>
          </a:prstGeom>
          <a:solidFill>
            <a:srgbClr val="0B77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Interaction Freq.</a:t>
            </a:r>
            <a:endParaRPr b="1" sz="1800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110" name="Google Shape;1110;p96"/>
          <p:cNvCxnSpPr>
            <a:stCxn id="1107" idx="0"/>
            <a:endCxn id="1102" idx="2"/>
          </p:cNvCxnSpPr>
          <p:nvPr/>
        </p:nvCxnSpPr>
        <p:spPr>
          <a:xfrm flipH="1" rot="5400000">
            <a:off x="4354193" y="4276696"/>
            <a:ext cx="428400" cy="7200"/>
          </a:xfrm>
          <a:prstGeom prst="bentConnector3">
            <a:avLst>
              <a:gd fmla="val 49986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111" name="Google Shape;1111;p96"/>
          <p:cNvCxnSpPr>
            <a:stCxn id="1108" idx="0"/>
            <a:endCxn id="1102" idx="2"/>
          </p:cNvCxnSpPr>
          <p:nvPr/>
        </p:nvCxnSpPr>
        <p:spPr>
          <a:xfrm flipH="1" rot="5400000">
            <a:off x="5285818" y="3345034"/>
            <a:ext cx="428400" cy="1870500"/>
          </a:xfrm>
          <a:prstGeom prst="bentConnector3">
            <a:avLst>
              <a:gd fmla="val 49984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112" name="Google Shape;1112;p96"/>
          <p:cNvCxnSpPr>
            <a:stCxn id="1102" idx="2"/>
            <a:endCxn id="1109" idx="0"/>
          </p:cNvCxnSpPr>
          <p:nvPr/>
        </p:nvCxnSpPr>
        <p:spPr>
          <a:xfrm flipH="1" rot="-5400000">
            <a:off x="6171811" y="2459268"/>
            <a:ext cx="428400" cy="3642300"/>
          </a:xfrm>
          <a:prstGeom prst="bentConnector3">
            <a:avLst>
              <a:gd fmla="val 49985" name="adj1"/>
            </a:avLst>
          </a:prstGeom>
          <a:noFill/>
          <a:ln cap="flat" cmpd="sng" w="38100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113" name="Google Shape;1113;p96"/>
          <p:cNvSpPr txBox="1"/>
          <p:nvPr>
            <p:ph idx="1" type="body"/>
          </p:nvPr>
        </p:nvSpPr>
        <p:spPr>
          <a:xfrm>
            <a:off x="311700" y="1225225"/>
            <a:ext cx="8520600" cy="22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Just having one property (e.g., frequent activation) is not sufficient for a tie to count as strong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You can see a coworker you hate every weekday</a:t>
            </a:r>
            <a:endParaRPr i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You can tell an acquaintance an intimate secret</a:t>
            </a:r>
            <a:endParaRPr i="1">
              <a:solidFill>
                <a:srgbClr val="0000FF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Strong ties sound great!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Does that mean that weak ties are useless?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No! We will see later one way in which they are pretty useful</a:t>
            </a:r>
            <a:endParaRPr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117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" name="Google Shape;1118;p97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Basic Concepts in Graph Theory</a:t>
            </a:r>
            <a:endParaRPr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2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Google Shape;1123;p9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graph?</a:t>
            </a:r>
            <a:endParaRPr/>
          </a:p>
        </p:txBody>
      </p:sp>
      <p:sp>
        <p:nvSpPr>
          <p:cNvPr id="1124" name="Google Shape;1124;p98"/>
          <p:cNvSpPr txBox="1"/>
          <p:nvPr>
            <p:ph idx="1" type="body"/>
          </p:nvPr>
        </p:nvSpPr>
        <p:spPr>
          <a:xfrm>
            <a:off x="311700" y="1225225"/>
            <a:ext cx="4941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(G) is an abstract mathematical object (not a picture!) consisting of: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/>
              <a:t>vertex</a:t>
            </a:r>
            <a:r>
              <a:rPr lang="en"/>
              <a:t> </a:t>
            </a:r>
            <a:r>
              <a:rPr b="1" lang="en"/>
              <a:t>set</a:t>
            </a:r>
            <a:r>
              <a:rPr lang="en"/>
              <a:t> V V(G)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{v</a:t>
            </a:r>
            <a:r>
              <a:rPr baseline="-25000" lang="en"/>
              <a:t>1</a:t>
            </a:r>
            <a:r>
              <a:rPr lang="en"/>
              <a:t>, v</a:t>
            </a:r>
            <a:r>
              <a:rPr baseline="-25000" lang="en"/>
              <a:t>2</a:t>
            </a:r>
            <a:r>
              <a:rPr lang="en"/>
              <a:t>, v</a:t>
            </a:r>
            <a:r>
              <a:rPr baseline="-25000" lang="en"/>
              <a:t>3</a:t>
            </a:r>
            <a:r>
              <a:rPr lang="en"/>
              <a:t>, v</a:t>
            </a:r>
            <a:r>
              <a:rPr baseline="-25000" lang="en"/>
              <a:t>4</a:t>
            </a:r>
            <a:r>
              <a:rPr lang="en"/>
              <a:t>, v</a:t>
            </a:r>
            <a:r>
              <a:rPr baseline="-25000" lang="en"/>
              <a:t>5</a:t>
            </a:r>
            <a:r>
              <a:rPr lang="en"/>
              <a:t>, v</a:t>
            </a:r>
            <a:r>
              <a:rPr baseline="-25000" lang="en"/>
              <a:t>6</a:t>
            </a:r>
            <a:r>
              <a:rPr lang="en"/>
              <a:t>, v</a:t>
            </a:r>
            <a:r>
              <a:rPr baseline="-25000" lang="en"/>
              <a:t>7</a:t>
            </a:r>
            <a:r>
              <a:rPr lang="en"/>
              <a:t>, v</a:t>
            </a:r>
            <a:r>
              <a:rPr baseline="-25000" lang="en"/>
              <a:t>8</a:t>
            </a:r>
            <a:r>
              <a:rPr lang="en"/>
              <a:t>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Vertices represent actors or entities in the social network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 </a:t>
            </a:r>
            <a:r>
              <a:rPr b="1" lang="en"/>
              <a:t>edge set</a:t>
            </a:r>
            <a:r>
              <a:rPr lang="en"/>
              <a:t>, E(G)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{v</a:t>
            </a:r>
            <a:r>
              <a:rPr baseline="-25000" lang="en"/>
              <a:t>2</a:t>
            </a:r>
            <a:r>
              <a:rPr lang="en"/>
              <a:t>v</a:t>
            </a:r>
            <a:r>
              <a:rPr baseline="-25000" lang="en"/>
              <a:t>3</a:t>
            </a:r>
            <a:r>
              <a:rPr lang="en"/>
              <a:t>, v</a:t>
            </a:r>
            <a:r>
              <a:rPr baseline="-25000" lang="en"/>
              <a:t>3</a:t>
            </a:r>
            <a:r>
              <a:rPr lang="en"/>
              <a:t>v</a:t>
            </a:r>
            <a:r>
              <a:rPr baseline="-25000" lang="en"/>
              <a:t>1</a:t>
            </a:r>
            <a:r>
              <a:rPr lang="en"/>
              <a:t>, v</a:t>
            </a:r>
            <a:r>
              <a:rPr baseline="-25000" lang="en"/>
              <a:t>3</a:t>
            </a:r>
            <a:r>
              <a:rPr lang="en"/>
              <a:t>v</a:t>
            </a:r>
            <a:r>
              <a:rPr baseline="-25000" lang="en"/>
              <a:t>5</a:t>
            </a:r>
            <a:r>
              <a:rPr lang="en"/>
              <a:t>, v</a:t>
            </a:r>
            <a:r>
              <a:rPr baseline="-25000" lang="en"/>
              <a:t>3</a:t>
            </a:r>
            <a:r>
              <a:rPr lang="en"/>
              <a:t>v</a:t>
            </a:r>
            <a:r>
              <a:rPr baseline="-25000" lang="en"/>
              <a:t>4</a:t>
            </a:r>
            <a:r>
              <a:rPr lang="en"/>
              <a:t>, v</a:t>
            </a:r>
            <a:r>
              <a:rPr baseline="-25000" lang="en"/>
              <a:t>4</a:t>
            </a:r>
            <a:r>
              <a:rPr lang="en"/>
              <a:t>v</a:t>
            </a:r>
            <a:r>
              <a:rPr baseline="-25000" lang="en"/>
              <a:t>7</a:t>
            </a:r>
            <a:r>
              <a:rPr lang="en"/>
              <a:t>, v</a:t>
            </a:r>
            <a:r>
              <a:rPr baseline="-25000" lang="en"/>
              <a:t>5</a:t>
            </a:r>
            <a:r>
              <a:rPr lang="en"/>
              <a:t>v</a:t>
            </a:r>
            <a:r>
              <a:rPr baseline="-25000" lang="en"/>
              <a:t>2</a:t>
            </a:r>
            <a:r>
              <a:rPr lang="en"/>
              <a:t>, v</a:t>
            </a:r>
            <a:r>
              <a:rPr baseline="-25000" lang="en"/>
              <a:t>7</a:t>
            </a:r>
            <a:r>
              <a:rPr lang="en"/>
              <a:t>v</a:t>
            </a:r>
            <a:r>
              <a:rPr baseline="-25000" lang="en"/>
              <a:t>8</a:t>
            </a:r>
            <a:r>
              <a:rPr lang="en"/>
              <a:t>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Edges represent links, ties, relations in the social network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Such that G = (V, E)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 graph is a set of two sets!</a:t>
            </a:r>
            <a:endParaRPr/>
          </a:p>
        </p:txBody>
      </p:sp>
      <p:sp>
        <p:nvSpPr>
          <p:cNvPr id="1125" name="Google Shape;1125;p98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26" name="Google Shape;1126;p98"/>
          <p:cNvCxnSpPr>
            <a:stCxn id="1125" idx="6"/>
            <a:endCxn id="1127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27" name="Google Shape;1127;p98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128" name="Google Shape;1128;p98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129" name="Google Shape;1129;p98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30" name="Google Shape;1130;p98"/>
          <p:cNvCxnSpPr>
            <a:stCxn id="1129" idx="4"/>
            <a:endCxn id="1127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1" name="Google Shape;1131;p98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32" name="Google Shape;1132;p98"/>
          <p:cNvCxnSpPr>
            <a:stCxn id="1125" idx="5"/>
            <a:endCxn id="1131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3" name="Google Shape;1133;p98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34" name="Google Shape;1134;p98"/>
          <p:cNvCxnSpPr>
            <a:stCxn id="1133" idx="2"/>
            <a:endCxn id="1127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5" name="Google Shape;1135;p98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36" name="Google Shape;1136;p98"/>
          <p:cNvCxnSpPr>
            <a:stCxn id="1135" idx="2"/>
            <a:endCxn id="1133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7" name="Google Shape;1137;p98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38" name="Google Shape;1138;p98"/>
          <p:cNvCxnSpPr>
            <a:stCxn id="1137" idx="0"/>
            <a:endCxn id="1135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9" name="Google Shape;1139;p98"/>
          <p:cNvCxnSpPr>
            <a:stCxn id="1127" idx="4"/>
            <a:endCxn id="1131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3" name="Shape 1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" name="Google Shape;1144;p9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Adjacency Relations</a:t>
            </a:r>
            <a:endParaRPr/>
          </a:p>
        </p:txBody>
      </p:sp>
      <p:sp>
        <p:nvSpPr>
          <p:cNvPr id="1145" name="Google Shape;1145;p99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Pairs of vertices are </a:t>
            </a:r>
            <a:r>
              <a:rPr b="1" lang="en">
                <a:solidFill>
                  <a:schemeClr val="accent1"/>
                </a:solidFill>
              </a:rPr>
              <a:t>adjacent</a:t>
            </a:r>
            <a:r>
              <a:rPr b="1" lang="en"/>
              <a:t> </a:t>
            </a:r>
            <a:r>
              <a:rPr lang="en"/>
              <a:t>if there is a link joining them</a:t>
            </a:r>
            <a:endParaRPr/>
          </a:p>
        </p:txBody>
      </p:sp>
      <p:sp>
        <p:nvSpPr>
          <p:cNvPr id="1146" name="Google Shape;1146;p99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47" name="Google Shape;1147;p99"/>
          <p:cNvCxnSpPr>
            <a:stCxn id="1146" idx="6"/>
            <a:endCxn id="1148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48" name="Google Shape;1148;p99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149" name="Google Shape;1149;p99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150" name="Google Shape;1150;p99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51" name="Google Shape;1151;p99"/>
          <p:cNvCxnSpPr>
            <a:stCxn id="1150" idx="4"/>
            <a:endCxn id="1148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2" name="Google Shape;1152;p99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53" name="Google Shape;1153;p99"/>
          <p:cNvCxnSpPr>
            <a:stCxn id="1146" idx="5"/>
            <a:endCxn id="1152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4" name="Google Shape;1154;p99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55" name="Google Shape;1155;p99"/>
          <p:cNvCxnSpPr>
            <a:stCxn id="1154" idx="2"/>
            <a:endCxn id="1148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6" name="Google Shape;1156;p99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57" name="Google Shape;1157;p99"/>
          <p:cNvCxnSpPr>
            <a:stCxn id="1156" idx="2"/>
            <a:endCxn id="1154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8" name="Google Shape;1158;p99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59" name="Google Shape;1159;p99"/>
          <p:cNvCxnSpPr>
            <a:stCxn id="1158" idx="0"/>
            <a:endCxn id="1156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0" name="Google Shape;1160;p99"/>
          <p:cNvCxnSpPr>
            <a:stCxn id="1148" idx="4"/>
            <a:endCxn id="1152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1" name="Google Shape;1161;p99"/>
          <p:cNvSpPr txBox="1"/>
          <p:nvPr/>
        </p:nvSpPr>
        <p:spPr>
          <a:xfrm>
            <a:off x="7413625" y="1453175"/>
            <a:ext cx="1367700" cy="56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Adjacent Vertices</a:t>
            </a:r>
            <a:endParaRPr sz="800">
              <a:solidFill>
                <a:schemeClr val="accen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162" name="Google Shape;1162;p99"/>
          <p:cNvCxnSpPr>
            <a:stCxn id="1161" idx="2"/>
            <a:endCxn id="1154" idx="0"/>
          </p:cNvCxnSpPr>
          <p:nvPr/>
        </p:nvCxnSpPr>
        <p:spPr>
          <a:xfrm flipH="1">
            <a:off x="7575775" y="2015375"/>
            <a:ext cx="521700" cy="6843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163" name="Google Shape;1163;p99"/>
          <p:cNvCxnSpPr>
            <a:stCxn id="1161" idx="2"/>
            <a:endCxn id="1156" idx="0"/>
          </p:cNvCxnSpPr>
          <p:nvPr/>
        </p:nvCxnSpPr>
        <p:spPr>
          <a:xfrm>
            <a:off x="8097475" y="2015375"/>
            <a:ext cx="607200" cy="6843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7" name="Shape 1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" name="Google Shape;1168;p10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Adjacency Relations</a:t>
            </a:r>
            <a:endParaRPr/>
          </a:p>
        </p:txBody>
      </p:sp>
      <p:sp>
        <p:nvSpPr>
          <p:cNvPr id="1169" name="Google Shape;1169;p100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Pairs of vertices are </a:t>
            </a:r>
            <a:r>
              <a:rPr b="1" lang="en">
                <a:solidFill>
                  <a:schemeClr val="accent1"/>
                </a:solidFill>
              </a:rPr>
              <a:t>adjacent</a:t>
            </a:r>
            <a:r>
              <a:rPr b="1" lang="en"/>
              <a:t> </a:t>
            </a:r>
            <a:r>
              <a:rPr lang="en"/>
              <a:t>if there is a link joining them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Pairs of vertices are </a:t>
            </a:r>
            <a:r>
              <a:rPr b="1" lang="en">
                <a:solidFill>
                  <a:schemeClr val="accent5"/>
                </a:solidFill>
              </a:rPr>
              <a:t>nonadjacent</a:t>
            </a:r>
            <a:r>
              <a:rPr b="1" lang="en"/>
              <a:t> </a:t>
            </a:r>
            <a:r>
              <a:rPr lang="en"/>
              <a:t>if there is no link joining them </a:t>
            </a:r>
            <a:endParaRPr/>
          </a:p>
        </p:txBody>
      </p:sp>
      <p:sp>
        <p:nvSpPr>
          <p:cNvPr id="1170" name="Google Shape;1170;p100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71" name="Google Shape;1171;p100"/>
          <p:cNvCxnSpPr>
            <a:stCxn id="1170" idx="6"/>
            <a:endCxn id="1172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2" name="Google Shape;1172;p100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173" name="Google Shape;1173;p100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174" name="Google Shape;1174;p100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75" name="Google Shape;1175;p100"/>
          <p:cNvCxnSpPr>
            <a:stCxn id="1174" idx="4"/>
            <a:endCxn id="1172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6" name="Google Shape;1176;p100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77" name="Google Shape;1177;p100"/>
          <p:cNvCxnSpPr>
            <a:stCxn id="1170" idx="5"/>
            <a:endCxn id="1176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8" name="Google Shape;1178;p100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79" name="Google Shape;1179;p100"/>
          <p:cNvCxnSpPr>
            <a:stCxn id="1178" idx="2"/>
            <a:endCxn id="1172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80" name="Google Shape;1180;p100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81" name="Google Shape;1181;p100"/>
          <p:cNvCxnSpPr>
            <a:stCxn id="1180" idx="2"/>
            <a:endCxn id="1178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82" name="Google Shape;1182;p100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83" name="Google Shape;1183;p100"/>
          <p:cNvCxnSpPr>
            <a:stCxn id="1182" idx="0"/>
            <a:endCxn id="1180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84" name="Google Shape;1184;p100"/>
          <p:cNvCxnSpPr>
            <a:stCxn id="1172" idx="4"/>
            <a:endCxn id="1176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85" name="Google Shape;1185;p100"/>
          <p:cNvSpPr txBox="1"/>
          <p:nvPr/>
        </p:nvSpPr>
        <p:spPr>
          <a:xfrm>
            <a:off x="7251900" y="1036400"/>
            <a:ext cx="1367700" cy="56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chemeClr val="accent5"/>
                </a:solidFill>
                <a:latin typeface="Open Sans"/>
                <a:ea typeface="Open Sans"/>
                <a:cs typeface="Open Sans"/>
                <a:sym typeface="Open Sans"/>
              </a:rPr>
              <a:t>Nonadjacent Vertices</a:t>
            </a:r>
            <a:endParaRPr sz="800">
              <a:solidFill>
                <a:schemeClr val="accent5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186" name="Google Shape;1186;p100"/>
          <p:cNvCxnSpPr>
            <a:stCxn id="1185" idx="2"/>
            <a:endCxn id="1174" idx="7"/>
          </p:cNvCxnSpPr>
          <p:nvPr/>
        </p:nvCxnSpPr>
        <p:spPr>
          <a:xfrm flipH="1">
            <a:off x="6726750" y="1598600"/>
            <a:ext cx="1209000" cy="14790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187" name="Google Shape;1187;p100"/>
          <p:cNvCxnSpPr>
            <a:stCxn id="1185" idx="2"/>
            <a:endCxn id="1178" idx="7"/>
          </p:cNvCxnSpPr>
          <p:nvPr/>
        </p:nvCxnSpPr>
        <p:spPr>
          <a:xfrm flipH="1">
            <a:off x="7690650" y="1598600"/>
            <a:ext cx="245100" cy="114720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1" name="Shape 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" name="Google Shape;1192;p10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Adjacency Relations</a:t>
            </a:r>
            <a:endParaRPr/>
          </a:p>
        </p:txBody>
      </p:sp>
      <p:sp>
        <p:nvSpPr>
          <p:cNvPr id="1193" name="Google Shape;1193;p101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Pairs of vertices are </a:t>
            </a:r>
            <a:r>
              <a:rPr b="1" lang="en">
                <a:solidFill>
                  <a:schemeClr val="accent1"/>
                </a:solidFill>
              </a:rPr>
              <a:t>adjacent</a:t>
            </a:r>
            <a:r>
              <a:rPr b="1" lang="en"/>
              <a:t> </a:t>
            </a:r>
            <a:r>
              <a:rPr lang="en"/>
              <a:t>if there is a link joining them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Pairs of vertices are </a:t>
            </a:r>
            <a:r>
              <a:rPr b="1" lang="en">
                <a:solidFill>
                  <a:schemeClr val="accent5"/>
                </a:solidFill>
              </a:rPr>
              <a:t>nonadjacent</a:t>
            </a:r>
            <a:r>
              <a:rPr b="1" lang="en"/>
              <a:t> </a:t>
            </a:r>
            <a:r>
              <a:rPr lang="en"/>
              <a:t>if there is no link joining them 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>
                <a:solidFill>
                  <a:srgbClr val="3C78D8"/>
                </a:solidFill>
              </a:rPr>
              <a:t>Isolates</a:t>
            </a:r>
            <a:r>
              <a:rPr lang="en"/>
              <a:t> are vertices with no incoming or outgoing links</a:t>
            </a:r>
            <a:endParaRPr/>
          </a:p>
        </p:txBody>
      </p:sp>
      <p:sp>
        <p:nvSpPr>
          <p:cNvPr id="1194" name="Google Shape;1194;p101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95" name="Google Shape;1195;p101"/>
          <p:cNvCxnSpPr>
            <a:stCxn id="1194" idx="6"/>
            <a:endCxn id="1196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96" name="Google Shape;1196;p101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197" name="Google Shape;1197;p101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198" name="Google Shape;1198;p101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199" name="Google Shape;1199;p101"/>
          <p:cNvCxnSpPr>
            <a:stCxn id="1198" idx="4"/>
            <a:endCxn id="1196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00" name="Google Shape;1200;p101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01" name="Google Shape;1201;p101"/>
          <p:cNvCxnSpPr>
            <a:stCxn id="1194" idx="5"/>
            <a:endCxn id="1200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02" name="Google Shape;1202;p101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03" name="Google Shape;1203;p101"/>
          <p:cNvCxnSpPr>
            <a:stCxn id="1202" idx="2"/>
            <a:endCxn id="1196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04" name="Google Shape;1204;p101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05" name="Google Shape;1205;p101"/>
          <p:cNvCxnSpPr>
            <a:stCxn id="1204" idx="2"/>
            <a:endCxn id="1202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06" name="Google Shape;1206;p101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07" name="Google Shape;1207;p101"/>
          <p:cNvCxnSpPr>
            <a:stCxn id="1206" idx="0"/>
            <a:endCxn id="1204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8" name="Google Shape;1208;p101"/>
          <p:cNvCxnSpPr>
            <a:stCxn id="1196" idx="4"/>
            <a:endCxn id="1200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09" name="Google Shape;1209;p101"/>
          <p:cNvSpPr txBox="1"/>
          <p:nvPr/>
        </p:nvSpPr>
        <p:spPr>
          <a:xfrm>
            <a:off x="5244275" y="4233700"/>
            <a:ext cx="13677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rgbClr val="4A86E8"/>
                </a:solidFill>
                <a:latin typeface="Open Sans"/>
                <a:ea typeface="Open Sans"/>
                <a:cs typeface="Open Sans"/>
                <a:sym typeface="Open Sans"/>
              </a:rPr>
              <a:t>Isolate Vertex</a:t>
            </a:r>
            <a:endParaRPr sz="800">
              <a:solidFill>
                <a:srgbClr val="4A86E8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210" name="Google Shape;1210;p101"/>
          <p:cNvCxnSpPr>
            <a:stCxn id="1209" idx="3"/>
            <a:endCxn id="1197" idx="2"/>
          </p:cNvCxnSpPr>
          <p:nvPr/>
        </p:nvCxnSpPr>
        <p:spPr>
          <a:xfrm flipH="1" rot="10800000">
            <a:off x="6611975" y="3946600"/>
            <a:ext cx="801600" cy="473700"/>
          </a:xfrm>
          <a:prstGeom prst="straightConnector1">
            <a:avLst/>
          </a:prstGeom>
          <a:noFill/>
          <a:ln cap="flat" cmpd="sng" w="9525">
            <a:solidFill>
              <a:srgbClr val="4A86E8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4" name="Shape 1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" name="Google Shape;1215;p10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Neighborhoods</a:t>
            </a:r>
            <a:endParaRPr/>
          </a:p>
        </p:txBody>
      </p:sp>
      <p:sp>
        <p:nvSpPr>
          <p:cNvPr id="1216" name="Google Shape;1216;p102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each vertex has a </a:t>
            </a:r>
            <a:r>
              <a:rPr b="1" lang="en"/>
              <a:t>neighborhood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neighborhood N(V) of each vertex is the </a:t>
            </a:r>
            <a:r>
              <a:rPr b="1" lang="en"/>
              <a:t>set</a:t>
            </a:r>
            <a:r>
              <a:rPr lang="en"/>
              <a:t> of all other vertices that are </a:t>
            </a:r>
            <a:r>
              <a:rPr b="1" lang="en"/>
              <a:t>adjacent to it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217" name="Google Shape;1217;p102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18" name="Google Shape;1218;p102"/>
          <p:cNvCxnSpPr>
            <a:stCxn id="1217" idx="6"/>
            <a:endCxn id="1219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19" name="Google Shape;1219;p102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220" name="Google Shape;1220;p102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221" name="Google Shape;1221;p102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22" name="Google Shape;1222;p102"/>
          <p:cNvCxnSpPr>
            <a:stCxn id="1221" idx="4"/>
            <a:endCxn id="1219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23" name="Google Shape;1223;p102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24" name="Google Shape;1224;p102"/>
          <p:cNvCxnSpPr>
            <a:stCxn id="1217" idx="5"/>
            <a:endCxn id="1223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25" name="Google Shape;1225;p102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26" name="Google Shape;1226;p102"/>
          <p:cNvCxnSpPr>
            <a:stCxn id="1225" idx="2"/>
            <a:endCxn id="1219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27" name="Google Shape;1227;p102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28" name="Google Shape;1228;p102"/>
          <p:cNvCxnSpPr>
            <a:stCxn id="1227" idx="2"/>
            <a:endCxn id="1225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29" name="Google Shape;1229;p102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30" name="Google Shape;1230;p102"/>
          <p:cNvCxnSpPr>
            <a:stCxn id="1229" idx="0"/>
            <a:endCxn id="1227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31" name="Google Shape;1231;p102"/>
          <p:cNvCxnSpPr>
            <a:stCxn id="1219" idx="4"/>
            <a:endCxn id="1223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35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p10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Neighborhoods</a:t>
            </a:r>
            <a:endParaRPr/>
          </a:p>
        </p:txBody>
      </p:sp>
      <p:sp>
        <p:nvSpPr>
          <p:cNvPr id="1237" name="Google Shape;1237;p103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each vertex has a </a:t>
            </a:r>
            <a:r>
              <a:rPr b="1" lang="en"/>
              <a:t>neighborhood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neighborhood N(V) of each vertex is the </a:t>
            </a:r>
            <a:r>
              <a:rPr b="1" lang="en"/>
              <a:t>set</a:t>
            </a:r>
            <a:r>
              <a:rPr lang="en"/>
              <a:t> of all other vertices that are </a:t>
            </a:r>
            <a:r>
              <a:rPr b="1" lang="en"/>
              <a:t>adjacent to it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N(V</a:t>
            </a:r>
            <a:r>
              <a:rPr baseline="-25000" lang="en"/>
              <a:t>3</a:t>
            </a:r>
            <a:r>
              <a:rPr lang="en"/>
              <a:t>) = {V</a:t>
            </a:r>
            <a:r>
              <a:rPr baseline="-25000" lang="en"/>
              <a:t>1</a:t>
            </a:r>
            <a:r>
              <a:rPr lang="en"/>
              <a:t>, V</a:t>
            </a:r>
            <a:r>
              <a:rPr baseline="-25000" lang="en"/>
              <a:t>2</a:t>
            </a:r>
            <a:r>
              <a:rPr lang="en"/>
              <a:t>, V</a:t>
            </a:r>
            <a:r>
              <a:rPr baseline="-25000" lang="en"/>
              <a:t>4</a:t>
            </a:r>
            <a:r>
              <a:rPr lang="en"/>
              <a:t>, V</a:t>
            </a:r>
            <a:r>
              <a:rPr baseline="-25000" lang="en"/>
              <a:t>5</a:t>
            </a:r>
            <a:r>
              <a:rPr lang="en"/>
              <a:t>} 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238" name="Google Shape;1238;p103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39" name="Google Shape;1239;p103"/>
          <p:cNvCxnSpPr>
            <a:stCxn id="1238" idx="6"/>
            <a:endCxn id="1240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40" name="Google Shape;1240;p103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rgbClr val="FF0000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241" name="Google Shape;1241;p103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242" name="Google Shape;1242;p103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43" name="Google Shape;1243;p103"/>
          <p:cNvCxnSpPr>
            <a:stCxn id="1242" idx="4"/>
            <a:endCxn id="1240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44" name="Google Shape;1244;p103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45" name="Google Shape;1245;p103"/>
          <p:cNvCxnSpPr>
            <a:stCxn id="1238" idx="5"/>
            <a:endCxn id="1244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46" name="Google Shape;1246;p103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47" name="Google Shape;1247;p103"/>
          <p:cNvCxnSpPr>
            <a:stCxn id="1246" idx="2"/>
            <a:endCxn id="1240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48" name="Google Shape;1248;p103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49" name="Google Shape;1249;p103"/>
          <p:cNvCxnSpPr>
            <a:stCxn id="1248" idx="2"/>
            <a:endCxn id="1246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50" name="Google Shape;1250;p103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51" name="Google Shape;1251;p103"/>
          <p:cNvCxnSpPr>
            <a:stCxn id="1250" idx="0"/>
            <a:endCxn id="1248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52" name="Google Shape;1252;p103"/>
          <p:cNvCxnSpPr>
            <a:stCxn id="1240" idx="4"/>
            <a:endCxn id="1244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53" name="Google Shape;1253;p103"/>
          <p:cNvSpPr/>
          <p:nvPr/>
        </p:nvSpPr>
        <p:spPr>
          <a:xfrm>
            <a:off x="2394175" y="3728350"/>
            <a:ext cx="34161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These are the neighbors of vertex 3!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254" name="Google Shape;1254;p103"/>
          <p:cNvCxnSpPr>
            <a:stCxn id="1253" idx="7"/>
          </p:cNvCxnSpPr>
          <p:nvPr/>
        </p:nvCxnSpPr>
        <p:spPr>
          <a:xfrm flipH="1" rot="10800000">
            <a:off x="5309999" y="3462335"/>
            <a:ext cx="580800" cy="4356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58" name="Shape 1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Google Shape;1259;p10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Neighborhoods</a:t>
            </a:r>
            <a:endParaRPr/>
          </a:p>
        </p:txBody>
      </p:sp>
      <p:sp>
        <p:nvSpPr>
          <p:cNvPr id="1260" name="Google Shape;1260;p104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each vertex has a </a:t>
            </a:r>
            <a:r>
              <a:rPr b="1" lang="en"/>
              <a:t>neighborhood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neighborhood N(V) of each vertex is the </a:t>
            </a:r>
            <a:r>
              <a:rPr b="1" lang="en"/>
              <a:t>set</a:t>
            </a:r>
            <a:r>
              <a:rPr lang="en"/>
              <a:t> of all other vertices that are </a:t>
            </a:r>
            <a:r>
              <a:rPr b="1" lang="en"/>
              <a:t>adjacent to it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Even lonely vertex 6 has a neighborhood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It just happens to be the empty set!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N(V</a:t>
            </a:r>
            <a:r>
              <a:rPr baseline="-25000" lang="en"/>
              <a:t>6</a:t>
            </a:r>
            <a:r>
              <a:rPr lang="en"/>
              <a:t>) = {∅}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261" name="Google Shape;1261;p104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62" name="Google Shape;1262;p104"/>
          <p:cNvCxnSpPr>
            <a:stCxn id="1261" idx="6"/>
            <a:endCxn id="1263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63" name="Google Shape;1263;p104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264" name="Google Shape;1264;p104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rgbClr val="FF0000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265" name="Google Shape;1265;p104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66" name="Google Shape;1266;p104"/>
          <p:cNvCxnSpPr>
            <a:stCxn id="1265" idx="4"/>
            <a:endCxn id="1263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67" name="Google Shape;1267;p104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68" name="Google Shape;1268;p104"/>
          <p:cNvCxnSpPr>
            <a:stCxn id="1261" idx="5"/>
            <a:endCxn id="1267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69" name="Google Shape;1269;p104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70" name="Google Shape;1270;p104"/>
          <p:cNvCxnSpPr>
            <a:stCxn id="1269" idx="2"/>
            <a:endCxn id="1263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71" name="Google Shape;1271;p104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72" name="Google Shape;1272;p104"/>
          <p:cNvCxnSpPr>
            <a:stCxn id="1271" idx="2"/>
            <a:endCxn id="1269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73" name="Google Shape;1273;p104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74" name="Google Shape;1274;p104"/>
          <p:cNvCxnSpPr>
            <a:stCxn id="1273" idx="0"/>
            <a:endCxn id="1271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75" name="Google Shape;1275;p104"/>
          <p:cNvCxnSpPr>
            <a:stCxn id="1263" idx="4"/>
            <a:endCxn id="1267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76" name="Google Shape;1276;p104"/>
          <p:cNvSpPr txBox="1"/>
          <p:nvPr/>
        </p:nvSpPr>
        <p:spPr>
          <a:xfrm>
            <a:off x="7312625" y="4212450"/>
            <a:ext cx="2352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?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0" name="Shape 1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Google Shape;1281;p10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282" name="Google Shape;1282;p105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283" name="Google Shape;1283;p105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84" name="Google Shape;1284;p105"/>
          <p:cNvCxnSpPr>
            <a:stCxn id="1283" idx="6"/>
            <a:endCxn id="1285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5" name="Google Shape;1285;p105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286" name="Google Shape;1286;p105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287" name="Google Shape;1287;p105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88" name="Google Shape;1288;p105"/>
          <p:cNvCxnSpPr>
            <a:stCxn id="1287" idx="4"/>
            <a:endCxn id="1285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9" name="Google Shape;1289;p105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90" name="Google Shape;1290;p105"/>
          <p:cNvCxnSpPr>
            <a:stCxn id="1283" idx="5"/>
            <a:endCxn id="1289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1" name="Google Shape;1291;p105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92" name="Google Shape;1292;p105"/>
          <p:cNvCxnSpPr>
            <a:stCxn id="1291" idx="2"/>
            <a:endCxn id="1285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3" name="Google Shape;1293;p105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94" name="Google Shape;1294;p105"/>
          <p:cNvCxnSpPr>
            <a:stCxn id="1293" idx="2"/>
            <a:endCxn id="1291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5" name="Google Shape;1295;p105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296" name="Google Shape;1296;p105"/>
          <p:cNvCxnSpPr>
            <a:stCxn id="1295" idx="0"/>
            <a:endCxn id="1293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97" name="Google Shape;1297;p105"/>
          <p:cNvCxnSpPr>
            <a:stCxn id="1285" idx="4"/>
            <a:endCxn id="1289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1" name="Shape 1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" name="Google Shape;1302;p10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303" name="Google Shape;1303;p106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304" name="Google Shape;1304;p106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05" name="Google Shape;1305;p106"/>
          <p:cNvCxnSpPr>
            <a:stCxn id="1304" idx="6"/>
            <a:endCxn id="1306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06" name="Google Shape;1306;p106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07" name="Google Shape;1307;p106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08" name="Google Shape;1308;p106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09" name="Google Shape;1309;p106"/>
          <p:cNvCxnSpPr>
            <a:stCxn id="1308" idx="4"/>
            <a:endCxn id="1306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0" name="Google Shape;1310;p106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11" name="Google Shape;1311;p106"/>
          <p:cNvCxnSpPr>
            <a:stCxn id="1304" idx="5"/>
            <a:endCxn id="1310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2" name="Google Shape;1312;p106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13" name="Google Shape;1313;p106"/>
          <p:cNvCxnSpPr>
            <a:stCxn id="1312" idx="2"/>
            <a:endCxn id="1306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4" name="Google Shape;1314;p106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15" name="Google Shape;1315;p106"/>
          <p:cNvCxnSpPr>
            <a:stCxn id="1314" idx="2"/>
            <a:endCxn id="1312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6" name="Google Shape;1316;p106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17" name="Google Shape;1317;p106"/>
          <p:cNvCxnSpPr>
            <a:stCxn id="1316" idx="0"/>
            <a:endCxn id="1314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18" name="Google Shape;1318;p106"/>
          <p:cNvCxnSpPr>
            <a:stCxn id="1306" idx="4"/>
            <a:endCxn id="1310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22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10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324" name="Google Shape;1324;p107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Let us make a subgraph by picking the following subset of </a:t>
            </a:r>
            <a:r>
              <a:rPr i="1" lang="en"/>
              <a:t>vertices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{V</a:t>
            </a:r>
            <a:r>
              <a:rPr baseline="-25000" lang="en"/>
              <a:t>1</a:t>
            </a:r>
            <a:r>
              <a:rPr lang="en"/>
              <a:t>, V</a:t>
            </a:r>
            <a:r>
              <a:rPr baseline="-25000" lang="en"/>
              <a:t>3</a:t>
            </a:r>
            <a:r>
              <a:rPr lang="en"/>
              <a:t>, V</a:t>
            </a:r>
            <a:r>
              <a:rPr baseline="-25000" lang="en"/>
              <a:t>6</a:t>
            </a:r>
            <a:r>
              <a:rPr lang="en"/>
              <a:t>, V</a:t>
            </a:r>
            <a:r>
              <a:rPr baseline="-25000" lang="en"/>
              <a:t>8</a:t>
            </a:r>
            <a:r>
              <a:rPr lang="en"/>
              <a:t>}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325" name="Google Shape;1325;p107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26" name="Google Shape;1326;p107"/>
          <p:cNvCxnSpPr>
            <a:stCxn id="1325" idx="6"/>
            <a:endCxn id="1327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7" name="Google Shape;1327;p107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28" name="Google Shape;1328;p107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29" name="Google Shape;1329;p107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30" name="Google Shape;1330;p107"/>
          <p:cNvCxnSpPr>
            <a:stCxn id="1329" idx="4"/>
            <a:endCxn id="1327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1" name="Google Shape;1331;p107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32" name="Google Shape;1332;p107"/>
          <p:cNvCxnSpPr>
            <a:stCxn id="1325" idx="5"/>
            <a:endCxn id="1331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3" name="Google Shape;1333;p107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34" name="Google Shape;1334;p107"/>
          <p:cNvCxnSpPr>
            <a:stCxn id="1333" idx="2"/>
            <a:endCxn id="1327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5" name="Google Shape;1335;p107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36" name="Google Shape;1336;p107"/>
          <p:cNvCxnSpPr>
            <a:stCxn id="1335" idx="2"/>
            <a:endCxn id="1333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7" name="Google Shape;1337;p107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38" name="Google Shape;1338;p107"/>
          <p:cNvCxnSpPr>
            <a:stCxn id="1337" idx="0"/>
            <a:endCxn id="1335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9" name="Google Shape;1339;p107"/>
          <p:cNvCxnSpPr>
            <a:stCxn id="1327" idx="4"/>
            <a:endCxn id="1331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43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0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345" name="Google Shape;1345;p108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Let us make a subgraph by picking the following subset of </a:t>
            </a:r>
            <a:r>
              <a:rPr i="1" lang="en"/>
              <a:t>vertices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{V</a:t>
            </a:r>
            <a:r>
              <a:rPr baseline="-25000" lang="en"/>
              <a:t>1</a:t>
            </a:r>
            <a:r>
              <a:rPr lang="en"/>
              <a:t>, V</a:t>
            </a:r>
            <a:r>
              <a:rPr baseline="-25000" lang="en"/>
              <a:t>3</a:t>
            </a:r>
            <a:r>
              <a:rPr lang="en"/>
              <a:t>, V</a:t>
            </a:r>
            <a:r>
              <a:rPr baseline="-25000" lang="en"/>
              <a:t>6</a:t>
            </a:r>
            <a:r>
              <a:rPr lang="en"/>
              <a:t>, V</a:t>
            </a:r>
            <a:r>
              <a:rPr baseline="-25000" lang="en"/>
              <a:t>8</a:t>
            </a:r>
            <a:r>
              <a:rPr lang="en"/>
              <a:t>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Voila!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346" name="Google Shape;1346;p108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47" name="Google Shape;1347;p108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48" name="Google Shape;1348;p108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49" name="Google Shape;1349;p108"/>
          <p:cNvCxnSpPr>
            <a:stCxn id="1348" idx="4"/>
            <a:endCxn id="1346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50" name="Google Shape;1350;p108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54" name="Shape 1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" name="Google Shape;1355;p10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356" name="Google Shape;1356;p109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357" name="Google Shape;1357;p109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58" name="Google Shape;1358;p109"/>
          <p:cNvCxnSpPr>
            <a:stCxn id="1357" idx="6"/>
            <a:endCxn id="1359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59" name="Google Shape;1359;p109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60" name="Google Shape;1360;p109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61" name="Google Shape;1361;p109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62" name="Google Shape;1362;p109"/>
          <p:cNvCxnSpPr>
            <a:stCxn id="1361" idx="4"/>
            <a:endCxn id="1359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63" name="Google Shape;1363;p109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64" name="Google Shape;1364;p109"/>
          <p:cNvCxnSpPr>
            <a:stCxn id="1357" idx="5"/>
            <a:endCxn id="1363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65" name="Google Shape;1365;p109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66" name="Google Shape;1366;p109"/>
          <p:cNvCxnSpPr>
            <a:stCxn id="1365" idx="2"/>
            <a:endCxn id="1359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67" name="Google Shape;1367;p109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68" name="Google Shape;1368;p109"/>
          <p:cNvCxnSpPr>
            <a:stCxn id="1367" idx="2"/>
            <a:endCxn id="1365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69" name="Google Shape;1369;p109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70" name="Google Shape;1370;p109"/>
          <p:cNvCxnSpPr>
            <a:stCxn id="1369" idx="0"/>
            <a:endCxn id="1367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71" name="Google Shape;1371;p109"/>
          <p:cNvCxnSpPr>
            <a:stCxn id="1359" idx="4"/>
            <a:endCxn id="1363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5" name="Shape 1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" name="Google Shape;1376;p11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377" name="Google Shape;1377;p110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Let us make another subgraph by picking the following subset of </a:t>
            </a:r>
            <a:r>
              <a:rPr i="1" lang="en"/>
              <a:t>vertices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{V</a:t>
            </a:r>
            <a:r>
              <a:rPr baseline="-25000" lang="en"/>
              <a:t>3</a:t>
            </a:r>
            <a:r>
              <a:rPr lang="en"/>
              <a:t>, V</a:t>
            </a:r>
            <a:r>
              <a:rPr baseline="-25000" lang="en"/>
              <a:t>4</a:t>
            </a:r>
            <a:r>
              <a:rPr lang="en"/>
              <a:t>, V</a:t>
            </a:r>
            <a:r>
              <a:rPr baseline="-25000" lang="en"/>
              <a:t>5</a:t>
            </a:r>
            <a:r>
              <a:rPr lang="en"/>
              <a:t>, V</a:t>
            </a:r>
            <a:r>
              <a:rPr baseline="-25000" lang="en"/>
              <a:t>7</a:t>
            </a:r>
            <a:r>
              <a:rPr lang="en"/>
              <a:t>}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378" name="Google Shape;1378;p110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79" name="Google Shape;1379;p110"/>
          <p:cNvCxnSpPr>
            <a:stCxn id="1378" idx="6"/>
            <a:endCxn id="1380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0" name="Google Shape;1380;p110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81" name="Google Shape;1381;p110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382" name="Google Shape;1382;p110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83" name="Google Shape;1383;p110"/>
          <p:cNvCxnSpPr>
            <a:stCxn id="1382" idx="4"/>
            <a:endCxn id="1380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4" name="Google Shape;1384;p110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85" name="Google Shape;1385;p110"/>
          <p:cNvCxnSpPr>
            <a:stCxn id="1378" idx="5"/>
            <a:endCxn id="1384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6" name="Google Shape;1386;p110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87" name="Google Shape;1387;p110"/>
          <p:cNvCxnSpPr>
            <a:stCxn id="1386" idx="2"/>
            <a:endCxn id="1380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8" name="Google Shape;1388;p110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89" name="Google Shape;1389;p110"/>
          <p:cNvCxnSpPr>
            <a:stCxn id="1388" idx="2"/>
            <a:endCxn id="1386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90" name="Google Shape;1390;p110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391" name="Google Shape;1391;p110"/>
          <p:cNvCxnSpPr>
            <a:stCxn id="1390" idx="0"/>
            <a:endCxn id="1388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92" name="Google Shape;1392;p110"/>
          <p:cNvCxnSpPr>
            <a:stCxn id="1380" idx="4"/>
            <a:endCxn id="1384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6" name="Shape 1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" name="Google Shape;1397;p11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398" name="Google Shape;1398;p111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Let us make another subgraph by picking the following subset of </a:t>
            </a:r>
            <a:r>
              <a:rPr i="1" lang="en"/>
              <a:t>vertices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{V</a:t>
            </a:r>
            <a:r>
              <a:rPr baseline="-25000" lang="en"/>
              <a:t>3</a:t>
            </a:r>
            <a:r>
              <a:rPr lang="en"/>
              <a:t>, V</a:t>
            </a:r>
            <a:r>
              <a:rPr baseline="-25000" lang="en"/>
              <a:t>4</a:t>
            </a:r>
            <a:r>
              <a:rPr lang="en"/>
              <a:t>, V</a:t>
            </a:r>
            <a:r>
              <a:rPr baseline="-25000" lang="en"/>
              <a:t>5</a:t>
            </a:r>
            <a:r>
              <a:rPr lang="en"/>
              <a:t>, V</a:t>
            </a:r>
            <a:r>
              <a:rPr baseline="-25000" lang="en"/>
              <a:t>7</a:t>
            </a:r>
            <a:r>
              <a:rPr lang="en"/>
              <a:t>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Neat!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399" name="Google Shape;1399;p111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00" name="Google Shape;1400;p111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01" name="Google Shape;1401;p111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02" name="Google Shape;1402;p111"/>
          <p:cNvCxnSpPr>
            <a:stCxn id="1401" idx="2"/>
            <a:endCxn id="1399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03" name="Google Shape;1403;p111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04" name="Google Shape;1404;p111"/>
          <p:cNvCxnSpPr>
            <a:stCxn id="1403" idx="2"/>
            <a:endCxn id="1401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05" name="Google Shape;1405;p111"/>
          <p:cNvCxnSpPr>
            <a:stCxn id="1399" idx="4"/>
            <a:endCxn id="1400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09" name="Shape 1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" name="Google Shape;1410;p11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411" name="Google Shape;1411;p112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412" name="Google Shape;1412;p112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13" name="Google Shape;1413;p112"/>
          <p:cNvCxnSpPr>
            <a:stCxn id="1412" idx="6"/>
            <a:endCxn id="1414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14" name="Google Shape;1414;p112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15" name="Google Shape;1415;p112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16" name="Google Shape;1416;p112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17" name="Google Shape;1417;p112"/>
          <p:cNvCxnSpPr>
            <a:stCxn id="1416" idx="4"/>
            <a:endCxn id="1414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18" name="Google Shape;1418;p112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19" name="Google Shape;1419;p112"/>
          <p:cNvCxnSpPr>
            <a:stCxn id="1412" idx="5"/>
            <a:endCxn id="1418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20" name="Google Shape;1420;p112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21" name="Google Shape;1421;p112"/>
          <p:cNvCxnSpPr>
            <a:stCxn id="1420" idx="2"/>
            <a:endCxn id="1414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22" name="Google Shape;1422;p112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23" name="Google Shape;1423;p112"/>
          <p:cNvCxnSpPr>
            <a:stCxn id="1422" idx="2"/>
            <a:endCxn id="1420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24" name="Google Shape;1424;p112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25" name="Google Shape;1425;p112"/>
          <p:cNvCxnSpPr>
            <a:stCxn id="1424" idx="0"/>
            <a:endCxn id="1422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26" name="Google Shape;1426;p112"/>
          <p:cNvCxnSpPr>
            <a:stCxn id="1414" idx="4"/>
            <a:endCxn id="1418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0" name="Shape 1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" name="Google Shape;1431;p11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432" name="Google Shape;1432;p113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Let us make a subgraph by picking the following subset of </a:t>
            </a:r>
            <a:r>
              <a:rPr i="1" lang="en"/>
              <a:t>edges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{V</a:t>
            </a:r>
            <a:r>
              <a:rPr baseline="-25000" lang="en"/>
              <a:t>2</a:t>
            </a:r>
            <a:r>
              <a:rPr lang="en"/>
              <a:t>V</a:t>
            </a:r>
            <a:r>
              <a:rPr baseline="-25000" lang="en"/>
              <a:t>3</a:t>
            </a:r>
            <a:r>
              <a:rPr lang="en"/>
              <a:t>, V</a:t>
            </a:r>
            <a:r>
              <a:rPr baseline="-25000" lang="en"/>
              <a:t>1</a:t>
            </a:r>
            <a:r>
              <a:rPr lang="en"/>
              <a:t>V</a:t>
            </a:r>
            <a:r>
              <a:rPr baseline="-25000" lang="en"/>
              <a:t>3</a:t>
            </a:r>
            <a:r>
              <a:rPr lang="en"/>
              <a:t>,</a:t>
            </a:r>
            <a:r>
              <a:rPr baseline="-25000" lang="en"/>
              <a:t> </a:t>
            </a:r>
            <a:r>
              <a:rPr lang="en"/>
              <a:t>V</a:t>
            </a:r>
            <a:r>
              <a:rPr baseline="-25000" lang="en"/>
              <a:t>4</a:t>
            </a:r>
            <a:r>
              <a:rPr lang="en"/>
              <a:t>V</a:t>
            </a:r>
            <a:r>
              <a:rPr baseline="-25000" lang="en"/>
              <a:t>7</a:t>
            </a:r>
            <a:r>
              <a:rPr lang="en"/>
              <a:t>, V</a:t>
            </a:r>
            <a:r>
              <a:rPr baseline="-25000" lang="en"/>
              <a:t>7</a:t>
            </a:r>
            <a:r>
              <a:rPr lang="en"/>
              <a:t>V</a:t>
            </a:r>
            <a:r>
              <a:rPr baseline="-25000" lang="en"/>
              <a:t>8</a:t>
            </a:r>
            <a:r>
              <a:rPr lang="en"/>
              <a:t>}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433" name="Google Shape;1433;p113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34" name="Google Shape;1434;p113"/>
          <p:cNvCxnSpPr>
            <a:stCxn id="1433" idx="6"/>
            <a:endCxn id="1435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35" name="Google Shape;1435;p113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36" name="Google Shape;1436;p113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37" name="Google Shape;1437;p113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38" name="Google Shape;1438;p113"/>
          <p:cNvCxnSpPr>
            <a:stCxn id="1437" idx="4"/>
            <a:endCxn id="1435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39" name="Google Shape;1439;p113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40" name="Google Shape;1440;p113"/>
          <p:cNvCxnSpPr>
            <a:stCxn id="1433" idx="5"/>
            <a:endCxn id="1439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41" name="Google Shape;1441;p113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42" name="Google Shape;1442;p113"/>
          <p:cNvCxnSpPr>
            <a:stCxn id="1441" idx="2"/>
            <a:endCxn id="1435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43" name="Google Shape;1443;p113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44" name="Google Shape;1444;p113"/>
          <p:cNvCxnSpPr>
            <a:stCxn id="1443" idx="2"/>
            <a:endCxn id="1441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45" name="Google Shape;1445;p113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46" name="Google Shape;1446;p113"/>
          <p:cNvCxnSpPr>
            <a:stCxn id="1445" idx="0"/>
            <a:endCxn id="1443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47" name="Google Shape;1447;p113"/>
          <p:cNvCxnSpPr>
            <a:stCxn id="1435" idx="4"/>
            <a:endCxn id="1439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1" name="Shape 1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" name="Google Shape;1452;p11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1453" name="Google Shape;1453;p114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graph, a </a:t>
            </a:r>
            <a:r>
              <a:rPr b="1" lang="en"/>
              <a:t>subgraph</a:t>
            </a:r>
            <a:r>
              <a:rPr lang="en"/>
              <a:t> is any vertex </a:t>
            </a:r>
            <a:r>
              <a:rPr i="1" lang="en"/>
              <a:t>or</a:t>
            </a:r>
            <a:r>
              <a:rPr lang="en"/>
              <a:t> edge </a:t>
            </a:r>
            <a:r>
              <a:rPr b="1" lang="en"/>
              <a:t>subset</a:t>
            </a:r>
            <a:r>
              <a:rPr lang="en"/>
              <a:t> of the original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set, a </a:t>
            </a:r>
            <a:r>
              <a:rPr b="1" lang="en"/>
              <a:t>subset</a:t>
            </a:r>
            <a:r>
              <a:rPr lang="en"/>
              <a:t> is just a portion of the larger set of members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“induce” (create) subgraphs by picking </a:t>
            </a:r>
            <a:r>
              <a:rPr i="1" lang="en"/>
              <a:t>either</a:t>
            </a:r>
            <a:r>
              <a:rPr lang="en"/>
              <a:t> </a:t>
            </a:r>
            <a:r>
              <a:rPr b="1" lang="en"/>
              <a:t>subsets of vertices</a:t>
            </a:r>
            <a:r>
              <a:rPr lang="en"/>
              <a:t> or </a:t>
            </a:r>
            <a:r>
              <a:rPr b="1" lang="en"/>
              <a:t>subsets of edges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Let us make a subgraph by picking the following subset of </a:t>
            </a:r>
            <a:r>
              <a:rPr i="1" lang="en"/>
              <a:t>edges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{V</a:t>
            </a:r>
            <a:r>
              <a:rPr baseline="-25000" lang="en"/>
              <a:t>2</a:t>
            </a:r>
            <a:r>
              <a:rPr lang="en"/>
              <a:t>V</a:t>
            </a:r>
            <a:r>
              <a:rPr baseline="-25000" lang="en"/>
              <a:t>3</a:t>
            </a:r>
            <a:r>
              <a:rPr lang="en"/>
              <a:t>, V</a:t>
            </a:r>
            <a:r>
              <a:rPr baseline="-25000" lang="en"/>
              <a:t>1</a:t>
            </a:r>
            <a:r>
              <a:rPr lang="en"/>
              <a:t>V</a:t>
            </a:r>
            <a:r>
              <a:rPr baseline="-25000" lang="en"/>
              <a:t>3</a:t>
            </a:r>
            <a:r>
              <a:rPr lang="en"/>
              <a:t>,</a:t>
            </a:r>
            <a:r>
              <a:rPr baseline="-25000" lang="en"/>
              <a:t> </a:t>
            </a:r>
            <a:r>
              <a:rPr lang="en"/>
              <a:t>V</a:t>
            </a:r>
            <a:r>
              <a:rPr baseline="-25000" lang="en"/>
              <a:t>4</a:t>
            </a:r>
            <a:r>
              <a:rPr lang="en"/>
              <a:t>V</a:t>
            </a:r>
            <a:r>
              <a:rPr baseline="-25000" lang="en"/>
              <a:t>7</a:t>
            </a:r>
            <a:r>
              <a:rPr lang="en"/>
              <a:t>, V</a:t>
            </a:r>
            <a:r>
              <a:rPr baseline="-25000" lang="en"/>
              <a:t>7</a:t>
            </a:r>
            <a:r>
              <a:rPr lang="en"/>
              <a:t>V</a:t>
            </a:r>
            <a:r>
              <a:rPr baseline="-25000" lang="en"/>
              <a:t>8</a:t>
            </a:r>
            <a:r>
              <a:rPr lang="en"/>
              <a:t>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Awesome!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454" name="Google Shape;1454;p114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55" name="Google Shape;1455;p114"/>
          <p:cNvCxnSpPr>
            <a:stCxn id="1454" idx="6"/>
            <a:endCxn id="1456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56" name="Google Shape;1456;p114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57" name="Google Shape;1457;p114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58" name="Google Shape;1458;p114"/>
          <p:cNvCxnSpPr>
            <a:stCxn id="1457" idx="4"/>
            <a:endCxn id="1456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59" name="Google Shape;1459;p114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60" name="Google Shape;1460;p114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61" name="Google Shape;1461;p114"/>
          <p:cNvCxnSpPr>
            <a:stCxn id="1460" idx="2"/>
            <a:endCxn id="1459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62" name="Google Shape;1462;p114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63" name="Google Shape;1463;p114"/>
          <p:cNvCxnSpPr>
            <a:stCxn id="1462" idx="0"/>
            <a:endCxn id="1460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7" name="Shape 1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" name="Google Shape;1468;p11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Order and Size</a:t>
            </a:r>
            <a:endParaRPr/>
          </a:p>
        </p:txBody>
      </p:sp>
      <p:sp>
        <p:nvSpPr>
          <p:cNvPr id="1469" name="Google Shape;1469;p115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order</a:t>
            </a:r>
            <a:r>
              <a:rPr lang="en"/>
              <a:t> of a graph is the </a:t>
            </a:r>
            <a:r>
              <a:rPr b="1" lang="en"/>
              <a:t>cardinality</a:t>
            </a:r>
            <a:r>
              <a:rPr lang="en"/>
              <a:t> of the vertex set (N)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  <a:p>
            <a:pPr indent="0" lvl="0" marL="457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470" name="Google Shape;1470;p115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71" name="Google Shape;1471;p115"/>
          <p:cNvCxnSpPr>
            <a:stCxn id="1470" idx="6"/>
            <a:endCxn id="1472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72" name="Google Shape;1472;p115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73" name="Google Shape;1473;p115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74" name="Google Shape;1474;p115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75" name="Google Shape;1475;p115"/>
          <p:cNvCxnSpPr>
            <a:stCxn id="1474" idx="4"/>
            <a:endCxn id="1472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76" name="Google Shape;1476;p115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77" name="Google Shape;1477;p115"/>
          <p:cNvCxnSpPr>
            <a:stCxn id="1470" idx="5"/>
            <a:endCxn id="1476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78" name="Google Shape;1478;p115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79" name="Google Shape;1479;p115"/>
          <p:cNvCxnSpPr>
            <a:stCxn id="1478" idx="2"/>
            <a:endCxn id="1472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80" name="Google Shape;1480;p115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81" name="Google Shape;1481;p115"/>
          <p:cNvCxnSpPr>
            <a:stCxn id="1480" idx="2"/>
            <a:endCxn id="1478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82" name="Google Shape;1482;p115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83" name="Google Shape;1483;p115"/>
          <p:cNvCxnSpPr>
            <a:stCxn id="1482" idx="0"/>
            <a:endCxn id="1480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84" name="Google Shape;1484;p115"/>
          <p:cNvCxnSpPr>
            <a:stCxn id="1472" idx="4"/>
            <a:endCxn id="1476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8" name="Shape 1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" name="Google Shape;1489;p11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Order and Size</a:t>
            </a:r>
            <a:endParaRPr/>
          </a:p>
        </p:txBody>
      </p:sp>
      <p:sp>
        <p:nvSpPr>
          <p:cNvPr id="1490" name="Google Shape;1490;p116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order</a:t>
            </a:r>
            <a:r>
              <a:rPr lang="en"/>
              <a:t> of a graph is the </a:t>
            </a:r>
            <a:r>
              <a:rPr b="1" lang="en"/>
              <a:t>cardinality</a:t>
            </a:r>
            <a:r>
              <a:rPr lang="en"/>
              <a:t> of the vertex set (N)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the number of vertices: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|V| = N =  8</a:t>
            </a:r>
            <a:endParaRPr>
              <a:solidFill>
                <a:srgbClr val="000000"/>
              </a:solidFill>
            </a:endParaRPr>
          </a:p>
          <a:p>
            <a:pPr indent="0" lvl="0" marL="457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491" name="Google Shape;1491;p116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92" name="Google Shape;1492;p116"/>
          <p:cNvCxnSpPr>
            <a:stCxn id="1491" idx="6"/>
            <a:endCxn id="1493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93" name="Google Shape;1493;p116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94" name="Google Shape;1494;p116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495" name="Google Shape;1495;p116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96" name="Google Shape;1496;p116"/>
          <p:cNvCxnSpPr>
            <a:stCxn id="1495" idx="4"/>
            <a:endCxn id="1493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97" name="Google Shape;1497;p116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498" name="Google Shape;1498;p116"/>
          <p:cNvCxnSpPr>
            <a:stCxn id="1491" idx="5"/>
            <a:endCxn id="1497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99" name="Google Shape;1499;p116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00" name="Google Shape;1500;p116"/>
          <p:cNvCxnSpPr>
            <a:stCxn id="1499" idx="2"/>
            <a:endCxn id="1493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01" name="Google Shape;1501;p116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02" name="Google Shape;1502;p116"/>
          <p:cNvCxnSpPr>
            <a:stCxn id="1501" idx="2"/>
            <a:endCxn id="1499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03" name="Google Shape;1503;p116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04" name="Google Shape;1504;p116"/>
          <p:cNvCxnSpPr>
            <a:stCxn id="1503" idx="0"/>
            <a:endCxn id="1501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" name="Google Shape;1505;p116"/>
          <p:cNvCxnSpPr>
            <a:stCxn id="1493" idx="4"/>
            <a:endCxn id="1497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9" name="Shape 1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0" name="Google Shape;1510;p11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Order and Size</a:t>
            </a:r>
            <a:endParaRPr/>
          </a:p>
        </p:txBody>
      </p:sp>
      <p:sp>
        <p:nvSpPr>
          <p:cNvPr id="1511" name="Google Shape;1511;p117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order</a:t>
            </a:r>
            <a:r>
              <a:rPr lang="en"/>
              <a:t> of a graph is the </a:t>
            </a:r>
            <a:r>
              <a:rPr b="1" lang="en"/>
              <a:t>cardinality</a:t>
            </a:r>
            <a:r>
              <a:rPr lang="en"/>
              <a:t> of the vertex set (N)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the number of vertices: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|V| = N =  8</a:t>
            </a:r>
            <a:endParaRPr>
              <a:solidFill>
                <a:srgbClr val="000000"/>
              </a:solidFill>
            </a:endParaRPr>
          </a:p>
          <a:p>
            <a:pPr indent="0" lvl="0" marL="457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512" name="Google Shape;1512;p117"/>
          <p:cNvSpPr/>
          <p:nvPr/>
        </p:nvSpPr>
        <p:spPr>
          <a:xfrm>
            <a:off x="2394175" y="3728350"/>
            <a:ext cx="34161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 cardinality of a set is the number of elements inside of it!</a:t>
            </a:r>
            <a:endParaRPr b="1">
              <a:solidFill>
                <a:srgbClr val="FF0000"/>
              </a:solidFill>
            </a:endParaRPr>
          </a:p>
        </p:txBody>
      </p:sp>
      <p:sp>
        <p:nvSpPr>
          <p:cNvPr id="1513" name="Google Shape;1513;p117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14" name="Google Shape;1514;p117"/>
          <p:cNvCxnSpPr>
            <a:stCxn id="1513" idx="6"/>
            <a:endCxn id="1515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15" name="Google Shape;1515;p117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516" name="Google Shape;1516;p117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517" name="Google Shape;1517;p117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18" name="Google Shape;1518;p117"/>
          <p:cNvCxnSpPr>
            <a:stCxn id="1517" idx="4"/>
            <a:endCxn id="1515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19" name="Google Shape;1519;p117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20" name="Google Shape;1520;p117"/>
          <p:cNvCxnSpPr>
            <a:stCxn id="1513" idx="5"/>
            <a:endCxn id="1519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21" name="Google Shape;1521;p117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22" name="Google Shape;1522;p117"/>
          <p:cNvCxnSpPr>
            <a:stCxn id="1521" idx="2"/>
            <a:endCxn id="1515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23" name="Google Shape;1523;p117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24" name="Google Shape;1524;p117"/>
          <p:cNvCxnSpPr>
            <a:stCxn id="1523" idx="2"/>
            <a:endCxn id="1521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25" name="Google Shape;1525;p117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26" name="Google Shape;1526;p117"/>
          <p:cNvCxnSpPr>
            <a:stCxn id="1525" idx="0"/>
            <a:endCxn id="1523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" name="Google Shape;1527;p117"/>
          <p:cNvCxnSpPr>
            <a:stCxn id="1515" idx="4"/>
            <a:endCxn id="1519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Order and Size</a:t>
            </a:r>
            <a:endParaRPr/>
          </a:p>
        </p:txBody>
      </p:sp>
      <p:sp>
        <p:nvSpPr>
          <p:cNvPr id="1533" name="Google Shape;1533;p118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order</a:t>
            </a:r>
            <a:r>
              <a:rPr lang="en"/>
              <a:t> of a graph is the </a:t>
            </a:r>
            <a:r>
              <a:rPr b="1" lang="en"/>
              <a:t>cardinality</a:t>
            </a:r>
            <a:r>
              <a:rPr lang="en"/>
              <a:t> of the vertex set (N)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the number of vertices: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|V| = N =  8</a:t>
            </a:r>
            <a:endParaRPr>
              <a:solidFill>
                <a:srgbClr val="000000"/>
              </a:solidFill>
            </a:endParaRPr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size</a:t>
            </a:r>
            <a:r>
              <a:rPr lang="en"/>
              <a:t> of a graph is the </a:t>
            </a:r>
            <a:r>
              <a:rPr b="1" lang="en"/>
              <a:t>cardinality</a:t>
            </a:r>
            <a:r>
              <a:rPr lang="en"/>
              <a:t> of the edge set (M) 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534" name="Google Shape;1534;p118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35" name="Google Shape;1535;p118"/>
          <p:cNvCxnSpPr>
            <a:stCxn id="1534" idx="6"/>
            <a:endCxn id="1536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36" name="Google Shape;1536;p118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537" name="Google Shape;1537;p118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538" name="Google Shape;1538;p118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39" name="Google Shape;1539;p118"/>
          <p:cNvCxnSpPr>
            <a:stCxn id="1538" idx="4"/>
            <a:endCxn id="1536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40" name="Google Shape;1540;p118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41" name="Google Shape;1541;p118"/>
          <p:cNvCxnSpPr>
            <a:stCxn id="1534" idx="5"/>
            <a:endCxn id="1540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42" name="Google Shape;1542;p118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43" name="Google Shape;1543;p118"/>
          <p:cNvCxnSpPr>
            <a:stCxn id="1542" idx="2"/>
            <a:endCxn id="1536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44" name="Google Shape;1544;p118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45" name="Google Shape;1545;p118"/>
          <p:cNvCxnSpPr>
            <a:stCxn id="1544" idx="2"/>
            <a:endCxn id="1542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46" name="Google Shape;1546;p118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47" name="Google Shape;1547;p118"/>
          <p:cNvCxnSpPr>
            <a:stCxn id="1546" idx="0"/>
            <a:endCxn id="1544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48" name="Google Shape;1548;p118"/>
          <p:cNvCxnSpPr>
            <a:stCxn id="1536" idx="4"/>
            <a:endCxn id="1540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2" name="Shape 1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3" name="Google Shape;1553;p11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Order and Size</a:t>
            </a:r>
            <a:endParaRPr/>
          </a:p>
        </p:txBody>
      </p:sp>
      <p:sp>
        <p:nvSpPr>
          <p:cNvPr id="1554" name="Google Shape;1554;p119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order</a:t>
            </a:r>
            <a:r>
              <a:rPr lang="en"/>
              <a:t> of a graph is the </a:t>
            </a:r>
            <a:r>
              <a:rPr b="1" lang="en"/>
              <a:t>cardinality</a:t>
            </a:r>
            <a:r>
              <a:rPr lang="en"/>
              <a:t> of the vertex set (N)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the number of vertices: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|V| = N =  8</a:t>
            </a:r>
            <a:endParaRPr>
              <a:solidFill>
                <a:srgbClr val="000000"/>
              </a:solidFill>
            </a:endParaRPr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The </a:t>
            </a:r>
            <a:r>
              <a:rPr b="1" lang="en">
                <a:solidFill>
                  <a:srgbClr val="000000"/>
                </a:solidFill>
              </a:rPr>
              <a:t>size</a:t>
            </a:r>
            <a:r>
              <a:rPr lang="en">
                <a:solidFill>
                  <a:srgbClr val="000000"/>
                </a:solidFill>
              </a:rPr>
              <a:t> of a graph is the </a:t>
            </a:r>
            <a:r>
              <a:rPr b="1" lang="en">
                <a:solidFill>
                  <a:srgbClr val="000000"/>
                </a:solidFill>
              </a:rPr>
              <a:t>cardinality</a:t>
            </a:r>
            <a:r>
              <a:rPr lang="en">
                <a:solidFill>
                  <a:srgbClr val="000000"/>
                </a:solidFill>
              </a:rPr>
              <a:t> of the edge set (M) </a:t>
            </a:r>
            <a:endParaRPr>
              <a:solidFill>
                <a:srgbClr val="000000"/>
              </a:solidFill>
            </a:endParaRPr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This is the </a:t>
            </a:r>
            <a:r>
              <a:rPr i="1" lang="en">
                <a:solidFill>
                  <a:srgbClr val="000000"/>
                </a:solidFill>
              </a:rPr>
              <a:t>number of edges</a:t>
            </a:r>
            <a:endParaRPr i="1">
              <a:solidFill>
                <a:srgbClr val="000000"/>
              </a:solidFill>
            </a:endParaRPr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|E| = M = 7</a:t>
            </a:r>
            <a:endParaRPr>
              <a:solidFill>
                <a:srgbClr val="000000"/>
              </a:solidFill>
            </a:endParaRPr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555" name="Google Shape;1555;p119"/>
          <p:cNvSpPr/>
          <p:nvPr/>
        </p:nvSpPr>
        <p:spPr>
          <a:xfrm>
            <a:off x="2394175" y="3728350"/>
            <a:ext cx="34161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 cardinality of a set is the number of elements inside of it!</a:t>
            </a:r>
            <a:endParaRPr b="1">
              <a:solidFill>
                <a:srgbClr val="FF0000"/>
              </a:solidFill>
            </a:endParaRPr>
          </a:p>
        </p:txBody>
      </p:sp>
      <p:sp>
        <p:nvSpPr>
          <p:cNvPr id="1556" name="Google Shape;1556;p119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57" name="Google Shape;1557;p119"/>
          <p:cNvCxnSpPr>
            <a:stCxn id="1556" idx="6"/>
            <a:endCxn id="1558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58" name="Google Shape;1558;p119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559" name="Google Shape;1559;p119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560" name="Google Shape;1560;p119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61" name="Google Shape;1561;p119"/>
          <p:cNvCxnSpPr>
            <a:stCxn id="1560" idx="4"/>
            <a:endCxn id="1558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2" name="Google Shape;1562;p119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63" name="Google Shape;1563;p119"/>
          <p:cNvCxnSpPr>
            <a:stCxn id="1556" idx="5"/>
            <a:endCxn id="1562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4" name="Google Shape;1564;p119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65" name="Google Shape;1565;p119"/>
          <p:cNvCxnSpPr>
            <a:stCxn id="1564" idx="2"/>
            <a:endCxn id="1558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6" name="Google Shape;1566;p119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67" name="Google Shape;1567;p119"/>
          <p:cNvCxnSpPr>
            <a:stCxn id="1566" idx="2"/>
            <a:endCxn id="1564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8" name="Google Shape;1568;p119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69" name="Google Shape;1569;p119"/>
          <p:cNvCxnSpPr>
            <a:stCxn id="1568" idx="0"/>
            <a:endCxn id="1566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0" name="Google Shape;1570;p119"/>
          <p:cNvCxnSpPr>
            <a:stCxn id="1558" idx="4"/>
            <a:endCxn id="1562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4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5" name="Google Shape;1575;p12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Maximum Size</a:t>
            </a:r>
            <a:endParaRPr/>
          </a:p>
        </p:txBody>
      </p:sp>
      <p:sp>
        <p:nvSpPr>
          <p:cNvPr id="1576" name="Google Shape;1576;p120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maximum size</a:t>
            </a:r>
            <a:r>
              <a:rPr lang="en"/>
              <a:t> of a graph of order </a:t>
            </a:r>
            <a:r>
              <a:rPr i="1" lang="en"/>
              <a:t>N</a:t>
            </a:r>
            <a:r>
              <a:rPr lang="en"/>
              <a:t> is the number of edges that would exist if graph was </a:t>
            </a:r>
            <a:r>
              <a:rPr b="1" lang="en"/>
              <a:t>complete</a:t>
            </a:r>
            <a:endParaRPr b="1"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577" name="Google Shape;1577;p120"/>
          <p:cNvCxnSpPr>
            <a:stCxn id="1578" idx="0"/>
            <a:endCxn id="1579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80" name="Google Shape;1580;p120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81" name="Google Shape;1581;p120"/>
          <p:cNvCxnSpPr>
            <a:stCxn id="1580" idx="6"/>
            <a:endCxn id="1582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82" name="Google Shape;1582;p120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583" name="Google Shape;1583;p120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584" name="Google Shape;1584;p120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85" name="Google Shape;1585;p120"/>
          <p:cNvCxnSpPr>
            <a:stCxn id="1584" idx="4"/>
            <a:endCxn id="1582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86" name="Google Shape;1586;p120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87" name="Google Shape;1587;p120"/>
          <p:cNvCxnSpPr>
            <a:stCxn id="1580" idx="5"/>
            <a:endCxn id="1586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88" name="Google Shape;1588;p120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89" name="Google Shape;1589;p120"/>
          <p:cNvCxnSpPr>
            <a:stCxn id="1588" idx="2"/>
            <a:endCxn id="1582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90" name="Google Shape;1590;p120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91" name="Google Shape;1591;p120"/>
          <p:cNvCxnSpPr>
            <a:stCxn id="1590" idx="2"/>
            <a:endCxn id="1588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92" name="Google Shape;1592;p120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593" name="Google Shape;1593;p120"/>
          <p:cNvCxnSpPr>
            <a:stCxn id="1592" idx="0"/>
            <a:endCxn id="1590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4" name="Google Shape;1594;p120"/>
          <p:cNvCxnSpPr>
            <a:stCxn id="1582" idx="4"/>
            <a:endCxn id="1586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98" name="Shape 1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9" name="Google Shape;1599;p12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Maximum Size</a:t>
            </a:r>
            <a:endParaRPr/>
          </a:p>
        </p:txBody>
      </p:sp>
      <p:sp>
        <p:nvSpPr>
          <p:cNvPr id="1600" name="Google Shape;1600;p121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maximum size</a:t>
            </a:r>
            <a:r>
              <a:rPr lang="en"/>
              <a:t> of a graph of order </a:t>
            </a:r>
            <a:r>
              <a:rPr i="1" lang="en"/>
              <a:t>N</a:t>
            </a:r>
            <a:r>
              <a:rPr lang="en"/>
              <a:t> is the number of edges that would exist if graph was </a:t>
            </a:r>
            <a:r>
              <a:rPr b="1" lang="en"/>
              <a:t>complete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 many total edges are there now?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" name="Google Shape;1601;p121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02" name="Google Shape;1602;p121"/>
          <p:cNvCxnSpPr>
            <a:stCxn id="1601" idx="6"/>
            <a:endCxn id="1603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03" name="Google Shape;1603;p121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604" name="Google Shape;1604;p121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605" name="Google Shape;1605;p121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06" name="Google Shape;1606;p121"/>
          <p:cNvCxnSpPr>
            <a:stCxn id="1605" idx="4"/>
            <a:endCxn id="1603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07" name="Google Shape;1607;p121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08" name="Google Shape;1608;p121"/>
          <p:cNvCxnSpPr>
            <a:stCxn id="1601" idx="5"/>
            <a:endCxn id="1607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09" name="Google Shape;1609;p121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10" name="Google Shape;1610;p121"/>
          <p:cNvCxnSpPr>
            <a:stCxn id="1609" idx="2"/>
            <a:endCxn id="1603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11" name="Google Shape;1611;p121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12" name="Google Shape;1612;p121"/>
          <p:cNvCxnSpPr>
            <a:stCxn id="1611" idx="2"/>
            <a:endCxn id="1609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13" name="Google Shape;1613;p121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14" name="Google Shape;1614;p121"/>
          <p:cNvCxnSpPr>
            <a:stCxn id="1613" idx="0"/>
            <a:endCxn id="1611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15" name="Google Shape;1615;p121"/>
          <p:cNvCxnSpPr>
            <a:stCxn id="1603" idx="4"/>
            <a:endCxn id="1607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16" name="Google Shape;1616;p121"/>
          <p:cNvCxnSpPr>
            <a:stCxn id="1601" idx="7"/>
            <a:endCxn id="1605" idx="3"/>
          </p:cNvCxnSpPr>
          <p:nvPr/>
        </p:nvCxnSpPr>
        <p:spPr>
          <a:xfrm flipH="1" rot="10800000">
            <a:off x="5660351" y="1969132"/>
            <a:ext cx="8367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17" name="Google Shape;1617;p121"/>
          <p:cNvCxnSpPr>
            <a:stCxn id="1601" idx="0"/>
            <a:endCxn id="1609" idx="7"/>
          </p:cNvCxnSpPr>
          <p:nvPr/>
        </p:nvCxnSpPr>
        <p:spPr>
          <a:xfrm flipH="1" rot="-5400000">
            <a:off x="6594988" y="1650301"/>
            <a:ext cx="46200" cy="2145000"/>
          </a:xfrm>
          <a:prstGeom prst="curvedConnector3">
            <a:avLst>
              <a:gd fmla="val -74231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18" name="Google Shape;1618;p121"/>
          <p:cNvCxnSpPr>
            <a:stCxn id="1605" idx="5"/>
            <a:endCxn id="1609" idx="1"/>
          </p:cNvCxnSpPr>
          <p:nvPr/>
        </p:nvCxnSpPr>
        <p:spPr>
          <a:xfrm>
            <a:off x="6726723" y="1969107"/>
            <a:ext cx="7344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19" name="Google Shape;1619;p121"/>
          <p:cNvCxnSpPr>
            <a:stCxn id="1609" idx="4"/>
            <a:endCxn id="1607" idx="7"/>
          </p:cNvCxnSpPr>
          <p:nvPr/>
        </p:nvCxnSpPr>
        <p:spPr>
          <a:xfrm flipH="1">
            <a:off x="6726618" y="3014701"/>
            <a:ext cx="8493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0" name="Google Shape;1620;p121"/>
          <p:cNvCxnSpPr>
            <a:stCxn id="1604" idx="2"/>
            <a:endCxn id="1607" idx="6"/>
          </p:cNvCxnSpPr>
          <p:nvPr/>
        </p:nvCxnSpPr>
        <p:spPr>
          <a:xfrm rot="10800000">
            <a:off x="6774318" y="3946709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1" name="Google Shape;1621;p121"/>
          <p:cNvCxnSpPr>
            <a:stCxn id="1609" idx="4"/>
            <a:endCxn id="1604" idx="0"/>
          </p:cNvCxnSpPr>
          <p:nvPr/>
        </p:nvCxnSpPr>
        <p:spPr>
          <a:xfrm>
            <a:off x="7575918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2" name="Google Shape;1622;p121"/>
          <p:cNvCxnSpPr>
            <a:stCxn id="1609" idx="4"/>
            <a:endCxn id="1613" idx="1"/>
          </p:cNvCxnSpPr>
          <p:nvPr/>
        </p:nvCxnSpPr>
        <p:spPr>
          <a:xfrm>
            <a:off x="7575918" y="3014701"/>
            <a:ext cx="10140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3" name="Google Shape;1623;p121"/>
          <p:cNvCxnSpPr>
            <a:stCxn id="1613" idx="2"/>
            <a:endCxn id="1604" idx="6"/>
          </p:cNvCxnSpPr>
          <p:nvPr/>
        </p:nvCxnSpPr>
        <p:spPr>
          <a:xfrm rot="10800000">
            <a:off x="7738115" y="3946709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4" name="Google Shape;1624;p121"/>
          <p:cNvCxnSpPr>
            <a:stCxn id="1611" idx="3"/>
            <a:endCxn id="1604" idx="7"/>
          </p:cNvCxnSpPr>
          <p:nvPr/>
        </p:nvCxnSpPr>
        <p:spPr>
          <a:xfrm flipH="1">
            <a:off x="7690552" y="2968570"/>
            <a:ext cx="899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5" name="Google Shape;1625;p121"/>
          <p:cNvCxnSpPr>
            <a:stCxn id="1611" idx="1"/>
            <a:endCxn id="1605" idx="6"/>
          </p:cNvCxnSpPr>
          <p:nvPr/>
        </p:nvCxnSpPr>
        <p:spPr>
          <a:xfrm rot="10800000">
            <a:off x="6774352" y="1857832"/>
            <a:ext cx="1815600" cy="88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6" name="Google Shape;1626;p121"/>
          <p:cNvCxnSpPr>
            <a:stCxn id="1604" idx="1"/>
            <a:endCxn id="1601" idx="5"/>
          </p:cNvCxnSpPr>
          <p:nvPr/>
        </p:nvCxnSpPr>
        <p:spPr>
          <a:xfrm rot="10800000">
            <a:off x="5660254" y="2968640"/>
            <a:ext cx="18009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7" name="Google Shape;1627;p121"/>
          <p:cNvCxnSpPr>
            <a:stCxn id="1601" idx="0"/>
            <a:endCxn id="1611" idx="0"/>
          </p:cNvCxnSpPr>
          <p:nvPr/>
        </p:nvCxnSpPr>
        <p:spPr>
          <a:xfrm flipH="1" rot="-5400000">
            <a:off x="7124788" y="1120501"/>
            <a:ext cx="600" cy="31590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8" name="Google Shape;1628;p121"/>
          <p:cNvCxnSpPr>
            <a:stCxn id="1613" idx="1"/>
            <a:endCxn id="1601" idx="5"/>
          </p:cNvCxnSpPr>
          <p:nvPr/>
        </p:nvCxnSpPr>
        <p:spPr>
          <a:xfrm rot="10800000">
            <a:off x="5660452" y="2968640"/>
            <a:ext cx="29295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9" name="Google Shape;1629;p121"/>
          <p:cNvCxnSpPr>
            <a:stCxn id="1603" idx="0"/>
            <a:endCxn id="1611" idx="0"/>
          </p:cNvCxnSpPr>
          <p:nvPr/>
        </p:nvCxnSpPr>
        <p:spPr>
          <a:xfrm flipH="1" rot="-5400000">
            <a:off x="7658080" y="1653601"/>
            <a:ext cx="600" cy="2092800"/>
          </a:xfrm>
          <a:prstGeom prst="curvedConnector3">
            <a:avLst>
              <a:gd fmla="val -55083509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30" name="Google Shape;1630;p121"/>
          <p:cNvCxnSpPr>
            <a:stCxn id="1613" idx="1"/>
            <a:endCxn id="1603" idx="5"/>
          </p:cNvCxnSpPr>
          <p:nvPr/>
        </p:nvCxnSpPr>
        <p:spPr>
          <a:xfrm rot="10800000">
            <a:off x="6726652" y="296864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31" name="Google Shape;1631;p121"/>
          <p:cNvCxnSpPr>
            <a:stCxn id="1604" idx="1"/>
            <a:endCxn id="1603" idx="5"/>
          </p:cNvCxnSpPr>
          <p:nvPr/>
        </p:nvCxnSpPr>
        <p:spPr>
          <a:xfrm rot="10800000">
            <a:off x="6726754" y="2968640"/>
            <a:ext cx="734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32" name="Google Shape;1632;p121"/>
          <p:cNvCxnSpPr>
            <a:stCxn id="1605" idx="2"/>
            <a:endCxn id="1607" idx="2"/>
          </p:cNvCxnSpPr>
          <p:nvPr/>
        </p:nvCxnSpPr>
        <p:spPr>
          <a:xfrm>
            <a:off x="6449659" y="1857738"/>
            <a:ext cx="600" cy="20889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33" name="Google Shape;1633;p121"/>
          <p:cNvCxnSpPr>
            <a:stCxn id="1605" idx="6"/>
            <a:endCxn id="1613" idx="1"/>
          </p:cNvCxnSpPr>
          <p:nvPr/>
        </p:nvCxnSpPr>
        <p:spPr>
          <a:xfrm>
            <a:off x="6774259" y="1857738"/>
            <a:ext cx="1815600" cy="197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34" name="Google Shape;1634;p121"/>
          <p:cNvCxnSpPr>
            <a:stCxn id="1613" idx="4"/>
            <a:endCxn id="1607" idx="4"/>
          </p:cNvCxnSpPr>
          <p:nvPr/>
        </p:nvCxnSpPr>
        <p:spPr>
          <a:xfrm rot="5400000">
            <a:off x="7658015" y="3058109"/>
            <a:ext cx="600" cy="2092800"/>
          </a:xfrm>
          <a:prstGeom prst="curvedConnector3">
            <a:avLst>
              <a:gd fmla="val 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35" name="Google Shape;1635;p121"/>
          <p:cNvCxnSpPr>
            <a:stCxn id="1604" idx="0"/>
            <a:endCxn id="1605" idx="5"/>
          </p:cNvCxnSpPr>
          <p:nvPr/>
        </p:nvCxnSpPr>
        <p:spPr>
          <a:xfrm rot="10800000">
            <a:off x="6726618" y="1969109"/>
            <a:ext cx="849300" cy="1820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36" name="Google Shape;1636;p121"/>
          <p:cNvCxnSpPr>
            <a:stCxn id="1611" idx="3"/>
            <a:endCxn id="1607" idx="7"/>
          </p:cNvCxnSpPr>
          <p:nvPr/>
        </p:nvCxnSpPr>
        <p:spPr>
          <a:xfrm flipH="1">
            <a:off x="6726652" y="296857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37" name="Google Shape;1637;p121"/>
          <p:cNvSpPr/>
          <p:nvPr/>
        </p:nvSpPr>
        <p:spPr>
          <a:xfrm>
            <a:off x="2394175" y="3728350"/>
            <a:ext cx="34161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complete graph of order 8!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638" name="Google Shape;1638;p121"/>
          <p:cNvCxnSpPr>
            <a:stCxn id="1637" idx="7"/>
          </p:cNvCxnSpPr>
          <p:nvPr/>
        </p:nvCxnSpPr>
        <p:spPr>
          <a:xfrm flipH="1" rot="10800000">
            <a:off x="5309999" y="3462335"/>
            <a:ext cx="580800" cy="4356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2" name="Shape 1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" name="Google Shape;1643;p12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Maximum Size</a:t>
            </a:r>
            <a:endParaRPr/>
          </a:p>
        </p:txBody>
      </p:sp>
      <p:sp>
        <p:nvSpPr>
          <p:cNvPr id="1644" name="Google Shape;1644;p122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maximum size</a:t>
            </a:r>
            <a:r>
              <a:rPr lang="en"/>
              <a:t> of a graph of order </a:t>
            </a:r>
            <a:r>
              <a:rPr i="1" lang="en"/>
              <a:t>N</a:t>
            </a:r>
            <a:r>
              <a:rPr lang="en"/>
              <a:t> is the number of edges that would exist if graph was </a:t>
            </a:r>
            <a:r>
              <a:rPr b="1" lang="en"/>
              <a:t>complete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 many total edges are there now?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try to count and get a headache, or we can use math: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" name="Google Shape;1645;p122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46" name="Google Shape;1646;p122"/>
          <p:cNvCxnSpPr>
            <a:stCxn id="1645" idx="6"/>
            <a:endCxn id="1647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47" name="Google Shape;1647;p122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648" name="Google Shape;1648;p122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649" name="Google Shape;1649;p122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50" name="Google Shape;1650;p122"/>
          <p:cNvCxnSpPr>
            <a:stCxn id="1649" idx="4"/>
            <a:endCxn id="1647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1" name="Google Shape;1651;p122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52" name="Google Shape;1652;p122"/>
          <p:cNvCxnSpPr>
            <a:stCxn id="1645" idx="5"/>
            <a:endCxn id="1651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3" name="Google Shape;1653;p122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54" name="Google Shape;1654;p122"/>
          <p:cNvCxnSpPr>
            <a:stCxn id="1653" idx="2"/>
            <a:endCxn id="1647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5" name="Google Shape;1655;p122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56" name="Google Shape;1656;p122"/>
          <p:cNvCxnSpPr>
            <a:stCxn id="1655" idx="2"/>
            <a:endCxn id="1653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7" name="Google Shape;1657;p122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58" name="Google Shape;1658;p122"/>
          <p:cNvCxnSpPr>
            <a:stCxn id="1657" idx="0"/>
            <a:endCxn id="1655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9" name="Google Shape;1659;p122"/>
          <p:cNvCxnSpPr>
            <a:stCxn id="1647" idx="4"/>
            <a:endCxn id="1651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0" name="Google Shape;1660;p122"/>
          <p:cNvCxnSpPr>
            <a:stCxn id="1645" idx="7"/>
            <a:endCxn id="1649" idx="3"/>
          </p:cNvCxnSpPr>
          <p:nvPr/>
        </p:nvCxnSpPr>
        <p:spPr>
          <a:xfrm flipH="1" rot="10800000">
            <a:off x="5660351" y="1969132"/>
            <a:ext cx="8367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1" name="Google Shape;1661;p122"/>
          <p:cNvCxnSpPr>
            <a:stCxn id="1645" idx="0"/>
            <a:endCxn id="1653" idx="7"/>
          </p:cNvCxnSpPr>
          <p:nvPr/>
        </p:nvCxnSpPr>
        <p:spPr>
          <a:xfrm flipH="1" rot="-5400000">
            <a:off x="6594988" y="1650301"/>
            <a:ext cx="46200" cy="2145000"/>
          </a:xfrm>
          <a:prstGeom prst="curvedConnector3">
            <a:avLst>
              <a:gd fmla="val -74231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2" name="Google Shape;1662;p122"/>
          <p:cNvCxnSpPr>
            <a:stCxn id="1649" idx="5"/>
            <a:endCxn id="1653" idx="1"/>
          </p:cNvCxnSpPr>
          <p:nvPr/>
        </p:nvCxnSpPr>
        <p:spPr>
          <a:xfrm>
            <a:off x="6726723" y="1969107"/>
            <a:ext cx="7344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3" name="Google Shape;1663;p122"/>
          <p:cNvCxnSpPr>
            <a:stCxn id="1653" idx="4"/>
            <a:endCxn id="1651" idx="7"/>
          </p:cNvCxnSpPr>
          <p:nvPr/>
        </p:nvCxnSpPr>
        <p:spPr>
          <a:xfrm flipH="1">
            <a:off x="6726618" y="3014701"/>
            <a:ext cx="8493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4" name="Google Shape;1664;p122"/>
          <p:cNvCxnSpPr>
            <a:stCxn id="1648" idx="2"/>
            <a:endCxn id="1651" idx="6"/>
          </p:cNvCxnSpPr>
          <p:nvPr/>
        </p:nvCxnSpPr>
        <p:spPr>
          <a:xfrm rot="10800000">
            <a:off x="6774318" y="3946709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5" name="Google Shape;1665;p122"/>
          <p:cNvCxnSpPr>
            <a:stCxn id="1653" idx="4"/>
            <a:endCxn id="1648" idx="0"/>
          </p:cNvCxnSpPr>
          <p:nvPr/>
        </p:nvCxnSpPr>
        <p:spPr>
          <a:xfrm>
            <a:off x="7575918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6" name="Google Shape;1666;p122"/>
          <p:cNvCxnSpPr>
            <a:stCxn id="1653" idx="4"/>
            <a:endCxn id="1657" idx="1"/>
          </p:cNvCxnSpPr>
          <p:nvPr/>
        </p:nvCxnSpPr>
        <p:spPr>
          <a:xfrm>
            <a:off x="7575918" y="3014701"/>
            <a:ext cx="10140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7" name="Google Shape;1667;p122"/>
          <p:cNvCxnSpPr>
            <a:stCxn id="1657" idx="2"/>
            <a:endCxn id="1648" idx="6"/>
          </p:cNvCxnSpPr>
          <p:nvPr/>
        </p:nvCxnSpPr>
        <p:spPr>
          <a:xfrm rot="10800000">
            <a:off x="7738115" y="3946709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8" name="Google Shape;1668;p122"/>
          <p:cNvCxnSpPr>
            <a:stCxn id="1655" idx="3"/>
            <a:endCxn id="1648" idx="7"/>
          </p:cNvCxnSpPr>
          <p:nvPr/>
        </p:nvCxnSpPr>
        <p:spPr>
          <a:xfrm flipH="1">
            <a:off x="7690552" y="2968570"/>
            <a:ext cx="899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9" name="Google Shape;1669;p122"/>
          <p:cNvCxnSpPr>
            <a:stCxn id="1655" idx="1"/>
            <a:endCxn id="1649" idx="6"/>
          </p:cNvCxnSpPr>
          <p:nvPr/>
        </p:nvCxnSpPr>
        <p:spPr>
          <a:xfrm rot="10800000">
            <a:off x="6774352" y="1857832"/>
            <a:ext cx="1815600" cy="88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0" name="Google Shape;1670;p122"/>
          <p:cNvCxnSpPr>
            <a:stCxn id="1648" idx="1"/>
            <a:endCxn id="1645" idx="5"/>
          </p:cNvCxnSpPr>
          <p:nvPr/>
        </p:nvCxnSpPr>
        <p:spPr>
          <a:xfrm rot="10800000">
            <a:off x="5660254" y="2968640"/>
            <a:ext cx="18009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1" name="Google Shape;1671;p122"/>
          <p:cNvCxnSpPr>
            <a:stCxn id="1645" idx="0"/>
            <a:endCxn id="1655" idx="0"/>
          </p:cNvCxnSpPr>
          <p:nvPr/>
        </p:nvCxnSpPr>
        <p:spPr>
          <a:xfrm flipH="1" rot="-5400000">
            <a:off x="7124788" y="1120501"/>
            <a:ext cx="600" cy="31590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2" name="Google Shape;1672;p122"/>
          <p:cNvCxnSpPr>
            <a:stCxn id="1657" idx="1"/>
            <a:endCxn id="1645" idx="5"/>
          </p:cNvCxnSpPr>
          <p:nvPr/>
        </p:nvCxnSpPr>
        <p:spPr>
          <a:xfrm rot="10800000">
            <a:off x="5660452" y="2968640"/>
            <a:ext cx="29295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3" name="Google Shape;1673;p122"/>
          <p:cNvCxnSpPr>
            <a:stCxn id="1647" idx="0"/>
            <a:endCxn id="1655" idx="0"/>
          </p:cNvCxnSpPr>
          <p:nvPr/>
        </p:nvCxnSpPr>
        <p:spPr>
          <a:xfrm flipH="1" rot="-5400000">
            <a:off x="7658080" y="1653601"/>
            <a:ext cx="600" cy="2092800"/>
          </a:xfrm>
          <a:prstGeom prst="curvedConnector3">
            <a:avLst>
              <a:gd fmla="val -55083509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4" name="Google Shape;1674;p122"/>
          <p:cNvCxnSpPr>
            <a:stCxn id="1657" idx="1"/>
            <a:endCxn id="1647" idx="5"/>
          </p:cNvCxnSpPr>
          <p:nvPr/>
        </p:nvCxnSpPr>
        <p:spPr>
          <a:xfrm rot="10800000">
            <a:off x="6726652" y="296864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5" name="Google Shape;1675;p122"/>
          <p:cNvCxnSpPr>
            <a:stCxn id="1648" idx="1"/>
            <a:endCxn id="1647" idx="5"/>
          </p:cNvCxnSpPr>
          <p:nvPr/>
        </p:nvCxnSpPr>
        <p:spPr>
          <a:xfrm rot="10800000">
            <a:off x="6726754" y="2968640"/>
            <a:ext cx="734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6" name="Google Shape;1676;p122"/>
          <p:cNvCxnSpPr>
            <a:stCxn id="1649" idx="2"/>
            <a:endCxn id="1651" idx="2"/>
          </p:cNvCxnSpPr>
          <p:nvPr/>
        </p:nvCxnSpPr>
        <p:spPr>
          <a:xfrm>
            <a:off x="6449659" y="1857738"/>
            <a:ext cx="600" cy="20889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7" name="Google Shape;1677;p122"/>
          <p:cNvCxnSpPr>
            <a:stCxn id="1649" idx="6"/>
            <a:endCxn id="1657" idx="1"/>
          </p:cNvCxnSpPr>
          <p:nvPr/>
        </p:nvCxnSpPr>
        <p:spPr>
          <a:xfrm>
            <a:off x="6774259" y="1857738"/>
            <a:ext cx="1815600" cy="197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8" name="Google Shape;1678;p122"/>
          <p:cNvCxnSpPr>
            <a:stCxn id="1657" idx="4"/>
            <a:endCxn id="1651" idx="4"/>
          </p:cNvCxnSpPr>
          <p:nvPr/>
        </p:nvCxnSpPr>
        <p:spPr>
          <a:xfrm rot="5400000">
            <a:off x="7658015" y="3058109"/>
            <a:ext cx="600" cy="2092800"/>
          </a:xfrm>
          <a:prstGeom prst="curvedConnector3">
            <a:avLst>
              <a:gd fmla="val 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9" name="Google Shape;1679;p122"/>
          <p:cNvCxnSpPr>
            <a:stCxn id="1648" idx="0"/>
            <a:endCxn id="1649" idx="5"/>
          </p:cNvCxnSpPr>
          <p:nvPr/>
        </p:nvCxnSpPr>
        <p:spPr>
          <a:xfrm rot="10800000">
            <a:off x="6726618" y="1969109"/>
            <a:ext cx="849300" cy="1820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0" name="Google Shape;1680;p122"/>
          <p:cNvCxnSpPr>
            <a:stCxn id="1655" idx="3"/>
            <a:endCxn id="1651" idx="7"/>
          </p:cNvCxnSpPr>
          <p:nvPr/>
        </p:nvCxnSpPr>
        <p:spPr>
          <a:xfrm flipH="1">
            <a:off x="6726652" y="296857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Max(E) = \frac{N(N-1)}{2}" id="1681" name="Google Shape;1681;p1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71775" y="3593275"/>
            <a:ext cx="2743201" cy="6446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5" name="Shape 1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6" name="Google Shape;1686;p12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Maximum Size</a:t>
            </a:r>
            <a:endParaRPr/>
          </a:p>
        </p:txBody>
      </p:sp>
      <p:sp>
        <p:nvSpPr>
          <p:cNvPr id="1687" name="Google Shape;1687;p123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maximum size</a:t>
            </a:r>
            <a:r>
              <a:rPr lang="en"/>
              <a:t> of a graph of order </a:t>
            </a:r>
            <a:r>
              <a:rPr i="1" lang="en"/>
              <a:t>N</a:t>
            </a:r>
            <a:r>
              <a:rPr lang="en"/>
              <a:t> is the number of edges that would exist if graph was </a:t>
            </a:r>
            <a:r>
              <a:rPr b="1" lang="en"/>
              <a:t>complete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 many total edges are there now?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try to count and get a headache, or we can use math: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123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89" name="Google Shape;1689;p123"/>
          <p:cNvCxnSpPr>
            <a:stCxn id="1688" idx="6"/>
            <a:endCxn id="1690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0" name="Google Shape;1690;p123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691" name="Google Shape;1691;p123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692" name="Google Shape;1692;p123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93" name="Google Shape;1693;p123"/>
          <p:cNvCxnSpPr>
            <a:stCxn id="1692" idx="4"/>
            <a:endCxn id="1690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4" name="Google Shape;1694;p123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95" name="Google Shape;1695;p123"/>
          <p:cNvCxnSpPr>
            <a:stCxn id="1688" idx="5"/>
            <a:endCxn id="1694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6" name="Google Shape;1696;p123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97" name="Google Shape;1697;p123"/>
          <p:cNvCxnSpPr>
            <a:stCxn id="1696" idx="2"/>
            <a:endCxn id="1690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8" name="Google Shape;1698;p123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699" name="Google Shape;1699;p123"/>
          <p:cNvCxnSpPr>
            <a:stCxn id="1698" idx="2"/>
            <a:endCxn id="1696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00" name="Google Shape;1700;p123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01" name="Google Shape;1701;p123"/>
          <p:cNvCxnSpPr>
            <a:stCxn id="1700" idx="0"/>
            <a:endCxn id="1698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2" name="Google Shape;1702;p123"/>
          <p:cNvCxnSpPr>
            <a:stCxn id="1690" idx="4"/>
            <a:endCxn id="1694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3" name="Google Shape;1703;p123"/>
          <p:cNvCxnSpPr>
            <a:stCxn id="1688" idx="7"/>
            <a:endCxn id="1692" idx="3"/>
          </p:cNvCxnSpPr>
          <p:nvPr/>
        </p:nvCxnSpPr>
        <p:spPr>
          <a:xfrm flipH="1" rot="10800000">
            <a:off x="5660351" y="1969132"/>
            <a:ext cx="8367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4" name="Google Shape;1704;p123"/>
          <p:cNvCxnSpPr>
            <a:stCxn id="1688" idx="0"/>
            <a:endCxn id="1696" idx="7"/>
          </p:cNvCxnSpPr>
          <p:nvPr/>
        </p:nvCxnSpPr>
        <p:spPr>
          <a:xfrm flipH="1" rot="-5400000">
            <a:off x="6594988" y="1650301"/>
            <a:ext cx="46200" cy="2145000"/>
          </a:xfrm>
          <a:prstGeom prst="curvedConnector3">
            <a:avLst>
              <a:gd fmla="val -74231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5" name="Google Shape;1705;p123"/>
          <p:cNvCxnSpPr>
            <a:stCxn id="1692" idx="5"/>
            <a:endCxn id="1696" idx="1"/>
          </p:cNvCxnSpPr>
          <p:nvPr/>
        </p:nvCxnSpPr>
        <p:spPr>
          <a:xfrm>
            <a:off x="6726723" y="1969107"/>
            <a:ext cx="7344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6" name="Google Shape;1706;p123"/>
          <p:cNvCxnSpPr>
            <a:stCxn id="1696" idx="4"/>
            <a:endCxn id="1694" idx="7"/>
          </p:cNvCxnSpPr>
          <p:nvPr/>
        </p:nvCxnSpPr>
        <p:spPr>
          <a:xfrm flipH="1">
            <a:off x="6726618" y="3014701"/>
            <a:ext cx="8493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7" name="Google Shape;1707;p123"/>
          <p:cNvCxnSpPr>
            <a:stCxn id="1691" idx="2"/>
            <a:endCxn id="1694" idx="6"/>
          </p:cNvCxnSpPr>
          <p:nvPr/>
        </p:nvCxnSpPr>
        <p:spPr>
          <a:xfrm rot="10800000">
            <a:off x="6774318" y="3946709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8" name="Google Shape;1708;p123"/>
          <p:cNvCxnSpPr>
            <a:stCxn id="1696" idx="4"/>
            <a:endCxn id="1691" idx="0"/>
          </p:cNvCxnSpPr>
          <p:nvPr/>
        </p:nvCxnSpPr>
        <p:spPr>
          <a:xfrm>
            <a:off x="7575918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9" name="Google Shape;1709;p123"/>
          <p:cNvCxnSpPr>
            <a:stCxn id="1696" idx="4"/>
            <a:endCxn id="1700" idx="1"/>
          </p:cNvCxnSpPr>
          <p:nvPr/>
        </p:nvCxnSpPr>
        <p:spPr>
          <a:xfrm>
            <a:off x="7575918" y="3014701"/>
            <a:ext cx="10140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0" name="Google Shape;1710;p123"/>
          <p:cNvCxnSpPr>
            <a:stCxn id="1700" idx="2"/>
            <a:endCxn id="1691" idx="6"/>
          </p:cNvCxnSpPr>
          <p:nvPr/>
        </p:nvCxnSpPr>
        <p:spPr>
          <a:xfrm rot="10800000">
            <a:off x="7738115" y="3946709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1" name="Google Shape;1711;p123"/>
          <p:cNvCxnSpPr>
            <a:stCxn id="1698" idx="3"/>
            <a:endCxn id="1691" idx="7"/>
          </p:cNvCxnSpPr>
          <p:nvPr/>
        </p:nvCxnSpPr>
        <p:spPr>
          <a:xfrm flipH="1">
            <a:off x="7690552" y="2968570"/>
            <a:ext cx="899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2" name="Google Shape;1712;p123"/>
          <p:cNvCxnSpPr>
            <a:stCxn id="1698" idx="1"/>
            <a:endCxn id="1692" idx="6"/>
          </p:cNvCxnSpPr>
          <p:nvPr/>
        </p:nvCxnSpPr>
        <p:spPr>
          <a:xfrm rot="10800000">
            <a:off x="6774352" y="1857832"/>
            <a:ext cx="1815600" cy="88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3" name="Google Shape;1713;p123"/>
          <p:cNvCxnSpPr>
            <a:stCxn id="1691" idx="1"/>
            <a:endCxn id="1688" idx="5"/>
          </p:cNvCxnSpPr>
          <p:nvPr/>
        </p:nvCxnSpPr>
        <p:spPr>
          <a:xfrm rot="10800000">
            <a:off x="5660254" y="2968640"/>
            <a:ext cx="18009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4" name="Google Shape;1714;p123"/>
          <p:cNvCxnSpPr>
            <a:stCxn id="1688" idx="0"/>
            <a:endCxn id="1698" idx="0"/>
          </p:cNvCxnSpPr>
          <p:nvPr/>
        </p:nvCxnSpPr>
        <p:spPr>
          <a:xfrm flipH="1" rot="-5400000">
            <a:off x="7124788" y="1120501"/>
            <a:ext cx="600" cy="31590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5" name="Google Shape;1715;p123"/>
          <p:cNvCxnSpPr>
            <a:stCxn id="1700" idx="1"/>
            <a:endCxn id="1688" idx="5"/>
          </p:cNvCxnSpPr>
          <p:nvPr/>
        </p:nvCxnSpPr>
        <p:spPr>
          <a:xfrm rot="10800000">
            <a:off x="5660452" y="2968640"/>
            <a:ext cx="29295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" name="Google Shape;1716;p123"/>
          <p:cNvCxnSpPr>
            <a:stCxn id="1690" idx="0"/>
            <a:endCxn id="1698" idx="0"/>
          </p:cNvCxnSpPr>
          <p:nvPr/>
        </p:nvCxnSpPr>
        <p:spPr>
          <a:xfrm flipH="1" rot="-5400000">
            <a:off x="7658080" y="1653601"/>
            <a:ext cx="600" cy="2092800"/>
          </a:xfrm>
          <a:prstGeom prst="curvedConnector3">
            <a:avLst>
              <a:gd fmla="val -55083509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7" name="Google Shape;1717;p123"/>
          <p:cNvCxnSpPr>
            <a:stCxn id="1700" idx="1"/>
            <a:endCxn id="1690" idx="5"/>
          </p:cNvCxnSpPr>
          <p:nvPr/>
        </p:nvCxnSpPr>
        <p:spPr>
          <a:xfrm rot="10800000">
            <a:off x="6726652" y="296864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8" name="Google Shape;1718;p123"/>
          <p:cNvCxnSpPr>
            <a:stCxn id="1691" idx="1"/>
            <a:endCxn id="1690" idx="5"/>
          </p:cNvCxnSpPr>
          <p:nvPr/>
        </p:nvCxnSpPr>
        <p:spPr>
          <a:xfrm rot="10800000">
            <a:off x="6726754" y="2968640"/>
            <a:ext cx="734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9" name="Google Shape;1719;p123"/>
          <p:cNvCxnSpPr>
            <a:stCxn id="1692" idx="2"/>
            <a:endCxn id="1694" idx="2"/>
          </p:cNvCxnSpPr>
          <p:nvPr/>
        </p:nvCxnSpPr>
        <p:spPr>
          <a:xfrm>
            <a:off x="6449659" y="1857738"/>
            <a:ext cx="600" cy="20889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20" name="Google Shape;1720;p123"/>
          <p:cNvCxnSpPr>
            <a:stCxn id="1692" idx="6"/>
            <a:endCxn id="1700" idx="1"/>
          </p:cNvCxnSpPr>
          <p:nvPr/>
        </p:nvCxnSpPr>
        <p:spPr>
          <a:xfrm>
            <a:off x="6774259" y="1857738"/>
            <a:ext cx="1815600" cy="197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21" name="Google Shape;1721;p123"/>
          <p:cNvCxnSpPr>
            <a:stCxn id="1700" idx="4"/>
            <a:endCxn id="1694" idx="4"/>
          </p:cNvCxnSpPr>
          <p:nvPr/>
        </p:nvCxnSpPr>
        <p:spPr>
          <a:xfrm rot="5400000">
            <a:off x="7658015" y="3058109"/>
            <a:ext cx="600" cy="2092800"/>
          </a:xfrm>
          <a:prstGeom prst="curvedConnector3">
            <a:avLst>
              <a:gd fmla="val 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22" name="Google Shape;1722;p123"/>
          <p:cNvCxnSpPr>
            <a:stCxn id="1691" idx="0"/>
            <a:endCxn id="1692" idx="5"/>
          </p:cNvCxnSpPr>
          <p:nvPr/>
        </p:nvCxnSpPr>
        <p:spPr>
          <a:xfrm rot="10800000">
            <a:off x="6726618" y="1969109"/>
            <a:ext cx="849300" cy="1820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23" name="Google Shape;1723;p123"/>
          <p:cNvCxnSpPr>
            <a:stCxn id="1698" idx="3"/>
            <a:endCxn id="1694" idx="7"/>
          </p:cNvCxnSpPr>
          <p:nvPr/>
        </p:nvCxnSpPr>
        <p:spPr>
          <a:xfrm flipH="1">
            <a:off x="6726652" y="296857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Max(E)=\frac{8\times(8-1)}{2}" id="1724" name="Google Shape;1724;p1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71775" y="3620877"/>
            <a:ext cx="2743201" cy="5894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28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9" name="Google Shape;1729;p12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Maximum Size</a:t>
            </a:r>
            <a:endParaRPr/>
          </a:p>
        </p:txBody>
      </p:sp>
      <p:sp>
        <p:nvSpPr>
          <p:cNvPr id="1730" name="Google Shape;1730;p124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maximum size</a:t>
            </a:r>
            <a:r>
              <a:rPr lang="en"/>
              <a:t> of a graph of order </a:t>
            </a:r>
            <a:r>
              <a:rPr i="1" lang="en"/>
              <a:t>N</a:t>
            </a:r>
            <a:r>
              <a:rPr lang="en"/>
              <a:t> is the number of edges that would exist if graph was </a:t>
            </a:r>
            <a:r>
              <a:rPr b="1" lang="en"/>
              <a:t>complete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 many total edges are there now?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try to count and get a headache, or we can use math: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" name="Google Shape;1731;p124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32" name="Google Shape;1732;p124"/>
          <p:cNvCxnSpPr>
            <a:stCxn id="1731" idx="6"/>
            <a:endCxn id="1733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33" name="Google Shape;1733;p124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734" name="Google Shape;1734;p124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735" name="Google Shape;1735;p124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36" name="Google Shape;1736;p124"/>
          <p:cNvCxnSpPr>
            <a:stCxn id="1735" idx="4"/>
            <a:endCxn id="1733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37" name="Google Shape;1737;p124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38" name="Google Shape;1738;p124"/>
          <p:cNvCxnSpPr>
            <a:stCxn id="1731" idx="5"/>
            <a:endCxn id="1737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39" name="Google Shape;1739;p124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40" name="Google Shape;1740;p124"/>
          <p:cNvCxnSpPr>
            <a:stCxn id="1739" idx="2"/>
            <a:endCxn id="1733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41" name="Google Shape;1741;p124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42" name="Google Shape;1742;p124"/>
          <p:cNvCxnSpPr>
            <a:stCxn id="1741" idx="2"/>
            <a:endCxn id="1739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43" name="Google Shape;1743;p124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44" name="Google Shape;1744;p124"/>
          <p:cNvCxnSpPr>
            <a:stCxn id="1743" idx="0"/>
            <a:endCxn id="1741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5" name="Google Shape;1745;p124"/>
          <p:cNvCxnSpPr>
            <a:stCxn id="1733" idx="4"/>
            <a:endCxn id="1737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6" name="Google Shape;1746;p124"/>
          <p:cNvCxnSpPr>
            <a:stCxn id="1731" idx="7"/>
            <a:endCxn id="1735" idx="3"/>
          </p:cNvCxnSpPr>
          <p:nvPr/>
        </p:nvCxnSpPr>
        <p:spPr>
          <a:xfrm flipH="1" rot="10800000">
            <a:off x="5660351" y="1969132"/>
            <a:ext cx="8367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7" name="Google Shape;1747;p124"/>
          <p:cNvCxnSpPr>
            <a:stCxn id="1731" idx="0"/>
            <a:endCxn id="1739" idx="7"/>
          </p:cNvCxnSpPr>
          <p:nvPr/>
        </p:nvCxnSpPr>
        <p:spPr>
          <a:xfrm flipH="1" rot="-5400000">
            <a:off x="6594988" y="1650301"/>
            <a:ext cx="46200" cy="2145000"/>
          </a:xfrm>
          <a:prstGeom prst="curvedConnector3">
            <a:avLst>
              <a:gd fmla="val -74231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" name="Google Shape;1748;p124"/>
          <p:cNvCxnSpPr>
            <a:stCxn id="1735" idx="5"/>
            <a:endCxn id="1739" idx="1"/>
          </p:cNvCxnSpPr>
          <p:nvPr/>
        </p:nvCxnSpPr>
        <p:spPr>
          <a:xfrm>
            <a:off x="6726723" y="1969107"/>
            <a:ext cx="7344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9" name="Google Shape;1749;p124"/>
          <p:cNvCxnSpPr>
            <a:stCxn id="1739" idx="4"/>
            <a:endCxn id="1737" idx="7"/>
          </p:cNvCxnSpPr>
          <p:nvPr/>
        </p:nvCxnSpPr>
        <p:spPr>
          <a:xfrm flipH="1">
            <a:off x="6726618" y="3014701"/>
            <a:ext cx="8493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0" name="Google Shape;1750;p124"/>
          <p:cNvCxnSpPr>
            <a:stCxn id="1734" idx="2"/>
            <a:endCxn id="1737" idx="6"/>
          </p:cNvCxnSpPr>
          <p:nvPr/>
        </p:nvCxnSpPr>
        <p:spPr>
          <a:xfrm rot="10800000">
            <a:off x="6774318" y="3946709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1" name="Google Shape;1751;p124"/>
          <p:cNvCxnSpPr>
            <a:stCxn id="1739" idx="4"/>
            <a:endCxn id="1734" idx="0"/>
          </p:cNvCxnSpPr>
          <p:nvPr/>
        </p:nvCxnSpPr>
        <p:spPr>
          <a:xfrm>
            <a:off x="7575918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2" name="Google Shape;1752;p124"/>
          <p:cNvCxnSpPr>
            <a:stCxn id="1739" idx="4"/>
            <a:endCxn id="1743" idx="1"/>
          </p:cNvCxnSpPr>
          <p:nvPr/>
        </p:nvCxnSpPr>
        <p:spPr>
          <a:xfrm>
            <a:off x="7575918" y="3014701"/>
            <a:ext cx="10140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3" name="Google Shape;1753;p124"/>
          <p:cNvCxnSpPr>
            <a:stCxn id="1743" idx="2"/>
            <a:endCxn id="1734" idx="6"/>
          </p:cNvCxnSpPr>
          <p:nvPr/>
        </p:nvCxnSpPr>
        <p:spPr>
          <a:xfrm rot="10800000">
            <a:off x="7738115" y="3946709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4" name="Google Shape;1754;p124"/>
          <p:cNvCxnSpPr>
            <a:stCxn id="1741" idx="3"/>
            <a:endCxn id="1734" idx="7"/>
          </p:cNvCxnSpPr>
          <p:nvPr/>
        </p:nvCxnSpPr>
        <p:spPr>
          <a:xfrm flipH="1">
            <a:off x="7690552" y="2968570"/>
            <a:ext cx="899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5" name="Google Shape;1755;p124"/>
          <p:cNvCxnSpPr>
            <a:stCxn id="1741" idx="1"/>
            <a:endCxn id="1735" idx="6"/>
          </p:cNvCxnSpPr>
          <p:nvPr/>
        </p:nvCxnSpPr>
        <p:spPr>
          <a:xfrm rot="10800000">
            <a:off x="6774352" y="1857832"/>
            <a:ext cx="1815600" cy="88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6" name="Google Shape;1756;p124"/>
          <p:cNvCxnSpPr>
            <a:stCxn id="1734" idx="1"/>
            <a:endCxn id="1731" idx="5"/>
          </p:cNvCxnSpPr>
          <p:nvPr/>
        </p:nvCxnSpPr>
        <p:spPr>
          <a:xfrm rot="10800000">
            <a:off x="5660254" y="2968640"/>
            <a:ext cx="18009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7" name="Google Shape;1757;p124"/>
          <p:cNvCxnSpPr>
            <a:stCxn id="1731" idx="0"/>
            <a:endCxn id="1741" idx="0"/>
          </p:cNvCxnSpPr>
          <p:nvPr/>
        </p:nvCxnSpPr>
        <p:spPr>
          <a:xfrm flipH="1" rot="-5400000">
            <a:off x="7124788" y="1120501"/>
            <a:ext cx="600" cy="31590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8" name="Google Shape;1758;p124"/>
          <p:cNvCxnSpPr>
            <a:stCxn id="1743" idx="1"/>
            <a:endCxn id="1731" idx="5"/>
          </p:cNvCxnSpPr>
          <p:nvPr/>
        </p:nvCxnSpPr>
        <p:spPr>
          <a:xfrm rot="10800000">
            <a:off x="5660452" y="2968640"/>
            <a:ext cx="29295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9" name="Google Shape;1759;p124"/>
          <p:cNvCxnSpPr>
            <a:stCxn id="1733" idx="0"/>
            <a:endCxn id="1741" idx="0"/>
          </p:cNvCxnSpPr>
          <p:nvPr/>
        </p:nvCxnSpPr>
        <p:spPr>
          <a:xfrm flipH="1" rot="-5400000">
            <a:off x="7658080" y="1653601"/>
            <a:ext cx="600" cy="2092800"/>
          </a:xfrm>
          <a:prstGeom prst="curvedConnector3">
            <a:avLst>
              <a:gd fmla="val -55083509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0" name="Google Shape;1760;p124"/>
          <p:cNvCxnSpPr>
            <a:stCxn id="1743" idx="1"/>
            <a:endCxn id="1733" idx="5"/>
          </p:cNvCxnSpPr>
          <p:nvPr/>
        </p:nvCxnSpPr>
        <p:spPr>
          <a:xfrm rot="10800000">
            <a:off x="6726652" y="296864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1" name="Google Shape;1761;p124"/>
          <p:cNvCxnSpPr>
            <a:stCxn id="1734" idx="1"/>
            <a:endCxn id="1733" idx="5"/>
          </p:cNvCxnSpPr>
          <p:nvPr/>
        </p:nvCxnSpPr>
        <p:spPr>
          <a:xfrm rot="10800000">
            <a:off x="6726754" y="2968640"/>
            <a:ext cx="734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2" name="Google Shape;1762;p124"/>
          <p:cNvCxnSpPr>
            <a:stCxn id="1735" idx="2"/>
            <a:endCxn id="1737" idx="2"/>
          </p:cNvCxnSpPr>
          <p:nvPr/>
        </p:nvCxnSpPr>
        <p:spPr>
          <a:xfrm>
            <a:off x="6449659" y="1857738"/>
            <a:ext cx="600" cy="20889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3" name="Google Shape;1763;p124"/>
          <p:cNvCxnSpPr>
            <a:stCxn id="1735" idx="6"/>
            <a:endCxn id="1743" idx="1"/>
          </p:cNvCxnSpPr>
          <p:nvPr/>
        </p:nvCxnSpPr>
        <p:spPr>
          <a:xfrm>
            <a:off x="6774259" y="1857738"/>
            <a:ext cx="1815600" cy="197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4" name="Google Shape;1764;p124"/>
          <p:cNvCxnSpPr>
            <a:stCxn id="1743" idx="4"/>
            <a:endCxn id="1737" idx="4"/>
          </p:cNvCxnSpPr>
          <p:nvPr/>
        </p:nvCxnSpPr>
        <p:spPr>
          <a:xfrm rot="5400000">
            <a:off x="7658015" y="3058109"/>
            <a:ext cx="600" cy="2092800"/>
          </a:xfrm>
          <a:prstGeom prst="curvedConnector3">
            <a:avLst>
              <a:gd fmla="val 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5" name="Google Shape;1765;p124"/>
          <p:cNvCxnSpPr>
            <a:stCxn id="1734" idx="0"/>
            <a:endCxn id="1735" idx="5"/>
          </p:cNvCxnSpPr>
          <p:nvPr/>
        </p:nvCxnSpPr>
        <p:spPr>
          <a:xfrm rot="10800000">
            <a:off x="6726618" y="1969109"/>
            <a:ext cx="849300" cy="1820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6" name="Google Shape;1766;p124"/>
          <p:cNvCxnSpPr>
            <a:stCxn id="1741" idx="3"/>
            <a:endCxn id="1737" idx="7"/>
          </p:cNvCxnSpPr>
          <p:nvPr/>
        </p:nvCxnSpPr>
        <p:spPr>
          <a:xfrm flipH="1">
            <a:off x="6726652" y="296857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Max(E)=\frac{8\times7}{2}" id="1767" name="Google Shape;1767;p12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00283" y="3620877"/>
            <a:ext cx="2086184" cy="5894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1" name="Shape 1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2" name="Google Shape;1772;p12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Maximum Size</a:t>
            </a:r>
            <a:endParaRPr/>
          </a:p>
        </p:txBody>
      </p:sp>
      <p:sp>
        <p:nvSpPr>
          <p:cNvPr id="1773" name="Google Shape;1773;p125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maximum size</a:t>
            </a:r>
            <a:r>
              <a:rPr lang="en"/>
              <a:t> of a graph of order </a:t>
            </a:r>
            <a:r>
              <a:rPr i="1" lang="en"/>
              <a:t>N</a:t>
            </a:r>
            <a:r>
              <a:rPr lang="en"/>
              <a:t> is the number of edges that would exist if graph was </a:t>
            </a:r>
            <a:r>
              <a:rPr b="1" lang="en"/>
              <a:t>complete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 many total edges are there now?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try to count and get a headache, or we can use math: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4" name="Google Shape;1774;p125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75" name="Google Shape;1775;p125"/>
          <p:cNvCxnSpPr>
            <a:stCxn id="1774" idx="6"/>
            <a:endCxn id="1776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76" name="Google Shape;1776;p125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777" name="Google Shape;1777;p125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778" name="Google Shape;1778;p125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79" name="Google Shape;1779;p125"/>
          <p:cNvCxnSpPr>
            <a:stCxn id="1778" idx="4"/>
            <a:endCxn id="1776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80" name="Google Shape;1780;p125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81" name="Google Shape;1781;p125"/>
          <p:cNvCxnSpPr>
            <a:stCxn id="1774" idx="5"/>
            <a:endCxn id="1780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82" name="Google Shape;1782;p125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83" name="Google Shape;1783;p125"/>
          <p:cNvCxnSpPr>
            <a:stCxn id="1782" idx="2"/>
            <a:endCxn id="1776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84" name="Google Shape;1784;p125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85" name="Google Shape;1785;p125"/>
          <p:cNvCxnSpPr>
            <a:stCxn id="1784" idx="2"/>
            <a:endCxn id="1782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86" name="Google Shape;1786;p125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787" name="Google Shape;1787;p125"/>
          <p:cNvCxnSpPr>
            <a:stCxn id="1786" idx="0"/>
            <a:endCxn id="1784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88" name="Google Shape;1788;p125"/>
          <p:cNvCxnSpPr>
            <a:stCxn id="1776" idx="4"/>
            <a:endCxn id="1780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89" name="Google Shape;1789;p125"/>
          <p:cNvCxnSpPr>
            <a:stCxn id="1774" idx="7"/>
            <a:endCxn id="1778" idx="3"/>
          </p:cNvCxnSpPr>
          <p:nvPr/>
        </p:nvCxnSpPr>
        <p:spPr>
          <a:xfrm flipH="1" rot="10800000">
            <a:off x="5660351" y="1969132"/>
            <a:ext cx="8367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0" name="Google Shape;1790;p125"/>
          <p:cNvCxnSpPr>
            <a:stCxn id="1774" idx="0"/>
            <a:endCxn id="1782" idx="7"/>
          </p:cNvCxnSpPr>
          <p:nvPr/>
        </p:nvCxnSpPr>
        <p:spPr>
          <a:xfrm flipH="1" rot="-5400000">
            <a:off x="6594988" y="1650301"/>
            <a:ext cx="46200" cy="2145000"/>
          </a:xfrm>
          <a:prstGeom prst="curvedConnector3">
            <a:avLst>
              <a:gd fmla="val -74231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1" name="Google Shape;1791;p125"/>
          <p:cNvCxnSpPr>
            <a:stCxn id="1778" idx="5"/>
            <a:endCxn id="1782" idx="1"/>
          </p:cNvCxnSpPr>
          <p:nvPr/>
        </p:nvCxnSpPr>
        <p:spPr>
          <a:xfrm>
            <a:off x="6726723" y="1969107"/>
            <a:ext cx="7344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2" name="Google Shape;1792;p125"/>
          <p:cNvCxnSpPr>
            <a:stCxn id="1782" idx="4"/>
            <a:endCxn id="1780" idx="7"/>
          </p:cNvCxnSpPr>
          <p:nvPr/>
        </p:nvCxnSpPr>
        <p:spPr>
          <a:xfrm flipH="1">
            <a:off x="6726618" y="3014701"/>
            <a:ext cx="8493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3" name="Google Shape;1793;p125"/>
          <p:cNvCxnSpPr>
            <a:stCxn id="1777" idx="2"/>
            <a:endCxn id="1780" idx="6"/>
          </p:cNvCxnSpPr>
          <p:nvPr/>
        </p:nvCxnSpPr>
        <p:spPr>
          <a:xfrm rot="10800000">
            <a:off x="6774318" y="3946709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4" name="Google Shape;1794;p125"/>
          <p:cNvCxnSpPr>
            <a:stCxn id="1782" idx="4"/>
            <a:endCxn id="1777" idx="0"/>
          </p:cNvCxnSpPr>
          <p:nvPr/>
        </p:nvCxnSpPr>
        <p:spPr>
          <a:xfrm>
            <a:off x="7575918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5" name="Google Shape;1795;p125"/>
          <p:cNvCxnSpPr>
            <a:stCxn id="1782" idx="4"/>
            <a:endCxn id="1786" idx="1"/>
          </p:cNvCxnSpPr>
          <p:nvPr/>
        </p:nvCxnSpPr>
        <p:spPr>
          <a:xfrm>
            <a:off x="7575918" y="3014701"/>
            <a:ext cx="10140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6" name="Google Shape;1796;p125"/>
          <p:cNvCxnSpPr>
            <a:stCxn id="1786" idx="2"/>
            <a:endCxn id="1777" idx="6"/>
          </p:cNvCxnSpPr>
          <p:nvPr/>
        </p:nvCxnSpPr>
        <p:spPr>
          <a:xfrm rot="10800000">
            <a:off x="7738115" y="3946709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7" name="Google Shape;1797;p125"/>
          <p:cNvCxnSpPr>
            <a:stCxn id="1784" idx="3"/>
            <a:endCxn id="1777" idx="7"/>
          </p:cNvCxnSpPr>
          <p:nvPr/>
        </p:nvCxnSpPr>
        <p:spPr>
          <a:xfrm flipH="1">
            <a:off x="7690552" y="2968570"/>
            <a:ext cx="899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8" name="Google Shape;1798;p125"/>
          <p:cNvCxnSpPr>
            <a:stCxn id="1784" idx="1"/>
            <a:endCxn id="1778" idx="6"/>
          </p:cNvCxnSpPr>
          <p:nvPr/>
        </p:nvCxnSpPr>
        <p:spPr>
          <a:xfrm rot="10800000">
            <a:off x="6774352" y="1857832"/>
            <a:ext cx="1815600" cy="88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9" name="Google Shape;1799;p125"/>
          <p:cNvCxnSpPr>
            <a:stCxn id="1777" idx="1"/>
            <a:endCxn id="1774" idx="5"/>
          </p:cNvCxnSpPr>
          <p:nvPr/>
        </p:nvCxnSpPr>
        <p:spPr>
          <a:xfrm rot="10800000">
            <a:off x="5660254" y="2968640"/>
            <a:ext cx="18009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0" name="Google Shape;1800;p125"/>
          <p:cNvCxnSpPr>
            <a:stCxn id="1774" idx="0"/>
            <a:endCxn id="1784" idx="0"/>
          </p:cNvCxnSpPr>
          <p:nvPr/>
        </p:nvCxnSpPr>
        <p:spPr>
          <a:xfrm flipH="1" rot="-5400000">
            <a:off x="7124788" y="1120501"/>
            <a:ext cx="600" cy="31590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1" name="Google Shape;1801;p125"/>
          <p:cNvCxnSpPr>
            <a:stCxn id="1786" idx="1"/>
            <a:endCxn id="1774" idx="5"/>
          </p:cNvCxnSpPr>
          <p:nvPr/>
        </p:nvCxnSpPr>
        <p:spPr>
          <a:xfrm rot="10800000">
            <a:off x="5660452" y="2968640"/>
            <a:ext cx="29295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2" name="Google Shape;1802;p125"/>
          <p:cNvCxnSpPr>
            <a:stCxn id="1776" idx="0"/>
            <a:endCxn id="1784" idx="0"/>
          </p:cNvCxnSpPr>
          <p:nvPr/>
        </p:nvCxnSpPr>
        <p:spPr>
          <a:xfrm flipH="1" rot="-5400000">
            <a:off x="7658080" y="1653601"/>
            <a:ext cx="600" cy="2092800"/>
          </a:xfrm>
          <a:prstGeom prst="curvedConnector3">
            <a:avLst>
              <a:gd fmla="val -55083509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3" name="Google Shape;1803;p125"/>
          <p:cNvCxnSpPr>
            <a:stCxn id="1786" idx="1"/>
            <a:endCxn id="1776" idx="5"/>
          </p:cNvCxnSpPr>
          <p:nvPr/>
        </p:nvCxnSpPr>
        <p:spPr>
          <a:xfrm rot="10800000">
            <a:off x="6726652" y="296864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4" name="Google Shape;1804;p125"/>
          <p:cNvCxnSpPr>
            <a:stCxn id="1777" idx="1"/>
            <a:endCxn id="1776" idx="5"/>
          </p:cNvCxnSpPr>
          <p:nvPr/>
        </p:nvCxnSpPr>
        <p:spPr>
          <a:xfrm rot="10800000">
            <a:off x="6726754" y="2968640"/>
            <a:ext cx="734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5" name="Google Shape;1805;p125"/>
          <p:cNvCxnSpPr>
            <a:stCxn id="1778" idx="2"/>
            <a:endCxn id="1780" idx="2"/>
          </p:cNvCxnSpPr>
          <p:nvPr/>
        </p:nvCxnSpPr>
        <p:spPr>
          <a:xfrm>
            <a:off x="6449659" y="1857738"/>
            <a:ext cx="600" cy="20889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6" name="Google Shape;1806;p125"/>
          <p:cNvCxnSpPr>
            <a:stCxn id="1778" idx="6"/>
            <a:endCxn id="1786" idx="1"/>
          </p:cNvCxnSpPr>
          <p:nvPr/>
        </p:nvCxnSpPr>
        <p:spPr>
          <a:xfrm>
            <a:off x="6774259" y="1857738"/>
            <a:ext cx="1815600" cy="197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7" name="Google Shape;1807;p125"/>
          <p:cNvCxnSpPr>
            <a:stCxn id="1786" idx="4"/>
            <a:endCxn id="1780" idx="4"/>
          </p:cNvCxnSpPr>
          <p:nvPr/>
        </p:nvCxnSpPr>
        <p:spPr>
          <a:xfrm rot="5400000">
            <a:off x="7658015" y="3058109"/>
            <a:ext cx="600" cy="2092800"/>
          </a:xfrm>
          <a:prstGeom prst="curvedConnector3">
            <a:avLst>
              <a:gd fmla="val 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8" name="Google Shape;1808;p125"/>
          <p:cNvCxnSpPr>
            <a:stCxn id="1777" idx="0"/>
            <a:endCxn id="1778" idx="5"/>
          </p:cNvCxnSpPr>
          <p:nvPr/>
        </p:nvCxnSpPr>
        <p:spPr>
          <a:xfrm rot="10800000">
            <a:off x="6726618" y="1969109"/>
            <a:ext cx="849300" cy="1820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9" name="Google Shape;1809;p125"/>
          <p:cNvCxnSpPr>
            <a:stCxn id="1784" idx="3"/>
            <a:endCxn id="1780" idx="7"/>
          </p:cNvCxnSpPr>
          <p:nvPr/>
        </p:nvCxnSpPr>
        <p:spPr>
          <a:xfrm flipH="1">
            <a:off x="6726652" y="296857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Max(E)=\frac{56}{2}" id="1810" name="Google Shape;1810;p1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67957" y="3620877"/>
            <a:ext cx="1750836" cy="5894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14" name="Shape 1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5" name="Google Shape;1815;p12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Maximum Size</a:t>
            </a:r>
            <a:endParaRPr/>
          </a:p>
        </p:txBody>
      </p:sp>
      <p:sp>
        <p:nvSpPr>
          <p:cNvPr id="1816" name="Google Shape;1816;p126"/>
          <p:cNvSpPr txBox="1"/>
          <p:nvPr>
            <p:ph idx="1" type="body"/>
          </p:nvPr>
        </p:nvSpPr>
        <p:spPr>
          <a:xfrm>
            <a:off x="311700" y="1225225"/>
            <a:ext cx="507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maximum size</a:t>
            </a:r>
            <a:r>
              <a:rPr lang="en"/>
              <a:t> of a graph of order </a:t>
            </a:r>
            <a:r>
              <a:rPr i="1" lang="en"/>
              <a:t>N</a:t>
            </a:r>
            <a:r>
              <a:rPr lang="en"/>
              <a:t> is the number of edges that would exist if graph was </a:t>
            </a:r>
            <a:r>
              <a:rPr b="1" lang="en"/>
              <a:t>complete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 many total edges are there now?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try to count and get a headache, or we can use math: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7" name="Google Shape;1817;p126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18" name="Google Shape;1818;p126"/>
          <p:cNvCxnSpPr>
            <a:stCxn id="1817" idx="6"/>
            <a:endCxn id="1819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19" name="Google Shape;1819;p126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820" name="Google Shape;1820;p126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821" name="Google Shape;1821;p126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22" name="Google Shape;1822;p126"/>
          <p:cNvCxnSpPr>
            <a:stCxn id="1821" idx="4"/>
            <a:endCxn id="1819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23" name="Google Shape;1823;p126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24" name="Google Shape;1824;p126"/>
          <p:cNvCxnSpPr>
            <a:stCxn id="1817" idx="5"/>
            <a:endCxn id="1823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25" name="Google Shape;1825;p126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26" name="Google Shape;1826;p126"/>
          <p:cNvCxnSpPr>
            <a:stCxn id="1825" idx="2"/>
            <a:endCxn id="1819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27" name="Google Shape;1827;p126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28" name="Google Shape;1828;p126"/>
          <p:cNvCxnSpPr>
            <a:stCxn id="1827" idx="2"/>
            <a:endCxn id="1825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29" name="Google Shape;1829;p126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30" name="Google Shape;1830;p126"/>
          <p:cNvCxnSpPr>
            <a:stCxn id="1829" idx="0"/>
            <a:endCxn id="1827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1" name="Google Shape;1831;p126"/>
          <p:cNvCxnSpPr>
            <a:stCxn id="1819" idx="4"/>
            <a:endCxn id="1823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2" name="Google Shape;1832;p126"/>
          <p:cNvCxnSpPr>
            <a:stCxn id="1817" idx="7"/>
            <a:endCxn id="1821" idx="3"/>
          </p:cNvCxnSpPr>
          <p:nvPr/>
        </p:nvCxnSpPr>
        <p:spPr>
          <a:xfrm flipH="1" rot="10800000">
            <a:off x="5660351" y="1969132"/>
            <a:ext cx="8367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3" name="Google Shape;1833;p126"/>
          <p:cNvCxnSpPr>
            <a:stCxn id="1817" idx="0"/>
            <a:endCxn id="1825" idx="7"/>
          </p:cNvCxnSpPr>
          <p:nvPr/>
        </p:nvCxnSpPr>
        <p:spPr>
          <a:xfrm flipH="1" rot="-5400000">
            <a:off x="6594988" y="1650301"/>
            <a:ext cx="46200" cy="2145000"/>
          </a:xfrm>
          <a:prstGeom prst="curvedConnector3">
            <a:avLst>
              <a:gd fmla="val -74231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4" name="Google Shape;1834;p126"/>
          <p:cNvCxnSpPr>
            <a:stCxn id="1821" idx="5"/>
            <a:endCxn id="1825" idx="1"/>
          </p:cNvCxnSpPr>
          <p:nvPr/>
        </p:nvCxnSpPr>
        <p:spPr>
          <a:xfrm>
            <a:off x="6726723" y="1969107"/>
            <a:ext cx="7344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5" name="Google Shape;1835;p126"/>
          <p:cNvCxnSpPr>
            <a:stCxn id="1825" idx="4"/>
            <a:endCxn id="1823" idx="7"/>
          </p:cNvCxnSpPr>
          <p:nvPr/>
        </p:nvCxnSpPr>
        <p:spPr>
          <a:xfrm flipH="1">
            <a:off x="6726618" y="3014701"/>
            <a:ext cx="8493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6" name="Google Shape;1836;p126"/>
          <p:cNvCxnSpPr>
            <a:stCxn id="1820" idx="2"/>
            <a:endCxn id="1823" idx="6"/>
          </p:cNvCxnSpPr>
          <p:nvPr/>
        </p:nvCxnSpPr>
        <p:spPr>
          <a:xfrm rot="10800000">
            <a:off x="6774318" y="3946709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7" name="Google Shape;1837;p126"/>
          <p:cNvCxnSpPr>
            <a:stCxn id="1825" idx="4"/>
            <a:endCxn id="1820" idx="0"/>
          </p:cNvCxnSpPr>
          <p:nvPr/>
        </p:nvCxnSpPr>
        <p:spPr>
          <a:xfrm>
            <a:off x="7575918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8" name="Google Shape;1838;p126"/>
          <p:cNvCxnSpPr>
            <a:stCxn id="1825" idx="4"/>
            <a:endCxn id="1829" idx="1"/>
          </p:cNvCxnSpPr>
          <p:nvPr/>
        </p:nvCxnSpPr>
        <p:spPr>
          <a:xfrm>
            <a:off x="7575918" y="3014701"/>
            <a:ext cx="10140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9" name="Google Shape;1839;p126"/>
          <p:cNvCxnSpPr>
            <a:stCxn id="1829" idx="2"/>
            <a:endCxn id="1820" idx="6"/>
          </p:cNvCxnSpPr>
          <p:nvPr/>
        </p:nvCxnSpPr>
        <p:spPr>
          <a:xfrm rot="10800000">
            <a:off x="7738115" y="3946709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0" name="Google Shape;1840;p126"/>
          <p:cNvCxnSpPr>
            <a:stCxn id="1827" idx="3"/>
            <a:endCxn id="1820" idx="7"/>
          </p:cNvCxnSpPr>
          <p:nvPr/>
        </p:nvCxnSpPr>
        <p:spPr>
          <a:xfrm flipH="1">
            <a:off x="7690552" y="2968570"/>
            <a:ext cx="899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1" name="Google Shape;1841;p126"/>
          <p:cNvCxnSpPr>
            <a:stCxn id="1827" idx="1"/>
            <a:endCxn id="1821" idx="6"/>
          </p:cNvCxnSpPr>
          <p:nvPr/>
        </p:nvCxnSpPr>
        <p:spPr>
          <a:xfrm rot="10800000">
            <a:off x="6774352" y="1857832"/>
            <a:ext cx="1815600" cy="88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2" name="Google Shape;1842;p126"/>
          <p:cNvCxnSpPr>
            <a:stCxn id="1820" idx="1"/>
            <a:endCxn id="1817" idx="5"/>
          </p:cNvCxnSpPr>
          <p:nvPr/>
        </p:nvCxnSpPr>
        <p:spPr>
          <a:xfrm rot="10800000">
            <a:off x="5660254" y="2968640"/>
            <a:ext cx="18009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3" name="Google Shape;1843;p126"/>
          <p:cNvCxnSpPr>
            <a:stCxn id="1817" idx="0"/>
            <a:endCxn id="1827" idx="0"/>
          </p:cNvCxnSpPr>
          <p:nvPr/>
        </p:nvCxnSpPr>
        <p:spPr>
          <a:xfrm flipH="1" rot="-5400000">
            <a:off x="7124788" y="1120501"/>
            <a:ext cx="600" cy="31590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4" name="Google Shape;1844;p126"/>
          <p:cNvCxnSpPr>
            <a:stCxn id="1829" idx="1"/>
            <a:endCxn id="1817" idx="5"/>
          </p:cNvCxnSpPr>
          <p:nvPr/>
        </p:nvCxnSpPr>
        <p:spPr>
          <a:xfrm rot="10800000">
            <a:off x="5660452" y="2968640"/>
            <a:ext cx="29295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5" name="Google Shape;1845;p126"/>
          <p:cNvCxnSpPr>
            <a:stCxn id="1819" idx="0"/>
            <a:endCxn id="1827" idx="0"/>
          </p:cNvCxnSpPr>
          <p:nvPr/>
        </p:nvCxnSpPr>
        <p:spPr>
          <a:xfrm flipH="1" rot="-5400000">
            <a:off x="7658080" y="1653601"/>
            <a:ext cx="600" cy="2092800"/>
          </a:xfrm>
          <a:prstGeom prst="curvedConnector3">
            <a:avLst>
              <a:gd fmla="val -55083509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6" name="Google Shape;1846;p126"/>
          <p:cNvCxnSpPr>
            <a:stCxn id="1829" idx="1"/>
            <a:endCxn id="1819" idx="5"/>
          </p:cNvCxnSpPr>
          <p:nvPr/>
        </p:nvCxnSpPr>
        <p:spPr>
          <a:xfrm rot="10800000">
            <a:off x="6726652" y="296864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7" name="Google Shape;1847;p126"/>
          <p:cNvCxnSpPr>
            <a:stCxn id="1820" idx="1"/>
            <a:endCxn id="1819" idx="5"/>
          </p:cNvCxnSpPr>
          <p:nvPr/>
        </p:nvCxnSpPr>
        <p:spPr>
          <a:xfrm rot="10800000">
            <a:off x="6726754" y="2968640"/>
            <a:ext cx="734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8" name="Google Shape;1848;p126"/>
          <p:cNvCxnSpPr>
            <a:stCxn id="1821" idx="2"/>
            <a:endCxn id="1823" idx="2"/>
          </p:cNvCxnSpPr>
          <p:nvPr/>
        </p:nvCxnSpPr>
        <p:spPr>
          <a:xfrm>
            <a:off x="6449659" y="1857738"/>
            <a:ext cx="600" cy="20889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49" name="Google Shape;1849;p126"/>
          <p:cNvCxnSpPr>
            <a:stCxn id="1821" idx="6"/>
            <a:endCxn id="1829" idx="1"/>
          </p:cNvCxnSpPr>
          <p:nvPr/>
        </p:nvCxnSpPr>
        <p:spPr>
          <a:xfrm>
            <a:off x="6774259" y="1857738"/>
            <a:ext cx="1815600" cy="197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50" name="Google Shape;1850;p126"/>
          <p:cNvCxnSpPr>
            <a:stCxn id="1829" idx="4"/>
            <a:endCxn id="1823" idx="4"/>
          </p:cNvCxnSpPr>
          <p:nvPr/>
        </p:nvCxnSpPr>
        <p:spPr>
          <a:xfrm rot="5400000">
            <a:off x="7658015" y="3058109"/>
            <a:ext cx="600" cy="2092800"/>
          </a:xfrm>
          <a:prstGeom prst="curvedConnector3">
            <a:avLst>
              <a:gd fmla="val 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51" name="Google Shape;1851;p126"/>
          <p:cNvCxnSpPr>
            <a:stCxn id="1820" idx="0"/>
            <a:endCxn id="1821" idx="5"/>
          </p:cNvCxnSpPr>
          <p:nvPr/>
        </p:nvCxnSpPr>
        <p:spPr>
          <a:xfrm rot="10800000">
            <a:off x="6726618" y="1969109"/>
            <a:ext cx="849300" cy="1820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52" name="Google Shape;1852;p126"/>
          <p:cNvCxnSpPr>
            <a:stCxn id="1827" idx="3"/>
            <a:endCxn id="1823" idx="7"/>
          </p:cNvCxnSpPr>
          <p:nvPr/>
        </p:nvCxnSpPr>
        <p:spPr>
          <a:xfrm flipH="1">
            <a:off x="6726652" y="296857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Max(E)=28" id="1853" name="Google Shape;1853;p1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67957" y="3766213"/>
            <a:ext cx="1750836" cy="298778"/>
          </a:xfrm>
          <a:prstGeom prst="rect">
            <a:avLst/>
          </a:prstGeom>
          <a:noFill/>
          <a:ln>
            <a:noFill/>
          </a:ln>
        </p:spPr>
      </p:pic>
      <p:sp>
        <p:nvSpPr>
          <p:cNvPr id="1854" name="Google Shape;1854;p126"/>
          <p:cNvSpPr/>
          <p:nvPr/>
        </p:nvSpPr>
        <p:spPr>
          <a:xfrm>
            <a:off x="3535625" y="3728342"/>
            <a:ext cx="23010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There are 28 edges in there!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855" name="Google Shape;1855;p126"/>
          <p:cNvCxnSpPr>
            <a:stCxn id="1854" idx="7"/>
          </p:cNvCxnSpPr>
          <p:nvPr/>
        </p:nvCxnSpPr>
        <p:spPr>
          <a:xfrm flipH="1" rot="10800000">
            <a:off x="5499651" y="3462327"/>
            <a:ext cx="391200" cy="4356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59" name="Shape 1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0" name="Google Shape;1860;p12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1861" name="Google Shape;1861;p127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2" name="Google Shape;1862;p127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63" name="Google Shape;1863;p127"/>
          <p:cNvCxnSpPr>
            <a:stCxn id="1862" idx="6"/>
            <a:endCxn id="1864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64" name="Google Shape;1864;p127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865" name="Google Shape;1865;p127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866" name="Google Shape;1866;p127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67" name="Google Shape;1867;p127"/>
          <p:cNvCxnSpPr>
            <a:stCxn id="1866" idx="4"/>
            <a:endCxn id="1864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68" name="Google Shape;1868;p127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69" name="Google Shape;1869;p127"/>
          <p:cNvCxnSpPr>
            <a:stCxn id="1862" idx="5"/>
            <a:endCxn id="1868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70" name="Google Shape;1870;p127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71" name="Google Shape;1871;p127"/>
          <p:cNvCxnSpPr>
            <a:stCxn id="1870" idx="2"/>
            <a:endCxn id="1864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72" name="Google Shape;1872;p127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73" name="Google Shape;1873;p127"/>
          <p:cNvCxnSpPr>
            <a:stCxn id="1872" idx="2"/>
            <a:endCxn id="1870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74" name="Google Shape;1874;p127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75" name="Google Shape;1875;p127"/>
          <p:cNvCxnSpPr>
            <a:stCxn id="1874" idx="0"/>
            <a:endCxn id="1872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76" name="Google Shape;1876;p127"/>
          <p:cNvCxnSpPr>
            <a:stCxn id="1864" idx="4"/>
            <a:endCxn id="1868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80" name="Shape 1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1" name="Google Shape;1881;p12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1882" name="Google Shape;1882;p128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 find that out, we can compute the ratio between: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observed number of edges (M)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And the maximum possible for a graph of that order (Max(E))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3" name="Google Shape;1883;p128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84" name="Google Shape;1884;p128"/>
          <p:cNvCxnSpPr>
            <a:stCxn id="1883" idx="6"/>
            <a:endCxn id="1885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85" name="Google Shape;1885;p128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886" name="Google Shape;1886;p128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887" name="Google Shape;1887;p128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88" name="Google Shape;1888;p128"/>
          <p:cNvCxnSpPr>
            <a:stCxn id="1887" idx="4"/>
            <a:endCxn id="1885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89" name="Google Shape;1889;p128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90" name="Google Shape;1890;p128"/>
          <p:cNvCxnSpPr>
            <a:stCxn id="1883" idx="5"/>
            <a:endCxn id="1889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91" name="Google Shape;1891;p128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92" name="Google Shape;1892;p128"/>
          <p:cNvCxnSpPr>
            <a:stCxn id="1891" idx="2"/>
            <a:endCxn id="1885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93" name="Google Shape;1893;p128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94" name="Google Shape;1894;p128"/>
          <p:cNvCxnSpPr>
            <a:stCxn id="1893" idx="2"/>
            <a:endCxn id="1891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95" name="Google Shape;1895;p128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896" name="Google Shape;1896;p128"/>
          <p:cNvCxnSpPr>
            <a:stCxn id="1895" idx="0"/>
            <a:endCxn id="1893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97" name="Google Shape;1897;p128"/>
          <p:cNvCxnSpPr>
            <a:stCxn id="1885" idx="4"/>
            <a:endCxn id="1889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01" name="Shape 1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2" name="Google Shape;1902;p12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1903" name="Google Shape;1903;p129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 find that out, we can compute the ratio between: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observed number of edges (M)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And the maximum possible for a graph of that order (Max(E))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4" name="Google Shape;1904;p129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05" name="Google Shape;1905;p129"/>
          <p:cNvCxnSpPr>
            <a:stCxn id="1904" idx="6"/>
            <a:endCxn id="1906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06" name="Google Shape;1906;p129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07" name="Google Shape;1907;p129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08" name="Google Shape;1908;p129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09" name="Google Shape;1909;p129"/>
          <p:cNvCxnSpPr>
            <a:stCxn id="1908" idx="4"/>
            <a:endCxn id="1906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10" name="Google Shape;1910;p129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11" name="Google Shape;1911;p129"/>
          <p:cNvCxnSpPr>
            <a:stCxn id="1904" idx="5"/>
            <a:endCxn id="1910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12" name="Google Shape;1912;p129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13" name="Google Shape;1913;p129"/>
          <p:cNvCxnSpPr>
            <a:stCxn id="1912" idx="2"/>
            <a:endCxn id="1906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14" name="Google Shape;1914;p129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15" name="Google Shape;1915;p129"/>
          <p:cNvCxnSpPr>
            <a:stCxn id="1914" idx="2"/>
            <a:endCxn id="1912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16" name="Google Shape;1916;p129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17" name="Google Shape;1917;p129"/>
          <p:cNvCxnSpPr>
            <a:stCxn id="1916" idx="0"/>
            <a:endCxn id="1914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918" name="Google Shape;1918;p129"/>
          <p:cNvCxnSpPr>
            <a:stCxn id="1906" idx="4"/>
            <a:endCxn id="1910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d = \frac{M}{Max(E)}" id="1919" name="Google Shape;1919;p1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47600" y="3760625"/>
            <a:ext cx="1828800" cy="76477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23" name="Shape 1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4" name="Google Shape;1924;p13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1925" name="Google Shape;1925;p130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 find that out, we can compute the ratio between: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observed number of edges (M)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And the maximum possible for a graph of that order (Max(E))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6" name="Google Shape;1926;p130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27" name="Google Shape;1927;p130"/>
          <p:cNvCxnSpPr>
            <a:stCxn id="1926" idx="6"/>
            <a:endCxn id="1928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28" name="Google Shape;1928;p130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29" name="Google Shape;1929;p130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30" name="Google Shape;1930;p130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31" name="Google Shape;1931;p130"/>
          <p:cNvCxnSpPr>
            <a:stCxn id="1930" idx="4"/>
            <a:endCxn id="1928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32" name="Google Shape;1932;p130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33" name="Google Shape;1933;p130"/>
          <p:cNvCxnSpPr>
            <a:stCxn id="1926" idx="5"/>
            <a:endCxn id="1932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34" name="Google Shape;1934;p130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35" name="Google Shape;1935;p130"/>
          <p:cNvCxnSpPr>
            <a:stCxn id="1934" idx="2"/>
            <a:endCxn id="1928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36" name="Google Shape;1936;p130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37" name="Google Shape;1937;p130"/>
          <p:cNvCxnSpPr>
            <a:stCxn id="1936" idx="2"/>
            <a:endCxn id="1934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38" name="Google Shape;1938;p130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39" name="Google Shape;1939;p130"/>
          <p:cNvCxnSpPr>
            <a:stCxn id="1938" idx="0"/>
            <a:endCxn id="1936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940" name="Google Shape;1940;p130"/>
          <p:cNvCxnSpPr>
            <a:stCxn id="1928" idx="4"/>
            <a:endCxn id="1932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d = \frac{M}{\frac{N(N-1)}{2}}" id="1941" name="Google Shape;1941;p1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2040" y="3760625"/>
            <a:ext cx="1439920" cy="76477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45" name="Shape 1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" name="Google Shape;1946;p13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1947" name="Google Shape;1947;p131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 find that out, we can compute the ratio between: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observed number of edges (M)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And the maximum possible for a graph of that order (Max(E))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8" name="Google Shape;1948;p131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49" name="Google Shape;1949;p131"/>
          <p:cNvCxnSpPr>
            <a:stCxn id="1948" idx="6"/>
            <a:endCxn id="1950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50" name="Google Shape;1950;p131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51" name="Google Shape;1951;p131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52" name="Google Shape;1952;p131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53" name="Google Shape;1953;p131"/>
          <p:cNvCxnSpPr>
            <a:stCxn id="1952" idx="4"/>
            <a:endCxn id="1950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54" name="Google Shape;1954;p131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55" name="Google Shape;1955;p131"/>
          <p:cNvCxnSpPr>
            <a:stCxn id="1948" idx="5"/>
            <a:endCxn id="1954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56" name="Google Shape;1956;p131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57" name="Google Shape;1957;p131"/>
          <p:cNvCxnSpPr>
            <a:stCxn id="1956" idx="2"/>
            <a:endCxn id="1950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58" name="Google Shape;1958;p131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59" name="Google Shape;1959;p131"/>
          <p:cNvCxnSpPr>
            <a:stCxn id="1958" idx="2"/>
            <a:endCxn id="1956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60" name="Google Shape;1960;p131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61" name="Google Shape;1961;p131"/>
          <p:cNvCxnSpPr>
            <a:stCxn id="1960" idx="0"/>
            <a:endCxn id="1958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962" name="Google Shape;1962;p131"/>
          <p:cNvCxnSpPr>
            <a:stCxn id="1950" idx="4"/>
            <a:endCxn id="1954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d = M \times \frac{2}{N(N-1)}" id="1963" name="Google Shape;1963;p1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987015" y="3872943"/>
            <a:ext cx="2286000" cy="628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67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p13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1969" name="Google Shape;1969;p132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 find that out, we can compute the ratio between: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observed number of edges (M)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And the maximum possible for a graph of that order (Max(E))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0" name="Google Shape;1970;p132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71" name="Google Shape;1971;p132"/>
          <p:cNvCxnSpPr>
            <a:stCxn id="1970" idx="6"/>
            <a:endCxn id="1972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72" name="Google Shape;1972;p132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73" name="Google Shape;1973;p132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74" name="Google Shape;1974;p132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75" name="Google Shape;1975;p132"/>
          <p:cNvCxnSpPr>
            <a:stCxn id="1974" idx="4"/>
            <a:endCxn id="1972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76" name="Google Shape;1976;p132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77" name="Google Shape;1977;p132"/>
          <p:cNvCxnSpPr>
            <a:stCxn id="1970" idx="5"/>
            <a:endCxn id="1976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78" name="Google Shape;1978;p132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79" name="Google Shape;1979;p132"/>
          <p:cNvCxnSpPr>
            <a:stCxn id="1978" idx="2"/>
            <a:endCxn id="1972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80" name="Google Shape;1980;p132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81" name="Google Shape;1981;p132"/>
          <p:cNvCxnSpPr>
            <a:stCxn id="1980" idx="2"/>
            <a:endCxn id="1978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82" name="Google Shape;1982;p132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83" name="Google Shape;1983;p132"/>
          <p:cNvCxnSpPr>
            <a:stCxn id="1982" idx="0"/>
            <a:endCxn id="1980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984" name="Google Shape;1984;p132"/>
          <p:cNvCxnSpPr>
            <a:stCxn id="1972" idx="4"/>
            <a:endCxn id="1976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d = \frac{2M}{N(N-1)}" id="1985" name="Google Shape;1985;p13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90904" y="3872943"/>
            <a:ext cx="1678222" cy="628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89" name="Shape 1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0" name="Google Shape;1990;p13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1991" name="Google Shape;1991;p133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 find that out, we can compute the ratio between: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observed number of edges (M)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And the maximum possible for a graph of that order (Max(E))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2" name="Google Shape;1992;p133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93" name="Google Shape;1993;p133"/>
          <p:cNvCxnSpPr>
            <a:stCxn id="1992" idx="6"/>
            <a:endCxn id="1994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94" name="Google Shape;1994;p133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95" name="Google Shape;1995;p133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1996" name="Google Shape;1996;p133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97" name="Google Shape;1997;p133"/>
          <p:cNvCxnSpPr>
            <a:stCxn id="1996" idx="4"/>
            <a:endCxn id="1994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98" name="Google Shape;1998;p133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1999" name="Google Shape;1999;p133"/>
          <p:cNvCxnSpPr>
            <a:stCxn id="1992" idx="5"/>
            <a:endCxn id="1998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00" name="Google Shape;2000;p133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01" name="Google Shape;2001;p133"/>
          <p:cNvCxnSpPr>
            <a:stCxn id="2000" idx="2"/>
            <a:endCxn id="1994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02" name="Google Shape;2002;p133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03" name="Google Shape;2003;p133"/>
          <p:cNvCxnSpPr>
            <a:stCxn id="2002" idx="2"/>
            <a:endCxn id="2000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04" name="Google Shape;2004;p133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05" name="Google Shape;2005;p133"/>
          <p:cNvCxnSpPr>
            <a:stCxn id="2004" idx="0"/>
            <a:endCxn id="2002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06" name="Google Shape;2006;p133"/>
          <p:cNvCxnSpPr>
            <a:stCxn id="1994" idx="4"/>
            <a:endCxn id="1998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d = \frac{2 \times 7}{8 \times 7} = \frac{14}{56}=0.25" id="2007" name="Google Shape;2007;p1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69942" y="3835284"/>
            <a:ext cx="2743199" cy="57607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11" name="Shape 2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2" name="Google Shape;2012;p13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2013" name="Google Shape;2013;p134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Density (</a:t>
            </a:r>
            <a:r>
              <a:rPr i="1" lang="en"/>
              <a:t>d</a:t>
            </a:r>
            <a:r>
              <a:rPr lang="en"/>
              <a:t>) is always number between 0 and 1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closer </a:t>
            </a:r>
            <a:r>
              <a:rPr i="1" lang="en"/>
              <a:t>d</a:t>
            </a:r>
            <a:r>
              <a:rPr lang="en"/>
              <a:t> is to </a:t>
            </a:r>
            <a:r>
              <a:rPr b="1" lang="en"/>
              <a:t>zero</a:t>
            </a:r>
            <a:r>
              <a:rPr lang="en"/>
              <a:t> the closer the observed graph is to the </a:t>
            </a:r>
            <a:r>
              <a:rPr b="1" lang="en"/>
              <a:t>empty graph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closer </a:t>
            </a:r>
            <a:r>
              <a:rPr i="1" lang="en"/>
              <a:t>d</a:t>
            </a:r>
            <a:r>
              <a:rPr lang="en"/>
              <a:t> is to </a:t>
            </a:r>
            <a:r>
              <a:rPr b="1" lang="en"/>
              <a:t>one</a:t>
            </a:r>
            <a:r>
              <a:rPr lang="en"/>
              <a:t> the closer the observed graph is to the </a:t>
            </a:r>
            <a:r>
              <a:rPr b="1" lang="en"/>
              <a:t>complete graph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134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15" name="Google Shape;2015;p134"/>
          <p:cNvCxnSpPr>
            <a:stCxn id="2014" idx="6"/>
            <a:endCxn id="2016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16" name="Google Shape;2016;p134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17" name="Google Shape;2017;p134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18" name="Google Shape;2018;p134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19" name="Google Shape;2019;p134"/>
          <p:cNvCxnSpPr>
            <a:stCxn id="2018" idx="4"/>
            <a:endCxn id="2016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20" name="Google Shape;2020;p134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21" name="Google Shape;2021;p134"/>
          <p:cNvCxnSpPr>
            <a:stCxn id="2014" idx="5"/>
            <a:endCxn id="2020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22" name="Google Shape;2022;p134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23" name="Google Shape;2023;p134"/>
          <p:cNvCxnSpPr>
            <a:stCxn id="2022" idx="2"/>
            <a:endCxn id="2016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24" name="Google Shape;2024;p134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25" name="Google Shape;2025;p134"/>
          <p:cNvCxnSpPr>
            <a:stCxn id="2024" idx="2"/>
            <a:endCxn id="2022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26" name="Google Shape;2026;p134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27" name="Google Shape;2027;p134"/>
          <p:cNvCxnSpPr>
            <a:stCxn id="2026" idx="0"/>
            <a:endCxn id="2024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28" name="Google Shape;2028;p134"/>
          <p:cNvCxnSpPr>
            <a:stCxn id="2016" idx="4"/>
            <a:endCxn id="2020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d = \frac{2 \times 7}{8 \times 7} = \frac{14}{56}=0.25" id="2029" name="Google Shape;2029;p1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69942" y="3835284"/>
            <a:ext cx="2743199" cy="57607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33" name="Shape 2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4" name="Google Shape;2034;p13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2035" name="Google Shape;2035;p135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also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Density (</a:t>
            </a:r>
            <a:r>
              <a:rPr i="1" lang="en"/>
              <a:t>d</a:t>
            </a:r>
            <a:r>
              <a:rPr lang="en"/>
              <a:t>) is always number between 0 and 1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closer </a:t>
            </a:r>
            <a:r>
              <a:rPr i="1" lang="en"/>
              <a:t>d</a:t>
            </a:r>
            <a:r>
              <a:rPr lang="en"/>
              <a:t> is to </a:t>
            </a:r>
            <a:r>
              <a:rPr b="1" lang="en"/>
              <a:t>zero</a:t>
            </a:r>
            <a:r>
              <a:rPr lang="en"/>
              <a:t> the closer the observed graph is to the </a:t>
            </a:r>
            <a:r>
              <a:rPr b="1" lang="en"/>
              <a:t>empty graph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closer </a:t>
            </a:r>
            <a:r>
              <a:rPr i="1" lang="en"/>
              <a:t>d</a:t>
            </a:r>
            <a:r>
              <a:rPr lang="en"/>
              <a:t> is to </a:t>
            </a:r>
            <a:r>
              <a:rPr b="1" lang="en"/>
              <a:t>one</a:t>
            </a:r>
            <a:r>
              <a:rPr lang="en"/>
              <a:t> the closer the observed graph is to the </a:t>
            </a:r>
            <a:r>
              <a:rPr b="1" lang="en"/>
              <a:t>complete graph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6" name="Google Shape;2036;p135"/>
          <p:cNvSpPr/>
          <p:nvPr/>
        </p:nvSpPr>
        <p:spPr>
          <a:xfrm>
            <a:off x="2394175" y="3728350"/>
            <a:ext cx="34161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has a density equal to one!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037" name="Google Shape;2037;p135"/>
          <p:cNvCxnSpPr>
            <a:stCxn id="2036" idx="7"/>
          </p:cNvCxnSpPr>
          <p:nvPr/>
        </p:nvCxnSpPr>
        <p:spPr>
          <a:xfrm flipH="1" rot="10800000">
            <a:off x="5309999" y="3462335"/>
            <a:ext cx="580800" cy="4356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2038" name="Google Shape;2038;p135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39" name="Google Shape;2039;p135"/>
          <p:cNvCxnSpPr>
            <a:stCxn id="2038" idx="6"/>
            <a:endCxn id="2040" idx="2"/>
          </p:cNvCxnSpPr>
          <p:nvPr/>
        </p:nvCxnSpPr>
        <p:spPr>
          <a:xfrm>
            <a:off x="5707888" y="2857201"/>
            <a:ext cx="7419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40" name="Google Shape;2040;p135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41" name="Google Shape;2041;p135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42" name="Google Shape;2042;p135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43" name="Google Shape;2043;p135"/>
          <p:cNvCxnSpPr>
            <a:stCxn id="2042" idx="4"/>
            <a:endCxn id="2040" idx="0"/>
          </p:cNvCxnSpPr>
          <p:nvPr/>
        </p:nvCxnSpPr>
        <p:spPr>
          <a:xfrm>
            <a:off x="6611959" y="2015238"/>
            <a:ext cx="0" cy="68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44" name="Google Shape;2044;p135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45" name="Google Shape;2045;p135"/>
          <p:cNvCxnSpPr>
            <a:stCxn id="2038" idx="5"/>
            <a:endCxn id="2044" idx="1"/>
          </p:cNvCxnSpPr>
          <p:nvPr/>
        </p:nvCxnSpPr>
        <p:spPr>
          <a:xfrm>
            <a:off x="5660351" y="2968570"/>
            <a:ext cx="8367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46" name="Google Shape;2046;p135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47" name="Google Shape;2047;p135"/>
          <p:cNvCxnSpPr>
            <a:stCxn id="2046" idx="2"/>
            <a:endCxn id="2040" idx="6"/>
          </p:cNvCxnSpPr>
          <p:nvPr/>
        </p:nvCxnSpPr>
        <p:spPr>
          <a:xfrm rot="10800000">
            <a:off x="6774318" y="2857201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48" name="Google Shape;2048;p135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49" name="Google Shape;2049;p135"/>
          <p:cNvCxnSpPr>
            <a:stCxn id="2048" idx="2"/>
            <a:endCxn id="2046" idx="6"/>
          </p:cNvCxnSpPr>
          <p:nvPr/>
        </p:nvCxnSpPr>
        <p:spPr>
          <a:xfrm rot="10800000">
            <a:off x="7738115" y="2857201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50" name="Google Shape;2050;p135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cxnSp>
        <p:nvCxnSpPr>
          <p:cNvPr id="2051" name="Google Shape;2051;p135"/>
          <p:cNvCxnSpPr>
            <a:stCxn id="2050" idx="0"/>
            <a:endCxn id="2048" idx="4"/>
          </p:cNvCxnSpPr>
          <p:nvPr/>
        </p:nvCxnSpPr>
        <p:spPr>
          <a:xfrm rot="10800000">
            <a:off x="8704715" y="3014609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52" name="Google Shape;2052;p135"/>
          <p:cNvCxnSpPr>
            <a:stCxn id="2040" idx="4"/>
            <a:endCxn id="2044" idx="0"/>
          </p:cNvCxnSpPr>
          <p:nvPr/>
        </p:nvCxnSpPr>
        <p:spPr>
          <a:xfrm>
            <a:off x="6611980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53" name="Google Shape;2053;p135"/>
          <p:cNvCxnSpPr>
            <a:stCxn id="2038" idx="7"/>
            <a:endCxn id="2042" idx="3"/>
          </p:cNvCxnSpPr>
          <p:nvPr/>
        </p:nvCxnSpPr>
        <p:spPr>
          <a:xfrm flipH="1" rot="10800000">
            <a:off x="5660351" y="1969132"/>
            <a:ext cx="8367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54" name="Google Shape;2054;p135"/>
          <p:cNvCxnSpPr>
            <a:stCxn id="2038" idx="0"/>
            <a:endCxn id="2046" idx="7"/>
          </p:cNvCxnSpPr>
          <p:nvPr/>
        </p:nvCxnSpPr>
        <p:spPr>
          <a:xfrm flipH="1" rot="-5400000">
            <a:off x="6594988" y="1650301"/>
            <a:ext cx="46200" cy="2145000"/>
          </a:xfrm>
          <a:prstGeom prst="curvedConnector3">
            <a:avLst>
              <a:gd fmla="val -515422" name="adj1"/>
            </a:avLst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55" name="Google Shape;2055;p135"/>
          <p:cNvCxnSpPr>
            <a:stCxn id="2042" idx="5"/>
            <a:endCxn id="2046" idx="1"/>
          </p:cNvCxnSpPr>
          <p:nvPr/>
        </p:nvCxnSpPr>
        <p:spPr>
          <a:xfrm>
            <a:off x="6726723" y="1969107"/>
            <a:ext cx="734400" cy="77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56" name="Google Shape;2056;p135"/>
          <p:cNvCxnSpPr>
            <a:stCxn id="2046" idx="4"/>
            <a:endCxn id="2044" idx="7"/>
          </p:cNvCxnSpPr>
          <p:nvPr/>
        </p:nvCxnSpPr>
        <p:spPr>
          <a:xfrm flipH="1">
            <a:off x="6726618" y="3014701"/>
            <a:ext cx="8493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57" name="Google Shape;2057;p135"/>
          <p:cNvCxnSpPr>
            <a:stCxn id="2041" idx="2"/>
            <a:endCxn id="2044" idx="6"/>
          </p:cNvCxnSpPr>
          <p:nvPr/>
        </p:nvCxnSpPr>
        <p:spPr>
          <a:xfrm rot="10800000">
            <a:off x="6774318" y="3946709"/>
            <a:ext cx="639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58" name="Google Shape;2058;p135"/>
          <p:cNvCxnSpPr>
            <a:stCxn id="2046" idx="4"/>
            <a:endCxn id="2041" idx="0"/>
          </p:cNvCxnSpPr>
          <p:nvPr/>
        </p:nvCxnSpPr>
        <p:spPr>
          <a:xfrm>
            <a:off x="7575918" y="3014701"/>
            <a:ext cx="0" cy="774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59" name="Google Shape;2059;p135"/>
          <p:cNvCxnSpPr>
            <a:stCxn id="2046" idx="4"/>
            <a:endCxn id="2050" idx="1"/>
          </p:cNvCxnSpPr>
          <p:nvPr/>
        </p:nvCxnSpPr>
        <p:spPr>
          <a:xfrm>
            <a:off x="7575918" y="3014701"/>
            <a:ext cx="1014000" cy="82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0" name="Google Shape;2060;p135"/>
          <p:cNvCxnSpPr>
            <a:stCxn id="2050" idx="2"/>
            <a:endCxn id="2041" idx="6"/>
          </p:cNvCxnSpPr>
          <p:nvPr/>
        </p:nvCxnSpPr>
        <p:spPr>
          <a:xfrm rot="10800000">
            <a:off x="7738115" y="3946709"/>
            <a:ext cx="8043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1" name="Google Shape;2061;p135"/>
          <p:cNvCxnSpPr>
            <a:stCxn id="2048" idx="3"/>
            <a:endCxn id="2041" idx="7"/>
          </p:cNvCxnSpPr>
          <p:nvPr/>
        </p:nvCxnSpPr>
        <p:spPr>
          <a:xfrm flipH="1">
            <a:off x="7690552" y="2968570"/>
            <a:ext cx="899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2" name="Google Shape;2062;p135"/>
          <p:cNvCxnSpPr>
            <a:stCxn id="2048" idx="1"/>
            <a:endCxn id="2042" idx="6"/>
          </p:cNvCxnSpPr>
          <p:nvPr/>
        </p:nvCxnSpPr>
        <p:spPr>
          <a:xfrm rot="10800000">
            <a:off x="6774352" y="1857832"/>
            <a:ext cx="1815600" cy="88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3" name="Google Shape;2063;p135"/>
          <p:cNvCxnSpPr>
            <a:stCxn id="2041" idx="1"/>
            <a:endCxn id="2038" idx="5"/>
          </p:cNvCxnSpPr>
          <p:nvPr/>
        </p:nvCxnSpPr>
        <p:spPr>
          <a:xfrm rot="10800000">
            <a:off x="5660254" y="2968640"/>
            <a:ext cx="18009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4" name="Google Shape;2064;p135"/>
          <p:cNvCxnSpPr>
            <a:stCxn id="2038" idx="0"/>
            <a:endCxn id="2048" idx="0"/>
          </p:cNvCxnSpPr>
          <p:nvPr/>
        </p:nvCxnSpPr>
        <p:spPr>
          <a:xfrm flipH="1" rot="-5400000">
            <a:off x="7124788" y="1120501"/>
            <a:ext cx="600" cy="3159000"/>
          </a:xfrm>
          <a:prstGeom prst="curvedConnector3">
            <a:avLst>
              <a:gd fmla="val -54325176" name="adj1"/>
            </a:avLst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5" name="Google Shape;2065;p135"/>
          <p:cNvCxnSpPr>
            <a:stCxn id="2050" idx="1"/>
            <a:endCxn id="2038" idx="5"/>
          </p:cNvCxnSpPr>
          <p:nvPr/>
        </p:nvCxnSpPr>
        <p:spPr>
          <a:xfrm rot="10800000">
            <a:off x="5660452" y="2968640"/>
            <a:ext cx="29295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6" name="Google Shape;2066;p135"/>
          <p:cNvCxnSpPr>
            <a:stCxn id="2040" idx="0"/>
            <a:endCxn id="2048" idx="0"/>
          </p:cNvCxnSpPr>
          <p:nvPr/>
        </p:nvCxnSpPr>
        <p:spPr>
          <a:xfrm flipH="1" rot="-5400000">
            <a:off x="7658080" y="1653601"/>
            <a:ext cx="600" cy="20928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7" name="Google Shape;2067;p135"/>
          <p:cNvCxnSpPr>
            <a:stCxn id="2050" idx="1"/>
            <a:endCxn id="2040" idx="5"/>
          </p:cNvCxnSpPr>
          <p:nvPr/>
        </p:nvCxnSpPr>
        <p:spPr>
          <a:xfrm rot="10800000">
            <a:off x="6726652" y="296864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8" name="Google Shape;2068;p135"/>
          <p:cNvCxnSpPr>
            <a:stCxn id="2041" idx="1"/>
            <a:endCxn id="2040" idx="5"/>
          </p:cNvCxnSpPr>
          <p:nvPr/>
        </p:nvCxnSpPr>
        <p:spPr>
          <a:xfrm rot="10800000">
            <a:off x="6726754" y="2968640"/>
            <a:ext cx="7344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9" name="Google Shape;2069;p135"/>
          <p:cNvCxnSpPr>
            <a:stCxn id="2042" idx="2"/>
            <a:endCxn id="2044" idx="2"/>
          </p:cNvCxnSpPr>
          <p:nvPr/>
        </p:nvCxnSpPr>
        <p:spPr>
          <a:xfrm>
            <a:off x="6449659" y="1857738"/>
            <a:ext cx="600" cy="2088900"/>
          </a:xfrm>
          <a:prstGeom prst="curvedConnector3">
            <a:avLst>
              <a:gd fmla="val -39687500" name="adj1"/>
            </a:avLst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70" name="Google Shape;2070;p135"/>
          <p:cNvCxnSpPr>
            <a:stCxn id="2042" idx="6"/>
            <a:endCxn id="2050" idx="1"/>
          </p:cNvCxnSpPr>
          <p:nvPr/>
        </p:nvCxnSpPr>
        <p:spPr>
          <a:xfrm>
            <a:off x="6774259" y="1857738"/>
            <a:ext cx="1815600" cy="1977600"/>
          </a:xfrm>
          <a:prstGeom prst="curvedConnector2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71" name="Google Shape;2071;p135"/>
          <p:cNvCxnSpPr>
            <a:stCxn id="2050" idx="4"/>
            <a:endCxn id="2044" idx="4"/>
          </p:cNvCxnSpPr>
          <p:nvPr/>
        </p:nvCxnSpPr>
        <p:spPr>
          <a:xfrm rot="5400000">
            <a:off x="7658015" y="3058109"/>
            <a:ext cx="600" cy="2092800"/>
          </a:xfrm>
          <a:prstGeom prst="curvedConnector3">
            <a:avLst>
              <a:gd fmla="val 39687500" name="adj1"/>
            </a:avLst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72" name="Google Shape;2072;p135"/>
          <p:cNvCxnSpPr>
            <a:stCxn id="2041" idx="0"/>
            <a:endCxn id="2042" idx="5"/>
          </p:cNvCxnSpPr>
          <p:nvPr/>
        </p:nvCxnSpPr>
        <p:spPr>
          <a:xfrm rot="10800000">
            <a:off x="6726618" y="1969109"/>
            <a:ext cx="849300" cy="1820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73" name="Google Shape;2073;p135"/>
          <p:cNvCxnSpPr>
            <a:stCxn id="2048" idx="3"/>
            <a:endCxn id="2044" idx="7"/>
          </p:cNvCxnSpPr>
          <p:nvPr/>
        </p:nvCxnSpPr>
        <p:spPr>
          <a:xfrm flipH="1">
            <a:off x="6726652" y="2968570"/>
            <a:ext cx="1863300" cy="866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77" name="Shape 2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" name="Google Shape;2078;p13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2079" name="Google Shape;2079;p136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also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Density (</a:t>
            </a:r>
            <a:r>
              <a:rPr i="1" lang="en"/>
              <a:t>d</a:t>
            </a:r>
            <a:r>
              <a:rPr lang="en"/>
              <a:t>) is always number between 0 and 1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closer </a:t>
            </a:r>
            <a:r>
              <a:rPr i="1" lang="en"/>
              <a:t>d</a:t>
            </a:r>
            <a:r>
              <a:rPr lang="en"/>
              <a:t> is to </a:t>
            </a:r>
            <a:r>
              <a:rPr b="1" lang="en"/>
              <a:t>zero</a:t>
            </a:r>
            <a:r>
              <a:rPr lang="en"/>
              <a:t> the closer the observed graph is to the </a:t>
            </a:r>
            <a:r>
              <a:rPr b="1" lang="en"/>
              <a:t>empty graph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closer </a:t>
            </a:r>
            <a:r>
              <a:rPr i="1" lang="en"/>
              <a:t>d</a:t>
            </a:r>
            <a:r>
              <a:rPr lang="en"/>
              <a:t> is to </a:t>
            </a:r>
            <a:r>
              <a:rPr b="1" lang="en"/>
              <a:t>one</a:t>
            </a:r>
            <a:r>
              <a:rPr lang="en"/>
              <a:t> the closer the observed graph is to the </a:t>
            </a:r>
            <a:r>
              <a:rPr b="1" lang="en"/>
              <a:t>complete graph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0" name="Google Shape;2080;p136"/>
          <p:cNvSpPr/>
          <p:nvPr/>
        </p:nvSpPr>
        <p:spPr>
          <a:xfrm>
            <a:off x="2394175" y="3728350"/>
            <a:ext cx="34161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has a density equal to zero!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081" name="Google Shape;2081;p136"/>
          <p:cNvCxnSpPr>
            <a:stCxn id="2080" idx="7"/>
          </p:cNvCxnSpPr>
          <p:nvPr/>
        </p:nvCxnSpPr>
        <p:spPr>
          <a:xfrm flipH="1" rot="10800000">
            <a:off x="5309999" y="3462335"/>
            <a:ext cx="580800" cy="4356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2082" name="Google Shape;2082;p136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83" name="Google Shape;2083;p136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84" name="Google Shape;2084;p136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85" name="Google Shape;2085;p136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86" name="Google Shape;2086;p136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87" name="Google Shape;2087;p136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88" name="Google Shape;2088;p136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89" name="Google Shape;2089;p136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93" name="Shape 2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" name="Google Shape;2094;p13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Density</a:t>
            </a:r>
            <a:endParaRPr/>
          </a:p>
        </p:txBody>
      </p:sp>
      <p:sp>
        <p:nvSpPr>
          <p:cNvPr id="2095" name="Google Shape;2095;p137"/>
          <p:cNvSpPr txBox="1"/>
          <p:nvPr>
            <p:ph idx="1" type="body"/>
          </p:nvPr>
        </p:nvSpPr>
        <p:spPr>
          <a:xfrm>
            <a:off x="311700" y="1225225"/>
            <a:ext cx="521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may also be interested in how close (or far) a given graph is from its maximum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called the </a:t>
            </a:r>
            <a:r>
              <a:rPr b="1" lang="en"/>
              <a:t>density </a:t>
            </a:r>
            <a:r>
              <a:rPr lang="en"/>
              <a:t>of the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graph density can be interpreted in two other ways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As the </a:t>
            </a:r>
            <a:r>
              <a:rPr b="1" lang="en"/>
              <a:t>percentage </a:t>
            </a:r>
            <a:r>
              <a:rPr lang="en"/>
              <a:t>of possible edges that are actually present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As the </a:t>
            </a:r>
            <a:r>
              <a:rPr b="1" lang="en"/>
              <a:t>probability</a:t>
            </a:r>
            <a:r>
              <a:rPr lang="en"/>
              <a:t> that if we pick two nodes at random from the graph there will be an edge linking them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137"/>
          <p:cNvSpPr/>
          <p:nvPr/>
        </p:nvSpPr>
        <p:spPr>
          <a:xfrm>
            <a:off x="538328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2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97" name="Google Shape;2097;p137"/>
          <p:cNvSpPr/>
          <p:nvPr/>
        </p:nvSpPr>
        <p:spPr>
          <a:xfrm>
            <a:off x="6449680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3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98" name="Google Shape;2098;p137"/>
          <p:cNvSpPr/>
          <p:nvPr/>
        </p:nvSpPr>
        <p:spPr>
          <a:xfrm>
            <a:off x="7413618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6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099" name="Google Shape;2099;p137"/>
          <p:cNvSpPr/>
          <p:nvPr/>
        </p:nvSpPr>
        <p:spPr>
          <a:xfrm>
            <a:off x="6449659" y="1700238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1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100" name="Google Shape;2100;p137"/>
          <p:cNvSpPr/>
          <p:nvPr/>
        </p:nvSpPr>
        <p:spPr>
          <a:xfrm>
            <a:off x="6449659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5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101" name="Google Shape;2101;p137"/>
          <p:cNvSpPr/>
          <p:nvPr/>
        </p:nvSpPr>
        <p:spPr>
          <a:xfrm>
            <a:off x="7413618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4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102" name="Google Shape;2102;p137"/>
          <p:cNvSpPr/>
          <p:nvPr/>
        </p:nvSpPr>
        <p:spPr>
          <a:xfrm>
            <a:off x="8542415" y="2699701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7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  <p:sp>
        <p:nvSpPr>
          <p:cNvPr id="2103" name="Google Shape;2103;p137"/>
          <p:cNvSpPr/>
          <p:nvPr/>
        </p:nvSpPr>
        <p:spPr>
          <a:xfrm>
            <a:off x="8542415" y="3789209"/>
            <a:ext cx="324600" cy="3150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antarell"/>
                <a:ea typeface="Cantarell"/>
                <a:cs typeface="Cantarell"/>
                <a:sym typeface="Cantarell"/>
              </a:rPr>
              <a:t>8</a:t>
            </a:r>
            <a:endParaRPr b="1" sz="1100">
              <a:latin typeface="Cantarell"/>
              <a:ea typeface="Cantarell"/>
              <a:cs typeface="Cantarell"/>
              <a:sym typeface="Cantarell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2107" name="Shape 2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8" name="Google Shape;2108;p138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graphs</a:t>
            </a:r>
            <a:endParaRPr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12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3" name="Google Shape;2113;p13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graphs in social network analysis</a:t>
            </a:r>
            <a:endParaRPr/>
          </a:p>
        </p:txBody>
      </p:sp>
      <p:sp>
        <p:nvSpPr>
          <p:cNvPr id="2114" name="Google Shape;2114;p139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 far we have considered </a:t>
            </a:r>
            <a:r>
              <a:rPr b="1" lang="en"/>
              <a:t>simple graphs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139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16" name="Google Shape;2116;p139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17" name="Google Shape;2117;p139"/>
          <p:cNvCxnSpPr>
            <a:stCxn id="2115" idx="6"/>
            <a:endCxn id="2116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18" name="Google Shape;2118;p139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19" name="Google Shape;2119;p139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20" name="Google Shape;2120;p139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21" name="Google Shape;2121;p139"/>
          <p:cNvCxnSpPr>
            <a:stCxn id="2116" idx="7"/>
            <a:endCxn id="2118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22" name="Google Shape;2122;p139"/>
          <p:cNvCxnSpPr>
            <a:stCxn id="2120" idx="1"/>
            <a:endCxn id="2118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23" name="Google Shape;2123;p139"/>
          <p:cNvCxnSpPr>
            <a:stCxn id="2120" idx="3"/>
            <a:endCxn id="2119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24" name="Google Shape;2124;p139"/>
          <p:cNvCxnSpPr>
            <a:stCxn id="2119" idx="1"/>
            <a:endCxn id="2116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25" name="Google Shape;2125;p139"/>
          <p:cNvCxnSpPr>
            <a:stCxn id="2119" idx="0"/>
            <a:endCxn id="2118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29" name="Shape 2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0" name="Google Shape;2130;p14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graphs in social network analysis</a:t>
            </a:r>
            <a:endParaRPr/>
          </a:p>
        </p:txBody>
      </p:sp>
      <p:sp>
        <p:nvSpPr>
          <p:cNvPr id="2131" name="Google Shape;2131;p140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 far we have considered </a:t>
            </a:r>
            <a:r>
              <a:rPr b="1" lang="en"/>
              <a:t>simple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graph is a simple graph if: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only one edge joining adjacent nodes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No </a:t>
            </a:r>
            <a:r>
              <a:rPr b="1" lang="en"/>
              <a:t>multiedges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are no self-edges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No </a:t>
            </a:r>
            <a:r>
              <a:rPr b="1" lang="en"/>
              <a:t>loops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Edges lack directionality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No “arrows”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Edges don’t have any properties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Weights, signs, etc.</a:t>
            </a:r>
            <a:endParaRPr/>
          </a:p>
        </p:txBody>
      </p:sp>
      <p:sp>
        <p:nvSpPr>
          <p:cNvPr id="2132" name="Google Shape;2132;p140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33" name="Google Shape;2133;p140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34" name="Google Shape;2134;p140"/>
          <p:cNvCxnSpPr>
            <a:stCxn id="2132" idx="6"/>
            <a:endCxn id="2133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35" name="Google Shape;2135;p140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36" name="Google Shape;2136;p140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37" name="Google Shape;2137;p140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38" name="Google Shape;2138;p140"/>
          <p:cNvCxnSpPr>
            <a:stCxn id="2133" idx="7"/>
            <a:endCxn id="213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39" name="Google Shape;2139;p140"/>
          <p:cNvCxnSpPr>
            <a:stCxn id="2137" idx="1"/>
            <a:endCxn id="213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40" name="Google Shape;2140;p140"/>
          <p:cNvCxnSpPr>
            <a:stCxn id="2137" idx="3"/>
            <a:endCxn id="213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41" name="Google Shape;2141;p140"/>
          <p:cNvCxnSpPr>
            <a:stCxn id="2136" idx="1"/>
            <a:endCxn id="2133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42" name="Google Shape;2142;p140"/>
          <p:cNvCxnSpPr>
            <a:stCxn id="2136" idx="0"/>
            <a:endCxn id="2135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46" name="Shape 2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7" name="Google Shape;2147;p14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graphs in social network analysis</a:t>
            </a:r>
            <a:endParaRPr/>
          </a:p>
        </p:txBody>
      </p:sp>
      <p:sp>
        <p:nvSpPr>
          <p:cNvPr id="2148" name="Google Shape;2148;p141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 far we have considered </a:t>
            </a:r>
            <a:r>
              <a:rPr b="1" lang="en"/>
              <a:t>simple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graph is a simple graph if: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only one edge joining adjacent nodes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No </a:t>
            </a:r>
            <a:r>
              <a:rPr b="1" lang="en"/>
              <a:t>multiedges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are no self-edges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No </a:t>
            </a:r>
            <a:r>
              <a:rPr b="1" lang="en"/>
              <a:t>loops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Edges lack directionality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No “arrows”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Edges don’t have any properties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Weights, signs, etc.</a:t>
            </a:r>
            <a:endParaRPr/>
          </a:p>
        </p:txBody>
      </p:sp>
      <p:sp>
        <p:nvSpPr>
          <p:cNvPr id="2149" name="Google Shape;2149;p141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50" name="Google Shape;2150;p141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51" name="Google Shape;2151;p141"/>
          <p:cNvCxnSpPr>
            <a:stCxn id="2149" idx="6"/>
            <a:endCxn id="2150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52" name="Google Shape;2152;p141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53" name="Google Shape;2153;p141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54" name="Google Shape;2154;p141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55" name="Google Shape;2155;p141"/>
          <p:cNvCxnSpPr>
            <a:stCxn id="2150" idx="7"/>
            <a:endCxn id="2152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56" name="Google Shape;2156;p141"/>
          <p:cNvCxnSpPr>
            <a:stCxn id="2154" idx="1"/>
            <a:endCxn id="2152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57" name="Google Shape;2157;p141"/>
          <p:cNvCxnSpPr>
            <a:stCxn id="2154" idx="3"/>
            <a:endCxn id="2153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58" name="Google Shape;2158;p141"/>
          <p:cNvCxnSpPr>
            <a:stCxn id="2153" idx="1"/>
            <a:endCxn id="2150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59" name="Google Shape;2159;p141"/>
          <p:cNvCxnSpPr>
            <a:stCxn id="2153" idx="0"/>
            <a:endCxn id="2152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60" name="Google Shape;2160;p141"/>
          <p:cNvSpPr/>
          <p:nvPr/>
        </p:nvSpPr>
        <p:spPr>
          <a:xfrm>
            <a:off x="4412850" y="3762225"/>
            <a:ext cx="20304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simple graph!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161" name="Google Shape;2161;p141"/>
          <p:cNvCxnSpPr>
            <a:stCxn id="2160" idx="7"/>
          </p:cNvCxnSpPr>
          <p:nvPr/>
        </p:nvCxnSpPr>
        <p:spPr>
          <a:xfrm flipH="1" rot="10800000">
            <a:off x="6145905" y="3496210"/>
            <a:ext cx="580800" cy="4356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65" name="Shape 2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6" name="Google Shape;2166;p14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Undirected Graphs</a:t>
            </a:r>
            <a:endParaRPr/>
          </a:p>
        </p:txBody>
      </p:sp>
      <p:sp>
        <p:nvSpPr>
          <p:cNvPr id="2167" name="Google Shape;2167;p142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Depending on the </a:t>
            </a:r>
            <a:r>
              <a:rPr b="1" lang="en"/>
              <a:t>type of social tie</a:t>
            </a:r>
            <a:r>
              <a:rPr lang="en"/>
              <a:t> we are studying we may need to consider other types of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For </a:t>
            </a:r>
            <a:r>
              <a:rPr b="1" lang="en"/>
              <a:t>symmetric ties</a:t>
            </a:r>
            <a:r>
              <a:rPr lang="en"/>
              <a:t> like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Similarities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Colocation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Co-memberships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type of simple graph called an </a:t>
            </a:r>
            <a:r>
              <a:rPr b="1" lang="en"/>
              <a:t>undirected graph </a:t>
            </a:r>
            <a:r>
              <a:rPr lang="en"/>
              <a:t>is fine</a:t>
            </a:r>
            <a:endParaRPr/>
          </a:p>
        </p:txBody>
      </p:sp>
      <p:sp>
        <p:nvSpPr>
          <p:cNvPr id="2168" name="Google Shape;2168;p142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69" name="Google Shape;2169;p142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70" name="Google Shape;2170;p142"/>
          <p:cNvCxnSpPr>
            <a:stCxn id="2168" idx="6"/>
            <a:endCxn id="216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71" name="Google Shape;2171;p142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72" name="Google Shape;2172;p142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73" name="Google Shape;2173;p142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74" name="Google Shape;2174;p142"/>
          <p:cNvCxnSpPr>
            <a:stCxn id="2169" idx="7"/>
            <a:endCxn id="217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75" name="Google Shape;2175;p142"/>
          <p:cNvCxnSpPr>
            <a:stCxn id="2173" idx="1"/>
            <a:endCxn id="217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76" name="Google Shape;2176;p142"/>
          <p:cNvCxnSpPr>
            <a:stCxn id="2173" idx="3"/>
            <a:endCxn id="217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77" name="Google Shape;2177;p142"/>
          <p:cNvCxnSpPr>
            <a:stCxn id="2172" idx="1"/>
            <a:endCxn id="216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78" name="Google Shape;2178;p142"/>
          <p:cNvCxnSpPr>
            <a:stCxn id="2172" idx="0"/>
            <a:endCxn id="217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79" name="Google Shape;2179;p142"/>
          <p:cNvCxnSpPr/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80" name="Google Shape;2180;p142"/>
          <p:cNvSpPr/>
          <p:nvPr/>
        </p:nvSpPr>
        <p:spPr>
          <a:xfrm>
            <a:off x="4412850" y="3762225"/>
            <a:ext cx="20304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an undirected graph!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181" name="Google Shape;2181;p142"/>
          <p:cNvCxnSpPr>
            <a:stCxn id="2180" idx="7"/>
          </p:cNvCxnSpPr>
          <p:nvPr/>
        </p:nvCxnSpPr>
        <p:spPr>
          <a:xfrm flipH="1" rot="10800000">
            <a:off x="6145905" y="3496210"/>
            <a:ext cx="580800" cy="4356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85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6" name="Google Shape;2186;p14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Undirected Graphs</a:t>
            </a:r>
            <a:endParaRPr/>
          </a:p>
        </p:txBody>
      </p:sp>
      <p:sp>
        <p:nvSpPr>
          <p:cNvPr id="2187" name="Google Shape;2187;p143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Depending on the </a:t>
            </a:r>
            <a:r>
              <a:rPr b="1" lang="en"/>
              <a:t>type of social tie</a:t>
            </a:r>
            <a:r>
              <a:rPr lang="en"/>
              <a:t> we are studying we may need to consider other types of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For </a:t>
            </a:r>
            <a:r>
              <a:rPr b="1" lang="en"/>
              <a:t>symmetric ties</a:t>
            </a:r>
            <a:r>
              <a:rPr lang="en"/>
              <a:t> like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Similarities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Colocation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Co-memberships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type of simple graph called an </a:t>
            </a:r>
            <a:r>
              <a:rPr b="1" lang="en"/>
              <a:t>undirected graph </a:t>
            </a:r>
            <a:r>
              <a:rPr lang="en"/>
              <a:t>is fine</a:t>
            </a:r>
            <a:endParaRPr/>
          </a:p>
        </p:txBody>
      </p:sp>
      <p:sp>
        <p:nvSpPr>
          <p:cNvPr id="2188" name="Google Shape;2188;p143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89" name="Google Shape;2189;p143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90" name="Google Shape;2190;p143"/>
          <p:cNvCxnSpPr>
            <a:stCxn id="2188" idx="6"/>
            <a:endCxn id="218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91" name="Google Shape;2191;p143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92" name="Google Shape;2192;p143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193" name="Google Shape;2193;p143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194" name="Google Shape;2194;p143"/>
          <p:cNvCxnSpPr>
            <a:stCxn id="2189" idx="7"/>
            <a:endCxn id="219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95" name="Google Shape;2195;p143"/>
          <p:cNvCxnSpPr>
            <a:stCxn id="2193" idx="1"/>
            <a:endCxn id="219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96" name="Google Shape;2196;p143"/>
          <p:cNvCxnSpPr>
            <a:stCxn id="2193" idx="3"/>
            <a:endCxn id="219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97" name="Google Shape;2197;p143"/>
          <p:cNvCxnSpPr>
            <a:stCxn id="2192" idx="1"/>
            <a:endCxn id="218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98" name="Google Shape;2198;p143"/>
          <p:cNvCxnSpPr>
            <a:stCxn id="2192" idx="0"/>
            <a:endCxn id="219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99" name="Google Shape;2199;p143"/>
          <p:cNvCxnSpPr/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00" name="Google Shape;2200;p143"/>
          <p:cNvSpPr/>
          <p:nvPr/>
        </p:nvSpPr>
        <p:spPr>
          <a:xfrm>
            <a:off x="2612050" y="3762225"/>
            <a:ext cx="38313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can represent such ties as spending time together or being a member of the same club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201" name="Google Shape;2201;p143"/>
          <p:cNvCxnSpPr>
            <a:stCxn id="2200" idx="7"/>
          </p:cNvCxnSpPr>
          <p:nvPr/>
        </p:nvCxnSpPr>
        <p:spPr>
          <a:xfrm flipH="1" rot="10800000">
            <a:off x="5882269" y="3496210"/>
            <a:ext cx="580800" cy="4356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05" name="Shape 2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6" name="Google Shape;2206;p14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Undirected Graphs</a:t>
            </a:r>
            <a:endParaRPr/>
          </a:p>
        </p:txBody>
      </p:sp>
      <p:sp>
        <p:nvSpPr>
          <p:cNvPr id="2207" name="Google Shape;2207;p144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an undirected graph there are </a:t>
            </a:r>
            <a:r>
              <a:rPr b="1" lang="en"/>
              <a:t>two</a:t>
            </a:r>
            <a:r>
              <a:rPr lang="en"/>
              <a:t> kinds of </a:t>
            </a:r>
            <a:r>
              <a:rPr b="1" lang="en"/>
              <a:t>dyads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8" name="Google Shape;2208;p144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09" name="Google Shape;2209;p144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10" name="Google Shape;2210;p144"/>
          <p:cNvCxnSpPr>
            <a:stCxn id="2208" idx="6"/>
            <a:endCxn id="220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11" name="Google Shape;2211;p144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12" name="Google Shape;2212;p144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13" name="Google Shape;2213;p144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14" name="Google Shape;2214;p144"/>
          <p:cNvCxnSpPr>
            <a:stCxn id="2209" idx="7"/>
            <a:endCxn id="221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15" name="Google Shape;2215;p144"/>
          <p:cNvCxnSpPr>
            <a:stCxn id="2213" idx="1"/>
            <a:endCxn id="221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16" name="Google Shape;2216;p144"/>
          <p:cNvCxnSpPr>
            <a:stCxn id="2213" idx="3"/>
            <a:endCxn id="221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17" name="Google Shape;2217;p144"/>
          <p:cNvCxnSpPr>
            <a:stCxn id="2212" idx="1"/>
            <a:endCxn id="220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18" name="Google Shape;2218;p144"/>
          <p:cNvCxnSpPr>
            <a:stCxn id="2212" idx="0"/>
            <a:endCxn id="221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19" name="Google Shape;2219;p144"/>
          <p:cNvCxnSpPr/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20" name="Google Shape;2220;p144"/>
          <p:cNvSpPr/>
          <p:nvPr/>
        </p:nvSpPr>
        <p:spPr>
          <a:xfrm>
            <a:off x="3411750" y="3762225"/>
            <a:ext cx="30315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Reminder: A dyad is a subgraph of order 2!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24" name="Shape 2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5" name="Google Shape;2225;p14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Undirected Graphs</a:t>
            </a:r>
            <a:endParaRPr/>
          </a:p>
        </p:txBody>
      </p:sp>
      <p:sp>
        <p:nvSpPr>
          <p:cNvPr id="2226" name="Google Shape;2226;p145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an undirected graph there are </a:t>
            </a:r>
            <a:r>
              <a:rPr b="1" lang="en"/>
              <a:t>two</a:t>
            </a:r>
            <a:r>
              <a:rPr lang="en"/>
              <a:t> kinds of </a:t>
            </a:r>
            <a:r>
              <a:rPr b="1" lang="en"/>
              <a:t>dyads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Connected Dyads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Like the B and E Dyad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7" name="Google Shape;2227;p145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28" name="Google Shape;2228;p145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29" name="Google Shape;2229;p145"/>
          <p:cNvCxnSpPr>
            <a:stCxn id="2227" idx="6"/>
            <a:endCxn id="2228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30" name="Google Shape;2230;p145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31" name="Google Shape;2231;p145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32" name="Google Shape;2232;p145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33" name="Google Shape;2233;p145"/>
          <p:cNvCxnSpPr>
            <a:stCxn id="2228" idx="7"/>
            <a:endCxn id="2230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34" name="Google Shape;2234;p145"/>
          <p:cNvCxnSpPr>
            <a:stCxn id="2232" idx="1"/>
            <a:endCxn id="2230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35" name="Google Shape;2235;p145"/>
          <p:cNvCxnSpPr>
            <a:stCxn id="2232" idx="3"/>
            <a:endCxn id="2231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36" name="Google Shape;2236;p145"/>
          <p:cNvCxnSpPr>
            <a:stCxn id="2231" idx="1"/>
            <a:endCxn id="2228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37" name="Google Shape;2237;p145"/>
          <p:cNvCxnSpPr>
            <a:stCxn id="2231" idx="0"/>
            <a:endCxn id="2230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38" name="Google Shape;2238;p145"/>
          <p:cNvCxnSpPr/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39" name="Google Shape;2239;p145"/>
          <p:cNvSpPr/>
          <p:nvPr/>
        </p:nvSpPr>
        <p:spPr>
          <a:xfrm>
            <a:off x="3411750" y="3762225"/>
            <a:ext cx="30315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Reminder: A dyad is a subgraph of order 2!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43" name="Shape 2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4" name="Google Shape;2244;p14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Undirected Graphs</a:t>
            </a:r>
            <a:endParaRPr/>
          </a:p>
        </p:txBody>
      </p:sp>
      <p:sp>
        <p:nvSpPr>
          <p:cNvPr id="2245" name="Google Shape;2245;p146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an undirected graph there are </a:t>
            </a:r>
            <a:r>
              <a:rPr b="1" lang="en"/>
              <a:t>two</a:t>
            </a:r>
            <a:r>
              <a:rPr lang="en"/>
              <a:t> kinds of </a:t>
            </a:r>
            <a:r>
              <a:rPr b="1" lang="en"/>
              <a:t>dyads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Connected Dyads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Like the B and E Dyad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Disconnected Dyads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Like the B and D dyad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6" name="Google Shape;2246;p146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47" name="Google Shape;2247;p146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48" name="Google Shape;2248;p146"/>
          <p:cNvCxnSpPr>
            <a:stCxn id="2246" idx="6"/>
            <a:endCxn id="2247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49" name="Google Shape;2249;p146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50" name="Google Shape;2250;p146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51" name="Google Shape;2251;p146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52" name="Google Shape;2252;p146"/>
          <p:cNvCxnSpPr>
            <a:stCxn id="2247" idx="7"/>
            <a:endCxn id="2249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53" name="Google Shape;2253;p146"/>
          <p:cNvCxnSpPr>
            <a:stCxn id="2251" idx="1"/>
            <a:endCxn id="2249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54" name="Google Shape;2254;p146"/>
          <p:cNvCxnSpPr>
            <a:stCxn id="2251" idx="3"/>
            <a:endCxn id="2250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55" name="Google Shape;2255;p146"/>
          <p:cNvCxnSpPr>
            <a:stCxn id="2250" idx="1"/>
            <a:endCxn id="2247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56" name="Google Shape;2256;p146"/>
          <p:cNvCxnSpPr>
            <a:stCxn id="2250" idx="0"/>
            <a:endCxn id="2249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57" name="Google Shape;2257;p146"/>
          <p:cNvCxnSpPr/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58" name="Google Shape;2258;p146"/>
          <p:cNvSpPr/>
          <p:nvPr/>
        </p:nvSpPr>
        <p:spPr>
          <a:xfrm>
            <a:off x="3411750" y="3762225"/>
            <a:ext cx="30315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Reminder: A dyad is a subgraph of order 2!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62" name="Shape 2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" name="Google Shape;2263;p14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graphs in social network analysis</a:t>
            </a:r>
            <a:endParaRPr/>
          </a:p>
        </p:txBody>
      </p:sp>
      <p:sp>
        <p:nvSpPr>
          <p:cNvPr id="2264" name="Google Shape;2264;p147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if the relationship we are studying is asymmetric?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Knowing someone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Giving advice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Providing support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5" name="Google Shape;2265;p147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66" name="Google Shape;2266;p147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67" name="Google Shape;2267;p147"/>
          <p:cNvCxnSpPr>
            <a:stCxn id="2265" idx="6"/>
            <a:endCxn id="2266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68" name="Google Shape;2268;p147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69" name="Google Shape;2269;p147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70" name="Google Shape;2270;p147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71" name="Google Shape;2271;p147"/>
          <p:cNvCxnSpPr>
            <a:stCxn id="2266" idx="7"/>
            <a:endCxn id="2268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72" name="Google Shape;2272;p147"/>
          <p:cNvCxnSpPr>
            <a:stCxn id="2270" idx="1"/>
            <a:endCxn id="2268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73" name="Google Shape;2273;p147"/>
          <p:cNvCxnSpPr>
            <a:stCxn id="2270" idx="3"/>
            <a:endCxn id="2269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74" name="Google Shape;2274;p147"/>
          <p:cNvCxnSpPr>
            <a:stCxn id="2269" idx="0"/>
            <a:endCxn id="2268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78" name="Shape 2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9" name="Google Shape;2279;p14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280" name="Google Shape;2280;p148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if the relationship we are studying is asymmetric?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Knowing someone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Giving advice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Providing support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Then we need a graph that represents: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Directionality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Reciprocity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directed graph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1" name="Google Shape;2281;p148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82" name="Google Shape;2282;p148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83" name="Google Shape;2283;p148"/>
          <p:cNvCxnSpPr>
            <a:stCxn id="2281" idx="5"/>
            <a:endCxn id="2282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284" name="Google Shape;2284;p148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85" name="Google Shape;2285;p148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286" name="Google Shape;2286;p148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287" name="Google Shape;2287;p148"/>
          <p:cNvCxnSpPr>
            <a:stCxn id="2282" idx="7"/>
            <a:endCxn id="228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288" name="Google Shape;2288;p148"/>
          <p:cNvCxnSpPr>
            <a:stCxn id="2286" idx="1"/>
            <a:endCxn id="228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289" name="Google Shape;2289;p148"/>
          <p:cNvCxnSpPr>
            <a:stCxn id="2286" idx="3"/>
            <a:endCxn id="228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290" name="Google Shape;2290;p148"/>
          <p:cNvCxnSpPr>
            <a:stCxn id="2285" idx="1"/>
            <a:endCxn id="2284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291" name="Google Shape;2291;p148"/>
          <p:cNvCxnSpPr>
            <a:stCxn id="2285" idx="2"/>
            <a:endCxn id="2282" idx="4"/>
          </p:cNvCxnSpPr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292" name="Google Shape;2292;p148"/>
          <p:cNvCxnSpPr>
            <a:stCxn id="2285" idx="0"/>
            <a:endCxn id="2282" idx="6"/>
          </p:cNvCxnSpPr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293" name="Google Shape;2293;p148"/>
          <p:cNvCxnSpPr>
            <a:stCxn id="2285" idx="7"/>
            <a:endCxn id="2284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294" name="Google Shape;2294;p148"/>
          <p:cNvCxnSpPr>
            <a:stCxn id="2282" idx="1"/>
            <a:endCxn id="2281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98" name="Shape 2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9" name="Google Shape;2299;p14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300" name="Google Shape;2300;p149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if the relationship we are studying is asymmetric?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Knowing someone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Giving advice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Providing support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Then we need a graph that represents: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Directionality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Reciprocity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directed graph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Directed graphs are also called </a:t>
            </a:r>
            <a:r>
              <a:rPr b="1" lang="en"/>
              <a:t>digraphs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1" name="Google Shape;2301;p149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02" name="Google Shape;2302;p149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03" name="Google Shape;2303;p149"/>
          <p:cNvCxnSpPr>
            <a:stCxn id="2301" idx="5"/>
            <a:endCxn id="2302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304" name="Google Shape;2304;p149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05" name="Google Shape;2305;p149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06" name="Google Shape;2306;p149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07" name="Google Shape;2307;p149"/>
          <p:cNvCxnSpPr>
            <a:stCxn id="2302" idx="7"/>
            <a:endCxn id="230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08" name="Google Shape;2308;p149"/>
          <p:cNvCxnSpPr>
            <a:stCxn id="2306" idx="1"/>
            <a:endCxn id="230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09" name="Google Shape;2309;p149"/>
          <p:cNvCxnSpPr>
            <a:stCxn id="2306" idx="3"/>
            <a:endCxn id="230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10" name="Google Shape;2310;p149"/>
          <p:cNvCxnSpPr>
            <a:stCxn id="2305" idx="1"/>
            <a:endCxn id="2304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11" name="Google Shape;2311;p149"/>
          <p:cNvCxnSpPr>
            <a:stCxn id="2305" idx="2"/>
            <a:endCxn id="2302" idx="4"/>
          </p:cNvCxnSpPr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12" name="Google Shape;2312;p149"/>
          <p:cNvCxnSpPr>
            <a:stCxn id="2305" idx="0"/>
            <a:endCxn id="2302" idx="6"/>
          </p:cNvCxnSpPr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13" name="Google Shape;2313;p149"/>
          <p:cNvCxnSpPr>
            <a:stCxn id="2305" idx="7"/>
            <a:endCxn id="2304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14" name="Google Shape;2314;p149"/>
          <p:cNvCxnSpPr>
            <a:stCxn id="2302" idx="1"/>
            <a:endCxn id="2301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18" name="Shape 2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9" name="Google Shape;2319;p15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320" name="Google Shape;2320;p150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if the relationship we are studying is asymmetric?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Knowing someone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Giving advice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Providing support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Then we need a graph that represents: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Directionality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Reciprocity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directed graph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Directed graphs are also called </a:t>
            </a:r>
            <a:r>
              <a:rPr b="1" lang="en"/>
              <a:t>digraphs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1" name="Google Shape;2321;p150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22" name="Google Shape;2322;p150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23" name="Google Shape;2323;p150"/>
          <p:cNvCxnSpPr>
            <a:stCxn id="2321" idx="5"/>
            <a:endCxn id="2322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324" name="Google Shape;2324;p150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25" name="Google Shape;2325;p150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26" name="Google Shape;2326;p150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27" name="Google Shape;2327;p150"/>
          <p:cNvCxnSpPr>
            <a:stCxn id="2322" idx="7"/>
            <a:endCxn id="232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28" name="Google Shape;2328;p150"/>
          <p:cNvCxnSpPr>
            <a:stCxn id="2326" idx="1"/>
            <a:endCxn id="232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29" name="Google Shape;2329;p150"/>
          <p:cNvCxnSpPr>
            <a:stCxn id="2326" idx="3"/>
            <a:endCxn id="232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30" name="Google Shape;2330;p150"/>
          <p:cNvCxnSpPr>
            <a:stCxn id="2325" idx="1"/>
            <a:endCxn id="2324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31" name="Google Shape;2331;p150"/>
          <p:cNvCxnSpPr>
            <a:stCxn id="2325" idx="2"/>
            <a:endCxn id="2322" idx="4"/>
          </p:cNvCxnSpPr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32" name="Google Shape;2332;p150"/>
          <p:cNvCxnSpPr>
            <a:stCxn id="2325" idx="0"/>
            <a:endCxn id="2322" idx="6"/>
          </p:cNvCxnSpPr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33" name="Google Shape;2333;p150"/>
          <p:cNvCxnSpPr>
            <a:stCxn id="2325" idx="7"/>
            <a:endCxn id="2324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34" name="Google Shape;2334;p150"/>
          <p:cNvCxnSpPr>
            <a:stCxn id="2322" idx="1"/>
            <a:endCxn id="2321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335" name="Google Shape;2335;p150"/>
          <p:cNvSpPr/>
          <p:nvPr/>
        </p:nvSpPr>
        <p:spPr>
          <a:xfrm>
            <a:off x="4182700" y="3762225"/>
            <a:ext cx="22608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can represent an advice network!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336" name="Google Shape;2336;p150"/>
          <p:cNvCxnSpPr>
            <a:stCxn id="2335" idx="7"/>
          </p:cNvCxnSpPr>
          <p:nvPr/>
        </p:nvCxnSpPr>
        <p:spPr>
          <a:xfrm flipH="1" rot="10800000">
            <a:off x="6112414" y="3616510"/>
            <a:ext cx="423300" cy="3153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40" name="Shape 2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1" name="Google Shape;2341;p15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342" name="Google Shape;2342;p151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each edge has: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>
                <a:solidFill>
                  <a:schemeClr val="accent6"/>
                </a:solidFill>
              </a:rPr>
              <a:t>source node</a:t>
            </a:r>
            <a:endParaRPr b="1">
              <a:solidFill>
                <a:schemeClr val="accent6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>
                <a:solidFill>
                  <a:schemeClr val="accent3"/>
                </a:solidFill>
              </a:rPr>
              <a:t>destination node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3" name="Google Shape;2343;p151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44" name="Google Shape;2344;p151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45" name="Google Shape;2345;p151"/>
          <p:cNvCxnSpPr>
            <a:stCxn id="2343" idx="5"/>
            <a:endCxn id="2344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346" name="Google Shape;2346;p151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47" name="Google Shape;2347;p151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48" name="Google Shape;2348;p151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49" name="Google Shape;2349;p151"/>
          <p:cNvCxnSpPr>
            <a:stCxn id="2344" idx="7"/>
            <a:endCxn id="2346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50" name="Google Shape;2350;p151"/>
          <p:cNvCxnSpPr>
            <a:stCxn id="2348" idx="1"/>
            <a:endCxn id="2346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51" name="Google Shape;2351;p151"/>
          <p:cNvCxnSpPr>
            <a:stCxn id="2348" idx="3"/>
            <a:endCxn id="2347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52" name="Google Shape;2352;p151"/>
          <p:cNvCxnSpPr>
            <a:stCxn id="2347" idx="1"/>
            <a:endCxn id="2346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53" name="Google Shape;2353;p151"/>
          <p:cNvCxnSpPr>
            <a:stCxn id="2347" idx="2"/>
            <a:endCxn id="2344" idx="4"/>
          </p:cNvCxnSpPr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54" name="Google Shape;2354;p151"/>
          <p:cNvCxnSpPr>
            <a:stCxn id="2347" idx="0"/>
            <a:endCxn id="2344" idx="6"/>
          </p:cNvCxnSpPr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55" name="Google Shape;2355;p151"/>
          <p:cNvCxnSpPr>
            <a:stCxn id="2347" idx="7"/>
            <a:endCxn id="2346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56" name="Google Shape;2356;p151"/>
          <p:cNvCxnSpPr>
            <a:stCxn id="2344" idx="1"/>
            <a:endCxn id="2343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357" name="Google Shape;2357;p151"/>
          <p:cNvSpPr/>
          <p:nvPr/>
        </p:nvSpPr>
        <p:spPr>
          <a:xfrm>
            <a:off x="4182700" y="3762225"/>
            <a:ext cx="22608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can also represent an exchange network!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358" name="Google Shape;2358;p151"/>
          <p:cNvCxnSpPr>
            <a:stCxn id="2357" idx="7"/>
          </p:cNvCxnSpPr>
          <p:nvPr/>
        </p:nvCxnSpPr>
        <p:spPr>
          <a:xfrm flipH="1" rot="10800000">
            <a:off x="6112414" y="3616510"/>
            <a:ext cx="423300" cy="3153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62" name="Shape 2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3" name="Google Shape;2363;p15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364" name="Google Shape;2364;p152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each edge has: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>
                <a:solidFill>
                  <a:schemeClr val="accent6"/>
                </a:solidFill>
              </a:rPr>
              <a:t>source node</a:t>
            </a:r>
            <a:endParaRPr b="1">
              <a:solidFill>
                <a:schemeClr val="accent6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>
                <a:solidFill>
                  <a:schemeClr val="accent3"/>
                </a:solidFill>
              </a:rPr>
              <a:t>destination node</a:t>
            </a:r>
            <a:endParaRPr b="1">
              <a:solidFill>
                <a:schemeClr val="accent3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edge BE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is the source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 is the destination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5" name="Google Shape;2365;p152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66" name="Google Shape;2366;p152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3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67" name="Google Shape;2367;p152"/>
          <p:cNvCxnSpPr>
            <a:stCxn id="2365" idx="5"/>
            <a:endCxn id="2366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368" name="Google Shape;2368;p152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69" name="Google Shape;2369;p152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70" name="Google Shape;2370;p152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71" name="Google Shape;2371;p152"/>
          <p:cNvCxnSpPr>
            <a:stCxn id="2366" idx="7"/>
            <a:endCxn id="2368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72" name="Google Shape;2372;p152"/>
          <p:cNvCxnSpPr>
            <a:stCxn id="2370" idx="1"/>
            <a:endCxn id="2368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73" name="Google Shape;2373;p152"/>
          <p:cNvCxnSpPr>
            <a:stCxn id="2370" idx="3"/>
            <a:endCxn id="2369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74" name="Google Shape;2374;p152"/>
          <p:cNvCxnSpPr>
            <a:stCxn id="2369" idx="1"/>
            <a:endCxn id="2368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75" name="Google Shape;2375;p152"/>
          <p:cNvCxnSpPr>
            <a:stCxn id="2369" idx="2"/>
            <a:endCxn id="2366" idx="4"/>
          </p:cNvCxnSpPr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76" name="Google Shape;2376;p152"/>
          <p:cNvCxnSpPr>
            <a:stCxn id="2369" idx="0"/>
            <a:endCxn id="2366" idx="6"/>
          </p:cNvCxnSpPr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77" name="Google Shape;2377;p152"/>
          <p:cNvCxnSpPr>
            <a:stCxn id="2369" idx="7"/>
            <a:endCxn id="2368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78" name="Google Shape;2378;p152"/>
          <p:cNvCxnSpPr>
            <a:stCxn id="2366" idx="1"/>
            <a:endCxn id="2365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379" name="Google Shape;2379;p152"/>
          <p:cNvSpPr/>
          <p:nvPr/>
        </p:nvSpPr>
        <p:spPr>
          <a:xfrm>
            <a:off x="4182700" y="3762225"/>
            <a:ext cx="22608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can represent an advice network!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380" name="Google Shape;2380;p152"/>
          <p:cNvCxnSpPr>
            <a:stCxn id="2379" idx="7"/>
          </p:cNvCxnSpPr>
          <p:nvPr/>
        </p:nvCxnSpPr>
        <p:spPr>
          <a:xfrm flipH="1" rot="10800000">
            <a:off x="6112414" y="3616510"/>
            <a:ext cx="423300" cy="3153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84" name="Shape 2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" name="Google Shape;2385;p15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386" name="Google Shape;2386;p153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each edge has: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>
                <a:solidFill>
                  <a:schemeClr val="accent6"/>
                </a:solidFill>
              </a:rPr>
              <a:t>source node</a:t>
            </a:r>
            <a:endParaRPr b="1">
              <a:solidFill>
                <a:schemeClr val="accent6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>
                <a:solidFill>
                  <a:schemeClr val="accent3"/>
                </a:solidFill>
              </a:rPr>
              <a:t>destination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edge BE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is the source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 is the destination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edge EB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 is the source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is the destination node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7" name="Google Shape;2387;p153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3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88" name="Google Shape;2388;p153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89" name="Google Shape;2389;p153"/>
          <p:cNvCxnSpPr>
            <a:stCxn id="2387" idx="5"/>
            <a:endCxn id="2388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390" name="Google Shape;2390;p153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91" name="Google Shape;2391;p153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392" name="Google Shape;2392;p153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393" name="Google Shape;2393;p153"/>
          <p:cNvCxnSpPr>
            <a:stCxn id="2388" idx="7"/>
            <a:endCxn id="2390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94" name="Google Shape;2394;p153"/>
          <p:cNvCxnSpPr>
            <a:stCxn id="2392" idx="1"/>
            <a:endCxn id="2390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95" name="Google Shape;2395;p153"/>
          <p:cNvCxnSpPr>
            <a:stCxn id="2392" idx="3"/>
            <a:endCxn id="2391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96" name="Google Shape;2396;p153"/>
          <p:cNvCxnSpPr>
            <a:stCxn id="2391" idx="1"/>
            <a:endCxn id="2390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97" name="Google Shape;2397;p153"/>
          <p:cNvCxnSpPr>
            <a:stCxn id="2391" idx="2"/>
            <a:endCxn id="2388" idx="4"/>
          </p:cNvCxnSpPr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398" name="Google Shape;2398;p153"/>
          <p:cNvCxnSpPr>
            <a:stCxn id="2391" idx="0"/>
            <a:endCxn id="2388" idx="6"/>
          </p:cNvCxnSpPr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99" name="Google Shape;2399;p153"/>
          <p:cNvCxnSpPr>
            <a:stCxn id="2391" idx="7"/>
            <a:endCxn id="2390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00" name="Google Shape;2400;p153"/>
          <p:cNvCxnSpPr>
            <a:stCxn id="2388" idx="1"/>
            <a:endCxn id="2387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401" name="Google Shape;2401;p153"/>
          <p:cNvSpPr/>
          <p:nvPr/>
        </p:nvSpPr>
        <p:spPr>
          <a:xfrm>
            <a:off x="4182700" y="3762225"/>
            <a:ext cx="22608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can represent an advice network!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402" name="Google Shape;2402;p153"/>
          <p:cNvCxnSpPr>
            <a:stCxn id="2401" idx="7"/>
          </p:cNvCxnSpPr>
          <p:nvPr/>
        </p:nvCxnSpPr>
        <p:spPr>
          <a:xfrm flipH="1" rot="10800000">
            <a:off x="6112414" y="3616510"/>
            <a:ext cx="423300" cy="3153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06" name="Shape 2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7" name="Google Shape;2407;p15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408" name="Google Shape;2408;p154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each edge has: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>
                <a:solidFill>
                  <a:schemeClr val="accent6"/>
                </a:solidFill>
              </a:rPr>
              <a:t>source node</a:t>
            </a:r>
            <a:endParaRPr b="1">
              <a:solidFill>
                <a:schemeClr val="accent6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>
                <a:solidFill>
                  <a:schemeClr val="accent3"/>
                </a:solidFill>
              </a:rPr>
              <a:t>destination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edge BE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is the source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 is the destination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edge EB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 is the source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is the destination node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9" name="Google Shape;2409;p154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3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10" name="Google Shape;2410;p154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11" name="Google Shape;2411;p154"/>
          <p:cNvCxnSpPr>
            <a:stCxn id="2409" idx="5"/>
            <a:endCxn id="2410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412" name="Google Shape;2412;p154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13" name="Google Shape;2413;p154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14" name="Google Shape;2414;p154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15" name="Google Shape;2415;p154"/>
          <p:cNvCxnSpPr>
            <a:stCxn id="2410" idx="7"/>
            <a:endCxn id="2412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16" name="Google Shape;2416;p154"/>
          <p:cNvCxnSpPr>
            <a:stCxn id="2414" idx="1"/>
            <a:endCxn id="2412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17" name="Google Shape;2417;p154"/>
          <p:cNvCxnSpPr>
            <a:stCxn id="2414" idx="3"/>
            <a:endCxn id="2413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18" name="Google Shape;2418;p154"/>
          <p:cNvCxnSpPr>
            <a:stCxn id="2413" idx="1"/>
            <a:endCxn id="2412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19" name="Google Shape;2419;p154"/>
          <p:cNvCxnSpPr>
            <a:stCxn id="2413" idx="2"/>
            <a:endCxn id="2410" idx="4"/>
          </p:cNvCxnSpPr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20" name="Google Shape;2420;p154"/>
          <p:cNvCxnSpPr>
            <a:stCxn id="2413" idx="0"/>
            <a:endCxn id="2410" idx="6"/>
          </p:cNvCxnSpPr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21" name="Google Shape;2421;p154"/>
          <p:cNvCxnSpPr>
            <a:stCxn id="2413" idx="7"/>
            <a:endCxn id="2412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22" name="Google Shape;2422;p154"/>
          <p:cNvCxnSpPr>
            <a:stCxn id="2410" idx="1"/>
            <a:endCxn id="2409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423" name="Google Shape;2423;p154"/>
          <p:cNvSpPr/>
          <p:nvPr/>
        </p:nvSpPr>
        <p:spPr>
          <a:xfrm>
            <a:off x="4182700" y="3762225"/>
            <a:ext cx="2260800" cy="11580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can represent an advice network!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424" name="Google Shape;2424;p154"/>
          <p:cNvCxnSpPr>
            <a:stCxn id="2423" idx="7"/>
          </p:cNvCxnSpPr>
          <p:nvPr/>
        </p:nvCxnSpPr>
        <p:spPr>
          <a:xfrm flipH="1" rot="10800000">
            <a:off x="6112414" y="3616510"/>
            <a:ext cx="423300" cy="3153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28" name="Shape 2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9" name="Google Shape;2429;p15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430" name="Google Shape;2430;p155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there are </a:t>
            </a:r>
            <a:r>
              <a:rPr b="1" lang="en"/>
              <a:t>three</a:t>
            </a:r>
            <a:r>
              <a:rPr lang="en"/>
              <a:t> kinds of </a:t>
            </a:r>
            <a:r>
              <a:rPr b="1" lang="en"/>
              <a:t>dyads</a:t>
            </a:r>
            <a:endParaRPr/>
          </a:p>
        </p:txBody>
      </p:sp>
      <p:sp>
        <p:nvSpPr>
          <p:cNvPr id="2431" name="Google Shape;2431;p155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32" name="Google Shape;2432;p155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33" name="Google Shape;2433;p155"/>
          <p:cNvCxnSpPr>
            <a:stCxn id="2431" idx="5"/>
            <a:endCxn id="2432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434" name="Google Shape;2434;p155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35" name="Google Shape;2435;p155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36" name="Google Shape;2436;p155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37" name="Google Shape;2437;p155"/>
          <p:cNvCxnSpPr>
            <a:stCxn id="2432" idx="7"/>
            <a:endCxn id="243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38" name="Google Shape;2438;p155"/>
          <p:cNvCxnSpPr>
            <a:stCxn id="2436" idx="1"/>
            <a:endCxn id="243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39" name="Google Shape;2439;p155"/>
          <p:cNvCxnSpPr>
            <a:stCxn id="2436" idx="3"/>
            <a:endCxn id="243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40" name="Google Shape;2440;p155"/>
          <p:cNvCxnSpPr>
            <a:stCxn id="2435" idx="1"/>
            <a:endCxn id="2434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41" name="Google Shape;2441;p155"/>
          <p:cNvCxnSpPr>
            <a:stCxn id="2435" idx="2"/>
            <a:endCxn id="2432" idx="4"/>
          </p:cNvCxnSpPr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42" name="Google Shape;2442;p155"/>
          <p:cNvCxnSpPr>
            <a:stCxn id="2435" idx="0"/>
            <a:endCxn id="2432" idx="6"/>
          </p:cNvCxnSpPr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43" name="Google Shape;2443;p155"/>
          <p:cNvCxnSpPr>
            <a:stCxn id="2435" idx="7"/>
            <a:endCxn id="2434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44" name="Google Shape;2444;p155"/>
          <p:cNvCxnSpPr>
            <a:stCxn id="2432" idx="1"/>
            <a:endCxn id="2431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48" name="Shape 2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9" name="Google Shape;2449;p15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450" name="Google Shape;2450;p156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there are </a:t>
            </a:r>
            <a:r>
              <a:rPr b="1" lang="en"/>
              <a:t>three</a:t>
            </a:r>
            <a:r>
              <a:rPr lang="en"/>
              <a:t> kinds of </a:t>
            </a:r>
            <a:r>
              <a:rPr b="1" lang="en"/>
              <a:t>dyads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Reciprocal dyads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Both directed edges present like the B and E dyad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1" name="Google Shape;2451;p156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52" name="Google Shape;2452;p156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53" name="Google Shape;2453;p156"/>
          <p:cNvCxnSpPr>
            <a:stCxn id="2451" idx="5"/>
            <a:endCxn id="2452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454" name="Google Shape;2454;p156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55" name="Google Shape;2455;p156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56" name="Google Shape;2456;p156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57" name="Google Shape;2457;p156"/>
          <p:cNvCxnSpPr>
            <a:stCxn id="2452" idx="7"/>
            <a:endCxn id="245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58" name="Google Shape;2458;p156"/>
          <p:cNvCxnSpPr>
            <a:stCxn id="2456" idx="1"/>
            <a:endCxn id="245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59" name="Google Shape;2459;p156"/>
          <p:cNvCxnSpPr>
            <a:stCxn id="2456" idx="3"/>
            <a:endCxn id="245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60" name="Google Shape;2460;p156"/>
          <p:cNvCxnSpPr>
            <a:stCxn id="2455" idx="1"/>
            <a:endCxn id="2454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61" name="Google Shape;2461;p156"/>
          <p:cNvCxnSpPr>
            <a:stCxn id="2455" idx="7"/>
            <a:endCxn id="2454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62" name="Google Shape;2462;p156"/>
          <p:cNvCxnSpPr>
            <a:stCxn id="2452" idx="1"/>
            <a:endCxn id="2451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63" name="Google Shape;2463;p156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64" name="Google Shape;2464;p156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68" name="Shape 2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9" name="Google Shape;2469;p15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470" name="Google Shape;2470;p157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there are </a:t>
            </a:r>
            <a:r>
              <a:rPr b="1" lang="en"/>
              <a:t>three</a:t>
            </a:r>
            <a:r>
              <a:rPr lang="en"/>
              <a:t> kinds of </a:t>
            </a:r>
            <a:r>
              <a:rPr b="1" lang="en"/>
              <a:t>dyads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Reciprocal dyads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Both directed edges present like the B and E dyad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Nonreciprocal dyads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Only one directed edge present like the C and E dyad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1" name="Google Shape;2471;p157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72" name="Google Shape;2472;p157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73" name="Google Shape;2473;p157"/>
          <p:cNvCxnSpPr>
            <a:stCxn id="2471" idx="5"/>
            <a:endCxn id="2472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474" name="Google Shape;2474;p157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75" name="Google Shape;2475;p157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76" name="Google Shape;2476;p157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77" name="Google Shape;2477;p157"/>
          <p:cNvCxnSpPr>
            <a:stCxn id="2472" idx="7"/>
            <a:endCxn id="247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78" name="Google Shape;2478;p157"/>
          <p:cNvCxnSpPr>
            <a:stCxn id="2476" idx="1"/>
            <a:endCxn id="247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79" name="Google Shape;2479;p157"/>
          <p:cNvCxnSpPr>
            <a:stCxn id="2476" idx="3"/>
            <a:endCxn id="247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80" name="Google Shape;2480;p157"/>
          <p:cNvCxnSpPr>
            <a:stCxn id="2475" idx="1"/>
            <a:endCxn id="2474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81" name="Google Shape;2481;p157"/>
          <p:cNvCxnSpPr>
            <a:stCxn id="2475" idx="7"/>
            <a:endCxn id="2474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82" name="Google Shape;2482;p157"/>
          <p:cNvCxnSpPr>
            <a:stCxn id="2472" idx="1"/>
            <a:endCxn id="2471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83" name="Google Shape;2483;p157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84" name="Google Shape;2484;p157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88" name="Shape 2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9" name="Google Shape;2489;p15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490" name="Google Shape;2490;p158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there are </a:t>
            </a:r>
            <a:r>
              <a:rPr b="1" lang="en"/>
              <a:t>three</a:t>
            </a:r>
            <a:r>
              <a:rPr lang="en"/>
              <a:t> kinds of </a:t>
            </a:r>
            <a:r>
              <a:rPr b="1" lang="en"/>
              <a:t>dyads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Reciprocal dyads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Both directed edges present like the B and E dyad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Nonreciprocal dyads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Only one directed edge present like the C and E dyad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Disconnected dyads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Neither directed edge present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1" name="Google Shape;2491;p158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92" name="Google Shape;2492;p158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93" name="Google Shape;2493;p158"/>
          <p:cNvCxnSpPr>
            <a:stCxn id="2491" idx="5"/>
            <a:endCxn id="2492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494" name="Google Shape;2494;p158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95" name="Google Shape;2495;p158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96" name="Google Shape;2496;p158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497" name="Google Shape;2497;p158"/>
          <p:cNvCxnSpPr>
            <a:stCxn id="2492" idx="7"/>
            <a:endCxn id="249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498" name="Google Shape;2498;p158"/>
          <p:cNvCxnSpPr>
            <a:stCxn id="2496" idx="1"/>
            <a:endCxn id="249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499" name="Google Shape;2499;p158"/>
          <p:cNvCxnSpPr>
            <a:stCxn id="2496" idx="3"/>
            <a:endCxn id="249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00" name="Google Shape;2500;p158"/>
          <p:cNvCxnSpPr>
            <a:stCxn id="2495" idx="1"/>
            <a:endCxn id="2494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01" name="Google Shape;2501;p158"/>
          <p:cNvCxnSpPr>
            <a:stCxn id="2495" idx="7"/>
            <a:endCxn id="2494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02" name="Google Shape;2502;p158"/>
          <p:cNvCxnSpPr>
            <a:stCxn id="2492" idx="1"/>
            <a:endCxn id="2491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03" name="Google Shape;2503;p158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04" name="Google Shape;2504;p158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08" name="Shape 2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9" name="Google Shape;2509;p15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Graphs</a:t>
            </a:r>
            <a:endParaRPr/>
          </a:p>
        </p:txBody>
      </p:sp>
      <p:sp>
        <p:nvSpPr>
          <p:cNvPr id="2510" name="Google Shape;2510;p159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 there are </a:t>
            </a:r>
            <a:r>
              <a:rPr b="1" lang="en"/>
              <a:t>three</a:t>
            </a:r>
            <a:r>
              <a:rPr lang="en"/>
              <a:t> kinds of </a:t>
            </a:r>
            <a:r>
              <a:rPr b="1" lang="en"/>
              <a:t>dyads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Reciprocal dyads </a:t>
            </a:r>
            <a:r>
              <a:rPr i="1" lang="en">
                <a:solidFill>
                  <a:srgbClr val="FF0000"/>
                </a:solidFill>
              </a:rPr>
              <a:t>(mutual)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Both directed edges present like the B and E dyad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Nonreciprocal dyads </a:t>
            </a:r>
            <a:r>
              <a:rPr i="1" lang="en">
                <a:solidFill>
                  <a:srgbClr val="FF0000"/>
                </a:solidFill>
              </a:rPr>
              <a:t>(asymmetric)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Only one directed edge present like the C and E dyad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Disconnected dyads </a:t>
            </a:r>
            <a:r>
              <a:rPr i="1" lang="en">
                <a:solidFill>
                  <a:srgbClr val="FF0000"/>
                </a:solidFill>
              </a:rPr>
              <a:t>(null)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Neither directed edge present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1" name="Google Shape;2511;p159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rgbClr val="CCA677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12" name="Google Shape;2512;p159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13" name="Google Shape;2513;p159"/>
          <p:cNvCxnSpPr>
            <a:stCxn id="2511" idx="5"/>
            <a:endCxn id="2512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514" name="Google Shape;2514;p159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15" name="Google Shape;2515;p159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rgbClr val="CCA677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16" name="Google Shape;2516;p159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17" name="Google Shape;2517;p159"/>
          <p:cNvCxnSpPr>
            <a:stCxn id="2512" idx="7"/>
            <a:endCxn id="251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18" name="Google Shape;2518;p159"/>
          <p:cNvCxnSpPr>
            <a:stCxn id="2516" idx="1"/>
            <a:endCxn id="251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19" name="Google Shape;2519;p159"/>
          <p:cNvCxnSpPr>
            <a:stCxn id="2516" idx="3"/>
            <a:endCxn id="251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20" name="Google Shape;2520;p159"/>
          <p:cNvCxnSpPr>
            <a:stCxn id="2515" idx="1"/>
            <a:endCxn id="2514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21" name="Google Shape;2521;p159"/>
          <p:cNvCxnSpPr>
            <a:stCxn id="2515" idx="7"/>
            <a:endCxn id="2514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22" name="Google Shape;2522;p159"/>
          <p:cNvCxnSpPr>
            <a:stCxn id="2512" idx="1"/>
            <a:endCxn id="2511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23" name="Google Shape;2523;p159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24" name="Google Shape;2524;p159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2525" name="Google Shape;2525;p159"/>
          <p:cNvSpPr/>
          <p:nvPr/>
        </p:nvSpPr>
        <p:spPr>
          <a:xfrm>
            <a:off x="311700" y="3921550"/>
            <a:ext cx="6131700" cy="998700"/>
          </a:xfrm>
          <a:prstGeom prst="ellipse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Sometimes people use the terminology in parentheses to refer to the three types of dyads in directed graphs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29" name="Shape 2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0" name="Google Shape;2530;p16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Node neighborhoods in directed graphs</a:t>
            </a:r>
            <a:endParaRPr/>
          </a:p>
        </p:txBody>
      </p:sp>
      <p:sp>
        <p:nvSpPr>
          <p:cNvPr id="2531" name="Google Shape;2531;p160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undirected graphs</a:t>
            </a:r>
            <a:r>
              <a:rPr lang="en"/>
              <a:t> nodes have a </a:t>
            </a:r>
            <a:r>
              <a:rPr b="1" lang="en"/>
              <a:t>single</a:t>
            </a:r>
            <a:r>
              <a:rPr lang="en"/>
              <a:t> set of neighbors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2" name="Google Shape;2532;p160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33" name="Google Shape;2533;p160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34" name="Google Shape;2534;p160"/>
          <p:cNvCxnSpPr>
            <a:stCxn id="2532" idx="6"/>
            <a:endCxn id="2533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35" name="Google Shape;2535;p160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36" name="Google Shape;2536;p160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37" name="Google Shape;2537;p160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38" name="Google Shape;2538;p160"/>
          <p:cNvCxnSpPr>
            <a:stCxn id="2533" idx="7"/>
            <a:endCxn id="253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39" name="Google Shape;2539;p160"/>
          <p:cNvCxnSpPr>
            <a:stCxn id="2537" idx="1"/>
            <a:endCxn id="253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40" name="Google Shape;2540;p160"/>
          <p:cNvCxnSpPr>
            <a:stCxn id="2537" idx="3"/>
            <a:endCxn id="253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41" name="Google Shape;2541;p160"/>
          <p:cNvCxnSpPr>
            <a:stCxn id="2536" idx="1"/>
            <a:endCxn id="2533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42" name="Google Shape;2542;p160"/>
          <p:cNvCxnSpPr>
            <a:stCxn id="2536" idx="0"/>
            <a:endCxn id="2535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46" name="Shape 2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7" name="Google Shape;2547;p16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Node neighborhoods in directed graphs</a:t>
            </a:r>
            <a:endParaRPr/>
          </a:p>
        </p:txBody>
      </p:sp>
      <p:sp>
        <p:nvSpPr>
          <p:cNvPr id="2548" name="Google Shape;2548;p161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undirected graphs</a:t>
            </a:r>
            <a:r>
              <a:rPr lang="en"/>
              <a:t> nodes have a </a:t>
            </a:r>
            <a:r>
              <a:rPr b="1" lang="en"/>
              <a:t>single</a:t>
            </a:r>
            <a:r>
              <a:rPr lang="en"/>
              <a:t> set of neighbors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N(E) = {B, C, D}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9" name="Google Shape;2549;p161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50" name="Google Shape;2550;p161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51" name="Google Shape;2551;p161"/>
          <p:cNvCxnSpPr>
            <a:stCxn id="2549" idx="6"/>
            <a:endCxn id="2550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52" name="Google Shape;2552;p161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53" name="Google Shape;2553;p161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54" name="Google Shape;2554;p161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55" name="Google Shape;2555;p161"/>
          <p:cNvCxnSpPr>
            <a:stCxn id="2550" idx="7"/>
            <a:endCxn id="2552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56" name="Google Shape;2556;p161"/>
          <p:cNvCxnSpPr>
            <a:stCxn id="2554" idx="1"/>
            <a:endCxn id="2552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57" name="Google Shape;2557;p161"/>
          <p:cNvCxnSpPr>
            <a:stCxn id="2554" idx="3"/>
            <a:endCxn id="2553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58" name="Google Shape;2558;p161"/>
          <p:cNvCxnSpPr>
            <a:stCxn id="2553" idx="1"/>
            <a:endCxn id="2550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59" name="Google Shape;2559;p161"/>
          <p:cNvCxnSpPr>
            <a:stCxn id="2553" idx="0"/>
            <a:endCxn id="2552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63" name="Shape 2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4" name="Google Shape;2564;p16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Node neighborhoods in directed graphs</a:t>
            </a:r>
            <a:endParaRPr/>
          </a:p>
        </p:txBody>
      </p:sp>
      <p:sp>
        <p:nvSpPr>
          <p:cNvPr id="2565" name="Google Shape;2565;p162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 graphs</a:t>
            </a:r>
            <a:r>
              <a:rPr lang="en"/>
              <a:t> nodes have </a:t>
            </a:r>
            <a:r>
              <a:rPr b="1" lang="en"/>
              <a:t>two</a:t>
            </a:r>
            <a:r>
              <a:rPr lang="en"/>
              <a:t> separate set of neighbors: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Out-neighbors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In-neighbors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6" name="Google Shape;2566;p162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67" name="Google Shape;2567;p162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68" name="Google Shape;2568;p162"/>
          <p:cNvCxnSpPr>
            <a:stCxn id="2566" idx="5"/>
            <a:endCxn id="2567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569" name="Google Shape;2569;p162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70" name="Google Shape;2570;p162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71" name="Google Shape;2571;p162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72" name="Google Shape;2572;p162"/>
          <p:cNvCxnSpPr>
            <a:stCxn id="2567" idx="7"/>
            <a:endCxn id="2569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73" name="Google Shape;2573;p162"/>
          <p:cNvCxnSpPr>
            <a:stCxn id="2571" idx="1"/>
            <a:endCxn id="2569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74" name="Google Shape;2574;p162"/>
          <p:cNvCxnSpPr>
            <a:stCxn id="2571" idx="3"/>
            <a:endCxn id="2570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75" name="Google Shape;2575;p162"/>
          <p:cNvCxnSpPr>
            <a:stCxn id="2570" idx="1"/>
            <a:endCxn id="2569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76" name="Google Shape;2576;p162"/>
          <p:cNvCxnSpPr>
            <a:stCxn id="2570" idx="7"/>
            <a:endCxn id="2569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77" name="Google Shape;2577;p162"/>
          <p:cNvCxnSpPr>
            <a:stCxn id="2567" idx="1"/>
            <a:endCxn id="2566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78" name="Google Shape;2578;p162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79" name="Google Shape;2579;p162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83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4" name="Google Shape;2584;p16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Node neighborhoods in directed graphs</a:t>
            </a:r>
            <a:endParaRPr/>
          </a:p>
        </p:txBody>
      </p:sp>
      <p:sp>
        <p:nvSpPr>
          <p:cNvPr id="2585" name="Google Shape;2585;p163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 graphs</a:t>
            </a:r>
            <a:r>
              <a:rPr lang="en"/>
              <a:t> nodes have </a:t>
            </a:r>
            <a:r>
              <a:rPr b="1" lang="en"/>
              <a:t>two</a:t>
            </a:r>
            <a:r>
              <a:rPr lang="en"/>
              <a:t> separate set of neighbors: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Out-neighbors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In-neighbors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Out-neighbors of 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Set of nodes incident to arcs that have </a:t>
            </a:r>
            <a:r>
              <a:rPr b="1" lang="en"/>
              <a:t>E as the source node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</a:t>
            </a:r>
            <a:r>
              <a:rPr baseline="-25000" lang="en"/>
              <a:t>out</a:t>
            </a:r>
            <a:r>
              <a:rPr lang="en"/>
              <a:t>(E) = {B, D}</a:t>
            </a:r>
            <a:endParaRPr/>
          </a:p>
        </p:txBody>
      </p:sp>
      <p:sp>
        <p:nvSpPr>
          <p:cNvPr id="2586" name="Google Shape;2586;p163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87" name="Google Shape;2587;p163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88" name="Google Shape;2588;p163"/>
          <p:cNvCxnSpPr>
            <a:stCxn id="2586" idx="5"/>
            <a:endCxn id="2587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589" name="Google Shape;2589;p163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90" name="Google Shape;2590;p163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591" name="Google Shape;2591;p163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592" name="Google Shape;2592;p163"/>
          <p:cNvCxnSpPr>
            <a:stCxn id="2587" idx="7"/>
            <a:endCxn id="2589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93" name="Google Shape;2593;p163"/>
          <p:cNvCxnSpPr>
            <a:stCxn id="2591" idx="1"/>
            <a:endCxn id="2589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94" name="Google Shape;2594;p163"/>
          <p:cNvCxnSpPr>
            <a:stCxn id="2591" idx="3"/>
            <a:endCxn id="2590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95" name="Google Shape;2595;p163"/>
          <p:cNvCxnSpPr>
            <a:stCxn id="2590" idx="1"/>
            <a:endCxn id="2589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96" name="Google Shape;2596;p163"/>
          <p:cNvCxnSpPr>
            <a:stCxn id="2590" idx="7"/>
            <a:endCxn id="2589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597" name="Google Shape;2597;p163"/>
          <p:cNvCxnSpPr>
            <a:stCxn id="2587" idx="1"/>
            <a:endCxn id="2586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98" name="Google Shape;2598;p163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599" name="Google Shape;2599;p163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03" name="Shape 2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4" name="Google Shape;2604;p16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Node neighborhoods in directed graphs</a:t>
            </a:r>
            <a:endParaRPr/>
          </a:p>
        </p:txBody>
      </p:sp>
      <p:sp>
        <p:nvSpPr>
          <p:cNvPr id="2605" name="Google Shape;2605;p164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 graphs</a:t>
            </a:r>
            <a:r>
              <a:rPr lang="en"/>
              <a:t> nodes have </a:t>
            </a:r>
            <a:r>
              <a:rPr b="1" lang="en"/>
              <a:t>two</a:t>
            </a:r>
            <a:r>
              <a:rPr lang="en"/>
              <a:t> separate set of neighbors: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Out-neighbors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In-neighbors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Out-neighbors of 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Set of nodes incident to arcs that have </a:t>
            </a:r>
            <a:r>
              <a:rPr b="1" lang="en"/>
              <a:t>E as the source node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</a:t>
            </a:r>
            <a:r>
              <a:rPr baseline="-25000" lang="en"/>
              <a:t>out</a:t>
            </a:r>
            <a:r>
              <a:rPr lang="en"/>
              <a:t>(E) = {B, D}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In-neighbors of 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Set of nodes incident to arcs that have </a:t>
            </a:r>
            <a:r>
              <a:rPr b="1" lang="en"/>
              <a:t>E as the destination node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</a:t>
            </a:r>
            <a:r>
              <a:rPr baseline="-25000" lang="en"/>
              <a:t>In</a:t>
            </a:r>
            <a:r>
              <a:rPr lang="en"/>
              <a:t>(E) = {B, D, C}</a:t>
            </a:r>
            <a:endParaRPr/>
          </a:p>
        </p:txBody>
      </p:sp>
      <p:sp>
        <p:nvSpPr>
          <p:cNvPr id="2606" name="Google Shape;2606;p164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07" name="Google Shape;2607;p164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08" name="Google Shape;2608;p164"/>
          <p:cNvCxnSpPr>
            <a:stCxn id="2606" idx="5"/>
            <a:endCxn id="2607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609" name="Google Shape;2609;p164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10" name="Google Shape;2610;p164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11" name="Google Shape;2611;p164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12" name="Google Shape;2612;p164"/>
          <p:cNvCxnSpPr>
            <a:stCxn id="2607" idx="7"/>
            <a:endCxn id="2609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13" name="Google Shape;2613;p164"/>
          <p:cNvCxnSpPr>
            <a:stCxn id="2611" idx="1"/>
            <a:endCxn id="2609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614" name="Google Shape;2614;p164"/>
          <p:cNvCxnSpPr>
            <a:stCxn id="2611" idx="3"/>
            <a:endCxn id="2610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615" name="Google Shape;2615;p164"/>
          <p:cNvCxnSpPr>
            <a:stCxn id="2610" idx="1"/>
            <a:endCxn id="2609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16" name="Google Shape;2616;p164"/>
          <p:cNvCxnSpPr>
            <a:stCxn id="2610" idx="7"/>
            <a:endCxn id="2609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617" name="Google Shape;2617;p164"/>
          <p:cNvCxnSpPr>
            <a:stCxn id="2607" idx="1"/>
            <a:endCxn id="2606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18" name="Google Shape;2618;p164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19" name="Google Shape;2619;p164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23" name="Shape 2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4" name="Google Shape;2624;p16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Tree Graphs</a:t>
            </a:r>
            <a:endParaRPr/>
          </a:p>
        </p:txBody>
      </p:sp>
      <p:sp>
        <p:nvSpPr>
          <p:cNvPr id="2625" name="Google Shape;2625;p165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if the relationship we are studying is antisymmetric?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Giving orders to (in an army)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Being the parent of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Being someone’s supervisor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Then we need a graph that represents: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Unidirectionality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Nonreciprocity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tree graph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6" name="Google Shape;2626;p165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27" name="Google Shape;2627;p165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28" name="Google Shape;2628;p165"/>
          <p:cNvCxnSpPr>
            <a:stCxn id="2626" idx="6"/>
            <a:endCxn id="2627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629" name="Google Shape;2629;p165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30" name="Google Shape;2630;p165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31" name="Google Shape;2631;p165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32" name="Google Shape;2632;p165"/>
          <p:cNvCxnSpPr>
            <a:stCxn id="2627" idx="7"/>
            <a:endCxn id="2629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33" name="Google Shape;2633;p165"/>
          <p:cNvCxnSpPr>
            <a:stCxn id="2631" idx="1"/>
            <a:endCxn id="2629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34" name="Google Shape;2634;p165"/>
          <p:cNvCxnSpPr>
            <a:stCxn id="2631" idx="3"/>
            <a:endCxn id="2630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635" name="Google Shape;2635;p165"/>
          <p:cNvCxnSpPr>
            <a:stCxn id="2630" idx="0"/>
            <a:endCxn id="2629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36" name="Google Shape;2636;p165"/>
          <p:cNvCxnSpPr>
            <a:stCxn id="2630" idx="1"/>
            <a:endCxn id="2627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37" name="Google Shape;2637;p165"/>
          <p:cNvCxnSpPr>
            <a:stCxn id="2626" idx="6"/>
            <a:endCxn id="2629" idx="3"/>
          </p:cNvCxnSpPr>
          <p:nvPr/>
        </p:nvCxnSpPr>
        <p:spPr>
          <a:xfrm flipH="1" rot="10800000">
            <a:off x="5236275" y="2000725"/>
            <a:ext cx="1983300" cy="901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41" name="Shape 2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2" name="Google Shape;2642;p16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Tree Graphs</a:t>
            </a:r>
            <a:endParaRPr/>
          </a:p>
        </p:txBody>
      </p:sp>
      <p:sp>
        <p:nvSpPr>
          <p:cNvPr id="2643" name="Google Shape;2643;p166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if the relationship we are studying is antisymmetric?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Giving orders to (in an army)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Being the parent of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Being someone’s supervisor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Then we need a graph that represents: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Unidirectionality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Nonreciprocity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tree graph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4" name="Google Shape;2644;p166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45" name="Google Shape;2645;p166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46" name="Google Shape;2646;p166"/>
          <p:cNvCxnSpPr>
            <a:stCxn id="2644" idx="6"/>
            <a:endCxn id="2645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647" name="Google Shape;2647;p166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48" name="Google Shape;2648;p166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49" name="Google Shape;2649;p166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50" name="Google Shape;2650;p166"/>
          <p:cNvCxnSpPr>
            <a:stCxn id="2645" idx="7"/>
            <a:endCxn id="2647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51" name="Google Shape;2651;p166"/>
          <p:cNvCxnSpPr>
            <a:stCxn id="2649" idx="1"/>
            <a:endCxn id="2647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52" name="Google Shape;2652;p166"/>
          <p:cNvCxnSpPr>
            <a:stCxn id="2649" idx="3"/>
            <a:endCxn id="2648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653" name="Google Shape;2653;p166"/>
          <p:cNvCxnSpPr>
            <a:stCxn id="2648" idx="0"/>
            <a:endCxn id="2647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54" name="Google Shape;2654;p166"/>
          <p:cNvCxnSpPr>
            <a:stCxn id="2648" idx="1"/>
            <a:endCxn id="2645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55" name="Google Shape;2655;p166"/>
          <p:cNvCxnSpPr>
            <a:stCxn id="2644" idx="6"/>
            <a:endCxn id="2647" idx="3"/>
          </p:cNvCxnSpPr>
          <p:nvPr/>
        </p:nvCxnSpPr>
        <p:spPr>
          <a:xfrm flipH="1" rot="10800000">
            <a:off x="5236275" y="2000725"/>
            <a:ext cx="1983300" cy="901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59" name="Shape 2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0" name="Google Shape;2660;p16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Tree Graphs</a:t>
            </a:r>
            <a:endParaRPr/>
          </a:p>
        </p:txBody>
      </p:sp>
      <p:sp>
        <p:nvSpPr>
          <p:cNvPr id="2661" name="Google Shape;2661;p167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Tree graphs can always be redrawn to reveal the </a:t>
            </a:r>
            <a:r>
              <a:rPr b="1" lang="en"/>
              <a:t>hierarchy </a:t>
            </a:r>
            <a:r>
              <a:rPr lang="en"/>
              <a:t>of relations: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2" name="Google Shape;2662;p167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63" name="Google Shape;2663;p167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64" name="Google Shape;2664;p167"/>
          <p:cNvCxnSpPr>
            <a:stCxn id="2662" idx="6"/>
            <a:endCxn id="2663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665" name="Google Shape;2665;p167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66" name="Google Shape;2666;p167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67" name="Google Shape;2667;p167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68" name="Google Shape;2668;p167"/>
          <p:cNvCxnSpPr>
            <a:stCxn id="2663" idx="7"/>
            <a:endCxn id="266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69" name="Google Shape;2669;p167"/>
          <p:cNvCxnSpPr>
            <a:stCxn id="2667" idx="1"/>
            <a:endCxn id="266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70" name="Google Shape;2670;p167"/>
          <p:cNvCxnSpPr>
            <a:stCxn id="2667" idx="3"/>
            <a:endCxn id="266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671" name="Google Shape;2671;p167"/>
          <p:cNvCxnSpPr>
            <a:stCxn id="2666" idx="0"/>
            <a:endCxn id="2665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72" name="Google Shape;2672;p167"/>
          <p:cNvCxnSpPr>
            <a:stCxn id="2666" idx="1"/>
            <a:endCxn id="2663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73" name="Google Shape;2673;p167"/>
          <p:cNvCxnSpPr>
            <a:stCxn id="2662" idx="6"/>
            <a:endCxn id="2665" idx="3"/>
          </p:cNvCxnSpPr>
          <p:nvPr/>
        </p:nvCxnSpPr>
        <p:spPr>
          <a:xfrm flipH="1" rot="10800000">
            <a:off x="5236275" y="2000725"/>
            <a:ext cx="1983300" cy="901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77" name="Shape 2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8" name="Google Shape;2678;p16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Tree Graphs</a:t>
            </a:r>
            <a:endParaRPr/>
          </a:p>
        </p:txBody>
      </p:sp>
      <p:sp>
        <p:nvSpPr>
          <p:cNvPr id="2679" name="Google Shape;2679;p168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Tree graphs can always be redrawn to reveal the </a:t>
            </a:r>
            <a:r>
              <a:rPr b="1" lang="en"/>
              <a:t>hierarchy </a:t>
            </a:r>
            <a:r>
              <a:rPr lang="en"/>
              <a:t>of relations: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0" name="Google Shape;2680;p168"/>
          <p:cNvSpPr/>
          <p:nvPr/>
        </p:nvSpPr>
        <p:spPr>
          <a:xfrm>
            <a:off x="5192750" y="38892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81" name="Google Shape;2681;p168"/>
          <p:cNvSpPr/>
          <p:nvPr/>
        </p:nvSpPr>
        <p:spPr>
          <a:xfrm>
            <a:off x="5160975" y="22535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82" name="Google Shape;2682;p168"/>
          <p:cNvCxnSpPr>
            <a:stCxn id="2680" idx="0"/>
            <a:endCxn id="2681" idx="4"/>
          </p:cNvCxnSpPr>
          <p:nvPr/>
        </p:nvCxnSpPr>
        <p:spPr>
          <a:xfrm rot="10800000">
            <a:off x="5461550" y="2854850"/>
            <a:ext cx="31800" cy="1034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683" name="Google Shape;2683;p168"/>
          <p:cNvSpPr/>
          <p:nvPr/>
        </p:nvSpPr>
        <p:spPr>
          <a:xfrm>
            <a:off x="6522675" y="10180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84" name="Google Shape;2684;p168"/>
          <p:cNvSpPr/>
          <p:nvPr/>
        </p:nvSpPr>
        <p:spPr>
          <a:xfrm>
            <a:off x="6522675" y="38892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85" name="Google Shape;2685;p168"/>
          <p:cNvSpPr/>
          <p:nvPr/>
        </p:nvSpPr>
        <p:spPr>
          <a:xfrm>
            <a:off x="7681600" y="21654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686" name="Google Shape;2686;p168"/>
          <p:cNvCxnSpPr>
            <a:stCxn id="2681" idx="7"/>
            <a:endCxn id="2683" idx="4"/>
          </p:cNvCxnSpPr>
          <p:nvPr/>
        </p:nvCxnSpPr>
        <p:spPr>
          <a:xfrm flipH="1" rot="10800000">
            <a:off x="5674131" y="1619194"/>
            <a:ext cx="1149000" cy="722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87" name="Google Shape;2687;p168"/>
          <p:cNvCxnSpPr>
            <a:stCxn id="2685" idx="1"/>
            <a:endCxn id="2683" idx="4"/>
          </p:cNvCxnSpPr>
          <p:nvPr/>
        </p:nvCxnSpPr>
        <p:spPr>
          <a:xfrm rot="10800000">
            <a:off x="6823144" y="1619294"/>
            <a:ext cx="946500" cy="63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88" name="Google Shape;2688;p168"/>
          <p:cNvCxnSpPr>
            <a:stCxn id="2685" idx="3"/>
            <a:endCxn id="2684" idx="0"/>
          </p:cNvCxnSpPr>
          <p:nvPr/>
        </p:nvCxnSpPr>
        <p:spPr>
          <a:xfrm flipH="1">
            <a:off x="6823144" y="2678606"/>
            <a:ext cx="946500" cy="1210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689" name="Google Shape;2689;p168"/>
          <p:cNvCxnSpPr>
            <a:stCxn id="2684" idx="0"/>
            <a:endCxn id="2683" idx="4"/>
          </p:cNvCxnSpPr>
          <p:nvPr/>
        </p:nvCxnSpPr>
        <p:spPr>
          <a:xfrm rot="10800000">
            <a:off x="6823275" y="1619150"/>
            <a:ext cx="0" cy="227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90" name="Google Shape;2690;p168"/>
          <p:cNvCxnSpPr>
            <a:stCxn id="2684" idx="0"/>
            <a:endCxn id="2681" idx="5"/>
          </p:cNvCxnSpPr>
          <p:nvPr/>
        </p:nvCxnSpPr>
        <p:spPr>
          <a:xfrm rot="10800000">
            <a:off x="5674275" y="2766650"/>
            <a:ext cx="1149000" cy="1122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691" name="Google Shape;2691;p168"/>
          <p:cNvCxnSpPr>
            <a:stCxn id="2680" idx="0"/>
            <a:endCxn id="2683" idx="4"/>
          </p:cNvCxnSpPr>
          <p:nvPr/>
        </p:nvCxnSpPr>
        <p:spPr>
          <a:xfrm flipH="1" rot="10800000">
            <a:off x="5493350" y="1619150"/>
            <a:ext cx="1329900" cy="227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95" name="Shape 2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6" name="Google Shape;2696;p16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Tree Graphs</a:t>
            </a:r>
            <a:endParaRPr/>
          </a:p>
        </p:txBody>
      </p:sp>
      <p:sp>
        <p:nvSpPr>
          <p:cNvPr id="2697" name="Google Shape;2697;p169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Tree graphs can always be redrawn to reveal the </a:t>
            </a:r>
            <a:r>
              <a:rPr b="1" lang="en"/>
              <a:t>hierarchy </a:t>
            </a:r>
            <a:r>
              <a:rPr lang="en"/>
              <a:t>of relations: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Nodes that </a:t>
            </a:r>
            <a:r>
              <a:rPr b="1" lang="en"/>
              <a:t>only</a:t>
            </a:r>
            <a:r>
              <a:rPr lang="en"/>
              <a:t> </a:t>
            </a:r>
            <a:r>
              <a:rPr b="1" lang="en"/>
              <a:t>send</a:t>
            </a:r>
            <a:r>
              <a:rPr lang="en"/>
              <a:t> but do </a:t>
            </a:r>
            <a:r>
              <a:rPr b="1" lang="en"/>
              <a:t>not</a:t>
            </a:r>
            <a:r>
              <a:rPr lang="en"/>
              <a:t> </a:t>
            </a:r>
            <a:r>
              <a:rPr b="1" lang="en"/>
              <a:t>receive</a:t>
            </a:r>
            <a:r>
              <a:rPr lang="en"/>
              <a:t> ties are at the </a:t>
            </a:r>
            <a:r>
              <a:rPr b="1" lang="en"/>
              <a:t>top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8" name="Google Shape;2698;p169"/>
          <p:cNvSpPr/>
          <p:nvPr/>
        </p:nvSpPr>
        <p:spPr>
          <a:xfrm>
            <a:off x="5192750" y="38892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699" name="Google Shape;2699;p169"/>
          <p:cNvSpPr/>
          <p:nvPr/>
        </p:nvSpPr>
        <p:spPr>
          <a:xfrm>
            <a:off x="5160975" y="22535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700" name="Google Shape;2700;p169"/>
          <p:cNvCxnSpPr>
            <a:stCxn id="2698" idx="0"/>
            <a:endCxn id="2699" idx="4"/>
          </p:cNvCxnSpPr>
          <p:nvPr/>
        </p:nvCxnSpPr>
        <p:spPr>
          <a:xfrm rot="10800000">
            <a:off x="5461550" y="2854850"/>
            <a:ext cx="31800" cy="1034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701" name="Google Shape;2701;p169"/>
          <p:cNvSpPr/>
          <p:nvPr/>
        </p:nvSpPr>
        <p:spPr>
          <a:xfrm>
            <a:off x="6522675" y="1018000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702" name="Google Shape;2702;p169"/>
          <p:cNvSpPr/>
          <p:nvPr/>
        </p:nvSpPr>
        <p:spPr>
          <a:xfrm>
            <a:off x="6522675" y="38892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703" name="Google Shape;2703;p169"/>
          <p:cNvSpPr/>
          <p:nvPr/>
        </p:nvSpPr>
        <p:spPr>
          <a:xfrm>
            <a:off x="7681600" y="21654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704" name="Google Shape;2704;p169"/>
          <p:cNvCxnSpPr>
            <a:stCxn id="2699" idx="7"/>
            <a:endCxn id="2701" idx="4"/>
          </p:cNvCxnSpPr>
          <p:nvPr/>
        </p:nvCxnSpPr>
        <p:spPr>
          <a:xfrm flipH="1" rot="10800000">
            <a:off x="5674131" y="1619194"/>
            <a:ext cx="1149000" cy="722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05" name="Google Shape;2705;p169"/>
          <p:cNvCxnSpPr>
            <a:stCxn id="2703" idx="1"/>
            <a:endCxn id="2701" idx="4"/>
          </p:cNvCxnSpPr>
          <p:nvPr/>
        </p:nvCxnSpPr>
        <p:spPr>
          <a:xfrm rot="10800000">
            <a:off x="6823144" y="1619294"/>
            <a:ext cx="946500" cy="63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06" name="Google Shape;2706;p169"/>
          <p:cNvCxnSpPr>
            <a:stCxn id="2703" idx="3"/>
            <a:endCxn id="2702" idx="0"/>
          </p:cNvCxnSpPr>
          <p:nvPr/>
        </p:nvCxnSpPr>
        <p:spPr>
          <a:xfrm flipH="1">
            <a:off x="6823144" y="2678606"/>
            <a:ext cx="946500" cy="1210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707" name="Google Shape;2707;p169"/>
          <p:cNvCxnSpPr>
            <a:stCxn id="2702" idx="0"/>
            <a:endCxn id="2701" idx="4"/>
          </p:cNvCxnSpPr>
          <p:nvPr/>
        </p:nvCxnSpPr>
        <p:spPr>
          <a:xfrm rot="10800000">
            <a:off x="6823275" y="1619150"/>
            <a:ext cx="0" cy="227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08" name="Google Shape;2708;p169"/>
          <p:cNvCxnSpPr>
            <a:stCxn id="2702" idx="0"/>
            <a:endCxn id="2699" idx="5"/>
          </p:cNvCxnSpPr>
          <p:nvPr/>
        </p:nvCxnSpPr>
        <p:spPr>
          <a:xfrm rot="10800000">
            <a:off x="5674275" y="2766650"/>
            <a:ext cx="1149000" cy="1122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09" name="Google Shape;2709;p169"/>
          <p:cNvCxnSpPr>
            <a:stCxn id="2698" idx="0"/>
            <a:endCxn id="2701" idx="4"/>
          </p:cNvCxnSpPr>
          <p:nvPr/>
        </p:nvCxnSpPr>
        <p:spPr>
          <a:xfrm flipH="1" rot="10800000">
            <a:off x="5493350" y="1619150"/>
            <a:ext cx="1329900" cy="227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13" name="Shape 2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4" name="Google Shape;2714;p17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Tree Graphs</a:t>
            </a:r>
            <a:endParaRPr/>
          </a:p>
        </p:txBody>
      </p:sp>
      <p:sp>
        <p:nvSpPr>
          <p:cNvPr id="2715" name="Google Shape;2715;p170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Tree graphs can always be redrawn to reveal the </a:t>
            </a:r>
            <a:r>
              <a:rPr b="1" lang="en"/>
              <a:t>hierarchy </a:t>
            </a:r>
            <a:r>
              <a:rPr lang="en"/>
              <a:t>of relations: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Nodes that </a:t>
            </a:r>
            <a:r>
              <a:rPr b="1" lang="en"/>
              <a:t>only</a:t>
            </a:r>
            <a:r>
              <a:rPr lang="en"/>
              <a:t> </a:t>
            </a:r>
            <a:r>
              <a:rPr b="1" lang="en"/>
              <a:t>send</a:t>
            </a:r>
            <a:r>
              <a:rPr lang="en"/>
              <a:t> but do </a:t>
            </a:r>
            <a:r>
              <a:rPr b="1" lang="en"/>
              <a:t>not</a:t>
            </a:r>
            <a:r>
              <a:rPr lang="en"/>
              <a:t> </a:t>
            </a:r>
            <a:r>
              <a:rPr b="1" lang="en"/>
              <a:t>receive</a:t>
            </a:r>
            <a:r>
              <a:rPr lang="en"/>
              <a:t> ties are at the </a:t>
            </a:r>
            <a:r>
              <a:rPr b="1" lang="en"/>
              <a:t>top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Nodes that </a:t>
            </a:r>
            <a:r>
              <a:rPr b="1" lang="en"/>
              <a:t>only</a:t>
            </a:r>
            <a:r>
              <a:rPr lang="en"/>
              <a:t> </a:t>
            </a:r>
            <a:r>
              <a:rPr b="1" lang="en"/>
              <a:t>receive</a:t>
            </a:r>
            <a:r>
              <a:rPr lang="en"/>
              <a:t> but </a:t>
            </a:r>
            <a:r>
              <a:rPr b="1" lang="en"/>
              <a:t>do</a:t>
            </a:r>
            <a:r>
              <a:rPr lang="en"/>
              <a:t> </a:t>
            </a:r>
            <a:r>
              <a:rPr b="1" lang="en"/>
              <a:t>not</a:t>
            </a:r>
            <a:r>
              <a:rPr lang="en"/>
              <a:t> </a:t>
            </a:r>
            <a:r>
              <a:rPr b="1" lang="en"/>
              <a:t>send</a:t>
            </a:r>
            <a:r>
              <a:rPr lang="en"/>
              <a:t> ties are at the bottom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6" name="Google Shape;2716;p170"/>
          <p:cNvSpPr/>
          <p:nvPr/>
        </p:nvSpPr>
        <p:spPr>
          <a:xfrm>
            <a:off x="5192750" y="3889250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717" name="Google Shape;2717;p170"/>
          <p:cNvSpPr/>
          <p:nvPr/>
        </p:nvSpPr>
        <p:spPr>
          <a:xfrm>
            <a:off x="5160975" y="22535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718" name="Google Shape;2718;p170"/>
          <p:cNvCxnSpPr>
            <a:stCxn id="2716" idx="0"/>
            <a:endCxn id="2717" idx="4"/>
          </p:cNvCxnSpPr>
          <p:nvPr/>
        </p:nvCxnSpPr>
        <p:spPr>
          <a:xfrm rot="10800000">
            <a:off x="5461550" y="2854850"/>
            <a:ext cx="31800" cy="1034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719" name="Google Shape;2719;p170"/>
          <p:cNvSpPr/>
          <p:nvPr/>
        </p:nvSpPr>
        <p:spPr>
          <a:xfrm>
            <a:off x="6522675" y="10180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720" name="Google Shape;2720;p170"/>
          <p:cNvSpPr/>
          <p:nvPr/>
        </p:nvSpPr>
        <p:spPr>
          <a:xfrm>
            <a:off x="6522675" y="3889250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721" name="Google Shape;2721;p170"/>
          <p:cNvSpPr/>
          <p:nvPr/>
        </p:nvSpPr>
        <p:spPr>
          <a:xfrm>
            <a:off x="7681600" y="21654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722" name="Google Shape;2722;p170"/>
          <p:cNvCxnSpPr>
            <a:stCxn id="2717" idx="7"/>
            <a:endCxn id="2719" idx="4"/>
          </p:cNvCxnSpPr>
          <p:nvPr/>
        </p:nvCxnSpPr>
        <p:spPr>
          <a:xfrm flipH="1" rot="10800000">
            <a:off x="5674131" y="1619194"/>
            <a:ext cx="1149000" cy="722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23" name="Google Shape;2723;p170"/>
          <p:cNvCxnSpPr>
            <a:stCxn id="2721" idx="1"/>
            <a:endCxn id="2719" idx="4"/>
          </p:cNvCxnSpPr>
          <p:nvPr/>
        </p:nvCxnSpPr>
        <p:spPr>
          <a:xfrm rot="10800000">
            <a:off x="6823144" y="1619294"/>
            <a:ext cx="946500" cy="63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24" name="Google Shape;2724;p170"/>
          <p:cNvCxnSpPr>
            <a:stCxn id="2721" idx="3"/>
            <a:endCxn id="2720" idx="0"/>
          </p:cNvCxnSpPr>
          <p:nvPr/>
        </p:nvCxnSpPr>
        <p:spPr>
          <a:xfrm flipH="1">
            <a:off x="6823144" y="2678606"/>
            <a:ext cx="946500" cy="1210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725" name="Google Shape;2725;p170"/>
          <p:cNvCxnSpPr>
            <a:stCxn id="2720" idx="0"/>
            <a:endCxn id="2719" idx="4"/>
          </p:cNvCxnSpPr>
          <p:nvPr/>
        </p:nvCxnSpPr>
        <p:spPr>
          <a:xfrm rot="10800000">
            <a:off x="6823275" y="1619150"/>
            <a:ext cx="0" cy="227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26" name="Google Shape;2726;p170"/>
          <p:cNvCxnSpPr>
            <a:stCxn id="2720" idx="0"/>
            <a:endCxn id="2717" idx="5"/>
          </p:cNvCxnSpPr>
          <p:nvPr/>
        </p:nvCxnSpPr>
        <p:spPr>
          <a:xfrm rot="10800000">
            <a:off x="5674275" y="2766650"/>
            <a:ext cx="1149000" cy="1122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27" name="Google Shape;2727;p170"/>
          <p:cNvCxnSpPr>
            <a:stCxn id="2716" idx="0"/>
            <a:endCxn id="2719" idx="4"/>
          </p:cNvCxnSpPr>
          <p:nvPr/>
        </p:nvCxnSpPr>
        <p:spPr>
          <a:xfrm flipH="1" rot="10800000">
            <a:off x="5493350" y="1619150"/>
            <a:ext cx="1329900" cy="227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31" name="Shape 2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2" name="Google Shape;2732;p17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Tree Graphs</a:t>
            </a:r>
            <a:endParaRPr/>
          </a:p>
        </p:txBody>
      </p:sp>
      <p:sp>
        <p:nvSpPr>
          <p:cNvPr id="2733" name="Google Shape;2733;p171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Tree graphs can always be redrawn to reveal the </a:t>
            </a:r>
            <a:r>
              <a:rPr b="1" lang="en"/>
              <a:t>hierarchy </a:t>
            </a:r>
            <a:r>
              <a:rPr lang="en"/>
              <a:t>of relations: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Nodes that </a:t>
            </a:r>
            <a:r>
              <a:rPr b="1" lang="en"/>
              <a:t>only</a:t>
            </a:r>
            <a:r>
              <a:rPr lang="en"/>
              <a:t> </a:t>
            </a:r>
            <a:r>
              <a:rPr b="1" lang="en"/>
              <a:t>send</a:t>
            </a:r>
            <a:r>
              <a:rPr lang="en"/>
              <a:t> but do </a:t>
            </a:r>
            <a:r>
              <a:rPr b="1" lang="en"/>
              <a:t>not</a:t>
            </a:r>
            <a:r>
              <a:rPr lang="en"/>
              <a:t> </a:t>
            </a:r>
            <a:r>
              <a:rPr b="1" lang="en"/>
              <a:t>receive</a:t>
            </a:r>
            <a:r>
              <a:rPr lang="en"/>
              <a:t> ties are at the </a:t>
            </a:r>
            <a:r>
              <a:rPr b="1" lang="en"/>
              <a:t>top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Nodes that </a:t>
            </a:r>
            <a:r>
              <a:rPr b="1" lang="en"/>
              <a:t>only</a:t>
            </a:r>
            <a:r>
              <a:rPr lang="en"/>
              <a:t> </a:t>
            </a:r>
            <a:r>
              <a:rPr b="1" lang="en"/>
              <a:t>receive</a:t>
            </a:r>
            <a:r>
              <a:rPr lang="en"/>
              <a:t> but </a:t>
            </a:r>
            <a:r>
              <a:rPr b="1" lang="en"/>
              <a:t>do</a:t>
            </a:r>
            <a:r>
              <a:rPr lang="en"/>
              <a:t> </a:t>
            </a:r>
            <a:r>
              <a:rPr b="1" lang="en"/>
              <a:t>not</a:t>
            </a:r>
            <a:r>
              <a:rPr lang="en"/>
              <a:t> </a:t>
            </a:r>
            <a:r>
              <a:rPr b="1" lang="en"/>
              <a:t>send</a:t>
            </a:r>
            <a:r>
              <a:rPr lang="en"/>
              <a:t> ties are at the bottom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Nodes that </a:t>
            </a:r>
            <a:r>
              <a:rPr b="1" lang="en"/>
              <a:t>both send and receive</a:t>
            </a:r>
            <a:r>
              <a:rPr lang="en"/>
              <a:t> ties are in the </a:t>
            </a:r>
            <a:r>
              <a:rPr b="1" lang="en"/>
              <a:t>middle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4" name="Google Shape;2734;p171"/>
          <p:cNvSpPr/>
          <p:nvPr/>
        </p:nvSpPr>
        <p:spPr>
          <a:xfrm>
            <a:off x="5192750" y="38892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735" name="Google Shape;2735;p171"/>
          <p:cNvSpPr/>
          <p:nvPr/>
        </p:nvSpPr>
        <p:spPr>
          <a:xfrm>
            <a:off x="5160975" y="2253550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736" name="Google Shape;2736;p171"/>
          <p:cNvCxnSpPr>
            <a:stCxn id="2734" idx="0"/>
            <a:endCxn id="2735" idx="4"/>
          </p:cNvCxnSpPr>
          <p:nvPr/>
        </p:nvCxnSpPr>
        <p:spPr>
          <a:xfrm rot="10800000">
            <a:off x="5461550" y="2854850"/>
            <a:ext cx="31800" cy="1034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2737" name="Google Shape;2737;p171"/>
          <p:cNvSpPr/>
          <p:nvPr/>
        </p:nvSpPr>
        <p:spPr>
          <a:xfrm>
            <a:off x="6522675" y="10180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738" name="Google Shape;2738;p171"/>
          <p:cNvSpPr/>
          <p:nvPr/>
        </p:nvSpPr>
        <p:spPr>
          <a:xfrm>
            <a:off x="6522675" y="388925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739" name="Google Shape;2739;p171"/>
          <p:cNvSpPr/>
          <p:nvPr/>
        </p:nvSpPr>
        <p:spPr>
          <a:xfrm>
            <a:off x="7681600" y="2165450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740" name="Google Shape;2740;p171"/>
          <p:cNvCxnSpPr>
            <a:stCxn id="2735" idx="7"/>
            <a:endCxn id="2737" idx="4"/>
          </p:cNvCxnSpPr>
          <p:nvPr/>
        </p:nvCxnSpPr>
        <p:spPr>
          <a:xfrm flipH="1" rot="10800000">
            <a:off x="5674131" y="1619194"/>
            <a:ext cx="1149000" cy="722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41" name="Google Shape;2741;p171"/>
          <p:cNvCxnSpPr>
            <a:stCxn id="2739" idx="1"/>
            <a:endCxn id="2737" idx="4"/>
          </p:cNvCxnSpPr>
          <p:nvPr/>
        </p:nvCxnSpPr>
        <p:spPr>
          <a:xfrm rot="10800000">
            <a:off x="6823144" y="1619294"/>
            <a:ext cx="946500" cy="63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42" name="Google Shape;2742;p171"/>
          <p:cNvCxnSpPr>
            <a:stCxn id="2739" idx="3"/>
            <a:endCxn id="2738" idx="0"/>
          </p:cNvCxnSpPr>
          <p:nvPr/>
        </p:nvCxnSpPr>
        <p:spPr>
          <a:xfrm flipH="1">
            <a:off x="6823144" y="2678606"/>
            <a:ext cx="946500" cy="1210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743" name="Google Shape;2743;p171"/>
          <p:cNvCxnSpPr>
            <a:stCxn id="2738" idx="0"/>
            <a:endCxn id="2737" idx="4"/>
          </p:cNvCxnSpPr>
          <p:nvPr/>
        </p:nvCxnSpPr>
        <p:spPr>
          <a:xfrm rot="10800000">
            <a:off x="6823275" y="1619150"/>
            <a:ext cx="0" cy="227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44" name="Google Shape;2744;p171"/>
          <p:cNvCxnSpPr>
            <a:stCxn id="2738" idx="0"/>
            <a:endCxn id="2735" idx="5"/>
          </p:cNvCxnSpPr>
          <p:nvPr/>
        </p:nvCxnSpPr>
        <p:spPr>
          <a:xfrm rot="10800000">
            <a:off x="5674275" y="2766650"/>
            <a:ext cx="1149000" cy="1122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2745" name="Google Shape;2745;p171"/>
          <p:cNvCxnSpPr>
            <a:stCxn id="2734" idx="0"/>
            <a:endCxn id="2737" idx="4"/>
          </p:cNvCxnSpPr>
          <p:nvPr/>
        </p:nvCxnSpPr>
        <p:spPr>
          <a:xfrm flipH="1" rot="10800000">
            <a:off x="5493350" y="1619150"/>
            <a:ext cx="1329900" cy="227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49" name="Shape 2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0" name="Google Shape;2750;p17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</a:t>
            </a:r>
            <a:endParaRPr/>
          </a:p>
        </p:txBody>
      </p:sp>
      <p:sp>
        <p:nvSpPr>
          <p:cNvPr id="2751" name="Google Shape;2751;p172"/>
          <p:cNvSpPr txBox="1"/>
          <p:nvPr>
            <p:ph idx="1" type="body"/>
          </p:nvPr>
        </p:nvSpPr>
        <p:spPr>
          <a:xfrm>
            <a:off x="311700" y="1225225"/>
            <a:ext cx="496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Weighted graphs</a:t>
            </a:r>
            <a:r>
              <a:rPr lang="en"/>
              <a:t> are a special type of graph featuring: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Numerical values associated with each edge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called the </a:t>
            </a:r>
            <a:r>
              <a:rPr b="1" lang="en"/>
              <a:t>edge weight </a:t>
            </a:r>
            <a:r>
              <a:rPr lang="en"/>
              <a:t>(w</a:t>
            </a:r>
            <a:r>
              <a:rPr baseline="-25000" lang="en"/>
              <a:t>uv</a:t>
            </a:r>
            <a:r>
              <a:rPr lang="en"/>
              <a:t>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 = {E, V, w}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go from weighted to simple binary graphs by using a </a:t>
            </a:r>
            <a:r>
              <a:rPr b="1" lang="en"/>
              <a:t>cutoff</a:t>
            </a:r>
            <a:r>
              <a:rPr lang="en"/>
              <a:t>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1 </a:t>
            </a:r>
            <a:r>
              <a:rPr i="1" lang="en"/>
              <a:t>if</a:t>
            </a:r>
            <a:r>
              <a:rPr lang="en"/>
              <a:t> w</a:t>
            </a:r>
            <a:r>
              <a:rPr baseline="-25000" lang="en"/>
              <a:t>ij </a:t>
            </a:r>
            <a:r>
              <a:rPr lang="en"/>
              <a:t>&gt; ϴ, </a:t>
            </a:r>
            <a:r>
              <a:rPr i="1" lang="en"/>
              <a:t>else</a:t>
            </a:r>
            <a:r>
              <a:rPr lang="en"/>
              <a:t> a</a:t>
            </a:r>
            <a:r>
              <a:rPr baseline="-25000" lang="en"/>
              <a:t>ij</a:t>
            </a:r>
            <a:r>
              <a:rPr lang="en"/>
              <a:t> = 0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Binary graphs can be thought of as a special (truncated) case of weighted graphs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52" name="Google Shape;2752;p1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81201" y="1753574"/>
            <a:ext cx="3551100" cy="229731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56" name="Shape 2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7" name="Google Shape;2757;p17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</a:t>
            </a:r>
            <a:endParaRPr/>
          </a:p>
        </p:txBody>
      </p:sp>
      <p:sp>
        <p:nvSpPr>
          <p:cNvPr id="2758" name="Google Shape;2758;p173"/>
          <p:cNvSpPr txBox="1"/>
          <p:nvPr>
            <p:ph idx="1" type="body"/>
          </p:nvPr>
        </p:nvSpPr>
        <p:spPr>
          <a:xfrm>
            <a:off x="311700" y="1225225"/>
            <a:ext cx="496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Weighted graphs</a:t>
            </a:r>
            <a:r>
              <a:rPr lang="en"/>
              <a:t> are a special type of graph featuring: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Numerical values associated with each edge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called the </a:t>
            </a:r>
            <a:r>
              <a:rPr b="1" lang="en"/>
              <a:t>edge weight </a:t>
            </a:r>
            <a:r>
              <a:rPr lang="en"/>
              <a:t>(w</a:t>
            </a:r>
            <a:r>
              <a:rPr baseline="-25000" lang="en"/>
              <a:t>uv</a:t>
            </a:r>
            <a:r>
              <a:rPr lang="en"/>
              <a:t>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 = {E, V, w}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go from weighted to simple binary graphs by using a </a:t>
            </a:r>
            <a:r>
              <a:rPr b="1" lang="en"/>
              <a:t>cutoff</a:t>
            </a:r>
            <a:r>
              <a:rPr lang="en"/>
              <a:t>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1 </a:t>
            </a:r>
            <a:r>
              <a:rPr i="1" lang="en"/>
              <a:t>if</a:t>
            </a:r>
            <a:r>
              <a:rPr lang="en"/>
              <a:t> w</a:t>
            </a:r>
            <a:r>
              <a:rPr baseline="-25000" lang="en"/>
              <a:t>ij </a:t>
            </a:r>
            <a:r>
              <a:rPr lang="en"/>
              <a:t>&gt; ϴ, </a:t>
            </a:r>
            <a:r>
              <a:rPr i="1" lang="en"/>
              <a:t>else</a:t>
            </a:r>
            <a:r>
              <a:rPr lang="en"/>
              <a:t> a</a:t>
            </a:r>
            <a:r>
              <a:rPr baseline="-25000" lang="en"/>
              <a:t>ij</a:t>
            </a:r>
            <a:r>
              <a:rPr lang="en"/>
              <a:t> = 0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Binary graphs can be thought of as a special (truncated) case of weighted graphs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Weighted graphs can be either directed or undirected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59" name="Google Shape;2759;p1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81201" y="1753574"/>
            <a:ext cx="3551100" cy="2297313"/>
          </a:xfrm>
          <a:prstGeom prst="rect">
            <a:avLst/>
          </a:prstGeom>
          <a:noFill/>
          <a:ln>
            <a:noFill/>
          </a:ln>
        </p:spPr>
      </p:pic>
      <p:sp>
        <p:nvSpPr>
          <p:cNvPr id="2760" name="Google Shape;2760;p173"/>
          <p:cNvSpPr txBox="1"/>
          <p:nvPr/>
        </p:nvSpPr>
        <p:spPr>
          <a:xfrm>
            <a:off x="5720875" y="42867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Weighted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64" name="Shape 2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" name="Google Shape;2765;p17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</a:t>
            </a:r>
            <a:endParaRPr/>
          </a:p>
        </p:txBody>
      </p:sp>
      <p:sp>
        <p:nvSpPr>
          <p:cNvPr id="2766" name="Google Shape;2766;p174"/>
          <p:cNvSpPr txBox="1"/>
          <p:nvPr>
            <p:ph idx="1" type="body"/>
          </p:nvPr>
        </p:nvSpPr>
        <p:spPr>
          <a:xfrm>
            <a:off x="311700" y="1225225"/>
            <a:ext cx="496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Weighted graphs</a:t>
            </a:r>
            <a:r>
              <a:rPr lang="en"/>
              <a:t> are a special type of graph featuring: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Numerical values associated with each edge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called the </a:t>
            </a:r>
            <a:r>
              <a:rPr b="1" lang="en"/>
              <a:t>edge weight </a:t>
            </a:r>
            <a:r>
              <a:rPr lang="en"/>
              <a:t>(w</a:t>
            </a:r>
            <a:r>
              <a:rPr baseline="-25000" lang="en"/>
              <a:t>uv</a:t>
            </a:r>
            <a:r>
              <a:rPr lang="en"/>
              <a:t>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 = {E, V, w}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go from weighted to simple binary graphs by using a </a:t>
            </a:r>
            <a:r>
              <a:rPr b="1" lang="en"/>
              <a:t>cutoff</a:t>
            </a:r>
            <a:r>
              <a:rPr lang="en"/>
              <a:t>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1 </a:t>
            </a:r>
            <a:r>
              <a:rPr i="1" lang="en"/>
              <a:t>if</a:t>
            </a:r>
            <a:r>
              <a:rPr lang="en"/>
              <a:t> w</a:t>
            </a:r>
            <a:r>
              <a:rPr baseline="-25000" lang="en"/>
              <a:t>ij </a:t>
            </a:r>
            <a:r>
              <a:rPr lang="en"/>
              <a:t>&gt; ϴ, </a:t>
            </a:r>
            <a:r>
              <a:rPr i="1" lang="en"/>
              <a:t>else</a:t>
            </a:r>
            <a:r>
              <a:rPr lang="en"/>
              <a:t> a</a:t>
            </a:r>
            <a:r>
              <a:rPr baseline="-25000" lang="en"/>
              <a:t>ij</a:t>
            </a:r>
            <a:r>
              <a:rPr lang="en"/>
              <a:t> = 0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Binary graphs can be thought of as a special (truncated) case of weighted graphs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Weighted graphs can be either directed or undirected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7" name="Google Shape;2767;p174"/>
          <p:cNvSpPr txBox="1"/>
          <p:nvPr/>
        </p:nvSpPr>
        <p:spPr>
          <a:xfrm>
            <a:off x="5720875" y="42867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Undirected Weighted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2768" name="Google Shape;2768;p174"/>
          <p:cNvPicPr preferRelativeResize="0"/>
          <p:nvPr/>
        </p:nvPicPr>
        <p:blipFill rotWithShape="1">
          <a:blip r:embed="rId3">
            <a:alphaModFix/>
          </a:blip>
          <a:srcRect b="12021" l="17717" r="7084" t="10177"/>
          <a:stretch/>
        </p:blipFill>
        <p:spPr>
          <a:xfrm>
            <a:off x="5281200" y="1511925"/>
            <a:ext cx="3749039" cy="24100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72" name="Shape 2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3" name="Google Shape;2773;p17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</a:t>
            </a:r>
            <a:endParaRPr/>
          </a:p>
        </p:txBody>
      </p:sp>
      <p:sp>
        <p:nvSpPr>
          <p:cNvPr id="2774" name="Google Shape;2774;p175"/>
          <p:cNvSpPr txBox="1"/>
          <p:nvPr>
            <p:ph idx="1" type="body"/>
          </p:nvPr>
        </p:nvSpPr>
        <p:spPr>
          <a:xfrm>
            <a:off x="311700" y="1225225"/>
            <a:ext cx="496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Weighted graphs can be used to represent </a:t>
            </a:r>
            <a:r>
              <a:rPr b="1" lang="en"/>
              <a:t>weighted networks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weighted network we not only measure the presence/absence of a tie, but also the </a:t>
            </a:r>
            <a:r>
              <a:rPr b="1" lang="en"/>
              <a:t>strength</a:t>
            </a:r>
            <a:r>
              <a:rPr lang="en"/>
              <a:t> of the relationship: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Proportion of time i and j spend together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Number of texts from i to j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Number of times i retweets j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Number of times i goes to j for help or advice</a:t>
            </a:r>
            <a:endParaRPr/>
          </a:p>
        </p:txBody>
      </p:sp>
      <p:pic>
        <p:nvPicPr>
          <p:cNvPr id="2775" name="Google Shape;2775;p1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81201" y="1753574"/>
            <a:ext cx="3551100" cy="2297313"/>
          </a:xfrm>
          <a:prstGeom prst="rect">
            <a:avLst/>
          </a:prstGeom>
          <a:noFill/>
          <a:ln>
            <a:noFill/>
          </a:ln>
        </p:spPr>
      </p:pic>
      <p:sp>
        <p:nvSpPr>
          <p:cNvPr id="2776" name="Google Shape;2776;p175"/>
          <p:cNvSpPr txBox="1"/>
          <p:nvPr/>
        </p:nvSpPr>
        <p:spPr>
          <a:xfrm>
            <a:off x="5720875" y="42867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Weighted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80" name="Shape 2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1" name="Google Shape;2781;p17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Multigraphs</a:t>
            </a:r>
            <a:endParaRPr/>
          </a:p>
        </p:txBody>
      </p:sp>
      <p:sp>
        <p:nvSpPr>
          <p:cNvPr id="2782" name="Google Shape;2782;p176"/>
          <p:cNvSpPr txBox="1"/>
          <p:nvPr>
            <p:ph idx="1" type="body"/>
          </p:nvPr>
        </p:nvSpPr>
        <p:spPr>
          <a:xfrm>
            <a:off x="311700" y="1225225"/>
            <a:ext cx="5166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Multigraphs</a:t>
            </a:r>
            <a:r>
              <a:rPr lang="en"/>
              <a:t> are a special kind of graph featuring: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single vertex set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than one edge set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multigraph is a set in which other graphs with unique edge sets are members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 = {(V, E</a:t>
            </a:r>
            <a:r>
              <a:rPr baseline="-25000" lang="en"/>
              <a:t>1</a:t>
            </a:r>
            <a:r>
              <a:rPr lang="en"/>
              <a:t>), (V, E</a:t>
            </a:r>
            <a:r>
              <a:rPr baseline="-25000" lang="en"/>
              <a:t>2</a:t>
            </a:r>
            <a:r>
              <a:rPr lang="en"/>
              <a:t>), (V, E</a:t>
            </a:r>
            <a:r>
              <a:rPr baseline="-25000" lang="en"/>
              <a:t>3</a:t>
            </a:r>
            <a:r>
              <a:rPr lang="en"/>
              <a:t>), … (V, E</a:t>
            </a:r>
            <a:r>
              <a:rPr baseline="-25000" lang="en"/>
              <a:t>m</a:t>
            </a:r>
            <a:r>
              <a:rPr lang="en"/>
              <a:t>)}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lang="en">
                <a:solidFill>
                  <a:srgbClr val="0000FF"/>
                </a:solidFill>
              </a:rPr>
              <a:t>A simple graph is a special (one layer) case of a multigraph!</a:t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83" name="Google Shape;2783;p176"/>
          <p:cNvGrpSpPr/>
          <p:nvPr/>
        </p:nvGrpSpPr>
        <p:grpSpPr>
          <a:xfrm>
            <a:off x="5478300" y="1225225"/>
            <a:ext cx="3354000" cy="3354000"/>
            <a:chOff x="5478300" y="1225225"/>
            <a:chExt cx="3354000" cy="3354000"/>
          </a:xfrm>
        </p:grpSpPr>
        <p:pic>
          <p:nvPicPr>
            <p:cNvPr descr="BZfq7zbCQAAYgaI.jpg" id="2784" name="Google Shape;2784;p17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478300" y="1225225"/>
              <a:ext cx="3354000" cy="33540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85" name="Google Shape;2785;p176"/>
            <p:cNvSpPr/>
            <p:nvPr/>
          </p:nvSpPr>
          <p:spPr>
            <a:xfrm>
              <a:off x="6095250" y="2753875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4</a:t>
              </a:r>
              <a:endParaRPr b="1"/>
            </a:p>
          </p:txBody>
        </p:sp>
        <p:sp>
          <p:nvSpPr>
            <p:cNvPr id="2786" name="Google Shape;2786;p176"/>
            <p:cNvSpPr/>
            <p:nvPr/>
          </p:nvSpPr>
          <p:spPr>
            <a:xfrm>
              <a:off x="5792650" y="4172375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5</a:t>
              </a:r>
              <a:endParaRPr b="1"/>
            </a:p>
          </p:txBody>
        </p:sp>
        <p:sp>
          <p:nvSpPr>
            <p:cNvPr id="2787" name="Google Shape;2787;p176"/>
            <p:cNvSpPr/>
            <p:nvPr/>
          </p:nvSpPr>
          <p:spPr>
            <a:xfrm>
              <a:off x="7408950" y="326640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1</a:t>
              </a:r>
              <a:endParaRPr b="1"/>
            </a:p>
          </p:txBody>
        </p:sp>
        <p:sp>
          <p:nvSpPr>
            <p:cNvPr id="2788" name="Google Shape;2788;p176"/>
            <p:cNvSpPr/>
            <p:nvPr/>
          </p:nvSpPr>
          <p:spPr>
            <a:xfrm>
              <a:off x="8135050" y="222195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2</a:t>
              </a:r>
              <a:endParaRPr b="1"/>
            </a:p>
          </p:txBody>
        </p:sp>
        <p:sp>
          <p:nvSpPr>
            <p:cNvPr id="2789" name="Google Shape;2789;p176"/>
            <p:cNvSpPr/>
            <p:nvPr/>
          </p:nvSpPr>
          <p:spPr>
            <a:xfrm>
              <a:off x="6793850" y="133575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3</a:t>
              </a:r>
              <a:endParaRPr b="1"/>
            </a:p>
          </p:txBody>
        </p:sp>
      </p:grp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93" name="Shape 2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4" name="Google Shape;2794;p17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Multigraphs</a:t>
            </a:r>
            <a:endParaRPr/>
          </a:p>
        </p:txBody>
      </p:sp>
      <p:sp>
        <p:nvSpPr>
          <p:cNvPr id="2795" name="Google Shape;2795;p177"/>
          <p:cNvSpPr txBox="1"/>
          <p:nvPr>
            <p:ph idx="1" type="body"/>
          </p:nvPr>
        </p:nvSpPr>
        <p:spPr>
          <a:xfrm>
            <a:off x="311700" y="1225225"/>
            <a:ext cx="5166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Multigraphs</a:t>
            </a:r>
            <a:r>
              <a:rPr lang="en"/>
              <a:t> are a special kind of graph featuring: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single vertex set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than one edge set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multigraph can be thought of as a set in which other graphs with unique edge sets are the members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 = {(V, E</a:t>
            </a:r>
            <a:r>
              <a:rPr baseline="-25000" lang="en"/>
              <a:t>1</a:t>
            </a:r>
            <a:r>
              <a:rPr lang="en"/>
              <a:t>), (V, E</a:t>
            </a:r>
            <a:r>
              <a:rPr baseline="-25000" lang="en"/>
              <a:t>2</a:t>
            </a:r>
            <a:r>
              <a:rPr lang="en"/>
              <a:t>), (V, E</a:t>
            </a:r>
            <a:r>
              <a:rPr baseline="-25000" lang="en"/>
              <a:t>3</a:t>
            </a:r>
            <a:r>
              <a:rPr lang="en"/>
              <a:t>), … (V, E</a:t>
            </a:r>
            <a:r>
              <a:rPr baseline="-25000" lang="en"/>
              <a:t>m</a:t>
            </a:r>
            <a:r>
              <a:rPr lang="en"/>
              <a:t>)}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lang="en">
                <a:solidFill>
                  <a:srgbClr val="0000FF"/>
                </a:solidFill>
              </a:rPr>
              <a:t>A simple graph can be thought of as a special (one layer) case of a multigraph!</a:t>
            </a:r>
            <a:endParaRPr>
              <a:solidFill>
                <a:srgbClr val="0000FF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Multigraphs can be directed or undirected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6" name="Google Shape;2796;p177"/>
          <p:cNvGrpSpPr/>
          <p:nvPr/>
        </p:nvGrpSpPr>
        <p:grpSpPr>
          <a:xfrm>
            <a:off x="5478300" y="1225225"/>
            <a:ext cx="3354000" cy="3354000"/>
            <a:chOff x="5478300" y="1225225"/>
            <a:chExt cx="3354000" cy="3354000"/>
          </a:xfrm>
        </p:grpSpPr>
        <p:pic>
          <p:nvPicPr>
            <p:cNvPr descr="BZfq7zbCQAAYgaI.jpg" id="2797" name="Google Shape;2797;p17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478300" y="1225225"/>
              <a:ext cx="3354000" cy="33540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98" name="Google Shape;2798;p177"/>
            <p:cNvSpPr/>
            <p:nvPr/>
          </p:nvSpPr>
          <p:spPr>
            <a:xfrm>
              <a:off x="6095250" y="2753875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4</a:t>
              </a:r>
              <a:endParaRPr b="1"/>
            </a:p>
          </p:txBody>
        </p:sp>
        <p:sp>
          <p:nvSpPr>
            <p:cNvPr id="2799" name="Google Shape;2799;p177"/>
            <p:cNvSpPr/>
            <p:nvPr/>
          </p:nvSpPr>
          <p:spPr>
            <a:xfrm>
              <a:off x="5792650" y="4172375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5</a:t>
              </a:r>
              <a:endParaRPr b="1"/>
            </a:p>
          </p:txBody>
        </p:sp>
        <p:sp>
          <p:nvSpPr>
            <p:cNvPr id="2800" name="Google Shape;2800;p177"/>
            <p:cNvSpPr/>
            <p:nvPr/>
          </p:nvSpPr>
          <p:spPr>
            <a:xfrm>
              <a:off x="7408950" y="326640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1</a:t>
              </a:r>
              <a:endParaRPr b="1"/>
            </a:p>
          </p:txBody>
        </p:sp>
        <p:sp>
          <p:nvSpPr>
            <p:cNvPr id="2801" name="Google Shape;2801;p177"/>
            <p:cNvSpPr/>
            <p:nvPr/>
          </p:nvSpPr>
          <p:spPr>
            <a:xfrm>
              <a:off x="8135050" y="222195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2</a:t>
              </a:r>
              <a:endParaRPr b="1"/>
            </a:p>
          </p:txBody>
        </p:sp>
        <p:sp>
          <p:nvSpPr>
            <p:cNvPr id="2802" name="Google Shape;2802;p177"/>
            <p:cNvSpPr/>
            <p:nvPr/>
          </p:nvSpPr>
          <p:spPr>
            <a:xfrm>
              <a:off x="6793850" y="133575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3</a:t>
              </a:r>
              <a:endParaRPr b="1"/>
            </a:p>
          </p:txBody>
        </p:sp>
      </p:grpSp>
      <p:sp>
        <p:nvSpPr>
          <p:cNvPr id="2803" name="Google Shape;2803;p177"/>
          <p:cNvSpPr txBox="1"/>
          <p:nvPr/>
        </p:nvSpPr>
        <p:spPr>
          <a:xfrm>
            <a:off x="6209325" y="43237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Multigraph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07" name="Shape 2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8" name="Google Shape;2808;p17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Multiplex and multilayer networks</a:t>
            </a:r>
            <a:endParaRPr/>
          </a:p>
        </p:txBody>
      </p:sp>
      <p:sp>
        <p:nvSpPr>
          <p:cNvPr id="2809" name="Google Shape;2809;p178"/>
          <p:cNvSpPr txBox="1"/>
          <p:nvPr>
            <p:ph idx="1" type="body"/>
          </p:nvPr>
        </p:nvSpPr>
        <p:spPr>
          <a:xfrm>
            <a:off x="311700" y="1225225"/>
            <a:ext cx="5166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Multigraphs may be used to represent the social network concept of </a:t>
            </a:r>
            <a:r>
              <a:rPr b="1" lang="en"/>
              <a:t>multiplex </a:t>
            </a:r>
            <a:r>
              <a:rPr lang="en"/>
              <a:t>or </a:t>
            </a:r>
            <a:r>
              <a:rPr b="1" lang="en"/>
              <a:t>multilayer </a:t>
            </a:r>
            <a:r>
              <a:rPr lang="en"/>
              <a:t>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Multiplexity </a:t>
            </a:r>
            <a:r>
              <a:rPr lang="en">
                <a:solidFill>
                  <a:srgbClr val="FF0000"/>
                </a:solidFill>
              </a:rPr>
              <a:t>exists when there is more than one basis of connectivity between pairs of people in a network</a:t>
            </a:r>
            <a:r>
              <a:rPr b="1" lang="en">
                <a:solidFill>
                  <a:srgbClr val="FF0000"/>
                </a:solidFill>
              </a:rPr>
              <a:t> </a:t>
            </a:r>
            <a:endParaRPr b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E.g.,  a friend who is also an advisor who is also a member of your congregation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Networks have different “layers” when we measure different types of ties on the same nodes:</a:t>
            </a:r>
            <a:endParaRPr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E.g., Advice, liking, hanging out, texting</a:t>
            </a:r>
            <a:endParaRPr i="1"/>
          </a:p>
        </p:txBody>
      </p:sp>
      <p:grpSp>
        <p:nvGrpSpPr>
          <p:cNvPr id="2810" name="Google Shape;2810;p178"/>
          <p:cNvGrpSpPr/>
          <p:nvPr/>
        </p:nvGrpSpPr>
        <p:grpSpPr>
          <a:xfrm>
            <a:off x="5478300" y="1225225"/>
            <a:ext cx="3354000" cy="3354000"/>
            <a:chOff x="5478300" y="1225225"/>
            <a:chExt cx="3354000" cy="3354000"/>
          </a:xfrm>
        </p:grpSpPr>
        <p:pic>
          <p:nvPicPr>
            <p:cNvPr descr="BZfq7zbCQAAYgaI.jpg" id="2811" name="Google Shape;2811;p178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478300" y="1225225"/>
              <a:ext cx="3354000" cy="33540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12" name="Google Shape;2812;p178"/>
            <p:cNvSpPr/>
            <p:nvPr/>
          </p:nvSpPr>
          <p:spPr>
            <a:xfrm>
              <a:off x="6095250" y="2753875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4</a:t>
              </a:r>
              <a:endParaRPr b="1"/>
            </a:p>
          </p:txBody>
        </p:sp>
        <p:sp>
          <p:nvSpPr>
            <p:cNvPr id="2813" name="Google Shape;2813;p178"/>
            <p:cNvSpPr/>
            <p:nvPr/>
          </p:nvSpPr>
          <p:spPr>
            <a:xfrm>
              <a:off x="5792650" y="4172375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5</a:t>
              </a:r>
              <a:endParaRPr b="1"/>
            </a:p>
          </p:txBody>
        </p:sp>
        <p:sp>
          <p:nvSpPr>
            <p:cNvPr id="2814" name="Google Shape;2814;p178"/>
            <p:cNvSpPr/>
            <p:nvPr/>
          </p:nvSpPr>
          <p:spPr>
            <a:xfrm>
              <a:off x="7408950" y="326640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1</a:t>
              </a:r>
              <a:endParaRPr b="1"/>
            </a:p>
          </p:txBody>
        </p:sp>
        <p:sp>
          <p:nvSpPr>
            <p:cNvPr id="2815" name="Google Shape;2815;p178"/>
            <p:cNvSpPr/>
            <p:nvPr/>
          </p:nvSpPr>
          <p:spPr>
            <a:xfrm>
              <a:off x="8135050" y="222195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2</a:t>
              </a:r>
              <a:endParaRPr b="1"/>
            </a:p>
          </p:txBody>
        </p:sp>
        <p:sp>
          <p:nvSpPr>
            <p:cNvPr id="2816" name="Google Shape;2816;p178"/>
            <p:cNvSpPr/>
            <p:nvPr/>
          </p:nvSpPr>
          <p:spPr>
            <a:xfrm>
              <a:off x="6793850" y="1335750"/>
              <a:ext cx="383700" cy="296700"/>
            </a:xfrm>
            <a:prstGeom prst="ellipse">
              <a:avLst/>
            </a:prstGeom>
            <a:solidFill>
              <a:srgbClr val="FF0000"/>
            </a:solidFill>
            <a:ln cap="flat" cmpd="sng" w="381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3</a:t>
              </a:r>
              <a:endParaRPr b="1"/>
            </a:p>
          </p:txBody>
        </p:sp>
      </p:grpSp>
      <p:sp>
        <p:nvSpPr>
          <p:cNvPr id="2817" name="Google Shape;2817;p178"/>
          <p:cNvSpPr/>
          <p:nvPr/>
        </p:nvSpPr>
        <p:spPr>
          <a:xfrm>
            <a:off x="6938125" y="3991000"/>
            <a:ext cx="316500" cy="276900"/>
          </a:xfrm>
          <a:prstGeom prst="rect">
            <a:avLst/>
          </a:prstGeom>
          <a:solidFill>
            <a:srgbClr val="E0666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8" name="Google Shape;2818;p178"/>
          <p:cNvSpPr txBox="1"/>
          <p:nvPr/>
        </p:nvSpPr>
        <p:spPr>
          <a:xfrm>
            <a:off x="7333800" y="3946463"/>
            <a:ext cx="1651800" cy="3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Advice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819" name="Google Shape;2819;p178"/>
          <p:cNvSpPr/>
          <p:nvPr/>
        </p:nvSpPr>
        <p:spPr>
          <a:xfrm>
            <a:off x="6938125" y="4342138"/>
            <a:ext cx="316500" cy="276900"/>
          </a:xfrm>
          <a:prstGeom prst="rect">
            <a:avLst/>
          </a:prstGeom>
          <a:solidFill>
            <a:srgbClr val="38761D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0" name="Google Shape;2820;p178"/>
          <p:cNvSpPr txBox="1"/>
          <p:nvPr/>
        </p:nvSpPr>
        <p:spPr>
          <a:xfrm>
            <a:off x="7333800" y="4297613"/>
            <a:ext cx="1810200" cy="3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Likes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821" name="Google Shape;2821;p178"/>
          <p:cNvSpPr/>
          <p:nvPr/>
        </p:nvSpPr>
        <p:spPr>
          <a:xfrm>
            <a:off x="6938125" y="4693275"/>
            <a:ext cx="316500" cy="276900"/>
          </a:xfrm>
          <a:prstGeom prst="rect">
            <a:avLst/>
          </a:prstGeom>
          <a:solidFill>
            <a:srgbClr val="0000FF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2" name="Google Shape;2822;p178"/>
          <p:cNvSpPr txBox="1"/>
          <p:nvPr/>
        </p:nvSpPr>
        <p:spPr>
          <a:xfrm>
            <a:off x="7333800" y="4648750"/>
            <a:ext cx="1810200" cy="3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Emotional Support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26" name="Shape 2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7" name="Google Shape;2827;p17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Signed graphs</a:t>
            </a:r>
            <a:endParaRPr/>
          </a:p>
        </p:txBody>
      </p:sp>
      <p:sp>
        <p:nvSpPr>
          <p:cNvPr id="2828" name="Google Shape;2828;p179"/>
          <p:cNvSpPr txBox="1"/>
          <p:nvPr>
            <p:ph idx="1" type="body"/>
          </p:nvPr>
        </p:nvSpPr>
        <p:spPr>
          <a:xfrm>
            <a:off x="311700" y="1225225"/>
            <a:ext cx="4528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Signed graphs</a:t>
            </a:r>
            <a:r>
              <a:rPr lang="en"/>
              <a:t> are a special kind of (multi)graph featuring: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One edge set (V)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Two</a:t>
            </a:r>
            <a:r>
              <a:rPr lang="en"/>
              <a:t> </a:t>
            </a:r>
            <a:r>
              <a:rPr b="1" lang="en"/>
              <a:t>disjoint</a:t>
            </a:r>
            <a:r>
              <a:rPr lang="en"/>
              <a:t> sets of edges: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Positive links</a:t>
            </a:r>
            <a:r>
              <a:rPr lang="en"/>
              <a:t> (E</a:t>
            </a:r>
            <a:r>
              <a:rPr baseline="30000" lang="en"/>
              <a:t>+</a:t>
            </a:r>
            <a:r>
              <a:rPr lang="en"/>
              <a:t>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Negative links</a:t>
            </a:r>
            <a:r>
              <a:rPr lang="en"/>
              <a:t> (E</a:t>
            </a:r>
            <a:r>
              <a:rPr baseline="30000" lang="en"/>
              <a:t>-</a:t>
            </a:r>
            <a:r>
              <a:rPr lang="en"/>
              <a:t>)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G= {V, E</a:t>
            </a:r>
            <a:r>
              <a:rPr baseline="30000" lang="en"/>
              <a:t>+</a:t>
            </a:r>
            <a:r>
              <a:rPr lang="en"/>
              <a:t>, E</a:t>
            </a:r>
            <a:r>
              <a:rPr baseline="30000" lang="en"/>
              <a:t>-</a:t>
            </a:r>
            <a:r>
              <a:rPr lang="en"/>
              <a:t>}</a:t>
            </a:r>
            <a:endParaRPr/>
          </a:p>
        </p:txBody>
      </p:sp>
      <p:pic>
        <p:nvPicPr>
          <p:cNvPr id="2829" name="Google Shape;2829;p17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9049" y="1048238"/>
            <a:ext cx="2587752" cy="304701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33" name="Shape 2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4" name="Google Shape;2834;p18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Signed graphs</a:t>
            </a:r>
            <a:endParaRPr/>
          </a:p>
        </p:txBody>
      </p:sp>
      <p:sp>
        <p:nvSpPr>
          <p:cNvPr id="2835" name="Google Shape;2835;p180"/>
          <p:cNvSpPr txBox="1"/>
          <p:nvPr>
            <p:ph idx="1" type="body"/>
          </p:nvPr>
        </p:nvSpPr>
        <p:spPr>
          <a:xfrm>
            <a:off x="311700" y="1225225"/>
            <a:ext cx="4528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Signed graphs</a:t>
            </a:r>
            <a:r>
              <a:rPr lang="en"/>
              <a:t> are a special kind of (multi)graph featuring: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One edge set (V)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Two</a:t>
            </a:r>
            <a:r>
              <a:rPr lang="en"/>
              <a:t> </a:t>
            </a:r>
            <a:r>
              <a:rPr b="1" lang="en"/>
              <a:t>disjoint</a:t>
            </a:r>
            <a:r>
              <a:rPr lang="en"/>
              <a:t> sets of edges: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Positive links</a:t>
            </a:r>
            <a:r>
              <a:rPr lang="en"/>
              <a:t> (E</a:t>
            </a:r>
            <a:r>
              <a:rPr baseline="30000" lang="en"/>
              <a:t>+</a:t>
            </a:r>
            <a:r>
              <a:rPr lang="en"/>
              <a:t>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Negative links</a:t>
            </a:r>
            <a:r>
              <a:rPr lang="en"/>
              <a:t> (E</a:t>
            </a:r>
            <a:r>
              <a:rPr baseline="30000" lang="en"/>
              <a:t>-</a:t>
            </a:r>
            <a:r>
              <a:rPr lang="en"/>
              <a:t>)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G= {V, E</a:t>
            </a:r>
            <a:r>
              <a:rPr baseline="30000" lang="en"/>
              <a:t>+</a:t>
            </a:r>
            <a:r>
              <a:rPr lang="en"/>
              <a:t>, E</a:t>
            </a:r>
            <a:r>
              <a:rPr baseline="30000" lang="en"/>
              <a:t>-</a:t>
            </a:r>
            <a:r>
              <a:rPr lang="en"/>
              <a:t>}</a:t>
            </a:r>
            <a:endParaRPr/>
          </a:p>
        </p:txBody>
      </p:sp>
      <p:sp>
        <p:nvSpPr>
          <p:cNvPr id="2836" name="Google Shape;2836;p180"/>
          <p:cNvSpPr/>
          <p:nvPr/>
        </p:nvSpPr>
        <p:spPr>
          <a:xfrm>
            <a:off x="1947425" y="3618075"/>
            <a:ext cx="3950400" cy="13188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Two sets are disjoint when they don’t share any members! (Their intersection is the empty set)</a:t>
            </a:r>
            <a:endParaRPr b="1">
              <a:solidFill>
                <a:srgbClr val="FF0000"/>
              </a:solidFill>
            </a:endParaRPr>
          </a:p>
        </p:txBody>
      </p:sp>
      <p:pic>
        <p:nvPicPr>
          <p:cNvPr id="2837" name="Google Shape;2837;p18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9049" y="1048238"/>
            <a:ext cx="2587752" cy="304701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41" name="Shape 2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2" name="Google Shape;2842;p18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Signed graphs</a:t>
            </a:r>
            <a:endParaRPr/>
          </a:p>
        </p:txBody>
      </p:sp>
      <p:sp>
        <p:nvSpPr>
          <p:cNvPr id="2843" name="Google Shape;2843;p181"/>
          <p:cNvSpPr txBox="1"/>
          <p:nvPr>
            <p:ph idx="1" type="body"/>
          </p:nvPr>
        </p:nvSpPr>
        <p:spPr>
          <a:xfrm>
            <a:off x="311700" y="1225225"/>
            <a:ext cx="4528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Signed graphs</a:t>
            </a:r>
            <a:r>
              <a:rPr lang="en"/>
              <a:t> are a special kind of (multi)graph featuring: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One edge set (V)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Two</a:t>
            </a:r>
            <a:r>
              <a:rPr lang="en"/>
              <a:t> </a:t>
            </a:r>
            <a:r>
              <a:rPr b="1" lang="en"/>
              <a:t>disjoint</a:t>
            </a:r>
            <a:r>
              <a:rPr lang="en"/>
              <a:t> sets of edges: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Positive links</a:t>
            </a:r>
            <a:r>
              <a:rPr lang="en"/>
              <a:t> (E</a:t>
            </a:r>
            <a:r>
              <a:rPr baseline="30000" lang="en"/>
              <a:t>+</a:t>
            </a:r>
            <a:r>
              <a:rPr lang="en"/>
              <a:t>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Negative links</a:t>
            </a:r>
            <a:r>
              <a:rPr lang="en"/>
              <a:t> (E</a:t>
            </a:r>
            <a:r>
              <a:rPr baseline="30000" lang="en"/>
              <a:t>-</a:t>
            </a:r>
            <a:r>
              <a:rPr lang="en"/>
              <a:t>)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G= {V, E</a:t>
            </a:r>
            <a:r>
              <a:rPr baseline="30000" lang="en"/>
              <a:t>+</a:t>
            </a:r>
            <a:r>
              <a:rPr lang="en"/>
              <a:t>, E</a:t>
            </a:r>
            <a:r>
              <a:rPr baseline="30000" lang="en"/>
              <a:t>-</a:t>
            </a:r>
            <a:r>
              <a:rPr lang="en"/>
              <a:t>}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Signed graphs can be either directed or undirected</a:t>
            </a:r>
            <a:endParaRPr/>
          </a:p>
        </p:txBody>
      </p:sp>
      <p:pic>
        <p:nvPicPr>
          <p:cNvPr id="2844" name="Google Shape;2844;p18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9049" y="1048238"/>
            <a:ext cx="2587752" cy="3047013"/>
          </a:xfrm>
          <a:prstGeom prst="rect">
            <a:avLst/>
          </a:prstGeom>
          <a:noFill/>
          <a:ln>
            <a:noFill/>
          </a:ln>
        </p:spPr>
      </p:pic>
      <p:sp>
        <p:nvSpPr>
          <p:cNvPr id="2845" name="Google Shape;2845;p181"/>
          <p:cNvSpPr txBox="1"/>
          <p:nvPr/>
        </p:nvSpPr>
        <p:spPr>
          <a:xfrm>
            <a:off x="5720875" y="42867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Undirected Signed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49" name="Shape 2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0" name="Google Shape;2850;p18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Signed graphs</a:t>
            </a:r>
            <a:endParaRPr/>
          </a:p>
        </p:txBody>
      </p:sp>
      <p:sp>
        <p:nvSpPr>
          <p:cNvPr id="2851" name="Google Shape;2851;p182"/>
          <p:cNvSpPr txBox="1"/>
          <p:nvPr>
            <p:ph idx="1" type="body"/>
          </p:nvPr>
        </p:nvSpPr>
        <p:spPr>
          <a:xfrm>
            <a:off x="311700" y="1225225"/>
            <a:ext cx="4565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Signed graphs</a:t>
            </a:r>
            <a:r>
              <a:rPr lang="en"/>
              <a:t> are can be used to represent </a:t>
            </a:r>
            <a:r>
              <a:rPr b="1" lang="en"/>
              <a:t>sentiment networks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sentiment network edges have a </a:t>
            </a:r>
            <a:r>
              <a:rPr b="1" lang="en"/>
              <a:t>bipolar</a:t>
            </a:r>
            <a:r>
              <a:rPr lang="en"/>
              <a:t> emotional or cognitive value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Likes and dislikes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Alliances/Enmities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network theory of </a:t>
            </a:r>
            <a:r>
              <a:rPr b="1" lang="en"/>
              <a:t>structural balance</a:t>
            </a:r>
            <a:r>
              <a:rPr lang="en"/>
              <a:t> deals with sentiment relations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52" name="Google Shape;2852;p18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9049" y="1048238"/>
            <a:ext cx="2587752" cy="304701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56" name="Shape 2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7" name="Google Shape;2857;p18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Signed graphs</a:t>
            </a:r>
            <a:endParaRPr/>
          </a:p>
        </p:txBody>
      </p:sp>
      <p:sp>
        <p:nvSpPr>
          <p:cNvPr id="2858" name="Google Shape;2858;p183"/>
          <p:cNvSpPr txBox="1"/>
          <p:nvPr>
            <p:ph idx="1" type="body"/>
          </p:nvPr>
        </p:nvSpPr>
        <p:spPr>
          <a:xfrm>
            <a:off x="311700" y="1225225"/>
            <a:ext cx="4565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Signed graphs</a:t>
            </a:r>
            <a:r>
              <a:rPr lang="en"/>
              <a:t> are can be used to represent </a:t>
            </a:r>
            <a:r>
              <a:rPr b="1" lang="en"/>
              <a:t>sentiment networks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sentiment network edges have a </a:t>
            </a:r>
            <a:r>
              <a:rPr b="1" lang="en"/>
              <a:t>bipolar</a:t>
            </a:r>
            <a:r>
              <a:rPr lang="en"/>
              <a:t> emotional or cognitive value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Likes and dislikes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Alliances/Enmities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network theory of </a:t>
            </a:r>
            <a:r>
              <a:rPr b="1" lang="en"/>
              <a:t>structural balance</a:t>
            </a:r>
            <a:r>
              <a:rPr lang="en"/>
              <a:t> deals with sentiment relations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Can we predict the sign of a new edge based on the sign of other edges?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59" name="Google Shape;2859;p18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9049" y="1048238"/>
            <a:ext cx="2587752" cy="3047013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860" name="Google Shape;2860;p183"/>
          <p:cNvCxnSpPr/>
          <p:nvPr/>
        </p:nvCxnSpPr>
        <p:spPr>
          <a:xfrm>
            <a:off x="6212300" y="3231425"/>
            <a:ext cx="624000" cy="517200"/>
          </a:xfrm>
          <a:prstGeom prst="straightConnector1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61" name="Google Shape;2861;p183"/>
          <p:cNvSpPr txBox="1"/>
          <p:nvPr/>
        </p:nvSpPr>
        <p:spPr>
          <a:xfrm>
            <a:off x="6302292" y="3460388"/>
            <a:ext cx="237300" cy="22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?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65" name="Shape 2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6" name="Google Shape;2866;p18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Signed graphs</a:t>
            </a:r>
            <a:endParaRPr/>
          </a:p>
        </p:txBody>
      </p:sp>
      <p:sp>
        <p:nvSpPr>
          <p:cNvPr id="2867" name="Google Shape;2867;p184"/>
          <p:cNvSpPr txBox="1"/>
          <p:nvPr>
            <p:ph idx="1" type="body"/>
          </p:nvPr>
        </p:nvSpPr>
        <p:spPr>
          <a:xfrm>
            <a:off x="311700" y="1225225"/>
            <a:ext cx="4565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b="1" lang="en">
                <a:solidFill>
                  <a:srgbClr val="000000"/>
                </a:solidFill>
              </a:rPr>
              <a:t>Signed graphs</a:t>
            </a:r>
            <a:r>
              <a:rPr lang="en">
                <a:solidFill>
                  <a:srgbClr val="000000"/>
                </a:solidFill>
              </a:rPr>
              <a:t> are can be used to represent </a:t>
            </a:r>
            <a:r>
              <a:rPr b="1" lang="en">
                <a:solidFill>
                  <a:srgbClr val="000000"/>
                </a:solidFill>
              </a:rPr>
              <a:t>sentiment networks</a:t>
            </a:r>
            <a:endParaRPr b="1"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In a sentiment network edges have a </a:t>
            </a:r>
            <a:r>
              <a:rPr b="1" lang="en">
                <a:solidFill>
                  <a:srgbClr val="000000"/>
                </a:solidFill>
              </a:rPr>
              <a:t>bipolar</a:t>
            </a:r>
            <a:r>
              <a:rPr lang="en">
                <a:solidFill>
                  <a:srgbClr val="000000"/>
                </a:solidFill>
              </a:rPr>
              <a:t> emotional or cognitive value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Likes and dislikes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Alliances/Enmities</a:t>
            </a:r>
            <a:endParaRPr>
              <a:solidFill>
                <a:srgbClr val="00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The network theory of </a:t>
            </a:r>
            <a:r>
              <a:rPr b="1" lang="en">
                <a:solidFill>
                  <a:srgbClr val="000000"/>
                </a:solidFill>
              </a:rPr>
              <a:t>structural balance</a:t>
            </a:r>
            <a:r>
              <a:rPr lang="en">
                <a:solidFill>
                  <a:srgbClr val="000000"/>
                </a:solidFill>
              </a:rPr>
              <a:t> deals with sentiment relations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Can we predict the sign of an edge based on the sign of other edges?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Yes! (If people prefer balance)</a:t>
            </a:r>
            <a:endParaRPr>
              <a:solidFill>
                <a:srgbClr val="000000"/>
              </a:solidFill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pic>
        <p:nvPicPr>
          <p:cNvPr id="2868" name="Google Shape;2868;p18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9049" y="1048238"/>
            <a:ext cx="2587752" cy="3047013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869" name="Google Shape;2869;p184"/>
          <p:cNvCxnSpPr/>
          <p:nvPr/>
        </p:nvCxnSpPr>
        <p:spPr>
          <a:xfrm>
            <a:off x="6212300" y="3231425"/>
            <a:ext cx="624000" cy="517200"/>
          </a:xfrm>
          <a:prstGeom prst="straightConnector1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70" name="Google Shape;2870;p184"/>
          <p:cNvSpPr txBox="1"/>
          <p:nvPr/>
        </p:nvSpPr>
        <p:spPr>
          <a:xfrm>
            <a:off x="6302292" y="3460388"/>
            <a:ext cx="237300" cy="22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⎼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871" name="Google Shape;2871;p184"/>
          <p:cNvSpPr/>
          <p:nvPr/>
        </p:nvSpPr>
        <p:spPr>
          <a:xfrm>
            <a:off x="4404500" y="4095250"/>
            <a:ext cx="2475300" cy="8955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tie should be negative!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2872" name="Google Shape;2872;p184"/>
          <p:cNvCxnSpPr>
            <a:stCxn id="2871" idx="0"/>
            <a:endCxn id="2870" idx="2"/>
          </p:cNvCxnSpPr>
          <p:nvPr/>
        </p:nvCxnSpPr>
        <p:spPr>
          <a:xfrm flipH="1" rot="10800000">
            <a:off x="5642150" y="3689350"/>
            <a:ext cx="778800" cy="405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76" name="Shape 2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" name="Google Shape;2877;p18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Ties and graphs summary</a:t>
            </a:r>
            <a:endParaRPr/>
          </a:p>
        </p:txBody>
      </p:sp>
      <p:graphicFrame>
        <p:nvGraphicFramePr>
          <p:cNvPr id="2878" name="Google Shape;2878;p185"/>
          <p:cNvGraphicFramePr/>
          <p:nvPr/>
        </p:nvGraphicFramePr>
        <p:xfrm>
          <a:off x="952500" y="1809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1728300"/>
                <a:gridCol w="1728300"/>
              </a:tblGrid>
              <a:tr h="636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Tie Type</a:t>
                      </a:r>
                      <a:endParaRPr b="1" sz="1600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Graph Type</a:t>
                      </a:r>
                      <a:endParaRPr b="1" sz="1600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36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Symmetric</a:t>
                      </a:r>
                      <a:endParaRPr i="1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Undirected</a:t>
                      </a:r>
                      <a:endParaRPr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36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Asymmetric</a:t>
                      </a:r>
                      <a:endParaRPr i="1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Directed</a:t>
                      </a:r>
                      <a:endParaRPr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36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Anti-Symmetric</a:t>
                      </a:r>
                      <a:endParaRPr i="1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Tree</a:t>
                      </a:r>
                      <a:endParaRPr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879" name="Google Shape;2879;p185"/>
          <p:cNvGraphicFramePr/>
          <p:nvPr/>
        </p:nvGraphicFramePr>
        <p:xfrm>
          <a:off x="4532325" y="1809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1960025"/>
                <a:gridCol w="1960025"/>
              </a:tblGrid>
              <a:tr h="636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Tie Property</a:t>
                      </a:r>
                      <a:endParaRPr b="1" sz="1600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Graph Type</a:t>
                      </a:r>
                      <a:endParaRPr b="1" sz="1600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36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Multiplexity</a:t>
                      </a:r>
                      <a:endParaRPr i="1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Multigraph</a:t>
                      </a:r>
                      <a:endParaRPr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36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Strength</a:t>
                      </a:r>
                      <a:endParaRPr i="1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Weighted</a:t>
                      </a:r>
                      <a:endParaRPr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36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Valenced</a:t>
                      </a:r>
                      <a:endParaRPr i="1"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Comfortaa"/>
                          <a:ea typeface="Comfortaa"/>
                          <a:cs typeface="Comfortaa"/>
                          <a:sym typeface="Comfortaa"/>
                        </a:rPr>
                        <a:t>Signed</a:t>
                      </a:r>
                      <a:endParaRPr>
                        <a:latin typeface="Comfortaa"/>
                        <a:ea typeface="Comfortaa"/>
                        <a:cs typeface="Comfortaa"/>
                        <a:sym typeface="Comfortaa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2883" name="Shape 2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4" name="Google Shape;2884;p186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Indirect Connections:Basic Concepts</a:t>
            </a:r>
            <a:endParaRPr/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88" name="Shape 2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9" name="Google Shape;2889;p18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Indirect relationships</a:t>
            </a:r>
            <a:endParaRPr/>
          </a:p>
        </p:txBody>
      </p:sp>
      <p:sp>
        <p:nvSpPr>
          <p:cNvPr id="2890" name="Google Shape;2890;p187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</a:t>
            </a:r>
            <a:r>
              <a:rPr lang="en"/>
              <a:t> relations get at </a:t>
            </a:r>
            <a:r>
              <a:rPr b="1" lang="en"/>
              <a:t>direct</a:t>
            </a:r>
            <a:r>
              <a:rPr lang="en"/>
              <a:t> connections between vertices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1" name="Google Shape;2891;p187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892" name="Google Shape;2892;p187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893" name="Google Shape;2893;p187"/>
          <p:cNvCxnSpPr>
            <a:stCxn id="2891" idx="6"/>
            <a:endCxn id="2892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94" name="Google Shape;2894;p187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895" name="Google Shape;2895;p187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896" name="Google Shape;2896;p187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897" name="Google Shape;2897;p187"/>
          <p:cNvCxnSpPr>
            <a:stCxn id="2892" idx="7"/>
            <a:endCxn id="289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98" name="Google Shape;2898;p187"/>
          <p:cNvCxnSpPr>
            <a:stCxn id="2896" idx="1"/>
            <a:endCxn id="289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99" name="Google Shape;2899;p187"/>
          <p:cNvCxnSpPr>
            <a:stCxn id="2896" idx="3"/>
            <a:endCxn id="289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00" name="Google Shape;2900;p187"/>
          <p:cNvCxnSpPr>
            <a:stCxn id="2895" idx="1"/>
            <a:endCxn id="2892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01" name="Google Shape;2901;p187"/>
          <p:cNvCxnSpPr>
            <a:stCxn id="2895" idx="0"/>
            <a:endCxn id="2894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05" name="Shape 2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6" name="Google Shape;2906;p18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Indirect relationships</a:t>
            </a:r>
            <a:endParaRPr/>
          </a:p>
        </p:txBody>
      </p:sp>
      <p:sp>
        <p:nvSpPr>
          <p:cNvPr id="2907" name="Google Shape;2907;p188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</a:t>
            </a:r>
            <a:r>
              <a:rPr lang="en"/>
              <a:t> relations get at </a:t>
            </a:r>
            <a:r>
              <a:rPr b="1" lang="en"/>
              <a:t>direct</a:t>
            </a:r>
            <a:r>
              <a:rPr lang="en"/>
              <a:t> connections between vertices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8" name="Google Shape;2908;p188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09" name="Google Shape;2909;p188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10" name="Google Shape;2910;p188"/>
          <p:cNvCxnSpPr>
            <a:stCxn id="2908" idx="6"/>
            <a:endCxn id="290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11" name="Google Shape;2911;p188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12" name="Google Shape;2912;p188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13" name="Google Shape;2913;p188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14" name="Google Shape;2914;p188"/>
          <p:cNvCxnSpPr>
            <a:stCxn id="2909" idx="7"/>
            <a:endCxn id="291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15" name="Google Shape;2915;p188"/>
          <p:cNvCxnSpPr>
            <a:stCxn id="2913" idx="1"/>
            <a:endCxn id="291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16" name="Google Shape;2916;p188"/>
          <p:cNvCxnSpPr>
            <a:stCxn id="2913" idx="3"/>
            <a:endCxn id="291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17" name="Google Shape;2917;p188"/>
          <p:cNvCxnSpPr>
            <a:stCxn id="2912" idx="1"/>
            <a:endCxn id="290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18" name="Google Shape;2918;p188"/>
          <p:cNvCxnSpPr>
            <a:stCxn id="2912" idx="0"/>
            <a:endCxn id="291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19" name="Google Shape;2919;p188"/>
          <p:cNvSpPr txBox="1"/>
          <p:nvPr/>
        </p:nvSpPr>
        <p:spPr>
          <a:xfrm>
            <a:off x="5460650" y="725375"/>
            <a:ext cx="1593300" cy="56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E and C are Adjacent Vertices</a:t>
            </a:r>
            <a:endParaRPr sz="800">
              <a:solidFill>
                <a:schemeClr val="accen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2920" name="Google Shape;2920;p188"/>
          <p:cNvCxnSpPr>
            <a:stCxn id="2919" idx="2"/>
            <a:endCxn id="2909" idx="0"/>
          </p:cNvCxnSpPr>
          <p:nvPr/>
        </p:nvCxnSpPr>
        <p:spPr>
          <a:xfrm>
            <a:off x="6257300" y="1287575"/>
            <a:ext cx="19200" cy="13140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2921" name="Google Shape;2921;p188"/>
          <p:cNvCxnSpPr>
            <a:stCxn id="2919" idx="2"/>
            <a:endCxn id="2911" idx="2"/>
          </p:cNvCxnSpPr>
          <p:nvPr/>
        </p:nvCxnSpPr>
        <p:spPr>
          <a:xfrm>
            <a:off x="6257300" y="1287575"/>
            <a:ext cx="874200" cy="5007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25" name="Shape 2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6" name="Google Shape;2926;p18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Indirect relationships</a:t>
            </a:r>
            <a:endParaRPr/>
          </a:p>
        </p:txBody>
      </p:sp>
      <p:sp>
        <p:nvSpPr>
          <p:cNvPr id="2927" name="Google Shape;2927;p189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</a:t>
            </a:r>
            <a:r>
              <a:rPr lang="en"/>
              <a:t> relations get at </a:t>
            </a:r>
            <a:r>
              <a:rPr b="1" lang="en"/>
              <a:t>direct</a:t>
            </a:r>
            <a:r>
              <a:rPr lang="en"/>
              <a:t> connections between vertices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sometimes we are interested in </a:t>
            </a:r>
            <a:r>
              <a:rPr b="1" lang="en"/>
              <a:t>indirect connections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and D are “connected” in the sense that they have a neighbor (E) in common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8" name="Google Shape;2928;p189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29" name="Google Shape;2929;p189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30" name="Google Shape;2930;p189"/>
          <p:cNvCxnSpPr>
            <a:stCxn id="2928" idx="6"/>
            <a:endCxn id="292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31" name="Google Shape;2931;p189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32" name="Google Shape;2932;p189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33" name="Google Shape;2933;p189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34" name="Google Shape;2934;p189"/>
          <p:cNvCxnSpPr>
            <a:stCxn id="2929" idx="7"/>
            <a:endCxn id="293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35" name="Google Shape;2935;p189"/>
          <p:cNvCxnSpPr>
            <a:stCxn id="2933" idx="1"/>
            <a:endCxn id="293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36" name="Google Shape;2936;p189"/>
          <p:cNvCxnSpPr>
            <a:stCxn id="2933" idx="3"/>
            <a:endCxn id="293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37" name="Google Shape;2937;p189"/>
          <p:cNvCxnSpPr>
            <a:stCxn id="2932" idx="1"/>
            <a:endCxn id="292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38" name="Google Shape;2938;p189"/>
          <p:cNvCxnSpPr>
            <a:stCxn id="2932" idx="0"/>
            <a:endCxn id="293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39" name="Google Shape;2939;p189"/>
          <p:cNvSpPr txBox="1"/>
          <p:nvPr/>
        </p:nvSpPr>
        <p:spPr>
          <a:xfrm>
            <a:off x="4677750" y="4342950"/>
            <a:ext cx="2004000" cy="56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What’s the relation between B and D?</a:t>
            </a:r>
            <a:endParaRPr sz="800">
              <a:solidFill>
                <a:schemeClr val="accen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2940" name="Google Shape;2940;p189"/>
          <p:cNvCxnSpPr>
            <a:stCxn id="2939" idx="0"/>
            <a:endCxn id="2928" idx="4"/>
          </p:cNvCxnSpPr>
          <p:nvPr/>
        </p:nvCxnSpPr>
        <p:spPr>
          <a:xfrm rot="10800000">
            <a:off x="4935750" y="3202950"/>
            <a:ext cx="744000" cy="11400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2941" name="Google Shape;2941;p189"/>
          <p:cNvCxnSpPr>
            <a:stCxn id="2939" idx="0"/>
            <a:endCxn id="2932" idx="2"/>
          </p:cNvCxnSpPr>
          <p:nvPr/>
        </p:nvCxnSpPr>
        <p:spPr>
          <a:xfrm flipH="1" rot="10800000">
            <a:off x="5679750" y="3974850"/>
            <a:ext cx="1451700" cy="3681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45" name="Shape 2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6" name="Google Shape;2946;p19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Indirect relationships</a:t>
            </a:r>
            <a:endParaRPr/>
          </a:p>
        </p:txBody>
      </p:sp>
      <p:sp>
        <p:nvSpPr>
          <p:cNvPr id="2947" name="Google Shape;2947;p190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</a:t>
            </a:r>
            <a:r>
              <a:rPr lang="en"/>
              <a:t> relations get at </a:t>
            </a:r>
            <a:r>
              <a:rPr b="1" lang="en"/>
              <a:t>direct</a:t>
            </a:r>
            <a:r>
              <a:rPr lang="en"/>
              <a:t> connections between vertices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sometimes we are interested in </a:t>
            </a:r>
            <a:r>
              <a:rPr b="1" lang="en"/>
              <a:t>indirect connections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and D are “connected” in the sense that they have a neighbor (E) in common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But they are </a:t>
            </a:r>
            <a:r>
              <a:rPr i="1" lang="en"/>
              <a:t>not</a:t>
            </a:r>
            <a:r>
              <a:rPr lang="en"/>
              <a:t> adjacent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type of indirect connection between vertices in a graph</a:t>
            </a:r>
            <a:endParaRPr/>
          </a:p>
        </p:txBody>
      </p:sp>
      <p:sp>
        <p:nvSpPr>
          <p:cNvPr id="2948" name="Google Shape;2948;p190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49" name="Google Shape;2949;p190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50" name="Google Shape;2950;p190"/>
          <p:cNvCxnSpPr>
            <a:stCxn id="2948" idx="6"/>
            <a:endCxn id="294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51" name="Google Shape;2951;p190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52" name="Google Shape;2952;p190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53" name="Google Shape;2953;p190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54" name="Google Shape;2954;p190"/>
          <p:cNvCxnSpPr>
            <a:stCxn id="2949" idx="7"/>
            <a:endCxn id="295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55" name="Google Shape;2955;p190"/>
          <p:cNvCxnSpPr>
            <a:stCxn id="2953" idx="1"/>
            <a:endCxn id="295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56" name="Google Shape;2956;p190"/>
          <p:cNvCxnSpPr>
            <a:stCxn id="2953" idx="3"/>
            <a:endCxn id="295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57" name="Google Shape;2957;p190"/>
          <p:cNvCxnSpPr>
            <a:stCxn id="2952" idx="1"/>
            <a:endCxn id="294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58" name="Google Shape;2958;p190"/>
          <p:cNvCxnSpPr>
            <a:stCxn id="2952" idx="0"/>
            <a:endCxn id="295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59" name="Google Shape;2959;p190"/>
          <p:cNvSpPr txBox="1"/>
          <p:nvPr/>
        </p:nvSpPr>
        <p:spPr>
          <a:xfrm>
            <a:off x="4677750" y="4342950"/>
            <a:ext cx="2004000" cy="56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What’s the relation between B and D?</a:t>
            </a:r>
            <a:endParaRPr sz="800">
              <a:solidFill>
                <a:schemeClr val="accen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2960" name="Google Shape;2960;p190"/>
          <p:cNvCxnSpPr>
            <a:stCxn id="2959" idx="0"/>
            <a:endCxn id="2948" idx="4"/>
          </p:cNvCxnSpPr>
          <p:nvPr/>
        </p:nvCxnSpPr>
        <p:spPr>
          <a:xfrm rot="10800000">
            <a:off x="4935750" y="3202950"/>
            <a:ext cx="744000" cy="11400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2961" name="Google Shape;2961;p190"/>
          <p:cNvCxnSpPr>
            <a:stCxn id="2959" idx="0"/>
            <a:endCxn id="2952" idx="2"/>
          </p:cNvCxnSpPr>
          <p:nvPr/>
        </p:nvCxnSpPr>
        <p:spPr>
          <a:xfrm flipH="1" rot="10800000">
            <a:off x="5679750" y="3974850"/>
            <a:ext cx="1451700" cy="3681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65" name="Shape 2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6" name="Google Shape;2966;p19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Indirect relationships</a:t>
            </a:r>
            <a:endParaRPr/>
          </a:p>
        </p:txBody>
      </p:sp>
      <p:sp>
        <p:nvSpPr>
          <p:cNvPr id="2967" name="Google Shape;2967;p191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</a:t>
            </a:r>
            <a:r>
              <a:rPr lang="en"/>
              <a:t> relations get at </a:t>
            </a:r>
            <a:r>
              <a:rPr b="1" lang="en"/>
              <a:t>direct</a:t>
            </a:r>
            <a:r>
              <a:rPr lang="en"/>
              <a:t> connections between vertices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sometimes we are interested in </a:t>
            </a:r>
            <a:r>
              <a:rPr b="1" lang="en"/>
              <a:t>indirect connections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graph theory indirect connections are defined using the concepts of: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Path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Connectivity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Reachability</a:t>
            </a:r>
            <a:endParaRPr i="1"/>
          </a:p>
        </p:txBody>
      </p:sp>
      <p:sp>
        <p:nvSpPr>
          <p:cNvPr id="2968" name="Google Shape;2968;p191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69" name="Google Shape;2969;p191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70" name="Google Shape;2970;p191"/>
          <p:cNvCxnSpPr>
            <a:stCxn id="2968" idx="6"/>
            <a:endCxn id="296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71" name="Google Shape;2971;p191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72" name="Google Shape;2972;p191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73" name="Google Shape;2973;p191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74" name="Google Shape;2974;p191"/>
          <p:cNvCxnSpPr>
            <a:stCxn id="2969" idx="7"/>
            <a:endCxn id="297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75" name="Google Shape;2975;p191"/>
          <p:cNvCxnSpPr>
            <a:stCxn id="2973" idx="1"/>
            <a:endCxn id="297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76" name="Google Shape;2976;p191"/>
          <p:cNvCxnSpPr>
            <a:stCxn id="2973" idx="3"/>
            <a:endCxn id="297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77" name="Google Shape;2977;p191"/>
          <p:cNvCxnSpPr>
            <a:stCxn id="2972" idx="1"/>
            <a:endCxn id="296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78" name="Google Shape;2978;p191"/>
          <p:cNvCxnSpPr>
            <a:stCxn id="2972" idx="0"/>
            <a:endCxn id="297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79" name="Google Shape;2979;p191"/>
          <p:cNvSpPr txBox="1"/>
          <p:nvPr/>
        </p:nvSpPr>
        <p:spPr>
          <a:xfrm>
            <a:off x="4677750" y="4342950"/>
            <a:ext cx="2004000" cy="56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What’s the relation between B and D?</a:t>
            </a:r>
            <a:endParaRPr sz="800">
              <a:solidFill>
                <a:schemeClr val="accen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2980" name="Google Shape;2980;p191"/>
          <p:cNvCxnSpPr>
            <a:stCxn id="2979" idx="0"/>
            <a:endCxn id="2968" idx="4"/>
          </p:cNvCxnSpPr>
          <p:nvPr/>
        </p:nvCxnSpPr>
        <p:spPr>
          <a:xfrm rot="10800000">
            <a:off x="4935750" y="3202950"/>
            <a:ext cx="744000" cy="11400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2981" name="Google Shape;2981;p191"/>
          <p:cNvCxnSpPr>
            <a:stCxn id="2979" idx="0"/>
            <a:endCxn id="2972" idx="2"/>
          </p:cNvCxnSpPr>
          <p:nvPr/>
        </p:nvCxnSpPr>
        <p:spPr>
          <a:xfrm flipH="1" rot="10800000">
            <a:off x="5679750" y="3974850"/>
            <a:ext cx="1451700" cy="3681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85" name="Shape 2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6" name="Google Shape;2986;p19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2987" name="Google Shape;2987;p192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graph theory a </a:t>
            </a:r>
            <a:r>
              <a:rPr b="1" lang="en"/>
              <a:t>path</a:t>
            </a:r>
            <a:r>
              <a:rPr lang="en"/>
              <a:t> is a sequence of alternating nodes and edges that: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Begins with an </a:t>
            </a:r>
            <a:r>
              <a:rPr b="1" lang="en"/>
              <a:t>origin node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Ends with a </a:t>
            </a:r>
            <a:r>
              <a:rPr b="1" lang="en"/>
              <a:t>destination node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Includes at least </a:t>
            </a:r>
            <a:r>
              <a:rPr b="1" lang="en"/>
              <a:t>one more node </a:t>
            </a:r>
            <a:r>
              <a:rPr lang="en"/>
              <a:t>beyond these two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Does </a:t>
            </a:r>
            <a:r>
              <a:rPr b="1" lang="en"/>
              <a:t>not</a:t>
            </a:r>
            <a:r>
              <a:rPr lang="en"/>
              <a:t> repeat any nodes in the sequence</a:t>
            </a:r>
            <a:endParaRPr/>
          </a:p>
        </p:txBody>
      </p:sp>
      <p:sp>
        <p:nvSpPr>
          <p:cNvPr id="2988" name="Google Shape;2988;p192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89" name="Google Shape;2989;p192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90" name="Google Shape;2990;p192"/>
          <p:cNvCxnSpPr>
            <a:stCxn id="2988" idx="6"/>
            <a:endCxn id="298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91" name="Google Shape;2991;p192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92" name="Google Shape;2992;p192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993" name="Google Shape;2993;p192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2994" name="Google Shape;2994;p192"/>
          <p:cNvCxnSpPr>
            <a:stCxn id="2989" idx="7"/>
            <a:endCxn id="299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95" name="Google Shape;2995;p192"/>
          <p:cNvCxnSpPr>
            <a:stCxn id="2993" idx="1"/>
            <a:endCxn id="299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96" name="Google Shape;2996;p192"/>
          <p:cNvCxnSpPr>
            <a:stCxn id="2993" idx="3"/>
            <a:endCxn id="299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97" name="Google Shape;2997;p192"/>
          <p:cNvCxnSpPr>
            <a:stCxn id="2992" idx="1"/>
            <a:endCxn id="298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98" name="Google Shape;2998;p192"/>
          <p:cNvCxnSpPr>
            <a:stCxn id="2992" idx="0"/>
            <a:endCxn id="299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02" name="Shape 3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3" name="Google Shape;3003;p19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004" name="Google Shape;3004;p193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usually write the path using the edge sequence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B―D = {BE, ED}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say that node B can </a:t>
            </a:r>
            <a:r>
              <a:rPr b="1" lang="en"/>
              <a:t>reach</a:t>
            </a:r>
            <a:r>
              <a:rPr lang="en"/>
              <a:t> node D via a path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5" name="Google Shape;3005;p193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06" name="Google Shape;3006;p193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07" name="Google Shape;3007;p193"/>
          <p:cNvCxnSpPr>
            <a:stCxn id="3005" idx="6"/>
            <a:endCxn id="3006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08" name="Google Shape;3008;p193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09" name="Google Shape;3009;p193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10" name="Google Shape;3010;p193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11" name="Google Shape;3011;p193"/>
          <p:cNvCxnSpPr>
            <a:stCxn id="3006" idx="7"/>
            <a:endCxn id="3008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12" name="Google Shape;3012;p193"/>
          <p:cNvCxnSpPr>
            <a:stCxn id="3010" idx="1"/>
            <a:endCxn id="3008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13" name="Google Shape;3013;p193"/>
          <p:cNvCxnSpPr>
            <a:stCxn id="3010" idx="3"/>
            <a:endCxn id="3009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14" name="Google Shape;3014;p193"/>
          <p:cNvCxnSpPr>
            <a:stCxn id="3009" idx="1"/>
            <a:endCxn id="3006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15" name="Google Shape;3015;p193"/>
          <p:cNvCxnSpPr>
            <a:stCxn id="3009" idx="0"/>
            <a:endCxn id="3008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16" name="Google Shape;3016;p193"/>
          <p:cNvSpPr/>
          <p:nvPr/>
        </p:nvSpPr>
        <p:spPr>
          <a:xfrm>
            <a:off x="4354300" y="3934749"/>
            <a:ext cx="2525400" cy="10560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Node B can reach node D via the {BE, ED} path!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3017" name="Google Shape;3017;p193"/>
          <p:cNvCxnSpPr>
            <a:stCxn id="3016" idx="0"/>
          </p:cNvCxnSpPr>
          <p:nvPr/>
        </p:nvCxnSpPr>
        <p:spPr>
          <a:xfrm flipH="1" rot="10800000">
            <a:off x="5617000" y="3456249"/>
            <a:ext cx="794700" cy="478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21" name="Shape 3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2" name="Google Shape;3022;p19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023" name="Google Shape;3023;p194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an undirected graph if a given path exists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B―D = {BE, ED}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Then the reverse path also exists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D―B = {DE, EB}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4" name="Google Shape;3024;p194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25" name="Google Shape;3025;p194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26" name="Google Shape;3026;p194"/>
          <p:cNvCxnSpPr>
            <a:stCxn id="3024" idx="6"/>
            <a:endCxn id="3025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27" name="Google Shape;3027;p194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28" name="Google Shape;3028;p194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29" name="Google Shape;3029;p194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30" name="Google Shape;3030;p194"/>
          <p:cNvCxnSpPr>
            <a:stCxn id="3025" idx="7"/>
            <a:endCxn id="3027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31" name="Google Shape;3031;p194"/>
          <p:cNvCxnSpPr>
            <a:stCxn id="3029" idx="1"/>
            <a:endCxn id="3027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32" name="Google Shape;3032;p194"/>
          <p:cNvCxnSpPr>
            <a:stCxn id="3029" idx="3"/>
            <a:endCxn id="3028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33" name="Google Shape;3033;p194"/>
          <p:cNvCxnSpPr>
            <a:stCxn id="3028" idx="1"/>
            <a:endCxn id="3025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34" name="Google Shape;3034;p194"/>
          <p:cNvCxnSpPr>
            <a:stCxn id="3028" idx="0"/>
            <a:endCxn id="3027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35" name="Google Shape;3035;p194"/>
          <p:cNvSpPr/>
          <p:nvPr/>
        </p:nvSpPr>
        <p:spPr>
          <a:xfrm>
            <a:off x="4354300" y="3934749"/>
            <a:ext cx="2525400" cy="10560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Node D can also reach node B via the {DE, EB} path!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3036" name="Google Shape;3036;p194"/>
          <p:cNvCxnSpPr>
            <a:stCxn id="3035" idx="0"/>
          </p:cNvCxnSpPr>
          <p:nvPr/>
        </p:nvCxnSpPr>
        <p:spPr>
          <a:xfrm flipH="1" rot="10800000">
            <a:off x="5617000" y="3456249"/>
            <a:ext cx="794700" cy="478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40" name="Shape 3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" name="Google Shape;3041;p19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042" name="Google Shape;3042;p195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same two nodes may be connected via </a:t>
            </a:r>
            <a:r>
              <a:rPr b="1" lang="en"/>
              <a:t>multiple paths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can reach A via: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DA}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3" name="Google Shape;3043;p195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44" name="Google Shape;3044;p195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45" name="Google Shape;3045;p195"/>
          <p:cNvCxnSpPr>
            <a:stCxn id="3043" idx="6"/>
            <a:endCxn id="3044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46" name="Google Shape;3046;p195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47" name="Google Shape;3047;p195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48" name="Google Shape;3048;p195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49" name="Google Shape;3049;p195"/>
          <p:cNvCxnSpPr>
            <a:stCxn id="3044" idx="7"/>
            <a:endCxn id="3046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50" name="Google Shape;3050;p195"/>
          <p:cNvCxnSpPr>
            <a:stCxn id="3048" idx="1"/>
            <a:endCxn id="3046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51" name="Google Shape;3051;p195"/>
          <p:cNvCxnSpPr>
            <a:stCxn id="3048" idx="3"/>
            <a:endCxn id="3047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52" name="Google Shape;3052;p195"/>
          <p:cNvCxnSpPr>
            <a:stCxn id="3047" idx="1"/>
            <a:endCxn id="3044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53" name="Google Shape;3053;p195"/>
          <p:cNvCxnSpPr>
            <a:stCxn id="3047" idx="0"/>
            <a:endCxn id="3046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57" name="Shape 3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8" name="Google Shape;3058;p19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059" name="Google Shape;3059;p196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B―D = {BE, ED} path: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is the </a:t>
            </a:r>
            <a:r>
              <a:rPr b="1" lang="en">
                <a:solidFill>
                  <a:schemeClr val="accent6"/>
                </a:solidFill>
              </a:rPr>
              <a:t>origin node</a:t>
            </a:r>
            <a:endParaRPr b="1">
              <a:solidFill>
                <a:schemeClr val="accent6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 is the </a:t>
            </a:r>
            <a:r>
              <a:rPr b="1" lang="en">
                <a:solidFill>
                  <a:schemeClr val="accent5"/>
                </a:solidFill>
              </a:rPr>
              <a:t>destination node</a:t>
            </a:r>
            <a:endParaRPr b="1">
              <a:solidFill>
                <a:schemeClr val="accent5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 is the </a:t>
            </a:r>
            <a:r>
              <a:rPr b="1" lang="en">
                <a:solidFill>
                  <a:schemeClr val="lt2"/>
                </a:solidFill>
              </a:rPr>
              <a:t>inner node</a:t>
            </a:r>
            <a:endParaRPr b="1">
              <a:solidFill>
                <a:schemeClr val="lt2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Note that if the path was instead D―B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Then D would be the origin and E the destination!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Even in a undirected graph paths have a direction!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0" name="Google Shape;3060;p196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61" name="Google Shape;3061;p196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62" name="Google Shape;3062;p196"/>
          <p:cNvCxnSpPr>
            <a:stCxn id="3060" idx="6"/>
            <a:endCxn id="3061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63" name="Google Shape;3063;p196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64" name="Google Shape;3064;p196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65" name="Google Shape;3065;p196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66" name="Google Shape;3066;p196"/>
          <p:cNvCxnSpPr>
            <a:stCxn id="3061" idx="7"/>
            <a:endCxn id="3063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67" name="Google Shape;3067;p196"/>
          <p:cNvCxnSpPr>
            <a:stCxn id="3065" idx="1"/>
            <a:endCxn id="3063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68" name="Google Shape;3068;p196"/>
          <p:cNvCxnSpPr>
            <a:stCxn id="3065" idx="3"/>
            <a:endCxn id="3064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69" name="Google Shape;3069;p196"/>
          <p:cNvCxnSpPr>
            <a:stCxn id="3064" idx="1"/>
            <a:endCxn id="3061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70" name="Google Shape;3070;p196"/>
          <p:cNvCxnSpPr>
            <a:stCxn id="3064" idx="0"/>
            <a:endCxn id="3063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71" name="Google Shape;3071;p196"/>
          <p:cNvSpPr txBox="1"/>
          <p:nvPr/>
        </p:nvSpPr>
        <p:spPr>
          <a:xfrm>
            <a:off x="4298050" y="1368450"/>
            <a:ext cx="1536000" cy="30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Origin node</a:t>
            </a:r>
            <a:endParaRPr b="1"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72" name="Google Shape;3072;p196"/>
          <p:cNvCxnSpPr>
            <a:stCxn id="3071" idx="2"/>
            <a:endCxn id="3060" idx="0"/>
          </p:cNvCxnSpPr>
          <p:nvPr/>
        </p:nvCxnSpPr>
        <p:spPr>
          <a:xfrm flipH="1">
            <a:off x="4935550" y="1673550"/>
            <a:ext cx="130500" cy="9282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3073" name="Google Shape;3073;p196"/>
          <p:cNvSpPr txBox="1"/>
          <p:nvPr/>
        </p:nvSpPr>
        <p:spPr>
          <a:xfrm>
            <a:off x="4103700" y="4579225"/>
            <a:ext cx="1536000" cy="30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Destination node</a:t>
            </a:r>
            <a:endParaRPr b="1"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74" name="Google Shape;3074;p196"/>
          <p:cNvCxnSpPr>
            <a:stCxn id="3073" idx="3"/>
            <a:endCxn id="3064" idx="3"/>
          </p:cNvCxnSpPr>
          <p:nvPr/>
        </p:nvCxnSpPr>
        <p:spPr>
          <a:xfrm flipH="1" rot="10800000">
            <a:off x="5639700" y="4187275"/>
            <a:ext cx="1579800" cy="5445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3075" name="Google Shape;3075;p196"/>
          <p:cNvSpPr txBox="1"/>
          <p:nvPr/>
        </p:nvSpPr>
        <p:spPr>
          <a:xfrm>
            <a:off x="4412925" y="3891625"/>
            <a:ext cx="1045500" cy="30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Inner node</a:t>
            </a:r>
            <a:endParaRPr b="1"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76" name="Google Shape;3076;p196"/>
          <p:cNvCxnSpPr>
            <a:stCxn id="3075" idx="3"/>
            <a:endCxn id="3061" idx="3"/>
          </p:cNvCxnSpPr>
          <p:nvPr/>
        </p:nvCxnSpPr>
        <p:spPr>
          <a:xfrm flipH="1" rot="10800000">
            <a:off x="5458425" y="3114775"/>
            <a:ext cx="605400" cy="9294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80" name="Shape 3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1" name="Google Shape;3081;p19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082" name="Google Shape;3082;p197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B―D = {BE, ED} path: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is the </a:t>
            </a:r>
            <a:r>
              <a:rPr b="1" lang="en">
                <a:solidFill>
                  <a:schemeClr val="accent6"/>
                </a:solidFill>
              </a:rPr>
              <a:t>origin node</a:t>
            </a:r>
            <a:endParaRPr b="1">
              <a:solidFill>
                <a:schemeClr val="accent6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 is the </a:t>
            </a:r>
            <a:r>
              <a:rPr b="1" lang="en">
                <a:solidFill>
                  <a:schemeClr val="accent5"/>
                </a:solidFill>
              </a:rPr>
              <a:t>destination node</a:t>
            </a:r>
            <a:endParaRPr b="1">
              <a:solidFill>
                <a:schemeClr val="accent5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 is the </a:t>
            </a:r>
            <a:r>
              <a:rPr b="1" lang="en">
                <a:solidFill>
                  <a:schemeClr val="lt2"/>
                </a:solidFill>
              </a:rPr>
              <a:t>inner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main characteristic of a path is its </a:t>
            </a:r>
            <a:r>
              <a:rPr b="1" lang="en"/>
              <a:t>length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length of a path is the </a:t>
            </a:r>
            <a:r>
              <a:rPr i="1" lang="en"/>
              <a:t>number of edges</a:t>
            </a:r>
            <a:r>
              <a:rPr lang="en"/>
              <a:t> in it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refer to path length using the letter </a:t>
            </a:r>
            <a:r>
              <a:rPr b="1" i="1" lang="en" sz="1500">
                <a:latin typeface="Garamond"/>
                <a:ea typeface="Garamond"/>
                <a:cs typeface="Garamond"/>
                <a:sym typeface="Garamond"/>
              </a:rPr>
              <a:t>l</a:t>
            </a:r>
            <a:endParaRPr b="1" i="1" sz="1500">
              <a:latin typeface="Garamond"/>
              <a:ea typeface="Garamond"/>
              <a:cs typeface="Garamond"/>
              <a:sym typeface="Garamond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For the B―D path: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i="1" lang="en" sz="1500">
                <a:latin typeface="Garamond"/>
                <a:ea typeface="Garamond"/>
                <a:cs typeface="Garamond"/>
                <a:sym typeface="Garamond"/>
              </a:rPr>
              <a:t>l</a:t>
            </a:r>
            <a:r>
              <a:rPr lang="en"/>
              <a:t> = 2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3" name="Google Shape;3083;p197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84" name="Google Shape;3084;p197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85" name="Google Shape;3085;p197"/>
          <p:cNvCxnSpPr>
            <a:stCxn id="3083" idx="6"/>
            <a:endCxn id="3084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86" name="Google Shape;3086;p197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87" name="Google Shape;3087;p197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088" name="Google Shape;3088;p197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089" name="Google Shape;3089;p197"/>
          <p:cNvCxnSpPr>
            <a:stCxn id="3084" idx="7"/>
            <a:endCxn id="3086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90" name="Google Shape;3090;p197"/>
          <p:cNvCxnSpPr>
            <a:stCxn id="3088" idx="1"/>
            <a:endCxn id="3086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91" name="Google Shape;3091;p197"/>
          <p:cNvCxnSpPr>
            <a:stCxn id="3088" idx="3"/>
            <a:endCxn id="3087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92" name="Google Shape;3092;p197"/>
          <p:cNvCxnSpPr>
            <a:stCxn id="3087" idx="1"/>
            <a:endCxn id="3084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93" name="Google Shape;3093;p197"/>
          <p:cNvCxnSpPr>
            <a:stCxn id="3087" idx="0"/>
            <a:endCxn id="3086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94" name="Google Shape;3094;p197"/>
          <p:cNvSpPr txBox="1"/>
          <p:nvPr/>
        </p:nvSpPr>
        <p:spPr>
          <a:xfrm>
            <a:off x="4677750" y="4342950"/>
            <a:ext cx="2004000" cy="39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A path of length two!</a:t>
            </a:r>
            <a:endParaRPr sz="8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95" name="Google Shape;3095;p197"/>
          <p:cNvCxnSpPr>
            <a:stCxn id="3094" idx="0"/>
          </p:cNvCxnSpPr>
          <p:nvPr/>
        </p:nvCxnSpPr>
        <p:spPr>
          <a:xfrm flipH="1" rot="10800000">
            <a:off x="5679750" y="3374850"/>
            <a:ext cx="430200" cy="9681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99" name="Shape 3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0" name="Google Shape;3100;p19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101" name="Google Shape;3101;p198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same two nodes may be connected via </a:t>
            </a:r>
            <a:r>
              <a:rPr b="1" lang="en"/>
              <a:t>multiple paths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can reach A via: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2" name="Google Shape;3102;p198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03" name="Google Shape;3103;p198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04" name="Google Shape;3104;p198"/>
          <p:cNvCxnSpPr>
            <a:stCxn id="3102" idx="6"/>
            <a:endCxn id="3103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05" name="Google Shape;3105;p198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06" name="Google Shape;3106;p198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07" name="Google Shape;3107;p198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08" name="Google Shape;3108;p198"/>
          <p:cNvCxnSpPr>
            <a:stCxn id="3103" idx="7"/>
            <a:endCxn id="310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09" name="Google Shape;3109;p198"/>
          <p:cNvCxnSpPr>
            <a:stCxn id="3107" idx="1"/>
            <a:endCxn id="310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10" name="Google Shape;3110;p198"/>
          <p:cNvCxnSpPr>
            <a:stCxn id="3107" idx="3"/>
            <a:endCxn id="310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11" name="Google Shape;3111;p198"/>
          <p:cNvCxnSpPr>
            <a:stCxn id="3106" idx="1"/>
            <a:endCxn id="3103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12" name="Google Shape;3112;p198"/>
          <p:cNvCxnSpPr>
            <a:stCxn id="3106" idx="0"/>
            <a:endCxn id="3105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16" name="Shape 3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7" name="Google Shape;3117;p19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118" name="Google Shape;3118;p199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same two nodes may be connected via </a:t>
            </a:r>
            <a:r>
              <a:rPr b="1" lang="en"/>
              <a:t>multiple paths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can reach A via: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EC, CA}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9" name="Google Shape;3119;p199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20" name="Google Shape;3120;p199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21" name="Google Shape;3121;p199"/>
          <p:cNvCxnSpPr>
            <a:stCxn id="3119" idx="6"/>
            <a:endCxn id="3120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22" name="Google Shape;3122;p199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23" name="Google Shape;3123;p199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24" name="Google Shape;3124;p199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25" name="Google Shape;3125;p199"/>
          <p:cNvCxnSpPr>
            <a:stCxn id="3120" idx="7"/>
            <a:endCxn id="3122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26" name="Google Shape;3126;p199"/>
          <p:cNvCxnSpPr>
            <a:stCxn id="3124" idx="1"/>
            <a:endCxn id="3122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27" name="Google Shape;3127;p199"/>
          <p:cNvCxnSpPr>
            <a:stCxn id="3124" idx="3"/>
            <a:endCxn id="3123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28" name="Google Shape;3128;p199"/>
          <p:cNvCxnSpPr>
            <a:stCxn id="3123" idx="1"/>
            <a:endCxn id="3120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29" name="Google Shape;3129;p199"/>
          <p:cNvCxnSpPr>
            <a:stCxn id="3123" idx="0"/>
            <a:endCxn id="3122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33" name="Shape 3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4" name="Google Shape;3134;p20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135" name="Google Shape;3135;p200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same two nodes may be connected via </a:t>
            </a:r>
            <a:r>
              <a:rPr b="1" lang="en"/>
              <a:t>multiple paths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can reach A via: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EC, CA}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DC, CA}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6" name="Google Shape;3136;p200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37" name="Google Shape;3137;p200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38" name="Google Shape;3138;p200"/>
          <p:cNvCxnSpPr>
            <a:stCxn id="3136" idx="6"/>
            <a:endCxn id="3137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39" name="Google Shape;3139;p200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40" name="Google Shape;3140;p200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41" name="Google Shape;3141;p200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42" name="Google Shape;3142;p200"/>
          <p:cNvCxnSpPr>
            <a:stCxn id="3137" idx="7"/>
            <a:endCxn id="3139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43" name="Google Shape;3143;p200"/>
          <p:cNvCxnSpPr>
            <a:stCxn id="3141" idx="1"/>
            <a:endCxn id="3139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44" name="Google Shape;3144;p200"/>
          <p:cNvCxnSpPr>
            <a:stCxn id="3141" idx="3"/>
            <a:endCxn id="3140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45" name="Google Shape;3145;p200"/>
          <p:cNvCxnSpPr>
            <a:stCxn id="3140" idx="1"/>
            <a:endCxn id="3137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46" name="Google Shape;3146;p200"/>
          <p:cNvCxnSpPr>
            <a:stCxn id="3140" idx="0"/>
            <a:endCxn id="3139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50" name="Shape 3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1" name="Google Shape;3151;p20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152" name="Google Shape;3152;p201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same two nodes may be connected via </a:t>
            </a:r>
            <a:r>
              <a:rPr b="1" lang="en"/>
              <a:t>multiple paths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can reach A via: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EC, CA}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DC, CA}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EC, CD, DA}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3" name="Google Shape;3153;p201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54" name="Google Shape;3154;p201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55" name="Google Shape;3155;p201"/>
          <p:cNvCxnSpPr>
            <a:stCxn id="3153" idx="6"/>
            <a:endCxn id="3154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56" name="Google Shape;3156;p201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57" name="Google Shape;3157;p201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58" name="Google Shape;3158;p201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59" name="Google Shape;3159;p201"/>
          <p:cNvCxnSpPr>
            <a:stCxn id="3154" idx="7"/>
            <a:endCxn id="3156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60" name="Google Shape;3160;p201"/>
          <p:cNvCxnSpPr>
            <a:stCxn id="3158" idx="1"/>
            <a:endCxn id="3156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61" name="Google Shape;3161;p201"/>
          <p:cNvCxnSpPr>
            <a:stCxn id="3158" idx="3"/>
            <a:endCxn id="3157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62" name="Google Shape;3162;p201"/>
          <p:cNvCxnSpPr>
            <a:stCxn id="3157" idx="1"/>
            <a:endCxn id="3154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63" name="Google Shape;3163;p201"/>
          <p:cNvCxnSpPr>
            <a:stCxn id="3157" idx="0"/>
            <a:endCxn id="3156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67" name="Shape 3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8" name="Google Shape;3168;p20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169" name="Google Shape;3169;p202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same two nodes may be connected via </a:t>
            </a:r>
            <a:r>
              <a:rPr b="1" lang="en"/>
              <a:t>multiple paths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can reach A via: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EC, CA}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DC, CA}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EC, CD, DA}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These paths are different lengths!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0" name="Google Shape;3170;p202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71" name="Google Shape;3171;p202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72" name="Google Shape;3172;p202"/>
          <p:cNvCxnSpPr>
            <a:stCxn id="3170" idx="6"/>
            <a:endCxn id="3171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73" name="Google Shape;3173;p202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74" name="Google Shape;3174;p202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75" name="Google Shape;3175;p202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76" name="Google Shape;3176;p202"/>
          <p:cNvCxnSpPr>
            <a:stCxn id="3171" idx="7"/>
            <a:endCxn id="3173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77" name="Google Shape;3177;p202"/>
          <p:cNvCxnSpPr>
            <a:stCxn id="3175" idx="1"/>
            <a:endCxn id="3173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78" name="Google Shape;3178;p202"/>
          <p:cNvCxnSpPr>
            <a:stCxn id="3175" idx="3"/>
            <a:endCxn id="3174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79" name="Google Shape;3179;p202"/>
          <p:cNvCxnSpPr>
            <a:stCxn id="3174" idx="1"/>
            <a:endCxn id="3171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80" name="Google Shape;3180;p202"/>
          <p:cNvCxnSpPr>
            <a:stCxn id="3174" idx="0"/>
            <a:endCxn id="3173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84" name="Shape 3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20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Paths</a:t>
            </a:r>
            <a:endParaRPr/>
          </a:p>
        </p:txBody>
      </p:sp>
      <p:sp>
        <p:nvSpPr>
          <p:cNvPr id="3186" name="Google Shape;3186;p203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same two nodes may be connected via </a:t>
            </a:r>
            <a:r>
              <a:rPr b="1" lang="en"/>
              <a:t>multiple paths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can reach A via: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b="1" lang="en">
                <a:solidFill>
                  <a:srgbClr val="FF0000"/>
                </a:solidFill>
              </a:rPr>
              <a:t>{BE, </a:t>
            </a:r>
            <a:r>
              <a:rPr b="1" lang="en">
                <a:solidFill>
                  <a:srgbClr val="0D5DDF"/>
                </a:solidFill>
              </a:rPr>
              <a:t>ED</a:t>
            </a:r>
            <a:r>
              <a:rPr b="1" lang="en">
                <a:solidFill>
                  <a:srgbClr val="FF0000"/>
                </a:solidFill>
              </a:rPr>
              <a:t>, </a:t>
            </a:r>
            <a:r>
              <a:rPr b="1" lang="en">
                <a:solidFill>
                  <a:srgbClr val="0D5DDF"/>
                </a:solidFill>
              </a:rPr>
              <a:t>DA</a:t>
            </a:r>
            <a:r>
              <a:rPr b="1" lang="en">
                <a:solidFill>
                  <a:srgbClr val="FF0000"/>
                </a:solidFill>
              </a:rPr>
              <a:t>}</a:t>
            </a:r>
            <a:endParaRPr b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b="1" lang="en">
                <a:solidFill>
                  <a:srgbClr val="FF0000"/>
                </a:solidFill>
              </a:rPr>
              <a:t>{BE, EC, CA}</a:t>
            </a:r>
            <a:endParaRPr b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ED, DC, CA}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{BE, EC, CD, DA}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These paths are different lengths!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But the </a:t>
            </a:r>
            <a:r>
              <a:rPr b="1" lang="en"/>
              <a:t>shortest path(s) </a:t>
            </a:r>
            <a:r>
              <a:rPr lang="en"/>
              <a:t>connecting B and A is: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i="1" lang="en" sz="1500">
                <a:latin typeface="Garamond"/>
                <a:ea typeface="Garamond"/>
                <a:cs typeface="Garamond"/>
                <a:sym typeface="Garamond"/>
              </a:rPr>
              <a:t>l</a:t>
            </a:r>
            <a:r>
              <a:rPr lang="en"/>
              <a:t> = 3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7" name="Google Shape;3187;p203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88" name="Google Shape;3188;p203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89" name="Google Shape;3189;p203"/>
          <p:cNvCxnSpPr>
            <a:stCxn id="3187" idx="6"/>
            <a:endCxn id="3188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90" name="Google Shape;3190;p203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91" name="Google Shape;3191;p203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192" name="Google Shape;3192;p203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193" name="Google Shape;3193;p203"/>
          <p:cNvCxnSpPr>
            <a:stCxn id="3188" idx="7"/>
            <a:endCxn id="3190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94" name="Google Shape;3194;p203"/>
          <p:cNvCxnSpPr>
            <a:stCxn id="3192" idx="1"/>
            <a:endCxn id="3190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95" name="Google Shape;3195;p203"/>
          <p:cNvCxnSpPr>
            <a:stCxn id="3192" idx="3"/>
            <a:endCxn id="3191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96" name="Google Shape;3196;p203"/>
          <p:cNvCxnSpPr>
            <a:stCxn id="3191" idx="1"/>
            <a:endCxn id="3188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97" name="Google Shape;3197;p203"/>
          <p:cNvCxnSpPr>
            <a:stCxn id="3191" idx="0"/>
            <a:endCxn id="3190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1" name="Shape 3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2" name="Google Shape;3202;p20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Cycles</a:t>
            </a:r>
            <a:endParaRPr/>
          </a:p>
        </p:txBody>
      </p:sp>
      <p:sp>
        <p:nvSpPr>
          <p:cNvPr id="3203" name="Google Shape;3203;p204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special case: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What happens when a path begins and ends with the same node?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cycle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4" name="Google Shape;3204;p204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05" name="Google Shape;3205;p204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06" name="Google Shape;3206;p204"/>
          <p:cNvCxnSpPr>
            <a:stCxn id="3204" idx="6"/>
            <a:endCxn id="3205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207" name="Google Shape;3207;p204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08" name="Google Shape;3208;p204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09" name="Google Shape;3209;p204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10" name="Google Shape;3210;p204"/>
          <p:cNvCxnSpPr>
            <a:stCxn id="3205" idx="7"/>
            <a:endCxn id="3207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11" name="Google Shape;3211;p204"/>
          <p:cNvCxnSpPr>
            <a:stCxn id="3209" idx="1"/>
            <a:endCxn id="3207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12" name="Google Shape;3212;p204"/>
          <p:cNvCxnSpPr>
            <a:stCxn id="3209" idx="3"/>
            <a:endCxn id="3208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13" name="Google Shape;3213;p204"/>
          <p:cNvCxnSpPr>
            <a:stCxn id="3208" idx="1"/>
            <a:endCxn id="3205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14" name="Google Shape;3214;p204"/>
          <p:cNvCxnSpPr>
            <a:stCxn id="3208" idx="0"/>
            <a:endCxn id="3207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8" name="Shape 3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9" name="Google Shape;3219;p20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Cycles</a:t>
            </a:r>
            <a:endParaRPr/>
          </a:p>
        </p:txBody>
      </p:sp>
      <p:sp>
        <p:nvSpPr>
          <p:cNvPr id="3220" name="Google Shape;3220;p205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special case: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What happens when a path begins and ends with the same node?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cycle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path {ED, DA, AC, CE} defines a cycle of length 4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1" name="Google Shape;3221;p205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22" name="Google Shape;3222;p205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23" name="Google Shape;3223;p205"/>
          <p:cNvCxnSpPr>
            <a:stCxn id="3221" idx="6"/>
            <a:endCxn id="3222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224" name="Google Shape;3224;p205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25" name="Google Shape;3225;p205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26" name="Google Shape;3226;p205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27" name="Google Shape;3227;p205"/>
          <p:cNvCxnSpPr>
            <a:stCxn id="3222" idx="7"/>
            <a:endCxn id="3224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28" name="Google Shape;3228;p205"/>
          <p:cNvCxnSpPr>
            <a:stCxn id="3226" idx="1"/>
            <a:endCxn id="3224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29" name="Google Shape;3229;p205"/>
          <p:cNvCxnSpPr>
            <a:stCxn id="3226" idx="3"/>
            <a:endCxn id="3225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30" name="Google Shape;3230;p205"/>
          <p:cNvCxnSpPr>
            <a:stCxn id="3225" idx="1"/>
            <a:endCxn id="3222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31" name="Google Shape;3231;p205"/>
          <p:cNvCxnSpPr>
            <a:stCxn id="3225" idx="0"/>
            <a:endCxn id="3224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35" name="Shape 3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6" name="Google Shape;3236;p20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Cycles</a:t>
            </a:r>
            <a:endParaRPr/>
          </a:p>
        </p:txBody>
      </p:sp>
      <p:sp>
        <p:nvSpPr>
          <p:cNvPr id="3237" name="Google Shape;3237;p206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special case: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What happens when a path begins and ends with the same node?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cycle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path {ED, DA, AC, CE} defines a cycle of length 4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path {ED, DC, CE} defines a cycle of length 3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This is the smallest length a cycle can be!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8" name="Google Shape;3238;p206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39" name="Google Shape;3239;p206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40" name="Google Shape;3240;p206"/>
          <p:cNvCxnSpPr>
            <a:stCxn id="3238" idx="6"/>
            <a:endCxn id="323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241" name="Google Shape;3241;p206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42" name="Google Shape;3242;p206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43" name="Google Shape;3243;p206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44" name="Google Shape;3244;p206"/>
          <p:cNvCxnSpPr>
            <a:stCxn id="3239" idx="7"/>
            <a:endCxn id="324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45" name="Google Shape;3245;p206"/>
          <p:cNvCxnSpPr>
            <a:stCxn id="3243" idx="1"/>
            <a:endCxn id="3241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46" name="Google Shape;3246;p206"/>
          <p:cNvCxnSpPr>
            <a:stCxn id="3243" idx="3"/>
            <a:endCxn id="3242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47" name="Google Shape;3247;p206"/>
          <p:cNvCxnSpPr>
            <a:stCxn id="3242" idx="1"/>
            <a:endCxn id="323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48" name="Google Shape;3248;p206"/>
          <p:cNvCxnSpPr>
            <a:stCxn id="3242" idx="0"/>
            <a:endCxn id="324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52" name="Shape 3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3" name="Google Shape;3253;p20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Cycles</a:t>
            </a:r>
            <a:endParaRPr/>
          </a:p>
        </p:txBody>
      </p:sp>
      <p:sp>
        <p:nvSpPr>
          <p:cNvPr id="3254" name="Google Shape;3254;p207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special case: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What happens when a path begins and ends with the same node?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a </a:t>
            </a:r>
            <a:r>
              <a:rPr b="1" lang="en"/>
              <a:t>cycle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Tree graphs can’t have cycles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That’s why they are sometimes called </a:t>
            </a:r>
            <a:r>
              <a:rPr b="1" lang="en"/>
              <a:t>acyclic graphs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Makes sense for antisymmetric links!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55" name="Google Shape;3255;p20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43700" y="1299625"/>
            <a:ext cx="4347899" cy="330773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59" name="Shape 3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0" name="Google Shape;3260;p20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261" name="Google Shape;3261;p208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2" name="Google Shape;3262;p208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63" name="Google Shape;3263;p208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64" name="Google Shape;3264;p208"/>
          <p:cNvCxnSpPr>
            <a:stCxn id="3262" idx="5"/>
            <a:endCxn id="3263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265" name="Google Shape;3265;p208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66" name="Google Shape;3266;p208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67" name="Google Shape;3267;p208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68" name="Google Shape;3268;p208"/>
          <p:cNvCxnSpPr>
            <a:stCxn id="3263" idx="7"/>
            <a:endCxn id="326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269" name="Google Shape;3269;p208"/>
          <p:cNvCxnSpPr>
            <a:stCxn id="3267" idx="1"/>
            <a:endCxn id="326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270" name="Google Shape;3270;p208"/>
          <p:cNvCxnSpPr>
            <a:stCxn id="3267" idx="3"/>
            <a:endCxn id="326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271" name="Google Shape;3271;p208"/>
          <p:cNvCxnSpPr>
            <a:stCxn id="3266" idx="1"/>
            <a:endCxn id="3265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272" name="Google Shape;3272;p208"/>
          <p:cNvCxnSpPr>
            <a:stCxn id="3266" idx="7"/>
            <a:endCxn id="3265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273" name="Google Shape;3273;p208"/>
          <p:cNvCxnSpPr>
            <a:stCxn id="3263" idx="1"/>
            <a:endCxn id="3262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274" name="Google Shape;3274;p208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275" name="Google Shape;3275;p208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79" name="Shape 3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0" name="Google Shape;3280;p20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281" name="Google Shape;3281;p209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two directed paths of length 3 from A to B: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{AD, DE, EB}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2" name="Google Shape;3282;p209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83" name="Google Shape;3283;p209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84" name="Google Shape;3284;p209"/>
          <p:cNvCxnSpPr>
            <a:stCxn id="3282" idx="5"/>
            <a:endCxn id="3283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285" name="Google Shape;3285;p209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86" name="Google Shape;3286;p209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287" name="Google Shape;3287;p209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288" name="Google Shape;3288;p209"/>
          <p:cNvCxnSpPr>
            <a:stCxn id="3283" idx="7"/>
            <a:endCxn id="328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289" name="Google Shape;3289;p209"/>
          <p:cNvCxnSpPr>
            <a:stCxn id="3287" idx="1"/>
            <a:endCxn id="328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290" name="Google Shape;3290;p209"/>
          <p:cNvCxnSpPr>
            <a:stCxn id="3287" idx="3"/>
            <a:endCxn id="328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291" name="Google Shape;3291;p209"/>
          <p:cNvCxnSpPr>
            <a:stCxn id="3286" idx="1"/>
            <a:endCxn id="3285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292" name="Google Shape;3292;p209"/>
          <p:cNvCxnSpPr>
            <a:stCxn id="3286" idx="7"/>
            <a:endCxn id="3285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293" name="Google Shape;3293;p209"/>
          <p:cNvCxnSpPr>
            <a:stCxn id="3283" idx="1"/>
            <a:endCxn id="3282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294" name="Google Shape;3294;p209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295" name="Google Shape;3295;p209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99" name="Shape 3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0" name="Google Shape;3300;p21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301" name="Google Shape;3301;p210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two directed paths of length 3 from A to B: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{AD, DE, EB}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{AC, CE, EB}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2" name="Google Shape;3302;p210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03" name="Google Shape;3303;p210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04" name="Google Shape;3304;p210"/>
          <p:cNvCxnSpPr>
            <a:stCxn id="3302" idx="5"/>
            <a:endCxn id="3303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305" name="Google Shape;3305;p210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06" name="Google Shape;3306;p210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07" name="Google Shape;3307;p210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08" name="Google Shape;3308;p210"/>
          <p:cNvCxnSpPr>
            <a:stCxn id="3303" idx="7"/>
            <a:endCxn id="330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09" name="Google Shape;3309;p210"/>
          <p:cNvCxnSpPr>
            <a:stCxn id="3307" idx="1"/>
            <a:endCxn id="330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10" name="Google Shape;3310;p210"/>
          <p:cNvCxnSpPr>
            <a:stCxn id="3307" idx="3"/>
            <a:endCxn id="330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11" name="Google Shape;3311;p210"/>
          <p:cNvCxnSpPr>
            <a:stCxn id="3306" idx="1"/>
            <a:endCxn id="3305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12" name="Google Shape;3312;p210"/>
          <p:cNvCxnSpPr>
            <a:stCxn id="3306" idx="7"/>
            <a:endCxn id="3305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13" name="Google Shape;3313;p210"/>
          <p:cNvCxnSpPr>
            <a:stCxn id="3303" idx="1"/>
            <a:endCxn id="3302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14" name="Google Shape;3314;p210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15" name="Google Shape;3315;p210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19" name="Shape 3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0" name="Google Shape;3320;p21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321" name="Google Shape;3321;p211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also two directed paths of length 4 from A to B: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{AC, CD, DE, EB}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2" name="Google Shape;3322;p211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23" name="Google Shape;3323;p211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24" name="Google Shape;3324;p211"/>
          <p:cNvCxnSpPr>
            <a:stCxn id="3322" idx="5"/>
            <a:endCxn id="3323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325" name="Google Shape;3325;p211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26" name="Google Shape;3326;p211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27" name="Google Shape;3327;p211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28" name="Google Shape;3328;p211"/>
          <p:cNvCxnSpPr>
            <a:stCxn id="3323" idx="7"/>
            <a:endCxn id="332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29" name="Google Shape;3329;p211"/>
          <p:cNvCxnSpPr>
            <a:stCxn id="3327" idx="1"/>
            <a:endCxn id="332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30" name="Google Shape;3330;p211"/>
          <p:cNvCxnSpPr>
            <a:stCxn id="3327" idx="3"/>
            <a:endCxn id="332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31" name="Google Shape;3331;p211"/>
          <p:cNvCxnSpPr>
            <a:stCxn id="3326" idx="1"/>
            <a:endCxn id="3325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32" name="Google Shape;3332;p211"/>
          <p:cNvCxnSpPr>
            <a:stCxn id="3326" idx="7"/>
            <a:endCxn id="3325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33" name="Google Shape;3333;p211"/>
          <p:cNvCxnSpPr>
            <a:stCxn id="3323" idx="1"/>
            <a:endCxn id="3322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34" name="Google Shape;3334;p211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35" name="Google Shape;3335;p211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39" name="Shape 3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0" name="Google Shape;3340;p21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341" name="Google Shape;3341;p212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also two directed paths of length 4 from A to B: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{AC, CD, DE, EB}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{AD, DC, CE, EB}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2" name="Google Shape;3342;p212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43" name="Google Shape;3343;p212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44" name="Google Shape;3344;p212"/>
          <p:cNvCxnSpPr>
            <a:stCxn id="3342" idx="5"/>
            <a:endCxn id="3343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345" name="Google Shape;3345;p212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46" name="Google Shape;3346;p212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47" name="Google Shape;3347;p212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48" name="Google Shape;3348;p212"/>
          <p:cNvCxnSpPr>
            <a:stCxn id="3343" idx="7"/>
            <a:endCxn id="334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49" name="Google Shape;3349;p212"/>
          <p:cNvCxnSpPr>
            <a:stCxn id="3347" idx="1"/>
            <a:endCxn id="334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50" name="Google Shape;3350;p212"/>
          <p:cNvCxnSpPr>
            <a:stCxn id="3347" idx="3"/>
            <a:endCxn id="334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51" name="Google Shape;3351;p212"/>
          <p:cNvCxnSpPr>
            <a:stCxn id="3346" idx="1"/>
            <a:endCxn id="3345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52" name="Google Shape;3352;p212"/>
          <p:cNvCxnSpPr>
            <a:stCxn id="3346" idx="7"/>
            <a:endCxn id="3345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53" name="Google Shape;3353;p212"/>
          <p:cNvCxnSpPr>
            <a:stCxn id="3343" idx="1"/>
            <a:endCxn id="3342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54" name="Google Shape;3354;p212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55" name="Google Shape;3355;p212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59" name="Shape 3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0" name="Google Shape;3360;p21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361" name="Google Shape;3361;p213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there is no directed path connecting B to A!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2" name="Google Shape;3362;p213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63" name="Google Shape;3363;p213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64" name="Google Shape;3364;p213"/>
          <p:cNvCxnSpPr>
            <a:stCxn id="3362" idx="5"/>
            <a:endCxn id="3363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365" name="Google Shape;3365;p213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66" name="Google Shape;3366;p213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67" name="Google Shape;3367;p213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68" name="Google Shape;3368;p213"/>
          <p:cNvCxnSpPr>
            <a:stCxn id="3363" idx="7"/>
            <a:endCxn id="3365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69" name="Google Shape;3369;p213"/>
          <p:cNvCxnSpPr>
            <a:stCxn id="3367" idx="1"/>
            <a:endCxn id="3365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70" name="Google Shape;3370;p213"/>
          <p:cNvCxnSpPr>
            <a:stCxn id="3367" idx="3"/>
            <a:endCxn id="3366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71" name="Google Shape;3371;p213"/>
          <p:cNvCxnSpPr>
            <a:stCxn id="3366" idx="1"/>
            <a:endCxn id="3365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72" name="Google Shape;3372;p213"/>
          <p:cNvCxnSpPr>
            <a:stCxn id="3366" idx="7"/>
            <a:endCxn id="3365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73" name="Google Shape;3373;p213"/>
          <p:cNvCxnSpPr>
            <a:stCxn id="3363" idx="1"/>
            <a:endCxn id="3362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74" name="Google Shape;3374;p213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75" name="Google Shape;3375;p213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3376" name="Google Shape;3376;p213"/>
          <p:cNvSpPr/>
          <p:nvPr/>
        </p:nvSpPr>
        <p:spPr>
          <a:xfrm>
            <a:off x="5061625" y="3344174"/>
            <a:ext cx="2525400" cy="10560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900">
                <a:solidFill>
                  <a:srgbClr val="FF0000"/>
                </a:solidFill>
              </a:rPr>
              <a:t>?</a:t>
            </a:r>
            <a:endParaRPr b="1" sz="190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80" name="Shape 3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1" name="Google Shape;3381;p21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382" name="Google Shape;3382;p214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there is no directed path connecting B to A!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That means that while A can </a:t>
            </a:r>
            <a:r>
              <a:rPr b="1" lang="en"/>
              <a:t>reach </a:t>
            </a:r>
            <a:r>
              <a:rPr lang="en"/>
              <a:t>B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</a:t>
            </a:r>
            <a:r>
              <a:rPr b="1" lang="en"/>
              <a:t>cannot reach</a:t>
            </a:r>
            <a:r>
              <a:rPr lang="en"/>
              <a:t> A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3" name="Google Shape;3383;p214"/>
          <p:cNvSpPr/>
          <p:nvPr/>
        </p:nvSpPr>
        <p:spPr>
          <a:xfrm>
            <a:off x="4354300" y="3934749"/>
            <a:ext cx="2525400" cy="10560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In directed graphs the reachability relation is asymmetric!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3384" name="Google Shape;3384;p214"/>
          <p:cNvCxnSpPr>
            <a:stCxn id="3383" idx="0"/>
          </p:cNvCxnSpPr>
          <p:nvPr/>
        </p:nvCxnSpPr>
        <p:spPr>
          <a:xfrm flipH="1" rot="10800000">
            <a:off x="5617000" y="3456249"/>
            <a:ext cx="794700" cy="478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3385" name="Google Shape;3385;p214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86" name="Google Shape;3386;p214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87" name="Google Shape;3387;p214"/>
          <p:cNvCxnSpPr>
            <a:stCxn id="3385" idx="5"/>
            <a:endCxn id="3386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388" name="Google Shape;3388;p214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89" name="Google Shape;3389;p214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390" name="Google Shape;3390;p214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391" name="Google Shape;3391;p214"/>
          <p:cNvCxnSpPr>
            <a:stCxn id="3386" idx="7"/>
            <a:endCxn id="3388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92" name="Google Shape;3392;p214"/>
          <p:cNvCxnSpPr>
            <a:stCxn id="3390" idx="1"/>
            <a:endCxn id="3388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93" name="Google Shape;3393;p214"/>
          <p:cNvCxnSpPr>
            <a:stCxn id="3390" idx="3"/>
            <a:endCxn id="3389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94" name="Google Shape;3394;p214"/>
          <p:cNvCxnSpPr>
            <a:stCxn id="3389" idx="1"/>
            <a:endCxn id="3388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95" name="Google Shape;3395;p214"/>
          <p:cNvCxnSpPr>
            <a:stCxn id="3389" idx="7"/>
            <a:endCxn id="3388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396" name="Google Shape;3396;p214"/>
          <p:cNvCxnSpPr>
            <a:stCxn id="3386" idx="1"/>
            <a:endCxn id="3385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97" name="Google Shape;3397;p214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398" name="Google Shape;3398;p214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02" name="Shape 3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3" name="Google Shape;3403;p21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404" name="Google Shape;3404;p215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there is no directed path connecting B to A!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That means that while A can </a:t>
            </a:r>
            <a:r>
              <a:rPr b="1" lang="en"/>
              <a:t>reach </a:t>
            </a:r>
            <a:r>
              <a:rPr lang="en"/>
              <a:t>B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</a:t>
            </a:r>
            <a:r>
              <a:rPr b="1" lang="en"/>
              <a:t>cannot reach</a:t>
            </a:r>
            <a:r>
              <a:rPr lang="en"/>
              <a:t> A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Nonadjacent nodes may be</a:t>
            </a:r>
            <a:r>
              <a:rPr b="1" lang="en"/>
              <a:t> mutually reachable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5" name="Google Shape;3405;p215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406" name="Google Shape;3406;p215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407" name="Google Shape;3407;p215"/>
          <p:cNvCxnSpPr>
            <a:stCxn id="3405" idx="5"/>
            <a:endCxn id="3406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408" name="Google Shape;3408;p215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409" name="Google Shape;3409;p215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410" name="Google Shape;3410;p215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411" name="Google Shape;3411;p215"/>
          <p:cNvCxnSpPr>
            <a:stCxn id="3406" idx="7"/>
            <a:endCxn id="3408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412" name="Google Shape;3412;p215"/>
          <p:cNvCxnSpPr>
            <a:stCxn id="3410" idx="1"/>
            <a:endCxn id="3408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413" name="Google Shape;3413;p215"/>
          <p:cNvCxnSpPr>
            <a:stCxn id="3410" idx="3"/>
            <a:endCxn id="3409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414" name="Google Shape;3414;p215"/>
          <p:cNvCxnSpPr>
            <a:stCxn id="3409" idx="1"/>
            <a:endCxn id="3408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415" name="Google Shape;3415;p215"/>
          <p:cNvCxnSpPr>
            <a:stCxn id="3409" idx="7"/>
            <a:endCxn id="3408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416" name="Google Shape;3416;p215"/>
          <p:cNvCxnSpPr>
            <a:stCxn id="3406" idx="1"/>
            <a:endCxn id="3405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0D5DDF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417" name="Google Shape;3417;p215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0D5DDF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418" name="Google Shape;3418;p215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3419" name="Google Shape;3419;p215"/>
          <p:cNvSpPr/>
          <p:nvPr/>
        </p:nvSpPr>
        <p:spPr>
          <a:xfrm>
            <a:off x="2918550" y="4159450"/>
            <a:ext cx="49923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B and D are mutually reachable: B can reach D (blue directed path) and D can reach B (red directed path)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3420" name="Google Shape;3420;p215"/>
          <p:cNvCxnSpPr>
            <a:stCxn id="3419" idx="0"/>
          </p:cNvCxnSpPr>
          <p:nvPr/>
        </p:nvCxnSpPr>
        <p:spPr>
          <a:xfrm flipH="1" rot="10800000">
            <a:off x="5414700" y="3570850"/>
            <a:ext cx="1040400" cy="5886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24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1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Directed Paths</a:t>
            </a:r>
            <a:endParaRPr/>
          </a:p>
        </p:txBody>
      </p:sp>
      <p:sp>
        <p:nvSpPr>
          <p:cNvPr id="3426" name="Google Shape;3426;p216"/>
          <p:cNvSpPr txBox="1"/>
          <p:nvPr>
            <p:ph idx="1" type="body"/>
          </p:nvPr>
        </p:nvSpPr>
        <p:spPr>
          <a:xfrm>
            <a:off x="311700" y="1225225"/>
            <a:ext cx="41796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do paths work in directed 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as before except that you need to respect direction!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there is no directed path connecting B to A!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That means that while A can </a:t>
            </a:r>
            <a:r>
              <a:rPr b="1" lang="en"/>
              <a:t>reach </a:t>
            </a:r>
            <a:r>
              <a:rPr lang="en"/>
              <a:t>B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 </a:t>
            </a:r>
            <a:r>
              <a:rPr b="1" lang="en"/>
              <a:t>cannot reach</a:t>
            </a:r>
            <a:r>
              <a:rPr lang="en"/>
              <a:t> A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directed graph: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Nonadjacent nodes may be</a:t>
            </a:r>
            <a:r>
              <a:rPr b="1" lang="en"/>
              <a:t> mutually reachable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7" name="Google Shape;3427;p216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428" name="Google Shape;3428;p216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429" name="Google Shape;3429;p216"/>
          <p:cNvCxnSpPr>
            <a:stCxn id="3427" idx="5"/>
            <a:endCxn id="3428" idx="3"/>
          </p:cNvCxnSpPr>
          <p:nvPr/>
        </p:nvCxnSpPr>
        <p:spPr>
          <a:xfrm>
            <a:off x="5148231" y="3114781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430" name="Google Shape;3430;p216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431" name="Google Shape;3431;p216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432" name="Google Shape;3432;p216"/>
          <p:cNvSpPr/>
          <p:nvPr/>
        </p:nvSpPr>
        <p:spPr>
          <a:xfrm>
            <a:off x="8287200" y="26444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433" name="Google Shape;3433;p216"/>
          <p:cNvCxnSpPr>
            <a:stCxn id="3428" idx="7"/>
            <a:endCxn id="3430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434" name="Google Shape;3434;p216"/>
          <p:cNvCxnSpPr>
            <a:stCxn id="3432" idx="1"/>
            <a:endCxn id="3430" idx="5"/>
          </p:cNvCxnSpPr>
          <p:nvPr/>
        </p:nvCxnSpPr>
        <p:spPr>
          <a:xfrm rot="10800000">
            <a:off x="7644744" y="2000819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435" name="Google Shape;3435;p216"/>
          <p:cNvCxnSpPr>
            <a:stCxn id="3432" idx="3"/>
            <a:endCxn id="3431" idx="7"/>
          </p:cNvCxnSpPr>
          <p:nvPr/>
        </p:nvCxnSpPr>
        <p:spPr>
          <a:xfrm flipH="1">
            <a:off x="7644744" y="3157631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436" name="Google Shape;3436;p216"/>
          <p:cNvCxnSpPr>
            <a:stCxn id="3431" idx="1"/>
            <a:endCxn id="3430" idx="3"/>
          </p:cNvCxnSpPr>
          <p:nvPr/>
        </p:nvCxnSpPr>
        <p:spPr>
          <a:xfrm rot="10800000">
            <a:off x="7219569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437" name="Google Shape;3437;p216"/>
          <p:cNvCxnSpPr>
            <a:stCxn id="3431" idx="7"/>
            <a:endCxn id="3430" idx="5"/>
          </p:cNvCxnSpPr>
          <p:nvPr/>
        </p:nvCxnSpPr>
        <p:spPr>
          <a:xfrm rot="10800000">
            <a:off x="7644681" y="2000619"/>
            <a:ext cx="0" cy="1761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438" name="Google Shape;3438;p216"/>
          <p:cNvCxnSpPr>
            <a:stCxn id="3428" idx="1"/>
            <a:endCxn id="3427" idx="7"/>
          </p:cNvCxnSpPr>
          <p:nvPr/>
        </p:nvCxnSpPr>
        <p:spPr>
          <a:xfrm rot="10800000">
            <a:off x="5148294" y="2689669"/>
            <a:ext cx="9156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439" name="Google Shape;3439;p216"/>
          <p:cNvCxnSpPr/>
          <p:nvPr/>
        </p:nvCxnSpPr>
        <p:spPr>
          <a:xfrm rot="10800000">
            <a:off x="6276525" y="32028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440" name="Google Shape;3440;p216"/>
          <p:cNvCxnSpPr/>
          <p:nvPr/>
        </p:nvCxnSpPr>
        <p:spPr>
          <a:xfrm rot="10800000">
            <a:off x="6577125" y="2902275"/>
            <a:ext cx="855000" cy="771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3441" name="Google Shape;3441;p216"/>
          <p:cNvSpPr/>
          <p:nvPr/>
        </p:nvSpPr>
        <p:spPr>
          <a:xfrm>
            <a:off x="2918550" y="4159450"/>
            <a:ext cx="49923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A and B are NOT mutually reachable: A can reach B (red directed path) but B cannot reach A 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3442" name="Google Shape;3442;p216"/>
          <p:cNvCxnSpPr>
            <a:stCxn id="3441" idx="0"/>
          </p:cNvCxnSpPr>
          <p:nvPr/>
        </p:nvCxnSpPr>
        <p:spPr>
          <a:xfrm flipH="1" rot="10800000">
            <a:off x="5414700" y="3570850"/>
            <a:ext cx="1040400" cy="5886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3446" name="Shape 3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7" name="Google Shape;3447;p217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From Graph to Matrix</a:t>
            </a:r>
            <a:endParaRPr/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51" name="Shape 3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2" name="Google Shape;3452;p21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matrix?</a:t>
            </a:r>
            <a:endParaRPr/>
          </a:p>
        </p:txBody>
      </p:sp>
      <p:sp>
        <p:nvSpPr>
          <p:cNvPr id="3453" name="Google Shape;3453;p218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454" name="Google Shape;3454;p218"/>
          <p:cNvGraphicFramePr/>
          <p:nvPr/>
        </p:nvGraphicFramePr>
        <p:xfrm>
          <a:off x="3595338" y="2625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72825"/>
                <a:gridCol w="872825"/>
                <a:gridCol w="872825"/>
                <a:gridCol w="872825"/>
                <a:gridCol w="872825"/>
                <a:gridCol w="872825"/>
              </a:tblGrid>
              <a:tr h="369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Mon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Tues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Wed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Thurs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Fri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Pears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Grapes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Oranges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Bananas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455" name="Google Shape;3455;p218"/>
          <p:cNvSpPr txBox="1"/>
          <p:nvPr>
            <p:ph idx="1" type="body"/>
          </p:nvPr>
        </p:nvSpPr>
        <p:spPr>
          <a:xfrm>
            <a:off x="311700" y="1225225"/>
            <a:ext cx="85206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Rectangular array of numbers arranged in rows and columns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objects in the rows is the </a:t>
            </a:r>
            <a:r>
              <a:rPr b="1" lang="en"/>
              <a:t>row dimension (i)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objects in the columns is the </a:t>
            </a:r>
            <a:r>
              <a:rPr b="1" lang="en"/>
              <a:t>column dimension (j)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59" name="Shape 3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0" name="Google Shape;3460;p21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matrix?</a:t>
            </a:r>
            <a:endParaRPr/>
          </a:p>
        </p:txBody>
      </p:sp>
      <p:graphicFrame>
        <p:nvGraphicFramePr>
          <p:cNvPr id="3461" name="Google Shape;3461;p219"/>
          <p:cNvGraphicFramePr/>
          <p:nvPr/>
        </p:nvGraphicFramePr>
        <p:xfrm>
          <a:off x="3595338" y="2625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72825"/>
                <a:gridCol w="872825"/>
                <a:gridCol w="872825"/>
                <a:gridCol w="872825"/>
                <a:gridCol w="872825"/>
                <a:gridCol w="872825"/>
              </a:tblGrid>
              <a:tr h="369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Mon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Tues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Wed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Thurs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Fri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Pears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Grapes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Oranges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Bananas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462" name="Google Shape;3462;p219"/>
          <p:cNvSpPr txBox="1"/>
          <p:nvPr>
            <p:ph idx="1" type="body"/>
          </p:nvPr>
        </p:nvSpPr>
        <p:spPr>
          <a:xfrm>
            <a:off x="311700" y="1225225"/>
            <a:ext cx="85206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Rectangular array of numbers arranged in rows and columns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objects in the rows is the </a:t>
            </a:r>
            <a:r>
              <a:rPr b="1" lang="en"/>
              <a:t>row dimension (i)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objects in the columns is the </a:t>
            </a:r>
            <a:r>
              <a:rPr b="1" lang="en"/>
              <a:t>column dimension (j)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3" name="Google Shape;3463;p219"/>
          <p:cNvSpPr txBox="1"/>
          <p:nvPr>
            <p:ph idx="1" type="body"/>
          </p:nvPr>
        </p:nvSpPr>
        <p:spPr>
          <a:xfrm>
            <a:off x="311700" y="2625325"/>
            <a:ext cx="3283500" cy="19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this example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Row dimension is: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Fruits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Column dimension is: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Weekdays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67" name="Shape 3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8" name="Google Shape;3468;p22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matrix?</a:t>
            </a:r>
            <a:endParaRPr/>
          </a:p>
        </p:txBody>
      </p:sp>
      <p:graphicFrame>
        <p:nvGraphicFramePr>
          <p:cNvPr id="3469" name="Google Shape;3469;p220"/>
          <p:cNvGraphicFramePr/>
          <p:nvPr/>
        </p:nvGraphicFramePr>
        <p:xfrm>
          <a:off x="3595338" y="2625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72825"/>
                <a:gridCol w="872825"/>
                <a:gridCol w="872825"/>
                <a:gridCol w="872825"/>
                <a:gridCol w="872825"/>
                <a:gridCol w="872825"/>
              </a:tblGrid>
              <a:tr h="369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Mon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Tues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Wed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Thurs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Fri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Pears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Grapes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Oranges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Bananas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470" name="Google Shape;3470;p220"/>
          <p:cNvSpPr txBox="1"/>
          <p:nvPr>
            <p:ph idx="1" type="body"/>
          </p:nvPr>
        </p:nvSpPr>
        <p:spPr>
          <a:xfrm>
            <a:off x="311700" y="1225225"/>
            <a:ext cx="85206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number of objects in each dimension define the</a:t>
            </a:r>
            <a:r>
              <a:rPr b="1" lang="en"/>
              <a:t> dimensions of the matrix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Matrix dimensions are written </a:t>
            </a:r>
            <a:r>
              <a:rPr b="1" lang="en"/>
              <a:t>R </a:t>
            </a:r>
            <a:r>
              <a:rPr lang="en"/>
              <a:t>X</a:t>
            </a:r>
            <a:r>
              <a:rPr b="1" lang="en"/>
              <a:t> C </a:t>
            </a:r>
            <a:r>
              <a:rPr lang="en"/>
              <a:t>(pronounced “R by C”)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 is the number of row objects and C is the number of column objects</a:t>
            </a:r>
            <a:endParaRPr i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1" name="Google Shape;3471;p220"/>
          <p:cNvSpPr txBox="1"/>
          <p:nvPr>
            <p:ph idx="1" type="body"/>
          </p:nvPr>
        </p:nvSpPr>
        <p:spPr>
          <a:xfrm>
            <a:off x="311700" y="2625325"/>
            <a:ext cx="3283500" cy="19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this example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Row dimension is: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Fruits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Column dimension is: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Weekdays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75" name="Shape 3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6" name="Google Shape;3476;p22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matrix?</a:t>
            </a:r>
            <a:endParaRPr/>
          </a:p>
        </p:txBody>
      </p:sp>
      <p:graphicFrame>
        <p:nvGraphicFramePr>
          <p:cNvPr id="3477" name="Google Shape;3477;p221"/>
          <p:cNvGraphicFramePr/>
          <p:nvPr/>
        </p:nvGraphicFramePr>
        <p:xfrm>
          <a:off x="3595338" y="2625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72825"/>
                <a:gridCol w="872825"/>
                <a:gridCol w="872825"/>
                <a:gridCol w="872825"/>
                <a:gridCol w="872825"/>
                <a:gridCol w="872825"/>
              </a:tblGrid>
              <a:tr h="369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Mon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Tues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Wed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Thurs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Fri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Pears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Grapes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Oranges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Bananas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478" name="Google Shape;3478;p221"/>
          <p:cNvSpPr txBox="1"/>
          <p:nvPr>
            <p:ph idx="1" type="body"/>
          </p:nvPr>
        </p:nvSpPr>
        <p:spPr>
          <a:xfrm>
            <a:off x="311700" y="1225225"/>
            <a:ext cx="85206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number of objects in each dimension define the</a:t>
            </a:r>
            <a:r>
              <a:rPr b="1" lang="en"/>
              <a:t> dimensions of the matrix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Matrix dimensions are written </a:t>
            </a:r>
            <a:r>
              <a:rPr b="1" lang="en"/>
              <a:t>R </a:t>
            </a:r>
            <a:r>
              <a:rPr lang="en"/>
              <a:t>X</a:t>
            </a:r>
            <a:r>
              <a:rPr b="1" lang="en"/>
              <a:t> C </a:t>
            </a:r>
            <a:r>
              <a:rPr lang="en"/>
              <a:t>(pronounced “R by C”)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 is the number of row objects and C is the number of column objects</a:t>
            </a:r>
            <a:endParaRPr i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9" name="Google Shape;3479;p221"/>
          <p:cNvSpPr txBox="1"/>
          <p:nvPr>
            <p:ph idx="1" type="body"/>
          </p:nvPr>
        </p:nvSpPr>
        <p:spPr>
          <a:xfrm>
            <a:off x="311700" y="2625325"/>
            <a:ext cx="3283500" cy="19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this example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Row dimension is: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Fruits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Column dimension is: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Weekdays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0" name="Google Shape;3480;p221"/>
          <p:cNvSpPr/>
          <p:nvPr/>
        </p:nvSpPr>
        <p:spPr>
          <a:xfrm>
            <a:off x="157925" y="4159450"/>
            <a:ext cx="31176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matrix is 4 X 5!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3481" name="Google Shape;3481;p221"/>
          <p:cNvCxnSpPr>
            <a:stCxn id="3480" idx="7"/>
          </p:cNvCxnSpPr>
          <p:nvPr/>
        </p:nvCxnSpPr>
        <p:spPr>
          <a:xfrm flipH="1" rot="10800000">
            <a:off x="2818963" y="3907391"/>
            <a:ext cx="662700" cy="373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85" name="Shape 3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6" name="Google Shape;3486;p22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matrix?</a:t>
            </a:r>
            <a:endParaRPr/>
          </a:p>
        </p:txBody>
      </p:sp>
      <p:sp>
        <p:nvSpPr>
          <p:cNvPr id="3487" name="Google Shape;3487;p222"/>
          <p:cNvSpPr txBox="1"/>
          <p:nvPr>
            <p:ph idx="1" type="body"/>
          </p:nvPr>
        </p:nvSpPr>
        <p:spPr>
          <a:xfrm>
            <a:off x="311700" y="2625325"/>
            <a:ext cx="3283500" cy="19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Cells record: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times you ate the row fruit in the column day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3488" name="Google Shape;3488;p222"/>
          <p:cNvGraphicFramePr/>
          <p:nvPr/>
        </p:nvGraphicFramePr>
        <p:xfrm>
          <a:off x="3595338" y="2625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72825"/>
                <a:gridCol w="872825"/>
                <a:gridCol w="872825"/>
                <a:gridCol w="872825"/>
                <a:gridCol w="872825"/>
                <a:gridCol w="872825"/>
              </a:tblGrid>
              <a:tr h="369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Mon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Tues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Wed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Thurs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Fri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Pears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Grapes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Oranges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5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Bananas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5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489" name="Google Shape;3489;p222"/>
          <p:cNvSpPr txBox="1"/>
          <p:nvPr>
            <p:ph idx="1" type="body"/>
          </p:nvPr>
        </p:nvSpPr>
        <p:spPr>
          <a:xfrm>
            <a:off x="311700" y="1225225"/>
            <a:ext cx="85206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number of objects in each dimension define the</a:t>
            </a:r>
            <a:r>
              <a:rPr b="1" lang="en"/>
              <a:t> dimensions of the matrix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Matrix dimensions are written </a:t>
            </a:r>
            <a:r>
              <a:rPr b="1" lang="en"/>
              <a:t>R </a:t>
            </a:r>
            <a:r>
              <a:rPr lang="en"/>
              <a:t>X</a:t>
            </a:r>
            <a:r>
              <a:rPr b="1" lang="en"/>
              <a:t> C </a:t>
            </a:r>
            <a:r>
              <a:rPr lang="en"/>
              <a:t>(pronounced “R by C”)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 is the number of row objects and C is the number of column objects</a:t>
            </a:r>
            <a:endParaRPr i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93" name="Shape 3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4" name="Google Shape;3494;p22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matrix?</a:t>
            </a:r>
            <a:endParaRPr/>
          </a:p>
        </p:txBody>
      </p:sp>
      <p:sp>
        <p:nvSpPr>
          <p:cNvPr id="3495" name="Google Shape;3495;p223"/>
          <p:cNvSpPr txBox="1"/>
          <p:nvPr>
            <p:ph idx="1" type="body"/>
          </p:nvPr>
        </p:nvSpPr>
        <p:spPr>
          <a:xfrm>
            <a:off x="311700" y="2625325"/>
            <a:ext cx="3973500" cy="19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If we call this matrix </a:t>
            </a:r>
            <a:r>
              <a:rPr b="1" lang="en"/>
              <a:t>A</a:t>
            </a:r>
            <a:r>
              <a:rPr lang="en"/>
              <a:t> then: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Grapes, Wed</a:t>
            </a:r>
            <a:r>
              <a:rPr lang="en"/>
              <a:t>   = 0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Bananas, Thurs</a:t>
            </a:r>
            <a:r>
              <a:rPr lang="en"/>
              <a:t>= 2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Pears, Fri</a:t>
            </a:r>
            <a:r>
              <a:rPr lang="en"/>
              <a:t>       = 1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3496" name="Google Shape;3496;p223"/>
          <p:cNvGraphicFramePr/>
          <p:nvPr/>
        </p:nvGraphicFramePr>
        <p:xfrm>
          <a:off x="3595338" y="2625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72825"/>
                <a:gridCol w="872825"/>
                <a:gridCol w="872825"/>
                <a:gridCol w="872825"/>
                <a:gridCol w="872825"/>
                <a:gridCol w="872825"/>
              </a:tblGrid>
              <a:tr h="369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Mon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Tues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Wed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Thurs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Fri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Pears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Grapes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Oranges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5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Bananas</a:t>
                      </a:r>
                      <a:endParaRPr sz="13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5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497" name="Google Shape;3497;p223"/>
          <p:cNvSpPr txBox="1"/>
          <p:nvPr>
            <p:ph idx="1" type="body"/>
          </p:nvPr>
        </p:nvSpPr>
        <p:spPr>
          <a:xfrm>
            <a:off x="311700" y="1225225"/>
            <a:ext cx="85206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number of objects in each dimension define the</a:t>
            </a:r>
            <a:r>
              <a:rPr b="1" lang="en"/>
              <a:t> dimensions of the matrix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Matrix dimensions are written </a:t>
            </a:r>
            <a:r>
              <a:rPr b="1" lang="en"/>
              <a:t>R </a:t>
            </a:r>
            <a:r>
              <a:rPr lang="en"/>
              <a:t>X</a:t>
            </a:r>
            <a:r>
              <a:rPr b="1" lang="en"/>
              <a:t> C </a:t>
            </a:r>
            <a:r>
              <a:rPr lang="en"/>
              <a:t>(pronounced “R by C”)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 is the number of row objects and C is the number of column objects</a:t>
            </a:r>
            <a:endParaRPr i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01" name="Shape 3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" name="Google Shape;3502;p22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03" name="Google Shape;3503;p224"/>
          <p:cNvSpPr txBox="1"/>
          <p:nvPr>
            <p:ph idx="1" type="body"/>
          </p:nvPr>
        </p:nvSpPr>
        <p:spPr>
          <a:xfrm>
            <a:off x="311700" y="1225225"/>
            <a:ext cx="5029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b="1" lang="en">
                <a:solidFill>
                  <a:srgbClr val="000000"/>
                </a:solidFill>
              </a:rPr>
              <a:t>Adjacency relations</a:t>
            </a:r>
            <a:r>
              <a:rPr lang="en">
                <a:solidFill>
                  <a:srgbClr val="000000"/>
                </a:solidFill>
              </a:rPr>
              <a:t> between vertices in a graph can be represented using a matrix</a:t>
            </a:r>
            <a:endParaRPr>
              <a:solidFill>
                <a:srgbClr val="000000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04" name="Google Shape;3504;p224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05" name="Google Shape;3505;p224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06" name="Google Shape;3506;p224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3507" name="Google Shape;3507;p224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11" name="Shape 3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" name="Google Shape;3512;p22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13" name="Google Shape;3513;p225"/>
          <p:cNvSpPr txBox="1"/>
          <p:nvPr>
            <p:ph idx="1" type="body"/>
          </p:nvPr>
        </p:nvSpPr>
        <p:spPr>
          <a:xfrm>
            <a:off x="311700" y="1225225"/>
            <a:ext cx="5029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 relations</a:t>
            </a:r>
            <a:r>
              <a:rPr lang="en"/>
              <a:t> between vertices in a graph can be represented using a matrix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14" name="Google Shape;3514;p225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15" name="Google Shape;3515;p225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16" name="Google Shape;3516;p225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3517" name="Google Shape;3517;p225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518" name="Google Shape;3518;p225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22" name="Shape 3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3" name="Google Shape;3523;p22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24" name="Google Shape;3524;p226"/>
          <p:cNvSpPr txBox="1"/>
          <p:nvPr>
            <p:ph idx="1" type="body"/>
          </p:nvPr>
        </p:nvSpPr>
        <p:spPr>
          <a:xfrm>
            <a:off x="311700" y="1225225"/>
            <a:ext cx="5029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 relations</a:t>
            </a:r>
            <a:r>
              <a:rPr lang="en"/>
              <a:t> between vertices in a graph can be represented using a matrix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the </a:t>
            </a:r>
            <a:r>
              <a:rPr b="1" lang="en"/>
              <a:t>adjacency matrix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25" name="Google Shape;3525;p226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26" name="Google Shape;3526;p226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27" name="Google Shape;3527;p226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3528" name="Google Shape;3528;p226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529" name="Google Shape;3529;p226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33" name="Shape 3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4" name="Google Shape;3534;p22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35" name="Google Shape;3535;p227"/>
          <p:cNvSpPr txBox="1"/>
          <p:nvPr>
            <p:ph idx="1" type="body"/>
          </p:nvPr>
        </p:nvSpPr>
        <p:spPr>
          <a:xfrm>
            <a:off x="311700" y="1225225"/>
            <a:ext cx="5029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 relations</a:t>
            </a:r>
            <a:r>
              <a:rPr lang="en"/>
              <a:t> between vertices in a graph can be represented using a matrix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called the </a:t>
            </a:r>
            <a:r>
              <a:rPr b="1" lang="en"/>
              <a:t>adjacency matrix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this matrix: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The </a:t>
            </a:r>
            <a:r>
              <a:rPr b="1" lang="en">
                <a:solidFill>
                  <a:srgbClr val="000000"/>
                </a:solidFill>
              </a:rPr>
              <a:t>row objects</a:t>
            </a:r>
            <a:r>
              <a:rPr lang="en">
                <a:solidFill>
                  <a:srgbClr val="000000"/>
                </a:solidFill>
              </a:rPr>
              <a:t> are the </a:t>
            </a:r>
            <a:r>
              <a:rPr b="1" lang="en">
                <a:solidFill>
                  <a:srgbClr val="000000"/>
                </a:solidFill>
              </a:rPr>
              <a:t>vertices</a:t>
            </a:r>
            <a:r>
              <a:rPr lang="en">
                <a:solidFill>
                  <a:srgbClr val="000000"/>
                </a:solidFill>
              </a:rPr>
              <a:t> in the graph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And so are the </a:t>
            </a:r>
            <a:r>
              <a:rPr b="1" lang="en">
                <a:solidFill>
                  <a:srgbClr val="000000"/>
                </a:solidFill>
              </a:rPr>
              <a:t>column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objects</a:t>
            </a:r>
            <a:r>
              <a:rPr lang="en">
                <a:solidFill>
                  <a:srgbClr val="000000"/>
                </a:solidFill>
              </a:rPr>
              <a:t>! </a:t>
            </a:r>
            <a:endParaRPr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36" name="Google Shape;3536;p227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37" name="Google Shape;3537;p227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38" name="Google Shape;3538;p227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3539" name="Google Shape;3539;p227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540" name="Google Shape;3540;p227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44" name="Shape 3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5" name="Google Shape;3545;p22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46" name="Google Shape;3546;p228"/>
          <p:cNvSpPr txBox="1"/>
          <p:nvPr>
            <p:ph idx="1" type="body"/>
          </p:nvPr>
        </p:nvSpPr>
        <p:spPr>
          <a:xfrm>
            <a:off x="311700" y="1225225"/>
            <a:ext cx="5029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Adjacency relations</a:t>
            </a:r>
            <a:r>
              <a:rPr lang="en"/>
              <a:t> between vertices in a graph can be represented using a matrix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 sz="1800"/>
              <a:t>This is called the </a:t>
            </a:r>
            <a:r>
              <a:rPr b="1" lang="en" sz="1800"/>
              <a:t>adjacency matrix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The adjacency matrix is </a:t>
            </a:r>
            <a:r>
              <a:rPr b="1" lang="en">
                <a:solidFill>
                  <a:srgbClr val="000000"/>
                </a:solidFill>
              </a:rPr>
              <a:t>square</a:t>
            </a:r>
            <a:r>
              <a:rPr lang="en">
                <a:solidFill>
                  <a:srgbClr val="000000"/>
                </a:solidFill>
              </a:rPr>
              <a:t> because the number of rows is the same as the number of columns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R = C = 5</a:t>
            </a:r>
            <a:endParaRPr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47" name="Google Shape;3547;p228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48" name="Google Shape;3548;p228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49" name="Google Shape;3549;p228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550" name="Google Shape;3550;p228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551" name="Google Shape;3551;p228"/>
          <p:cNvSpPr/>
          <p:nvPr/>
        </p:nvSpPr>
        <p:spPr>
          <a:xfrm>
            <a:off x="2567925" y="4083900"/>
            <a:ext cx="31176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matrix is 5 X 5!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3552" name="Google Shape;3552;p228"/>
          <p:cNvCxnSpPr>
            <a:stCxn id="3551" idx="7"/>
          </p:cNvCxnSpPr>
          <p:nvPr/>
        </p:nvCxnSpPr>
        <p:spPr>
          <a:xfrm flipH="1" rot="10800000">
            <a:off x="5228963" y="3831841"/>
            <a:ext cx="662700" cy="373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56" name="Shape 3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7" name="Google Shape;3557;p22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58" name="Google Shape;3558;p229"/>
          <p:cNvSpPr txBox="1"/>
          <p:nvPr>
            <p:ph idx="1" type="body"/>
          </p:nvPr>
        </p:nvSpPr>
        <p:spPr>
          <a:xfrm>
            <a:off x="311700" y="1225225"/>
            <a:ext cx="473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t/>
            </a:r>
            <a:endParaRPr b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59" name="Google Shape;3559;p229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60" name="Google Shape;3560;p229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61" name="Google Shape;3561;p229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562" name="Google Shape;3562;p229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563" name="Google Shape;3563;p229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564" name="Google Shape;3564;p229"/>
          <p:cNvSpPr txBox="1"/>
          <p:nvPr>
            <p:ph idx="1" type="body"/>
          </p:nvPr>
        </p:nvSpPr>
        <p:spPr>
          <a:xfrm>
            <a:off x="311700" y="1225225"/>
            <a:ext cx="5203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It is conventional to: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Refer to the </a:t>
            </a:r>
            <a:r>
              <a:rPr b="1" lang="en" sz="1400"/>
              <a:t>whole</a:t>
            </a:r>
            <a:r>
              <a:rPr lang="en" sz="1400"/>
              <a:t> </a:t>
            </a:r>
            <a:r>
              <a:rPr b="1" lang="en" sz="1400"/>
              <a:t>matrix</a:t>
            </a:r>
            <a:r>
              <a:rPr lang="en" sz="1400"/>
              <a:t> by its </a:t>
            </a:r>
            <a:r>
              <a:rPr i="1" lang="en" sz="1400"/>
              <a:t>name</a:t>
            </a:r>
            <a:r>
              <a:rPr lang="en" sz="1400"/>
              <a:t> usually a capital letter like </a:t>
            </a:r>
            <a:r>
              <a:rPr b="1" lang="en" sz="1400"/>
              <a:t>A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</a:t>
            </a:r>
            <a:r>
              <a:rPr lang="en"/>
              <a:t> </a:t>
            </a:r>
            <a:r>
              <a:rPr b="1" lang="en"/>
              <a:t>row</a:t>
            </a:r>
            <a:r>
              <a:rPr lang="en"/>
              <a:t> object with the letter </a:t>
            </a:r>
            <a:r>
              <a:rPr i="1" lang="en"/>
              <a:t>i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 </a:t>
            </a:r>
            <a:r>
              <a:rPr b="1" lang="en"/>
              <a:t>column</a:t>
            </a:r>
            <a:r>
              <a:rPr lang="en"/>
              <a:t> object with the letter </a:t>
            </a:r>
            <a:r>
              <a:rPr i="1" lang="en"/>
              <a:t>j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</a:t>
            </a:r>
            <a:r>
              <a:rPr lang="en"/>
              <a:t> </a:t>
            </a:r>
            <a:r>
              <a:rPr b="1" lang="en"/>
              <a:t>cell</a:t>
            </a:r>
            <a:r>
              <a:rPr lang="en"/>
              <a:t> in the matrix by the matrix name followed by a </a:t>
            </a:r>
            <a:r>
              <a:rPr b="1" lang="en"/>
              <a:t>row subscript</a:t>
            </a:r>
            <a:r>
              <a:rPr lang="en"/>
              <a:t> and a </a:t>
            </a:r>
            <a:r>
              <a:rPr b="1" lang="en"/>
              <a:t>column subscript</a:t>
            </a:r>
            <a:r>
              <a:rPr lang="en"/>
              <a:t>: 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68" name="Shape 3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9" name="Google Shape;3569;p23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70" name="Google Shape;3570;p230"/>
          <p:cNvSpPr txBox="1"/>
          <p:nvPr>
            <p:ph idx="1" type="body"/>
          </p:nvPr>
        </p:nvSpPr>
        <p:spPr>
          <a:xfrm>
            <a:off x="311700" y="1225225"/>
            <a:ext cx="473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t/>
            </a:r>
            <a:endParaRPr b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71" name="Google Shape;3571;p230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72" name="Google Shape;3572;p230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73" name="Google Shape;3573;p230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574" name="Google Shape;3574;p230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575" name="Google Shape;3575;p230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576" name="Google Shape;3576;p230"/>
          <p:cNvSpPr txBox="1"/>
          <p:nvPr>
            <p:ph idx="1" type="body"/>
          </p:nvPr>
        </p:nvSpPr>
        <p:spPr>
          <a:xfrm>
            <a:off x="311700" y="1225225"/>
            <a:ext cx="5203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It is conventional to: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Refer to the </a:t>
            </a:r>
            <a:r>
              <a:rPr b="1" lang="en" sz="1400"/>
              <a:t>whole</a:t>
            </a:r>
            <a:r>
              <a:rPr lang="en" sz="1400"/>
              <a:t> </a:t>
            </a:r>
            <a:r>
              <a:rPr b="1" lang="en" sz="1400"/>
              <a:t>matrix</a:t>
            </a:r>
            <a:r>
              <a:rPr lang="en" sz="1400"/>
              <a:t> by its </a:t>
            </a:r>
            <a:r>
              <a:rPr i="1" lang="en" sz="1400"/>
              <a:t>name</a:t>
            </a:r>
            <a:r>
              <a:rPr lang="en" sz="1400"/>
              <a:t> usually a capital letter like </a:t>
            </a:r>
            <a:r>
              <a:rPr b="1" lang="en" sz="1400"/>
              <a:t>A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</a:t>
            </a:r>
            <a:r>
              <a:rPr lang="en"/>
              <a:t> </a:t>
            </a:r>
            <a:r>
              <a:rPr b="1" lang="en"/>
              <a:t>row</a:t>
            </a:r>
            <a:r>
              <a:rPr lang="en"/>
              <a:t> object with the letter </a:t>
            </a:r>
            <a:r>
              <a:rPr i="1" lang="en"/>
              <a:t>i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 </a:t>
            </a:r>
            <a:r>
              <a:rPr b="1" lang="en"/>
              <a:t>column</a:t>
            </a:r>
            <a:r>
              <a:rPr lang="en"/>
              <a:t> object with the letter </a:t>
            </a:r>
            <a:r>
              <a:rPr i="1" lang="en"/>
              <a:t>j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</a:t>
            </a:r>
            <a:r>
              <a:rPr lang="en"/>
              <a:t> </a:t>
            </a:r>
            <a:r>
              <a:rPr b="1" lang="en"/>
              <a:t>cell</a:t>
            </a:r>
            <a:r>
              <a:rPr lang="en"/>
              <a:t> in the matrix by the matrix name followed by a </a:t>
            </a:r>
            <a:r>
              <a:rPr b="1" lang="en"/>
              <a:t>row subscript</a:t>
            </a:r>
            <a:r>
              <a:rPr lang="en"/>
              <a:t> and a </a:t>
            </a:r>
            <a:r>
              <a:rPr b="1" lang="en"/>
              <a:t>column subscript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</a:t>
            </a:r>
            <a:r>
              <a:rPr baseline="-25000" lang="en"/>
              <a:t>ij</a:t>
            </a:r>
            <a:r>
              <a:rPr lang="en"/>
              <a:t> is the cell corresponding to row </a:t>
            </a:r>
            <a:r>
              <a:rPr i="1" lang="en"/>
              <a:t>i </a:t>
            </a:r>
            <a:r>
              <a:rPr lang="en"/>
              <a:t>and column </a:t>
            </a:r>
            <a:r>
              <a:rPr i="1" lang="en"/>
              <a:t>j</a:t>
            </a:r>
            <a:r>
              <a:rPr lang="en"/>
              <a:t> of matrix </a:t>
            </a:r>
            <a:r>
              <a:rPr b="1" lang="en"/>
              <a:t>A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80" name="Shape 3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1" name="Google Shape;3581;p23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82" name="Google Shape;3582;p231"/>
          <p:cNvSpPr txBox="1"/>
          <p:nvPr>
            <p:ph idx="1" type="body"/>
          </p:nvPr>
        </p:nvSpPr>
        <p:spPr>
          <a:xfrm>
            <a:off x="311700" y="1225225"/>
            <a:ext cx="473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t/>
            </a:r>
            <a:endParaRPr b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83" name="Google Shape;3583;p231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84" name="Google Shape;3584;p231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85" name="Google Shape;3585;p231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586" name="Google Shape;3586;p231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587" name="Google Shape;3587;p231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588" name="Google Shape;3588;p231"/>
          <p:cNvSpPr txBox="1"/>
          <p:nvPr>
            <p:ph idx="1" type="body"/>
          </p:nvPr>
        </p:nvSpPr>
        <p:spPr>
          <a:xfrm>
            <a:off x="311700" y="1225225"/>
            <a:ext cx="5203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It is conventional to: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Refer to the </a:t>
            </a:r>
            <a:r>
              <a:rPr b="1" lang="en" sz="1400"/>
              <a:t>whole</a:t>
            </a:r>
            <a:r>
              <a:rPr lang="en" sz="1400"/>
              <a:t> </a:t>
            </a:r>
            <a:r>
              <a:rPr b="1" lang="en" sz="1400"/>
              <a:t>matrix</a:t>
            </a:r>
            <a:r>
              <a:rPr lang="en" sz="1400"/>
              <a:t> by its </a:t>
            </a:r>
            <a:r>
              <a:rPr i="1" lang="en" sz="1400"/>
              <a:t>name</a:t>
            </a:r>
            <a:r>
              <a:rPr lang="en" sz="1400"/>
              <a:t> usually a capital letter like </a:t>
            </a:r>
            <a:r>
              <a:rPr b="1" lang="en" sz="1400"/>
              <a:t>A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</a:t>
            </a:r>
            <a:r>
              <a:rPr lang="en"/>
              <a:t> </a:t>
            </a:r>
            <a:r>
              <a:rPr b="1" lang="en"/>
              <a:t>row</a:t>
            </a:r>
            <a:r>
              <a:rPr lang="en"/>
              <a:t> object with the letter </a:t>
            </a:r>
            <a:r>
              <a:rPr i="1" lang="en"/>
              <a:t>i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 </a:t>
            </a:r>
            <a:r>
              <a:rPr b="1" lang="en"/>
              <a:t>column</a:t>
            </a:r>
            <a:r>
              <a:rPr lang="en"/>
              <a:t> object with the letter </a:t>
            </a:r>
            <a:r>
              <a:rPr i="1" lang="en"/>
              <a:t>j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Refer to </a:t>
            </a:r>
            <a:r>
              <a:rPr i="1" lang="en"/>
              <a:t>any</a:t>
            </a:r>
            <a:r>
              <a:rPr lang="en"/>
              <a:t> </a:t>
            </a:r>
            <a:r>
              <a:rPr b="1" lang="en"/>
              <a:t>cell</a:t>
            </a:r>
            <a:r>
              <a:rPr lang="en"/>
              <a:t> in the matrix by the matrix name followed by a </a:t>
            </a:r>
            <a:r>
              <a:rPr b="1" lang="en"/>
              <a:t>row subscript</a:t>
            </a:r>
            <a:r>
              <a:rPr lang="en"/>
              <a:t> and a </a:t>
            </a:r>
            <a:r>
              <a:rPr b="1" lang="en"/>
              <a:t>column subscript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</a:t>
            </a:r>
            <a:r>
              <a:rPr baseline="-25000" lang="en"/>
              <a:t>ij</a:t>
            </a:r>
            <a:r>
              <a:rPr lang="en"/>
              <a:t> is the cell corresponding to row </a:t>
            </a:r>
            <a:r>
              <a:rPr i="1" lang="en"/>
              <a:t>i </a:t>
            </a:r>
            <a:r>
              <a:rPr lang="en"/>
              <a:t>and column </a:t>
            </a:r>
            <a:r>
              <a:rPr i="1" lang="en"/>
              <a:t>j</a:t>
            </a:r>
            <a:r>
              <a:rPr lang="en"/>
              <a:t> of matrix </a:t>
            </a:r>
            <a:r>
              <a:rPr b="1" lang="en"/>
              <a:t>A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cells in which </a:t>
            </a:r>
            <a:r>
              <a:rPr i="1" lang="en"/>
              <a:t>i </a:t>
            </a:r>
            <a:r>
              <a:rPr lang="en"/>
              <a:t>= </a:t>
            </a:r>
            <a:r>
              <a:rPr i="1" lang="en"/>
              <a:t>j</a:t>
            </a:r>
            <a:r>
              <a:rPr lang="en"/>
              <a:t> is called the </a:t>
            </a:r>
            <a:r>
              <a:rPr b="1" lang="en"/>
              <a:t>matrix diagonal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92" name="Shape 3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3" name="Google Shape;3593;p23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594" name="Google Shape;3594;p232"/>
          <p:cNvSpPr txBox="1"/>
          <p:nvPr>
            <p:ph idx="1" type="body"/>
          </p:nvPr>
        </p:nvSpPr>
        <p:spPr>
          <a:xfrm>
            <a:off x="311700" y="1225225"/>
            <a:ext cx="473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We can refer to </a:t>
            </a:r>
            <a:r>
              <a:rPr i="1" lang="en">
                <a:solidFill>
                  <a:srgbClr val="000000"/>
                </a:solidFill>
              </a:rPr>
              <a:t>particular</a:t>
            </a:r>
            <a:r>
              <a:rPr lang="en">
                <a:solidFill>
                  <a:srgbClr val="000000"/>
                </a:solidFill>
              </a:rPr>
              <a:t> cells in the adjacency matrix in two ways:</a:t>
            </a:r>
            <a:endParaRPr>
              <a:solidFill>
                <a:srgbClr val="000000"/>
              </a:solidFill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aseline="-25000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595" name="Google Shape;3595;p232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596" name="Google Shape;3596;p232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97" name="Google Shape;3597;p232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598" name="Google Shape;3598;p232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599" name="Google Shape;3599;p232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03" name="Shape 3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" name="Google Shape;3604;p23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05" name="Google Shape;3605;p233"/>
          <p:cNvSpPr txBox="1"/>
          <p:nvPr>
            <p:ph idx="1" type="body"/>
          </p:nvPr>
        </p:nvSpPr>
        <p:spPr>
          <a:xfrm>
            <a:off x="311700" y="1225225"/>
            <a:ext cx="473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We can refer to </a:t>
            </a:r>
            <a:r>
              <a:rPr i="1" lang="en">
                <a:solidFill>
                  <a:srgbClr val="000000"/>
                </a:solidFill>
              </a:rPr>
              <a:t>particular</a:t>
            </a:r>
            <a:r>
              <a:rPr lang="en">
                <a:solidFill>
                  <a:srgbClr val="000000"/>
                </a:solidFill>
              </a:rPr>
              <a:t> cells in the </a:t>
            </a:r>
            <a:r>
              <a:rPr lang="en"/>
              <a:t>adjacency </a:t>
            </a:r>
            <a:r>
              <a:rPr lang="en">
                <a:solidFill>
                  <a:srgbClr val="000000"/>
                </a:solidFill>
              </a:rPr>
              <a:t>matrix in two ways: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By typing the </a:t>
            </a:r>
            <a:r>
              <a:rPr b="1" lang="en">
                <a:solidFill>
                  <a:srgbClr val="000000"/>
                </a:solidFill>
              </a:rPr>
              <a:t>matrix name</a:t>
            </a:r>
            <a:r>
              <a:rPr lang="en">
                <a:solidFill>
                  <a:srgbClr val="000000"/>
                </a:solidFill>
              </a:rPr>
              <a:t> followed by the </a:t>
            </a:r>
            <a:r>
              <a:rPr b="1" lang="en">
                <a:solidFill>
                  <a:srgbClr val="000000"/>
                </a:solidFill>
              </a:rPr>
              <a:t>names</a:t>
            </a:r>
            <a:r>
              <a:rPr lang="en">
                <a:solidFill>
                  <a:srgbClr val="000000"/>
                </a:solidFill>
              </a:rPr>
              <a:t> of the row object and the column object: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b="1" lang="en">
                <a:solidFill>
                  <a:srgbClr val="000000"/>
                </a:solidFill>
              </a:rPr>
              <a:t>A</a:t>
            </a:r>
            <a:r>
              <a:rPr baseline="-25000" lang="en">
                <a:solidFill>
                  <a:srgbClr val="000000"/>
                </a:solidFill>
              </a:rPr>
              <a:t>c,d</a:t>
            </a:r>
            <a:endParaRPr baseline="-25000">
              <a:solidFill>
                <a:srgbClr val="000000"/>
              </a:solidFill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606" name="Google Shape;3606;p233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07" name="Google Shape;3607;p233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08" name="Google Shape;3608;p233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09" name="Google Shape;3609;p233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</a:tbl>
          </a:graphicData>
        </a:graphic>
      </p:graphicFrame>
      <p:sp>
        <p:nvSpPr>
          <p:cNvPr id="3610" name="Google Shape;3610;p233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14" name="Shape 3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5" name="Google Shape;3615;p23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16" name="Google Shape;3616;p234"/>
          <p:cNvSpPr txBox="1"/>
          <p:nvPr>
            <p:ph idx="1" type="body"/>
          </p:nvPr>
        </p:nvSpPr>
        <p:spPr>
          <a:xfrm>
            <a:off x="311700" y="1225225"/>
            <a:ext cx="473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We can refer to </a:t>
            </a:r>
            <a:r>
              <a:rPr i="1" lang="en">
                <a:solidFill>
                  <a:srgbClr val="000000"/>
                </a:solidFill>
              </a:rPr>
              <a:t>particular</a:t>
            </a:r>
            <a:r>
              <a:rPr lang="en">
                <a:solidFill>
                  <a:srgbClr val="000000"/>
                </a:solidFill>
              </a:rPr>
              <a:t> cells in the </a:t>
            </a:r>
            <a:r>
              <a:rPr lang="en"/>
              <a:t>adjacency </a:t>
            </a:r>
            <a:r>
              <a:rPr lang="en">
                <a:solidFill>
                  <a:srgbClr val="000000"/>
                </a:solidFill>
              </a:rPr>
              <a:t>matrix in two ways: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By typing the </a:t>
            </a:r>
            <a:r>
              <a:rPr b="1" lang="en">
                <a:solidFill>
                  <a:srgbClr val="000000"/>
                </a:solidFill>
              </a:rPr>
              <a:t>matrix name</a:t>
            </a:r>
            <a:r>
              <a:rPr lang="en">
                <a:solidFill>
                  <a:srgbClr val="000000"/>
                </a:solidFill>
              </a:rPr>
              <a:t> followed by the </a:t>
            </a:r>
            <a:r>
              <a:rPr b="1" lang="en">
                <a:solidFill>
                  <a:srgbClr val="000000"/>
                </a:solidFill>
              </a:rPr>
              <a:t>names</a:t>
            </a:r>
            <a:r>
              <a:rPr lang="en">
                <a:solidFill>
                  <a:srgbClr val="000000"/>
                </a:solidFill>
              </a:rPr>
              <a:t> of the row object and the column object: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b="1" lang="en">
                <a:solidFill>
                  <a:srgbClr val="000000"/>
                </a:solidFill>
              </a:rPr>
              <a:t>A</a:t>
            </a:r>
            <a:r>
              <a:rPr baseline="-25000" lang="en">
                <a:solidFill>
                  <a:srgbClr val="000000"/>
                </a:solidFill>
              </a:rPr>
              <a:t>c,d</a:t>
            </a:r>
            <a:endParaRPr baseline="-25000"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/>
              <a:t>By typing the matrix name followed by the </a:t>
            </a:r>
            <a:r>
              <a:rPr b="1" lang="en"/>
              <a:t>row number</a:t>
            </a:r>
            <a:r>
              <a:rPr lang="en"/>
              <a:t> and the </a:t>
            </a:r>
            <a:r>
              <a:rPr b="1" lang="en"/>
              <a:t>column number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</a:t>
            </a:r>
            <a:r>
              <a:rPr baseline="-25000" lang="en"/>
              <a:t>4,5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617" name="Google Shape;3617;p234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18" name="Google Shape;3618;p234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19" name="Google Shape;3619;p234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20" name="Google Shape;3620;p234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</a:tbl>
          </a:graphicData>
        </a:graphic>
      </p:graphicFrame>
      <p:sp>
        <p:nvSpPr>
          <p:cNvPr id="3621" name="Google Shape;3621;p234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25" name="Shape 3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6" name="Google Shape;3626;p23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27" name="Google Shape;3627;p235"/>
          <p:cNvSpPr txBox="1"/>
          <p:nvPr>
            <p:ph idx="1" type="body"/>
          </p:nvPr>
        </p:nvSpPr>
        <p:spPr>
          <a:xfrm>
            <a:off x="311700" y="1225225"/>
            <a:ext cx="473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We can refer to </a:t>
            </a:r>
            <a:r>
              <a:rPr i="1" lang="en">
                <a:solidFill>
                  <a:srgbClr val="000000"/>
                </a:solidFill>
              </a:rPr>
              <a:t>particular</a:t>
            </a:r>
            <a:r>
              <a:rPr lang="en">
                <a:solidFill>
                  <a:srgbClr val="000000"/>
                </a:solidFill>
              </a:rPr>
              <a:t> cells in the </a:t>
            </a:r>
            <a:r>
              <a:rPr lang="en"/>
              <a:t>adjacency </a:t>
            </a:r>
            <a:r>
              <a:rPr lang="en">
                <a:solidFill>
                  <a:srgbClr val="000000"/>
                </a:solidFill>
              </a:rPr>
              <a:t>matrix in two ways: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By typing the </a:t>
            </a:r>
            <a:r>
              <a:rPr b="1" lang="en">
                <a:solidFill>
                  <a:srgbClr val="000000"/>
                </a:solidFill>
              </a:rPr>
              <a:t>matrix name</a:t>
            </a:r>
            <a:r>
              <a:rPr lang="en">
                <a:solidFill>
                  <a:srgbClr val="000000"/>
                </a:solidFill>
              </a:rPr>
              <a:t> followed by the </a:t>
            </a:r>
            <a:r>
              <a:rPr b="1" lang="en">
                <a:solidFill>
                  <a:srgbClr val="000000"/>
                </a:solidFill>
              </a:rPr>
              <a:t>names</a:t>
            </a:r>
            <a:r>
              <a:rPr lang="en">
                <a:solidFill>
                  <a:srgbClr val="000000"/>
                </a:solidFill>
              </a:rPr>
              <a:t> of the row object and the column object: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b="1" lang="en">
                <a:solidFill>
                  <a:srgbClr val="000000"/>
                </a:solidFill>
              </a:rPr>
              <a:t>A</a:t>
            </a:r>
            <a:r>
              <a:rPr baseline="-25000" lang="en">
                <a:solidFill>
                  <a:srgbClr val="000000"/>
                </a:solidFill>
              </a:rPr>
              <a:t>c,d</a:t>
            </a:r>
            <a:endParaRPr baseline="-25000"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/>
              <a:t>By typing the matrix name followed by the </a:t>
            </a:r>
            <a:r>
              <a:rPr b="1" lang="en"/>
              <a:t>row number</a:t>
            </a:r>
            <a:r>
              <a:rPr lang="en"/>
              <a:t> and the </a:t>
            </a:r>
            <a:r>
              <a:rPr b="1" lang="en"/>
              <a:t>column number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</a:t>
            </a:r>
            <a:r>
              <a:rPr baseline="-25000" lang="en"/>
              <a:t>4,5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628" name="Google Shape;3628;p235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29" name="Google Shape;3629;p235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30" name="Google Shape;3630;p235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31" name="Google Shape;3631;p235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</a:tbl>
          </a:graphicData>
        </a:graphic>
      </p:graphicFrame>
      <p:sp>
        <p:nvSpPr>
          <p:cNvPr id="3632" name="Google Shape;3632;p235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633" name="Google Shape;3633;p235"/>
          <p:cNvSpPr/>
          <p:nvPr/>
        </p:nvSpPr>
        <p:spPr>
          <a:xfrm>
            <a:off x="2567925" y="4083900"/>
            <a:ext cx="31176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We will typically use this approach!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3634" name="Google Shape;3634;p235"/>
          <p:cNvCxnSpPr>
            <a:stCxn id="3633" idx="1"/>
          </p:cNvCxnSpPr>
          <p:nvPr/>
        </p:nvCxnSpPr>
        <p:spPr>
          <a:xfrm rot="10800000">
            <a:off x="2190487" y="3605341"/>
            <a:ext cx="834000" cy="60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38" name="Shape 3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9" name="Google Shape;3639;p23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40" name="Google Shape;3640;p236"/>
          <p:cNvSpPr txBox="1"/>
          <p:nvPr>
            <p:ph idx="1" type="body"/>
          </p:nvPr>
        </p:nvSpPr>
        <p:spPr>
          <a:xfrm>
            <a:off x="311700" y="1225225"/>
            <a:ext cx="473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We can refer to </a:t>
            </a:r>
            <a:r>
              <a:rPr i="1" lang="en">
                <a:solidFill>
                  <a:srgbClr val="000000"/>
                </a:solidFill>
              </a:rPr>
              <a:t>particular</a:t>
            </a:r>
            <a:r>
              <a:rPr lang="en">
                <a:solidFill>
                  <a:srgbClr val="000000"/>
                </a:solidFill>
              </a:rPr>
              <a:t> cells in the </a:t>
            </a:r>
            <a:r>
              <a:rPr lang="en"/>
              <a:t>adjacency </a:t>
            </a:r>
            <a:r>
              <a:rPr lang="en">
                <a:solidFill>
                  <a:srgbClr val="000000"/>
                </a:solidFill>
              </a:rPr>
              <a:t>matrix in two ways: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By typing the </a:t>
            </a:r>
            <a:r>
              <a:rPr b="1" lang="en">
                <a:solidFill>
                  <a:srgbClr val="000000"/>
                </a:solidFill>
              </a:rPr>
              <a:t>matrix name</a:t>
            </a:r>
            <a:r>
              <a:rPr lang="en">
                <a:solidFill>
                  <a:srgbClr val="000000"/>
                </a:solidFill>
              </a:rPr>
              <a:t> followed by the </a:t>
            </a:r>
            <a:r>
              <a:rPr b="1" lang="en">
                <a:solidFill>
                  <a:srgbClr val="000000"/>
                </a:solidFill>
              </a:rPr>
              <a:t>names</a:t>
            </a:r>
            <a:r>
              <a:rPr lang="en">
                <a:solidFill>
                  <a:srgbClr val="000000"/>
                </a:solidFill>
              </a:rPr>
              <a:t> of the row object and the column object: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b="1" lang="en">
                <a:solidFill>
                  <a:srgbClr val="000000"/>
                </a:solidFill>
              </a:rPr>
              <a:t>A</a:t>
            </a:r>
            <a:r>
              <a:rPr baseline="-25000" lang="en">
                <a:solidFill>
                  <a:srgbClr val="000000"/>
                </a:solidFill>
              </a:rPr>
              <a:t>c,d</a:t>
            </a:r>
            <a:endParaRPr baseline="-25000"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/>
              <a:t>By typing the matrix name followed by the </a:t>
            </a:r>
            <a:r>
              <a:rPr b="1" lang="en"/>
              <a:t>row number</a:t>
            </a:r>
            <a:r>
              <a:rPr lang="en"/>
              <a:t> and the </a:t>
            </a:r>
            <a:r>
              <a:rPr b="1" lang="en"/>
              <a:t>column number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</a:t>
            </a:r>
            <a:r>
              <a:rPr baseline="-25000" lang="en"/>
              <a:t>4,5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Note that: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</a:t>
            </a:r>
            <a:r>
              <a:rPr baseline="-25000" lang="en"/>
              <a:t>4,5</a:t>
            </a:r>
            <a:r>
              <a:rPr lang="en"/>
              <a:t> = </a:t>
            </a:r>
            <a:r>
              <a:rPr b="1" lang="en"/>
              <a:t>A</a:t>
            </a:r>
            <a:r>
              <a:rPr baseline="-25000" lang="en"/>
              <a:t>d,e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  <p:grpSp>
        <p:nvGrpSpPr>
          <p:cNvPr id="3641" name="Google Shape;3641;p236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42" name="Google Shape;3642;p236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43" name="Google Shape;3643;p236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44" name="Google Shape;3644;p236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 baseline="-250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</a:tbl>
          </a:graphicData>
        </a:graphic>
      </p:graphicFrame>
      <p:sp>
        <p:nvSpPr>
          <p:cNvPr id="3645" name="Google Shape;3645;p236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49" name="Shape 3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0" name="Google Shape;3650;p23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51" name="Google Shape;3651;p237"/>
          <p:cNvSpPr txBox="1"/>
          <p:nvPr>
            <p:ph idx="1" type="body"/>
          </p:nvPr>
        </p:nvSpPr>
        <p:spPr>
          <a:xfrm>
            <a:off x="311700" y="1225225"/>
            <a:ext cx="5203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Filling in the cells of the adjacency matrix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an edge exists between vertex </a:t>
            </a:r>
            <a:r>
              <a:rPr i="1" lang="en"/>
              <a:t>i </a:t>
            </a:r>
            <a:r>
              <a:rPr lang="en"/>
              <a:t>and vertex </a:t>
            </a:r>
            <a:r>
              <a:rPr i="1" lang="en"/>
              <a:t>j</a:t>
            </a:r>
            <a:r>
              <a:rPr lang="en"/>
              <a:t> (e.g., vertices </a:t>
            </a:r>
            <a:r>
              <a:rPr i="1" lang="en"/>
              <a:t>i </a:t>
            </a:r>
            <a:r>
              <a:rPr lang="en"/>
              <a:t>and </a:t>
            </a:r>
            <a:r>
              <a:rPr i="1" lang="en"/>
              <a:t>j</a:t>
            </a:r>
            <a:r>
              <a:rPr lang="en"/>
              <a:t> are adjacent in graph G):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“1”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 of matrix A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Otherwise,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“0”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More formally,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1,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 be found in 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0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cannot be found in E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3652" name="Google Shape;3652;p237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53" name="Google Shape;3653;p237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54" name="Google Shape;3654;p237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55" name="Google Shape;3655;p237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656" name="Google Shape;3656;p237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60" name="Shape 3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1" name="Google Shape;3661;p23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62" name="Google Shape;3662;p238"/>
          <p:cNvSpPr txBox="1"/>
          <p:nvPr>
            <p:ph idx="1" type="body"/>
          </p:nvPr>
        </p:nvSpPr>
        <p:spPr>
          <a:xfrm>
            <a:off x="311700" y="1225225"/>
            <a:ext cx="4961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Translating from a graph to matrix: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an edge exists between vertex </a:t>
            </a:r>
            <a:r>
              <a:rPr i="1" lang="en"/>
              <a:t>i </a:t>
            </a:r>
            <a:r>
              <a:rPr lang="en"/>
              <a:t>and vertex </a:t>
            </a:r>
            <a:r>
              <a:rPr i="1" lang="en"/>
              <a:t>j</a:t>
            </a:r>
            <a:r>
              <a:rPr lang="en"/>
              <a:t>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“1”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 of matrix A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Otherwise,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“0”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More formally,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1,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 be found in 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0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cannot be found in E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3663" name="Google Shape;3663;p238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64" name="Google Shape;3664;p238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65" name="Google Shape;3665;p238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66" name="Google Shape;3666;p238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667" name="Google Shape;3667;p238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71" name="Shape 3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2" name="Google Shape;3672;p23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73" name="Google Shape;3673;p239"/>
          <p:cNvSpPr txBox="1"/>
          <p:nvPr>
            <p:ph idx="1" type="body"/>
          </p:nvPr>
        </p:nvSpPr>
        <p:spPr>
          <a:xfrm>
            <a:off x="311700" y="1225225"/>
            <a:ext cx="4961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Translating from a graph to matrix: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an edge exists between vertex </a:t>
            </a:r>
            <a:r>
              <a:rPr i="1" lang="en"/>
              <a:t>i </a:t>
            </a:r>
            <a:r>
              <a:rPr lang="en"/>
              <a:t>and vertex </a:t>
            </a:r>
            <a:r>
              <a:rPr i="1" lang="en"/>
              <a:t>j</a:t>
            </a:r>
            <a:r>
              <a:rPr lang="en"/>
              <a:t>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“1”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 of matrix A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Otherwise,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“0”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More formally,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1,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 be found in 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0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cannot be found in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begin with the first row object and ask: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Is it adjacent to each of the column objects?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3674" name="Google Shape;3674;p239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75" name="Google Shape;3675;p239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76" name="Google Shape;3676;p239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77" name="Google Shape;3677;p239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678" name="Google Shape;3678;p239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82" name="Shape 3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3" name="Google Shape;3683;p24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84" name="Google Shape;3684;p240"/>
          <p:cNvSpPr txBox="1"/>
          <p:nvPr>
            <p:ph idx="1" type="body"/>
          </p:nvPr>
        </p:nvSpPr>
        <p:spPr>
          <a:xfrm>
            <a:off x="311700" y="1225225"/>
            <a:ext cx="4961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Translating from a graph to matrix: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an edge exists between vertex </a:t>
            </a:r>
            <a:r>
              <a:rPr i="1" lang="en"/>
              <a:t>i </a:t>
            </a:r>
            <a:r>
              <a:rPr lang="en"/>
              <a:t>and vertex </a:t>
            </a:r>
            <a:r>
              <a:rPr i="1" lang="en"/>
              <a:t>j</a:t>
            </a:r>
            <a:r>
              <a:rPr lang="en"/>
              <a:t>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“1”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 of matrix A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Otherwise,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“0”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More formally,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1,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 be found in 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0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cannot be found in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begin with the first row object and ask: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Is it adjacent to each of the column objects?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3685" name="Google Shape;3685;p240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86" name="Google Shape;3686;p240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87" name="Google Shape;3687;p240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88" name="Google Shape;3688;p240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689" name="Google Shape;3689;p240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93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24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695" name="Google Shape;3695;p241"/>
          <p:cNvSpPr txBox="1"/>
          <p:nvPr>
            <p:ph idx="1" type="body"/>
          </p:nvPr>
        </p:nvSpPr>
        <p:spPr>
          <a:xfrm>
            <a:off x="311700" y="1225225"/>
            <a:ext cx="4961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Translating from a graph to matrix: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an edge exists between vertex </a:t>
            </a:r>
            <a:r>
              <a:rPr i="1" lang="en"/>
              <a:t>i </a:t>
            </a:r>
            <a:r>
              <a:rPr lang="en"/>
              <a:t>and vertex </a:t>
            </a:r>
            <a:r>
              <a:rPr i="1" lang="en"/>
              <a:t>j</a:t>
            </a:r>
            <a:r>
              <a:rPr lang="en"/>
              <a:t>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“1”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 of matrix A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Otherwise,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put a “0” in the </a:t>
            </a:r>
            <a:r>
              <a:rPr i="1" lang="en"/>
              <a:t>ij</a:t>
            </a:r>
            <a:r>
              <a:rPr baseline="30000" lang="en"/>
              <a:t>th </a:t>
            </a:r>
            <a:r>
              <a:rPr lang="en"/>
              <a:t>cell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More formally,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1,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 be found in 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</a:t>
            </a:r>
            <a:r>
              <a:rPr baseline="-25000" lang="en"/>
              <a:t>ij</a:t>
            </a:r>
            <a:r>
              <a:rPr lang="en"/>
              <a:t> = 0 if {v</a:t>
            </a:r>
            <a:r>
              <a:rPr baseline="-25000" lang="en"/>
              <a:t>i</a:t>
            </a:r>
            <a:r>
              <a:rPr lang="en"/>
              <a:t>v</a:t>
            </a:r>
            <a:r>
              <a:rPr baseline="-25000" lang="en"/>
              <a:t>j</a:t>
            </a:r>
            <a:r>
              <a:rPr lang="en"/>
              <a:t>} cannot be found in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And the same for each row object until every cell has a value {0, 1}</a:t>
            </a:r>
            <a:endParaRPr/>
          </a:p>
        </p:txBody>
      </p:sp>
      <p:grpSp>
        <p:nvGrpSpPr>
          <p:cNvPr id="3696" name="Google Shape;3696;p241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697" name="Google Shape;3697;p241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98" name="Google Shape;3698;p241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699" name="Google Shape;3699;p241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700" name="Google Shape;3700;p241"/>
          <p:cNvSpPr txBox="1"/>
          <p:nvPr/>
        </p:nvSpPr>
        <p:spPr>
          <a:xfrm>
            <a:off x="5854850" y="4768738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04" name="Shape 3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5" name="Google Shape;3705;p24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sp>
        <p:nvSpPr>
          <p:cNvPr id="3706" name="Google Shape;3706;p242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Matrices can be used to represent either</a:t>
            </a:r>
            <a:r>
              <a:rPr b="1" lang="en"/>
              <a:t> undirected graphs</a:t>
            </a:r>
            <a:r>
              <a:rPr lang="en"/>
              <a:t> or </a:t>
            </a:r>
            <a:r>
              <a:rPr b="1" lang="en"/>
              <a:t>directed graphs</a:t>
            </a:r>
            <a:r>
              <a:rPr lang="en"/>
              <a:t>:</a:t>
            </a:r>
            <a:endParaRPr/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Undirected</a:t>
            </a:r>
            <a:r>
              <a:rPr b="1" lang="en"/>
              <a:t> </a:t>
            </a:r>
            <a:r>
              <a:rPr lang="en"/>
              <a:t>graphs result in </a:t>
            </a:r>
            <a:r>
              <a:rPr b="1" lang="en">
                <a:solidFill>
                  <a:srgbClr val="FF0000"/>
                </a:solidFill>
              </a:rPr>
              <a:t>symmetric adjacency matrices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Directed graphs</a:t>
            </a:r>
            <a:r>
              <a:rPr b="1" lang="en"/>
              <a:t> </a:t>
            </a:r>
            <a:r>
              <a:rPr lang="en"/>
              <a:t>result in </a:t>
            </a:r>
            <a:r>
              <a:rPr b="1" lang="en">
                <a:solidFill>
                  <a:srgbClr val="0000FF"/>
                </a:solidFill>
              </a:rPr>
              <a:t>asymmetric adjacency matrices</a:t>
            </a:r>
            <a:endParaRPr b="1">
              <a:solidFill>
                <a:srgbClr val="0000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3707" name="Google Shape;3707;p242"/>
          <p:cNvGrpSpPr/>
          <p:nvPr/>
        </p:nvGrpSpPr>
        <p:grpSpPr>
          <a:xfrm>
            <a:off x="5341625" y="1035703"/>
            <a:ext cx="3490675" cy="1359585"/>
            <a:chOff x="5341638" y="1437303"/>
            <a:chExt cx="3490675" cy="1359585"/>
          </a:xfrm>
        </p:grpSpPr>
        <p:pic>
          <p:nvPicPr>
            <p:cNvPr id="3708" name="Google Shape;3708;p242"/>
            <p:cNvPicPr preferRelativeResize="0"/>
            <p:nvPr/>
          </p:nvPicPr>
          <p:blipFill rotWithShape="1">
            <a:blip r:embed="rId3">
              <a:alphaModFix/>
            </a:blip>
            <a:srcRect b="53299" l="1982" r="51491" t="28072"/>
            <a:stretch/>
          </p:blipFill>
          <p:spPr>
            <a:xfrm>
              <a:off x="5341637" y="1437303"/>
              <a:ext cx="3490675" cy="10670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09" name="Google Shape;3709;p242"/>
            <p:cNvSpPr txBox="1"/>
            <p:nvPr/>
          </p:nvSpPr>
          <p:spPr>
            <a:xfrm>
              <a:off x="5859625" y="2504388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0000"/>
                  </a:solidFill>
                  <a:latin typeface="Economica"/>
                  <a:ea typeface="Economica"/>
                  <a:cs typeface="Economica"/>
                  <a:sym typeface="Economica"/>
                </a:rPr>
                <a:t>Undirected Graph</a:t>
              </a:r>
              <a:endParaRPr b="1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710" name="Google Shape;3710;p242"/>
          <p:cNvGraphicFramePr/>
          <p:nvPr/>
        </p:nvGraphicFramePr>
        <p:xfrm>
          <a:off x="5891663" y="23953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14" name="Shape 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5" name="Google Shape;3715;p24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grpSp>
        <p:nvGrpSpPr>
          <p:cNvPr id="3716" name="Google Shape;3716;p243"/>
          <p:cNvGrpSpPr/>
          <p:nvPr/>
        </p:nvGrpSpPr>
        <p:grpSpPr>
          <a:xfrm>
            <a:off x="5341612" y="805761"/>
            <a:ext cx="3490675" cy="1614202"/>
            <a:chOff x="5264900" y="3059073"/>
            <a:chExt cx="3490675" cy="1614202"/>
          </a:xfrm>
        </p:grpSpPr>
        <p:pic>
          <p:nvPicPr>
            <p:cNvPr id="3717" name="Google Shape;3717;p243"/>
            <p:cNvPicPr preferRelativeResize="0"/>
            <p:nvPr/>
          </p:nvPicPr>
          <p:blipFill rotWithShape="1">
            <a:blip r:embed="rId3">
              <a:alphaModFix/>
            </a:blip>
            <a:srcRect b="54218" l="50926" r="2550" t="22708"/>
            <a:stretch/>
          </p:blipFill>
          <p:spPr>
            <a:xfrm>
              <a:off x="5264900" y="3059073"/>
              <a:ext cx="3490675" cy="1321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18" name="Google Shape;3718;p243"/>
            <p:cNvSpPr txBox="1"/>
            <p:nvPr/>
          </p:nvSpPr>
          <p:spPr>
            <a:xfrm>
              <a:off x="5782900" y="4380775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0000FF"/>
                  </a:solidFill>
                  <a:latin typeface="Economica"/>
                  <a:ea typeface="Economica"/>
                  <a:cs typeface="Economica"/>
                  <a:sym typeface="Economica"/>
                </a:rPr>
                <a:t>Directed Graph</a:t>
              </a:r>
              <a:endParaRPr b="1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graphicFrame>
        <p:nvGraphicFramePr>
          <p:cNvPr id="3719" name="Google Shape;3719;p243"/>
          <p:cNvGraphicFramePr/>
          <p:nvPr/>
        </p:nvGraphicFramePr>
        <p:xfrm>
          <a:off x="5891663" y="241998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720" name="Google Shape;3720;p243"/>
          <p:cNvSpPr txBox="1"/>
          <p:nvPr>
            <p:ph idx="1" type="body"/>
          </p:nvPr>
        </p:nvSpPr>
        <p:spPr>
          <a:xfrm>
            <a:off x="311700" y="1225225"/>
            <a:ext cx="459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Matrices can be used to represent either</a:t>
            </a:r>
            <a:r>
              <a:rPr b="1" lang="en"/>
              <a:t> undirected graphs</a:t>
            </a:r>
            <a:r>
              <a:rPr lang="en"/>
              <a:t> or </a:t>
            </a:r>
            <a:r>
              <a:rPr b="1" lang="en"/>
              <a:t>directed graphs</a:t>
            </a:r>
            <a:r>
              <a:rPr lang="en"/>
              <a:t>:</a:t>
            </a:r>
            <a:endParaRPr/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Undirected</a:t>
            </a:r>
            <a:r>
              <a:rPr b="1" lang="en"/>
              <a:t> </a:t>
            </a:r>
            <a:r>
              <a:rPr lang="en"/>
              <a:t>graphs result in </a:t>
            </a:r>
            <a:r>
              <a:rPr b="1" lang="en">
                <a:solidFill>
                  <a:srgbClr val="FF0000"/>
                </a:solidFill>
              </a:rPr>
              <a:t>symmetric adjacency matrices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Directed graphs</a:t>
            </a:r>
            <a:r>
              <a:rPr b="1" lang="en"/>
              <a:t> </a:t>
            </a:r>
            <a:r>
              <a:rPr lang="en"/>
              <a:t>result in </a:t>
            </a:r>
            <a:r>
              <a:rPr b="1" lang="en">
                <a:solidFill>
                  <a:srgbClr val="0000FF"/>
                </a:solidFill>
              </a:rPr>
              <a:t>asymmetric adjacency matrices</a:t>
            </a:r>
            <a:endParaRPr b="1">
              <a:solidFill>
                <a:srgbClr val="0000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24" name="Shape 3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5" name="Google Shape;3725;p24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graphicFrame>
        <p:nvGraphicFramePr>
          <p:cNvPr id="3726" name="Google Shape;3726;p244"/>
          <p:cNvGraphicFramePr/>
          <p:nvPr/>
        </p:nvGraphicFramePr>
        <p:xfrm>
          <a:off x="5896450" y="2323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3727" name="Google Shape;3727;p244"/>
          <p:cNvPicPr preferRelativeResize="0"/>
          <p:nvPr/>
        </p:nvPicPr>
        <p:blipFill rotWithShape="1">
          <a:blip r:embed="rId3">
            <a:alphaModFix/>
          </a:blip>
          <a:srcRect b="54217" l="50926" r="2550" t="29106"/>
          <a:stretch/>
        </p:blipFill>
        <p:spPr>
          <a:xfrm>
            <a:off x="5346387" y="11472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3728" name="Google Shape;3728;p244"/>
          <p:cNvSpPr txBox="1"/>
          <p:nvPr/>
        </p:nvSpPr>
        <p:spPr>
          <a:xfrm>
            <a:off x="5854838" y="21024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3729" name="Google Shape;3729;p244"/>
          <p:cNvPicPr preferRelativeResize="0"/>
          <p:nvPr/>
        </p:nvPicPr>
        <p:blipFill rotWithShape="1">
          <a:blip r:embed="rId3">
            <a:alphaModFix/>
          </a:blip>
          <a:srcRect b="53299" l="1982" r="51491" t="30025"/>
          <a:stretch/>
        </p:blipFill>
        <p:spPr>
          <a:xfrm>
            <a:off x="316463" y="11472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3730" name="Google Shape;3730;p244"/>
          <p:cNvSpPr txBox="1"/>
          <p:nvPr/>
        </p:nvSpPr>
        <p:spPr>
          <a:xfrm>
            <a:off x="778225" y="21024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Undirected Graph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731" name="Google Shape;3731;p244"/>
          <p:cNvGraphicFramePr/>
          <p:nvPr/>
        </p:nvGraphicFramePr>
        <p:xfrm>
          <a:off x="861763" y="2323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  <a:gridCol w="382850"/>
                <a:gridCol w="382850"/>
              </a:tblGrid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732" name="Google Shape;3732;p244"/>
          <p:cNvSpPr txBox="1"/>
          <p:nvPr/>
        </p:nvSpPr>
        <p:spPr>
          <a:xfrm>
            <a:off x="447650" y="4677800"/>
            <a:ext cx="30783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Symmetric Adjacency Matrix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733" name="Google Shape;3733;p244"/>
          <p:cNvSpPr txBox="1"/>
          <p:nvPr/>
        </p:nvSpPr>
        <p:spPr>
          <a:xfrm>
            <a:off x="5601025" y="4677800"/>
            <a:ext cx="30783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Asymmetric Adjacency Matrix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734" name="Google Shape;3734;p244"/>
          <p:cNvSpPr txBox="1"/>
          <p:nvPr/>
        </p:nvSpPr>
        <p:spPr>
          <a:xfrm>
            <a:off x="3465963" y="2413000"/>
            <a:ext cx="2135100" cy="160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Economica"/>
                <a:ea typeface="Economica"/>
                <a:cs typeface="Economica"/>
                <a:sym typeface="Economica"/>
              </a:rPr>
              <a:t>How do we know if an adjacency matrix is symmetric or asymmetric? </a:t>
            </a:r>
            <a:endParaRPr sz="24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38" name="Shape 3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9" name="Google Shape;3739;p24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Adjacency Matrix</a:t>
            </a:r>
            <a:endParaRPr/>
          </a:p>
        </p:txBody>
      </p:sp>
      <p:graphicFrame>
        <p:nvGraphicFramePr>
          <p:cNvPr id="3740" name="Google Shape;3740;p245"/>
          <p:cNvGraphicFramePr/>
          <p:nvPr/>
        </p:nvGraphicFramePr>
        <p:xfrm>
          <a:off x="5896450" y="2323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3741" name="Google Shape;3741;p245"/>
          <p:cNvPicPr preferRelativeResize="0"/>
          <p:nvPr/>
        </p:nvPicPr>
        <p:blipFill rotWithShape="1">
          <a:blip r:embed="rId3">
            <a:alphaModFix/>
          </a:blip>
          <a:srcRect b="54217" l="50926" r="2550" t="29106"/>
          <a:stretch/>
        </p:blipFill>
        <p:spPr>
          <a:xfrm>
            <a:off x="5346387" y="11472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3742" name="Google Shape;3742;p245"/>
          <p:cNvSpPr txBox="1"/>
          <p:nvPr/>
        </p:nvSpPr>
        <p:spPr>
          <a:xfrm>
            <a:off x="5854838" y="21024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3743" name="Google Shape;3743;p245"/>
          <p:cNvPicPr preferRelativeResize="0"/>
          <p:nvPr/>
        </p:nvPicPr>
        <p:blipFill rotWithShape="1">
          <a:blip r:embed="rId3">
            <a:alphaModFix/>
          </a:blip>
          <a:srcRect b="53299" l="1982" r="51491" t="30025"/>
          <a:stretch/>
        </p:blipFill>
        <p:spPr>
          <a:xfrm>
            <a:off x="316463" y="11472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3744" name="Google Shape;3744;p245"/>
          <p:cNvSpPr txBox="1"/>
          <p:nvPr/>
        </p:nvSpPr>
        <p:spPr>
          <a:xfrm>
            <a:off x="778225" y="21024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Undirected Graph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745" name="Google Shape;3745;p245"/>
          <p:cNvGraphicFramePr/>
          <p:nvPr/>
        </p:nvGraphicFramePr>
        <p:xfrm>
          <a:off x="861763" y="2323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  <a:gridCol w="382850"/>
                <a:gridCol w="382850"/>
              </a:tblGrid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3746" name="Google Shape;3746;p245"/>
          <p:cNvSpPr txBox="1"/>
          <p:nvPr/>
        </p:nvSpPr>
        <p:spPr>
          <a:xfrm>
            <a:off x="3242425" y="2413000"/>
            <a:ext cx="2612400" cy="23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In an symmetric matrix the upper and lower “triangles” (off-diagonal entries) are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mirror images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</a:t>
            </a:r>
            <a:r>
              <a:rPr baseline="-25000" lang="en" sz="1800">
                <a:latin typeface="Economica"/>
                <a:ea typeface="Economica"/>
                <a:cs typeface="Economica"/>
                <a:sym typeface="Economica"/>
              </a:rPr>
              <a:t>ij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= A</a:t>
            </a:r>
            <a:r>
              <a:rPr b="1" baseline="-25000" lang="en" sz="1800">
                <a:latin typeface="Economica"/>
                <a:ea typeface="Economica"/>
                <a:cs typeface="Economica"/>
                <a:sym typeface="Economica"/>
              </a:rPr>
              <a:t>ji</a:t>
            </a:r>
            <a:endParaRPr b="1" baseline="-25000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In a asymmetric matrix they can be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different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A</a:t>
            </a:r>
            <a:r>
              <a:rPr baseline="-25000" lang="en" sz="1800">
                <a:latin typeface="Economica"/>
                <a:ea typeface="Economica"/>
                <a:cs typeface="Economica"/>
                <a:sym typeface="Economica"/>
              </a:rPr>
              <a:t>ij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lang="en" sz="1200">
                <a:solidFill>
                  <a:srgbClr val="222222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≠</a:t>
            </a:r>
            <a:r>
              <a:rPr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A</a:t>
            </a:r>
            <a:r>
              <a:rPr b="1" baseline="-25000"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ji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	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3747" name="Google Shape;3747;p245"/>
          <p:cNvCxnSpPr/>
          <p:nvPr/>
        </p:nvCxnSpPr>
        <p:spPr>
          <a:xfrm>
            <a:off x="1274425" y="2778863"/>
            <a:ext cx="1968000" cy="19746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48" name="Google Shape;3748;p245"/>
          <p:cNvCxnSpPr/>
          <p:nvPr/>
        </p:nvCxnSpPr>
        <p:spPr>
          <a:xfrm>
            <a:off x="6294875" y="2715788"/>
            <a:ext cx="1968000" cy="19746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749" name="Google Shape;3749;p245"/>
          <p:cNvSpPr txBox="1"/>
          <p:nvPr/>
        </p:nvSpPr>
        <p:spPr>
          <a:xfrm>
            <a:off x="447650" y="4677800"/>
            <a:ext cx="30783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Symmetric Adjacency Matrix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750" name="Google Shape;3750;p245"/>
          <p:cNvSpPr txBox="1"/>
          <p:nvPr/>
        </p:nvSpPr>
        <p:spPr>
          <a:xfrm>
            <a:off x="5601025" y="4677800"/>
            <a:ext cx="30783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Asymmetric Adjacency Matrix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54" name="Shape 3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5" name="Google Shape;3755;p246"/>
          <p:cNvSpPr txBox="1"/>
          <p:nvPr>
            <p:ph idx="1" type="body"/>
          </p:nvPr>
        </p:nvSpPr>
        <p:spPr>
          <a:xfrm>
            <a:off x="0" y="4527675"/>
            <a:ext cx="5998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Summary: Graphs, matrices</a:t>
            </a:r>
            <a:endParaRPr/>
          </a:p>
        </p:txBody>
      </p:sp>
      <p:pic>
        <p:nvPicPr>
          <p:cNvPr id="3756" name="Google Shape;3756;p246"/>
          <p:cNvPicPr preferRelativeResize="0"/>
          <p:nvPr/>
        </p:nvPicPr>
        <p:blipFill rotWithShape="1">
          <a:blip r:embed="rId3">
            <a:alphaModFix/>
          </a:blip>
          <a:srcRect b="53299" l="1982" r="51491" t="22709"/>
          <a:stretch/>
        </p:blipFill>
        <p:spPr>
          <a:xfrm>
            <a:off x="311700" y="305123"/>
            <a:ext cx="3490675" cy="1374300"/>
          </a:xfrm>
          <a:prstGeom prst="rect">
            <a:avLst/>
          </a:prstGeom>
          <a:noFill/>
          <a:ln>
            <a:noFill/>
          </a:ln>
        </p:spPr>
      </p:pic>
      <p:sp>
        <p:nvSpPr>
          <p:cNvPr id="3757" name="Google Shape;3757;p246"/>
          <p:cNvSpPr txBox="1"/>
          <p:nvPr/>
        </p:nvSpPr>
        <p:spPr>
          <a:xfrm>
            <a:off x="824938" y="16794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Undirected Graph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3758" name="Google Shape;3758;p246"/>
          <p:cNvPicPr preferRelativeResize="0"/>
          <p:nvPr/>
        </p:nvPicPr>
        <p:blipFill rotWithShape="1">
          <a:blip r:embed="rId3">
            <a:alphaModFix/>
          </a:blip>
          <a:srcRect b="54218" l="50926" r="2550" t="22708"/>
          <a:stretch/>
        </p:blipFill>
        <p:spPr>
          <a:xfrm>
            <a:off x="311700" y="2913473"/>
            <a:ext cx="3490675" cy="1321700"/>
          </a:xfrm>
          <a:prstGeom prst="rect">
            <a:avLst/>
          </a:prstGeom>
          <a:noFill/>
          <a:ln>
            <a:noFill/>
          </a:ln>
        </p:spPr>
      </p:pic>
      <p:sp>
        <p:nvSpPr>
          <p:cNvPr id="3759" name="Google Shape;3759;p246"/>
          <p:cNvSpPr txBox="1"/>
          <p:nvPr/>
        </p:nvSpPr>
        <p:spPr>
          <a:xfrm>
            <a:off x="829700" y="423517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760" name="Google Shape;3760;p246"/>
          <p:cNvGraphicFramePr/>
          <p:nvPr/>
        </p:nvGraphicFramePr>
        <p:xfrm>
          <a:off x="6443863" y="22333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49575"/>
                <a:gridCol w="349575"/>
                <a:gridCol w="349575"/>
                <a:gridCol w="349575"/>
                <a:gridCol w="349575"/>
                <a:gridCol w="349575"/>
              </a:tblGrid>
              <a:tr h="3064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e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</a:tr>
              <a:tr h="304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</a:tr>
              <a:tr h="304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</a:tr>
              <a:tr h="304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e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sp>
        <p:nvSpPr>
          <p:cNvPr id="3761" name="Google Shape;3761;p246"/>
          <p:cNvSpPr txBox="1"/>
          <p:nvPr/>
        </p:nvSpPr>
        <p:spPr>
          <a:xfrm>
            <a:off x="6260500" y="2053733"/>
            <a:ext cx="2464200" cy="554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Symmetric 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Adjacency Matrix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762" name="Google Shape;3762;p246"/>
          <p:cNvGraphicFramePr/>
          <p:nvPr/>
        </p:nvGraphicFramePr>
        <p:xfrm>
          <a:off x="6346238" y="26084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65850"/>
                <a:gridCol w="365850"/>
                <a:gridCol w="365850"/>
                <a:gridCol w="365850"/>
                <a:gridCol w="365850"/>
                <a:gridCol w="365825"/>
              </a:tblGrid>
              <a:tr h="305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e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05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05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</a:tr>
              <a:tr h="305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</a:tr>
              <a:tr h="305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</a:tr>
              <a:tr h="305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e</a:t>
                      </a:r>
                      <a:endParaRPr sz="1200"/>
                    </a:p>
                  </a:txBody>
                  <a:tcPr marT="0" marB="0" marR="0" marL="0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sp>
        <p:nvSpPr>
          <p:cNvPr id="3763" name="Google Shape;3763;p246"/>
          <p:cNvSpPr txBox="1"/>
          <p:nvPr/>
        </p:nvSpPr>
        <p:spPr>
          <a:xfrm>
            <a:off x="6260500" y="4438862"/>
            <a:ext cx="2464200" cy="554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Asymmetric 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Adjacency Matrix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764" name="Google Shape;3764;p246"/>
          <p:cNvSpPr/>
          <p:nvPr/>
        </p:nvSpPr>
        <p:spPr>
          <a:xfrm>
            <a:off x="4024450" y="1106350"/>
            <a:ext cx="1974300" cy="6051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FF99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5" name="Google Shape;3765;p246"/>
          <p:cNvSpPr/>
          <p:nvPr/>
        </p:nvSpPr>
        <p:spPr>
          <a:xfrm>
            <a:off x="4024473" y="3523625"/>
            <a:ext cx="1974300" cy="6051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FF99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6" name="Google Shape;3766;p246"/>
          <p:cNvSpPr txBox="1"/>
          <p:nvPr/>
        </p:nvSpPr>
        <p:spPr>
          <a:xfrm>
            <a:off x="533675" y="2038000"/>
            <a:ext cx="2930700" cy="102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7" name="Google Shape;3767;p246"/>
          <p:cNvSpPr txBox="1"/>
          <p:nvPr/>
        </p:nvSpPr>
        <p:spPr>
          <a:xfrm>
            <a:off x="533675" y="2240700"/>
            <a:ext cx="3490800" cy="6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Adjacent vertices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: Edge exists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Non-adjacent vertices: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Edge does not exist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71" name="Shape 3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2" name="Google Shape;3772;p24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graphs: Matrix Representation</a:t>
            </a:r>
            <a:endParaRPr/>
          </a:p>
        </p:txBody>
      </p:sp>
      <p:pic>
        <p:nvPicPr>
          <p:cNvPr id="3773" name="Google Shape;3773;p2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126" y="1637124"/>
            <a:ext cx="3551100" cy="2297313"/>
          </a:xfrm>
          <a:prstGeom prst="rect">
            <a:avLst/>
          </a:prstGeom>
          <a:noFill/>
          <a:ln>
            <a:noFill/>
          </a:ln>
        </p:spPr>
      </p:pic>
      <p:sp>
        <p:nvSpPr>
          <p:cNvPr id="3774" name="Google Shape;3774;p247"/>
          <p:cNvSpPr txBox="1"/>
          <p:nvPr/>
        </p:nvSpPr>
        <p:spPr>
          <a:xfrm>
            <a:off x="1127575" y="39344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Weighted 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775" name="Google Shape;3775;p247"/>
          <p:cNvGraphicFramePr/>
          <p:nvPr/>
        </p:nvGraphicFramePr>
        <p:xfrm>
          <a:off x="5028888" y="123113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07300"/>
                <a:gridCol w="507300"/>
                <a:gridCol w="507300"/>
                <a:gridCol w="507300"/>
                <a:gridCol w="507300"/>
                <a:gridCol w="507275"/>
                <a:gridCol w="507275"/>
              </a:tblGrid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79" name="Shape 3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0" name="Google Shape;3780;p24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graphs: Matrix Representation</a:t>
            </a:r>
            <a:endParaRPr/>
          </a:p>
        </p:txBody>
      </p:sp>
      <p:pic>
        <p:nvPicPr>
          <p:cNvPr id="3781" name="Google Shape;3781;p2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126" y="1637124"/>
            <a:ext cx="3551100" cy="2297313"/>
          </a:xfrm>
          <a:prstGeom prst="rect">
            <a:avLst/>
          </a:prstGeom>
          <a:noFill/>
          <a:ln>
            <a:noFill/>
          </a:ln>
        </p:spPr>
      </p:pic>
      <p:sp>
        <p:nvSpPr>
          <p:cNvPr id="3782" name="Google Shape;3782;p248"/>
          <p:cNvSpPr txBox="1"/>
          <p:nvPr/>
        </p:nvSpPr>
        <p:spPr>
          <a:xfrm>
            <a:off x="1127575" y="39344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Weighted 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783" name="Google Shape;3783;p248"/>
          <p:cNvGraphicFramePr/>
          <p:nvPr/>
        </p:nvGraphicFramePr>
        <p:xfrm>
          <a:off x="5028888" y="123113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07300"/>
                <a:gridCol w="507300"/>
                <a:gridCol w="507300"/>
                <a:gridCol w="507300"/>
                <a:gridCol w="507300"/>
                <a:gridCol w="507275"/>
                <a:gridCol w="507275"/>
              </a:tblGrid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sp>
        <p:nvSpPr>
          <p:cNvPr id="3784" name="Google Shape;3784;p248"/>
          <p:cNvSpPr/>
          <p:nvPr/>
        </p:nvSpPr>
        <p:spPr>
          <a:xfrm>
            <a:off x="5084150" y="2027725"/>
            <a:ext cx="3689400" cy="7122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88" name="Shape 3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" name="Google Shape;3789;p24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graphs: Matrix Representation</a:t>
            </a:r>
            <a:endParaRPr/>
          </a:p>
        </p:txBody>
      </p:sp>
      <p:pic>
        <p:nvPicPr>
          <p:cNvPr id="3790" name="Google Shape;3790;p2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126" y="1637124"/>
            <a:ext cx="3551100" cy="2297313"/>
          </a:xfrm>
          <a:prstGeom prst="rect">
            <a:avLst/>
          </a:prstGeom>
          <a:noFill/>
          <a:ln>
            <a:noFill/>
          </a:ln>
        </p:spPr>
      </p:pic>
      <p:sp>
        <p:nvSpPr>
          <p:cNvPr id="3791" name="Google Shape;3791;p249"/>
          <p:cNvSpPr txBox="1"/>
          <p:nvPr/>
        </p:nvSpPr>
        <p:spPr>
          <a:xfrm>
            <a:off x="1127575" y="39344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Weighted 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792" name="Google Shape;3792;p249"/>
          <p:cNvSpPr/>
          <p:nvPr/>
        </p:nvSpPr>
        <p:spPr>
          <a:xfrm>
            <a:off x="5084150" y="2027725"/>
            <a:ext cx="3689400" cy="7122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3793" name="Google Shape;3793;p249"/>
          <p:cNvGraphicFramePr/>
          <p:nvPr/>
        </p:nvGraphicFramePr>
        <p:xfrm>
          <a:off x="5028888" y="123113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07300"/>
                <a:gridCol w="507300"/>
                <a:gridCol w="507300"/>
                <a:gridCol w="507300"/>
                <a:gridCol w="507300"/>
                <a:gridCol w="507275"/>
                <a:gridCol w="507275"/>
              </a:tblGrid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0.3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97" name="Shape 3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8" name="Google Shape;3798;p25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graphs: Matrix Representation</a:t>
            </a:r>
            <a:endParaRPr/>
          </a:p>
        </p:txBody>
      </p:sp>
      <p:pic>
        <p:nvPicPr>
          <p:cNvPr id="3799" name="Google Shape;3799;p2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126" y="1637124"/>
            <a:ext cx="3551100" cy="2297313"/>
          </a:xfrm>
          <a:prstGeom prst="rect">
            <a:avLst/>
          </a:prstGeom>
          <a:noFill/>
          <a:ln>
            <a:noFill/>
          </a:ln>
        </p:spPr>
      </p:pic>
      <p:sp>
        <p:nvSpPr>
          <p:cNvPr id="3800" name="Google Shape;3800;p250"/>
          <p:cNvSpPr txBox="1"/>
          <p:nvPr/>
        </p:nvSpPr>
        <p:spPr>
          <a:xfrm>
            <a:off x="1127575" y="39344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Weighted 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801" name="Google Shape;3801;p250"/>
          <p:cNvSpPr/>
          <p:nvPr/>
        </p:nvSpPr>
        <p:spPr>
          <a:xfrm>
            <a:off x="5084150" y="2027725"/>
            <a:ext cx="3689400" cy="7122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3802" name="Google Shape;3802;p250"/>
          <p:cNvGraphicFramePr/>
          <p:nvPr/>
        </p:nvGraphicFramePr>
        <p:xfrm>
          <a:off x="5028888" y="123113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07300"/>
                <a:gridCol w="507300"/>
                <a:gridCol w="507300"/>
                <a:gridCol w="507300"/>
                <a:gridCol w="507300"/>
                <a:gridCol w="507275"/>
                <a:gridCol w="507275"/>
              </a:tblGrid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0.3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0.3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06" name="Shape 3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7" name="Google Shape;3807;p25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graphs: Matrix Representation</a:t>
            </a:r>
            <a:endParaRPr/>
          </a:p>
        </p:txBody>
      </p:sp>
      <p:pic>
        <p:nvPicPr>
          <p:cNvPr id="3808" name="Google Shape;3808;p2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126" y="1637124"/>
            <a:ext cx="3551100" cy="2297313"/>
          </a:xfrm>
          <a:prstGeom prst="rect">
            <a:avLst/>
          </a:prstGeom>
          <a:noFill/>
          <a:ln>
            <a:noFill/>
          </a:ln>
        </p:spPr>
      </p:pic>
      <p:sp>
        <p:nvSpPr>
          <p:cNvPr id="3809" name="Google Shape;3809;p251"/>
          <p:cNvSpPr txBox="1"/>
          <p:nvPr/>
        </p:nvSpPr>
        <p:spPr>
          <a:xfrm>
            <a:off x="1127575" y="39344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Weighted 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810" name="Google Shape;3810;p251"/>
          <p:cNvSpPr/>
          <p:nvPr/>
        </p:nvSpPr>
        <p:spPr>
          <a:xfrm>
            <a:off x="5084150" y="2027725"/>
            <a:ext cx="3689400" cy="7122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3811" name="Google Shape;3811;p251"/>
          <p:cNvGraphicFramePr/>
          <p:nvPr/>
        </p:nvGraphicFramePr>
        <p:xfrm>
          <a:off x="5028888" y="123113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07300"/>
                <a:gridCol w="507300"/>
                <a:gridCol w="507300"/>
                <a:gridCol w="507300"/>
                <a:gridCol w="507300"/>
                <a:gridCol w="507275"/>
                <a:gridCol w="507275"/>
              </a:tblGrid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0.3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0.3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0.4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15" name="Shape 3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6" name="Google Shape;3816;p25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Weighted graphs: Matrix Representation</a:t>
            </a:r>
            <a:endParaRPr/>
          </a:p>
        </p:txBody>
      </p:sp>
      <p:pic>
        <p:nvPicPr>
          <p:cNvPr id="3817" name="Google Shape;3817;p2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126" y="1637124"/>
            <a:ext cx="3551100" cy="2297313"/>
          </a:xfrm>
          <a:prstGeom prst="rect">
            <a:avLst/>
          </a:prstGeom>
          <a:noFill/>
          <a:ln>
            <a:noFill/>
          </a:ln>
        </p:spPr>
      </p:pic>
      <p:sp>
        <p:nvSpPr>
          <p:cNvPr id="3818" name="Google Shape;3818;p252"/>
          <p:cNvSpPr txBox="1"/>
          <p:nvPr/>
        </p:nvSpPr>
        <p:spPr>
          <a:xfrm>
            <a:off x="1127575" y="393442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Weighted 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3819" name="Google Shape;3819;p252"/>
          <p:cNvGraphicFramePr/>
          <p:nvPr/>
        </p:nvGraphicFramePr>
        <p:xfrm>
          <a:off x="5028888" y="123113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07300"/>
                <a:gridCol w="507300"/>
                <a:gridCol w="507300"/>
                <a:gridCol w="507300"/>
                <a:gridCol w="507300"/>
                <a:gridCol w="507275"/>
                <a:gridCol w="507275"/>
              </a:tblGrid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a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0.1</a:t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0.9</a:t>
                      </a:r>
                      <a:endParaRPr sz="1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b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0.3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0.3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0.4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c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0.6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0.4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d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1.0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e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0.55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0.45</a:t>
                      </a:r>
                      <a:endParaRPr sz="1800"/>
                    </a:p>
                  </a:txBody>
                  <a:tcPr marT="0" marB="0" marR="0" marL="0" anchor="ctr"/>
                </a:tc>
              </a:tr>
              <a:tr h="466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f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1.0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0</a:t>
                      </a:r>
                      <a:endParaRPr sz="1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--</a:t>
                      </a:r>
                      <a:endParaRPr sz="18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23" name="Shape 3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4" name="Google Shape;3824;p25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Reachability Matrix</a:t>
            </a:r>
            <a:endParaRPr/>
          </a:p>
        </p:txBody>
      </p:sp>
      <p:graphicFrame>
        <p:nvGraphicFramePr>
          <p:cNvPr id="3825" name="Google Shape;3825;p253"/>
          <p:cNvGraphicFramePr/>
          <p:nvPr/>
        </p:nvGraphicFramePr>
        <p:xfrm>
          <a:off x="6210600" y="25063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13950"/>
                <a:gridCol w="413950"/>
                <a:gridCol w="413950"/>
                <a:gridCol w="413950"/>
                <a:gridCol w="413950"/>
                <a:gridCol w="413950"/>
              </a:tblGrid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3826" name="Google Shape;3826;p253"/>
          <p:cNvSpPr txBox="1"/>
          <p:nvPr>
            <p:ph idx="1" type="body"/>
          </p:nvPr>
        </p:nvSpPr>
        <p:spPr>
          <a:xfrm>
            <a:off x="311700" y="1225225"/>
            <a:ext cx="8520600" cy="12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reachability matrix</a:t>
            </a:r>
            <a:r>
              <a:rPr lang="en"/>
              <a:t> of a directed graph has a one in each cell if the corresponding pair of nodes are connected via a path of some length</a:t>
            </a:r>
            <a:endParaRPr/>
          </a:p>
        </p:txBody>
      </p:sp>
      <p:sp>
        <p:nvSpPr>
          <p:cNvPr id="3827" name="Google Shape;3827;p253"/>
          <p:cNvSpPr/>
          <p:nvPr/>
        </p:nvSpPr>
        <p:spPr>
          <a:xfrm>
            <a:off x="4270600" y="3108475"/>
            <a:ext cx="1638600" cy="8313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8" name="Google Shape;3828;p253"/>
          <p:cNvSpPr txBox="1"/>
          <p:nvPr/>
        </p:nvSpPr>
        <p:spPr>
          <a:xfrm>
            <a:off x="6199800" y="2060325"/>
            <a:ext cx="2473500" cy="36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Reachability matrix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829" name="Google Shape;3829;p253"/>
          <p:cNvSpPr/>
          <p:nvPr/>
        </p:nvSpPr>
        <p:spPr>
          <a:xfrm>
            <a:off x="311700" y="3265370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30" name="Google Shape;3830;p253"/>
          <p:cNvSpPr/>
          <p:nvPr/>
        </p:nvSpPr>
        <p:spPr>
          <a:xfrm>
            <a:off x="1464685" y="3265370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831" name="Google Shape;3831;p253"/>
          <p:cNvCxnSpPr>
            <a:stCxn id="3829" idx="5"/>
            <a:endCxn id="3830" idx="3"/>
          </p:cNvCxnSpPr>
          <p:nvPr/>
        </p:nvCxnSpPr>
        <p:spPr>
          <a:xfrm>
            <a:off x="752902" y="3707084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832" name="Google Shape;3832;p253"/>
          <p:cNvSpPr/>
          <p:nvPr/>
        </p:nvSpPr>
        <p:spPr>
          <a:xfrm>
            <a:off x="2458495" y="2306675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33" name="Google Shape;3833;p253"/>
          <p:cNvSpPr/>
          <p:nvPr/>
        </p:nvSpPr>
        <p:spPr>
          <a:xfrm>
            <a:off x="2458495" y="4188372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34" name="Google Shape;3834;p253"/>
          <p:cNvSpPr/>
          <p:nvPr/>
        </p:nvSpPr>
        <p:spPr>
          <a:xfrm>
            <a:off x="3452305" y="3302245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835" name="Google Shape;3835;p253"/>
          <p:cNvCxnSpPr>
            <a:stCxn id="3830" idx="7"/>
            <a:endCxn id="3832" idx="3"/>
          </p:cNvCxnSpPr>
          <p:nvPr/>
        </p:nvCxnSpPr>
        <p:spPr>
          <a:xfrm flipH="1" rot="10800000">
            <a:off x="1905886" y="2748356"/>
            <a:ext cx="628200" cy="592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36" name="Google Shape;3836;p253"/>
          <p:cNvCxnSpPr>
            <a:stCxn id="3834" idx="1"/>
            <a:endCxn id="3832" idx="5"/>
          </p:cNvCxnSpPr>
          <p:nvPr/>
        </p:nvCxnSpPr>
        <p:spPr>
          <a:xfrm rot="10800000">
            <a:off x="2899803" y="2748331"/>
            <a:ext cx="628200" cy="629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37" name="Google Shape;3837;p253"/>
          <p:cNvCxnSpPr>
            <a:stCxn id="3834" idx="3"/>
            <a:endCxn id="3833" idx="7"/>
          </p:cNvCxnSpPr>
          <p:nvPr/>
        </p:nvCxnSpPr>
        <p:spPr>
          <a:xfrm flipH="1">
            <a:off x="2899803" y="3743959"/>
            <a:ext cx="628200" cy="52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38" name="Google Shape;3838;p253"/>
          <p:cNvCxnSpPr>
            <a:stCxn id="3833" idx="1"/>
            <a:endCxn id="3832" idx="3"/>
          </p:cNvCxnSpPr>
          <p:nvPr/>
        </p:nvCxnSpPr>
        <p:spPr>
          <a:xfrm rot="10800000">
            <a:off x="2534193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39" name="Google Shape;3839;p253"/>
          <p:cNvCxnSpPr>
            <a:stCxn id="3833" idx="7"/>
            <a:endCxn id="3832" idx="5"/>
          </p:cNvCxnSpPr>
          <p:nvPr/>
        </p:nvCxnSpPr>
        <p:spPr>
          <a:xfrm rot="10800000">
            <a:off x="2899696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40" name="Google Shape;3840;p253"/>
          <p:cNvCxnSpPr>
            <a:stCxn id="3830" idx="1"/>
            <a:endCxn id="3829" idx="7"/>
          </p:cNvCxnSpPr>
          <p:nvPr/>
        </p:nvCxnSpPr>
        <p:spPr>
          <a:xfrm rot="10800000">
            <a:off x="752883" y="3341156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41" name="Google Shape;3841;p253"/>
          <p:cNvCxnSpPr/>
          <p:nvPr/>
        </p:nvCxnSpPr>
        <p:spPr>
          <a:xfrm rot="10800000">
            <a:off x="1723195" y="3782859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42" name="Google Shape;3842;p253"/>
          <p:cNvCxnSpPr/>
          <p:nvPr/>
        </p:nvCxnSpPr>
        <p:spPr>
          <a:xfrm rot="10800000">
            <a:off x="1981692" y="3524172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46" name="Shape 3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7" name="Google Shape;3847;p25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Reachability Matrix</a:t>
            </a:r>
            <a:endParaRPr/>
          </a:p>
        </p:txBody>
      </p:sp>
      <p:graphicFrame>
        <p:nvGraphicFramePr>
          <p:cNvPr id="3848" name="Google Shape;3848;p254"/>
          <p:cNvGraphicFramePr/>
          <p:nvPr/>
        </p:nvGraphicFramePr>
        <p:xfrm>
          <a:off x="6210600" y="25063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13950"/>
                <a:gridCol w="413950"/>
                <a:gridCol w="413950"/>
                <a:gridCol w="413950"/>
                <a:gridCol w="413950"/>
                <a:gridCol w="413950"/>
              </a:tblGrid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3849" name="Google Shape;3849;p254"/>
          <p:cNvSpPr txBox="1"/>
          <p:nvPr>
            <p:ph idx="1" type="body"/>
          </p:nvPr>
        </p:nvSpPr>
        <p:spPr>
          <a:xfrm>
            <a:off x="311700" y="1225225"/>
            <a:ext cx="8520600" cy="12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To fill it out we put a “1” in the </a:t>
            </a:r>
            <a:r>
              <a:rPr i="1" lang="en"/>
              <a:t>ij</a:t>
            </a:r>
            <a:r>
              <a:rPr baseline="30000" lang="en"/>
              <a:t>th</a:t>
            </a:r>
            <a:r>
              <a:rPr lang="en"/>
              <a:t> cell if node </a:t>
            </a:r>
            <a:r>
              <a:rPr i="1" lang="en"/>
              <a:t>i</a:t>
            </a:r>
            <a:r>
              <a:rPr lang="en"/>
              <a:t> can </a:t>
            </a:r>
            <a:r>
              <a:rPr b="1" lang="en"/>
              <a:t>reach</a:t>
            </a:r>
            <a:r>
              <a:rPr lang="en"/>
              <a:t> node </a:t>
            </a:r>
            <a:r>
              <a:rPr i="1" lang="en"/>
              <a:t>j</a:t>
            </a:r>
            <a:r>
              <a:rPr lang="en"/>
              <a:t> via a </a:t>
            </a:r>
            <a:r>
              <a:rPr b="1" lang="en"/>
              <a:t>directed path</a:t>
            </a:r>
            <a:r>
              <a:rPr lang="en"/>
              <a:t> of any length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And a zero otherwise</a:t>
            </a:r>
            <a:endParaRPr/>
          </a:p>
        </p:txBody>
      </p:sp>
      <p:sp>
        <p:nvSpPr>
          <p:cNvPr id="3850" name="Google Shape;3850;p254"/>
          <p:cNvSpPr/>
          <p:nvPr/>
        </p:nvSpPr>
        <p:spPr>
          <a:xfrm>
            <a:off x="4270600" y="3108475"/>
            <a:ext cx="1638600" cy="8313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1" name="Google Shape;3851;p254"/>
          <p:cNvSpPr txBox="1"/>
          <p:nvPr/>
        </p:nvSpPr>
        <p:spPr>
          <a:xfrm>
            <a:off x="6199800" y="2060325"/>
            <a:ext cx="2473500" cy="36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Reachability matrix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852" name="Google Shape;3852;p254"/>
          <p:cNvSpPr/>
          <p:nvPr/>
        </p:nvSpPr>
        <p:spPr>
          <a:xfrm>
            <a:off x="311700" y="3265370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53" name="Google Shape;3853;p254"/>
          <p:cNvSpPr/>
          <p:nvPr/>
        </p:nvSpPr>
        <p:spPr>
          <a:xfrm>
            <a:off x="1464685" y="3265370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854" name="Google Shape;3854;p254"/>
          <p:cNvCxnSpPr>
            <a:stCxn id="3852" idx="5"/>
            <a:endCxn id="3853" idx="3"/>
          </p:cNvCxnSpPr>
          <p:nvPr/>
        </p:nvCxnSpPr>
        <p:spPr>
          <a:xfrm>
            <a:off x="752902" y="3707084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855" name="Google Shape;3855;p254"/>
          <p:cNvSpPr/>
          <p:nvPr/>
        </p:nvSpPr>
        <p:spPr>
          <a:xfrm>
            <a:off x="2458495" y="2306675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56" name="Google Shape;3856;p254"/>
          <p:cNvSpPr/>
          <p:nvPr/>
        </p:nvSpPr>
        <p:spPr>
          <a:xfrm>
            <a:off x="2458495" y="4188372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57" name="Google Shape;3857;p254"/>
          <p:cNvSpPr/>
          <p:nvPr/>
        </p:nvSpPr>
        <p:spPr>
          <a:xfrm>
            <a:off x="3452305" y="3302245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858" name="Google Shape;3858;p254"/>
          <p:cNvCxnSpPr>
            <a:stCxn id="3853" idx="7"/>
            <a:endCxn id="3855" idx="3"/>
          </p:cNvCxnSpPr>
          <p:nvPr/>
        </p:nvCxnSpPr>
        <p:spPr>
          <a:xfrm flipH="1" rot="10800000">
            <a:off x="1905886" y="2748356"/>
            <a:ext cx="628200" cy="592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59" name="Google Shape;3859;p254"/>
          <p:cNvCxnSpPr>
            <a:stCxn id="3857" idx="1"/>
            <a:endCxn id="3855" idx="5"/>
          </p:cNvCxnSpPr>
          <p:nvPr/>
        </p:nvCxnSpPr>
        <p:spPr>
          <a:xfrm rot="10800000">
            <a:off x="2899803" y="2748331"/>
            <a:ext cx="628200" cy="629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60" name="Google Shape;3860;p254"/>
          <p:cNvCxnSpPr>
            <a:stCxn id="3857" idx="3"/>
            <a:endCxn id="3856" idx="7"/>
          </p:cNvCxnSpPr>
          <p:nvPr/>
        </p:nvCxnSpPr>
        <p:spPr>
          <a:xfrm flipH="1">
            <a:off x="2899803" y="3743959"/>
            <a:ext cx="628200" cy="52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61" name="Google Shape;3861;p254"/>
          <p:cNvCxnSpPr>
            <a:stCxn id="3856" idx="1"/>
            <a:endCxn id="3855" idx="3"/>
          </p:cNvCxnSpPr>
          <p:nvPr/>
        </p:nvCxnSpPr>
        <p:spPr>
          <a:xfrm rot="10800000">
            <a:off x="2534193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62" name="Google Shape;3862;p254"/>
          <p:cNvCxnSpPr>
            <a:stCxn id="3856" idx="7"/>
            <a:endCxn id="3855" idx="5"/>
          </p:cNvCxnSpPr>
          <p:nvPr/>
        </p:nvCxnSpPr>
        <p:spPr>
          <a:xfrm rot="10800000">
            <a:off x="2899696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63" name="Google Shape;3863;p254"/>
          <p:cNvCxnSpPr>
            <a:stCxn id="3853" idx="1"/>
            <a:endCxn id="3852" idx="7"/>
          </p:cNvCxnSpPr>
          <p:nvPr/>
        </p:nvCxnSpPr>
        <p:spPr>
          <a:xfrm rot="10800000">
            <a:off x="752883" y="3341156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64" name="Google Shape;3864;p254"/>
          <p:cNvCxnSpPr/>
          <p:nvPr/>
        </p:nvCxnSpPr>
        <p:spPr>
          <a:xfrm rot="10800000">
            <a:off x="1723195" y="3782859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65" name="Google Shape;3865;p254"/>
          <p:cNvCxnSpPr/>
          <p:nvPr/>
        </p:nvCxnSpPr>
        <p:spPr>
          <a:xfrm rot="10800000">
            <a:off x="1981692" y="3524172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69" name="Shape 3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0" name="Google Shape;3870;p25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Reachability Matrix</a:t>
            </a:r>
            <a:endParaRPr/>
          </a:p>
        </p:txBody>
      </p:sp>
      <p:graphicFrame>
        <p:nvGraphicFramePr>
          <p:cNvPr id="3871" name="Google Shape;3871;p255"/>
          <p:cNvGraphicFramePr/>
          <p:nvPr/>
        </p:nvGraphicFramePr>
        <p:xfrm>
          <a:off x="6210600" y="25063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13950"/>
                <a:gridCol w="413950"/>
                <a:gridCol w="413950"/>
                <a:gridCol w="413950"/>
                <a:gridCol w="413950"/>
                <a:gridCol w="413950"/>
              </a:tblGrid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3872" name="Google Shape;3872;p255"/>
          <p:cNvSpPr txBox="1"/>
          <p:nvPr>
            <p:ph idx="1" type="body"/>
          </p:nvPr>
        </p:nvSpPr>
        <p:spPr>
          <a:xfrm>
            <a:off x="311700" y="1225225"/>
            <a:ext cx="8520600" cy="12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begin with the first row node and ask: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Can A reach B?</a:t>
            </a:r>
            <a:endParaRPr/>
          </a:p>
        </p:txBody>
      </p:sp>
      <p:sp>
        <p:nvSpPr>
          <p:cNvPr id="3873" name="Google Shape;3873;p255"/>
          <p:cNvSpPr/>
          <p:nvPr/>
        </p:nvSpPr>
        <p:spPr>
          <a:xfrm>
            <a:off x="4270600" y="3108475"/>
            <a:ext cx="1638600" cy="8313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4" name="Google Shape;3874;p255"/>
          <p:cNvSpPr txBox="1"/>
          <p:nvPr/>
        </p:nvSpPr>
        <p:spPr>
          <a:xfrm>
            <a:off x="6199800" y="2060325"/>
            <a:ext cx="2473500" cy="36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Reachability matrix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875" name="Google Shape;3875;p255"/>
          <p:cNvSpPr/>
          <p:nvPr/>
        </p:nvSpPr>
        <p:spPr>
          <a:xfrm>
            <a:off x="311700" y="3265370"/>
            <a:ext cx="516900" cy="5175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76" name="Google Shape;3876;p255"/>
          <p:cNvSpPr/>
          <p:nvPr/>
        </p:nvSpPr>
        <p:spPr>
          <a:xfrm>
            <a:off x="1464685" y="3265370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877" name="Google Shape;3877;p255"/>
          <p:cNvCxnSpPr>
            <a:stCxn id="3875" idx="5"/>
            <a:endCxn id="3876" idx="3"/>
          </p:cNvCxnSpPr>
          <p:nvPr/>
        </p:nvCxnSpPr>
        <p:spPr>
          <a:xfrm>
            <a:off x="752902" y="3707084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878" name="Google Shape;3878;p255"/>
          <p:cNvSpPr/>
          <p:nvPr/>
        </p:nvSpPr>
        <p:spPr>
          <a:xfrm>
            <a:off x="2458495" y="2306675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79" name="Google Shape;3879;p255"/>
          <p:cNvSpPr/>
          <p:nvPr/>
        </p:nvSpPr>
        <p:spPr>
          <a:xfrm>
            <a:off x="2458495" y="4188372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80" name="Google Shape;3880;p255"/>
          <p:cNvSpPr/>
          <p:nvPr/>
        </p:nvSpPr>
        <p:spPr>
          <a:xfrm>
            <a:off x="3452305" y="3302245"/>
            <a:ext cx="516900" cy="5175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881" name="Google Shape;3881;p255"/>
          <p:cNvCxnSpPr>
            <a:stCxn id="3876" idx="7"/>
            <a:endCxn id="3878" idx="3"/>
          </p:cNvCxnSpPr>
          <p:nvPr/>
        </p:nvCxnSpPr>
        <p:spPr>
          <a:xfrm flipH="1" rot="10800000">
            <a:off x="1905886" y="2748356"/>
            <a:ext cx="628200" cy="592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82" name="Google Shape;3882;p255"/>
          <p:cNvCxnSpPr>
            <a:stCxn id="3880" idx="1"/>
            <a:endCxn id="3878" idx="5"/>
          </p:cNvCxnSpPr>
          <p:nvPr/>
        </p:nvCxnSpPr>
        <p:spPr>
          <a:xfrm rot="10800000">
            <a:off x="2899803" y="2748331"/>
            <a:ext cx="628200" cy="629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83" name="Google Shape;3883;p255"/>
          <p:cNvCxnSpPr>
            <a:stCxn id="3880" idx="3"/>
            <a:endCxn id="3879" idx="7"/>
          </p:cNvCxnSpPr>
          <p:nvPr/>
        </p:nvCxnSpPr>
        <p:spPr>
          <a:xfrm flipH="1">
            <a:off x="2899803" y="3743959"/>
            <a:ext cx="628200" cy="52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84" name="Google Shape;3884;p255"/>
          <p:cNvCxnSpPr>
            <a:stCxn id="3879" idx="1"/>
            <a:endCxn id="3878" idx="3"/>
          </p:cNvCxnSpPr>
          <p:nvPr/>
        </p:nvCxnSpPr>
        <p:spPr>
          <a:xfrm rot="10800000">
            <a:off x="2534193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85" name="Google Shape;3885;p255"/>
          <p:cNvCxnSpPr>
            <a:stCxn id="3879" idx="7"/>
            <a:endCxn id="3878" idx="5"/>
          </p:cNvCxnSpPr>
          <p:nvPr/>
        </p:nvCxnSpPr>
        <p:spPr>
          <a:xfrm rot="10800000">
            <a:off x="2899696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886" name="Google Shape;3886;p255"/>
          <p:cNvCxnSpPr>
            <a:stCxn id="3876" idx="1"/>
            <a:endCxn id="3875" idx="7"/>
          </p:cNvCxnSpPr>
          <p:nvPr/>
        </p:nvCxnSpPr>
        <p:spPr>
          <a:xfrm rot="10800000">
            <a:off x="752883" y="3341156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87" name="Google Shape;3887;p255"/>
          <p:cNvCxnSpPr/>
          <p:nvPr/>
        </p:nvCxnSpPr>
        <p:spPr>
          <a:xfrm rot="10800000">
            <a:off x="1723195" y="3782859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888" name="Google Shape;3888;p255"/>
          <p:cNvCxnSpPr/>
          <p:nvPr/>
        </p:nvCxnSpPr>
        <p:spPr>
          <a:xfrm rot="10800000">
            <a:off x="1981692" y="3524172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92" name="Shape 3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3" name="Google Shape;3893;p25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Reachability Matrix</a:t>
            </a:r>
            <a:endParaRPr/>
          </a:p>
        </p:txBody>
      </p:sp>
      <p:graphicFrame>
        <p:nvGraphicFramePr>
          <p:cNvPr id="3894" name="Google Shape;3894;p256"/>
          <p:cNvGraphicFramePr/>
          <p:nvPr/>
        </p:nvGraphicFramePr>
        <p:xfrm>
          <a:off x="6210600" y="25063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13950"/>
                <a:gridCol w="413950"/>
                <a:gridCol w="413950"/>
                <a:gridCol w="413950"/>
                <a:gridCol w="413950"/>
                <a:gridCol w="413950"/>
              </a:tblGrid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0000"/>
                          </a:solidFill>
                        </a:rPr>
                        <a:t>1</a:t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3895" name="Google Shape;3895;p256"/>
          <p:cNvSpPr txBox="1"/>
          <p:nvPr>
            <p:ph idx="1" type="body"/>
          </p:nvPr>
        </p:nvSpPr>
        <p:spPr>
          <a:xfrm>
            <a:off x="311700" y="1225225"/>
            <a:ext cx="8520600" cy="12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begin with the first row node and ask: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Can A reach B?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Yes! (A</a:t>
            </a:r>
            <a:r>
              <a:rPr baseline="-25000" lang="en"/>
              <a:t>12</a:t>
            </a:r>
            <a:r>
              <a:rPr lang="en"/>
              <a:t> = 1) because path {AC, CE, EB} exists</a:t>
            </a:r>
            <a:endParaRPr/>
          </a:p>
        </p:txBody>
      </p:sp>
      <p:sp>
        <p:nvSpPr>
          <p:cNvPr id="3896" name="Google Shape;3896;p256"/>
          <p:cNvSpPr/>
          <p:nvPr/>
        </p:nvSpPr>
        <p:spPr>
          <a:xfrm>
            <a:off x="4270600" y="3108475"/>
            <a:ext cx="1638600" cy="8313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7" name="Google Shape;3897;p256"/>
          <p:cNvSpPr txBox="1"/>
          <p:nvPr/>
        </p:nvSpPr>
        <p:spPr>
          <a:xfrm>
            <a:off x="6199800" y="2060325"/>
            <a:ext cx="2473500" cy="36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Reachability matrix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898" name="Google Shape;3898;p256"/>
          <p:cNvSpPr/>
          <p:nvPr/>
        </p:nvSpPr>
        <p:spPr>
          <a:xfrm>
            <a:off x="311700" y="3265370"/>
            <a:ext cx="516900" cy="5175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899" name="Google Shape;3899;p256"/>
          <p:cNvSpPr/>
          <p:nvPr/>
        </p:nvSpPr>
        <p:spPr>
          <a:xfrm>
            <a:off x="1464685" y="3265370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900" name="Google Shape;3900;p256"/>
          <p:cNvCxnSpPr>
            <a:stCxn id="3898" idx="5"/>
            <a:endCxn id="3899" idx="3"/>
          </p:cNvCxnSpPr>
          <p:nvPr/>
        </p:nvCxnSpPr>
        <p:spPr>
          <a:xfrm>
            <a:off x="752902" y="3707084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901" name="Google Shape;3901;p256"/>
          <p:cNvSpPr/>
          <p:nvPr/>
        </p:nvSpPr>
        <p:spPr>
          <a:xfrm>
            <a:off x="2458495" y="2306675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902" name="Google Shape;3902;p256"/>
          <p:cNvSpPr/>
          <p:nvPr/>
        </p:nvSpPr>
        <p:spPr>
          <a:xfrm>
            <a:off x="2458495" y="4188372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903" name="Google Shape;3903;p256"/>
          <p:cNvSpPr/>
          <p:nvPr/>
        </p:nvSpPr>
        <p:spPr>
          <a:xfrm>
            <a:off x="3452305" y="3302245"/>
            <a:ext cx="516900" cy="5175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904" name="Google Shape;3904;p256"/>
          <p:cNvCxnSpPr>
            <a:stCxn id="3899" idx="7"/>
            <a:endCxn id="3901" idx="3"/>
          </p:cNvCxnSpPr>
          <p:nvPr/>
        </p:nvCxnSpPr>
        <p:spPr>
          <a:xfrm flipH="1" rot="10800000">
            <a:off x="1905886" y="2748356"/>
            <a:ext cx="628200" cy="5928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05" name="Google Shape;3905;p256"/>
          <p:cNvCxnSpPr>
            <a:stCxn id="3903" idx="1"/>
            <a:endCxn id="3901" idx="5"/>
          </p:cNvCxnSpPr>
          <p:nvPr/>
        </p:nvCxnSpPr>
        <p:spPr>
          <a:xfrm rot="10800000">
            <a:off x="2899803" y="2748331"/>
            <a:ext cx="628200" cy="629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06" name="Google Shape;3906;p256"/>
          <p:cNvCxnSpPr>
            <a:stCxn id="3903" idx="3"/>
            <a:endCxn id="3902" idx="7"/>
          </p:cNvCxnSpPr>
          <p:nvPr/>
        </p:nvCxnSpPr>
        <p:spPr>
          <a:xfrm flipH="1">
            <a:off x="2899803" y="3743959"/>
            <a:ext cx="628200" cy="52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07" name="Google Shape;3907;p256"/>
          <p:cNvCxnSpPr>
            <a:stCxn id="3902" idx="1"/>
            <a:endCxn id="3901" idx="3"/>
          </p:cNvCxnSpPr>
          <p:nvPr/>
        </p:nvCxnSpPr>
        <p:spPr>
          <a:xfrm rot="10800000">
            <a:off x="2534193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08" name="Google Shape;3908;p256"/>
          <p:cNvCxnSpPr>
            <a:stCxn id="3902" idx="7"/>
            <a:endCxn id="3901" idx="5"/>
          </p:cNvCxnSpPr>
          <p:nvPr/>
        </p:nvCxnSpPr>
        <p:spPr>
          <a:xfrm rot="10800000">
            <a:off x="2899696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09" name="Google Shape;3909;p256"/>
          <p:cNvCxnSpPr>
            <a:stCxn id="3899" idx="1"/>
            <a:endCxn id="3898" idx="7"/>
          </p:cNvCxnSpPr>
          <p:nvPr/>
        </p:nvCxnSpPr>
        <p:spPr>
          <a:xfrm rot="10800000">
            <a:off x="752883" y="3341156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10" name="Google Shape;3910;p256"/>
          <p:cNvCxnSpPr/>
          <p:nvPr/>
        </p:nvCxnSpPr>
        <p:spPr>
          <a:xfrm rot="10800000">
            <a:off x="1723195" y="3782859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11" name="Google Shape;3911;p256"/>
          <p:cNvCxnSpPr/>
          <p:nvPr/>
        </p:nvCxnSpPr>
        <p:spPr>
          <a:xfrm rot="10800000">
            <a:off x="1981692" y="3524172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15" name="Shape 3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6" name="Google Shape;3916;p25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Reachability Matrix</a:t>
            </a:r>
            <a:endParaRPr/>
          </a:p>
        </p:txBody>
      </p:sp>
      <p:graphicFrame>
        <p:nvGraphicFramePr>
          <p:cNvPr id="3917" name="Google Shape;3917;p257"/>
          <p:cNvGraphicFramePr/>
          <p:nvPr/>
        </p:nvGraphicFramePr>
        <p:xfrm>
          <a:off x="6210600" y="25063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13950"/>
                <a:gridCol w="413950"/>
                <a:gridCol w="413950"/>
                <a:gridCol w="413950"/>
                <a:gridCol w="413950"/>
                <a:gridCol w="413950"/>
              </a:tblGrid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3918" name="Google Shape;3918;p257"/>
          <p:cNvSpPr txBox="1"/>
          <p:nvPr>
            <p:ph idx="1" type="body"/>
          </p:nvPr>
        </p:nvSpPr>
        <p:spPr>
          <a:xfrm>
            <a:off x="311700" y="1225225"/>
            <a:ext cx="8520600" cy="12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And so on for each of the other nodes that A could potentially reach</a:t>
            </a:r>
            <a:endParaRPr/>
          </a:p>
        </p:txBody>
      </p:sp>
      <p:sp>
        <p:nvSpPr>
          <p:cNvPr id="3919" name="Google Shape;3919;p257"/>
          <p:cNvSpPr/>
          <p:nvPr/>
        </p:nvSpPr>
        <p:spPr>
          <a:xfrm>
            <a:off x="4270600" y="3108475"/>
            <a:ext cx="1638600" cy="8313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0" name="Google Shape;3920;p257"/>
          <p:cNvSpPr txBox="1"/>
          <p:nvPr/>
        </p:nvSpPr>
        <p:spPr>
          <a:xfrm>
            <a:off x="6199800" y="2060325"/>
            <a:ext cx="2473500" cy="36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Reachability matrix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921" name="Google Shape;3921;p257"/>
          <p:cNvSpPr/>
          <p:nvPr/>
        </p:nvSpPr>
        <p:spPr>
          <a:xfrm>
            <a:off x="311700" y="3265370"/>
            <a:ext cx="516900" cy="5175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922" name="Google Shape;3922;p257"/>
          <p:cNvSpPr/>
          <p:nvPr/>
        </p:nvSpPr>
        <p:spPr>
          <a:xfrm>
            <a:off x="1464685" y="3265370"/>
            <a:ext cx="516900" cy="5175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923" name="Google Shape;3923;p257"/>
          <p:cNvCxnSpPr>
            <a:stCxn id="3921" idx="5"/>
            <a:endCxn id="3922" idx="3"/>
          </p:cNvCxnSpPr>
          <p:nvPr/>
        </p:nvCxnSpPr>
        <p:spPr>
          <a:xfrm>
            <a:off x="752902" y="3707084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924" name="Google Shape;3924;p257"/>
          <p:cNvSpPr/>
          <p:nvPr/>
        </p:nvSpPr>
        <p:spPr>
          <a:xfrm>
            <a:off x="2458495" y="2306675"/>
            <a:ext cx="516900" cy="5175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925" name="Google Shape;3925;p257"/>
          <p:cNvSpPr/>
          <p:nvPr/>
        </p:nvSpPr>
        <p:spPr>
          <a:xfrm>
            <a:off x="2458495" y="4188372"/>
            <a:ext cx="516900" cy="5175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926" name="Google Shape;3926;p257"/>
          <p:cNvSpPr/>
          <p:nvPr/>
        </p:nvSpPr>
        <p:spPr>
          <a:xfrm>
            <a:off x="3452305" y="3302245"/>
            <a:ext cx="516900" cy="5175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927" name="Google Shape;3927;p257"/>
          <p:cNvCxnSpPr>
            <a:stCxn id="3922" idx="7"/>
            <a:endCxn id="3924" idx="3"/>
          </p:cNvCxnSpPr>
          <p:nvPr/>
        </p:nvCxnSpPr>
        <p:spPr>
          <a:xfrm flipH="1" rot="10800000">
            <a:off x="1905886" y="2748356"/>
            <a:ext cx="628200" cy="592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28" name="Google Shape;3928;p257"/>
          <p:cNvCxnSpPr>
            <a:stCxn id="3926" idx="1"/>
            <a:endCxn id="3924" idx="5"/>
          </p:cNvCxnSpPr>
          <p:nvPr/>
        </p:nvCxnSpPr>
        <p:spPr>
          <a:xfrm rot="10800000">
            <a:off x="2899803" y="2748331"/>
            <a:ext cx="628200" cy="629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29" name="Google Shape;3929;p257"/>
          <p:cNvCxnSpPr>
            <a:stCxn id="3926" idx="3"/>
            <a:endCxn id="3925" idx="7"/>
          </p:cNvCxnSpPr>
          <p:nvPr/>
        </p:nvCxnSpPr>
        <p:spPr>
          <a:xfrm flipH="1">
            <a:off x="2899803" y="3743959"/>
            <a:ext cx="628200" cy="520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30" name="Google Shape;3930;p257"/>
          <p:cNvCxnSpPr>
            <a:stCxn id="3925" idx="1"/>
            <a:endCxn id="3924" idx="3"/>
          </p:cNvCxnSpPr>
          <p:nvPr/>
        </p:nvCxnSpPr>
        <p:spPr>
          <a:xfrm rot="10800000">
            <a:off x="2534193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31" name="Google Shape;3931;p257"/>
          <p:cNvCxnSpPr>
            <a:stCxn id="3925" idx="7"/>
            <a:endCxn id="3924" idx="5"/>
          </p:cNvCxnSpPr>
          <p:nvPr/>
        </p:nvCxnSpPr>
        <p:spPr>
          <a:xfrm rot="10800000">
            <a:off x="2899696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32" name="Google Shape;3932;p257"/>
          <p:cNvCxnSpPr>
            <a:stCxn id="3922" idx="1"/>
            <a:endCxn id="3921" idx="7"/>
          </p:cNvCxnSpPr>
          <p:nvPr/>
        </p:nvCxnSpPr>
        <p:spPr>
          <a:xfrm rot="10800000">
            <a:off x="752883" y="3341156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33" name="Google Shape;3933;p257"/>
          <p:cNvCxnSpPr/>
          <p:nvPr/>
        </p:nvCxnSpPr>
        <p:spPr>
          <a:xfrm rot="10800000">
            <a:off x="1723195" y="3782859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34" name="Google Shape;3934;p257"/>
          <p:cNvCxnSpPr/>
          <p:nvPr/>
        </p:nvCxnSpPr>
        <p:spPr>
          <a:xfrm rot="10800000">
            <a:off x="1981692" y="3524172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38" name="Shape 3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9" name="Google Shape;3939;p25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Reachability Matrix</a:t>
            </a:r>
            <a:endParaRPr/>
          </a:p>
        </p:txBody>
      </p:sp>
      <p:graphicFrame>
        <p:nvGraphicFramePr>
          <p:cNvPr id="3940" name="Google Shape;3940;p258"/>
          <p:cNvGraphicFramePr/>
          <p:nvPr/>
        </p:nvGraphicFramePr>
        <p:xfrm>
          <a:off x="6210600" y="25063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13950"/>
                <a:gridCol w="413950"/>
                <a:gridCol w="413950"/>
                <a:gridCol w="413950"/>
                <a:gridCol w="413950"/>
                <a:gridCol w="413950"/>
              </a:tblGrid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</a:tr>
              <a:tr h="347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3941" name="Google Shape;3941;p258"/>
          <p:cNvSpPr txBox="1"/>
          <p:nvPr>
            <p:ph idx="1" type="body"/>
          </p:nvPr>
        </p:nvSpPr>
        <p:spPr>
          <a:xfrm>
            <a:off x="311700" y="1225225"/>
            <a:ext cx="8520600" cy="12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And so on for each of the other nodes that A could potentially reach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And so for each row object</a:t>
            </a:r>
            <a:endParaRPr/>
          </a:p>
        </p:txBody>
      </p:sp>
      <p:sp>
        <p:nvSpPr>
          <p:cNvPr id="3942" name="Google Shape;3942;p258"/>
          <p:cNvSpPr/>
          <p:nvPr/>
        </p:nvSpPr>
        <p:spPr>
          <a:xfrm>
            <a:off x="4270600" y="3108475"/>
            <a:ext cx="1638600" cy="8313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3" name="Google Shape;3943;p258"/>
          <p:cNvSpPr txBox="1"/>
          <p:nvPr/>
        </p:nvSpPr>
        <p:spPr>
          <a:xfrm>
            <a:off x="6199800" y="2060325"/>
            <a:ext cx="2473500" cy="36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Reachability matrix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3944" name="Google Shape;3944;p258"/>
          <p:cNvSpPr/>
          <p:nvPr/>
        </p:nvSpPr>
        <p:spPr>
          <a:xfrm>
            <a:off x="311700" y="3265370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945" name="Google Shape;3945;p258"/>
          <p:cNvSpPr/>
          <p:nvPr/>
        </p:nvSpPr>
        <p:spPr>
          <a:xfrm>
            <a:off x="1464685" y="3265370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946" name="Google Shape;3946;p258"/>
          <p:cNvCxnSpPr>
            <a:stCxn id="3944" idx="5"/>
            <a:endCxn id="3945" idx="3"/>
          </p:cNvCxnSpPr>
          <p:nvPr/>
        </p:nvCxnSpPr>
        <p:spPr>
          <a:xfrm>
            <a:off x="752902" y="3707084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3947" name="Google Shape;3947;p258"/>
          <p:cNvSpPr/>
          <p:nvPr/>
        </p:nvSpPr>
        <p:spPr>
          <a:xfrm>
            <a:off x="2458495" y="2306675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948" name="Google Shape;3948;p258"/>
          <p:cNvSpPr/>
          <p:nvPr/>
        </p:nvSpPr>
        <p:spPr>
          <a:xfrm>
            <a:off x="2458495" y="4188372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3949" name="Google Shape;3949;p258"/>
          <p:cNvSpPr/>
          <p:nvPr/>
        </p:nvSpPr>
        <p:spPr>
          <a:xfrm>
            <a:off x="3452305" y="3302245"/>
            <a:ext cx="516900" cy="5175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3950" name="Google Shape;3950;p258"/>
          <p:cNvCxnSpPr>
            <a:stCxn id="3945" idx="7"/>
            <a:endCxn id="3947" idx="3"/>
          </p:cNvCxnSpPr>
          <p:nvPr/>
        </p:nvCxnSpPr>
        <p:spPr>
          <a:xfrm flipH="1" rot="10800000">
            <a:off x="1905886" y="2748356"/>
            <a:ext cx="628200" cy="592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51" name="Google Shape;3951;p258"/>
          <p:cNvCxnSpPr>
            <a:stCxn id="3949" idx="1"/>
            <a:endCxn id="3947" idx="5"/>
          </p:cNvCxnSpPr>
          <p:nvPr/>
        </p:nvCxnSpPr>
        <p:spPr>
          <a:xfrm rot="10800000">
            <a:off x="2899803" y="2748331"/>
            <a:ext cx="628200" cy="629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52" name="Google Shape;3952;p258"/>
          <p:cNvCxnSpPr>
            <a:stCxn id="3949" idx="3"/>
            <a:endCxn id="3948" idx="7"/>
          </p:cNvCxnSpPr>
          <p:nvPr/>
        </p:nvCxnSpPr>
        <p:spPr>
          <a:xfrm flipH="1">
            <a:off x="2899803" y="3743959"/>
            <a:ext cx="628200" cy="520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53" name="Google Shape;3953;p258"/>
          <p:cNvCxnSpPr>
            <a:stCxn id="3948" idx="1"/>
            <a:endCxn id="3947" idx="3"/>
          </p:cNvCxnSpPr>
          <p:nvPr/>
        </p:nvCxnSpPr>
        <p:spPr>
          <a:xfrm rot="10800000">
            <a:off x="2534193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54" name="Google Shape;3954;p258"/>
          <p:cNvCxnSpPr>
            <a:stCxn id="3948" idx="7"/>
            <a:endCxn id="3947" idx="5"/>
          </p:cNvCxnSpPr>
          <p:nvPr/>
        </p:nvCxnSpPr>
        <p:spPr>
          <a:xfrm rot="10800000">
            <a:off x="2899696" y="2748258"/>
            <a:ext cx="0" cy="1515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3955" name="Google Shape;3955;p258"/>
          <p:cNvCxnSpPr>
            <a:stCxn id="3945" idx="1"/>
            <a:endCxn id="3944" idx="7"/>
          </p:cNvCxnSpPr>
          <p:nvPr/>
        </p:nvCxnSpPr>
        <p:spPr>
          <a:xfrm rot="10800000">
            <a:off x="752883" y="3341156"/>
            <a:ext cx="787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56" name="Google Shape;3956;p258"/>
          <p:cNvCxnSpPr/>
          <p:nvPr/>
        </p:nvCxnSpPr>
        <p:spPr>
          <a:xfrm rot="10800000">
            <a:off x="1723195" y="3782859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3957" name="Google Shape;3957;p258"/>
          <p:cNvCxnSpPr/>
          <p:nvPr/>
        </p:nvCxnSpPr>
        <p:spPr>
          <a:xfrm rot="10800000">
            <a:off x="1981692" y="3524172"/>
            <a:ext cx="735300" cy="664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3961" name="Shape 3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2" name="Google Shape;3962;p259"/>
          <p:cNvSpPr txBox="1"/>
          <p:nvPr>
            <p:ph idx="4294967295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3963" name="Google Shape;3963;p259"/>
          <p:cNvSpPr txBox="1"/>
          <p:nvPr/>
        </p:nvSpPr>
        <p:spPr>
          <a:xfrm>
            <a:off x="3044700" y="1444255"/>
            <a:ext cx="3054600" cy="1537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4" name="Google Shape;3964;p259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Theory</a:t>
            </a:r>
            <a:endParaRPr/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68" name="Shape 3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69" name="Google Shape;3969;p260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3970" name="Google Shape;3970;p260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3971" name="Google Shape;3971;p260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260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73" name="Google Shape;3973;p260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3974" name="Google Shape;3974;p260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3975" name="Google Shape;3975;p260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3976" name="Google Shape;3976;p260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260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78" name="Google Shape;3978;p260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3979" name="Google Shape;3979;p260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3980" name="Google Shape;3980;p260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3981" name="Google Shape;3981;p260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260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83" name="Google Shape;3983;p260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3984" name="Google Shape;3984;p260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3985" name="Google Shape;3985;p260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3986" name="Google Shape;3986;p260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260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88" name="Google Shape;3988;p260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3989" name="Google Shape;3989;p260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3990" name="Google Shape;3990;p260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3991" name="Google Shape;3991;p260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260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93" name="Google Shape;3993;p260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3994" name="Google Shape;3994;p260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3995" name="Google Shape;3995;p260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3996" name="Google Shape;3996;p260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3997" name="Google Shape;3997;p260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3998" name="Google Shape;3998;p260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3999" name="Google Shape;3999;p260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0" name="Google Shape;4000;p260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1" name="Google Shape;4001;p260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2" name="Google Shape;4002;p260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3" name="Google Shape;4003;p260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4" name="Google Shape;4004;p260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5" name="Google Shape;4005;p260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6" name="Google Shape;4006;p260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7" name="Google Shape;4007;p260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8" name="Google Shape;4008;p260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09" name="Google Shape;4009;p260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10" name="Google Shape;4010;p260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11" name="Google Shape;4011;p260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sp>
        <p:nvSpPr>
          <p:cNvPr id="4012" name="Google Shape;4012;p260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013" name="Google Shape;4013;p26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17" name="Shape 4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8" name="Google Shape;4018;p261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4019" name="Google Shape;4019;p261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020" name="Google Shape;4020;p261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261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22" name="Google Shape;4022;p261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4023" name="Google Shape;4023;p261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4024" name="Google Shape;4024;p261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025" name="Google Shape;4025;p261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261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27" name="Google Shape;4027;p261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4028" name="Google Shape;4028;p261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4029" name="Google Shape;4029;p261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030" name="Google Shape;4030;p261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261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32" name="Google Shape;4032;p261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4033" name="Google Shape;4033;p261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4034" name="Google Shape;4034;p261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035" name="Google Shape;4035;p261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261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37" name="Google Shape;4037;p261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4038" name="Google Shape;4038;p261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4039" name="Google Shape;4039;p261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0" name="Google Shape;4040;p261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1" name="Google Shape;4041;p261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2" name="Google Shape;4042;p261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3" name="Google Shape;4043;p261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4" name="Google Shape;4044;p261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5" name="Google Shape;4045;p261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6" name="Google Shape;4046;p261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7" name="Google Shape;4047;p261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8" name="Google Shape;4048;p261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49" name="Google Shape;4049;p261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50" name="Google Shape;4050;p261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51" name="Google Shape;4051;p261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52" name="Google Shape;4052;p261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53" name="Google Shape;4053;p261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54" name="Google Shape;4054;p261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4055" name="Google Shape;4055;p261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grpSp>
        <p:nvGrpSpPr>
          <p:cNvPr id="4056" name="Google Shape;4056;p261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4057" name="Google Shape;4057;p261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058" name="Google Shape;4058;p261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261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60" name="Google Shape;4060;p261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4061" name="Google Shape;4061;p261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062" name="Google Shape;4062;p26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  <p:sp>
        <p:nvSpPr>
          <p:cNvPr id="4063" name="Google Shape;4063;p261"/>
          <p:cNvSpPr/>
          <p:nvPr/>
        </p:nvSpPr>
        <p:spPr>
          <a:xfrm>
            <a:off x="3707750" y="1206325"/>
            <a:ext cx="4485000" cy="10140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Ego Networks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67" name="Shape 4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8" name="Google Shape;4068;p26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</a:t>
            </a:r>
            <a:endParaRPr/>
          </a:p>
        </p:txBody>
      </p:sp>
      <p:sp>
        <p:nvSpPr>
          <p:cNvPr id="4069" name="Google Shape;4069;p262"/>
          <p:cNvSpPr txBox="1"/>
          <p:nvPr>
            <p:ph idx="1" type="body"/>
          </p:nvPr>
        </p:nvSpPr>
        <p:spPr>
          <a:xfrm>
            <a:off x="311700" y="1225225"/>
            <a:ext cx="4687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>
                <a:solidFill>
                  <a:schemeClr val="accent5"/>
                </a:solidFill>
              </a:rPr>
              <a:t>Ego</a:t>
            </a:r>
            <a:r>
              <a:rPr lang="en"/>
              <a:t>: Central node</a:t>
            </a:r>
            <a:endParaRPr/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>
                <a:solidFill>
                  <a:schemeClr val="lt2"/>
                </a:solidFill>
              </a:rPr>
              <a:t>Alters</a:t>
            </a:r>
            <a:r>
              <a:rPr lang="en"/>
              <a:t>: Nodes around ego</a:t>
            </a:r>
            <a:endParaRPr/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>
                <a:solidFill>
                  <a:srgbClr val="0000FF"/>
                </a:solidFill>
              </a:rPr>
              <a:t>Obligatory links </a:t>
            </a:r>
            <a:r>
              <a:rPr lang="en"/>
              <a:t>from ego to </a:t>
            </a:r>
            <a:r>
              <a:rPr b="1" lang="en"/>
              <a:t>every</a:t>
            </a:r>
            <a:r>
              <a:rPr lang="en"/>
              <a:t> alter</a:t>
            </a:r>
            <a:endParaRPr/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>
                <a:solidFill>
                  <a:srgbClr val="FF00FF"/>
                </a:solidFill>
              </a:rPr>
              <a:t>Optional links</a:t>
            </a:r>
            <a:r>
              <a:rPr lang="en"/>
              <a:t> from alter to alter</a:t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4070" name="Google Shape;4070;p262"/>
          <p:cNvSpPr/>
          <p:nvPr/>
        </p:nvSpPr>
        <p:spPr>
          <a:xfrm>
            <a:off x="6428125" y="2334450"/>
            <a:ext cx="834900" cy="8313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071" name="Google Shape;4071;p262"/>
          <p:cNvSpPr/>
          <p:nvPr/>
        </p:nvSpPr>
        <p:spPr>
          <a:xfrm>
            <a:off x="5401988" y="1373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072" name="Google Shape;4072;p262"/>
          <p:cNvSpPr/>
          <p:nvPr/>
        </p:nvSpPr>
        <p:spPr>
          <a:xfrm>
            <a:off x="6648098" y="11472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073" name="Google Shape;4073;p262"/>
          <p:cNvSpPr/>
          <p:nvPr/>
        </p:nvSpPr>
        <p:spPr>
          <a:xfrm>
            <a:off x="7576809" y="16524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074" name="Google Shape;4074;p262"/>
          <p:cNvSpPr/>
          <p:nvPr/>
        </p:nvSpPr>
        <p:spPr>
          <a:xfrm>
            <a:off x="5401988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075" name="Google Shape;4075;p262"/>
          <p:cNvSpPr/>
          <p:nvPr/>
        </p:nvSpPr>
        <p:spPr>
          <a:xfrm>
            <a:off x="6489398" y="38477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076" name="Google Shape;4076;p262"/>
          <p:cNvSpPr/>
          <p:nvPr/>
        </p:nvSpPr>
        <p:spPr>
          <a:xfrm>
            <a:off x="7576809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077" name="Google Shape;4077;p262"/>
          <p:cNvSpPr/>
          <p:nvPr/>
        </p:nvSpPr>
        <p:spPr>
          <a:xfrm>
            <a:off x="4918063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078" name="Google Shape;4078;p262"/>
          <p:cNvSpPr/>
          <p:nvPr/>
        </p:nvSpPr>
        <p:spPr>
          <a:xfrm>
            <a:off x="7836313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079" name="Google Shape;4079;p262"/>
          <p:cNvCxnSpPr>
            <a:stCxn id="4071" idx="3"/>
            <a:endCxn id="4077" idx="0"/>
          </p:cNvCxnSpPr>
          <p:nvPr/>
        </p:nvCxnSpPr>
        <p:spPr>
          <a:xfrm flipH="1">
            <a:off x="5196385" y="1804683"/>
            <a:ext cx="287100" cy="698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0" name="Google Shape;4080;p262"/>
          <p:cNvCxnSpPr>
            <a:stCxn id="4072" idx="3"/>
            <a:endCxn id="4071" idx="6"/>
          </p:cNvCxnSpPr>
          <p:nvPr/>
        </p:nvCxnSpPr>
        <p:spPr>
          <a:xfrm flipH="1">
            <a:off x="5958596" y="15784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1" name="Google Shape;4081;p262"/>
          <p:cNvCxnSpPr>
            <a:stCxn id="4072" idx="3"/>
            <a:endCxn id="4077" idx="0"/>
          </p:cNvCxnSpPr>
          <p:nvPr/>
        </p:nvCxnSpPr>
        <p:spPr>
          <a:xfrm flipH="1">
            <a:off x="5196296" y="1578441"/>
            <a:ext cx="1533300" cy="9243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2" name="Google Shape;4082;p262"/>
          <p:cNvCxnSpPr>
            <a:stCxn id="4072" idx="3"/>
            <a:endCxn id="4074" idx="0"/>
          </p:cNvCxnSpPr>
          <p:nvPr/>
        </p:nvCxnSpPr>
        <p:spPr>
          <a:xfrm flipH="1">
            <a:off x="5680196" y="15784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3" name="Google Shape;4083;p262"/>
          <p:cNvCxnSpPr>
            <a:stCxn id="4077" idx="4"/>
            <a:endCxn id="4074" idx="0"/>
          </p:cNvCxnSpPr>
          <p:nvPr/>
        </p:nvCxnSpPr>
        <p:spPr>
          <a:xfrm>
            <a:off x="5196313" y="3007993"/>
            <a:ext cx="4839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4" name="Google Shape;4084;p262"/>
          <p:cNvCxnSpPr>
            <a:stCxn id="4076" idx="2"/>
            <a:endCxn id="4075" idx="6"/>
          </p:cNvCxnSpPr>
          <p:nvPr/>
        </p:nvCxnSpPr>
        <p:spPr>
          <a:xfrm flipH="1">
            <a:off x="7045809" y="3884718"/>
            <a:ext cx="531000" cy="215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5" name="Google Shape;4085;p262"/>
          <p:cNvCxnSpPr>
            <a:stCxn id="4071" idx="4"/>
            <a:endCxn id="4074" idx="0"/>
          </p:cNvCxnSpPr>
          <p:nvPr/>
        </p:nvCxnSpPr>
        <p:spPr>
          <a:xfrm>
            <a:off x="5680238" y="18786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6" name="Google Shape;4086;p262"/>
          <p:cNvCxnSpPr>
            <a:stCxn id="4075" idx="2"/>
            <a:endCxn id="4074" idx="6"/>
          </p:cNvCxnSpPr>
          <p:nvPr/>
        </p:nvCxnSpPr>
        <p:spPr>
          <a:xfrm rot="10800000">
            <a:off x="5958398" y="3884676"/>
            <a:ext cx="531000" cy="215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7" name="Google Shape;4087;p262"/>
          <p:cNvCxnSpPr>
            <a:stCxn id="4078" idx="4"/>
            <a:endCxn id="4076" idx="0"/>
          </p:cNvCxnSpPr>
          <p:nvPr/>
        </p:nvCxnSpPr>
        <p:spPr>
          <a:xfrm flipH="1">
            <a:off x="7855063" y="30079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8" name="Google Shape;4088;p262"/>
          <p:cNvCxnSpPr>
            <a:stCxn id="4071" idx="5"/>
            <a:endCxn id="4070" idx="1"/>
          </p:cNvCxnSpPr>
          <p:nvPr/>
        </p:nvCxnSpPr>
        <p:spPr>
          <a:xfrm>
            <a:off x="5876990" y="1804683"/>
            <a:ext cx="673500" cy="651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9" name="Google Shape;4089;p262"/>
          <p:cNvCxnSpPr>
            <a:stCxn id="4077" idx="6"/>
            <a:endCxn id="4070" idx="2"/>
          </p:cNvCxnSpPr>
          <p:nvPr/>
        </p:nvCxnSpPr>
        <p:spPr>
          <a:xfrm flipH="1" rot="10800000">
            <a:off x="5474563" y="2749993"/>
            <a:ext cx="953700" cy="5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90" name="Google Shape;4090;p262"/>
          <p:cNvCxnSpPr>
            <a:stCxn id="4070" idx="3"/>
            <a:endCxn id="4074" idx="7"/>
          </p:cNvCxnSpPr>
          <p:nvPr/>
        </p:nvCxnSpPr>
        <p:spPr>
          <a:xfrm flipH="1">
            <a:off x="5876893" y="3044009"/>
            <a:ext cx="673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91" name="Google Shape;4091;p262"/>
          <p:cNvCxnSpPr>
            <a:stCxn id="4070" idx="4"/>
            <a:endCxn id="4075" idx="0"/>
          </p:cNvCxnSpPr>
          <p:nvPr/>
        </p:nvCxnSpPr>
        <p:spPr>
          <a:xfrm flipH="1">
            <a:off x="6767575" y="3165750"/>
            <a:ext cx="780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92" name="Google Shape;4092;p262"/>
          <p:cNvCxnSpPr>
            <a:stCxn id="4070" idx="5"/>
            <a:endCxn id="4076" idx="1"/>
          </p:cNvCxnSpPr>
          <p:nvPr/>
        </p:nvCxnSpPr>
        <p:spPr>
          <a:xfrm>
            <a:off x="7140757" y="3044009"/>
            <a:ext cx="517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93" name="Google Shape;4093;p262"/>
          <p:cNvCxnSpPr>
            <a:stCxn id="4070" idx="6"/>
            <a:endCxn id="4078" idx="2"/>
          </p:cNvCxnSpPr>
          <p:nvPr/>
        </p:nvCxnSpPr>
        <p:spPr>
          <a:xfrm>
            <a:off x="7263025" y="2750100"/>
            <a:ext cx="573300" cy="5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94" name="Google Shape;4094;p262"/>
          <p:cNvCxnSpPr>
            <a:stCxn id="4070" idx="7"/>
            <a:endCxn id="4073" idx="3"/>
          </p:cNvCxnSpPr>
          <p:nvPr/>
        </p:nvCxnSpPr>
        <p:spPr>
          <a:xfrm flipH="1" rot="10800000">
            <a:off x="7140757" y="2083591"/>
            <a:ext cx="517500" cy="372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95" name="Google Shape;4095;p262"/>
          <p:cNvCxnSpPr>
            <a:stCxn id="4072" idx="4"/>
            <a:endCxn id="4070" idx="0"/>
          </p:cNvCxnSpPr>
          <p:nvPr/>
        </p:nvCxnSpPr>
        <p:spPr>
          <a:xfrm flipH="1">
            <a:off x="6845648" y="1652426"/>
            <a:ext cx="807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96" name="Google Shape;4096;p262"/>
          <p:cNvCxnSpPr>
            <a:stCxn id="4078" idx="4"/>
            <a:endCxn id="4074" idx="6"/>
          </p:cNvCxnSpPr>
          <p:nvPr/>
        </p:nvCxnSpPr>
        <p:spPr>
          <a:xfrm flipH="1">
            <a:off x="5958463" y="30079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00" name="Shape 4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1" name="Google Shape;4101;p26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Dunbar Circles</a:t>
            </a:r>
            <a:endParaRPr/>
          </a:p>
        </p:txBody>
      </p:sp>
      <p:sp>
        <p:nvSpPr>
          <p:cNvPr id="4102" name="Google Shape;4102;p263"/>
          <p:cNvSpPr txBox="1"/>
          <p:nvPr>
            <p:ph idx="1" type="body"/>
          </p:nvPr>
        </p:nvSpPr>
        <p:spPr>
          <a:xfrm>
            <a:off x="311700" y="1225225"/>
            <a:ext cx="4695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Ego-networks are organized by “layers”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“Closer” more intimate layers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“Farther” less intimate ones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Closer layers are smaller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Farther layers are larger 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3" name="Google Shape;4103;p263"/>
          <p:cNvSpPr/>
          <p:nvPr/>
        </p:nvSpPr>
        <p:spPr>
          <a:xfrm>
            <a:off x="5006625" y="976225"/>
            <a:ext cx="3972900" cy="38520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4" name="Google Shape;4104;p263"/>
          <p:cNvSpPr/>
          <p:nvPr/>
        </p:nvSpPr>
        <p:spPr>
          <a:xfrm>
            <a:off x="6585534" y="2586779"/>
            <a:ext cx="815100" cy="4749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105" name="Google Shape;4105;p263"/>
          <p:cNvSpPr/>
          <p:nvPr/>
        </p:nvSpPr>
        <p:spPr>
          <a:xfrm>
            <a:off x="5561025" y="2081125"/>
            <a:ext cx="2864100" cy="2747100"/>
          </a:xfrm>
          <a:prstGeom prst="ellipse">
            <a:avLst/>
          </a:prstGeom>
          <a:solidFill>
            <a:srgbClr val="DD7E6B"/>
          </a:solidFill>
          <a:ln cap="flat" cmpd="sng" w="19050">
            <a:solidFill>
              <a:srgbClr val="DD7E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6" name="Google Shape;4106;p263"/>
          <p:cNvSpPr/>
          <p:nvPr/>
        </p:nvSpPr>
        <p:spPr>
          <a:xfrm>
            <a:off x="6059775" y="3111625"/>
            <a:ext cx="1866600" cy="1716600"/>
          </a:xfrm>
          <a:prstGeom prst="ellipse">
            <a:avLst/>
          </a:prstGeom>
          <a:solidFill>
            <a:srgbClr val="CC4125"/>
          </a:solidFill>
          <a:ln cap="flat" cmpd="sng" w="19050">
            <a:solidFill>
              <a:srgbClr val="CC412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7" name="Google Shape;4107;p263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4108" name="Google Shape;4108;p263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09" name="Google Shape;4109;p263"/>
          <p:cNvSpPr txBox="1"/>
          <p:nvPr/>
        </p:nvSpPr>
        <p:spPr>
          <a:xfrm>
            <a:off x="6230475" y="3395639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Sympathy Group (12-15)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10" name="Google Shape;4110;p263"/>
          <p:cNvSpPr txBox="1"/>
          <p:nvPr/>
        </p:nvSpPr>
        <p:spPr>
          <a:xfrm>
            <a:off x="6159375" y="2438425"/>
            <a:ext cx="16674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Affinity Group (45-50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11" name="Google Shape;4111;p263"/>
          <p:cNvSpPr txBox="1"/>
          <p:nvPr/>
        </p:nvSpPr>
        <p:spPr>
          <a:xfrm>
            <a:off x="6088125" y="1480521"/>
            <a:ext cx="18099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00"/>
                </a:solidFill>
                <a:latin typeface="Economica"/>
                <a:ea typeface="Economica"/>
                <a:cs typeface="Economica"/>
                <a:sym typeface="Economica"/>
              </a:rPr>
              <a:t>Active Network(120-150)</a:t>
            </a:r>
            <a:endParaRPr b="1">
              <a:solidFill>
                <a:srgbClr val="FFFF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4112" name="Google Shape;4112;p263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4113" name="Google Shape;4113;p263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4114" name="Google Shape;4114;p263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4115" name="Google Shape;4115;p263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Closeness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19" name="Shape 4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0" name="Google Shape;4120;p26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Dunbar Circles</a:t>
            </a:r>
            <a:endParaRPr/>
          </a:p>
        </p:txBody>
      </p:sp>
      <p:sp>
        <p:nvSpPr>
          <p:cNvPr id="4121" name="Google Shape;4121;p264"/>
          <p:cNvSpPr txBox="1"/>
          <p:nvPr>
            <p:ph idx="1" type="body"/>
          </p:nvPr>
        </p:nvSpPr>
        <p:spPr>
          <a:xfrm>
            <a:off x="311700" y="1225225"/>
            <a:ext cx="4695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Ego-networks are organized by “layers”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“Closer” more intimate layers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“Farther” less intimate ones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Closer layers are smaller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Farther layers are larger 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Different relationships entails different “maintenance costs”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Cognitive/Emotional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Time/Energy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Costs determine the number of persons in each layer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2" name="Google Shape;4122;p264"/>
          <p:cNvSpPr/>
          <p:nvPr/>
        </p:nvSpPr>
        <p:spPr>
          <a:xfrm>
            <a:off x="5006625" y="976225"/>
            <a:ext cx="3972900" cy="38520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3" name="Google Shape;4123;p264"/>
          <p:cNvSpPr/>
          <p:nvPr/>
        </p:nvSpPr>
        <p:spPr>
          <a:xfrm>
            <a:off x="6585534" y="2586779"/>
            <a:ext cx="815100" cy="4749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124" name="Google Shape;4124;p264"/>
          <p:cNvSpPr/>
          <p:nvPr/>
        </p:nvSpPr>
        <p:spPr>
          <a:xfrm>
            <a:off x="5561025" y="2081125"/>
            <a:ext cx="2864100" cy="2747100"/>
          </a:xfrm>
          <a:prstGeom prst="ellipse">
            <a:avLst/>
          </a:prstGeom>
          <a:solidFill>
            <a:srgbClr val="DD7E6B"/>
          </a:solidFill>
          <a:ln cap="flat" cmpd="sng" w="19050">
            <a:solidFill>
              <a:srgbClr val="DD7E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5" name="Google Shape;4125;p264"/>
          <p:cNvSpPr/>
          <p:nvPr/>
        </p:nvSpPr>
        <p:spPr>
          <a:xfrm>
            <a:off x="6059775" y="3111625"/>
            <a:ext cx="1866600" cy="1716600"/>
          </a:xfrm>
          <a:prstGeom prst="ellipse">
            <a:avLst/>
          </a:prstGeom>
          <a:solidFill>
            <a:srgbClr val="CC4125"/>
          </a:solidFill>
          <a:ln cap="flat" cmpd="sng" w="19050">
            <a:solidFill>
              <a:srgbClr val="CC412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6" name="Google Shape;4126;p264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4127" name="Google Shape;4127;p264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28" name="Google Shape;4128;p264"/>
          <p:cNvSpPr txBox="1"/>
          <p:nvPr/>
        </p:nvSpPr>
        <p:spPr>
          <a:xfrm>
            <a:off x="6230475" y="3395639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Sympathy Group (12-15)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29" name="Google Shape;4129;p264"/>
          <p:cNvSpPr txBox="1"/>
          <p:nvPr/>
        </p:nvSpPr>
        <p:spPr>
          <a:xfrm>
            <a:off x="6159375" y="2438425"/>
            <a:ext cx="16674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Affinity Group (45-50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30" name="Google Shape;4130;p264"/>
          <p:cNvSpPr txBox="1"/>
          <p:nvPr/>
        </p:nvSpPr>
        <p:spPr>
          <a:xfrm>
            <a:off x="6088125" y="1480521"/>
            <a:ext cx="18099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00"/>
                </a:solidFill>
                <a:latin typeface="Economica"/>
                <a:ea typeface="Economica"/>
                <a:cs typeface="Economica"/>
                <a:sym typeface="Economica"/>
              </a:rPr>
              <a:t>Active Network(120-150)</a:t>
            </a:r>
            <a:endParaRPr b="1">
              <a:solidFill>
                <a:srgbClr val="FFFF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4131" name="Google Shape;4131;p264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4132" name="Google Shape;4132;p264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4133" name="Google Shape;4133;p264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4134" name="Google Shape;4134;p264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Closeness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38" name="Shape 4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9" name="Google Shape;4139;p26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Dunbar Circles</a:t>
            </a:r>
            <a:endParaRPr/>
          </a:p>
        </p:txBody>
      </p:sp>
      <p:graphicFrame>
        <p:nvGraphicFramePr>
          <p:cNvPr id="4140" name="Google Shape;4140;p265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4141" name="Google Shape;4141;p265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4142" name="Google Shape;4142;p265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4143" name="Google Shape;4143;p265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b="1" lang="en">
                  <a:solidFill>
                    <a:schemeClr val="dk1"/>
                  </a:solidFill>
                  <a:latin typeface="Economica"/>
                  <a:ea typeface="Economica"/>
                  <a:cs typeface="Economica"/>
                  <a:sym typeface="Economica"/>
                </a:rPr>
                <a:t>Closeness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4144" name="Google Shape;4144;p265"/>
          <p:cNvSpPr txBox="1"/>
          <p:nvPr>
            <p:ph idx="1" type="body"/>
          </p:nvPr>
        </p:nvSpPr>
        <p:spPr>
          <a:xfrm>
            <a:off x="311700" y="1225225"/>
            <a:ext cx="4958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Support clique (~ 4 - 5)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Your most intimate kin and best friends you can rely on them for crises and emergencies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5" name="Google Shape;4145;p265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4146" name="Google Shape;4146;p265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50" name="Shape 4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1" name="Google Shape;4151;p26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Dunbar Circles</a:t>
            </a:r>
            <a:endParaRPr/>
          </a:p>
        </p:txBody>
      </p:sp>
      <p:graphicFrame>
        <p:nvGraphicFramePr>
          <p:cNvPr id="4152" name="Google Shape;4152;p266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4153" name="Google Shape;4153;p266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4154" name="Google Shape;4154;p266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4155" name="Google Shape;4155;p266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b="1" lang="en">
                  <a:solidFill>
                    <a:schemeClr val="dk1"/>
                  </a:solidFill>
                  <a:latin typeface="Economica"/>
                  <a:ea typeface="Economica"/>
                  <a:cs typeface="Economica"/>
                  <a:sym typeface="Economica"/>
                </a:rPr>
                <a:t>Closeness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4156" name="Google Shape;4156;p266"/>
          <p:cNvSpPr txBox="1"/>
          <p:nvPr>
            <p:ph idx="1" type="body"/>
          </p:nvPr>
        </p:nvSpPr>
        <p:spPr>
          <a:xfrm>
            <a:off x="311700" y="1225225"/>
            <a:ext cx="4958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Support clique (~ 4 - 5)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Your most intimate kin and best friends you can rely on them for crises and emergencies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Sympathy group (~12 - 15)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Kin and good friends that can provide some services and that you interact with often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7" name="Google Shape;4157;p266"/>
          <p:cNvSpPr/>
          <p:nvPr/>
        </p:nvSpPr>
        <p:spPr>
          <a:xfrm>
            <a:off x="6059775" y="3111625"/>
            <a:ext cx="1866600" cy="1716600"/>
          </a:xfrm>
          <a:prstGeom prst="ellipse">
            <a:avLst/>
          </a:prstGeom>
          <a:solidFill>
            <a:srgbClr val="CC4125"/>
          </a:solidFill>
          <a:ln cap="flat" cmpd="sng" w="19050">
            <a:solidFill>
              <a:srgbClr val="CC412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8" name="Google Shape;4158;p266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4159" name="Google Shape;4159;p266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60" name="Google Shape;4160;p266"/>
          <p:cNvSpPr txBox="1"/>
          <p:nvPr/>
        </p:nvSpPr>
        <p:spPr>
          <a:xfrm>
            <a:off x="6230475" y="3395639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Sympathy Group (12-15)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64" name="Shape 4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5" name="Google Shape;4165;p26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Dunbar Circles</a:t>
            </a:r>
            <a:endParaRPr/>
          </a:p>
        </p:txBody>
      </p:sp>
      <p:graphicFrame>
        <p:nvGraphicFramePr>
          <p:cNvPr id="4166" name="Google Shape;4166;p267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4167" name="Google Shape;4167;p267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4168" name="Google Shape;4168;p267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4169" name="Google Shape;4169;p267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b="1" lang="en">
                  <a:solidFill>
                    <a:schemeClr val="dk1"/>
                  </a:solidFill>
                  <a:latin typeface="Economica"/>
                  <a:ea typeface="Economica"/>
                  <a:cs typeface="Economica"/>
                  <a:sym typeface="Economica"/>
                </a:rPr>
                <a:t>Closeness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4170" name="Google Shape;4170;p267"/>
          <p:cNvSpPr txBox="1"/>
          <p:nvPr>
            <p:ph idx="1" type="body"/>
          </p:nvPr>
        </p:nvSpPr>
        <p:spPr>
          <a:xfrm>
            <a:off x="311700" y="1225225"/>
            <a:ext cx="4958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Support clique (~ 4 - 5)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Your most intimate kin and best friends you can rely on them for crises and emergencies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Sympathy group (~12 - 15)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Kin and good friends that can provide some services and that you interact with often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Affinity group (~ 45 - 50)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casual but still close friends, extended family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1" name="Google Shape;4171;p267"/>
          <p:cNvSpPr/>
          <p:nvPr/>
        </p:nvSpPr>
        <p:spPr>
          <a:xfrm>
            <a:off x="6585534" y="2586779"/>
            <a:ext cx="815100" cy="4749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172" name="Google Shape;4172;p267"/>
          <p:cNvSpPr/>
          <p:nvPr/>
        </p:nvSpPr>
        <p:spPr>
          <a:xfrm>
            <a:off x="5561025" y="2081125"/>
            <a:ext cx="2864100" cy="2747100"/>
          </a:xfrm>
          <a:prstGeom prst="ellipse">
            <a:avLst/>
          </a:prstGeom>
          <a:solidFill>
            <a:srgbClr val="DD7E6B"/>
          </a:solidFill>
          <a:ln cap="flat" cmpd="sng" w="19050">
            <a:solidFill>
              <a:srgbClr val="DD7E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3" name="Google Shape;4173;p267"/>
          <p:cNvSpPr/>
          <p:nvPr/>
        </p:nvSpPr>
        <p:spPr>
          <a:xfrm>
            <a:off x="6059775" y="3111625"/>
            <a:ext cx="1866600" cy="1716600"/>
          </a:xfrm>
          <a:prstGeom prst="ellipse">
            <a:avLst/>
          </a:prstGeom>
          <a:solidFill>
            <a:srgbClr val="CC4125"/>
          </a:solidFill>
          <a:ln cap="flat" cmpd="sng" w="19050">
            <a:solidFill>
              <a:srgbClr val="CC412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4" name="Google Shape;4174;p267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4175" name="Google Shape;4175;p267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76" name="Google Shape;4176;p267"/>
          <p:cNvSpPr txBox="1"/>
          <p:nvPr/>
        </p:nvSpPr>
        <p:spPr>
          <a:xfrm>
            <a:off x="6230475" y="3395639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Sympathy Group (12-15)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77" name="Google Shape;4177;p267"/>
          <p:cNvSpPr txBox="1"/>
          <p:nvPr/>
        </p:nvSpPr>
        <p:spPr>
          <a:xfrm>
            <a:off x="6159375" y="2438425"/>
            <a:ext cx="16674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Affinity Group (45-50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81" name="Shape 4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2" name="Google Shape;4182;p26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Dunbar Circles</a:t>
            </a:r>
            <a:endParaRPr/>
          </a:p>
        </p:txBody>
      </p:sp>
      <p:graphicFrame>
        <p:nvGraphicFramePr>
          <p:cNvPr id="4183" name="Google Shape;4183;p268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4184" name="Google Shape;4184;p268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4185" name="Google Shape;4185;p268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4186" name="Google Shape;4186;p268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b="1" lang="en">
                  <a:solidFill>
                    <a:schemeClr val="dk1"/>
                  </a:solidFill>
                  <a:latin typeface="Economica"/>
                  <a:ea typeface="Economica"/>
                  <a:cs typeface="Economica"/>
                  <a:sym typeface="Economica"/>
                </a:rPr>
                <a:t>Closeness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4187" name="Google Shape;4187;p268"/>
          <p:cNvSpPr txBox="1"/>
          <p:nvPr>
            <p:ph idx="1" type="body"/>
          </p:nvPr>
        </p:nvSpPr>
        <p:spPr>
          <a:xfrm>
            <a:off x="311700" y="1225225"/>
            <a:ext cx="4958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Support clique (~ 4 - 5)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Your most intimate kin and best friends you can rely on them for crises and emergencies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Sympathy group (~12 - 15)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Kin and good friends that can provide some services and that you interact with often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Affinity group (~ 45 - 50)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casual but still close friends, extended family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Active Network (~120 - 150)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Total number people that you know by face/name and interact with at least once a year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8" name="Google Shape;4188;p268"/>
          <p:cNvSpPr/>
          <p:nvPr/>
        </p:nvSpPr>
        <p:spPr>
          <a:xfrm>
            <a:off x="5006625" y="976225"/>
            <a:ext cx="3972900" cy="38520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9" name="Google Shape;4189;p268"/>
          <p:cNvSpPr/>
          <p:nvPr/>
        </p:nvSpPr>
        <p:spPr>
          <a:xfrm>
            <a:off x="6585534" y="2586779"/>
            <a:ext cx="815100" cy="4749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190" name="Google Shape;4190;p268"/>
          <p:cNvSpPr/>
          <p:nvPr/>
        </p:nvSpPr>
        <p:spPr>
          <a:xfrm>
            <a:off x="5561025" y="2081125"/>
            <a:ext cx="2864100" cy="2747100"/>
          </a:xfrm>
          <a:prstGeom prst="ellipse">
            <a:avLst/>
          </a:prstGeom>
          <a:solidFill>
            <a:srgbClr val="DD7E6B"/>
          </a:solidFill>
          <a:ln cap="flat" cmpd="sng" w="19050">
            <a:solidFill>
              <a:srgbClr val="DD7E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1" name="Google Shape;4191;p268"/>
          <p:cNvSpPr/>
          <p:nvPr/>
        </p:nvSpPr>
        <p:spPr>
          <a:xfrm>
            <a:off x="6059775" y="3111625"/>
            <a:ext cx="1866600" cy="1716600"/>
          </a:xfrm>
          <a:prstGeom prst="ellipse">
            <a:avLst/>
          </a:prstGeom>
          <a:solidFill>
            <a:srgbClr val="CC4125"/>
          </a:solidFill>
          <a:ln cap="flat" cmpd="sng" w="19050">
            <a:solidFill>
              <a:srgbClr val="CC412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2" name="Google Shape;4192;p268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4193" name="Google Shape;4193;p268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94" name="Google Shape;4194;p268"/>
          <p:cNvSpPr txBox="1"/>
          <p:nvPr/>
        </p:nvSpPr>
        <p:spPr>
          <a:xfrm>
            <a:off x="6230475" y="3395639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Sympathy Group (12-15)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95" name="Google Shape;4195;p268"/>
          <p:cNvSpPr txBox="1"/>
          <p:nvPr/>
        </p:nvSpPr>
        <p:spPr>
          <a:xfrm>
            <a:off x="6159375" y="2438425"/>
            <a:ext cx="16674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Affinity Group (45-50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196" name="Google Shape;4196;p268"/>
          <p:cNvSpPr txBox="1"/>
          <p:nvPr/>
        </p:nvSpPr>
        <p:spPr>
          <a:xfrm>
            <a:off x="6088125" y="1480521"/>
            <a:ext cx="18099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00"/>
                </a:solidFill>
                <a:latin typeface="Economica"/>
                <a:ea typeface="Economica"/>
                <a:cs typeface="Economica"/>
                <a:sym typeface="Economica"/>
              </a:rPr>
              <a:t>Active Network(120-150)</a:t>
            </a:r>
            <a:endParaRPr b="1">
              <a:solidFill>
                <a:srgbClr val="FFFF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00" name="Shape 4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1" name="Google Shape;4201;p26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Social brain hypothesis</a:t>
            </a:r>
            <a:endParaRPr/>
          </a:p>
        </p:txBody>
      </p:sp>
      <p:sp>
        <p:nvSpPr>
          <p:cNvPr id="4202" name="Google Shape;4202;p269"/>
          <p:cNvSpPr txBox="1"/>
          <p:nvPr>
            <p:ph idx="1" type="body"/>
          </p:nvPr>
        </p:nvSpPr>
        <p:spPr>
          <a:xfrm>
            <a:off x="311700" y="1225225"/>
            <a:ext cx="4876200" cy="30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Why is your (human) head so big?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comparison to our closest primate ancestors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Because humans are very social animals!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Finding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Neocortex size scales with average group size for all primates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Explanation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brain is for keeping track of other people (among other things)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3" name="Google Shape;4203;p269"/>
          <p:cNvSpPr txBox="1"/>
          <p:nvPr/>
        </p:nvSpPr>
        <p:spPr>
          <a:xfrm>
            <a:off x="282650" y="4341925"/>
            <a:ext cx="7960200" cy="51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Dunbar, R. I. M. (2003). Evolution of the social brain. </a:t>
            </a:r>
            <a:r>
              <a:rPr i="1"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Science</a:t>
            </a:r>
            <a:r>
              <a:rPr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, 302, 1160 –1161.</a:t>
            </a:r>
            <a:endParaRPr sz="18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4204" name="Google Shape;4204;p269"/>
          <p:cNvPicPr preferRelativeResize="0"/>
          <p:nvPr/>
        </p:nvPicPr>
        <p:blipFill rotWithShape="1">
          <a:blip r:embed="rId3">
            <a:alphaModFix/>
          </a:blip>
          <a:srcRect b="4304" l="0" r="0" t="2733"/>
          <a:stretch/>
        </p:blipFill>
        <p:spPr>
          <a:xfrm>
            <a:off x="5470700" y="1128250"/>
            <a:ext cx="3127800" cy="3072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08" name="Shape 4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9" name="Google Shape;4209;p27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sp>
        <p:nvSpPr>
          <p:cNvPr id="4210" name="Google Shape;4210;p270"/>
          <p:cNvSpPr txBox="1"/>
          <p:nvPr>
            <p:ph idx="1" type="body"/>
          </p:nvPr>
        </p:nvSpPr>
        <p:spPr>
          <a:xfrm>
            <a:off x="311700" y="1225225"/>
            <a:ext cx="6576600" cy="296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composition</a:t>
            </a:r>
            <a:r>
              <a:rPr lang="en"/>
              <a:t> of your ego network is likely </a:t>
            </a:r>
            <a:r>
              <a:rPr b="1" lang="en"/>
              <a:t>biased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How</a:t>
            </a:r>
            <a:r>
              <a:rPr lang="en"/>
              <a:t> are your ego networks biased?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Some kinds of people are </a:t>
            </a:r>
            <a:r>
              <a:rPr b="1" lang="en"/>
              <a:t>over-represented </a:t>
            </a:r>
            <a:r>
              <a:rPr lang="en"/>
              <a:t>in your ego-network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Some kinds of people are </a:t>
            </a:r>
            <a:r>
              <a:rPr b="1" lang="en"/>
              <a:t>under-represented</a:t>
            </a:r>
            <a:r>
              <a:rPr lang="en"/>
              <a:t> in your ego network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people who are </a:t>
            </a:r>
            <a:r>
              <a:rPr b="1" lang="en">
                <a:solidFill>
                  <a:srgbClr val="0000FF"/>
                </a:solidFill>
              </a:rPr>
              <a:t>over-represented</a:t>
            </a:r>
            <a:r>
              <a:rPr lang="en"/>
              <a:t> are more likely to be </a:t>
            </a:r>
            <a:r>
              <a:rPr b="1" lang="en">
                <a:solidFill>
                  <a:srgbClr val="0000FF"/>
                </a:solidFill>
              </a:rPr>
              <a:t>similar</a:t>
            </a:r>
            <a:r>
              <a:rPr lang="en"/>
              <a:t> to you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people who are </a:t>
            </a:r>
            <a:r>
              <a:rPr b="1" lang="en">
                <a:solidFill>
                  <a:srgbClr val="FF0000"/>
                </a:solidFill>
              </a:rPr>
              <a:t>under-represented</a:t>
            </a:r>
            <a:r>
              <a:rPr lang="en"/>
              <a:t> are more likely to be </a:t>
            </a:r>
            <a:r>
              <a:rPr b="1" lang="en">
                <a:solidFill>
                  <a:srgbClr val="FF0000"/>
                </a:solidFill>
              </a:rPr>
              <a:t>dissimilar</a:t>
            </a:r>
            <a:r>
              <a:rPr lang="en"/>
              <a:t> to you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These last two things are the basis of </a:t>
            </a:r>
            <a:r>
              <a:rPr b="1" lang="en"/>
              <a:t>homophily*</a:t>
            </a:r>
            <a:endParaRPr b="1"/>
          </a:p>
        </p:txBody>
      </p:sp>
      <p:pic>
        <p:nvPicPr>
          <p:cNvPr id="4211" name="Google Shape;4211;p27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6154912" y="1880513"/>
            <a:ext cx="3410675" cy="1944100"/>
          </a:xfrm>
          <a:prstGeom prst="rect">
            <a:avLst/>
          </a:prstGeom>
          <a:noFill/>
          <a:ln>
            <a:noFill/>
          </a:ln>
        </p:spPr>
      </p:pic>
      <p:sp>
        <p:nvSpPr>
          <p:cNvPr id="4212" name="Google Shape;4212;p270"/>
          <p:cNvSpPr txBox="1"/>
          <p:nvPr/>
        </p:nvSpPr>
        <p:spPr>
          <a:xfrm>
            <a:off x="311700" y="4370675"/>
            <a:ext cx="6576600" cy="46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*McPherson, M., Smith-Lovin, L., &amp; Cook, J. M. (2001). Birds of a feather: Homophily in social networks. </a:t>
            </a:r>
            <a:r>
              <a:rPr i="1" lang="en">
                <a:latin typeface="Economica"/>
                <a:ea typeface="Economica"/>
                <a:cs typeface="Economica"/>
                <a:sym typeface="Economica"/>
              </a:rPr>
              <a:t>Annual Review of Sociology,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 27(1), 415-444.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22222"/>
              </a:solidFill>
              <a:highlight>
                <a:srgbClr val="FFFFFF"/>
              </a:highlight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16" name="Shape 4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7" name="Google Shape;4217;p27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sp>
        <p:nvSpPr>
          <p:cNvPr id="4218" name="Google Shape;4218;p271"/>
          <p:cNvSpPr txBox="1"/>
          <p:nvPr>
            <p:ph idx="1" type="body"/>
          </p:nvPr>
        </p:nvSpPr>
        <p:spPr>
          <a:xfrm>
            <a:off x="311700" y="1225225"/>
            <a:ext cx="6576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i="1" lang="en"/>
              <a:t>what</a:t>
            </a:r>
            <a:r>
              <a:rPr lang="en"/>
              <a:t> </a:t>
            </a:r>
            <a:r>
              <a:rPr i="1" lang="en"/>
              <a:t>ways</a:t>
            </a:r>
            <a:r>
              <a:rPr lang="en"/>
              <a:t> are your networks biased toward homophily?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According to pretty much any social distinction we can think of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Gender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Race/Ethnicity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Education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Age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Occupation/Income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These are what Peter Blau called </a:t>
            </a:r>
            <a:r>
              <a:rPr b="1" lang="en"/>
              <a:t>dimensions</a:t>
            </a:r>
            <a:r>
              <a:rPr lang="en"/>
              <a:t> </a:t>
            </a:r>
            <a:r>
              <a:rPr b="1" lang="en"/>
              <a:t>of</a:t>
            </a:r>
            <a:r>
              <a:rPr lang="en"/>
              <a:t> </a:t>
            </a:r>
            <a:r>
              <a:rPr b="1" lang="en"/>
              <a:t>association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Some of these are </a:t>
            </a:r>
            <a:r>
              <a:rPr b="1" lang="en"/>
              <a:t>categorical </a:t>
            </a:r>
            <a:r>
              <a:rPr lang="en"/>
              <a:t>(no inherent ordering)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Like race , gender or occupation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Some are </a:t>
            </a:r>
            <a:r>
              <a:rPr b="1" lang="en"/>
              <a:t>continuous </a:t>
            </a:r>
            <a:r>
              <a:rPr lang="en"/>
              <a:t>(inherent ordering)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Like age, education or income</a:t>
            </a:r>
            <a:endParaRPr/>
          </a:p>
          <a:p>
            <a:pPr indent="0" lvl="0" marL="18288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219" name="Google Shape;4219;p27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6154912" y="1880513"/>
            <a:ext cx="3410675" cy="1944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23" name="Shape 4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4" name="Google Shape;4224;p27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sp>
        <p:nvSpPr>
          <p:cNvPr id="4225" name="Google Shape;4225;p272"/>
          <p:cNvSpPr txBox="1"/>
          <p:nvPr>
            <p:ph idx="1" type="body"/>
          </p:nvPr>
        </p:nvSpPr>
        <p:spPr>
          <a:xfrm>
            <a:off x="311700" y="1225225"/>
            <a:ext cx="5461200" cy="320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i="1" lang="en"/>
              <a:t>Why</a:t>
            </a:r>
            <a:r>
              <a:rPr lang="en"/>
              <a:t> are your ego networks biased toward homophily?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One </a:t>
            </a:r>
            <a:r>
              <a:rPr b="1" lang="en"/>
              <a:t>obvious</a:t>
            </a:r>
            <a:r>
              <a:rPr lang="en"/>
              <a:t> source of bias is what has been called* </a:t>
            </a:r>
            <a:r>
              <a:rPr b="1" lang="en"/>
              <a:t>choice homophily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You like to hang out with people who are similar to you (regardless)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One </a:t>
            </a:r>
            <a:r>
              <a:rPr b="1" lang="en"/>
              <a:t>non-obvious</a:t>
            </a:r>
            <a:r>
              <a:rPr lang="en"/>
              <a:t> source of bias is what has been called* </a:t>
            </a:r>
            <a:r>
              <a:rPr b="1" lang="en"/>
              <a:t>induced homophily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The social context (nation, state, organization) where you reside determines the people who are available for you to hang out with</a:t>
            </a:r>
            <a:endParaRPr i="1"/>
          </a:p>
          <a:p>
            <a:pPr indent="0" lvl="0" marL="18288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PeterBlau.jpg" id="4226" name="Google Shape;4226;p2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84100" y="1225225"/>
            <a:ext cx="2226350" cy="3050069"/>
          </a:xfrm>
          <a:prstGeom prst="rect">
            <a:avLst/>
          </a:prstGeom>
          <a:noFill/>
          <a:ln>
            <a:noFill/>
          </a:ln>
        </p:spPr>
      </p:pic>
      <p:sp>
        <p:nvSpPr>
          <p:cNvPr id="4227" name="Google Shape;4227;p272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4"/>
              </a:rPr>
              <a:t>Peter Blau (1918 - 2002)</a:t>
            </a:r>
            <a:endParaRPr/>
          </a:p>
        </p:txBody>
      </p:sp>
      <p:sp>
        <p:nvSpPr>
          <p:cNvPr id="4228" name="Google Shape;4228;p272"/>
          <p:cNvSpPr txBox="1"/>
          <p:nvPr/>
        </p:nvSpPr>
        <p:spPr>
          <a:xfrm>
            <a:off x="311700" y="4195050"/>
            <a:ext cx="6072300" cy="6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22222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*McPherson, J. M., &amp; Smith-Lovin, L. (1987). Homophily in voluntary organizations: Status distance and the composition of face-to-face groups. </a:t>
            </a:r>
            <a:r>
              <a:rPr i="1" lang="en">
                <a:solidFill>
                  <a:srgbClr val="222222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American Sociological Review</a:t>
            </a:r>
            <a:r>
              <a:rPr lang="en">
                <a:solidFill>
                  <a:srgbClr val="222222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, 370-379.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32" name="Shape 4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3" name="Google Shape;4233;p27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pic>
        <p:nvPicPr>
          <p:cNvPr descr="PeterBlau.jpg" id="4234" name="Google Shape;4234;p2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84100" y="1225225"/>
            <a:ext cx="2226350" cy="3050069"/>
          </a:xfrm>
          <a:prstGeom prst="rect">
            <a:avLst/>
          </a:prstGeom>
          <a:noFill/>
          <a:ln>
            <a:noFill/>
          </a:ln>
        </p:spPr>
      </p:pic>
      <p:sp>
        <p:nvSpPr>
          <p:cNvPr id="4235" name="Google Shape;4235;p273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4"/>
              </a:rPr>
              <a:t>Peter Blau (1918 - 2002)</a:t>
            </a:r>
            <a:endParaRPr/>
          </a:p>
        </p:txBody>
      </p:sp>
      <p:pic>
        <p:nvPicPr>
          <p:cNvPr id="4236" name="Google Shape;4236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46468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37" name="Google Shape;4237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84701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38" name="Google Shape;4238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2933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39" name="Google Shape;4239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61166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0" name="Google Shape;4240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99398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1" name="Google Shape;4241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47175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2" name="Google Shape;4242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653050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3" name="Google Shape;4243;p27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494436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4" name="Google Shape;4244;p27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870811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5" name="Google Shape;4245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34700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46" name="Google Shape;4246;p273"/>
          <p:cNvGrpSpPr/>
          <p:nvPr/>
        </p:nvGrpSpPr>
        <p:grpSpPr>
          <a:xfrm>
            <a:off x="238075" y="2824400"/>
            <a:ext cx="2060700" cy="1899300"/>
            <a:chOff x="67775" y="2952125"/>
            <a:chExt cx="2060700" cy="1899300"/>
          </a:xfrm>
        </p:grpSpPr>
        <p:sp>
          <p:nvSpPr>
            <p:cNvPr id="4247" name="Google Shape;4247;p273"/>
            <p:cNvSpPr/>
            <p:nvPr/>
          </p:nvSpPr>
          <p:spPr>
            <a:xfrm>
              <a:off x="67775" y="2952125"/>
              <a:ext cx="2060700" cy="18993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248" name="Google Shape;4248;p273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954561" y="414892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49" name="Google Shape;4249;p273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300261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50" name="Google Shape;4250;p27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1143150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51" name="Google Shape;4251;p27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706938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52" name="Google Shape;4252;p27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1579350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4253" name="Google Shape;4253;p273"/>
            <p:cNvCxnSpPr>
              <a:stCxn id="4248" idx="1"/>
              <a:endCxn id="4249" idx="2"/>
            </p:cNvCxnSpPr>
            <p:nvPr/>
          </p:nvCxnSpPr>
          <p:spPr>
            <a:xfrm rot="10800000">
              <a:off x="443961" y="3908663"/>
              <a:ext cx="5106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54" name="Google Shape;4254;p273"/>
            <p:cNvCxnSpPr>
              <a:stCxn id="4248" idx="0"/>
              <a:endCxn id="4251" idx="2"/>
            </p:cNvCxnSpPr>
            <p:nvPr/>
          </p:nvCxnSpPr>
          <p:spPr>
            <a:xfrm rot="10800000">
              <a:off x="865330" y="3908625"/>
              <a:ext cx="2328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55" name="Google Shape;4255;p273"/>
            <p:cNvCxnSpPr>
              <a:stCxn id="4248" idx="0"/>
              <a:endCxn id="4250" idx="2"/>
            </p:cNvCxnSpPr>
            <p:nvPr/>
          </p:nvCxnSpPr>
          <p:spPr>
            <a:xfrm flipH="1" rot="10800000">
              <a:off x="1098130" y="3908625"/>
              <a:ext cx="2034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56" name="Google Shape;4256;p273"/>
            <p:cNvCxnSpPr>
              <a:stCxn id="4252" idx="2"/>
              <a:endCxn id="4248" idx="3"/>
            </p:cNvCxnSpPr>
            <p:nvPr/>
          </p:nvCxnSpPr>
          <p:spPr>
            <a:xfrm flipH="1">
              <a:off x="1241775" y="3908725"/>
              <a:ext cx="4959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257" name="Google Shape;4257;p273"/>
          <p:cNvGrpSpPr/>
          <p:nvPr/>
        </p:nvGrpSpPr>
        <p:grpSpPr>
          <a:xfrm>
            <a:off x="4020750" y="2824400"/>
            <a:ext cx="2060700" cy="1899300"/>
            <a:chOff x="2377225" y="2952125"/>
            <a:chExt cx="2060700" cy="1899300"/>
          </a:xfrm>
        </p:grpSpPr>
        <p:sp>
          <p:nvSpPr>
            <p:cNvPr id="4258" name="Google Shape;4258;p273"/>
            <p:cNvSpPr/>
            <p:nvPr/>
          </p:nvSpPr>
          <p:spPr>
            <a:xfrm>
              <a:off x="2377225" y="2952125"/>
              <a:ext cx="2060700" cy="18993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259" name="Google Shape;4259;p273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3264011" y="414892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60" name="Google Shape;4260;p273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2609711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61" name="Google Shape;4261;p27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3888800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4262" name="Google Shape;4262;p273"/>
            <p:cNvCxnSpPr>
              <a:stCxn id="4259" idx="1"/>
              <a:endCxn id="4260" idx="2"/>
            </p:cNvCxnSpPr>
            <p:nvPr/>
          </p:nvCxnSpPr>
          <p:spPr>
            <a:xfrm rot="10800000">
              <a:off x="2753411" y="3908663"/>
              <a:ext cx="5106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63" name="Google Shape;4263;p273"/>
            <p:cNvCxnSpPr>
              <a:stCxn id="4259" idx="0"/>
              <a:endCxn id="4264" idx="2"/>
            </p:cNvCxnSpPr>
            <p:nvPr/>
          </p:nvCxnSpPr>
          <p:spPr>
            <a:xfrm rot="10800000">
              <a:off x="3152280" y="3908625"/>
              <a:ext cx="2553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65" name="Google Shape;4265;p273"/>
            <p:cNvCxnSpPr>
              <a:stCxn id="4259" idx="0"/>
              <a:endCxn id="4266" idx="2"/>
            </p:cNvCxnSpPr>
            <p:nvPr/>
          </p:nvCxnSpPr>
          <p:spPr>
            <a:xfrm flipH="1" rot="10800000">
              <a:off x="3407580" y="3908625"/>
              <a:ext cx="1848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67" name="Google Shape;4267;p273"/>
            <p:cNvCxnSpPr>
              <a:stCxn id="4261" idx="2"/>
              <a:endCxn id="4259" idx="3"/>
            </p:cNvCxnSpPr>
            <p:nvPr/>
          </p:nvCxnSpPr>
          <p:spPr>
            <a:xfrm flipH="1">
              <a:off x="3551225" y="3908725"/>
              <a:ext cx="4959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pic>
          <p:nvPicPr>
            <p:cNvPr id="4264" name="Google Shape;4264;p273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3008649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66" name="Google Shape;4266;p273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3448724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268" name="Google Shape;4268;p273"/>
          <p:cNvSpPr txBox="1"/>
          <p:nvPr/>
        </p:nvSpPr>
        <p:spPr>
          <a:xfrm>
            <a:off x="595125" y="467760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Unbiased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269" name="Google Shape;4269;p273"/>
          <p:cNvSpPr txBox="1"/>
          <p:nvPr/>
        </p:nvSpPr>
        <p:spPr>
          <a:xfrm>
            <a:off x="4336950" y="467760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Biased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4270" name="Google Shape;4270;p27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118074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1" name="Google Shape;4271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08236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2" name="Google Shape;4272;p27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714811" y="1997425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3" name="Google Shape;4273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76313" y="20013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4" name="Google Shape;4274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76313" y="1333187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5" name="Google Shape;4275;p2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700038" y="1333187"/>
            <a:ext cx="316650" cy="574276"/>
          </a:xfrm>
          <a:prstGeom prst="rect">
            <a:avLst/>
          </a:prstGeom>
          <a:noFill/>
          <a:ln>
            <a:noFill/>
          </a:ln>
        </p:spPr>
      </p:pic>
      <p:sp>
        <p:nvSpPr>
          <p:cNvPr id="4276" name="Google Shape;4276;p273"/>
          <p:cNvSpPr txBox="1"/>
          <p:nvPr/>
        </p:nvSpPr>
        <p:spPr>
          <a:xfrm>
            <a:off x="2243950" y="3206725"/>
            <a:ext cx="18399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Your ego network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4277" name="Google Shape;4277;p273"/>
          <p:cNvCxnSpPr>
            <a:stCxn id="4276" idx="2"/>
          </p:cNvCxnSpPr>
          <p:nvPr/>
        </p:nvCxnSpPr>
        <p:spPr>
          <a:xfrm flipH="1">
            <a:off x="2302900" y="3504325"/>
            <a:ext cx="861000" cy="344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4278" name="Google Shape;4278;p273"/>
          <p:cNvCxnSpPr>
            <a:stCxn id="4276" idx="2"/>
          </p:cNvCxnSpPr>
          <p:nvPr/>
        </p:nvCxnSpPr>
        <p:spPr>
          <a:xfrm>
            <a:off x="3163900" y="3504325"/>
            <a:ext cx="861000" cy="344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4279" name="Google Shape;4279;p273"/>
          <p:cNvSpPr/>
          <p:nvPr/>
        </p:nvSpPr>
        <p:spPr>
          <a:xfrm>
            <a:off x="311700" y="1147225"/>
            <a:ext cx="5769600" cy="17460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The World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83" name="Shape 4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4" name="Google Shape;4284;p274"/>
          <p:cNvSpPr/>
          <p:nvPr/>
        </p:nvSpPr>
        <p:spPr>
          <a:xfrm>
            <a:off x="311700" y="1147225"/>
            <a:ext cx="5769600" cy="17460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The World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285" name="Google Shape;4285;p27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pic>
        <p:nvPicPr>
          <p:cNvPr descr="PeterBlau.jpg" id="4286" name="Google Shape;4286;p27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84100" y="1225225"/>
            <a:ext cx="2226350" cy="3050069"/>
          </a:xfrm>
          <a:prstGeom prst="rect">
            <a:avLst/>
          </a:prstGeom>
          <a:noFill/>
          <a:ln>
            <a:noFill/>
          </a:ln>
        </p:spPr>
      </p:pic>
      <p:sp>
        <p:nvSpPr>
          <p:cNvPr id="4287" name="Google Shape;4287;p274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4"/>
              </a:rPr>
              <a:t>Peter Blau (1918 - 2002)</a:t>
            </a:r>
            <a:endParaRPr/>
          </a:p>
        </p:txBody>
      </p:sp>
      <p:pic>
        <p:nvPicPr>
          <p:cNvPr id="4288" name="Google Shape;4288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46468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89" name="Google Shape;4289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84701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0" name="Google Shape;4290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2933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1" name="Google Shape;4291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61166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2" name="Google Shape;4292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99398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3" name="Google Shape;4293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47175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4" name="Google Shape;4294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653050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5" name="Google Shape;4295;p27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494436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6" name="Google Shape;4296;p27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870811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7" name="Google Shape;4297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34700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8" name="Google Shape;4298;p27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118074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9" name="Google Shape;4299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08236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00" name="Google Shape;4300;p27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714811" y="1997425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01" name="Google Shape;4301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76313" y="20013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02" name="Google Shape;4302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76313" y="1333187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03" name="Google Shape;4303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700038" y="1333187"/>
            <a:ext cx="316650" cy="574276"/>
          </a:xfrm>
          <a:prstGeom prst="rect">
            <a:avLst/>
          </a:prstGeom>
          <a:noFill/>
          <a:ln>
            <a:noFill/>
          </a:ln>
        </p:spPr>
      </p:pic>
      <p:sp>
        <p:nvSpPr>
          <p:cNvPr id="4304" name="Google Shape;4304;p274"/>
          <p:cNvSpPr txBox="1"/>
          <p:nvPr/>
        </p:nvSpPr>
        <p:spPr>
          <a:xfrm>
            <a:off x="595125" y="467760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Unbiased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305" name="Google Shape;4305;p274"/>
          <p:cNvSpPr/>
          <p:nvPr/>
        </p:nvSpPr>
        <p:spPr>
          <a:xfrm>
            <a:off x="238075" y="2824400"/>
            <a:ext cx="2060700" cy="18993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306" name="Google Shape;4306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313450" y="32067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07" name="Google Shape;4307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77238" y="3206737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08" name="Google Shape;4308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749650" y="3206724"/>
            <a:ext cx="316650" cy="5742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309" name="Google Shape;4309;p274"/>
          <p:cNvCxnSpPr>
            <a:stCxn id="4310" idx="1"/>
          </p:cNvCxnSpPr>
          <p:nvPr/>
        </p:nvCxnSpPr>
        <p:spPr>
          <a:xfrm rot="10800000">
            <a:off x="614200" y="3781025"/>
            <a:ext cx="495900" cy="520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311" name="Google Shape;4311;p274"/>
          <p:cNvCxnSpPr>
            <a:stCxn id="4310" idx="0"/>
            <a:endCxn id="4307" idx="2"/>
          </p:cNvCxnSpPr>
          <p:nvPr/>
        </p:nvCxnSpPr>
        <p:spPr>
          <a:xfrm rot="10800000">
            <a:off x="1035625" y="3780987"/>
            <a:ext cx="232800" cy="233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312" name="Google Shape;4312;p274"/>
          <p:cNvCxnSpPr>
            <a:stCxn id="4310" idx="0"/>
            <a:endCxn id="4306" idx="2"/>
          </p:cNvCxnSpPr>
          <p:nvPr/>
        </p:nvCxnSpPr>
        <p:spPr>
          <a:xfrm flipH="1" rot="10800000">
            <a:off x="1268425" y="3780987"/>
            <a:ext cx="203400" cy="233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313" name="Google Shape;4313;p274"/>
          <p:cNvCxnSpPr>
            <a:stCxn id="4308" idx="2"/>
            <a:endCxn id="4310" idx="3"/>
          </p:cNvCxnSpPr>
          <p:nvPr/>
        </p:nvCxnSpPr>
        <p:spPr>
          <a:xfrm flipH="1">
            <a:off x="1426775" y="3781000"/>
            <a:ext cx="481200" cy="520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310" name="Google Shape;4310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10100" y="4014087"/>
            <a:ext cx="316650" cy="5742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14" name="Google Shape;4314;p274"/>
          <p:cNvGrpSpPr/>
          <p:nvPr/>
        </p:nvGrpSpPr>
        <p:grpSpPr>
          <a:xfrm>
            <a:off x="4020750" y="2824400"/>
            <a:ext cx="2060700" cy="1899300"/>
            <a:chOff x="2377225" y="2952125"/>
            <a:chExt cx="2060700" cy="1899300"/>
          </a:xfrm>
        </p:grpSpPr>
        <p:sp>
          <p:nvSpPr>
            <p:cNvPr id="4315" name="Google Shape;4315;p274"/>
            <p:cNvSpPr/>
            <p:nvPr/>
          </p:nvSpPr>
          <p:spPr>
            <a:xfrm>
              <a:off x="2377225" y="2952125"/>
              <a:ext cx="2060700" cy="18993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16" name="Google Shape;4316;p274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3888800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4317" name="Google Shape;4317;p274"/>
            <p:cNvCxnSpPr>
              <a:stCxn id="4318" idx="1"/>
              <a:endCxn id="4319" idx="2"/>
            </p:cNvCxnSpPr>
            <p:nvPr/>
          </p:nvCxnSpPr>
          <p:spPr>
            <a:xfrm rot="10800000">
              <a:off x="2776300" y="3908725"/>
              <a:ext cx="4878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20" name="Google Shape;4320;p274"/>
            <p:cNvCxnSpPr>
              <a:stCxn id="4318" idx="0"/>
              <a:endCxn id="4321" idx="2"/>
            </p:cNvCxnSpPr>
            <p:nvPr/>
          </p:nvCxnSpPr>
          <p:spPr>
            <a:xfrm rot="10800000">
              <a:off x="3193888" y="3908725"/>
              <a:ext cx="2649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22" name="Google Shape;4322;p274"/>
            <p:cNvCxnSpPr>
              <a:stCxn id="4318" idx="0"/>
              <a:endCxn id="4323" idx="2"/>
            </p:cNvCxnSpPr>
            <p:nvPr/>
          </p:nvCxnSpPr>
          <p:spPr>
            <a:xfrm flipH="1" rot="10800000">
              <a:off x="3407475" y="3908725"/>
              <a:ext cx="2040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24" name="Google Shape;4324;p274"/>
            <p:cNvCxnSpPr>
              <a:stCxn id="4316" idx="2"/>
              <a:endCxn id="4318" idx="3"/>
            </p:cNvCxnSpPr>
            <p:nvPr/>
          </p:nvCxnSpPr>
          <p:spPr>
            <a:xfrm flipH="1">
              <a:off x="3551225" y="3908725"/>
              <a:ext cx="4959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4325" name="Google Shape;4325;p274"/>
          <p:cNvSpPr txBox="1"/>
          <p:nvPr/>
        </p:nvSpPr>
        <p:spPr>
          <a:xfrm>
            <a:off x="4336950" y="467760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Biased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4323" name="Google Shape;4323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096675" y="32067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21" name="Google Shape;4321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679088" y="32067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19" name="Google Shape;4319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261500" y="32067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26" name="Google Shape;4326;p27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0561" y="3206725"/>
            <a:ext cx="287138" cy="574276"/>
          </a:xfrm>
          <a:prstGeom prst="rect">
            <a:avLst/>
          </a:prstGeom>
          <a:noFill/>
          <a:ln>
            <a:noFill/>
          </a:ln>
        </p:spPr>
      </p:pic>
      <p:sp>
        <p:nvSpPr>
          <p:cNvPr id="4327" name="Google Shape;4327;p274"/>
          <p:cNvSpPr txBox="1"/>
          <p:nvPr/>
        </p:nvSpPr>
        <p:spPr>
          <a:xfrm>
            <a:off x="2243950" y="3206725"/>
            <a:ext cx="18399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Your ego network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4328" name="Google Shape;4328;p274"/>
          <p:cNvCxnSpPr>
            <a:stCxn id="4327" idx="2"/>
          </p:cNvCxnSpPr>
          <p:nvPr/>
        </p:nvCxnSpPr>
        <p:spPr>
          <a:xfrm flipH="1">
            <a:off x="2302900" y="3504325"/>
            <a:ext cx="861000" cy="344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4329" name="Google Shape;4329;p274"/>
          <p:cNvCxnSpPr>
            <a:stCxn id="4327" idx="2"/>
          </p:cNvCxnSpPr>
          <p:nvPr/>
        </p:nvCxnSpPr>
        <p:spPr>
          <a:xfrm>
            <a:off x="3163900" y="3504325"/>
            <a:ext cx="861000" cy="344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4330" name="Google Shape;4330;p2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892775" y="4014074"/>
            <a:ext cx="316650" cy="5742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34" name="Shape 4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5" name="Google Shape;4335;p27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pic>
        <p:nvPicPr>
          <p:cNvPr descr="PeterBlau.jpg" id="4336" name="Google Shape;4336;p2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84100" y="1225225"/>
            <a:ext cx="2226350" cy="3050069"/>
          </a:xfrm>
          <a:prstGeom prst="rect">
            <a:avLst/>
          </a:prstGeom>
          <a:noFill/>
          <a:ln>
            <a:noFill/>
          </a:ln>
        </p:spPr>
      </p:pic>
      <p:sp>
        <p:nvSpPr>
          <p:cNvPr id="4337" name="Google Shape;4337;p275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4"/>
              </a:rPr>
              <a:t>Peter Blau (1918 - 2002)</a:t>
            </a:r>
            <a:endParaRPr/>
          </a:p>
        </p:txBody>
      </p:sp>
      <p:pic>
        <p:nvPicPr>
          <p:cNvPr id="4338" name="Google Shape;4338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46468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39" name="Google Shape;4339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84701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0" name="Google Shape;4340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2933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1" name="Google Shape;4341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61166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2" name="Google Shape;4342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99398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3" name="Google Shape;4343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47175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4" name="Google Shape;4344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653050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5" name="Google Shape;4345;p27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494436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6" name="Google Shape;4346;p27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870811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7" name="Google Shape;4347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34700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48" name="Google Shape;4348;p275"/>
          <p:cNvGrpSpPr/>
          <p:nvPr/>
        </p:nvGrpSpPr>
        <p:grpSpPr>
          <a:xfrm>
            <a:off x="238075" y="2824400"/>
            <a:ext cx="2060700" cy="1899300"/>
            <a:chOff x="67775" y="2952125"/>
            <a:chExt cx="2060700" cy="1899300"/>
          </a:xfrm>
        </p:grpSpPr>
        <p:sp>
          <p:nvSpPr>
            <p:cNvPr id="4349" name="Google Shape;4349;p275"/>
            <p:cNvSpPr/>
            <p:nvPr/>
          </p:nvSpPr>
          <p:spPr>
            <a:xfrm>
              <a:off x="67775" y="2952125"/>
              <a:ext cx="2060700" cy="18993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50" name="Google Shape;4350;p27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954561" y="414892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51" name="Google Shape;4351;p27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300261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52" name="Google Shape;4352;p27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1143150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53" name="Google Shape;4353;p27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706938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54" name="Google Shape;4354;p27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1579350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4355" name="Google Shape;4355;p275"/>
            <p:cNvCxnSpPr>
              <a:stCxn id="4350" idx="1"/>
              <a:endCxn id="4351" idx="2"/>
            </p:cNvCxnSpPr>
            <p:nvPr/>
          </p:nvCxnSpPr>
          <p:spPr>
            <a:xfrm rot="10800000">
              <a:off x="443961" y="3908663"/>
              <a:ext cx="5106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56" name="Google Shape;4356;p275"/>
            <p:cNvCxnSpPr>
              <a:stCxn id="4350" idx="0"/>
              <a:endCxn id="4353" idx="2"/>
            </p:cNvCxnSpPr>
            <p:nvPr/>
          </p:nvCxnSpPr>
          <p:spPr>
            <a:xfrm rot="10800000">
              <a:off x="865330" y="3908625"/>
              <a:ext cx="2328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57" name="Google Shape;4357;p275"/>
            <p:cNvCxnSpPr>
              <a:stCxn id="4350" idx="0"/>
              <a:endCxn id="4352" idx="2"/>
            </p:cNvCxnSpPr>
            <p:nvPr/>
          </p:nvCxnSpPr>
          <p:spPr>
            <a:xfrm flipH="1" rot="10800000">
              <a:off x="1098130" y="3908625"/>
              <a:ext cx="2034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58" name="Google Shape;4358;p275"/>
            <p:cNvCxnSpPr>
              <a:stCxn id="4354" idx="2"/>
              <a:endCxn id="4350" idx="3"/>
            </p:cNvCxnSpPr>
            <p:nvPr/>
          </p:nvCxnSpPr>
          <p:spPr>
            <a:xfrm flipH="1">
              <a:off x="1241775" y="3908725"/>
              <a:ext cx="4959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359" name="Google Shape;4359;p275"/>
          <p:cNvGrpSpPr/>
          <p:nvPr/>
        </p:nvGrpSpPr>
        <p:grpSpPr>
          <a:xfrm>
            <a:off x="4020750" y="2824400"/>
            <a:ext cx="2060700" cy="1899300"/>
            <a:chOff x="2377225" y="2952125"/>
            <a:chExt cx="2060700" cy="1899300"/>
          </a:xfrm>
        </p:grpSpPr>
        <p:sp>
          <p:nvSpPr>
            <p:cNvPr id="4360" name="Google Shape;4360;p275"/>
            <p:cNvSpPr/>
            <p:nvPr/>
          </p:nvSpPr>
          <p:spPr>
            <a:xfrm>
              <a:off x="2377225" y="2952125"/>
              <a:ext cx="2060700" cy="18993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61" name="Google Shape;4361;p27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3264011" y="414892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62" name="Google Shape;4362;p27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2609711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63" name="Google Shape;4363;p27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3888800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4364" name="Google Shape;4364;p275"/>
            <p:cNvCxnSpPr>
              <a:stCxn id="4361" idx="1"/>
              <a:endCxn id="4362" idx="2"/>
            </p:cNvCxnSpPr>
            <p:nvPr/>
          </p:nvCxnSpPr>
          <p:spPr>
            <a:xfrm rot="10800000">
              <a:off x="2753411" y="3908663"/>
              <a:ext cx="5106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65" name="Google Shape;4365;p275"/>
            <p:cNvCxnSpPr>
              <a:stCxn id="4361" idx="0"/>
              <a:endCxn id="4366" idx="2"/>
            </p:cNvCxnSpPr>
            <p:nvPr/>
          </p:nvCxnSpPr>
          <p:spPr>
            <a:xfrm rot="10800000">
              <a:off x="3152280" y="3908625"/>
              <a:ext cx="2553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67" name="Google Shape;4367;p275"/>
            <p:cNvCxnSpPr>
              <a:stCxn id="4361" idx="0"/>
              <a:endCxn id="4368" idx="2"/>
            </p:cNvCxnSpPr>
            <p:nvPr/>
          </p:nvCxnSpPr>
          <p:spPr>
            <a:xfrm flipH="1" rot="10800000">
              <a:off x="3407580" y="3908625"/>
              <a:ext cx="1848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69" name="Google Shape;4369;p275"/>
            <p:cNvCxnSpPr>
              <a:stCxn id="4363" idx="2"/>
              <a:endCxn id="4361" idx="3"/>
            </p:cNvCxnSpPr>
            <p:nvPr/>
          </p:nvCxnSpPr>
          <p:spPr>
            <a:xfrm flipH="1">
              <a:off x="3551225" y="3908725"/>
              <a:ext cx="4959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pic>
          <p:nvPicPr>
            <p:cNvPr id="4366" name="Google Shape;4366;p27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3008649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68" name="Google Shape;4368;p27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3448724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370" name="Google Shape;4370;p27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118074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71" name="Google Shape;4371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08236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72" name="Google Shape;4372;p27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714811" y="1997425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73" name="Google Shape;4373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76313" y="20013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74" name="Google Shape;4374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76313" y="1333187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75" name="Google Shape;4375;p2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700038" y="1333187"/>
            <a:ext cx="316650" cy="5742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376" name="Google Shape;4376;p275"/>
          <p:cNvCxnSpPr>
            <a:stCxn id="4377" idx="2"/>
          </p:cNvCxnSpPr>
          <p:nvPr/>
        </p:nvCxnSpPr>
        <p:spPr>
          <a:xfrm flipH="1">
            <a:off x="2302900" y="3504325"/>
            <a:ext cx="861000" cy="344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4378" name="Google Shape;4378;p275"/>
          <p:cNvCxnSpPr>
            <a:stCxn id="4377" idx="2"/>
          </p:cNvCxnSpPr>
          <p:nvPr/>
        </p:nvCxnSpPr>
        <p:spPr>
          <a:xfrm>
            <a:off x="3163900" y="3504325"/>
            <a:ext cx="861000" cy="344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4379" name="Google Shape;4379;p275"/>
          <p:cNvSpPr/>
          <p:nvPr/>
        </p:nvSpPr>
        <p:spPr>
          <a:xfrm>
            <a:off x="311700" y="1147225"/>
            <a:ext cx="5769600" cy="17460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The World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380" name="Google Shape;4380;p275"/>
          <p:cNvSpPr txBox="1"/>
          <p:nvPr/>
        </p:nvSpPr>
        <p:spPr>
          <a:xfrm>
            <a:off x="595125" y="467760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Unbiased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381" name="Google Shape;4381;p275"/>
          <p:cNvSpPr txBox="1"/>
          <p:nvPr/>
        </p:nvSpPr>
        <p:spPr>
          <a:xfrm>
            <a:off x="4336950" y="467760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Biased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382" name="Google Shape;4382;p275"/>
          <p:cNvSpPr txBox="1"/>
          <p:nvPr/>
        </p:nvSpPr>
        <p:spPr>
          <a:xfrm>
            <a:off x="2243950" y="3206725"/>
            <a:ext cx="18399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Your ego network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86" name="Shape 4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7" name="Google Shape;4387;p27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Blau’s rules: Group size effects</a:t>
            </a:r>
            <a:endParaRPr/>
          </a:p>
        </p:txBody>
      </p:sp>
      <p:sp>
        <p:nvSpPr>
          <p:cNvPr id="4388" name="Google Shape;4388;p276"/>
          <p:cNvSpPr txBox="1"/>
          <p:nvPr>
            <p:ph idx="1" type="body"/>
          </p:nvPr>
        </p:nvSpPr>
        <p:spPr>
          <a:xfrm>
            <a:off x="311700" y="1225225"/>
            <a:ext cx="8520600" cy="163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If a categorical dimension divides the population into two or more groups: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Rule 1</a:t>
            </a:r>
            <a:r>
              <a:rPr lang="en"/>
              <a:t>:</a:t>
            </a:r>
            <a:r>
              <a:rPr i="1" lang="en"/>
              <a:t> Members of numerically smaller groups will be more likely to have relations with outgroup members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Rule 2</a:t>
            </a:r>
            <a:r>
              <a:rPr lang="en"/>
              <a:t>: </a:t>
            </a:r>
            <a:r>
              <a:rPr i="1" lang="en"/>
              <a:t>Members of numerically larger groups will be more likely to have relations with ingroup members</a:t>
            </a:r>
            <a:endParaRPr i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These are called </a:t>
            </a:r>
            <a:r>
              <a:rPr b="1" lang="en"/>
              <a:t>group size effects 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FT_15.06.12.Interracial.png" id="4389" name="Google Shape;4389;p276"/>
          <p:cNvPicPr preferRelativeResize="0"/>
          <p:nvPr/>
        </p:nvPicPr>
        <p:blipFill rotWithShape="1">
          <a:blip r:embed="rId3">
            <a:alphaModFix/>
          </a:blip>
          <a:srcRect b="38169" l="-3713" r="0" t="2764"/>
          <a:stretch/>
        </p:blipFill>
        <p:spPr>
          <a:xfrm>
            <a:off x="5569875" y="2538950"/>
            <a:ext cx="3336500" cy="23508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390" name="Google Shape;4390;p27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27175" y="2940625"/>
            <a:ext cx="3130483" cy="19760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94" name="Shape 4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5" name="Google Shape;4395;p27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Blau’s rules: Group size effects</a:t>
            </a:r>
            <a:endParaRPr/>
          </a:p>
        </p:txBody>
      </p:sp>
      <p:sp>
        <p:nvSpPr>
          <p:cNvPr id="4396" name="Google Shape;4396;p277"/>
          <p:cNvSpPr txBox="1"/>
          <p:nvPr>
            <p:ph idx="1" type="body"/>
          </p:nvPr>
        </p:nvSpPr>
        <p:spPr>
          <a:xfrm>
            <a:off x="311700" y="1225225"/>
            <a:ext cx="8520600" cy="163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If a categorical dimension divides the population into two or more groups: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Rule 1</a:t>
            </a:r>
            <a:r>
              <a:rPr lang="en"/>
              <a:t>:</a:t>
            </a:r>
            <a:r>
              <a:rPr i="1" lang="en"/>
              <a:t> Members of numerically smaller groups will be more likely to have relations with outgroup members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Rule 2</a:t>
            </a:r>
            <a:r>
              <a:rPr lang="en"/>
              <a:t>: </a:t>
            </a:r>
            <a:r>
              <a:rPr i="1" lang="en"/>
              <a:t>Members of numerically larger groups will be more likely to have relations with ingroup members</a:t>
            </a:r>
            <a:endParaRPr i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These are called </a:t>
            </a:r>
            <a:r>
              <a:rPr b="1" lang="en"/>
              <a:t>group size effects 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397" name="Google Shape;4397;p27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7175" y="2940625"/>
            <a:ext cx="3130483" cy="1976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398" name="Google Shape;4398;p277"/>
          <p:cNvPicPr preferRelativeResize="0"/>
          <p:nvPr/>
        </p:nvPicPr>
        <p:blipFill rotWithShape="1">
          <a:blip r:embed="rId4">
            <a:alphaModFix/>
          </a:blip>
          <a:srcRect b="3802" l="3344" r="0" t="4371"/>
          <a:stretch/>
        </p:blipFill>
        <p:spPr>
          <a:xfrm>
            <a:off x="5406825" y="2428900"/>
            <a:ext cx="3425475" cy="2175450"/>
          </a:xfrm>
          <a:prstGeom prst="rect">
            <a:avLst/>
          </a:prstGeom>
          <a:noFill/>
          <a:ln>
            <a:noFill/>
          </a:ln>
        </p:spPr>
      </p:pic>
      <p:sp>
        <p:nvSpPr>
          <p:cNvPr id="4399" name="Google Shape;4399;p277"/>
          <p:cNvSpPr txBox="1"/>
          <p:nvPr/>
        </p:nvSpPr>
        <p:spPr>
          <a:xfrm>
            <a:off x="4161600" y="4604350"/>
            <a:ext cx="4670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Source: Joyner, K. &amp; Kao, G. (2000). School racial composition and adolescent racial homophily. </a:t>
            </a:r>
            <a:r>
              <a:rPr i="1" lang="en" sz="1100">
                <a:solidFill>
                  <a:schemeClr val="dk1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Social Science Quarterly, 81,</a:t>
            </a:r>
            <a:r>
              <a:rPr lang="en" sz="1100">
                <a:solidFill>
                  <a:schemeClr val="dk1"/>
                </a:solidFill>
                <a:highlight>
                  <a:srgbClr val="FFFFFF"/>
                </a:highlight>
                <a:latin typeface="Economica"/>
                <a:ea typeface="Economica"/>
                <a:cs typeface="Economica"/>
                <a:sym typeface="Economica"/>
              </a:rPr>
              <a:t> 810-825.</a:t>
            </a:r>
            <a:endParaRPr sz="11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03" name="Shape 4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4" name="Google Shape;4404;p27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Blau’s rules: Multiform heterogeneity effects</a:t>
            </a:r>
            <a:endParaRPr/>
          </a:p>
        </p:txBody>
      </p:sp>
      <p:sp>
        <p:nvSpPr>
          <p:cNvPr id="4405" name="Google Shape;4405;p278"/>
          <p:cNvSpPr txBox="1"/>
          <p:nvPr>
            <p:ph idx="1" type="body"/>
          </p:nvPr>
        </p:nvSpPr>
        <p:spPr>
          <a:xfrm>
            <a:off x="311700" y="1225225"/>
            <a:ext cx="460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i="1" lang="en"/>
              <a:t>Rule 3: </a:t>
            </a:r>
            <a:endParaRPr i="1"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Example: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the U.S. there are systematic correlations between religion and race 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Multiform Heterogeneity Effect: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Network biased by race will also be biased by religion 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Even if people don’t have preferences religion of alter (or vice versa)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descr="20040817_1.gif" id="4406" name="Google Shape;4406;p27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75573" y="1587425"/>
            <a:ext cx="3856725" cy="2629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10" name="Shape 4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1" name="Google Shape;4411;p27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Blau’s rules: Multiform heterogeneity effects</a:t>
            </a:r>
            <a:endParaRPr/>
          </a:p>
        </p:txBody>
      </p:sp>
      <p:sp>
        <p:nvSpPr>
          <p:cNvPr id="4412" name="Google Shape;4412;p279"/>
          <p:cNvSpPr txBox="1"/>
          <p:nvPr>
            <p:ph idx="1" type="body"/>
          </p:nvPr>
        </p:nvSpPr>
        <p:spPr>
          <a:xfrm>
            <a:off x="311700" y="1225225"/>
            <a:ext cx="5269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This applies to any </a:t>
            </a:r>
            <a:r>
              <a:rPr b="1" lang="en"/>
              <a:t>correlation</a:t>
            </a:r>
            <a:r>
              <a:rPr lang="en"/>
              <a:t> between dimensions of association 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Categorical-Categorical </a:t>
            </a:r>
            <a:r>
              <a:rPr lang="en"/>
              <a:t>(e.g., Race and Religion)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Networks biased by religion will be biased by race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Categorical-Continuous</a:t>
            </a:r>
            <a:r>
              <a:rPr lang="en"/>
              <a:t>  (e.g., Race and Income)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Networks biased by race will be biased by income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Continuous-Continuous</a:t>
            </a:r>
            <a:r>
              <a:rPr lang="en"/>
              <a:t> (e.g., Age and Income)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Neworks biased by age will be biased by income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4413" name="Google Shape;4413;p27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81500" y="1361513"/>
            <a:ext cx="3257700" cy="242047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17" name="Shape 4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8" name="Google Shape;4418;p28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Focused organizations of social ties</a:t>
            </a:r>
            <a:endParaRPr/>
          </a:p>
        </p:txBody>
      </p:sp>
      <p:sp>
        <p:nvSpPr>
          <p:cNvPr id="4419" name="Google Shape;4419;p280"/>
          <p:cNvSpPr txBox="1"/>
          <p:nvPr>
            <p:ph idx="1" type="body"/>
          </p:nvPr>
        </p:nvSpPr>
        <p:spPr>
          <a:xfrm>
            <a:off x="311700" y="1225225"/>
            <a:ext cx="5566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One observation: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Often social relations are organized around “circles,” or “common activities”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These “foci” may themselves be a primary driver of which relations show up in people’s networks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is a “focus”?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“ a social, psychological, legal, or physical entity around which joint activities are organized (e.g., workplaces, voluntary organizations, hangouts, families, etc.” (Feld 1981: 1016)</a:t>
            </a:r>
            <a:endParaRPr i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pic>
        <p:nvPicPr>
          <p:cNvPr id="4420" name="Google Shape;4420;p280"/>
          <p:cNvPicPr preferRelativeResize="0"/>
          <p:nvPr/>
        </p:nvPicPr>
        <p:blipFill rotWithShape="1">
          <a:blip r:embed="rId3">
            <a:alphaModFix/>
          </a:blip>
          <a:srcRect b="8042" l="25470" r="25922" t="70152"/>
          <a:stretch/>
        </p:blipFill>
        <p:spPr>
          <a:xfrm>
            <a:off x="5878500" y="1379163"/>
            <a:ext cx="3069726" cy="23851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24" name="Shape 4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5" name="Google Shape;4425;p28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sp>
        <p:nvSpPr>
          <p:cNvPr id="4426" name="Google Shape;4426;p281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Scott Feld </a:t>
            </a:r>
            <a:endParaRPr/>
          </a:p>
        </p:txBody>
      </p:sp>
      <p:grpSp>
        <p:nvGrpSpPr>
          <p:cNvPr id="4427" name="Google Shape;4427;p281"/>
          <p:cNvGrpSpPr/>
          <p:nvPr/>
        </p:nvGrpSpPr>
        <p:grpSpPr>
          <a:xfrm>
            <a:off x="497488" y="1147225"/>
            <a:ext cx="1689600" cy="1507500"/>
            <a:chOff x="124738" y="1082275"/>
            <a:chExt cx="1689600" cy="1507500"/>
          </a:xfrm>
        </p:grpSpPr>
        <p:sp>
          <p:nvSpPr>
            <p:cNvPr id="4428" name="Google Shape;4428;p281"/>
            <p:cNvSpPr/>
            <p:nvPr/>
          </p:nvSpPr>
          <p:spPr>
            <a:xfrm>
              <a:off x="124738" y="1082275"/>
              <a:ext cx="1689600" cy="15075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Church</a:t>
              </a:r>
              <a:endParaRPr/>
            </a:p>
          </p:txBody>
        </p:sp>
        <p:pic>
          <p:nvPicPr>
            <p:cNvPr id="4429" name="Google Shape;4429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202336" y="145466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30" name="Google Shape;4430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25974" y="145466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31" name="Google Shape;4431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22711" y="145077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432" name="Google Shape;4432;p281"/>
          <p:cNvGrpSpPr/>
          <p:nvPr/>
        </p:nvGrpSpPr>
        <p:grpSpPr>
          <a:xfrm>
            <a:off x="2371225" y="1147213"/>
            <a:ext cx="1689600" cy="1507500"/>
            <a:chOff x="1981925" y="1127113"/>
            <a:chExt cx="1689600" cy="1507500"/>
          </a:xfrm>
        </p:grpSpPr>
        <p:sp>
          <p:nvSpPr>
            <p:cNvPr id="4433" name="Google Shape;4433;p281"/>
            <p:cNvSpPr/>
            <p:nvPr/>
          </p:nvSpPr>
          <p:spPr>
            <a:xfrm>
              <a:off x="1981925" y="1127113"/>
              <a:ext cx="1689600" cy="15075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Family</a:t>
              </a:r>
              <a:endParaRPr/>
            </a:p>
          </p:txBody>
        </p:sp>
        <p:pic>
          <p:nvPicPr>
            <p:cNvPr id="4434" name="Google Shape;4434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059536" y="151961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35" name="Google Shape;4435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683174" y="151961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36" name="Google Shape;4436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279911" y="151572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437" name="Google Shape;4437;p281"/>
          <p:cNvGrpSpPr/>
          <p:nvPr/>
        </p:nvGrpSpPr>
        <p:grpSpPr>
          <a:xfrm>
            <a:off x="4377663" y="1077075"/>
            <a:ext cx="1689600" cy="1507500"/>
            <a:chOff x="4020563" y="1127100"/>
            <a:chExt cx="1689600" cy="1507500"/>
          </a:xfrm>
        </p:grpSpPr>
        <p:sp>
          <p:nvSpPr>
            <p:cNvPr id="4438" name="Google Shape;4438;p281"/>
            <p:cNvSpPr/>
            <p:nvPr/>
          </p:nvSpPr>
          <p:spPr>
            <a:xfrm>
              <a:off x="4020563" y="1127100"/>
              <a:ext cx="1689600" cy="15075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School</a:t>
              </a:r>
              <a:endParaRPr/>
            </a:p>
          </p:txBody>
        </p:sp>
        <p:pic>
          <p:nvPicPr>
            <p:cNvPr id="4439" name="Google Shape;4439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098174" y="159761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40" name="Google Shape;4440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721811" y="159761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41" name="Google Shape;4441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18549" y="159372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442" name="Google Shape;4442;p281"/>
          <p:cNvGrpSpPr/>
          <p:nvPr/>
        </p:nvGrpSpPr>
        <p:grpSpPr>
          <a:xfrm>
            <a:off x="2899675" y="3125038"/>
            <a:ext cx="632700" cy="914700"/>
            <a:chOff x="2899675" y="3125038"/>
            <a:chExt cx="632700" cy="914700"/>
          </a:xfrm>
        </p:grpSpPr>
        <p:sp>
          <p:nvSpPr>
            <p:cNvPr id="4443" name="Google Shape;4443;p281"/>
            <p:cNvSpPr/>
            <p:nvPr/>
          </p:nvSpPr>
          <p:spPr>
            <a:xfrm>
              <a:off x="2899675" y="3125038"/>
              <a:ext cx="632700" cy="91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You</a:t>
              </a:r>
              <a:endParaRPr/>
            </a:p>
          </p:txBody>
        </p:sp>
        <p:pic>
          <p:nvPicPr>
            <p:cNvPr id="4444" name="Google Shape;4444;p28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072461" y="3199537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445" name="Google Shape;4445;p28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33711" y="3419637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46" name="Google Shape;4446;p28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072461" y="4353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47" name="Google Shape;4447;p28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11199" y="3419637"/>
            <a:ext cx="287138" cy="5742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448" name="Google Shape;4448;p281"/>
          <p:cNvCxnSpPr>
            <a:stCxn id="4443" idx="0"/>
            <a:endCxn id="4428" idx="5"/>
          </p:cNvCxnSpPr>
          <p:nvPr/>
        </p:nvCxnSpPr>
        <p:spPr>
          <a:xfrm rot="10800000">
            <a:off x="1939525" y="2433838"/>
            <a:ext cx="1276500" cy="691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49" name="Google Shape;4449;p281"/>
          <p:cNvCxnSpPr>
            <a:stCxn id="4443" idx="0"/>
            <a:endCxn id="4433" idx="4"/>
          </p:cNvCxnSpPr>
          <p:nvPr/>
        </p:nvCxnSpPr>
        <p:spPr>
          <a:xfrm rot="10800000">
            <a:off x="3216025" y="2654638"/>
            <a:ext cx="0" cy="470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50" name="Google Shape;4450;p281"/>
          <p:cNvCxnSpPr>
            <a:stCxn id="4443" idx="0"/>
            <a:endCxn id="4438" idx="3"/>
          </p:cNvCxnSpPr>
          <p:nvPr/>
        </p:nvCxnSpPr>
        <p:spPr>
          <a:xfrm flipH="1" rot="10800000">
            <a:off x="3216025" y="2363938"/>
            <a:ext cx="1409100" cy="7611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51" name="Google Shape;4451;p281"/>
          <p:cNvCxnSpPr>
            <a:stCxn id="4443" idx="1"/>
            <a:endCxn id="4445" idx="3"/>
          </p:cNvCxnSpPr>
          <p:nvPr/>
        </p:nvCxnSpPr>
        <p:spPr>
          <a:xfrm flipH="1">
            <a:off x="2120875" y="3582388"/>
            <a:ext cx="778800" cy="124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52" name="Google Shape;4452;p281"/>
          <p:cNvCxnSpPr>
            <a:stCxn id="4443" idx="2"/>
            <a:endCxn id="4446" idx="0"/>
          </p:cNvCxnSpPr>
          <p:nvPr/>
        </p:nvCxnSpPr>
        <p:spPr>
          <a:xfrm>
            <a:off x="3216025" y="4039738"/>
            <a:ext cx="0" cy="313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53" name="Google Shape;4453;p281"/>
          <p:cNvCxnSpPr>
            <a:stCxn id="4443" idx="3"/>
            <a:endCxn id="4447" idx="1"/>
          </p:cNvCxnSpPr>
          <p:nvPr/>
        </p:nvCxnSpPr>
        <p:spPr>
          <a:xfrm>
            <a:off x="3532375" y="3582388"/>
            <a:ext cx="778800" cy="124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454" name="Google Shape;4454;p281"/>
          <p:cNvSpPr txBox="1"/>
          <p:nvPr/>
        </p:nvSpPr>
        <p:spPr>
          <a:xfrm>
            <a:off x="562000" y="456165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Unbiased!</a:t>
            </a:r>
            <a:endParaRPr/>
          </a:p>
        </p:txBody>
      </p:sp>
      <p:pic>
        <p:nvPicPr>
          <p:cNvPr id="4455" name="Google Shape;4455;p28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58275" y="1172025"/>
            <a:ext cx="2474025" cy="31449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59" name="Shape 4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0" name="Google Shape;4460;p28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grpSp>
        <p:nvGrpSpPr>
          <p:cNvPr id="4461" name="Google Shape;4461;p282"/>
          <p:cNvGrpSpPr/>
          <p:nvPr/>
        </p:nvGrpSpPr>
        <p:grpSpPr>
          <a:xfrm>
            <a:off x="497488" y="1147225"/>
            <a:ext cx="1689600" cy="1507500"/>
            <a:chOff x="124738" y="1082275"/>
            <a:chExt cx="1689600" cy="1507500"/>
          </a:xfrm>
        </p:grpSpPr>
        <p:sp>
          <p:nvSpPr>
            <p:cNvPr id="4462" name="Google Shape;4462;p282"/>
            <p:cNvSpPr/>
            <p:nvPr/>
          </p:nvSpPr>
          <p:spPr>
            <a:xfrm>
              <a:off x="124738" y="1082275"/>
              <a:ext cx="1689600" cy="15075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Church</a:t>
              </a:r>
              <a:endParaRPr/>
            </a:p>
          </p:txBody>
        </p:sp>
        <p:pic>
          <p:nvPicPr>
            <p:cNvPr id="4463" name="Google Shape;4463;p28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202336" y="145466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464" name="Google Shape;4464;p282"/>
          <p:cNvGrpSpPr/>
          <p:nvPr/>
        </p:nvGrpSpPr>
        <p:grpSpPr>
          <a:xfrm>
            <a:off x="2371225" y="1147213"/>
            <a:ext cx="1689600" cy="1507500"/>
            <a:chOff x="1981925" y="1127113"/>
            <a:chExt cx="1689600" cy="1507500"/>
          </a:xfrm>
        </p:grpSpPr>
        <p:sp>
          <p:nvSpPr>
            <p:cNvPr id="4465" name="Google Shape;4465;p282"/>
            <p:cNvSpPr/>
            <p:nvPr/>
          </p:nvSpPr>
          <p:spPr>
            <a:xfrm>
              <a:off x="1981925" y="1127113"/>
              <a:ext cx="1689600" cy="15075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Family</a:t>
              </a:r>
              <a:endParaRPr/>
            </a:p>
          </p:txBody>
        </p:sp>
        <p:pic>
          <p:nvPicPr>
            <p:cNvPr id="4466" name="Google Shape;4466;p28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059536" y="151961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467" name="Google Shape;4467;p282"/>
          <p:cNvGrpSpPr/>
          <p:nvPr/>
        </p:nvGrpSpPr>
        <p:grpSpPr>
          <a:xfrm>
            <a:off x="4377663" y="1077075"/>
            <a:ext cx="1689600" cy="1507500"/>
            <a:chOff x="4020563" y="1127100"/>
            <a:chExt cx="1689600" cy="1507500"/>
          </a:xfrm>
        </p:grpSpPr>
        <p:sp>
          <p:nvSpPr>
            <p:cNvPr id="4468" name="Google Shape;4468;p282"/>
            <p:cNvSpPr/>
            <p:nvPr/>
          </p:nvSpPr>
          <p:spPr>
            <a:xfrm>
              <a:off x="4020563" y="1127100"/>
              <a:ext cx="1689600" cy="15075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School</a:t>
              </a:r>
              <a:endParaRPr/>
            </a:p>
          </p:txBody>
        </p:sp>
        <p:pic>
          <p:nvPicPr>
            <p:cNvPr id="4469" name="Google Shape;4469;p28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098174" y="1597612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470" name="Google Shape;4470;p282"/>
          <p:cNvGrpSpPr/>
          <p:nvPr/>
        </p:nvGrpSpPr>
        <p:grpSpPr>
          <a:xfrm>
            <a:off x="2899675" y="3125038"/>
            <a:ext cx="632700" cy="914700"/>
            <a:chOff x="2899675" y="3125038"/>
            <a:chExt cx="632700" cy="914700"/>
          </a:xfrm>
        </p:grpSpPr>
        <p:sp>
          <p:nvSpPr>
            <p:cNvPr id="4471" name="Google Shape;4471;p282"/>
            <p:cNvSpPr/>
            <p:nvPr/>
          </p:nvSpPr>
          <p:spPr>
            <a:xfrm>
              <a:off x="2899675" y="3125038"/>
              <a:ext cx="632700" cy="91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You</a:t>
              </a:r>
              <a:endParaRPr/>
            </a:p>
          </p:txBody>
        </p:sp>
        <p:pic>
          <p:nvPicPr>
            <p:cNvPr id="4472" name="Google Shape;4472;p28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072461" y="3199537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473" name="Google Shape;4473;p28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072461" y="4353312"/>
            <a:ext cx="287138" cy="5742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474" name="Google Shape;4474;p282"/>
          <p:cNvCxnSpPr>
            <a:stCxn id="4471" idx="0"/>
            <a:endCxn id="4462" idx="5"/>
          </p:cNvCxnSpPr>
          <p:nvPr/>
        </p:nvCxnSpPr>
        <p:spPr>
          <a:xfrm rot="10800000">
            <a:off x="1939525" y="2433838"/>
            <a:ext cx="1276500" cy="691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75" name="Google Shape;4475;p282"/>
          <p:cNvCxnSpPr>
            <a:stCxn id="4471" idx="0"/>
            <a:endCxn id="4465" idx="4"/>
          </p:cNvCxnSpPr>
          <p:nvPr/>
        </p:nvCxnSpPr>
        <p:spPr>
          <a:xfrm rot="10800000">
            <a:off x="3216025" y="2654638"/>
            <a:ext cx="0" cy="470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76" name="Google Shape;4476;p282"/>
          <p:cNvCxnSpPr>
            <a:stCxn id="4471" idx="0"/>
            <a:endCxn id="4468" idx="3"/>
          </p:cNvCxnSpPr>
          <p:nvPr/>
        </p:nvCxnSpPr>
        <p:spPr>
          <a:xfrm flipH="1" rot="10800000">
            <a:off x="3216025" y="2363938"/>
            <a:ext cx="1409100" cy="7611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77" name="Google Shape;4477;p282"/>
          <p:cNvCxnSpPr>
            <a:stCxn id="4471" idx="1"/>
            <a:endCxn id="4478" idx="3"/>
          </p:cNvCxnSpPr>
          <p:nvPr/>
        </p:nvCxnSpPr>
        <p:spPr>
          <a:xfrm flipH="1">
            <a:off x="2123575" y="3582388"/>
            <a:ext cx="776100" cy="1437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79" name="Google Shape;4479;p282"/>
          <p:cNvCxnSpPr>
            <a:stCxn id="4471" idx="2"/>
            <a:endCxn id="4473" idx="0"/>
          </p:cNvCxnSpPr>
          <p:nvPr/>
        </p:nvCxnSpPr>
        <p:spPr>
          <a:xfrm>
            <a:off x="3216025" y="4039738"/>
            <a:ext cx="0" cy="313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80" name="Google Shape;4480;p282"/>
          <p:cNvCxnSpPr>
            <a:stCxn id="4471" idx="3"/>
            <a:endCxn id="4481" idx="1"/>
          </p:cNvCxnSpPr>
          <p:nvPr/>
        </p:nvCxnSpPr>
        <p:spPr>
          <a:xfrm>
            <a:off x="3532375" y="3582388"/>
            <a:ext cx="776100" cy="1437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478" name="Google Shape;4478;p2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806925" y="3438837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1" name="Google Shape;4481;p2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308475" y="34388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2" name="Google Shape;4482;p2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83975" y="15040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3" name="Google Shape;4483;p2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03075" y="15040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4" name="Google Shape;4484;p2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669950" y="15437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5" name="Google Shape;4485;p2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057700" y="1543699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6" name="Google Shape;4486;p2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064138" y="1543699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7" name="Google Shape;4487;p2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20900" y="1543712"/>
            <a:ext cx="316650" cy="574276"/>
          </a:xfrm>
          <a:prstGeom prst="rect">
            <a:avLst/>
          </a:prstGeom>
          <a:noFill/>
          <a:ln>
            <a:noFill/>
          </a:ln>
        </p:spPr>
      </p:pic>
      <p:sp>
        <p:nvSpPr>
          <p:cNvPr id="4488" name="Google Shape;4488;p282"/>
          <p:cNvSpPr txBox="1"/>
          <p:nvPr/>
        </p:nvSpPr>
        <p:spPr>
          <a:xfrm>
            <a:off x="562000" y="456165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Unbiased!</a:t>
            </a:r>
            <a:endParaRPr/>
          </a:p>
        </p:txBody>
      </p:sp>
      <p:sp>
        <p:nvSpPr>
          <p:cNvPr id="4489" name="Google Shape;4489;p282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Scott Feld </a:t>
            </a:r>
            <a:endParaRPr/>
          </a:p>
        </p:txBody>
      </p:sp>
      <p:pic>
        <p:nvPicPr>
          <p:cNvPr id="4490" name="Google Shape;4490;p28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358275" y="1172025"/>
            <a:ext cx="2474025" cy="31449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94" name="Shape 4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5" name="Google Shape;4495;p28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sp>
        <p:nvSpPr>
          <p:cNvPr id="4496" name="Google Shape;4496;p283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Scott Feld </a:t>
            </a:r>
            <a:endParaRPr/>
          </a:p>
        </p:txBody>
      </p:sp>
      <p:pic>
        <p:nvPicPr>
          <p:cNvPr id="4497" name="Google Shape;4497;p28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58275" y="1172025"/>
            <a:ext cx="2474025" cy="3144950"/>
          </a:xfrm>
          <a:prstGeom prst="rect">
            <a:avLst/>
          </a:prstGeom>
          <a:noFill/>
          <a:ln>
            <a:noFill/>
          </a:ln>
        </p:spPr>
      </p:pic>
      <p:sp>
        <p:nvSpPr>
          <p:cNvPr id="4498" name="Google Shape;4498;p283"/>
          <p:cNvSpPr txBox="1"/>
          <p:nvPr>
            <p:ph idx="1" type="body"/>
          </p:nvPr>
        </p:nvSpPr>
        <p:spPr>
          <a:xfrm>
            <a:off x="311700" y="1225225"/>
            <a:ext cx="6046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typical settings </a:t>
            </a:r>
            <a:r>
              <a:rPr lang="en"/>
              <a:t>within which you interact as reference for bias: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Feld Rule</a:t>
            </a:r>
            <a:r>
              <a:rPr lang="en"/>
              <a:t>: If the settings within which you interact are biased towards a particular categorical or continuous dimension of association your ego-network will reflect that bias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Feld referred to these settings as </a:t>
            </a:r>
            <a:r>
              <a:rPr b="1" lang="en"/>
              <a:t>social foci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Therefore, this is the called the </a:t>
            </a:r>
            <a:r>
              <a:rPr b="1" lang="en"/>
              <a:t>focus effect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Foci</a:t>
            </a:r>
            <a:r>
              <a:rPr b="1" i="1" lang="en"/>
              <a:t> </a:t>
            </a:r>
            <a:r>
              <a:rPr i="1" lang="en"/>
              <a:t>make homophily happen via segregation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Conversely,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Desegregated foci reduce homophily </a:t>
            </a:r>
            <a:endParaRPr i="1"/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02" name="Shape 4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3" name="Google Shape;4503;p28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Focused organizations of social ties</a:t>
            </a:r>
            <a:endParaRPr/>
          </a:p>
        </p:txBody>
      </p:sp>
      <p:sp>
        <p:nvSpPr>
          <p:cNvPr id="4504" name="Google Shape;4504;p284"/>
          <p:cNvSpPr txBox="1"/>
          <p:nvPr>
            <p:ph idx="1" type="body"/>
          </p:nvPr>
        </p:nvSpPr>
        <p:spPr>
          <a:xfrm>
            <a:off x="311700" y="1225225"/>
            <a:ext cx="5566800" cy="8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suggests two new mechanisms for where ties come from: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grpSp>
        <p:nvGrpSpPr>
          <p:cNvPr id="4505" name="Google Shape;4505;p284"/>
          <p:cNvGrpSpPr/>
          <p:nvPr/>
        </p:nvGrpSpPr>
        <p:grpSpPr>
          <a:xfrm>
            <a:off x="1027590" y="2056524"/>
            <a:ext cx="4135005" cy="2753453"/>
            <a:chOff x="457300" y="1874050"/>
            <a:chExt cx="4519625" cy="3013850"/>
          </a:xfrm>
        </p:grpSpPr>
        <p:pic>
          <p:nvPicPr>
            <p:cNvPr id="4506" name="Google Shape;4506;p284"/>
            <p:cNvPicPr preferRelativeResize="0"/>
            <p:nvPr/>
          </p:nvPicPr>
          <p:blipFill rotWithShape="1">
            <a:blip r:embed="rId3">
              <a:alphaModFix/>
            </a:blip>
            <a:srcRect b="78822" l="19131" r="24569" t="10521"/>
            <a:stretch/>
          </p:blipFill>
          <p:spPr>
            <a:xfrm>
              <a:off x="457300" y="1874050"/>
              <a:ext cx="4199400" cy="115712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07" name="Google Shape;4507;p284"/>
            <p:cNvSpPr txBox="1"/>
            <p:nvPr/>
          </p:nvSpPr>
          <p:spPr>
            <a:xfrm>
              <a:off x="777525" y="2968850"/>
              <a:ext cx="3372600" cy="409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From circle to relation</a:t>
              </a:r>
              <a:endParaRPr/>
            </a:p>
          </p:txBody>
        </p:sp>
        <p:pic>
          <p:nvPicPr>
            <p:cNvPr id="4508" name="Google Shape;4508;p284"/>
            <p:cNvPicPr preferRelativeResize="0"/>
            <p:nvPr/>
          </p:nvPicPr>
          <p:blipFill rotWithShape="1">
            <a:blip r:embed="rId3">
              <a:alphaModFix/>
            </a:blip>
            <a:srcRect b="11530" l="26337" r="24518" t="79547"/>
            <a:stretch/>
          </p:blipFill>
          <p:spPr>
            <a:xfrm>
              <a:off x="549000" y="3378050"/>
              <a:ext cx="4164150" cy="110065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09" name="Google Shape;4509;p284"/>
            <p:cNvSpPr txBox="1"/>
            <p:nvPr/>
          </p:nvSpPr>
          <p:spPr>
            <a:xfrm>
              <a:off x="777525" y="4478700"/>
              <a:ext cx="4199400" cy="409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From common activity to relation</a:t>
              </a:r>
              <a:endParaRPr/>
            </a:p>
          </p:txBody>
        </p:sp>
      </p:grpSp>
      <p:sp>
        <p:nvSpPr>
          <p:cNvPr id="4510" name="Google Shape;4510;p284"/>
          <p:cNvSpPr/>
          <p:nvPr/>
        </p:nvSpPr>
        <p:spPr>
          <a:xfrm>
            <a:off x="6867750" y="2665850"/>
            <a:ext cx="834900" cy="8313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11" name="Google Shape;4511;p284"/>
          <p:cNvSpPr/>
          <p:nvPr/>
        </p:nvSpPr>
        <p:spPr>
          <a:xfrm>
            <a:off x="5841613" y="17048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12" name="Google Shape;4512;p284"/>
          <p:cNvSpPr/>
          <p:nvPr/>
        </p:nvSpPr>
        <p:spPr>
          <a:xfrm>
            <a:off x="7087723" y="14786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13" name="Google Shape;4513;p284"/>
          <p:cNvSpPr/>
          <p:nvPr/>
        </p:nvSpPr>
        <p:spPr>
          <a:xfrm>
            <a:off x="8016434" y="19838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14" name="Google Shape;4514;p284"/>
          <p:cNvSpPr/>
          <p:nvPr/>
        </p:nvSpPr>
        <p:spPr>
          <a:xfrm>
            <a:off x="5841613" y="39635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15" name="Google Shape;4515;p284"/>
          <p:cNvSpPr/>
          <p:nvPr/>
        </p:nvSpPr>
        <p:spPr>
          <a:xfrm>
            <a:off x="6929023" y="41791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16" name="Google Shape;4516;p284"/>
          <p:cNvSpPr/>
          <p:nvPr/>
        </p:nvSpPr>
        <p:spPr>
          <a:xfrm>
            <a:off x="8016434" y="39635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17" name="Google Shape;4517;p284"/>
          <p:cNvSpPr/>
          <p:nvPr/>
        </p:nvSpPr>
        <p:spPr>
          <a:xfrm>
            <a:off x="5357538" y="28288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18" name="Google Shape;4518;p284"/>
          <p:cNvSpPr/>
          <p:nvPr/>
        </p:nvSpPr>
        <p:spPr>
          <a:xfrm>
            <a:off x="8275938" y="28341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519" name="Google Shape;4519;p284"/>
          <p:cNvCxnSpPr>
            <a:stCxn id="4511" idx="3"/>
            <a:endCxn id="4517" idx="0"/>
          </p:cNvCxnSpPr>
          <p:nvPr/>
        </p:nvCxnSpPr>
        <p:spPr>
          <a:xfrm flipH="1">
            <a:off x="5635710" y="2136083"/>
            <a:ext cx="287400" cy="692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0" name="Google Shape;4520;p284"/>
          <p:cNvCxnSpPr>
            <a:stCxn id="4512" idx="3"/>
            <a:endCxn id="4511" idx="6"/>
          </p:cNvCxnSpPr>
          <p:nvPr/>
        </p:nvCxnSpPr>
        <p:spPr>
          <a:xfrm flipH="1">
            <a:off x="6398221" y="19098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1" name="Google Shape;4521;p284"/>
          <p:cNvCxnSpPr>
            <a:stCxn id="4512" idx="3"/>
            <a:endCxn id="4517" idx="0"/>
          </p:cNvCxnSpPr>
          <p:nvPr/>
        </p:nvCxnSpPr>
        <p:spPr>
          <a:xfrm flipH="1">
            <a:off x="5635921" y="1909841"/>
            <a:ext cx="1533300" cy="919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2" name="Google Shape;4522;p284"/>
          <p:cNvCxnSpPr>
            <a:stCxn id="4512" idx="3"/>
            <a:endCxn id="4514" idx="0"/>
          </p:cNvCxnSpPr>
          <p:nvPr/>
        </p:nvCxnSpPr>
        <p:spPr>
          <a:xfrm flipH="1">
            <a:off x="6119821" y="19098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3" name="Google Shape;4523;p284"/>
          <p:cNvCxnSpPr>
            <a:stCxn id="4517" idx="4"/>
            <a:endCxn id="4514" idx="0"/>
          </p:cNvCxnSpPr>
          <p:nvPr/>
        </p:nvCxnSpPr>
        <p:spPr>
          <a:xfrm>
            <a:off x="5635788" y="3334093"/>
            <a:ext cx="484200" cy="629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4" name="Google Shape;4524;p284"/>
          <p:cNvCxnSpPr>
            <a:stCxn id="4516" idx="2"/>
            <a:endCxn id="4515" idx="6"/>
          </p:cNvCxnSpPr>
          <p:nvPr/>
        </p:nvCxnSpPr>
        <p:spPr>
          <a:xfrm flipH="1">
            <a:off x="7485434" y="4216118"/>
            <a:ext cx="531000" cy="215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5" name="Google Shape;4525;p284"/>
          <p:cNvCxnSpPr>
            <a:stCxn id="4511" idx="4"/>
            <a:endCxn id="4514" idx="0"/>
          </p:cNvCxnSpPr>
          <p:nvPr/>
        </p:nvCxnSpPr>
        <p:spPr>
          <a:xfrm>
            <a:off x="6119863" y="22100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6" name="Google Shape;4526;p284"/>
          <p:cNvCxnSpPr>
            <a:stCxn id="4515" idx="2"/>
            <a:endCxn id="4514" idx="6"/>
          </p:cNvCxnSpPr>
          <p:nvPr/>
        </p:nvCxnSpPr>
        <p:spPr>
          <a:xfrm rot="10800000">
            <a:off x="6398023" y="4216076"/>
            <a:ext cx="531000" cy="215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7" name="Google Shape;4527;p284"/>
          <p:cNvCxnSpPr>
            <a:stCxn id="4518" idx="4"/>
            <a:endCxn id="4516" idx="0"/>
          </p:cNvCxnSpPr>
          <p:nvPr/>
        </p:nvCxnSpPr>
        <p:spPr>
          <a:xfrm flipH="1">
            <a:off x="8294688" y="33393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8" name="Google Shape;4528;p284"/>
          <p:cNvCxnSpPr>
            <a:stCxn id="4511" idx="5"/>
            <a:endCxn id="4510" idx="1"/>
          </p:cNvCxnSpPr>
          <p:nvPr/>
        </p:nvCxnSpPr>
        <p:spPr>
          <a:xfrm>
            <a:off x="6316615" y="2136083"/>
            <a:ext cx="673500" cy="651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9" name="Google Shape;4529;p284"/>
          <p:cNvCxnSpPr>
            <a:stCxn id="4517" idx="6"/>
            <a:endCxn id="4510" idx="2"/>
          </p:cNvCxnSpPr>
          <p:nvPr/>
        </p:nvCxnSpPr>
        <p:spPr>
          <a:xfrm>
            <a:off x="5914038" y="3081493"/>
            <a:ext cx="953700" cy="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0" name="Google Shape;4530;p284"/>
          <p:cNvCxnSpPr>
            <a:stCxn id="4510" idx="3"/>
            <a:endCxn id="4514" idx="7"/>
          </p:cNvCxnSpPr>
          <p:nvPr/>
        </p:nvCxnSpPr>
        <p:spPr>
          <a:xfrm flipH="1">
            <a:off x="6316518" y="3375409"/>
            <a:ext cx="673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1" name="Google Shape;4531;p284"/>
          <p:cNvCxnSpPr>
            <a:stCxn id="4510" idx="4"/>
            <a:endCxn id="4515" idx="0"/>
          </p:cNvCxnSpPr>
          <p:nvPr/>
        </p:nvCxnSpPr>
        <p:spPr>
          <a:xfrm flipH="1">
            <a:off x="7207200" y="3497150"/>
            <a:ext cx="780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2" name="Google Shape;4532;p284"/>
          <p:cNvCxnSpPr>
            <a:stCxn id="4510" idx="5"/>
            <a:endCxn id="4516" idx="1"/>
          </p:cNvCxnSpPr>
          <p:nvPr/>
        </p:nvCxnSpPr>
        <p:spPr>
          <a:xfrm>
            <a:off x="7580382" y="3375409"/>
            <a:ext cx="517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3" name="Google Shape;4533;p284"/>
          <p:cNvCxnSpPr>
            <a:stCxn id="4510" idx="6"/>
            <a:endCxn id="4518" idx="2"/>
          </p:cNvCxnSpPr>
          <p:nvPr/>
        </p:nvCxnSpPr>
        <p:spPr>
          <a:xfrm>
            <a:off x="7702650" y="3081500"/>
            <a:ext cx="573300" cy="5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4" name="Google Shape;4534;p284"/>
          <p:cNvCxnSpPr>
            <a:stCxn id="4510" idx="7"/>
            <a:endCxn id="4513" idx="3"/>
          </p:cNvCxnSpPr>
          <p:nvPr/>
        </p:nvCxnSpPr>
        <p:spPr>
          <a:xfrm flipH="1" rot="10800000">
            <a:off x="7580382" y="2414991"/>
            <a:ext cx="517500" cy="372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5" name="Google Shape;4535;p284"/>
          <p:cNvCxnSpPr>
            <a:stCxn id="4512" idx="4"/>
            <a:endCxn id="4510" idx="0"/>
          </p:cNvCxnSpPr>
          <p:nvPr/>
        </p:nvCxnSpPr>
        <p:spPr>
          <a:xfrm flipH="1">
            <a:off x="7285273" y="1983826"/>
            <a:ext cx="807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6" name="Google Shape;4536;p284"/>
          <p:cNvCxnSpPr>
            <a:stCxn id="4518" idx="4"/>
            <a:endCxn id="4514" idx="6"/>
          </p:cNvCxnSpPr>
          <p:nvPr/>
        </p:nvCxnSpPr>
        <p:spPr>
          <a:xfrm flipH="1">
            <a:off x="6398088" y="33393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40" name="Shape 4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1" name="Google Shape;4541;p28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Focused organizations of social ties</a:t>
            </a:r>
            <a:endParaRPr/>
          </a:p>
        </p:txBody>
      </p:sp>
      <p:sp>
        <p:nvSpPr>
          <p:cNvPr id="4542" name="Google Shape;4542;p285"/>
          <p:cNvSpPr txBox="1"/>
          <p:nvPr>
            <p:ph idx="1" type="body"/>
          </p:nvPr>
        </p:nvSpPr>
        <p:spPr>
          <a:xfrm>
            <a:off x="311700" y="1225225"/>
            <a:ext cx="491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Foci vary around several dimensions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Constraint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Time and energy that they require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Size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Foci emerge from pre-existing relations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Friends form clubs, participate in common activities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Multiple intersecting foci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“Cross-cutting” circles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Clustering at the ego-network level may be the result of constraining overlapping foci</a:t>
            </a:r>
            <a:endParaRPr/>
          </a:p>
        </p:txBody>
      </p:sp>
      <p:sp>
        <p:nvSpPr>
          <p:cNvPr id="4543" name="Google Shape;4543;p285"/>
          <p:cNvSpPr/>
          <p:nvPr/>
        </p:nvSpPr>
        <p:spPr>
          <a:xfrm>
            <a:off x="6867750" y="2665850"/>
            <a:ext cx="834900" cy="8313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44" name="Google Shape;4544;p285"/>
          <p:cNvSpPr/>
          <p:nvPr/>
        </p:nvSpPr>
        <p:spPr>
          <a:xfrm>
            <a:off x="5841613" y="17048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45" name="Google Shape;4545;p285"/>
          <p:cNvSpPr/>
          <p:nvPr/>
        </p:nvSpPr>
        <p:spPr>
          <a:xfrm>
            <a:off x="7087723" y="14786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46" name="Google Shape;4546;p285"/>
          <p:cNvSpPr/>
          <p:nvPr/>
        </p:nvSpPr>
        <p:spPr>
          <a:xfrm>
            <a:off x="8016434" y="19838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47" name="Google Shape;4547;p285"/>
          <p:cNvSpPr/>
          <p:nvPr/>
        </p:nvSpPr>
        <p:spPr>
          <a:xfrm>
            <a:off x="5841613" y="39635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48" name="Google Shape;4548;p285"/>
          <p:cNvSpPr/>
          <p:nvPr/>
        </p:nvSpPr>
        <p:spPr>
          <a:xfrm>
            <a:off x="6929023" y="41791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49" name="Google Shape;4549;p285"/>
          <p:cNvSpPr/>
          <p:nvPr/>
        </p:nvSpPr>
        <p:spPr>
          <a:xfrm>
            <a:off x="8016434" y="39635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50" name="Google Shape;4550;p285"/>
          <p:cNvSpPr/>
          <p:nvPr/>
        </p:nvSpPr>
        <p:spPr>
          <a:xfrm>
            <a:off x="5357538" y="28288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551" name="Google Shape;4551;p285"/>
          <p:cNvSpPr/>
          <p:nvPr/>
        </p:nvSpPr>
        <p:spPr>
          <a:xfrm>
            <a:off x="8275938" y="28341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552" name="Google Shape;4552;p285"/>
          <p:cNvCxnSpPr>
            <a:stCxn id="4544" idx="3"/>
            <a:endCxn id="4550" idx="0"/>
          </p:cNvCxnSpPr>
          <p:nvPr/>
        </p:nvCxnSpPr>
        <p:spPr>
          <a:xfrm flipH="1">
            <a:off x="5635710" y="2136083"/>
            <a:ext cx="287400" cy="692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3" name="Google Shape;4553;p285"/>
          <p:cNvCxnSpPr>
            <a:stCxn id="4545" idx="3"/>
            <a:endCxn id="4544" idx="6"/>
          </p:cNvCxnSpPr>
          <p:nvPr/>
        </p:nvCxnSpPr>
        <p:spPr>
          <a:xfrm flipH="1">
            <a:off x="6398221" y="19098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4" name="Google Shape;4554;p285"/>
          <p:cNvCxnSpPr>
            <a:stCxn id="4545" idx="3"/>
            <a:endCxn id="4550" idx="0"/>
          </p:cNvCxnSpPr>
          <p:nvPr/>
        </p:nvCxnSpPr>
        <p:spPr>
          <a:xfrm flipH="1">
            <a:off x="5635921" y="1909841"/>
            <a:ext cx="1533300" cy="919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5" name="Google Shape;4555;p285"/>
          <p:cNvCxnSpPr>
            <a:stCxn id="4545" idx="3"/>
            <a:endCxn id="4547" idx="0"/>
          </p:cNvCxnSpPr>
          <p:nvPr/>
        </p:nvCxnSpPr>
        <p:spPr>
          <a:xfrm flipH="1">
            <a:off x="6119821" y="19098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6" name="Google Shape;4556;p285"/>
          <p:cNvCxnSpPr>
            <a:stCxn id="4550" idx="4"/>
            <a:endCxn id="4547" idx="0"/>
          </p:cNvCxnSpPr>
          <p:nvPr/>
        </p:nvCxnSpPr>
        <p:spPr>
          <a:xfrm>
            <a:off x="5635788" y="3334093"/>
            <a:ext cx="484200" cy="629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7" name="Google Shape;4557;p285"/>
          <p:cNvCxnSpPr>
            <a:stCxn id="4549" idx="2"/>
            <a:endCxn id="4548" idx="6"/>
          </p:cNvCxnSpPr>
          <p:nvPr/>
        </p:nvCxnSpPr>
        <p:spPr>
          <a:xfrm flipH="1">
            <a:off x="7485434" y="4216118"/>
            <a:ext cx="531000" cy="215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8" name="Google Shape;4558;p285"/>
          <p:cNvCxnSpPr>
            <a:stCxn id="4544" idx="4"/>
            <a:endCxn id="4547" idx="0"/>
          </p:cNvCxnSpPr>
          <p:nvPr/>
        </p:nvCxnSpPr>
        <p:spPr>
          <a:xfrm>
            <a:off x="6119863" y="22100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9" name="Google Shape;4559;p285"/>
          <p:cNvCxnSpPr>
            <a:stCxn id="4548" idx="2"/>
            <a:endCxn id="4547" idx="6"/>
          </p:cNvCxnSpPr>
          <p:nvPr/>
        </p:nvCxnSpPr>
        <p:spPr>
          <a:xfrm rot="10800000">
            <a:off x="6398023" y="4216076"/>
            <a:ext cx="531000" cy="215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0" name="Google Shape;4560;p285"/>
          <p:cNvCxnSpPr>
            <a:stCxn id="4551" idx="4"/>
            <a:endCxn id="4549" idx="0"/>
          </p:cNvCxnSpPr>
          <p:nvPr/>
        </p:nvCxnSpPr>
        <p:spPr>
          <a:xfrm flipH="1">
            <a:off x="8294688" y="33393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1" name="Google Shape;4561;p285"/>
          <p:cNvCxnSpPr>
            <a:stCxn id="4544" idx="5"/>
            <a:endCxn id="4543" idx="1"/>
          </p:cNvCxnSpPr>
          <p:nvPr/>
        </p:nvCxnSpPr>
        <p:spPr>
          <a:xfrm>
            <a:off x="6316615" y="2136083"/>
            <a:ext cx="673500" cy="651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2" name="Google Shape;4562;p285"/>
          <p:cNvCxnSpPr>
            <a:stCxn id="4550" idx="6"/>
            <a:endCxn id="4543" idx="2"/>
          </p:cNvCxnSpPr>
          <p:nvPr/>
        </p:nvCxnSpPr>
        <p:spPr>
          <a:xfrm>
            <a:off x="5914038" y="3081493"/>
            <a:ext cx="953700" cy="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3" name="Google Shape;4563;p285"/>
          <p:cNvCxnSpPr>
            <a:stCxn id="4543" idx="3"/>
            <a:endCxn id="4547" idx="7"/>
          </p:cNvCxnSpPr>
          <p:nvPr/>
        </p:nvCxnSpPr>
        <p:spPr>
          <a:xfrm flipH="1">
            <a:off x="6316518" y="3375409"/>
            <a:ext cx="673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4" name="Google Shape;4564;p285"/>
          <p:cNvCxnSpPr>
            <a:stCxn id="4543" idx="4"/>
            <a:endCxn id="4548" idx="0"/>
          </p:cNvCxnSpPr>
          <p:nvPr/>
        </p:nvCxnSpPr>
        <p:spPr>
          <a:xfrm flipH="1">
            <a:off x="7207200" y="3497150"/>
            <a:ext cx="780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5" name="Google Shape;4565;p285"/>
          <p:cNvCxnSpPr>
            <a:stCxn id="4543" idx="5"/>
            <a:endCxn id="4549" idx="1"/>
          </p:cNvCxnSpPr>
          <p:nvPr/>
        </p:nvCxnSpPr>
        <p:spPr>
          <a:xfrm>
            <a:off x="7580382" y="3375409"/>
            <a:ext cx="517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6" name="Google Shape;4566;p285"/>
          <p:cNvCxnSpPr>
            <a:stCxn id="4543" idx="6"/>
            <a:endCxn id="4551" idx="2"/>
          </p:cNvCxnSpPr>
          <p:nvPr/>
        </p:nvCxnSpPr>
        <p:spPr>
          <a:xfrm>
            <a:off x="7702650" y="3081500"/>
            <a:ext cx="573300" cy="5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7" name="Google Shape;4567;p285"/>
          <p:cNvCxnSpPr>
            <a:stCxn id="4543" idx="7"/>
            <a:endCxn id="4546" idx="3"/>
          </p:cNvCxnSpPr>
          <p:nvPr/>
        </p:nvCxnSpPr>
        <p:spPr>
          <a:xfrm flipH="1" rot="10800000">
            <a:off x="7580382" y="2414991"/>
            <a:ext cx="517500" cy="372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8" name="Google Shape;4568;p285"/>
          <p:cNvCxnSpPr>
            <a:stCxn id="4545" idx="4"/>
            <a:endCxn id="4543" idx="0"/>
          </p:cNvCxnSpPr>
          <p:nvPr/>
        </p:nvCxnSpPr>
        <p:spPr>
          <a:xfrm flipH="1">
            <a:off x="7285273" y="1983826"/>
            <a:ext cx="807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9" name="Google Shape;4569;p285"/>
          <p:cNvCxnSpPr>
            <a:stCxn id="4551" idx="4"/>
            <a:endCxn id="4547" idx="6"/>
          </p:cNvCxnSpPr>
          <p:nvPr/>
        </p:nvCxnSpPr>
        <p:spPr>
          <a:xfrm flipH="1">
            <a:off x="6398088" y="33393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73" name="Shape 4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4" name="Google Shape;4574;p286"/>
          <p:cNvSpPr/>
          <p:nvPr/>
        </p:nvSpPr>
        <p:spPr>
          <a:xfrm>
            <a:off x="311700" y="1147225"/>
            <a:ext cx="5769600" cy="17460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</a:t>
            </a:r>
            <a:endParaRPr/>
          </a:p>
        </p:txBody>
      </p:sp>
      <p:sp>
        <p:nvSpPr>
          <p:cNvPr id="4575" name="Google Shape;4575;p28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pic>
        <p:nvPicPr>
          <p:cNvPr id="4576" name="Google Shape;4576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46468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77" name="Google Shape;4577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4701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78" name="Google Shape;4578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22933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79" name="Google Shape;4579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61166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0" name="Google Shape;4580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993988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1" name="Google Shape;4581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247175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2" name="Google Shape;4582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653050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3" name="Google Shape;4583;p28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94436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4" name="Google Shape;4584;p28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870811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5" name="Google Shape;4585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034700" y="2001312"/>
            <a:ext cx="316650" cy="5742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86" name="Google Shape;4586;p286"/>
          <p:cNvGrpSpPr/>
          <p:nvPr/>
        </p:nvGrpSpPr>
        <p:grpSpPr>
          <a:xfrm>
            <a:off x="238075" y="2824400"/>
            <a:ext cx="2060700" cy="1899300"/>
            <a:chOff x="67775" y="2952125"/>
            <a:chExt cx="2060700" cy="1899300"/>
          </a:xfrm>
        </p:grpSpPr>
        <p:sp>
          <p:nvSpPr>
            <p:cNvPr id="4587" name="Google Shape;4587;p286"/>
            <p:cNvSpPr/>
            <p:nvPr/>
          </p:nvSpPr>
          <p:spPr>
            <a:xfrm>
              <a:off x="67775" y="2952125"/>
              <a:ext cx="2060700" cy="18993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88" name="Google Shape;4588;p28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954561" y="414892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4589" name="Google Shape;4589;p286"/>
            <p:cNvCxnSpPr>
              <a:stCxn id="4588" idx="0"/>
              <a:endCxn id="4590" idx="2"/>
            </p:cNvCxnSpPr>
            <p:nvPr/>
          </p:nvCxnSpPr>
          <p:spPr>
            <a:xfrm rot="10800000">
              <a:off x="813430" y="3837525"/>
              <a:ext cx="284700" cy="311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1" name="Google Shape;4591;p286"/>
            <p:cNvCxnSpPr>
              <a:stCxn id="4588" idx="0"/>
              <a:endCxn id="4592" idx="2"/>
            </p:cNvCxnSpPr>
            <p:nvPr/>
          </p:nvCxnSpPr>
          <p:spPr>
            <a:xfrm flipH="1" rot="10800000">
              <a:off x="1098130" y="3837525"/>
              <a:ext cx="228900" cy="311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593" name="Google Shape;4593;p286"/>
          <p:cNvGrpSpPr/>
          <p:nvPr/>
        </p:nvGrpSpPr>
        <p:grpSpPr>
          <a:xfrm>
            <a:off x="4020750" y="2824400"/>
            <a:ext cx="2060700" cy="1899300"/>
            <a:chOff x="2377225" y="2952125"/>
            <a:chExt cx="2060700" cy="1899300"/>
          </a:xfrm>
        </p:grpSpPr>
        <p:sp>
          <p:nvSpPr>
            <p:cNvPr id="4594" name="Google Shape;4594;p286"/>
            <p:cNvSpPr/>
            <p:nvPr/>
          </p:nvSpPr>
          <p:spPr>
            <a:xfrm>
              <a:off x="2377225" y="2952125"/>
              <a:ext cx="2060700" cy="18993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95" name="Google Shape;4595;p28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264011" y="4148925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96" name="Google Shape;4596;p28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609711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97" name="Google Shape;4597;p28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888800" y="3334449"/>
              <a:ext cx="316650" cy="574276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4598" name="Google Shape;4598;p286"/>
            <p:cNvCxnSpPr>
              <a:stCxn id="4595" idx="1"/>
              <a:endCxn id="4596" idx="2"/>
            </p:cNvCxnSpPr>
            <p:nvPr/>
          </p:nvCxnSpPr>
          <p:spPr>
            <a:xfrm rot="10800000">
              <a:off x="2753411" y="3908663"/>
              <a:ext cx="5106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9" name="Google Shape;4599;p286"/>
            <p:cNvCxnSpPr>
              <a:stCxn id="4595" idx="0"/>
              <a:endCxn id="4600" idx="2"/>
            </p:cNvCxnSpPr>
            <p:nvPr/>
          </p:nvCxnSpPr>
          <p:spPr>
            <a:xfrm rot="10800000">
              <a:off x="3152280" y="3908625"/>
              <a:ext cx="2553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1" name="Google Shape;4601;p286"/>
            <p:cNvCxnSpPr>
              <a:stCxn id="4595" idx="0"/>
              <a:endCxn id="4602" idx="2"/>
            </p:cNvCxnSpPr>
            <p:nvPr/>
          </p:nvCxnSpPr>
          <p:spPr>
            <a:xfrm flipH="1" rot="10800000">
              <a:off x="3407580" y="3908625"/>
              <a:ext cx="183000" cy="24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3" name="Google Shape;4603;p286"/>
            <p:cNvCxnSpPr>
              <a:stCxn id="4597" idx="2"/>
              <a:endCxn id="4595" idx="3"/>
            </p:cNvCxnSpPr>
            <p:nvPr/>
          </p:nvCxnSpPr>
          <p:spPr>
            <a:xfrm flipH="1">
              <a:off x="3551225" y="3908725"/>
              <a:ext cx="495900" cy="5274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pic>
          <p:nvPicPr>
            <p:cNvPr id="4600" name="Google Shape;4600;p28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008649" y="3334450"/>
              <a:ext cx="287138" cy="5742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604" name="Google Shape;4604;p286"/>
          <p:cNvSpPr txBox="1"/>
          <p:nvPr/>
        </p:nvSpPr>
        <p:spPr>
          <a:xfrm>
            <a:off x="595125" y="467760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More biased</a:t>
            </a:r>
            <a:endParaRPr/>
          </a:p>
        </p:txBody>
      </p:sp>
      <p:sp>
        <p:nvSpPr>
          <p:cNvPr id="4605" name="Google Shape;4605;p286"/>
          <p:cNvSpPr txBox="1"/>
          <p:nvPr/>
        </p:nvSpPr>
        <p:spPr>
          <a:xfrm>
            <a:off x="4336950" y="4677600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Less Biased</a:t>
            </a:r>
            <a:endParaRPr/>
          </a:p>
        </p:txBody>
      </p:sp>
      <p:pic>
        <p:nvPicPr>
          <p:cNvPr id="4606" name="Google Shape;4606;p28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118074" y="2001312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7" name="Google Shape;4607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82363" y="133317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8" name="Google Shape;4608;p28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714811" y="1997425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9" name="Google Shape;4609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76313" y="2001324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10" name="Google Shape;4610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76313" y="1333187"/>
            <a:ext cx="316650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11" name="Google Shape;4611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00038" y="1333187"/>
            <a:ext cx="316650" cy="574276"/>
          </a:xfrm>
          <a:prstGeom prst="rect">
            <a:avLst/>
          </a:prstGeom>
          <a:noFill/>
          <a:ln>
            <a:noFill/>
          </a:ln>
        </p:spPr>
      </p:pic>
      <p:sp>
        <p:nvSpPr>
          <p:cNvPr id="4612" name="Google Shape;4612;p286"/>
          <p:cNvSpPr txBox="1"/>
          <p:nvPr/>
        </p:nvSpPr>
        <p:spPr>
          <a:xfrm>
            <a:off x="2243950" y="3206725"/>
            <a:ext cx="18399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 ego network</a:t>
            </a:r>
            <a:endParaRPr/>
          </a:p>
        </p:txBody>
      </p:sp>
      <p:cxnSp>
        <p:nvCxnSpPr>
          <p:cNvPr id="4613" name="Google Shape;4613;p286"/>
          <p:cNvCxnSpPr>
            <a:stCxn id="4612" idx="2"/>
          </p:cNvCxnSpPr>
          <p:nvPr/>
        </p:nvCxnSpPr>
        <p:spPr>
          <a:xfrm flipH="1">
            <a:off x="2302900" y="3504325"/>
            <a:ext cx="861000" cy="344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4614" name="Google Shape;4614;p286"/>
          <p:cNvCxnSpPr>
            <a:stCxn id="4612" idx="2"/>
          </p:cNvCxnSpPr>
          <p:nvPr/>
        </p:nvCxnSpPr>
        <p:spPr>
          <a:xfrm>
            <a:off x="3163900" y="3504325"/>
            <a:ext cx="861000" cy="344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4590" name="Google Shape;4590;p28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40161" y="3135475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92" name="Google Shape;4592;p28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353686" y="3135475"/>
            <a:ext cx="287138" cy="57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2" name="Google Shape;4602;p2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75638" y="3206724"/>
            <a:ext cx="316650" cy="574276"/>
          </a:xfrm>
          <a:prstGeom prst="rect">
            <a:avLst/>
          </a:prstGeom>
          <a:noFill/>
          <a:ln>
            <a:noFill/>
          </a:ln>
        </p:spPr>
      </p:pic>
      <p:sp>
        <p:nvSpPr>
          <p:cNvPr id="4615" name="Google Shape;4615;p286"/>
          <p:cNvSpPr txBox="1"/>
          <p:nvPr/>
        </p:nvSpPr>
        <p:spPr>
          <a:xfrm>
            <a:off x="1592350" y="4044875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Small</a:t>
            </a:r>
            <a:endParaRPr/>
          </a:p>
        </p:txBody>
      </p:sp>
      <p:sp>
        <p:nvSpPr>
          <p:cNvPr id="4616" name="Google Shape;4616;p286"/>
          <p:cNvSpPr txBox="1"/>
          <p:nvPr/>
        </p:nvSpPr>
        <p:spPr>
          <a:xfrm>
            <a:off x="3157950" y="4044875"/>
            <a:ext cx="14283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Large</a:t>
            </a:r>
            <a:endParaRPr/>
          </a:p>
        </p:txBody>
      </p:sp>
      <p:pic>
        <p:nvPicPr>
          <p:cNvPr id="4617" name="Google Shape;4617;p286"/>
          <p:cNvPicPr preferRelativeResize="0"/>
          <p:nvPr/>
        </p:nvPicPr>
        <p:blipFill rotWithShape="1">
          <a:blip r:embed="rId5">
            <a:alphaModFix/>
          </a:blip>
          <a:srcRect b="0" l="44537" r="0" t="0"/>
          <a:stretch/>
        </p:blipFill>
        <p:spPr>
          <a:xfrm>
            <a:off x="6342675" y="1222950"/>
            <a:ext cx="2489625" cy="2990125"/>
          </a:xfrm>
          <a:prstGeom prst="rect">
            <a:avLst/>
          </a:prstGeom>
          <a:noFill/>
          <a:ln>
            <a:noFill/>
          </a:ln>
        </p:spPr>
      </p:pic>
      <p:sp>
        <p:nvSpPr>
          <p:cNvPr id="4618" name="Google Shape;4618;p286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6"/>
              </a:rPr>
              <a:t>Peter Marsden</a:t>
            </a:r>
            <a:endParaRPr/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22" name="Shape 4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3" name="Google Shape;4623;p28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sp>
        <p:nvSpPr>
          <p:cNvPr id="4624" name="Google Shape;4624;p287"/>
          <p:cNvSpPr txBox="1"/>
          <p:nvPr>
            <p:ph idx="1" type="body"/>
          </p:nvPr>
        </p:nvSpPr>
        <p:spPr>
          <a:xfrm>
            <a:off x="311700" y="1225225"/>
            <a:ext cx="5643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Overall, larger ego networks should be more diverse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Regardless of preferences for choice homophily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At some point you run out of ingroup alters!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But this effect should depend group size effects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general, minorities should get more “bang from their buck” (in terms of diversity) from network size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Can you tell why?</a:t>
            </a:r>
            <a:endParaRPr/>
          </a:p>
        </p:txBody>
      </p:sp>
      <p:pic>
        <p:nvPicPr>
          <p:cNvPr id="4625" name="Google Shape;4625;p287"/>
          <p:cNvPicPr preferRelativeResize="0"/>
          <p:nvPr/>
        </p:nvPicPr>
        <p:blipFill rotWithShape="1">
          <a:blip r:embed="rId3">
            <a:alphaModFix/>
          </a:blip>
          <a:srcRect b="0" l="44537" r="0" t="0"/>
          <a:stretch/>
        </p:blipFill>
        <p:spPr>
          <a:xfrm>
            <a:off x="6342675" y="1222950"/>
            <a:ext cx="2489625" cy="2990125"/>
          </a:xfrm>
          <a:prstGeom prst="rect">
            <a:avLst/>
          </a:prstGeom>
          <a:noFill/>
          <a:ln>
            <a:noFill/>
          </a:ln>
        </p:spPr>
      </p:pic>
      <p:sp>
        <p:nvSpPr>
          <p:cNvPr id="4626" name="Google Shape;4626;p287"/>
          <p:cNvSpPr txBox="1"/>
          <p:nvPr/>
        </p:nvSpPr>
        <p:spPr>
          <a:xfrm>
            <a:off x="6384100" y="4353300"/>
            <a:ext cx="2226300" cy="32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4"/>
              </a:rPr>
              <a:t>Peter V. Marsden</a:t>
            </a:r>
            <a:endParaRPr/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30" name="Shape 4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1" name="Google Shape;4631;p28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sp>
        <p:nvSpPr>
          <p:cNvPr id="4632" name="Google Shape;4632;p288"/>
          <p:cNvSpPr txBox="1"/>
          <p:nvPr>
            <p:ph idx="1" type="body"/>
          </p:nvPr>
        </p:nvSpPr>
        <p:spPr>
          <a:xfrm>
            <a:off x="311700" y="1225225"/>
            <a:ext cx="5643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Overall, larger ego networks should be more diverse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Regardless of preferences for choice homophily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At some point you run out of ingroup alters!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But this effect should depend group size effects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general, minorities should get more “bang from their buck” (in terms of diversity) from network size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Can you tell why?</a:t>
            </a:r>
            <a:endParaRPr/>
          </a:p>
        </p:txBody>
      </p:sp>
      <p:sp>
        <p:nvSpPr>
          <p:cNvPr id="4633" name="Google Shape;4633;p288"/>
          <p:cNvSpPr/>
          <p:nvPr/>
        </p:nvSpPr>
        <p:spPr>
          <a:xfrm>
            <a:off x="6713200" y="2163700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</a:t>
            </a:r>
            <a:endParaRPr/>
          </a:p>
        </p:txBody>
      </p:sp>
      <p:sp>
        <p:nvSpPr>
          <p:cNvPr id="4634" name="Google Shape;4634;p288"/>
          <p:cNvSpPr/>
          <p:nvPr/>
        </p:nvSpPr>
        <p:spPr>
          <a:xfrm>
            <a:off x="6713200" y="3436925"/>
            <a:ext cx="596400" cy="405900"/>
          </a:xfrm>
          <a:prstGeom prst="ellipse">
            <a:avLst/>
          </a:prstGeom>
          <a:solidFill>
            <a:srgbClr val="6AA84F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</a:t>
            </a:r>
            <a:endParaRPr/>
          </a:p>
        </p:txBody>
      </p:sp>
      <p:sp>
        <p:nvSpPr>
          <p:cNvPr id="4635" name="Google Shape;4635;p288"/>
          <p:cNvSpPr/>
          <p:nvPr/>
        </p:nvSpPr>
        <p:spPr>
          <a:xfrm>
            <a:off x="7991450" y="1103825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6" name="Google Shape;4636;p288"/>
          <p:cNvSpPr/>
          <p:nvPr/>
        </p:nvSpPr>
        <p:spPr>
          <a:xfrm>
            <a:off x="7991450" y="1613500"/>
            <a:ext cx="596400" cy="405900"/>
          </a:xfrm>
          <a:prstGeom prst="ellipse">
            <a:avLst/>
          </a:prstGeom>
          <a:solidFill>
            <a:srgbClr val="6AA84F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7" name="Google Shape;4637;p288"/>
          <p:cNvSpPr/>
          <p:nvPr/>
        </p:nvSpPr>
        <p:spPr>
          <a:xfrm>
            <a:off x="7991450" y="2123175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8" name="Google Shape;4638;p288"/>
          <p:cNvSpPr/>
          <p:nvPr/>
        </p:nvSpPr>
        <p:spPr>
          <a:xfrm>
            <a:off x="7991450" y="2632850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9" name="Google Shape;4639;p288"/>
          <p:cNvSpPr/>
          <p:nvPr/>
        </p:nvSpPr>
        <p:spPr>
          <a:xfrm>
            <a:off x="7991450" y="3142525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0" name="Google Shape;4640;p288"/>
          <p:cNvSpPr/>
          <p:nvPr/>
        </p:nvSpPr>
        <p:spPr>
          <a:xfrm>
            <a:off x="7991450" y="3652200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1" name="Google Shape;4641;p288"/>
          <p:cNvSpPr/>
          <p:nvPr/>
        </p:nvSpPr>
        <p:spPr>
          <a:xfrm>
            <a:off x="7991450" y="4161875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642" name="Google Shape;4642;p288"/>
          <p:cNvCxnSpPr>
            <a:stCxn id="4634" idx="6"/>
            <a:endCxn id="4638" idx="2"/>
          </p:cNvCxnSpPr>
          <p:nvPr/>
        </p:nvCxnSpPr>
        <p:spPr>
          <a:xfrm flipH="1" rot="10800000">
            <a:off x="7309600" y="2835875"/>
            <a:ext cx="681900" cy="804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43" name="Google Shape;4643;p288"/>
          <p:cNvCxnSpPr>
            <a:stCxn id="4634" idx="6"/>
            <a:endCxn id="4641" idx="2"/>
          </p:cNvCxnSpPr>
          <p:nvPr/>
        </p:nvCxnSpPr>
        <p:spPr>
          <a:xfrm>
            <a:off x="7309600" y="3639875"/>
            <a:ext cx="681900" cy="725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44" name="Google Shape;4644;p288"/>
          <p:cNvCxnSpPr>
            <a:stCxn id="4633" idx="6"/>
            <a:endCxn id="4635" idx="2"/>
          </p:cNvCxnSpPr>
          <p:nvPr/>
        </p:nvCxnSpPr>
        <p:spPr>
          <a:xfrm flipH="1" rot="10800000">
            <a:off x="7309600" y="1306750"/>
            <a:ext cx="681900" cy="1059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45" name="Google Shape;4645;p288"/>
          <p:cNvCxnSpPr>
            <a:stCxn id="4633" idx="6"/>
            <a:endCxn id="4636" idx="2"/>
          </p:cNvCxnSpPr>
          <p:nvPr/>
        </p:nvCxnSpPr>
        <p:spPr>
          <a:xfrm flipH="1" rot="10800000">
            <a:off x="7309600" y="1816450"/>
            <a:ext cx="681900" cy="550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46" name="Google Shape;4646;p288"/>
          <p:cNvCxnSpPr>
            <a:stCxn id="4633" idx="6"/>
            <a:endCxn id="4637" idx="2"/>
          </p:cNvCxnSpPr>
          <p:nvPr/>
        </p:nvCxnSpPr>
        <p:spPr>
          <a:xfrm flipH="1" rot="10800000">
            <a:off x="7309600" y="2326150"/>
            <a:ext cx="681900" cy="4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47" name="Google Shape;4647;p288"/>
          <p:cNvCxnSpPr>
            <a:stCxn id="4633" idx="6"/>
            <a:endCxn id="4638" idx="2"/>
          </p:cNvCxnSpPr>
          <p:nvPr/>
        </p:nvCxnSpPr>
        <p:spPr>
          <a:xfrm>
            <a:off x="7309600" y="2366650"/>
            <a:ext cx="681900" cy="469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48" name="Google Shape;4648;p288"/>
          <p:cNvCxnSpPr>
            <a:stCxn id="4633" idx="6"/>
            <a:endCxn id="4641" idx="2"/>
          </p:cNvCxnSpPr>
          <p:nvPr/>
        </p:nvCxnSpPr>
        <p:spPr>
          <a:xfrm>
            <a:off x="7309600" y="2366650"/>
            <a:ext cx="681900" cy="1998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49" name="Google Shape;4649;p288"/>
          <p:cNvCxnSpPr>
            <a:stCxn id="4634" idx="6"/>
            <a:endCxn id="4640" idx="2"/>
          </p:cNvCxnSpPr>
          <p:nvPr/>
        </p:nvCxnSpPr>
        <p:spPr>
          <a:xfrm>
            <a:off x="7309600" y="3639875"/>
            <a:ext cx="681900" cy="215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50" name="Google Shape;4650;p288"/>
          <p:cNvCxnSpPr>
            <a:stCxn id="4634" idx="6"/>
            <a:endCxn id="4636" idx="2"/>
          </p:cNvCxnSpPr>
          <p:nvPr/>
        </p:nvCxnSpPr>
        <p:spPr>
          <a:xfrm flipH="1" rot="10800000">
            <a:off x="7309600" y="1816475"/>
            <a:ext cx="681900" cy="1823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54" name="Shape 4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5" name="Google Shape;4655;p28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do your ego networks look they way they do?</a:t>
            </a:r>
            <a:endParaRPr/>
          </a:p>
        </p:txBody>
      </p:sp>
      <p:sp>
        <p:nvSpPr>
          <p:cNvPr id="4656" name="Google Shape;4656;p289"/>
          <p:cNvSpPr/>
          <p:nvPr/>
        </p:nvSpPr>
        <p:spPr>
          <a:xfrm>
            <a:off x="6713200" y="2163700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</a:t>
            </a:r>
            <a:endParaRPr/>
          </a:p>
        </p:txBody>
      </p:sp>
      <p:sp>
        <p:nvSpPr>
          <p:cNvPr id="4657" name="Google Shape;4657;p289"/>
          <p:cNvSpPr/>
          <p:nvPr/>
        </p:nvSpPr>
        <p:spPr>
          <a:xfrm>
            <a:off x="6713200" y="3436925"/>
            <a:ext cx="596400" cy="405900"/>
          </a:xfrm>
          <a:prstGeom prst="ellipse">
            <a:avLst/>
          </a:prstGeom>
          <a:solidFill>
            <a:srgbClr val="6AA84F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</a:t>
            </a:r>
            <a:endParaRPr/>
          </a:p>
        </p:txBody>
      </p:sp>
      <p:sp>
        <p:nvSpPr>
          <p:cNvPr id="4658" name="Google Shape;4658;p289"/>
          <p:cNvSpPr/>
          <p:nvPr/>
        </p:nvSpPr>
        <p:spPr>
          <a:xfrm>
            <a:off x="7991450" y="1103825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9" name="Google Shape;4659;p289"/>
          <p:cNvSpPr/>
          <p:nvPr/>
        </p:nvSpPr>
        <p:spPr>
          <a:xfrm>
            <a:off x="7991450" y="1613500"/>
            <a:ext cx="596400" cy="405900"/>
          </a:xfrm>
          <a:prstGeom prst="ellipse">
            <a:avLst/>
          </a:prstGeom>
          <a:solidFill>
            <a:srgbClr val="6AA84F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0" name="Google Shape;4660;p289"/>
          <p:cNvSpPr/>
          <p:nvPr/>
        </p:nvSpPr>
        <p:spPr>
          <a:xfrm>
            <a:off x="7991450" y="2123175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1" name="Google Shape;4661;p289"/>
          <p:cNvSpPr/>
          <p:nvPr/>
        </p:nvSpPr>
        <p:spPr>
          <a:xfrm>
            <a:off x="7991450" y="2632850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2" name="Google Shape;4662;p289"/>
          <p:cNvSpPr/>
          <p:nvPr/>
        </p:nvSpPr>
        <p:spPr>
          <a:xfrm>
            <a:off x="7991450" y="3142525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3" name="Google Shape;4663;p289"/>
          <p:cNvSpPr/>
          <p:nvPr/>
        </p:nvSpPr>
        <p:spPr>
          <a:xfrm>
            <a:off x="7991450" y="3652200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4" name="Google Shape;4664;p289"/>
          <p:cNvSpPr/>
          <p:nvPr/>
        </p:nvSpPr>
        <p:spPr>
          <a:xfrm>
            <a:off x="7991450" y="4161875"/>
            <a:ext cx="596400" cy="405900"/>
          </a:xfrm>
          <a:prstGeom prst="ellipse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665" name="Google Shape;4665;p289"/>
          <p:cNvCxnSpPr>
            <a:stCxn id="4657" idx="6"/>
            <a:endCxn id="4661" idx="2"/>
          </p:cNvCxnSpPr>
          <p:nvPr/>
        </p:nvCxnSpPr>
        <p:spPr>
          <a:xfrm flipH="1" rot="10800000">
            <a:off x="7309600" y="2835875"/>
            <a:ext cx="681900" cy="804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66" name="Google Shape;4666;p289"/>
          <p:cNvCxnSpPr>
            <a:stCxn id="4657" idx="6"/>
            <a:endCxn id="4664" idx="2"/>
          </p:cNvCxnSpPr>
          <p:nvPr/>
        </p:nvCxnSpPr>
        <p:spPr>
          <a:xfrm>
            <a:off x="7309600" y="3639875"/>
            <a:ext cx="681900" cy="725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67" name="Google Shape;4667;p289"/>
          <p:cNvCxnSpPr>
            <a:stCxn id="4656" idx="6"/>
            <a:endCxn id="4658" idx="2"/>
          </p:cNvCxnSpPr>
          <p:nvPr/>
        </p:nvCxnSpPr>
        <p:spPr>
          <a:xfrm flipH="1" rot="10800000">
            <a:off x="7309600" y="1306750"/>
            <a:ext cx="681900" cy="1059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68" name="Google Shape;4668;p289"/>
          <p:cNvCxnSpPr>
            <a:stCxn id="4656" idx="6"/>
            <a:endCxn id="4659" idx="2"/>
          </p:cNvCxnSpPr>
          <p:nvPr/>
        </p:nvCxnSpPr>
        <p:spPr>
          <a:xfrm flipH="1" rot="10800000">
            <a:off x="7309600" y="1816450"/>
            <a:ext cx="681900" cy="550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69" name="Google Shape;4669;p289"/>
          <p:cNvCxnSpPr>
            <a:stCxn id="4656" idx="6"/>
            <a:endCxn id="4660" idx="2"/>
          </p:cNvCxnSpPr>
          <p:nvPr/>
        </p:nvCxnSpPr>
        <p:spPr>
          <a:xfrm flipH="1" rot="10800000">
            <a:off x="7309600" y="2326150"/>
            <a:ext cx="681900" cy="40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70" name="Google Shape;4670;p289"/>
          <p:cNvCxnSpPr>
            <a:stCxn id="4656" idx="6"/>
            <a:endCxn id="4661" idx="2"/>
          </p:cNvCxnSpPr>
          <p:nvPr/>
        </p:nvCxnSpPr>
        <p:spPr>
          <a:xfrm>
            <a:off x="7309600" y="2366650"/>
            <a:ext cx="681900" cy="469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71" name="Google Shape;4671;p289"/>
          <p:cNvCxnSpPr>
            <a:stCxn id="4656" idx="6"/>
            <a:endCxn id="4664" idx="2"/>
          </p:cNvCxnSpPr>
          <p:nvPr/>
        </p:nvCxnSpPr>
        <p:spPr>
          <a:xfrm>
            <a:off x="7309600" y="2366650"/>
            <a:ext cx="681900" cy="1998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72" name="Google Shape;4672;p289"/>
          <p:cNvCxnSpPr>
            <a:stCxn id="4657" idx="6"/>
            <a:endCxn id="4663" idx="2"/>
          </p:cNvCxnSpPr>
          <p:nvPr/>
        </p:nvCxnSpPr>
        <p:spPr>
          <a:xfrm>
            <a:off x="7309600" y="3639875"/>
            <a:ext cx="681900" cy="215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73" name="Google Shape;4673;p289"/>
          <p:cNvCxnSpPr>
            <a:stCxn id="4657" idx="6"/>
            <a:endCxn id="4659" idx="2"/>
          </p:cNvCxnSpPr>
          <p:nvPr/>
        </p:nvCxnSpPr>
        <p:spPr>
          <a:xfrm flipH="1" rot="10800000">
            <a:off x="7309600" y="1816475"/>
            <a:ext cx="681900" cy="1823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Screenshot 2017-10-12 at 08.42.45.png" id="4674" name="Google Shape;4674;p289"/>
          <p:cNvPicPr preferRelativeResize="0"/>
          <p:nvPr/>
        </p:nvPicPr>
        <p:blipFill rotWithShape="1">
          <a:blip r:embed="rId3">
            <a:alphaModFix/>
          </a:blip>
          <a:srcRect b="5666" l="22272" r="24023" t="25407"/>
          <a:stretch/>
        </p:blipFill>
        <p:spPr>
          <a:xfrm>
            <a:off x="949025" y="1103825"/>
            <a:ext cx="5082326" cy="3668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78" name="Shape 4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" name="Google Shape;4679;p29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 properties</a:t>
            </a:r>
            <a:endParaRPr/>
          </a:p>
        </p:txBody>
      </p:sp>
      <p:sp>
        <p:nvSpPr>
          <p:cNvPr id="4680" name="Google Shape;4680;p290"/>
          <p:cNvSpPr/>
          <p:nvPr/>
        </p:nvSpPr>
        <p:spPr>
          <a:xfrm>
            <a:off x="6428125" y="2334450"/>
            <a:ext cx="834900" cy="8313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681" name="Google Shape;4681;p290"/>
          <p:cNvSpPr/>
          <p:nvPr/>
        </p:nvSpPr>
        <p:spPr>
          <a:xfrm>
            <a:off x="5401988" y="1373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682" name="Google Shape;4682;p290"/>
          <p:cNvSpPr/>
          <p:nvPr/>
        </p:nvSpPr>
        <p:spPr>
          <a:xfrm>
            <a:off x="6648098" y="11472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683" name="Google Shape;4683;p290"/>
          <p:cNvSpPr/>
          <p:nvPr/>
        </p:nvSpPr>
        <p:spPr>
          <a:xfrm>
            <a:off x="7576809" y="16524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684" name="Google Shape;4684;p290"/>
          <p:cNvSpPr/>
          <p:nvPr/>
        </p:nvSpPr>
        <p:spPr>
          <a:xfrm>
            <a:off x="5401988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685" name="Google Shape;4685;p290"/>
          <p:cNvSpPr/>
          <p:nvPr/>
        </p:nvSpPr>
        <p:spPr>
          <a:xfrm>
            <a:off x="6489398" y="38477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686" name="Google Shape;4686;p290"/>
          <p:cNvSpPr/>
          <p:nvPr/>
        </p:nvSpPr>
        <p:spPr>
          <a:xfrm>
            <a:off x="7576809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687" name="Google Shape;4687;p290"/>
          <p:cNvSpPr/>
          <p:nvPr/>
        </p:nvSpPr>
        <p:spPr>
          <a:xfrm>
            <a:off x="4918063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688" name="Google Shape;4688;p290"/>
          <p:cNvSpPr/>
          <p:nvPr/>
        </p:nvSpPr>
        <p:spPr>
          <a:xfrm>
            <a:off x="7836313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689" name="Google Shape;4689;p290"/>
          <p:cNvCxnSpPr>
            <a:stCxn id="4681" idx="3"/>
            <a:endCxn id="4687" idx="0"/>
          </p:cNvCxnSpPr>
          <p:nvPr/>
        </p:nvCxnSpPr>
        <p:spPr>
          <a:xfrm flipH="1">
            <a:off x="5196385" y="1804683"/>
            <a:ext cx="287100" cy="698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0" name="Google Shape;4690;p290"/>
          <p:cNvCxnSpPr>
            <a:stCxn id="4682" idx="3"/>
            <a:endCxn id="4681" idx="6"/>
          </p:cNvCxnSpPr>
          <p:nvPr/>
        </p:nvCxnSpPr>
        <p:spPr>
          <a:xfrm flipH="1">
            <a:off x="5958596" y="15784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1" name="Google Shape;4691;p290"/>
          <p:cNvCxnSpPr>
            <a:stCxn id="4682" idx="3"/>
            <a:endCxn id="4687" idx="0"/>
          </p:cNvCxnSpPr>
          <p:nvPr/>
        </p:nvCxnSpPr>
        <p:spPr>
          <a:xfrm flipH="1">
            <a:off x="5196296" y="1578441"/>
            <a:ext cx="1533300" cy="9243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2" name="Google Shape;4692;p290"/>
          <p:cNvCxnSpPr>
            <a:stCxn id="4682" idx="3"/>
            <a:endCxn id="4684" idx="0"/>
          </p:cNvCxnSpPr>
          <p:nvPr/>
        </p:nvCxnSpPr>
        <p:spPr>
          <a:xfrm flipH="1">
            <a:off x="5680196" y="15784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3" name="Google Shape;4693;p290"/>
          <p:cNvCxnSpPr>
            <a:stCxn id="4687" idx="4"/>
            <a:endCxn id="4684" idx="0"/>
          </p:cNvCxnSpPr>
          <p:nvPr/>
        </p:nvCxnSpPr>
        <p:spPr>
          <a:xfrm>
            <a:off x="5196313" y="3007993"/>
            <a:ext cx="4839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4" name="Google Shape;4694;p290"/>
          <p:cNvCxnSpPr>
            <a:stCxn id="4686" idx="2"/>
            <a:endCxn id="4685" idx="6"/>
          </p:cNvCxnSpPr>
          <p:nvPr/>
        </p:nvCxnSpPr>
        <p:spPr>
          <a:xfrm flipH="1">
            <a:off x="7045809" y="3884718"/>
            <a:ext cx="531000" cy="215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5" name="Google Shape;4695;p290"/>
          <p:cNvCxnSpPr>
            <a:stCxn id="4681" idx="4"/>
            <a:endCxn id="4684" idx="0"/>
          </p:cNvCxnSpPr>
          <p:nvPr/>
        </p:nvCxnSpPr>
        <p:spPr>
          <a:xfrm>
            <a:off x="5680238" y="18786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6" name="Google Shape;4696;p290"/>
          <p:cNvCxnSpPr>
            <a:stCxn id="4685" idx="2"/>
            <a:endCxn id="4684" idx="6"/>
          </p:cNvCxnSpPr>
          <p:nvPr/>
        </p:nvCxnSpPr>
        <p:spPr>
          <a:xfrm rot="10800000">
            <a:off x="5958398" y="3884676"/>
            <a:ext cx="531000" cy="215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7" name="Google Shape;4697;p290"/>
          <p:cNvCxnSpPr>
            <a:stCxn id="4688" idx="4"/>
            <a:endCxn id="4686" idx="0"/>
          </p:cNvCxnSpPr>
          <p:nvPr/>
        </p:nvCxnSpPr>
        <p:spPr>
          <a:xfrm flipH="1">
            <a:off x="7855063" y="30079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8" name="Google Shape;4698;p290"/>
          <p:cNvCxnSpPr>
            <a:stCxn id="4681" idx="5"/>
            <a:endCxn id="4680" idx="1"/>
          </p:cNvCxnSpPr>
          <p:nvPr/>
        </p:nvCxnSpPr>
        <p:spPr>
          <a:xfrm>
            <a:off x="5876990" y="1804683"/>
            <a:ext cx="673500" cy="651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99" name="Google Shape;4699;p290"/>
          <p:cNvCxnSpPr>
            <a:stCxn id="4687" idx="6"/>
            <a:endCxn id="4680" idx="2"/>
          </p:cNvCxnSpPr>
          <p:nvPr/>
        </p:nvCxnSpPr>
        <p:spPr>
          <a:xfrm flipH="1" rot="10800000">
            <a:off x="5474563" y="2749993"/>
            <a:ext cx="953700" cy="5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00" name="Google Shape;4700;p290"/>
          <p:cNvCxnSpPr>
            <a:stCxn id="4680" idx="3"/>
            <a:endCxn id="4684" idx="7"/>
          </p:cNvCxnSpPr>
          <p:nvPr/>
        </p:nvCxnSpPr>
        <p:spPr>
          <a:xfrm flipH="1">
            <a:off x="5876893" y="3044009"/>
            <a:ext cx="673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01" name="Google Shape;4701;p290"/>
          <p:cNvCxnSpPr>
            <a:stCxn id="4680" idx="4"/>
            <a:endCxn id="4685" idx="0"/>
          </p:cNvCxnSpPr>
          <p:nvPr/>
        </p:nvCxnSpPr>
        <p:spPr>
          <a:xfrm flipH="1">
            <a:off x="6767575" y="3165750"/>
            <a:ext cx="780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02" name="Google Shape;4702;p290"/>
          <p:cNvCxnSpPr>
            <a:stCxn id="4680" idx="5"/>
            <a:endCxn id="4686" idx="1"/>
          </p:cNvCxnSpPr>
          <p:nvPr/>
        </p:nvCxnSpPr>
        <p:spPr>
          <a:xfrm>
            <a:off x="7140757" y="3044009"/>
            <a:ext cx="517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03" name="Google Shape;4703;p290"/>
          <p:cNvCxnSpPr>
            <a:stCxn id="4680" idx="6"/>
            <a:endCxn id="4688" idx="2"/>
          </p:cNvCxnSpPr>
          <p:nvPr/>
        </p:nvCxnSpPr>
        <p:spPr>
          <a:xfrm>
            <a:off x="7263025" y="2750100"/>
            <a:ext cx="573300" cy="5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04" name="Google Shape;4704;p290"/>
          <p:cNvCxnSpPr>
            <a:stCxn id="4680" idx="7"/>
            <a:endCxn id="4683" idx="3"/>
          </p:cNvCxnSpPr>
          <p:nvPr/>
        </p:nvCxnSpPr>
        <p:spPr>
          <a:xfrm flipH="1" rot="10800000">
            <a:off x="7140757" y="2083591"/>
            <a:ext cx="517500" cy="372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05" name="Google Shape;4705;p290"/>
          <p:cNvCxnSpPr>
            <a:stCxn id="4682" idx="4"/>
            <a:endCxn id="4680" idx="0"/>
          </p:cNvCxnSpPr>
          <p:nvPr/>
        </p:nvCxnSpPr>
        <p:spPr>
          <a:xfrm flipH="1">
            <a:off x="6845648" y="1652426"/>
            <a:ext cx="807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06" name="Google Shape;4706;p290"/>
          <p:cNvCxnSpPr>
            <a:stCxn id="4688" idx="4"/>
            <a:endCxn id="4684" idx="6"/>
          </p:cNvCxnSpPr>
          <p:nvPr/>
        </p:nvCxnSpPr>
        <p:spPr>
          <a:xfrm flipH="1">
            <a:off x="5958463" y="30079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07" name="Google Shape;4707;p290"/>
          <p:cNvSpPr txBox="1"/>
          <p:nvPr>
            <p:ph idx="1" type="body"/>
          </p:nvPr>
        </p:nvSpPr>
        <p:spPr>
          <a:xfrm>
            <a:off x="311700" y="1225225"/>
            <a:ext cx="4161000" cy="3475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Size</a:t>
            </a:r>
            <a:r>
              <a:rPr lang="en"/>
              <a:t> 	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ego-alter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 sz="1800"/>
              <a:t>Composition</a:t>
            </a:r>
            <a:r>
              <a:rPr lang="en" sz="1800"/>
              <a:t> </a:t>
            </a:r>
            <a:endParaRPr sz="18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Prop. of certain types of alter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Diversity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Variation in alter attributes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Homophily/Heterophily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Ties to alter same/different from ego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Clustering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Density of alter-alter network</a:t>
            </a:r>
            <a:endParaRPr/>
          </a:p>
          <a:p>
            <a:pPr indent="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11" name="Shape 4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2" name="Google Shape;4712;p29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 properties</a:t>
            </a:r>
            <a:endParaRPr/>
          </a:p>
        </p:txBody>
      </p:sp>
      <p:graphicFrame>
        <p:nvGraphicFramePr>
          <p:cNvPr id="4713" name="Google Shape;4713;p291"/>
          <p:cNvGraphicFramePr/>
          <p:nvPr/>
        </p:nvGraphicFramePr>
        <p:xfrm>
          <a:off x="500600" y="12542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2035700"/>
                <a:gridCol w="2035700"/>
                <a:gridCol w="2035700"/>
                <a:gridCol w="2035700"/>
              </a:tblGrid>
              <a:tr h="579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Measure</a:t>
                      </a:r>
                      <a:endParaRPr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Ego-alter ties</a:t>
                      </a:r>
                      <a:endParaRPr b="1"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Alter-Alter Ties</a:t>
                      </a:r>
                      <a:endParaRPr b="1"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Attributes</a:t>
                      </a:r>
                      <a:endParaRPr b="1"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 anchor="ctr"/>
                </a:tc>
              </a:tr>
              <a:tr h="579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Size</a:t>
                      </a:r>
                      <a:endParaRPr i="1"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rgbClr val="FF0000"/>
                          </a:solidFill>
                        </a:rPr>
                        <a:t>✅</a:t>
                      </a:r>
                      <a:endParaRPr sz="2400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</a:tr>
              <a:tr h="579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Diversity</a:t>
                      </a:r>
                      <a:endParaRPr i="1"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400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400">
                          <a:solidFill>
                            <a:srgbClr val="FF0000"/>
                          </a:solidFill>
                        </a:rPr>
                        <a:t>✅</a:t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</a:tr>
              <a:tr h="579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Homophily</a:t>
                      </a:r>
                      <a:endParaRPr i="1"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400">
                          <a:solidFill>
                            <a:srgbClr val="FF0000"/>
                          </a:solidFill>
                        </a:rPr>
                        <a:t>✅</a:t>
                      </a:r>
                      <a:endParaRPr sz="2400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400">
                          <a:solidFill>
                            <a:srgbClr val="FF0000"/>
                          </a:solidFill>
                        </a:rPr>
                        <a:t>✅</a:t>
                      </a:r>
                      <a:endParaRPr sz="2400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</a:tr>
              <a:tr h="579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Composition</a:t>
                      </a:r>
                      <a:endParaRPr i="1"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t/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rgbClr val="FF0000"/>
                          </a:solidFill>
                        </a:rPr>
                        <a:t>✅</a:t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</a:tr>
              <a:tr h="579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2500">
                          <a:latin typeface="Economica"/>
                          <a:ea typeface="Economica"/>
                          <a:cs typeface="Economica"/>
                          <a:sym typeface="Economica"/>
                        </a:rPr>
                        <a:t>Clustering</a:t>
                      </a:r>
                      <a:endParaRPr i="1" sz="2500">
                        <a:latin typeface="Economica"/>
                        <a:ea typeface="Economica"/>
                        <a:cs typeface="Economica"/>
                        <a:sym typeface="Economica"/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400">
                          <a:solidFill>
                            <a:srgbClr val="FF0000"/>
                          </a:solidFill>
                        </a:rPr>
                        <a:t>✅</a:t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17" name="Shape 4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8" name="Google Shape;4718;p29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 properties: Size</a:t>
            </a:r>
            <a:endParaRPr/>
          </a:p>
        </p:txBody>
      </p:sp>
      <p:sp>
        <p:nvSpPr>
          <p:cNvPr id="4719" name="Google Shape;4719;p292"/>
          <p:cNvSpPr/>
          <p:nvPr/>
        </p:nvSpPr>
        <p:spPr>
          <a:xfrm>
            <a:off x="1183975" y="3714645"/>
            <a:ext cx="439500" cy="4380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20" name="Google Shape;4720;p292"/>
          <p:cNvSpPr/>
          <p:nvPr/>
        </p:nvSpPr>
        <p:spPr>
          <a:xfrm>
            <a:off x="643908" y="3208267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21" name="Google Shape;4721;p292"/>
          <p:cNvSpPr/>
          <p:nvPr/>
        </p:nvSpPr>
        <p:spPr>
          <a:xfrm>
            <a:off x="1299750" y="3089051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22" name="Google Shape;4722;p292"/>
          <p:cNvSpPr/>
          <p:nvPr/>
        </p:nvSpPr>
        <p:spPr>
          <a:xfrm>
            <a:off x="1788541" y="3355256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23" name="Google Shape;4723;p292"/>
          <p:cNvSpPr/>
          <p:nvPr/>
        </p:nvSpPr>
        <p:spPr>
          <a:xfrm>
            <a:off x="643908" y="4398437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24" name="Google Shape;4724;p292"/>
          <p:cNvSpPr/>
          <p:nvPr/>
        </p:nvSpPr>
        <p:spPr>
          <a:xfrm>
            <a:off x="1216224" y="4512075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15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25" name="Google Shape;4725;p292"/>
          <p:cNvSpPr/>
          <p:nvPr/>
        </p:nvSpPr>
        <p:spPr>
          <a:xfrm>
            <a:off x="1788541" y="4398437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26" name="Google Shape;4726;p292"/>
          <p:cNvSpPr/>
          <p:nvPr/>
        </p:nvSpPr>
        <p:spPr>
          <a:xfrm>
            <a:off x="389213" y="3803352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27" name="Google Shape;4727;p292"/>
          <p:cNvSpPr/>
          <p:nvPr/>
        </p:nvSpPr>
        <p:spPr>
          <a:xfrm>
            <a:off x="1925120" y="3803352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728" name="Google Shape;4728;p292"/>
          <p:cNvCxnSpPr>
            <a:stCxn id="4720" idx="3"/>
            <a:endCxn id="4726" idx="0"/>
          </p:cNvCxnSpPr>
          <p:nvPr/>
        </p:nvCxnSpPr>
        <p:spPr>
          <a:xfrm flipH="1">
            <a:off x="535587" y="3435397"/>
            <a:ext cx="151200" cy="368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29" name="Google Shape;4729;p292"/>
          <p:cNvCxnSpPr>
            <a:stCxn id="4721" idx="3"/>
            <a:endCxn id="4720" idx="6"/>
          </p:cNvCxnSpPr>
          <p:nvPr/>
        </p:nvCxnSpPr>
        <p:spPr>
          <a:xfrm flipH="1">
            <a:off x="936729" y="3316181"/>
            <a:ext cx="405900" cy="25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0" name="Google Shape;4730;p292"/>
          <p:cNvCxnSpPr>
            <a:stCxn id="4721" idx="3"/>
            <a:endCxn id="4726" idx="0"/>
          </p:cNvCxnSpPr>
          <p:nvPr/>
        </p:nvCxnSpPr>
        <p:spPr>
          <a:xfrm flipH="1">
            <a:off x="535629" y="3316181"/>
            <a:ext cx="807000" cy="487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1" name="Google Shape;4731;p292"/>
          <p:cNvCxnSpPr>
            <a:stCxn id="4721" idx="3"/>
            <a:endCxn id="4723" idx="0"/>
          </p:cNvCxnSpPr>
          <p:nvPr/>
        </p:nvCxnSpPr>
        <p:spPr>
          <a:xfrm flipH="1">
            <a:off x="790329" y="3316181"/>
            <a:ext cx="552300" cy="1082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2" name="Google Shape;4732;p292"/>
          <p:cNvCxnSpPr>
            <a:stCxn id="4726" idx="4"/>
            <a:endCxn id="4723" idx="0"/>
          </p:cNvCxnSpPr>
          <p:nvPr/>
        </p:nvCxnSpPr>
        <p:spPr>
          <a:xfrm>
            <a:off x="535613" y="4069452"/>
            <a:ext cx="254700" cy="329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3" name="Google Shape;4733;p292"/>
          <p:cNvCxnSpPr>
            <a:stCxn id="4725" idx="2"/>
            <a:endCxn id="4724" idx="6"/>
          </p:cNvCxnSpPr>
          <p:nvPr/>
        </p:nvCxnSpPr>
        <p:spPr>
          <a:xfrm flipH="1">
            <a:off x="1508941" y="4531487"/>
            <a:ext cx="279600" cy="113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4" name="Google Shape;4734;p292"/>
          <p:cNvCxnSpPr>
            <a:stCxn id="4720" idx="4"/>
            <a:endCxn id="4723" idx="0"/>
          </p:cNvCxnSpPr>
          <p:nvPr/>
        </p:nvCxnSpPr>
        <p:spPr>
          <a:xfrm>
            <a:off x="790308" y="3474367"/>
            <a:ext cx="0" cy="9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5" name="Google Shape;4735;p292"/>
          <p:cNvCxnSpPr>
            <a:stCxn id="4724" idx="2"/>
            <a:endCxn id="4723" idx="6"/>
          </p:cNvCxnSpPr>
          <p:nvPr/>
        </p:nvCxnSpPr>
        <p:spPr>
          <a:xfrm rot="10800000">
            <a:off x="936624" y="4531425"/>
            <a:ext cx="279600" cy="113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6" name="Google Shape;4736;p292"/>
          <p:cNvCxnSpPr>
            <a:stCxn id="4727" idx="4"/>
            <a:endCxn id="4725" idx="0"/>
          </p:cNvCxnSpPr>
          <p:nvPr/>
        </p:nvCxnSpPr>
        <p:spPr>
          <a:xfrm flipH="1">
            <a:off x="1935020" y="4069452"/>
            <a:ext cx="136500" cy="329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7" name="Google Shape;4737;p292"/>
          <p:cNvCxnSpPr>
            <a:stCxn id="4720" idx="5"/>
            <a:endCxn id="4719" idx="1"/>
          </p:cNvCxnSpPr>
          <p:nvPr/>
        </p:nvCxnSpPr>
        <p:spPr>
          <a:xfrm>
            <a:off x="893828" y="3435397"/>
            <a:ext cx="354600" cy="343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8" name="Google Shape;4738;p292"/>
          <p:cNvCxnSpPr>
            <a:stCxn id="4726" idx="6"/>
            <a:endCxn id="4719" idx="2"/>
          </p:cNvCxnSpPr>
          <p:nvPr/>
        </p:nvCxnSpPr>
        <p:spPr>
          <a:xfrm flipH="1" rot="10800000">
            <a:off x="682013" y="3933702"/>
            <a:ext cx="5019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9" name="Google Shape;4739;p292"/>
          <p:cNvCxnSpPr>
            <a:stCxn id="4719" idx="3"/>
            <a:endCxn id="4723" idx="7"/>
          </p:cNvCxnSpPr>
          <p:nvPr/>
        </p:nvCxnSpPr>
        <p:spPr>
          <a:xfrm flipH="1">
            <a:off x="893739" y="4088501"/>
            <a:ext cx="354600" cy="348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40" name="Google Shape;4740;p292"/>
          <p:cNvCxnSpPr>
            <a:stCxn id="4719" idx="4"/>
            <a:endCxn id="4724" idx="0"/>
          </p:cNvCxnSpPr>
          <p:nvPr/>
        </p:nvCxnSpPr>
        <p:spPr>
          <a:xfrm flipH="1">
            <a:off x="1362625" y="4152645"/>
            <a:ext cx="411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41" name="Google Shape;4741;p292"/>
          <p:cNvCxnSpPr>
            <a:stCxn id="4719" idx="5"/>
            <a:endCxn id="4725" idx="1"/>
          </p:cNvCxnSpPr>
          <p:nvPr/>
        </p:nvCxnSpPr>
        <p:spPr>
          <a:xfrm>
            <a:off x="1559112" y="4088501"/>
            <a:ext cx="272400" cy="348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42" name="Google Shape;4742;p292"/>
          <p:cNvCxnSpPr>
            <a:stCxn id="4719" idx="6"/>
            <a:endCxn id="4727" idx="2"/>
          </p:cNvCxnSpPr>
          <p:nvPr/>
        </p:nvCxnSpPr>
        <p:spPr>
          <a:xfrm>
            <a:off x="1623475" y="3933645"/>
            <a:ext cx="3015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43" name="Google Shape;4743;p292"/>
          <p:cNvCxnSpPr>
            <a:stCxn id="4719" idx="7"/>
            <a:endCxn id="4722" idx="3"/>
          </p:cNvCxnSpPr>
          <p:nvPr/>
        </p:nvCxnSpPr>
        <p:spPr>
          <a:xfrm flipH="1" rot="10800000">
            <a:off x="1559112" y="3582289"/>
            <a:ext cx="272400" cy="196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44" name="Google Shape;4744;p292"/>
          <p:cNvCxnSpPr>
            <a:stCxn id="4721" idx="4"/>
            <a:endCxn id="4719" idx="0"/>
          </p:cNvCxnSpPr>
          <p:nvPr/>
        </p:nvCxnSpPr>
        <p:spPr>
          <a:xfrm flipH="1">
            <a:off x="1403850" y="3355151"/>
            <a:ext cx="423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45" name="Google Shape;4745;p292"/>
          <p:cNvCxnSpPr>
            <a:stCxn id="4727" idx="4"/>
            <a:endCxn id="4723" idx="6"/>
          </p:cNvCxnSpPr>
          <p:nvPr/>
        </p:nvCxnSpPr>
        <p:spPr>
          <a:xfrm flipH="1">
            <a:off x="936620" y="4069452"/>
            <a:ext cx="1134900" cy="462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46" name="Google Shape;4746;p292"/>
          <p:cNvSpPr/>
          <p:nvPr/>
        </p:nvSpPr>
        <p:spPr>
          <a:xfrm>
            <a:off x="3458750" y="3714683"/>
            <a:ext cx="439500" cy="4380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47" name="Google Shape;4747;p292"/>
          <p:cNvSpPr/>
          <p:nvPr/>
        </p:nvSpPr>
        <p:spPr>
          <a:xfrm>
            <a:off x="2918683" y="320830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48" name="Google Shape;4748;p292"/>
          <p:cNvSpPr/>
          <p:nvPr/>
        </p:nvSpPr>
        <p:spPr>
          <a:xfrm>
            <a:off x="3574525" y="3089088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49" name="Google Shape;4749;p292"/>
          <p:cNvSpPr/>
          <p:nvPr/>
        </p:nvSpPr>
        <p:spPr>
          <a:xfrm>
            <a:off x="4063316" y="335529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50" name="Google Shape;4750;p292"/>
          <p:cNvSpPr/>
          <p:nvPr/>
        </p:nvSpPr>
        <p:spPr>
          <a:xfrm>
            <a:off x="2918683" y="439847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51" name="Google Shape;4751;p292"/>
          <p:cNvSpPr/>
          <p:nvPr/>
        </p:nvSpPr>
        <p:spPr>
          <a:xfrm>
            <a:off x="2663988" y="3803389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52" name="Google Shape;4752;p292"/>
          <p:cNvSpPr/>
          <p:nvPr/>
        </p:nvSpPr>
        <p:spPr>
          <a:xfrm>
            <a:off x="4199895" y="3803389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753" name="Google Shape;4753;p292"/>
          <p:cNvCxnSpPr>
            <a:stCxn id="4747" idx="3"/>
            <a:endCxn id="4751" idx="0"/>
          </p:cNvCxnSpPr>
          <p:nvPr/>
        </p:nvCxnSpPr>
        <p:spPr>
          <a:xfrm flipH="1">
            <a:off x="2810362" y="3435435"/>
            <a:ext cx="151200" cy="368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54" name="Google Shape;4754;p292"/>
          <p:cNvCxnSpPr>
            <a:stCxn id="4748" idx="3"/>
            <a:endCxn id="4747" idx="6"/>
          </p:cNvCxnSpPr>
          <p:nvPr/>
        </p:nvCxnSpPr>
        <p:spPr>
          <a:xfrm flipH="1">
            <a:off x="3211504" y="3316219"/>
            <a:ext cx="405900" cy="25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55" name="Google Shape;4755;p292"/>
          <p:cNvCxnSpPr>
            <a:stCxn id="4748" idx="3"/>
            <a:endCxn id="4751" idx="0"/>
          </p:cNvCxnSpPr>
          <p:nvPr/>
        </p:nvCxnSpPr>
        <p:spPr>
          <a:xfrm flipH="1">
            <a:off x="2810404" y="3316219"/>
            <a:ext cx="807000" cy="487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56" name="Google Shape;4756;p292"/>
          <p:cNvCxnSpPr>
            <a:stCxn id="4748" idx="3"/>
            <a:endCxn id="4750" idx="0"/>
          </p:cNvCxnSpPr>
          <p:nvPr/>
        </p:nvCxnSpPr>
        <p:spPr>
          <a:xfrm flipH="1">
            <a:off x="3065104" y="3316219"/>
            <a:ext cx="552300" cy="1082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57" name="Google Shape;4757;p292"/>
          <p:cNvCxnSpPr>
            <a:stCxn id="4751" idx="4"/>
            <a:endCxn id="4750" idx="0"/>
          </p:cNvCxnSpPr>
          <p:nvPr/>
        </p:nvCxnSpPr>
        <p:spPr>
          <a:xfrm>
            <a:off x="2810388" y="4069489"/>
            <a:ext cx="254700" cy="329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58" name="Google Shape;4758;p292"/>
          <p:cNvCxnSpPr>
            <a:stCxn id="4747" idx="4"/>
            <a:endCxn id="4750" idx="0"/>
          </p:cNvCxnSpPr>
          <p:nvPr/>
        </p:nvCxnSpPr>
        <p:spPr>
          <a:xfrm>
            <a:off x="3065083" y="3474404"/>
            <a:ext cx="0" cy="9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59" name="Google Shape;4759;p292"/>
          <p:cNvCxnSpPr>
            <a:stCxn id="4747" idx="5"/>
            <a:endCxn id="4746" idx="1"/>
          </p:cNvCxnSpPr>
          <p:nvPr/>
        </p:nvCxnSpPr>
        <p:spPr>
          <a:xfrm>
            <a:off x="3168603" y="3435435"/>
            <a:ext cx="354600" cy="343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60" name="Google Shape;4760;p292"/>
          <p:cNvCxnSpPr>
            <a:stCxn id="4751" idx="6"/>
            <a:endCxn id="4746" idx="2"/>
          </p:cNvCxnSpPr>
          <p:nvPr/>
        </p:nvCxnSpPr>
        <p:spPr>
          <a:xfrm flipH="1" rot="10800000">
            <a:off x="2956788" y="3933739"/>
            <a:ext cx="5019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61" name="Google Shape;4761;p292"/>
          <p:cNvCxnSpPr>
            <a:stCxn id="4746" idx="3"/>
            <a:endCxn id="4750" idx="7"/>
          </p:cNvCxnSpPr>
          <p:nvPr/>
        </p:nvCxnSpPr>
        <p:spPr>
          <a:xfrm flipH="1">
            <a:off x="3168514" y="4088539"/>
            <a:ext cx="354600" cy="348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62" name="Google Shape;4762;p292"/>
          <p:cNvCxnSpPr>
            <a:stCxn id="4746" idx="6"/>
            <a:endCxn id="4752" idx="2"/>
          </p:cNvCxnSpPr>
          <p:nvPr/>
        </p:nvCxnSpPr>
        <p:spPr>
          <a:xfrm>
            <a:off x="3898250" y="3933683"/>
            <a:ext cx="3015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63" name="Google Shape;4763;p292"/>
          <p:cNvCxnSpPr>
            <a:stCxn id="4746" idx="7"/>
            <a:endCxn id="4749" idx="3"/>
          </p:cNvCxnSpPr>
          <p:nvPr/>
        </p:nvCxnSpPr>
        <p:spPr>
          <a:xfrm flipH="1" rot="10800000">
            <a:off x="3833887" y="3582326"/>
            <a:ext cx="272400" cy="196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64" name="Google Shape;4764;p292"/>
          <p:cNvCxnSpPr>
            <a:stCxn id="4748" idx="4"/>
            <a:endCxn id="4746" idx="0"/>
          </p:cNvCxnSpPr>
          <p:nvPr/>
        </p:nvCxnSpPr>
        <p:spPr>
          <a:xfrm flipH="1">
            <a:off x="3678625" y="3355188"/>
            <a:ext cx="423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65" name="Google Shape;4765;p292"/>
          <p:cNvSpPr/>
          <p:nvPr/>
        </p:nvSpPr>
        <p:spPr>
          <a:xfrm>
            <a:off x="5776300" y="3717508"/>
            <a:ext cx="439500" cy="4380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66" name="Google Shape;4766;p292"/>
          <p:cNvSpPr/>
          <p:nvPr/>
        </p:nvSpPr>
        <p:spPr>
          <a:xfrm>
            <a:off x="5236233" y="3211129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67" name="Google Shape;4767;p292"/>
          <p:cNvSpPr/>
          <p:nvPr/>
        </p:nvSpPr>
        <p:spPr>
          <a:xfrm>
            <a:off x="5892075" y="3091913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68" name="Google Shape;4768;p292"/>
          <p:cNvSpPr/>
          <p:nvPr/>
        </p:nvSpPr>
        <p:spPr>
          <a:xfrm>
            <a:off x="6380866" y="3358119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69" name="Google Shape;4769;p292"/>
          <p:cNvSpPr/>
          <p:nvPr/>
        </p:nvSpPr>
        <p:spPr>
          <a:xfrm>
            <a:off x="4981538" y="380621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70" name="Google Shape;4770;p292"/>
          <p:cNvSpPr/>
          <p:nvPr/>
        </p:nvSpPr>
        <p:spPr>
          <a:xfrm>
            <a:off x="6517445" y="380621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771" name="Google Shape;4771;p292"/>
          <p:cNvCxnSpPr>
            <a:stCxn id="4766" idx="3"/>
            <a:endCxn id="4769" idx="0"/>
          </p:cNvCxnSpPr>
          <p:nvPr/>
        </p:nvCxnSpPr>
        <p:spPr>
          <a:xfrm flipH="1">
            <a:off x="5127912" y="3438260"/>
            <a:ext cx="151200" cy="368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72" name="Google Shape;4772;p292"/>
          <p:cNvCxnSpPr>
            <a:stCxn id="4767" idx="3"/>
            <a:endCxn id="4766" idx="6"/>
          </p:cNvCxnSpPr>
          <p:nvPr/>
        </p:nvCxnSpPr>
        <p:spPr>
          <a:xfrm flipH="1">
            <a:off x="5529054" y="3319044"/>
            <a:ext cx="405900" cy="25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73" name="Google Shape;4773;p292"/>
          <p:cNvCxnSpPr>
            <a:stCxn id="4767" idx="3"/>
            <a:endCxn id="4769" idx="0"/>
          </p:cNvCxnSpPr>
          <p:nvPr/>
        </p:nvCxnSpPr>
        <p:spPr>
          <a:xfrm flipH="1">
            <a:off x="5127954" y="3319044"/>
            <a:ext cx="807000" cy="487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74" name="Google Shape;4774;p292"/>
          <p:cNvCxnSpPr>
            <a:stCxn id="4766" idx="5"/>
            <a:endCxn id="4765" idx="1"/>
          </p:cNvCxnSpPr>
          <p:nvPr/>
        </p:nvCxnSpPr>
        <p:spPr>
          <a:xfrm>
            <a:off x="5486153" y="3438260"/>
            <a:ext cx="354600" cy="343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75" name="Google Shape;4775;p292"/>
          <p:cNvCxnSpPr>
            <a:stCxn id="4769" idx="6"/>
            <a:endCxn id="4765" idx="2"/>
          </p:cNvCxnSpPr>
          <p:nvPr/>
        </p:nvCxnSpPr>
        <p:spPr>
          <a:xfrm flipH="1" rot="10800000">
            <a:off x="5274338" y="3936564"/>
            <a:ext cx="5019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76" name="Google Shape;4776;p292"/>
          <p:cNvCxnSpPr>
            <a:stCxn id="4765" idx="6"/>
            <a:endCxn id="4770" idx="2"/>
          </p:cNvCxnSpPr>
          <p:nvPr/>
        </p:nvCxnSpPr>
        <p:spPr>
          <a:xfrm>
            <a:off x="6215800" y="3936508"/>
            <a:ext cx="3015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77" name="Google Shape;4777;p292"/>
          <p:cNvCxnSpPr>
            <a:stCxn id="4765" idx="7"/>
            <a:endCxn id="4768" idx="3"/>
          </p:cNvCxnSpPr>
          <p:nvPr/>
        </p:nvCxnSpPr>
        <p:spPr>
          <a:xfrm flipH="1" rot="10800000">
            <a:off x="6151437" y="3585151"/>
            <a:ext cx="272400" cy="196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78" name="Google Shape;4778;p292"/>
          <p:cNvCxnSpPr>
            <a:stCxn id="4767" idx="4"/>
            <a:endCxn id="4765" idx="0"/>
          </p:cNvCxnSpPr>
          <p:nvPr/>
        </p:nvCxnSpPr>
        <p:spPr>
          <a:xfrm flipH="1">
            <a:off x="5996175" y="3358013"/>
            <a:ext cx="423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79" name="Google Shape;4779;p292"/>
          <p:cNvSpPr/>
          <p:nvPr/>
        </p:nvSpPr>
        <p:spPr>
          <a:xfrm>
            <a:off x="7720825" y="3716095"/>
            <a:ext cx="439500" cy="4380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80" name="Google Shape;4780;p292"/>
          <p:cNvSpPr/>
          <p:nvPr/>
        </p:nvSpPr>
        <p:spPr>
          <a:xfrm>
            <a:off x="7836600" y="3090501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81" name="Google Shape;4781;p292"/>
          <p:cNvSpPr/>
          <p:nvPr/>
        </p:nvSpPr>
        <p:spPr>
          <a:xfrm>
            <a:off x="8325391" y="3356706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82" name="Google Shape;4782;p292"/>
          <p:cNvSpPr/>
          <p:nvPr/>
        </p:nvSpPr>
        <p:spPr>
          <a:xfrm>
            <a:off x="8461970" y="3804802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783" name="Google Shape;4783;p292"/>
          <p:cNvCxnSpPr>
            <a:stCxn id="4779" idx="6"/>
            <a:endCxn id="4782" idx="2"/>
          </p:cNvCxnSpPr>
          <p:nvPr/>
        </p:nvCxnSpPr>
        <p:spPr>
          <a:xfrm>
            <a:off x="8160325" y="3935095"/>
            <a:ext cx="3015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84" name="Google Shape;4784;p292"/>
          <p:cNvCxnSpPr>
            <a:stCxn id="4779" idx="7"/>
            <a:endCxn id="4781" idx="3"/>
          </p:cNvCxnSpPr>
          <p:nvPr/>
        </p:nvCxnSpPr>
        <p:spPr>
          <a:xfrm flipH="1" rot="10800000">
            <a:off x="8095962" y="3583739"/>
            <a:ext cx="272400" cy="196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85" name="Google Shape;4785;p292"/>
          <p:cNvCxnSpPr>
            <a:stCxn id="4780" idx="4"/>
            <a:endCxn id="4779" idx="0"/>
          </p:cNvCxnSpPr>
          <p:nvPr/>
        </p:nvCxnSpPr>
        <p:spPr>
          <a:xfrm flipH="1">
            <a:off x="7940700" y="3356601"/>
            <a:ext cx="423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86" name="Google Shape;4786;p292"/>
          <p:cNvSpPr txBox="1"/>
          <p:nvPr>
            <p:ph idx="1" type="body"/>
          </p:nvPr>
        </p:nvSpPr>
        <p:spPr>
          <a:xfrm>
            <a:off x="311700" y="1225225"/>
            <a:ext cx="8520600" cy="121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Size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ego-alter ties (blue links)</a:t>
            </a:r>
            <a:endParaRPr/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90" name="Shape 4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1" name="Google Shape;4791;p29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 properties: Size</a:t>
            </a:r>
            <a:endParaRPr/>
          </a:p>
        </p:txBody>
      </p:sp>
      <p:sp>
        <p:nvSpPr>
          <p:cNvPr id="4792" name="Google Shape;4792;p293"/>
          <p:cNvSpPr/>
          <p:nvPr/>
        </p:nvSpPr>
        <p:spPr>
          <a:xfrm>
            <a:off x="1183975" y="3714645"/>
            <a:ext cx="439500" cy="4380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93" name="Google Shape;4793;p293"/>
          <p:cNvSpPr/>
          <p:nvPr/>
        </p:nvSpPr>
        <p:spPr>
          <a:xfrm>
            <a:off x="643908" y="3208267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94" name="Google Shape;4794;p293"/>
          <p:cNvSpPr/>
          <p:nvPr/>
        </p:nvSpPr>
        <p:spPr>
          <a:xfrm>
            <a:off x="1299750" y="3089051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95" name="Google Shape;4795;p293"/>
          <p:cNvSpPr/>
          <p:nvPr/>
        </p:nvSpPr>
        <p:spPr>
          <a:xfrm>
            <a:off x="1788541" y="3355256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96" name="Google Shape;4796;p293"/>
          <p:cNvSpPr/>
          <p:nvPr/>
        </p:nvSpPr>
        <p:spPr>
          <a:xfrm>
            <a:off x="643908" y="4398437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97" name="Google Shape;4797;p293"/>
          <p:cNvSpPr/>
          <p:nvPr/>
        </p:nvSpPr>
        <p:spPr>
          <a:xfrm>
            <a:off x="1216224" y="4512075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15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98" name="Google Shape;4798;p293"/>
          <p:cNvSpPr/>
          <p:nvPr/>
        </p:nvSpPr>
        <p:spPr>
          <a:xfrm>
            <a:off x="1788541" y="4398437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799" name="Google Shape;4799;p293"/>
          <p:cNvSpPr/>
          <p:nvPr/>
        </p:nvSpPr>
        <p:spPr>
          <a:xfrm>
            <a:off x="389213" y="3803352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00" name="Google Shape;4800;p293"/>
          <p:cNvSpPr/>
          <p:nvPr/>
        </p:nvSpPr>
        <p:spPr>
          <a:xfrm>
            <a:off x="1925120" y="3803352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801" name="Google Shape;4801;p293"/>
          <p:cNvCxnSpPr>
            <a:stCxn id="4793" idx="3"/>
            <a:endCxn id="4799" idx="0"/>
          </p:cNvCxnSpPr>
          <p:nvPr/>
        </p:nvCxnSpPr>
        <p:spPr>
          <a:xfrm flipH="1">
            <a:off x="535587" y="3435397"/>
            <a:ext cx="151200" cy="368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02" name="Google Shape;4802;p293"/>
          <p:cNvCxnSpPr>
            <a:stCxn id="4794" idx="3"/>
            <a:endCxn id="4793" idx="6"/>
          </p:cNvCxnSpPr>
          <p:nvPr/>
        </p:nvCxnSpPr>
        <p:spPr>
          <a:xfrm flipH="1">
            <a:off x="936729" y="3316181"/>
            <a:ext cx="405900" cy="25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03" name="Google Shape;4803;p293"/>
          <p:cNvCxnSpPr>
            <a:stCxn id="4794" idx="3"/>
            <a:endCxn id="4799" idx="0"/>
          </p:cNvCxnSpPr>
          <p:nvPr/>
        </p:nvCxnSpPr>
        <p:spPr>
          <a:xfrm flipH="1">
            <a:off x="535629" y="3316181"/>
            <a:ext cx="807000" cy="487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04" name="Google Shape;4804;p293"/>
          <p:cNvCxnSpPr>
            <a:stCxn id="4794" idx="3"/>
            <a:endCxn id="4796" idx="0"/>
          </p:cNvCxnSpPr>
          <p:nvPr/>
        </p:nvCxnSpPr>
        <p:spPr>
          <a:xfrm flipH="1">
            <a:off x="790329" y="3316181"/>
            <a:ext cx="552300" cy="1082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05" name="Google Shape;4805;p293"/>
          <p:cNvCxnSpPr>
            <a:stCxn id="4799" idx="4"/>
            <a:endCxn id="4796" idx="0"/>
          </p:cNvCxnSpPr>
          <p:nvPr/>
        </p:nvCxnSpPr>
        <p:spPr>
          <a:xfrm>
            <a:off x="535613" y="4069452"/>
            <a:ext cx="254700" cy="329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06" name="Google Shape;4806;p293"/>
          <p:cNvCxnSpPr>
            <a:stCxn id="4798" idx="2"/>
            <a:endCxn id="4797" idx="6"/>
          </p:cNvCxnSpPr>
          <p:nvPr/>
        </p:nvCxnSpPr>
        <p:spPr>
          <a:xfrm flipH="1">
            <a:off x="1508941" y="4531487"/>
            <a:ext cx="279600" cy="113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07" name="Google Shape;4807;p293"/>
          <p:cNvCxnSpPr>
            <a:stCxn id="4793" idx="4"/>
            <a:endCxn id="4796" idx="0"/>
          </p:cNvCxnSpPr>
          <p:nvPr/>
        </p:nvCxnSpPr>
        <p:spPr>
          <a:xfrm>
            <a:off x="790308" y="3474367"/>
            <a:ext cx="0" cy="9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08" name="Google Shape;4808;p293"/>
          <p:cNvCxnSpPr>
            <a:stCxn id="4797" idx="2"/>
            <a:endCxn id="4796" idx="6"/>
          </p:cNvCxnSpPr>
          <p:nvPr/>
        </p:nvCxnSpPr>
        <p:spPr>
          <a:xfrm rot="10800000">
            <a:off x="936624" y="4531425"/>
            <a:ext cx="279600" cy="113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09" name="Google Shape;4809;p293"/>
          <p:cNvCxnSpPr>
            <a:stCxn id="4800" idx="4"/>
            <a:endCxn id="4798" idx="0"/>
          </p:cNvCxnSpPr>
          <p:nvPr/>
        </p:nvCxnSpPr>
        <p:spPr>
          <a:xfrm flipH="1">
            <a:off x="1935020" y="4069452"/>
            <a:ext cx="136500" cy="329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0" name="Google Shape;4810;p293"/>
          <p:cNvCxnSpPr>
            <a:stCxn id="4793" idx="5"/>
            <a:endCxn id="4792" idx="1"/>
          </p:cNvCxnSpPr>
          <p:nvPr/>
        </p:nvCxnSpPr>
        <p:spPr>
          <a:xfrm>
            <a:off x="893828" y="3435397"/>
            <a:ext cx="354600" cy="343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1" name="Google Shape;4811;p293"/>
          <p:cNvCxnSpPr>
            <a:stCxn id="4799" idx="6"/>
            <a:endCxn id="4792" idx="2"/>
          </p:cNvCxnSpPr>
          <p:nvPr/>
        </p:nvCxnSpPr>
        <p:spPr>
          <a:xfrm flipH="1" rot="10800000">
            <a:off x="682013" y="3933702"/>
            <a:ext cx="5019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2" name="Google Shape;4812;p293"/>
          <p:cNvCxnSpPr>
            <a:stCxn id="4792" idx="3"/>
            <a:endCxn id="4796" idx="7"/>
          </p:cNvCxnSpPr>
          <p:nvPr/>
        </p:nvCxnSpPr>
        <p:spPr>
          <a:xfrm flipH="1">
            <a:off x="893739" y="4088501"/>
            <a:ext cx="354600" cy="348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3" name="Google Shape;4813;p293"/>
          <p:cNvCxnSpPr>
            <a:stCxn id="4792" idx="4"/>
            <a:endCxn id="4797" idx="0"/>
          </p:cNvCxnSpPr>
          <p:nvPr/>
        </p:nvCxnSpPr>
        <p:spPr>
          <a:xfrm flipH="1">
            <a:off x="1362625" y="4152645"/>
            <a:ext cx="411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4" name="Google Shape;4814;p293"/>
          <p:cNvCxnSpPr>
            <a:stCxn id="4792" idx="5"/>
            <a:endCxn id="4798" idx="1"/>
          </p:cNvCxnSpPr>
          <p:nvPr/>
        </p:nvCxnSpPr>
        <p:spPr>
          <a:xfrm>
            <a:off x="1559112" y="4088501"/>
            <a:ext cx="272400" cy="348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5" name="Google Shape;4815;p293"/>
          <p:cNvCxnSpPr>
            <a:stCxn id="4792" idx="6"/>
            <a:endCxn id="4800" idx="2"/>
          </p:cNvCxnSpPr>
          <p:nvPr/>
        </p:nvCxnSpPr>
        <p:spPr>
          <a:xfrm>
            <a:off x="1623475" y="3933645"/>
            <a:ext cx="3015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6" name="Google Shape;4816;p293"/>
          <p:cNvCxnSpPr>
            <a:stCxn id="4792" idx="7"/>
            <a:endCxn id="4795" idx="3"/>
          </p:cNvCxnSpPr>
          <p:nvPr/>
        </p:nvCxnSpPr>
        <p:spPr>
          <a:xfrm flipH="1" rot="10800000">
            <a:off x="1559112" y="3582289"/>
            <a:ext cx="272400" cy="196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7" name="Google Shape;4817;p293"/>
          <p:cNvCxnSpPr>
            <a:stCxn id="4794" idx="4"/>
            <a:endCxn id="4792" idx="0"/>
          </p:cNvCxnSpPr>
          <p:nvPr/>
        </p:nvCxnSpPr>
        <p:spPr>
          <a:xfrm flipH="1">
            <a:off x="1403850" y="3355151"/>
            <a:ext cx="423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18" name="Google Shape;4818;p293"/>
          <p:cNvCxnSpPr>
            <a:stCxn id="4800" idx="4"/>
            <a:endCxn id="4796" idx="6"/>
          </p:cNvCxnSpPr>
          <p:nvPr/>
        </p:nvCxnSpPr>
        <p:spPr>
          <a:xfrm flipH="1">
            <a:off x="936620" y="4069452"/>
            <a:ext cx="1134900" cy="462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819" name="Google Shape;4819;p293"/>
          <p:cNvSpPr/>
          <p:nvPr/>
        </p:nvSpPr>
        <p:spPr>
          <a:xfrm>
            <a:off x="3458750" y="3714683"/>
            <a:ext cx="439500" cy="4380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20" name="Google Shape;4820;p293"/>
          <p:cNvSpPr/>
          <p:nvPr/>
        </p:nvSpPr>
        <p:spPr>
          <a:xfrm>
            <a:off x="2918683" y="320830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21" name="Google Shape;4821;p293"/>
          <p:cNvSpPr/>
          <p:nvPr/>
        </p:nvSpPr>
        <p:spPr>
          <a:xfrm>
            <a:off x="3574525" y="3089088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22" name="Google Shape;4822;p293"/>
          <p:cNvSpPr/>
          <p:nvPr/>
        </p:nvSpPr>
        <p:spPr>
          <a:xfrm>
            <a:off x="4063316" y="335529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23" name="Google Shape;4823;p293"/>
          <p:cNvSpPr/>
          <p:nvPr/>
        </p:nvSpPr>
        <p:spPr>
          <a:xfrm>
            <a:off x="2918683" y="439847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24" name="Google Shape;4824;p293"/>
          <p:cNvSpPr/>
          <p:nvPr/>
        </p:nvSpPr>
        <p:spPr>
          <a:xfrm>
            <a:off x="2663988" y="3803389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25" name="Google Shape;4825;p293"/>
          <p:cNvSpPr/>
          <p:nvPr/>
        </p:nvSpPr>
        <p:spPr>
          <a:xfrm>
            <a:off x="4199895" y="3803389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826" name="Google Shape;4826;p293"/>
          <p:cNvCxnSpPr>
            <a:stCxn id="4820" idx="3"/>
            <a:endCxn id="4824" idx="0"/>
          </p:cNvCxnSpPr>
          <p:nvPr/>
        </p:nvCxnSpPr>
        <p:spPr>
          <a:xfrm flipH="1">
            <a:off x="2810362" y="3435435"/>
            <a:ext cx="151200" cy="368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27" name="Google Shape;4827;p293"/>
          <p:cNvCxnSpPr>
            <a:stCxn id="4821" idx="3"/>
            <a:endCxn id="4820" idx="6"/>
          </p:cNvCxnSpPr>
          <p:nvPr/>
        </p:nvCxnSpPr>
        <p:spPr>
          <a:xfrm flipH="1">
            <a:off x="3211504" y="3316219"/>
            <a:ext cx="405900" cy="25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28" name="Google Shape;4828;p293"/>
          <p:cNvCxnSpPr>
            <a:stCxn id="4821" idx="3"/>
            <a:endCxn id="4824" idx="0"/>
          </p:cNvCxnSpPr>
          <p:nvPr/>
        </p:nvCxnSpPr>
        <p:spPr>
          <a:xfrm flipH="1">
            <a:off x="2810404" y="3316219"/>
            <a:ext cx="807000" cy="487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29" name="Google Shape;4829;p293"/>
          <p:cNvCxnSpPr>
            <a:stCxn id="4821" idx="3"/>
            <a:endCxn id="4823" idx="0"/>
          </p:cNvCxnSpPr>
          <p:nvPr/>
        </p:nvCxnSpPr>
        <p:spPr>
          <a:xfrm flipH="1">
            <a:off x="3065104" y="3316219"/>
            <a:ext cx="552300" cy="1082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30" name="Google Shape;4830;p293"/>
          <p:cNvCxnSpPr>
            <a:stCxn id="4824" idx="4"/>
            <a:endCxn id="4823" idx="0"/>
          </p:cNvCxnSpPr>
          <p:nvPr/>
        </p:nvCxnSpPr>
        <p:spPr>
          <a:xfrm>
            <a:off x="2810388" y="4069489"/>
            <a:ext cx="254700" cy="329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31" name="Google Shape;4831;p293"/>
          <p:cNvCxnSpPr>
            <a:stCxn id="4820" idx="4"/>
            <a:endCxn id="4823" idx="0"/>
          </p:cNvCxnSpPr>
          <p:nvPr/>
        </p:nvCxnSpPr>
        <p:spPr>
          <a:xfrm>
            <a:off x="3065083" y="3474404"/>
            <a:ext cx="0" cy="9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32" name="Google Shape;4832;p293"/>
          <p:cNvCxnSpPr>
            <a:stCxn id="4820" idx="5"/>
            <a:endCxn id="4819" idx="1"/>
          </p:cNvCxnSpPr>
          <p:nvPr/>
        </p:nvCxnSpPr>
        <p:spPr>
          <a:xfrm>
            <a:off x="3168603" y="3435435"/>
            <a:ext cx="354600" cy="343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33" name="Google Shape;4833;p293"/>
          <p:cNvCxnSpPr>
            <a:stCxn id="4824" idx="6"/>
            <a:endCxn id="4819" idx="2"/>
          </p:cNvCxnSpPr>
          <p:nvPr/>
        </p:nvCxnSpPr>
        <p:spPr>
          <a:xfrm flipH="1" rot="10800000">
            <a:off x="2956788" y="3933739"/>
            <a:ext cx="5019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34" name="Google Shape;4834;p293"/>
          <p:cNvCxnSpPr>
            <a:stCxn id="4819" idx="3"/>
            <a:endCxn id="4823" idx="7"/>
          </p:cNvCxnSpPr>
          <p:nvPr/>
        </p:nvCxnSpPr>
        <p:spPr>
          <a:xfrm flipH="1">
            <a:off x="3168514" y="4088539"/>
            <a:ext cx="354600" cy="348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35" name="Google Shape;4835;p293"/>
          <p:cNvCxnSpPr>
            <a:stCxn id="4819" idx="6"/>
            <a:endCxn id="4825" idx="2"/>
          </p:cNvCxnSpPr>
          <p:nvPr/>
        </p:nvCxnSpPr>
        <p:spPr>
          <a:xfrm>
            <a:off x="3898250" y="3933683"/>
            <a:ext cx="3015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36" name="Google Shape;4836;p293"/>
          <p:cNvCxnSpPr>
            <a:stCxn id="4819" idx="7"/>
            <a:endCxn id="4822" idx="3"/>
          </p:cNvCxnSpPr>
          <p:nvPr/>
        </p:nvCxnSpPr>
        <p:spPr>
          <a:xfrm flipH="1" rot="10800000">
            <a:off x="3833887" y="3582326"/>
            <a:ext cx="272400" cy="196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37" name="Google Shape;4837;p293"/>
          <p:cNvCxnSpPr>
            <a:stCxn id="4821" idx="4"/>
            <a:endCxn id="4819" idx="0"/>
          </p:cNvCxnSpPr>
          <p:nvPr/>
        </p:nvCxnSpPr>
        <p:spPr>
          <a:xfrm flipH="1">
            <a:off x="3678625" y="3355188"/>
            <a:ext cx="423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838" name="Google Shape;4838;p293"/>
          <p:cNvSpPr/>
          <p:nvPr/>
        </p:nvSpPr>
        <p:spPr>
          <a:xfrm>
            <a:off x="5776300" y="3717508"/>
            <a:ext cx="439500" cy="4380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39" name="Google Shape;4839;p293"/>
          <p:cNvSpPr/>
          <p:nvPr/>
        </p:nvSpPr>
        <p:spPr>
          <a:xfrm>
            <a:off x="5236233" y="3211129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40" name="Google Shape;4840;p293"/>
          <p:cNvSpPr/>
          <p:nvPr/>
        </p:nvSpPr>
        <p:spPr>
          <a:xfrm>
            <a:off x="5892075" y="3091913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41" name="Google Shape;4841;p293"/>
          <p:cNvSpPr/>
          <p:nvPr/>
        </p:nvSpPr>
        <p:spPr>
          <a:xfrm>
            <a:off x="6380866" y="3358119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42" name="Google Shape;4842;p293"/>
          <p:cNvSpPr/>
          <p:nvPr/>
        </p:nvSpPr>
        <p:spPr>
          <a:xfrm>
            <a:off x="4981538" y="380621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43" name="Google Shape;4843;p293"/>
          <p:cNvSpPr/>
          <p:nvPr/>
        </p:nvSpPr>
        <p:spPr>
          <a:xfrm>
            <a:off x="6517445" y="3806214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844" name="Google Shape;4844;p293"/>
          <p:cNvCxnSpPr>
            <a:stCxn id="4839" idx="3"/>
            <a:endCxn id="4842" idx="0"/>
          </p:cNvCxnSpPr>
          <p:nvPr/>
        </p:nvCxnSpPr>
        <p:spPr>
          <a:xfrm flipH="1">
            <a:off x="5127912" y="3438260"/>
            <a:ext cx="151200" cy="3681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45" name="Google Shape;4845;p293"/>
          <p:cNvCxnSpPr>
            <a:stCxn id="4840" idx="3"/>
            <a:endCxn id="4839" idx="6"/>
          </p:cNvCxnSpPr>
          <p:nvPr/>
        </p:nvCxnSpPr>
        <p:spPr>
          <a:xfrm flipH="1">
            <a:off x="5529054" y="3319044"/>
            <a:ext cx="405900" cy="25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46" name="Google Shape;4846;p293"/>
          <p:cNvCxnSpPr>
            <a:stCxn id="4839" idx="5"/>
            <a:endCxn id="4838" idx="1"/>
          </p:cNvCxnSpPr>
          <p:nvPr/>
        </p:nvCxnSpPr>
        <p:spPr>
          <a:xfrm>
            <a:off x="5486153" y="3438260"/>
            <a:ext cx="354600" cy="343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47" name="Google Shape;4847;p293"/>
          <p:cNvCxnSpPr>
            <a:stCxn id="4842" idx="6"/>
            <a:endCxn id="4838" idx="2"/>
          </p:cNvCxnSpPr>
          <p:nvPr/>
        </p:nvCxnSpPr>
        <p:spPr>
          <a:xfrm flipH="1" rot="10800000">
            <a:off x="5274338" y="3936564"/>
            <a:ext cx="5019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48" name="Google Shape;4848;p293"/>
          <p:cNvCxnSpPr>
            <a:stCxn id="4838" idx="6"/>
            <a:endCxn id="4843" idx="2"/>
          </p:cNvCxnSpPr>
          <p:nvPr/>
        </p:nvCxnSpPr>
        <p:spPr>
          <a:xfrm>
            <a:off x="6215800" y="3936508"/>
            <a:ext cx="301500" cy="27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49" name="Google Shape;4849;p293"/>
          <p:cNvCxnSpPr>
            <a:stCxn id="4838" idx="7"/>
            <a:endCxn id="4841" idx="3"/>
          </p:cNvCxnSpPr>
          <p:nvPr/>
        </p:nvCxnSpPr>
        <p:spPr>
          <a:xfrm flipH="1" rot="10800000">
            <a:off x="6151437" y="3585151"/>
            <a:ext cx="272400" cy="196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50" name="Google Shape;4850;p293"/>
          <p:cNvCxnSpPr>
            <a:stCxn id="4840" idx="4"/>
            <a:endCxn id="4838" idx="0"/>
          </p:cNvCxnSpPr>
          <p:nvPr/>
        </p:nvCxnSpPr>
        <p:spPr>
          <a:xfrm flipH="1">
            <a:off x="5996175" y="3358013"/>
            <a:ext cx="423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851" name="Google Shape;4851;p293"/>
          <p:cNvSpPr txBox="1"/>
          <p:nvPr>
            <p:ph idx="1" type="body"/>
          </p:nvPr>
        </p:nvSpPr>
        <p:spPr>
          <a:xfrm>
            <a:off x="311700" y="1225225"/>
            <a:ext cx="8520600" cy="121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Size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ego-alter ties (blue links)</a:t>
            </a:r>
            <a:endParaRPr/>
          </a:p>
        </p:txBody>
      </p:sp>
      <p:sp>
        <p:nvSpPr>
          <p:cNvPr id="4852" name="Google Shape;4852;p293"/>
          <p:cNvSpPr txBox="1"/>
          <p:nvPr/>
        </p:nvSpPr>
        <p:spPr>
          <a:xfrm>
            <a:off x="803575" y="2566938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8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853" name="Google Shape;4853;p293"/>
          <p:cNvSpPr txBox="1"/>
          <p:nvPr/>
        </p:nvSpPr>
        <p:spPr>
          <a:xfrm>
            <a:off x="3040550" y="2566963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6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854" name="Google Shape;4854;p293"/>
          <p:cNvSpPr txBox="1"/>
          <p:nvPr/>
        </p:nvSpPr>
        <p:spPr>
          <a:xfrm>
            <a:off x="5358250" y="2568363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5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855" name="Google Shape;4855;p293"/>
          <p:cNvSpPr txBox="1"/>
          <p:nvPr/>
        </p:nvSpPr>
        <p:spPr>
          <a:xfrm>
            <a:off x="7403400" y="2567650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3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856" name="Google Shape;4856;p293"/>
          <p:cNvSpPr/>
          <p:nvPr/>
        </p:nvSpPr>
        <p:spPr>
          <a:xfrm>
            <a:off x="7906650" y="3653570"/>
            <a:ext cx="439500" cy="4380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57" name="Google Shape;4857;p293"/>
          <p:cNvSpPr/>
          <p:nvPr/>
        </p:nvSpPr>
        <p:spPr>
          <a:xfrm>
            <a:off x="7366583" y="3147192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58" name="Google Shape;4858;p293"/>
          <p:cNvSpPr/>
          <p:nvPr/>
        </p:nvSpPr>
        <p:spPr>
          <a:xfrm>
            <a:off x="8022425" y="3027976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59" name="Google Shape;4859;p293"/>
          <p:cNvSpPr/>
          <p:nvPr/>
        </p:nvSpPr>
        <p:spPr>
          <a:xfrm>
            <a:off x="8511216" y="3294181"/>
            <a:ext cx="292800" cy="266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2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860" name="Google Shape;4860;p293"/>
          <p:cNvCxnSpPr>
            <a:stCxn id="4858" idx="3"/>
            <a:endCxn id="4857" idx="6"/>
          </p:cNvCxnSpPr>
          <p:nvPr/>
        </p:nvCxnSpPr>
        <p:spPr>
          <a:xfrm flipH="1">
            <a:off x="7659404" y="3255106"/>
            <a:ext cx="405900" cy="252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61" name="Google Shape;4861;p293"/>
          <p:cNvCxnSpPr>
            <a:stCxn id="4857" idx="5"/>
            <a:endCxn id="4856" idx="1"/>
          </p:cNvCxnSpPr>
          <p:nvPr/>
        </p:nvCxnSpPr>
        <p:spPr>
          <a:xfrm>
            <a:off x="7616503" y="3374322"/>
            <a:ext cx="354600" cy="343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62" name="Google Shape;4862;p293"/>
          <p:cNvCxnSpPr>
            <a:stCxn id="4856" idx="7"/>
            <a:endCxn id="4859" idx="3"/>
          </p:cNvCxnSpPr>
          <p:nvPr/>
        </p:nvCxnSpPr>
        <p:spPr>
          <a:xfrm flipH="1" rot="10800000">
            <a:off x="8281787" y="3521214"/>
            <a:ext cx="272400" cy="1965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63" name="Google Shape;4863;p293"/>
          <p:cNvCxnSpPr>
            <a:stCxn id="4858" idx="4"/>
            <a:endCxn id="4856" idx="0"/>
          </p:cNvCxnSpPr>
          <p:nvPr/>
        </p:nvCxnSpPr>
        <p:spPr>
          <a:xfrm flipH="1">
            <a:off x="8126525" y="3294076"/>
            <a:ext cx="42300" cy="359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67" name="Shape 4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8" name="Google Shape;4868;p29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Composition</a:t>
            </a:r>
            <a:endParaRPr/>
          </a:p>
        </p:txBody>
      </p:sp>
      <p:grpSp>
        <p:nvGrpSpPr>
          <p:cNvPr id="4869" name="Google Shape;4869;p294"/>
          <p:cNvGrpSpPr/>
          <p:nvPr/>
        </p:nvGrpSpPr>
        <p:grpSpPr>
          <a:xfrm>
            <a:off x="4024934" y="1147215"/>
            <a:ext cx="1094145" cy="887973"/>
            <a:chOff x="248500" y="1020725"/>
            <a:chExt cx="1478375" cy="1251900"/>
          </a:xfrm>
        </p:grpSpPr>
        <p:sp>
          <p:nvSpPr>
            <p:cNvPr id="4870" name="Google Shape;4870;p294"/>
            <p:cNvSpPr/>
            <p:nvPr/>
          </p:nvSpPr>
          <p:spPr>
            <a:xfrm>
              <a:off x="516077" y="1379922"/>
              <a:ext cx="194700" cy="194400"/>
            </a:xfrm>
            <a:prstGeom prst="ellipse">
              <a:avLst/>
            </a:prstGeom>
            <a:solidFill>
              <a:srgbClr val="38761D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871" name="Google Shape;4871;p294"/>
            <p:cNvSpPr/>
            <p:nvPr/>
          </p:nvSpPr>
          <p:spPr>
            <a:xfrm>
              <a:off x="516075" y="1633090"/>
              <a:ext cx="194700" cy="194400"/>
            </a:xfrm>
            <a:prstGeom prst="ellipse">
              <a:avLst/>
            </a:prstGeom>
            <a:solidFill>
              <a:srgbClr val="FF0000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872" name="Google Shape;4872;p294"/>
            <p:cNvSpPr/>
            <p:nvPr/>
          </p:nvSpPr>
          <p:spPr>
            <a:xfrm>
              <a:off x="516078" y="1101575"/>
              <a:ext cx="194700" cy="1944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873" name="Google Shape;4873;p294"/>
            <p:cNvSpPr/>
            <p:nvPr/>
          </p:nvSpPr>
          <p:spPr>
            <a:xfrm>
              <a:off x="516076" y="1886275"/>
              <a:ext cx="194700" cy="194400"/>
            </a:xfrm>
            <a:prstGeom prst="ellipse">
              <a:avLst/>
            </a:prstGeom>
            <a:solidFill>
              <a:srgbClr val="1155CC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874" name="Google Shape;4874;p294"/>
            <p:cNvSpPr txBox="1"/>
            <p:nvPr/>
          </p:nvSpPr>
          <p:spPr>
            <a:xfrm>
              <a:off x="710775" y="1098575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White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875" name="Google Shape;4875;p294"/>
            <p:cNvSpPr txBox="1"/>
            <p:nvPr/>
          </p:nvSpPr>
          <p:spPr>
            <a:xfrm>
              <a:off x="710775" y="1364338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Hispanic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876" name="Google Shape;4876;p294"/>
            <p:cNvSpPr txBox="1"/>
            <p:nvPr/>
          </p:nvSpPr>
          <p:spPr>
            <a:xfrm>
              <a:off x="710775" y="1625300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Black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877" name="Google Shape;4877;p294"/>
            <p:cNvSpPr txBox="1"/>
            <p:nvPr/>
          </p:nvSpPr>
          <p:spPr>
            <a:xfrm>
              <a:off x="710775" y="1893200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Asian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878" name="Google Shape;4878;p294"/>
            <p:cNvSpPr/>
            <p:nvPr/>
          </p:nvSpPr>
          <p:spPr>
            <a:xfrm>
              <a:off x="248500" y="1020725"/>
              <a:ext cx="1329900" cy="1251900"/>
            </a:xfrm>
            <a:prstGeom prst="rect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9" name="Google Shape;4879;p294"/>
          <p:cNvSpPr txBox="1"/>
          <p:nvPr/>
        </p:nvSpPr>
        <p:spPr>
          <a:xfrm>
            <a:off x="760100" y="2101450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880" name="Google Shape;4880;p294"/>
          <p:cNvSpPr txBox="1"/>
          <p:nvPr/>
        </p:nvSpPr>
        <p:spPr>
          <a:xfrm>
            <a:off x="2997075" y="2101475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881" name="Google Shape;4881;p294"/>
          <p:cNvSpPr txBox="1"/>
          <p:nvPr/>
        </p:nvSpPr>
        <p:spPr>
          <a:xfrm>
            <a:off x="5314775" y="2102875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882" name="Google Shape;4882;p294"/>
          <p:cNvSpPr txBox="1"/>
          <p:nvPr/>
        </p:nvSpPr>
        <p:spPr>
          <a:xfrm>
            <a:off x="7359925" y="2102163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883" name="Google Shape;4883;p294"/>
          <p:cNvSpPr/>
          <p:nvPr/>
        </p:nvSpPr>
        <p:spPr>
          <a:xfrm>
            <a:off x="666425" y="347526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84" name="Google Shape;4884;p294"/>
          <p:cNvSpPr/>
          <p:nvPr/>
        </p:nvSpPr>
        <p:spPr>
          <a:xfrm>
            <a:off x="666425" y="459442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85" name="Google Shape;4885;p294"/>
          <p:cNvSpPr/>
          <p:nvPr/>
        </p:nvSpPr>
        <p:spPr>
          <a:xfrm>
            <a:off x="1631427" y="459442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86" name="Google Shape;4886;p294"/>
          <p:cNvSpPr/>
          <p:nvPr/>
        </p:nvSpPr>
        <p:spPr>
          <a:xfrm>
            <a:off x="1067851" y="3960636"/>
            <a:ext cx="556500" cy="4716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87" name="Google Shape;4887;p294"/>
          <p:cNvSpPr/>
          <p:nvPr/>
        </p:nvSpPr>
        <p:spPr>
          <a:xfrm>
            <a:off x="1631421" y="3475264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888" name="Google Shape;4888;p294"/>
          <p:cNvCxnSpPr>
            <a:stCxn id="4887" idx="4"/>
            <a:endCxn id="4886" idx="7"/>
          </p:cNvCxnSpPr>
          <p:nvPr/>
        </p:nvCxnSpPr>
        <p:spPr>
          <a:xfrm flipH="1">
            <a:off x="1542921" y="382926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89" name="Google Shape;4889;p294"/>
          <p:cNvCxnSpPr>
            <a:stCxn id="4883" idx="4"/>
            <a:endCxn id="4886" idx="1"/>
          </p:cNvCxnSpPr>
          <p:nvPr/>
        </p:nvCxnSpPr>
        <p:spPr>
          <a:xfrm>
            <a:off x="841325" y="382926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90" name="Google Shape;4890;p294"/>
          <p:cNvCxnSpPr>
            <a:stCxn id="4884" idx="0"/>
            <a:endCxn id="4886" idx="3"/>
          </p:cNvCxnSpPr>
          <p:nvPr/>
        </p:nvCxnSpPr>
        <p:spPr>
          <a:xfrm flipH="1" rot="10800000">
            <a:off x="841325" y="436312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91" name="Google Shape;4891;p294"/>
          <p:cNvCxnSpPr>
            <a:stCxn id="4886" idx="5"/>
            <a:endCxn id="4885" idx="0"/>
          </p:cNvCxnSpPr>
          <p:nvPr/>
        </p:nvCxnSpPr>
        <p:spPr>
          <a:xfrm>
            <a:off x="1542854" y="436317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892" name="Google Shape;4892;p294"/>
          <p:cNvSpPr/>
          <p:nvPr/>
        </p:nvSpPr>
        <p:spPr>
          <a:xfrm>
            <a:off x="2635722" y="3490671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93" name="Google Shape;4893;p294"/>
          <p:cNvSpPr/>
          <p:nvPr/>
        </p:nvSpPr>
        <p:spPr>
          <a:xfrm>
            <a:off x="2635722" y="4609831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94" name="Google Shape;4894;p294"/>
          <p:cNvSpPr/>
          <p:nvPr/>
        </p:nvSpPr>
        <p:spPr>
          <a:xfrm>
            <a:off x="3600724" y="4609831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95" name="Google Shape;4895;p294"/>
          <p:cNvSpPr/>
          <p:nvPr/>
        </p:nvSpPr>
        <p:spPr>
          <a:xfrm>
            <a:off x="3037148" y="3976045"/>
            <a:ext cx="556500" cy="4716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896" name="Google Shape;4896;p294"/>
          <p:cNvSpPr/>
          <p:nvPr/>
        </p:nvSpPr>
        <p:spPr>
          <a:xfrm>
            <a:off x="3600718" y="349067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897" name="Google Shape;4897;p294"/>
          <p:cNvCxnSpPr>
            <a:stCxn id="4896" idx="4"/>
            <a:endCxn id="4895" idx="7"/>
          </p:cNvCxnSpPr>
          <p:nvPr/>
        </p:nvCxnSpPr>
        <p:spPr>
          <a:xfrm flipH="1">
            <a:off x="3512218" y="3844673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98" name="Google Shape;4898;p294"/>
          <p:cNvCxnSpPr>
            <a:stCxn id="4892" idx="4"/>
            <a:endCxn id="4895" idx="1"/>
          </p:cNvCxnSpPr>
          <p:nvPr/>
        </p:nvCxnSpPr>
        <p:spPr>
          <a:xfrm>
            <a:off x="2810622" y="3844671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99" name="Google Shape;4899;p294"/>
          <p:cNvCxnSpPr>
            <a:stCxn id="4893" idx="0"/>
            <a:endCxn id="4895" idx="3"/>
          </p:cNvCxnSpPr>
          <p:nvPr/>
        </p:nvCxnSpPr>
        <p:spPr>
          <a:xfrm flipH="1" rot="10800000">
            <a:off x="2810622" y="4378531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00" name="Google Shape;4900;p294"/>
          <p:cNvCxnSpPr>
            <a:stCxn id="4895" idx="5"/>
            <a:endCxn id="4894" idx="0"/>
          </p:cNvCxnSpPr>
          <p:nvPr/>
        </p:nvCxnSpPr>
        <p:spPr>
          <a:xfrm>
            <a:off x="3512151" y="4378581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01" name="Google Shape;4901;p294"/>
          <p:cNvSpPr/>
          <p:nvPr/>
        </p:nvSpPr>
        <p:spPr>
          <a:xfrm>
            <a:off x="4835344" y="3470263"/>
            <a:ext cx="349800" cy="354000"/>
          </a:xfrm>
          <a:prstGeom prst="ellipse">
            <a:avLst/>
          </a:prstGeom>
          <a:solidFill>
            <a:srgbClr val="38761D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02" name="Google Shape;4902;p294"/>
          <p:cNvSpPr/>
          <p:nvPr/>
        </p:nvSpPr>
        <p:spPr>
          <a:xfrm>
            <a:off x="4835344" y="4589423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03" name="Google Shape;4903;p294"/>
          <p:cNvSpPr/>
          <p:nvPr/>
        </p:nvSpPr>
        <p:spPr>
          <a:xfrm>
            <a:off x="5800345" y="458942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04" name="Google Shape;4904;p294"/>
          <p:cNvSpPr/>
          <p:nvPr/>
        </p:nvSpPr>
        <p:spPr>
          <a:xfrm>
            <a:off x="5236770" y="3955636"/>
            <a:ext cx="556500" cy="471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05" name="Google Shape;4905;p294"/>
          <p:cNvSpPr/>
          <p:nvPr/>
        </p:nvSpPr>
        <p:spPr>
          <a:xfrm>
            <a:off x="5800340" y="3470264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906" name="Google Shape;4906;p294"/>
          <p:cNvCxnSpPr>
            <a:stCxn id="4905" idx="4"/>
            <a:endCxn id="4904" idx="7"/>
          </p:cNvCxnSpPr>
          <p:nvPr/>
        </p:nvCxnSpPr>
        <p:spPr>
          <a:xfrm flipH="1">
            <a:off x="5711840" y="382426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07" name="Google Shape;4907;p294"/>
          <p:cNvCxnSpPr>
            <a:stCxn id="4901" idx="4"/>
            <a:endCxn id="4904" idx="1"/>
          </p:cNvCxnSpPr>
          <p:nvPr/>
        </p:nvCxnSpPr>
        <p:spPr>
          <a:xfrm>
            <a:off x="5010244" y="382426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08" name="Google Shape;4908;p294"/>
          <p:cNvCxnSpPr>
            <a:stCxn id="4902" idx="0"/>
            <a:endCxn id="4904" idx="3"/>
          </p:cNvCxnSpPr>
          <p:nvPr/>
        </p:nvCxnSpPr>
        <p:spPr>
          <a:xfrm flipH="1" rot="10800000">
            <a:off x="5010244" y="435812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09" name="Google Shape;4909;p294"/>
          <p:cNvCxnSpPr>
            <a:stCxn id="4904" idx="5"/>
            <a:endCxn id="4903" idx="0"/>
          </p:cNvCxnSpPr>
          <p:nvPr/>
        </p:nvCxnSpPr>
        <p:spPr>
          <a:xfrm>
            <a:off x="5711773" y="435817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10" name="Google Shape;4910;p294"/>
          <p:cNvSpPr/>
          <p:nvPr/>
        </p:nvSpPr>
        <p:spPr>
          <a:xfrm>
            <a:off x="7162769" y="3457313"/>
            <a:ext cx="349800" cy="354000"/>
          </a:xfrm>
          <a:prstGeom prst="ellipse">
            <a:avLst/>
          </a:prstGeom>
          <a:solidFill>
            <a:srgbClr val="38761D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11" name="Google Shape;4911;p294"/>
          <p:cNvSpPr/>
          <p:nvPr/>
        </p:nvSpPr>
        <p:spPr>
          <a:xfrm>
            <a:off x="7162769" y="4576473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12" name="Google Shape;4912;p294"/>
          <p:cNvSpPr/>
          <p:nvPr/>
        </p:nvSpPr>
        <p:spPr>
          <a:xfrm>
            <a:off x="8127770" y="457647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13" name="Google Shape;4913;p294"/>
          <p:cNvSpPr/>
          <p:nvPr/>
        </p:nvSpPr>
        <p:spPr>
          <a:xfrm>
            <a:off x="7564195" y="3942686"/>
            <a:ext cx="556500" cy="4716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14" name="Google Shape;4914;p294"/>
          <p:cNvSpPr/>
          <p:nvPr/>
        </p:nvSpPr>
        <p:spPr>
          <a:xfrm>
            <a:off x="8127765" y="3457314"/>
            <a:ext cx="349800" cy="354000"/>
          </a:xfrm>
          <a:prstGeom prst="ellipse">
            <a:avLst/>
          </a:prstGeom>
          <a:solidFill>
            <a:srgbClr val="1155CC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915" name="Google Shape;4915;p294"/>
          <p:cNvCxnSpPr>
            <a:stCxn id="4914" idx="4"/>
            <a:endCxn id="4913" idx="7"/>
          </p:cNvCxnSpPr>
          <p:nvPr/>
        </p:nvCxnSpPr>
        <p:spPr>
          <a:xfrm flipH="1">
            <a:off x="8039265" y="381131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16" name="Google Shape;4916;p294"/>
          <p:cNvCxnSpPr>
            <a:stCxn id="4910" idx="4"/>
            <a:endCxn id="4913" idx="1"/>
          </p:cNvCxnSpPr>
          <p:nvPr/>
        </p:nvCxnSpPr>
        <p:spPr>
          <a:xfrm>
            <a:off x="7337669" y="381131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17" name="Google Shape;4917;p294"/>
          <p:cNvCxnSpPr>
            <a:stCxn id="4911" idx="0"/>
            <a:endCxn id="4913" idx="3"/>
          </p:cNvCxnSpPr>
          <p:nvPr/>
        </p:nvCxnSpPr>
        <p:spPr>
          <a:xfrm flipH="1" rot="10800000">
            <a:off x="7337669" y="434517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18" name="Google Shape;4918;p294"/>
          <p:cNvCxnSpPr>
            <a:stCxn id="4913" idx="5"/>
            <a:endCxn id="4912" idx="0"/>
          </p:cNvCxnSpPr>
          <p:nvPr/>
        </p:nvCxnSpPr>
        <p:spPr>
          <a:xfrm>
            <a:off x="8039198" y="434522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22" name="Shape 4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3" name="Google Shape;4923;p29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Composition</a:t>
            </a:r>
            <a:endParaRPr/>
          </a:p>
        </p:txBody>
      </p:sp>
      <p:sp>
        <p:nvSpPr>
          <p:cNvPr id="4924" name="Google Shape;4924;p295"/>
          <p:cNvSpPr/>
          <p:nvPr/>
        </p:nvSpPr>
        <p:spPr>
          <a:xfrm>
            <a:off x="666425" y="347526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25" name="Google Shape;4925;p295"/>
          <p:cNvSpPr/>
          <p:nvPr/>
        </p:nvSpPr>
        <p:spPr>
          <a:xfrm>
            <a:off x="666425" y="459442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26" name="Google Shape;4926;p295"/>
          <p:cNvSpPr/>
          <p:nvPr/>
        </p:nvSpPr>
        <p:spPr>
          <a:xfrm>
            <a:off x="1631427" y="459442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27" name="Google Shape;4927;p295"/>
          <p:cNvSpPr/>
          <p:nvPr/>
        </p:nvSpPr>
        <p:spPr>
          <a:xfrm>
            <a:off x="1067851" y="3960636"/>
            <a:ext cx="556500" cy="4716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28" name="Google Shape;4928;p295"/>
          <p:cNvSpPr/>
          <p:nvPr/>
        </p:nvSpPr>
        <p:spPr>
          <a:xfrm>
            <a:off x="1631421" y="3475264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929" name="Google Shape;4929;p295"/>
          <p:cNvCxnSpPr>
            <a:stCxn id="4928" idx="4"/>
            <a:endCxn id="4927" idx="7"/>
          </p:cNvCxnSpPr>
          <p:nvPr/>
        </p:nvCxnSpPr>
        <p:spPr>
          <a:xfrm flipH="1">
            <a:off x="1542921" y="382926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30" name="Google Shape;4930;p295"/>
          <p:cNvCxnSpPr>
            <a:stCxn id="4924" idx="4"/>
            <a:endCxn id="4927" idx="1"/>
          </p:cNvCxnSpPr>
          <p:nvPr/>
        </p:nvCxnSpPr>
        <p:spPr>
          <a:xfrm>
            <a:off x="841325" y="382926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31" name="Google Shape;4931;p295"/>
          <p:cNvCxnSpPr>
            <a:stCxn id="4925" idx="0"/>
            <a:endCxn id="4927" idx="3"/>
          </p:cNvCxnSpPr>
          <p:nvPr/>
        </p:nvCxnSpPr>
        <p:spPr>
          <a:xfrm flipH="1" rot="10800000">
            <a:off x="841325" y="436312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32" name="Google Shape;4932;p295"/>
          <p:cNvCxnSpPr>
            <a:stCxn id="4927" idx="5"/>
            <a:endCxn id="4926" idx="0"/>
          </p:cNvCxnSpPr>
          <p:nvPr/>
        </p:nvCxnSpPr>
        <p:spPr>
          <a:xfrm>
            <a:off x="1542854" y="436317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33" name="Google Shape;4933;p295"/>
          <p:cNvSpPr/>
          <p:nvPr/>
        </p:nvSpPr>
        <p:spPr>
          <a:xfrm>
            <a:off x="2635722" y="3490671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34" name="Google Shape;4934;p295"/>
          <p:cNvSpPr/>
          <p:nvPr/>
        </p:nvSpPr>
        <p:spPr>
          <a:xfrm>
            <a:off x="2635722" y="4609831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35" name="Google Shape;4935;p295"/>
          <p:cNvSpPr/>
          <p:nvPr/>
        </p:nvSpPr>
        <p:spPr>
          <a:xfrm>
            <a:off x="3600724" y="4609831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36" name="Google Shape;4936;p295"/>
          <p:cNvSpPr/>
          <p:nvPr/>
        </p:nvSpPr>
        <p:spPr>
          <a:xfrm>
            <a:off x="3037148" y="3976045"/>
            <a:ext cx="556500" cy="4716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37" name="Google Shape;4937;p295"/>
          <p:cNvSpPr/>
          <p:nvPr/>
        </p:nvSpPr>
        <p:spPr>
          <a:xfrm>
            <a:off x="3600718" y="349067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938" name="Google Shape;4938;p295"/>
          <p:cNvCxnSpPr>
            <a:stCxn id="4937" idx="4"/>
            <a:endCxn id="4936" idx="7"/>
          </p:cNvCxnSpPr>
          <p:nvPr/>
        </p:nvCxnSpPr>
        <p:spPr>
          <a:xfrm flipH="1">
            <a:off x="3512218" y="3844673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39" name="Google Shape;4939;p295"/>
          <p:cNvCxnSpPr>
            <a:stCxn id="4933" idx="4"/>
            <a:endCxn id="4936" idx="1"/>
          </p:cNvCxnSpPr>
          <p:nvPr/>
        </p:nvCxnSpPr>
        <p:spPr>
          <a:xfrm>
            <a:off x="2810622" y="3844671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40" name="Google Shape;4940;p295"/>
          <p:cNvCxnSpPr>
            <a:stCxn id="4934" idx="0"/>
            <a:endCxn id="4936" idx="3"/>
          </p:cNvCxnSpPr>
          <p:nvPr/>
        </p:nvCxnSpPr>
        <p:spPr>
          <a:xfrm flipH="1" rot="10800000">
            <a:off x="2810622" y="4378531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41" name="Google Shape;4941;p295"/>
          <p:cNvCxnSpPr>
            <a:stCxn id="4936" idx="5"/>
            <a:endCxn id="4935" idx="0"/>
          </p:cNvCxnSpPr>
          <p:nvPr/>
        </p:nvCxnSpPr>
        <p:spPr>
          <a:xfrm>
            <a:off x="3512151" y="4378581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42" name="Google Shape;4942;p295"/>
          <p:cNvSpPr/>
          <p:nvPr/>
        </p:nvSpPr>
        <p:spPr>
          <a:xfrm>
            <a:off x="4835344" y="3470263"/>
            <a:ext cx="349800" cy="354000"/>
          </a:xfrm>
          <a:prstGeom prst="ellipse">
            <a:avLst/>
          </a:prstGeom>
          <a:solidFill>
            <a:srgbClr val="38761D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43" name="Google Shape;4943;p295"/>
          <p:cNvSpPr/>
          <p:nvPr/>
        </p:nvSpPr>
        <p:spPr>
          <a:xfrm>
            <a:off x="4835344" y="4589423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44" name="Google Shape;4944;p295"/>
          <p:cNvSpPr/>
          <p:nvPr/>
        </p:nvSpPr>
        <p:spPr>
          <a:xfrm>
            <a:off x="5800345" y="458942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45" name="Google Shape;4945;p295"/>
          <p:cNvSpPr/>
          <p:nvPr/>
        </p:nvSpPr>
        <p:spPr>
          <a:xfrm>
            <a:off x="5236770" y="3955636"/>
            <a:ext cx="556500" cy="471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46" name="Google Shape;4946;p295"/>
          <p:cNvSpPr/>
          <p:nvPr/>
        </p:nvSpPr>
        <p:spPr>
          <a:xfrm>
            <a:off x="5800340" y="3470264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947" name="Google Shape;4947;p295"/>
          <p:cNvCxnSpPr>
            <a:stCxn id="4946" idx="4"/>
            <a:endCxn id="4945" idx="7"/>
          </p:cNvCxnSpPr>
          <p:nvPr/>
        </p:nvCxnSpPr>
        <p:spPr>
          <a:xfrm flipH="1">
            <a:off x="5711840" y="382426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48" name="Google Shape;4948;p295"/>
          <p:cNvCxnSpPr>
            <a:stCxn id="4942" idx="4"/>
            <a:endCxn id="4945" idx="1"/>
          </p:cNvCxnSpPr>
          <p:nvPr/>
        </p:nvCxnSpPr>
        <p:spPr>
          <a:xfrm>
            <a:off x="5010244" y="382426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49" name="Google Shape;4949;p295"/>
          <p:cNvCxnSpPr>
            <a:stCxn id="4943" idx="0"/>
            <a:endCxn id="4945" idx="3"/>
          </p:cNvCxnSpPr>
          <p:nvPr/>
        </p:nvCxnSpPr>
        <p:spPr>
          <a:xfrm flipH="1" rot="10800000">
            <a:off x="5010244" y="435812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50" name="Google Shape;4950;p295"/>
          <p:cNvCxnSpPr>
            <a:stCxn id="4945" idx="5"/>
            <a:endCxn id="4944" idx="0"/>
          </p:cNvCxnSpPr>
          <p:nvPr/>
        </p:nvCxnSpPr>
        <p:spPr>
          <a:xfrm>
            <a:off x="5711773" y="435817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51" name="Google Shape;4951;p295"/>
          <p:cNvSpPr/>
          <p:nvPr/>
        </p:nvSpPr>
        <p:spPr>
          <a:xfrm>
            <a:off x="7162769" y="3457313"/>
            <a:ext cx="349800" cy="354000"/>
          </a:xfrm>
          <a:prstGeom prst="ellipse">
            <a:avLst/>
          </a:prstGeom>
          <a:solidFill>
            <a:srgbClr val="38761D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52" name="Google Shape;4952;p295"/>
          <p:cNvSpPr/>
          <p:nvPr/>
        </p:nvSpPr>
        <p:spPr>
          <a:xfrm>
            <a:off x="7162769" y="4576473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53" name="Google Shape;4953;p295"/>
          <p:cNvSpPr/>
          <p:nvPr/>
        </p:nvSpPr>
        <p:spPr>
          <a:xfrm>
            <a:off x="8127770" y="457647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54" name="Google Shape;4954;p295"/>
          <p:cNvSpPr/>
          <p:nvPr/>
        </p:nvSpPr>
        <p:spPr>
          <a:xfrm>
            <a:off x="7564195" y="3942686"/>
            <a:ext cx="556500" cy="4716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4955" name="Google Shape;4955;p295"/>
          <p:cNvSpPr/>
          <p:nvPr/>
        </p:nvSpPr>
        <p:spPr>
          <a:xfrm>
            <a:off x="8127765" y="3457314"/>
            <a:ext cx="349800" cy="354000"/>
          </a:xfrm>
          <a:prstGeom prst="ellipse">
            <a:avLst/>
          </a:prstGeom>
          <a:solidFill>
            <a:srgbClr val="1155CC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4956" name="Google Shape;4956;p295"/>
          <p:cNvCxnSpPr>
            <a:stCxn id="4955" idx="4"/>
            <a:endCxn id="4954" idx="7"/>
          </p:cNvCxnSpPr>
          <p:nvPr/>
        </p:nvCxnSpPr>
        <p:spPr>
          <a:xfrm flipH="1">
            <a:off x="8039265" y="381131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57" name="Google Shape;4957;p295"/>
          <p:cNvCxnSpPr>
            <a:stCxn id="4951" idx="4"/>
            <a:endCxn id="4954" idx="1"/>
          </p:cNvCxnSpPr>
          <p:nvPr/>
        </p:nvCxnSpPr>
        <p:spPr>
          <a:xfrm>
            <a:off x="7337669" y="381131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58" name="Google Shape;4958;p295"/>
          <p:cNvCxnSpPr>
            <a:stCxn id="4952" idx="0"/>
            <a:endCxn id="4954" idx="3"/>
          </p:cNvCxnSpPr>
          <p:nvPr/>
        </p:nvCxnSpPr>
        <p:spPr>
          <a:xfrm flipH="1" rot="10800000">
            <a:off x="7337669" y="434517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59" name="Google Shape;4959;p295"/>
          <p:cNvCxnSpPr>
            <a:stCxn id="4954" idx="5"/>
            <a:endCxn id="4953" idx="0"/>
          </p:cNvCxnSpPr>
          <p:nvPr/>
        </p:nvCxnSpPr>
        <p:spPr>
          <a:xfrm>
            <a:off x="8039198" y="434522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960" name="Google Shape;4960;p295"/>
          <p:cNvGrpSpPr/>
          <p:nvPr/>
        </p:nvGrpSpPr>
        <p:grpSpPr>
          <a:xfrm>
            <a:off x="4024934" y="1147215"/>
            <a:ext cx="1094145" cy="887973"/>
            <a:chOff x="248500" y="1020725"/>
            <a:chExt cx="1478375" cy="1251900"/>
          </a:xfrm>
        </p:grpSpPr>
        <p:sp>
          <p:nvSpPr>
            <p:cNvPr id="4961" name="Google Shape;4961;p295"/>
            <p:cNvSpPr/>
            <p:nvPr/>
          </p:nvSpPr>
          <p:spPr>
            <a:xfrm>
              <a:off x="516077" y="1379922"/>
              <a:ext cx="194700" cy="194400"/>
            </a:xfrm>
            <a:prstGeom prst="ellipse">
              <a:avLst/>
            </a:prstGeom>
            <a:solidFill>
              <a:srgbClr val="38761D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962" name="Google Shape;4962;p295"/>
            <p:cNvSpPr/>
            <p:nvPr/>
          </p:nvSpPr>
          <p:spPr>
            <a:xfrm>
              <a:off x="516075" y="1633090"/>
              <a:ext cx="194700" cy="194400"/>
            </a:xfrm>
            <a:prstGeom prst="ellipse">
              <a:avLst/>
            </a:prstGeom>
            <a:solidFill>
              <a:srgbClr val="FF0000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963" name="Google Shape;4963;p295"/>
            <p:cNvSpPr/>
            <p:nvPr/>
          </p:nvSpPr>
          <p:spPr>
            <a:xfrm>
              <a:off x="516078" y="1101575"/>
              <a:ext cx="194700" cy="1944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964" name="Google Shape;4964;p295"/>
            <p:cNvSpPr/>
            <p:nvPr/>
          </p:nvSpPr>
          <p:spPr>
            <a:xfrm>
              <a:off x="516076" y="1886275"/>
              <a:ext cx="194700" cy="194400"/>
            </a:xfrm>
            <a:prstGeom prst="ellipse">
              <a:avLst/>
            </a:prstGeom>
            <a:solidFill>
              <a:srgbClr val="1155CC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965" name="Google Shape;4965;p295"/>
            <p:cNvSpPr txBox="1"/>
            <p:nvPr/>
          </p:nvSpPr>
          <p:spPr>
            <a:xfrm>
              <a:off x="710775" y="1098575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White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966" name="Google Shape;4966;p295"/>
            <p:cNvSpPr txBox="1"/>
            <p:nvPr/>
          </p:nvSpPr>
          <p:spPr>
            <a:xfrm>
              <a:off x="710775" y="1364338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Hispanic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967" name="Google Shape;4967;p295"/>
            <p:cNvSpPr txBox="1"/>
            <p:nvPr/>
          </p:nvSpPr>
          <p:spPr>
            <a:xfrm>
              <a:off x="710775" y="1625300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Black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968" name="Google Shape;4968;p295"/>
            <p:cNvSpPr txBox="1"/>
            <p:nvPr/>
          </p:nvSpPr>
          <p:spPr>
            <a:xfrm>
              <a:off x="710775" y="1893200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Asian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969" name="Google Shape;4969;p295"/>
            <p:cNvSpPr/>
            <p:nvPr/>
          </p:nvSpPr>
          <p:spPr>
            <a:xfrm>
              <a:off x="248500" y="1020725"/>
              <a:ext cx="1329900" cy="1251900"/>
            </a:xfrm>
            <a:prstGeom prst="rect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0" name="Google Shape;4970;p295"/>
          <p:cNvSpPr txBox="1"/>
          <p:nvPr/>
        </p:nvSpPr>
        <p:spPr>
          <a:xfrm>
            <a:off x="534600" y="2470625"/>
            <a:ext cx="1623000" cy="8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White: 1.0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Hispanic: 0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Black: 0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Asian: 0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971" name="Google Shape;4971;p295"/>
          <p:cNvSpPr txBox="1"/>
          <p:nvPr/>
        </p:nvSpPr>
        <p:spPr>
          <a:xfrm>
            <a:off x="2503900" y="2470613"/>
            <a:ext cx="1623000" cy="8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White: 0.75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Hispanic: 0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Black: 0.25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Asian: 0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972" name="Google Shape;4972;p295"/>
          <p:cNvSpPr txBox="1"/>
          <p:nvPr/>
        </p:nvSpPr>
        <p:spPr>
          <a:xfrm>
            <a:off x="4703525" y="2468125"/>
            <a:ext cx="1748100" cy="8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White: 0.5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Hispanic: 0.25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Black: 0.25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Asian 0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973" name="Google Shape;4973;p295"/>
          <p:cNvSpPr txBox="1"/>
          <p:nvPr/>
        </p:nvSpPr>
        <p:spPr>
          <a:xfrm>
            <a:off x="7030950" y="2461650"/>
            <a:ext cx="1748100" cy="8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White: 0.25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Hispanic: 0.25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Black: 0.25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Proportion Asian: 0.25</a:t>
            </a:r>
            <a:endParaRPr sz="1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974" name="Google Shape;4974;p295"/>
          <p:cNvSpPr txBox="1"/>
          <p:nvPr/>
        </p:nvSpPr>
        <p:spPr>
          <a:xfrm>
            <a:off x="760100" y="2101450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975" name="Google Shape;4975;p295"/>
          <p:cNvSpPr txBox="1"/>
          <p:nvPr/>
        </p:nvSpPr>
        <p:spPr>
          <a:xfrm>
            <a:off x="2997075" y="2101475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976" name="Google Shape;4976;p295"/>
          <p:cNvSpPr txBox="1"/>
          <p:nvPr/>
        </p:nvSpPr>
        <p:spPr>
          <a:xfrm>
            <a:off x="5314775" y="2102875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977" name="Google Shape;4977;p295"/>
          <p:cNvSpPr txBox="1"/>
          <p:nvPr/>
        </p:nvSpPr>
        <p:spPr>
          <a:xfrm>
            <a:off x="7359925" y="2102163"/>
            <a:ext cx="11592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Size =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81" name="Shape 4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2" name="Google Shape;4982;p29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Blau’s Index of Heterogeneity (H)</a:t>
            </a:r>
            <a:endParaRPr/>
          </a:p>
        </p:txBody>
      </p:sp>
      <p:sp>
        <p:nvSpPr>
          <p:cNvPr id="4983" name="Google Shape;4983;p296"/>
          <p:cNvSpPr txBox="1"/>
          <p:nvPr/>
        </p:nvSpPr>
        <p:spPr>
          <a:xfrm>
            <a:off x="422125" y="3840214"/>
            <a:ext cx="1350300" cy="11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 (4/4)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 1 - 1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1 - 1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H = 0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984" name="Google Shape;4984;p296"/>
          <p:cNvSpPr txBox="1"/>
          <p:nvPr/>
        </p:nvSpPr>
        <p:spPr>
          <a:xfrm>
            <a:off x="2189975" y="3840214"/>
            <a:ext cx="1748100" cy="11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 [(¼)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+ (¾)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]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1 -(0.25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 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+ 0.75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)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 (0.06 + 0.56)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H =  0.38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985" name="Google Shape;4985;p296"/>
          <p:cNvSpPr txBox="1"/>
          <p:nvPr/>
        </p:nvSpPr>
        <p:spPr>
          <a:xfrm>
            <a:off x="4143713" y="3785225"/>
            <a:ext cx="2246400" cy="124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 [(¼)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+ (¼)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+ (½)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]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1 -(0.25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 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+ 0.25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+ 0.5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)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 (0.06 + 0.06 + 0.25)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H = 0.63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986" name="Google Shape;4986;p296"/>
          <p:cNvSpPr txBox="1"/>
          <p:nvPr/>
        </p:nvSpPr>
        <p:spPr>
          <a:xfrm>
            <a:off x="6363250" y="3787675"/>
            <a:ext cx="2784300" cy="124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 [(¼)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+ (¼)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+ (¼)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+ (¼)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]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1 -(0.25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 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+ 0.25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 + 0.25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  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+ 0.25</a:t>
            </a:r>
            <a:r>
              <a:rPr b="1" baseline="30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2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)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H = 1 - (0.06 + 0.06 + 0.06 + 0.06) 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H = 0.76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descr="H = 1 - \sum_k p_k^2" id="4987" name="Google Shape;4987;p296" title="MathEquation,#0000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2125" y="1244465"/>
            <a:ext cx="3280300" cy="6437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88" name="Google Shape;4988;p296"/>
          <p:cNvGrpSpPr/>
          <p:nvPr/>
        </p:nvGrpSpPr>
        <p:grpSpPr>
          <a:xfrm>
            <a:off x="4024934" y="1082715"/>
            <a:ext cx="1094145" cy="887973"/>
            <a:chOff x="248500" y="1020725"/>
            <a:chExt cx="1478375" cy="1251900"/>
          </a:xfrm>
        </p:grpSpPr>
        <p:sp>
          <p:nvSpPr>
            <p:cNvPr id="4989" name="Google Shape;4989;p296"/>
            <p:cNvSpPr/>
            <p:nvPr/>
          </p:nvSpPr>
          <p:spPr>
            <a:xfrm>
              <a:off x="516077" y="1379922"/>
              <a:ext cx="194700" cy="194400"/>
            </a:xfrm>
            <a:prstGeom prst="ellipse">
              <a:avLst/>
            </a:prstGeom>
            <a:solidFill>
              <a:srgbClr val="38761D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990" name="Google Shape;4990;p296"/>
            <p:cNvSpPr/>
            <p:nvPr/>
          </p:nvSpPr>
          <p:spPr>
            <a:xfrm>
              <a:off x="516075" y="1633090"/>
              <a:ext cx="194700" cy="194400"/>
            </a:xfrm>
            <a:prstGeom prst="ellipse">
              <a:avLst/>
            </a:prstGeom>
            <a:solidFill>
              <a:srgbClr val="FF0000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991" name="Google Shape;4991;p296"/>
            <p:cNvSpPr/>
            <p:nvPr/>
          </p:nvSpPr>
          <p:spPr>
            <a:xfrm>
              <a:off x="516078" y="1101575"/>
              <a:ext cx="194700" cy="1944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992" name="Google Shape;4992;p296"/>
            <p:cNvSpPr/>
            <p:nvPr/>
          </p:nvSpPr>
          <p:spPr>
            <a:xfrm>
              <a:off x="516076" y="1886275"/>
              <a:ext cx="194700" cy="194400"/>
            </a:xfrm>
            <a:prstGeom prst="ellipse">
              <a:avLst/>
            </a:prstGeom>
            <a:solidFill>
              <a:srgbClr val="1155CC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endParaRPr>
            </a:p>
          </p:txBody>
        </p:sp>
        <p:sp>
          <p:nvSpPr>
            <p:cNvPr id="4993" name="Google Shape;4993;p296"/>
            <p:cNvSpPr txBox="1"/>
            <p:nvPr/>
          </p:nvSpPr>
          <p:spPr>
            <a:xfrm>
              <a:off x="710775" y="1098575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White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994" name="Google Shape;4994;p296"/>
            <p:cNvSpPr txBox="1"/>
            <p:nvPr/>
          </p:nvSpPr>
          <p:spPr>
            <a:xfrm>
              <a:off x="710775" y="1364338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Hispanic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995" name="Google Shape;4995;p296"/>
            <p:cNvSpPr txBox="1"/>
            <p:nvPr/>
          </p:nvSpPr>
          <p:spPr>
            <a:xfrm>
              <a:off x="710775" y="1625300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Black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996" name="Google Shape;4996;p296"/>
            <p:cNvSpPr txBox="1"/>
            <p:nvPr/>
          </p:nvSpPr>
          <p:spPr>
            <a:xfrm>
              <a:off x="710775" y="1893200"/>
              <a:ext cx="1016100" cy="20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Asian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4997" name="Google Shape;4997;p296"/>
            <p:cNvSpPr/>
            <p:nvPr/>
          </p:nvSpPr>
          <p:spPr>
            <a:xfrm>
              <a:off x="248500" y="1020725"/>
              <a:ext cx="1329900" cy="1251900"/>
            </a:xfrm>
            <a:prstGeom prst="rect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8" name="Google Shape;4998;p296"/>
          <p:cNvSpPr txBox="1"/>
          <p:nvPr/>
        </p:nvSpPr>
        <p:spPr>
          <a:xfrm>
            <a:off x="6363250" y="1082725"/>
            <a:ext cx="2337600" cy="98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One minus the sum of squared proportions of alters from each group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4999" name="Google Shape;4999;p296"/>
          <p:cNvSpPr/>
          <p:nvPr/>
        </p:nvSpPr>
        <p:spPr>
          <a:xfrm>
            <a:off x="572250" y="2142650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00" name="Google Shape;5000;p296"/>
          <p:cNvSpPr/>
          <p:nvPr/>
        </p:nvSpPr>
        <p:spPr>
          <a:xfrm>
            <a:off x="572250" y="3261810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01" name="Google Shape;5001;p296"/>
          <p:cNvSpPr/>
          <p:nvPr/>
        </p:nvSpPr>
        <p:spPr>
          <a:xfrm>
            <a:off x="1537252" y="3261810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02" name="Google Shape;5002;p296"/>
          <p:cNvSpPr/>
          <p:nvPr/>
        </p:nvSpPr>
        <p:spPr>
          <a:xfrm>
            <a:off x="973676" y="2628024"/>
            <a:ext cx="556500" cy="4716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03" name="Google Shape;5003;p296"/>
          <p:cNvSpPr/>
          <p:nvPr/>
        </p:nvSpPr>
        <p:spPr>
          <a:xfrm>
            <a:off x="1537246" y="2142652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004" name="Google Shape;5004;p296"/>
          <p:cNvCxnSpPr>
            <a:stCxn id="5003" idx="4"/>
            <a:endCxn id="5002" idx="7"/>
          </p:cNvCxnSpPr>
          <p:nvPr/>
        </p:nvCxnSpPr>
        <p:spPr>
          <a:xfrm flipH="1">
            <a:off x="1448746" y="2496652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05" name="Google Shape;5005;p296"/>
          <p:cNvCxnSpPr>
            <a:stCxn id="4999" idx="4"/>
            <a:endCxn id="5002" idx="1"/>
          </p:cNvCxnSpPr>
          <p:nvPr/>
        </p:nvCxnSpPr>
        <p:spPr>
          <a:xfrm>
            <a:off x="747150" y="2496650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06" name="Google Shape;5006;p296"/>
          <p:cNvCxnSpPr>
            <a:stCxn id="5000" idx="0"/>
            <a:endCxn id="5002" idx="3"/>
          </p:cNvCxnSpPr>
          <p:nvPr/>
        </p:nvCxnSpPr>
        <p:spPr>
          <a:xfrm flipH="1" rot="10800000">
            <a:off x="747150" y="3030510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07" name="Google Shape;5007;p296"/>
          <p:cNvCxnSpPr>
            <a:stCxn id="5002" idx="5"/>
            <a:endCxn id="5001" idx="0"/>
          </p:cNvCxnSpPr>
          <p:nvPr/>
        </p:nvCxnSpPr>
        <p:spPr>
          <a:xfrm>
            <a:off x="1448679" y="3030560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08" name="Google Shape;5008;p296"/>
          <p:cNvSpPr/>
          <p:nvPr/>
        </p:nvSpPr>
        <p:spPr>
          <a:xfrm>
            <a:off x="2541547" y="2158059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09" name="Google Shape;5009;p296"/>
          <p:cNvSpPr/>
          <p:nvPr/>
        </p:nvSpPr>
        <p:spPr>
          <a:xfrm>
            <a:off x="2541547" y="3277218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10" name="Google Shape;5010;p296"/>
          <p:cNvSpPr/>
          <p:nvPr/>
        </p:nvSpPr>
        <p:spPr>
          <a:xfrm>
            <a:off x="3506549" y="3277218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11" name="Google Shape;5011;p296"/>
          <p:cNvSpPr/>
          <p:nvPr/>
        </p:nvSpPr>
        <p:spPr>
          <a:xfrm>
            <a:off x="2942973" y="2643432"/>
            <a:ext cx="556500" cy="4716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12" name="Google Shape;5012;p296"/>
          <p:cNvSpPr/>
          <p:nvPr/>
        </p:nvSpPr>
        <p:spPr>
          <a:xfrm>
            <a:off x="3506543" y="2158060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013" name="Google Shape;5013;p296"/>
          <p:cNvCxnSpPr>
            <a:stCxn id="5012" idx="4"/>
            <a:endCxn id="5011" idx="7"/>
          </p:cNvCxnSpPr>
          <p:nvPr/>
        </p:nvCxnSpPr>
        <p:spPr>
          <a:xfrm flipH="1">
            <a:off x="3418043" y="2512060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14" name="Google Shape;5014;p296"/>
          <p:cNvCxnSpPr>
            <a:stCxn id="5008" idx="4"/>
            <a:endCxn id="5011" idx="1"/>
          </p:cNvCxnSpPr>
          <p:nvPr/>
        </p:nvCxnSpPr>
        <p:spPr>
          <a:xfrm>
            <a:off x="2716447" y="2512059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15" name="Google Shape;5015;p296"/>
          <p:cNvCxnSpPr>
            <a:stCxn id="5009" idx="0"/>
            <a:endCxn id="5011" idx="3"/>
          </p:cNvCxnSpPr>
          <p:nvPr/>
        </p:nvCxnSpPr>
        <p:spPr>
          <a:xfrm flipH="1" rot="10800000">
            <a:off x="2716447" y="3045918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16" name="Google Shape;5016;p296"/>
          <p:cNvCxnSpPr>
            <a:stCxn id="5011" idx="5"/>
            <a:endCxn id="5010" idx="0"/>
          </p:cNvCxnSpPr>
          <p:nvPr/>
        </p:nvCxnSpPr>
        <p:spPr>
          <a:xfrm>
            <a:off x="3417976" y="3045968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17" name="Google Shape;5017;p296"/>
          <p:cNvSpPr/>
          <p:nvPr/>
        </p:nvSpPr>
        <p:spPr>
          <a:xfrm>
            <a:off x="4741169" y="2137650"/>
            <a:ext cx="349800" cy="354000"/>
          </a:xfrm>
          <a:prstGeom prst="ellipse">
            <a:avLst/>
          </a:prstGeom>
          <a:solidFill>
            <a:srgbClr val="38761D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18" name="Google Shape;5018;p296"/>
          <p:cNvSpPr/>
          <p:nvPr/>
        </p:nvSpPr>
        <p:spPr>
          <a:xfrm>
            <a:off x="4741169" y="3256810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19" name="Google Shape;5019;p296"/>
          <p:cNvSpPr/>
          <p:nvPr/>
        </p:nvSpPr>
        <p:spPr>
          <a:xfrm>
            <a:off x="5706170" y="3256810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20" name="Google Shape;5020;p296"/>
          <p:cNvSpPr/>
          <p:nvPr/>
        </p:nvSpPr>
        <p:spPr>
          <a:xfrm>
            <a:off x="5142595" y="2623024"/>
            <a:ext cx="556500" cy="471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21" name="Google Shape;5021;p296"/>
          <p:cNvSpPr/>
          <p:nvPr/>
        </p:nvSpPr>
        <p:spPr>
          <a:xfrm>
            <a:off x="5706165" y="2137652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022" name="Google Shape;5022;p296"/>
          <p:cNvCxnSpPr>
            <a:stCxn id="5021" idx="4"/>
            <a:endCxn id="5020" idx="7"/>
          </p:cNvCxnSpPr>
          <p:nvPr/>
        </p:nvCxnSpPr>
        <p:spPr>
          <a:xfrm flipH="1">
            <a:off x="5617665" y="2491652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23" name="Google Shape;5023;p296"/>
          <p:cNvCxnSpPr>
            <a:stCxn id="5017" idx="4"/>
            <a:endCxn id="5020" idx="1"/>
          </p:cNvCxnSpPr>
          <p:nvPr/>
        </p:nvCxnSpPr>
        <p:spPr>
          <a:xfrm>
            <a:off x="4916069" y="2491650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24" name="Google Shape;5024;p296"/>
          <p:cNvCxnSpPr>
            <a:stCxn id="5018" idx="0"/>
            <a:endCxn id="5020" idx="3"/>
          </p:cNvCxnSpPr>
          <p:nvPr/>
        </p:nvCxnSpPr>
        <p:spPr>
          <a:xfrm flipH="1" rot="10800000">
            <a:off x="4916069" y="3025510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25" name="Google Shape;5025;p296"/>
          <p:cNvCxnSpPr>
            <a:stCxn id="5020" idx="5"/>
            <a:endCxn id="5019" idx="0"/>
          </p:cNvCxnSpPr>
          <p:nvPr/>
        </p:nvCxnSpPr>
        <p:spPr>
          <a:xfrm>
            <a:off x="5617598" y="3025560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26" name="Google Shape;5026;p296"/>
          <p:cNvSpPr/>
          <p:nvPr/>
        </p:nvSpPr>
        <p:spPr>
          <a:xfrm>
            <a:off x="7068594" y="2124700"/>
            <a:ext cx="349800" cy="354000"/>
          </a:xfrm>
          <a:prstGeom prst="ellipse">
            <a:avLst/>
          </a:prstGeom>
          <a:solidFill>
            <a:srgbClr val="38761D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27" name="Google Shape;5027;p296"/>
          <p:cNvSpPr/>
          <p:nvPr/>
        </p:nvSpPr>
        <p:spPr>
          <a:xfrm>
            <a:off x="7068594" y="3243860"/>
            <a:ext cx="349800" cy="354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28" name="Google Shape;5028;p296"/>
          <p:cNvSpPr/>
          <p:nvPr/>
        </p:nvSpPr>
        <p:spPr>
          <a:xfrm>
            <a:off x="8033595" y="3243860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29" name="Google Shape;5029;p296"/>
          <p:cNvSpPr/>
          <p:nvPr/>
        </p:nvSpPr>
        <p:spPr>
          <a:xfrm>
            <a:off x="7470020" y="2610074"/>
            <a:ext cx="556500" cy="4716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30" name="Google Shape;5030;p296"/>
          <p:cNvSpPr/>
          <p:nvPr/>
        </p:nvSpPr>
        <p:spPr>
          <a:xfrm>
            <a:off x="8033590" y="2124702"/>
            <a:ext cx="349800" cy="354000"/>
          </a:xfrm>
          <a:prstGeom prst="ellipse">
            <a:avLst/>
          </a:prstGeom>
          <a:solidFill>
            <a:srgbClr val="1155CC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031" name="Google Shape;5031;p296"/>
          <p:cNvCxnSpPr>
            <a:stCxn id="5030" idx="4"/>
            <a:endCxn id="5029" idx="7"/>
          </p:cNvCxnSpPr>
          <p:nvPr/>
        </p:nvCxnSpPr>
        <p:spPr>
          <a:xfrm flipH="1">
            <a:off x="7945090" y="2478702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32" name="Google Shape;5032;p296"/>
          <p:cNvCxnSpPr>
            <a:stCxn id="5026" idx="4"/>
            <a:endCxn id="5029" idx="1"/>
          </p:cNvCxnSpPr>
          <p:nvPr/>
        </p:nvCxnSpPr>
        <p:spPr>
          <a:xfrm>
            <a:off x="7243494" y="2478700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33" name="Google Shape;5033;p296"/>
          <p:cNvCxnSpPr>
            <a:stCxn id="5027" idx="0"/>
            <a:endCxn id="5029" idx="3"/>
          </p:cNvCxnSpPr>
          <p:nvPr/>
        </p:nvCxnSpPr>
        <p:spPr>
          <a:xfrm flipH="1" rot="10800000">
            <a:off x="7243494" y="3012560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34" name="Google Shape;5034;p296"/>
          <p:cNvCxnSpPr>
            <a:stCxn id="5029" idx="5"/>
            <a:endCxn id="5028" idx="0"/>
          </p:cNvCxnSpPr>
          <p:nvPr/>
        </p:nvCxnSpPr>
        <p:spPr>
          <a:xfrm>
            <a:off x="7945023" y="3012610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38" name="Shape 5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9" name="Google Shape;5039;p29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EI Homophily Index</a:t>
            </a:r>
            <a:endParaRPr/>
          </a:p>
        </p:txBody>
      </p:sp>
      <p:sp>
        <p:nvSpPr>
          <p:cNvPr id="5040" name="Google Shape;5040;p297"/>
          <p:cNvSpPr/>
          <p:nvPr/>
        </p:nvSpPr>
        <p:spPr>
          <a:xfrm>
            <a:off x="702750" y="2323088"/>
            <a:ext cx="349800" cy="3540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41" name="Google Shape;5041;p297"/>
          <p:cNvSpPr/>
          <p:nvPr/>
        </p:nvSpPr>
        <p:spPr>
          <a:xfrm>
            <a:off x="702750" y="3442248"/>
            <a:ext cx="349800" cy="3540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42" name="Google Shape;5042;p297"/>
          <p:cNvSpPr/>
          <p:nvPr/>
        </p:nvSpPr>
        <p:spPr>
          <a:xfrm>
            <a:off x="1667752" y="3442248"/>
            <a:ext cx="349800" cy="3540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43" name="Google Shape;5043;p297"/>
          <p:cNvSpPr/>
          <p:nvPr/>
        </p:nvSpPr>
        <p:spPr>
          <a:xfrm>
            <a:off x="1104176" y="2808461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44" name="Google Shape;5044;p297"/>
          <p:cNvSpPr/>
          <p:nvPr/>
        </p:nvSpPr>
        <p:spPr>
          <a:xfrm>
            <a:off x="1667746" y="2323089"/>
            <a:ext cx="349800" cy="3540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045" name="Google Shape;5045;p297"/>
          <p:cNvCxnSpPr>
            <a:stCxn id="5044" idx="4"/>
            <a:endCxn id="5043" idx="7"/>
          </p:cNvCxnSpPr>
          <p:nvPr/>
        </p:nvCxnSpPr>
        <p:spPr>
          <a:xfrm flipH="1">
            <a:off x="1579246" y="2677089"/>
            <a:ext cx="263400" cy="200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46" name="Google Shape;5046;p297"/>
          <p:cNvCxnSpPr>
            <a:stCxn id="5040" idx="4"/>
            <a:endCxn id="5043" idx="1"/>
          </p:cNvCxnSpPr>
          <p:nvPr/>
        </p:nvCxnSpPr>
        <p:spPr>
          <a:xfrm>
            <a:off x="877650" y="2677088"/>
            <a:ext cx="308100" cy="200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47" name="Google Shape;5047;p297"/>
          <p:cNvCxnSpPr>
            <a:stCxn id="5041" idx="0"/>
            <a:endCxn id="5043" idx="3"/>
          </p:cNvCxnSpPr>
          <p:nvPr/>
        </p:nvCxnSpPr>
        <p:spPr>
          <a:xfrm flipH="1" rot="10800000">
            <a:off x="877650" y="3210948"/>
            <a:ext cx="308100" cy="2313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48" name="Google Shape;5048;p297"/>
          <p:cNvCxnSpPr>
            <a:stCxn id="5043" idx="5"/>
            <a:endCxn id="5042" idx="0"/>
          </p:cNvCxnSpPr>
          <p:nvPr/>
        </p:nvCxnSpPr>
        <p:spPr>
          <a:xfrm>
            <a:off x="1579179" y="3210997"/>
            <a:ext cx="263400" cy="2313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49" name="Google Shape;5049;p297"/>
          <p:cNvSpPr/>
          <p:nvPr/>
        </p:nvSpPr>
        <p:spPr>
          <a:xfrm>
            <a:off x="3964660" y="2353034"/>
            <a:ext cx="349800" cy="354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50" name="Google Shape;5050;p297"/>
          <p:cNvSpPr/>
          <p:nvPr/>
        </p:nvSpPr>
        <p:spPr>
          <a:xfrm>
            <a:off x="3964660" y="3472193"/>
            <a:ext cx="349800" cy="354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51" name="Google Shape;5051;p297"/>
          <p:cNvSpPr/>
          <p:nvPr/>
        </p:nvSpPr>
        <p:spPr>
          <a:xfrm>
            <a:off x="4929661" y="3472193"/>
            <a:ext cx="349800" cy="3540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52" name="Google Shape;5052;p297"/>
          <p:cNvSpPr/>
          <p:nvPr/>
        </p:nvSpPr>
        <p:spPr>
          <a:xfrm>
            <a:off x="4366086" y="2838407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53" name="Google Shape;5053;p297"/>
          <p:cNvSpPr/>
          <p:nvPr/>
        </p:nvSpPr>
        <p:spPr>
          <a:xfrm>
            <a:off x="4929656" y="2353035"/>
            <a:ext cx="349800" cy="3540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054" name="Google Shape;5054;p297"/>
          <p:cNvCxnSpPr>
            <a:stCxn id="5053" idx="4"/>
            <a:endCxn id="5052" idx="7"/>
          </p:cNvCxnSpPr>
          <p:nvPr/>
        </p:nvCxnSpPr>
        <p:spPr>
          <a:xfrm flipH="1">
            <a:off x="4841156" y="2707035"/>
            <a:ext cx="263400" cy="2004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55" name="Google Shape;5055;p297"/>
          <p:cNvCxnSpPr>
            <a:stCxn id="5049" idx="4"/>
            <a:endCxn id="5052" idx="1"/>
          </p:cNvCxnSpPr>
          <p:nvPr/>
        </p:nvCxnSpPr>
        <p:spPr>
          <a:xfrm>
            <a:off x="4139560" y="2707034"/>
            <a:ext cx="308100" cy="200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56" name="Google Shape;5056;p297"/>
          <p:cNvCxnSpPr>
            <a:stCxn id="5050" idx="0"/>
            <a:endCxn id="5052" idx="3"/>
          </p:cNvCxnSpPr>
          <p:nvPr/>
        </p:nvCxnSpPr>
        <p:spPr>
          <a:xfrm flipH="1" rot="10800000">
            <a:off x="4139560" y="3240893"/>
            <a:ext cx="308100" cy="2313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57" name="Google Shape;5057;p297"/>
          <p:cNvCxnSpPr>
            <a:stCxn id="5052" idx="5"/>
            <a:endCxn id="5051" idx="0"/>
          </p:cNvCxnSpPr>
          <p:nvPr/>
        </p:nvCxnSpPr>
        <p:spPr>
          <a:xfrm>
            <a:off x="4841088" y="3240943"/>
            <a:ext cx="263400" cy="2313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58" name="Google Shape;5058;p297"/>
          <p:cNvSpPr/>
          <p:nvPr/>
        </p:nvSpPr>
        <p:spPr>
          <a:xfrm>
            <a:off x="7126444" y="2323088"/>
            <a:ext cx="349800" cy="354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59" name="Google Shape;5059;p297"/>
          <p:cNvSpPr/>
          <p:nvPr/>
        </p:nvSpPr>
        <p:spPr>
          <a:xfrm>
            <a:off x="7126444" y="3442248"/>
            <a:ext cx="349800" cy="354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60" name="Google Shape;5060;p297"/>
          <p:cNvSpPr/>
          <p:nvPr/>
        </p:nvSpPr>
        <p:spPr>
          <a:xfrm>
            <a:off x="8091445" y="3442248"/>
            <a:ext cx="349800" cy="354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61" name="Google Shape;5061;p297"/>
          <p:cNvSpPr/>
          <p:nvPr/>
        </p:nvSpPr>
        <p:spPr>
          <a:xfrm>
            <a:off x="7527870" y="2808461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62" name="Google Shape;5062;p297"/>
          <p:cNvSpPr/>
          <p:nvPr/>
        </p:nvSpPr>
        <p:spPr>
          <a:xfrm>
            <a:off x="8091440" y="2323089"/>
            <a:ext cx="349800" cy="354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063" name="Google Shape;5063;p297"/>
          <p:cNvCxnSpPr>
            <a:stCxn id="5062" idx="4"/>
            <a:endCxn id="5061" idx="7"/>
          </p:cNvCxnSpPr>
          <p:nvPr/>
        </p:nvCxnSpPr>
        <p:spPr>
          <a:xfrm flipH="1">
            <a:off x="8002940" y="2677089"/>
            <a:ext cx="263400" cy="200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64" name="Google Shape;5064;p297"/>
          <p:cNvCxnSpPr>
            <a:stCxn id="5058" idx="4"/>
            <a:endCxn id="5061" idx="1"/>
          </p:cNvCxnSpPr>
          <p:nvPr/>
        </p:nvCxnSpPr>
        <p:spPr>
          <a:xfrm>
            <a:off x="7301344" y="2677088"/>
            <a:ext cx="308100" cy="200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65" name="Google Shape;5065;p297"/>
          <p:cNvCxnSpPr>
            <a:stCxn id="5059" idx="0"/>
            <a:endCxn id="5061" idx="3"/>
          </p:cNvCxnSpPr>
          <p:nvPr/>
        </p:nvCxnSpPr>
        <p:spPr>
          <a:xfrm flipH="1" rot="10800000">
            <a:off x="7301344" y="3210948"/>
            <a:ext cx="308100" cy="2313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66" name="Google Shape;5066;p297"/>
          <p:cNvCxnSpPr>
            <a:stCxn id="5061" idx="5"/>
            <a:endCxn id="5060" idx="0"/>
          </p:cNvCxnSpPr>
          <p:nvPr/>
        </p:nvCxnSpPr>
        <p:spPr>
          <a:xfrm>
            <a:off x="8002873" y="3210997"/>
            <a:ext cx="263400" cy="2313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67" name="Google Shape;5067;p297"/>
          <p:cNvSpPr txBox="1"/>
          <p:nvPr/>
        </p:nvSpPr>
        <p:spPr>
          <a:xfrm>
            <a:off x="669100" y="4174050"/>
            <a:ext cx="18735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EI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(4-0) ÷ (4+0) = 1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descr="EI = \frac{E - I}{E + I}" id="5068" name="Google Shape;5068;p297" title="MathEquation,#0000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44225" y="1147225"/>
            <a:ext cx="2337750" cy="8649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69" name="Google Shape;5069;p297"/>
          <p:cNvGrpSpPr/>
          <p:nvPr/>
        </p:nvGrpSpPr>
        <p:grpSpPr>
          <a:xfrm>
            <a:off x="3475450" y="1225150"/>
            <a:ext cx="2337750" cy="594000"/>
            <a:chOff x="6103500" y="1108550"/>
            <a:chExt cx="2337750" cy="594000"/>
          </a:xfrm>
        </p:grpSpPr>
        <p:sp>
          <p:nvSpPr>
            <p:cNvPr id="5070" name="Google Shape;5070;p297"/>
            <p:cNvSpPr/>
            <p:nvPr/>
          </p:nvSpPr>
          <p:spPr>
            <a:xfrm>
              <a:off x="6103500" y="1108550"/>
              <a:ext cx="2223300" cy="594000"/>
            </a:xfrm>
            <a:prstGeom prst="rect">
              <a:avLst/>
            </a:pr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071" name="Google Shape;5071;p297"/>
            <p:cNvCxnSpPr>
              <a:endCxn id="5072" idx="1"/>
            </p:cNvCxnSpPr>
            <p:nvPr/>
          </p:nvCxnSpPr>
          <p:spPr>
            <a:xfrm flipH="1" rot="10800000">
              <a:off x="6261750" y="1262875"/>
              <a:ext cx="751200" cy="14100"/>
            </a:xfrm>
            <a:prstGeom prst="straightConnector1">
              <a:avLst/>
            </a:prstGeom>
            <a:noFill/>
            <a:ln cap="flat" cmpd="sng" w="76200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73" name="Google Shape;5073;p297"/>
            <p:cNvCxnSpPr>
              <a:endCxn id="5074" idx="1"/>
            </p:cNvCxnSpPr>
            <p:nvPr/>
          </p:nvCxnSpPr>
          <p:spPr>
            <a:xfrm flipH="1" rot="10800000">
              <a:off x="6240150" y="1496400"/>
              <a:ext cx="772800" cy="4200"/>
            </a:xfrm>
            <a:prstGeom prst="straightConnector1">
              <a:avLst/>
            </a:prstGeom>
            <a:noFill/>
            <a:ln cap="flat" cmpd="sng" w="76200">
              <a:solidFill>
                <a:srgbClr val="FF000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072" name="Google Shape;5072;p297"/>
            <p:cNvSpPr txBox="1"/>
            <p:nvPr/>
          </p:nvSpPr>
          <p:spPr>
            <a:xfrm>
              <a:off x="7012950" y="1147225"/>
              <a:ext cx="1428300" cy="231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Different Race Tie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5074" name="Google Shape;5074;p297"/>
            <p:cNvSpPr txBox="1"/>
            <p:nvPr/>
          </p:nvSpPr>
          <p:spPr>
            <a:xfrm>
              <a:off x="7012950" y="1380750"/>
              <a:ext cx="1428300" cy="231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Same Race Tie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5075" name="Google Shape;5075;p297"/>
          <p:cNvSpPr txBox="1"/>
          <p:nvPr/>
        </p:nvSpPr>
        <p:spPr>
          <a:xfrm>
            <a:off x="3909425" y="4143425"/>
            <a:ext cx="18735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EI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(2-2) ÷ (2+ 2) = 0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076" name="Google Shape;5076;p297"/>
          <p:cNvSpPr txBox="1"/>
          <p:nvPr/>
        </p:nvSpPr>
        <p:spPr>
          <a:xfrm>
            <a:off x="6788275" y="4174050"/>
            <a:ext cx="20484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EI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(0 -4) ÷ (0 + 4) = -1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077" name="Google Shape;5077;p297"/>
          <p:cNvSpPr txBox="1"/>
          <p:nvPr/>
        </p:nvSpPr>
        <p:spPr>
          <a:xfrm>
            <a:off x="6506675" y="931650"/>
            <a:ext cx="2337600" cy="98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Difference in number of External Ties (E) to Internal Ties (I) Divided by their Sum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078" name="Google Shape;5078;p297"/>
          <p:cNvSpPr txBox="1"/>
          <p:nvPr/>
        </p:nvSpPr>
        <p:spPr>
          <a:xfrm>
            <a:off x="663525" y="4578200"/>
            <a:ext cx="18735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Four external ties, no internal ties</a:t>
            </a:r>
            <a:endParaRPr/>
          </a:p>
        </p:txBody>
      </p:sp>
      <p:sp>
        <p:nvSpPr>
          <p:cNvPr id="5079" name="Google Shape;5079;p297"/>
          <p:cNvSpPr txBox="1"/>
          <p:nvPr/>
        </p:nvSpPr>
        <p:spPr>
          <a:xfrm>
            <a:off x="3909425" y="4591375"/>
            <a:ext cx="18735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Two external ties, and two internal ties</a:t>
            </a:r>
            <a:endParaRPr/>
          </a:p>
        </p:txBody>
      </p:sp>
      <p:sp>
        <p:nvSpPr>
          <p:cNvPr id="5080" name="Google Shape;5080;p297"/>
          <p:cNvSpPr txBox="1"/>
          <p:nvPr/>
        </p:nvSpPr>
        <p:spPr>
          <a:xfrm>
            <a:off x="6875725" y="4591375"/>
            <a:ext cx="18735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 external ties, and four internal ties</a:t>
            </a:r>
            <a:endParaRPr/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84" name="Shape 5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5" name="Google Shape;5085;p29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Clustering Coefficient</a:t>
            </a:r>
            <a:endParaRPr/>
          </a:p>
        </p:txBody>
      </p:sp>
      <p:sp>
        <p:nvSpPr>
          <p:cNvPr id="5086" name="Google Shape;5086;p298"/>
          <p:cNvSpPr/>
          <p:nvPr/>
        </p:nvSpPr>
        <p:spPr>
          <a:xfrm>
            <a:off x="1777200" y="2334450"/>
            <a:ext cx="834900" cy="8313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87" name="Google Shape;5087;p298"/>
          <p:cNvSpPr/>
          <p:nvPr/>
        </p:nvSpPr>
        <p:spPr>
          <a:xfrm>
            <a:off x="751063" y="1373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88" name="Google Shape;5088;p298"/>
          <p:cNvSpPr/>
          <p:nvPr/>
        </p:nvSpPr>
        <p:spPr>
          <a:xfrm>
            <a:off x="1997173" y="11472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89" name="Google Shape;5089;p298"/>
          <p:cNvSpPr/>
          <p:nvPr/>
        </p:nvSpPr>
        <p:spPr>
          <a:xfrm>
            <a:off x="2925884" y="16524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90" name="Google Shape;5090;p298"/>
          <p:cNvSpPr/>
          <p:nvPr/>
        </p:nvSpPr>
        <p:spPr>
          <a:xfrm>
            <a:off x="751063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91" name="Google Shape;5091;p298"/>
          <p:cNvSpPr/>
          <p:nvPr/>
        </p:nvSpPr>
        <p:spPr>
          <a:xfrm>
            <a:off x="1838473" y="38477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92" name="Google Shape;5092;p298"/>
          <p:cNvSpPr/>
          <p:nvPr/>
        </p:nvSpPr>
        <p:spPr>
          <a:xfrm>
            <a:off x="2925884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93" name="Google Shape;5093;p298"/>
          <p:cNvSpPr/>
          <p:nvPr/>
        </p:nvSpPr>
        <p:spPr>
          <a:xfrm>
            <a:off x="311688" y="2725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094" name="Google Shape;5094;p298"/>
          <p:cNvSpPr/>
          <p:nvPr/>
        </p:nvSpPr>
        <p:spPr>
          <a:xfrm>
            <a:off x="3185388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095" name="Google Shape;5095;p298"/>
          <p:cNvCxnSpPr>
            <a:stCxn id="5087" idx="3"/>
            <a:endCxn id="5093" idx="0"/>
          </p:cNvCxnSpPr>
          <p:nvPr/>
        </p:nvCxnSpPr>
        <p:spPr>
          <a:xfrm flipH="1">
            <a:off x="589860" y="1804683"/>
            <a:ext cx="242700" cy="920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96" name="Google Shape;5096;p298"/>
          <p:cNvCxnSpPr>
            <a:stCxn id="5088" idx="3"/>
            <a:endCxn id="5087" idx="6"/>
          </p:cNvCxnSpPr>
          <p:nvPr/>
        </p:nvCxnSpPr>
        <p:spPr>
          <a:xfrm flipH="1">
            <a:off x="1307671" y="15784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97" name="Google Shape;5097;p298"/>
          <p:cNvCxnSpPr>
            <a:stCxn id="5088" idx="3"/>
            <a:endCxn id="5093" idx="0"/>
          </p:cNvCxnSpPr>
          <p:nvPr/>
        </p:nvCxnSpPr>
        <p:spPr>
          <a:xfrm flipH="1">
            <a:off x="590071" y="1578441"/>
            <a:ext cx="1488600" cy="114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98" name="Google Shape;5098;p298"/>
          <p:cNvCxnSpPr>
            <a:stCxn id="5088" idx="3"/>
            <a:endCxn id="5090" idx="0"/>
          </p:cNvCxnSpPr>
          <p:nvPr/>
        </p:nvCxnSpPr>
        <p:spPr>
          <a:xfrm flipH="1">
            <a:off x="1029271" y="15784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99" name="Google Shape;5099;p298"/>
          <p:cNvCxnSpPr>
            <a:stCxn id="5093" idx="4"/>
            <a:endCxn id="5090" idx="0"/>
          </p:cNvCxnSpPr>
          <p:nvPr/>
        </p:nvCxnSpPr>
        <p:spPr>
          <a:xfrm>
            <a:off x="589938" y="3230668"/>
            <a:ext cx="439500" cy="401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0" name="Google Shape;5100;p298"/>
          <p:cNvCxnSpPr>
            <a:stCxn id="5092" idx="2"/>
            <a:endCxn id="5091" idx="7"/>
          </p:cNvCxnSpPr>
          <p:nvPr/>
        </p:nvCxnSpPr>
        <p:spPr>
          <a:xfrm flipH="1">
            <a:off x="2313584" y="3884718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1" name="Google Shape;5101;p298"/>
          <p:cNvCxnSpPr>
            <a:stCxn id="5087" idx="4"/>
            <a:endCxn id="5090" idx="0"/>
          </p:cNvCxnSpPr>
          <p:nvPr/>
        </p:nvCxnSpPr>
        <p:spPr>
          <a:xfrm>
            <a:off x="1029313" y="18786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2" name="Google Shape;5102;p298"/>
          <p:cNvCxnSpPr>
            <a:stCxn id="5091" idx="1"/>
            <a:endCxn id="5090" idx="6"/>
          </p:cNvCxnSpPr>
          <p:nvPr/>
        </p:nvCxnSpPr>
        <p:spPr>
          <a:xfrm rot="10800000">
            <a:off x="1307671" y="3884860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3" name="Google Shape;5103;p298"/>
          <p:cNvCxnSpPr>
            <a:stCxn id="5094" idx="4"/>
            <a:endCxn id="5092" idx="0"/>
          </p:cNvCxnSpPr>
          <p:nvPr/>
        </p:nvCxnSpPr>
        <p:spPr>
          <a:xfrm flipH="1">
            <a:off x="3204138" y="30079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4" name="Google Shape;5104;p298"/>
          <p:cNvCxnSpPr>
            <a:stCxn id="5087" idx="5"/>
            <a:endCxn id="5086" idx="1"/>
          </p:cNvCxnSpPr>
          <p:nvPr/>
        </p:nvCxnSpPr>
        <p:spPr>
          <a:xfrm>
            <a:off x="1226065" y="1804683"/>
            <a:ext cx="673500" cy="651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5" name="Google Shape;5105;p298"/>
          <p:cNvCxnSpPr>
            <a:stCxn id="5093" idx="6"/>
            <a:endCxn id="5086" idx="2"/>
          </p:cNvCxnSpPr>
          <p:nvPr/>
        </p:nvCxnSpPr>
        <p:spPr>
          <a:xfrm flipH="1" rot="10800000">
            <a:off x="868188" y="2750068"/>
            <a:ext cx="909000" cy="2280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6" name="Google Shape;5106;p298"/>
          <p:cNvCxnSpPr>
            <a:stCxn id="5086" idx="3"/>
            <a:endCxn id="5090" idx="7"/>
          </p:cNvCxnSpPr>
          <p:nvPr/>
        </p:nvCxnSpPr>
        <p:spPr>
          <a:xfrm flipH="1">
            <a:off x="1225968" y="3044009"/>
            <a:ext cx="673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7" name="Google Shape;5107;p298"/>
          <p:cNvCxnSpPr>
            <a:stCxn id="5086" idx="4"/>
            <a:endCxn id="5091" idx="0"/>
          </p:cNvCxnSpPr>
          <p:nvPr/>
        </p:nvCxnSpPr>
        <p:spPr>
          <a:xfrm flipH="1">
            <a:off x="2116650" y="3165750"/>
            <a:ext cx="780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8" name="Google Shape;5108;p298"/>
          <p:cNvCxnSpPr>
            <a:stCxn id="5086" idx="5"/>
            <a:endCxn id="5092" idx="1"/>
          </p:cNvCxnSpPr>
          <p:nvPr/>
        </p:nvCxnSpPr>
        <p:spPr>
          <a:xfrm>
            <a:off x="2489832" y="3044009"/>
            <a:ext cx="517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09" name="Google Shape;5109;p298"/>
          <p:cNvCxnSpPr>
            <a:stCxn id="5086" idx="6"/>
            <a:endCxn id="5094" idx="2"/>
          </p:cNvCxnSpPr>
          <p:nvPr/>
        </p:nvCxnSpPr>
        <p:spPr>
          <a:xfrm>
            <a:off x="2612100" y="2750100"/>
            <a:ext cx="573300" cy="5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10" name="Google Shape;5110;p298"/>
          <p:cNvCxnSpPr>
            <a:stCxn id="5086" idx="7"/>
            <a:endCxn id="5089" idx="3"/>
          </p:cNvCxnSpPr>
          <p:nvPr/>
        </p:nvCxnSpPr>
        <p:spPr>
          <a:xfrm flipH="1" rot="10800000">
            <a:off x="2489832" y="2083591"/>
            <a:ext cx="517500" cy="372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11" name="Google Shape;5111;p298"/>
          <p:cNvCxnSpPr>
            <a:stCxn id="5088" idx="4"/>
            <a:endCxn id="5086" idx="0"/>
          </p:cNvCxnSpPr>
          <p:nvPr/>
        </p:nvCxnSpPr>
        <p:spPr>
          <a:xfrm flipH="1">
            <a:off x="2194723" y="1652426"/>
            <a:ext cx="807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12" name="Google Shape;5112;p298"/>
          <p:cNvCxnSpPr>
            <a:stCxn id="5094" idx="4"/>
            <a:endCxn id="5090" idx="6"/>
          </p:cNvCxnSpPr>
          <p:nvPr/>
        </p:nvCxnSpPr>
        <p:spPr>
          <a:xfrm flipH="1">
            <a:off x="1307538" y="30079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5113" name="Google Shape;5113;p298"/>
          <p:cNvGraphicFramePr/>
          <p:nvPr/>
        </p:nvGraphicFramePr>
        <p:xfrm>
          <a:off x="5378913" y="1418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</a:tblGrid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sp>
        <p:nvSpPr>
          <p:cNvPr id="5114" name="Google Shape;5114;p298"/>
          <p:cNvSpPr/>
          <p:nvPr/>
        </p:nvSpPr>
        <p:spPr>
          <a:xfrm>
            <a:off x="4223775" y="2516075"/>
            <a:ext cx="953700" cy="5280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115" name="Google Shape;5115;p298"/>
          <p:cNvCxnSpPr>
            <a:stCxn id="5094" idx="4"/>
            <a:endCxn id="5091" idx="7"/>
          </p:cNvCxnSpPr>
          <p:nvPr/>
        </p:nvCxnSpPr>
        <p:spPr>
          <a:xfrm flipH="1">
            <a:off x="2313438" y="3007993"/>
            <a:ext cx="1150200" cy="91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19" name="Shape 5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" name="Google Shape;5120;p29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Clustering Coefficient</a:t>
            </a:r>
            <a:endParaRPr/>
          </a:p>
        </p:txBody>
      </p:sp>
      <p:sp>
        <p:nvSpPr>
          <p:cNvPr id="5121" name="Google Shape;5121;p299"/>
          <p:cNvSpPr/>
          <p:nvPr/>
        </p:nvSpPr>
        <p:spPr>
          <a:xfrm>
            <a:off x="4223775" y="2516075"/>
            <a:ext cx="953700" cy="5280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2" name="Google Shape;5122;p299"/>
          <p:cNvSpPr txBox="1"/>
          <p:nvPr/>
        </p:nvSpPr>
        <p:spPr>
          <a:xfrm>
            <a:off x="3741900" y="4271050"/>
            <a:ext cx="3480300" cy="6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Forget about Ego!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We only care about alter-alter edges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123" name="Google Shape;5123;p299"/>
          <p:cNvSpPr/>
          <p:nvPr/>
        </p:nvSpPr>
        <p:spPr>
          <a:xfrm>
            <a:off x="751063" y="1373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24" name="Google Shape;5124;p299"/>
          <p:cNvSpPr/>
          <p:nvPr/>
        </p:nvSpPr>
        <p:spPr>
          <a:xfrm>
            <a:off x="1997173" y="11472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25" name="Google Shape;5125;p299"/>
          <p:cNvSpPr/>
          <p:nvPr/>
        </p:nvSpPr>
        <p:spPr>
          <a:xfrm>
            <a:off x="2925884" y="16524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26" name="Google Shape;5126;p299"/>
          <p:cNvSpPr/>
          <p:nvPr/>
        </p:nvSpPr>
        <p:spPr>
          <a:xfrm>
            <a:off x="751063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27" name="Google Shape;5127;p299"/>
          <p:cNvSpPr/>
          <p:nvPr/>
        </p:nvSpPr>
        <p:spPr>
          <a:xfrm>
            <a:off x="1838473" y="38477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28" name="Google Shape;5128;p299"/>
          <p:cNvSpPr/>
          <p:nvPr/>
        </p:nvSpPr>
        <p:spPr>
          <a:xfrm>
            <a:off x="2925884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29" name="Google Shape;5129;p299"/>
          <p:cNvSpPr/>
          <p:nvPr/>
        </p:nvSpPr>
        <p:spPr>
          <a:xfrm>
            <a:off x="311688" y="2725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30" name="Google Shape;5130;p299"/>
          <p:cNvSpPr/>
          <p:nvPr/>
        </p:nvSpPr>
        <p:spPr>
          <a:xfrm>
            <a:off x="3185388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131" name="Google Shape;5131;p299"/>
          <p:cNvCxnSpPr>
            <a:stCxn id="5123" idx="3"/>
            <a:endCxn id="5129" idx="0"/>
          </p:cNvCxnSpPr>
          <p:nvPr/>
        </p:nvCxnSpPr>
        <p:spPr>
          <a:xfrm flipH="1">
            <a:off x="589860" y="1804683"/>
            <a:ext cx="242700" cy="920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32" name="Google Shape;5132;p299"/>
          <p:cNvCxnSpPr>
            <a:stCxn id="5124" idx="3"/>
            <a:endCxn id="5123" idx="6"/>
          </p:cNvCxnSpPr>
          <p:nvPr/>
        </p:nvCxnSpPr>
        <p:spPr>
          <a:xfrm flipH="1">
            <a:off x="1307671" y="15784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33" name="Google Shape;5133;p299"/>
          <p:cNvCxnSpPr>
            <a:stCxn id="5124" idx="3"/>
            <a:endCxn id="5129" idx="0"/>
          </p:cNvCxnSpPr>
          <p:nvPr/>
        </p:nvCxnSpPr>
        <p:spPr>
          <a:xfrm flipH="1">
            <a:off x="590071" y="1578441"/>
            <a:ext cx="1488600" cy="114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34" name="Google Shape;5134;p299"/>
          <p:cNvCxnSpPr>
            <a:stCxn id="5124" idx="3"/>
            <a:endCxn id="5126" idx="0"/>
          </p:cNvCxnSpPr>
          <p:nvPr/>
        </p:nvCxnSpPr>
        <p:spPr>
          <a:xfrm flipH="1">
            <a:off x="1029271" y="15784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35" name="Google Shape;5135;p299"/>
          <p:cNvCxnSpPr>
            <a:stCxn id="5129" idx="4"/>
            <a:endCxn id="5126" idx="0"/>
          </p:cNvCxnSpPr>
          <p:nvPr/>
        </p:nvCxnSpPr>
        <p:spPr>
          <a:xfrm>
            <a:off x="589938" y="3230668"/>
            <a:ext cx="439500" cy="401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36" name="Google Shape;5136;p299"/>
          <p:cNvCxnSpPr>
            <a:stCxn id="5128" idx="2"/>
            <a:endCxn id="5127" idx="7"/>
          </p:cNvCxnSpPr>
          <p:nvPr/>
        </p:nvCxnSpPr>
        <p:spPr>
          <a:xfrm flipH="1">
            <a:off x="2313584" y="3884718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37" name="Google Shape;5137;p299"/>
          <p:cNvCxnSpPr>
            <a:stCxn id="5123" idx="4"/>
            <a:endCxn id="5126" idx="0"/>
          </p:cNvCxnSpPr>
          <p:nvPr/>
        </p:nvCxnSpPr>
        <p:spPr>
          <a:xfrm>
            <a:off x="1029313" y="18786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38" name="Google Shape;5138;p299"/>
          <p:cNvCxnSpPr>
            <a:stCxn id="5127" idx="1"/>
            <a:endCxn id="5126" idx="6"/>
          </p:cNvCxnSpPr>
          <p:nvPr/>
        </p:nvCxnSpPr>
        <p:spPr>
          <a:xfrm rot="10800000">
            <a:off x="1307671" y="3884860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39" name="Google Shape;5139;p299"/>
          <p:cNvCxnSpPr>
            <a:stCxn id="5130" idx="4"/>
            <a:endCxn id="5128" idx="0"/>
          </p:cNvCxnSpPr>
          <p:nvPr/>
        </p:nvCxnSpPr>
        <p:spPr>
          <a:xfrm flipH="1">
            <a:off x="3204138" y="30079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40" name="Google Shape;5140;p299"/>
          <p:cNvCxnSpPr>
            <a:stCxn id="5130" idx="4"/>
            <a:endCxn id="5126" idx="6"/>
          </p:cNvCxnSpPr>
          <p:nvPr/>
        </p:nvCxnSpPr>
        <p:spPr>
          <a:xfrm flipH="1">
            <a:off x="1307538" y="30079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41" name="Google Shape;5141;p299"/>
          <p:cNvCxnSpPr>
            <a:stCxn id="5130" idx="4"/>
            <a:endCxn id="5127" idx="7"/>
          </p:cNvCxnSpPr>
          <p:nvPr/>
        </p:nvCxnSpPr>
        <p:spPr>
          <a:xfrm flipH="1">
            <a:off x="2313438" y="3007993"/>
            <a:ext cx="1150200" cy="91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5142" name="Google Shape;5142;p299"/>
          <p:cNvGraphicFramePr/>
          <p:nvPr/>
        </p:nvGraphicFramePr>
        <p:xfrm>
          <a:off x="5378913" y="1418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</a:tblGrid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46" name="Shape 5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7" name="Google Shape;5147;p30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Clustering Coefficient</a:t>
            </a:r>
            <a:endParaRPr/>
          </a:p>
        </p:txBody>
      </p:sp>
      <p:sp>
        <p:nvSpPr>
          <p:cNvPr id="5148" name="Google Shape;5148;p300"/>
          <p:cNvSpPr/>
          <p:nvPr/>
        </p:nvSpPr>
        <p:spPr>
          <a:xfrm>
            <a:off x="4223775" y="2516075"/>
            <a:ext cx="953700" cy="5280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9" name="Google Shape;5149;p300"/>
          <p:cNvSpPr txBox="1"/>
          <p:nvPr/>
        </p:nvSpPr>
        <p:spPr>
          <a:xfrm>
            <a:off x="3741900" y="4271050"/>
            <a:ext cx="3480300" cy="6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Forget about Ego!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We only care about alter-alter edges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150" name="Google Shape;5150;p300"/>
          <p:cNvSpPr/>
          <p:nvPr/>
        </p:nvSpPr>
        <p:spPr>
          <a:xfrm>
            <a:off x="751063" y="1373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51" name="Google Shape;5151;p300"/>
          <p:cNvSpPr/>
          <p:nvPr/>
        </p:nvSpPr>
        <p:spPr>
          <a:xfrm>
            <a:off x="1997173" y="11472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52" name="Google Shape;5152;p300"/>
          <p:cNvSpPr/>
          <p:nvPr/>
        </p:nvSpPr>
        <p:spPr>
          <a:xfrm>
            <a:off x="2925884" y="16524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53" name="Google Shape;5153;p300"/>
          <p:cNvSpPr/>
          <p:nvPr/>
        </p:nvSpPr>
        <p:spPr>
          <a:xfrm>
            <a:off x="751063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54" name="Google Shape;5154;p300"/>
          <p:cNvSpPr/>
          <p:nvPr/>
        </p:nvSpPr>
        <p:spPr>
          <a:xfrm>
            <a:off x="1838473" y="38477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55" name="Google Shape;5155;p300"/>
          <p:cNvSpPr/>
          <p:nvPr/>
        </p:nvSpPr>
        <p:spPr>
          <a:xfrm>
            <a:off x="2925884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56" name="Google Shape;5156;p300"/>
          <p:cNvSpPr/>
          <p:nvPr/>
        </p:nvSpPr>
        <p:spPr>
          <a:xfrm>
            <a:off x="311688" y="2725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57" name="Google Shape;5157;p300"/>
          <p:cNvSpPr/>
          <p:nvPr/>
        </p:nvSpPr>
        <p:spPr>
          <a:xfrm>
            <a:off x="3185388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158" name="Google Shape;5158;p300"/>
          <p:cNvCxnSpPr>
            <a:stCxn id="5150" idx="3"/>
            <a:endCxn id="5156" idx="0"/>
          </p:cNvCxnSpPr>
          <p:nvPr/>
        </p:nvCxnSpPr>
        <p:spPr>
          <a:xfrm flipH="1">
            <a:off x="589860" y="1804683"/>
            <a:ext cx="242700" cy="920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59" name="Google Shape;5159;p300"/>
          <p:cNvCxnSpPr>
            <a:stCxn id="5151" idx="3"/>
            <a:endCxn id="5150" idx="6"/>
          </p:cNvCxnSpPr>
          <p:nvPr/>
        </p:nvCxnSpPr>
        <p:spPr>
          <a:xfrm flipH="1">
            <a:off x="1307671" y="15784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0" name="Google Shape;5160;p300"/>
          <p:cNvCxnSpPr>
            <a:stCxn id="5151" idx="3"/>
            <a:endCxn id="5156" idx="0"/>
          </p:cNvCxnSpPr>
          <p:nvPr/>
        </p:nvCxnSpPr>
        <p:spPr>
          <a:xfrm flipH="1">
            <a:off x="590071" y="1578441"/>
            <a:ext cx="1488600" cy="114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1" name="Google Shape;5161;p300"/>
          <p:cNvCxnSpPr>
            <a:stCxn id="5151" idx="3"/>
            <a:endCxn id="5153" idx="0"/>
          </p:cNvCxnSpPr>
          <p:nvPr/>
        </p:nvCxnSpPr>
        <p:spPr>
          <a:xfrm flipH="1">
            <a:off x="1029271" y="15784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2" name="Google Shape;5162;p300"/>
          <p:cNvCxnSpPr>
            <a:stCxn id="5156" idx="4"/>
            <a:endCxn id="5153" idx="0"/>
          </p:cNvCxnSpPr>
          <p:nvPr/>
        </p:nvCxnSpPr>
        <p:spPr>
          <a:xfrm>
            <a:off x="589938" y="3230668"/>
            <a:ext cx="439500" cy="401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3" name="Google Shape;5163;p300"/>
          <p:cNvCxnSpPr>
            <a:stCxn id="5155" idx="2"/>
            <a:endCxn id="5154" idx="7"/>
          </p:cNvCxnSpPr>
          <p:nvPr/>
        </p:nvCxnSpPr>
        <p:spPr>
          <a:xfrm flipH="1">
            <a:off x="2313584" y="3884718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4" name="Google Shape;5164;p300"/>
          <p:cNvCxnSpPr>
            <a:stCxn id="5150" idx="4"/>
            <a:endCxn id="5153" idx="0"/>
          </p:cNvCxnSpPr>
          <p:nvPr/>
        </p:nvCxnSpPr>
        <p:spPr>
          <a:xfrm>
            <a:off x="1029313" y="18786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5" name="Google Shape;5165;p300"/>
          <p:cNvCxnSpPr>
            <a:stCxn id="5154" idx="1"/>
            <a:endCxn id="5153" idx="6"/>
          </p:cNvCxnSpPr>
          <p:nvPr/>
        </p:nvCxnSpPr>
        <p:spPr>
          <a:xfrm rot="10800000">
            <a:off x="1307671" y="3884860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6" name="Google Shape;5166;p300"/>
          <p:cNvCxnSpPr>
            <a:stCxn id="5157" idx="4"/>
            <a:endCxn id="5155" idx="0"/>
          </p:cNvCxnSpPr>
          <p:nvPr/>
        </p:nvCxnSpPr>
        <p:spPr>
          <a:xfrm flipH="1">
            <a:off x="3204138" y="30079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7" name="Google Shape;5167;p300"/>
          <p:cNvCxnSpPr>
            <a:stCxn id="5157" idx="4"/>
            <a:endCxn id="5153" idx="6"/>
          </p:cNvCxnSpPr>
          <p:nvPr/>
        </p:nvCxnSpPr>
        <p:spPr>
          <a:xfrm flipH="1">
            <a:off x="1307538" y="30079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68" name="Google Shape;5168;p300"/>
          <p:cNvCxnSpPr>
            <a:stCxn id="5157" idx="4"/>
            <a:endCxn id="5154" idx="7"/>
          </p:cNvCxnSpPr>
          <p:nvPr/>
        </p:nvCxnSpPr>
        <p:spPr>
          <a:xfrm flipH="1">
            <a:off x="2313438" y="3007993"/>
            <a:ext cx="1150200" cy="91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5169" name="Google Shape;5169;p300"/>
          <p:cNvGraphicFramePr/>
          <p:nvPr/>
        </p:nvGraphicFramePr>
        <p:xfrm>
          <a:off x="5378913" y="1418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</a:tblGrid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 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73" name="Shape 5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4" name="Google Shape;5174;p30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Clustering Coefficient</a:t>
            </a:r>
            <a:endParaRPr/>
          </a:p>
        </p:txBody>
      </p:sp>
      <p:sp>
        <p:nvSpPr>
          <p:cNvPr id="5175" name="Google Shape;5175;p301"/>
          <p:cNvSpPr/>
          <p:nvPr/>
        </p:nvSpPr>
        <p:spPr>
          <a:xfrm>
            <a:off x="4223775" y="2516075"/>
            <a:ext cx="953700" cy="5280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6" name="Google Shape;5176;p301"/>
          <p:cNvSpPr txBox="1"/>
          <p:nvPr/>
        </p:nvSpPr>
        <p:spPr>
          <a:xfrm>
            <a:off x="3663750" y="4059550"/>
            <a:ext cx="34803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How many nodes?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N 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= 8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How many total links?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E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= 22/2 = 11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We only care about half! 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177" name="Google Shape;5177;p301"/>
          <p:cNvSpPr/>
          <p:nvPr/>
        </p:nvSpPr>
        <p:spPr>
          <a:xfrm>
            <a:off x="751063" y="1373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78" name="Google Shape;5178;p301"/>
          <p:cNvSpPr/>
          <p:nvPr/>
        </p:nvSpPr>
        <p:spPr>
          <a:xfrm>
            <a:off x="1997173" y="11472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79" name="Google Shape;5179;p301"/>
          <p:cNvSpPr/>
          <p:nvPr/>
        </p:nvSpPr>
        <p:spPr>
          <a:xfrm>
            <a:off x="2925884" y="16524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80" name="Google Shape;5180;p301"/>
          <p:cNvSpPr/>
          <p:nvPr/>
        </p:nvSpPr>
        <p:spPr>
          <a:xfrm>
            <a:off x="751063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81" name="Google Shape;5181;p301"/>
          <p:cNvSpPr/>
          <p:nvPr/>
        </p:nvSpPr>
        <p:spPr>
          <a:xfrm>
            <a:off x="1838473" y="38477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82" name="Google Shape;5182;p301"/>
          <p:cNvSpPr/>
          <p:nvPr/>
        </p:nvSpPr>
        <p:spPr>
          <a:xfrm>
            <a:off x="2925884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83" name="Google Shape;5183;p301"/>
          <p:cNvSpPr/>
          <p:nvPr/>
        </p:nvSpPr>
        <p:spPr>
          <a:xfrm>
            <a:off x="311688" y="2725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184" name="Google Shape;5184;p301"/>
          <p:cNvSpPr/>
          <p:nvPr/>
        </p:nvSpPr>
        <p:spPr>
          <a:xfrm>
            <a:off x="3185388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185" name="Google Shape;5185;p301"/>
          <p:cNvCxnSpPr>
            <a:stCxn id="5177" idx="3"/>
            <a:endCxn id="5183" idx="0"/>
          </p:cNvCxnSpPr>
          <p:nvPr/>
        </p:nvCxnSpPr>
        <p:spPr>
          <a:xfrm flipH="1">
            <a:off x="589860" y="1804683"/>
            <a:ext cx="242700" cy="920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86" name="Google Shape;5186;p301"/>
          <p:cNvCxnSpPr>
            <a:stCxn id="5178" idx="3"/>
            <a:endCxn id="5177" idx="6"/>
          </p:cNvCxnSpPr>
          <p:nvPr/>
        </p:nvCxnSpPr>
        <p:spPr>
          <a:xfrm flipH="1">
            <a:off x="1307671" y="15784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87" name="Google Shape;5187;p301"/>
          <p:cNvCxnSpPr>
            <a:stCxn id="5178" idx="3"/>
            <a:endCxn id="5183" idx="0"/>
          </p:cNvCxnSpPr>
          <p:nvPr/>
        </p:nvCxnSpPr>
        <p:spPr>
          <a:xfrm flipH="1">
            <a:off x="590071" y="1578441"/>
            <a:ext cx="1488600" cy="114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88" name="Google Shape;5188;p301"/>
          <p:cNvCxnSpPr>
            <a:stCxn id="5178" idx="3"/>
            <a:endCxn id="5180" idx="0"/>
          </p:cNvCxnSpPr>
          <p:nvPr/>
        </p:nvCxnSpPr>
        <p:spPr>
          <a:xfrm flipH="1">
            <a:off x="1029271" y="15784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89" name="Google Shape;5189;p301"/>
          <p:cNvCxnSpPr>
            <a:stCxn id="5183" idx="4"/>
            <a:endCxn id="5180" idx="0"/>
          </p:cNvCxnSpPr>
          <p:nvPr/>
        </p:nvCxnSpPr>
        <p:spPr>
          <a:xfrm>
            <a:off x="589938" y="3230668"/>
            <a:ext cx="439500" cy="401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90" name="Google Shape;5190;p301"/>
          <p:cNvCxnSpPr>
            <a:stCxn id="5182" idx="2"/>
            <a:endCxn id="5181" idx="7"/>
          </p:cNvCxnSpPr>
          <p:nvPr/>
        </p:nvCxnSpPr>
        <p:spPr>
          <a:xfrm flipH="1">
            <a:off x="2313584" y="3884718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91" name="Google Shape;5191;p301"/>
          <p:cNvCxnSpPr>
            <a:stCxn id="5177" idx="4"/>
            <a:endCxn id="5180" idx="0"/>
          </p:cNvCxnSpPr>
          <p:nvPr/>
        </p:nvCxnSpPr>
        <p:spPr>
          <a:xfrm>
            <a:off x="1029313" y="18786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92" name="Google Shape;5192;p301"/>
          <p:cNvCxnSpPr>
            <a:stCxn id="5181" idx="1"/>
            <a:endCxn id="5180" idx="6"/>
          </p:cNvCxnSpPr>
          <p:nvPr/>
        </p:nvCxnSpPr>
        <p:spPr>
          <a:xfrm rot="10800000">
            <a:off x="1307671" y="3884860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93" name="Google Shape;5193;p301"/>
          <p:cNvCxnSpPr>
            <a:stCxn id="5184" idx="4"/>
            <a:endCxn id="5182" idx="0"/>
          </p:cNvCxnSpPr>
          <p:nvPr/>
        </p:nvCxnSpPr>
        <p:spPr>
          <a:xfrm flipH="1">
            <a:off x="3204138" y="30079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94" name="Google Shape;5194;p301"/>
          <p:cNvCxnSpPr>
            <a:stCxn id="5184" idx="4"/>
            <a:endCxn id="5180" idx="6"/>
          </p:cNvCxnSpPr>
          <p:nvPr/>
        </p:nvCxnSpPr>
        <p:spPr>
          <a:xfrm flipH="1">
            <a:off x="1307538" y="30079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95" name="Google Shape;5195;p301"/>
          <p:cNvCxnSpPr>
            <a:stCxn id="5184" idx="4"/>
            <a:endCxn id="5181" idx="7"/>
          </p:cNvCxnSpPr>
          <p:nvPr/>
        </p:nvCxnSpPr>
        <p:spPr>
          <a:xfrm flipH="1">
            <a:off x="2313438" y="3007993"/>
            <a:ext cx="1150200" cy="91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5196" name="Google Shape;5196;p301"/>
          <p:cNvGraphicFramePr/>
          <p:nvPr/>
        </p:nvGraphicFramePr>
        <p:xfrm>
          <a:off x="5378913" y="1418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</a:tblGrid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a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b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c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d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e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f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g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h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 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cxnSp>
        <p:nvCxnSpPr>
          <p:cNvPr id="5197" name="Google Shape;5197;p301"/>
          <p:cNvCxnSpPr/>
          <p:nvPr/>
        </p:nvCxnSpPr>
        <p:spPr>
          <a:xfrm>
            <a:off x="5526350" y="1547500"/>
            <a:ext cx="3050400" cy="26607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01" name="Shape 5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2" name="Google Shape;5202;p30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Clustering Coefficient</a:t>
            </a:r>
            <a:endParaRPr/>
          </a:p>
        </p:txBody>
      </p:sp>
      <p:sp>
        <p:nvSpPr>
          <p:cNvPr id="5203" name="Google Shape;5203;p302"/>
          <p:cNvSpPr/>
          <p:nvPr/>
        </p:nvSpPr>
        <p:spPr>
          <a:xfrm>
            <a:off x="4223775" y="2516075"/>
            <a:ext cx="953700" cy="5280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4" name="Google Shape;5204;p302"/>
          <p:cNvSpPr txBox="1"/>
          <p:nvPr/>
        </p:nvSpPr>
        <p:spPr>
          <a:xfrm>
            <a:off x="3663750" y="4059550"/>
            <a:ext cx="49131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How many nodes? N = 8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How many total links? E = 22/2 = 11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How many possible number of links? (N*(N - 1)/2 = (8*7)/2 = 28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205" name="Google Shape;5205;p302"/>
          <p:cNvSpPr/>
          <p:nvPr/>
        </p:nvSpPr>
        <p:spPr>
          <a:xfrm>
            <a:off x="751063" y="1373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06" name="Google Shape;5206;p302"/>
          <p:cNvSpPr/>
          <p:nvPr/>
        </p:nvSpPr>
        <p:spPr>
          <a:xfrm>
            <a:off x="1997173" y="11472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07" name="Google Shape;5207;p302"/>
          <p:cNvSpPr/>
          <p:nvPr/>
        </p:nvSpPr>
        <p:spPr>
          <a:xfrm>
            <a:off x="2925884" y="16524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08" name="Google Shape;5208;p302"/>
          <p:cNvSpPr/>
          <p:nvPr/>
        </p:nvSpPr>
        <p:spPr>
          <a:xfrm>
            <a:off x="751063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09" name="Google Shape;5209;p302"/>
          <p:cNvSpPr/>
          <p:nvPr/>
        </p:nvSpPr>
        <p:spPr>
          <a:xfrm>
            <a:off x="1838473" y="38477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10" name="Google Shape;5210;p302"/>
          <p:cNvSpPr/>
          <p:nvPr/>
        </p:nvSpPr>
        <p:spPr>
          <a:xfrm>
            <a:off x="2925884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11" name="Google Shape;5211;p302"/>
          <p:cNvSpPr/>
          <p:nvPr/>
        </p:nvSpPr>
        <p:spPr>
          <a:xfrm>
            <a:off x="311688" y="2725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12" name="Google Shape;5212;p302"/>
          <p:cNvSpPr/>
          <p:nvPr/>
        </p:nvSpPr>
        <p:spPr>
          <a:xfrm>
            <a:off x="3185388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213" name="Google Shape;5213;p302"/>
          <p:cNvCxnSpPr>
            <a:stCxn id="5205" idx="3"/>
            <a:endCxn id="5211" idx="0"/>
          </p:cNvCxnSpPr>
          <p:nvPr/>
        </p:nvCxnSpPr>
        <p:spPr>
          <a:xfrm flipH="1">
            <a:off x="589860" y="1804683"/>
            <a:ext cx="242700" cy="920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14" name="Google Shape;5214;p302"/>
          <p:cNvCxnSpPr>
            <a:stCxn id="5206" idx="3"/>
            <a:endCxn id="5205" idx="6"/>
          </p:cNvCxnSpPr>
          <p:nvPr/>
        </p:nvCxnSpPr>
        <p:spPr>
          <a:xfrm flipH="1">
            <a:off x="1307671" y="15784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15" name="Google Shape;5215;p302"/>
          <p:cNvCxnSpPr>
            <a:stCxn id="5206" idx="3"/>
            <a:endCxn id="5211" idx="0"/>
          </p:cNvCxnSpPr>
          <p:nvPr/>
        </p:nvCxnSpPr>
        <p:spPr>
          <a:xfrm flipH="1">
            <a:off x="590071" y="1578441"/>
            <a:ext cx="1488600" cy="114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16" name="Google Shape;5216;p302"/>
          <p:cNvCxnSpPr>
            <a:stCxn id="5206" idx="3"/>
            <a:endCxn id="5208" idx="0"/>
          </p:cNvCxnSpPr>
          <p:nvPr/>
        </p:nvCxnSpPr>
        <p:spPr>
          <a:xfrm flipH="1">
            <a:off x="1029271" y="15784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17" name="Google Shape;5217;p302"/>
          <p:cNvCxnSpPr>
            <a:stCxn id="5211" idx="4"/>
            <a:endCxn id="5208" idx="0"/>
          </p:cNvCxnSpPr>
          <p:nvPr/>
        </p:nvCxnSpPr>
        <p:spPr>
          <a:xfrm>
            <a:off x="589938" y="3230668"/>
            <a:ext cx="439500" cy="401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18" name="Google Shape;5218;p302"/>
          <p:cNvCxnSpPr>
            <a:stCxn id="5210" idx="2"/>
            <a:endCxn id="5209" idx="7"/>
          </p:cNvCxnSpPr>
          <p:nvPr/>
        </p:nvCxnSpPr>
        <p:spPr>
          <a:xfrm flipH="1">
            <a:off x="2313584" y="3884718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19" name="Google Shape;5219;p302"/>
          <p:cNvCxnSpPr>
            <a:stCxn id="5205" idx="4"/>
            <a:endCxn id="5208" idx="0"/>
          </p:cNvCxnSpPr>
          <p:nvPr/>
        </p:nvCxnSpPr>
        <p:spPr>
          <a:xfrm>
            <a:off x="1029313" y="18786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20" name="Google Shape;5220;p302"/>
          <p:cNvCxnSpPr>
            <a:stCxn id="5209" idx="1"/>
            <a:endCxn id="5208" idx="6"/>
          </p:cNvCxnSpPr>
          <p:nvPr/>
        </p:nvCxnSpPr>
        <p:spPr>
          <a:xfrm rot="10800000">
            <a:off x="1307671" y="3884860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21" name="Google Shape;5221;p302"/>
          <p:cNvCxnSpPr>
            <a:stCxn id="5212" idx="4"/>
            <a:endCxn id="5210" idx="0"/>
          </p:cNvCxnSpPr>
          <p:nvPr/>
        </p:nvCxnSpPr>
        <p:spPr>
          <a:xfrm flipH="1">
            <a:off x="3204138" y="30079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22" name="Google Shape;5222;p302"/>
          <p:cNvCxnSpPr>
            <a:stCxn id="5212" idx="4"/>
            <a:endCxn id="5208" idx="6"/>
          </p:cNvCxnSpPr>
          <p:nvPr/>
        </p:nvCxnSpPr>
        <p:spPr>
          <a:xfrm flipH="1">
            <a:off x="1307538" y="30079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23" name="Google Shape;5223;p302"/>
          <p:cNvCxnSpPr>
            <a:stCxn id="5212" idx="4"/>
            <a:endCxn id="5209" idx="7"/>
          </p:cNvCxnSpPr>
          <p:nvPr/>
        </p:nvCxnSpPr>
        <p:spPr>
          <a:xfrm flipH="1">
            <a:off x="2313438" y="3007993"/>
            <a:ext cx="1150200" cy="91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5224" name="Google Shape;5224;p302"/>
          <p:cNvGraphicFramePr/>
          <p:nvPr/>
        </p:nvGraphicFramePr>
        <p:xfrm>
          <a:off x="5378913" y="1418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</a:tblGrid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a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b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c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d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e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f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g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h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 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cxnSp>
        <p:nvCxnSpPr>
          <p:cNvPr id="5225" name="Google Shape;5225;p302"/>
          <p:cNvCxnSpPr/>
          <p:nvPr/>
        </p:nvCxnSpPr>
        <p:spPr>
          <a:xfrm>
            <a:off x="5526350" y="1547500"/>
            <a:ext cx="3050400" cy="26607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29" name="Shape 5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0" name="Google Shape;5230;p30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Clustering Coefficient</a:t>
            </a:r>
            <a:endParaRPr/>
          </a:p>
        </p:txBody>
      </p:sp>
      <p:sp>
        <p:nvSpPr>
          <p:cNvPr id="5231" name="Google Shape;5231;p303"/>
          <p:cNvSpPr/>
          <p:nvPr/>
        </p:nvSpPr>
        <p:spPr>
          <a:xfrm>
            <a:off x="4223775" y="2516075"/>
            <a:ext cx="953700" cy="5280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2" name="Google Shape;5232;p303"/>
          <p:cNvSpPr txBox="1"/>
          <p:nvPr/>
        </p:nvSpPr>
        <p:spPr>
          <a:xfrm>
            <a:off x="3663750" y="4059550"/>
            <a:ext cx="49131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How many nodes? N = 8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How many total links? E = 22/2 = 11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How many possible number of links? (N*(N - 1)/2 = (8*7)/2 = 28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233" name="Google Shape;5233;p303"/>
          <p:cNvSpPr/>
          <p:nvPr/>
        </p:nvSpPr>
        <p:spPr>
          <a:xfrm>
            <a:off x="751063" y="1373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34" name="Google Shape;5234;p303"/>
          <p:cNvSpPr/>
          <p:nvPr/>
        </p:nvSpPr>
        <p:spPr>
          <a:xfrm>
            <a:off x="1997173" y="114722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35" name="Google Shape;5235;p303"/>
          <p:cNvSpPr/>
          <p:nvPr/>
        </p:nvSpPr>
        <p:spPr>
          <a:xfrm>
            <a:off x="2925884" y="16524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36" name="Google Shape;5236;p303"/>
          <p:cNvSpPr/>
          <p:nvPr/>
        </p:nvSpPr>
        <p:spPr>
          <a:xfrm>
            <a:off x="751063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g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37" name="Google Shape;5237;p303"/>
          <p:cNvSpPr/>
          <p:nvPr/>
        </p:nvSpPr>
        <p:spPr>
          <a:xfrm>
            <a:off x="1838473" y="3847776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f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38" name="Google Shape;5238;p303"/>
          <p:cNvSpPr/>
          <p:nvPr/>
        </p:nvSpPr>
        <p:spPr>
          <a:xfrm>
            <a:off x="2925884" y="363211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39" name="Google Shape;5239;p303"/>
          <p:cNvSpPr/>
          <p:nvPr/>
        </p:nvSpPr>
        <p:spPr>
          <a:xfrm>
            <a:off x="311688" y="2725468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h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40" name="Google Shape;5240;p303"/>
          <p:cNvSpPr/>
          <p:nvPr/>
        </p:nvSpPr>
        <p:spPr>
          <a:xfrm>
            <a:off x="3185388" y="2502793"/>
            <a:ext cx="556500" cy="5052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24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241" name="Google Shape;5241;p303"/>
          <p:cNvCxnSpPr>
            <a:stCxn id="5233" idx="3"/>
            <a:endCxn id="5239" idx="0"/>
          </p:cNvCxnSpPr>
          <p:nvPr/>
        </p:nvCxnSpPr>
        <p:spPr>
          <a:xfrm flipH="1">
            <a:off x="589860" y="1804683"/>
            <a:ext cx="242700" cy="920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42" name="Google Shape;5242;p303"/>
          <p:cNvCxnSpPr>
            <a:stCxn id="5234" idx="3"/>
            <a:endCxn id="5233" idx="6"/>
          </p:cNvCxnSpPr>
          <p:nvPr/>
        </p:nvCxnSpPr>
        <p:spPr>
          <a:xfrm flipH="1">
            <a:off x="1307671" y="1578441"/>
            <a:ext cx="771000" cy="477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43" name="Google Shape;5243;p303"/>
          <p:cNvCxnSpPr>
            <a:stCxn id="5234" idx="3"/>
            <a:endCxn id="5239" idx="0"/>
          </p:cNvCxnSpPr>
          <p:nvPr/>
        </p:nvCxnSpPr>
        <p:spPr>
          <a:xfrm flipH="1">
            <a:off x="590071" y="1578441"/>
            <a:ext cx="1488600" cy="114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44" name="Google Shape;5244;p303"/>
          <p:cNvCxnSpPr>
            <a:stCxn id="5234" idx="3"/>
            <a:endCxn id="5236" idx="0"/>
          </p:cNvCxnSpPr>
          <p:nvPr/>
        </p:nvCxnSpPr>
        <p:spPr>
          <a:xfrm flipH="1">
            <a:off x="1029271" y="1578441"/>
            <a:ext cx="1049400" cy="205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45" name="Google Shape;5245;p303"/>
          <p:cNvCxnSpPr>
            <a:stCxn id="5239" idx="4"/>
            <a:endCxn id="5236" idx="0"/>
          </p:cNvCxnSpPr>
          <p:nvPr/>
        </p:nvCxnSpPr>
        <p:spPr>
          <a:xfrm>
            <a:off x="589938" y="3230668"/>
            <a:ext cx="439500" cy="4014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46" name="Google Shape;5246;p303"/>
          <p:cNvCxnSpPr>
            <a:stCxn id="5238" idx="2"/>
            <a:endCxn id="5237" idx="7"/>
          </p:cNvCxnSpPr>
          <p:nvPr/>
        </p:nvCxnSpPr>
        <p:spPr>
          <a:xfrm flipH="1">
            <a:off x="2313584" y="3884718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47" name="Google Shape;5247;p303"/>
          <p:cNvCxnSpPr>
            <a:stCxn id="5233" idx="4"/>
            <a:endCxn id="5236" idx="0"/>
          </p:cNvCxnSpPr>
          <p:nvPr/>
        </p:nvCxnSpPr>
        <p:spPr>
          <a:xfrm>
            <a:off x="1029313" y="1878668"/>
            <a:ext cx="0" cy="17535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48" name="Google Shape;5248;p303"/>
          <p:cNvCxnSpPr>
            <a:stCxn id="5237" idx="1"/>
            <a:endCxn id="5236" idx="6"/>
          </p:cNvCxnSpPr>
          <p:nvPr/>
        </p:nvCxnSpPr>
        <p:spPr>
          <a:xfrm rot="10800000">
            <a:off x="1307671" y="3884860"/>
            <a:ext cx="612300" cy="369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49" name="Google Shape;5249;p303"/>
          <p:cNvCxnSpPr>
            <a:stCxn id="5240" idx="4"/>
            <a:endCxn id="5238" idx="0"/>
          </p:cNvCxnSpPr>
          <p:nvPr/>
        </p:nvCxnSpPr>
        <p:spPr>
          <a:xfrm flipH="1">
            <a:off x="3204138" y="3007993"/>
            <a:ext cx="259500" cy="6240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50" name="Google Shape;5250;p303"/>
          <p:cNvCxnSpPr>
            <a:stCxn id="5240" idx="4"/>
            <a:endCxn id="5236" idx="6"/>
          </p:cNvCxnSpPr>
          <p:nvPr/>
        </p:nvCxnSpPr>
        <p:spPr>
          <a:xfrm flipH="1">
            <a:off x="1307538" y="3007993"/>
            <a:ext cx="2156100" cy="8766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51" name="Google Shape;5251;p303"/>
          <p:cNvCxnSpPr>
            <a:stCxn id="5240" idx="4"/>
            <a:endCxn id="5237" idx="7"/>
          </p:cNvCxnSpPr>
          <p:nvPr/>
        </p:nvCxnSpPr>
        <p:spPr>
          <a:xfrm flipH="1">
            <a:off x="2313438" y="3007993"/>
            <a:ext cx="1150200" cy="9138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5252" name="Google Shape;5252;p303"/>
          <p:cNvGraphicFramePr/>
          <p:nvPr/>
        </p:nvGraphicFramePr>
        <p:xfrm>
          <a:off x="5378913" y="1418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  <a:gridCol w="353025"/>
              </a:tblGrid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a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b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c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d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e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f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g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h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0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B7B7B7"/>
                          </a:solidFill>
                        </a:rPr>
                        <a:t>1</a:t>
                      </a:r>
                      <a:endParaRPr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 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f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0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g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CCCCCC"/>
                          </a:solidFill>
                        </a:rPr>
                        <a:t>1</a:t>
                      </a:r>
                      <a:endParaRPr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3026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h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cxnSp>
        <p:nvCxnSpPr>
          <p:cNvPr id="5253" name="Google Shape;5253;p303"/>
          <p:cNvCxnSpPr/>
          <p:nvPr/>
        </p:nvCxnSpPr>
        <p:spPr>
          <a:xfrm>
            <a:off x="5526350" y="1547500"/>
            <a:ext cx="3050400" cy="2660700"/>
          </a:xfrm>
          <a:prstGeom prst="straightConnector1">
            <a:avLst/>
          </a:prstGeom>
          <a:noFill/>
          <a:ln cap="flat" cmpd="sng" w="952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254" name="Google Shape;5254;p303"/>
          <p:cNvSpPr txBox="1"/>
          <p:nvPr/>
        </p:nvSpPr>
        <p:spPr>
          <a:xfrm>
            <a:off x="3741900" y="1187125"/>
            <a:ext cx="1989900" cy="139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1800"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= E/(</a:t>
            </a:r>
            <a:r>
              <a:rPr b="1"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N*(N - 1)/2)</a:t>
            </a:r>
            <a:endParaRPr b="1" sz="18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= 11/28</a:t>
            </a:r>
            <a:r>
              <a:rPr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endParaRPr sz="18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22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22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22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0.39</a:t>
            </a:r>
            <a:endParaRPr b="1" sz="22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255" name="Google Shape;5255;p303"/>
          <p:cNvSpPr/>
          <p:nvPr/>
        </p:nvSpPr>
        <p:spPr>
          <a:xfrm>
            <a:off x="1777200" y="2334450"/>
            <a:ext cx="834900" cy="8313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256" name="Google Shape;5256;p303"/>
          <p:cNvCxnSpPr>
            <a:endCxn id="5255" idx="1"/>
          </p:cNvCxnSpPr>
          <p:nvPr/>
        </p:nvCxnSpPr>
        <p:spPr>
          <a:xfrm>
            <a:off x="1225968" y="1804591"/>
            <a:ext cx="673500" cy="651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57" name="Google Shape;5257;p303"/>
          <p:cNvCxnSpPr>
            <a:endCxn id="5255" idx="2"/>
          </p:cNvCxnSpPr>
          <p:nvPr/>
        </p:nvCxnSpPr>
        <p:spPr>
          <a:xfrm flipH="1" rot="10800000">
            <a:off x="868200" y="2750100"/>
            <a:ext cx="909000" cy="2280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58" name="Google Shape;5258;p303"/>
          <p:cNvCxnSpPr>
            <a:stCxn id="5255" idx="3"/>
          </p:cNvCxnSpPr>
          <p:nvPr/>
        </p:nvCxnSpPr>
        <p:spPr>
          <a:xfrm flipH="1">
            <a:off x="1225968" y="3044009"/>
            <a:ext cx="673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59" name="Google Shape;5259;p303"/>
          <p:cNvCxnSpPr>
            <a:stCxn id="5255" idx="4"/>
          </p:cNvCxnSpPr>
          <p:nvPr/>
        </p:nvCxnSpPr>
        <p:spPr>
          <a:xfrm flipH="1">
            <a:off x="2116650" y="3165750"/>
            <a:ext cx="780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60" name="Google Shape;5260;p303"/>
          <p:cNvCxnSpPr>
            <a:stCxn id="5255" idx="5"/>
          </p:cNvCxnSpPr>
          <p:nvPr/>
        </p:nvCxnSpPr>
        <p:spPr>
          <a:xfrm>
            <a:off x="2489832" y="3044009"/>
            <a:ext cx="517500" cy="662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61" name="Google Shape;5261;p303"/>
          <p:cNvCxnSpPr>
            <a:stCxn id="5255" idx="6"/>
          </p:cNvCxnSpPr>
          <p:nvPr/>
        </p:nvCxnSpPr>
        <p:spPr>
          <a:xfrm>
            <a:off x="2612100" y="2750100"/>
            <a:ext cx="573300" cy="5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62" name="Google Shape;5262;p303"/>
          <p:cNvCxnSpPr>
            <a:stCxn id="5255" idx="7"/>
          </p:cNvCxnSpPr>
          <p:nvPr/>
        </p:nvCxnSpPr>
        <p:spPr>
          <a:xfrm flipH="1" rot="10800000">
            <a:off x="2489832" y="2083591"/>
            <a:ext cx="517500" cy="3726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63" name="Google Shape;5263;p303"/>
          <p:cNvCxnSpPr>
            <a:endCxn id="5255" idx="0"/>
          </p:cNvCxnSpPr>
          <p:nvPr/>
        </p:nvCxnSpPr>
        <p:spPr>
          <a:xfrm flipH="1">
            <a:off x="2194650" y="1652550"/>
            <a:ext cx="80700" cy="6819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67" name="Shape 5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8" name="Google Shape;5268;p30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Clustering Coefficient</a:t>
            </a:r>
            <a:endParaRPr/>
          </a:p>
        </p:txBody>
      </p:sp>
      <p:sp>
        <p:nvSpPr>
          <p:cNvPr id="5269" name="Google Shape;5269;p304"/>
          <p:cNvSpPr/>
          <p:nvPr/>
        </p:nvSpPr>
        <p:spPr>
          <a:xfrm>
            <a:off x="576075" y="114721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70" name="Google Shape;5270;p304"/>
          <p:cNvSpPr/>
          <p:nvPr/>
        </p:nvSpPr>
        <p:spPr>
          <a:xfrm>
            <a:off x="576075" y="226637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71" name="Google Shape;5271;p304"/>
          <p:cNvSpPr/>
          <p:nvPr/>
        </p:nvSpPr>
        <p:spPr>
          <a:xfrm>
            <a:off x="1541077" y="226637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72" name="Google Shape;5272;p304"/>
          <p:cNvSpPr/>
          <p:nvPr/>
        </p:nvSpPr>
        <p:spPr>
          <a:xfrm>
            <a:off x="977501" y="1632586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73" name="Google Shape;5273;p304"/>
          <p:cNvSpPr/>
          <p:nvPr/>
        </p:nvSpPr>
        <p:spPr>
          <a:xfrm>
            <a:off x="1541071" y="1147214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274" name="Google Shape;5274;p304"/>
          <p:cNvCxnSpPr>
            <a:stCxn id="5273" idx="4"/>
            <a:endCxn id="5272" idx="7"/>
          </p:cNvCxnSpPr>
          <p:nvPr/>
        </p:nvCxnSpPr>
        <p:spPr>
          <a:xfrm flipH="1">
            <a:off x="1452571" y="150121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75" name="Google Shape;5275;p304"/>
          <p:cNvCxnSpPr>
            <a:stCxn id="5269" idx="4"/>
            <a:endCxn id="5272" idx="1"/>
          </p:cNvCxnSpPr>
          <p:nvPr/>
        </p:nvCxnSpPr>
        <p:spPr>
          <a:xfrm>
            <a:off x="750975" y="150121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76" name="Google Shape;5276;p304"/>
          <p:cNvCxnSpPr>
            <a:stCxn id="5270" idx="0"/>
            <a:endCxn id="5272" idx="3"/>
          </p:cNvCxnSpPr>
          <p:nvPr/>
        </p:nvCxnSpPr>
        <p:spPr>
          <a:xfrm flipH="1" rot="10800000">
            <a:off x="750975" y="203507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77" name="Google Shape;5277;p304"/>
          <p:cNvCxnSpPr>
            <a:stCxn id="5272" idx="5"/>
            <a:endCxn id="5271" idx="0"/>
          </p:cNvCxnSpPr>
          <p:nvPr/>
        </p:nvCxnSpPr>
        <p:spPr>
          <a:xfrm>
            <a:off x="1452504" y="203512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278" name="Google Shape;5278;p304"/>
          <p:cNvSpPr/>
          <p:nvPr/>
        </p:nvSpPr>
        <p:spPr>
          <a:xfrm>
            <a:off x="3837985" y="1177159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79" name="Google Shape;5279;p304"/>
          <p:cNvSpPr/>
          <p:nvPr/>
        </p:nvSpPr>
        <p:spPr>
          <a:xfrm>
            <a:off x="3837985" y="2296318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80" name="Google Shape;5280;p304"/>
          <p:cNvSpPr/>
          <p:nvPr/>
        </p:nvSpPr>
        <p:spPr>
          <a:xfrm>
            <a:off x="4802986" y="2296318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81" name="Google Shape;5281;p304"/>
          <p:cNvSpPr/>
          <p:nvPr/>
        </p:nvSpPr>
        <p:spPr>
          <a:xfrm>
            <a:off x="4239411" y="1662532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82" name="Google Shape;5282;p304"/>
          <p:cNvSpPr/>
          <p:nvPr/>
        </p:nvSpPr>
        <p:spPr>
          <a:xfrm>
            <a:off x="4802981" y="1177160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283" name="Google Shape;5283;p304"/>
          <p:cNvCxnSpPr>
            <a:stCxn id="5282" idx="4"/>
            <a:endCxn id="5281" idx="7"/>
          </p:cNvCxnSpPr>
          <p:nvPr/>
        </p:nvCxnSpPr>
        <p:spPr>
          <a:xfrm flipH="1">
            <a:off x="4714481" y="1531160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84" name="Google Shape;5284;p304"/>
          <p:cNvCxnSpPr>
            <a:stCxn id="5278" idx="4"/>
            <a:endCxn id="5281" idx="1"/>
          </p:cNvCxnSpPr>
          <p:nvPr/>
        </p:nvCxnSpPr>
        <p:spPr>
          <a:xfrm>
            <a:off x="4012885" y="1531159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85" name="Google Shape;5285;p304"/>
          <p:cNvCxnSpPr>
            <a:stCxn id="5279" idx="0"/>
            <a:endCxn id="5281" idx="3"/>
          </p:cNvCxnSpPr>
          <p:nvPr/>
        </p:nvCxnSpPr>
        <p:spPr>
          <a:xfrm flipH="1" rot="10800000">
            <a:off x="4012885" y="2065018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86" name="Google Shape;5286;p304"/>
          <p:cNvCxnSpPr>
            <a:stCxn id="5281" idx="5"/>
            <a:endCxn id="5280" idx="0"/>
          </p:cNvCxnSpPr>
          <p:nvPr/>
        </p:nvCxnSpPr>
        <p:spPr>
          <a:xfrm>
            <a:off x="4714413" y="2065068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287" name="Google Shape;5287;p304"/>
          <p:cNvSpPr/>
          <p:nvPr/>
        </p:nvSpPr>
        <p:spPr>
          <a:xfrm>
            <a:off x="6999769" y="114721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88" name="Google Shape;5288;p304"/>
          <p:cNvSpPr/>
          <p:nvPr/>
        </p:nvSpPr>
        <p:spPr>
          <a:xfrm>
            <a:off x="6999769" y="226637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89" name="Google Shape;5289;p304"/>
          <p:cNvSpPr/>
          <p:nvPr/>
        </p:nvSpPr>
        <p:spPr>
          <a:xfrm>
            <a:off x="7964770" y="2266373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90" name="Google Shape;5290;p304"/>
          <p:cNvSpPr/>
          <p:nvPr/>
        </p:nvSpPr>
        <p:spPr>
          <a:xfrm>
            <a:off x="7401195" y="1632586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5291" name="Google Shape;5291;p304"/>
          <p:cNvSpPr/>
          <p:nvPr/>
        </p:nvSpPr>
        <p:spPr>
          <a:xfrm>
            <a:off x="7964765" y="1147214"/>
            <a:ext cx="349800" cy="354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5292" name="Google Shape;5292;p304"/>
          <p:cNvCxnSpPr>
            <a:stCxn id="5291" idx="4"/>
            <a:endCxn id="5290" idx="7"/>
          </p:cNvCxnSpPr>
          <p:nvPr/>
        </p:nvCxnSpPr>
        <p:spPr>
          <a:xfrm flipH="1">
            <a:off x="7876265" y="150121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93" name="Google Shape;5293;p304"/>
          <p:cNvCxnSpPr>
            <a:stCxn id="5287" idx="4"/>
            <a:endCxn id="5290" idx="1"/>
          </p:cNvCxnSpPr>
          <p:nvPr/>
        </p:nvCxnSpPr>
        <p:spPr>
          <a:xfrm>
            <a:off x="7174669" y="150121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94" name="Google Shape;5294;p304"/>
          <p:cNvCxnSpPr>
            <a:stCxn id="5288" idx="0"/>
            <a:endCxn id="5290" idx="3"/>
          </p:cNvCxnSpPr>
          <p:nvPr/>
        </p:nvCxnSpPr>
        <p:spPr>
          <a:xfrm flipH="1" rot="10800000">
            <a:off x="7174669" y="203507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95" name="Google Shape;5295;p304"/>
          <p:cNvCxnSpPr>
            <a:stCxn id="5290" idx="5"/>
            <a:endCxn id="5289" idx="0"/>
          </p:cNvCxnSpPr>
          <p:nvPr/>
        </p:nvCxnSpPr>
        <p:spPr>
          <a:xfrm>
            <a:off x="7876198" y="203512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5296" name="Google Shape;5296;p304"/>
          <p:cNvGraphicFramePr/>
          <p:nvPr/>
        </p:nvGraphicFramePr>
        <p:xfrm>
          <a:off x="829688" y="28948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248200"/>
                <a:gridCol w="248200"/>
                <a:gridCol w="248200"/>
                <a:gridCol w="248200"/>
                <a:gridCol w="248200"/>
              </a:tblGrid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a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b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c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d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0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0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0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 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5297" name="Google Shape;5297;p304"/>
          <p:cNvGraphicFramePr/>
          <p:nvPr/>
        </p:nvGraphicFramePr>
        <p:xfrm>
          <a:off x="4069313" y="29543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248200"/>
                <a:gridCol w="248200"/>
                <a:gridCol w="248200"/>
                <a:gridCol w="248200"/>
                <a:gridCol w="248200"/>
              </a:tblGrid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a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b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c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d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0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 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1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5298" name="Google Shape;5298;p304"/>
          <p:cNvGraphicFramePr/>
          <p:nvPr/>
        </p:nvGraphicFramePr>
        <p:xfrm>
          <a:off x="7231038" y="29222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248200"/>
                <a:gridCol w="248200"/>
                <a:gridCol w="248200"/>
                <a:gridCol w="248200"/>
                <a:gridCol w="248200"/>
              </a:tblGrid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a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b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c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d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1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1 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1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sp>
        <p:nvSpPr>
          <p:cNvPr id="5299" name="Google Shape;5299;p304"/>
          <p:cNvSpPr txBox="1"/>
          <p:nvPr/>
        </p:nvSpPr>
        <p:spPr>
          <a:xfrm>
            <a:off x="882150" y="4094613"/>
            <a:ext cx="12411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0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300" name="Google Shape;5300;p304"/>
          <p:cNvSpPr txBox="1"/>
          <p:nvPr/>
        </p:nvSpPr>
        <p:spPr>
          <a:xfrm>
            <a:off x="4144050" y="4143413"/>
            <a:ext cx="12411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0.5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301" name="Google Shape;5301;p304"/>
          <p:cNvSpPr txBox="1"/>
          <p:nvPr/>
        </p:nvSpPr>
        <p:spPr>
          <a:xfrm>
            <a:off x="7231000" y="4143413"/>
            <a:ext cx="12411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1.0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5302" name="Google Shape;5302;p304"/>
          <p:cNvCxnSpPr>
            <a:stCxn id="5278" idx="4"/>
            <a:endCxn id="5279" idx="0"/>
          </p:cNvCxnSpPr>
          <p:nvPr/>
        </p:nvCxnSpPr>
        <p:spPr>
          <a:xfrm>
            <a:off x="4012885" y="1531159"/>
            <a:ext cx="0" cy="7653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3" name="Google Shape;5303;p304"/>
          <p:cNvCxnSpPr>
            <a:stCxn id="5280" idx="2"/>
            <a:endCxn id="5279" idx="6"/>
          </p:cNvCxnSpPr>
          <p:nvPr/>
        </p:nvCxnSpPr>
        <p:spPr>
          <a:xfrm rot="10800000">
            <a:off x="4187686" y="2473318"/>
            <a:ext cx="615300" cy="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4" name="Google Shape;5304;p304"/>
          <p:cNvCxnSpPr>
            <a:stCxn id="5282" idx="2"/>
            <a:endCxn id="5278" idx="6"/>
          </p:cNvCxnSpPr>
          <p:nvPr/>
        </p:nvCxnSpPr>
        <p:spPr>
          <a:xfrm rot="10800000">
            <a:off x="4187681" y="1354160"/>
            <a:ext cx="615300" cy="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5" name="Google Shape;5305;p304"/>
          <p:cNvCxnSpPr>
            <a:stCxn id="5287" idx="4"/>
            <a:endCxn id="5288" idx="0"/>
          </p:cNvCxnSpPr>
          <p:nvPr/>
        </p:nvCxnSpPr>
        <p:spPr>
          <a:xfrm>
            <a:off x="7174669" y="1501213"/>
            <a:ext cx="0" cy="7653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6" name="Google Shape;5306;p304"/>
          <p:cNvCxnSpPr>
            <a:stCxn id="5291" idx="2"/>
            <a:endCxn id="5287" idx="6"/>
          </p:cNvCxnSpPr>
          <p:nvPr/>
        </p:nvCxnSpPr>
        <p:spPr>
          <a:xfrm rot="10800000">
            <a:off x="7349465" y="1324214"/>
            <a:ext cx="615300" cy="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7" name="Google Shape;5307;p304"/>
          <p:cNvCxnSpPr>
            <a:stCxn id="5291" idx="4"/>
            <a:endCxn id="5289" idx="0"/>
          </p:cNvCxnSpPr>
          <p:nvPr/>
        </p:nvCxnSpPr>
        <p:spPr>
          <a:xfrm>
            <a:off x="8139665" y="1501214"/>
            <a:ext cx="0" cy="7653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8" name="Google Shape;5308;p304"/>
          <p:cNvCxnSpPr>
            <a:stCxn id="5289" idx="2"/>
            <a:endCxn id="5288" idx="6"/>
          </p:cNvCxnSpPr>
          <p:nvPr/>
        </p:nvCxnSpPr>
        <p:spPr>
          <a:xfrm rot="10800000">
            <a:off x="7349470" y="2443373"/>
            <a:ext cx="615300" cy="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9" name="Google Shape;5309;p304"/>
          <p:cNvCxnSpPr>
            <a:stCxn id="5287" idx="2"/>
            <a:endCxn id="5289" idx="5"/>
          </p:cNvCxnSpPr>
          <p:nvPr/>
        </p:nvCxnSpPr>
        <p:spPr>
          <a:xfrm>
            <a:off x="6999769" y="1324213"/>
            <a:ext cx="1263600" cy="1244400"/>
          </a:xfrm>
          <a:prstGeom prst="curvedConnector4">
            <a:avLst>
              <a:gd fmla="val -30474" name="adj1"/>
              <a:gd fmla="val 122023" name="adj2"/>
            </a:avLst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10" name="Google Shape;5310;p304"/>
          <p:cNvCxnSpPr>
            <a:stCxn id="5291" idx="6"/>
            <a:endCxn id="5288" idx="4"/>
          </p:cNvCxnSpPr>
          <p:nvPr/>
        </p:nvCxnSpPr>
        <p:spPr>
          <a:xfrm flipH="1">
            <a:off x="7174565" y="1324214"/>
            <a:ext cx="1140000" cy="1296300"/>
          </a:xfrm>
          <a:prstGeom prst="curvedConnector4">
            <a:avLst>
              <a:gd fmla="val -35523" name="adj1"/>
              <a:gd fmla="val 117148" name="adj2"/>
            </a:avLst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311" name="Google Shape;5311;p304"/>
          <p:cNvSpPr txBox="1"/>
          <p:nvPr/>
        </p:nvSpPr>
        <p:spPr>
          <a:xfrm>
            <a:off x="218850" y="4681950"/>
            <a:ext cx="19953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Unclustered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5312" name="Google Shape;5312;p304"/>
          <p:cNvCxnSpPr>
            <a:stCxn id="5311" idx="3"/>
            <a:endCxn id="5313" idx="1"/>
          </p:cNvCxnSpPr>
          <p:nvPr/>
        </p:nvCxnSpPr>
        <p:spPr>
          <a:xfrm>
            <a:off x="2214150" y="4828950"/>
            <a:ext cx="4873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stealth"/>
          </a:ln>
        </p:spPr>
      </p:cxnSp>
      <p:sp>
        <p:nvSpPr>
          <p:cNvPr id="5313" name="Google Shape;5313;p304"/>
          <p:cNvSpPr txBox="1"/>
          <p:nvPr/>
        </p:nvSpPr>
        <p:spPr>
          <a:xfrm>
            <a:off x="7087504" y="4681950"/>
            <a:ext cx="19953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Clustered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5317" name="Shape 5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8" name="Google Shape;5318;p305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Individual Level in Networks II</a:t>
            </a:r>
            <a:endParaRPr/>
          </a:p>
        </p:txBody>
      </p:sp>
      <p:sp>
        <p:nvSpPr>
          <p:cNvPr id="5319" name="Google Shape;5319;p305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and Social Position</a:t>
            </a:r>
            <a:endParaRPr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23" name="Shape 5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4" name="Google Shape;5324;p306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5325" name="Google Shape;5325;p306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26" name="Google Shape;5326;p306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306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28" name="Google Shape;5328;p306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29" name="Google Shape;5329;p306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5330" name="Google Shape;5330;p306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31" name="Google Shape;5331;p306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306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33" name="Google Shape;5333;p306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34" name="Google Shape;5334;p306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5335" name="Google Shape;5335;p306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36" name="Google Shape;5336;p306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306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38" name="Google Shape;5338;p306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39" name="Google Shape;5339;p306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5340" name="Google Shape;5340;p306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41" name="Google Shape;5341;p306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306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43" name="Google Shape;5343;p306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44" name="Google Shape;5344;p306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5345" name="Google Shape;5345;p306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46" name="Google Shape;5346;p306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306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48" name="Google Shape;5348;p306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49" name="Google Shape;5349;p306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5350" name="Google Shape;5350;p306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1" name="Google Shape;5351;p306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2" name="Google Shape;5352;p306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3" name="Google Shape;5353;p306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4" name="Google Shape;5354;p306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5" name="Google Shape;5355;p306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6" name="Google Shape;5356;p306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7" name="Google Shape;5357;p306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8" name="Google Shape;5358;p306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59" name="Google Shape;5359;p306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60" name="Google Shape;5360;p306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61" name="Google Shape;5361;p306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62" name="Google Shape;5362;p306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63" name="Google Shape;5363;p306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64" name="Google Shape;5364;p306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65" name="Google Shape;5365;p306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66" name="Google Shape;5366;p306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sp>
        <p:nvSpPr>
          <p:cNvPr id="5367" name="Google Shape;5367;p306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368" name="Google Shape;5368;p30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72" name="Shape 5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73" name="Google Shape;5373;p307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5374" name="Google Shape;5374;p307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75" name="Google Shape;5375;p307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307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77" name="Google Shape;5377;p307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78" name="Google Shape;5378;p307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5379" name="Google Shape;5379;p307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80" name="Google Shape;5380;p307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307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82" name="Google Shape;5382;p307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83" name="Google Shape;5383;p307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5384" name="Google Shape;5384;p307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85" name="Google Shape;5385;p307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307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87" name="Google Shape;5387;p307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88" name="Google Shape;5388;p307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5389" name="Google Shape;5389;p307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390" name="Google Shape;5390;p307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307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392" name="Google Shape;5392;p307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5393" name="Google Shape;5393;p307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5394" name="Google Shape;5394;p307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95" name="Google Shape;5395;p307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96" name="Google Shape;5396;p307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97" name="Google Shape;5397;p307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98" name="Google Shape;5398;p307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399" name="Google Shape;5399;p307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0" name="Google Shape;5400;p307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1" name="Google Shape;5401;p307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2" name="Google Shape;5402;p307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3" name="Google Shape;5403;p307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4" name="Google Shape;5404;p307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5" name="Google Shape;5405;p307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6" name="Google Shape;5406;p307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7" name="Google Shape;5407;p307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8" name="Google Shape;5408;p307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09" name="Google Shape;5409;p307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5410" name="Google Shape;5410;p307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grpSp>
        <p:nvGrpSpPr>
          <p:cNvPr id="5411" name="Google Shape;5411;p307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5412" name="Google Shape;5412;p307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5413" name="Google Shape;5413;p307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307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15" name="Google Shape;5415;p307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5416" name="Google Shape;5416;p307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417" name="Google Shape;5417;p30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  <p:sp>
        <p:nvSpPr>
          <p:cNvPr id="5418" name="Google Shape;5418;p307"/>
          <p:cNvSpPr/>
          <p:nvPr/>
        </p:nvSpPr>
        <p:spPr>
          <a:xfrm>
            <a:off x="3707750" y="1206325"/>
            <a:ext cx="4485000" cy="10140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Centrality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22" name="Shape 5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3" name="Google Shape;5423;p30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Centrality: What is it?</a:t>
            </a:r>
            <a:endParaRPr/>
          </a:p>
        </p:txBody>
      </p:sp>
      <p:sp>
        <p:nvSpPr>
          <p:cNvPr id="5424" name="Google Shape;5424;p308"/>
          <p:cNvSpPr txBox="1"/>
          <p:nvPr>
            <p:ph idx="1" type="body"/>
          </p:nvPr>
        </p:nvSpPr>
        <p:spPr>
          <a:xfrm>
            <a:off x="311700" y="1225225"/>
            <a:ext cx="509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measure of the </a:t>
            </a:r>
            <a:r>
              <a:rPr b="1" lang="en"/>
              <a:t>importance</a:t>
            </a:r>
            <a:r>
              <a:rPr lang="en"/>
              <a:t> or </a:t>
            </a:r>
            <a:r>
              <a:rPr b="1" lang="en"/>
              <a:t>strategic location</a:t>
            </a:r>
            <a:r>
              <a:rPr lang="en"/>
              <a:t> of a node in the network: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Autonomy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Control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Risk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Exposure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Influence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Belongingness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Brokerage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Independence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Power</a:t>
            </a:r>
            <a:endParaRPr/>
          </a:p>
        </p:txBody>
      </p:sp>
      <p:pic>
        <p:nvPicPr>
          <p:cNvPr descr="Ego_network.png" id="5425" name="Google Shape;5425;p30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86400" y="1079425"/>
            <a:ext cx="3657599" cy="355080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29" name="Shape 5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0" name="Google Shape;5430;p30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Centrality: What is it?</a:t>
            </a:r>
            <a:endParaRPr/>
          </a:p>
        </p:txBody>
      </p:sp>
      <p:sp>
        <p:nvSpPr>
          <p:cNvPr id="5431" name="Google Shape;5431;p309"/>
          <p:cNvSpPr txBox="1"/>
          <p:nvPr>
            <p:ph idx="1" type="body"/>
          </p:nvPr>
        </p:nvSpPr>
        <p:spPr>
          <a:xfrm>
            <a:off x="311700" y="1225225"/>
            <a:ext cx="5174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centrality metric</a:t>
            </a:r>
            <a:r>
              <a:rPr lang="en"/>
              <a:t> is a summary index of the centrality of a node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Based on </a:t>
            </a:r>
            <a:r>
              <a:rPr i="1" lang="en"/>
              <a:t>sums</a:t>
            </a:r>
            <a:r>
              <a:rPr lang="en"/>
              <a:t> or </a:t>
            </a:r>
            <a:r>
              <a:rPr i="1" lang="en"/>
              <a:t>averages</a:t>
            </a:r>
            <a:r>
              <a:rPr lang="en"/>
              <a:t> of one of three things: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Ego_network.png" id="5432" name="Google Shape;5432;p30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86400" y="1079425"/>
            <a:ext cx="3657599" cy="355080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36" name="Shape 5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7" name="Google Shape;5437;p31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Centrality: What is it?</a:t>
            </a:r>
            <a:endParaRPr/>
          </a:p>
        </p:txBody>
      </p:sp>
      <p:sp>
        <p:nvSpPr>
          <p:cNvPr id="5438" name="Google Shape;5438;p310"/>
          <p:cNvSpPr txBox="1"/>
          <p:nvPr>
            <p:ph idx="1" type="body"/>
          </p:nvPr>
        </p:nvSpPr>
        <p:spPr>
          <a:xfrm>
            <a:off x="311700" y="1225225"/>
            <a:ext cx="5383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centrality metric</a:t>
            </a:r>
            <a:r>
              <a:rPr lang="en"/>
              <a:t> is a summary index of the centrality of a node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Based on </a:t>
            </a:r>
            <a:r>
              <a:rPr i="1" lang="en"/>
              <a:t>sums</a:t>
            </a:r>
            <a:r>
              <a:rPr lang="en"/>
              <a:t> or </a:t>
            </a:r>
            <a:r>
              <a:rPr i="1" lang="en"/>
              <a:t>averages</a:t>
            </a:r>
            <a:r>
              <a:rPr lang="en"/>
              <a:t> of one of three things: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Number of edges</a:t>
            </a:r>
            <a:r>
              <a:rPr lang="en"/>
              <a:t> that are directly </a:t>
            </a:r>
            <a:r>
              <a:rPr b="1" lang="en"/>
              <a:t>incident</a:t>
            </a:r>
            <a:r>
              <a:rPr lang="en"/>
              <a:t> upon that node.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The length of the shortest paths</a:t>
            </a:r>
            <a:r>
              <a:rPr lang="en"/>
              <a:t> (smaller is better) having that node as one of their ends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proportion of </a:t>
            </a:r>
            <a:r>
              <a:rPr b="1" lang="en"/>
              <a:t>the shortest paths </a:t>
            </a:r>
            <a:r>
              <a:rPr lang="en"/>
              <a:t>that have that node as one their </a:t>
            </a:r>
            <a:r>
              <a:rPr b="1" lang="en"/>
              <a:t>inner nodes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Ego_network.png" id="5439" name="Google Shape;5439;p310"/>
          <p:cNvPicPr preferRelativeResize="0"/>
          <p:nvPr/>
        </p:nvPicPr>
        <p:blipFill rotWithShape="1">
          <a:blip r:embed="rId3">
            <a:alphaModFix/>
          </a:blip>
          <a:srcRect b="0" l="5705" r="0" t="0"/>
          <a:stretch/>
        </p:blipFill>
        <p:spPr>
          <a:xfrm>
            <a:off x="5695075" y="1079425"/>
            <a:ext cx="3448925" cy="3550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43" name="Shape 5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4" name="Google Shape;5444;p31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Centrality: What is it?</a:t>
            </a:r>
            <a:endParaRPr/>
          </a:p>
        </p:txBody>
      </p:sp>
      <p:sp>
        <p:nvSpPr>
          <p:cNvPr id="5445" name="Google Shape;5445;p311"/>
          <p:cNvSpPr txBox="1"/>
          <p:nvPr>
            <p:ph idx="1" type="body"/>
          </p:nvPr>
        </p:nvSpPr>
        <p:spPr>
          <a:xfrm>
            <a:off x="311700" y="1225225"/>
            <a:ext cx="5332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centrality metric</a:t>
            </a:r>
            <a:r>
              <a:rPr lang="en"/>
              <a:t> is a summary index of the centrality of a node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Based on </a:t>
            </a:r>
            <a:r>
              <a:rPr i="1" lang="en"/>
              <a:t>sums</a:t>
            </a:r>
            <a:r>
              <a:rPr lang="en"/>
              <a:t> or </a:t>
            </a:r>
            <a:r>
              <a:rPr i="1" lang="en"/>
              <a:t>averages</a:t>
            </a:r>
            <a:r>
              <a:rPr lang="en"/>
              <a:t> of one of three things: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Number of edges</a:t>
            </a:r>
            <a:r>
              <a:rPr lang="en"/>
              <a:t> that are directly </a:t>
            </a:r>
            <a:r>
              <a:rPr b="1" lang="en"/>
              <a:t>incident</a:t>
            </a:r>
            <a:r>
              <a:rPr lang="en"/>
              <a:t> upon that node.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The length of the shortest paths</a:t>
            </a:r>
            <a:r>
              <a:rPr lang="en"/>
              <a:t> (smaller is better) having that node as one of their ends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proportion of </a:t>
            </a:r>
            <a:r>
              <a:rPr b="1" lang="en"/>
              <a:t>the shortest paths </a:t>
            </a:r>
            <a:r>
              <a:rPr lang="en"/>
              <a:t>that have that node as one their </a:t>
            </a:r>
            <a:r>
              <a:rPr b="1" lang="en"/>
              <a:t>inner 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More/more</a:t>
            </a:r>
            <a:r>
              <a:rPr lang="en"/>
              <a:t>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more a node has of any of these things the more central it is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Ego_network.png" id="5446" name="Google Shape;5446;p311"/>
          <p:cNvPicPr preferRelativeResize="0"/>
          <p:nvPr/>
        </p:nvPicPr>
        <p:blipFill rotWithShape="1">
          <a:blip r:embed="rId3">
            <a:alphaModFix/>
          </a:blip>
          <a:srcRect b="0" l="5705" r="0" t="0"/>
          <a:stretch/>
        </p:blipFill>
        <p:spPr>
          <a:xfrm>
            <a:off x="5695075" y="1079425"/>
            <a:ext cx="3448925" cy="3550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50" name="Shape 5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1" name="Google Shape;5451;p31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Centrality: What is it?</a:t>
            </a:r>
            <a:endParaRPr/>
          </a:p>
        </p:txBody>
      </p:sp>
      <p:sp>
        <p:nvSpPr>
          <p:cNvPr id="5452" name="Google Shape;5452;p312"/>
          <p:cNvSpPr txBox="1"/>
          <p:nvPr>
            <p:ph idx="1" type="body"/>
          </p:nvPr>
        </p:nvSpPr>
        <p:spPr>
          <a:xfrm>
            <a:off x="311700" y="1225225"/>
            <a:ext cx="5383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centrality metric</a:t>
            </a:r>
            <a:r>
              <a:rPr lang="en"/>
              <a:t> is a summary index of the centrality of a node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Based on </a:t>
            </a:r>
            <a:r>
              <a:rPr i="1" lang="en"/>
              <a:t>sums</a:t>
            </a:r>
            <a:r>
              <a:rPr lang="en"/>
              <a:t> or </a:t>
            </a:r>
            <a:r>
              <a:rPr i="1" lang="en"/>
              <a:t>averages</a:t>
            </a:r>
            <a:r>
              <a:rPr lang="en"/>
              <a:t> of one of three things: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Number of edges</a:t>
            </a:r>
            <a:r>
              <a:rPr lang="en"/>
              <a:t> that are directly </a:t>
            </a:r>
            <a:r>
              <a:rPr b="1" lang="en"/>
              <a:t>incident</a:t>
            </a:r>
            <a:r>
              <a:rPr lang="en"/>
              <a:t> upon that node.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The length of the shortest paths</a:t>
            </a:r>
            <a:r>
              <a:rPr lang="en"/>
              <a:t> (smaller is better) having that node as one of their ends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proportion of </a:t>
            </a:r>
            <a:r>
              <a:rPr b="1" lang="en"/>
              <a:t>the shortest paths </a:t>
            </a:r>
            <a:r>
              <a:rPr lang="en"/>
              <a:t>that have that node as one their </a:t>
            </a:r>
            <a:r>
              <a:rPr b="1" lang="en"/>
              <a:t>inner 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Result is a </a:t>
            </a:r>
            <a:r>
              <a:rPr b="1" lang="en"/>
              <a:t>ranking</a:t>
            </a:r>
            <a:r>
              <a:rPr lang="en"/>
              <a:t> of all nodes in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From most central (top) to least central (bottom)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Ego_network.png" id="5453" name="Google Shape;5453;p312"/>
          <p:cNvPicPr preferRelativeResize="0"/>
          <p:nvPr/>
        </p:nvPicPr>
        <p:blipFill rotWithShape="1">
          <a:blip r:embed="rId3">
            <a:alphaModFix/>
          </a:blip>
          <a:srcRect b="0" l="5705" r="0" t="0"/>
          <a:stretch/>
        </p:blipFill>
        <p:spPr>
          <a:xfrm>
            <a:off x="5695075" y="1079425"/>
            <a:ext cx="3448925" cy="3550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57" name="Shape 5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8" name="Google Shape;5458;p31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Degree C</a:t>
            </a:r>
            <a:r>
              <a:rPr baseline="-25000" lang="en"/>
              <a:t>d</a:t>
            </a:r>
            <a:r>
              <a:rPr lang="en"/>
              <a:t>(v</a:t>
            </a:r>
            <a:r>
              <a:rPr baseline="-25000" lang="en"/>
              <a:t>i</a:t>
            </a:r>
            <a:r>
              <a:rPr lang="en"/>
              <a:t>)</a:t>
            </a:r>
            <a:endParaRPr/>
          </a:p>
        </p:txBody>
      </p:sp>
      <p:sp>
        <p:nvSpPr>
          <p:cNvPr id="5459" name="Google Shape;5459;p313"/>
          <p:cNvSpPr txBox="1"/>
          <p:nvPr>
            <p:ph idx="1" type="body"/>
          </p:nvPr>
        </p:nvSpPr>
        <p:spPr>
          <a:xfrm>
            <a:off x="311700" y="1225225"/>
            <a:ext cx="4552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Simplest (local) centrality measure to compute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</a:t>
            </a:r>
            <a:r>
              <a:rPr b="1" lang="en"/>
              <a:t>edges</a:t>
            </a:r>
            <a:r>
              <a:rPr lang="en"/>
              <a:t> </a:t>
            </a:r>
            <a:r>
              <a:rPr b="1" lang="en"/>
              <a:t>incident</a:t>
            </a:r>
            <a:r>
              <a:rPr lang="en"/>
              <a:t> to a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Cardinality of the set of neighbors </a:t>
            </a:r>
            <a:r>
              <a:rPr lang="en"/>
              <a:t>of a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undirected</a:t>
            </a:r>
            <a:r>
              <a:rPr lang="en"/>
              <a:t> graphs: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Given by </a:t>
            </a:r>
            <a:r>
              <a:rPr b="1" lang="en"/>
              <a:t>either</a:t>
            </a:r>
            <a:r>
              <a:rPr lang="en"/>
              <a:t> </a:t>
            </a:r>
            <a:r>
              <a:rPr b="1" lang="en"/>
              <a:t>row</a:t>
            </a:r>
            <a:r>
              <a:rPr lang="en"/>
              <a:t> </a:t>
            </a:r>
            <a:r>
              <a:rPr b="1" lang="en"/>
              <a:t>or</a:t>
            </a:r>
            <a:r>
              <a:rPr lang="en"/>
              <a:t> </a:t>
            </a:r>
            <a:r>
              <a:rPr b="1" lang="en"/>
              <a:t>column</a:t>
            </a:r>
            <a:r>
              <a:rPr lang="en"/>
              <a:t> </a:t>
            </a:r>
            <a:r>
              <a:rPr b="1" lang="en"/>
              <a:t>sum</a:t>
            </a:r>
            <a:r>
              <a:rPr lang="en"/>
              <a:t> vector of corresponding </a:t>
            </a:r>
            <a:r>
              <a:rPr b="1" lang="en"/>
              <a:t>adjacency matrix</a:t>
            </a:r>
            <a:endParaRPr/>
          </a:p>
        </p:txBody>
      </p:sp>
      <p:pic>
        <p:nvPicPr>
          <p:cNvPr id="5460" name="Google Shape;5460;p313"/>
          <p:cNvPicPr preferRelativeResize="0"/>
          <p:nvPr/>
        </p:nvPicPr>
        <p:blipFill rotWithShape="1">
          <a:blip r:embed="rId3">
            <a:alphaModFix/>
          </a:blip>
          <a:srcRect b="53299" l="1982" r="51491" t="30025"/>
          <a:stretch/>
        </p:blipFill>
        <p:spPr>
          <a:xfrm>
            <a:off x="5385112" y="3159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5461" name="Google Shape;5461;p313"/>
          <p:cNvSpPr txBox="1"/>
          <p:nvPr/>
        </p:nvSpPr>
        <p:spPr>
          <a:xfrm>
            <a:off x="5846875" y="12711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Undirected Graph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5462" name="Google Shape;5462;p313"/>
          <p:cNvGraphicFramePr/>
          <p:nvPr/>
        </p:nvGraphicFramePr>
        <p:xfrm>
          <a:off x="5930413" y="14921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  <a:gridCol w="382850"/>
                <a:gridCol w="382850"/>
              </a:tblGrid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463" name="Google Shape;5463;p313"/>
          <p:cNvGraphicFramePr/>
          <p:nvPr/>
        </p:nvGraphicFramePr>
        <p:xfrm>
          <a:off x="6313263" y="3970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07525"/>
                <a:gridCol w="407525"/>
                <a:gridCol w="407525"/>
                <a:gridCol w="407525"/>
                <a:gridCol w="4075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464" name="Google Shape;5464;p313"/>
          <p:cNvGraphicFramePr/>
          <p:nvPr/>
        </p:nvGraphicFramePr>
        <p:xfrm>
          <a:off x="8311063" y="18844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21425"/>
              </a:tblGrid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68" name="Shape 5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9" name="Google Shape;5469;p31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</a:t>
            </a:r>
            <a:r>
              <a:rPr lang="en"/>
              <a:t>(v</a:t>
            </a:r>
            <a:r>
              <a:rPr baseline="-25000" lang="en"/>
              <a:t>i</a:t>
            </a:r>
            <a:r>
              <a:rPr lang="en"/>
              <a:t>)</a:t>
            </a:r>
            <a:endParaRPr/>
          </a:p>
        </p:txBody>
      </p:sp>
      <p:sp>
        <p:nvSpPr>
          <p:cNvPr id="5470" name="Google Shape;5470;p314"/>
          <p:cNvSpPr txBox="1"/>
          <p:nvPr>
            <p:ph idx="1" type="body"/>
          </p:nvPr>
        </p:nvSpPr>
        <p:spPr>
          <a:xfrm>
            <a:off x="311700" y="1225225"/>
            <a:ext cx="4552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Simplest (local) centrality measure to compute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</a:t>
            </a:r>
            <a:r>
              <a:rPr b="1" lang="en"/>
              <a:t>edges</a:t>
            </a:r>
            <a:r>
              <a:rPr lang="en"/>
              <a:t> </a:t>
            </a:r>
            <a:r>
              <a:rPr b="1" lang="en"/>
              <a:t>incident</a:t>
            </a:r>
            <a:r>
              <a:rPr lang="en"/>
              <a:t> to a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Cardinality of the set of neighbors </a:t>
            </a:r>
            <a:r>
              <a:rPr lang="en"/>
              <a:t>of a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undirected</a:t>
            </a:r>
            <a:r>
              <a:rPr lang="en"/>
              <a:t> graphs: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Given by </a:t>
            </a:r>
            <a:r>
              <a:rPr b="1" lang="en"/>
              <a:t>either</a:t>
            </a:r>
            <a:r>
              <a:rPr lang="en"/>
              <a:t> </a:t>
            </a:r>
            <a:r>
              <a:rPr b="1" lang="en"/>
              <a:t>row</a:t>
            </a:r>
            <a:r>
              <a:rPr lang="en"/>
              <a:t> </a:t>
            </a:r>
            <a:r>
              <a:rPr b="1" lang="en"/>
              <a:t>or</a:t>
            </a:r>
            <a:r>
              <a:rPr lang="en"/>
              <a:t> </a:t>
            </a:r>
            <a:r>
              <a:rPr b="1" lang="en"/>
              <a:t>column</a:t>
            </a:r>
            <a:r>
              <a:rPr lang="en"/>
              <a:t> </a:t>
            </a:r>
            <a:r>
              <a:rPr b="1" lang="en"/>
              <a:t>sum</a:t>
            </a:r>
            <a:r>
              <a:rPr lang="en"/>
              <a:t> vector of corresponding </a:t>
            </a:r>
            <a:r>
              <a:rPr b="1" lang="en"/>
              <a:t>adjacency matrix</a:t>
            </a:r>
            <a:endParaRPr/>
          </a:p>
        </p:txBody>
      </p:sp>
      <p:pic>
        <p:nvPicPr>
          <p:cNvPr id="5471" name="Google Shape;5471;p314"/>
          <p:cNvPicPr preferRelativeResize="0"/>
          <p:nvPr/>
        </p:nvPicPr>
        <p:blipFill rotWithShape="1">
          <a:blip r:embed="rId3">
            <a:alphaModFix/>
          </a:blip>
          <a:srcRect b="53299" l="1982" r="51491" t="30025"/>
          <a:stretch/>
        </p:blipFill>
        <p:spPr>
          <a:xfrm>
            <a:off x="5385112" y="3159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5472" name="Google Shape;5472;p314"/>
          <p:cNvSpPr txBox="1"/>
          <p:nvPr/>
        </p:nvSpPr>
        <p:spPr>
          <a:xfrm>
            <a:off x="5846875" y="12711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Undirected Graph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5473" name="Google Shape;5473;p314"/>
          <p:cNvGraphicFramePr/>
          <p:nvPr/>
        </p:nvGraphicFramePr>
        <p:xfrm>
          <a:off x="5930413" y="14921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  <a:gridCol w="382850"/>
                <a:gridCol w="382850"/>
              </a:tblGrid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474" name="Google Shape;5474;p314"/>
          <p:cNvGraphicFramePr/>
          <p:nvPr/>
        </p:nvGraphicFramePr>
        <p:xfrm>
          <a:off x="6313263" y="3970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07525"/>
                <a:gridCol w="407525"/>
                <a:gridCol w="407525"/>
                <a:gridCol w="407525"/>
                <a:gridCol w="4075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475" name="Google Shape;5475;p314"/>
          <p:cNvGraphicFramePr/>
          <p:nvPr/>
        </p:nvGraphicFramePr>
        <p:xfrm>
          <a:off x="8311063" y="18844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21425"/>
              </a:tblGrid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79" name="Shape 5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0" name="Google Shape;5480;p31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</a:t>
            </a:r>
            <a:r>
              <a:rPr lang="en"/>
              <a:t>(v</a:t>
            </a:r>
            <a:r>
              <a:rPr baseline="-25000" lang="en"/>
              <a:t>i</a:t>
            </a:r>
            <a:r>
              <a:rPr lang="en"/>
              <a:t>): Undirected</a:t>
            </a:r>
            <a:endParaRPr/>
          </a:p>
        </p:txBody>
      </p:sp>
      <p:sp>
        <p:nvSpPr>
          <p:cNvPr id="5481" name="Google Shape;5481;p315"/>
          <p:cNvSpPr txBox="1"/>
          <p:nvPr>
            <p:ph idx="1" type="body"/>
          </p:nvPr>
        </p:nvSpPr>
        <p:spPr>
          <a:xfrm>
            <a:off x="311700" y="1225225"/>
            <a:ext cx="4552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Simplest (local) centrality measure to compute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</a:t>
            </a:r>
            <a:r>
              <a:rPr b="1" lang="en"/>
              <a:t>edges</a:t>
            </a:r>
            <a:r>
              <a:rPr lang="en"/>
              <a:t> </a:t>
            </a:r>
            <a:r>
              <a:rPr b="1" lang="en"/>
              <a:t>incident</a:t>
            </a:r>
            <a:r>
              <a:rPr lang="en"/>
              <a:t> to a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Cardinality of the set of neighbors </a:t>
            </a:r>
            <a:r>
              <a:rPr lang="en"/>
              <a:t>of a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undirected</a:t>
            </a:r>
            <a:r>
              <a:rPr lang="en"/>
              <a:t> graphs: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Given by </a:t>
            </a:r>
            <a:r>
              <a:rPr b="1" lang="en"/>
              <a:t>either</a:t>
            </a:r>
            <a:r>
              <a:rPr lang="en"/>
              <a:t> </a:t>
            </a:r>
            <a:r>
              <a:rPr b="1" lang="en"/>
              <a:t>row</a:t>
            </a:r>
            <a:r>
              <a:rPr lang="en"/>
              <a:t> </a:t>
            </a:r>
            <a:r>
              <a:rPr b="1" lang="en"/>
              <a:t>or</a:t>
            </a:r>
            <a:r>
              <a:rPr lang="en"/>
              <a:t> </a:t>
            </a:r>
            <a:r>
              <a:rPr b="1" lang="en"/>
              <a:t>column</a:t>
            </a:r>
            <a:r>
              <a:rPr lang="en"/>
              <a:t> </a:t>
            </a:r>
            <a:r>
              <a:rPr b="1" lang="en"/>
              <a:t>sum</a:t>
            </a:r>
            <a:r>
              <a:rPr lang="en"/>
              <a:t> vector of corresponding </a:t>
            </a:r>
            <a:r>
              <a:rPr b="1" lang="en"/>
              <a:t>adjacency matrix</a:t>
            </a:r>
            <a:endParaRPr/>
          </a:p>
        </p:txBody>
      </p:sp>
      <p:pic>
        <p:nvPicPr>
          <p:cNvPr id="5482" name="Google Shape;5482;p315"/>
          <p:cNvPicPr preferRelativeResize="0"/>
          <p:nvPr/>
        </p:nvPicPr>
        <p:blipFill rotWithShape="1">
          <a:blip r:embed="rId3">
            <a:alphaModFix/>
          </a:blip>
          <a:srcRect b="53299" l="1982" r="51491" t="30025"/>
          <a:stretch/>
        </p:blipFill>
        <p:spPr>
          <a:xfrm>
            <a:off x="5385112" y="3159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5483" name="Google Shape;5483;p315"/>
          <p:cNvSpPr txBox="1"/>
          <p:nvPr/>
        </p:nvSpPr>
        <p:spPr>
          <a:xfrm>
            <a:off x="5846875" y="12711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Undirected Graph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5484" name="Google Shape;5484;p315"/>
          <p:cNvGraphicFramePr/>
          <p:nvPr/>
        </p:nvGraphicFramePr>
        <p:xfrm>
          <a:off x="5930413" y="14921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  <a:gridCol w="382850"/>
                <a:gridCol w="382850"/>
              </a:tblGrid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485" name="Google Shape;5485;p315"/>
          <p:cNvGraphicFramePr/>
          <p:nvPr/>
        </p:nvGraphicFramePr>
        <p:xfrm>
          <a:off x="6313263" y="3970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07525"/>
                <a:gridCol w="407525"/>
                <a:gridCol w="407525"/>
                <a:gridCol w="407525"/>
                <a:gridCol w="4075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486" name="Google Shape;5486;p315"/>
          <p:cNvGraphicFramePr/>
          <p:nvPr/>
        </p:nvGraphicFramePr>
        <p:xfrm>
          <a:off x="8311063" y="18844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21425"/>
              </a:tblGrid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90" name="Shape 5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1" name="Google Shape;5491;p31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</a:t>
            </a:r>
            <a:r>
              <a:rPr lang="en"/>
              <a:t>(v</a:t>
            </a:r>
            <a:r>
              <a:rPr baseline="-25000" lang="en"/>
              <a:t>i</a:t>
            </a:r>
            <a:r>
              <a:rPr lang="en"/>
              <a:t>): Undirected</a:t>
            </a:r>
            <a:endParaRPr/>
          </a:p>
        </p:txBody>
      </p:sp>
      <p:sp>
        <p:nvSpPr>
          <p:cNvPr id="5492" name="Google Shape;5492;p316"/>
          <p:cNvSpPr txBox="1"/>
          <p:nvPr>
            <p:ph idx="1" type="body"/>
          </p:nvPr>
        </p:nvSpPr>
        <p:spPr>
          <a:xfrm>
            <a:off x="311700" y="1225225"/>
            <a:ext cx="4552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Simplest (local) centrality measure to compute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</a:t>
            </a:r>
            <a:r>
              <a:rPr b="1" lang="en"/>
              <a:t>edges</a:t>
            </a:r>
            <a:r>
              <a:rPr lang="en"/>
              <a:t> </a:t>
            </a:r>
            <a:r>
              <a:rPr b="1" lang="en"/>
              <a:t>incident</a:t>
            </a:r>
            <a:r>
              <a:rPr lang="en"/>
              <a:t> to a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Cardinality of the set of neighbors </a:t>
            </a:r>
            <a:r>
              <a:rPr lang="en"/>
              <a:t>of a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undirected</a:t>
            </a:r>
            <a:r>
              <a:rPr lang="en"/>
              <a:t> graphs: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Given by </a:t>
            </a:r>
            <a:r>
              <a:rPr b="1" lang="en"/>
              <a:t>either</a:t>
            </a:r>
            <a:r>
              <a:rPr lang="en"/>
              <a:t> </a:t>
            </a:r>
            <a:r>
              <a:rPr b="1" lang="en"/>
              <a:t>row</a:t>
            </a:r>
            <a:r>
              <a:rPr lang="en"/>
              <a:t> </a:t>
            </a:r>
            <a:r>
              <a:rPr b="1" lang="en"/>
              <a:t>or</a:t>
            </a:r>
            <a:r>
              <a:rPr lang="en"/>
              <a:t> </a:t>
            </a:r>
            <a:r>
              <a:rPr b="1" lang="en"/>
              <a:t>column</a:t>
            </a:r>
            <a:r>
              <a:rPr lang="en"/>
              <a:t> </a:t>
            </a:r>
            <a:r>
              <a:rPr b="1" lang="en"/>
              <a:t>sum</a:t>
            </a:r>
            <a:r>
              <a:rPr lang="en"/>
              <a:t> vector of corresponding </a:t>
            </a:r>
            <a:r>
              <a:rPr b="1" lang="en"/>
              <a:t>adjacency matrix</a:t>
            </a:r>
            <a:endParaRPr/>
          </a:p>
        </p:txBody>
      </p:sp>
      <p:pic>
        <p:nvPicPr>
          <p:cNvPr id="5493" name="Google Shape;5493;p316"/>
          <p:cNvPicPr preferRelativeResize="0"/>
          <p:nvPr/>
        </p:nvPicPr>
        <p:blipFill rotWithShape="1">
          <a:blip r:embed="rId3">
            <a:alphaModFix/>
          </a:blip>
          <a:srcRect b="53299" l="1982" r="51491" t="30025"/>
          <a:stretch/>
        </p:blipFill>
        <p:spPr>
          <a:xfrm>
            <a:off x="5385112" y="3159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5494" name="Google Shape;5494;p316"/>
          <p:cNvSpPr txBox="1"/>
          <p:nvPr/>
        </p:nvSpPr>
        <p:spPr>
          <a:xfrm>
            <a:off x="5846875" y="12711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Undirected Graph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5495" name="Google Shape;5495;p316"/>
          <p:cNvGraphicFramePr/>
          <p:nvPr/>
        </p:nvGraphicFramePr>
        <p:xfrm>
          <a:off x="5930413" y="14921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  <a:gridCol w="382850"/>
                <a:gridCol w="382850"/>
              </a:tblGrid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496" name="Google Shape;5496;p316"/>
          <p:cNvGraphicFramePr/>
          <p:nvPr/>
        </p:nvGraphicFramePr>
        <p:xfrm>
          <a:off x="6313263" y="3970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07525"/>
                <a:gridCol w="407525"/>
                <a:gridCol w="407525"/>
                <a:gridCol w="407525"/>
                <a:gridCol w="4075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497" name="Google Shape;5497;p316"/>
          <p:cNvGraphicFramePr/>
          <p:nvPr/>
        </p:nvGraphicFramePr>
        <p:xfrm>
          <a:off x="8311063" y="18844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21425"/>
              </a:tblGrid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3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5498" name="Google Shape;5498;p316"/>
          <p:cNvSpPr/>
          <p:nvPr/>
        </p:nvSpPr>
        <p:spPr>
          <a:xfrm>
            <a:off x="6240675" y="2627288"/>
            <a:ext cx="2037600" cy="476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9" name="Google Shape;5499;p316"/>
          <p:cNvSpPr/>
          <p:nvPr/>
        </p:nvSpPr>
        <p:spPr>
          <a:xfrm>
            <a:off x="6696125" y="811225"/>
            <a:ext cx="544200" cy="4140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03" name="Shape 5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4" name="Google Shape;5504;p31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</a:t>
            </a:r>
            <a:r>
              <a:rPr lang="en"/>
              <a:t>(v</a:t>
            </a:r>
            <a:r>
              <a:rPr baseline="-25000" lang="en"/>
              <a:t>i</a:t>
            </a:r>
            <a:r>
              <a:rPr lang="en"/>
              <a:t>): Undirected</a:t>
            </a:r>
            <a:endParaRPr/>
          </a:p>
        </p:txBody>
      </p:sp>
      <p:sp>
        <p:nvSpPr>
          <p:cNvPr id="5505" name="Google Shape;5505;p317"/>
          <p:cNvSpPr txBox="1"/>
          <p:nvPr>
            <p:ph idx="1" type="body"/>
          </p:nvPr>
        </p:nvSpPr>
        <p:spPr>
          <a:xfrm>
            <a:off x="311700" y="1225225"/>
            <a:ext cx="4552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Simplest (local) centrality measure to compute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</a:t>
            </a:r>
            <a:r>
              <a:rPr b="1" lang="en"/>
              <a:t>edges</a:t>
            </a:r>
            <a:r>
              <a:rPr lang="en"/>
              <a:t> </a:t>
            </a:r>
            <a:r>
              <a:rPr b="1" lang="en"/>
              <a:t>incident</a:t>
            </a:r>
            <a:r>
              <a:rPr lang="en"/>
              <a:t> to a node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Cardinality of the set of neighbors </a:t>
            </a:r>
            <a:r>
              <a:rPr lang="en"/>
              <a:t>of a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undirected</a:t>
            </a:r>
            <a:r>
              <a:rPr lang="en"/>
              <a:t> graphs: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Given by </a:t>
            </a:r>
            <a:r>
              <a:rPr b="1" lang="en"/>
              <a:t>either</a:t>
            </a:r>
            <a:r>
              <a:rPr lang="en"/>
              <a:t> </a:t>
            </a:r>
            <a:r>
              <a:rPr b="1" lang="en"/>
              <a:t>row</a:t>
            </a:r>
            <a:r>
              <a:rPr lang="en"/>
              <a:t> </a:t>
            </a:r>
            <a:r>
              <a:rPr b="1" lang="en"/>
              <a:t>or</a:t>
            </a:r>
            <a:r>
              <a:rPr lang="en"/>
              <a:t> </a:t>
            </a:r>
            <a:r>
              <a:rPr b="1" lang="en"/>
              <a:t>column</a:t>
            </a:r>
            <a:r>
              <a:rPr lang="en"/>
              <a:t> </a:t>
            </a:r>
            <a:r>
              <a:rPr b="1" lang="en"/>
              <a:t>sum</a:t>
            </a:r>
            <a:r>
              <a:rPr lang="en"/>
              <a:t> vector of corresponding </a:t>
            </a:r>
            <a:r>
              <a:rPr b="1" lang="en"/>
              <a:t>adjacency matrix</a:t>
            </a:r>
            <a:endParaRPr/>
          </a:p>
        </p:txBody>
      </p:sp>
      <p:pic>
        <p:nvPicPr>
          <p:cNvPr id="5506" name="Google Shape;5506;p317"/>
          <p:cNvPicPr preferRelativeResize="0"/>
          <p:nvPr/>
        </p:nvPicPr>
        <p:blipFill rotWithShape="1">
          <a:blip r:embed="rId3">
            <a:alphaModFix/>
          </a:blip>
          <a:srcRect b="53299" l="1982" r="51491" t="30025"/>
          <a:stretch/>
        </p:blipFill>
        <p:spPr>
          <a:xfrm>
            <a:off x="5385112" y="315928"/>
            <a:ext cx="3490675" cy="955201"/>
          </a:xfrm>
          <a:prstGeom prst="rect">
            <a:avLst/>
          </a:prstGeom>
          <a:noFill/>
          <a:ln>
            <a:noFill/>
          </a:ln>
        </p:spPr>
      </p:pic>
      <p:sp>
        <p:nvSpPr>
          <p:cNvPr id="5507" name="Google Shape;5507;p317"/>
          <p:cNvSpPr txBox="1"/>
          <p:nvPr/>
        </p:nvSpPr>
        <p:spPr>
          <a:xfrm>
            <a:off x="5846875" y="1271113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Undirected Graph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5508" name="Google Shape;5508;p317"/>
          <p:cNvGraphicFramePr/>
          <p:nvPr/>
        </p:nvGraphicFramePr>
        <p:xfrm>
          <a:off x="5930413" y="149210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  <a:gridCol w="382850"/>
                <a:gridCol w="382850"/>
              </a:tblGrid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37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509" name="Google Shape;5509;p317"/>
          <p:cNvGraphicFramePr/>
          <p:nvPr/>
        </p:nvGraphicFramePr>
        <p:xfrm>
          <a:off x="6313263" y="3970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07525"/>
                <a:gridCol w="407525"/>
                <a:gridCol w="407525"/>
                <a:gridCol w="407525"/>
                <a:gridCol w="4075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3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510" name="Google Shape;5510;p317"/>
          <p:cNvGraphicFramePr/>
          <p:nvPr/>
        </p:nvGraphicFramePr>
        <p:xfrm>
          <a:off x="8311063" y="18844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21425"/>
              </a:tblGrid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5511" name="Google Shape;5511;p317"/>
          <p:cNvSpPr/>
          <p:nvPr/>
        </p:nvSpPr>
        <p:spPr>
          <a:xfrm>
            <a:off x="6696125" y="811225"/>
            <a:ext cx="544200" cy="4140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2" name="Google Shape;5512;p317"/>
          <p:cNvSpPr/>
          <p:nvPr/>
        </p:nvSpPr>
        <p:spPr>
          <a:xfrm>
            <a:off x="6979286" y="1853303"/>
            <a:ext cx="560400" cy="2024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16" name="Shape 5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7" name="Google Shape;5517;p31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deg</a:t>
            </a:r>
            <a:r>
              <a:rPr lang="en"/>
              <a:t>(v): Directed</a:t>
            </a:r>
            <a:endParaRPr/>
          </a:p>
        </p:txBody>
      </p:sp>
      <p:sp>
        <p:nvSpPr>
          <p:cNvPr id="5518" name="Google Shape;5518;p318"/>
          <p:cNvSpPr txBox="1"/>
          <p:nvPr>
            <p:ph idx="1" type="body"/>
          </p:nvPr>
        </p:nvSpPr>
        <p:spPr>
          <a:xfrm>
            <a:off x="311700" y="1225225"/>
            <a:ext cx="5563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</a:t>
            </a:r>
            <a:r>
              <a:rPr lang="en"/>
              <a:t> graphs nodes have two separate types of degree centrality: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Outdegree centrality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Indegree centrality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Outdegree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out-neighbors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Indegree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in-neighbors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5519" name="Google Shape;5519;p318"/>
          <p:cNvGraphicFramePr/>
          <p:nvPr/>
        </p:nvGraphicFramePr>
        <p:xfrm>
          <a:off x="5875000" y="17130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5520" name="Google Shape;5520;p318"/>
          <p:cNvPicPr preferRelativeResize="0"/>
          <p:nvPr/>
        </p:nvPicPr>
        <p:blipFill rotWithShape="1">
          <a:blip r:embed="rId3">
            <a:alphaModFix/>
          </a:blip>
          <a:srcRect b="54218" l="50926" r="2550" t="22708"/>
          <a:stretch/>
        </p:blipFill>
        <p:spPr>
          <a:xfrm>
            <a:off x="5584662" y="36473"/>
            <a:ext cx="3490675" cy="1321700"/>
          </a:xfrm>
          <a:prstGeom prst="rect">
            <a:avLst/>
          </a:prstGeom>
          <a:noFill/>
          <a:ln>
            <a:noFill/>
          </a:ln>
        </p:spPr>
      </p:pic>
      <p:sp>
        <p:nvSpPr>
          <p:cNvPr id="5521" name="Google Shape;5521;p318"/>
          <p:cNvSpPr txBox="1"/>
          <p:nvPr/>
        </p:nvSpPr>
        <p:spPr>
          <a:xfrm>
            <a:off x="6102663" y="135817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522" name="Google Shape;5522;p318"/>
          <p:cNvSpPr/>
          <p:nvPr/>
        </p:nvSpPr>
        <p:spPr>
          <a:xfrm>
            <a:off x="6887500" y="881775"/>
            <a:ext cx="544200" cy="4140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23" name="Google Shape;5523;p3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3050" y="4351625"/>
            <a:ext cx="1957900" cy="666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27" name="Shape 5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8" name="Google Shape;5528;p31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deg</a:t>
            </a:r>
            <a:r>
              <a:rPr lang="en"/>
              <a:t>(v): Directed</a:t>
            </a:r>
            <a:endParaRPr/>
          </a:p>
        </p:txBody>
      </p:sp>
      <p:sp>
        <p:nvSpPr>
          <p:cNvPr id="5529" name="Google Shape;5529;p319"/>
          <p:cNvSpPr txBox="1"/>
          <p:nvPr>
            <p:ph idx="1" type="body"/>
          </p:nvPr>
        </p:nvSpPr>
        <p:spPr>
          <a:xfrm>
            <a:off x="311700" y="1225225"/>
            <a:ext cx="5563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</a:t>
            </a:r>
            <a:r>
              <a:rPr lang="en"/>
              <a:t> graphs nodes have two separate types of degree centrality: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Outdegree centrality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Indegree centrality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Outdegree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out-neighbors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Indegree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in-neighbors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Outdegree</a:t>
            </a:r>
            <a:r>
              <a:rPr lang="en"/>
              <a:t> calculated by summing the </a:t>
            </a:r>
            <a:r>
              <a:rPr b="1" lang="en"/>
              <a:t>rows</a:t>
            </a:r>
            <a:r>
              <a:rPr lang="en"/>
              <a:t> of the </a:t>
            </a:r>
            <a:r>
              <a:rPr b="1" lang="en"/>
              <a:t>asymmetric</a:t>
            </a:r>
            <a:r>
              <a:rPr lang="en"/>
              <a:t> </a:t>
            </a:r>
            <a:r>
              <a:rPr b="1" lang="en"/>
              <a:t>adjacency matrix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30" name="Google Shape;5530;p31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93050" y="4351625"/>
            <a:ext cx="1957900" cy="666350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531" name="Google Shape;5531;p319"/>
          <p:cNvGraphicFramePr/>
          <p:nvPr/>
        </p:nvGraphicFramePr>
        <p:xfrm>
          <a:off x="5875000" y="17130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532" name="Google Shape;5532;p319"/>
          <p:cNvGraphicFramePr/>
          <p:nvPr/>
        </p:nvGraphicFramePr>
        <p:xfrm>
          <a:off x="8373113" y="21054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21425"/>
              </a:tblGrid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5533" name="Google Shape;5533;p319"/>
          <p:cNvPicPr preferRelativeResize="0"/>
          <p:nvPr/>
        </p:nvPicPr>
        <p:blipFill rotWithShape="1">
          <a:blip r:embed="rId4">
            <a:alphaModFix/>
          </a:blip>
          <a:srcRect b="54218" l="50926" r="2550" t="22708"/>
          <a:stretch/>
        </p:blipFill>
        <p:spPr>
          <a:xfrm>
            <a:off x="5584662" y="36473"/>
            <a:ext cx="3490675" cy="13217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4" name="Google Shape;5534;p319"/>
          <p:cNvSpPr txBox="1"/>
          <p:nvPr/>
        </p:nvSpPr>
        <p:spPr>
          <a:xfrm>
            <a:off x="6102663" y="135817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descr="\textrm{Outdegree} = \sum_j^N A_{ij}}" id="5535" name="Google Shape;5535;p3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46200" y="2105475"/>
            <a:ext cx="1828800" cy="71721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39" name="Shape 5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0" name="Google Shape;5540;p32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deg</a:t>
            </a:r>
            <a:r>
              <a:rPr lang="en"/>
              <a:t>(v): Directed</a:t>
            </a:r>
            <a:endParaRPr/>
          </a:p>
        </p:txBody>
      </p:sp>
      <p:sp>
        <p:nvSpPr>
          <p:cNvPr id="5541" name="Google Shape;5541;p320"/>
          <p:cNvSpPr txBox="1"/>
          <p:nvPr>
            <p:ph idx="1" type="body"/>
          </p:nvPr>
        </p:nvSpPr>
        <p:spPr>
          <a:xfrm>
            <a:off x="311700" y="1225225"/>
            <a:ext cx="5563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</a:t>
            </a:r>
            <a:r>
              <a:rPr lang="en"/>
              <a:t> graphs nodes have two separate types of degree centrality: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Outdegree centrality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Indegree centrality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Outdegree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out-neighbors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Indegree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in-neighbors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Outdegree</a:t>
            </a:r>
            <a:r>
              <a:rPr lang="en"/>
              <a:t> calculated by summing the </a:t>
            </a:r>
            <a:r>
              <a:rPr b="1" lang="en"/>
              <a:t>rows</a:t>
            </a:r>
            <a:r>
              <a:rPr lang="en"/>
              <a:t> of the </a:t>
            </a:r>
            <a:r>
              <a:rPr b="1" lang="en"/>
              <a:t>asymmetric</a:t>
            </a:r>
            <a:r>
              <a:rPr lang="en"/>
              <a:t> </a:t>
            </a:r>
            <a:r>
              <a:rPr b="1" lang="en"/>
              <a:t>adjacency matrix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42" name="Google Shape;5542;p3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93050" y="4351625"/>
            <a:ext cx="1957900" cy="666350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543" name="Google Shape;5543;p320"/>
          <p:cNvGraphicFramePr/>
          <p:nvPr/>
        </p:nvGraphicFramePr>
        <p:xfrm>
          <a:off x="5875000" y="17130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descr="\textrm{Outdegree} = \sum_j^N A_{ij}}" id="5544" name="Google Shape;5544;p32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046200" y="2105475"/>
            <a:ext cx="1828800" cy="717217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545" name="Google Shape;5545;p320"/>
          <p:cNvGraphicFramePr/>
          <p:nvPr/>
        </p:nvGraphicFramePr>
        <p:xfrm>
          <a:off x="8373113" y="21054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21425"/>
              </a:tblGrid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5546" name="Google Shape;5546;p320"/>
          <p:cNvPicPr preferRelativeResize="0"/>
          <p:nvPr/>
        </p:nvPicPr>
        <p:blipFill rotWithShape="1">
          <a:blip r:embed="rId5">
            <a:alphaModFix/>
          </a:blip>
          <a:srcRect b="54218" l="50926" r="2550" t="22708"/>
          <a:stretch/>
        </p:blipFill>
        <p:spPr>
          <a:xfrm>
            <a:off x="5584662" y="36473"/>
            <a:ext cx="3490675" cy="1321700"/>
          </a:xfrm>
          <a:prstGeom prst="rect">
            <a:avLst/>
          </a:prstGeom>
          <a:noFill/>
          <a:ln>
            <a:noFill/>
          </a:ln>
        </p:spPr>
      </p:pic>
      <p:sp>
        <p:nvSpPr>
          <p:cNvPr id="5547" name="Google Shape;5547;p320"/>
          <p:cNvSpPr txBox="1"/>
          <p:nvPr/>
        </p:nvSpPr>
        <p:spPr>
          <a:xfrm>
            <a:off x="6102663" y="135817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51" name="Shape 5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2" name="Google Shape;5552;p32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deg</a:t>
            </a:r>
            <a:r>
              <a:rPr lang="en"/>
              <a:t>(v): Directed</a:t>
            </a:r>
            <a:endParaRPr/>
          </a:p>
        </p:txBody>
      </p:sp>
      <p:sp>
        <p:nvSpPr>
          <p:cNvPr id="5553" name="Google Shape;5553;p321"/>
          <p:cNvSpPr txBox="1"/>
          <p:nvPr>
            <p:ph idx="1" type="body"/>
          </p:nvPr>
        </p:nvSpPr>
        <p:spPr>
          <a:xfrm>
            <a:off x="311700" y="1225225"/>
            <a:ext cx="5563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</a:t>
            </a:r>
            <a:r>
              <a:rPr lang="en"/>
              <a:t> graphs nodes have two separate types of degree centrality: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Outdegree centrality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Indegree centrality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Outdegree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out-neighbors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Indegree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in-neighbors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Outdegree</a:t>
            </a:r>
            <a:r>
              <a:rPr lang="en"/>
              <a:t> calculated by summing the </a:t>
            </a:r>
            <a:r>
              <a:rPr b="1" lang="en"/>
              <a:t>rows</a:t>
            </a:r>
            <a:r>
              <a:rPr lang="en"/>
              <a:t> of the </a:t>
            </a:r>
            <a:r>
              <a:rPr b="1" lang="en"/>
              <a:t>asymmetric</a:t>
            </a:r>
            <a:r>
              <a:rPr lang="en"/>
              <a:t> </a:t>
            </a:r>
            <a:r>
              <a:rPr b="1" lang="en"/>
              <a:t>adjacency matrix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54" name="Google Shape;5554;p3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93050" y="4351625"/>
            <a:ext cx="1957900" cy="666350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555" name="Google Shape;5555;p321"/>
          <p:cNvGraphicFramePr/>
          <p:nvPr/>
        </p:nvGraphicFramePr>
        <p:xfrm>
          <a:off x="5875000" y="17130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descr="\textrm{Outdegree} = \sum_j^N A_{ij}}" id="5556" name="Google Shape;5556;p32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046200" y="2105475"/>
            <a:ext cx="1828800" cy="717217"/>
          </a:xfrm>
          <a:prstGeom prst="rect">
            <a:avLst/>
          </a:prstGeom>
          <a:noFill/>
          <a:ln>
            <a:noFill/>
          </a:ln>
        </p:spPr>
      </p:pic>
      <p:sp>
        <p:nvSpPr>
          <p:cNvPr id="5557" name="Google Shape;5557;p321"/>
          <p:cNvSpPr/>
          <p:nvPr/>
        </p:nvSpPr>
        <p:spPr>
          <a:xfrm>
            <a:off x="6273438" y="2855888"/>
            <a:ext cx="2037600" cy="476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5558" name="Google Shape;5558;p321"/>
          <p:cNvGraphicFramePr/>
          <p:nvPr/>
        </p:nvGraphicFramePr>
        <p:xfrm>
          <a:off x="8373113" y="21054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21425"/>
              </a:tblGrid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3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07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5559" name="Google Shape;5559;p321"/>
          <p:cNvPicPr preferRelativeResize="0"/>
          <p:nvPr/>
        </p:nvPicPr>
        <p:blipFill rotWithShape="1">
          <a:blip r:embed="rId5">
            <a:alphaModFix/>
          </a:blip>
          <a:srcRect b="54218" l="50926" r="2550" t="22708"/>
          <a:stretch/>
        </p:blipFill>
        <p:spPr>
          <a:xfrm>
            <a:off x="5584662" y="36473"/>
            <a:ext cx="3490675" cy="1321700"/>
          </a:xfrm>
          <a:prstGeom prst="rect">
            <a:avLst/>
          </a:prstGeom>
          <a:noFill/>
          <a:ln>
            <a:noFill/>
          </a:ln>
        </p:spPr>
      </p:pic>
      <p:sp>
        <p:nvSpPr>
          <p:cNvPr id="5560" name="Google Shape;5560;p321"/>
          <p:cNvSpPr txBox="1"/>
          <p:nvPr/>
        </p:nvSpPr>
        <p:spPr>
          <a:xfrm>
            <a:off x="6102663" y="135817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561" name="Google Shape;5561;p321"/>
          <p:cNvSpPr/>
          <p:nvPr/>
        </p:nvSpPr>
        <p:spPr>
          <a:xfrm>
            <a:off x="6887500" y="881775"/>
            <a:ext cx="544200" cy="4140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65" name="Shape 5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6" name="Google Shape;5566;p32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deg</a:t>
            </a:r>
            <a:r>
              <a:rPr lang="en"/>
              <a:t>(v): Directed</a:t>
            </a:r>
            <a:endParaRPr/>
          </a:p>
        </p:txBody>
      </p:sp>
      <p:graphicFrame>
        <p:nvGraphicFramePr>
          <p:cNvPr id="5567" name="Google Shape;5567;p322"/>
          <p:cNvGraphicFramePr/>
          <p:nvPr/>
        </p:nvGraphicFramePr>
        <p:xfrm>
          <a:off x="5875000" y="17130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568" name="Google Shape;5568;p322"/>
          <p:cNvGraphicFramePr/>
          <p:nvPr/>
        </p:nvGraphicFramePr>
        <p:xfrm>
          <a:off x="6273413" y="41298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07525"/>
                <a:gridCol w="407525"/>
                <a:gridCol w="407525"/>
                <a:gridCol w="407525"/>
                <a:gridCol w="4075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5569" name="Google Shape;5569;p322"/>
          <p:cNvPicPr preferRelativeResize="0"/>
          <p:nvPr/>
        </p:nvPicPr>
        <p:blipFill rotWithShape="1">
          <a:blip r:embed="rId3">
            <a:alphaModFix/>
          </a:blip>
          <a:srcRect b="54218" l="50926" r="2550" t="22708"/>
          <a:stretch/>
        </p:blipFill>
        <p:spPr>
          <a:xfrm>
            <a:off x="5584662" y="36473"/>
            <a:ext cx="3490675" cy="1321700"/>
          </a:xfrm>
          <a:prstGeom prst="rect">
            <a:avLst/>
          </a:prstGeom>
          <a:noFill/>
          <a:ln>
            <a:noFill/>
          </a:ln>
        </p:spPr>
      </p:pic>
      <p:sp>
        <p:nvSpPr>
          <p:cNvPr id="5570" name="Google Shape;5570;p322"/>
          <p:cNvSpPr txBox="1"/>
          <p:nvPr/>
        </p:nvSpPr>
        <p:spPr>
          <a:xfrm>
            <a:off x="6102663" y="135817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571" name="Google Shape;5571;p322"/>
          <p:cNvSpPr txBox="1"/>
          <p:nvPr>
            <p:ph idx="1" type="body"/>
          </p:nvPr>
        </p:nvSpPr>
        <p:spPr>
          <a:xfrm>
            <a:off x="311700" y="1225225"/>
            <a:ext cx="5563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</a:t>
            </a:r>
            <a:r>
              <a:rPr lang="en"/>
              <a:t> graphs nodes have two separate types of degree centrality: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Outdegree centrality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Indegree centrality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Outdegree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out-neighbors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Indegree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in-neighbors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Indegree</a:t>
            </a:r>
            <a:r>
              <a:rPr lang="en"/>
              <a:t> calculated by summing the </a:t>
            </a:r>
            <a:r>
              <a:rPr b="1" lang="en"/>
              <a:t>columns</a:t>
            </a:r>
            <a:r>
              <a:rPr lang="en"/>
              <a:t> of the </a:t>
            </a:r>
            <a:r>
              <a:rPr b="1" lang="en"/>
              <a:t>asymmetric</a:t>
            </a:r>
            <a:r>
              <a:rPr lang="en"/>
              <a:t> </a:t>
            </a:r>
            <a:r>
              <a:rPr b="1" lang="en"/>
              <a:t>adjacency matrix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72" name="Google Shape;5572;p3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3050" y="4351625"/>
            <a:ext cx="1957900" cy="66635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\textnormal{Indegree} = \sum_i^N A_{ij}" id="5573" name="Google Shape;5573;p32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46200" y="2105475"/>
            <a:ext cx="1828801" cy="7472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77" name="Shape 5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8" name="Google Shape;5578;p32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deg</a:t>
            </a:r>
            <a:r>
              <a:rPr lang="en"/>
              <a:t>(v): Directed</a:t>
            </a:r>
            <a:endParaRPr/>
          </a:p>
        </p:txBody>
      </p:sp>
      <p:graphicFrame>
        <p:nvGraphicFramePr>
          <p:cNvPr id="5579" name="Google Shape;5579;p323"/>
          <p:cNvGraphicFramePr/>
          <p:nvPr/>
        </p:nvGraphicFramePr>
        <p:xfrm>
          <a:off x="5875000" y="17130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graphicFrame>
        <p:nvGraphicFramePr>
          <p:cNvPr id="5580" name="Google Shape;5580;p323"/>
          <p:cNvGraphicFramePr/>
          <p:nvPr/>
        </p:nvGraphicFramePr>
        <p:xfrm>
          <a:off x="6273413" y="41298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07525"/>
                <a:gridCol w="407525"/>
                <a:gridCol w="407525"/>
                <a:gridCol w="407525"/>
                <a:gridCol w="4075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5581" name="Google Shape;5581;p323"/>
          <p:cNvPicPr preferRelativeResize="0"/>
          <p:nvPr/>
        </p:nvPicPr>
        <p:blipFill rotWithShape="1">
          <a:blip r:embed="rId3">
            <a:alphaModFix/>
          </a:blip>
          <a:srcRect b="54218" l="50926" r="2550" t="22708"/>
          <a:stretch/>
        </p:blipFill>
        <p:spPr>
          <a:xfrm>
            <a:off x="5584662" y="36473"/>
            <a:ext cx="3490675" cy="1321700"/>
          </a:xfrm>
          <a:prstGeom prst="rect">
            <a:avLst/>
          </a:prstGeom>
          <a:noFill/>
          <a:ln>
            <a:noFill/>
          </a:ln>
        </p:spPr>
      </p:pic>
      <p:sp>
        <p:nvSpPr>
          <p:cNvPr id="5582" name="Google Shape;5582;p323"/>
          <p:cNvSpPr txBox="1"/>
          <p:nvPr/>
        </p:nvSpPr>
        <p:spPr>
          <a:xfrm>
            <a:off x="6102663" y="135817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583" name="Google Shape;5583;p323"/>
          <p:cNvSpPr txBox="1"/>
          <p:nvPr>
            <p:ph idx="1" type="body"/>
          </p:nvPr>
        </p:nvSpPr>
        <p:spPr>
          <a:xfrm>
            <a:off x="311700" y="1225225"/>
            <a:ext cx="5563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</a:t>
            </a:r>
            <a:r>
              <a:rPr lang="en"/>
              <a:t> graphs nodes have two separate types of degree centrality: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Outdegree centrality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Indegree centrality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Outdegree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out-neighbors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Indegree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in-neighbors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Indegree</a:t>
            </a:r>
            <a:r>
              <a:rPr lang="en"/>
              <a:t> calculated by summing the </a:t>
            </a:r>
            <a:r>
              <a:rPr b="1" lang="en"/>
              <a:t>columns</a:t>
            </a:r>
            <a:r>
              <a:rPr lang="en"/>
              <a:t> of the </a:t>
            </a:r>
            <a:r>
              <a:rPr b="1" lang="en"/>
              <a:t>asymmetric</a:t>
            </a:r>
            <a:r>
              <a:rPr lang="en"/>
              <a:t> </a:t>
            </a:r>
            <a:r>
              <a:rPr b="1" lang="en"/>
              <a:t>adjacency matrix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84" name="Google Shape;5584;p3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3050" y="4351625"/>
            <a:ext cx="1957900" cy="66635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\textnormal{Indegree} = \sum_i^N A_{ij}" id="5585" name="Google Shape;5585;p32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46200" y="2105475"/>
            <a:ext cx="1828801" cy="7472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89" name="Shape 5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0" name="Google Shape;5590;p32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</a:t>
            </a:r>
            <a:r>
              <a:rPr baseline="-25000" lang="en"/>
              <a:t>deg</a:t>
            </a:r>
            <a:r>
              <a:rPr lang="en"/>
              <a:t>(v)</a:t>
            </a:r>
            <a:endParaRPr/>
          </a:p>
        </p:txBody>
      </p:sp>
      <p:graphicFrame>
        <p:nvGraphicFramePr>
          <p:cNvPr id="5591" name="Google Shape;5591;p324"/>
          <p:cNvGraphicFramePr/>
          <p:nvPr/>
        </p:nvGraphicFramePr>
        <p:xfrm>
          <a:off x="5875000" y="17130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b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78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c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382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--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5592" name="Google Shape;5592;p324"/>
          <p:cNvSpPr/>
          <p:nvPr/>
        </p:nvSpPr>
        <p:spPr>
          <a:xfrm>
            <a:off x="6605011" y="2043078"/>
            <a:ext cx="560400" cy="20244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5593" name="Google Shape;5593;p324"/>
          <p:cNvGraphicFramePr/>
          <p:nvPr/>
        </p:nvGraphicFramePr>
        <p:xfrm>
          <a:off x="6273413" y="41298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07525"/>
                <a:gridCol w="407525"/>
                <a:gridCol w="407525"/>
                <a:gridCol w="407525"/>
                <a:gridCol w="4075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pic>
        <p:nvPicPr>
          <p:cNvPr id="5594" name="Google Shape;5594;p324"/>
          <p:cNvPicPr preferRelativeResize="0"/>
          <p:nvPr/>
        </p:nvPicPr>
        <p:blipFill rotWithShape="1">
          <a:blip r:embed="rId3">
            <a:alphaModFix/>
          </a:blip>
          <a:srcRect b="54218" l="50926" r="2550" t="22708"/>
          <a:stretch/>
        </p:blipFill>
        <p:spPr>
          <a:xfrm>
            <a:off x="5584662" y="36473"/>
            <a:ext cx="3490675" cy="1321700"/>
          </a:xfrm>
          <a:prstGeom prst="rect">
            <a:avLst/>
          </a:prstGeom>
          <a:noFill/>
          <a:ln>
            <a:noFill/>
          </a:ln>
        </p:spPr>
      </p:pic>
      <p:sp>
        <p:nvSpPr>
          <p:cNvPr id="5595" name="Google Shape;5595;p324"/>
          <p:cNvSpPr txBox="1"/>
          <p:nvPr/>
        </p:nvSpPr>
        <p:spPr>
          <a:xfrm>
            <a:off x="6102663" y="1358175"/>
            <a:ext cx="2464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Directed Graph</a:t>
            </a:r>
            <a:endParaRPr b="1" sz="18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596" name="Google Shape;5596;p324"/>
          <p:cNvSpPr/>
          <p:nvPr/>
        </p:nvSpPr>
        <p:spPr>
          <a:xfrm>
            <a:off x="6360750" y="398400"/>
            <a:ext cx="544200" cy="3963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7" name="Google Shape;5597;p324"/>
          <p:cNvSpPr txBox="1"/>
          <p:nvPr>
            <p:ph idx="1" type="body"/>
          </p:nvPr>
        </p:nvSpPr>
        <p:spPr>
          <a:xfrm>
            <a:off x="311700" y="1225225"/>
            <a:ext cx="5563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directed</a:t>
            </a:r>
            <a:r>
              <a:rPr lang="en"/>
              <a:t> graphs nodes have two separate types of degree centrality: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Outdegree centrality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Indegree centrality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Graph theory definition: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Outdegree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out-neighbors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Indegree</a:t>
            </a:r>
            <a:r>
              <a:rPr lang="en"/>
              <a:t>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Cardinality of the set of in-neighbors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Indegree</a:t>
            </a:r>
            <a:r>
              <a:rPr lang="en"/>
              <a:t> calculated by summing the </a:t>
            </a:r>
            <a:r>
              <a:rPr b="1" lang="en"/>
              <a:t>columns</a:t>
            </a:r>
            <a:r>
              <a:rPr lang="en"/>
              <a:t> of the </a:t>
            </a:r>
            <a:r>
              <a:rPr b="1" lang="en"/>
              <a:t>asymmetric</a:t>
            </a:r>
            <a:r>
              <a:rPr lang="en"/>
              <a:t> </a:t>
            </a:r>
            <a:r>
              <a:rPr b="1" lang="en"/>
              <a:t>adjacency matrix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98" name="Google Shape;5598;p32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3050" y="4351625"/>
            <a:ext cx="1957900" cy="66635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\textnormal{Indegree} = \sum_i^N A_{ij}" id="5599" name="Google Shape;5599;p3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46200" y="2105475"/>
            <a:ext cx="1828801" cy="7472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03" name="Shape 5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4" name="Google Shape;5604;p32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</a:t>
            </a:r>
            <a:endParaRPr/>
          </a:p>
        </p:txBody>
      </p:sp>
      <p:sp>
        <p:nvSpPr>
          <p:cNvPr id="5605" name="Google Shape;5605;p325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06" name="Google Shape;5606;p325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07" name="Google Shape;5607;p325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08" name="Google Shape;5608;p325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09" name="Google Shape;5609;p325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0" name="Google Shape;5610;p325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1" name="Google Shape;5611;p325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2" name="Google Shape;5612;p325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3" name="Google Shape;5613;p325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4" name="Google Shape;5614;p325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5" name="Google Shape;5615;p325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6" name="Google Shape;5616;p325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7" name="Google Shape;5617;p325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8" name="Google Shape;5618;p325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19" name="Google Shape;5619;p325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20" name="Google Shape;5620;p325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21" name="Google Shape;5621;p325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22" name="Google Shape;5622;p325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23" name="Google Shape;5623;p325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5624" name="Google Shape;5624;p325"/>
          <p:cNvCxnSpPr>
            <a:stCxn id="5623" idx="2"/>
            <a:endCxn id="5622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25" name="Google Shape;5625;p325"/>
          <p:cNvCxnSpPr>
            <a:stCxn id="5621" idx="0"/>
            <a:endCxn id="5622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26" name="Google Shape;5626;p325"/>
          <p:cNvCxnSpPr>
            <a:stCxn id="5620" idx="2"/>
            <a:endCxn id="5621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27" name="Google Shape;5627;p325"/>
          <p:cNvCxnSpPr>
            <a:stCxn id="5620" idx="2"/>
            <a:endCxn id="5616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28" name="Google Shape;5628;p325"/>
          <p:cNvCxnSpPr>
            <a:stCxn id="5620" idx="2"/>
            <a:endCxn id="5619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29" name="Google Shape;5629;p325"/>
          <p:cNvCxnSpPr>
            <a:stCxn id="5619" idx="2"/>
            <a:endCxn id="5616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0" name="Google Shape;5630;p325"/>
          <p:cNvCxnSpPr>
            <a:stCxn id="5619" idx="1"/>
            <a:endCxn id="5615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1" name="Google Shape;5631;p325"/>
          <p:cNvCxnSpPr>
            <a:stCxn id="5618" idx="0"/>
            <a:endCxn id="5616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2" name="Google Shape;5632;p325"/>
          <p:cNvCxnSpPr>
            <a:stCxn id="5617" idx="7"/>
            <a:endCxn id="5616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3" name="Google Shape;5633;p325"/>
          <p:cNvCxnSpPr>
            <a:stCxn id="5618" idx="1"/>
            <a:endCxn id="5617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4" name="Google Shape;5634;p325"/>
          <p:cNvCxnSpPr>
            <a:stCxn id="5616" idx="2"/>
            <a:endCxn id="5614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5" name="Google Shape;5635;p325"/>
          <p:cNvCxnSpPr>
            <a:stCxn id="5617" idx="0"/>
            <a:endCxn id="5614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6" name="Google Shape;5636;p325"/>
          <p:cNvCxnSpPr>
            <a:stCxn id="5616" idx="0"/>
            <a:endCxn id="5615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7" name="Google Shape;5637;p325"/>
          <p:cNvCxnSpPr>
            <a:stCxn id="5614" idx="7"/>
            <a:endCxn id="5615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8" name="Google Shape;5638;p325"/>
          <p:cNvCxnSpPr>
            <a:stCxn id="5614" idx="2"/>
            <a:endCxn id="5612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39" name="Google Shape;5639;p325"/>
          <p:cNvCxnSpPr>
            <a:stCxn id="5613" idx="0"/>
            <a:endCxn id="5612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0" name="Google Shape;5640;p325"/>
          <p:cNvCxnSpPr>
            <a:stCxn id="5612" idx="3"/>
            <a:endCxn id="5611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1" name="Google Shape;5641;p325"/>
          <p:cNvCxnSpPr>
            <a:stCxn id="5610" idx="5"/>
            <a:endCxn id="5611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2" name="Google Shape;5642;p325"/>
          <p:cNvCxnSpPr>
            <a:stCxn id="5607" idx="4"/>
            <a:endCxn id="5610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3" name="Google Shape;5643;p325"/>
          <p:cNvCxnSpPr>
            <a:stCxn id="5612" idx="1"/>
            <a:endCxn id="5607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4" name="Google Shape;5644;p325"/>
          <p:cNvCxnSpPr>
            <a:stCxn id="5610" idx="2"/>
            <a:endCxn id="5609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5" name="Google Shape;5645;p325"/>
          <p:cNvCxnSpPr>
            <a:stCxn id="5610" idx="0"/>
            <a:endCxn id="5608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6" name="Google Shape;5646;p325"/>
          <p:cNvCxnSpPr>
            <a:stCxn id="5608" idx="3"/>
            <a:endCxn id="5609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7" name="Google Shape;5647;p325"/>
          <p:cNvCxnSpPr>
            <a:stCxn id="5605" idx="4"/>
            <a:endCxn id="5609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8" name="Google Shape;5648;p325"/>
          <p:cNvCxnSpPr>
            <a:stCxn id="5606" idx="2"/>
            <a:endCxn id="5605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49" name="Google Shape;5649;p325"/>
          <p:cNvCxnSpPr>
            <a:stCxn id="5606" idx="3"/>
            <a:endCxn id="5608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50" name="Google Shape;5650;p325"/>
          <p:cNvCxnSpPr>
            <a:stCxn id="5607" idx="2"/>
            <a:endCxn id="5605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51" name="Google Shape;5651;p325"/>
          <p:cNvCxnSpPr>
            <a:stCxn id="5607" idx="1"/>
            <a:endCxn id="5606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52" name="Google Shape;5652;p325"/>
          <p:cNvCxnSpPr>
            <a:stCxn id="5607" idx="2"/>
            <a:endCxn id="5608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53" name="Google Shape;5653;p325"/>
          <p:cNvCxnSpPr>
            <a:stCxn id="5608" idx="1"/>
            <a:endCxn id="5605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54" name="Google Shape;5654;p325"/>
          <p:cNvCxnSpPr>
            <a:stCxn id="5616" idx="6"/>
            <a:endCxn id="5621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58" name="Shape 5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9" name="Google Shape;5659;p32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</a:t>
            </a:r>
            <a:endParaRPr/>
          </a:p>
        </p:txBody>
      </p:sp>
      <p:sp>
        <p:nvSpPr>
          <p:cNvPr id="5660" name="Google Shape;5660;p326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1" name="Google Shape;5661;p326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2" name="Google Shape;5662;p326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3" name="Google Shape;5663;p326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4" name="Google Shape;5664;p326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5" name="Google Shape;5665;p326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6" name="Google Shape;5666;p326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7" name="Google Shape;5667;p326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8" name="Google Shape;5668;p326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69" name="Google Shape;5669;p326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0" name="Google Shape;5670;p326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1" name="Google Shape;5671;p326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2" name="Google Shape;5672;p326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3" name="Google Shape;5673;p326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4" name="Google Shape;5674;p326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5" name="Google Shape;5675;p326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6" name="Google Shape;5676;p326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7" name="Google Shape;5677;p326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678" name="Google Shape;5678;p326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5679" name="Google Shape;5679;p326"/>
          <p:cNvCxnSpPr>
            <a:stCxn id="5678" idx="2"/>
            <a:endCxn id="5677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0" name="Google Shape;5680;p326"/>
          <p:cNvCxnSpPr>
            <a:stCxn id="5676" idx="0"/>
            <a:endCxn id="5677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1" name="Google Shape;5681;p326"/>
          <p:cNvCxnSpPr>
            <a:stCxn id="5675" idx="2"/>
            <a:endCxn id="5676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2" name="Google Shape;5682;p326"/>
          <p:cNvCxnSpPr>
            <a:stCxn id="5675" idx="2"/>
            <a:endCxn id="5671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3" name="Google Shape;5683;p326"/>
          <p:cNvCxnSpPr>
            <a:stCxn id="5675" idx="2"/>
            <a:endCxn id="5674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4" name="Google Shape;5684;p326"/>
          <p:cNvCxnSpPr>
            <a:stCxn id="5674" idx="2"/>
            <a:endCxn id="5671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5" name="Google Shape;5685;p326"/>
          <p:cNvCxnSpPr>
            <a:stCxn id="5674" idx="1"/>
            <a:endCxn id="5670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6" name="Google Shape;5686;p326"/>
          <p:cNvCxnSpPr>
            <a:stCxn id="5673" idx="0"/>
            <a:endCxn id="5671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7" name="Google Shape;5687;p326"/>
          <p:cNvCxnSpPr>
            <a:stCxn id="5672" idx="7"/>
            <a:endCxn id="5671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8" name="Google Shape;5688;p326"/>
          <p:cNvCxnSpPr>
            <a:stCxn id="5673" idx="1"/>
            <a:endCxn id="5672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89" name="Google Shape;5689;p326"/>
          <p:cNvCxnSpPr>
            <a:stCxn id="5671" idx="2"/>
            <a:endCxn id="5669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0" name="Google Shape;5690;p326"/>
          <p:cNvCxnSpPr>
            <a:stCxn id="5672" idx="0"/>
            <a:endCxn id="5669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1" name="Google Shape;5691;p326"/>
          <p:cNvCxnSpPr>
            <a:stCxn id="5671" idx="0"/>
            <a:endCxn id="5670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2" name="Google Shape;5692;p326"/>
          <p:cNvCxnSpPr>
            <a:stCxn id="5669" idx="7"/>
            <a:endCxn id="5670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3" name="Google Shape;5693;p326"/>
          <p:cNvCxnSpPr>
            <a:stCxn id="5669" idx="2"/>
            <a:endCxn id="5667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4" name="Google Shape;5694;p326"/>
          <p:cNvCxnSpPr>
            <a:stCxn id="5668" idx="0"/>
            <a:endCxn id="5667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5" name="Google Shape;5695;p326"/>
          <p:cNvCxnSpPr>
            <a:stCxn id="5667" idx="3"/>
            <a:endCxn id="5666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6" name="Google Shape;5696;p326"/>
          <p:cNvCxnSpPr>
            <a:stCxn id="5665" idx="5"/>
            <a:endCxn id="5666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7" name="Google Shape;5697;p326"/>
          <p:cNvCxnSpPr>
            <a:stCxn id="5662" idx="4"/>
            <a:endCxn id="5665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8" name="Google Shape;5698;p326"/>
          <p:cNvCxnSpPr>
            <a:stCxn id="5667" idx="1"/>
            <a:endCxn id="5662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699" name="Google Shape;5699;p326"/>
          <p:cNvCxnSpPr>
            <a:stCxn id="5665" idx="2"/>
            <a:endCxn id="5664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0" name="Google Shape;5700;p326"/>
          <p:cNvCxnSpPr>
            <a:stCxn id="5665" idx="0"/>
            <a:endCxn id="5663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1" name="Google Shape;5701;p326"/>
          <p:cNvCxnSpPr>
            <a:stCxn id="5663" idx="3"/>
            <a:endCxn id="5664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2" name="Google Shape;5702;p326"/>
          <p:cNvCxnSpPr>
            <a:stCxn id="5660" idx="4"/>
            <a:endCxn id="5664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3" name="Google Shape;5703;p326"/>
          <p:cNvCxnSpPr>
            <a:stCxn id="5661" idx="2"/>
            <a:endCxn id="5660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4" name="Google Shape;5704;p326"/>
          <p:cNvCxnSpPr>
            <a:stCxn id="5661" idx="3"/>
            <a:endCxn id="5663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5" name="Google Shape;5705;p326"/>
          <p:cNvCxnSpPr>
            <a:stCxn id="5662" idx="2"/>
            <a:endCxn id="5660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6" name="Google Shape;5706;p326"/>
          <p:cNvCxnSpPr>
            <a:stCxn id="5662" idx="1"/>
            <a:endCxn id="5661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7" name="Google Shape;5707;p326"/>
          <p:cNvCxnSpPr>
            <a:stCxn id="5662" idx="2"/>
            <a:endCxn id="5663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8" name="Google Shape;5708;p326"/>
          <p:cNvCxnSpPr>
            <a:stCxn id="5663" idx="1"/>
            <a:endCxn id="5660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9" name="Google Shape;5709;p326"/>
          <p:cNvCxnSpPr>
            <a:stCxn id="5671" idx="6"/>
            <a:endCxn id="5676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710" name="Google Shape;5710;p326"/>
          <p:cNvSpPr/>
          <p:nvPr/>
        </p:nvSpPr>
        <p:spPr>
          <a:xfrm>
            <a:off x="4217650" y="1001275"/>
            <a:ext cx="31176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In this graph this node has the largest degree centrality!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5711" name="Google Shape;5711;p326"/>
          <p:cNvCxnSpPr>
            <a:stCxn id="5710" idx="4"/>
            <a:endCxn id="5671" idx="0"/>
          </p:cNvCxnSpPr>
          <p:nvPr/>
        </p:nvCxnSpPr>
        <p:spPr>
          <a:xfrm>
            <a:off x="5776450" y="1832575"/>
            <a:ext cx="583200" cy="1513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15" name="Shape 5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6" name="Google Shape;5716;p32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</a:t>
            </a:r>
            <a:endParaRPr/>
          </a:p>
        </p:txBody>
      </p:sp>
      <p:sp>
        <p:nvSpPr>
          <p:cNvPr id="5717" name="Google Shape;5717;p327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18" name="Google Shape;5718;p327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19" name="Google Shape;5719;p327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0" name="Google Shape;5720;p327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1" name="Google Shape;5721;p327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2" name="Google Shape;5722;p327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3" name="Google Shape;5723;p327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4" name="Google Shape;5724;p327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5" name="Google Shape;5725;p327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6" name="Google Shape;5726;p327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7" name="Google Shape;5727;p327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8" name="Google Shape;5728;p327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29" name="Google Shape;5729;p327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30" name="Google Shape;5730;p327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31" name="Google Shape;5731;p327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32" name="Google Shape;5732;p327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33" name="Google Shape;5733;p327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34" name="Google Shape;5734;p327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35" name="Google Shape;5735;p327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5736" name="Google Shape;5736;p327"/>
          <p:cNvCxnSpPr>
            <a:stCxn id="5735" idx="2"/>
            <a:endCxn id="5734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37" name="Google Shape;5737;p327"/>
          <p:cNvCxnSpPr>
            <a:stCxn id="5733" idx="0"/>
            <a:endCxn id="5734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38" name="Google Shape;5738;p327"/>
          <p:cNvCxnSpPr>
            <a:stCxn id="5732" idx="2"/>
            <a:endCxn id="5733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39" name="Google Shape;5739;p327"/>
          <p:cNvCxnSpPr>
            <a:stCxn id="5732" idx="2"/>
            <a:endCxn id="5728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0" name="Google Shape;5740;p327"/>
          <p:cNvCxnSpPr>
            <a:stCxn id="5732" idx="2"/>
            <a:endCxn id="5731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1" name="Google Shape;5741;p327"/>
          <p:cNvCxnSpPr>
            <a:stCxn id="5731" idx="2"/>
            <a:endCxn id="5728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2" name="Google Shape;5742;p327"/>
          <p:cNvCxnSpPr>
            <a:stCxn id="5731" idx="1"/>
            <a:endCxn id="5727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3" name="Google Shape;5743;p327"/>
          <p:cNvCxnSpPr>
            <a:stCxn id="5730" idx="0"/>
            <a:endCxn id="5728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4" name="Google Shape;5744;p327"/>
          <p:cNvCxnSpPr>
            <a:stCxn id="5729" idx="7"/>
            <a:endCxn id="5728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5" name="Google Shape;5745;p327"/>
          <p:cNvCxnSpPr>
            <a:stCxn id="5730" idx="1"/>
            <a:endCxn id="5729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6" name="Google Shape;5746;p327"/>
          <p:cNvCxnSpPr>
            <a:stCxn id="5728" idx="2"/>
            <a:endCxn id="5726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7" name="Google Shape;5747;p327"/>
          <p:cNvCxnSpPr>
            <a:stCxn id="5729" idx="0"/>
            <a:endCxn id="5726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8" name="Google Shape;5748;p327"/>
          <p:cNvCxnSpPr>
            <a:stCxn id="5728" idx="0"/>
            <a:endCxn id="5727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9" name="Google Shape;5749;p327"/>
          <p:cNvCxnSpPr>
            <a:stCxn id="5726" idx="7"/>
            <a:endCxn id="5727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0" name="Google Shape;5750;p327"/>
          <p:cNvCxnSpPr>
            <a:stCxn id="5726" idx="2"/>
            <a:endCxn id="5724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1" name="Google Shape;5751;p327"/>
          <p:cNvCxnSpPr>
            <a:stCxn id="5725" idx="0"/>
            <a:endCxn id="5724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2" name="Google Shape;5752;p327"/>
          <p:cNvCxnSpPr>
            <a:stCxn id="5724" idx="3"/>
            <a:endCxn id="5723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3" name="Google Shape;5753;p327"/>
          <p:cNvCxnSpPr>
            <a:stCxn id="5722" idx="5"/>
            <a:endCxn id="5723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4" name="Google Shape;5754;p327"/>
          <p:cNvCxnSpPr>
            <a:stCxn id="5719" idx="4"/>
            <a:endCxn id="5722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5" name="Google Shape;5755;p327"/>
          <p:cNvCxnSpPr>
            <a:stCxn id="5724" idx="1"/>
            <a:endCxn id="5719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6" name="Google Shape;5756;p327"/>
          <p:cNvCxnSpPr>
            <a:stCxn id="5722" idx="2"/>
            <a:endCxn id="5721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7" name="Google Shape;5757;p327"/>
          <p:cNvCxnSpPr>
            <a:stCxn id="5722" idx="0"/>
            <a:endCxn id="5720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8" name="Google Shape;5758;p327"/>
          <p:cNvCxnSpPr>
            <a:stCxn id="5720" idx="3"/>
            <a:endCxn id="5721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9" name="Google Shape;5759;p327"/>
          <p:cNvCxnSpPr>
            <a:stCxn id="5717" idx="4"/>
            <a:endCxn id="5721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0" name="Google Shape;5760;p327"/>
          <p:cNvCxnSpPr>
            <a:stCxn id="5718" idx="2"/>
            <a:endCxn id="5717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1" name="Google Shape;5761;p327"/>
          <p:cNvCxnSpPr>
            <a:stCxn id="5718" idx="3"/>
            <a:endCxn id="5720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2" name="Google Shape;5762;p327"/>
          <p:cNvCxnSpPr>
            <a:stCxn id="5719" idx="2"/>
            <a:endCxn id="5717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3" name="Google Shape;5763;p327"/>
          <p:cNvCxnSpPr>
            <a:stCxn id="5719" idx="1"/>
            <a:endCxn id="5718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4" name="Google Shape;5764;p327"/>
          <p:cNvCxnSpPr>
            <a:stCxn id="5719" idx="2"/>
            <a:endCxn id="5720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5" name="Google Shape;5765;p327"/>
          <p:cNvCxnSpPr>
            <a:stCxn id="5720" idx="1"/>
            <a:endCxn id="5717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6" name="Google Shape;5766;p327"/>
          <p:cNvCxnSpPr>
            <a:stCxn id="5728" idx="6"/>
            <a:endCxn id="5733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767" name="Google Shape;5767;p327"/>
          <p:cNvSpPr txBox="1"/>
          <p:nvPr/>
        </p:nvSpPr>
        <p:spPr>
          <a:xfrm>
            <a:off x="7578950" y="4250775"/>
            <a:ext cx="1252200" cy="56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 sz="2500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 sz="2500">
                <a:latin typeface="Economica"/>
                <a:ea typeface="Economica"/>
                <a:cs typeface="Economica"/>
                <a:sym typeface="Economica"/>
              </a:rPr>
              <a:t>(j) = 7</a:t>
            </a:r>
            <a:endParaRPr sz="25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71" name="Shape 5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2" name="Google Shape;5772;p32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Closeness (C</a:t>
            </a:r>
            <a:r>
              <a:rPr baseline="-25000" lang="en"/>
              <a:t>Clos</a:t>
            </a:r>
            <a:r>
              <a:rPr lang="en"/>
              <a:t>)</a:t>
            </a:r>
            <a:endParaRPr/>
          </a:p>
        </p:txBody>
      </p:sp>
      <p:sp>
        <p:nvSpPr>
          <p:cNvPr id="5773" name="Google Shape;5773;p328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74" name="Google Shape;5774;p328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75" name="Google Shape;5775;p328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76" name="Google Shape;5776;p328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77" name="Google Shape;5777;p328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78" name="Google Shape;5778;p328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79" name="Google Shape;5779;p328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0" name="Google Shape;5780;p328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1" name="Google Shape;5781;p328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2" name="Google Shape;5782;p328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3" name="Google Shape;5783;p328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4" name="Google Shape;5784;p328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5" name="Google Shape;5785;p328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6" name="Google Shape;5786;p328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7" name="Google Shape;5787;p328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8" name="Google Shape;5788;p328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89" name="Google Shape;5789;p328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90" name="Google Shape;5790;p328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791" name="Google Shape;5791;p328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5792" name="Google Shape;5792;p328"/>
          <p:cNvCxnSpPr>
            <a:stCxn id="5791" idx="2"/>
            <a:endCxn id="5790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93" name="Google Shape;5793;p328"/>
          <p:cNvCxnSpPr>
            <a:stCxn id="5789" idx="0"/>
            <a:endCxn id="5790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94" name="Google Shape;5794;p328"/>
          <p:cNvCxnSpPr>
            <a:stCxn id="5788" idx="2"/>
            <a:endCxn id="5789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95" name="Google Shape;5795;p328"/>
          <p:cNvCxnSpPr>
            <a:stCxn id="5788" idx="2"/>
            <a:endCxn id="5784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96" name="Google Shape;5796;p328"/>
          <p:cNvCxnSpPr>
            <a:stCxn id="5788" idx="2"/>
            <a:endCxn id="5787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97" name="Google Shape;5797;p328"/>
          <p:cNvCxnSpPr>
            <a:stCxn id="5787" idx="2"/>
            <a:endCxn id="5784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98" name="Google Shape;5798;p328"/>
          <p:cNvCxnSpPr>
            <a:stCxn id="5787" idx="1"/>
            <a:endCxn id="5783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99" name="Google Shape;5799;p328"/>
          <p:cNvCxnSpPr>
            <a:stCxn id="5786" idx="0"/>
            <a:endCxn id="5784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0" name="Google Shape;5800;p328"/>
          <p:cNvCxnSpPr>
            <a:stCxn id="5785" idx="7"/>
            <a:endCxn id="5784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1" name="Google Shape;5801;p328"/>
          <p:cNvCxnSpPr>
            <a:stCxn id="5786" idx="1"/>
            <a:endCxn id="5785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2" name="Google Shape;5802;p328"/>
          <p:cNvCxnSpPr>
            <a:stCxn id="5784" idx="2"/>
            <a:endCxn id="5782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3" name="Google Shape;5803;p328"/>
          <p:cNvCxnSpPr>
            <a:stCxn id="5785" idx="0"/>
            <a:endCxn id="5782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4" name="Google Shape;5804;p328"/>
          <p:cNvCxnSpPr>
            <a:stCxn id="5784" idx="0"/>
            <a:endCxn id="5783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5" name="Google Shape;5805;p328"/>
          <p:cNvCxnSpPr>
            <a:stCxn id="5782" idx="7"/>
            <a:endCxn id="5783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6" name="Google Shape;5806;p328"/>
          <p:cNvCxnSpPr>
            <a:stCxn id="5782" idx="2"/>
            <a:endCxn id="5780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7" name="Google Shape;5807;p328"/>
          <p:cNvCxnSpPr>
            <a:stCxn id="5781" idx="0"/>
            <a:endCxn id="5780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8" name="Google Shape;5808;p328"/>
          <p:cNvCxnSpPr>
            <a:stCxn id="5780" idx="3"/>
            <a:endCxn id="5779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09" name="Google Shape;5809;p328"/>
          <p:cNvCxnSpPr>
            <a:stCxn id="5778" idx="5"/>
            <a:endCxn id="5779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0" name="Google Shape;5810;p328"/>
          <p:cNvCxnSpPr>
            <a:stCxn id="5775" idx="4"/>
            <a:endCxn id="5778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1" name="Google Shape;5811;p328"/>
          <p:cNvCxnSpPr>
            <a:stCxn id="5780" idx="1"/>
            <a:endCxn id="5775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2" name="Google Shape;5812;p328"/>
          <p:cNvCxnSpPr>
            <a:stCxn id="5778" idx="2"/>
            <a:endCxn id="5777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3" name="Google Shape;5813;p328"/>
          <p:cNvCxnSpPr>
            <a:stCxn id="5778" idx="0"/>
            <a:endCxn id="5776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4" name="Google Shape;5814;p328"/>
          <p:cNvCxnSpPr>
            <a:stCxn id="5776" idx="3"/>
            <a:endCxn id="5777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5" name="Google Shape;5815;p328"/>
          <p:cNvCxnSpPr>
            <a:stCxn id="5773" idx="4"/>
            <a:endCxn id="5777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6" name="Google Shape;5816;p328"/>
          <p:cNvCxnSpPr>
            <a:stCxn id="5774" idx="2"/>
            <a:endCxn id="5773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7" name="Google Shape;5817;p328"/>
          <p:cNvCxnSpPr>
            <a:stCxn id="5774" idx="3"/>
            <a:endCxn id="5776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8" name="Google Shape;5818;p328"/>
          <p:cNvCxnSpPr>
            <a:stCxn id="5775" idx="2"/>
            <a:endCxn id="5773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9" name="Google Shape;5819;p328"/>
          <p:cNvCxnSpPr>
            <a:stCxn id="5775" idx="1"/>
            <a:endCxn id="5774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20" name="Google Shape;5820;p328"/>
          <p:cNvCxnSpPr>
            <a:stCxn id="5775" idx="2"/>
            <a:endCxn id="5776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21" name="Google Shape;5821;p328"/>
          <p:cNvCxnSpPr>
            <a:stCxn id="5776" idx="1"/>
            <a:endCxn id="5773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22" name="Google Shape;5822;p328"/>
          <p:cNvCxnSpPr>
            <a:stCxn id="5784" idx="6"/>
            <a:endCxn id="5789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26" name="Shape 5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7" name="Google Shape;5827;p32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Closeness (C</a:t>
            </a:r>
            <a:r>
              <a:rPr baseline="-25000" lang="en"/>
              <a:t>Clos</a:t>
            </a:r>
            <a:r>
              <a:rPr lang="en"/>
              <a:t>)</a:t>
            </a:r>
            <a:endParaRPr/>
          </a:p>
        </p:txBody>
      </p:sp>
      <p:sp>
        <p:nvSpPr>
          <p:cNvPr id="5828" name="Google Shape;5828;p329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29" name="Google Shape;5829;p329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0" name="Google Shape;5830;p329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1" name="Google Shape;5831;p329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2" name="Google Shape;5832;p329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3" name="Google Shape;5833;p329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4" name="Google Shape;5834;p329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5" name="Google Shape;5835;p329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6" name="Google Shape;5836;p329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7" name="Google Shape;5837;p329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8" name="Google Shape;5838;p329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39" name="Google Shape;5839;p329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40" name="Google Shape;5840;p329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41" name="Google Shape;5841;p329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42" name="Google Shape;5842;p329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43" name="Google Shape;5843;p329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44" name="Google Shape;5844;p329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45" name="Google Shape;5845;p329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46" name="Google Shape;5846;p329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5847" name="Google Shape;5847;p329"/>
          <p:cNvCxnSpPr>
            <a:stCxn id="5846" idx="2"/>
            <a:endCxn id="5845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48" name="Google Shape;5848;p329"/>
          <p:cNvCxnSpPr>
            <a:stCxn id="5844" idx="0"/>
            <a:endCxn id="5845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49" name="Google Shape;5849;p329"/>
          <p:cNvCxnSpPr>
            <a:stCxn id="5843" idx="2"/>
            <a:endCxn id="5844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0" name="Google Shape;5850;p329"/>
          <p:cNvCxnSpPr>
            <a:stCxn id="5843" idx="2"/>
            <a:endCxn id="5839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1" name="Google Shape;5851;p329"/>
          <p:cNvCxnSpPr>
            <a:stCxn id="5843" idx="2"/>
            <a:endCxn id="5842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2" name="Google Shape;5852;p329"/>
          <p:cNvCxnSpPr>
            <a:stCxn id="5842" idx="2"/>
            <a:endCxn id="5839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3" name="Google Shape;5853;p329"/>
          <p:cNvCxnSpPr>
            <a:stCxn id="5842" idx="1"/>
            <a:endCxn id="5838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4" name="Google Shape;5854;p329"/>
          <p:cNvCxnSpPr>
            <a:stCxn id="5841" idx="0"/>
            <a:endCxn id="5839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5" name="Google Shape;5855;p329"/>
          <p:cNvCxnSpPr>
            <a:stCxn id="5840" idx="7"/>
            <a:endCxn id="5839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6" name="Google Shape;5856;p329"/>
          <p:cNvCxnSpPr>
            <a:stCxn id="5841" idx="1"/>
            <a:endCxn id="5840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7" name="Google Shape;5857;p329"/>
          <p:cNvCxnSpPr>
            <a:stCxn id="5839" idx="2"/>
            <a:endCxn id="5837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8" name="Google Shape;5858;p329"/>
          <p:cNvCxnSpPr>
            <a:stCxn id="5840" idx="0"/>
            <a:endCxn id="5837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59" name="Google Shape;5859;p329"/>
          <p:cNvCxnSpPr>
            <a:stCxn id="5839" idx="0"/>
            <a:endCxn id="5838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0" name="Google Shape;5860;p329"/>
          <p:cNvCxnSpPr>
            <a:stCxn id="5837" idx="7"/>
            <a:endCxn id="5838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1" name="Google Shape;5861;p329"/>
          <p:cNvCxnSpPr>
            <a:stCxn id="5837" idx="2"/>
            <a:endCxn id="5835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2" name="Google Shape;5862;p329"/>
          <p:cNvCxnSpPr>
            <a:stCxn id="5836" idx="0"/>
            <a:endCxn id="5835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3" name="Google Shape;5863;p329"/>
          <p:cNvCxnSpPr>
            <a:stCxn id="5835" idx="3"/>
            <a:endCxn id="5834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4" name="Google Shape;5864;p329"/>
          <p:cNvCxnSpPr>
            <a:stCxn id="5833" idx="5"/>
            <a:endCxn id="5834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5" name="Google Shape;5865;p329"/>
          <p:cNvCxnSpPr>
            <a:stCxn id="5830" idx="4"/>
            <a:endCxn id="5833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6" name="Google Shape;5866;p329"/>
          <p:cNvCxnSpPr>
            <a:stCxn id="5835" idx="1"/>
            <a:endCxn id="5830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7" name="Google Shape;5867;p329"/>
          <p:cNvCxnSpPr>
            <a:stCxn id="5833" idx="2"/>
            <a:endCxn id="5832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8" name="Google Shape;5868;p329"/>
          <p:cNvCxnSpPr>
            <a:stCxn id="5833" idx="0"/>
            <a:endCxn id="5831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69" name="Google Shape;5869;p329"/>
          <p:cNvCxnSpPr>
            <a:stCxn id="5831" idx="3"/>
            <a:endCxn id="5832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0" name="Google Shape;5870;p329"/>
          <p:cNvCxnSpPr>
            <a:stCxn id="5828" idx="4"/>
            <a:endCxn id="5832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1" name="Google Shape;5871;p329"/>
          <p:cNvCxnSpPr>
            <a:stCxn id="5829" idx="2"/>
            <a:endCxn id="5828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2" name="Google Shape;5872;p329"/>
          <p:cNvCxnSpPr>
            <a:stCxn id="5829" idx="3"/>
            <a:endCxn id="5831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3" name="Google Shape;5873;p329"/>
          <p:cNvCxnSpPr>
            <a:stCxn id="5830" idx="2"/>
            <a:endCxn id="5828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4" name="Google Shape;5874;p329"/>
          <p:cNvCxnSpPr>
            <a:stCxn id="5830" idx="1"/>
            <a:endCxn id="5829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5" name="Google Shape;5875;p329"/>
          <p:cNvCxnSpPr>
            <a:stCxn id="5830" idx="2"/>
            <a:endCxn id="5831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6" name="Google Shape;5876;p329"/>
          <p:cNvCxnSpPr>
            <a:stCxn id="5831" idx="1"/>
            <a:endCxn id="5828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7" name="Google Shape;5877;p329"/>
          <p:cNvCxnSpPr>
            <a:stCxn id="5839" idx="6"/>
            <a:endCxn id="5844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878" name="Google Shape;5878;p329"/>
          <p:cNvSpPr txBox="1"/>
          <p:nvPr/>
        </p:nvSpPr>
        <p:spPr>
          <a:xfrm>
            <a:off x="3405450" y="1246250"/>
            <a:ext cx="30501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A node that can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reach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all the other nodes in the graph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via the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shortest paths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(on average) has the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largest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closeness centrality!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82" name="Shape 5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3" name="Google Shape;5883;p33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Closeness (C</a:t>
            </a:r>
            <a:r>
              <a:rPr baseline="-25000" lang="en"/>
              <a:t>Clos</a:t>
            </a:r>
            <a:r>
              <a:rPr lang="en"/>
              <a:t>)</a:t>
            </a:r>
            <a:endParaRPr/>
          </a:p>
        </p:txBody>
      </p:sp>
      <p:sp>
        <p:nvSpPr>
          <p:cNvPr id="5884" name="Google Shape;5884;p330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85" name="Google Shape;5885;p330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86" name="Google Shape;5886;p330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87" name="Google Shape;5887;p330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88" name="Google Shape;5888;p330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89" name="Google Shape;5889;p330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0" name="Google Shape;5890;p330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1" name="Google Shape;5891;p330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2" name="Google Shape;5892;p330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3" name="Google Shape;5893;p330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4" name="Google Shape;5894;p330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5" name="Google Shape;5895;p330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6" name="Google Shape;5896;p330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7" name="Google Shape;5897;p330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8" name="Google Shape;5898;p330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899" name="Google Shape;5899;p330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00" name="Google Shape;5900;p330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01" name="Google Shape;5901;p330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02" name="Google Shape;5902;p330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5903" name="Google Shape;5903;p330"/>
          <p:cNvCxnSpPr>
            <a:stCxn id="5902" idx="2"/>
            <a:endCxn id="5901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04" name="Google Shape;5904;p330"/>
          <p:cNvCxnSpPr>
            <a:stCxn id="5900" idx="0"/>
            <a:endCxn id="5901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05" name="Google Shape;5905;p330"/>
          <p:cNvCxnSpPr>
            <a:stCxn id="5899" idx="2"/>
            <a:endCxn id="5900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06" name="Google Shape;5906;p330"/>
          <p:cNvCxnSpPr>
            <a:stCxn id="5899" idx="2"/>
            <a:endCxn id="5895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07" name="Google Shape;5907;p330"/>
          <p:cNvCxnSpPr>
            <a:stCxn id="5899" idx="2"/>
            <a:endCxn id="5898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08" name="Google Shape;5908;p330"/>
          <p:cNvCxnSpPr>
            <a:stCxn id="5898" idx="2"/>
            <a:endCxn id="5895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09" name="Google Shape;5909;p330"/>
          <p:cNvCxnSpPr>
            <a:stCxn id="5898" idx="1"/>
            <a:endCxn id="5894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0" name="Google Shape;5910;p330"/>
          <p:cNvCxnSpPr>
            <a:stCxn id="5897" idx="0"/>
            <a:endCxn id="5895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1" name="Google Shape;5911;p330"/>
          <p:cNvCxnSpPr>
            <a:stCxn id="5896" idx="7"/>
            <a:endCxn id="5895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2" name="Google Shape;5912;p330"/>
          <p:cNvCxnSpPr>
            <a:stCxn id="5897" idx="1"/>
            <a:endCxn id="5896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3" name="Google Shape;5913;p330"/>
          <p:cNvCxnSpPr>
            <a:stCxn id="5895" idx="2"/>
            <a:endCxn id="5893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4" name="Google Shape;5914;p330"/>
          <p:cNvCxnSpPr>
            <a:stCxn id="5896" idx="0"/>
            <a:endCxn id="5893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5" name="Google Shape;5915;p330"/>
          <p:cNvCxnSpPr>
            <a:stCxn id="5895" idx="0"/>
            <a:endCxn id="5894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6" name="Google Shape;5916;p330"/>
          <p:cNvCxnSpPr>
            <a:stCxn id="5893" idx="7"/>
            <a:endCxn id="5894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7" name="Google Shape;5917;p330"/>
          <p:cNvCxnSpPr>
            <a:stCxn id="5893" idx="2"/>
            <a:endCxn id="5891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8" name="Google Shape;5918;p330"/>
          <p:cNvCxnSpPr>
            <a:stCxn id="5892" idx="0"/>
            <a:endCxn id="5891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19" name="Google Shape;5919;p330"/>
          <p:cNvCxnSpPr>
            <a:stCxn id="5891" idx="3"/>
            <a:endCxn id="5890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0" name="Google Shape;5920;p330"/>
          <p:cNvCxnSpPr>
            <a:stCxn id="5889" idx="5"/>
            <a:endCxn id="5890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1" name="Google Shape;5921;p330"/>
          <p:cNvCxnSpPr>
            <a:stCxn id="5886" idx="4"/>
            <a:endCxn id="5889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2" name="Google Shape;5922;p330"/>
          <p:cNvCxnSpPr>
            <a:stCxn id="5891" idx="1"/>
            <a:endCxn id="5886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3" name="Google Shape;5923;p330"/>
          <p:cNvCxnSpPr>
            <a:stCxn id="5889" idx="2"/>
            <a:endCxn id="5888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4" name="Google Shape;5924;p330"/>
          <p:cNvCxnSpPr>
            <a:stCxn id="5889" idx="0"/>
            <a:endCxn id="5887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5" name="Google Shape;5925;p330"/>
          <p:cNvCxnSpPr>
            <a:stCxn id="5887" idx="3"/>
            <a:endCxn id="5888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6" name="Google Shape;5926;p330"/>
          <p:cNvCxnSpPr>
            <a:stCxn id="5884" idx="4"/>
            <a:endCxn id="5888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7" name="Google Shape;5927;p330"/>
          <p:cNvCxnSpPr>
            <a:stCxn id="5885" idx="2"/>
            <a:endCxn id="5884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8" name="Google Shape;5928;p330"/>
          <p:cNvCxnSpPr>
            <a:stCxn id="5885" idx="3"/>
            <a:endCxn id="5887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29" name="Google Shape;5929;p330"/>
          <p:cNvCxnSpPr>
            <a:stCxn id="5886" idx="2"/>
            <a:endCxn id="5884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30" name="Google Shape;5930;p330"/>
          <p:cNvCxnSpPr>
            <a:stCxn id="5886" idx="1"/>
            <a:endCxn id="5885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31" name="Google Shape;5931;p330"/>
          <p:cNvCxnSpPr>
            <a:stCxn id="5886" idx="2"/>
            <a:endCxn id="5887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32" name="Google Shape;5932;p330"/>
          <p:cNvCxnSpPr>
            <a:stCxn id="5887" idx="1"/>
            <a:endCxn id="5884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33" name="Google Shape;5933;p330"/>
          <p:cNvCxnSpPr>
            <a:stCxn id="5895" idx="6"/>
            <a:endCxn id="5900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934" name="Google Shape;5934;p330"/>
          <p:cNvSpPr/>
          <p:nvPr/>
        </p:nvSpPr>
        <p:spPr>
          <a:xfrm>
            <a:off x="2807325" y="1196125"/>
            <a:ext cx="31176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In this graph this node has the largest closeness centrality!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5935" name="Google Shape;5935;p330"/>
          <p:cNvCxnSpPr>
            <a:stCxn id="5934" idx="4"/>
            <a:endCxn id="5894" idx="1"/>
          </p:cNvCxnSpPr>
          <p:nvPr/>
        </p:nvCxnSpPr>
        <p:spPr>
          <a:xfrm>
            <a:off x="4366125" y="2027425"/>
            <a:ext cx="1176600" cy="431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39" name="Shape 5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0" name="Google Shape;5940;p33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Closeness (C</a:t>
            </a:r>
            <a:r>
              <a:rPr baseline="-25000" lang="en"/>
              <a:t>Clos</a:t>
            </a:r>
            <a:r>
              <a:rPr lang="en"/>
              <a:t>)</a:t>
            </a:r>
            <a:endParaRPr/>
          </a:p>
        </p:txBody>
      </p:sp>
      <p:sp>
        <p:nvSpPr>
          <p:cNvPr id="5941" name="Google Shape;5941;p331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42" name="Google Shape;5942;p331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43" name="Google Shape;5943;p331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44" name="Google Shape;5944;p331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45" name="Google Shape;5945;p331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46" name="Google Shape;5946;p331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47" name="Google Shape;5947;p331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48" name="Google Shape;5948;p331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49" name="Google Shape;5949;p331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0" name="Google Shape;5950;p331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1" name="Google Shape;5951;p331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2" name="Google Shape;5952;p331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3" name="Google Shape;5953;p331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4" name="Google Shape;5954;p331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5" name="Google Shape;5955;p331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6" name="Google Shape;5956;p331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7" name="Google Shape;5957;p331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8" name="Google Shape;5958;p331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59" name="Google Shape;5959;p331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5960" name="Google Shape;5960;p331"/>
          <p:cNvCxnSpPr>
            <a:stCxn id="5959" idx="2"/>
            <a:endCxn id="5958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1" name="Google Shape;5961;p331"/>
          <p:cNvCxnSpPr>
            <a:stCxn id="5957" idx="0"/>
            <a:endCxn id="5958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2" name="Google Shape;5962;p331"/>
          <p:cNvCxnSpPr>
            <a:stCxn id="5956" idx="2"/>
            <a:endCxn id="5957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3" name="Google Shape;5963;p331"/>
          <p:cNvCxnSpPr>
            <a:stCxn id="5956" idx="2"/>
            <a:endCxn id="5952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4" name="Google Shape;5964;p331"/>
          <p:cNvCxnSpPr>
            <a:stCxn id="5956" idx="2"/>
            <a:endCxn id="5955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5" name="Google Shape;5965;p331"/>
          <p:cNvCxnSpPr>
            <a:stCxn id="5955" idx="2"/>
            <a:endCxn id="5952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6" name="Google Shape;5966;p331"/>
          <p:cNvCxnSpPr>
            <a:stCxn id="5955" idx="1"/>
            <a:endCxn id="5951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7" name="Google Shape;5967;p331"/>
          <p:cNvCxnSpPr>
            <a:stCxn id="5954" idx="0"/>
            <a:endCxn id="5952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8" name="Google Shape;5968;p331"/>
          <p:cNvCxnSpPr>
            <a:stCxn id="5953" idx="7"/>
            <a:endCxn id="5952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9" name="Google Shape;5969;p331"/>
          <p:cNvCxnSpPr>
            <a:stCxn id="5954" idx="1"/>
            <a:endCxn id="5953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0" name="Google Shape;5970;p331"/>
          <p:cNvCxnSpPr>
            <a:stCxn id="5952" idx="2"/>
            <a:endCxn id="5950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1" name="Google Shape;5971;p331"/>
          <p:cNvCxnSpPr>
            <a:stCxn id="5953" idx="0"/>
            <a:endCxn id="5950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2" name="Google Shape;5972;p331"/>
          <p:cNvCxnSpPr>
            <a:stCxn id="5952" idx="0"/>
            <a:endCxn id="5951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3" name="Google Shape;5973;p331"/>
          <p:cNvCxnSpPr>
            <a:stCxn id="5950" idx="7"/>
            <a:endCxn id="5951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4" name="Google Shape;5974;p331"/>
          <p:cNvCxnSpPr>
            <a:stCxn id="5950" idx="2"/>
            <a:endCxn id="5948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5" name="Google Shape;5975;p331"/>
          <p:cNvCxnSpPr>
            <a:stCxn id="5949" idx="0"/>
            <a:endCxn id="5948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6" name="Google Shape;5976;p331"/>
          <p:cNvCxnSpPr>
            <a:stCxn id="5948" idx="3"/>
            <a:endCxn id="5947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7" name="Google Shape;5977;p331"/>
          <p:cNvCxnSpPr>
            <a:stCxn id="5946" idx="5"/>
            <a:endCxn id="5947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8" name="Google Shape;5978;p331"/>
          <p:cNvCxnSpPr>
            <a:stCxn id="5943" idx="4"/>
            <a:endCxn id="5946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9" name="Google Shape;5979;p331"/>
          <p:cNvCxnSpPr>
            <a:stCxn id="5948" idx="1"/>
            <a:endCxn id="5943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0" name="Google Shape;5980;p331"/>
          <p:cNvCxnSpPr>
            <a:stCxn id="5946" idx="2"/>
            <a:endCxn id="5945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1" name="Google Shape;5981;p331"/>
          <p:cNvCxnSpPr>
            <a:stCxn id="5946" idx="0"/>
            <a:endCxn id="5944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2" name="Google Shape;5982;p331"/>
          <p:cNvCxnSpPr>
            <a:stCxn id="5944" idx="3"/>
            <a:endCxn id="5945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3" name="Google Shape;5983;p331"/>
          <p:cNvCxnSpPr>
            <a:stCxn id="5941" idx="4"/>
            <a:endCxn id="5945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4" name="Google Shape;5984;p331"/>
          <p:cNvCxnSpPr>
            <a:stCxn id="5942" idx="2"/>
            <a:endCxn id="5941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5" name="Google Shape;5985;p331"/>
          <p:cNvCxnSpPr>
            <a:stCxn id="5942" idx="3"/>
            <a:endCxn id="5944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6" name="Google Shape;5986;p331"/>
          <p:cNvCxnSpPr>
            <a:stCxn id="5943" idx="2"/>
            <a:endCxn id="5941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7" name="Google Shape;5987;p331"/>
          <p:cNvCxnSpPr>
            <a:stCxn id="5943" idx="1"/>
            <a:endCxn id="5942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8" name="Google Shape;5988;p331"/>
          <p:cNvCxnSpPr>
            <a:stCxn id="5943" idx="2"/>
            <a:endCxn id="5944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89" name="Google Shape;5989;p331"/>
          <p:cNvCxnSpPr>
            <a:stCxn id="5944" idx="1"/>
            <a:endCxn id="5941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90" name="Google Shape;5990;p331"/>
          <p:cNvCxnSpPr>
            <a:stCxn id="5952" idx="6"/>
            <a:endCxn id="5957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991" name="Google Shape;5991;p331"/>
          <p:cNvSpPr txBox="1"/>
          <p:nvPr/>
        </p:nvSpPr>
        <p:spPr>
          <a:xfrm>
            <a:off x="3513413" y="1147225"/>
            <a:ext cx="987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SP(p--a) =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SP(p--b)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SP(p--c)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SP(p--d)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SP(p--e)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SP(p--f)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SP(p--g)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SP(p--h)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SP(p--i) =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5992" name="Google Shape;5992;p331"/>
          <p:cNvSpPr txBox="1"/>
          <p:nvPr/>
        </p:nvSpPr>
        <p:spPr>
          <a:xfrm>
            <a:off x="4515975" y="1147225"/>
            <a:ext cx="987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SP(p--j)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SP(p--k)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SP(p--l)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SP(p--m)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SP(p--n)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SP(p--o)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SP(p--q)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SP(p--r)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SP(p--s) =</a:t>
            </a:r>
            <a:endParaRPr b="1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96" name="Shape 5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7" name="Google Shape;5997;p33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Closeness (C</a:t>
            </a:r>
            <a:r>
              <a:rPr baseline="-25000" lang="en"/>
              <a:t>Clos</a:t>
            </a:r>
            <a:r>
              <a:rPr lang="en"/>
              <a:t>)</a:t>
            </a:r>
            <a:endParaRPr/>
          </a:p>
        </p:txBody>
      </p:sp>
      <p:sp>
        <p:nvSpPr>
          <p:cNvPr id="5998" name="Google Shape;5998;p332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999" name="Google Shape;5999;p332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0" name="Google Shape;6000;p332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1" name="Google Shape;6001;p332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2" name="Google Shape;6002;p332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3" name="Google Shape;6003;p332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4" name="Google Shape;6004;p332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5" name="Google Shape;6005;p332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6" name="Google Shape;6006;p332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7" name="Google Shape;6007;p332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8" name="Google Shape;6008;p332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09" name="Google Shape;6009;p332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10" name="Google Shape;6010;p332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11" name="Google Shape;6011;p332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12" name="Google Shape;6012;p332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13" name="Google Shape;6013;p332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14" name="Google Shape;6014;p332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15" name="Google Shape;6015;p332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16" name="Google Shape;6016;p332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017" name="Google Shape;6017;p332"/>
          <p:cNvCxnSpPr>
            <a:stCxn id="6016" idx="2"/>
            <a:endCxn id="6015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18" name="Google Shape;6018;p332"/>
          <p:cNvCxnSpPr>
            <a:stCxn id="6014" idx="0"/>
            <a:endCxn id="6015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19" name="Google Shape;6019;p332"/>
          <p:cNvCxnSpPr>
            <a:stCxn id="6013" idx="2"/>
            <a:endCxn id="6014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0" name="Google Shape;6020;p332"/>
          <p:cNvCxnSpPr>
            <a:stCxn id="6013" idx="2"/>
            <a:endCxn id="6009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1" name="Google Shape;6021;p332"/>
          <p:cNvCxnSpPr>
            <a:stCxn id="6013" idx="2"/>
            <a:endCxn id="6012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2" name="Google Shape;6022;p332"/>
          <p:cNvCxnSpPr>
            <a:stCxn id="6012" idx="2"/>
            <a:endCxn id="6009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3" name="Google Shape;6023;p332"/>
          <p:cNvCxnSpPr>
            <a:stCxn id="6012" idx="1"/>
            <a:endCxn id="6008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4" name="Google Shape;6024;p332"/>
          <p:cNvCxnSpPr>
            <a:stCxn id="6011" idx="0"/>
            <a:endCxn id="6009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5" name="Google Shape;6025;p332"/>
          <p:cNvCxnSpPr>
            <a:stCxn id="6010" idx="7"/>
            <a:endCxn id="6009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6" name="Google Shape;6026;p332"/>
          <p:cNvCxnSpPr>
            <a:stCxn id="6011" idx="1"/>
            <a:endCxn id="6010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7" name="Google Shape;6027;p332"/>
          <p:cNvCxnSpPr>
            <a:stCxn id="6009" idx="2"/>
            <a:endCxn id="6007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8" name="Google Shape;6028;p332"/>
          <p:cNvCxnSpPr>
            <a:stCxn id="6010" idx="0"/>
            <a:endCxn id="6007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29" name="Google Shape;6029;p332"/>
          <p:cNvCxnSpPr>
            <a:stCxn id="6009" idx="0"/>
            <a:endCxn id="6008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0" name="Google Shape;6030;p332"/>
          <p:cNvCxnSpPr>
            <a:stCxn id="6007" idx="7"/>
            <a:endCxn id="6008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1" name="Google Shape;6031;p332"/>
          <p:cNvCxnSpPr>
            <a:stCxn id="6007" idx="2"/>
            <a:endCxn id="6005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2" name="Google Shape;6032;p332"/>
          <p:cNvCxnSpPr>
            <a:stCxn id="6006" idx="0"/>
            <a:endCxn id="6005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3" name="Google Shape;6033;p332"/>
          <p:cNvCxnSpPr>
            <a:stCxn id="6005" idx="3"/>
            <a:endCxn id="6004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4" name="Google Shape;6034;p332"/>
          <p:cNvCxnSpPr>
            <a:stCxn id="6003" idx="5"/>
            <a:endCxn id="6004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5" name="Google Shape;6035;p332"/>
          <p:cNvCxnSpPr>
            <a:stCxn id="6000" idx="4"/>
            <a:endCxn id="6003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6" name="Google Shape;6036;p332"/>
          <p:cNvCxnSpPr>
            <a:stCxn id="6005" idx="1"/>
            <a:endCxn id="6000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7" name="Google Shape;6037;p332"/>
          <p:cNvCxnSpPr>
            <a:stCxn id="6003" idx="2"/>
            <a:endCxn id="6002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8" name="Google Shape;6038;p332"/>
          <p:cNvCxnSpPr>
            <a:stCxn id="6003" idx="0"/>
            <a:endCxn id="6001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39" name="Google Shape;6039;p332"/>
          <p:cNvCxnSpPr>
            <a:stCxn id="6001" idx="3"/>
            <a:endCxn id="6002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40" name="Google Shape;6040;p332"/>
          <p:cNvCxnSpPr>
            <a:stCxn id="5998" idx="4"/>
            <a:endCxn id="6002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41" name="Google Shape;6041;p332"/>
          <p:cNvCxnSpPr>
            <a:stCxn id="5999" idx="2"/>
            <a:endCxn id="5998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42" name="Google Shape;6042;p332"/>
          <p:cNvCxnSpPr>
            <a:stCxn id="5999" idx="3"/>
            <a:endCxn id="6001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43" name="Google Shape;6043;p332"/>
          <p:cNvCxnSpPr>
            <a:stCxn id="6000" idx="2"/>
            <a:endCxn id="5998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44" name="Google Shape;6044;p332"/>
          <p:cNvCxnSpPr>
            <a:stCxn id="6000" idx="1"/>
            <a:endCxn id="5999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45" name="Google Shape;6045;p332"/>
          <p:cNvCxnSpPr>
            <a:stCxn id="6000" idx="2"/>
            <a:endCxn id="6001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46" name="Google Shape;6046;p332"/>
          <p:cNvCxnSpPr>
            <a:stCxn id="6001" idx="1"/>
            <a:endCxn id="5998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47" name="Google Shape;6047;p332"/>
          <p:cNvCxnSpPr>
            <a:stCxn id="6009" idx="6"/>
            <a:endCxn id="6014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048" name="Google Shape;6048;p332"/>
          <p:cNvSpPr txBox="1"/>
          <p:nvPr/>
        </p:nvSpPr>
        <p:spPr>
          <a:xfrm>
            <a:off x="3513413" y="1147225"/>
            <a:ext cx="987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SP(p--a) = 5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SP(p--b)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SP(p--c)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SP(p--d)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SP(p--e)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SP(p--f)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SP(p--g)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SP(p--h)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SP(p--i) =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049" name="Google Shape;6049;p332"/>
          <p:cNvSpPr txBox="1"/>
          <p:nvPr/>
        </p:nvSpPr>
        <p:spPr>
          <a:xfrm>
            <a:off x="4515975" y="1147225"/>
            <a:ext cx="987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SP(p--j)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SP(p--k)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SP(p--l)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SP(p--m)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SP(p--n)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SP(p--o)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SP(p--q)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SP(p--r)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SP(p--s)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53" name="Shape 6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4" name="Google Shape;6054;p33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Closeness (C</a:t>
            </a:r>
            <a:r>
              <a:rPr baseline="-25000" lang="en"/>
              <a:t>Clos</a:t>
            </a:r>
            <a:r>
              <a:rPr lang="en"/>
              <a:t>)</a:t>
            </a:r>
            <a:endParaRPr/>
          </a:p>
        </p:txBody>
      </p:sp>
      <p:sp>
        <p:nvSpPr>
          <p:cNvPr id="6055" name="Google Shape;6055;p333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56" name="Google Shape;6056;p333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57" name="Google Shape;6057;p333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58" name="Google Shape;6058;p333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59" name="Google Shape;6059;p333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0" name="Google Shape;6060;p333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1" name="Google Shape;6061;p333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2" name="Google Shape;6062;p333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3" name="Google Shape;6063;p333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4" name="Google Shape;6064;p333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5" name="Google Shape;6065;p333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6" name="Google Shape;6066;p333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7" name="Google Shape;6067;p333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8" name="Google Shape;6068;p333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69" name="Google Shape;6069;p333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70" name="Google Shape;6070;p333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71" name="Google Shape;6071;p333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72" name="Google Shape;6072;p333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073" name="Google Shape;6073;p333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074" name="Google Shape;6074;p333"/>
          <p:cNvCxnSpPr>
            <a:stCxn id="6073" idx="2"/>
            <a:endCxn id="6072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75" name="Google Shape;6075;p333"/>
          <p:cNvCxnSpPr>
            <a:stCxn id="6071" idx="0"/>
            <a:endCxn id="6072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76" name="Google Shape;6076;p333"/>
          <p:cNvCxnSpPr>
            <a:stCxn id="6070" idx="2"/>
            <a:endCxn id="6071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77" name="Google Shape;6077;p333"/>
          <p:cNvCxnSpPr>
            <a:stCxn id="6070" idx="2"/>
            <a:endCxn id="6066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78" name="Google Shape;6078;p333"/>
          <p:cNvCxnSpPr>
            <a:stCxn id="6070" idx="2"/>
            <a:endCxn id="6069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79" name="Google Shape;6079;p333"/>
          <p:cNvCxnSpPr>
            <a:stCxn id="6069" idx="2"/>
            <a:endCxn id="6066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0" name="Google Shape;6080;p333"/>
          <p:cNvCxnSpPr>
            <a:stCxn id="6069" idx="1"/>
            <a:endCxn id="6065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1" name="Google Shape;6081;p333"/>
          <p:cNvCxnSpPr>
            <a:stCxn id="6068" idx="0"/>
            <a:endCxn id="6066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2" name="Google Shape;6082;p333"/>
          <p:cNvCxnSpPr>
            <a:stCxn id="6067" idx="7"/>
            <a:endCxn id="6066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3" name="Google Shape;6083;p333"/>
          <p:cNvCxnSpPr>
            <a:stCxn id="6068" idx="1"/>
            <a:endCxn id="6067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4" name="Google Shape;6084;p333"/>
          <p:cNvCxnSpPr>
            <a:stCxn id="6066" idx="2"/>
            <a:endCxn id="6064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5" name="Google Shape;6085;p333"/>
          <p:cNvCxnSpPr>
            <a:stCxn id="6067" idx="0"/>
            <a:endCxn id="6064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6" name="Google Shape;6086;p333"/>
          <p:cNvCxnSpPr>
            <a:stCxn id="6066" idx="0"/>
            <a:endCxn id="6065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7" name="Google Shape;6087;p333"/>
          <p:cNvCxnSpPr>
            <a:stCxn id="6064" idx="7"/>
            <a:endCxn id="6065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8" name="Google Shape;6088;p333"/>
          <p:cNvCxnSpPr>
            <a:stCxn id="6064" idx="2"/>
            <a:endCxn id="6062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89" name="Google Shape;6089;p333"/>
          <p:cNvCxnSpPr>
            <a:stCxn id="6063" idx="0"/>
            <a:endCxn id="6062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0" name="Google Shape;6090;p333"/>
          <p:cNvCxnSpPr>
            <a:stCxn id="6062" idx="3"/>
            <a:endCxn id="6061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1" name="Google Shape;6091;p333"/>
          <p:cNvCxnSpPr>
            <a:stCxn id="6060" idx="5"/>
            <a:endCxn id="6061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2" name="Google Shape;6092;p333"/>
          <p:cNvCxnSpPr>
            <a:stCxn id="6057" idx="4"/>
            <a:endCxn id="6060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3" name="Google Shape;6093;p333"/>
          <p:cNvCxnSpPr>
            <a:stCxn id="6062" idx="1"/>
            <a:endCxn id="6057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4" name="Google Shape;6094;p333"/>
          <p:cNvCxnSpPr>
            <a:stCxn id="6060" idx="2"/>
            <a:endCxn id="6059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5" name="Google Shape;6095;p333"/>
          <p:cNvCxnSpPr>
            <a:stCxn id="6060" idx="0"/>
            <a:endCxn id="6058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6" name="Google Shape;6096;p333"/>
          <p:cNvCxnSpPr>
            <a:stCxn id="6058" idx="3"/>
            <a:endCxn id="6059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7" name="Google Shape;6097;p333"/>
          <p:cNvCxnSpPr>
            <a:stCxn id="6055" idx="4"/>
            <a:endCxn id="6059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8" name="Google Shape;6098;p333"/>
          <p:cNvCxnSpPr>
            <a:stCxn id="6056" idx="2"/>
            <a:endCxn id="6055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99" name="Google Shape;6099;p333"/>
          <p:cNvCxnSpPr>
            <a:stCxn id="6056" idx="3"/>
            <a:endCxn id="6058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00" name="Google Shape;6100;p333"/>
          <p:cNvCxnSpPr>
            <a:stCxn id="6057" idx="2"/>
            <a:endCxn id="6055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01" name="Google Shape;6101;p333"/>
          <p:cNvCxnSpPr>
            <a:stCxn id="6057" idx="1"/>
            <a:endCxn id="6056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02" name="Google Shape;6102;p333"/>
          <p:cNvCxnSpPr>
            <a:stCxn id="6057" idx="2"/>
            <a:endCxn id="6058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03" name="Google Shape;6103;p333"/>
          <p:cNvCxnSpPr>
            <a:stCxn id="6058" idx="1"/>
            <a:endCxn id="6055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04" name="Google Shape;6104;p333"/>
          <p:cNvCxnSpPr>
            <a:stCxn id="6066" idx="6"/>
            <a:endCxn id="6071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105" name="Google Shape;6105;p333"/>
          <p:cNvSpPr txBox="1"/>
          <p:nvPr/>
        </p:nvSpPr>
        <p:spPr>
          <a:xfrm>
            <a:off x="3513413" y="1147225"/>
            <a:ext cx="987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SP(p--a) = 5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SP(p--b) = 4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SP(p--c)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SP(p--d)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SP(p--e)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SP(p--f)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SP(p--g)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SP(p--h)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SP(p--i) =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106" name="Google Shape;6106;p333"/>
          <p:cNvSpPr txBox="1"/>
          <p:nvPr/>
        </p:nvSpPr>
        <p:spPr>
          <a:xfrm>
            <a:off x="4515975" y="1147225"/>
            <a:ext cx="987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SP(p--j)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SP(p--k)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SP(p--l)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SP(p--m)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SP(p--n)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SP(p--o)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SP(p--q)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SP(p--r)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SP(p--s) =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10" name="Shape 6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1" name="Google Shape;6111;p33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Closeness (C</a:t>
            </a:r>
            <a:r>
              <a:rPr baseline="-25000" lang="en"/>
              <a:t>Clos</a:t>
            </a:r>
            <a:r>
              <a:rPr lang="en"/>
              <a:t>)</a:t>
            </a:r>
            <a:endParaRPr/>
          </a:p>
        </p:txBody>
      </p:sp>
      <p:sp>
        <p:nvSpPr>
          <p:cNvPr id="6112" name="Google Shape;6112;p334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13" name="Google Shape;6113;p334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14" name="Google Shape;6114;p334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15" name="Google Shape;6115;p334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16" name="Google Shape;6116;p334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17" name="Google Shape;6117;p334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18" name="Google Shape;6118;p334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19" name="Google Shape;6119;p334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0" name="Google Shape;6120;p334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1" name="Google Shape;6121;p334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2" name="Google Shape;6122;p334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3" name="Google Shape;6123;p334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4" name="Google Shape;6124;p334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5" name="Google Shape;6125;p334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6" name="Google Shape;6126;p334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7" name="Google Shape;6127;p334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8" name="Google Shape;6128;p334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29" name="Google Shape;6129;p334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30" name="Google Shape;6130;p334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131" name="Google Shape;6131;p334"/>
          <p:cNvCxnSpPr>
            <a:stCxn id="6130" idx="2"/>
            <a:endCxn id="6129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32" name="Google Shape;6132;p334"/>
          <p:cNvCxnSpPr>
            <a:stCxn id="6128" idx="0"/>
            <a:endCxn id="6129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33" name="Google Shape;6133;p334"/>
          <p:cNvCxnSpPr>
            <a:stCxn id="6127" idx="2"/>
            <a:endCxn id="6128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34" name="Google Shape;6134;p334"/>
          <p:cNvCxnSpPr>
            <a:stCxn id="6127" idx="2"/>
            <a:endCxn id="6123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35" name="Google Shape;6135;p334"/>
          <p:cNvCxnSpPr>
            <a:stCxn id="6127" idx="2"/>
            <a:endCxn id="6126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36" name="Google Shape;6136;p334"/>
          <p:cNvCxnSpPr>
            <a:stCxn id="6126" idx="2"/>
            <a:endCxn id="6123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37" name="Google Shape;6137;p334"/>
          <p:cNvCxnSpPr>
            <a:stCxn id="6126" idx="1"/>
            <a:endCxn id="6122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38" name="Google Shape;6138;p334"/>
          <p:cNvCxnSpPr>
            <a:stCxn id="6125" idx="0"/>
            <a:endCxn id="6123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39" name="Google Shape;6139;p334"/>
          <p:cNvCxnSpPr>
            <a:stCxn id="6124" idx="7"/>
            <a:endCxn id="6123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0" name="Google Shape;6140;p334"/>
          <p:cNvCxnSpPr>
            <a:stCxn id="6125" idx="1"/>
            <a:endCxn id="6124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1" name="Google Shape;6141;p334"/>
          <p:cNvCxnSpPr>
            <a:stCxn id="6123" idx="2"/>
            <a:endCxn id="6121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2" name="Google Shape;6142;p334"/>
          <p:cNvCxnSpPr>
            <a:stCxn id="6124" idx="0"/>
            <a:endCxn id="6121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3" name="Google Shape;6143;p334"/>
          <p:cNvCxnSpPr>
            <a:stCxn id="6123" idx="0"/>
            <a:endCxn id="6122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4" name="Google Shape;6144;p334"/>
          <p:cNvCxnSpPr>
            <a:stCxn id="6121" idx="7"/>
            <a:endCxn id="6122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5" name="Google Shape;6145;p334"/>
          <p:cNvCxnSpPr>
            <a:stCxn id="6121" idx="2"/>
            <a:endCxn id="6119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6" name="Google Shape;6146;p334"/>
          <p:cNvCxnSpPr>
            <a:stCxn id="6120" idx="0"/>
            <a:endCxn id="6119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7" name="Google Shape;6147;p334"/>
          <p:cNvCxnSpPr>
            <a:stCxn id="6119" idx="3"/>
            <a:endCxn id="6118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8" name="Google Shape;6148;p334"/>
          <p:cNvCxnSpPr>
            <a:stCxn id="6117" idx="5"/>
            <a:endCxn id="6118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49" name="Google Shape;6149;p334"/>
          <p:cNvCxnSpPr>
            <a:stCxn id="6114" idx="4"/>
            <a:endCxn id="6117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0" name="Google Shape;6150;p334"/>
          <p:cNvCxnSpPr>
            <a:stCxn id="6119" idx="1"/>
            <a:endCxn id="6114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1" name="Google Shape;6151;p334"/>
          <p:cNvCxnSpPr>
            <a:stCxn id="6117" idx="2"/>
            <a:endCxn id="6116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2" name="Google Shape;6152;p334"/>
          <p:cNvCxnSpPr>
            <a:stCxn id="6117" idx="0"/>
            <a:endCxn id="6115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3" name="Google Shape;6153;p334"/>
          <p:cNvCxnSpPr>
            <a:stCxn id="6115" idx="3"/>
            <a:endCxn id="6116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4" name="Google Shape;6154;p334"/>
          <p:cNvCxnSpPr>
            <a:stCxn id="6112" idx="4"/>
            <a:endCxn id="6116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5" name="Google Shape;6155;p334"/>
          <p:cNvCxnSpPr>
            <a:stCxn id="6113" idx="2"/>
            <a:endCxn id="6112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6" name="Google Shape;6156;p334"/>
          <p:cNvCxnSpPr>
            <a:stCxn id="6113" idx="3"/>
            <a:endCxn id="6115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7" name="Google Shape;6157;p334"/>
          <p:cNvCxnSpPr>
            <a:stCxn id="6114" idx="2"/>
            <a:endCxn id="6112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8" name="Google Shape;6158;p334"/>
          <p:cNvCxnSpPr>
            <a:stCxn id="6114" idx="1"/>
            <a:endCxn id="6113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59" name="Google Shape;6159;p334"/>
          <p:cNvCxnSpPr>
            <a:stCxn id="6114" idx="2"/>
            <a:endCxn id="6115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60" name="Google Shape;6160;p334"/>
          <p:cNvCxnSpPr>
            <a:stCxn id="6115" idx="1"/>
            <a:endCxn id="6112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61" name="Google Shape;6161;p334"/>
          <p:cNvCxnSpPr>
            <a:stCxn id="6123" idx="6"/>
            <a:endCxn id="6128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162" name="Google Shape;6162;p334"/>
          <p:cNvSpPr txBox="1"/>
          <p:nvPr/>
        </p:nvSpPr>
        <p:spPr>
          <a:xfrm>
            <a:off x="3513413" y="1147225"/>
            <a:ext cx="987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SP(p--a) = 5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SP(p--b) = 4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SP(p--c) = 3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SP(p--d) = 4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SP(p--e) = 4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SP(p--f) = 4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SP(p--g) = 3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SP(p--h) = 2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SP(p--i) = 1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163" name="Google Shape;6163;p334"/>
          <p:cNvSpPr txBox="1"/>
          <p:nvPr/>
        </p:nvSpPr>
        <p:spPr>
          <a:xfrm>
            <a:off x="4515975" y="1147225"/>
            <a:ext cx="987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SP(p--j) = 1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SP(p--k) = 1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SP(p--l) = 2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SP(p--m) = 2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SP(p--n) = 2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SP(p--o) = 2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SP(p--q) = 3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SP(p--r) = 3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SP(p--s) = 4</a:t>
            </a:r>
            <a:endParaRPr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7" name="Shape 6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8" name="Google Shape;6168;p33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Closeness (C</a:t>
            </a:r>
            <a:r>
              <a:rPr baseline="-25000" lang="en"/>
              <a:t>Clos</a:t>
            </a:r>
            <a:r>
              <a:rPr lang="en"/>
              <a:t>)</a:t>
            </a:r>
            <a:endParaRPr/>
          </a:p>
        </p:txBody>
      </p:sp>
      <p:sp>
        <p:nvSpPr>
          <p:cNvPr id="6169" name="Google Shape;6169;p335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0" name="Google Shape;6170;p335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1" name="Google Shape;6171;p335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2" name="Google Shape;6172;p335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3" name="Google Shape;6173;p335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4" name="Google Shape;6174;p335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5" name="Google Shape;6175;p335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6" name="Google Shape;6176;p335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7" name="Google Shape;6177;p335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8" name="Google Shape;6178;p335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79" name="Google Shape;6179;p335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80" name="Google Shape;6180;p335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81" name="Google Shape;6181;p335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82" name="Google Shape;6182;p335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83" name="Google Shape;6183;p335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84" name="Google Shape;6184;p335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85" name="Google Shape;6185;p335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86" name="Google Shape;6186;p335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187" name="Google Shape;6187;p335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188" name="Google Shape;6188;p335"/>
          <p:cNvCxnSpPr>
            <a:stCxn id="6187" idx="2"/>
            <a:endCxn id="6186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89" name="Google Shape;6189;p335"/>
          <p:cNvCxnSpPr>
            <a:stCxn id="6185" idx="0"/>
            <a:endCxn id="6186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0" name="Google Shape;6190;p335"/>
          <p:cNvCxnSpPr>
            <a:stCxn id="6184" idx="2"/>
            <a:endCxn id="6185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1" name="Google Shape;6191;p335"/>
          <p:cNvCxnSpPr>
            <a:stCxn id="6184" idx="2"/>
            <a:endCxn id="6180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2" name="Google Shape;6192;p335"/>
          <p:cNvCxnSpPr>
            <a:stCxn id="6184" idx="2"/>
            <a:endCxn id="6183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3" name="Google Shape;6193;p335"/>
          <p:cNvCxnSpPr>
            <a:stCxn id="6183" idx="2"/>
            <a:endCxn id="6180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4" name="Google Shape;6194;p335"/>
          <p:cNvCxnSpPr>
            <a:stCxn id="6183" idx="1"/>
            <a:endCxn id="6179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5" name="Google Shape;6195;p335"/>
          <p:cNvCxnSpPr>
            <a:stCxn id="6182" idx="0"/>
            <a:endCxn id="6180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6" name="Google Shape;6196;p335"/>
          <p:cNvCxnSpPr>
            <a:stCxn id="6181" idx="7"/>
            <a:endCxn id="6180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7" name="Google Shape;6197;p335"/>
          <p:cNvCxnSpPr>
            <a:stCxn id="6182" idx="1"/>
            <a:endCxn id="6181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8" name="Google Shape;6198;p335"/>
          <p:cNvCxnSpPr>
            <a:stCxn id="6180" idx="2"/>
            <a:endCxn id="6178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99" name="Google Shape;6199;p335"/>
          <p:cNvCxnSpPr>
            <a:stCxn id="6181" idx="0"/>
            <a:endCxn id="6178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0" name="Google Shape;6200;p335"/>
          <p:cNvCxnSpPr>
            <a:stCxn id="6180" idx="0"/>
            <a:endCxn id="6179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1" name="Google Shape;6201;p335"/>
          <p:cNvCxnSpPr>
            <a:stCxn id="6178" idx="7"/>
            <a:endCxn id="6179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2" name="Google Shape;6202;p335"/>
          <p:cNvCxnSpPr>
            <a:stCxn id="6178" idx="2"/>
            <a:endCxn id="6176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3" name="Google Shape;6203;p335"/>
          <p:cNvCxnSpPr>
            <a:stCxn id="6177" idx="0"/>
            <a:endCxn id="6176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4" name="Google Shape;6204;p335"/>
          <p:cNvCxnSpPr>
            <a:stCxn id="6176" idx="3"/>
            <a:endCxn id="6175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5" name="Google Shape;6205;p335"/>
          <p:cNvCxnSpPr>
            <a:stCxn id="6174" idx="5"/>
            <a:endCxn id="6175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6" name="Google Shape;6206;p335"/>
          <p:cNvCxnSpPr>
            <a:stCxn id="6171" idx="4"/>
            <a:endCxn id="6174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7" name="Google Shape;6207;p335"/>
          <p:cNvCxnSpPr>
            <a:stCxn id="6176" idx="1"/>
            <a:endCxn id="6171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8" name="Google Shape;6208;p335"/>
          <p:cNvCxnSpPr>
            <a:stCxn id="6174" idx="2"/>
            <a:endCxn id="6173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09" name="Google Shape;6209;p335"/>
          <p:cNvCxnSpPr>
            <a:stCxn id="6174" idx="0"/>
            <a:endCxn id="6172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0" name="Google Shape;6210;p335"/>
          <p:cNvCxnSpPr>
            <a:stCxn id="6172" idx="3"/>
            <a:endCxn id="6173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1" name="Google Shape;6211;p335"/>
          <p:cNvCxnSpPr>
            <a:stCxn id="6169" idx="4"/>
            <a:endCxn id="6173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2" name="Google Shape;6212;p335"/>
          <p:cNvCxnSpPr>
            <a:stCxn id="6170" idx="2"/>
            <a:endCxn id="6169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3" name="Google Shape;6213;p335"/>
          <p:cNvCxnSpPr>
            <a:stCxn id="6170" idx="3"/>
            <a:endCxn id="6172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4" name="Google Shape;6214;p335"/>
          <p:cNvCxnSpPr>
            <a:stCxn id="6171" idx="2"/>
            <a:endCxn id="6169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5" name="Google Shape;6215;p335"/>
          <p:cNvCxnSpPr>
            <a:stCxn id="6171" idx="1"/>
            <a:endCxn id="6170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6" name="Google Shape;6216;p335"/>
          <p:cNvCxnSpPr>
            <a:stCxn id="6171" idx="2"/>
            <a:endCxn id="6172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7" name="Google Shape;6217;p335"/>
          <p:cNvCxnSpPr>
            <a:stCxn id="6172" idx="1"/>
            <a:endCxn id="6169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18" name="Google Shape;6218;p335"/>
          <p:cNvCxnSpPr>
            <a:stCxn id="6180" idx="6"/>
            <a:endCxn id="6185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descr="C_{clos}(i) = N \frac{1}{\sum_j d_{ij}}" id="6219" name="Google Shape;6219;p3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682075" y="1565050"/>
            <a:ext cx="1828801" cy="5594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23" name="Shape 6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4" name="Google Shape;6224;p33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225" name="Google Shape;6225;p336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26" name="Google Shape;6226;p336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27" name="Google Shape;6227;p336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28" name="Google Shape;6228;p336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29" name="Google Shape;6229;p336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0" name="Google Shape;6230;p336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1" name="Google Shape;6231;p336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2" name="Google Shape;6232;p336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3" name="Google Shape;6233;p336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4" name="Google Shape;6234;p336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5" name="Google Shape;6235;p336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6" name="Google Shape;6236;p336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7" name="Google Shape;6237;p336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8" name="Google Shape;6238;p336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39" name="Google Shape;6239;p336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40" name="Google Shape;6240;p336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41" name="Google Shape;6241;p336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42" name="Google Shape;6242;p336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43" name="Google Shape;6243;p336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244" name="Google Shape;6244;p336"/>
          <p:cNvCxnSpPr>
            <a:stCxn id="6243" idx="2"/>
            <a:endCxn id="6242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45" name="Google Shape;6245;p336"/>
          <p:cNvCxnSpPr>
            <a:stCxn id="6241" idx="0"/>
            <a:endCxn id="6242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46" name="Google Shape;6246;p336"/>
          <p:cNvCxnSpPr>
            <a:stCxn id="6240" idx="2"/>
            <a:endCxn id="6241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47" name="Google Shape;6247;p336"/>
          <p:cNvCxnSpPr>
            <a:stCxn id="6240" idx="2"/>
            <a:endCxn id="6236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48" name="Google Shape;6248;p336"/>
          <p:cNvCxnSpPr>
            <a:stCxn id="6240" idx="2"/>
            <a:endCxn id="6239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49" name="Google Shape;6249;p336"/>
          <p:cNvCxnSpPr>
            <a:stCxn id="6239" idx="2"/>
            <a:endCxn id="6236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0" name="Google Shape;6250;p336"/>
          <p:cNvCxnSpPr>
            <a:stCxn id="6239" idx="1"/>
            <a:endCxn id="6235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1" name="Google Shape;6251;p336"/>
          <p:cNvCxnSpPr>
            <a:stCxn id="6238" idx="0"/>
            <a:endCxn id="6236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2" name="Google Shape;6252;p336"/>
          <p:cNvCxnSpPr>
            <a:stCxn id="6237" idx="7"/>
            <a:endCxn id="6236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3" name="Google Shape;6253;p336"/>
          <p:cNvCxnSpPr>
            <a:stCxn id="6238" idx="1"/>
            <a:endCxn id="6237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4" name="Google Shape;6254;p336"/>
          <p:cNvCxnSpPr>
            <a:stCxn id="6236" idx="2"/>
            <a:endCxn id="6234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5" name="Google Shape;6255;p336"/>
          <p:cNvCxnSpPr>
            <a:stCxn id="6237" idx="0"/>
            <a:endCxn id="6234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6" name="Google Shape;6256;p336"/>
          <p:cNvCxnSpPr>
            <a:stCxn id="6236" idx="0"/>
            <a:endCxn id="6235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7" name="Google Shape;6257;p336"/>
          <p:cNvCxnSpPr>
            <a:stCxn id="6234" idx="7"/>
            <a:endCxn id="6235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8" name="Google Shape;6258;p336"/>
          <p:cNvCxnSpPr>
            <a:stCxn id="6234" idx="2"/>
            <a:endCxn id="6232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59" name="Google Shape;6259;p336"/>
          <p:cNvCxnSpPr>
            <a:stCxn id="6233" idx="0"/>
            <a:endCxn id="6232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0" name="Google Shape;6260;p336"/>
          <p:cNvCxnSpPr>
            <a:stCxn id="6232" idx="3"/>
            <a:endCxn id="6231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1" name="Google Shape;6261;p336"/>
          <p:cNvCxnSpPr>
            <a:stCxn id="6230" idx="5"/>
            <a:endCxn id="6231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2" name="Google Shape;6262;p336"/>
          <p:cNvCxnSpPr>
            <a:stCxn id="6227" idx="4"/>
            <a:endCxn id="6230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3" name="Google Shape;6263;p336"/>
          <p:cNvCxnSpPr>
            <a:stCxn id="6232" idx="1"/>
            <a:endCxn id="6227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4" name="Google Shape;6264;p336"/>
          <p:cNvCxnSpPr>
            <a:stCxn id="6230" idx="2"/>
            <a:endCxn id="6229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5" name="Google Shape;6265;p336"/>
          <p:cNvCxnSpPr>
            <a:stCxn id="6230" idx="0"/>
            <a:endCxn id="6228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6" name="Google Shape;6266;p336"/>
          <p:cNvCxnSpPr>
            <a:stCxn id="6228" idx="3"/>
            <a:endCxn id="6229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7" name="Google Shape;6267;p336"/>
          <p:cNvCxnSpPr>
            <a:stCxn id="6225" idx="4"/>
            <a:endCxn id="6229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8" name="Google Shape;6268;p336"/>
          <p:cNvCxnSpPr>
            <a:stCxn id="6226" idx="2"/>
            <a:endCxn id="6225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69" name="Google Shape;6269;p336"/>
          <p:cNvCxnSpPr>
            <a:stCxn id="6226" idx="3"/>
            <a:endCxn id="6228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70" name="Google Shape;6270;p336"/>
          <p:cNvCxnSpPr>
            <a:stCxn id="6227" idx="2"/>
            <a:endCxn id="6225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71" name="Google Shape;6271;p336"/>
          <p:cNvCxnSpPr>
            <a:stCxn id="6227" idx="1"/>
            <a:endCxn id="6226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72" name="Google Shape;6272;p336"/>
          <p:cNvCxnSpPr>
            <a:stCxn id="6227" idx="2"/>
            <a:endCxn id="6228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73" name="Google Shape;6273;p336"/>
          <p:cNvCxnSpPr>
            <a:stCxn id="6228" idx="1"/>
            <a:endCxn id="6225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74" name="Google Shape;6274;p336"/>
          <p:cNvCxnSpPr>
            <a:stCxn id="6236" idx="6"/>
            <a:endCxn id="6241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275" name="Google Shape;6275;p336"/>
          <p:cNvSpPr txBox="1"/>
          <p:nvPr/>
        </p:nvSpPr>
        <p:spPr>
          <a:xfrm>
            <a:off x="2891325" y="1178425"/>
            <a:ext cx="42147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A node that is in the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middle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of the largest number of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shortest paths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indirectly connecting the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other pairs of nodes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in the graph has the largest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betweenness centrality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!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79" name="Shape 6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0" name="Google Shape;6280;p33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281" name="Google Shape;6281;p337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82" name="Google Shape;6282;p337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83" name="Google Shape;6283;p337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84" name="Google Shape;6284;p337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85" name="Google Shape;6285;p337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86" name="Google Shape;6286;p337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87" name="Google Shape;6287;p337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88" name="Google Shape;6288;p337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89" name="Google Shape;6289;p337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0" name="Google Shape;6290;p337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1" name="Google Shape;6291;p337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2" name="Google Shape;6292;p337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3" name="Google Shape;6293;p337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4" name="Google Shape;6294;p337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5" name="Google Shape;6295;p337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6" name="Google Shape;6296;p337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7" name="Google Shape;6297;p337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8" name="Google Shape;6298;p337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299" name="Google Shape;6299;p337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300" name="Google Shape;6300;p337"/>
          <p:cNvCxnSpPr>
            <a:stCxn id="6299" idx="2"/>
            <a:endCxn id="6298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1" name="Google Shape;6301;p337"/>
          <p:cNvCxnSpPr>
            <a:stCxn id="6297" idx="0"/>
            <a:endCxn id="6298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2" name="Google Shape;6302;p337"/>
          <p:cNvCxnSpPr>
            <a:stCxn id="6296" idx="2"/>
            <a:endCxn id="6297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3" name="Google Shape;6303;p337"/>
          <p:cNvCxnSpPr>
            <a:stCxn id="6296" idx="2"/>
            <a:endCxn id="6292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4" name="Google Shape;6304;p337"/>
          <p:cNvCxnSpPr>
            <a:stCxn id="6296" idx="2"/>
            <a:endCxn id="6295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5" name="Google Shape;6305;p337"/>
          <p:cNvCxnSpPr>
            <a:stCxn id="6295" idx="2"/>
            <a:endCxn id="6292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6" name="Google Shape;6306;p337"/>
          <p:cNvCxnSpPr>
            <a:stCxn id="6295" idx="1"/>
            <a:endCxn id="6291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7" name="Google Shape;6307;p337"/>
          <p:cNvCxnSpPr>
            <a:stCxn id="6294" idx="0"/>
            <a:endCxn id="6292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8" name="Google Shape;6308;p337"/>
          <p:cNvCxnSpPr>
            <a:stCxn id="6293" idx="7"/>
            <a:endCxn id="6292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9" name="Google Shape;6309;p337"/>
          <p:cNvCxnSpPr>
            <a:stCxn id="6294" idx="1"/>
            <a:endCxn id="6293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0" name="Google Shape;6310;p337"/>
          <p:cNvCxnSpPr>
            <a:stCxn id="6292" idx="2"/>
            <a:endCxn id="6290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1" name="Google Shape;6311;p337"/>
          <p:cNvCxnSpPr>
            <a:stCxn id="6293" idx="0"/>
            <a:endCxn id="6290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2" name="Google Shape;6312;p337"/>
          <p:cNvCxnSpPr>
            <a:stCxn id="6292" idx="0"/>
            <a:endCxn id="6291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3" name="Google Shape;6313;p337"/>
          <p:cNvCxnSpPr>
            <a:stCxn id="6290" idx="7"/>
            <a:endCxn id="6291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4" name="Google Shape;6314;p337"/>
          <p:cNvCxnSpPr>
            <a:stCxn id="6290" idx="2"/>
            <a:endCxn id="6288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5" name="Google Shape;6315;p337"/>
          <p:cNvCxnSpPr>
            <a:stCxn id="6289" idx="0"/>
            <a:endCxn id="6288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6" name="Google Shape;6316;p337"/>
          <p:cNvCxnSpPr>
            <a:stCxn id="6288" idx="3"/>
            <a:endCxn id="6287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7" name="Google Shape;6317;p337"/>
          <p:cNvCxnSpPr>
            <a:stCxn id="6286" idx="5"/>
            <a:endCxn id="6287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8" name="Google Shape;6318;p337"/>
          <p:cNvCxnSpPr>
            <a:stCxn id="6283" idx="4"/>
            <a:endCxn id="6286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19" name="Google Shape;6319;p337"/>
          <p:cNvCxnSpPr>
            <a:stCxn id="6288" idx="1"/>
            <a:endCxn id="6283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0" name="Google Shape;6320;p337"/>
          <p:cNvCxnSpPr>
            <a:stCxn id="6286" idx="2"/>
            <a:endCxn id="6285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1" name="Google Shape;6321;p337"/>
          <p:cNvCxnSpPr>
            <a:stCxn id="6286" idx="0"/>
            <a:endCxn id="6284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2" name="Google Shape;6322;p337"/>
          <p:cNvCxnSpPr>
            <a:stCxn id="6284" idx="3"/>
            <a:endCxn id="6285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3" name="Google Shape;6323;p337"/>
          <p:cNvCxnSpPr>
            <a:stCxn id="6281" idx="4"/>
            <a:endCxn id="6285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4" name="Google Shape;6324;p337"/>
          <p:cNvCxnSpPr>
            <a:stCxn id="6282" idx="2"/>
            <a:endCxn id="6281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5" name="Google Shape;6325;p337"/>
          <p:cNvCxnSpPr>
            <a:stCxn id="6282" idx="3"/>
            <a:endCxn id="6284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6" name="Google Shape;6326;p337"/>
          <p:cNvCxnSpPr>
            <a:stCxn id="6283" idx="2"/>
            <a:endCxn id="6281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7" name="Google Shape;6327;p337"/>
          <p:cNvCxnSpPr>
            <a:stCxn id="6283" idx="1"/>
            <a:endCxn id="6282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8" name="Google Shape;6328;p337"/>
          <p:cNvCxnSpPr>
            <a:stCxn id="6283" idx="2"/>
            <a:endCxn id="6284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9" name="Google Shape;6329;p337"/>
          <p:cNvCxnSpPr>
            <a:stCxn id="6284" idx="1"/>
            <a:endCxn id="6281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30" name="Google Shape;6330;p337"/>
          <p:cNvCxnSpPr>
            <a:stCxn id="6292" idx="6"/>
            <a:endCxn id="6297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331" name="Google Shape;6331;p337"/>
          <p:cNvSpPr/>
          <p:nvPr/>
        </p:nvSpPr>
        <p:spPr>
          <a:xfrm>
            <a:off x="2807325" y="1196125"/>
            <a:ext cx="34023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In this graph this node has the largest betweenness centrality!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6332" name="Google Shape;6332;p337"/>
          <p:cNvCxnSpPr>
            <a:stCxn id="6331" idx="4"/>
            <a:endCxn id="6288" idx="0"/>
          </p:cNvCxnSpPr>
          <p:nvPr/>
        </p:nvCxnSpPr>
        <p:spPr>
          <a:xfrm flipH="1">
            <a:off x="3867075" y="2027425"/>
            <a:ext cx="641400" cy="1318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36" name="Shape 6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7" name="Google Shape;6337;p33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338" name="Google Shape;6338;p338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39" name="Google Shape;6339;p338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0" name="Google Shape;6340;p338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1" name="Google Shape;6341;p338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2" name="Google Shape;6342;p338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3" name="Google Shape;6343;p338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4" name="Google Shape;6344;p338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5" name="Google Shape;6345;p338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6" name="Google Shape;6346;p338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7" name="Google Shape;6347;p338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8" name="Google Shape;6348;p338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49" name="Google Shape;6349;p338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50" name="Google Shape;6350;p338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51" name="Google Shape;6351;p338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52" name="Google Shape;6352;p338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53" name="Google Shape;6353;p338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54" name="Google Shape;6354;p338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55" name="Google Shape;6355;p338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56" name="Google Shape;6356;p338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357" name="Google Shape;6357;p338"/>
          <p:cNvCxnSpPr>
            <a:stCxn id="6356" idx="2"/>
            <a:endCxn id="6355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58" name="Google Shape;6358;p338"/>
          <p:cNvCxnSpPr>
            <a:stCxn id="6354" idx="0"/>
            <a:endCxn id="6355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59" name="Google Shape;6359;p338"/>
          <p:cNvCxnSpPr>
            <a:stCxn id="6353" idx="2"/>
            <a:endCxn id="6354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0" name="Google Shape;6360;p338"/>
          <p:cNvCxnSpPr>
            <a:stCxn id="6353" idx="2"/>
            <a:endCxn id="6349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1" name="Google Shape;6361;p338"/>
          <p:cNvCxnSpPr>
            <a:stCxn id="6353" idx="2"/>
            <a:endCxn id="6352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2" name="Google Shape;6362;p338"/>
          <p:cNvCxnSpPr>
            <a:stCxn id="6352" idx="2"/>
            <a:endCxn id="6349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3" name="Google Shape;6363;p338"/>
          <p:cNvCxnSpPr>
            <a:stCxn id="6352" idx="1"/>
            <a:endCxn id="6348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4" name="Google Shape;6364;p338"/>
          <p:cNvCxnSpPr>
            <a:stCxn id="6351" idx="0"/>
            <a:endCxn id="6349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5" name="Google Shape;6365;p338"/>
          <p:cNvCxnSpPr>
            <a:stCxn id="6350" idx="7"/>
            <a:endCxn id="6349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6" name="Google Shape;6366;p338"/>
          <p:cNvCxnSpPr>
            <a:stCxn id="6351" idx="1"/>
            <a:endCxn id="6350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7" name="Google Shape;6367;p338"/>
          <p:cNvCxnSpPr>
            <a:stCxn id="6349" idx="2"/>
            <a:endCxn id="6347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8" name="Google Shape;6368;p338"/>
          <p:cNvCxnSpPr>
            <a:stCxn id="6350" idx="0"/>
            <a:endCxn id="6347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9" name="Google Shape;6369;p338"/>
          <p:cNvCxnSpPr>
            <a:stCxn id="6349" idx="0"/>
            <a:endCxn id="6348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0" name="Google Shape;6370;p338"/>
          <p:cNvCxnSpPr>
            <a:stCxn id="6347" idx="7"/>
            <a:endCxn id="6348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1" name="Google Shape;6371;p338"/>
          <p:cNvCxnSpPr>
            <a:stCxn id="6347" idx="2"/>
            <a:endCxn id="6345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2" name="Google Shape;6372;p338"/>
          <p:cNvCxnSpPr>
            <a:stCxn id="6346" idx="0"/>
            <a:endCxn id="6345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3" name="Google Shape;6373;p338"/>
          <p:cNvCxnSpPr>
            <a:stCxn id="6345" idx="3"/>
            <a:endCxn id="6344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4" name="Google Shape;6374;p338"/>
          <p:cNvCxnSpPr>
            <a:stCxn id="6343" idx="5"/>
            <a:endCxn id="6344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5" name="Google Shape;6375;p338"/>
          <p:cNvCxnSpPr>
            <a:stCxn id="6340" idx="4"/>
            <a:endCxn id="6343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6" name="Google Shape;6376;p338"/>
          <p:cNvCxnSpPr>
            <a:stCxn id="6345" idx="1"/>
            <a:endCxn id="6340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7" name="Google Shape;6377;p338"/>
          <p:cNvCxnSpPr>
            <a:stCxn id="6343" idx="2"/>
            <a:endCxn id="6342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8" name="Google Shape;6378;p338"/>
          <p:cNvCxnSpPr>
            <a:stCxn id="6343" idx="0"/>
            <a:endCxn id="6341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79" name="Google Shape;6379;p338"/>
          <p:cNvCxnSpPr>
            <a:stCxn id="6341" idx="3"/>
            <a:endCxn id="6342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80" name="Google Shape;6380;p338"/>
          <p:cNvCxnSpPr>
            <a:stCxn id="6338" idx="4"/>
            <a:endCxn id="6342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81" name="Google Shape;6381;p338"/>
          <p:cNvCxnSpPr>
            <a:stCxn id="6339" idx="2"/>
            <a:endCxn id="6338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82" name="Google Shape;6382;p338"/>
          <p:cNvCxnSpPr>
            <a:stCxn id="6339" idx="3"/>
            <a:endCxn id="6341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83" name="Google Shape;6383;p338"/>
          <p:cNvCxnSpPr>
            <a:stCxn id="6340" idx="2"/>
            <a:endCxn id="6338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84" name="Google Shape;6384;p338"/>
          <p:cNvCxnSpPr>
            <a:stCxn id="6340" idx="1"/>
            <a:endCxn id="6339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85" name="Google Shape;6385;p338"/>
          <p:cNvCxnSpPr>
            <a:stCxn id="6340" idx="2"/>
            <a:endCxn id="6341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86" name="Google Shape;6386;p338"/>
          <p:cNvCxnSpPr>
            <a:stCxn id="6341" idx="1"/>
            <a:endCxn id="6338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87" name="Google Shape;6387;p338"/>
          <p:cNvCxnSpPr>
            <a:stCxn id="6349" idx="6"/>
            <a:endCxn id="6354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388" name="Google Shape;6388;p338"/>
          <p:cNvSpPr txBox="1"/>
          <p:nvPr/>
        </p:nvSpPr>
        <p:spPr>
          <a:xfrm>
            <a:off x="2891325" y="1178425"/>
            <a:ext cx="37023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This is the shortest path between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g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and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i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: and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h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is in the middle of it!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92" name="Shape 6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3" name="Google Shape;6393;p33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394" name="Google Shape;6394;p339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95" name="Google Shape;6395;p339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96" name="Google Shape;6396;p339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97" name="Google Shape;6397;p339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98" name="Google Shape;6398;p339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399" name="Google Shape;6399;p339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0" name="Google Shape;6400;p339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1" name="Google Shape;6401;p339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2" name="Google Shape;6402;p339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3" name="Google Shape;6403;p339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4" name="Google Shape;6404;p339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5" name="Google Shape;6405;p339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6" name="Google Shape;6406;p339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7" name="Google Shape;6407;p339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8" name="Google Shape;6408;p339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09" name="Google Shape;6409;p339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10" name="Google Shape;6410;p339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11" name="Google Shape;6411;p339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12" name="Google Shape;6412;p339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413" name="Google Shape;6413;p339"/>
          <p:cNvCxnSpPr>
            <a:stCxn id="6412" idx="2"/>
            <a:endCxn id="6411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14" name="Google Shape;6414;p339"/>
          <p:cNvCxnSpPr>
            <a:stCxn id="6410" idx="0"/>
            <a:endCxn id="6411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15" name="Google Shape;6415;p339"/>
          <p:cNvCxnSpPr>
            <a:stCxn id="6409" idx="2"/>
            <a:endCxn id="6410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16" name="Google Shape;6416;p339"/>
          <p:cNvCxnSpPr>
            <a:stCxn id="6409" idx="2"/>
            <a:endCxn id="6405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17" name="Google Shape;6417;p339"/>
          <p:cNvCxnSpPr>
            <a:stCxn id="6409" idx="2"/>
            <a:endCxn id="6408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18" name="Google Shape;6418;p339"/>
          <p:cNvCxnSpPr>
            <a:stCxn id="6408" idx="2"/>
            <a:endCxn id="6405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19" name="Google Shape;6419;p339"/>
          <p:cNvCxnSpPr>
            <a:stCxn id="6408" idx="1"/>
            <a:endCxn id="6404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0" name="Google Shape;6420;p339"/>
          <p:cNvCxnSpPr>
            <a:stCxn id="6407" idx="0"/>
            <a:endCxn id="6405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1" name="Google Shape;6421;p339"/>
          <p:cNvCxnSpPr>
            <a:stCxn id="6406" idx="7"/>
            <a:endCxn id="6405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2" name="Google Shape;6422;p339"/>
          <p:cNvCxnSpPr>
            <a:stCxn id="6407" idx="1"/>
            <a:endCxn id="6406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3" name="Google Shape;6423;p339"/>
          <p:cNvCxnSpPr>
            <a:stCxn id="6405" idx="2"/>
            <a:endCxn id="6403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4" name="Google Shape;6424;p339"/>
          <p:cNvCxnSpPr>
            <a:stCxn id="6406" idx="0"/>
            <a:endCxn id="6403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5" name="Google Shape;6425;p339"/>
          <p:cNvCxnSpPr>
            <a:stCxn id="6405" idx="0"/>
            <a:endCxn id="6404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6" name="Google Shape;6426;p339"/>
          <p:cNvCxnSpPr>
            <a:stCxn id="6403" idx="7"/>
            <a:endCxn id="6404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7" name="Google Shape;6427;p339"/>
          <p:cNvCxnSpPr>
            <a:stCxn id="6403" idx="2"/>
            <a:endCxn id="6401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8" name="Google Shape;6428;p339"/>
          <p:cNvCxnSpPr>
            <a:stCxn id="6402" idx="0"/>
            <a:endCxn id="6401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29" name="Google Shape;6429;p339"/>
          <p:cNvCxnSpPr>
            <a:stCxn id="6401" idx="3"/>
            <a:endCxn id="6400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0" name="Google Shape;6430;p339"/>
          <p:cNvCxnSpPr>
            <a:stCxn id="6399" idx="5"/>
            <a:endCxn id="6400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1" name="Google Shape;6431;p339"/>
          <p:cNvCxnSpPr>
            <a:stCxn id="6396" idx="4"/>
            <a:endCxn id="6399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2" name="Google Shape;6432;p339"/>
          <p:cNvCxnSpPr>
            <a:stCxn id="6401" idx="1"/>
            <a:endCxn id="6396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3" name="Google Shape;6433;p339"/>
          <p:cNvCxnSpPr>
            <a:stCxn id="6399" idx="2"/>
            <a:endCxn id="6398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4" name="Google Shape;6434;p339"/>
          <p:cNvCxnSpPr>
            <a:stCxn id="6399" idx="0"/>
            <a:endCxn id="6397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5" name="Google Shape;6435;p339"/>
          <p:cNvCxnSpPr>
            <a:stCxn id="6397" idx="3"/>
            <a:endCxn id="6398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6" name="Google Shape;6436;p339"/>
          <p:cNvCxnSpPr>
            <a:stCxn id="6394" idx="4"/>
            <a:endCxn id="6398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7" name="Google Shape;6437;p339"/>
          <p:cNvCxnSpPr>
            <a:stCxn id="6395" idx="2"/>
            <a:endCxn id="6394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8" name="Google Shape;6438;p339"/>
          <p:cNvCxnSpPr>
            <a:stCxn id="6395" idx="3"/>
            <a:endCxn id="6397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39" name="Google Shape;6439;p339"/>
          <p:cNvCxnSpPr>
            <a:stCxn id="6396" idx="2"/>
            <a:endCxn id="6394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40" name="Google Shape;6440;p339"/>
          <p:cNvCxnSpPr>
            <a:stCxn id="6396" idx="1"/>
            <a:endCxn id="6395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41" name="Google Shape;6441;p339"/>
          <p:cNvCxnSpPr>
            <a:stCxn id="6396" idx="2"/>
            <a:endCxn id="6397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42" name="Google Shape;6442;p339"/>
          <p:cNvCxnSpPr>
            <a:stCxn id="6397" idx="1"/>
            <a:endCxn id="6394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43" name="Google Shape;6443;p339"/>
          <p:cNvCxnSpPr>
            <a:stCxn id="6405" idx="6"/>
            <a:endCxn id="6410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444" name="Google Shape;6444;p339"/>
          <p:cNvSpPr txBox="1"/>
          <p:nvPr/>
        </p:nvSpPr>
        <p:spPr>
          <a:xfrm>
            <a:off x="2891325" y="1178425"/>
            <a:ext cx="36804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This is the shortest path between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p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and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c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: and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h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is in the middle of it!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48" name="Shape 6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9" name="Google Shape;6449;p34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450" name="Google Shape;6450;p340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1" name="Google Shape;6451;p340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2" name="Google Shape;6452;p340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3" name="Google Shape;6453;p340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4" name="Google Shape;6454;p340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5" name="Google Shape;6455;p340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6" name="Google Shape;6456;p340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7" name="Google Shape;6457;p340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8" name="Google Shape;6458;p340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59" name="Google Shape;6459;p340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0" name="Google Shape;6460;p340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1" name="Google Shape;6461;p340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2" name="Google Shape;6462;p340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3" name="Google Shape;6463;p340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4" name="Google Shape;6464;p340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5" name="Google Shape;6465;p340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6" name="Google Shape;6466;p340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7" name="Google Shape;6467;p340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468" name="Google Shape;6468;p340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469" name="Google Shape;6469;p340"/>
          <p:cNvCxnSpPr>
            <a:stCxn id="6468" idx="2"/>
            <a:endCxn id="6467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0" name="Google Shape;6470;p340"/>
          <p:cNvCxnSpPr>
            <a:stCxn id="6466" idx="0"/>
            <a:endCxn id="6467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1" name="Google Shape;6471;p340"/>
          <p:cNvCxnSpPr>
            <a:stCxn id="6465" idx="2"/>
            <a:endCxn id="6466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2" name="Google Shape;6472;p340"/>
          <p:cNvCxnSpPr>
            <a:stCxn id="6465" idx="2"/>
            <a:endCxn id="6461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3" name="Google Shape;6473;p340"/>
          <p:cNvCxnSpPr>
            <a:stCxn id="6465" idx="2"/>
            <a:endCxn id="6464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4" name="Google Shape;6474;p340"/>
          <p:cNvCxnSpPr>
            <a:stCxn id="6464" idx="2"/>
            <a:endCxn id="6461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5" name="Google Shape;6475;p340"/>
          <p:cNvCxnSpPr>
            <a:stCxn id="6464" idx="1"/>
            <a:endCxn id="6460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6" name="Google Shape;6476;p340"/>
          <p:cNvCxnSpPr>
            <a:stCxn id="6463" idx="0"/>
            <a:endCxn id="6461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7" name="Google Shape;6477;p340"/>
          <p:cNvCxnSpPr>
            <a:stCxn id="6462" idx="7"/>
            <a:endCxn id="6461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8" name="Google Shape;6478;p340"/>
          <p:cNvCxnSpPr>
            <a:stCxn id="6463" idx="1"/>
            <a:endCxn id="6462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79" name="Google Shape;6479;p340"/>
          <p:cNvCxnSpPr>
            <a:stCxn id="6461" idx="2"/>
            <a:endCxn id="6459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0" name="Google Shape;6480;p340"/>
          <p:cNvCxnSpPr>
            <a:stCxn id="6462" idx="0"/>
            <a:endCxn id="6459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1" name="Google Shape;6481;p340"/>
          <p:cNvCxnSpPr>
            <a:stCxn id="6461" idx="0"/>
            <a:endCxn id="6460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2" name="Google Shape;6482;p340"/>
          <p:cNvCxnSpPr>
            <a:stCxn id="6459" idx="7"/>
            <a:endCxn id="6460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3" name="Google Shape;6483;p340"/>
          <p:cNvCxnSpPr>
            <a:stCxn id="6459" idx="2"/>
            <a:endCxn id="6457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4" name="Google Shape;6484;p340"/>
          <p:cNvCxnSpPr>
            <a:stCxn id="6458" idx="0"/>
            <a:endCxn id="6457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5" name="Google Shape;6485;p340"/>
          <p:cNvCxnSpPr>
            <a:stCxn id="6457" idx="3"/>
            <a:endCxn id="6456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6" name="Google Shape;6486;p340"/>
          <p:cNvCxnSpPr>
            <a:stCxn id="6455" idx="5"/>
            <a:endCxn id="6456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7" name="Google Shape;6487;p340"/>
          <p:cNvCxnSpPr>
            <a:stCxn id="6452" idx="4"/>
            <a:endCxn id="6455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8" name="Google Shape;6488;p340"/>
          <p:cNvCxnSpPr>
            <a:stCxn id="6457" idx="1"/>
            <a:endCxn id="6452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89" name="Google Shape;6489;p340"/>
          <p:cNvCxnSpPr>
            <a:stCxn id="6455" idx="2"/>
            <a:endCxn id="6454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0" name="Google Shape;6490;p340"/>
          <p:cNvCxnSpPr>
            <a:stCxn id="6455" idx="0"/>
            <a:endCxn id="6453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1" name="Google Shape;6491;p340"/>
          <p:cNvCxnSpPr>
            <a:stCxn id="6453" idx="3"/>
            <a:endCxn id="6454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2" name="Google Shape;6492;p340"/>
          <p:cNvCxnSpPr>
            <a:stCxn id="6450" idx="4"/>
            <a:endCxn id="6454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3" name="Google Shape;6493;p340"/>
          <p:cNvCxnSpPr>
            <a:stCxn id="6451" idx="2"/>
            <a:endCxn id="6450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4" name="Google Shape;6494;p340"/>
          <p:cNvCxnSpPr>
            <a:stCxn id="6451" idx="3"/>
            <a:endCxn id="6453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5" name="Google Shape;6495;p340"/>
          <p:cNvCxnSpPr>
            <a:stCxn id="6452" idx="2"/>
            <a:endCxn id="6450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6" name="Google Shape;6496;p340"/>
          <p:cNvCxnSpPr>
            <a:stCxn id="6452" idx="1"/>
            <a:endCxn id="6451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7" name="Google Shape;6497;p340"/>
          <p:cNvCxnSpPr>
            <a:stCxn id="6452" idx="2"/>
            <a:endCxn id="6453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8" name="Google Shape;6498;p340"/>
          <p:cNvCxnSpPr>
            <a:stCxn id="6453" idx="1"/>
            <a:endCxn id="6450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499" name="Google Shape;6499;p340"/>
          <p:cNvCxnSpPr>
            <a:stCxn id="6461" idx="6"/>
            <a:endCxn id="6466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500" name="Google Shape;6500;p340"/>
          <p:cNvSpPr txBox="1"/>
          <p:nvPr/>
        </p:nvSpPr>
        <p:spPr>
          <a:xfrm>
            <a:off x="2891325" y="1178425"/>
            <a:ext cx="36804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This is the shortest path between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k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and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r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: and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h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is in the middle of it!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04" name="Shape 6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5" name="Google Shape;6505;p34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506" name="Google Shape;6506;p341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07" name="Google Shape;6507;p341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08" name="Google Shape;6508;p341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09" name="Google Shape;6509;p341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0" name="Google Shape;6510;p341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1" name="Google Shape;6511;p341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2" name="Google Shape;6512;p341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3" name="Google Shape;6513;p341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4" name="Google Shape;6514;p341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5" name="Google Shape;6515;p341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6" name="Google Shape;6516;p341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7" name="Google Shape;6517;p341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8" name="Google Shape;6518;p341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19" name="Google Shape;6519;p341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20" name="Google Shape;6520;p341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21" name="Google Shape;6521;p341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22" name="Google Shape;6522;p341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23" name="Google Shape;6523;p341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24" name="Google Shape;6524;p341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525" name="Google Shape;6525;p341"/>
          <p:cNvCxnSpPr>
            <a:stCxn id="6524" idx="2"/>
            <a:endCxn id="6523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26" name="Google Shape;6526;p341"/>
          <p:cNvCxnSpPr>
            <a:stCxn id="6522" idx="0"/>
            <a:endCxn id="6523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27" name="Google Shape;6527;p341"/>
          <p:cNvCxnSpPr>
            <a:stCxn id="6521" idx="2"/>
            <a:endCxn id="6522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28" name="Google Shape;6528;p341"/>
          <p:cNvCxnSpPr>
            <a:stCxn id="6521" idx="2"/>
            <a:endCxn id="6517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29" name="Google Shape;6529;p341"/>
          <p:cNvCxnSpPr>
            <a:stCxn id="6521" idx="2"/>
            <a:endCxn id="6520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0" name="Google Shape;6530;p341"/>
          <p:cNvCxnSpPr>
            <a:stCxn id="6520" idx="2"/>
            <a:endCxn id="6517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1" name="Google Shape;6531;p341"/>
          <p:cNvCxnSpPr>
            <a:stCxn id="6520" idx="1"/>
            <a:endCxn id="6516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2" name="Google Shape;6532;p341"/>
          <p:cNvCxnSpPr>
            <a:stCxn id="6519" idx="0"/>
            <a:endCxn id="6517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3" name="Google Shape;6533;p341"/>
          <p:cNvCxnSpPr>
            <a:stCxn id="6518" idx="7"/>
            <a:endCxn id="6517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4" name="Google Shape;6534;p341"/>
          <p:cNvCxnSpPr>
            <a:stCxn id="6519" idx="1"/>
            <a:endCxn id="6518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5" name="Google Shape;6535;p341"/>
          <p:cNvCxnSpPr>
            <a:stCxn id="6517" idx="2"/>
            <a:endCxn id="6515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6" name="Google Shape;6536;p341"/>
          <p:cNvCxnSpPr>
            <a:stCxn id="6518" idx="0"/>
            <a:endCxn id="6515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7" name="Google Shape;6537;p341"/>
          <p:cNvCxnSpPr>
            <a:stCxn id="6517" idx="0"/>
            <a:endCxn id="6516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8" name="Google Shape;6538;p341"/>
          <p:cNvCxnSpPr>
            <a:stCxn id="6515" idx="7"/>
            <a:endCxn id="6516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39" name="Google Shape;6539;p341"/>
          <p:cNvCxnSpPr>
            <a:stCxn id="6515" idx="2"/>
            <a:endCxn id="6513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0" name="Google Shape;6540;p341"/>
          <p:cNvCxnSpPr>
            <a:stCxn id="6514" idx="0"/>
            <a:endCxn id="6513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1" name="Google Shape;6541;p341"/>
          <p:cNvCxnSpPr>
            <a:stCxn id="6513" idx="3"/>
            <a:endCxn id="6512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2" name="Google Shape;6542;p341"/>
          <p:cNvCxnSpPr>
            <a:stCxn id="6511" idx="5"/>
            <a:endCxn id="6512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3" name="Google Shape;6543;p341"/>
          <p:cNvCxnSpPr>
            <a:stCxn id="6508" idx="4"/>
            <a:endCxn id="6511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4" name="Google Shape;6544;p341"/>
          <p:cNvCxnSpPr>
            <a:stCxn id="6513" idx="1"/>
            <a:endCxn id="6508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5" name="Google Shape;6545;p341"/>
          <p:cNvCxnSpPr>
            <a:stCxn id="6511" idx="2"/>
            <a:endCxn id="6510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6" name="Google Shape;6546;p341"/>
          <p:cNvCxnSpPr>
            <a:stCxn id="6511" idx="0"/>
            <a:endCxn id="6509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7" name="Google Shape;6547;p341"/>
          <p:cNvCxnSpPr>
            <a:stCxn id="6509" idx="3"/>
            <a:endCxn id="6510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8" name="Google Shape;6548;p341"/>
          <p:cNvCxnSpPr>
            <a:stCxn id="6506" idx="4"/>
            <a:endCxn id="6510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49" name="Google Shape;6549;p341"/>
          <p:cNvCxnSpPr>
            <a:stCxn id="6507" idx="2"/>
            <a:endCxn id="6506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50" name="Google Shape;6550;p341"/>
          <p:cNvCxnSpPr>
            <a:stCxn id="6507" idx="3"/>
            <a:endCxn id="6509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51" name="Google Shape;6551;p341"/>
          <p:cNvCxnSpPr>
            <a:stCxn id="6508" idx="2"/>
            <a:endCxn id="6506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52" name="Google Shape;6552;p341"/>
          <p:cNvCxnSpPr>
            <a:stCxn id="6508" idx="1"/>
            <a:endCxn id="6507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53" name="Google Shape;6553;p341"/>
          <p:cNvCxnSpPr>
            <a:stCxn id="6508" idx="2"/>
            <a:endCxn id="6509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54" name="Google Shape;6554;p341"/>
          <p:cNvCxnSpPr>
            <a:stCxn id="6509" idx="1"/>
            <a:endCxn id="6506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55" name="Google Shape;6555;p341"/>
          <p:cNvCxnSpPr>
            <a:stCxn id="6517" idx="6"/>
            <a:endCxn id="6522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556" name="Google Shape;6556;p341"/>
          <p:cNvSpPr txBox="1"/>
          <p:nvPr/>
        </p:nvSpPr>
        <p:spPr>
          <a:xfrm>
            <a:off x="2891325" y="1178425"/>
            <a:ext cx="40710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You can see that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h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has to be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high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betweenness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because they stand on the shortest paths indirectly connecting the nodes on the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left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with the nodes on the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right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60" name="Shape 6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1" name="Google Shape;6561;p34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562" name="Google Shape;6562;p342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63" name="Google Shape;6563;p342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64" name="Google Shape;6564;p342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65" name="Google Shape;6565;p342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66" name="Google Shape;6566;p342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67" name="Google Shape;6567;p342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68" name="Google Shape;6568;p342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69" name="Google Shape;6569;p342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0" name="Google Shape;6570;p342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1" name="Google Shape;6571;p342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2" name="Google Shape;6572;p342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3" name="Google Shape;6573;p342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4" name="Google Shape;6574;p342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5" name="Google Shape;6575;p342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6" name="Google Shape;6576;p342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7" name="Google Shape;6577;p342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8" name="Google Shape;6578;p342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79" name="Google Shape;6579;p342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580" name="Google Shape;6580;p342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581" name="Google Shape;6581;p342"/>
          <p:cNvCxnSpPr>
            <a:stCxn id="6580" idx="2"/>
            <a:endCxn id="6579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82" name="Google Shape;6582;p342"/>
          <p:cNvCxnSpPr>
            <a:stCxn id="6578" idx="0"/>
            <a:endCxn id="6579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83" name="Google Shape;6583;p342"/>
          <p:cNvCxnSpPr>
            <a:stCxn id="6577" idx="2"/>
            <a:endCxn id="6578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84" name="Google Shape;6584;p342"/>
          <p:cNvCxnSpPr>
            <a:stCxn id="6577" idx="2"/>
            <a:endCxn id="6573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85" name="Google Shape;6585;p342"/>
          <p:cNvCxnSpPr>
            <a:stCxn id="6577" idx="2"/>
            <a:endCxn id="6576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86" name="Google Shape;6586;p342"/>
          <p:cNvCxnSpPr>
            <a:stCxn id="6576" idx="2"/>
            <a:endCxn id="6573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87" name="Google Shape;6587;p342"/>
          <p:cNvCxnSpPr>
            <a:stCxn id="6576" idx="1"/>
            <a:endCxn id="6572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88" name="Google Shape;6588;p342"/>
          <p:cNvCxnSpPr>
            <a:stCxn id="6575" idx="0"/>
            <a:endCxn id="6573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89" name="Google Shape;6589;p342"/>
          <p:cNvCxnSpPr>
            <a:stCxn id="6574" idx="7"/>
            <a:endCxn id="6573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0" name="Google Shape;6590;p342"/>
          <p:cNvCxnSpPr>
            <a:stCxn id="6575" idx="1"/>
            <a:endCxn id="6574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1" name="Google Shape;6591;p342"/>
          <p:cNvCxnSpPr>
            <a:stCxn id="6573" idx="2"/>
            <a:endCxn id="6571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2" name="Google Shape;6592;p342"/>
          <p:cNvCxnSpPr>
            <a:stCxn id="6574" idx="0"/>
            <a:endCxn id="6571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3" name="Google Shape;6593;p342"/>
          <p:cNvCxnSpPr>
            <a:stCxn id="6573" idx="0"/>
            <a:endCxn id="6572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4" name="Google Shape;6594;p342"/>
          <p:cNvCxnSpPr>
            <a:stCxn id="6571" idx="7"/>
            <a:endCxn id="6572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5" name="Google Shape;6595;p342"/>
          <p:cNvCxnSpPr>
            <a:stCxn id="6571" idx="2"/>
            <a:endCxn id="6569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6" name="Google Shape;6596;p342"/>
          <p:cNvCxnSpPr>
            <a:stCxn id="6570" idx="0"/>
            <a:endCxn id="6569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7" name="Google Shape;6597;p342"/>
          <p:cNvCxnSpPr>
            <a:stCxn id="6569" idx="3"/>
            <a:endCxn id="6568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8" name="Google Shape;6598;p342"/>
          <p:cNvCxnSpPr>
            <a:stCxn id="6567" idx="5"/>
            <a:endCxn id="6568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9" name="Google Shape;6599;p342"/>
          <p:cNvCxnSpPr>
            <a:stCxn id="6564" idx="4"/>
            <a:endCxn id="6567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0" name="Google Shape;6600;p342"/>
          <p:cNvCxnSpPr>
            <a:stCxn id="6569" idx="1"/>
            <a:endCxn id="6564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1" name="Google Shape;6601;p342"/>
          <p:cNvCxnSpPr>
            <a:stCxn id="6567" idx="2"/>
            <a:endCxn id="6566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2" name="Google Shape;6602;p342"/>
          <p:cNvCxnSpPr>
            <a:stCxn id="6567" idx="0"/>
            <a:endCxn id="6565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3" name="Google Shape;6603;p342"/>
          <p:cNvCxnSpPr>
            <a:stCxn id="6565" idx="3"/>
            <a:endCxn id="6566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4" name="Google Shape;6604;p342"/>
          <p:cNvCxnSpPr>
            <a:stCxn id="6562" idx="4"/>
            <a:endCxn id="6566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5" name="Google Shape;6605;p342"/>
          <p:cNvCxnSpPr>
            <a:stCxn id="6563" idx="2"/>
            <a:endCxn id="6562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6" name="Google Shape;6606;p342"/>
          <p:cNvCxnSpPr>
            <a:stCxn id="6563" idx="3"/>
            <a:endCxn id="6565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7" name="Google Shape;6607;p342"/>
          <p:cNvCxnSpPr>
            <a:stCxn id="6564" idx="2"/>
            <a:endCxn id="6562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8" name="Google Shape;6608;p342"/>
          <p:cNvCxnSpPr>
            <a:stCxn id="6564" idx="1"/>
            <a:endCxn id="6563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9" name="Google Shape;6609;p342"/>
          <p:cNvCxnSpPr>
            <a:stCxn id="6564" idx="2"/>
            <a:endCxn id="6565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10" name="Google Shape;6610;p342"/>
          <p:cNvCxnSpPr>
            <a:stCxn id="6565" idx="1"/>
            <a:endCxn id="6562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11" name="Google Shape;6611;p342"/>
          <p:cNvCxnSpPr>
            <a:stCxn id="6573" idx="6"/>
            <a:endCxn id="6578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612" name="Google Shape;6612;p342"/>
          <p:cNvSpPr txBox="1"/>
          <p:nvPr/>
        </p:nvSpPr>
        <p:spPr>
          <a:xfrm>
            <a:off x="2891325" y="1178425"/>
            <a:ext cx="40710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You can see that </a:t>
            </a:r>
            <a:r>
              <a:rPr b="1"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has to be </a:t>
            </a:r>
            <a:r>
              <a:rPr b="1"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high</a:t>
            </a: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betweenness</a:t>
            </a: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because they stand on the shortest paths indirectly connecting the nodes on the </a:t>
            </a:r>
            <a:r>
              <a:rPr b="1"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right</a:t>
            </a: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with the nodes on the </a:t>
            </a:r>
            <a:r>
              <a:rPr b="1"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left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16" name="Shape 6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7" name="Google Shape;6617;p34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618" name="Google Shape;6618;p343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19" name="Google Shape;6619;p343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0" name="Google Shape;6620;p343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1" name="Google Shape;6621;p343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2" name="Google Shape;6622;p343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3" name="Google Shape;6623;p343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4" name="Google Shape;6624;p343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5" name="Google Shape;6625;p343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6" name="Google Shape;6626;p343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7" name="Google Shape;6627;p343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8" name="Google Shape;6628;p343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29" name="Google Shape;6629;p343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30" name="Google Shape;6630;p343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31" name="Google Shape;6631;p343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32" name="Google Shape;6632;p343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33" name="Google Shape;6633;p343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34" name="Google Shape;6634;p343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35" name="Google Shape;6635;p343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36" name="Google Shape;6636;p343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637" name="Google Shape;6637;p343"/>
          <p:cNvCxnSpPr>
            <a:stCxn id="6636" idx="2"/>
            <a:endCxn id="6635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38" name="Google Shape;6638;p343"/>
          <p:cNvCxnSpPr>
            <a:stCxn id="6634" idx="0"/>
            <a:endCxn id="6635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39" name="Google Shape;6639;p343"/>
          <p:cNvCxnSpPr>
            <a:stCxn id="6633" idx="2"/>
            <a:endCxn id="6634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0" name="Google Shape;6640;p343"/>
          <p:cNvCxnSpPr>
            <a:stCxn id="6633" idx="2"/>
            <a:endCxn id="6629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1" name="Google Shape;6641;p343"/>
          <p:cNvCxnSpPr>
            <a:stCxn id="6633" idx="2"/>
            <a:endCxn id="6632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2" name="Google Shape;6642;p343"/>
          <p:cNvCxnSpPr>
            <a:stCxn id="6632" idx="2"/>
            <a:endCxn id="6629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3" name="Google Shape;6643;p343"/>
          <p:cNvCxnSpPr>
            <a:stCxn id="6632" idx="1"/>
            <a:endCxn id="6628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4" name="Google Shape;6644;p343"/>
          <p:cNvCxnSpPr>
            <a:stCxn id="6631" idx="0"/>
            <a:endCxn id="6629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5" name="Google Shape;6645;p343"/>
          <p:cNvCxnSpPr>
            <a:stCxn id="6630" idx="7"/>
            <a:endCxn id="6629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6" name="Google Shape;6646;p343"/>
          <p:cNvCxnSpPr>
            <a:stCxn id="6631" idx="1"/>
            <a:endCxn id="6630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7" name="Google Shape;6647;p343"/>
          <p:cNvCxnSpPr>
            <a:stCxn id="6629" idx="2"/>
            <a:endCxn id="6627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8" name="Google Shape;6648;p343"/>
          <p:cNvCxnSpPr>
            <a:stCxn id="6630" idx="0"/>
            <a:endCxn id="6627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49" name="Google Shape;6649;p343"/>
          <p:cNvCxnSpPr>
            <a:stCxn id="6629" idx="0"/>
            <a:endCxn id="6628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0" name="Google Shape;6650;p343"/>
          <p:cNvCxnSpPr>
            <a:stCxn id="6627" idx="7"/>
            <a:endCxn id="6628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1" name="Google Shape;6651;p343"/>
          <p:cNvCxnSpPr>
            <a:stCxn id="6627" idx="2"/>
            <a:endCxn id="6625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2" name="Google Shape;6652;p343"/>
          <p:cNvCxnSpPr>
            <a:stCxn id="6626" idx="0"/>
            <a:endCxn id="6625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3" name="Google Shape;6653;p343"/>
          <p:cNvCxnSpPr>
            <a:stCxn id="6625" idx="3"/>
            <a:endCxn id="6624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4" name="Google Shape;6654;p343"/>
          <p:cNvCxnSpPr>
            <a:stCxn id="6623" idx="5"/>
            <a:endCxn id="6624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5" name="Google Shape;6655;p343"/>
          <p:cNvCxnSpPr>
            <a:stCxn id="6620" idx="4"/>
            <a:endCxn id="6623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6" name="Google Shape;6656;p343"/>
          <p:cNvCxnSpPr>
            <a:stCxn id="6625" idx="1"/>
            <a:endCxn id="6620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7" name="Google Shape;6657;p343"/>
          <p:cNvCxnSpPr>
            <a:stCxn id="6623" idx="2"/>
            <a:endCxn id="6622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8" name="Google Shape;6658;p343"/>
          <p:cNvCxnSpPr>
            <a:stCxn id="6623" idx="0"/>
            <a:endCxn id="6621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9" name="Google Shape;6659;p343"/>
          <p:cNvCxnSpPr>
            <a:stCxn id="6621" idx="3"/>
            <a:endCxn id="6622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0" name="Google Shape;6660;p343"/>
          <p:cNvCxnSpPr>
            <a:stCxn id="6618" idx="4"/>
            <a:endCxn id="6622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1" name="Google Shape;6661;p343"/>
          <p:cNvCxnSpPr>
            <a:stCxn id="6619" idx="2"/>
            <a:endCxn id="6618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2" name="Google Shape;6662;p343"/>
          <p:cNvCxnSpPr>
            <a:stCxn id="6619" idx="3"/>
            <a:endCxn id="6621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3" name="Google Shape;6663;p343"/>
          <p:cNvCxnSpPr>
            <a:stCxn id="6620" idx="2"/>
            <a:endCxn id="6618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4" name="Google Shape;6664;p343"/>
          <p:cNvCxnSpPr>
            <a:stCxn id="6620" idx="1"/>
            <a:endCxn id="6619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5" name="Google Shape;6665;p343"/>
          <p:cNvCxnSpPr>
            <a:stCxn id="6620" idx="2"/>
            <a:endCxn id="6621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6" name="Google Shape;6666;p343"/>
          <p:cNvCxnSpPr>
            <a:stCxn id="6621" idx="1"/>
            <a:endCxn id="6618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7" name="Google Shape;6667;p343"/>
          <p:cNvCxnSpPr>
            <a:stCxn id="6629" idx="6"/>
            <a:endCxn id="6634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668" name="Google Shape;6668;p343"/>
          <p:cNvSpPr txBox="1"/>
          <p:nvPr/>
        </p:nvSpPr>
        <p:spPr>
          <a:xfrm>
            <a:off x="2891325" y="1178425"/>
            <a:ext cx="40710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You can see that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h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has to be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high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betweenness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because they stand on the shortest paths indirectly connecting the nodes on the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right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with the nodes on the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left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72" name="Shape 6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3" name="Google Shape;6673;p34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Betweenness (C</a:t>
            </a:r>
            <a:r>
              <a:rPr baseline="-25000" lang="en"/>
              <a:t>Bet</a:t>
            </a:r>
            <a:r>
              <a:rPr lang="en"/>
              <a:t>)</a:t>
            </a:r>
            <a:endParaRPr/>
          </a:p>
        </p:txBody>
      </p:sp>
      <p:sp>
        <p:nvSpPr>
          <p:cNvPr id="6674" name="Google Shape;6674;p344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75" name="Google Shape;6675;p344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76" name="Google Shape;6676;p344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77" name="Google Shape;6677;p344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78" name="Google Shape;6678;p344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79" name="Google Shape;6679;p344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0" name="Google Shape;6680;p344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1" name="Google Shape;6681;p344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2" name="Google Shape;6682;p344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3" name="Google Shape;6683;p344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4" name="Google Shape;6684;p344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5" name="Google Shape;6685;p344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6" name="Google Shape;6686;p344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7" name="Google Shape;6687;p344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8" name="Google Shape;6688;p344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89" name="Google Shape;6689;p344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90" name="Google Shape;6690;p344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91" name="Google Shape;6691;p344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692" name="Google Shape;6692;p344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693" name="Google Shape;6693;p344"/>
          <p:cNvCxnSpPr>
            <a:stCxn id="6692" idx="2"/>
            <a:endCxn id="6691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94" name="Google Shape;6694;p344"/>
          <p:cNvCxnSpPr>
            <a:stCxn id="6690" idx="0"/>
            <a:endCxn id="6691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95" name="Google Shape;6695;p344"/>
          <p:cNvCxnSpPr>
            <a:stCxn id="6689" idx="2"/>
            <a:endCxn id="6690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96" name="Google Shape;6696;p344"/>
          <p:cNvCxnSpPr>
            <a:stCxn id="6689" idx="2"/>
            <a:endCxn id="6685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97" name="Google Shape;6697;p344"/>
          <p:cNvCxnSpPr>
            <a:stCxn id="6689" idx="2"/>
            <a:endCxn id="6688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98" name="Google Shape;6698;p344"/>
          <p:cNvCxnSpPr>
            <a:stCxn id="6688" idx="2"/>
            <a:endCxn id="6685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99" name="Google Shape;6699;p344"/>
          <p:cNvCxnSpPr>
            <a:stCxn id="6688" idx="1"/>
            <a:endCxn id="6684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0" name="Google Shape;6700;p344"/>
          <p:cNvCxnSpPr>
            <a:stCxn id="6687" idx="0"/>
            <a:endCxn id="6685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1" name="Google Shape;6701;p344"/>
          <p:cNvCxnSpPr>
            <a:stCxn id="6686" idx="7"/>
            <a:endCxn id="6685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2" name="Google Shape;6702;p344"/>
          <p:cNvCxnSpPr>
            <a:stCxn id="6687" idx="1"/>
            <a:endCxn id="6686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3" name="Google Shape;6703;p344"/>
          <p:cNvCxnSpPr>
            <a:stCxn id="6685" idx="2"/>
            <a:endCxn id="6683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4" name="Google Shape;6704;p344"/>
          <p:cNvCxnSpPr>
            <a:stCxn id="6686" idx="0"/>
            <a:endCxn id="6683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5" name="Google Shape;6705;p344"/>
          <p:cNvCxnSpPr>
            <a:stCxn id="6685" idx="0"/>
            <a:endCxn id="6684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6" name="Google Shape;6706;p344"/>
          <p:cNvCxnSpPr>
            <a:stCxn id="6683" idx="7"/>
            <a:endCxn id="6684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7" name="Google Shape;6707;p344"/>
          <p:cNvCxnSpPr>
            <a:stCxn id="6683" idx="2"/>
            <a:endCxn id="6681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8" name="Google Shape;6708;p344"/>
          <p:cNvCxnSpPr>
            <a:stCxn id="6682" idx="0"/>
            <a:endCxn id="6681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9" name="Google Shape;6709;p344"/>
          <p:cNvCxnSpPr>
            <a:stCxn id="6681" idx="3"/>
            <a:endCxn id="6680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0" name="Google Shape;6710;p344"/>
          <p:cNvCxnSpPr>
            <a:stCxn id="6679" idx="5"/>
            <a:endCxn id="6680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1" name="Google Shape;6711;p344"/>
          <p:cNvCxnSpPr>
            <a:stCxn id="6676" idx="4"/>
            <a:endCxn id="6679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2" name="Google Shape;6712;p344"/>
          <p:cNvCxnSpPr>
            <a:stCxn id="6681" idx="1"/>
            <a:endCxn id="6676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3" name="Google Shape;6713;p344"/>
          <p:cNvCxnSpPr>
            <a:stCxn id="6679" idx="2"/>
            <a:endCxn id="6678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4" name="Google Shape;6714;p344"/>
          <p:cNvCxnSpPr>
            <a:stCxn id="6679" idx="0"/>
            <a:endCxn id="6677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5" name="Google Shape;6715;p344"/>
          <p:cNvCxnSpPr>
            <a:stCxn id="6677" idx="3"/>
            <a:endCxn id="6678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6" name="Google Shape;6716;p344"/>
          <p:cNvCxnSpPr>
            <a:stCxn id="6674" idx="4"/>
            <a:endCxn id="6678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7" name="Google Shape;6717;p344"/>
          <p:cNvCxnSpPr>
            <a:stCxn id="6675" idx="2"/>
            <a:endCxn id="6674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8" name="Google Shape;6718;p344"/>
          <p:cNvCxnSpPr>
            <a:stCxn id="6675" idx="3"/>
            <a:endCxn id="6677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9" name="Google Shape;6719;p344"/>
          <p:cNvCxnSpPr>
            <a:stCxn id="6676" idx="2"/>
            <a:endCxn id="6674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20" name="Google Shape;6720;p344"/>
          <p:cNvCxnSpPr>
            <a:stCxn id="6676" idx="1"/>
            <a:endCxn id="6675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21" name="Google Shape;6721;p344"/>
          <p:cNvCxnSpPr>
            <a:stCxn id="6676" idx="2"/>
            <a:endCxn id="6677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22" name="Google Shape;6722;p344"/>
          <p:cNvCxnSpPr>
            <a:stCxn id="6677" idx="1"/>
            <a:endCxn id="6674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23" name="Google Shape;6723;p344"/>
          <p:cNvCxnSpPr>
            <a:stCxn id="6685" idx="6"/>
            <a:endCxn id="6690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24" name="Google Shape;6724;p344"/>
          <p:cNvSpPr/>
          <p:nvPr/>
        </p:nvSpPr>
        <p:spPr>
          <a:xfrm>
            <a:off x="2807325" y="1196125"/>
            <a:ext cx="34023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node is probably also high-betweenness but not as high as h!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6725" name="Google Shape;6725;p344"/>
          <p:cNvCxnSpPr>
            <a:stCxn id="6724" idx="4"/>
            <a:endCxn id="6683" idx="1"/>
          </p:cNvCxnSpPr>
          <p:nvPr/>
        </p:nvCxnSpPr>
        <p:spPr>
          <a:xfrm>
            <a:off x="4508475" y="2027425"/>
            <a:ext cx="493500" cy="1397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29" name="Shape 6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0" name="Google Shape;6730;p34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star graph</a:t>
            </a:r>
            <a:endParaRPr/>
          </a:p>
        </p:txBody>
      </p:sp>
      <p:sp>
        <p:nvSpPr>
          <p:cNvPr id="6731" name="Google Shape;6731;p345"/>
          <p:cNvSpPr/>
          <p:nvPr/>
        </p:nvSpPr>
        <p:spPr>
          <a:xfrm>
            <a:off x="5845888" y="18353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32" name="Google Shape;6732;p345"/>
          <p:cNvSpPr/>
          <p:nvPr/>
        </p:nvSpPr>
        <p:spPr>
          <a:xfrm>
            <a:off x="6908938" y="1452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33" name="Google Shape;6733;p345"/>
          <p:cNvSpPr/>
          <p:nvPr/>
        </p:nvSpPr>
        <p:spPr>
          <a:xfrm>
            <a:off x="8425825" y="26325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34" name="Google Shape;6734;p345"/>
          <p:cNvSpPr/>
          <p:nvPr/>
        </p:nvSpPr>
        <p:spPr>
          <a:xfrm>
            <a:off x="6908950" y="26325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35" name="Google Shape;6735;p345"/>
          <p:cNvSpPr/>
          <p:nvPr/>
        </p:nvSpPr>
        <p:spPr>
          <a:xfrm>
            <a:off x="5392063" y="26325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36" name="Google Shape;6736;p345"/>
          <p:cNvSpPr/>
          <p:nvPr/>
        </p:nvSpPr>
        <p:spPr>
          <a:xfrm>
            <a:off x="6908938" y="38121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37" name="Google Shape;6737;p345"/>
          <p:cNvCxnSpPr>
            <a:stCxn id="6736" idx="0"/>
            <a:endCxn id="6734" idx="4"/>
          </p:cNvCxnSpPr>
          <p:nvPr/>
        </p:nvCxnSpPr>
        <p:spPr>
          <a:xfrm rot="10800000">
            <a:off x="7179238" y="3171913"/>
            <a:ext cx="0" cy="64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38" name="Google Shape;6738;p345"/>
          <p:cNvCxnSpPr>
            <a:stCxn id="6734" idx="2"/>
            <a:endCxn id="6735" idx="6"/>
          </p:cNvCxnSpPr>
          <p:nvPr/>
        </p:nvCxnSpPr>
        <p:spPr>
          <a:xfrm rot="10800000">
            <a:off x="5932750" y="2902225"/>
            <a:ext cx="976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39" name="Google Shape;6739;p345"/>
          <p:cNvCxnSpPr>
            <a:stCxn id="6732" idx="4"/>
            <a:endCxn id="6734" idx="0"/>
          </p:cNvCxnSpPr>
          <p:nvPr/>
        </p:nvCxnSpPr>
        <p:spPr>
          <a:xfrm>
            <a:off x="7179238" y="1992325"/>
            <a:ext cx="0" cy="64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40" name="Google Shape;6740;p345"/>
          <p:cNvCxnSpPr>
            <a:stCxn id="6733" idx="2"/>
            <a:endCxn id="6734" idx="6"/>
          </p:cNvCxnSpPr>
          <p:nvPr/>
        </p:nvCxnSpPr>
        <p:spPr>
          <a:xfrm rot="10800000">
            <a:off x="7449625" y="2902213"/>
            <a:ext cx="976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41" name="Google Shape;6741;p345"/>
          <p:cNvCxnSpPr>
            <a:stCxn id="6734" idx="1"/>
            <a:endCxn id="6731" idx="5"/>
          </p:cNvCxnSpPr>
          <p:nvPr/>
        </p:nvCxnSpPr>
        <p:spPr>
          <a:xfrm rot="10800000">
            <a:off x="6307419" y="22957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42" name="Google Shape;6742;p345"/>
          <p:cNvSpPr/>
          <p:nvPr/>
        </p:nvSpPr>
        <p:spPr>
          <a:xfrm>
            <a:off x="7971988" y="18643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43" name="Google Shape;6743;p345"/>
          <p:cNvCxnSpPr>
            <a:stCxn id="6734" idx="7"/>
            <a:endCxn id="6742" idx="3"/>
          </p:cNvCxnSpPr>
          <p:nvPr/>
        </p:nvCxnSpPr>
        <p:spPr>
          <a:xfrm flipH="1" rot="10800000">
            <a:off x="7370381" y="2324818"/>
            <a:ext cx="680700" cy="3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44" name="Google Shape;6744;p345"/>
          <p:cNvSpPr/>
          <p:nvPr/>
        </p:nvSpPr>
        <p:spPr>
          <a:xfrm>
            <a:off x="5845888" y="34297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45" name="Google Shape;6745;p345"/>
          <p:cNvCxnSpPr>
            <a:stCxn id="6734" idx="3"/>
            <a:endCxn id="6744" idx="7"/>
          </p:cNvCxnSpPr>
          <p:nvPr/>
        </p:nvCxnSpPr>
        <p:spPr>
          <a:xfrm flipH="1">
            <a:off x="6307419" y="3092932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46" name="Google Shape;6746;p345"/>
          <p:cNvSpPr/>
          <p:nvPr/>
        </p:nvSpPr>
        <p:spPr>
          <a:xfrm>
            <a:off x="7971988" y="34297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47" name="Google Shape;6747;p345"/>
          <p:cNvCxnSpPr>
            <a:stCxn id="6746" idx="1"/>
            <a:endCxn id="6734" idx="5"/>
          </p:cNvCxnSpPr>
          <p:nvPr/>
        </p:nvCxnSpPr>
        <p:spPr>
          <a:xfrm rot="10800000">
            <a:off x="7370457" y="3092906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48" name="Google Shape;6748;p345"/>
          <p:cNvSpPr txBox="1"/>
          <p:nvPr>
            <p:ph idx="1" type="body"/>
          </p:nvPr>
        </p:nvSpPr>
        <p:spPr>
          <a:xfrm>
            <a:off x="311700" y="1225225"/>
            <a:ext cx="5080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</a:t>
            </a:r>
            <a:r>
              <a:rPr b="1" lang="en"/>
              <a:t>star graph </a:t>
            </a:r>
            <a:r>
              <a:rPr lang="en"/>
              <a:t>three centralities are </a:t>
            </a:r>
            <a:r>
              <a:rPr b="1" lang="en"/>
              <a:t>maximized </a:t>
            </a:r>
            <a:r>
              <a:rPr lang="en"/>
              <a:t>for the central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Node </a:t>
            </a:r>
            <a:r>
              <a:rPr b="1" lang="en"/>
              <a:t>a</a:t>
            </a:r>
            <a:r>
              <a:rPr lang="en"/>
              <a:t> has the highest: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52" name="Shape 6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3" name="Google Shape;6753;p34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star graph</a:t>
            </a:r>
            <a:endParaRPr/>
          </a:p>
        </p:txBody>
      </p:sp>
      <p:sp>
        <p:nvSpPr>
          <p:cNvPr id="6754" name="Google Shape;6754;p346"/>
          <p:cNvSpPr/>
          <p:nvPr/>
        </p:nvSpPr>
        <p:spPr>
          <a:xfrm>
            <a:off x="5845888" y="18353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55" name="Google Shape;6755;p346"/>
          <p:cNvSpPr/>
          <p:nvPr/>
        </p:nvSpPr>
        <p:spPr>
          <a:xfrm>
            <a:off x="6908938" y="1452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56" name="Google Shape;6756;p346"/>
          <p:cNvSpPr/>
          <p:nvPr/>
        </p:nvSpPr>
        <p:spPr>
          <a:xfrm>
            <a:off x="8425825" y="26325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57" name="Google Shape;6757;p346"/>
          <p:cNvSpPr/>
          <p:nvPr/>
        </p:nvSpPr>
        <p:spPr>
          <a:xfrm>
            <a:off x="6908950" y="26325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58" name="Google Shape;6758;p346"/>
          <p:cNvSpPr/>
          <p:nvPr/>
        </p:nvSpPr>
        <p:spPr>
          <a:xfrm>
            <a:off x="5392063" y="26325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59" name="Google Shape;6759;p346"/>
          <p:cNvSpPr/>
          <p:nvPr/>
        </p:nvSpPr>
        <p:spPr>
          <a:xfrm>
            <a:off x="6908938" y="38121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60" name="Google Shape;6760;p346"/>
          <p:cNvCxnSpPr>
            <a:stCxn id="6759" idx="0"/>
            <a:endCxn id="6757" idx="4"/>
          </p:cNvCxnSpPr>
          <p:nvPr/>
        </p:nvCxnSpPr>
        <p:spPr>
          <a:xfrm rot="10800000">
            <a:off x="7179238" y="3171913"/>
            <a:ext cx="0" cy="64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61" name="Google Shape;6761;p346"/>
          <p:cNvCxnSpPr>
            <a:stCxn id="6757" idx="2"/>
            <a:endCxn id="6758" idx="6"/>
          </p:cNvCxnSpPr>
          <p:nvPr/>
        </p:nvCxnSpPr>
        <p:spPr>
          <a:xfrm rot="10800000">
            <a:off x="5932750" y="2902225"/>
            <a:ext cx="976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62" name="Google Shape;6762;p346"/>
          <p:cNvCxnSpPr>
            <a:stCxn id="6755" idx="4"/>
            <a:endCxn id="6757" idx="0"/>
          </p:cNvCxnSpPr>
          <p:nvPr/>
        </p:nvCxnSpPr>
        <p:spPr>
          <a:xfrm>
            <a:off x="7179238" y="1992325"/>
            <a:ext cx="0" cy="64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63" name="Google Shape;6763;p346"/>
          <p:cNvCxnSpPr>
            <a:stCxn id="6756" idx="2"/>
            <a:endCxn id="6757" idx="6"/>
          </p:cNvCxnSpPr>
          <p:nvPr/>
        </p:nvCxnSpPr>
        <p:spPr>
          <a:xfrm rot="10800000">
            <a:off x="7449625" y="2902213"/>
            <a:ext cx="976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64" name="Google Shape;6764;p346"/>
          <p:cNvCxnSpPr>
            <a:stCxn id="6757" idx="1"/>
            <a:endCxn id="6754" idx="5"/>
          </p:cNvCxnSpPr>
          <p:nvPr/>
        </p:nvCxnSpPr>
        <p:spPr>
          <a:xfrm rot="10800000">
            <a:off x="6307419" y="22957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65" name="Google Shape;6765;p346"/>
          <p:cNvSpPr/>
          <p:nvPr/>
        </p:nvSpPr>
        <p:spPr>
          <a:xfrm>
            <a:off x="7971988" y="18643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66" name="Google Shape;6766;p346"/>
          <p:cNvCxnSpPr>
            <a:stCxn id="6757" idx="7"/>
            <a:endCxn id="6765" idx="3"/>
          </p:cNvCxnSpPr>
          <p:nvPr/>
        </p:nvCxnSpPr>
        <p:spPr>
          <a:xfrm flipH="1" rot="10800000">
            <a:off x="7370381" y="2324818"/>
            <a:ext cx="680700" cy="3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67" name="Google Shape;6767;p346"/>
          <p:cNvSpPr/>
          <p:nvPr/>
        </p:nvSpPr>
        <p:spPr>
          <a:xfrm>
            <a:off x="5845888" y="34297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68" name="Google Shape;6768;p346"/>
          <p:cNvCxnSpPr>
            <a:stCxn id="6757" idx="3"/>
            <a:endCxn id="6767" idx="7"/>
          </p:cNvCxnSpPr>
          <p:nvPr/>
        </p:nvCxnSpPr>
        <p:spPr>
          <a:xfrm flipH="1">
            <a:off x="6307419" y="3092932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69" name="Google Shape;6769;p346"/>
          <p:cNvSpPr/>
          <p:nvPr/>
        </p:nvSpPr>
        <p:spPr>
          <a:xfrm>
            <a:off x="7971988" y="34297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70" name="Google Shape;6770;p346"/>
          <p:cNvCxnSpPr>
            <a:stCxn id="6769" idx="1"/>
            <a:endCxn id="6757" idx="5"/>
          </p:cNvCxnSpPr>
          <p:nvPr/>
        </p:nvCxnSpPr>
        <p:spPr>
          <a:xfrm rot="10800000">
            <a:off x="7370457" y="3092906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71" name="Google Shape;6771;p346"/>
          <p:cNvSpPr txBox="1"/>
          <p:nvPr>
            <p:ph idx="1" type="body"/>
          </p:nvPr>
        </p:nvSpPr>
        <p:spPr>
          <a:xfrm>
            <a:off x="311700" y="1225225"/>
            <a:ext cx="5080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</a:t>
            </a:r>
            <a:r>
              <a:rPr b="1" lang="en"/>
              <a:t>star graph </a:t>
            </a:r>
            <a:r>
              <a:rPr lang="en"/>
              <a:t>three centralities are </a:t>
            </a:r>
            <a:r>
              <a:rPr b="1" lang="en"/>
              <a:t>maximized </a:t>
            </a:r>
            <a:r>
              <a:rPr lang="en"/>
              <a:t>for the central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Node </a:t>
            </a:r>
            <a:r>
              <a:rPr b="1" lang="en"/>
              <a:t>a</a:t>
            </a:r>
            <a:r>
              <a:rPr lang="en"/>
              <a:t> has the highest: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Degree centrality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Every other node has C</a:t>
            </a:r>
            <a:r>
              <a:rPr baseline="-25000" lang="en"/>
              <a:t>deg</a:t>
            </a:r>
            <a:r>
              <a:rPr lang="en"/>
              <a:t> = 1 but the </a:t>
            </a:r>
            <a:r>
              <a:rPr b="1" lang="en"/>
              <a:t>central node has C</a:t>
            </a:r>
            <a:r>
              <a:rPr b="1" baseline="-25000" lang="en"/>
              <a:t>deg</a:t>
            </a:r>
            <a:r>
              <a:rPr b="1" lang="en"/>
              <a:t> = N - 1</a:t>
            </a:r>
            <a:r>
              <a:rPr lang="en"/>
              <a:t>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75" name="Shape 6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6" name="Google Shape;6776;p34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star graph</a:t>
            </a:r>
            <a:endParaRPr/>
          </a:p>
        </p:txBody>
      </p:sp>
      <p:sp>
        <p:nvSpPr>
          <p:cNvPr id="6777" name="Google Shape;6777;p347"/>
          <p:cNvSpPr/>
          <p:nvPr/>
        </p:nvSpPr>
        <p:spPr>
          <a:xfrm>
            <a:off x="5845888" y="18353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78" name="Google Shape;6778;p347"/>
          <p:cNvSpPr/>
          <p:nvPr/>
        </p:nvSpPr>
        <p:spPr>
          <a:xfrm>
            <a:off x="6908938" y="1452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79" name="Google Shape;6779;p347"/>
          <p:cNvSpPr/>
          <p:nvPr/>
        </p:nvSpPr>
        <p:spPr>
          <a:xfrm>
            <a:off x="8425825" y="26325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80" name="Google Shape;6780;p347"/>
          <p:cNvSpPr/>
          <p:nvPr/>
        </p:nvSpPr>
        <p:spPr>
          <a:xfrm>
            <a:off x="6908950" y="26325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81" name="Google Shape;6781;p347"/>
          <p:cNvSpPr/>
          <p:nvPr/>
        </p:nvSpPr>
        <p:spPr>
          <a:xfrm>
            <a:off x="5392063" y="26325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782" name="Google Shape;6782;p347"/>
          <p:cNvSpPr/>
          <p:nvPr/>
        </p:nvSpPr>
        <p:spPr>
          <a:xfrm>
            <a:off x="6908938" y="38121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83" name="Google Shape;6783;p347"/>
          <p:cNvCxnSpPr>
            <a:stCxn id="6782" idx="0"/>
            <a:endCxn id="6780" idx="4"/>
          </p:cNvCxnSpPr>
          <p:nvPr/>
        </p:nvCxnSpPr>
        <p:spPr>
          <a:xfrm rot="10800000">
            <a:off x="7179238" y="3171913"/>
            <a:ext cx="0" cy="64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84" name="Google Shape;6784;p347"/>
          <p:cNvCxnSpPr>
            <a:stCxn id="6780" idx="2"/>
            <a:endCxn id="6781" idx="6"/>
          </p:cNvCxnSpPr>
          <p:nvPr/>
        </p:nvCxnSpPr>
        <p:spPr>
          <a:xfrm rot="10800000">
            <a:off x="5932750" y="2902225"/>
            <a:ext cx="976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85" name="Google Shape;6785;p347"/>
          <p:cNvCxnSpPr>
            <a:stCxn id="6778" idx="4"/>
            <a:endCxn id="6780" idx="0"/>
          </p:cNvCxnSpPr>
          <p:nvPr/>
        </p:nvCxnSpPr>
        <p:spPr>
          <a:xfrm>
            <a:off x="7179238" y="1992325"/>
            <a:ext cx="0" cy="64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86" name="Google Shape;6786;p347"/>
          <p:cNvCxnSpPr>
            <a:stCxn id="6779" idx="2"/>
            <a:endCxn id="6780" idx="6"/>
          </p:cNvCxnSpPr>
          <p:nvPr/>
        </p:nvCxnSpPr>
        <p:spPr>
          <a:xfrm rot="10800000">
            <a:off x="7449625" y="2902213"/>
            <a:ext cx="976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87" name="Google Shape;6787;p347"/>
          <p:cNvCxnSpPr>
            <a:stCxn id="6780" idx="1"/>
            <a:endCxn id="6777" idx="5"/>
          </p:cNvCxnSpPr>
          <p:nvPr/>
        </p:nvCxnSpPr>
        <p:spPr>
          <a:xfrm rot="10800000">
            <a:off x="6307419" y="22957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88" name="Google Shape;6788;p347"/>
          <p:cNvSpPr/>
          <p:nvPr/>
        </p:nvSpPr>
        <p:spPr>
          <a:xfrm>
            <a:off x="7971988" y="18643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89" name="Google Shape;6789;p347"/>
          <p:cNvCxnSpPr>
            <a:stCxn id="6780" idx="7"/>
            <a:endCxn id="6788" idx="3"/>
          </p:cNvCxnSpPr>
          <p:nvPr/>
        </p:nvCxnSpPr>
        <p:spPr>
          <a:xfrm flipH="1" rot="10800000">
            <a:off x="7370381" y="2324818"/>
            <a:ext cx="680700" cy="3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90" name="Google Shape;6790;p347"/>
          <p:cNvSpPr/>
          <p:nvPr/>
        </p:nvSpPr>
        <p:spPr>
          <a:xfrm>
            <a:off x="5845888" y="34297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91" name="Google Shape;6791;p347"/>
          <p:cNvCxnSpPr>
            <a:stCxn id="6780" idx="3"/>
            <a:endCxn id="6790" idx="7"/>
          </p:cNvCxnSpPr>
          <p:nvPr/>
        </p:nvCxnSpPr>
        <p:spPr>
          <a:xfrm flipH="1">
            <a:off x="6307419" y="3092932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92" name="Google Shape;6792;p347"/>
          <p:cNvSpPr/>
          <p:nvPr/>
        </p:nvSpPr>
        <p:spPr>
          <a:xfrm>
            <a:off x="7971988" y="34297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793" name="Google Shape;6793;p347"/>
          <p:cNvCxnSpPr>
            <a:stCxn id="6792" idx="1"/>
            <a:endCxn id="6780" idx="5"/>
          </p:cNvCxnSpPr>
          <p:nvPr/>
        </p:nvCxnSpPr>
        <p:spPr>
          <a:xfrm rot="10800000">
            <a:off x="7370457" y="3092906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94" name="Google Shape;6794;p347"/>
          <p:cNvSpPr txBox="1"/>
          <p:nvPr>
            <p:ph idx="1" type="body"/>
          </p:nvPr>
        </p:nvSpPr>
        <p:spPr>
          <a:xfrm>
            <a:off x="311700" y="1225225"/>
            <a:ext cx="5080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</a:t>
            </a:r>
            <a:r>
              <a:rPr b="1" lang="en"/>
              <a:t>star graph </a:t>
            </a:r>
            <a:r>
              <a:rPr lang="en"/>
              <a:t>three centralities are </a:t>
            </a:r>
            <a:r>
              <a:rPr b="1" lang="en"/>
              <a:t>maximized </a:t>
            </a:r>
            <a:r>
              <a:rPr lang="en"/>
              <a:t>for the central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Node </a:t>
            </a:r>
            <a:r>
              <a:rPr b="1" lang="en"/>
              <a:t>a</a:t>
            </a:r>
            <a:r>
              <a:rPr lang="en"/>
              <a:t> has the highest: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Degree centrality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Every other node has C</a:t>
            </a:r>
            <a:r>
              <a:rPr baseline="-25000" lang="en"/>
              <a:t>deg</a:t>
            </a:r>
            <a:r>
              <a:rPr lang="en"/>
              <a:t> = 1 but the </a:t>
            </a:r>
            <a:r>
              <a:rPr b="1" lang="en"/>
              <a:t>central node has C</a:t>
            </a:r>
            <a:r>
              <a:rPr b="1" baseline="-25000" lang="en"/>
              <a:t>deg</a:t>
            </a:r>
            <a:r>
              <a:rPr b="1" lang="en"/>
              <a:t> = N - 1</a:t>
            </a:r>
            <a:r>
              <a:rPr lang="en"/>
              <a:t>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Closeness centrality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Can reach all nodes via </a:t>
            </a:r>
            <a:r>
              <a:rPr b="1" lang="en"/>
              <a:t>paths of length 1</a:t>
            </a:r>
            <a:r>
              <a:rPr lang="en"/>
              <a:t>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98" name="Shape 6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9" name="Google Shape;6799;p34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star graph</a:t>
            </a:r>
            <a:endParaRPr/>
          </a:p>
        </p:txBody>
      </p:sp>
      <p:sp>
        <p:nvSpPr>
          <p:cNvPr id="6800" name="Google Shape;6800;p348"/>
          <p:cNvSpPr/>
          <p:nvPr/>
        </p:nvSpPr>
        <p:spPr>
          <a:xfrm>
            <a:off x="5845888" y="18353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01" name="Google Shape;6801;p348"/>
          <p:cNvSpPr/>
          <p:nvPr/>
        </p:nvSpPr>
        <p:spPr>
          <a:xfrm>
            <a:off x="6908938" y="1452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02" name="Google Shape;6802;p348"/>
          <p:cNvSpPr/>
          <p:nvPr/>
        </p:nvSpPr>
        <p:spPr>
          <a:xfrm>
            <a:off x="8425825" y="26325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03" name="Google Shape;6803;p348"/>
          <p:cNvSpPr/>
          <p:nvPr/>
        </p:nvSpPr>
        <p:spPr>
          <a:xfrm>
            <a:off x="6908950" y="26325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04" name="Google Shape;6804;p348"/>
          <p:cNvSpPr/>
          <p:nvPr/>
        </p:nvSpPr>
        <p:spPr>
          <a:xfrm>
            <a:off x="5392063" y="26325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05" name="Google Shape;6805;p348"/>
          <p:cNvSpPr/>
          <p:nvPr/>
        </p:nvSpPr>
        <p:spPr>
          <a:xfrm>
            <a:off x="6908938" y="38121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06" name="Google Shape;6806;p348"/>
          <p:cNvCxnSpPr>
            <a:stCxn id="6805" idx="0"/>
            <a:endCxn id="6803" idx="4"/>
          </p:cNvCxnSpPr>
          <p:nvPr/>
        </p:nvCxnSpPr>
        <p:spPr>
          <a:xfrm rot="10800000">
            <a:off x="7179238" y="3171913"/>
            <a:ext cx="0" cy="64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07" name="Google Shape;6807;p348"/>
          <p:cNvCxnSpPr>
            <a:stCxn id="6803" idx="2"/>
            <a:endCxn id="6804" idx="6"/>
          </p:cNvCxnSpPr>
          <p:nvPr/>
        </p:nvCxnSpPr>
        <p:spPr>
          <a:xfrm rot="10800000">
            <a:off x="5932750" y="2902225"/>
            <a:ext cx="976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08" name="Google Shape;6808;p348"/>
          <p:cNvCxnSpPr>
            <a:stCxn id="6801" idx="4"/>
            <a:endCxn id="6803" idx="0"/>
          </p:cNvCxnSpPr>
          <p:nvPr/>
        </p:nvCxnSpPr>
        <p:spPr>
          <a:xfrm>
            <a:off x="7179238" y="1992325"/>
            <a:ext cx="0" cy="64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09" name="Google Shape;6809;p348"/>
          <p:cNvCxnSpPr>
            <a:stCxn id="6802" idx="2"/>
            <a:endCxn id="6803" idx="6"/>
          </p:cNvCxnSpPr>
          <p:nvPr/>
        </p:nvCxnSpPr>
        <p:spPr>
          <a:xfrm rot="10800000">
            <a:off x="7449625" y="2902213"/>
            <a:ext cx="976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10" name="Google Shape;6810;p348"/>
          <p:cNvCxnSpPr>
            <a:stCxn id="6803" idx="1"/>
            <a:endCxn id="6800" idx="5"/>
          </p:cNvCxnSpPr>
          <p:nvPr/>
        </p:nvCxnSpPr>
        <p:spPr>
          <a:xfrm rot="10800000">
            <a:off x="6307419" y="22957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11" name="Google Shape;6811;p348"/>
          <p:cNvSpPr/>
          <p:nvPr/>
        </p:nvSpPr>
        <p:spPr>
          <a:xfrm>
            <a:off x="7971988" y="18643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12" name="Google Shape;6812;p348"/>
          <p:cNvCxnSpPr>
            <a:stCxn id="6803" idx="7"/>
            <a:endCxn id="6811" idx="3"/>
          </p:cNvCxnSpPr>
          <p:nvPr/>
        </p:nvCxnSpPr>
        <p:spPr>
          <a:xfrm flipH="1" rot="10800000">
            <a:off x="7370381" y="2324818"/>
            <a:ext cx="680700" cy="3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13" name="Google Shape;6813;p348"/>
          <p:cNvSpPr/>
          <p:nvPr/>
        </p:nvSpPr>
        <p:spPr>
          <a:xfrm>
            <a:off x="5845888" y="34297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14" name="Google Shape;6814;p348"/>
          <p:cNvCxnSpPr>
            <a:stCxn id="6803" idx="3"/>
            <a:endCxn id="6813" idx="7"/>
          </p:cNvCxnSpPr>
          <p:nvPr/>
        </p:nvCxnSpPr>
        <p:spPr>
          <a:xfrm flipH="1">
            <a:off x="6307419" y="3092932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15" name="Google Shape;6815;p348"/>
          <p:cNvSpPr/>
          <p:nvPr/>
        </p:nvSpPr>
        <p:spPr>
          <a:xfrm>
            <a:off x="7971988" y="3429713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16" name="Google Shape;6816;p348"/>
          <p:cNvCxnSpPr>
            <a:stCxn id="6815" idx="1"/>
            <a:endCxn id="6803" idx="5"/>
          </p:cNvCxnSpPr>
          <p:nvPr/>
        </p:nvCxnSpPr>
        <p:spPr>
          <a:xfrm rot="10800000">
            <a:off x="7370457" y="3092906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17" name="Google Shape;6817;p348"/>
          <p:cNvSpPr txBox="1"/>
          <p:nvPr>
            <p:ph idx="1" type="body"/>
          </p:nvPr>
        </p:nvSpPr>
        <p:spPr>
          <a:xfrm>
            <a:off x="311700" y="1225225"/>
            <a:ext cx="5080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the </a:t>
            </a:r>
            <a:r>
              <a:rPr b="1" lang="en"/>
              <a:t>star graph </a:t>
            </a:r>
            <a:r>
              <a:rPr lang="en"/>
              <a:t>three centralities are </a:t>
            </a:r>
            <a:r>
              <a:rPr b="1" lang="en"/>
              <a:t>maximized </a:t>
            </a:r>
            <a:r>
              <a:rPr lang="en"/>
              <a:t>for the central node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Node </a:t>
            </a:r>
            <a:r>
              <a:rPr b="1" lang="en"/>
              <a:t>a</a:t>
            </a:r>
            <a:r>
              <a:rPr lang="en"/>
              <a:t> has the highest: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Degree centrality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Every other node has C</a:t>
            </a:r>
            <a:r>
              <a:rPr baseline="-25000" lang="en"/>
              <a:t>deg</a:t>
            </a:r>
            <a:r>
              <a:rPr lang="en"/>
              <a:t> = 1 but the </a:t>
            </a:r>
            <a:r>
              <a:rPr b="1" lang="en"/>
              <a:t>central node has C</a:t>
            </a:r>
            <a:r>
              <a:rPr b="1" baseline="-25000" lang="en"/>
              <a:t>deg</a:t>
            </a:r>
            <a:r>
              <a:rPr b="1" lang="en"/>
              <a:t> = N - 1</a:t>
            </a:r>
            <a:r>
              <a:rPr lang="en"/>
              <a:t>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Closeness centrality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Can reach all nodes via </a:t>
            </a:r>
            <a:r>
              <a:rPr b="1" lang="en"/>
              <a:t>paths of length 1</a:t>
            </a:r>
            <a:r>
              <a:rPr lang="en"/>
              <a:t>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Betweenness centrality</a:t>
            </a:r>
            <a:endParaRPr i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central node stands in </a:t>
            </a:r>
            <a:r>
              <a:rPr b="1" lang="en"/>
              <a:t>every one</a:t>
            </a:r>
            <a:r>
              <a:rPr lang="en"/>
              <a:t> of the </a:t>
            </a:r>
            <a:r>
              <a:rPr b="1" lang="en"/>
              <a:t>shortest paths</a:t>
            </a:r>
            <a:r>
              <a:rPr lang="en"/>
              <a:t> linking all the other pairs of nodes (length = 2)!</a:t>
            </a:r>
            <a:endParaRPr/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21" name="Shape 6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2" name="Google Shape;6822;p34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Eigenvector (C</a:t>
            </a:r>
            <a:r>
              <a:rPr baseline="-25000" lang="en"/>
              <a:t>Eig</a:t>
            </a:r>
            <a:r>
              <a:rPr lang="en"/>
              <a:t>)</a:t>
            </a:r>
            <a:endParaRPr/>
          </a:p>
        </p:txBody>
      </p:sp>
      <p:sp>
        <p:nvSpPr>
          <p:cNvPr id="6823" name="Google Shape;6823;p349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24" name="Google Shape;6824;p349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25" name="Google Shape;6825;p349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26" name="Google Shape;6826;p349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27" name="Google Shape;6827;p349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28" name="Google Shape;6828;p349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29" name="Google Shape;6829;p349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0" name="Google Shape;6830;p349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1" name="Google Shape;6831;p349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2" name="Google Shape;6832;p349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3" name="Google Shape;6833;p349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4" name="Google Shape;6834;p349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5" name="Google Shape;6835;p349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6" name="Google Shape;6836;p349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7" name="Google Shape;6837;p349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8" name="Google Shape;6838;p349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39" name="Google Shape;6839;p349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40" name="Google Shape;6840;p349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41" name="Google Shape;6841;p349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42" name="Google Shape;6842;p349"/>
          <p:cNvCxnSpPr>
            <a:stCxn id="6841" idx="2"/>
            <a:endCxn id="6840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43" name="Google Shape;6843;p349"/>
          <p:cNvCxnSpPr>
            <a:stCxn id="6839" idx="0"/>
            <a:endCxn id="6840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44" name="Google Shape;6844;p349"/>
          <p:cNvCxnSpPr>
            <a:stCxn id="6838" idx="2"/>
            <a:endCxn id="6839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45" name="Google Shape;6845;p349"/>
          <p:cNvCxnSpPr>
            <a:stCxn id="6838" idx="2"/>
            <a:endCxn id="6834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46" name="Google Shape;6846;p349"/>
          <p:cNvCxnSpPr>
            <a:stCxn id="6838" idx="2"/>
            <a:endCxn id="6837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47" name="Google Shape;6847;p349"/>
          <p:cNvCxnSpPr>
            <a:stCxn id="6837" idx="2"/>
            <a:endCxn id="6834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48" name="Google Shape;6848;p349"/>
          <p:cNvCxnSpPr>
            <a:stCxn id="6837" idx="1"/>
            <a:endCxn id="6833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49" name="Google Shape;6849;p349"/>
          <p:cNvCxnSpPr>
            <a:stCxn id="6836" idx="0"/>
            <a:endCxn id="6834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0" name="Google Shape;6850;p349"/>
          <p:cNvCxnSpPr>
            <a:stCxn id="6835" idx="7"/>
            <a:endCxn id="6834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1" name="Google Shape;6851;p349"/>
          <p:cNvCxnSpPr>
            <a:stCxn id="6836" idx="1"/>
            <a:endCxn id="6835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2" name="Google Shape;6852;p349"/>
          <p:cNvCxnSpPr>
            <a:stCxn id="6834" idx="2"/>
            <a:endCxn id="6832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3" name="Google Shape;6853;p349"/>
          <p:cNvCxnSpPr>
            <a:stCxn id="6835" idx="0"/>
            <a:endCxn id="6832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4" name="Google Shape;6854;p349"/>
          <p:cNvCxnSpPr>
            <a:stCxn id="6834" idx="0"/>
            <a:endCxn id="6833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5" name="Google Shape;6855;p349"/>
          <p:cNvCxnSpPr>
            <a:stCxn id="6832" idx="7"/>
            <a:endCxn id="6833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6" name="Google Shape;6856;p349"/>
          <p:cNvCxnSpPr>
            <a:stCxn id="6832" idx="2"/>
            <a:endCxn id="6830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7" name="Google Shape;6857;p349"/>
          <p:cNvCxnSpPr>
            <a:stCxn id="6831" idx="0"/>
            <a:endCxn id="6830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8" name="Google Shape;6858;p349"/>
          <p:cNvCxnSpPr>
            <a:stCxn id="6830" idx="3"/>
            <a:endCxn id="6829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59" name="Google Shape;6859;p349"/>
          <p:cNvCxnSpPr>
            <a:stCxn id="6828" idx="5"/>
            <a:endCxn id="6829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0" name="Google Shape;6860;p349"/>
          <p:cNvCxnSpPr>
            <a:stCxn id="6825" idx="4"/>
            <a:endCxn id="6828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1" name="Google Shape;6861;p349"/>
          <p:cNvCxnSpPr>
            <a:stCxn id="6830" idx="1"/>
            <a:endCxn id="6825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2" name="Google Shape;6862;p349"/>
          <p:cNvCxnSpPr>
            <a:stCxn id="6828" idx="2"/>
            <a:endCxn id="6827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3" name="Google Shape;6863;p349"/>
          <p:cNvCxnSpPr>
            <a:stCxn id="6828" idx="0"/>
            <a:endCxn id="6826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4" name="Google Shape;6864;p349"/>
          <p:cNvCxnSpPr>
            <a:stCxn id="6826" idx="3"/>
            <a:endCxn id="6827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5" name="Google Shape;6865;p349"/>
          <p:cNvCxnSpPr>
            <a:stCxn id="6823" idx="4"/>
            <a:endCxn id="6827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6" name="Google Shape;6866;p349"/>
          <p:cNvCxnSpPr>
            <a:stCxn id="6824" idx="2"/>
            <a:endCxn id="6823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7" name="Google Shape;6867;p349"/>
          <p:cNvCxnSpPr>
            <a:stCxn id="6824" idx="3"/>
            <a:endCxn id="6826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8" name="Google Shape;6868;p349"/>
          <p:cNvCxnSpPr>
            <a:stCxn id="6825" idx="2"/>
            <a:endCxn id="6823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9" name="Google Shape;6869;p349"/>
          <p:cNvCxnSpPr>
            <a:stCxn id="6825" idx="1"/>
            <a:endCxn id="6824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70" name="Google Shape;6870;p349"/>
          <p:cNvCxnSpPr>
            <a:stCxn id="6825" idx="2"/>
            <a:endCxn id="6826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71" name="Google Shape;6871;p349"/>
          <p:cNvCxnSpPr>
            <a:stCxn id="6826" idx="1"/>
            <a:endCxn id="6823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72" name="Google Shape;6872;p349"/>
          <p:cNvCxnSpPr>
            <a:stCxn id="6834" idx="6"/>
            <a:endCxn id="6839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73" name="Google Shape;6873;p349"/>
          <p:cNvSpPr txBox="1"/>
          <p:nvPr/>
        </p:nvSpPr>
        <p:spPr>
          <a:xfrm>
            <a:off x="2891325" y="1178425"/>
            <a:ext cx="40710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A 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node that is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directly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and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indirectly 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connected to other nodes of high degree has the highest eigenvector centrality! 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77" name="Shape 6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8" name="Google Shape;6878;p35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Eigenvector (C</a:t>
            </a:r>
            <a:r>
              <a:rPr baseline="-25000" lang="en"/>
              <a:t>Eig</a:t>
            </a:r>
            <a:r>
              <a:rPr lang="en"/>
              <a:t>)</a:t>
            </a:r>
            <a:endParaRPr/>
          </a:p>
        </p:txBody>
      </p:sp>
      <p:sp>
        <p:nvSpPr>
          <p:cNvPr id="6879" name="Google Shape;6879;p350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0" name="Google Shape;6880;p350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1" name="Google Shape;6881;p350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2" name="Google Shape;6882;p350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3" name="Google Shape;6883;p350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4" name="Google Shape;6884;p350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5" name="Google Shape;6885;p350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6" name="Google Shape;6886;p350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7" name="Google Shape;6887;p350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8" name="Google Shape;6888;p350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89" name="Google Shape;6889;p350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0" name="Google Shape;6890;p350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1" name="Google Shape;6891;p350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2" name="Google Shape;6892;p350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3" name="Google Shape;6893;p350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4" name="Google Shape;6894;p350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5" name="Google Shape;6895;p350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6" name="Google Shape;6896;p350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7" name="Google Shape;6897;p350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98" name="Google Shape;6898;p350"/>
          <p:cNvCxnSpPr>
            <a:stCxn id="6897" idx="2"/>
            <a:endCxn id="6896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99" name="Google Shape;6899;p350"/>
          <p:cNvCxnSpPr>
            <a:stCxn id="6895" idx="0"/>
            <a:endCxn id="6896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0" name="Google Shape;6900;p350"/>
          <p:cNvCxnSpPr>
            <a:stCxn id="6894" idx="2"/>
            <a:endCxn id="6895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1" name="Google Shape;6901;p350"/>
          <p:cNvCxnSpPr>
            <a:stCxn id="6894" idx="2"/>
            <a:endCxn id="6890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2" name="Google Shape;6902;p350"/>
          <p:cNvCxnSpPr>
            <a:stCxn id="6894" idx="2"/>
            <a:endCxn id="6893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3" name="Google Shape;6903;p350"/>
          <p:cNvCxnSpPr>
            <a:stCxn id="6893" idx="2"/>
            <a:endCxn id="6890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4" name="Google Shape;6904;p350"/>
          <p:cNvCxnSpPr>
            <a:stCxn id="6893" idx="1"/>
            <a:endCxn id="6889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5" name="Google Shape;6905;p350"/>
          <p:cNvCxnSpPr>
            <a:stCxn id="6892" idx="0"/>
            <a:endCxn id="6890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6" name="Google Shape;6906;p350"/>
          <p:cNvCxnSpPr>
            <a:stCxn id="6891" idx="7"/>
            <a:endCxn id="6890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7" name="Google Shape;6907;p350"/>
          <p:cNvCxnSpPr>
            <a:stCxn id="6892" idx="1"/>
            <a:endCxn id="6891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8" name="Google Shape;6908;p350"/>
          <p:cNvCxnSpPr>
            <a:stCxn id="6890" idx="2"/>
            <a:endCxn id="6888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09" name="Google Shape;6909;p350"/>
          <p:cNvCxnSpPr>
            <a:stCxn id="6891" idx="0"/>
            <a:endCxn id="6888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0" name="Google Shape;6910;p350"/>
          <p:cNvCxnSpPr>
            <a:stCxn id="6890" idx="0"/>
            <a:endCxn id="6889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1" name="Google Shape;6911;p350"/>
          <p:cNvCxnSpPr>
            <a:stCxn id="6888" idx="7"/>
            <a:endCxn id="6889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2" name="Google Shape;6912;p350"/>
          <p:cNvCxnSpPr>
            <a:stCxn id="6888" idx="2"/>
            <a:endCxn id="6886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3" name="Google Shape;6913;p350"/>
          <p:cNvCxnSpPr>
            <a:stCxn id="6887" idx="0"/>
            <a:endCxn id="6886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4" name="Google Shape;6914;p350"/>
          <p:cNvCxnSpPr>
            <a:stCxn id="6886" idx="3"/>
            <a:endCxn id="6885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5" name="Google Shape;6915;p350"/>
          <p:cNvCxnSpPr>
            <a:stCxn id="6884" idx="5"/>
            <a:endCxn id="6885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6" name="Google Shape;6916;p350"/>
          <p:cNvCxnSpPr>
            <a:stCxn id="6881" idx="4"/>
            <a:endCxn id="6884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7" name="Google Shape;6917;p350"/>
          <p:cNvCxnSpPr>
            <a:stCxn id="6886" idx="1"/>
            <a:endCxn id="6881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8" name="Google Shape;6918;p350"/>
          <p:cNvCxnSpPr>
            <a:stCxn id="6884" idx="2"/>
            <a:endCxn id="6883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19" name="Google Shape;6919;p350"/>
          <p:cNvCxnSpPr>
            <a:stCxn id="6884" idx="0"/>
            <a:endCxn id="6882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0" name="Google Shape;6920;p350"/>
          <p:cNvCxnSpPr>
            <a:stCxn id="6882" idx="3"/>
            <a:endCxn id="6883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1" name="Google Shape;6921;p350"/>
          <p:cNvCxnSpPr>
            <a:stCxn id="6879" idx="4"/>
            <a:endCxn id="6883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2" name="Google Shape;6922;p350"/>
          <p:cNvCxnSpPr>
            <a:stCxn id="6880" idx="2"/>
            <a:endCxn id="6879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3" name="Google Shape;6923;p350"/>
          <p:cNvCxnSpPr>
            <a:stCxn id="6880" idx="3"/>
            <a:endCxn id="6882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4" name="Google Shape;6924;p350"/>
          <p:cNvCxnSpPr>
            <a:stCxn id="6881" idx="2"/>
            <a:endCxn id="6879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5" name="Google Shape;6925;p350"/>
          <p:cNvCxnSpPr>
            <a:stCxn id="6881" idx="1"/>
            <a:endCxn id="6880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6" name="Google Shape;6926;p350"/>
          <p:cNvCxnSpPr>
            <a:stCxn id="6881" idx="2"/>
            <a:endCxn id="6882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7" name="Google Shape;6927;p350"/>
          <p:cNvCxnSpPr>
            <a:stCxn id="6882" idx="1"/>
            <a:endCxn id="6879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28" name="Google Shape;6928;p350"/>
          <p:cNvCxnSpPr>
            <a:stCxn id="6890" idx="6"/>
            <a:endCxn id="6895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29" name="Google Shape;6929;p350"/>
          <p:cNvSpPr/>
          <p:nvPr/>
        </p:nvSpPr>
        <p:spPr>
          <a:xfrm>
            <a:off x="2807325" y="1196125"/>
            <a:ext cx="34023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In this graph this node has the highest eigenvector centrality!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6930" name="Google Shape;6930;p350"/>
          <p:cNvCxnSpPr>
            <a:stCxn id="6929" idx="3"/>
            <a:endCxn id="6882" idx="7"/>
          </p:cNvCxnSpPr>
          <p:nvPr/>
        </p:nvCxnSpPr>
        <p:spPr>
          <a:xfrm flipH="1">
            <a:off x="1870980" y="1905684"/>
            <a:ext cx="1434600" cy="871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34" name="Shape 6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5" name="Google Shape;6935;p35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Eigenvector (C</a:t>
            </a:r>
            <a:r>
              <a:rPr baseline="-25000" lang="en"/>
              <a:t>Eig</a:t>
            </a:r>
            <a:r>
              <a:rPr lang="en"/>
              <a:t>)</a:t>
            </a:r>
            <a:endParaRPr/>
          </a:p>
        </p:txBody>
      </p:sp>
      <p:sp>
        <p:nvSpPr>
          <p:cNvPr id="6936" name="Google Shape;6936;p351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37" name="Google Shape;6937;p351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38" name="Google Shape;6938;p351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39" name="Google Shape;6939;p351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0" name="Google Shape;6940;p351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1" name="Google Shape;6941;p351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2" name="Google Shape;6942;p351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3" name="Google Shape;6943;p351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4" name="Google Shape;6944;p351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5" name="Google Shape;6945;p351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6" name="Google Shape;6946;p351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7" name="Google Shape;6947;p351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8" name="Google Shape;6948;p351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49" name="Google Shape;6949;p351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50" name="Google Shape;6950;p351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51" name="Google Shape;6951;p351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52" name="Google Shape;6952;p351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53" name="Google Shape;6953;p351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54" name="Google Shape;6954;p351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955" name="Google Shape;6955;p351"/>
          <p:cNvCxnSpPr>
            <a:stCxn id="6954" idx="2"/>
            <a:endCxn id="6953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56" name="Google Shape;6956;p351"/>
          <p:cNvCxnSpPr>
            <a:stCxn id="6952" idx="0"/>
            <a:endCxn id="6953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57" name="Google Shape;6957;p351"/>
          <p:cNvCxnSpPr>
            <a:stCxn id="6951" idx="2"/>
            <a:endCxn id="6952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58" name="Google Shape;6958;p351"/>
          <p:cNvCxnSpPr>
            <a:stCxn id="6951" idx="2"/>
            <a:endCxn id="6947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59" name="Google Shape;6959;p351"/>
          <p:cNvCxnSpPr>
            <a:stCxn id="6951" idx="2"/>
            <a:endCxn id="6950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0" name="Google Shape;6960;p351"/>
          <p:cNvCxnSpPr>
            <a:stCxn id="6950" idx="2"/>
            <a:endCxn id="6947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1" name="Google Shape;6961;p351"/>
          <p:cNvCxnSpPr>
            <a:stCxn id="6950" idx="1"/>
            <a:endCxn id="6946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2" name="Google Shape;6962;p351"/>
          <p:cNvCxnSpPr>
            <a:stCxn id="6949" idx="0"/>
            <a:endCxn id="6947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3" name="Google Shape;6963;p351"/>
          <p:cNvCxnSpPr>
            <a:stCxn id="6948" idx="7"/>
            <a:endCxn id="6947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4" name="Google Shape;6964;p351"/>
          <p:cNvCxnSpPr>
            <a:stCxn id="6949" idx="1"/>
            <a:endCxn id="6948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5" name="Google Shape;6965;p351"/>
          <p:cNvCxnSpPr>
            <a:stCxn id="6947" idx="2"/>
            <a:endCxn id="6945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6" name="Google Shape;6966;p351"/>
          <p:cNvCxnSpPr>
            <a:stCxn id="6948" idx="0"/>
            <a:endCxn id="6945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7" name="Google Shape;6967;p351"/>
          <p:cNvCxnSpPr>
            <a:stCxn id="6947" idx="0"/>
            <a:endCxn id="6946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8" name="Google Shape;6968;p351"/>
          <p:cNvCxnSpPr>
            <a:stCxn id="6945" idx="7"/>
            <a:endCxn id="6946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69" name="Google Shape;6969;p351"/>
          <p:cNvCxnSpPr>
            <a:stCxn id="6945" idx="2"/>
            <a:endCxn id="6943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0" name="Google Shape;6970;p351"/>
          <p:cNvCxnSpPr>
            <a:stCxn id="6944" idx="0"/>
            <a:endCxn id="6943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1" name="Google Shape;6971;p351"/>
          <p:cNvCxnSpPr>
            <a:stCxn id="6943" idx="3"/>
            <a:endCxn id="6942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2" name="Google Shape;6972;p351"/>
          <p:cNvCxnSpPr>
            <a:stCxn id="6941" idx="5"/>
            <a:endCxn id="6942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3" name="Google Shape;6973;p351"/>
          <p:cNvCxnSpPr>
            <a:stCxn id="6938" idx="4"/>
            <a:endCxn id="6941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4" name="Google Shape;6974;p351"/>
          <p:cNvCxnSpPr>
            <a:stCxn id="6943" idx="1"/>
            <a:endCxn id="6938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5" name="Google Shape;6975;p351"/>
          <p:cNvCxnSpPr>
            <a:stCxn id="6941" idx="2"/>
            <a:endCxn id="6940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6" name="Google Shape;6976;p351"/>
          <p:cNvCxnSpPr>
            <a:stCxn id="6941" idx="0"/>
            <a:endCxn id="6939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7" name="Google Shape;6977;p351"/>
          <p:cNvCxnSpPr>
            <a:stCxn id="6939" idx="3"/>
            <a:endCxn id="6940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8" name="Google Shape;6978;p351"/>
          <p:cNvCxnSpPr>
            <a:stCxn id="6936" idx="4"/>
            <a:endCxn id="6940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79" name="Google Shape;6979;p351"/>
          <p:cNvCxnSpPr>
            <a:stCxn id="6937" idx="2"/>
            <a:endCxn id="6936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80" name="Google Shape;6980;p351"/>
          <p:cNvCxnSpPr>
            <a:stCxn id="6938" idx="2"/>
            <a:endCxn id="6936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81" name="Google Shape;6981;p351"/>
          <p:cNvCxnSpPr>
            <a:stCxn id="6938" idx="1"/>
            <a:endCxn id="6937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82" name="Google Shape;6982;p351"/>
          <p:cNvCxnSpPr>
            <a:stCxn id="6938" idx="2"/>
            <a:endCxn id="6939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83" name="Google Shape;6983;p351"/>
          <p:cNvCxnSpPr>
            <a:stCxn id="6939" idx="1"/>
            <a:endCxn id="6936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984" name="Google Shape;6984;p351"/>
          <p:cNvCxnSpPr>
            <a:stCxn id="6947" idx="6"/>
            <a:endCxn id="6952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85" name="Google Shape;6985;p351"/>
          <p:cNvSpPr txBox="1"/>
          <p:nvPr/>
        </p:nvSpPr>
        <p:spPr>
          <a:xfrm>
            <a:off x="2891325" y="1178425"/>
            <a:ext cx="43377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Node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d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is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directly 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connected to other nodes that have high degree 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of centrality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(for this graph)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986" name="Google Shape;6986;p351"/>
          <p:cNvCxnSpPr>
            <a:stCxn id="6937" idx="3"/>
            <a:endCxn id="6939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87" name="Google Shape;6987;p351"/>
          <p:cNvSpPr txBox="1"/>
          <p:nvPr/>
        </p:nvSpPr>
        <p:spPr>
          <a:xfrm>
            <a:off x="2013150" y="1016625"/>
            <a:ext cx="7296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(e) = 3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988" name="Google Shape;6988;p351"/>
          <p:cNvSpPr txBox="1"/>
          <p:nvPr/>
        </p:nvSpPr>
        <p:spPr>
          <a:xfrm>
            <a:off x="3553925" y="2276675"/>
            <a:ext cx="853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(g) = 5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989" name="Google Shape;6989;p351"/>
          <p:cNvSpPr txBox="1"/>
          <p:nvPr/>
        </p:nvSpPr>
        <p:spPr>
          <a:xfrm>
            <a:off x="1732750" y="4144675"/>
            <a:ext cx="853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(f) = 4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990" name="Google Shape;6990;p351"/>
          <p:cNvSpPr txBox="1"/>
          <p:nvPr/>
        </p:nvSpPr>
        <p:spPr>
          <a:xfrm>
            <a:off x="189850" y="4092125"/>
            <a:ext cx="853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(a) = 3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6991" name="Google Shape;6991;p351"/>
          <p:cNvSpPr txBox="1"/>
          <p:nvPr/>
        </p:nvSpPr>
        <p:spPr>
          <a:xfrm>
            <a:off x="189850" y="1365825"/>
            <a:ext cx="853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(b) = 4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95" name="Shape 6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6" name="Google Shape;6996;p35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Eigenvector (C</a:t>
            </a:r>
            <a:r>
              <a:rPr baseline="-25000" lang="en"/>
              <a:t>Eig</a:t>
            </a:r>
            <a:r>
              <a:rPr lang="en"/>
              <a:t>)</a:t>
            </a:r>
            <a:endParaRPr/>
          </a:p>
        </p:txBody>
      </p:sp>
      <p:sp>
        <p:nvSpPr>
          <p:cNvPr id="6997" name="Google Shape;6997;p352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98" name="Google Shape;6998;p352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99" name="Google Shape;6999;p352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0" name="Google Shape;7000;p352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1" name="Google Shape;7001;p352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2" name="Google Shape;7002;p352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3" name="Google Shape;7003;p352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4" name="Google Shape;7004;p352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5" name="Google Shape;7005;p352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6" name="Google Shape;7006;p352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7" name="Google Shape;7007;p352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8" name="Google Shape;7008;p352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09" name="Google Shape;7009;p352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10" name="Google Shape;7010;p352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11" name="Google Shape;7011;p352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12" name="Google Shape;7012;p352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13" name="Google Shape;7013;p352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14" name="Google Shape;7014;p352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15" name="Google Shape;7015;p352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7016" name="Google Shape;7016;p352"/>
          <p:cNvCxnSpPr>
            <a:stCxn id="7015" idx="2"/>
            <a:endCxn id="7014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17" name="Google Shape;7017;p352"/>
          <p:cNvCxnSpPr>
            <a:stCxn id="7013" idx="0"/>
            <a:endCxn id="7014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18" name="Google Shape;7018;p352"/>
          <p:cNvCxnSpPr>
            <a:stCxn id="7012" idx="2"/>
            <a:endCxn id="7013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19" name="Google Shape;7019;p352"/>
          <p:cNvCxnSpPr>
            <a:stCxn id="7012" idx="2"/>
            <a:endCxn id="7008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0" name="Google Shape;7020;p352"/>
          <p:cNvCxnSpPr>
            <a:stCxn id="7012" idx="2"/>
            <a:endCxn id="7011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1" name="Google Shape;7021;p352"/>
          <p:cNvCxnSpPr>
            <a:stCxn id="7011" idx="2"/>
            <a:endCxn id="7008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2" name="Google Shape;7022;p352"/>
          <p:cNvCxnSpPr>
            <a:stCxn id="7011" idx="1"/>
            <a:endCxn id="7007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3" name="Google Shape;7023;p352"/>
          <p:cNvCxnSpPr>
            <a:stCxn id="7010" idx="0"/>
            <a:endCxn id="7008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4" name="Google Shape;7024;p352"/>
          <p:cNvCxnSpPr>
            <a:stCxn id="7009" idx="7"/>
            <a:endCxn id="7008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5" name="Google Shape;7025;p352"/>
          <p:cNvCxnSpPr>
            <a:stCxn id="7010" idx="1"/>
            <a:endCxn id="7009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6" name="Google Shape;7026;p352"/>
          <p:cNvCxnSpPr>
            <a:stCxn id="7008" idx="2"/>
            <a:endCxn id="7006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7" name="Google Shape;7027;p352"/>
          <p:cNvCxnSpPr>
            <a:stCxn id="7009" idx="0"/>
            <a:endCxn id="7006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8" name="Google Shape;7028;p352"/>
          <p:cNvCxnSpPr>
            <a:stCxn id="7008" idx="0"/>
            <a:endCxn id="7007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29" name="Google Shape;7029;p352"/>
          <p:cNvCxnSpPr>
            <a:stCxn id="7006" idx="7"/>
            <a:endCxn id="7007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0" name="Google Shape;7030;p352"/>
          <p:cNvCxnSpPr>
            <a:stCxn id="7006" idx="2"/>
            <a:endCxn id="7004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1" name="Google Shape;7031;p352"/>
          <p:cNvCxnSpPr>
            <a:stCxn id="7005" idx="0"/>
            <a:endCxn id="7004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2" name="Google Shape;7032;p352"/>
          <p:cNvCxnSpPr>
            <a:stCxn id="7004" idx="3"/>
            <a:endCxn id="7003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3" name="Google Shape;7033;p352"/>
          <p:cNvCxnSpPr>
            <a:stCxn id="7002" idx="5"/>
            <a:endCxn id="7003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4" name="Google Shape;7034;p352"/>
          <p:cNvCxnSpPr>
            <a:stCxn id="6999" idx="4"/>
            <a:endCxn id="7002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5" name="Google Shape;7035;p352"/>
          <p:cNvCxnSpPr>
            <a:stCxn id="7004" idx="1"/>
            <a:endCxn id="6999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6" name="Google Shape;7036;p352"/>
          <p:cNvCxnSpPr>
            <a:stCxn id="7002" idx="2"/>
            <a:endCxn id="7001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7" name="Google Shape;7037;p352"/>
          <p:cNvCxnSpPr>
            <a:stCxn id="7002" idx="0"/>
            <a:endCxn id="7000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8" name="Google Shape;7038;p352"/>
          <p:cNvCxnSpPr>
            <a:stCxn id="7000" idx="3"/>
            <a:endCxn id="7001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39" name="Google Shape;7039;p352"/>
          <p:cNvCxnSpPr>
            <a:stCxn id="6997" idx="4"/>
            <a:endCxn id="7001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40" name="Google Shape;7040;p352"/>
          <p:cNvCxnSpPr>
            <a:stCxn id="6998" idx="2"/>
            <a:endCxn id="6997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41" name="Google Shape;7041;p352"/>
          <p:cNvCxnSpPr>
            <a:stCxn id="6998" idx="3"/>
            <a:endCxn id="7000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42" name="Google Shape;7042;p352"/>
          <p:cNvCxnSpPr>
            <a:stCxn id="6999" idx="2"/>
            <a:endCxn id="6997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43" name="Google Shape;7043;p352"/>
          <p:cNvCxnSpPr>
            <a:stCxn id="6999" idx="1"/>
            <a:endCxn id="6998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44" name="Google Shape;7044;p352"/>
          <p:cNvCxnSpPr>
            <a:stCxn id="6999" idx="2"/>
            <a:endCxn id="7000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45" name="Google Shape;7045;p352"/>
          <p:cNvCxnSpPr>
            <a:stCxn id="7000" idx="1"/>
            <a:endCxn id="6997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46" name="Google Shape;7046;p352"/>
          <p:cNvCxnSpPr>
            <a:stCxn id="7008" idx="6"/>
            <a:endCxn id="7013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47" name="Google Shape;7047;p352"/>
          <p:cNvSpPr txBox="1"/>
          <p:nvPr/>
        </p:nvSpPr>
        <p:spPr>
          <a:xfrm>
            <a:off x="2891325" y="1178425"/>
            <a:ext cx="42435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N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ode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d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is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indirectly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connected to other high-degree nodes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48" name="Google Shape;7048;p352"/>
          <p:cNvSpPr txBox="1"/>
          <p:nvPr/>
        </p:nvSpPr>
        <p:spPr>
          <a:xfrm>
            <a:off x="6187350" y="2460525"/>
            <a:ext cx="853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(j) = 7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52" name="Shape 7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3" name="Google Shape;7053;p35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Eigenvector (C</a:t>
            </a:r>
            <a:r>
              <a:rPr baseline="-25000" lang="en"/>
              <a:t>Eig</a:t>
            </a:r>
            <a:r>
              <a:rPr lang="en"/>
              <a:t>)</a:t>
            </a:r>
            <a:endParaRPr/>
          </a:p>
        </p:txBody>
      </p:sp>
      <p:sp>
        <p:nvSpPr>
          <p:cNvPr id="7054" name="Google Shape;7054;p353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55" name="Google Shape;7055;p353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56" name="Google Shape;7056;p353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57" name="Google Shape;7057;p353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58" name="Google Shape;7058;p353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59" name="Google Shape;7059;p353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0" name="Google Shape;7060;p353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1" name="Google Shape;7061;p353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2" name="Google Shape;7062;p353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3" name="Google Shape;7063;p353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4" name="Google Shape;7064;p353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5" name="Google Shape;7065;p353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6" name="Google Shape;7066;p353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7" name="Google Shape;7067;p353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8" name="Google Shape;7068;p353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69" name="Google Shape;7069;p353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70" name="Google Shape;7070;p353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71" name="Google Shape;7071;p353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072" name="Google Shape;7072;p353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7073" name="Google Shape;7073;p353"/>
          <p:cNvCxnSpPr>
            <a:stCxn id="7072" idx="2"/>
            <a:endCxn id="7071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74" name="Google Shape;7074;p353"/>
          <p:cNvCxnSpPr>
            <a:stCxn id="7070" idx="0"/>
            <a:endCxn id="7071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75" name="Google Shape;7075;p353"/>
          <p:cNvCxnSpPr>
            <a:stCxn id="7069" idx="2"/>
            <a:endCxn id="7070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76" name="Google Shape;7076;p353"/>
          <p:cNvCxnSpPr>
            <a:stCxn id="7069" idx="2"/>
            <a:endCxn id="7065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77" name="Google Shape;7077;p353"/>
          <p:cNvCxnSpPr>
            <a:stCxn id="7069" idx="2"/>
            <a:endCxn id="7068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78" name="Google Shape;7078;p353"/>
          <p:cNvCxnSpPr>
            <a:stCxn id="7068" idx="2"/>
            <a:endCxn id="7065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79" name="Google Shape;7079;p353"/>
          <p:cNvCxnSpPr>
            <a:stCxn id="7068" idx="1"/>
            <a:endCxn id="7064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0" name="Google Shape;7080;p353"/>
          <p:cNvCxnSpPr>
            <a:stCxn id="7067" idx="0"/>
            <a:endCxn id="7065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1" name="Google Shape;7081;p353"/>
          <p:cNvCxnSpPr>
            <a:stCxn id="7066" idx="7"/>
            <a:endCxn id="7065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2" name="Google Shape;7082;p353"/>
          <p:cNvCxnSpPr>
            <a:stCxn id="7067" idx="1"/>
            <a:endCxn id="7066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3" name="Google Shape;7083;p353"/>
          <p:cNvCxnSpPr>
            <a:stCxn id="7065" idx="2"/>
            <a:endCxn id="7063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4" name="Google Shape;7084;p353"/>
          <p:cNvCxnSpPr>
            <a:stCxn id="7066" idx="0"/>
            <a:endCxn id="7063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5" name="Google Shape;7085;p353"/>
          <p:cNvCxnSpPr>
            <a:stCxn id="7065" idx="0"/>
            <a:endCxn id="7064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6" name="Google Shape;7086;p353"/>
          <p:cNvCxnSpPr>
            <a:stCxn id="7063" idx="7"/>
            <a:endCxn id="7064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7" name="Google Shape;7087;p353"/>
          <p:cNvCxnSpPr>
            <a:stCxn id="7063" idx="2"/>
            <a:endCxn id="7061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8" name="Google Shape;7088;p353"/>
          <p:cNvCxnSpPr>
            <a:stCxn id="7062" idx="0"/>
            <a:endCxn id="7061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89" name="Google Shape;7089;p353"/>
          <p:cNvCxnSpPr>
            <a:stCxn id="7061" idx="3"/>
            <a:endCxn id="7060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0" name="Google Shape;7090;p353"/>
          <p:cNvCxnSpPr>
            <a:stCxn id="7059" idx="5"/>
            <a:endCxn id="7060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1" name="Google Shape;7091;p353"/>
          <p:cNvCxnSpPr>
            <a:stCxn id="7056" idx="4"/>
            <a:endCxn id="7059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2" name="Google Shape;7092;p353"/>
          <p:cNvCxnSpPr>
            <a:stCxn id="7061" idx="1"/>
            <a:endCxn id="7056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3" name="Google Shape;7093;p353"/>
          <p:cNvCxnSpPr>
            <a:stCxn id="7059" idx="2"/>
            <a:endCxn id="7058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4" name="Google Shape;7094;p353"/>
          <p:cNvCxnSpPr>
            <a:stCxn id="7059" idx="0"/>
            <a:endCxn id="7057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5" name="Google Shape;7095;p353"/>
          <p:cNvCxnSpPr>
            <a:stCxn id="7057" idx="3"/>
            <a:endCxn id="7058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6" name="Google Shape;7096;p353"/>
          <p:cNvCxnSpPr>
            <a:stCxn id="7054" idx="4"/>
            <a:endCxn id="7058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7" name="Google Shape;7097;p353"/>
          <p:cNvCxnSpPr>
            <a:stCxn id="7055" idx="2"/>
            <a:endCxn id="7054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8" name="Google Shape;7098;p353"/>
          <p:cNvCxnSpPr>
            <a:stCxn id="7055" idx="3"/>
            <a:endCxn id="7057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99" name="Google Shape;7099;p353"/>
          <p:cNvCxnSpPr>
            <a:stCxn id="7056" idx="2"/>
            <a:endCxn id="7054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00" name="Google Shape;7100;p353"/>
          <p:cNvCxnSpPr>
            <a:stCxn id="7056" idx="1"/>
            <a:endCxn id="7055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01" name="Google Shape;7101;p353"/>
          <p:cNvCxnSpPr>
            <a:stCxn id="7056" idx="2"/>
            <a:endCxn id="7057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02" name="Google Shape;7102;p353"/>
          <p:cNvCxnSpPr>
            <a:stCxn id="7057" idx="1"/>
            <a:endCxn id="7054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03" name="Google Shape;7103;p353"/>
          <p:cNvCxnSpPr>
            <a:stCxn id="7065" idx="6"/>
            <a:endCxn id="7070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104" name="Google Shape;7104;p353"/>
          <p:cNvSpPr txBox="1"/>
          <p:nvPr/>
        </p:nvSpPr>
        <p:spPr>
          <a:xfrm>
            <a:off x="2760600" y="1178425"/>
            <a:ext cx="45873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It is called “eigenvector” because it is calculated using a matrix algebra called </a:t>
            </a: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eigenvalue decomposition 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to rank each node according to whether they are connected to well-connected others.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05" name="Google Shape;7105;p353"/>
          <p:cNvSpPr txBox="1"/>
          <p:nvPr/>
        </p:nvSpPr>
        <p:spPr>
          <a:xfrm>
            <a:off x="6187350" y="2460525"/>
            <a:ext cx="853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(j) = 7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09" name="Shape 7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0" name="Google Shape;7110;p35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Centrality Beyond Degree: Eigenvector (C</a:t>
            </a:r>
            <a:r>
              <a:rPr baseline="-25000" lang="en"/>
              <a:t>Eig</a:t>
            </a:r>
            <a:r>
              <a:rPr lang="en"/>
              <a:t>)</a:t>
            </a:r>
            <a:endParaRPr/>
          </a:p>
        </p:txBody>
      </p:sp>
      <p:sp>
        <p:nvSpPr>
          <p:cNvPr id="7111" name="Google Shape;7111;p354"/>
          <p:cNvSpPr/>
          <p:nvPr/>
        </p:nvSpPr>
        <p:spPr>
          <a:xfrm>
            <a:off x="346438" y="19011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b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12" name="Google Shape;7112;p354"/>
          <p:cNvSpPr/>
          <p:nvPr/>
        </p:nvSpPr>
        <p:spPr>
          <a:xfrm>
            <a:off x="2107638" y="1416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e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13" name="Google Shape;7113;p354"/>
          <p:cNvSpPr/>
          <p:nvPr/>
        </p:nvSpPr>
        <p:spPr>
          <a:xfrm>
            <a:off x="3013325" y="223776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14" name="Google Shape;7114;p354"/>
          <p:cNvSpPr/>
          <p:nvPr/>
        </p:nvSpPr>
        <p:spPr>
          <a:xfrm>
            <a:off x="1409500" y="2698325"/>
            <a:ext cx="540600" cy="539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d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15" name="Google Shape;7115;p354"/>
          <p:cNvSpPr/>
          <p:nvPr/>
        </p:nvSpPr>
        <p:spPr>
          <a:xfrm>
            <a:off x="297513" y="3417638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16" name="Google Shape;7116;p354"/>
          <p:cNvSpPr/>
          <p:nvPr/>
        </p:nvSpPr>
        <p:spPr>
          <a:xfrm>
            <a:off x="1889338" y="3579213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f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17" name="Google Shape;7117;p354"/>
          <p:cNvSpPr/>
          <p:nvPr/>
        </p:nvSpPr>
        <p:spPr>
          <a:xfrm>
            <a:off x="2429938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18" name="Google Shape;7118;p354"/>
          <p:cNvSpPr/>
          <p:nvPr/>
        </p:nvSpPr>
        <p:spPr>
          <a:xfrm>
            <a:off x="3596663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h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19" name="Google Shape;7119;p354"/>
          <p:cNvSpPr/>
          <p:nvPr/>
        </p:nvSpPr>
        <p:spPr>
          <a:xfrm>
            <a:off x="3867013" y="454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r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0" name="Google Shape;7120;p354"/>
          <p:cNvSpPr/>
          <p:nvPr/>
        </p:nvSpPr>
        <p:spPr>
          <a:xfrm>
            <a:off x="4922888" y="33459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i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1" name="Google Shape;7121;p354"/>
          <p:cNvSpPr/>
          <p:nvPr/>
        </p:nvSpPr>
        <p:spPr>
          <a:xfrm>
            <a:off x="5463488" y="23794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p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2" name="Google Shape;7122;p354"/>
          <p:cNvSpPr/>
          <p:nvPr/>
        </p:nvSpPr>
        <p:spPr>
          <a:xfrm>
            <a:off x="6089488" y="3345925"/>
            <a:ext cx="540600" cy="539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j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3" name="Google Shape;7123;p354"/>
          <p:cNvSpPr/>
          <p:nvPr/>
        </p:nvSpPr>
        <p:spPr>
          <a:xfrm>
            <a:off x="5463488" y="43163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n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4" name="Google Shape;7124;p354"/>
          <p:cNvSpPr/>
          <p:nvPr/>
        </p:nvSpPr>
        <p:spPr>
          <a:xfrm>
            <a:off x="6835713" y="44248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o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5" name="Google Shape;7125;p354"/>
          <p:cNvSpPr/>
          <p:nvPr/>
        </p:nvSpPr>
        <p:spPr>
          <a:xfrm>
            <a:off x="7393938" y="3479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6" name="Google Shape;7126;p354"/>
          <p:cNvSpPr/>
          <p:nvPr/>
        </p:nvSpPr>
        <p:spPr>
          <a:xfrm>
            <a:off x="8305888" y="265937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l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7" name="Google Shape;7127;p354"/>
          <p:cNvSpPr/>
          <p:nvPr/>
        </p:nvSpPr>
        <p:spPr>
          <a:xfrm>
            <a:off x="7106013" y="2497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m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8" name="Google Shape;7128;p354"/>
          <p:cNvSpPr/>
          <p:nvPr/>
        </p:nvSpPr>
        <p:spPr>
          <a:xfrm>
            <a:off x="7197688" y="1515350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q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29" name="Google Shape;7129;p354"/>
          <p:cNvSpPr/>
          <p:nvPr/>
        </p:nvSpPr>
        <p:spPr>
          <a:xfrm>
            <a:off x="8305888" y="1147225"/>
            <a:ext cx="540600" cy="539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s</a:t>
            </a:r>
            <a:endParaRPr b="1" sz="200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7130" name="Google Shape;7130;p354"/>
          <p:cNvCxnSpPr>
            <a:stCxn id="7129" idx="2"/>
            <a:endCxn id="7128" idx="7"/>
          </p:cNvCxnSpPr>
          <p:nvPr/>
        </p:nvCxnSpPr>
        <p:spPr>
          <a:xfrm flipH="1">
            <a:off x="7659088" y="1416925"/>
            <a:ext cx="646800" cy="17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1" name="Google Shape;7131;p354"/>
          <p:cNvCxnSpPr>
            <a:stCxn id="7127" idx="0"/>
            <a:endCxn id="7128" idx="4"/>
          </p:cNvCxnSpPr>
          <p:nvPr/>
        </p:nvCxnSpPr>
        <p:spPr>
          <a:xfrm flipH="1" rot="10800000">
            <a:off x="7376313" y="2054850"/>
            <a:ext cx="91800" cy="442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2" name="Google Shape;7132;p354"/>
          <p:cNvCxnSpPr>
            <a:stCxn id="7126" idx="2"/>
            <a:endCxn id="7127" idx="6"/>
          </p:cNvCxnSpPr>
          <p:nvPr/>
        </p:nvCxnSpPr>
        <p:spPr>
          <a:xfrm rot="10800000">
            <a:off x="7646488" y="2767075"/>
            <a:ext cx="659400" cy="162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3" name="Google Shape;7133;p354"/>
          <p:cNvCxnSpPr>
            <a:stCxn id="7126" idx="2"/>
            <a:endCxn id="7122" idx="6"/>
          </p:cNvCxnSpPr>
          <p:nvPr/>
        </p:nvCxnSpPr>
        <p:spPr>
          <a:xfrm flipH="1">
            <a:off x="6630088" y="2929075"/>
            <a:ext cx="1675800" cy="6867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4" name="Google Shape;7134;p354"/>
          <p:cNvCxnSpPr>
            <a:stCxn id="7126" idx="2"/>
            <a:endCxn id="7125" idx="7"/>
          </p:cNvCxnSpPr>
          <p:nvPr/>
        </p:nvCxnSpPr>
        <p:spPr>
          <a:xfrm flipH="1">
            <a:off x="7855288" y="2929075"/>
            <a:ext cx="450600" cy="629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5" name="Google Shape;7135;p354"/>
          <p:cNvCxnSpPr>
            <a:stCxn id="7125" idx="2"/>
            <a:endCxn id="7122" idx="6"/>
          </p:cNvCxnSpPr>
          <p:nvPr/>
        </p:nvCxnSpPr>
        <p:spPr>
          <a:xfrm rot="10800000">
            <a:off x="6630138" y="3615550"/>
            <a:ext cx="763800" cy="1335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6" name="Google Shape;7136;p354"/>
          <p:cNvCxnSpPr>
            <a:stCxn id="7125" idx="1"/>
            <a:endCxn id="7121" idx="5"/>
          </p:cNvCxnSpPr>
          <p:nvPr/>
        </p:nvCxnSpPr>
        <p:spPr>
          <a:xfrm rot="10800000">
            <a:off x="5924807" y="2839843"/>
            <a:ext cx="1548300" cy="71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7" name="Google Shape;7137;p354"/>
          <p:cNvCxnSpPr>
            <a:stCxn id="7124" idx="0"/>
            <a:endCxn id="7122" idx="4"/>
          </p:cNvCxnSpPr>
          <p:nvPr/>
        </p:nvCxnSpPr>
        <p:spPr>
          <a:xfrm rot="10800000">
            <a:off x="6359913" y="3885475"/>
            <a:ext cx="746100" cy="5394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8" name="Google Shape;7138;p354"/>
          <p:cNvCxnSpPr>
            <a:stCxn id="7123" idx="7"/>
            <a:endCxn id="7122" idx="4"/>
          </p:cNvCxnSpPr>
          <p:nvPr/>
        </p:nvCxnSpPr>
        <p:spPr>
          <a:xfrm flipH="1" rot="10800000">
            <a:off x="5924918" y="3885318"/>
            <a:ext cx="435000" cy="5100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39" name="Google Shape;7139;p354"/>
          <p:cNvCxnSpPr>
            <a:stCxn id="7124" idx="1"/>
            <a:endCxn id="7123" idx="6"/>
          </p:cNvCxnSpPr>
          <p:nvPr/>
        </p:nvCxnSpPr>
        <p:spPr>
          <a:xfrm flipH="1">
            <a:off x="6004082" y="4503868"/>
            <a:ext cx="910800" cy="82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0" name="Google Shape;7140;p354"/>
          <p:cNvCxnSpPr>
            <a:stCxn id="7122" idx="2"/>
            <a:endCxn id="7120" idx="6"/>
          </p:cNvCxnSpPr>
          <p:nvPr/>
        </p:nvCxnSpPr>
        <p:spPr>
          <a:xfrm rot="10800000">
            <a:off x="5463388" y="3615625"/>
            <a:ext cx="6261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1" name="Google Shape;7141;p354"/>
          <p:cNvCxnSpPr>
            <a:stCxn id="7123" idx="0"/>
            <a:endCxn id="7120" idx="5"/>
          </p:cNvCxnSpPr>
          <p:nvPr/>
        </p:nvCxnSpPr>
        <p:spPr>
          <a:xfrm rot="10800000">
            <a:off x="5384288" y="3806325"/>
            <a:ext cx="349500" cy="510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2" name="Google Shape;7142;p354"/>
          <p:cNvCxnSpPr>
            <a:stCxn id="7122" idx="0"/>
            <a:endCxn id="7121" idx="5"/>
          </p:cNvCxnSpPr>
          <p:nvPr/>
        </p:nvCxnSpPr>
        <p:spPr>
          <a:xfrm rot="10800000">
            <a:off x="5924788" y="2839825"/>
            <a:ext cx="435000" cy="5061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3" name="Google Shape;7143;p354"/>
          <p:cNvCxnSpPr>
            <a:stCxn id="7120" idx="7"/>
            <a:endCxn id="7121" idx="4"/>
          </p:cNvCxnSpPr>
          <p:nvPr/>
        </p:nvCxnSpPr>
        <p:spPr>
          <a:xfrm flipH="1" rot="10800000">
            <a:off x="5384318" y="2918818"/>
            <a:ext cx="349500" cy="5061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4" name="Google Shape;7144;p354"/>
          <p:cNvCxnSpPr>
            <a:stCxn id="7120" idx="2"/>
            <a:endCxn id="7118" idx="6"/>
          </p:cNvCxnSpPr>
          <p:nvPr/>
        </p:nvCxnSpPr>
        <p:spPr>
          <a:xfrm rot="10800000">
            <a:off x="4137188" y="3615625"/>
            <a:ext cx="7857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5" name="Google Shape;7145;p354"/>
          <p:cNvCxnSpPr>
            <a:stCxn id="7119" idx="0"/>
            <a:endCxn id="7118" idx="4"/>
          </p:cNvCxnSpPr>
          <p:nvPr/>
        </p:nvCxnSpPr>
        <p:spPr>
          <a:xfrm rot="10800000">
            <a:off x="3867013" y="3885475"/>
            <a:ext cx="270300" cy="659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6" name="Google Shape;7146;p354"/>
          <p:cNvCxnSpPr>
            <a:stCxn id="7118" idx="3"/>
            <a:endCxn id="7117" idx="7"/>
          </p:cNvCxnSpPr>
          <p:nvPr/>
        </p:nvCxnSpPr>
        <p:spPr>
          <a:xfrm flipH="1">
            <a:off x="2891332" y="3806332"/>
            <a:ext cx="784500" cy="817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7" name="Google Shape;7147;p354"/>
          <p:cNvCxnSpPr>
            <a:stCxn id="7116" idx="5"/>
            <a:endCxn id="7117" idx="0"/>
          </p:cNvCxnSpPr>
          <p:nvPr/>
        </p:nvCxnSpPr>
        <p:spPr>
          <a:xfrm>
            <a:off x="2350768" y="4039619"/>
            <a:ext cx="349500" cy="505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8" name="Google Shape;7148;p354"/>
          <p:cNvCxnSpPr>
            <a:stCxn id="7113" idx="4"/>
            <a:endCxn id="7116" idx="7"/>
          </p:cNvCxnSpPr>
          <p:nvPr/>
        </p:nvCxnSpPr>
        <p:spPr>
          <a:xfrm flipH="1">
            <a:off x="2350625" y="2777163"/>
            <a:ext cx="933000" cy="88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49" name="Google Shape;7149;p354"/>
          <p:cNvCxnSpPr>
            <a:stCxn id="7118" idx="1"/>
            <a:endCxn id="7113" idx="4"/>
          </p:cNvCxnSpPr>
          <p:nvPr/>
        </p:nvCxnSpPr>
        <p:spPr>
          <a:xfrm rot="10800000">
            <a:off x="3283732" y="2777218"/>
            <a:ext cx="392100" cy="647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0" name="Google Shape;7150;p354"/>
          <p:cNvCxnSpPr>
            <a:stCxn id="7116" idx="2"/>
            <a:endCxn id="7115" idx="6"/>
          </p:cNvCxnSpPr>
          <p:nvPr/>
        </p:nvCxnSpPr>
        <p:spPr>
          <a:xfrm rot="10800000">
            <a:off x="838138" y="3687213"/>
            <a:ext cx="1051200" cy="16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1" name="Google Shape;7151;p354"/>
          <p:cNvCxnSpPr>
            <a:stCxn id="7116" idx="0"/>
            <a:endCxn id="7114" idx="4"/>
          </p:cNvCxnSpPr>
          <p:nvPr/>
        </p:nvCxnSpPr>
        <p:spPr>
          <a:xfrm rot="10800000">
            <a:off x="1679938" y="3237813"/>
            <a:ext cx="479700" cy="3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2" name="Google Shape;7152;p354"/>
          <p:cNvCxnSpPr>
            <a:stCxn id="7114" idx="3"/>
            <a:endCxn id="7115" idx="7"/>
          </p:cNvCxnSpPr>
          <p:nvPr/>
        </p:nvCxnSpPr>
        <p:spPr>
          <a:xfrm flipH="1">
            <a:off x="759069" y="3158732"/>
            <a:ext cx="729600" cy="33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3" name="Google Shape;7153;p354"/>
          <p:cNvCxnSpPr>
            <a:stCxn id="7111" idx="4"/>
            <a:endCxn id="7115" idx="0"/>
          </p:cNvCxnSpPr>
          <p:nvPr/>
        </p:nvCxnSpPr>
        <p:spPr>
          <a:xfrm flipH="1">
            <a:off x="567838" y="2440513"/>
            <a:ext cx="48900" cy="97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4" name="Google Shape;7154;p354"/>
          <p:cNvCxnSpPr>
            <a:stCxn id="7112" idx="2"/>
            <a:endCxn id="7111" idx="6"/>
          </p:cNvCxnSpPr>
          <p:nvPr/>
        </p:nvCxnSpPr>
        <p:spPr>
          <a:xfrm flipH="1">
            <a:off x="886938" y="1686625"/>
            <a:ext cx="1220700" cy="48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5" name="Google Shape;7155;p354"/>
          <p:cNvCxnSpPr>
            <a:stCxn id="7112" idx="3"/>
            <a:endCxn id="7114" idx="0"/>
          </p:cNvCxnSpPr>
          <p:nvPr/>
        </p:nvCxnSpPr>
        <p:spPr>
          <a:xfrm flipH="1">
            <a:off x="1679807" y="1877332"/>
            <a:ext cx="507000" cy="821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6" name="Google Shape;7156;p354"/>
          <p:cNvCxnSpPr>
            <a:stCxn id="7113" idx="2"/>
            <a:endCxn id="7111" idx="6"/>
          </p:cNvCxnSpPr>
          <p:nvPr/>
        </p:nvCxnSpPr>
        <p:spPr>
          <a:xfrm rot="10800000">
            <a:off x="886925" y="2170863"/>
            <a:ext cx="2126400" cy="336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7" name="Google Shape;7157;p354"/>
          <p:cNvCxnSpPr>
            <a:stCxn id="7113" idx="1"/>
            <a:endCxn id="7112" idx="5"/>
          </p:cNvCxnSpPr>
          <p:nvPr/>
        </p:nvCxnSpPr>
        <p:spPr>
          <a:xfrm rot="10800000">
            <a:off x="2568994" y="1877256"/>
            <a:ext cx="523500" cy="43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8" name="Google Shape;7158;p354"/>
          <p:cNvCxnSpPr>
            <a:stCxn id="7113" idx="2"/>
            <a:endCxn id="7114" idx="7"/>
          </p:cNvCxnSpPr>
          <p:nvPr/>
        </p:nvCxnSpPr>
        <p:spPr>
          <a:xfrm flipH="1">
            <a:off x="1870925" y="2507463"/>
            <a:ext cx="1142400" cy="2700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59" name="Google Shape;7159;p354"/>
          <p:cNvCxnSpPr>
            <a:stCxn id="7114" idx="1"/>
            <a:endCxn id="7111" idx="5"/>
          </p:cNvCxnSpPr>
          <p:nvPr/>
        </p:nvCxnSpPr>
        <p:spPr>
          <a:xfrm rot="10800000">
            <a:off x="807969" y="2361518"/>
            <a:ext cx="680700" cy="415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60" name="Google Shape;7160;p354"/>
          <p:cNvCxnSpPr>
            <a:stCxn id="7122" idx="6"/>
            <a:endCxn id="7127" idx="3"/>
          </p:cNvCxnSpPr>
          <p:nvPr/>
        </p:nvCxnSpPr>
        <p:spPr>
          <a:xfrm flipH="1" rot="10800000">
            <a:off x="6630088" y="2957725"/>
            <a:ext cx="555000" cy="657900"/>
          </a:xfrm>
          <a:prstGeom prst="straightConnector1">
            <a:avLst/>
          </a:prstGeom>
          <a:noFill/>
          <a:ln cap="flat" cmpd="sng" w="38100">
            <a:solidFill>
              <a:srgbClr val="0D5DD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161" name="Google Shape;7161;p354"/>
          <p:cNvSpPr txBox="1"/>
          <p:nvPr/>
        </p:nvSpPr>
        <p:spPr>
          <a:xfrm>
            <a:off x="2760600" y="1178425"/>
            <a:ext cx="45873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Eigenvector centrality was discovered by a Professor of sociology at UCLA! (Bonacich 1978)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162" name="Google Shape;7162;p354"/>
          <p:cNvSpPr txBox="1"/>
          <p:nvPr/>
        </p:nvSpPr>
        <p:spPr>
          <a:xfrm>
            <a:off x="6187350" y="2460525"/>
            <a:ext cx="853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</a:t>
            </a:r>
            <a:r>
              <a:rPr baseline="-25000" lang="en">
                <a:latin typeface="Economica"/>
                <a:ea typeface="Economica"/>
                <a:cs typeface="Economica"/>
                <a:sym typeface="Economica"/>
              </a:rPr>
              <a:t>deg</a:t>
            </a:r>
            <a:r>
              <a:rPr lang="en">
                <a:latin typeface="Economica"/>
                <a:ea typeface="Economica"/>
                <a:cs typeface="Economica"/>
                <a:sym typeface="Economica"/>
              </a:rPr>
              <a:t>(j) = 7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66" name="Shape 7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7" name="Google Shape;7167;p35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centrality measures and interpretations</a:t>
            </a:r>
            <a:endParaRPr/>
          </a:p>
        </p:txBody>
      </p:sp>
      <p:sp>
        <p:nvSpPr>
          <p:cNvPr id="7168" name="Google Shape;7168;p355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well is a node </a:t>
            </a:r>
            <a:r>
              <a:rPr b="1" lang="en"/>
              <a:t>directly</a:t>
            </a:r>
            <a:r>
              <a:rPr lang="en"/>
              <a:t> </a:t>
            </a:r>
            <a:r>
              <a:rPr b="1" lang="en"/>
              <a:t>connected </a:t>
            </a:r>
            <a:r>
              <a:rPr lang="en"/>
              <a:t>to others?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Degree, indegree, outdegree: </a:t>
            </a:r>
            <a:r>
              <a:rPr lang="en"/>
              <a:t> Based on the number of </a:t>
            </a:r>
            <a:r>
              <a:rPr b="1" lang="en"/>
              <a:t>one-step</a:t>
            </a:r>
            <a:r>
              <a:rPr lang="en"/>
              <a:t> connections from that node to all others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well is a node </a:t>
            </a:r>
            <a:r>
              <a:rPr b="1" lang="en"/>
              <a:t>indirectly connected </a:t>
            </a:r>
            <a:r>
              <a:rPr lang="en"/>
              <a:t>to others?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Closeness: </a:t>
            </a:r>
            <a:r>
              <a:rPr lang="en"/>
              <a:t>Based on the number </a:t>
            </a:r>
            <a:r>
              <a:rPr b="1" lang="en"/>
              <a:t>shortest paths</a:t>
            </a:r>
            <a:r>
              <a:rPr lang="en"/>
              <a:t> that begin with that node and </a:t>
            </a:r>
            <a:r>
              <a:rPr b="1" lang="en"/>
              <a:t>reach</a:t>
            </a:r>
            <a:r>
              <a:rPr lang="en"/>
              <a:t> the others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well can a node serve as an </a:t>
            </a:r>
            <a:r>
              <a:rPr b="1" lang="en"/>
              <a:t>intermediary </a:t>
            </a:r>
            <a:r>
              <a:rPr lang="en"/>
              <a:t>between other nodes?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Betweenness: </a:t>
            </a:r>
            <a:r>
              <a:rPr lang="en"/>
              <a:t>Based on the proportion of </a:t>
            </a:r>
            <a:r>
              <a:rPr b="1" lang="en"/>
              <a:t>shortest paths</a:t>
            </a:r>
            <a:r>
              <a:rPr lang="en"/>
              <a:t> between all </a:t>
            </a:r>
            <a:r>
              <a:rPr b="1" lang="en"/>
              <a:t>other</a:t>
            </a:r>
            <a:r>
              <a:rPr lang="en"/>
              <a:t> </a:t>
            </a:r>
            <a:r>
              <a:rPr b="1" lang="en"/>
              <a:t>pairs</a:t>
            </a:r>
            <a:r>
              <a:rPr lang="en"/>
              <a:t> of nodes including that node 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well is node connected to </a:t>
            </a:r>
            <a:r>
              <a:rPr b="1" lang="en"/>
              <a:t>highly connected</a:t>
            </a:r>
            <a:r>
              <a:rPr lang="en"/>
              <a:t> others?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Eigenvector: </a:t>
            </a:r>
            <a:r>
              <a:rPr lang="en">
                <a:solidFill>
                  <a:srgbClr val="000000"/>
                </a:solidFill>
              </a:rPr>
              <a:t>Based on the direct and indirect connections of that node to other central nodes</a:t>
            </a:r>
            <a:endParaRPr>
              <a:solidFill>
                <a:srgbClr val="000000"/>
              </a:solidFill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7172" name="Shape 7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3" name="Google Shape;7173;p356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Sub-Groups, Cliques, Communities</a:t>
            </a:r>
            <a:endParaRPr/>
          </a:p>
        </p:txBody>
      </p:sp>
      <p:sp>
        <p:nvSpPr>
          <p:cNvPr id="7174" name="Google Shape;7174;p356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78" name="Shape 7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9" name="Google Shape;7179;p357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7180" name="Google Shape;7180;p357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181" name="Google Shape;7181;p357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357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183" name="Google Shape;7183;p357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7184" name="Google Shape;7184;p357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7185" name="Google Shape;7185;p357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186" name="Google Shape;7186;p357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357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188" name="Google Shape;7188;p357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7189" name="Google Shape;7189;p357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7190" name="Google Shape;7190;p357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191" name="Google Shape;7191;p357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357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193" name="Google Shape;7193;p357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7194" name="Google Shape;7194;p357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7195" name="Google Shape;7195;p357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196" name="Google Shape;7196;p357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357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198" name="Google Shape;7198;p357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7199" name="Google Shape;7199;p357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7200" name="Google Shape;7200;p357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1" name="Google Shape;7201;p357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2" name="Google Shape;7202;p357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3" name="Google Shape;7203;p357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4" name="Google Shape;7204;p357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5" name="Google Shape;7205;p357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6" name="Google Shape;7206;p357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7" name="Google Shape;7207;p357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8" name="Google Shape;7208;p357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09" name="Google Shape;7209;p357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10" name="Google Shape;7210;p357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11" name="Google Shape;7211;p357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12" name="Google Shape;7212;p357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13" name="Google Shape;7213;p357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14" name="Google Shape;7214;p357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15" name="Google Shape;7215;p357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16" name="Google Shape;7216;p357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grpSp>
        <p:nvGrpSpPr>
          <p:cNvPr id="7217" name="Google Shape;7217;p357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7218" name="Google Shape;7218;p357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219" name="Google Shape;7219;p357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357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221" name="Google Shape;7221;p357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7222" name="Google Shape;7222;p357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7223" name="Google Shape;7223;p35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27" name="Shape 7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28" name="Google Shape;7228;p358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7229" name="Google Shape;7229;p358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230" name="Google Shape;7230;p358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358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232" name="Google Shape;7232;p358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7233" name="Google Shape;7233;p358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7234" name="Google Shape;7234;p358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235" name="Google Shape;7235;p358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358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237" name="Google Shape;7237;p358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7238" name="Google Shape;7238;p358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7239" name="Google Shape;7239;p358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240" name="Google Shape;7240;p358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358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242" name="Google Shape;7242;p358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7243" name="Google Shape;7243;p358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7244" name="Google Shape;7244;p358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245" name="Google Shape;7245;p358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358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247" name="Google Shape;7247;p358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7248" name="Google Shape;7248;p358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7249" name="Google Shape;7249;p358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0" name="Google Shape;7250;p358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1" name="Google Shape;7251;p358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2" name="Google Shape;7252;p358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3" name="Google Shape;7253;p358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4" name="Google Shape;7254;p358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5" name="Google Shape;7255;p358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6" name="Google Shape;7256;p358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7" name="Google Shape;7257;p358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8" name="Google Shape;7258;p358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59" name="Google Shape;7259;p358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60" name="Google Shape;7260;p358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61" name="Google Shape;7261;p358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62" name="Google Shape;7262;p358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63" name="Google Shape;7263;p358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64" name="Google Shape;7264;p358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7265" name="Google Shape;7265;p358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grpSp>
        <p:nvGrpSpPr>
          <p:cNvPr id="7266" name="Google Shape;7266;p358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7267" name="Google Shape;7267;p358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268" name="Google Shape;7268;p358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358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270" name="Google Shape;7270;p358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7271" name="Google Shape;7271;p358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7272" name="Google Shape;7272;p35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  <p:sp>
        <p:nvSpPr>
          <p:cNvPr id="7273" name="Google Shape;7273;p358"/>
          <p:cNvSpPr/>
          <p:nvPr/>
        </p:nvSpPr>
        <p:spPr>
          <a:xfrm>
            <a:off x="311700" y="2662975"/>
            <a:ext cx="4196100" cy="10140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77" name="Shape 7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8" name="Google Shape;7278;p35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Cohesion, connectivity, subgroups</a:t>
            </a:r>
            <a:endParaRPr/>
          </a:p>
        </p:txBody>
      </p:sp>
      <p:sp>
        <p:nvSpPr>
          <p:cNvPr id="7279" name="Google Shape;7279;p359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Group level in networks: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between the micro: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Dyads,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And the macro: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“Whole network”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Why groups?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</a:pPr>
            <a:r>
              <a:rPr lang="en"/>
              <a:t>Important functional units in organizations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Workplaces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Creative industries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Science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Important units for solidarity and interaction in social systems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Social foci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Primary groups (family, support cliques)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83" name="Shape 7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4" name="Google Shape;7284;p36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Cohesion, connectivity, subgroups</a:t>
            </a:r>
            <a:endParaRPr/>
          </a:p>
        </p:txBody>
      </p:sp>
      <p:sp>
        <p:nvSpPr>
          <p:cNvPr id="7285" name="Google Shape;7285;p360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Group level in networks: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between the micro: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Dyads,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And the macro: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“Whole network”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Why groups?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</a:pPr>
            <a:r>
              <a:rPr lang="en"/>
              <a:t>Important sources of: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Ideational homogeneity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Conformity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Influence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Information transmission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89" name="Shape 7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0" name="Google Shape;7290;p36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Cohesion, connectivity, subgroups</a:t>
            </a:r>
            <a:endParaRPr/>
          </a:p>
        </p:txBody>
      </p:sp>
      <p:sp>
        <p:nvSpPr>
          <p:cNvPr id="7291" name="Google Shape;7291;p361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Group level in networks: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between the micro: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Dyads,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And the macro: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“Whole network”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Questions: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 can we translate the concept of a group into network terms?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What are the most important group properties from a network perspective?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Cohesion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Polarization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Fragmentation</a:t>
            </a:r>
            <a:endParaRPr/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95" name="Shape 7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6" name="Google Shape;7296;p36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are “groups” or “communities”? </a:t>
            </a:r>
            <a:endParaRPr/>
          </a:p>
        </p:txBody>
      </p:sp>
      <p:sp>
        <p:nvSpPr>
          <p:cNvPr id="7297" name="Google Shape;7297;p362"/>
          <p:cNvSpPr txBox="1"/>
          <p:nvPr>
            <p:ph idx="1" type="body"/>
          </p:nvPr>
        </p:nvSpPr>
        <p:spPr>
          <a:xfrm>
            <a:off x="311700" y="1225225"/>
            <a:ext cx="527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“Group,” is a fuzzy social science concept, with many overlapping but sometimes contradictory verbal definitions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As always graph theory to the rescue!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graph theoretic concept of group/community is: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 relatively dense subgraph featuring more links among the subset of vertices that belong to the subgraph than links to vertices in the rest of the graph</a:t>
            </a:r>
            <a:endParaRPr b="1"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7298" name="Google Shape;7298;p36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80250" y="1190325"/>
            <a:ext cx="2852041" cy="3354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02" name="Shape 7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3" name="Google Shape;7303;p36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7304" name="Google Shape;7304;p363"/>
          <p:cNvSpPr txBox="1"/>
          <p:nvPr>
            <p:ph idx="1" type="body"/>
          </p:nvPr>
        </p:nvSpPr>
        <p:spPr>
          <a:xfrm>
            <a:off x="311700" y="1225225"/>
            <a:ext cx="4579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lot of network methods are designed to split a graph into subgraphs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Subgraphs can be used to represent the social network concepts of </a:t>
            </a:r>
            <a:r>
              <a:rPr b="1" lang="en"/>
              <a:t>groups</a:t>
            </a:r>
            <a:r>
              <a:rPr lang="en"/>
              <a:t>, </a:t>
            </a:r>
            <a:r>
              <a:rPr b="1" lang="en"/>
              <a:t>cliques</a:t>
            </a:r>
            <a:r>
              <a:rPr lang="en"/>
              <a:t>, or </a:t>
            </a:r>
            <a:r>
              <a:rPr b="1" lang="en"/>
              <a:t>communities</a:t>
            </a:r>
            <a:endParaRPr b="1"/>
          </a:p>
        </p:txBody>
      </p:sp>
      <p:sp>
        <p:nvSpPr>
          <p:cNvPr id="7305" name="Google Shape;7305;p363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6" name="Google Shape;7306;p363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7" name="Google Shape;7307;p363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8" name="Google Shape;7308;p363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09" name="Google Shape;7309;p363"/>
          <p:cNvCxnSpPr>
            <a:stCxn id="7305" idx="3"/>
            <a:endCxn id="7306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10" name="Google Shape;7310;p363"/>
          <p:cNvCxnSpPr>
            <a:stCxn id="7308" idx="1"/>
            <a:endCxn id="7306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11" name="Google Shape;7311;p363"/>
          <p:cNvCxnSpPr>
            <a:stCxn id="7305" idx="4"/>
            <a:endCxn id="7308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12" name="Google Shape;7312;p363"/>
          <p:cNvCxnSpPr>
            <a:stCxn id="7305" idx="5"/>
            <a:endCxn id="7307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13" name="Google Shape;7313;p363"/>
          <p:cNvCxnSpPr>
            <a:stCxn id="7307" idx="2"/>
            <a:endCxn id="7306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14" name="Google Shape;7314;p363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5" name="Google Shape;7315;p363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6" name="Google Shape;7316;p363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7" name="Google Shape;7317;p363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18" name="Google Shape;7318;p363"/>
          <p:cNvCxnSpPr>
            <a:stCxn id="7314" idx="3"/>
            <a:endCxn id="7315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19" name="Google Shape;7319;p363"/>
          <p:cNvCxnSpPr>
            <a:stCxn id="7317" idx="0"/>
            <a:endCxn id="7315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20" name="Google Shape;7320;p363"/>
          <p:cNvCxnSpPr>
            <a:stCxn id="7314" idx="5"/>
            <a:endCxn id="7316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21" name="Google Shape;7321;p363"/>
          <p:cNvCxnSpPr>
            <a:stCxn id="7316" idx="2"/>
            <a:endCxn id="7315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22" name="Google Shape;7322;p363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23" name="Google Shape;7323;p363"/>
          <p:cNvCxnSpPr>
            <a:stCxn id="7322" idx="0"/>
            <a:endCxn id="7315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24" name="Google Shape;7324;p363"/>
          <p:cNvCxnSpPr>
            <a:stCxn id="7316" idx="3"/>
            <a:endCxn id="7317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25" name="Google Shape;7325;p363"/>
          <p:cNvCxnSpPr>
            <a:stCxn id="7316" idx="3"/>
            <a:endCxn id="7322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26" name="Google Shape;7326;p363"/>
          <p:cNvCxnSpPr>
            <a:stCxn id="7314" idx="4"/>
            <a:endCxn id="7322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27" name="Google Shape;7327;p363"/>
          <p:cNvCxnSpPr>
            <a:stCxn id="7307" idx="7"/>
            <a:endCxn id="7317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28" name="Google Shape;7328;p363"/>
          <p:cNvCxnSpPr>
            <a:stCxn id="7308" idx="7"/>
            <a:endCxn id="7307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29" name="Google Shape;7329;p363"/>
          <p:cNvCxnSpPr>
            <a:stCxn id="7317" idx="6"/>
            <a:endCxn id="7322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30" name="Google Shape;7330;p363"/>
          <p:cNvCxnSpPr>
            <a:stCxn id="7314" idx="4"/>
            <a:endCxn id="7317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31" name="Google Shape;7331;p363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2" name="Google Shape;7332;p363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33" name="Google Shape;7333;p363"/>
          <p:cNvCxnSpPr>
            <a:stCxn id="7331" idx="3"/>
            <a:endCxn id="7332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34" name="Google Shape;7334;p363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35" name="Google Shape;7335;p363"/>
          <p:cNvCxnSpPr>
            <a:stCxn id="7334" idx="2"/>
            <a:endCxn id="7332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36" name="Google Shape;7336;p363"/>
          <p:cNvCxnSpPr>
            <a:stCxn id="7334" idx="0"/>
            <a:endCxn id="7331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37" name="Google Shape;7337;p363"/>
          <p:cNvCxnSpPr>
            <a:endCxn id="7332" idx="1"/>
          </p:cNvCxnSpPr>
          <p:nvPr/>
        </p:nvCxnSpPr>
        <p:spPr>
          <a:xfrm>
            <a:off x="6516863" y="2675902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41" name="Shape 7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2" name="Google Shape;7342;p36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7343" name="Google Shape;7343;p364"/>
          <p:cNvSpPr txBox="1"/>
          <p:nvPr/>
        </p:nvSpPr>
        <p:spPr>
          <a:xfrm>
            <a:off x="4156075" y="3648875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subgraph</a:t>
            </a:r>
            <a:endParaRPr b="1">
              <a:solidFill>
                <a:srgbClr val="FF0000"/>
              </a:solidFill>
            </a:endParaRPr>
          </a:p>
        </p:txBody>
      </p:sp>
      <p:sp>
        <p:nvSpPr>
          <p:cNvPr id="7344" name="Google Shape;7344;p364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5" name="Google Shape;7345;p364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6" name="Google Shape;7346;p364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7" name="Google Shape;7347;p364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48" name="Google Shape;7348;p364"/>
          <p:cNvCxnSpPr>
            <a:stCxn id="7344" idx="3"/>
            <a:endCxn id="7345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49" name="Google Shape;7349;p364"/>
          <p:cNvCxnSpPr>
            <a:stCxn id="7347" idx="1"/>
            <a:endCxn id="7345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50" name="Google Shape;7350;p364"/>
          <p:cNvCxnSpPr>
            <a:stCxn id="7344" idx="4"/>
            <a:endCxn id="7347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51" name="Google Shape;7351;p364"/>
          <p:cNvCxnSpPr>
            <a:stCxn id="7344" idx="5"/>
            <a:endCxn id="7346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52" name="Google Shape;7352;p364"/>
          <p:cNvCxnSpPr>
            <a:stCxn id="7346" idx="2"/>
            <a:endCxn id="7345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53" name="Google Shape;7353;p364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4" name="Google Shape;7354;p364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5" name="Google Shape;7355;p364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6" name="Google Shape;7356;p364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57" name="Google Shape;7357;p364"/>
          <p:cNvCxnSpPr>
            <a:stCxn id="7353" idx="3"/>
            <a:endCxn id="7354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58" name="Google Shape;7358;p364"/>
          <p:cNvCxnSpPr>
            <a:stCxn id="7356" idx="0"/>
            <a:endCxn id="7354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59" name="Google Shape;7359;p364"/>
          <p:cNvCxnSpPr>
            <a:stCxn id="7353" idx="5"/>
            <a:endCxn id="7355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0" name="Google Shape;7360;p364"/>
          <p:cNvCxnSpPr>
            <a:stCxn id="7355" idx="2"/>
            <a:endCxn id="7354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61" name="Google Shape;7361;p364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62" name="Google Shape;7362;p364"/>
          <p:cNvCxnSpPr>
            <a:stCxn id="7361" idx="0"/>
            <a:endCxn id="7354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3" name="Google Shape;7363;p364"/>
          <p:cNvCxnSpPr>
            <a:stCxn id="7355" idx="3"/>
            <a:endCxn id="7356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4" name="Google Shape;7364;p364"/>
          <p:cNvCxnSpPr>
            <a:stCxn id="7355" idx="3"/>
            <a:endCxn id="7361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5" name="Google Shape;7365;p364"/>
          <p:cNvCxnSpPr>
            <a:stCxn id="7353" idx="4"/>
            <a:endCxn id="7361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6" name="Google Shape;7366;p364"/>
          <p:cNvCxnSpPr>
            <a:stCxn id="7346" idx="7"/>
            <a:endCxn id="7356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7" name="Google Shape;7367;p364"/>
          <p:cNvCxnSpPr>
            <a:stCxn id="7347" idx="7"/>
            <a:endCxn id="7346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8" name="Google Shape;7368;p364"/>
          <p:cNvCxnSpPr>
            <a:stCxn id="7356" idx="6"/>
            <a:endCxn id="7361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9" name="Google Shape;7369;p364"/>
          <p:cNvCxnSpPr>
            <a:stCxn id="7353" idx="4"/>
            <a:endCxn id="7356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70" name="Google Shape;7370;p364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1" name="Google Shape;7371;p364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72" name="Google Shape;7372;p364"/>
          <p:cNvCxnSpPr>
            <a:stCxn id="7370" idx="3"/>
            <a:endCxn id="7371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73" name="Google Shape;7373;p364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74" name="Google Shape;7374;p364"/>
          <p:cNvCxnSpPr>
            <a:stCxn id="7373" idx="2"/>
            <a:endCxn id="7371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75" name="Google Shape;7375;p364"/>
          <p:cNvCxnSpPr>
            <a:stCxn id="7373" idx="0"/>
            <a:endCxn id="7370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76" name="Google Shape;7376;p364"/>
          <p:cNvCxnSpPr>
            <a:endCxn id="7371" idx="1"/>
          </p:cNvCxnSpPr>
          <p:nvPr/>
        </p:nvCxnSpPr>
        <p:spPr>
          <a:xfrm>
            <a:off x="6516863" y="2675902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77" name="Google Shape;7377;p364"/>
          <p:cNvSpPr txBox="1"/>
          <p:nvPr>
            <p:ph idx="1" type="body"/>
          </p:nvPr>
        </p:nvSpPr>
        <p:spPr>
          <a:xfrm>
            <a:off x="311700" y="1225225"/>
            <a:ext cx="4579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lot of network methods are designed to split a graph into subgraphs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Subgraphs can be used to represent the social network concepts of </a:t>
            </a:r>
            <a:r>
              <a:rPr b="1" lang="en"/>
              <a:t>groups</a:t>
            </a:r>
            <a:r>
              <a:rPr lang="en"/>
              <a:t>, </a:t>
            </a:r>
            <a:r>
              <a:rPr b="1" lang="en"/>
              <a:t>cliques</a:t>
            </a:r>
            <a:r>
              <a:rPr lang="en"/>
              <a:t>, or </a:t>
            </a:r>
            <a:r>
              <a:rPr b="1" lang="en"/>
              <a:t>communities</a:t>
            </a:r>
            <a:endParaRPr b="1"/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81" name="Shape 7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2" name="Google Shape;7382;p36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Graphs and subgraphs</a:t>
            </a:r>
            <a:endParaRPr/>
          </a:p>
        </p:txBody>
      </p:sp>
      <p:sp>
        <p:nvSpPr>
          <p:cNvPr id="7383" name="Google Shape;7383;p365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4" name="Google Shape;7384;p365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5" name="Google Shape;7385;p365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6" name="Google Shape;7386;p365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87" name="Google Shape;7387;p365"/>
          <p:cNvCxnSpPr>
            <a:stCxn id="7383" idx="3"/>
            <a:endCxn id="7384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88" name="Google Shape;7388;p365"/>
          <p:cNvCxnSpPr>
            <a:stCxn id="7386" idx="1"/>
            <a:endCxn id="7384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89" name="Google Shape;7389;p365"/>
          <p:cNvCxnSpPr>
            <a:stCxn id="7383" idx="4"/>
            <a:endCxn id="7386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90" name="Google Shape;7390;p365"/>
          <p:cNvCxnSpPr>
            <a:stCxn id="7383" idx="5"/>
            <a:endCxn id="7385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91" name="Google Shape;7391;p365"/>
          <p:cNvCxnSpPr>
            <a:stCxn id="7385" idx="2"/>
            <a:endCxn id="7384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92" name="Google Shape;7392;p365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3" name="Google Shape;7393;p365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4" name="Google Shape;7394;p365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5" name="Google Shape;7395;p365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96" name="Google Shape;7396;p365"/>
          <p:cNvCxnSpPr>
            <a:stCxn id="7392" idx="3"/>
            <a:endCxn id="7393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97" name="Google Shape;7397;p365"/>
          <p:cNvCxnSpPr>
            <a:stCxn id="7395" idx="0"/>
            <a:endCxn id="7393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98" name="Google Shape;7398;p365"/>
          <p:cNvCxnSpPr>
            <a:stCxn id="7392" idx="5"/>
            <a:endCxn id="7394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99" name="Google Shape;7399;p365"/>
          <p:cNvCxnSpPr>
            <a:stCxn id="7394" idx="2"/>
            <a:endCxn id="7393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00" name="Google Shape;7400;p365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01" name="Google Shape;7401;p365"/>
          <p:cNvCxnSpPr>
            <a:stCxn id="7400" idx="0"/>
            <a:endCxn id="7393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02" name="Google Shape;7402;p365"/>
          <p:cNvCxnSpPr>
            <a:stCxn id="7394" idx="3"/>
            <a:endCxn id="7395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03" name="Google Shape;7403;p365"/>
          <p:cNvCxnSpPr>
            <a:stCxn id="7394" idx="3"/>
            <a:endCxn id="7400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04" name="Google Shape;7404;p365"/>
          <p:cNvCxnSpPr>
            <a:stCxn id="7392" idx="4"/>
            <a:endCxn id="7400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05" name="Google Shape;7405;p365"/>
          <p:cNvCxnSpPr>
            <a:stCxn id="7385" idx="7"/>
            <a:endCxn id="7395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06" name="Google Shape;7406;p365"/>
          <p:cNvCxnSpPr>
            <a:stCxn id="7386" idx="7"/>
            <a:endCxn id="7385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07" name="Google Shape;7407;p365"/>
          <p:cNvCxnSpPr>
            <a:stCxn id="7395" idx="6"/>
            <a:endCxn id="7400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08" name="Google Shape;7408;p365"/>
          <p:cNvCxnSpPr>
            <a:stCxn id="7392" idx="4"/>
            <a:endCxn id="7395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09" name="Google Shape;7409;p365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0" name="Google Shape;7410;p365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11" name="Google Shape;7411;p365"/>
          <p:cNvCxnSpPr>
            <a:stCxn id="7409" idx="3"/>
            <a:endCxn id="7410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12" name="Google Shape;7412;p365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13" name="Google Shape;7413;p365"/>
          <p:cNvCxnSpPr>
            <a:stCxn id="7412" idx="2"/>
            <a:endCxn id="7410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14" name="Google Shape;7414;p365"/>
          <p:cNvCxnSpPr>
            <a:stCxn id="7412" idx="0"/>
            <a:endCxn id="7409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15" name="Google Shape;7415;p365"/>
          <p:cNvCxnSpPr>
            <a:endCxn id="7410" idx="1"/>
          </p:cNvCxnSpPr>
          <p:nvPr/>
        </p:nvCxnSpPr>
        <p:spPr>
          <a:xfrm>
            <a:off x="6516863" y="2675902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16" name="Google Shape;7416;p365"/>
          <p:cNvSpPr txBox="1"/>
          <p:nvPr>
            <p:ph idx="1" type="body"/>
          </p:nvPr>
        </p:nvSpPr>
        <p:spPr>
          <a:xfrm>
            <a:off x="311700" y="1225225"/>
            <a:ext cx="4579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lot of network methods are designed to split a graph into subgraphs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Subgraphs can be used to represent the social network concepts of </a:t>
            </a:r>
            <a:r>
              <a:rPr b="1" lang="en"/>
              <a:t>groups</a:t>
            </a:r>
            <a:r>
              <a:rPr lang="en"/>
              <a:t>, </a:t>
            </a:r>
            <a:r>
              <a:rPr b="1" lang="en"/>
              <a:t>cliques</a:t>
            </a:r>
            <a:r>
              <a:rPr lang="en"/>
              <a:t>, or </a:t>
            </a:r>
            <a:r>
              <a:rPr b="1" lang="en"/>
              <a:t>communities</a:t>
            </a:r>
            <a:endParaRPr b="1"/>
          </a:p>
        </p:txBody>
      </p:sp>
      <p:sp>
        <p:nvSpPr>
          <p:cNvPr id="7417" name="Google Shape;7417;p365"/>
          <p:cNvSpPr txBox="1"/>
          <p:nvPr/>
        </p:nvSpPr>
        <p:spPr>
          <a:xfrm>
            <a:off x="5431150" y="4156800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another subgraph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21" name="Shape 7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2" name="Google Shape;7422;p36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Connected Subgraphs</a:t>
            </a:r>
            <a:endParaRPr/>
          </a:p>
        </p:txBody>
      </p:sp>
      <p:sp>
        <p:nvSpPr>
          <p:cNvPr id="7423" name="Google Shape;7423;p366"/>
          <p:cNvSpPr txBox="1"/>
          <p:nvPr>
            <p:ph idx="1" type="body"/>
          </p:nvPr>
        </p:nvSpPr>
        <p:spPr>
          <a:xfrm>
            <a:off x="311700" y="1225225"/>
            <a:ext cx="457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is </a:t>
            </a:r>
            <a:r>
              <a:rPr b="1" lang="en"/>
              <a:t>connected </a:t>
            </a:r>
            <a:r>
              <a:rPr lang="en"/>
              <a:t>if every node within it can reach every other one via a path of some length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4" name="Google Shape;7424;p366"/>
          <p:cNvSpPr txBox="1"/>
          <p:nvPr/>
        </p:nvSpPr>
        <p:spPr>
          <a:xfrm>
            <a:off x="4156075" y="3648875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subgraph is connected :)</a:t>
            </a:r>
            <a:endParaRPr b="1">
              <a:solidFill>
                <a:srgbClr val="FF0000"/>
              </a:solidFill>
            </a:endParaRPr>
          </a:p>
        </p:txBody>
      </p:sp>
      <p:sp>
        <p:nvSpPr>
          <p:cNvPr id="7425" name="Google Shape;7425;p366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6" name="Google Shape;7426;p366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7" name="Google Shape;7427;p366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8" name="Google Shape;7428;p366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29" name="Google Shape;7429;p366"/>
          <p:cNvCxnSpPr>
            <a:stCxn id="7425" idx="3"/>
            <a:endCxn id="7426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30" name="Google Shape;7430;p366"/>
          <p:cNvCxnSpPr>
            <a:stCxn id="7428" idx="1"/>
            <a:endCxn id="7426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31" name="Google Shape;7431;p366"/>
          <p:cNvCxnSpPr>
            <a:stCxn id="7425" idx="4"/>
            <a:endCxn id="7428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32" name="Google Shape;7432;p366"/>
          <p:cNvCxnSpPr>
            <a:stCxn id="7425" idx="5"/>
            <a:endCxn id="7427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33" name="Google Shape;7433;p366"/>
          <p:cNvCxnSpPr>
            <a:stCxn id="7427" idx="2"/>
            <a:endCxn id="7426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34" name="Google Shape;7434;p366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5" name="Google Shape;7435;p366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6" name="Google Shape;7436;p366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7" name="Google Shape;7437;p366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38" name="Google Shape;7438;p366"/>
          <p:cNvCxnSpPr>
            <a:stCxn id="7434" idx="3"/>
            <a:endCxn id="7435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39" name="Google Shape;7439;p366"/>
          <p:cNvCxnSpPr>
            <a:stCxn id="7437" idx="0"/>
            <a:endCxn id="7435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0" name="Google Shape;7440;p366"/>
          <p:cNvCxnSpPr>
            <a:stCxn id="7434" idx="5"/>
            <a:endCxn id="7436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1" name="Google Shape;7441;p366"/>
          <p:cNvCxnSpPr>
            <a:stCxn id="7436" idx="2"/>
            <a:endCxn id="7435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42" name="Google Shape;7442;p366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43" name="Google Shape;7443;p366"/>
          <p:cNvCxnSpPr>
            <a:stCxn id="7442" idx="0"/>
            <a:endCxn id="7435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4" name="Google Shape;7444;p366"/>
          <p:cNvCxnSpPr>
            <a:stCxn id="7436" idx="3"/>
            <a:endCxn id="7437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5" name="Google Shape;7445;p366"/>
          <p:cNvCxnSpPr>
            <a:stCxn id="7436" idx="3"/>
            <a:endCxn id="7442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6" name="Google Shape;7446;p366"/>
          <p:cNvCxnSpPr>
            <a:stCxn id="7434" idx="4"/>
            <a:endCxn id="7442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7" name="Google Shape;7447;p366"/>
          <p:cNvCxnSpPr>
            <a:stCxn id="7427" idx="7"/>
            <a:endCxn id="7437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8" name="Google Shape;7448;p366"/>
          <p:cNvCxnSpPr>
            <a:stCxn id="7428" idx="7"/>
            <a:endCxn id="7427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9" name="Google Shape;7449;p366"/>
          <p:cNvCxnSpPr>
            <a:stCxn id="7437" idx="6"/>
            <a:endCxn id="7442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50" name="Google Shape;7450;p366"/>
          <p:cNvCxnSpPr>
            <a:stCxn id="7434" idx="4"/>
            <a:endCxn id="7437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51" name="Google Shape;7451;p366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2" name="Google Shape;7452;p366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53" name="Google Shape;7453;p366"/>
          <p:cNvCxnSpPr>
            <a:stCxn id="7451" idx="3"/>
            <a:endCxn id="7452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54" name="Google Shape;7454;p366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55" name="Google Shape;7455;p366"/>
          <p:cNvCxnSpPr>
            <a:stCxn id="7454" idx="2"/>
            <a:endCxn id="7452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56" name="Google Shape;7456;p366"/>
          <p:cNvCxnSpPr>
            <a:stCxn id="7454" idx="0"/>
            <a:endCxn id="7451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57" name="Google Shape;7457;p366"/>
          <p:cNvCxnSpPr>
            <a:endCxn id="7452" idx="1"/>
          </p:cNvCxnSpPr>
          <p:nvPr/>
        </p:nvCxnSpPr>
        <p:spPr>
          <a:xfrm>
            <a:off x="6516863" y="2675902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61" name="Shape 7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2" name="Google Shape;7462;p36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Disconnected Subgraphs</a:t>
            </a:r>
            <a:endParaRPr/>
          </a:p>
        </p:txBody>
      </p:sp>
      <p:sp>
        <p:nvSpPr>
          <p:cNvPr id="7463" name="Google Shape;7463;p367"/>
          <p:cNvSpPr txBox="1"/>
          <p:nvPr>
            <p:ph idx="1" type="body"/>
          </p:nvPr>
        </p:nvSpPr>
        <p:spPr>
          <a:xfrm>
            <a:off x="311700" y="1225225"/>
            <a:ext cx="457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is </a:t>
            </a:r>
            <a:r>
              <a:rPr b="1" lang="en"/>
              <a:t>connected </a:t>
            </a:r>
            <a:r>
              <a:rPr lang="en"/>
              <a:t>if every node within it can reach every other one via a path of some length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is </a:t>
            </a:r>
            <a:r>
              <a:rPr b="1" lang="en"/>
              <a:t>disconnected </a:t>
            </a:r>
            <a:r>
              <a:rPr lang="en"/>
              <a:t>if there are nodes that </a:t>
            </a:r>
            <a:r>
              <a:rPr b="1" lang="en"/>
              <a:t>cannot </a:t>
            </a:r>
            <a:r>
              <a:rPr lang="en"/>
              <a:t>reach other nodes via a path of any length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4" name="Google Shape;7464;p367"/>
          <p:cNvSpPr txBox="1"/>
          <p:nvPr/>
        </p:nvSpPr>
        <p:spPr>
          <a:xfrm>
            <a:off x="4915275" y="3648863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subgraph is disconnected :(</a:t>
            </a:r>
            <a:endParaRPr b="1">
              <a:solidFill>
                <a:srgbClr val="FF0000"/>
              </a:solidFill>
            </a:endParaRPr>
          </a:p>
        </p:txBody>
      </p:sp>
      <p:sp>
        <p:nvSpPr>
          <p:cNvPr id="7465" name="Google Shape;7465;p367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6" name="Google Shape;7466;p367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7" name="Google Shape;7467;p367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8" name="Google Shape;7468;p367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69" name="Google Shape;7469;p367"/>
          <p:cNvCxnSpPr>
            <a:stCxn id="7465" idx="3"/>
            <a:endCxn id="7466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70" name="Google Shape;7470;p367"/>
          <p:cNvCxnSpPr>
            <a:stCxn id="7468" idx="1"/>
            <a:endCxn id="7466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71" name="Google Shape;7471;p367"/>
          <p:cNvCxnSpPr>
            <a:stCxn id="7465" idx="4"/>
            <a:endCxn id="7468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72" name="Google Shape;7472;p367"/>
          <p:cNvCxnSpPr>
            <a:stCxn id="7465" idx="5"/>
            <a:endCxn id="7467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73" name="Google Shape;7473;p367"/>
          <p:cNvCxnSpPr>
            <a:stCxn id="7467" idx="2"/>
            <a:endCxn id="7466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74" name="Google Shape;7474;p367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5" name="Google Shape;7475;p367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6" name="Google Shape;7476;p367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7" name="Google Shape;7477;p367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78" name="Google Shape;7478;p367"/>
          <p:cNvCxnSpPr>
            <a:stCxn id="7474" idx="3"/>
            <a:endCxn id="7475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79" name="Google Shape;7479;p367"/>
          <p:cNvCxnSpPr>
            <a:stCxn id="7477" idx="0"/>
            <a:endCxn id="7475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80" name="Google Shape;7480;p367"/>
          <p:cNvCxnSpPr>
            <a:stCxn id="7474" idx="5"/>
            <a:endCxn id="7476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81" name="Google Shape;7481;p367"/>
          <p:cNvCxnSpPr>
            <a:stCxn id="7476" idx="2"/>
            <a:endCxn id="7475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82" name="Google Shape;7482;p367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83" name="Google Shape;7483;p367"/>
          <p:cNvCxnSpPr>
            <a:stCxn id="7482" idx="0"/>
            <a:endCxn id="7475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84" name="Google Shape;7484;p367"/>
          <p:cNvCxnSpPr>
            <a:stCxn id="7476" idx="3"/>
            <a:endCxn id="7477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85" name="Google Shape;7485;p367"/>
          <p:cNvCxnSpPr>
            <a:stCxn id="7476" idx="3"/>
            <a:endCxn id="7482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86" name="Google Shape;7486;p367"/>
          <p:cNvCxnSpPr>
            <a:stCxn id="7474" idx="4"/>
            <a:endCxn id="7482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87" name="Google Shape;7487;p367"/>
          <p:cNvCxnSpPr>
            <a:stCxn id="7467" idx="7"/>
            <a:endCxn id="7477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88" name="Google Shape;7488;p367"/>
          <p:cNvCxnSpPr>
            <a:stCxn id="7468" idx="7"/>
            <a:endCxn id="7467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89" name="Google Shape;7489;p367"/>
          <p:cNvCxnSpPr>
            <a:stCxn id="7477" idx="6"/>
            <a:endCxn id="7482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90" name="Google Shape;7490;p367"/>
          <p:cNvCxnSpPr>
            <a:stCxn id="7474" idx="4"/>
            <a:endCxn id="7477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91" name="Google Shape;7491;p367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2" name="Google Shape;7492;p367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93" name="Google Shape;7493;p367"/>
          <p:cNvCxnSpPr>
            <a:stCxn id="7491" idx="3"/>
            <a:endCxn id="7492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94" name="Google Shape;7494;p367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95" name="Google Shape;7495;p367"/>
          <p:cNvCxnSpPr>
            <a:stCxn id="7494" idx="2"/>
            <a:endCxn id="7492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96" name="Google Shape;7496;p367"/>
          <p:cNvCxnSpPr>
            <a:stCxn id="7494" idx="0"/>
            <a:endCxn id="7491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97" name="Google Shape;7497;p367"/>
          <p:cNvCxnSpPr>
            <a:endCxn id="7492" idx="1"/>
          </p:cNvCxnSpPr>
          <p:nvPr/>
        </p:nvCxnSpPr>
        <p:spPr>
          <a:xfrm>
            <a:off x="6516863" y="2675902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01" name="Shape 7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2" name="Google Shape;7502;p36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Cliques</a:t>
            </a:r>
            <a:endParaRPr/>
          </a:p>
        </p:txBody>
      </p:sp>
      <p:sp>
        <p:nvSpPr>
          <p:cNvPr id="7503" name="Google Shape;7503;p368"/>
          <p:cNvSpPr txBox="1"/>
          <p:nvPr>
            <p:ph idx="1" type="body"/>
          </p:nvPr>
        </p:nvSpPr>
        <p:spPr>
          <a:xfrm>
            <a:off x="311700" y="1225225"/>
            <a:ext cx="457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clique</a:t>
            </a:r>
            <a:r>
              <a:rPr lang="en"/>
              <a:t> is a </a:t>
            </a:r>
            <a:r>
              <a:rPr b="1" lang="en"/>
              <a:t>complete subgraph </a:t>
            </a:r>
            <a:r>
              <a:rPr lang="en"/>
              <a:t>(density = 1.0)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</a:t>
            </a:r>
            <a:r>
              <a:rPr b="1" lang="en"/>
              <a:t>size</a:t>
            </a:r>
            <a:r>
              <a:rPr lang="en"/>
              <a:t> of a clique is the number of nodes in it: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Clique of size 2, clique of size 3, clique of size 4, etc.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4" name="Google Shape;7504;p368"/>
          <p:cNvSpPr txBox="1"/>
          <p:nvPr/>
        </p:nvSpPr>
        <p:spPr>
          <a:xfrm>
            <a:off x="5263825" y="3971175"/>
            <a:ext cx="15711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clique of size 4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505" name="Google Shape;7505;p368"/>
          <p:cNvCxnSpPr>
            <a:stCxn id="7504" idx="0"/>
          </p:cNvCxnSpPr>
          <p:nvPr/>
        </p:nvCxnSpPr>
        <p:spPr>
          <a:xfrm rot="10800000">
            <a:off x="5960275" y="3388275"/>
            <a:ext cx="89100" cy="582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506" name="Google Shape;7506;p368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7" name="Google Shape;7507;p368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8" name="Google Shape;7508;p368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9" name="Google Shape;7509;p368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10" name="Google Shape;7510;p368"/>
          <p:cNvCxnSpPr>
            <a:stCxn id="7506" idx="3"/>
            <a:endCxn id="7507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11" name="Google Shape;7511;p368"/>
          <p:cNvCxnSpPr>
            <a:stCxn id="7509" idx="1"/>
            <a:endCxn id="7507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12" name="Google Shape;7512;p368"/>
          <p:cNvCxnSpPr>
            <a:stCxn id="7506" idx="4"/>
            <a:endCxn id="7509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13" name="Google Shape;7513;p368"/>
          <p:cNvCxnSpPr>
            <a:stCxn id="7506" idx="5"/>
            <a:endCxn id="7508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14" name="Google Shape;7514;p368"/>
          <p:cNvCxnSpPr>
            <a:stCxn id="7508" idx="2"/>
            <a:endCxn id="7507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15" name="Google Shape;7515;p368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6" name="Google Shape;7516;p368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7" name="Google Shape;7517;p368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8" name="Google Shape;7518;p368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19" name="Google Shape;7519;p368"/>
          <p:cNvCxnSpPr>
            <a:stCxn id="7515" idx="3"/>
            <a:endCxn id="7516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20" name="Google Shape;7520;p368"/>
          <p:cNvCxnSpPr>
            <a:stCxn id="7518" idx="0"/>
            <a:endCxn id="7516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21" name="Google Shape;7521;p368"/>
          <p:cNvCxnSpPr>
            <a:stCxn id="7515" idx="5"/>
            <a:endCxn id="7517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22" name="Google Shape;7522;p368"/>
          <p:cNvCxnSpPr>
            <a:stCxn id="7517" idx="2"/>
            <a:endCxn id="7516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23" name="Google Shape;7523;p368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24" name="Google Shape;7524;p368"/>
          <p:cNvCxnSpPr>
            <a:stCxn id="7523" idx="0"/>
            <a:endCxn id="7516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25" name="Google Shape;7525;p368"/>
          <p:cNvCxnSpPr>
            <a:stCxn id="7517" idx="3"/>
            <a:endCxn id="7518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26" name="Google Shape;7526;p368"/>
          <p:cNvCxnSpPr>
            <a:stCxn id="7517" idx="3"/>
            <a:endCxn id="7523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27" name="Google Shape;7527;p368"/>
          <p:cNvCxnSpPr>
            <a:stCxn id="7515" idx="4"/>
            <a:endCxn id="7523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28" name="Google Shape;7528;p368"/>
          <p:cNvCxnSpPr>
            <a:stCxn id="7508" idx="7"/>
            <a:endCxn id="7518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29" name="Google Shape;7529;p368"/>
          <p:cNvCxnSpPr>
            <a:stCxn id="7509" idx="7"/>
            <a:endCxn id="7508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30" name="Google Shape;7530;p368"/>
          <p:cNvCxnSpPr>
            <a:stCxn id="7518" idx="6"/>
            <a:endCxn id="7523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31" name="Google Shape;7531;p368"/>
          <p:cNvCxnSpPr>
            <a:stCxn id="7515" idx="4"/>
            <a:endCxn id="7518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32" name="Google Shape;7532;p368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3" name="Google Shape;7533;p368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34" name="Google Shape;7534;p368"/>
          <p:cNvCxnSpPr>
            <a:stCxn id="7532" idx="3"/>
            <a:endCxn id="753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35" name="Google Shape;7535;p368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36" name="Google Shape;7536;p368"/>
          <p:cNvCxnSpPr>
            <a:stCxn id="7535" idx="2"/>
            <a:endCxn id="753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37" name="Google Shape;7537;p368"/>
          <p:cNvCxnSpPr>
            <a:stCxn id="7535" idx="0"/>
            <a:endCxn id="753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38" name="Google Shape;7538;p368"/>
          <p:cNvCxnSpPr>
            <a:endCxn id="7533" idx="1"/>
          </p:cNvCxnSpPr>
          <p:nvPr/>
        </p:nvCxnSpPr>
        <p:spPr>
          <a:xfrm>
            <a:off x="6516863" y="2675902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42" name="Shape 7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3" name="Google Shape;7543;p36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Cliques</a:t>
            </a:r>
            <a:endParaRPr/>
          </a:p>
        </p:txBody>
      </p:sp>
      <p:sp>
        <p:nvSpPr>
          <p:cNvPr id="7544" name="Google Shape;7544;p369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5" name="Google Shape;7545;p369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6" name="Google Shape;7546;p369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7" name="Google Shape;7547;p369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48" name="Google Shape;7548;p369"/>
          <p:cNvCxnSpPr>
            <a:stCxn id="7544" idx="3"/>
            <a:endCxn id="7545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49" name="Google Shape;7549;p369"/>
          <p:cNvCxnSpPr>
            <a:stCxn id="7547" idx="1"/>
            <a:endCxn id="7545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50" name="Google Shape;7550;p369"/>
          <p:cNvCxnSpPr>
            <a:stCxn id="7544" idx="4"/>
            <a:endCxn id="7547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51" name="Google Shape;7551;p369"/>
          <p:cNvCxnSpPr>
            <a:stCxn id="7544" idx="5"/>
            <a:endCxn id="7546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52" name="Google Shape;7552;p369"/>
          <p:cNvCxnSpPr>
            <a:stCxn id="7546" idx="2"/>
            <a:endCxn id="7545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53" name="Google Shape;7553;p369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4" name="Google Shape;7554;p369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5" name="Google Shape;7555;p369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6" name="Google Shape;7556;p369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57" name="Google Shape;7557;p369"/>
          <p:cNvCxnSpPr>
            <a:stCxn id="7553" idx="3"/>
            <a:endCxn id="7554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58" name="Google Shape;7558;p369"/>
          <p:cNvCxnSpPr>
            <a:stCxn id="7556" idx="0"/>
            <a:endCxn id="7554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59" name="Google Shape;7559;p369"/>
          <p:cNvCxnSpPr>
            <a:stCxn id="7553" idx="5"/>
            <a:endCxn id="7555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60" name="Google Shape;7560;p369"/>
          <p:cNvCxnSpPr>
            <a:stCxn id="7555" idx="2"/>
            <a:endCxn id="7554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61" name="Google Shape;7561;p369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62" name="Google Shape;7562;p369"/>
          <p:cNvCxnSpPr>
            <a:stCxn id="7561" idx="0"/>
            <a:endCxn id="7554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63" name="Google Shape;7563;p369"/>
          <p:cNvCxnSpPr>
            <a:stCxn id="7555" idx="3"/>
            <a:endCxn id="7556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64" name="Google Shape;7564;p369"/>
          <p:cNvCxnSpPr>
            <a:stCxn id="7555" idx="3"/>
            <a:endCxn id="7561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65" name="Google Shape;7565;p369"/>
          <p:cNvCxnSpPr>
            <a:stCxn id="7553" idx="4"/>
            <a:endCxn id="7561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66" name="Google Shape;7566;p369"/>
          <p:cNvCxnSpPr>
            <a:stCxn id="7546" idx="7"/>
            <a:endCxn id="7556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67" name="Google Shape;7567;p369"/>
          <p:cNvCxnSpPr>
            <a:stCxn id="7547" idx="7"/>
            <a:endCxn id="7546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68" name="Google Shape;7568;p369"/>
          <p:cNvCxnSpPr>
            <a:stCxn id="7556" idx="6"/>
            <a:endCxn id="7561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69" name="Google Shape;7569;p369"/>
          <p:cNvCxnSpPr>
            <a:stCxn id="7553" idx="4"/>
            <a:endCxn id="7556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70" name="Google Shape;7570;p369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1" name="Google Shape;7571;p369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72" name="Google Shape;7572;p369"/>
          <p:cNvCxnSpPr>
            <a:stCxn id="7570" idx="3"/>
            <a:endCxn id="7571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73" name="Google Shape;7573;p369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74" name="Google Shape;7574;p369"/>
          <p:cNvCxnSpPr>
            <a:stCxn id="7573" idx="2"/>
            <a:endCxn id="7571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75" name="Google Shape;7575;p369"/>
          <p:cNvCxnSpPr>
            <a:stCxn id="7573" idx="0"/>
            <a:endCxn id="7570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76" name="Google Shape;7576;p369"/>
          <p:cNvCxnSpPr>
            <a:endCxn id="7571" idx="1"/>
          </p:cNvCxnSpPr>
          <p:nvPr/>
        </p:nvCxnSpPr>
        <p:spPr>
          <a:xfrm>
            <a:off x="6516863" y="2675902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77" name="Google Shape;7577;p369"/>
          <p:cNvSpPr txBox="1"/>
          <p:nvPr/>
        </p:nvSpPr>
        <p:spPr>
          <a:xfrm>
            <a:off x="4965400" y="1071800"/>
            <a:ext cx="1576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clique of size 5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578" name="Google Shape;7578;p369"/>
          <p:cNvCxnSpPr/>
          <p:nvPr/>
        </p:nvCxnSpPr>
        <p:spPr>
          <a:xfrm flipH="1" rot="10800000">
            <a:off x="6382000" y="1303600"/>
            <a:ext cx="808200" cy="57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579" name="Google Shape;7579;p369"/>
          <p:cNvSpPr txBox="1"/>
          <p:nvPr>
            <p:ph idx="1" type="body"/>
          </p:nvPr>
        </p:nvSpPr>
        <p:spPr>
          <a:xfrm>
            <a:off x="311700" y="1225225"/>
            <a:ext cx="457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clique</a:t>
            </a:r>
            <a:r>
              <a:rPr lang="en"/>
              <a:t> is a </a:t>
            </a:r>
            <a:r>
              <a:rPr b="1" lang="en"/>
              <a:t>complete subgraph </a:t>
            </a:r>
            <a:r>
              <a:rPr lang="en"/>
              <a:t>(density = 1.0)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</a:t>
            </a:r>
            <a:r>
              <a:rPr b="1" lang="en"/>
              <a:t>size</a:t>
            </a:r>
            <a:r>
              <a:rPr lang="en"/>
              <a:t> of a clique is the number of nodes in it: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Clique of size 2, clique of size 3, clique of size 4, etc.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83" name="Shape 7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4" name="Google Shape;7584;p37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Cliques</a:t>
            </a:r>
            <a:endParaRPr/>
          </a:p>
        </p:txBody>
      </p:sp>
      <p:sp>
        <p:nvSpPr>
          <p:cNvPr id="7585" name="Google Shape;7585;p370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6" name="Google Shape;7586;p370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7" name="Google Shape;7587;p370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8" name="Google Shape;7588;p370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89" name="Google Shape;7589;p370"/>
          <p:cNvCxnSpPr>
            <a:stCxn id="7585" idx="3"/>
            <a:endCxn id="7586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90" name="Google Shape;7590;p370"/>
          <p:cNvCxnSpPr>
            <a:stCxn id="7588" idx="1"/>
            <a:endCxn id="7586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91" name="Google Shape;7591;p370"/>
          <p:cNvCxnSpPr>
            <a:stCxn id="7585" idx="4"/>
            <a:endCxn id="7588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92" name="Google Shape;7592;p370"/>
          <p:cNvCxnSpPr>
            <a:stCxn id="7585" idx="5"/>
            <a:endCxn id="7587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93" name="Google Shape;7593;p370"/>
          <p:cNvCxnSpPr>
            <a:stCxn id="7587" idx="2"/>
            <a:endCxn id="7586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94" name="Google Shape;7594;p370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5" name="Google Shape;7595;p370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6" name="Google Shape;7596;p370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7" name="Google Shape;7597;p370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98" name="Google Shape;7598;p370"/>
          <p:cNvCxnSpPr>
            <a:stCxn id="7594" idx="3"/>
            <a:endCxn id="7595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99" name="Google Shape;7599;p370"/>
          <p:cNvCxnSpPr>
            <a:stCxn id="7597" idx="0"/>
            <a:endCxn id="7595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00" name="Google Shape;7600;p370"/>
          <p:cNvCxnSpPr>
            <a:stCxn id="7594" idx="5"/>
            <a:endCxn id="7596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01" name="Google Shape;7601;p370"/>
          <p:cNvCxnSpPr>
            <a:stCxn id="7596" idx="2"/>
            <a:endCxn id="7595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02" name="Google Shape;7602;p370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03" name="Google Shape;7603;p370"/>
          <p:cNvCxnSpPr>
            <a:stCxn id="7602" idx="0"/>
            <a:endCxn id="7595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04" name="Google Shape;7604;p370"/>
          <p:cNvCxnSpPr>
            <a:stCxn id="7596" idx="3"/>
            <a:endCxn id="7597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05" name="Google Shape;7605;p370"/>
          <p:cNvCxnSpPr>
            <a:stCxn id="7596" idx="3"/>
            <a:endCxn id="7602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06" name="Google Shape;7606;p370"/>
          <p:cNvCxnSpPr>
            <a:stCxn id="7594" idx="4"/>
            <a:endCxn id="7602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07" name="Google Shape;7607;p370"/>
          <p:cNvCxnSpPr>
            <a:stCxn id="7587" idx="7"/>
            <a:endCxn id="7597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08" name="Google Shape;7608;p370"/>
          <p:cNvCxnSpPr>
            <a:stCxn id="7588" idx="7"/>
            <a:endCxn id="7587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09" name="Google Shape;7609;p370"/>
          <p:cNvCxnSpPr>
            <a:stCxn id="7597" idx="6"/>
            <a:endCxn id="7602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10" name="Google Shape;7610;p370"/>
          <p:cNvCxnSpPr>
            <a:stCxn id="7594" idx="4"/>
            <a:endCxn id="7597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11" name="Google Shape;7611;p370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2" name="Google Shape;7612;p370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13" name="Google Shape;7613;p370"/>
          <p:cNvCxnSpPr>
            <a:stCxn id="7611" idx="3"/>
            <a:endCxn id="7612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14" name="Google Shape;7614;p370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15" name="Google Shape;7615;p370"/>
          <p:cNvCxnSpPr>
            <a:stCxn id="7614" idx="2"/>
            <a:endCxn id="7612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16" name="Google Shape;7616;p370"/>
          <p:cNvCxnSpPr>
            <a:stCxn id="7614" idx="0"/>
            <a:endCxn id="7611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17" name="Google Shape;7617;p370"/>
          <p:cNvCxnSpPr>
            <a:endCxn id="7612" idx="1"/>
          </p:cNvCxnSpPr>
          <p:nvPr/>
        </p:nvCxnSpPr>
        <p:spPr>
          <a:xfrm>
            <a:off x="6516863" y="2675902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18" name="Google Shape;7618;p370"/>
          <p:cNvSpPr txBox="1"/>
          <p:nvPr/>
        </p:nvSpPr>
        <p:spPr>
          <a:xfrm>
            <a:off x="4891200" y="4083325"/>
            <a:ext cx="17493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triad is a clique of size 3!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619" name="Google Shape;7619;p370"/>
          <p:cNvCxnSpPr>
            <a:stCxn id="7618" idx="3"/>
          </p:cNvCxnSpPr>
          <p:nvPr/>
        </p:nvCxnSpPr>
        <p:spPr>
          <a:xfrm flipH="1" rot="10800000">
            <a:off x="6640500" y="3955075"/>
            <a:ext cx="612000" cy="5286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620" name="Google Shape;7620;p370"/>
          <p:cNvSpPr txBox="1"/>
          <p:nvPr>
            <p:ph idx="1" type="body"/>
          </p:nvPr>
        </p:nvSpPr>
        <p:spPr>
          <a:xfrm>
            <a:off x="311700" y="1225225"/>
            <a:ext cx="457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clique</a:t>
            </a:r>
            <a:r>
              <a:rPr lang="en"/>
              <a:t> is a </a:t>
            </a:r>
            <a:r>
              <a:rPr b="1" lang="en"/>
              <a:t>complete subgraph </a:t>
            </a:r>
            <a:r>
              <a:rPr lang="en"/>
              <a:t>(density = 1.0)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</a:t>
            </a:r>
            <a:r>
              <a:rPr b="1" lang="en"/>
              <a:t>size</a:t>
            </a:r>
            <a:r>
              <a:rPr lang="en"/>
              <a:t> of a clique is the number of nodes in it: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Clique of size 2, clique of size 3, clique of size 4, etc.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24" name="Shape 7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5" name="Google Shape;7625;p37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Cliques</a:t>
            </a:r>
            <a:endParaRPr/>
          </a:p>
        </p:txBody>
      </p:sp>
      <p:sp>
        <p:nvSpPr>
          <p:cNvPr id="7626" name="Google Shape;7626;p371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7" name="Google Shape;7627;p371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8" name="Google Shape;7628;p371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9" name="Google Shape;7629;p371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30" name="Google Shape;7630;p371"/>
          <p:cNvCxnSpPr>
            <a:stCxn id="7626" idx="3"/>
            <a:endCxn id="7627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31" name="Google Shape;7631;p371"/>
          <p:cNvCxnSpPr>
            <a:stCxn id="7629" idx="1"/>
            <a:endCxn id="7627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32" name="Google Shape;7632;p371"/>
          <p:cNvCxnSpPr>
            <a:stCxn id="7626" idx="4"/>
            <a:endCxn id="7629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33" name="Google Shape;7633;p371"/>
          <p:cNvCxnSpPr>
            <a:stCxn id="7626" idx="5"/>
            <a:endCxn id="7628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34" name="Google Shape;7634;p371"/>
          <p:cNvCxnSpPr>
            <a:stCxn id="7628" idx="2"/>
            <a:endCxn id="7627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35" name="Google Shape;7635;p371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6" name="Google Shape;7636;p371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7" name="Google Shape;7637;p371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8" name="Google Shape;7638;p371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39" name="Google Shape;7639;p371"/>
          <p:cNvCxnSpPr>
            <a:stCxn id="7635" idx="3"/>
            <a:endCxn id="7636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40" name="Google Shape;7640;p371"/>
          <p:cNvCxnSpPr>
            <a:stCxn id="7638" idx="0"/>
            <a:endCxn id="7636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41" name="Google Shape;7641;p371"/>
          <p:cNvCxnSpPr>
            <a:stCxn id="7635" idx="5"/>
            <a:endCxn id="7637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42" name="Google Shape;7642;p371"/>
          <p:cNvCxnSpPr>
            <a:stCxn id="7637" idx="2"/>
            <a:endCxn id="7636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43" name="Google Shape;7643;p371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44" name="Google Shape;7644;p371"/>
          <p:cNvCxnSpPr>
            <a:stCxn id="7643" idx="0"/>
            <a:endCxn id="7636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45" name="Google Shape;7645;p371"/>
          <p:cNvCxnSpPr>
            <a:stCxn id="7637" idx="3"/>
            <a:endCxn id="7638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46" name="Google Shape;7646;p371"/>
          <p:cNvCxnSpPr>
            <a:stCxn id="7637" idx="3"/>
            <a:endCxn id="7643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47" name="Google Shape;7647;p371"/>
          <p:cNvCxnSpPr>
            <a:stCxn id="7635" idx="4"/>
            <a:endCxn id="7643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48" name="Google Shape;7648;p371"/>
          <p:cNvCxnSpPr>
            <a:stCxn id="7628" idx="7"/>
            <a:endCxn id="7638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49" name="Google Shape;7649;p371"/>
          <p:cNvCxnSpPr>
            <a:stCxn id="7629" idx="7"/>
            <a:endCxn id="7628" idx="3"/>
          </p:cNvCxnSpPr>
          <p:nvPr/>
        </p:nvCxnSpPr>
        <p:spPr>
          <a:xfrm flipH="1" rot="10800000">
            <a:off x="6021501" y="2675824"/>
            <a:ext cx="374100" cy="4314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50" name="Google Shape;7650;p371"/>
          <p:cNvCxnSpPr>
            <a:stCxn id="7638" idx="6"/>
            <a:endCxn id="7643" idx="1"/>
          </p:cNvCxnSpPr>
          <p:nvPr/>
        </p:nvCxnSpPr>
        <p:spPr>
          <a:xfrm>
            <a:off x="7417300" y="1580363"/>
            <a:ext cx="428700" cy="25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51" name="Google Shape;7651;p371"/>
          <p:cNvCxnSpPr>
            <a:stCxn id="7635" idx="4"/>
            <a:endCxn id="7638" idx="7"/>
          </p:cNvCxnSpPr>
          <p:nvPr/>
        </p:nvCxnSpPr>
        <p:spPr>
          <a:xfrm flipH="1">
            <a:off x="7392100" y="825113"/>
            <a:ext cx="514500" cy="69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52" name="Google Shape;7652;p371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3" name="Google Shape;7653;p371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54" name="Google Shape;7654;p371"/>
          <p:cNvCxnSpPr>
            <a:stCxn id="7652" idx="3"/>
            <a:endCxn id="765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55" name="Google Shape;7655;p371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56" name="Google Shape;7656;p371"/>
          <p:cNvCxnSpPr>
            <a:stCxn id="7655" idx="2"/>
            <a:endCxn id="765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57" name="Google Shape;7657;p371"/>
          <p:cNvCxnSpPr>
            <a:stCxn id="7655" idx="0"/>
            <a:endCxn id="765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58" name="Google Shape;7658;p371"/>
          <p:cNvCxnSpPr>
            <a:stCxn id="7628" idx="5"/>
            <a:endCxn id="7653" idx="0"/>
          </p:cNvCxnSpPr>
          <p:nvPr/>
        </p:nvCxnSpPr>
        <p:spPr>
          <a:xfrm>
            <a:off x="6516801" y="2675826"/>
            <a:ext cx="847800" cy="110460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59" name="Google Shape;7659;p371"/>
          <p:cNvSpPr txBox="1"/>
          <p:nvPr/>
        </p:nvSpPr>
        <p:spPr>
          <a:xfrm>
            <a:off x="4891200" y="4083325"/>
            <a:ext cx="17493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 same actor can belong to multiple cliques!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660" name="Google Shape;7660;p371"/>
          <p:cNvCxnSpPr>
            <a:stCxn id="7659" idx="0"/>
          </p:cNvCxnSpPr>
          <p:nvPr/>
        </p:nvCxnSpPr>
        <p:spPr>
          <a:xfrm flipH="1" rot="10800000">
            <a:off x="5765850" y="2804125"/>
            <a:ext cx="663600" cy="1279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661" name="Google Shape;7661;p371"/>
          <p:cNvSpPr txBox="1"/>
          <p:nvPr>
            <p:ph idx="1" type="body"/>
          </p:nvPr>
        </p:nvSpPr>
        <p:spPr>
          <a:xfrm>
            <a:off x="311700" y="1225225"/>
            <a:ext cx="457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subgraph G' = (V', E') of a graph G = (V, E) exists when: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V' is a subset of V and E' is a subset of 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clique</a:t>
            </a:r>
            <a:r>
              <a:rPr lang="en"/>
              <a:t> is a </a:t>
            </a:r>
            <a:r>
              <a:rPr b="1" lang="en"/>
              <a:t>complete subgraph </a:t>
            </a:r>
            <a:r>
              <a:rPr lang="en"/>
              <a:t>(density = 1.0)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</a:t>
            </a:r>
            <a:r>
              <a:rPr b="1" lang="en"/>
              <a:t>size</a:t>
            </a:r>
            <a:r>
              <a:rPr lang="en"/>
              <a:t> of a clique is the number of nodes in it: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Clique of size 2, clique of size 3, clique of size 4, etc.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62" name="Google Shape;7662;p371"/>
          <p:cNvCxnSpPr>
            <a:stCxn id="7628" idx="5"/>
            <a:endCxn id="7655" idx="1"/>
          </p:cNvCxnSpPr>
          <p:nvPr/>
        </p:nvCxnSpPr>
        <p:spPr>
          <a:xfrm>
            <a:off x="6516801" y="2675826"/>
            <a:ext cx="1491300" cy="129540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63" name="Google Shape;7663;p371"/>
          <p:cNvCxnSpPr>
            <a:stCxn id="7628" idx="5"/>
            <a:endCxn id="7652" idx="2"/>
          </p:cNvCxnSpPr>
          <p:nvPr/>
        </p:nvCxnSpPr>
        <p:spPr>
          <a:xfrm>
            <a:off x="6516801" y="2675826"/>
            <a:ext cx="1215300" cy="56820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67" name="Shape 7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8" name="Google Shape;7668;p37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N-Cliques</a:t>
            </a:r>
            <a:endParaRPr/>
          </a:p>
        </p:txBody>
      </p:sp>
      <p:sp>
        <p:nvSpPr>
          <p:cNvPr id="7669" name="Google Shape;7669;p372"/>
          <p:cNvSpPr txBox="1"/>
          <p:nvPr>
            <p:ph idx="1" type="body"/>
          </p:nvPr>
        </p:nvSpPr>
        <p:spPr>
          <a:xfrm>
            <a:off x="311700" y="1225225"/>
            <a:ext cx="464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Some subgraphs are not complete graphs (cliques) but they are almost there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are quasi-groups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 can relax the definition to accommodate!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An </a:t>
            </a:r>
            <a:r>
              <a:rPr b="1" lang="en"/>
              <a:t>n-clique</a:t>
            </a:r>
            <a:r>
              <a:rPr lang="en"/>
              <a:t> is a </a:t>
            </a:r>
            <a:r>
              <a:rPr b="1" lang="en"/>
              <a:t>subgraph</a:t>
            </a:r>
            <a:r>
              <a:rPr lang="en"/>
              <a:t> where each node is at least</a:t>
            </a:r>
            <a:r>
              <a:rPr b="1" lang="en"/>
              <a:t> n steps away</a:t>
            </a:r>
            <a:r>
              <a:rPr lang="en"/>
              <a:t> from each other node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2-clique, 3-clique, 4-clique, 5-clique...</a:t>
            </a:r>
            <a:r>
              <a:rPr i="1" lang="en"/>
              <a:t>k-</a:t>
            </a:r>
            <a:r>
              <a:rPr lang="en"/>
              <a:t>clique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0" name="Google Shape;7670;p372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1" name="Google Shape;7671;p372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2" name="Google Shape;7672;p372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3" name="Google Shape;7673;p372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74" name="Google Shape;7674;p372"/>
          <p:cNvCxnSpPr>
            <a:stCxn id="7670" idx="3"/>
            <a:endCxn id="7671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75" name="Google Shape;7675;p372"/>
          <p:cNvCxnSpPr>
            <a:stCxn id="7673" idx="1"/>
            <a:endCxn id="7671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76" name="Google Shape;7676;p372"/>
          <p:cNvCxnSpPr>
            <a:stCxn id="7670" idx="4"/>
            <a:endCxn id="7673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77" name="Google Shape;7677;p372"/>
          <p:cNvCxnSpPr>
            <a:stCxn id="7670" idx="5"/>
            <a:endCxn id="7672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78" name="Google Shape;7678;p372"/>
          <p:cNvCxnSpPr>
            <a:stCxn id="7672" idx="2"/>
            <a:endCxn id="7671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79" name="Google Shape;7679;p372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0" name="Google Shape;7680;p372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1" name="Google Shape;7681;p372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2" name="Google Shape;7682;p372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83" name="Google Shape;7683;p372"/>
          <p:cNvCxnSpPr>
            <a:stCxn id="7679" idx="3"/>
            <a:endCxn id="7680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84" name="Google Shape;7684;p372"/>
          <p:cNvCxnSpPr>
            <a:stCxn id="7682" idx="0"/>
            <a:endCxn id="7680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85" name="Google Shape;7685;p372"/>
          <p:cNvCxnSpPr>
            <a:stCxn id="7679" idx="5"/>
            <a:endCxn id="7681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86" name="Google Shape;7686;p372"/>
          <p:cNvCxnSpPr>
            <a:stCxn id="7681" idx="2"/>
            <a:endCxn id="7680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87" name="Google Shape;7687;p372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88" name="Google Shape;7688;p372"/>
          <p:cNvCxnSpPr>
            <a:stCxn id="7687" idx="0"/>
            <a:endCxn id="7680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89" name="Google Shape;7689;p372"/>
          <p:cNvCxnSpPr>
            <a:stCxn id="7681" idx="3"/>
            <a:endCxn id="7682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90" name="Google Shape;7690;p372"/>
          <p:cNvCxnSpPr>
            <a:stCxn id="7681" idx="3"/>
            <a:endCxn id="7687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91" name="Google Shape;7691;p372"/>
          <p:cNvCxnSpPr>
            <a:stCxn id="7679" idx="4"/>
            <a:endCxn id="7687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92" name="Google Shape;7692;p372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3" name="Google Shape;7693;p372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4" name="Google Shape;7694;p372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5" name="Google Shape;7695;p372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96" name="Google Shape;7696;p372"/>
          <p:cNvCxnSpPr>
            <a:stCxn id="7692" idx="3"/>
            <a:endCxn id="769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97" name="Google Shape;7697;p372"/>
          <p:cNvCxnSpPr>
            <a:stCxn id="7695" idx="0"/>
            <a:endCxn id="7693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98" name="Google Shape;7698;p372"/>
          <p:cNvCxnSpPr>
            <a:stCxn id="7692" idx="5"/>
            <a:endCxn id="7694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99" name="Google Shape;7699;p372"/>
          <p:cNvCxnSpPr>
            <a:stCxn id="7694" idx="2"/>
            <a:endCxn id="7693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00" name="Google Shape;7700;p372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01" name="Google Shape;7701;p372"/>
          <p:cNvCxnSpPr>
            <a:stCxn id="7694" idx="3"/>
            <a:endCxn id="7695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02" name="Google Shape;7702;p372"/>
          <p:cNvCxnSpPr>
            <a:stCxn id="7700" idx="2"/>
            <a:endCxn id="769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03" name="Google Shape;7703;p372"/>
          <p:cNvCxnSpPr>
            <a:stCxn id="7700" idx="0"/>
            <a:endCxn id="769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04" name="Google Shape;7704;p372"/>
          <p:cNvCxnSpPr>
            <a:stCxn id="7695" idx="6"/>
            <a:endCxn id="7700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05" name="Google Shape;7705;p372"/>
          <p:cNvCxnSpPr>
            <a:stCxn id="7672" idx="5"/>
            <a:endCxn id="7693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06" name="Google Shape;7706;p372"/>
          <p:cNvCxnSpPr>
            <a:stCxn id="7672" idx="7"/>
            <a:endCxn id="7682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07" name="Google Shape;7707;p372"/>
          <p:cNvCxnSpPr>
            <a:stCxn id="7687" idx="3"/>
            <a:endCxn id="7692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08" name="Google Shape;7708;p372"/>
          <p:cNvCxnSpPr>
            <a:stCxn id="7681" idx="4"/>
            <a:endCxn id="7694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12" name="Shape 7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3" name="Google Shape;7713;p37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N-Cliques</a:t>
            </a:r>
            <a:endParaRPr/>
          </a:p>
        </p:txBody>
      </p:sp>
      <p:sp>
        <p:nvSpPr>
          <p:cNvPr id="7714" name="Google Shape;7714;p373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5" name="Google Shape;7715;p373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6" name="Google Shape;7716;p373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7" name="Google Shape;7717;p373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18" name="Google Shape;7718;p373"/>
          <p:cNvCxnSpPr>
            <a:stCxn id="7714" idx="3"/>
            <a:endCxn id="7715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19" name="Google Shape;7719;p373"/>
          <p:cNvCxnSpPr>
            <a:stCxn id="7717" idx="1"/>
            <a:endCxn id="7715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20" name="Google Shape;7720;p373"/>
          <p:cNvCxnSpPr>
            <a:stCxn id="7714" idx="4"/>
            <a:endCxn id="7717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21" name="Google Shape;7721;p373"/>
          <p:cNvCxnSpPr>
            <a:stCxn id="7714" idx="5"/>
            <a:endCxn id="7716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22" name="Google Shape;7722;p373"/>
          <p:cNvCxnSpPr>
            <a:stCxn id="7716" idx="2"/>
            <a:endCxn id="7715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23" name="Google Shape;7723;p373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4" name="Google Shape;7724;p373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5" name="Google Shape;7725;p373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6" name="Google Shape;7726;p373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27" name="Google Shape;7727;p373"/>
          <p:cNvCxnSpPr>
            <a:stCxn id="7723" idx="3"/>
            <a:endCxn id="7724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28" name="Google Shape;7728;p373"/>
          <p:cNvCxnSpPr>
            <a:stCxn id="7726" idx="0"/>
            <a:endCxn id="7724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29" name="Google Shape;7729;p373"/>
          <p:cNvCxnSpPr>
            <a:stCxn id="7723" idx="5"/>
            <a:endCxn id="7725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30" name="Google Shape;7730;p373"/>
          <p:cNvCxnSpPr>
            <a:stCxn id="7725" idx="2"/>
            <a:endCxn id="7724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31" name="Google Shape;7731;p373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32" name="Google Shape;7732;p373"/>
          <p:cNvCxnSpPr>
            <a:stCxn id="7731" idx="0"/>
            <a:endCxn id="7724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33" name="Google Shape;7733;p373"/>
          <p:cNvCxnSpPr>
            <a:stCxn id="7725" idx="3"/>
            <a:endCxn id="7726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34" name="Google Shape;7734;p373"/>
          <p:cNvCxnSpPr>
            <a:stCxn id="7725" idx="3"/>
            <a:endCxn id="7731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35" name="Google Shape;7735;p373"/>
          <p:cNvCxnSpPr>
            <a:stCxn id="7723" idx="4"/>
            <a:endCxn id="7731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36" name="Google Shape;7736;p373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7" name="Google Shape;7737;p373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8" name="Google Shape;7738;p373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9" name="Google Shape;7739;p373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40" name="Google Shape;7740;p373"/>
          <p:cNvCxnSpPr>
            <a:stCxn id="7736" idx="3"/>
            <a:endCxn id="7737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41" name="Google Shape;7741;p373"/>
          <p:cNvCxnSpPr>
            <a:stCxn id="7739" idx="0"/>
            <a:endCxn id="7737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42" name="Google Shape;7742;p373"/>
          <p:cNvCxnSpPr>
            <a:stCxn id="7736" idx="5"/>
            <a:endCxn id="7738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43" name="Google Shape;7743;p373"/>
          <p:cNvCxnSpPr>
            <a:stCxn id="7738" idx="2"/>
            <a:endCxn id="7737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44" name="Google Shape;7744;p373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45" name="Google Shape;7745;p373"/>
          <p:cNvCxnSpPr>
            <a:stCxn id="7738" idx="3"/>
            <a:endCxn id="7739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46" name="Google Shape;7746;p373"/>
          <p:cNvCxnSpPr>
            <a:stCxn id="7744" idx="2"/>
            <a:endCxn id="7737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47" name="Google Shape;7747;p373"/>
          <p:cNvCxnSpPr>
            <a:stCxn id="7744" idx="0"/>
            <a:endCxn id="7736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48" name="Google Shape;7748;p373"/>
          <p:cNvCxnSpPr>
            <a:stCxn id="7739" idx="6"/>
            <a:endCxn id="7744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49" name="Google Shape;7749;p373"/>
          <p:cNvCxnSpPr>
            <a:stCxn id="7716" idx="5"/>
            <a:endCxn id="7737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50" name="Google Shape;7750;p373"/>
          <p:cNvCxnSpPr>
            <a:stCxn id="7716" idx="7"/>
            <a:endCxn id="7726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51" name="Google Shape;7751;p373"/>
          <p:cNvCxnSpPr>
            <a:stCxn id="7731" idx="3"/>
            <a:endCxn id="7736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52" name="Google Shape;7752;p373"/>
          <p:cNvCxnSpPr>
            <a:stCxn id="7725" idx="4"/>
            <a:endCxn id="7738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53" name="Google Shape;7753;p373"/>
          <p:cNvSpPr txBox="1"/>
          <p:nvPr/>
        </p:nvSpPr>
        <p:spPr>
          <a:xfrm>
            <a:off x="4767500" y="4226475"/>
            <a:ext cx="1749300" cy="42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2-clique!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754" name="Google Shape;7754;p373"/>
          <p:cNvCxnSpPr>
            <a:stCxn id="7753" idx="0"/>
          </p:cNvCxnSpPr>
          <p:nvPr/>
        </p:nvCxnSpPr>
        <p:spPr>
          <a:xfrm flipH="1" rot="10800000">
            <a:off x="5642150" y="3387075"/>
            <a:ext cx="255000" cy="839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755" name="Google Shape;7755;p373"/>
          <p:cNvSpPr txBox="1"/>
          <p:nvPr>
            <p:ph idx="1" type="body"/>
          </p:nvPr>
        </p:nvSpPr>
        <p:spPr>
          <a:xfrm>
            <a:off x="311700" y="1225225"/>
            <a:ext cx="464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subgraphs are not complete graphs (cliques) but they are almost there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are quasi-groups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 can relax the definition to accommodate!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An </a:t>
            </a:r>
            <a:r>
              <a:rPr b="1" lang="en"/>
              <a:t>n-clique</a:t>
            </a:r>
            <a:r>
              <a:rPr lang="en"/>
              <a:t> is a </a:t>
            </a:r>
            <a:r>
              <a:rPr b="1" lang="en"/>
              <a:t>subgraph</a:t>
            </a:r>
            <a:r>
              <a:rPr lang="en"/>
              <a:t> where each node is at least</a:t>
            </a:r>
            <a:r>
              <a:rPr b="1" lang="en"/>
              <a:t> n steps away</a:t>
            </a:r>
            <a:r>
              <a:rPr lang="en"/>
              <a:t> from each other node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2-clique, 3-clique, 4-clique, 5-clique...</a:t>
            </a:r>
            <a:r>
              <a:rPr i="1" lang="en"/>
              <a:t>k-</a:t>
            </a:r>
            <a:r>
              <a:rPr lang="en"/>
              <a:t>clique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59" name="Shape 7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0" name="Google Shape;7760;p37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N-Cliques</a:t>
            </a:r>
            <a:endParaRPr/>
          </a:p>
        </p:txBody>
      </p:sp>
      <p:sp>
        <p:nvSpPr>
          <p:cNvPr id="7761" name="Google Shape;7761;p374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2" name="Google Shape;7762;p374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3" name="Google Shape;7763;p374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4" name="Google Shape;7764;p374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65" name="Google Shape;7765;p374"/>
          <p:cNvCxnSpPr>
            <a:stCxn id="7761" idx="3"/>
            <a:endCxn id="7762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66" name="Google Shape;7766;p374"/>
          <p:cNvCxnSpPr>
            <a:stCxn id="7764" idx="1"/>
            <a:endCxn id="7762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67" name="Google Shape;7767;p374"/>
          <p:cNvCxnSpPr>
            <a:stCxn id="7761" idx="4"/>
            <a:endCxn id="7764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68" name="Google Shape;7768;p374"/>
          <p:cNvCxnSpPr>
            <a:stCxn id="7761" idx="5"/>
            <a:endCxn id="7763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69" name="Google Shape;7769;p374"/>
          <p:cNvCxnSpPr>
            <a:stCxn id="7763" idx="2"/>
            <a:endCxn id="7762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70" name="Google Shape;7770;p374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1" name="Google Shape;7771;p374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2" name="Google Shape;7772;p374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3" name="Google Shape;7773;p374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74" name="Google Shape;7774;p374"/>
          <p:cNvCxnSpPr>
            <a:stCxn id="7770" idx="3"/>
            <a:endCxn id="7771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75" name="Google Shape;7775;p374"/>
          <p:cNvCxnSpPr>
            <a:stCxn id="7773" idx="0"/>
            <a:endCxn id="7771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76" name="Google Shape;7776;p374"/>
          <p:cNvCxnSpPr>
            <a:stCxn id="7770" idx="5"/>
            <a:endCxn id="7772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77" name="Google Shape;7777;p374"/>
          <p:cNvCxnSpPr>
            <a:stCxn id="7772" idx="2"/>
            <a:endCxn id="7771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78" name="Google Shape;7778;p374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79" name="Google Shape;7779;p374"/>
          <p:cNvCxnSpPr>
            <a:stCxn id="7778" idx="0"/>
            <a:endCxn id="7771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80" name="Google Shape;7780;p374"/>
          <p:cNvCxnSpPr>
            <a:stCxn id="7772" idx="3"/>
            <a:endCxn id="7773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81" name="Google Shape;7781;p374"/>
          <p:cNvCxnSpPr>
            <a:stCxn id="7772" idx="3"/>
            <a:endCxn id="7778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82" name="Google Shape;7782;p374"/>
          <p:cNvCxnSpPr>
            <a:stCxn id="7770" idx="4"/>
            <a:endCxn id="7778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83" name="Google Shape;7783;p374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4" name="Google Shape;7784;p374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5" name="Google Shape;7785;p374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6" name="Google Shape;7786;p374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87" name="Google Shape;7787;p374"/>
          <p:cNvCxnSpPr>
            <a:stCxn id="7783" idx="3"/>
            <a:endCxn id="7784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88" name="Google Shape;7788;p374"/>
          <p:cNvCxnSpPr>
            <a:stCxn id="7786" idx="0"/>
            <a:endCxn id="7784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89" name="Google Shape;7789;p374"/>
          <p:cNvCxnSpPr>
            <a:stCxn id="7783" idx="5"/>
            <a:endCxn id="7785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90" name="Google Shape;7790;p374"/>
          <p:cNvCxnSpPr>
            <a:stCxn id="7785" idx="2"/>
            <a:endCxn id="7784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91" name="Google Shape;7791;p374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792" name="Google Shape;7792;p374"/>
          <p:cNvCxnSpPr>
            <a:stCxn id="7785" idx="3"/>
            <a:endCxn id="7786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93" name="Google Shape;7793;p374"/>
          <p:cNvCxnSpPr>
            <a:stCxn id="7791" idx="2"/>
            <a:endCxn id="7784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94" name="Google Shape;7794;p374"/>
          <p:cNvCxnSpPr>
            <a:stCxn id="7791" idx="0"/>
            <a:endCxn id="7783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95" name="Google Shape;7795;p374"/>
          <p:cNvCxnSpPr>
            <a:stCxn id="7786" idx="6"/>
            <a:endCxn id="7791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96" name="Google Shape;7796;p374"/>
          <p:cNvCxnSpPr>
            <a:stCxn id="7763" idx="5"/>
            <a:endCxn id="7784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97" name="Google Shape;7797;p374"/>
          <p:cNvCxnSpPr>
            <a:stCxn id="7763" idx="7"/>
            <a:endCxn id="7773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98" name="Google Shape;7798;p374"/>
          <p:cNvCxnSpPr>
            <a:stCxn id="7778" idx="3"/>
            <a:endCxn id="7783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99" name="Google Shape;7799;p374"/>
          <p:cNvCxnSpPr>
            <a:stCxn id="7772" idx="4"/>
            <a:endCxn id="7785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00" name="Google Shape;7800;p374"/>
          <p:cNvSpPr txBox="1"/>
          <p:nvPr/>
        </p:nvSpPr>
        <p:spPr>
          <a:xfrm>
            <a:off x="4767500" y="4226475"/>
            <a:ext cx="1749300" cy="42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3-clique!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801" name="Google Shape;7801;p374"/>
          <p:cNvCxnSpPr>
            <a:stCxn id="7800" idx="0"/>
          </p:cNvCxnSpPr>
          <p:nvPr/>
        </p:nvCxnSpPr>
        <p:spPr>
          <a:xfrm flipH="1" rot="10800000">
            <a:off x="5642150" y="3387075"/>
            <a:ext cx="255000" cy="839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802" name="Google Shape;7802;p374"/>
          <p:cNvSpPr txBox="1"/>
          <p:nvPr>
            <p:ph idx="1" type="body"/>
          </p:nvPr>
        </p:nvSpPr>
        <p:spPr>
          <a:xfrm>
            <a:off x="311700" y="1225225"/>
            <a:ext cx="464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subgraphs are not complete graphs (cliques) but they are almost there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are quasi-groups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 can relax the definition to accommodate!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An </a:t>
            </a:r>
            <a:r>
              <a:rPr b="1" lang="en"/>
              <a:t>n-clique</a:t>
            </a:r>
            <a:r>
              <a:rPr lang="en"/>
              <a:t> is a </a:t>
            </a:r>
            <a:r>
              <a:rPr b="1" lang="en"/>
              <a:t>subgraph</a:t>
            </a:r>
            <a:r>
              <a:rPr lang="en"/>
              <a:t> where each node is at least</a:t>
            </a:r>
            <a:r>
              <a:rPr b="1" lang="en"/>
              <a:t> n steps away</a:t>
            </a:r>
            <a:r>
              <a:rPr lang="en"/>
              <a:t> from each other node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2-clique, 3-clique, 4-clique, 5-clique...</a:t>
            </a:r>
            <a:r>
              <a:rPr i="1" lang="en"/>
              <a:t>k-</a:t>
            </a:r>
            <a:r>
              <a:rPr lang="en"/>
              <a:t>clique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06" name="Shape 7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7" name="Google Shape;7807;p37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N-Cliques</a:t>
            </a:r>
            <a:endParaRPr/>
          </a:p>
        </p:txBody>
      </p:sp>
      <p:sp>
        <p:nvSpPr>
          <p:cNvPr id="7808" name="Google Shape;7808;p375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9" name="Google Shape;7809;p375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0" name="Google Shape;7810;p375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1" name="Google Shape;7811;p375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12" name="Google Shape;7812;p375"/>
          <p:cNvCxnSpPr>
            <a:stCxn id="7808" idx="3"/>
            <a:endCxn id="7809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13" name="Google Shape;7813;p375"/>
          <p:cNvCxnSpPr>
            <a:stCxn id="7811" idx="1"/>
            <a:endCxn id="7809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14" name="Google Shape;7814;p375"/>
          <p:cNvCxnSpPr>
            <a:stCxn id="7808" idx="4"/>
            <a:endCxn id="7811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15" name="Google Shape;7815;p375"/>
          <p:cNvCxnSpPr>
            <a:stCxn id="7808" idx="5"/>
            <a:endCxn id="7810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16" name="Google Shape;7816;p375"/>
          <p:cNvCxnSpPr>
            <a:stCxn id="7810" idx="2"/>
            <a:endCxn id="7809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17" name="Google Shape;7817;p375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8" name="Google Shape;7818;p375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9" name="Google Shape;7819;p375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0" name="Google Shape;7820;p375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21" name="Google Shape;7821;p375"/>
          <p:cNvCxnSpPr>
            <a:stCxn id="7817" idx="3"/>
            <a:endCxn id="7818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22" name="Google Shape;7822;p375"/>
          <p:cNvCxnSpPr>
            <a:stCxn id="7820" idx="0"/>
            <a:endCxn id="7818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23" name="Google Shape;7823;p375"/>
          <p:cNvCxnSpPr>
            <a:stCxn id="7817" idx="5"/>
            <a:endCxn id="7819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24" name="Google Shape;7824;p375"/>
          <p:cNvCxnSpPr>
            <a:stCxn id="7819" idx="2"/>
            <a:endCxn id="7818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25" name="Google Shape;7825;p375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26" name="Google Shape;7826;p375"/>
          <p:cNvCxnSpPr>
            <a:stCxn id="7825" idx="0"/>
            <a:endCxn id="7818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27" name="Google Shape;7827;p375"/>
          <p:cNvCxnSpPr>
            <a:stCxn id="7819" idx="3"/>
            <a:endCxn id="7820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28" name="Google Shape;7828;p375"/>
          <p:cNvCxnSpPr>
            <a:stCxn id="7819" idx="3"/>
            <a:endCxn id="7825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29" name="Google Shape;7829;p375"/>
          <p:cNvCxnSpPr>
            <a:stCxn id="7817" idx="4"/>
            <a:endCxn id="7825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30" name="Google Shape;7830;p375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1" name="Google Shape;7831;p375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2" name="Google Shape;7832;p375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3" name="Google Shape;7833;p375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34" name="Google Shape;7834;p375"/>
          <p:cNvCxnSpPr>
            <a:stCxn id="7830" idx="3"/>
            <a:endCxn id="7831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35" name="Google Shape;7835;p375"/>
          <p:cNvCxnSpPr>
            <a:stCxn id="7833" idx="0"/>
            <a:endCxn id="7831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36" name="Google Shape;7836;p375"/>
          <p:cNvCxnSpPr>
            <a:stCxn id="7830" idx="5"/>
            <a:endCxn id="7832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37" name="Google Shape;7837;p375"/>
          <p:cNvCxnSpPr>
            <a:stCxn id="7832" idx="2"/>
            <a:endCxn id="7831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38" name="Google Shape;7838;p375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39" name="Google Shape;7839;p375"/>
          <p:cNvCxnSpPr>
            <a:stCxn id="7832" idx="3"/>
            <a:endCxn id="7833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40" name="Google Shape;7840;p375"/>
          <p:cNvCxnSpPr>
            <a:stCxn id="7838" idx="2"/>
            <a:endCxn id="7831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41" name="Google Shape;7841;p375"/>
          <p:cNvCxnSpPr>
            <a:stCxn id="7838" idx="0"/>
            <a:endCxn id="7830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42" name="Google Shape;7842;p375"/>
          <p:cNvCxnSpPr>
            <a:stCxn id="7833" idx="6"/>
            <a:endCxn id="7838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43" name="Google Shape;7843;p375"/>
          <p:cNvCxnSpPr>
            <a:stCxn id="7810" idx="5"/>
            <a:endCxn id="7831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44" name="Google Shape;7844;p375"/>
          <p:cNvCxnSpPr>
            <a:stCxn id="7810" idx="7"/>
            <a:endCxn id="7820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45" name="Google Shape;7845;p375"/>
          <p:cNvCxnSpPr>
            <a:stCxn id="7825" idx="3"/>
            <a:endCxn id="7830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46" name="Google Shape;7846;p375"/>
          <p:cNvCxnSpPr>
            <a:stCxn id="7819" idx="4"/>
            <a:endCxn id="7832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47" name="Google Shape;7847;p375"/>
          <p:cNvSpPr txBox="1"/>
          <p:nvPr/>
        </p:nvSpPr>
        <p:spPr>
          <a:xfrm>
            <a:off x="4767500" y="4226475"/>
            <a:ext cx="1749300" cy="42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4-clique!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848" name="Google Shape;7848;p375"/>
          <p:cNvCxnSpPr>
            <a:stCxn id="7847" idx="0"/>
          </p:cNvCxnSpPr>
          <p:nvPr/>
        </p:nvCxnSpPr>
        <p:spPr>
          <a:xfrm flipH="1" rot="10800000">
            <a:off x="5642150" y="3387075"/>
            <a:ext cx="255000" cy="839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7849" name="Google Shape;7849;p375"/>
          <p:cNvSpPr txBox="1"/>
          <p:nvPr>
            <p:ph idx="1" type="body"/>
          </p:nvPr>
        </p:nvSpPr>
        <p:spPr>
          <a:xfrm>
            <a:off x="311700" y="1225225"/>
            <a:ext cx="4645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subgraphs are not complete graphs (cliques) but they are almost there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are quasi-groups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 can relax the definition to accommodate!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An </a:t>
            </a:r>
            <a:r>
              <a:rPr b="1" lang="en"/>
              <a:t>n-clique</a:t>
            </a:r>
            <a:r>
              <a:rPr lang="en"/>
              <a:t> is a </a:t>
            </a:r>
            <a:r>
              <a:rPr b="1" lang="en"/>
              <a:t>subgraph</a:t>
            </a:r>
            <a:r>
              <a:rPr lang="en"/>
              <a:t> where each node is at least</a:t>
            </a:r>
            <a:r>
              <a:rPr b="1" lang="en"/>
              <a:t> n steps away</a:t>
            </a:r>
            <a:r>
              <a:rPr lang="en"/>
              <a:t> from each other node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2-clique, 3-clique, 4-clique, 5-clique...</a:t>
            </a:r>
            <a:r>
              <a:rPr i="1" lang="en"/>
              <a:t>k-</a:t>
            </a:r>
            <a:r>
              <a:rPr lang="en"/>
              <a:t>clique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53" name="Shape 7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4" name="Google Shape;7854;p37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7855" name="Google Shape;7855;p376"/>
          <p:cNvSpPr txBox="1"/>
          <p:nvPr>
            <p:ph idx="1" type="body"/>
          </p:nvPr>
        </p:nvSpPr>
        <p:spPr>
          <a:xfrm>
            <a:off x="311700" y="1225225"/>
            <a:ext cx="4796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connected</a:t>
            </a:r>
            <a:r>
              <a:rPr lang="en"/>
              <a:t> if there exists a (finite) path between each pair of nodes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6" name="Google Shape;7856;p376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7" name="Google Shape;7857;p376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8" name="Google Shape;7858;p376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9" name="Google Shape;7859;p376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60" name="Google Shape;7860;p376"/>
          <p:cNvCxnSpPr>
            <a:stCxn id="7856" idx="3"/>
            <a:endCxn id="7857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61" name="Google Shape;7861;p376"/>
          <p:cNvCxnSpPr>
            <a:stCxn id="7859" idx="1"/>
            <a:endCxn id="7857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62" name="Google Shape;7862;p376"/>
          <p:cNvCxnSpPr>
            <a:stCxn id="7856" idx="4"/>
            <a:endCxn id="7859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63" name="Google Shape;7863;p376"/>
          <p:cNvCxnSpPr>
            <a:stCxn id="7856" idx="5"/>
            <a:endCxn id="7858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64" name="Google Shape;7864;p376"/>
          <p:cNvCxnSpPr>
            <a:stCxn id="7858" idx="2"/>
            <a:endCxn id="7857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65" name="Google Shape;7865;p376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6" name="Google Shape;7866;p376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7" name="Google Shape;7867;p376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8" name="Google Shape;7868;p376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69" name="Google Shape;7869;p376"/>
          <p:cNvCxnSpPr>
            <a:stCxn id="7865" idx="3"/>
            <a:endCxn id="7866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70" name="Google Shape;7870;p376"/>
          <p:cNvCxnSpPr>
            <a:stCxn id="7868" idx="0"/>
            <a:endCxn id="7866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71" name="Google Shape;7871;p376"/>
          <p:cNvCxnSpPr>
            <a:stCxn id="7865" idx="5"/>
            <a:endCxn id="7867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72" name="Google Shape;7872;p376"/>
          <p:cNvCxnSpPr>
            <a:stCxn id="7867" idx="2"/>
            <a:endCxn id="7866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73" name="Google Shape;7873;p376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74" name="Google Shape;7874;p376"/>
          <p:cNvCxnSpPr>
            <a:stCxn id="7873" idx="0"/>
            <a:endCxn id="7866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75" name="Google Shape;7875;p376"/>
          <p:cNvCxnSpPr>
            <a:stCxn id="7867" idx="3"/>
            <a:endCxn id="7868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76" name="Google Shape;7876;p376"/>
          <p:cNvCxnSpPr>
            <a:stCxn id="7867" idx="3"/>
            <a:endCxn id="7873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77" name="Google Shape;7877;p376"/>
          <p:cNvCxnSpPr>
            <a:stCxn id="7865" idx="4"/>
            <a:endCxn id="7873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78" name="Google Shape;7878;p376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9" name="Google Shape;7879;p376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0" name="Google Shape;7880;p376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1" name="Google Shape;7881;p376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82" name="Google Shape;7882;p376"/>
          <p:cNvCxnSpPr>
            <a:stCxn id="7878" idx="3"/>
            <a:endCxn id="7879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83" name="Google Shape;7883;p376"/>
          <p:cNvCxnSpPr>
            <a:stCxn id="7881" idx="0"/>
            <a:endCxn id="7879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84" name="Google Shape;7884;p376"/>
          <p:cNvCxnSpPr>
            <a:stCxn id="7878" idx="5"/>
            <a:endCxn id="7880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85" name="Google Shape;7885;p376"/>
          <p:cNvCxnSpPr>
            <a:stCxn id="7880" idx="2"/>
            <a:endCxn id="7879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86" name="Google Shape;7886;p376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87" name="Google Shape;7887;p376"/>
          <p:cNvCxnSpPr>
            <a:stCxn id="7880" idx="3"/>
            <a:endCxn id="7881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88" name="Google Shape;7888;p376"/>
          <p:cNvCxnSpPr>
            <a:stCxn id="7886" idx="2"/>
            <a:endCxn id="7879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89" name="Google Shape;7889;p376"/>
          <p:cNvCxnSpPr>
            <a:stCxn id="7886" idx="0"/>
            <a:endCxn id="7878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90" name="Google Shape;7890;p376"/>
          <p:cNvCxnSpPr>
            <a:stCxn id="7881" idx="6"/>
            <a:endCxn id="7886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91" name="Google Shape;7891;p376"/>
          <p:cNvCxnSpPr>
            <a:stCxn id="7858" idx="5"/>
            <a:endCxn id="7879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92" name="Google Shape;7892;p376"/>
          <p:cNvCxnSpPr>
            <a:stCxn id="7858" idx="7"/>
            <a:endCxn id="7868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93" name="Google Shape;7893;p376"/>
          <p:cNvCxnSpPr>
            <a:stCxn id="7873" idx="3"/>
            <a:endCxn id="7878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94" name="Google Shape;7894;p376"/>
          <p:cNvCxnSpPr>
            <a:stCxn id="7867" idx="4"/>
            <a:endCxn id="7880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95" name="Google Shape;7895;p376"/>
          <p:cNvSpPr txBox="1"/>
          <p:nvPr/>
        </p:nvSpPr>
        <p:spPr>
          <a:xfrm>
            <a:off x="4080750" y="3946850"/>
            <a:ext cx="22899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connected graph! :)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896" name="Google Shape;7896;p376"/>
          <p:cNvCxnSpPr>
            <a:stCxn id="7895" idx="0"/>
          </p:cNvCxnSpPr>
          <p:nvPr/>
        </p:nvCxnSpPr>
        <p:spPr>
          <a:xfrm flipH="1" rot="10800000">
            <a:off x="5225700" y="3297950"/>
            <a:ext cx="1530300" cy="648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00" name="Shape 7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1" name="Google Shape;7901;p37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7902" name="Google Shape;7902;p377"/>
          <p:cNvSpPr txBox="1"/>
          <p:nvPr>
            <p:ph idx="1" type="body"/>
          </p:nvPr>
        </p:nvSpPr>
        <p:spPr>
          <a:xfrm>
            <a:off x="311700" y="1225225"/>
            <a:ext cx="4634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connected</a:t>
            </a:r>
            <a:r>
              <a:rPr lang="en"/>
              <a:t> if there </a:t>
            </a:r>
            <a:r>
              <a:rPr b="1" lang="en"/>
              <a:t>exists</a:t>
            </a:r>
            <a:r>
              <a:rPr lang="en"/>
              <a:t> a (finite) path between each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disconnected</a:t>
            </a:r>
            <a:r>
              <a:rPr lang="en"/>
              <a:t> if there </a:t>
            </a:r>
            <a:r>
              <a:rPr b="1" lang="en"/>
              <a:t>does not exist</a:t>
            </a:r>
            <a:r>
              <a:rPr lang="en"/>
              <a:t> a path connecting every pair of nodes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3" name="Google Shape;7903;p377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4" name="Google Shape;7904;p377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5" name="Google Shape;7905;p377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6" name="Google Shape;7906;p377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907" name="Google Shape;7907;p377"/>
          <p:cNvCxnSpPr>
            <a:stCxn id="7903" idx="3"/>
            <a:endCxn id="7904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08" name="Google Shape;7908;p377"/>
          <p:cNvCxnSpPr>
            <a:stCxn id="7906" idx="1"/>
            <a:endCxn id="7904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09" name="Google Shape;7909;p377"/>
          <p:cNvCxnSpPr>
            <a:stCxn id="7903" idx="4"/>
            <a:endCxn id="7906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10" name="Google Shape;7910;p377"/>
          <p:cNvCxnSpPr>
            <a:stCxn id="7903" idx="5"/>
            <a:endCxn id="7905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11" name="Google Shape;7911;p377"/>
          <p:cNvCxnSpPr>
            <a:stCxn id="7905" idx="2"/>
            <a:endCxn id="7904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12" name="Google Shape;7912;p377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3" name="Google Shape;7913;p377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4" name="Google Shape;7914;p377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5" name="Google Shape;7915;p377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916" name="Google Shape;7916;p377"/>
          <p:cNvCxnSpPr>
            <a:stCxn id="7912" idx="3"/>
            <a:endCxn id="7913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17" name="Google Shape;7917;p377"/>
          <p:cNvCxnSpPr>
            <a:stCxn id="7915" idx="0"/>
            <a:endCxn id="7913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18" name="Google Shape;7918;p377"/>
          <p:cNvCxnSpPr>
            <a:stCxn id="7912" idx="5"/>
            <a:endCxn id="7914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19" name="Google Shape;7919;p377"/>
          <p:cNvCxnSpPr>
            <a:stCxn id="7914" idx="2"/>
            <a:endCxn id="7913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20" name="Google Shape;7920;p377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921" name="Google Shape;7921;p377"/>
          <p:cNvCxnSpPr>
            <a:stCxn id="7920" idx="0"/>
            <a:endCxn id="7913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22" name="Google Shape;7922;p377"/>
          <p:cNvCxnSpPr>
            <a:stCxn id="7914" idx="3"/>
            <a:endCxn id="7915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23" name="Google Shape;7923;p377"/>
          <p:cNvCxnSpPr>
            <a:stCxn id="7914" idx="3"/>
            <a:endCxn id="7920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24" name="Google Shape;7924;p377"/>
          <p:cNvCxnSpPr>
            <a:stCxn id="7912" idx="4"/>
            <a:endCxn id="7920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25" name="Google Shape;7925;p377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6" name="Google Shape;7926;p377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7" name="Google Shape;7927;p377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8" name="Google Shape;7928;p377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929" name="Google Shape;7929;p377"/>
          <p:cNvCxnSpPr>
            <a:stCxn id="7925" idx="3"/>
            <a:endCxn id="7926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30" name="Google Shape;7930;p377"/>
          <p:cNvCxnSpPr>
            <a:stCxn id="7928" idx="0"/>
            <a:endCxn id="7926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31" name="Google Shape;7931;p377"/>
          <p:cNvCxnSpPr>
            <a:stCxn id="7925" idx="5"/>
            <a:endCxn id="7927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32" name="Google Shape;7932;p377"/>
          <p:cNvCxnSpPr>
            <a:stCxn id="7927" idx="2"/>
            <a:endCxn id="7926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33" name="Google Shape;7933;p377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934" name="Google Shape;7934;p377"/>
          <p:cNvCxnSpPr>
            <a:stCxn id="7927" idx="3"/>
            <a:endCxn id="7928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35" name="Google Shape;7935;p377"/>
          <p:cNvCxnSpPr>
            <a:stCxn id="7933" idx="2"/>
            <a:endCxn id="7926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36" name="Google Shape;7936;p377"/>
          <p:cNvCxnSpPr>
            <a:stCxn id="7933" idx="0"/>
            <a:endCxn id="7925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37" name="Google Shape;7937;p377"/>
          <p:cNvCxnSpPr>
            <a:stCxn id="7928" idx="6"/>
            <a:endCxn id="7933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38" name="Google Shape;7938;p377"/>
          <p:cNvSpPr txBox="1"/>
          <p:nvPr/>
        </p:nvSpPr>
        <p:spPr>
          <a:xfrm>
            <a:off x="4080750" y="3946850"/>
            <a:ext cx="22899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is disconnected :(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939" name="Google Shape;7939;p377"/>
          <p:cNvCxnSpPr>
            <a:stCxn id="7938" idx="0"/>
          </p:cNvCxnSpPr>
          <p:nvPr/>
        </p:nvCxnSpPr>
        <p:spPr>
          <a:xfrm flipH="1" rot="10800000">
            <a:off x="5225700" y="3297950"/>
            <a:ext cx="1530300" cy="648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43" name="Shape 7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4" name="Google Shape;7944;p37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Components</a:t>
            </a:r>
            <a:endParaRPr/>
          </a:p>
        </p:txBody>
      </p:sp>
      <p:sp>
        <p:nvSpPr>
          <p:cNvPr id="7945" name="Google Shape;7945;p378"/>
          <p:cNvSpPr txBox="1"/>
          <p:nvPr>
            <p:ph idx="1" type="body"/>
          </p:nvPr>
        </p:nvSpPr>
        <p:spPr>
          <a:xfrm>
            <a:off x="311700" y="1225225"/>
            <a:ext cx="459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connected</a:t>
            </a:r>
            <a:r>
              <a:rPr lang="en"/>
              <a:t> if there </a:t>
            </a:r>
            <a:r>
              <a:rPr b="1" lang="en"/>
              <a:t>exists</a:t>
            </a:r>
            <a:r>
              <a:rPr lang="en"/>
              <a:t> a (finite) path between each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disconnected</a:t>
            </a:r>
            <a:r>
              <a:rPr lang="en"/>
              <a:t> if there </a:t>
            </a:r>
            <a:r>
              <a:rPr b="1" lang="en"/>
              <a:t>does not exist</a:t>
            </a:r>
            <a:r>
              <a:rPr lang="en"/>
              <a:t> a path connecting every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connected subgraph is called a </a:t>
            </a:r>
            <a:r>
              <a:rPr b="1" lang="en"/>
              <a:t>component</a:t>
            </a:r>
            <a:endParaRPr/>
          </a:p>
        </p:txBody>
      </p:sp>
      <p:sp>
        <p:nvSpPr>
          <p:cNvPr id="7946" name="Google Shape;7946;p378"/>
          <p:cNvSpPr txBox="1"/>
          <p:nvPr/>
        </p:nvSpPr>
        <p:spPr>
          <a:xfrm>
            <a:off x="4532875" y="4178300"/>
            <a:ext cx="22815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These are two different components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947" name="Google Shape;7947;p378"/>
          <p:cNvCxnSpPr>
            <a:stCxn id="7946" idx="0"/>
          </p:cNvCxnSpPr>
          <p:nvPr/>
        </p:nvCxnSpPr>
        <p:spPr>
          <a:xfrm flipH="1" rot="10800000">
            <a:off x="5673625" y="3440600"/>
            <a:ext cx="241500" cy="737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7948" name="Google Shape;7948;p378"/>
          <p:cNvCxnSpPr>
            <a:stCxn id="7946" idx="0"/>
          </p:cNvCxnSpPr>
          <p:nvPr/>
        </p:nvCxnSpPr>
        <p:spPr>
          <a:xfrm flipH="1" rot="10800000">
            <a:off x="5673625" y="2611100"/>
            <a:ext cx="1951800" cy="1567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grpSp>
        <p:nvGrpSpPr>
          <p:cNvPr id="7949" name="Google Shape;7949;p378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7950" name="Google Shape;7950;p378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378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378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378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54" name="Google Shape;7954;p378"/>
            <p:cNvCxnSpPr>
              <a:stCxn id="7950" idx="3"/>
              <a:endCxn id="7951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55" name="Google Shape;7955;p378"/>
            <p:cNvCxnSpPr>
              <a:stCxn id="7953" idx="1"/>
              <a:endCxn id="7951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56" name="Google Shape;7956;p378"/>
            <p:cNvCxnSpPr>
              <a:stCxn id="7950" idx="4"/>
              <a:endCxn id="7953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57" name="Google Shape;7957;p378"/>
            <p:cNvCxnSpPr>
              <a:stCxn id="7950" idx="5"/>
              <a:endCxn id="7952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58" name="Google Shape;7958;p378"/>
            <p:cNvCxnSpPr>
              <a:stCxn id="7952" idx="2"/>
              <a:endCxn id="7951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959" name="Google Shape;7959;p378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378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378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378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63" name="Google Shape;7963;p378"/>
            <p:cNvCxnSpPr>
              <a:stCxn id="7959" idx="3"/>
              <a:endCxn id="7960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64" name="Google Shape;7964;p378"/>
            <p:cNvCxnSpPr>
              <a:stCxn id="7962" idx="0"/>
              <a:endCxn id="7960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65" name="Google Shape;7965;p378"/>
            <p:cNvCxnSpPr>
              <a:stCxn id="7959" idx="5"/>
              <a:endCxn id="7961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66" name="Google Shape;7966;p378"/>
            <p:cNvCxnSpPr>
              <a:stCxn id="7961" idx="2"/>
              <a:endCxn id="7960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967" name="Google Shape;7967;p378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68" name="Google Shape;7968;p378"/>
            <p:cNvCxnSpPr>
              <a:stCxn id="7967" idx="0"/>
              <a:endCxn id="7960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69" name="Google Shape;7969;p378"/>
            <p:cNvCxnSpPr>
              <a:stCxn id="7961" idx="3"/>
              <a:endCxn id="7962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70" name="Google Shape;7970;p378"/>
            <p:cNvCxnSpPr>
              <a:stCxn id="7961" idx="3"/>
              <a:endCxn id="7967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71" name="Google Shape;7971;p378"/>
            <p:cNvCxnSpPr>
              <a:stCxn id="7959" idx="4"/>
              <a:endCxn id="7967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972" name="Google Shape;7972;p378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378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378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378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76" name="Google Shape;7976;p378"/>
            <p:cNvCxnSpPr>
              <a:stCxn id="7972" idx="3"/>
              <a:endCxn id="7973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77" name="Google Shape;7977;p378"/>
            <p:cNvCxnSpPr>
              <a:stCxn id="7975" idx="0"/>
              <a:endCxn id="7973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78" name="Google Shape;7978;p378"/>
            <p:cNvCxnSpPr>
              <a:stCxn id="7972" idx="5"/>
              <a:endCxn id="7974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79" name="Google Shape;7979;p378"/>
            <p:cNvCxnSpPr>
              <a:stCxn id="7974" idx="2"/>
              <a:endCxn id="7973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980" name="Google Shape;7980;p378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81" name="Google Shape;7981;p378"/>
            <p:cNvCxnSpPr>
              <a:stCxn id="7974" idx="3"/>
              <a:endCxn id="7975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82" name="Google Shape;7982;p378"/>
            <p:cNvCxnSpPr>
              <a:stCxn id="7980" idx="2"/>
              <a:endCxn id="7973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83" name="Google Shape;7983;p378"/>
            <p:cNvCxnSpPr>
              <a:stCxn id="7980" idx="0"/>
              <a:endCxn id="7972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84" name="Google Shape;7984;p378"/>
            <p:cNvCxnSpPr>
              <a:stCxn id="7975" idx="6"/>
              <a:endCxn id="7980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85" name="Google Shape;7985;p378"/>
            <p:cNvCxnSpPr>
              <a:stCxn id="7967" idx="3"/>
              <a:endCxn id="7972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86" name="Google Shape;7986;p378"/>
            <p:cNvCxnSpPr>
              <a:stCxn id="7961" idx="4"/>
              <a:endCxn id="7974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90" name="Shape 7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1" name="Google Shape;7991;p37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Components</a:t>
            </a:r>
            <a:endParaRPr/>
          </a:p>
        </p:txBody>
      </p:sp>
      <p:sp>
        <p:nvSpPr>
          <p:cNvPr id="7992" name="Google Shape;7992;p379"/>
          <p:cNvSpPr txBox="1"/>
          <p:nvPr>
            <p:ph idx="1" type="body"/>
          </p:nvPr>
        </p:nvSpPr>
        <p:spPr>
          <a:xfrm>
            <a:off x="311700" y="1225225"/>
            <a:ext cx="4591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connected</a:t>
            </a:r>
            <a:r>
              <a:rPr lang="en"/>
              <a:t> if there </a:t>
            </a:r>
            <a:r>
              <a:rPr b="1" lang="en"/>
              <a:t>exists</a:t>
            </a:r>
            <a:r>
              <a:rPr lang="en"/>
              <a:t> a (finite) path between each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disconnected</a:t>
            </a:r>
            <a:r>
              <a:rPr lang="en"/>
              <a:t> if there </a:t>
            </a:r>
            <a:r>
              <a:rPr b="1" lang="en"/>
              <a:t>does not exist</a:t>
            </a:r>
            <a:r>
              <a:rPr lang="en"/>
              <a:t> a path connecting every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connected subgraph is called a </a:t>
            </a:r>
            <a:r>
              <a:rPr b="1" lang="en"/>
              <a:t>component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 graph has more than one component it is by definition disconnected</a:t>
            </a:r>
            <a:endParaRPr b="1"/>
          </a:p>
        </p:txBody>
      </p:sp>
      <p:sp>
        <p:nvSpPr>
          <p:cNvPr id="7993" name="Google Shape;7993;p379"/>
          <p:cNvSpPr txBox="1"/>
          <p:nvPr/>
        </p:nvSpPr>
        <p:spPr>
          <a:xfrm>
            <a:off x="4532875" y="4178300"/>
            <a:ext cx="22815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These are two different components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7994" name="Google Shape;7994;p379"/>
          <p:cNvCxnSpPr>
            <a:stCxn id="7993" idx="0"/>
          </p:cNvCxnSpPr>
          <p:nvPr/>
        </p:nvCxnSpPr>
        <p:spPr>
          <a:xfrm flipH="1" rot="10800000">
            <a:off x="5673625" y="3440600"/>
            <a:ext cx="241500" cy="737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7995" name="Google Shape;7995;p379"/>
          <p:cNvCxnSpPr>
            <a:stCxn id="7993" idx="0"/>
          </p:cNvCxnSpPr>
          <p:nvPr/>
        </p:nvCxnSpPr>
        <p:spPr>
          <a:xfrm flipH="1" rot="10800000">
            <a:off x="5673625" y="2611100"/>
            <a:ext cx="1951800" cy="1567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grpSp>
        <p:nvGrpSpPr>
          <p:cNvPr id="7996" name="Google Shape;7996;p379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7997" name="Google Shape;7997;p379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379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379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379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01" name="Google Shape;8001;p379"/>
            <p:cNvCxnSpPr>
              <a:stCxn id="7997" idx="3"/>
              <a:endCxn id="7998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02" name="Google Shape;8002;p379"/>
            <p:cNvCxnSpPr>
              <a:stCxn id="8000" idx="1"/>
              <a:endCxn id="7998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03" name="Google Shape;8003;p379"/>
            <p:cNvCxnSpPr>
              <a:stCxn id="7997" idx="4"/>
              <a:endCxn id="8000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04" name="Google Shape;8004;p379"/>
            <p:cNvCxnSpPr>
              <a:stCxn id="7997" idx="5"/>
              <a:endCxn id="7999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05" name="Google Shape;8005;p379"/>
            <p:cNvCxnSpPr>
              <a:stCxn id="7999" idx="2"/>
              <a:endCxn id="7998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06" name="Google Shape;8006;p379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379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379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379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10" name="Google Shape;8010;p379"/>
            <p:cNvCxnSpPr>
              <a:stCxn id="8006" idx="3"/>
              <a:endCxn id="8007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1" name="Google Shape;8011;p379"/>
            <p:cNvCxnSpPr>
              <a:stCxn id="8009" idx="0"/>
              <a:endCxn id="8007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2" name="Google Shape;8012;p379"/>
            <p:cNvCxnSpPr>
              <a:stCxn id="8006" idx="5"/>
              <a:endCxn id="8008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3" name="Google Shape;8013;p379"/>
            <p:cNvCxnSpPr>
              <a:stCxn id="8008" idx="2"/>
              <a:endCxn id="8007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14" name="Google Shape;8014;p379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15" name="Google Shape;8015;p379"/>
            <p:cNvCxnSpPr>
              <a:stCxn id="8014" idx="0"/>
              <a:endCxn id="8007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6" name="Google Shape;8016;p379"/>
            <p:cNvCxnSpPr>
              <a:stCxn id="8008" idx="3"/>
              <a:endCxn id="8009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7" name="Google Shape;8017;p379"/>
            <p:cNvCxnSpPr>
              <a:stCxn id="8008" idx="3"/>
              <a:endCxn id="8014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8" name="Google Shape;8018;p379"/>
            <p:cNvCxnSpPr>
              <a:stCxn id="8006" idx="4"/>
              <a:endCxn id="8014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19" name="Google Shape;8019;p379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379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379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379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23" name="Google Shape;8023;p379"/>
            <p:cNvCxnSpPr>
              <a:stCxn id="8019" idx="3"/>
              <a:endCxn id="8020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24" name="Google Shape;8024;p379"/>
            <p:cNvCxnSpPr>
              <a:stCxn id="8022" idx="0"/>
              <a:endCxn id="8020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25" name="Google Shape;8025;p379"/>
            <p:cNvCxnSpPr>
              <a:stCxn id="8019" idx="5"/>
              <a:endCxn id="8021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26" name="Google Shape;8026;p379"/>
            <p:cNvCxnSpPr>
              <a:stCxn id="8021" idx="2"/>
              <a:endCxn id="8020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27" name="Google Shape;8027;p379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28" name="Google Shape;8028;p379"/>
            <p:cNvCxnSpPr>
              <a:stCxn id="8021" idx="3"/>
              <a:endCxn id="8022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29" name="Google Shape;8029;p379"/>
            <p:cNvCxnSpPr>
              <a:stCxn id="8027" idx="2"/>
              <a:endCxn id="8020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30" name="Google Shape;8030;p379"/>
            <p:cNvCxnSpPr>
              <a:stCxn id="8027" idx="0"/>
              <a:endCxn id="8019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31" name="Google Shape;8031;p379"/>
            <p:cNvCxnSpPr>
              <a:stCxn id="8022" idx="6"/>
              <a:endCxn id="8027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32" name="Google Shape;8032;p379"/>
            <p:cNvCxnSpPr>
              <a:stCxn id="8014" idx="3"/>
              <a:endCxn id="8019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33" name="Google Shape;8033;p379"/>
            <p:cNvCxnSpPr>
              <a:stCxn id="8008" idx="4"/>
              <a:endCxn id="8021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37" name="Shape 8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8" name="Google Shape;8038;p38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Components</a:t>
            </a:r>
            <a:endParaRPr/>
          </a:p>
        </p:txBody>
      </p:sp>
      <p:sp>
        <p:nvSpPr>
          <p:cNvPr id="8039" name="Google Shape;8039;p380"/>
          <p:cNvSpPr txBox="1"/>
          <p:nvPr/>
        </p:nvSpPr>
        <p:spPr>
          <a:xfrm>
            <a:off x="4532875" y="4178300"/>
            <a:ext cx="22815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These are three different components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8040" name="Google Shape;8040;p380"/>
          <p:cNvCxnSpPr>
            <a:stCxn id="8039" idx="0"/>
          </p:cNvCxnSpPr>
          <p:nvPr/>
        </p:nvCxnSpPr>
        <p:spPr>
          <a:xfrm flipH="1" rot="10800000">
            <a:off x="5673625" y="3440600"/>
            <a:ext cx="241500" cy="737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8041" name="Google Shape;8041;p380"/>
          <p:cNvCxnSpPr>
            <a:stCxn id="8039" idx="0"/>
          </p:cNvCxnSpPr>
          <p:nvPr/>
        </p:nvCxnSpPr>
        <p:spPr>
          <a:xfrm flipH="1" rot="10800000">
            <a:off x="5673625" y="1987400"/>
            <a:ext cx="2003100" cy="2190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grpSp>
        <p:nvGrpSpPr>
          <p:cNvPr id="8042" name="Google Shape;8042;p380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043" name="Google Shape;8043;p380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380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380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380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47" name="Google Shape;8047;p380"/>
            <p:cNvCxnSpPr>
              <a:stCxn id="8043" idx="3"/>
              <a:endCxn id="8044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48" name="Google Shape;8048;p380"/>
            <p:cNvCxnSpPr>
              <a:stCxn id="8046" idx="1"/>
              <a:endCxn id="8044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49" name="Google Shape;8049;p380"/>
            <p:cNvCxnSpPr>
              <a:stCxn id="8043" idx="4"/>
              <a:endCxn id="8046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50" name="Google Shape;8050;p380"/>
            <p:cNvCxnSpPr>
              <a:stCxn id="8043" idx="5"/>
              <a:endCxn id="8045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51" name="Google Shape;8051;p380"/>
            <p:cNvCxnSpPr>
              <a:stCxn id="8045" idx="2"/>
              <a:endCxn id="8044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52" name="Google Shape;8052;p380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380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380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380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56" name="Google Shape;8056;p380"/>
            <p:cNvCxnSpPr>
              <a:stCxn id="8052" idx="3"/>
              <a:endCxn id="8053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57" name="Google Shape;8057;p380"/>
            <p:cNvCxnSpPr>
              <a:stCxn id="8055" idx="0"/>
              <a:endCxn id="8053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58" name="Google Shape;8058;p380"/>
            <p:cNvCxnSpPr>
              <a:stCxn id="8052" idx="5"/>
              <a:endCxn id="8054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59" name="Google Shape;8059;p380"/>
            <p:cNvCxnSpPr>
              <a:stCxn id="8054" idx="2"/>
              <a:endCxn id="8053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60" name="Google Shape;8060;p380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61" name="Google Shape;8061;p380"/>
            <p:cNvCxnSpPr>
              <a:stCxn id="8060" idx="0"/>
              <a:endCxn id="8053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2" name="Google Shape;8062;p380"/>
            <p:cNvCxnSpPr>
              <a:stCxn id="8054" idx="3"/>
              <a:endCxn id="8055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3" name="Google Shape;8063;p380"/>
            <p:cNvCxnSpPr>
              <a:stCxn id="8054" idx="3"/>
              <a:endCxn id="8060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4" name="Google Shape;8064;p380"/>
            <p:cNvCxnSpPr>
              <a:stCxn id="8052" idx="4"/>
              <a:endCxn id="8060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65" name="Google Shape;8065;p380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380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380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380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69" name="Google Shape;8069;p380"/>
            <p:cNvCxnSpPr>
              <a:stCxn id="8065" idx="3"/>
              <a:endCxn id="8066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70" name="Google Shape;8070;p380"/>
            <p:cNvCxnSpPr>
              <a:stCxn id="8068" idx="0"/>
              <a:endCxn id="8066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71" name="Google Shape;8071;p380"/>
            <p:cNvCxnSpPr>
              <a:stCxn id="8065" idx="5"/>
              <a:endCxn id="8067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72" name="Google Shape;8072;p380"/>
            <p:cNvCxnSpPr>
              <a:stCxn id="8067" idx="2"/>
              <a:endCxn id="8066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73" name="Google Shape;8073;p380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74" name="Google Shape;8074;p380"/>
            <p:cNvCxnSpPr>
              <a:stCxn id="8067" idx="3"/>
              <a:endCxn id="8068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75" name="Google Shape;8075;p380"/>
            <p:cNvCxnSpPr>
              <a:stCxn id="8073" idx="2"/>
              <a:endCxn id="8066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76" name="Google Shape;8076;p380"/>
            <p:cNvCxnSpPr>
              <a:stCxn id="8073" idx="0"/>
              <a:endCxn id="8065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77" name="Google Shape;8077;p380"/>
            <p:cNvCxnSpPr>
              <a:stCxn id="8068" idx="6"/>
              <a:endCxn id="8073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cxnSp>
        <p:nvCxnSpPr>
          <p:cNvPr id="8078" name="Google Shape;8078;p380"/>
          <p:cNvCxnSpPr>
            <a:stCxn id="8039" idx="0"/>
          </p:cNvCxnSpPr>
          <p:nvPr/>
        </p:nvCxnSpPr>
        <p:spPr>
          <a:xfrm flipH="1" rot="10800000">
            <a:off x="5673625" y="3890600"/>
            <a:ext cx="1450200" cy="287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8079" name="Google Shape;8079;p380"/>
          <p:cNvSpPr txBox="1"/>
          <p:nvPr/>
        </p:nvSpPr>
        <p:spPr>
          <a:xfrm>
            <a:off x="311700" y="1225225"/>
            <a:ext cx="4815300" cy="3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A graph is </a:t>
            </a:r>
            <a:r>
              <a:rPr b="1"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connected</a:t>
            </a:r>
            <a:r>
              <a:rPr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if there </a:t>
            </a:r>
            <a:r>
              <a:rPr b="1"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exists</a:t>
            </a:r>
            <a:r>
              <a:rPr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a (finite) path between each pair of nodes</a:t>
            </a:r>
            <a:endParaRPr sz="180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A graph is </a:t>
            </a:r>
            <a:r>
              <a:rPr b="1"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disconnected</a:t>
            </a:r>
            <a:r>
              <a:rPr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if there </a:t>
            </a:r>
            <a:r>
              <a:rPr b="1"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does not exist</a:t>
            </a:r>
            <a:r>
              <a:rPr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a path connecting every pair of nodes</a:t>
            </a:r>
            <a:endParaRPr sz="180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A connected subgraph is called a </a:t>
            </a:r>
            <a:r>
              <a:rPr b="1" lang="en"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component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Open Sans"/>
              <a:buChar char="○"/>
            </a:pPr>
            <a:r>
              <a:rPr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If a graph has more than one component it is by definition disconnected</a:t>
            </a:r>
            <a:endParaRPr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83" name="Shape 8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4" name="Google Shape;8084;p38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Components</a:t>
            </a:r>
            <a:endParaRPr/>
          </a:p>
        </p:txBody>
      </p:sp>
      <p:sp>
        <p:nvSpPr>
          <p:cNvPr id="8085" name="Google Shape;8085;p381"/>
          <p:cNvSpPr txBox="1"/>
          <p:nvPr>
            <p:ph idx="1" type="body"/>
          </p:nvPr>
        </p:nvSpPr>
        <p:spPr>
          <a:xfrm>
            <a:off x="311700" y="1225225"/>
            <a:ext cx="48789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connected</a:t>
            </a:r>
            <a:r>
              <a:rPr lang="en"/>
              <a:t> if there </a:t>
            </a:r>
            <a:r>
              <a:rPr b="1" lang="en"/>
              <a:t>exists</a:t>
            </a:r>
            <a:r>
              <a:rPr lang="en"/>
              <a:t> a (finite) path between each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disconnected</a:t>
            </a:r>
            <a:r>
              <a:rPr lang="en"/>
              <a:t> if there </a:t>
            </a:r>
            <a:r>
              <a:rPr b="1" lang="en"/>
              <a:t>does not exist</a:t>
            </a:r>
            <a:r>
              <a:rPr lang="en"/>
              <a:t> a path connecting every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connected subgraph is called a </a:t>
            </a:r>
            <a:r>
              <a:rPr b="1" lang="en"/>
              <a:t>component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connected subgraph containing the largest number of vertices in a graph is called the </a:t>
            </a:r>
            <a:r>
              <a:rPr b="1" lang="en"/>
              <a:t>giant component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6" name="Google Shape;8086;p381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087" name="Google Shape;8087;p381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381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381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381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91" name="Google Shape;8091;p381"/>
            <p:cNvCxnSpPr>
              <a:stCxn id="8087" idx="3"/>
              <a:endCxn id="8088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92" name="Google Shape;8092;p381"/>
            <p:cNvCxnSpPr>
              <a:stCxn id="8090" idx="1"/>
              <a:endCxn id="8088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93" name="Google Shape;8093;p381"/>
            <p:cNvCxnSpPr>
              <a:stCxn id="8087" idx="4"/>
              <a:endCxn id="8090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94" name="Google Shape;8094;p381"/>
            <p:cNvCxnSpPr>
              <a:stCxn id="8087" idx="5"/>
              <a:endCxn id="8089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95" name="Google Shape;8095;p381"/>
            <p:cNvCxnSpPr>
              <a:stCxn id="8089" idx="2"/>
              <a:endCxn id="8088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96" name="Google Shape;8096;p381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381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381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381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00" name="Google Shape;8100;p381"/>
            <p:cNvCxnSpPr>
              <a:stCxn id="8096" idx="3"/>
              <a:endCxn id="8097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1" name="Google Shape;8101;p381"/>
            <p:cNvCxnSpPr>
              <a:stCxn id="8099" idx="0"/>
              <a:endCxn id="8097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2" name="Google Shape;8102;p381"/>
            <p:cNvCxnSpPr>
              <a:stCxn id="8096" idx="5"/>
              <a:endCxn id="8098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3" name="Google Shape;8103;p381"/>
            <p:cNvCxnSpPr>
              <a:stCxn id="8098" idx="2"/>
              <a:endCxn id="8097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04" name="Google Shape;8104;p381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05" name="Google Shape;8105;p381"/>
            <p:cNvCxnSpPr>
              <a:stCxn id="8104" idx="0"/>
              <a:endCxn id="8097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6" name="Google Shape;8106;p381"/>
            <p:cNvCxnSpPr>
              <a:stCxn id="8098" idx="3"/>
              <a:endCxn id="8099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7" name="Google Shape;8107;p381"/>
            <p:cNvCxnSpPr>
              <a:stCxn id="8098" idx="3"/>
              <a:endCxn id="8104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08" name="Google Shape;8108;p381"/>
            <p:cNvCxnSpPr>
              <a:stCxn id="8096" idx="4"/>
              <a:endCxn id="8104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09" name="Google Shape;8109;p381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381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381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381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13" name="Google Shape;8113;p381"/>
            <p:cNvCxnSpPr>
              <a:stCxn id="8109" idx="3"/>
              <a:endCxn id="8110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14" name="Google Shape;8114;p381"/>
            <p:cNvCxnSpPr>
              <a:stCxn id="8112" idx="0"/>
              <a:endCxn id="8110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15" name="Google Shape;8115;p381"/>
            <p:cNvCxnSpPr>
              <a:stCxn id="8109" idx="5"/>
              <a:endCxn id="8111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16" name="Google Shape;8116;p381"/>
            <p:cNvCxnSpPr>
              <a:stCxn id="8111" idx="2"/>
              <a:endCxn id="8110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17" name="Google Shape;8117;p381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18" name="Google Shape;8118;p381"/>
            <p:cNvCxnSpPr>
              <a:stCxn id="8111" idx="3"/>
              <a:endCxn id="8112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19" name="Google Shape;8119;p381"/>
            <p:cNvCxnSpPr>
              <a:stCxn id="8117" idx="2"/>
              <a:endCxn id="8110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20" name="Google Shape;8120;p381"/>
            <p:cNvCxnSpPr>
              <a:stCxn id="8117" idx="0"/>
              <a:endCxn id="8109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21" name="Google Shape;8121;p381"/>
            <p:cNvCxnSpPr>
              <a:stCxn id="8112" idx="6"/>
              <a:endCxn id="8117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22" name="Google Shape;8122;p381"/>
            <p:cNvCxnSpPr>
              <a:stCxn id="8104" idx="3"/>
              <a:endCxn id="8109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23" name="Google Shape;8123;p381"/>
            <p:cNvCxnSpPr>
              <a:stCxn id="8098" idx="4"/>
              <a:endCxn id="8111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27" name="Shape 8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8" name="Google Shape;8128;p38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Components</a:t>
            </a:r>
            <a:endParaRPr/>
          </a:p>
        </p:txBody>
      </p:sp>
      <p:sp>
        <p:nvSpPr>
          <p:cNvPr id="8129" name="Google Shape;8129;p382"/>
          <p:cNvSpPr txBox="1"/>
          <p:nvPr/>
        </p:nvSpPr>
        <p:spPr>
          <a:xfrm>
            <a:off x="5599850" y="3934375"/>
            <a:ext cx="14178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the giant component!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8130" name="Google Shape;8130;p382"/>
          <p:cNvCxnSpPr>
            <a:stCxn id="8129" idx="0"/>
          </p:cNvCxnSpPr>
          <p:nvPr/>
        </p:nvCxnSpPr>
        <p:spPr>
          <a:xfrm flipH="1" rot="10800000">
            <a:off x="6308750" y="2623975"/>
            <a:ext cx="1348800" cy="1310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8131" name="Google Shape;8131;p382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2" name="Google Shape;8132;p382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3" name="Google Shape;8133;p382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4" name="Google Shape;8134;p382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135" name="Google Shape;8135;p382"/>
          <p:cNvCxnSpPr>
            <a:stCxn id="8131" idx="3"/>
            <a:endCxn id="8132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36" name="Google Shape;8136;p382"/>
          <p:cNvCxnSpPr>
            <a:stCxn id="8134" idx="1"/>
            <a:endCxn id="8132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37" name="Google Shape;8137;p382"/>
          <p:cNvCxnSpPr>
            <a:stCxn id="8131" idx="4"/>
            <a:endCxn id="8134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38" name="Google Shape;8138;p382"/>
          <p:cNvCxnSpPr>
            <a:stCxn id="8131" idx="5"/>
            <a:endCxn id="8133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39" name="Google Shape;8139;p382"/>
          <p:cNvCxnSpPr>
            <a:stCxn id="8133" idx="2"/>
            <a:endCxn id="8132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40" name="Google Shape;8140;p382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1" name="Google Shape;8141;p382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2" name="Google Shape;8142;p382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3" name="Google Shape;8143;p382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144" name="Google Shape;8144;p382"/>
          <p:cNvCxnSpPr>
            <a:stCxn id="8140" idx="3"/>
            <a:endCxn id="8141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45" name="Google Shape;8145;p382"/>
          <p:cNvCxnSpPr>
            <a:stCxn id="8143" idx="0"/>
            <a:endCxn id="8141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46" name="Google Shape;8146;p382"/>
          <p:cNvCxnSpPr>
            <a:stCxn id="8140" idx="5"/>
            <a:endCxn id="8142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47" name="Google Shape;8147;p382"/>
          <p:cNvCxnSpPr>
            <a:stCxn id="8142" idx="2"/>
            <a:endCxn id="8141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48" name="Google Shape;8148;p382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149" name="Google Shape;8149;p382"/>
          <p:cNvCxnSpPr>
            <a:stCxn id="8148" idx="0"/>
            <a:endCxn id="8141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50" name="Google Shape;8150;p382"/>
          <p:cNvCxnSpPr>
            <a:stCxn id="8142" idx="3"/>
            <a:endCxn id="8143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51" name="Google Shape;8151;p382"/>
          <p:cNvCxnSpPr>
            <a:stCxn id="8142" idx="3"/>
            <a:endCxn id="8148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52" name="Google Shape;8152;p382"/>
          <p:cNvCxnSpPr>
            <a:stCxn id="8140" idx="4"/>
            <a:endCxn id="8148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53" name="Google Shape;8153;p382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4" name="Google Shape;8154;p382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5" name="Google Shape;8155;p382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6" name="Google Shape;8156;p382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157" name="Google Shape;8157;p382"/>
          <p:cNvCxnSpPr>
            <a:stCxn id="8153" idx="3"/>
            <a:endCxn id="8154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58" name="Google Shape;8158;p382"/>
          <p:cNvCxnSpPr>
            <a:stCxn id="8156" idx="0"/>
            <a:endCxn id="8154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59" name="Google Shape;8159;p382"/>
          <p:cNvCxnSpPr>
            <a:stCxn id="8153" idx="5"/>
            <a:endCxn id="8155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60" name="Google Shape;8160;p382"/>
          <p:cNvCxnSpPr>
            <a:stCxn id="8155" idx="2"/>
            <a:endCxn id="8154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61" name="Google Shape;8161;p382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162" name="Google Shape;8162;p382"/>
          <p:cNvCxnSpPr>
            <a:stCxn id="8155" idx="3"/>
            <a:endCxn id="8156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63" name="Google Shape;8163;p382"/>
          <p:cNvCxnSpPr>
            <a:stCxn id="8161" idx="2"/>
            <a:endCxn id="8154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64" name="Google Shape;8164;p382"/>
          <p:cNvCxnSpPr>
            <a:stCxn id="8161" idx="0"/>
            <a:endCxn id="8153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65" name="Google Shape;8165;p382"/>
          <p:cNvCxnSpPr>
            <a:stCxn id="8156" idx="6"/>
            <a:endCxn id="8161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66" name="Google Shape;8166;p382"/>
          <p:cNvCxnSpPr>
            <a:stCxn id="8148" idx="3"/>
            <a:endCxn id="8153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67" name="Google Shape;8167;p382"/>
          <p:cNvCxnSpPr>
            <a:stCxn id="8142" idx="4"/>
            <a:endCxn id="8155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68" name="Google Shape;8168;p382"/>
          <p:cNvSpPr txBox="1"/>
          <p:nvPr>
            <p:ph idx="1" type="body"/>
          </p:nvPr>
        </p:nvSpPr>
        <p:spPr>
          <a:xfrm>
            <a:off x="311700" y="1225225"/>
            <a:ext cx="48789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connected</a:t>
            </a:r>
            <a:r>
              <a:rPr lang="en"/>
              <a:t> if there </a:t>
            </a:r>
            <a:r>
              <a:rPr b="1" lang="en"/>
              <a:t>exists</a:t>
            </a:r>
            <a:r>
              <a:rPr lang="en"/>
              <a:t> a (finite) path between each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disconnected</a:t>
            </a:r>
            <a:r>
              <a:rPr lang="en"/>
              <a:t> if there </a:t>
            </a:r>
            <a:r>
              <a:rPr b="1" lang="en"/>
              <a:t>does not exist</a:t>
            </a:r>
            <a:r>
              <a:rPr lang="en"/>
              <a:t> a path connecting every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connected subgraph is called a </a:t>
            </a:r>
            <a:r>
              <a:rPr b="1" lang="en"/>
              <a:t>component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connected subgraph containing the largest number of vertices in a graph is called the </a:t>
            </a:r>
            <a:r>
              <a:rPr b="1" lang="en"/>
              <a:t>giant component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72" name="Shape 8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3" name="Google Shape;8173;p38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Components</a:t>
            </a:r>
            <a:endParaRPr/>
          </a:p>
        </p:txBody>
      </p:sp>
      <p:sp>
        <p:nvSpPr>
          <p:cNvPr id="8174" name="Google Shape;8174;p383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connected</a:t>
            </a:r>
            <a:r>
              <a:rPr lang="en"/>
              <a:t> if there </a:t>
            </a:r>
            <a:r>
              <a:rPr b="1" lang="en"/>
              <a:t>exists</a:t>
            </a:r>
            <a:r>
              <a:rPr lang="en"/>
              <a:t> a (finite) path between each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disconnected</a:t>
            </a:r>
            <a:r>
              <a:rPr lang="en"/>
              <a:t> if there </a:t>
            </a:r>
            <a:r>
              <a:rPr b="1" lang="en"/>
              <a:t>does not exist</a:t>
            </a:r>
            <a:r>
              <a:rPr lang="en"/>
              <a:t> a path connecting every pair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connected subgraph is called a </a:t>
            </a:r>
            <a:r>
              <a:rPr b="1" lang="en"/>
              <a:t>component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component is </a:t>
            </a:r>
            <a:r>
              <a:rPr b="1" lang="en"/>
              <a:t>k-connected</a:t>
            </a:r>
            <a:r>
              <a:rPr lang="en"/>
              <a:t> if every node in the component can reach any other one via a path of length </a:t>
            </a:r>
            <a:r>
              <a:rPr i="1" lang="en"/>
              <a:t>k </a:t>
            </a:r>
            <a:r>
              <a:rPr lang="en"/>
              <a:t>or less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5" name="Google Shape;8175;p383"/>
          <p:cNvSpPr txBox="1"/>
          <p:nvPr/>
        </p:nvSpPr>
        <p:spPr>
          <a:xfrm>
            <a:off x="4923450" y="4139675"/>
            <a:ext cx="1861200" cy="53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component is 2-connected!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8176" name="Google Shape;8176;p383"/>
          <p:cNvCxnSpPr>
            <a:stCxn id="8175" idx="0"/>
          </p:cNvCxnSpPr>
          <p:nvPr/>
        </p:nvCxnSpPr>
        <p:spPr>
          <a:xfrm flipH="1" rot="10800000">
            <a:off x="5854050" y="3443975"/>
            <a:ext cx="24000" cy="695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grpSp>
        <p:nvGrpSpPr>
          <p:cNvPr id="8177" name="Google Shape;8177;p383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178" name="Google Shape;8178;p383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383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383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383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82" name="Google Shape;8182;p383"/>
            <p:cNvCxnSpPr>
              <a:stCxn id="8178" idx="3"/>
              <a:endCxn id="8179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83" name="Google Shape;8183;p383"/>
            <p:cNvCxnSpPr>
              <a:stCxn id="8181" idx="1"/>
              <a:endCxn id="8179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84" name="Google Shape;8184;p383"/>
            <p:cNvCxnSpPr>
              <a:stCxn id="8178" idx="4"/>
              <a:endCxn id="8181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85" name="Google Shape;8185;p383"/>
            <p:cNvCxnSpPr>
              <a:stCxn id="8178" idx="5"/>
              <a:endCxn id="8180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86" name="Google Shape;8186;p383"/>
            <p:cNvCxnSpPr>
              <a:stCxn id="8180" idx="2"/>
              <a:endCxn id="8179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87" name="Google Shape;8187;p383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383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383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383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91" name="Google Shape;8191;p383"/>
            <p:cNvCxnSpPr>
              <a:stCxn id="8187" idx="3"/>
              <a:endCxn id="8188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2" name="Google Shape;8192;p383"/>
            <p:cNvCxnSpPr>
              <a:stCxn id="8190" idx="0"/>
              <a:endCxn id="8188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3" name="Google Shape;8193;p383"/>
            <p:cNvCxnSpPr>
              <a:stCxn id="8187" idx="5"/>
              <a:endCxn id="8189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4" name="Google Shape;8194;p383"/>
            <p:cNvCxnSpPr>
              <a:stCxn id="8189" idx="2"/>
              <a:endCxn id="8188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95" name="Google Shape;8195;p383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96" name="Google Shape;8196;p383"/>
            <p:cNvCxnSpPr>
              <a:stCxn id="8195" idx="0"/>
              <a:endCxn id="8188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7" name="Google Shape;8197;p383"/>
            <p:cNvCxnSpPr>
              <a:stCxn id="8189" idx="3"/>
              <a:endCxn id="8190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8" name="Google Shape;8198;p383"/>
            <p:cNvCxnSpPr>
              <a:stCxn id="8189" idx="3"/>
              <a:endCxn id="8195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9" name="Google Shape;8199;p383"/>
            <p:cNvCxnSpPr>
              <a:stCxn id="8187" idx="4"/>
              <a:endCxn id="8195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200" name="Google Shape;8200;p383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383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383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383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204" name="Google Shape;8204;p383"/>
            <p:cNvCxnSpPr>
              <a:stCxn id="8200" idx="3"/>
              <a:endCxn id="8201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05" name="Google Shape;8205;p383"/>
            <p:cNvCxnSpPr>
              <a:stCxn id="8203" idx="0"/>
              <a:endCxn id="8201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06" name="Google Shape;8206;p383"/>
            <p:cNvCxnSpPr>
              <a:stCxn id="8200" idx="5"/>
              <a:endCxn id="8202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07" name="Google Shape;8207;p383"/>
            <p:cNvCxnSpPr>
              <a:stCxn id="8202" idx="2"/>
              <a:endCxn id="8201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208" name="Google Shape;8208;p383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209" name="Google Shape;8209;p383"/>
            <p:cNvCxnSpPr>
              <a:stCxn id="8202" idx="3"/>
              <a:endCxn id="8203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10" name="Google Shape;8210;p383"/>
            <p:cNvCxnSpPr>
              <a:stCxn id="8208" idx="2"/>
              <a:endCxn id="8201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11" name="Google Shape;8211;p383"/>
            <p:cNvCxnSpPr>
              <a:stCxn id="8208" idx="0"/>
              <a:endCxn id="8200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12" name="Google Shape;8212;p383"/>
            <p:cNvCxnSpPr>
              <a:stCxn id="8203" idx="6"/>
              <a:endCxn id="8208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13" name="Google Shape;8213;p383"/>
            <p:cNvCxnSpPr>
              <a:stCxn id="8195" idx="3"/>
              <a:endCxn id="8200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14" name="Google Shape;8214;p383"/>
            <p:cNvCxnSpPr>
              <a:stCxn id="8189" idx="4"/>
              <a:endCxn id="8202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18" name="Shape 8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9" name="Google Shape;8219;p38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220" name="Google Shape;8220;p384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disconnect a graph by removing </a:t>
            </a:r>
            <a:r>
              <a:rPr b="1" lang="en"/>
              <a:t>edges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1" name="Google Shape;8221;p384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2" name="Google Shape;8222;p384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3" name="Google Shape;8223;p384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4" name="Google Shape;8224;p384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25" name="Google Shape;8225;p384"/>
          <p:cNvCxnSpPr>
            <a:stCxn id="8221" idx="3"/>
            <a:endCxn id="8222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26" name="Google Shape;8226;p384"/>
          <p:cNvCxnSpPr>
            <a:stCxn id="8224" idx="1"/>
            <a:endCxn id="8222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27" name="Google Shape;8227;p384"/>
          <p:cNvCxnSpPr>
            <a:stCxn id="8221" idx="4"/>
            <a:endCxn id="8224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28" name="Google Shape;8228;p384"/>
          <p:cNvCxnSpPr>
            <a:stCxn id="8221" idx="5"/>
            <a:endCxn id="8223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29" name="Google Shape;8229;p384"/>
          <p:cNvCxnSpPr>
            <a:stCxn id="8223" idx="2"/>
            <a:endCxn id="8222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30" name="Google Shape;8230;p384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1" name="Google Shape;8231;p384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2" name="Google Shape;8232;p384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3" name="Google Shape;8233;p384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34" name="Google Shape;8234;p384"/>
          <p:cNvCxnSpPr>
            <a:stCxn id="8230" idx="3"/>
            <a:endCxn id="8231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35" name="Google Shape;8235;p384"/>
          <p:cNvCxnSpPr>
            <a:stCxn id="8233" idx="0"/>
            <a:endCxn id="8231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36" name="Google Shape;8236;p384"/>
          <p:cNvCxnSpPr>
            <a:stCxn id="8230" idx="5"/>
            <a:endCxn id="8232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37" name="Google Shape;8237;p384"/>
          <p:cNvCxnSpPr>
            <a:stCxn id="8232" idx="2"/>
            <a:endCxn id="8231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38" name="Google Shape;8238;p384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39" name="Google Shape;8239;p384"/>
          <p:cNvCxnSpPr>
            <a:stCxn id="8238" idx="0"/>
            <a:endCxn id="8231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40" name="Google Shape;8240;p384"/>
          <p:cNvCxnSpPr>
            <a:stCxn id="8232" idx="3"/>
            <a:endCxn id="8233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41" name="Google Shape;8241;p384"/>
          <p:cNvCxnSpPr>
            <a:stCxn id="8232" idx="3"/>
            <a:endCxn id="8238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42" name="Google Shape;8242;p384"/>
          <p:cNvCxnSpPr>
            <a:stCxn id="8230" idx="4"/>
            <a:endCxn id="8238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43" name="Google Shape;8243;p384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4" name="Google Shape;8244;p384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5" name="Google Shape;8245;p384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6" name="Google Shape;8246;p384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47" name="Google Shape;8247;p384"/>
          <p:cNvCxnSpPr>
            <a:stCxn id="8243" idx="3"/>
            <a:endCxn id="8244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48" name="Google Shape;8248;p384"/>
          <p:cNvCxnSpPr>
            <a:stCxn id="8246" idx="0"/>
            <a:endCxn id="8244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49" name="Google Shape;8249;p384"/>
          <p:cNvCxnSpPr>
            <a:stCxn id="8243" idx="5"/>
            <a:endCxn id="8245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50" name="Google Shape;8250;p384"/>
          <p:cNvCxnSpPr>
            <a:stCxn id="8245" idx="2"/>
            <a:endCxn id="8244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51" name="Google Shape;8251;p384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52" name="Google Shape;8252;p384"/>
          <p:cNvCxnSpPr>
            <a:stCxn id="8245" idx="3"/>
            <a:endCxn id="8246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53" name="Google Shape;8253;p384"/>
          <p:cNvCxnSpPr>
            <a:stCxn id="8251" idx="2"/>
            <a:endCxn id="8244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54" name="Google Shape;8254;p384"/>
          <p:cNvCxnSpPr>
            <a:stCxn id="8251" idx="0"/>
            <a:endCxn id="8243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55" name="Google Shape;8255;p384"/>
          <p:cNvCxnSpPr>
            <a:stCxn id="8246" idx="6"/>
            <a:endCxn id="8251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56" name="Google Shape;8256;p384"/>
          <p:cNvCxnSpPr>
            <a:stCxn id="8223" idx="5"/>
            <a:endCxn id="8244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57" name="Google Shape;8257;p384"/>
          <p:cNvCxnSpPr>
            <a:stCxn id="8223" idx="7"/>
            <a:endCxn id="8233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58" name="Google Shape;8258;p384"/>
          <p:cNvCxnSpPr>
            <a:stCxn id="8238" idx="3"/>
            <a:endCxn id="8243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59" name="Google Shape;8259;p384"/>
          <p:cNvCxnSpPr>
            <a:stCxn id="8232" idx="4"/>
            <a:endCxn id="8245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63" name="Shape 8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4" name="Google Shape;8264;p38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265" name="Google Shape;8265;p385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disconnect a graph by removing </a:t>
            </a:r>
            <a:r>
              <a:rPr b="1" lang="en"/>
              <a:t>edges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6" name="Google Shape;8266;p385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7" name="Google Shape;8267;p385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8" name="Google Shape;8268;p385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9" name="Google Shape;8269;p385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70" name="Google Shape;8270;p385"/>
          <p:cNvCxnSpPr>
            <a:stCxn id="8266" idx="3"/>
            <a:endCxn id="8267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71" name="Google Shape;8271;p385"/>
          <p:cNvCxnSpPr>
            <a:stCxn id="8269" idx="1"/>
            <a:endCxn id="8267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72" name="Google Shape;8272;p385"/>
          <p:cNvCxnSpPr>
            <a:stCxn id="8266" idx="4"/>
            <a:endCxn id="8269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73" name="Google Shape;8273;p385"/>
          <p:cNvCxnSpPr>
            <a:stCxn id="8266" idx="5"/>
            <a:endCxn id="8268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74" name="Google Shape;8274;p385"/>
          <p:cNvCxnSpPr>
            <a:stCxn id="8268" idx="2"/>
            <a:endCxn id="8267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75" name="Google Shape;8275;p385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6" name="Google Shape;8276;p385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7" name="Google Shape;8277;p385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8" name="Google Shape;8278;p385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79" name="Google Shape;8279;p385"/>
          <p:cNvCxnSpPr>
            <a:stCxn id="8275" idx="3"/>
            <a:endCxn id="8276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80" name="Google Shape;8280;p385"/>
          <p:cNvCxnSpPr>
            <a:stCxn id="8278" idx="0"/>
            <a:endCxn id="8276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81" name="Google Shape;8281;p385"/>
          <p:cNvCxnSpPr>
            <a:stCxn id="8275" idx="5"/>
            <a:endCxn id="8277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82" name="Google Shape;8282;p385"/>
          <p:cNvCxnSpPr>
            <a:stCxn id="8277" idx="2"/>
            <a:endCxn id="8276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83" name="Google Shape;8283;p385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84" name="Google Shape;8284;p385"/>
          <p:cNvCxnSpPr>
            <a:stCxn id="8283" idx="0"/>
            <a:endCxn id="8276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85" name="Google Shape;8285;p385"/>
          <p:cNvCxnSpPr>
            <a:stCxn id="8277" idx="3"/>
            <a:endCxn id="8278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86" name="Google Shape;8286;p385"/>
          <p:cNvCxnSpPr>
            <a:stCxn id="8277" idx="3"/>
            <a:endCxn id="8283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87" name="Google Shape;8287;p385"/>
          <p:cNvCxnSpPr>
            <a:stCxn id="8275" idx="4"/>
            <a:endCxn id="8283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88" name="Google Shape;8288;p385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9" name="Google Shape;8289;p385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0" name="Google Shape;8290;p385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1" name="Google Shape;8291;p385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92" name="Google Shape;8292;p385"/>
          <p:cNvCxnSpPr>
            <a:stCxn id="8288" idx="3"/>
            <a:endCxn id="8289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93" name="Google Shape;8293;p385"/>
          <p:cNvCxnSpPr>
            <a:stCxn id="8291" idx="0"/>
            <a:endCxn id="8289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94" name="Google Shape;8294;p385"/>
          <p:cNvCxnSpPr>
            <a:stCxn id="8288" idx="5"/>
            <a:endCxn id="8290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95" name="Google Shape;8295;p385"/>
          <p:cNvCxnSpPr>
            <a:stCxn id="8290" idx="2"/>
            <a:endCxn id="8289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96" name="Google Shape;8296;p385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297" name="Google Shape;8297;p385"/>
          <p:cNvCxnSpPr>
            <a:stCxn id="8290" idx="3"/>
            <a:endCxn id="8291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98" name="Google Shape;8298;p385"/>
          <p:cNvCxnSpPr>
            <a:stCxn id="8296" idx="2"/>
            <a:endCxn id="8289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99" name="Google Shape;8299;p385"/>
          <p:cNvCxnSpPr>
            <a:stCxn id="8296" idx="0"/>
            <a:endCxn id="8288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300" name="Google Shape;8300;p385"/>
          <p:cNvCxnSpPr>
            <a:stCxn id="8291" idx="6"/>
            <a:endCxn id="8296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301" name="Google Shape;8301;p385"/>
          <p:cNvCxnSpPr>
            <a:stCxn id="8283" idx="3"/>
            <a:endCxn id="8288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302" name="Google Shape;8302;p385"/>
          <p:cNvCxnSpPr>
            <a:stCxn id="8277" idx="4"/>
            <a:endCxn id="8290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303" name="Google Shape;8303;p385"/>
          <p:cNvSpPr txBox="1"/>
          <p:nvPr/>
        </p:nvSpPr>
        <p:spPr>
          <a:xfrm>
            <a:off x="4916650" y="896075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Oops! Disconnected!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07" name="Shape 8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8" name="Google Shape;8308;p38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309" name="Google Shape;8309;p386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disconnect a graph by removing </a:t>
            </a:r>
            <a:r>
              <a:rPr b="1" lang="en"/>
              <a:t>edges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0" name="Google Shape;8310;p386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311" name="Google Shape;8311;p386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386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386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386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15" name="Google Shape;8315;p386"/>
            <p:cNvCxnSpPr>
              <a:stCxn id="8311" idx="3"/>
              <a:endCxn id="8312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6" name="Google Shape;8316;p386"/>
            <p:cNvCxnSpPr>
              <a:stCxn id="8314" idx="1"/>
              <a:endCxn id="8312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7" name="Google Shape;8317;p386"/>
            <p:cNvCxnSpPr>
              <a:stCxn id="8311" idx="4"/>
              <a:endCxn id="8314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8" name="Google Shape;8318;p386"/>
            <p:cNvCxnSpPr>
              <a:stCxn id="8311" idx="5"/>
              <a:endCxn id="8313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9" name="Google Shape;8319;p386"/>
            <p:cNvCxnSpPr>
              <a:stCxn id="8313" idx="2"/>
              <a:endCxn id="8312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20" name="Google Shape;8320;p386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386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386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386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24" name="Google Shape;8324;p386"/>
            <p:cNvCxnSpPr>
              <a:stCxn id="8320" idx="3"/>
              <a:endCxn id="8321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5" name="Google Shape;8325;p386"/>
            <p:cNvCxnSpPr>
              <a:stCxn id="8323" idx="0"/>
              <a:endCxn id="8321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6" name="Google Shape;8326;p386"/>
            <p:cNvCxnSpPr>
              <a:stCxn id="8320" idx="5"/>
              <a:endCxn id="8322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7" name="Google Shape;8327;p386"/>
            <p:cNvCxnSpPr>
              <a:stCxn id="8322" idx="2"/>
              <a:endCxn id="8321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28" name="Google Shape;8328;p386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29" name="Google Shape;8329;p386"/>
            <p:cNvCxnSpPr>
              <a:stCxn id="8328" idx="0"/>
              <a:endCxn id="8321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30" name="Google Shape;8330;p386"/>
            <p:cNvCxnSpPr>
              <a:stCxn id="8322" idx="3"/>
              <a:endCxn id="8323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31" name="Google Shape;8331;p386"/>
            <p:cNvCxnSpPr>
              <a:stCxn id="8322" idx="3"/>
              <a:endCxn id="8328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32" name="Google Shape;8332;p386"/>
            <p:cNvCxnSpPr>
              <a:stCxn id="8320" idx="4"/>
              <a:endCxn id="8328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33" name="Google Shape;8333;p386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386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386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386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37" name="Google Shape;8337;p386"/>
            <p:cNvCxnSpPr>
              <a:stCxn id="8333" idx="3"/>
              <a:endCxn id="8334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38" name="Google Shape;8338;p386"/>
            <p:cNvCxnSpPr>
              <a:stCxn id="8336" idx="0"/>
              <a:endCxn id="8334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39" name="Google Shape;8339;p386"/>
            <p:cNvCxnSpPr>
              <a:stCxn id="8333" idx="5"/>
              <a:endCxn id="8335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40" name="Google Shape;8340;p386"/>
            <p:cNvCxnSpPr>
              <a:stCxn id="8335" idx="2"/>
              <a:endCxn id="8334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41" name="Google Shape;8341;p386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42" name="Google Shape;8342;p386"/>
            <p:cNvCxnSpPr>
              <a:stCxn id="8335" idx="3"/>
              <a:endCxn id="8336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43" name="Google Shape;8343;p386"/>
            <p:cNvCxnSpPr>
              <a:stCxn id="8341" idx="2"/>
              <a:endCxn id="8334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44" name="Google Shape;8344;p386"/>
            <p:cNvCxnSpPr>
              <a:stCxn id="8341" idx="0"/>
              <a:endCxn id="8333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45" name="Google Shape;8345;p386"/>
            <p:cNvCxnSpPr>
              <a:stCxn id="8336" idx="6"/>
              <a:endCxn id="8341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46" name="Google Shape;8346;p386"/>
            <p:cNvCxnSpPr>
              <a:stCxn id="8313" idx="5"/>
              <a:endCxn id="8334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47" name="Google Shape;8347;p386"/>
            <p:cNvCxnSpPr>
              <a:stCxn id="8313" idx="7"/>
              <a:endCxn id="8323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48" name="Google Shape;8348;p386"/>
            <p:cNvCxnSpPr>
              <a:stCxn id="8328" idx="3"/>
              <a:endCxn id="8333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49" name="Google Shape;8349;p386"/>
            <p:cNvCxnSpPr>
              <a:stCxn id="8322" idx="4"/>
              <a:endCxn id="8335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53" name="Shape 8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4" name="Google Shape;8354;p38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355" name="Google Shape;8355;p387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disconnect a graph by removing </a:t>
            </a:r>
            <a:r>
              <a:rPr b="1" lang="en"/>
              <a:t>edges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6" name="Google Shape;8356;p387"/>
          <p:cNvSpPr txBox="1"/>
          <p:nvPr/>
        </p:nvSpPr>
        <p:spPr>
          <a:xfrm>
            <a:off x="6753375" y="2381850"/>
            <a:ext cx="428700" cy="379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7" name="Google Shape;8357;p387"/>
          <p:cNvSpPr txBox="1"/>
          <p:nvPr/>
        </p:nvSpPr>
        <p:spPr>
          <a:xfrm>
            <a:off x="6711675" y="3198325"/>
            <a:ext cx="308100" cy="289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8" name="Google Shape;8358;p387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359" name="Google Shape;8359;p387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387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387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387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63" name="Google Shape;8363;p387"/>
            <p:cNvCxnSpPr>
              <a:stCxn id="8359" idx="3"/>
              <a:endCxn id="8360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64" name="Google Shape;8364;p387"/>
            <p:cNvCxnSpPr>
              <a:stCxn id="8362" idx="1"/>
              <a:endCxn id="8360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65" name="Google Shape;8365;p387"/>
            <p:cNvCxnSpPr>
              <a:stCxn id="8359" idx="4"/>
              <a:endCxn id="8362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66" name="Google Shape;8366;p387"/>
            <p:cNvCxnSpPr>
              <a:stCxn id="8359" idx="5"/>
              <a:endCxn id="8361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67" name="Google Shape;8367;p387"/>
            <p:cNvCxnSpPr>
              <a:stCxn id="8361" idx="2"/>
              <a:endCxn id="8360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68" name="Google Shape;8368;p387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387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387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387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72" name="Google Shape;8372;p387"/>
            <p:cNvCxnSpPr>
              <a:stCxn id="8368" idx="3"/>
              <a:endCxn id="8369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3" name="Google Shape;8373;p387"/>
            <p:cNvCxnSpPr>
              <a:stCxn id="8371" idx="0"/>
              <a:endCxn id="8369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4" name="Google Shape;8374;p387"/>
            <p:cNvCxnSpPr>
              <a:stCxn id="8368" idx="5"/>
              <a:endCxn id="8370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5" name="Google Shape;8375;p387"/>
            <p:cNvCxnSpPr>
              <a:stCxn id="8370" idx="2"/>
              <a:endCxn id="8369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76" name="Google Shape;8376;p387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77" name="Google Shape;8377;p387"/>
            <p:cNvCxnSpPr>
              <a:stCxn id="8376" idx="0"/>
              <a:endCxn id="8369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8" name="Google Shape;8378;p387"/>
            <p:cNvCxnSpPr>
              <a:stCxn id="8370" idx="3"/>
              <a:endCxn id="8371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9" name="Google Shape;8379;p387"/>
            <p:cNvCxnSpPr>
              <a:stCxn id="8370" idx="3"/>
              <a:endCxn id="8376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0" name="Google Shape;8380;p387"/>
            <p:cNvCxnSpPr>
              <a:stCxn id="8368" idx="4"/>
              <a:endCxn id="8376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81" name="Google Shape;8381;p387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387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387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387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85" name="Google Shape;8385;p387"/>
            <p:cNvCxnSpPr>
              <a:stCxn id="8381" idx="3"/>
              <a:endCxn id="8382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6" name="Google Shape;8386;p387"/>
            <p:cNvCxnSpPr>
              <a:stCxn id="8384" idx="0"/>
              <a:endCxn id="8382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7" name="Google Shape;8387;p387"/>
            <p:cNvCxnSpPr>
              <a:stCxn id="8381" idx="5"/>
              <a:endCxn id="8383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8" name="Google Shape;8388;p387"/>
            <p:cNvCxnSpPr>
              <a:stCxn id="8383" idx="2"/>
              <a:endCxn id="8382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89" name="Google Shape;8389;p387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90" name="Google Shape;8390;p387"/>
            <p:cNvCxnSpPr>
              <a:stCxn id="8383" idx="3"/>
              <a:endCxn id="8384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1" name="Google Shape;8391;p387"/>
            <p:cNvCxnSpPr>
              <a:stCxn id="8389" idx="2"/>
              <a:endCxn id="8382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2" name="Google Shape;8392;p387"/>
            <p:cNvCxnSpPr>
              <a:stCxn id="8389" idx="0"/>
              <a:endCxn id="8381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3" name="Google Shape;8393;p387"/>
            <p:cNvCxnSpPr>
              <a:stCxn id="8384" idx="6"/>
              <a:endCxn id="8389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4" name="Google Shape;8394;p387"/>
            <p:cNvCxnSpPr>
              <a:stCxn id="8361" idx="5"/>
              <a:endCxn id="8382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5" name="Google Shape;8395;p387"/>
            <p:cNvCxnSpPr>
              <a:stCxn id="8370" idx="4"/>
              <a:endCxn id="8383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396" name="Google Shape;8396;p387"/>
          <p:cNvSpPr txBox="1"/>
          <p:nvPr/>
        </p:nvSpPr>
        <p:spPr>
          <a:xfrm>
            <a:off x="4916650" y="896075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We removed some edges</a:t>
            </a:r>
            <a:endParaRPr b="1">
              <a:solidFill>
                <a:srgbClr val="FF0000"/>
              </a:solidFill>
            </a:endParaRPr>
          </a:p>
        </p:txBody>
      </p:sp>
      <p:sp>
        <p:nvSpPr>
          <p:cNvPr id="8397" name="Google Shape;8397;p387"/>
          <p:cNvSpPr txBox="1"/>
          <p:nvPr/>
        </p:nvSpPr>
        <p:spPr>
          <a:xfrm>
            <a:off x="4099750" y="4076700"/>
            <a:ext cx="2717400" cy="4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Is this graph disconnected?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401" name="Shape 8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2" name="Google Shape;8402;p38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403" name="Google Shape;8403;p388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disconnect a graph by removing </a:t>
            </a:r>
            <a:r>
              <a:rPr b="1" lang="en"/>
              <a:t>edges</a:t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4" name="Google Shape;8404;p388"/>
          <p:cNvSpPr txBox="1"/>
          <p:nvPr/>
        </p:nvSpPr>
        <p:spPr>
          <a:xfrm>
            <a:off x="6753375" y="2381850"/>
            <a:ext cx="428700" cy="379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5" name="Google Shape;8405;p388"/>
          <p:cNvSpPr txBox="1"/>
          <p:nvPr/>
        </p:nvSpPr>
        <p:spPr>
          <a:xfrm>
            <a:off x="6711675" y="3198325"/>
            <a:ext cx="308100" cy="289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6" name="Google Shape;8406;p388"/>
          <p:cNvSpPr txBox="1"/>
          <p:nvPr/>
        </p:nvSpPr>
        <p:spPr>
          <a:xfrm>
            <a:off x="4726150" y="3982175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Now it is!</a:t>
            </a:r>
            <a:endParaRPr b="1">
              <a:solidFill>
                <a:srgbClr val="FF0000"/>
              </a:solidFill>
            </a:endParaRPr>
          </a:p>
        </p:txBody>
      </p:sp>
      <p:grpSp>
        <p:nvGrpSpPr>
          <p:cNvPr id="8407" name="Google Shape;8407;p388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408" name="Google Shape;8408;p388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388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388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388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12" name="Google Shape;8412;p388"/>
            <p:cNvCxnSpPr>
              <a:stCxn id="8408" idx="3"/>
              <a:endCxn id="8409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13" name="Google Shape;8413;p388"/>
            <p:cNvCxnSpPr>
              <a:stCxn id="8411" idx="1"/>
              <a:endCxn id="8409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14" name="Google Shape;8414;p388"/>
            <p:cNvCxnSpPr>
              <a:stCxn id="8408" idx="4"/>
              <a:endCxn id="8411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15" name="Google Shape;8415;p388"/>
            <p:cNvCxnSpPr>
              <a:stCxn id="8408" idx="5"/>
              <a:endCxn id="8410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16" name="Google Shape;8416;p388"/>
            <p:cNvCxnSpPr>
              <a:stCxn id="8410" idx="2"/>
              <a:endCxn id="8409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17" name="Google Shape;8417;p388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388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388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388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21" name="Google Shape;8421;p388"/>
            <p:cNvCxnSpPr>
              <a:stCxn id="8417" idx="3"/>
              <a:endCxn id="8418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22" name="Google Shape;8422;p388"/>
            <p:cNvCxnSpPr>
              <a:stCxn id="8420" idx="0"/>
              <a:endCxn id="8418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23" name="Google Shape;8423;p388"/>
            <p:cNvCxnSpPr>
              <a:stCxn id="8417" idx="5"/>
              <a:endCxn id="8419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24" name="Google Shape;8424;p388"/>
            <p:cNvCxnSpPr>
              <a:stCxn id="8419" idx="2"/>
              <a:endCxn id="8418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25" name="Google Shape;8425;p388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26" name="Google Shape;8426;p388"/>
            <p:cNvCxnSpPr>
              <a:stCxn id="8425" idx="0"/>
              <a:endCxn id="8418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27" name="Google Shape;8427;p388"/>
            <p:cNvCxnSpPr>
              <a:stCxn id="8419" idx="3"/>
              <a:endCxn id="8420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28" name="Google Shape;8428;p388"/>
            <p:cNvCxnSpPr>
              <a:stCxn id="8419" idx="3"/>
              <a:endCxn id="8425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29" name="Google Shape;8429;p388"/>
            <p:cNvCxnSpPr>
              <a:stCxn id="8417" idx="4"/>
              <a:endCxn id="8425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30" name="Google Shape;8430;p388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388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388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388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34" name="Google Shape;8434;p388"/>
            <p:cNvCxnSpPr>
              <a:stCxn id="8430" idx="3"/>
              <a:endCxn id="8431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35" name="Google Shape;8435;p388"/>
            <p:cNvCxnSpPr>
              <a:stCxn id="8433" idx="0"/>
              <a:endCxn id="8431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36" name="Google Shape;8436;p388"/>
            <p:cNvCxnSpPr>
              <a:stCxn id="8430" idx="5"/>
              <a:endCxn id="8432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37" name="Google Shape;8437;p388"/>
            <p:cNvCxnSpPr>
              <a:stCxn id="8432" idx="2"/>
              <a:endCxn id="8431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38" name="Google Shape;8438;p388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39" name="Google Shape;8439;p388"/>
            <p:cNvCxnSpPr>
              <a:stCxn id="8432" idx="3"/>
              <a:endCxn id="8433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40" name="Google Shape;8440;p388"/>
            <p:cNvCxnSpPr>
              <a:stCxn id="8438" idx="2"/>
              <a:endCxn id="8431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41" name="Google Shape;8441;p388"/>
            <p:cNvCxnSpPr>
              <a:stCxn id="8438" idx="0"/>
              <a:endCxn id="8430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42" name="Google Shape;8442;p388"/>
            <p:cNvCxnSpPr>
              <a:stCxn id="8433" idx="6"/>
              <a:endCxn id="8438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43" name="Google Shape;8443;p388"/>
            <p:cNvCxnSpPr>
              <a:stCxn id="8410" idx="5"/>
              <a:endCxn id="8431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447" name="Shape 8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8" name="Google Shape;8448;p38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449" name="Google Shape;8449;p389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disconnect a graph by removing </a:t>
            </a:r>
            <a:r>
              <a:rPr b="1" lang="en"/>
              <a:t>edges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some graphs removing just one edge leads to disconnection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Edges with the property of being able to disconnect the graph upon removal are called </a:t>
            </a:r>
            <a:r>
              <a:rPr b="1" lang="en"/>
              <a:t>bridges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0" name="Google Shape;8450;p389"/>
          <p:cNvSpPr txBox="1"/>
          <p:nvPr/>
        </p:nvSpPr>
        <p:spPr>
          <a:xfrm>
            <a:off x="4626000" y="939800"/>
            <a:ext cx="16179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bridge</a:t>
            </a:r>
            <a:endParaRPr b="1">
              <a:solidFill>
                <a:srgbClr val="FF0000"/>
              </a:solidFill>
            </a:endParaRPr>
          </a:p>
        </p:txBody>
      </p:sp>
      <p:grpSp>
        <p:nvGrpSpPr>
          <p:cNvPr id="8451" name="Google Shape;8451;p389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452" name="Google Shape;8452;p389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389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389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389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56" name="Google Shape;8456;p389"/>
            <p:cNvCxnSpPr>
              <a:stCxn id="8452" idx="3"/>
              <a:endCxn id="8453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57" name="Google Shape;8457;p389"/>
            <p:cNvCxnSpPr>
              <a:stCxn id="8455" idx="1"/>
              <a:endCxn id="8453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58" name="Google Shape;8458;p389"/>
            <p:cNvCxnSpPr>
              <a:stCxn id="8452" idx="4"/>
              <a:endCxn id="8455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59" name="Google Shape;8459;p389"/>
            <p:cNvCxnSpPr>
              <a:stCxn id="8452" idx="5"/>
              <a:endCxn id="8454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60" name="Google Shape;8460;p389"/>
            <p:cNvCxnSpPr>
              <a:stCxn id="8454" idx="2"/>
              <a:endCxn id="8453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61" name="Google Shape;8461;p389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389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389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389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65" name="Google Shape;8465;p389"/>
            <p:cNvCxnSpPr>
              <a:stCxn id="8461" idx="3"/>
              <a:endCxn id="8462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66" name="Google Shape;8466;p389"/>
            <p:cNvCxnSpPr>
              <a:stCxn id="8464" idx="0"/>
              <a:endCxn id="8462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67" name="Google Shape;8467;p389"/>
            <p:cNvCxnSpPr>
              <a:stCxn id="8461" idx="5"/>
              <a:endCxn id="8463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68" name="Google Shape;8468;p389"/>
            <p:cNvCxnSpPr>
              <a:stCxn id="8463" idx="2"/>
              <a:endCxn id="8462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69" name="Google Shape;8469;p389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70" name="Google Shape;8470;p389"/>
            <p:cNvCxnSpPr>
              <a:stCxn id="8469" idx="0"/>
              <a:endCxn id="8462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1" name="Google Shape;8471;p389"/>
            <p:cNvCxnSpPr>
              <a:stCxn id="8463" idx="3"/>
              <a:endCxn id="8464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2" name="Google Shape;8472;p389"/>
            <p:cNvCxnSpPr>
              <a:stCxn id="8463" idx="3"/>
              <a:endCxn id="8469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3" name="Google Shape;8473;p389"/>
            <p:cNvCxnSpPr>
              <a:stCxn id="8461" idx="4"/>
              <a:endCxn id="8469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74" name="Google Shape;8474;p389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389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389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389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78" name="Google Shape;8478;p389"/>
            <p:cNvCxnSpPr>
              <a:stCxn id="8474" idx="3"/>
              <a:endCxn id="8475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9" name="Google Shape;8479;p389"/>
            <p:cNvCxnSpPr>
              <a:stCxn id="8477" idx="0"/>
              <a:endCxn id="8475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0" name="Google Shape;8480;p389"/>
            <p:cNvCxnSpPr>
              <a:stCxn id="8474" idx="5"/>
              <a:endCxn id="8476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1" name="Google Shape;8481;p389"/>
            <p:cNvCxnSpPr>
              <a:stCxn id="8476" idx="2"/>
              <a:endCxn id="8475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82" name="Google Shape;8482;p389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83" name="Google Shape;8483;p389"/>
            <p:cNvCxnSpPr>
              <a:stCxn id="8476" idx="3"/>
              <a:endCxn id="8477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4" name="Google Shape;8484;p389"/>
            <p:cNvCxnSpPr>
              <a:stCxn id="8482" idx="2"/>
              <a:endCxn id="8475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5" name="Google Shape;8485;p389"/>
            <p:cNvCxnSpPr>
              <a:stCxn id="8482" idx="0"/>
              <a:endCxn id="8474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6" name="Google Shape;8486;p389"/>
            <p:cNvCxnSpPr>
              <a:stCxn id="8477" idx="6"/>
              <a:endCxn id="8482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7" name="Google Shape;8487;p389"/>
            <p:cNvCxnSpPr>
              <a:stCxn id="8454" idx="7"/>
              <a:endCxn id="8464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28575">
              <a:solidFill>
                <a:srgbClr val="FF000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8" name="Google Shape;8488;p389"/>
            <p:cNvCxnSpPr>
              <a:stCxn id="8469" idx="3"/>
              <a:endCxn id="8474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9" name="Google Shape;8489;p389"/>
            <p:cNvCxnSpPr>
              <a:stCxn id="8463" idx="4"/>
              <a:endCxn id="8476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cxnSp>
        <p:nvCxnSpPr>
          <p:cNvPr id="8490" name="Google Shape;8490;p389"/>
          <p:cNvCxnSpPr>
            <a:stCxn id="8450" idx="2"/>
          </p:cNvCxnSpPr>
          <p:nvPr/>
        </p:nvCxnSpPr>
        <p:spPr>
          <a:xfrm>
            <a:off x="5434950" y="1379600"/>
            <a:ext cx="1384500" cy="456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494" name="Shape 8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5" name="Google Shape;8495;p39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496" name="Google Shape;8496;p390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7" name="Google Shape;8497;p390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498" name="Google Shape;8498;p390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390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390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390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02" name="Google Shape;8502;p390"/>
            <p:cNvCxnSpPr>
              <a:stCxn id="8498" idx="3"/>
              <a:endCxn id="8499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03" name="Google Shape;8503;p390"/>
            <p:cNvCxnSpPr>
              <a:stCxn id="8501" idx="1"/>
              <a:endCxn id="8499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04" name="Google Shape;8504;p390"/>
            <p:cNvCxnSpPr>
              <a:stCxn id="8498" idx="4"/>
              <a:endCxn id="8501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05" name="Google Shape;8505;p390"/>
            <p:cNvCxnSpPr>
              <a:stCxn id="8498" idx="5"/>
              <a:endCxn id="8500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06" name="Google Shape;8506;p390"/>
            <p:cNvCxnSpPr>
              <a:stCxn id="8500" idx="2"/>
              <a:endCxn id="8499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507" name="Google Shape;8507;p390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390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390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390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11" name="Google Shape;8511;p390"/>
            <p:cNvCxnSpPr>
              <a:stCxn id="8507" idx="3"/>
              <a:endCxn id="8508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2" name="Google Shape;8512;p390"/>
            <p:cNvCxnSpPr>
              <a:stCxn id="8510" idx="0"/>
              <a:endCxn id="8508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3" name="Google Shape;8513;p390"/>
            <p:cNvCxnSpPr>
              <a:stCxn id="8507" idx="5"/>
              <a:endCxn id="8509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4" name="Google Shape;8514;p390"/>
            <p:cNvCxnSpPr>
              <a:stCxn id="8509" idx="2"/>
              <a:endCxn id="8508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515" name="Google Shape;8515;p390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16" name="Google Shape;8516;p390"/>
            <p:cNvCxnSpPr>
              <a:stCxn id="8515" idx="0"/>
              <a:endCxn id="8508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7" name="Google Shape;8517;p390"/>
            <p:cNvCxnSpPr>
              <a:stCxn id="8509" idx="3"/>
              <a:endCxn id="8510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8" name="Google Shape;8518;p390"/>
            <p:cNvCxnSpPr>
              <a:stCxn id="8509" idx="3"/>
              <a:endCxn id="8515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9" name="Google Shape;8519;p390"/>
            <p:cNvCxnSpPr>
              <a:stCxn id="8507" idx="4"/>
              <a:endCxn id="8515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520" name="Google Shape;8520;p390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390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390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390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24" name="Google Shape;8524;p390"/>
            <p:cNvCxnSpPr>
              <a:stCxn id="8520" idx="3"/>
              <a:endCxn id="8521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25" name="Google Shape;8525;p390"/>
            <p:cNvCxnSpPr>
              <a:stCxn id="8523" idx="0"/>
              <a:endCxn id="8521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26" name="Google Shape;8526;p390"/>
            <p:cNvCxnSpPr>
              <a:stCxn id="8520" idx="5"/>
              <a:endCxn id="8522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27" name="Google Shape;8527;p390"/>
            <p:cNvCxnSpPr>
              <a:stCxn id="8522" idx="2"/>
              <a:endCxn id="8521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528" name="Google Shape;8528;p390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29" name="Google Shape;8529;p390"/>
            <p:cNvCxnSpPr>
              <a:stCxn id="8522" idx="3"/>
              <a:endCxn id="8523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0" name="Google Shape;8530;p390"/>
            <p:cNvCxnSpPr>
              <a:stCxn id="8528" idx="2"/>
              <a:endCxn id="8521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1" name="Google Shape;8531;p390"/>
            <p:cNvCxnSpPr>
              <a:stCxn id="8528" idx="0"/>
              <a:endCxn id="8520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2" name="Google Shape;8532;p390"/>
            <p:cNvCxnSpPr>
              <a:stCxn id="8523" idx="6"/>
              <a:endCxn id="8528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3" name="Google Shape;8533;p390"/>
            <p:cNvCxnSpPr>
              <a:stCxn id="8500" idx="5"/>
              <a:endCxn id="8521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4" name="Google Shape;8534;p390"/>
            <p:cNvCxnSpPr>
              <a:stCxn id="8500" idx="7"/>
              <a:endCxn id="8510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5" name="Google Shape;8535;p390"/>
            <p:cNvCxnSpPr>
              <a:stCxn id="8515" idx="3"/>
              <a:endCxn id="8520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6" name="Google Shape;8536;p390"/>
            <p:cNvCxnSpPr>
              <a:stCxn id="8509" idx="4"/>
              <a:endCxn id="8522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40" name="Shape 8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1" name="Google Shape;8541;p39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542" name="Google Shape;8542;p391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3" name="Google Shape;8543;p391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4" name="Google Shape;8544;p391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5" name="Google Shape;8545;p391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46" name="Google Shape;8546;p391"/>
          <p:cNvCxnSpPr>
            <a:stCxn id="8543" idx="3"/>
            <a:endCxn id="8544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47" name="Google Shape;8547;p391"/>
          <p:cNvCxnSpPr>
            <a:stCxn id="8545" idx="1"/>
            <a:endCxn id="8544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48" name="Google Shape;8548;p391"/>
          <p:cNvCxnSpPr>
            <a:stCxn id="8543" idx="4"/>
            <a:endCxn id="8545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549" name="Google Shape;8549;p391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0" name="Google Shape;8550;p391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1" name="Google Shape;8551;p391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2" name="Google Shape;8552;p391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53" name="Google Shape;8553;p391"/>
          <p:cNvCxnSpPr>
            <a:stCxn id="8549" idx="3"/>
            <a:endCxn id="8550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54" name="Google Shape;8554;p391"/>
          <p:cNvCxnSpPr>
            <a:stCxn id="8552" idx="0"/>
            <a:endCxn id="8550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55" name="Google Shape;8555;p391"/>
          <p:cNvCxnSpPr>
            <a:stCxn id="8549" idx="5"/>
            <a:endCxn id="8551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56" name="Google Shape;8556;p391"/>
          <p:cNvCxnSpPr>
            <a:stCxn id="8551" idx="2"/>
            <a:endCxn id="8550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557" name="Google Shape;8557;p391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58" name="Google Shape;8558;p391"/>
          <p:cNvCxnSpPr>
            <a:stCxn id="8557" idx="0"/>
            <a:endCxn id="8550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59" name="Google Shape;8559;p391"/>
          <p:cNvCxnSpPr>
            <a:stCxn id="8551" idx="3"/>
            <a:endCxn id="8552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60" name="Google Shape;8560;p391"/>
          <p:cNvCxnSpPr>
            <a:stCxn id="8551" idx="3"/>
            <a:endCxn id="8557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61" name="Google Shape;8561;p391"/>
          <p:cNvCxnSpPr>
            <a:stCxn id="8549" idx="4"/>
            <a:endCxn id="8557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562" name="Google Shape;8562;p391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3" name="Google Shape;8563;p391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4" name="Google Shape;8564;p391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5" name="Google Shape;8565;p391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66" name="Google Shape;8566;p391"/>
          <p:cNvCxnSpPr>
            <a:stCxn id="8562" idx="3"/>
            <a:endCxn id="856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67" name="Google Shape;8567;p391"/>
          <p:cNvCxnSpPr>
            <a:stCxn id="8565" idx="0"/>
            <a:endCxn id="8563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68" name="Google Shape;8568;p391"/>
          <p:cNvCxnSpPr>
            <a:stCxn id="8562" idx="5"/>
            <a:endCxn id="8564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69" name="Google Shape;8569;p391"/>
          <p:cNvCxnSpPr>
            <a:stCxn id="8564" idx="2"/>
            <a:endCxn id="8563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570" name="Google Shape;8570;p391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71" name="Google Shape;8571;p391"/>
          <p:cNvCxnSpPr>
            <a:stCxn id="8564" idx="3"/>
            <a:endCxn id="8565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72" name="Google Shape;8572;p391"/>
          <p:cNvCxnSpPr>
            <a:stCxn id="8570" idx="2"/>
            <a:endCxn id="856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73" name="Google Shape;8573;p391"/>
          <p:cNvCxnSpPr>
            <a:stCxn id="8570" idx="0"/>
            <a:endCxn id="856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74" name="Google Shape;8574;p391"/>
          <p:cNvCxnSpPr>
            <a:stCxn id="8565" idx="6"/>
            <a:endCxn id="8570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75" name="Google Shape;8575;p391"/>
          <p:cNvCxnSpPr>
            <a:stCxn id="8557" idx="3"/>
            <a:endCxn id="8562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76" name="Google Shape;8576;p391"/>
          <p:cNvCxnSpPr>
            <a:stCxn id="8551" idx="4"/>
            <a:endCxn id="8564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577" name="Google Shape;8577;p391"/>
          <p:cNvSpPr txBox="1"/>
          <p:nvPr/>
        </p:nvSpPr>
        <p:spPr>
          <a:xfrm>
            <a:off x="4916650" y="896075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Oops! Disconnected!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81" name="Shape 8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2" name="Google Shape;8582;p39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583" name="Google Shape;8583;p392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It can be easier to disconnect a graph this way because nodes take their links with them!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4" name="Google Shape;8584;p392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5" name="Google Shape;8585;p392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6" name="Google Shape;8586;p392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87" name="Google Shape;8587;p392"/>
          <p:cNvCxnSpPr>
            <a:stCxn id="8584" idx="3"/>
            <a:endCxn id="8585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88" name="Google Shape;8588;p392"/>
          <p:cNvCxnSpPr>
            <a:stCxn id="8586" idx="1"/>
            <a:endCxn id="8585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89" name="Google Shape;8589;p392"/>
          <p:cNvCxnSpPr>
            <a:stCxn id="8584" idx="4"/>
            <a:endCxn id="8586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590" name="Google Shape;8590;p392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1" name="Google Shape;8591;p392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2" name="Google Shape;8592;p392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3" name="Google Shape;8593;p392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94" name="Google Shape;8594;p392"/>
          <p:cNvCxnSpPr>
            <a:stCxn id="8590" idx="3"/>
            <a:endCxn id="8591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95" name="Google Shape;8595;p392"/>
          <p:cNvCxnSpPr>
            <a:stCxn id="8593" idx="0"/>
            <a:endCxn id="8591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96" name="Google Shape;8596;p392"/>
          <p:cNvCxnSpPr>
            <a:stCxn id="8590" idx="5"/>
            <a:endCxn id="8592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97" name="Google Shape;8597;p392"/>
          <p:cNvCxnSpPr>
            <a:stCxn id="8592" idx="2"/>
            <a:endCxn id="8591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598" name="Google Shape;8598;p392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99" name="Google Shape;8599;p392"/>
          <p:cNvCxnSpPr>
            <a:stCxn id="8598" idx="0"/>
            <a:endCxn id="8591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00" name="Google Shape;8600;p392"/>
          <p:cNvCxnSpPr>
            <a:stCxn id="8592" idx="3"/>
            <a:endCxn id="8593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01" name="Google Shape;8601;p392"/>
          <p:cNvCxnSpPr>
            <a:stCxn id="8592" idx="3"/>
            <a:endCxn id="8598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02" name="Google Shape;8602;p392"/>
          <p:cNvCxnSpPr>
            <a:stCxn id="8590" idx="4"/>
            <a:endCxn id="8598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603" name="Google Shape;8603;p392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4" name="Google Shape;8604;p392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5" name="Google Shape;8605;p392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6" name="Google Shape;8606;p392"/>
          <p:cNvSpPr/>
          <p:nvPr/>
        </p:nvSpPr>
        <p:spPr>
          <a:xfrm rot="-1281263">
            <a:off x="7726031" y="44733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607" name="Google Shape;8607;p392"/>
          <p:cNvCxnSpPr>
            <a:stCxn id="8603" idx="3"/>
            <a:endCxn id="8604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08" name="Google Shape;8608;p392"/>
          <p:cNvCxnSpPr>
            <a:stCxn id="8606" idx="0"/>
            <a:endCxn id="8604" idx="4"/>
          </p:cNvCxnSpPr>
          <p:nvPr/>
        </p:nvCxnSpPr>
        <p:spPr>
          <a:xfrm rot="10800000">
            <a:off x="7426813" y="3939880"/>
            <a:ext cx="353700" cy="53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09" name="Google Shape;8609;p392"/>
          <p:cNvCxnSpPr>
            <a:stCxn id="8603" idx="5"/>
            <a:endCxn id="8605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10" name="Google Shape;8610;p392"/>
          <p:cNvCxnSpPr>
            <a:stCxn id="8605" idx="2"/>
            <a:endCxn id="8604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611" name="Google Shape;8611;p392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612" name="Google Shape;8612;p392"/>
          <p:cNvCxnSpPr>
            <a:stCxn id="8605" idx="3"/>
            <a:endCxn id="8606" idx="6"/>
          </p:cNvCxnSpPr>
          <p:nvPr/>
        </p:nvCxnSpPr>
        <p:spPr>
          <a:xfrm flipH="1">
            <a:off x="7891545" y="3603908"/>
            <a:ext cx="717600" cy="92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13" name="Google Shape;8613;p392"/>
          <p:cNvCxnSpPr>
            <a:stCxn id="8611" idx="2"/>
            <a:endCxn id="8604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14" name="Google Shape;8614;p392"/>
          <p:cNvCxnSpPr>
            <a:stCxn id="8611" idx="0"/>
            <a:endCxn id="8603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15" name="Google Shape;8615;p392"/>
          <p:cNvCxnSpPr>
            <a:stCxn id="8606" idx="6"/>
            <a:endCxn id="8611" idx="2"/>
          </p:cNvCxnSpPr>
          <p:nvPr/>
        </p:nvCxnSpPr>
        <p:spPr>
          <a:xfrm flipH="1" rot="10800000">
            <a:off x="7891513" y="4036780"/>
            <a:ext cx="115500" cy="49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16" name="Google Shape;8616;p392"/>
          <p:cNvCxnSpPr>
            <a:stCxn id="8598" idx="3"/>
            <a:endCxn id="8603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17" name="Google Shape;8617;p392"/>
          <p:cNvCxnSpPr>
            <a:stCxn id="8592" idx="4"/>
            <a:endCxn id="8605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618" name="Google Shape;8618;p392"/>
          <p:cNvSpPr txBox="1"/>
          <p:nvPr/>
        </p:nvSpPr>
        <p:spPr>
          <a:xfrm>
            <a:off x="4916650" y="896075"/>
            <a:ext cx="1900500" cy="8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Oops! Disconnected!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22" name="Shape 8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3" name="Google Shape;8623;p39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624" name="Google Shape;8624;p393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nodes are more “important” for because they serve as the connectors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Can you guess what kind of centrality “connector” nodes are more likely to have?</a:t>
            </a:r>
            <a:endParaRPr b="1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5" name="Google Shape;8625;p393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626" name="Google Shape;8626;p393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393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393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rgbClr val="FF0000"/>
            </a:solidFill>
            <a:ln cap="flat" cmpd="sng" w="19050">
              <a:solidFill>
                <a:srgbClr val="FF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393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30" name="Google Shape;8630;p393"/>
            <p:cNvCxnSpPr>
              <a:stCxn id="8626" idx="3"/>
              <a:endCxn id="8627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31" name="Google Shape;8631;p393"/>
            <p:cNvCxnSpPr>
              <a:stCxn id="8629" idx="1"/>
              <a:endCxn id="8627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32" name="Google Shape;8632;p393"/>
            <p:cNvCxnSpPr>
              <a:stCxn id="8626" idx="4"/>
              <a:endCxn id="8629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33" name="Google Shape;8633;p393"/>
            <p:cNvCxnSpPr>
              <a:stCxn id="8626" idx="5"/>
              <a:endCxn id="8628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34" name="Google Shape;8634;p393"/>
            <p:cNvCxnSpPr>
              <a:stCxn id="8628" idx="2"/>
              <a:endCxn id="8627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635" name="Google Shape;8635;p393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393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393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393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39" name="Google Shape;8639;p393"/>
            <p:cNvCxnSpPr>
              <a:stCxn id="8635" idx="3"/>
              <a:endCxn id="8636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40" name="Google Shape;8640;p393"/>
            <p:cNvCxnSpPr>
              <a:stCxn id="8638" idx="0"/>
              <a:endCxn id="8636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41" name="Google Shape;8641;p393"/>
            <p:cNvCxnSpPr>
              <a:stCxn id="8635" idx="5"/>
              <a:endCxn id="8637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42" name="Google Shape;8642;p393"/>
            <p:cNvCxnSpPr>
              <a:stCxn id="8637" idx="2"/>
              <a:endCxn id="8636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643" name="Google Shape;8643;p393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44" name="Google Shape;8644;p393"/>
            <p:cNvCxnSpPr>
              <a:stCxn id="8643" idx="0"/>
              <a:endCxn id="8636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45" name="Google Shape;8645;p393"/>
            <p:cNvCxnSpPr>
              <a:stCxn id="8637" idx="3"/>
              <a:endCxn id="8638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46" name="Google Shape;8646;p393"/>
            <p:cNvCxnSpPr>
              <a:stCxn id="8637" idx="3"/>
              <a:endCxn id="8643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47" name="Google Shape;8647;p393"/>
            <p:cNvCxnSpPr>
              <a:stCxn id="8635" idx="4"/>
              <a:endCxn id="8643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648" name="Google Shape;8648;p393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393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393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393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rgbClr val="0000FF"/>
            </a:solidFill>
            <a:ln cap="flat" cmpd="sng" w="19050">
              <a:solidFill>
                <a:srgbClr val="0000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52" name="Google Shape;8652;p393"/>
            <p:cNvCxnSpPr>
              <a:stCxn id="8648" idx="3"/>
              <a:endCxn id="8649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53" name="Google Shape;8653;p393"/>
            <p:cNvCxnSpPr>
              <a:stCxn id="8651" idx="0"/>
              <a:endCxn id="8649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54" name="Google Shape;8654;p393"/>
            <p:cNvCxnSpPr>
              <a:stCxn id="8648" idx="5"/>
              <a:endCxn id="8650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55" name="Google Shape;8655;p393"/>
            <p:cNvCxnSpPr>
              <a:stCxn id="8650" idx="2"/>
              <a:endCxn id="8649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656" name="Google Shape;8656;p393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57" name="Google Shape;8657;p393"/>
            <p:cNvCxnSpPr>
              <a:stCxn id="8650" idx="3"/>
              <a:endCxn id="8651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58" name="Google Shape;8658;p393"/>
            <p:cNvCxnSpPr>
              <a:stCxn id="8656" idx="2"/>
              <a:endCxn id="8649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59" name="Google Shape;8659;p393"/>
            <p:cNvCxnSpPr>
              <a:stCxn id="8656" idx="0"/>
              <a:endCxn id="8648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60" name="Google Shape;8660;p393"/>
            <p:cNvCxnSpPr>
              <a:stCxn id="8651" idx="6"/>
              <a:endCxn id="8656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61" name="Google Shape;8661;p393"/>
            <p:cNvCxnSpPr>
              <a:stCxn id="8628" idx="5"/>
              <a:endCxn id="8649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62" name="Google Shape;8662;p393"/>
            <p:cNvCxnSpPr>
              <a:stCxn id="8628" idx="7"/>
              <a:endCxn id="8638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63" name="Google Shape;8663;p393"/>
            <p:cNvCxnSpPr>
              <a:stCxn id="8643" idx="3"/>
              <a:endCxn id="8648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64" name="Google Shape;8664;p393"/>
            <p:cNvCxnSpPr>
              <a:stCxn id="8637" idx="4"/>
              <a:endCxn id="8650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665" name="Google Shape;8665;p393"/>
          <p:cNvSpPr txBox="1"/>
          <p:nvPr/>
        </p:nvSpPr>
        <p:spPr>
          <a:xfrm>
            <a:off x="5594175" y="3711150"/>
            <a:ext cx="11934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VIP Node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8666" name="Google Shape;8666;p393"/>
          <p:cNvCxnSpPr>
            <a:stCxn id="8665" idx="0"/>
            <a:endCxn id="8628" idx="4"/>
          </p:cNvCxnSpPr>
          <p:nvPr/>
        </p:nvCxnSpPr>
        <p:spPr>
          <a:xfrm flipH="1" rot="10800000">
            <a:off x="6190875" y="2701050"/>
            <a:ext cx="265500" cy="1010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8667" name="Google Shape;8667;p393"/>
          <p:cNvSpPr txBox="1"/>
          <p:nvPr/>
        </p:nvSpPr>
        <p:spPr>
          <a:xfrm>
            <a:off x="5412025" y="4397125"/>
            <a:ext cx="8601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</a:rPr>
              <a:t>Not VIP</a:t>
            </a:r>
            <a:endParaRPr b="1">
              <a:solidFill>
                <a:srgbClr val="0000FF"/>
              </a:solidFill>
            </a:endParaRPr>
          </a:p>
        </p:txBody>
      </p:sp>
      <p:cxnSp>
        <p:nvCxnSpPr>
          <p:cNvPr id="8668" name="Google Shape;8668;p393"/>
          <p:cNvCxnSpPr>
            <a:stCxn id="8667" idx="3"/>
            <a:endCxn id="8651" idx="2"/>
          </p:cNvCxnSpPr>
          <p:nvPr/>
        </p:nvCxnSpPr>
        <p:spPr>
          <a:xfrm>
            <a:off x="6272125" y="4584775"/>
            <a:ext cx="1459800" cy="5400"/>
          </a:xfrm>
          <a:prstGeom prst="straightConnector1">
            <a:avLst/>
          </a:prstGeom>
          <a:noFill/>
          <a:ln cap="flat" cmpd="sng" w="19050">
            <a:solidFill>
              <a:srgbClr val="0000FF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72" name="Shape 8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3" name="Google Shape;8673;p39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674" name="Google Shape;8674;p394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nodes are more “important” because they serve as the connectors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k-connected</a:t>
            </a:r>
            <a:r>
              <a:rPr lang="en"/>
              <a:t> if it takes removing </a:t>
            </a:r>
            <a:r>
              <a:rPr i="1" lang="en"/>
              <a:t>k </a:t>
            </a:r>
            <a:r>
              <a:rPr lang="en"/>
              <a:t>nodes to disconnect it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675" name="Google Shape;8675;p394"/>
          <p:cNvCxnSpPr>
            <a:stCxn id="8676" idx="0"/>
            <a:endCxn id="8677" idx="3"/>
          </p:cNvCxnSpPr>
          <p:nvPr/>
        </p:nvCxnSpPr>
        <p:spPr>
          <a:xfrm flipH="1" rot="10800000">
            <a:off x="5617675" y="2675725"/>
            <a:ext cx="777900" cy="1721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8676" name="Google Shape;8676;p394"/>
          <p:cNvSpPr txBox="1"/>
          <p:nvPr/>
        </p:nvSpPr>
        <p:spPr>
          <a:xfrm>
            <a:off x="4393675" y="4397125"/>
            <a:ext cx="24480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is 1-connected</a:t>
            </a:r>
            <a:endParaRPr b="1">
              <a:solidFill>
                <a:srgbClr val="FF0000"/>
              </a:solidFill>
            </a:endParaRPr>
          </a:p>
        </p:txBody>
      </p:sp>
      <p:grpSp>
        <p:nvGrpSpPr>
          <p:cNvPr id="8678" name="Google Shape;8678;p394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8679" name="Google Shape;8679;p394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80" name="Google Shape;8680;p394"/>
            <p:cNvCxnSpPr>
              <a:stCxn id="8679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81" name="Google Shape;8681;p394"/>
            <p:cNvCxnSpPr>
              <a:endCxn id="8679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82" name="Google Shape;8682;p394"/>
            <p:cNvCxnSpPr>
              <a:stCxn id="8679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683" name="Google Shape;8683;p394"/>
          <p:cNvGrpSpPr/>
          <p:nvPr/>
        </p:nvGrpSpPr>
        <p:grpSpPr>
          <a:xfrm>
            <a:off x="5370463" y="653813"/>
            <a:ext cx="3384048" cy="3462804"/>
            <a:chOff x="5370463" y="653813"/>
            <a:chExt cx="3384048" cy="3462804"/>
          </a:xfrm>
        </p:grpSpPr>
        <p:sp>
          <p:nvSpPr>
            <p:cNvPr id="8684" name="Google Shape;8684;p394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394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394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394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87" name="Google Shape;8687;p394"/>
            <p:cNvCxnSpPr>
              <a:stCxn id="8684" idx="3"/>
              <a:endCxn id="8685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88" name="Google Shape;8688;p394"/>
            <p:cNvCxnSpPr>
              <a:stCxn id="8686" idx="1"/>
              <a:endCxn id="8685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89" name="Google Shape;8689;p394"/>
            <p:cNvCxnSpPr>
              <a:stCxn id="8684" idx="4"/>
              <a:endCxn id="8686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90" name="Google Shape;8690;p394"/>
            <p:cNvCxnSpPr>
              <a:stCxn id="8684" idx="5"/>
              <a:endCxn id="8677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91" name="Google Shape;8691;p394"/>
            <p:cNvCxnSpPr>
              <a:stCxn id="8677" idx="2"/>
              <a:endCxn id="8685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692" name="Google Shape;8692;p394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394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394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394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96" name="Google Shape;8696;p394"/>
            <p:cNvCxnSpPr>
              <a:stCxn id="8692" idx="3"/>
              <a:endCxn id="8693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97" name="Google Shape;8697;p394"/>
            <p:cNvCxnSpPr>
              <a:stCxn id="8695" idx="0"/>
              <a:endCxn id="8693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98" name="Google Shape;8698;p394"/>
            <p:cNvCxnSpPr>
              <a:stCxn id="8692" idx="5"/>
              <a:endCxn id="8694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99" name="Google Shape;8699;p394"/>
            <p:cNvCxnSpPr>
              <a:stCxn id="8694" idx="2"/>
              <a:endCxn id="8693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00" name="Google Shape;8700;p394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01" name="Google Shape;8701;p394"/>
            <p:cNvCxnSpPr>
              <a:stCxn id="8700" idx="0"/>
              <a:endCxn id="8693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02" name="Google Shape;8702;p394"/>
            <p:cNvCxnSpPr>
              <a:stCxn id="8694" idx="3"/>
              <a:endCxn id="8695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03" name="Google Shape;8703;p394"/>
            <p:cNvCxnSpPr>
              <a:stCxn id="8694" idx="3"/>
              <a:endCxn id="8700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04" name="Google Shape;8704;p394"/>
            <p:cNvCxnSpPr>
              <a:stCxn id="8692" idx="4"/>
              <a:endCxn id="8700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05" name="Google Shape;8705;p394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394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394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08" name="Google Shape;8708;p394"/>
            <p:cNvCxnSpPr>
              <a:stCxn id="8705" idx="3"/>
              <a:endCxn id="8706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09" name="Google Shape;8709;p394"/>
            <p:cNvCxnSpPr>
              <a:stCxn id="8705" idx="5"/>
              <a:endCxn id="8707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10" name="Google Shape;8710;p394"/>
            <p:cNvCxnSpPr>
              <a:stCxn id="8707" idx="2"/>
              <a:endCxn id="8706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11" name="Google Shape;8711;p394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12" name="Google Shape;8712;p394"/>
            <p:cNvCxnSpPr>
              <a:stCxn id="8711" idx="2"/>
              <a:endCxn id="8706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13" name="Google Shape;8713;p394"/>
            <p:cNvCxnSpPr>
              <a:stCxn id="8711" idx="0"/>
              <a:endCxn id="8705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14" name="Google Shape;8714;p394"/>
            <p:cNvCxnSpPr>
              <a:stCxn id="8677" idx="5"/>
              <a:endCxn id="8706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15" name="Google Shape;8715;p394"/>
            <p:cNvCxnSpPr>
              <a:stCxn id="8677" idx="7"/>
              <a:endCxn id="8695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16" name="Google Shape;8716;p394"/>
            <p:cNvCxnSpPr>
              <a:stCxn id="8700" idx="3"/>
              <a:endCxn id="8705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17" name="Google Shape;8717;p394"/>
            <p:cNvCxnSpPr>
              <a:stCxn id="8694" idx="4"/>
              <a:endCxn id="8707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21" name="Shape 8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2" name="Google Shape;8722;p39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723" name="Google Shape;8723;p395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nodes are more “important” because they serve as the connectors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k-connected</a:t>
            </a:r>
            <a:r>
              <a:rPr lang="en"/>
              <a:t> if it takes removing </a:t>
            </a:r>
            <a:r>
              <a:rPr i="1" lang="en"/>
              <a:t>k </a:t>
            </a:r>
            <a:r>
              <a:rPr lang="en"/>
              <a:t>nodes to disconnect it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4" name="Google Shape;8724;p395"/>
          <p:cNvSpPr txBox="1"/>
          <p:nvPr/>
        </p:nvSpPr>
        <p:spPr>
          <a:xfrm>
            <a:off x="4393675" y="4397125"/>
            <a:ext cx="24480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is 1-connected</a:t>
            </a:r>
            <a:endParaRPr b="1">
              <a:solidFill>
                <a:srgbClr val="FF0000"/>
              </a:solidFill>
            </a:endParaRPr>
          </a:p>
        </p:txBody>
      </p:sp>
      <p:grpSp>
        <p:nvGrpSpPr>
          <p:cNvPr id="8725" name="Google Shape;8725;p395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8726" name="Google Shape;8726;p395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27" name="Google Shape;8727;p395"/>
            <p:cNvCxnSpPr>
              <a:stCxn id="8726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28" name="Google Shape;8728;p395"/>
            <p:cNvCxnSpPr>
              <a:endCxn id="8726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29" name="Google Shape;8729;p395"/>
            <p:cNvCxnSpPr>
              <a:stCxn id="8726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730" name="Google Shape;8730;p395"/>
          <p:cNvGrpSpPr/>
          <p:nvPr/>
        </p:nvGrpSpPr>
        <p:grpSpPr>
          <a:xfrm>
            <a:off x="5370463" y="653813"/>
            <a:ext cx="3384048" cy="3462804"/>
            <a:chOff x="5370463" y="653813"/>
            <a:chExt cx="3384048" cy="3462804"/>
          </a:xfrm>
        </p:grpSpPr>
        <p:sp>
          <p:nvSpPr>
            <p:cNvPr id="8731" name="Google Shape;8731;p395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395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395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34" name="Google Shape;8734;p395"/>
            <p:cNvCxnSpPr>
              <a:stCxn id="8731" idx="3"/>
              <a:endCxn id="8732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35" name="Google Shape;8735;p395"/>
            <p:cNvCxnSpPr>
              <a:stCxn id="8733" idx="1"/>
              <a:endCxn id="8732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36" name="Google Shape;8736;p395"/>
            <p:cNvCxnSpPr>
              <a:stCxn id="8731" idx="4"/>
              <a:endCxn id="8733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37" name="Google Shape;8737;p395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395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395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395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41" name="Google Shape;8741;p395"/>
            <p:cNvCxnSpPr>
              <a:stCxn id="8737" idx="3"/>
              <a:endCxn id="8738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2" name="Google Shape;8742;p395"/>
            <p:cNvCxnSpPr>
              <a:stCxn id="8740" idx="0"/>
              <a:endCxn id="8738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3" name="Google Shape;8743;p395"/>
            <p:cNvCxnSpPr>
              <a:stCxn id="8737" idx="5"/>
              <a:endCxn id="8739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4" name="Google Shape;8744;p395"/>
            <p:cNvCxnSpPr>
              <a:stCxn id="8739" idx="2"/>
              <a:endCxn id="8738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45" name="Google Shape;8745;p395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46" name="Google Shape;8746;p395"/>
            <p:cNvCxnSpPr>
              <a:stCxn id="8745" idx="0"/>
              <a:endCxn id="8738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7" name="Google Shape;8747;p395"/>
            <p:cNvCxnSpPr>
              <a:stCxn id="8739" idx="3"/>
              <a:endCxn id="8740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8" name="Google Shape;8748;p395"/>
            <p:cNvCxnSpPr>
              <a:stCxn id="8739" idx="3"/>
              <a:endCxn id="8745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9" name="Google Shape;8749;p395"/>
            <p:cNvCxnSpPr>
              <a:stCxn id="8737" idx="4"/>
              <a:endCxn id="8745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50" name="Google Shape;8750;p395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395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395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53" name="Google Shape;8753;p395"/>
            <p:cNvCxnSpPr>
              <a:stCxn id="8750" idx="3"/>
              <a:endCxn id="8751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54" name="Google Shape;8754;p395"/>
            <p:cNvCxnSpPr>
              <a:stCxn id="8750" idx="5"/>
              <a:endCxn id="8752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55" name="Google Shape;8755;p395"/>
            <p:cNvCxnSpPr>
              <a:stCxn id="8752" idx="2"/>
              <a:endCxn id="8751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56" name="Google Shape;8756;p395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57" name="Google Shape;8757;p395"/>
            <p:cNvCxnSpPr>
              <a:stCxn id="8756" idx="2"/>
              <a:endCxn id="8751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58" name="Google Shape;8758;p395"/>
            <p:cNvCxnSpPr>
              <a:stCxn id="8756" idx="0"/>
              <a:endCxn id="8750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59" name="Google Shape;8759;p395"/>
            <p:cNvCxnSpPr>
              <a:stCxn id="8745" idx="3"/>
              <a:endCxn id="8750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60" name="Google Shape;8760;p395"/>
            <p:cNvCxnSpPr>
              <a:stCxn id="8739" idx="4"/>
              <a:endCxn id="8752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64" name="Shape 8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5" name="Google Shape;8765;p39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766" name="Google Shape;8766;p396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nodes are more “important” because they serve as the connectors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k-connected</a:t>
            </a:r>
            <a:r>
              <a:rPr lang="en"/>
              <a:t> if it takes removing </a:t>
            </a:r>
            <a:r>
              <a:rPr i="1" lang="en"/>
              <a:t>k </a:t>
            </a:r>
            <a:r>
              <a:rPr lang="en"/>
              <a:t>nodes to disconnect it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7" name="Google Shape;8767;p396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8" name="Google Shape;8768;p396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9" name="Google Shape;8769;p396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0" name="Google Shape;8770;p396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771" name="Google Shape;8771;p396"/>
          <p:cNvCxnSpPr>
            <a:stCxn id="8767" idx="3"/>
            <a:endCxn id="8768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72" name="Google Shape;8772;p396"/>
          <p:cNvCxnSpPr>
            <a:stCxn id="8770" idx="1"/>
            <a:endCxn id="8768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73" name="Google Shape;8773;p396"/>
          <p:cNvCxnSpPr>
            <a:stCxn id="8767" idx="4"/>
            <a:endCxn id="8770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74" name="Google Shape;8774;p396"/>
          <p:cNvCxnSpPr>
            <a:stCxn id="8767" idx="5"/>
            <a:endCxn id="8769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75" name="Google Shape;8775;p396"/>
          <p:cNvCxnSpPr>
            <a:stCxn id="8769" idx="2"/>
            <a:endCxn id="8768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76" name="Google Shape;8776;p396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7" name="Google Shape;8777;p396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8" name="Google Shape;8778;p396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9" name="Google Shape;8779;p396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780" name="Google Shape;8780;p396"/>
          <p:cNvCxnSpPr>
            <a:stCxn id="8776" idx="3"/>
            <a:endCxn id="8777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81" name="Google Shape;8781;p396"/>
          <p:cNvCxnSpPr>
            <a:stCxn id="8779" idx="0"/>
            <a:endCxn id="8777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82" name="Google Shape;8782;p396"/>
          <p:cNvCxnSpPr>
            <a:stCxn id="8776" idx="5"/>
            <a:endCxn id="8778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83" name="Google Shape;8783;p396"/>
          <p:cNvCxnSpPr>
            <a:stCxn id="8778" idx="2"/>
            <a:endCxn id="8777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84" name="Google Shape;8784;p396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785" name="Google Shape;8785;p396"/>
          <p:cNvCxnSpPr>
            <a:stCxn id="8784" idx="0"/>
            <a:endCxn id="8777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86" name="Google Shape;8786;p396"/>
          <p:cNvCxnSpPr>
            <a:stCxn id="8778" idx="3"/>
            <a:endCxn id="8779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87" name="Google Shape;8787;p396"/>
          <p:cNvCxnSpPr>
            <a:stCxn id="8778" idx="3"/>
            <a:endCxn id="8784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88" name="Google Shape;8788;p396"/>
          <p:cNvCxnSpPr>
            <a:stCxn id="8776" idx="4"/>
            <a:endCxn id="8784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89" name="Google Shape;8789;p396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0" name="Google Shape;8790;p396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1" name="Google Shape;8791;p396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792" name="Google Shape;8792;p396"/>
          <p:cNvCxnSpPr>
            <a:stCxn id="8789" idx="3"/>
            <a:endCxn id="8790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93" name="Google Shape;8793;p396"/>
          <p:cNvCxnSpPr>
            <a:stCxn id="8789" idx="5"/>
            <a:endCxn id="8791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94" name="Google Shape;8794;p396"/>
          <p:cNvCxnSpPr>
            <a:stCxn id="8791" idx="2"/>
            <a:endCxn id="8790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95" name="Google Shape;8795;p396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796" name="Google Shape;8796;p396"/>
          <p:cNvCxnSpPr>
            <a:stCxn id="8795" idx="2"/>
            <a:endCxn id="8790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97" name="Google Shape;8797;p396"/>
          <p:cNvCxnSpPr>
            <a:stCxn id="8795" idx="0"/>
            <a:endCxn id="8789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98" name="Google Shape;8798;p396"/>
          <p:cNvCxnSpPr>
            <a:stCxn id="8769" idx="5"/>
            <a:endCxn id="8790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99" name="Google Shape;8799;p396"/>
          <p:cNvCxnSpPr>
            <a:stCxn id="8769" idx="7"/>
            <a:endCxn id="8779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00" name="Google Shape;8800;p396"/>
          <p:cNvCxnSpPr>
            <a:stCxn id="8784" idx="3"/>
            <a:endCxn id="8789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01" name="Google Shape;8801;p396"/>
          <p:cNvCxnSpPr>
            <a:stCxn id="8778" idx="4"/>
            <a:endCxn id="8791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02" name="Google Shape;8802;p396"/>
          <p:cNvCxnSpPr>
            <a:stCxn id="8803" idx="0"/>
            <a:endCxn id="8769" idx="4"/>
          </p:cNvCxnSpPr>
          <p:nvPr/>
        </p:nvCxnSpPr>
        <p:spPr>
          <a:xfrm flipH="1" rot="10800000">
            <a:off x="5617675" y="2700925"/>
            <a:ext cx="838500" cy="1696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8803" name="Google Shape;8803;p396"/>
          <p:cNvSpPr txBox="1"/>
          <p:nvPr/>
        </p:nvSpPr>
        <p:spPr>
          <a:xfrm>
            <a:off x="4393675" y="4397125"/>
            <a:ext cx="24480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is 2-connected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8804" name="Google Shape;8804;p396"/>
          <p:cNvCxnSpPr>
            <a:stCxn id="8767" idx="6"/>
            <a:endCxn id="8784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805" name="Google Shape;8805;p396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8806" name="Google Shape;8806;p396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07" name="Google Shape;8807;p396"/>
            <p:cNvCxnSpPr>
              <a:stCxn id="8806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8" name="Google Shape;8808;p396"/>
            <p:cNvCxnSpPr>
              <a:endCxn id="8806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9" name="Google Shape;8809;p396"/>
            <p:cNvCxnSpPr>
              <a:stCxn id="8806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cxnSp>
        <p:nvCxnSpPr>
          <p:cNvPr id="8810" name="Google Shape;8810;p396"/>
          <p:cNvCxnSpPr>
            <a:stCxn id="8803" idx="0"/>
            <a:endCxn id="8784" idx="3"/>
          </p:cNvCxnSpPr>
          <p:nvPr/>
        </p:nvCxnSpPr>
        <p:spPr>
          <a:xfrm flipH="1" rot="10800000">
            <a:off x="5617675" y="1952425"/>
            <a:ext cx="2228400" cy="244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14" name="Shape 8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5" name="Google Shape;8815;p39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816" name="Google Shape;8816;p397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nodes are more “important” because they serve as the connectors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k-connected</a:t>
            </a:r>
            <a:r>
              <a:rPr lang="en"/>
              <a:t> if it takes removing </a:t>
            </a:r>
            <a:r>
              <a:rPr i="1" lang="en"/>
              <a:t>k </a:t>
            </a:r>
            <a:r>
              <a:rPr lang="en"/>
              <a:t>nodes to disconnect it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7" name="Google Shape;8817;p397"/>
          <p:cNvSpPr txBox="1"/>
          <p:nvPr/>
        </p:nvSpPr>
        <p:spPr>
          <a:xfrm>
            <a:off x="4393675" y="4397125"/>
            <a:ext cx="24480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is 2-connected</a:t>
            </a:r>
            <a:endParaRPr b="1">
              <a:solidFill>
                <a:srgbClr val="FF0000"/>
              </a:solidFill>
            </a:endParaRPr>
          </a:p>
        </p:txBody>
      </p:sp>
      <p:grpSp>
        <p:nvGrpSpPr>
          <p:cNvPr id="8818" name="Google Shape;8818;p397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8819" name="Google Shape;8819;p397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20" name="Google Shape;8820;p397"/>
            <p:cNvCxnSpPr>
              <a:stCxn id="8819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21" name="Google Shape;8821;p397"/>
            <p:cNvCxnSpPr>
              <a:endCxn id="8819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22" name="Google Shape;8822;p397"/>
            <p:cNvCxnSpPr>
              <a:stCxn id="8819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823" name="Google Shape;8823;p397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4" name="Google Shape;8824;p397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5" name="Google Shape;8825;p397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26" name="Google Shape;8826;p397"/>
          <p:cNvCxnSpPr>
            <a:stCxn id="8823" idx="3"/>
            <a:endCxn id="8824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27" name="Google Shape;8827;p397"/>
          <p:cNvCxnSpPr>
            <a:stCxn id="8825" idx="1"/>
            <a:endCxn id="8824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28" name="Google Shape;8828;p397"/>
          <p:cNvCxnSpPr>
            <a:stCxn id="8823" idx="4"/>
            <a:endCxn id="8825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29" name="Google Shape;8829;p397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0" name="Google Shape;8830;p397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1" name="Google Shape;8831;p397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2" name="Google Shape;8832;p397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33" name="Google Shape;8833;p397"/>
          <p:cNvCxnSpPr>
            <a:stCxn id="8829" idx="3"/>
            <a:endCxn id="8830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34" name="Google Shape;8834;p397"/>
          <p:cNvCxnSpPr>
            <a:stCxn id="8832" idx="0"/>
            <a:endCxn id="8830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35" name="Google Shape;8835;p397"/>
          <p:cNvCxnSpPr>
            <a:stCxn id="8829" idx="5"/>
            <a:endCxn id="8831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36" name="Google Shape;8836;p397"/>
          <p:cNvCxnSpPr>
            <a:stCxn id="8831" idx="2"/>
            <a:endCxn id="8830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37" name="Google Shape;8837;p397"/>
          <p:cNvCxnSpPr>
            <a:stCxn id="8831" idx="3"/>
            <a:endCxn id="8832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38" name="Google Shape;8838;p397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9" name="Google Shape;8839;p397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0" name="Google Shape;8840;p397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41" name="Google Shape;8841;p397"/>
          <p:cNvCxnSpPr>
            <a:stCxn id="8838" idx="3"/>
            <a:endCxn id="8839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42" name="Google Shape;8842;p397"/>
          <p:cNvCxnSpPr>
            <a:stCxn id="8838" idx="5"/>
            <a:endCxn id="8840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43" name="Google Shape;8843;p397"/>
          <p:cNvCxnSpPr>
            <a:stCxn id="8840" idx="2"/>
            <a:endCxn id="8839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44" name="Google Shape;8844;p397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45" name="Google Shape;8845;p397"/>
          <p:cNvCxnSpPr>
            <a:stCxn id="8844" idx="2"/>
            <a:endCxn id="8839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46" name="Google Shape;8846;p397"/>
          <p:cNvCxnSpPr>
            <a:stCxn id="8844" idx="0"/>
            <a:endCxn id="8838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47" name="Google Shape;8847;p397"/>
          <p:cNvCxnSpPr>
            <a:stCxn id="8831" idx="4"/>
            <a:endCxn id="8840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51" name="Shape 8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852" name="Google Shape;8852;p398"/>
          <p:cNvCxnSpPr>
            <a:stCxn id="8853" idx="6"/>
            <a:endCxn id="8854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55" name="Google Shape;8855;p398"/>
          <p:cNvCxnSpPr>
            <a:stCxn id="8856" idx="5"/>
            <a:endCxn id="8857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58" name="Google Shape;8858;p398"/>
          <p:cNvCxnSpPr>
            <a:stCxn id="8856" idx="7"/>
            <a:endCxn id="8859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60" name="Google Shape;8860;p398"/>
          <p:cNvCxnSpPr>
            <a:stCxn id="8856" idx="2"/>
            <a:endCxn id="8861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62" name="Google Shape;8862;p398"/>
          <p:cNvCxnSpPr>
            <a:stCxn id="8854" idx="5"/>
            <a:endCxn id="8863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64" name="Google Shape;8864;p398"/>
          <p:cNvCxnSpPr>
            <a:stCxn id="8865" idx="3"/>
            <a:endCxn id="8854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66" name="Google Shape;8866;p39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867" name="Google Shape;8867;p398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nodes are more “important” because they serve as the connectors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k-connected</a:t>
            </a:r>
            <a:r>
              <a:rPr lang="en"/>
              <a:t> if it takes removing </a:t>
            </a:r>
            <a:r>
              <a:rPr i="1" lang="en"/>
              <a:t>k </a:t>
            </a:r>
            <a:r>
              <a:rPr lang="en"/>
              <a:t>nodes to disconnect it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8" name="Google Shape;8868;p398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1" name="Google Shape;8861;p398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6" name="Google Shape;8856;p398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3" name="Google Shape;8853;p398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69" name="Google Shape;8869;p398"/>
          <p:cNvCxnSpPr>
            <a:stCxn id="8868" idx="3"/>
            <a:endCxn id="8861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70" name="Google Shape;8870;p398"/>
          <p:cNvCxnSpPr>
            <a:stCxn id="8853" idx="1"/>
            <a:endCxn id="8861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71" name="Google Shape;8871;p398"/>
          <p:cNvCxnSpPr>
            <a:stCxn id="8868" idx="4"/>
            <a:endCxn id="8853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72" name="Google Shape;8872;p398"/>
          <p:cNvCxnSpPr>
            <a:stCxn id="8868" idx="5"/>
            <a:endCxn id="8856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73" name="Google Shape;8873;p398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4" name="Google Shape;8874;p398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5" name="Google Shape;8875;p398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9" name="Google Shape;8859;p398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76" name="Google Shape;8876;p398"/>
          <p:cNvCxnSpPr>
            <a:stCxn id="8873" idx="3"/>
            <a:endCxn id="8874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77" name="Google Shape;8877;p398"/>
          <p:cNvCxnSpPr>
            <a:stCxn id="8859" idx="0"/>
            <a:endCxn id="8874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78" name="Google Shape;8878;p398"/>
          <p:cNvCxnSpPr>
            <a:stCxn id="8873" idx="5"/>
            <a:endCxn id="8875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79" name="Google Shape;8879;p398"/>
          <p:cNvCxnSpPr>
            <a:stCxn id="8875" idx="2"/>
            <a:endCxn id="8874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65" name="Google Shape;8865;p398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80" name="Google Shape;8880;p398"/>
          <p:cNvCxnSpPr>
            <a:stCxn id="8865" idx="0"/>
            <a:endCxn id="8874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81" name="Google Shape;8881;p398"/>
          <p:cNvCxnSpPr>
            <a:stCxn id="8875" idx="3"/>
            <a:endCxn id="8859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82" name="Google Shape;8882;p398"/>
          <p:cNvCxnSpPr>
            <a:stCxn id="8875" idx="3"/>
            <a:endCxn id="8865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83" name="Google Shape;8883;p398"/>
          <p:cNvCxnSpPr>
            <a:stCxn id="8873" idx="4"/>
            <a:endCxn id="8865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54" name="Google Shape;8854;p398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7" name="Google Shape;8857;p398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3" name="Google Shape;8863;p398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84" name="Google Shape;8884;p398"/>
          <p:cNvCxnSpPr>
            <a:stCxn id="8854" idx="3"/>
            <a:endCxn id="8857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85" name="Google Shape;8885;p398"/>
          <p:cNvCxnSpPr>
            <a:stCxn id="8863" idx="2"/>
            <a:endCxn id="8857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86" name="Google Shape;8886;p398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87" name="Google Shape;8887;p398"/>
          <p:cNvCxnSpPr>
            <a:stCxn id="8886" idx="2"/>
            <a:endCxn id="8857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88" name="Google Shape;8888;p398"/>
          <p:cNvCxnSpPr>
            <a:stCxn id="8886" idx="0"/>
            <a:endCxn id="8854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89" name="Google Shape;8889;p398"/>
          <p:cNvCxnSpPr>
            <a:stCxn id="8890" idx="0"/>
            <a:endCxn id="8856" idx="4"/>
          </p:cNvCxnSpPr>
          <p:nvPr/>
        </p:nvCxnSpPr>
        <p:spPr>
          <a:xfrm flipH="1" rot="10800000">
            <a:off x="5617675" y="2700925"/>
            <a:ext cx="838500" cy="1696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8890" name="Google Shape;8890;p398"/>
          <p:cNvSpPr txBox="1"/>
          <p:nvPr/>
        </p:nvSpPr>
        <p:spPr>
          <a:xfrm>
            <a:off x="4393675" y="4397125"/>
            <a:ext cx="24480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is 3-connected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8891" name="Google Shape;8891;p398"/>
          <p:cNvCxnSpPr>
            <a:stCxn id="8868" idx="6"/>
            <a:endCxn id="8865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892" name="Google Shape;8892;p398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8893" name="Google Shape;8893;p398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94" name="Google Shape;8894;p398"/>
            <p:cNvCxnSpPr>
              <a:stCxn id="8893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95" name="Google Shape;8895;p398"/>
            <p:cNvCxnSpPr>
              <a:endCxn id="8893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96" name="Google Shape;8896;p398"/>
            <p:cNvCxnSpPr>
              <a:stCxn id="8893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cxnSp>
        <p:nvCxnSpPr>
          <p:cNvPr id="8897" name="Google Shape;8897;p398"/>
          <p:cNvCxnSpPr>
            <a:stCxn id="8890" idx="0"/>
            <a:endCxn id="8854" idx="2"/>
          </p:cNvCxnSpPr>
          <p:nvPr/>
        </p:nvCxnSpPr>
        <p:spPr>
          <a:xfrm flipH="1" rot="10800000">
            <a:off x="5617675" y="3243925"/>
            <a:ext cx="2114400" cy="1153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8898" name="Google Shape;8898;p398"/>
          <p:cNvCxnSpPr>
            <a:stCxn id="8890" idx="0"/>
            <a:endCxn id="8865" idx="3"/>
          </p:cNvCxnSpPr>
          <p:nvPr/>
        </p:nvCxnSpPr>
        <p:spPr>
          <a:xfrm flipH="1" rot="10800000">
            <a:off x="5617675" y="1952425"/>
            <a:ext cx="2228400" cy="244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8899" name="Google Shape;8899;p398"/>
          <p:cNvCxnSpPr>
            <a:stCxn id="8865" idx="5"/>
            <a:endCxn id="8863" idx="0"/>
          </p:cNvCxnSpPr>
          <p:nvPr/>
        </p:nvCxnSpPr>
        <p:spPr>
          <a:xfrm>
            <a:off x="7967164" y="1952351"/>
            <a:ext cx="645000" cy="1493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03" name="Shape 8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4" name="Google Shape;8904;p39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905" name="Google Shape;8905;p399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nodes are more “important” because they serve as the connectors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k-connected</a:t>
            </a:r>
            <a:r>
              <a:rPr lang="en"/>
              <a:t> if it takes removing </a:t>
            </a:r>
            <a:r>
              <a:rPr i="1" lang="en"/>
              <a:t>k </a:t>
            </a:r>
            <a:r>
              <a:rPr lang="en"/>
              <a:t>nodes to disconnect it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6" name="Google Shape;8906;p399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7" name="Google Shape;8907;p399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8" name="Google Shape;8908;p399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09" name="Google Shape;8909;p399"/>
          <p:cNvCxnSpPr>
            <a:stCxn id="8906" idx="3"/>
            <a:endCxn id="8907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10" name="Google Shape;8910;p399"/>
          <p:cNvCxnSpPr>
            <a:stCxn id="8908" idx="1"/>
            <a:endCxn id="8907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11" name="Google Shape;8911;p399"/>
          <p:cNvCxnSpPr>
            <a:stCxn id="8906" idx="4"/>
            <a:endCxn id="8908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12" name="Google Shape;8912;p399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3" name="Google Shape;8913;p399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4" name="Google Shape;8914;p399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5" name="Google Shape;8915;p399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16" name="Google Shape;8916;p399"/>
          <p:cNvCxnSpPr>
            <a:stCxn id="8912" idx="3"/>
            <a:endCxn id="8913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17" name="Google Shape;8917;p399"/>
          <p:cNvCxnSpPr>
            <a:stCxn id="8915" idx="0"/>
            <a:endCxn id="8913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18" name="Google Shape;8918;p399"/>
          <p:cNvCxnSpPr>
            <a:stCxn id="8912" idx="5"/>
            <a:endCxn id="8914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19" name="Google Shape;8919;p399"/>
          <p:cNvCxnSpPr>
            <a:stCxn id="8914" idx="2"/>
            <a:endCxn id="8913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20" name="Google Shape;8920;p399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21" name="Google Shape;8921;p399"/>
          <p:cNvCxnSpPr>
            <a:stCxn id="8920" idx="0"/>
            <a:endCxn id="8913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22" name="Google Shape;8922;p399"/>
          <p:cNvCxnSpPr>
            <a:stCxn id="8914" idx="3"/>
            <a:endCxn id="8915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23" name="Google Shape;8923;p399"/>
          <p:cNvCxnSpPr>
            <a:stCxn id="8914" idx="3"/>
            <a:endCxn id="8920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24" name="Google Shape;8924;p399"/>
          <p:cNvCxnSpPr>
            <a:stCxn id="8912" idx="4"/>
            <a:endCxn id="8920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25" name="Google Shape;8925;p399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6" name="Google Shape;8926;p399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27" name="Google Shape;8927;p399"/>
          <p:cNvCxnSpPr>
            <a:stCxn id="8926" idx="2"/>
            <a:endCxn id="8925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28" name="Google Shape;8928;p399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29" name="Google Shape;8929;p399"/>
          <p:cNvCxnSpPr>
            <a:stCxn id="8928" idx="2"/>
            <a:endCxn id="8925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30" name="Google Shape;8930;p399"/>
          <p:cNvSpPr txBox="1"/>
          <p:nvPr/>
        </p:nvSpPr>
        <p:spPr>
          <a:xfrm>
            <a:off x="4393675" y="4397125"/>
            <a:ext cx="24480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is 3-connected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8931" name="Google Shape;8931;p399"/>
          <p:cNvCxnSpPr>
            <a:stCxn id="8906" idx="6"/>
            <a:endCxn id="8920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932" name="Google Shape;8932;p399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8933" name="Google Shape;8933;p399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34" name="Google Shape;8934;p399"/>
            <p:cNvCxnSpPr>
              <a:stCxn id="8933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35" name="Google Shape;8935;p399"/>
            <p:cNvCxnSpPr>
              <a:endCxn id="8933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36" name="Google Shape;8936;p399"/>
            <p:cNvCxnSpPr>
              <a:stCxn id="8933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cxnSp>
        <p:nvCxnSpPr>
          <p:cNvPr id="8937" name="Google Shape;8937;p399"/>
          <p:cNvCxnSpPr/>
          <p:nvPr/>
        </p:nvCxnSpPr>
        <p:spPr>
          <a:xfrm>
            <a:off x="7967164" y="1952351"/>
            <a:ext cx="645000" cy="1493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41" name="Shape 8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2" name="Google Shape;8942;p40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 connectivity</a:t>
            </a:r>
            <a:endParaRPr/>
          </a:p>
        </p:txBody>
      </p:sp>
      <p:sp>
        <p:nvSpPr>
          <p:cNvPr id="8943" name="Google Shape;8943;p400"/>
          <p:cNvSpPr txBox="1"/>
          <p:nvPr>
            <p:ph idx="1" type="body"/>
          </p:nvPr>
        </p:nvSpPr>
        <p:spPr>
          <a:xfrm>
            <a:off x="311700" y="1225225"/>
            <a:ext cx="4314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disconnect a graph by removing </a:t>
            </a:r>
            <a:r>
              <a:rPr b="1" lang="en"/>
              <a:t>nodes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nodes are more “important” because they serve as the connectors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graph is </a:t>
            </a:r>
            <a:r>
              <a:rPr b="1" lang="en"/>
              <a:t>k-connected</a:t>
            </a:r>
            <a:r>
              <a:rPr lang="en"/>
              <a:t> if it takes removing </a:t>
            </a:r>
            <a:r>
              <a:rPr i="1" lang="en"/>
              <a:t>k </a:t>
            </a:r>
            <a:r>
              <a:rPr lang="en"/>
              <a:t>nodes to disconnect it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4" name="Google Shape;8944;p400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5" name="Google Shape;8945;p400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6" name="Google Shape;8946;p400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47" name="Google Shape;8947;p400"/>
          <p:cNvCxnSpPr>
            <a:stCxn id="8944" idx="3"/>
            <a:endCxn id="8945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48" name="Google Shape;8948;p400"/>
          <p:cNvCxnSpPr>
            <a:stCxn id="8946" idx="1"/>
            <a:endCxn id="8945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49" name="Google Shape;8949;p400"/>
          <p:cNvCxnSpPr>
            <a:stCxn id="8944" idx="4"/>
            <a:endCxn id="8946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50" name="Google Shape;8950;p400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1" name="Google Shape;8951;p400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2" name="Google Shape;8952;p400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3" name="Google Shape;8953;p400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54" name="Google Shape;8954;p400"/>
          <p:cNvCxnSpPr>
            <a:stCxn id="8950" idx="3"/>
            <a:endCxn id="8951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55" name="Google Shape;8955;p400"/>
          <p:cNvCxnSpPr>
            <a:stCxn id="8953" idx="0"/>
            <a:endCxn id="8951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56" name="Google Shape;8956;p400"/>
          <p:cNvCxnSpPr>
            <a:stCxn id="8950" idx="5"/>
            <a:endCxn id="8952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57" name="Google Shape;8957;p400"/>
          <p:cNvCxnSpPr>
            <a:stCxn id="8952" idx="2"/>
            <a:endCxn id="8951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58" name="Google Shape;8958;p400"/>
          <p:cNvCxnSpPr>
            <a:stCxn id="8952" idx="3"/>
            <a:endCxn id="8953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59" name="Google Shape;8959;p400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0" name="Google Shape;8960;p400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61" name="Google Shape;8961;p400"/>
          <p:cNvCxnSpPr>
            <a:stCxn id="8960" idx="2"/>
            <a:endCxn id="8959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62" name="Google Shape;8962;p400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963" name="Google Shape;8963;p400"/>
          <p:cNvCxnSpPr>
            <a:stCxn id="8962" idx="2"/>
            <a:endCxn id="8959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64" name="Google Shape;8964;p400"/>
          <p:cNvSpPr txBox="1"/>
          <p:nvPr/>
        </p:nvSpPr>
        <p:spPr>
          <a:xfrm>
            <a:off x="4393675" y="4397125"/>
            <a:ext cx="2448000" cy="3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graph is 3-connected</a:t>
            </a:r>
            <a:endParaRPr b="1">
              <a:solidFill>
                <a:srgbClr val="FF0000"/>
              </a:solidFill>
            </a:endParaRPr>
          </a:p>
        </p:txBody>
      </p:sp>
      <p:grpSp>
        <p:nvGrpSpPr>
          <p:cNvPr id="8965" name="Google Shape;8965;p400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8966" name="Google Shape;8966;p400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67" name="Google Shape;8967;p400"/>
            <p:cNvCxnSpPr>
              <a:stCxn id="8966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8" name="Google Shape;8968;p400"/>
            <p:cNvCxnSpPr>
              <a:endCxn id="8966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9" name="Google Shape;8969;p400"/>
            <p:cNvCxnSpPr>
              <a:stCxn id="8966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73" name="Shape 8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4" name="Google Shape;8974;p40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  <p:sp>
        <p:nvSpPr>
          <p:cNvPr id="8975" name="Google Shape;8975;p401"/>
          <p:cNvSpPr txBox="1"/>
          <p:nvPr>
            <p:ph idx="1" type="body"/>
          </p:nvPr>
        </p:nvSpPr>
        <p:spPr>
          <a:xfrm>
            <a:off x="311700" y="1225225"/>
            <a:ext cx="452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Some graphs are </a:t>
            </a:r>
            <a:r>
              <a:rPr b="1" lang="en"/>
              <a:t>easy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Only require the removal of a </a:t>
            </a:r>
            <a:r>
              <a:rPr b="1" lang="en"/>
              <a:t>few</a:t>
            </a:r>
            <a:r>
              <a:rPr lang="en"/>
              <a:t> links or nodes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Others are </a:t>
            </a:r>
            <a:r>
              <a:rPr b="1" lang="en"/>
              <a:t>hard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Requires the removal of a </a:t>
            </a:r>
            <a:r>
              <a:rPr b="1" lang="en"/>
              <a:t>lot</a:t>
            </a:r>
            <a:r>
              <a:rPr lang="en"/>
              <a:t> of links or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edge-cutset </a:t>
            </a:r>
            <a:r>
              <a:rPr lang="en"/>
              <a:t>is the </a:t>
            </a:r>
            <a:r>
              <a:rPr b="1" lang="en"/>
              <a:t>minimum</a:t>
            </a:r>
            <a:r>
              <a:rPr lang="en"/>
              <a:t> number of </a:t>
            </a:r>
            <a:r>
              <a:rPr b="1" lang="en"/>
              <a:t>edges</a:t>
            </a:r>
            <a:r>
              <a:rPr lang="en"/>
              <a:t> required to </a:t>
            </a:r>
            <a:r>
              <a:rPr b="1" lang="en"/>
              <a:t>disconnect</a:t>
            </a:r>
            <a:r>
              <a:rPr lang="en"/>
              <a:t> a graph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What’s the edge-cutset of the graph on the right?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6" name="Google Shape;8976;p401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8977" name="Google Shape;8977;p401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401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401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401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81" name="Google Shape;8981;p401"/>
            <p:cNvCxnSpPr>
              <a:stCxn id="8977" idx="3"/>
              <a:endCxn id="8978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82" name="Google Shape;8982;p401"/>
            <p:cNvCxnSpPr>
              <a:stCxn id="8980" idx="1"/>
              <a:endCxn id="8978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83" name="Google Shape;8983;p401"/>
            <p:cNvCxnSpPr>
              <a:stCxn id="8977" idx="4"/>
              <a:endCxn id="8980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84" name="Google Shape;8984;p401"/>
            <p:cNvCxnSpPr>
              <a:stCxn id="8977" idx="5"/>
              <a:endCxn id="8979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85" name="Google Shape;8985;p401"/>
            <p:cNvCxnSpPr>
              <a:stCxn id="8979" idx="2"/>
              <a:endCxn id="8978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86" name="Google Shape;8986;p401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401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401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401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90" name="Google Shape;8990;p401"/>
            <p:cNvCxnSpPr>
              <a:stCxn id="8986" idx="3"/>
              <a:endCxn id="8987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91" name="Google Shape;8991;p401"/>
            <p:cNvCxnSpPr>
              <a:stCxn id="8989" idx="0"/>
              <a:endCxn id="8987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92" name="Google Shape;8992;p401"/>
            <p:cNvCxnSpPr>
              <a:stCxn id="8986" idx="5"/>
              <a:endCxn id="8988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93" name="Google Shape;8993;p401"/>
            <p:cNvCxnSpPr>
              <a:stCxn id="8988" idx="2"/>
              <a:endCxn id="8987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94" name="Google Shape;8994;p401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95" name="Google Shape;8995;p401"/>
            <p:cNvCxnSpPr>
              <a:stCxn id="8994" idx="0"/>
              <a:endCxn id="8987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96" name="Google Shape;8996;p401"/>
            <p:cNvCxnSpPr>
              <a:stCxn id="8988" idx="3"/>
              <a:endCxn id="8989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97" name="Google Shape;8997;p401"/>
            <p:cNvCxnSpPr>
              <a:stCxn id="8988" idx="3"/>
              <a:endCxn id="8994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98" name="Google Shape;8998;p401"/>
            <p:cNvCxnSpPr>
              <a:stCxn id="8986" idx="4"/>
              <a:endCxn id="8994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99" name="Google Shape;8999;p401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401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401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401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03" name="Google Shape;9003;p401"/>
            <p:cNvCxnSpPr>
              <a:stCxn id="8999" idx="3"/>
              <a:endCxn id="9000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04" name="Google Shape;9004;p401"/>
            <p:cNvCxnSpPr>
              <a:stCxn id="9002" idx="0"/>
              <a:endCxn id="9000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05" name="Google Shape;9005;p401"/>
            <p:cNvCxnSpPr>
              <a:stCxn id="8999" idx="5"/>
              <a:endCxn id="9001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06" name="Google Shape;9006;p401"/>
            <p:cNvCxnSpPr>
              <a:stCxn id="9001" idx="2"/>
              <a:endCxn id="9000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07" name="Google Shape;9007;p401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08" name="Google Shape;9008;p401"/>
            <p:cNvCxnSpPr>
              <a:stCxn id="9001" idx="3"/>
              <a:endCxn id="9002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09" name="Google Shape;9009;p401"/>
            <p:cNvCxnSpPr>
              <a:stCxn id="9007" idx="2"/>
              <a:endCxn id="9000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0" name="Google Shape;9010;p401"/>
            <p:cNvCxnSpPr>
              <a:stCxn id="9007" idx="0"/>
              <a:endCxn id="8999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1" name="Google Shape;9011;p401"/>
            <p:cNvCxnSpPr>
              <a:stCxn id="9002" idx="6"/>
              <a:endCxn id="9007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2" name="Google Shape;9012;p401"/>
            <p:cNvCxnSpPr>
              <a:stCxn id="8979" idx="5"/>
              <a:endCxn id="9000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3" name="Google Shape;9013;p401"/>
            <p:cNvCxnSpPr>
              <a:stCxn id="8979" idx="7"/>
              <a:endCxn id="8989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4" name="Google Shape;9014;p401"/>
            <p:cNvCxnSpPr>
              <a:stCxn id="8994" idx="3"/>
              <a:endCxn id="8999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5" name="Google Shape;9015;p401"/>
            <p:cNvCxnSpPr>
              <a:stCxn id="8988" idx="4"/>
              <a:endCxn id="9001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19" name="Shape 9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0" name="Google Shape;9020;p40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  <p:sp>
        <p:nvSpPr>
          <p:cNvPr id="9021" name="Google Shape;9021;p402"/>
          <p:cNvSpPr txBox="1"/>
          <p:nvPr>
            <p:ph idx="1" type="body"/>
          </p:nvPr>
        </p:nvSpPr>
        <p:spPr>
          <a:xfrm>
            <a:off x="311700" y="1225225"/>
            <a:ext cx="452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Some graphs are </a:t>
            </a:r>
            <a:r>
              <a:rPr b="1" lang="en"/>
              <a:t>easy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Only require the removal of a </a:t>
            </a:r>
            <a:r>
              <a:rPr b="1" lang="en"/>
              <a:t>few</a:t>
            </a:r>
            <a:r>
              <a:rPr lang="en"/>
              <a:t> links or nodes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Others are </a:t>
            </a:r>
            <a:r>
              <a:rPr b="1" lang="en"/>
              <a:t>hard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Requires the removal of a </a:t>
            </a:r>
            <a:r>
              <a:rPr b="1" lang="en"/>
              <a:t>lot</a:t>
            </a:r>
            <a:r>
              <a:rPr lang="en"/>
              <a:t> of links or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edge-cutset </a:t>
            </a:r>
            <a:r>
              <a:rPr lang="en"/>
              <a:t>is the </a:t>
            </a:r>
            <a:r>
              <a:rPr b="1" lang="en"/>
              <a:t>minimum</a:t>
            </a:r>
            <a:r>
              <a:rPr lang="en"/>
              <a:t> number of </a:t>
            </a:r>
            <a:r>
              <a:rPr b="1" lang="en"/>
              <a:t>edges</a:t>
            </a:r>
            <a:r>
              <a:rPr lang="en"/>
              <a:t> required to </a:t>
            </a:r>
            <a:r>
              <a:rPr b="1" lang="en"/>
              <a:t>disconnect</a:t>
            </a:r>
            <a:r>
              <a:rPr lang="en"/>
              <a:t> a graph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What’s the </a:t>
            </a:r>
            <a:r>
              <a:rPr b="1" lang="en">
                <a:solidFill>
                  <a:srgbClr val="0000FF"/>
                </a:solidFill>
              </a:rPr>
              <a:t>edge-cutset</a:t>
            </a:r>
            <a:r>
              <a:rPr b="1" lang="en">
                <a:solidFill>
                  <a:srgbClr val="FF0000"/>
                </a:solidFill>
              </a:rPr>
              <a:t> of the graph on the right?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2" name="Google Shape;9022;p402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9023" name="Google Shape;9023;p402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402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402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402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27" name="Google Shape;9027;p402"/>
            <p:cNvCxnSpPr>
              <a:stCxn id="9023" idx="3"/>
              <a:endCxn id="9024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28" name="Google Shape;9028;p402"/>
            <p:cNvCxnSpPr>
              <a:stCxn id="9026" idx="1"/>
              <a:endCxn id="9024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29" name="Google Shape;9029;p402"/>
            <p:cNvCxnSpPr>
              <a:stCxn id="9023" idx="4"/>
              <a:endCxn id="9026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0" name="Google Shape;9030;p402"/>
            <p:cNvCxnSpPr>
              <a:stCxn id="9023" idx="5"/>
              <a:endCxn id="9025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1" name="Google Shape;9031;p402"/>
            <p:cNvCxnSpPr>
              <a:stCxn id="9025" idx="2"/>
              <a:endCxn id="9024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32" name="Google Shape;9032;p402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402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402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402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36" name="Google Shape;9036;p402"/>
            <p:cNvCxnSpPr>
              <a:stCxn id="9032" idx="3"/>
              <a:endCxn id="9033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7" name="Google Shape;9037;p402"/>
            <p:cNvCxnSpPr>
              <a:stCxn id="9035" idx="0"/>
              <a:endCxn id="9033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8" name="Google Shape;9038;p402"/>
            <p:cNvCxnSpPr>
              <a:stCxn id="9032" idx="5"/>
              <a:endCxn id="9034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9" name="Google Shape;9039;p402"/>
            <p:cNvCxnSpPr>
              <a:stCxn id="9034" idx="2"/>
              <a:endCxn id="9033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40" name="Google Shape;9040;p402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41" name="Google Shape;9041;p402"/>
            <p:cNvCxnSpPr>
              <a:stCxn id="9040" idx="0"/>
              <a:endCxn id="9033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42" name="Google Shape;9042;p402"/>
            <p:cNvCxnSpPr>
              <a:stCxn id="9034" idx="3"/>
              <a:endCxn id="9035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43" name="Google Shape;9043;p402"/>
            <p:cNvCxnSpPr>
              <a:stCxn id="9034" idx="3"/>
              <a:endCxn id="9040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44" name="Google Shape;9044;p402"/>
            <p:cNvCxnSpPr>
              <a:stCxn id="9032" idx="4"/>
              <a:endCxn id="9040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45" name="Google Shape;9045;p402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402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402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402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49" name="Google Shape;9049;p402"/>
            <p:cNvCxnSpPr>
              <a:stCxn id="9045" idx="3"/>
              <a:endCxn id="9046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0" name="Google Shape;9050;p402"/>
            <p:cNvCxnSpPr>
              <a:stCxn id="9048" idx="0"/>
              <a:endCxn id="9046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1" name="Google Shape;9051;p402"/>
            <p:cNvCxnSpPr>
              <a:stCxn id="9045" idx="5"/>
              <a:endCxn id="9047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2" name="Google Shape;9052;p402"/>
            <p:cNvCxnSpPr>
              <a:stCxn id="9047" idx="2"/>
              <a:endCxn id="9046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53" name="Google Shape;9053;p402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54" name="Google Shape;9054;p402"/>
            <p:cNvCxnSpPr>
              <a:stCxn id="9047" idx="3"/>
              <a:endCxn id="9048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5" name="Google Shape;9055;p402"/>
            <p:cNvCxnSpPr>
              <a:stCxn id="9053" idx="2"/>
              <a:endCxn id="9046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6" name="Google Shape;9056;p402"/>
            <p:cNvCxnSpPr>
              <a:stCxn id="9053" idx="0"/>
              <a:endCxn id="9045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7" name="Google Shape;9057;p402"/>
            <p:cNvCxnSpPr>
              <a:stCxn id="9048" idx="6"/>
              <a:endCxn id="9053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8" name="Google Shape;9058;p402"/>
            <p:cNvCxnSpPr>
              <a:stCxn id="9025" idx="5"/>
              <a:endCxn id="9046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38100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9" name="Google Shape;9059;p402"/>
            <p:cNvCxnSpPr>
              <a:stCxn id="9025" idx="7"/>
              <a:endCxn id="9035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38100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60" name="Google Shape;9060;p402"/>
            <p:cNvCxnSpPr>
              <a:stCxn id="9040" idx="3"/>
              <a:endCxn id="9045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61" name="Google Shape;9061;p402"/>
            <p:cNvCxnSpPr>
              <a:stCxn id="9034" idx="4"/>
              <a:endCxn id="9047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062" name="Google Shape;9062;p402"/>
          <p:cNvSpPr txBox="1"/>
          <p:nvPr/>
        </p:nvSpPr>
        <p:spPr>
          <a:xfrm>
            <a:off x="4879450" y="4108775"/>
            <a:ext cx="17049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</a:rPr>
              <a:t>|Edge-cutset| = 2</a:t>
            </a:r>
            <a:endParaRPr b="1">
              <a:solidFill>
                <a:srgbClr val="0000FF"/>
              </a:solidFill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66" name="Shape 9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7" name="Google Shape;9067;p40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  <p:sp>
        <p:nvSpPr>
          <p:cNvPr id="9068" name="Google Shape;9068;p403"/>
          <p:cNvSpPr txBox="1"/>
          <p:nvPr>
            <p:ph idx="1" type="body"/>
          </p:nvPr>
        </p:nvSpPr>
        <p:spPr>
          <a:xfrm>
            <a:off x="311700" y="1225225"/>
            <a:ext cx="452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Some graphs are </a:t>
            </a:r>
            <a:r>
              <a:rPr b="1" lang="en"/>
              <a:t>easy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Only require the removal of a </a:t>
            </a:r>
            <a:r>
              <a:rPr b="1" lang="en"/>
              <a:t>few</a:t>
            </a:r>
            <a:r>
              <a:rPr lang="en"/>
              <a:t> links or nodes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Others are </a:t>
            </a:r>
            <a:r>
              <a:rPr b="1" lang="en"/>
              <a:t>hard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Requires the removal of a </a:t>
            </a:r>
            <a:r>
              <a:rPr b="1" lang="en"/>
              <a:t>lot</a:t>
            </a:r>
            <a:r>
              <a:rPr lang="en"/>
              <a:t> of links or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edge-cutset </a:t>
            </a:r>
            <a:r>
              <a:rPr lang="en"/>
              <a:t>is the </a:t>
            </a:r>
            <a:r>
              <a:rPr b="1" lang="en"/>
              <a:t>minimum</a:t>
            </a:r>
            <a:r>
              <a:rPr lang="en"/>
              <a:t> number of </a:t>
            </a:r>
            <a:r>
              <a:rPr b="1" lang="en"/>
              <a:t>edges</a:t>
            </a:r>
            <a:r>
              <a:rPr lang="en"/>
              <a:t> required to </a:t>
            </a:r>
            <a:r>
              <a:rPr b="1" lang="en"/>
              <a:t>disconnect</a:t>
            </a:r>
            <a:r>
              <a:rPr lang="en"/>
              <a:t> a graph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What’s the </a:t>
            </a:r>
            <a:r>
              <a:rPr b="1" lang="en">
                <a:solidFill>
                  <a:srgbClr val="0000FF"/>
                </a:solidFill>
              </a:rPr>
              <a:t>edge-cutset</a:t>
            </a:r>
            <a:r>
              <a:rPr b="1" lang="en">
                <a:solidFill>
                  <a:srgbClr val="FF0000"/>
                </a:solidFill>
              </a:rPr>
              <a:t> of the graph on the right?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9" name="Google Shape;9069;p403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9070" name="Google Shape;9070;p403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403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403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403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74" name="Google Shape;9074;p403"/>
            <p:cNvCxnSpPr>
              <a:stCxn id="9070" idx="3"/>
              <a:endCxn id="9071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75" name="Google Shape;9075;p403"/>
            <p:cNvCxnSpPr>
              <a:stCxn id="9073" idx="1"/>
              <a:endCxn id="9071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76" name="Google Shape;9076;p403"/>
            <p:cNvCxnSpPr>
              <a:stCxn id="9070" idx="4"/>
              <a:endCxn id="9073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77" name="Google Shape;9077;p403"/>
            <p:cNvCxnSpPr>
              <a:stCxn id="9070" idx="5"/>
              <a:endCxn id="9072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78" name="Google Shape;9078;p403"/>
            <p:cNvCxnSpPr>
              <a:stCxn id="9072" idx="2"/>
              <a:endCxn id="9071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79" name="Google Shape;9079;p403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403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403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403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83" name="Google Shape;9083;p403"/>
            <p:cNvCxnSpPr>
              <a:stCxn id="9079" idx="3"/>
              <a:endCxn id="9080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84" name="Google Shape;9084;p403"/>
            <p:cNvCxnSpPr>
              <a:stCxn id="9082" idx="0"/>
              <a:endCxn id="9080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85" name="Google Shape;9085;p403"/>
            <p:cNvCxnSpPr>
              <a:stCxn id="9079" idx="5"/>
              <a:endCxn id="9081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86" name="Google Shape;9086;p403"/>
            <p:cNvCxnSpPr>
              <a:stCxn id="9081" idx="2"/>
              <a:endCxn id="9080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87" name="Google Shape;9087;p403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88" name="Google Shape;9088;p403"/>
            <p:cNvCxnSpPr>
              <a:stCxn id="9087" idx="0"/>
              <a:endCxn id="9080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89" name="Google Shape;9089;p403"/>
            <p:cNvCxnSpPr>
              <a:stCxn id="9081" idx="3"/>
              <a:endCxn id="9082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90" name="Google Shape;9090;p403"/>
            <p:cNvCxnSpPr>
              <a:stCxn id="9081" idx="3"/>
              <a:endCxn id="9087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91" name="Google Shape;9091;p403"/>
            <p:cNvCxnSpPr>
              <a:stCxn id="9079" idx="4"/>
              <a:endCxn id="9087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92" name="Google Shape;9092;p403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403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403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403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96" name="Google Shape;9096;p403"/>
            <p:cNvCxnSpPr>
              <a:stCxn id="9092" idx="3"/>
              <a:endCxn id="9093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97" name="Google Shape;9097;p403"/>
            <p:cNvCxnSpPr>
              <a:stCxn id="9095" idx="0"/>
              <a:endCxn id="9093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98" name="Google Shape;9098;p403"/>
            <p:cNvCxnSpPr>
              <a:stCxn id="9092" idx="5"/>
              <a:endCxn id="9094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99" name="Google Shape;9099;p403"/>
            <p:cNvCxnSpPr>
              <a:stCxn id="9094" idx="2"/>
              <a:endCxn id="9093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00" name="Google Shape;9100;p403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01" name="Google Shape;9101;p403"/>
            <p:cNvCxnSpPr>
              <a:stCxn id="9094" idx="3"/>
              <a:endCxn id="9095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2" name="Google Shape;9102;p403"/>
            <p:cNvCxnSpPr>
              <a:stCxn id="9100" idx="2"/>
              <a:endCxn id="9093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3" name="Google Shape;9103;p403"/>
            <p:cNvCxnSpPr>
              <a:stCxn id="9100" idx="0"/>
              <a:endCxn id="9092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4" name="Google Shape;9104;p403"/>
            <p:cNvCxnSpPr>
              <a:stCxn id="9095" idx="6"/>
              <a:endCxn id="9100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5" name="Google Shape;9105;p403"/>
            <p:cNvCxnSpPr>
              <a:stCxn id="9087" idx="3"/>
              <a:endCxn id="9092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6" name="Google Shape;9106;p403"/>
            <p:cNvCxnSpPr>
              <a:stCxn id="9081" idx="4"/>
              <a:endCxn id="9094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107" name="Google Shape;9107;p403"/>
          <p:cNvSpPr txBox="1"/>
          <p:nvPr/>
        </p:nvSpPr>
        <p:spPr>
          <a:xfrm>
            <a:off x="4879450" y="4108775"/>
            <a:ext cx="17049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</a:rPr>
              <a:t>|Edge-cutset| = 2</a:t>
            </a:r>
            <a:endParaRPr b="1">
              <a:solidFill>
                <a:srgbClr val="0000FF"/>
              </a:solidFill>
            </a:endParaRPr>
          </a:p>
        </p:txBody>
      </p:sp>
      <p:sp>
        <p:nvSpPr>
          <p:cNvPr id="9108" name="Google Shape;9108;p403"/>
          <p:cNvSpPr txBox="1"/>
          <p:nvPr/>
        </p:nvSpPr>
        <p:spPr>
          <a:xfrm>
            <a:off x="4879450" y="1004700"/>
            <a:ext cx="17049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</a:rPr>
              <a:t>Disconnected!</a:t>
            </a:r>
            <a:endParaRPr b="1">
              <a:solidFill>
                <a:srgbClr val="0000FF"/>
              </a:solidFill>
            </a:endParaRPr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12" name="Shape 9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" name="Google Shape;9113;p40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  <p:sp>
        <p:nvSpPr>
          <p:cNvPr id="9114" name="Google Shape;9114;p404"/>
          <p:cNvSpPr txBox="1"/>
          <p:nvPr>
            <p:ph idx="1" type="body"/>
          </p:nvPr>
        </p:nvSpPr>
        <p:spPr>
          <a:xfrm>
            <a:off x="311700" y="1225225"/>
            <a:ext cx="452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Some graphs are </a:t>
            </a:r>
            <a:r>
              <a:rPr b="1" lang="en"/>
              <a:t>easy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Only require the removal of a </a:t>
            </a:r>
            <a:r>
              <a:rPr b="1" lang="en"/>
              <a:t>few</a:t>
            </a:r>
            <a:r>
              <a:rPr lang="en"/>
              <a:t> links or nodes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Others are </a:t>
            </a:r>
            <a:r>
              <a:rPr b="1" lang="en"/>
              <a:t>hard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Requires the removal of a </a:t>
            </a:r>
            <a:r>
              <a:rPr b="1" lang="en"/>
              <a:t>lot</a:t>
            </a:r>
            <a:r>
              <a:rPr lang="en"/>
              <a:t> of links or nodes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The </a:t>
            </a:r>
            <a:r>
              <a:rPr b="1" lang="en"/>
              <a:t>node-cutset </a:t>
            </a:r>
            <a:r>
              <a:rPr lang="en"/>
              <a:t>is the </a:t>
            </a:r>
            <a:r>
              <a:rPr b="1" lang="en"/>
              <a:t>minimum</a:t>
            </a:r>
            <a:r>
              <a:rPr lang="en"/>
              <a:t> number of </a:t>
            </a:r>
            <a:r>
              <a:rPr b="1" lang="en"/>
              <a:t>nodes</a:t>
            </a:r>
            <a:r>
              <a:rPr lang="en"/>
              <a:t> required to </a:t>
            </a:r>
            <a:r>
              <a:rPr b="1" lang="en"/>
              <a:t>disconnect</a:t>
            </a:r>
            <a:r>
              <a:rPr lang="en"/>
              <a:t> a graph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What’s the </a:t>
            </a:r>
            <a:r>
              <a:rPr b="1" lang="en">
                <a:solidFill>
                  <a:srgbClr val="0000FF"/>
                </a:solidFill>
              </a:rPr>
              <a:t>node-cutset</a:t>
            </a:r>
            <a:r>
              <a:rPr b="1" lang="en">
                <a:solidFill>
                  <a:srgbClr val="FF0000"/>
                </a:solidFill>
              </a:rPr>
              <a:t> of the graph on the right?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5" name="Google Shape;9115;p404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9116" name="Google Shape;9116;p404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404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404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404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20" name="Google Shape;9120;p404"/>
            <p:cNvCxnSpPr>
              <a:stCxn id="9116" idx="3"/>
              <a:endCxn id="9117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1" name="Google Shape;9121;p404"/>
            <p:cNvCxnSpPr>
              <a:stCxn id="9119" idx="1"/>
              <a:endCxn id="9117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2" name="Google Shape;9122;p404"/>
            <p:cNvCxnSpPr>
              <a:stCxn id="9116" idx="4"/>
              <a:endCxn id="9119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3" name="Google Shape;9123;p404"/>
            <p:cNvCxnSpPr>
              <a:stCxn id="9116" idx="5"/>
              <a:endCxn id="9118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4" name="Google Shape;9124;p404"/>
            <p:cNvCxnSpPr>
              <a:stCxn id="9118" idx="2"/>
              <a:endCxn id="9117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25" name="Google Shape;9125;p404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404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404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404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29" name="Google Shape;9129;p404"/>
            <p:cNvCxnSpPr>
              <a:stCxn id="9125" idx="3"/>
              <a:endCxn id="9126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30" name="Google Shape;9130;p404"/>
            <p:cNvCxnSpPr>
              <a:stCxn id="9128" idx="0"/>
              <a:endCxn id="9126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31" name="Google Shape;9131;p404"/>
            <p:cNvCxnSpPr>
              <a:stCxn id="9125" idx="5"/>
              <a:endCxn id="9127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32" name="Google Shape;9132;p404"/>
            <p:cNvCxnSpPr>
              <a:stCxn id="9127" idx="2"/>
              <a:endCxn id="9126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33" name="Google Shape;9133;p404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34" name="Google Shape;9134;p404"/>
            <p:cNvCxnSpPr>
              <a:stCxn id="9133" idx="0"/>
              <a:endCxn id="9126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35" name="Google Shape;9135;p404"/>
            <p:cNvCxnSpPr>
              <a:stCxn id="9127" idx="3"/>
              <a:endCxn id="9128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36" name="Google Shape;9136;p404"/>
            <p:cNvCxnSpPr>
              <a:stCxn id="9127" idx="3"/>
              <a:endCxn id="9133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37" name="Google Shape;9137;p404"/>
            <p:cNvCxnSpPr>
              <a:stCxn id="9125" idx="4"/>
              <a:endCxn id="9133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38" name="Google Shape;9138;p404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404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404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404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42" name="Google Shape;9142;p404"/>
            <p:cNvCxnSpPr>
              <a:stCxn id="9138" idx="3"/>
              <a:endCxn id="9139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43" name="Google Shape;9143;p404"/>
            <p:cNvCxnSpPr>
              <a:stCxn id="9141" idx="0"/>
              <a:endCxn id="9139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44" name="Google Shape;9144;p404"/>
            <p:cNvCxnSpPr>
              <a:stCxn id="9138" idx="5"/>
              <a:endCxn id="9140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45" name="Google Shape;9145;p404"/>
            <p:cNvCxnSpPr>
              <a:stCxn id="9140" idx="2"/>
              <a:endCxn id="9139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46" name="Google Shape;9146;p404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47" name="Google Shape;9147;p404"/>
            <p:cNvCxnSpPr>
              <a:stCxn id="9140" idx="3"/>
              <a:endCxn id="9141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48" name="Google Shape;9148;p404"/>
            <p:cNvCxnSpPr>
              <a:stCxn id="9146" idx="2"/>
              <a:endCxn id="9139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49" name="Google Shape;9149;p404"/>
            <p:cNvCxnSpPr>
              <a:stCxn id="9146" idx="0"/>
              <a:endCxn id="9138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0" name="Google Shape;9150;p404"/>
            <p:cNvCxnSpPr>
              <a:stCxn id="9141" idx="6"/>
              <a:endCxn id="9146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1" name="Google Shape;9151;p404"/>
            <p:cNvCxnSpPr>
              <a:stCxn id="9118" idx="5"/>
              <a:endCxn id="9139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2" name="Google Shape;9152;p404"/>
            <p:cNvCxnSpPr>
              <a:stCxn id="9118" idx="7"/>
              <a:endCxn id="9128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3" name="Google Shape;9153;p404"/>
            <p:cNvCxnSpPr>
              <a:stCxn id="9133" idx="3"/>
              <a:endCxn id="9138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4" name="Google Shape;9154;p404"/>
            <p:cNvCxnSpPr>
              <a:stCxn id="9127" idx="4"/>
              <a:endCxn id="9140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58" name="Shape 9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9" name="Google Shape;9159;p40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  <p:sp>
        <p:nvSpPr>
          <p:cNvPr id="9160" name="Google Shape;9160;p405"/>
          <p:cNvSpPr txBox="1"/>
          <p:nvPr>
            <p:ph idx="1" type="body"/>
          </p:nvPr>
        </p:nvSpPr>
        <p:spPr>
          <a:xfrm>
            <a:off x="311700" y="1225225"/>
            <a:ext cx="452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Some graphs are </a:t>
            </a:r>
            <a:r>
              <a:rPr b="1" lang="en"/>
              <a:t>easy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Only require the removal of a </a:t>
            </a:r>
            <a:r>
              <a:rPr b="1" lang="en"/>
              <a:t>few</a:t>
            </a:r>
            <a:r>
              <a:rPr lang="en"/>
              <a:t> links or nodes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Others are </a:t>
            </a:r>
            <a:r>
              <a:rPr b="1" lang="en"/>
              <a:t>hard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Requires the removal of a </a:t>
            </a:r>
            <a:r>
              <a:rPr b="1" lang="en"/>
              <a:t>lot</a:t>
            </a:r>
            <a:r>
              <a:rPr lang="en"/>
              <a:t> of links or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node-cutset </a:t>
            </a:r>
            <a:r>
              <a:rPr lang="en"/>
              <a:t>is the </a:t>
            </a:r>
            <a:r>
              <a:rPr b="1" lang="en"/>
              <a:t>minimum</a:t>
            </a:r>
            <a:r>
              <a:rPr lang="en"/>
              <a:t> number of </a:t>
            </a:r>
            <a:r>
              <a:rPr b="1" lang="en"/>
              <a:t>nodes</a:t>
            </a:r>
            <a:r>
              <a:rPr lang="en"/>
              <a:t> required to </a:t>
            </a:r>
            <a:r>
              <a:rPr b="1" lang="en"/>
              <a:t>disconnect</a:t>
            </a:r>
            <a:r>
              <a:rPr lang="en"/>
              <a:t> a graph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What’s the </a:t>
            </a:r>
            <a:r>
              <a:rPr b="1" lang="en">
                <a:solidFill>
                  <a:srgbClr val="0000FF"/>
                </a:solidFill>
              </a:rPr>
              <a:t>node-cutset</a:t>
            </a:r>
            <a:r>
              <a:rPr b="1" lang="en">
                <a:solidFill>
                  <a:srgbClr val="FF0000"/>
                </a:solidFill>
              </a:rPr>
              <a:t> of the graph on the right?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1" name="Google Shape;9161;p405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9162" name="Google Shape;9162;p405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405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405"/>
            <p:cNvSpPr/>
            <p:nvPr/>
          </p:nvSpPr>
          <p:spPr>
            <a:xfrm>
              <a:off x="6370588" y="2529613"/>
              <a:ext cx="171300" cy="171300"/>
            </a:xfrm>
            <a:prstGeom prst="ellipse">
              <a:avLst/>
            </a:prstGeom>
            <a:solidFill>
              <a:srgbClr val="0000FF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405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66" name="Google Shape;9166;p405"/>
            <p:cNvCxnSpPr>
              <a:stCxn id="9162" idx="3"/>
              <a:endCxn id="9163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67" name="Google Shape;9167;p405"/>
            <p:cNvCxnSpPr>
              <a:stCxn id="9165" idx="1"/>
              <a:endCxn id="9163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68" name="Google Shape;9168;p405"/>
            <p:cNvCxnSpPr>
              <a:stCxn id="9162" idx="4"/>
              <a:endCxn id="9165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69" name="Google Shape;9169;p405"/>
            <p:cNvCxnSpPr>
              <a:stCxn id="9162" idx="5"/>
              <a:endCxn id="9164" idx="1"/>
            </p:cNvCxnSpPr>
            <p:nvPr/>
          </p:nvCxnSpPr>
          <p:spPr>
            <a:xfrm>
              <a:off x="5991201" y="2241301"/>
              <a:ext cx="404400" cy="313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0" name="Google Shape;9170;p405"/>
            <p:cNvCxnSpPr>
              <a:stCxn id="9164" idx="2"/>
              <a:endCxn id="9163" idx="6"/>
            </p:cNvCxnSpPr>
            <p:nvPr/>
          </p:nvCxnSpPr>
          <p:spPr>
            <a:xfrm flipH="1">
              <a:off x="5541688" y="2615263"/>
              <a:ext cx="828900" cy="1113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71" name="Google Shape;9171;p405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405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405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405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75" name="Google Shape;9175;p405"/>
            <p:cNvCxnSpPr>
              <a:stCxn id="9171" idx="3"/>
              <a:endCxn id="9172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6" name="Google Shape;9176;p405"/>
            <p:cNvCxnSpPr>
              <a:stCxn id="9174" idx="0"/>
              <a:endCxn id="9172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7" name="Google Shape;9177;p405"/>
            <p:cNvCxnSpPr>
              <a:stCxn id="9171" idx="5"/>
              <a:endCxn id="9173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8" name="Google Shape;9178;p405"/>
            <p:cNvCxnSpPr>
              <a:stCxn id="9173" idx="2"/>
              <a:endCxn id="9172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79" name="Google Shape;9179;p405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80" name="Google Shape;9180;p405"/>
            <p:cNvCxnSpPr>
              <a:stCxn id="9179" idx="0"/>
              <a:endCxn id="9172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81" name="Google Shape;9181;p405"/>
            <p:cNvCxnSpPr>
              <a:stCxn id="9173" idx="3"/>
              <a:endCxn id="9174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82" name="Google Shape;9182;p405"/>
            <p:cNvCxnSpPr>
              <a:stCxn id="9173" idx="3"/>
              <a:endCxn id="9179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83" name="Google Shape;9183;p405"/>
            <p:cNvCxnSpPr>
              <a:stCxn id="9171" idx="4"/>
              <a:endCxn id="9179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84" name="Google Shape;9184;p405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405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405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405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88" name="Google Shape;9188;p405"/>
            <p:cNvCxnSpPr>
              <a:stCxn id="9184" idx="3"/>
              <a:endCxn id="9185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89" name="Google Shape;9189;p405"/>
            <p:cNvCxnSpPr>
              <a:stCxn id="9187" idx="0"/>
              <a:endCxn id="9185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0" name="Google Shape;9190;p405"/>
            <p:cNvCxnSpPr>
              <a:stCxn id="9184" idx="5"/>
              <a:endCxn id="9186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1" name="Google Shape;9191;p405"/>
            <p:cNvCxnSpPr>
              <a:stCxn id="9186" idx="2"/>
              <a:endCxn id="9185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92" name="Google Shape;9192;p405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93" name="Google Shape;9193;p405"/>
            <p:cNvCxnSpPr>
              <a:stCxn id="9186" idx="3"/>
              <a:endCxn id="9187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4" name="Google Shape;9194;p405"/>
            <p:cNvCxnSpPr>
              <a:stCxn id="9192" idx="2"/>
              <a:endCxn id="9185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5" name="Google Shape;9195;p405"/>
            <p:cNvCxnSpPr>
              <a:stCxn id="9192" idx="0"/>
              <a:endCxn id="9184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6" name="Google Shape;9196;p405"/>
            <p:cNvCxnSpPr>
              <a:stCxn id="9187" idx="6"/>
              <a:endCxn id="9192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7" name="Google Shape;9197;p405"/>
            <p:cNvCxnSpPr>
              <a:stCxn id="9164" idx="5"/>
              <a:endCxn id="9185" idx="1"/>
            </p:cNvCxnSpPr>
            <p:nvPr/>
          </p:nvCxnSpPr>
          <p:spPr>
            <a:xfrm>
              <a:off x="6516801" y="2675826"/>
              <a:ext cx="800400" cy="1149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8" name="Google Shape;9198;p405"/>
            <p:cNvCxnSpPr>
              <a:stCxn id="9164" idx="7"/>
              <a:endCxn id="9174" idx="3"/>
            </p:cNvCxnSpPr>
            <p:nvPr/>
          </p:nvCxnSpPr>
          <p:spPr>
            <a:xfrm flipH="1" rot="10800000">
              <a:off x="6516801" y="1640899"/>
              <a:ext cx="754200" cy="91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9" name="Google Shape;9199;p405"/>
            <p:cNvCxnSpPr>
              <a:stCxn id="9179" idx="3"/>
              <a:endCxn id="9184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00" name="Google Shape;9200;p405"/>
            <p:cNvCxnSpPr>
              <a:stCxn id="9173" idx="4"/>
              <a:endCxn id="9186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201" name="Google Shape;9201;p405"/>
          <p:cNvSpPr txBox="1"/>
          <p:nvPr/>
        </p:nvSpPr>
        <p:spPr>
          <a:xfrm>
            <a:off x="4879450" y="4108775"/>
            <a:ext cx="17049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</a:rPr>
              <a:t>|node-cutset| = 1</a:t>
            </a:r>
            <a:endParaRPr b="1">
              <a:solidFill>
                <a:srgbClr val="0000FF"/>
              </a:solidFill>
            </a:endParaRP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05" name="Shape 9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6" name="Google Shape;9206;p40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  <p:sp>
        <p:nvSpPr>
          <p:cNvPr id="9207" name="Google Shape;9207;p406"/>
          <p:cNvSpPr txBox="1"/>
          <p:nvPr>
            <p:ph idx="1" type="body"/>
          </p:nvPr>
        </p:nvSpPr>
        <p:spPr>
          <a:xfrm>
            <a:off x="311700" y="1225225"/>
            <a:ext cx="452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Some graphs are </a:t>
            </a:r>
            <a:r>
              <a:rPr b="1" lang="en"/>
              <a:t>easy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Only require the removal of a </a:t>
            </a:r>
            <a:r>
              <a:rPr b="1" lang="en"/>
              <a:t>few</a:t>
            </a:r>
            <a:r>
              <a:rPr lang="en"/>
              <a:t> links or nodes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Others are </a:t>
            </a:r>
            <a:r>
              <a:rPr b="1" lang="en"/>
              <a:t>hard</a:t>
            </a:r>
            <a:r>
              <a:rPr lang="en"/>
              <a:t> to disconnect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Requires the removal of a </a:t>
            </a:r>
            <a:r>
              <a:rPr b="1" lang="en"/>
              <a:t>lot</a:t>
            </a:r>
            <a:r>
              <a:rPr lang="en"/>
              <a:t> of links or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node-cutset </a:t>
            </a:r>
            <a:r>
              <a:rPr lang="en"/>
              <a:t>is the </a:t>
            </a:r>
            <a:r>
              <a:rPr b="1" lang="en"/>
              <a:t>minimum</a:t>
            </a:r>
            <a:r>
              <a:rPr lang="en"/>
              <a:t> number of </a:t>
            </a:r>
            <a:r>
              <a:rPr b="1" lang="en"/>
              <a:t>nodes</a:t>
            </a:r>
            <a:r>
              <a:rPr lang="en"/>
              <a:t> required to </a:t>
            </a:r>
            <a:r>
              <a:rPr b="1" lang="en"/>
              <a:t>disconnect</a:t>
            </a:r>
            <a:r>
              <a:rPr lang="en"/>
              <a:t> a graph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What’s the </a:t>
            </a:r>
            <a:r>
              <a:rPr b="1" lang="en">
                <a:solidFill>
                  <a:srgbClr val="0000FF"/>
                </a:solidFill>
              </a:rPr>
              <a:t>node-cutset</a:t>
            </a:r>
            <a:r>
              <a:rPr b="1" lang="en">
                <a:solidFill>
                  <a:srgbClr val="FF0000"/>
                </a:solidFill>
              </a:rPr>
              <a:t> of the graph on the right?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8" name="Google Shape;9208;p406"/>
          <p:cNvGrpSpPr/>
          <p:nvPr/>
        </p:nvGrpSpPr>
        <p:grpSpPr>
          <a:xfrm>
            <a:off x="5370463" y="653813"/>
            <a:ext cx="3384048" cy="4016267"/>
            <a:chOff x="5370463" y="653813"/>
            <a:chExt cx="3384048" cy="4016267"/>
          </a:xfrm>
        </p:grpSpPr>
        <p:sp>
          <p:nvSpPr>
            <p:cNvPr id="9209" name="Google Shape;9209;p406"/>
            <p:cNvSpPr/>
            <p:nvPr/>
          </p:nvSpPr>
          <p:spPr>
            <a:xfrm>
              <a:off x="5844988" y="20950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406"/>
            <p:cNvSpPr/>
            <p:nvPr/>
          </p:nvSpPr>
          <p:spPr>
            <a:xfrm>
              <a:off x="5370463" y="2640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406"/>
            <p:cNvSpPr/>
            <p:nvPr/>
          </p:nvSpPr>
          <p:spPr>
            <a:xfrm>
              <a:off x="5875288" y="3082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12" name="Google Shape;9212;p406"/>
            <p:cNvCxnSpPr>
              <a:stCxn id="9209" idx="3"/>
              <a:endCxn id="9210" idx="7"/>
            </p:cNvCxnSpPr>
            <p:nvPr/>
          </p:nvCxnSpPr>
          <p:spPr>
            <a:xfrm flipH="1">
              <a:off x="5516674" y="2241301"/>
              <a:ext cx="353400" cy="424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13" name="Google Shape;9213;p406"/>
            <p:cNvCxnSpPr>
              <a:stCxn id="9211" idx="1"/>
              <a:endCxn id="9210" idx="5"/>
            </p:cNvCxnSpPr>
            <p:nvPr/>
          </p:nvCxnSpPr>
          <p:spPr>
            <a:xfrm rot="10800000">
              <a:off x="5516674" y="2787124"/>
              <a:ext cx="383700" cy="320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14" name="Google Shape;9214;p406"/>
            <p:cNvCxnSpPr>
              <a:stCxn id="9209" idx="4"/>
              <a:endCxn id="9211" idx="1"/>
            </p:cNvCxnSpPr>
            <p:nvPr/>
          </p:nvCxnSpPr>
          <p:spPr>
            <a:xfrm flipH="1">
              <a:off x="5900338" y="2266388"/>
              <a:ext cx="30300" cy="840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215" name="Google Shape;9215;p406"/>
            <p:cNvSpPr/>
            <p:nvPr/>
          </p:nvSpPr>
          <p:spPr>
            <a:xfrm>
              <a:off x="7820950" y="6538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406"/>
            <p:cNvSpPr/>
            <p:nvPr/>
          </p:nvSpPr>
          <p:spPr>
            <a:xfrm>
              <a:off x="7200175" y="9267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406"/>
            <p:cNvSpPr/>
            <p:nvPr/>
          </p:nvSpPr>
          <p:spPr>
            <a:xfrm>
              <a:off x="8181075" y="123798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406"/>
            <p:cNvSpPr/>
            <p:nvPr/>
          </p:nvSpPr>
          <p:spPr>
            <a:xfrm>
              <a:off x="7246000" y="1494713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19" name="Google Shape;9219;p406"/>
            <p:cNvCxnSpPr>
              <a:stCxn id="9215" idx="3"/>
              <a:endCxn id="9216" idx="7"/>
            </p:cNvCxnSpPr>
            <p:nvPr/>
          </p:nvCxnSpPr>
          <p:spPr>
            <a:xfrm flipH="1">
              <a:off x="7346536" y="800026"/>
              <a:ext cx="499500" cy="151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20" name="Google Shape;9220;p406"/>
            <p:cNvCxnSpPr>
              <a:stCxn id="9218" idx="0"/>
              <a:endCxn id="9216" idx="4"/>
            </p:cNvCxnSpPr>
            <p:nvPr/>
          </p:nvCxnSpPr>
          <p:spPr>
            <a:xfrm rot="10800000">
              <a:off x="7285750" y="1098113"/>
              <a:ext cx="45900" cy="3966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21" name="Google Shape;9221;p406"/>
            <p:cNvCxnSpPr>
              <a:stCxn id="9215" idx="5"/>
              <a:endCxn id="9217" idx="1"/>
            </p:cNvCxnSpPr>
            <p:nvPr/>
          </p:nvCxnSpPr>
          <p:spPr>
            <a:xfrm>
              <a:off x="7967164" y="800026"/>
              <a:ext cx="239100" cy="462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22" name="Google Shape;9222;p406"/>
            <p:cNvCxnSpPr>
              <a:stCxn id="9217" idx="2"/>
              <a:endCxn id="9216" idx="6"/>
            </p:cNvCxnSpPr>
            <p:nvPr/>
          </p:nvCxnSpPr>
          <p:spPr>
            <a:xfrm rot="10800000">
              <a:off x="7371375" y="1012538"/>
              <a:ext cx="809700" cy="31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223" name="Google Shape;9223;p406"/>
            <p:cNvSpPr/>
            <p:nvPr/>
          </p:nvSpPr>
          <p:spPr>
            <a:xfrm>
              <a:off x="7820950" y="1806138"/>
              <a:ext cx="171300" cy="171300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24" name="Google Shape;9224;p406"/>
            <p:cNvCxnSpPr>
              <a:stCxn id="9223" idx="0"/>
              <a:endCxn id="9216" idx="6"/>
            </p:cNvCxnSpPr>
            <p:nvPr/>
          </p:nvCxnSpPr>
          <p:spPr>
            <a:xfrm rot="10800000">
              <a:off x="7371400" y="1012338"/>
              <a:ext cx="535200" cy="7938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25" name="Google Shape;9225;p406"/>
            <p:cNvCxnSpPr>
              <a:stCxn id="9217" idx="3"/>
              <a:endCxn id="9218" idx="6"/>
            </p:cNvCxnSpPr>
            <p:nvPr/>
          </p:nvCxnSpPr>
          <p:spPr>
            <a:xfrm flipH="1">
              <a:off x="7417161" y="1384201"/>
              <a:ext cx="789000" cy="196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26" name="Google Shape;9226;p406"/>
            <p:cNvCxnSpPr>
              <a:stCxn id="9217" idx="3"/>
              <a:endCxn id="9223" idx="1"/>
            </p:cNvCxnSpPr>
            <p:nvPr/>
          </p:nvCxnSpPr>
          <p:spPr>
            <a:xfrm flipH="1">
              <a:off x="7846161" y="1384201"/>
              <a:ext cx="360000" cy="447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27" name="Google Shape;9227;p406"/>
            <p:cNvCxnSpPr>
              <a:stCxn id="9215" idx="4"/>
              <a:endCxn id="9223" idx="0"/>
            </p:cNvCxnSpPr>
            <p:nvPr/>
          </p:nvCxnSpPr>
          <p:spPr>
            <a:xfrm>
              <a:off x="7906600" y="825113"/>
              <a:ext cx="0" cy="981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228" name="Google Shape;9228;p406"/>
            <p:cNvSpPr/>
            <p:nvPr/>
          </p:nvSpPr>
          <p:spPr>
            <a:xfrm rot="-1281263">
              <a:off x="7726111" y="31270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406"/>
            <p:cNvSpPr/>
            <p:nvPr/>
          </p:nvSpPr>
          <p:spPr>
            <a:xfrm rot="-1281263">
              <a:off x="7310069" y="3774485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406"/>
            <p:cNvSpPr/>
            <p:nvPr/>
          </p:nvSpPr>
          <p:spPr>
            <a:xfrm rot="-1281263">
              <a:off x="8557828" y="343973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406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32" name="Google Shape;9232;p406"/>
            <p:cNvCxnSpPr>
              <a:stCxn id="9228" idx="3"/>
              <a:endCxn id="9229" idx="7"/>
            </p:cNvCxnSpPr>
            <p:nvPr/>
          </p:nvCxnSpPr>
          <p:spPr>
            <a:xfrm flipH="1">
              <a:off x="7430028" y="3291269"/>
              <a:ext cx="347400" cy="490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33" name="Google Shape;9233;p406"/>
            <p:cNvCxnSpPr>
              <a:stCxn id="9231" idx="0"/>
              <a:endCxn id="9229" idx="4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34" name="Google Shape;9234;p406"/>
            <p:cNvCxnSpPr>
              <a:stCxn id="9228" idx="5"/>
              <a:endCxn id="9230" idx="1"/>
            </p:cNvCxnSpPr>
            <p:nvPr/>
          </p:nvCxnSpPr>
          <p:spPr>
            <a:xfrm>
              <a:off x="7890283" y="3247145"/>
              <a:ext cx="674700" cy="2439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35" name="Google Shape;9235;p406"/>
            <p:cNvCxnSpPr>
              <a:stCxn id="9230" idx="2"/>
              <a:endCxn id="9229" idx="6"/>
            </p:cNvCxnSpPr>
            <p:nvPr/>
          </p:nvCxnSpPr>
          <p:spPr>
            <a:xfrm flipH="1">
              <a:off x="7475611" y="3556619"/>
              <a:ext cx="1088100" cy="272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236" name="Google Shape;9236;p406"/>
            <p:cNvSpPr/>
            <p:nvPr/>
          </p:nvSpPr>
          <p:spPr>
            <a:xfrm rot="-1281263">
              <a:off x="8001037" y="3919934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37" name="Google Shape;9237;p406"/>
            <p:cNvCxnSpPr>
              <a:stCxn id="9230" idx="3"/>
              <a:endCxn id="9231" idx="6"/>
            </p:cNvCxnSpPr>
            <p:nvPr/>
          </p:nvCxnSpPr>
          <p:spPr>
            <a:xfrm flipH="1">
              <a:off x="7891545" y="3603908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38" name="Google Shape;9238;p406"/>
            <p:cNvCxnSpPr>
              <a:stCxn id="9236" idx="2"/>
              <a:endCxn id="9229" idx="5"/>
            </p:cNvCxnSpPr>
            <p:nvPr/>
          </p:nvCxnSpPr>
          <p:spPr>
            <a:xfrm rot="10800000">
              <a:off x="7474120" y="3894616"/>
              <a:ext cx="532800" cy="1422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39" name="Google Shape;9239;p406"/>
            <p:cNvCxnSpPr>
              <a:stCxn id="9236" idx="0"/>
              <a:endCxn id="9228" idx="3"/>
            </p:cNvCxnSpPr>
            <p:nvPr/>
          </p:nvCxnSpPr>
          <p:spPr>
            <a:xfrm rot="10800000">
              <a:off x="7777420" y="3291316"/>
              <a:ext cx="278100" cy="6345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40" name="Google Shape;9240;p406"/>
            <p:cNvCxnSpPr>
              <a:stCxn id="9231" idx="6"/>
              <a:endCxn id="9236" idx="2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41" name="Google Shape;9241;p406"/>
            <p:cNvCxnSpPr>
              <a:stCxn id="9223" idx="3"/>
              <a:endCxn id="9228" idx="7"/>
            </p:cNvCxnSpPr>
            <p:nvPr/>
          </p:nvCxnSpPr>
          <p:spPr>
            <a:xfrm>
              <a:off x="7846036" y="1952351"/>
              <a:ext cx="0" cy="1182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42" name="Google Shape;9242;p406"/>
            <p:cNvCxnSpPr>
              <a:stCxn id="9217" idx="4"/>
              <a:endCxn id="9230" idx="0"/>
            </p:cNvCxnSpPr>
            <p:nvPr/>
          </p:nvCxnSpPr>
          <p:spPr>
            <a:xfrm>
              <a:off x="8266725" y="1409288"/>
              <a:ext cx="345600" cy="2036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243" name="Google Shape;9243;p406"/>
          <p:cNvSpPr txBox="1"/>
          <p:nvPr/>
        </p:nvSpPr>
        <p:spPr>
          <a:xfrm>
            <a:off x="4879450" y="4108775"/>
            <a:ext cx="17049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</a:rPr>
              <a:t>|node-cutset| = 1</a:t>
            </a:r>
            <a:endParaRPr b="1">
              <a:solidFill>
                <a:srgbClr val="0000FF"/>
              </a:solidFill>
            </a:endParaRPr>
          </a:p>
        </p:txBody>
      </p:sp>
      <p:sp>
        <p:nvSpPr>
          <p:cNvPr id="9244" name="Google Shape;9244;p406"/>
          <p:cNvSpPr txBox="1"/>
          <p:nvPr/>
        </p:nvSpPr>
        <p:spPr>
          <a:xfrm>
            <a:off x="4879450" y="1004700"/>
            <a:ext cx="1704900" cy="5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</a:rPr>
              <a:t>Disconnected!</a:t>
            </a:r>
            <a:endParaRPr b="1">
              <a:solidFill>
                <a:srgbClr val="0000FF"/>
              </a:solidFill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48" name="Shape 9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9" name="Google Shape;9249;p40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 (for node pairs)</a:t>
            </a:r>
            <a:endParaRPr/>
          </a:p>
        </p:txBody>
      </p:sp>
      <p:sp>
        <p:nvSpPr>
          <p:cNvPr id="9250" name="Google Shape;9250;p407"/>
          <p:cNvSpPr txBox="1"/>
          <p:nvPr>
            <p:ph idx="1" type="body"/>
          </p:nvPr>
        </p:nvSpPr>
        <p:spPr>
          <a:xfrm>
            <a:off x="311700" y="1225225"/>
            <a:ext cx="43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For any pair of non-adjacent nodes, u and v:</a:t>
            </a:r>
            <a:endParaRPr/>
          </a:p>
          <a:p>
            <a:pPr indent="-3429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○"/>
            </a:pPr>
            <a:r>
              <a:rPr lang="en"/>
              <a:t>The UV node cutset is the number of nodes that would have to be removed for them to be disconnected</a:t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1" name="Google Shape;9251;p407"/>
          <p:cNvSpPr/>
          <p:nvPr/>
        </p:nvSpPr>
        <p:spPr>
          <a:xfrm>
            <a:off x="5554499" y="1279288"/>
            <a:ext cx="408600" cy="390000"/>
          </a:xfrm>
          <a:prstGeom prst="ellipse">
            <a:avLst/>
          </a:prstGeom>
          <a:solidFill>
            <a:srgbClr val="0000FF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U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9252" name="Google Shape;9252;p407"/>
          <p:cNvSpPr/>
          <p:nvPr/>
        </p:nvSpPr>
        <p:spPr>
          <a:xfrm>
            <a:off x="8311952" y="1283823"/>
            <a:ext cx="408600" cy="390000"/>
          </a:xfrm>
          <a:prstGeom prst="ellipse">
            <a:avLst/>
          </a:prstGeom>
          <a:solidFill>
            <a:srgbClr val="0000FF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V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9253" name="Google Shape;9253;p407"/>
          <p:cNvSpPr/>
          <p:nvPr/>
        </p:nvSpPr>
        <p:spPr>
          <a:xfrm>
            <a:off x="6885322" y="1279288"/>
            <a:ext cx="408600" cy="390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54" name="Google Shape;9254;p407"/>
          <p:cNvCxnSpPr>
            <a:stCxn id="9251" idx="6"/>
            <a:endCxn id="9253" idx="2"/>
          </p:cNvCxnSpPr>
          <p:nvPr/>
        </p:nvCxnSpPr>
        <p:spPr>
          <a:xfrm>
            <a:off x="5963099" y="1474288"/>
            <a:ext cx="9222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55" name="Google Shape;9255;p407"/>
          <p:cNvCxnSpPr>
            <a:stCxn id="9253" idx="6"/>
            <a:endCxn id="9252" idx="2"/>
          </p:cNvCxnSpPr>
          <p:nvPr/>
        </p:nvCxnSpPr>
        <p:spPr>
          <a:xfrm>
            <a:off x="7293922" y="1474288"/>
            <a:ext cx="1017900" cy="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56" name="Google Shape;9256;p407"/>
          <p:cNvSpPr/>
          <p:nvPr/>
        </p:nvSpPr>
        <p:spPr>
          <a:xfrm>
            <a:off x="5554474" y="2366757"/>
            <a:ext cx="408600" cy="390000"/>
          </a:xfrm>
          <a:prstGeom prst="ellipse">
            <a:avLst/>
          </a:prstGeom>
          <a:solidFill>
            <a:srgbClr val="0000FF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U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9257" name="Google Shape;9257;p407"/>
          <p:cNvSpPr/>
          <p:nvPr/>
        </p:nvSpPr>
        <p:spPr>
          <a:xfrm>
            <a:off x="8311927" y="2366757"/>
            <a:ext cx="408600" cy="390000"/>
          </a:xfrm>
          <a:prstGeom prst="ellipse">
            <a:avLst/>
          </a:prstGeom>
          <a:solidFill>
            <a:srgbClr val="0000FF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V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9258" name="Google Shape;9258;p407"/>
          <p:cNvSpPr/>
          <p:nvPr/>
        </p:nvSpPr>
        <p:spPr>
          <a:xfrm>
            <a:off x="6933200" y="2671878"/>
            <a:ext cx="408600" cy="390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59" name="Google Shape;9259;p407"/>
          <p:cNvCxnSpPr>
            <a:stCxn id="9256" idx="6"/>
            <a:endCxn id="9258" idx="2"/>
          </p:cNvCxnSpPr>
          <p:nvPr/>
        </p:nvCxnSpPr>
        <p:spPr>
          <a:xfrm>
            <a:off x="5963074" y="2561757"/>
            <a:ext cx="970200" cy="305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60" name="Google Shape;9260;p407"/>
          <p:cNvCxnSpPr>
            <a:stCxn id="9258" idx="6"/>
            <a:endCxn id="9257" idx="2"/>
          </p:cNvCxnSpPr>
          <p:nvPr/>
        </p:nvCxnSpPr>
        <p:spPr>
          <a:xfrm flipH="1" rot="10800000">
            <a:off x="7341800" y="2561778"/>
            <a:ext cx="970200" cy="305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61" name="Google Shape;9261;p407"/>
          <p:cNvSpPr/>
          <p:nvPr/>
        </p:nvSpPr>
        <p:spPr>
          <a:xfrm>
            <a:off x="6933189" y="2074227"/>
            <a:ext cx="408600" cy="390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62" name="Google Shape;9262;p407"/>
          <p:cNvCxnSpPr>
            <a:stCxn id="9256" idx="6"/>
            <a:endCxn id="9261" idx="2"/>
          </p:cNvCxnSpPr>
          <p:nvPr/>
        </p:nvCxnSpPr>
        <p:spPr>
          <a:xfrm flipH="1" rot="10800000">
            <a:off x="5963074" y="2269257"/>
            <a:ext cx="970200" cy="2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63" name="Google Shape;9263;p407"/>
          <p:cNvCxnSpPr>
            <a:stCxn id="9261" idx="6"/>
            <a:endCxn id="9257" idx="2"/>
          </p:cNvCxnSpPr>
          <p:nvPr/>
        </p:nvCxnSpPr>
        <p:spPr>
          <a:xfrm>
            <a:off x="7341789" y="2269227"/>
            <a:ext cx="970200" cy="2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64" name="Google Shape;9264;p407"/>
          <p:cNvSpPr/>
          <p:nvPr/>
        </p:nvSpPr>
        <p:spPr>
          <a:xfrm>
            <a:off x="5554498" y="3883559"/>
            <a:ext cx="408600" cy="390000"/>
          </a:xfrm>
          <a:prstGeom prst="ellipse">
            <a:avLst/>
          </a:prstGeom>
          <a:solidFill>
            <a:srgbClr val="0000FF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U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9265" name="Google Shape;9265;p407"/>
          <p:cNvSpPr/>
          <p:nvPr/>
        </p:nvSpPr>
        <p:spPr>
          <a:xfrm>
            <a:off x="8311951" y="3883559"/>
            <a:ext cx="408600" cy="390000"/>
          </a:xfrm>
          <a:prstGeom prst="ellipse">
            <a:avLst/>
          </a:prstGeom>
          <a:solidFill>
            <a:srgbClr val="0000FF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V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9266" name="Google Shape;9266;p407"/>
          <p:cNvSpPr/>
          <p:nvPr/>
        </p:nvSpPr>
        <p:spPr>
          <a:xfrm>
            <a:off x="6933224" y="4347729"/>
            <a:ext cx="408600" cy="390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67" name="Google Shape;9267;p407"/>
          <p:cNvCxnSpPr>
            <a:stCxn id="9264" idx="6"/>
            <a:endCxn id="9266" idx="2"/>
          </p:cNvCxnSpPr>
          <p:nvPr/>
        </p:nvCxnSpPr>
        <p:spPr>
          <a:xfrm>
            <a:off x="5963098" y="4078559"/>
            <a:ext cx="970200" cy="46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68" name="Google Shape;9268;p407"/>
          <p:cNvCxnSpPr>
            <a:stCxn id="9266" idx="6"/>
            <a:endCxn id="9265" idx="2"/>
          </p:cNvCxnSpPr>
          <p:nvPr/>
        </p:nvCxnSpPr>
        <p:spPr>
          <a:xfrm flipH="1" rot="10800000">
            <a:off x="7341824" y="4078629"/>
            <a:ext cx="970200" cy="46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69" name="Google Shape;9269;p407"/>
          <p:cNvSpPr/>
          <p:nvPr/>
        </p:nvSpPr>
        <p:spPr>
          <a:xfrm>
            <a:off x="6933190" y="3400236"/>
            <a:ext cx="408600" cy="390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70" name="Google Shape;9270;p407"/>
          <p:cNvCxnSpPr>
            <a:stCxn id="9264" idx="6"/>
            <a:endCxn id="9269" idx="2"/>
          </p:cNvCxnSpPr>
          <p:nvPr/>
        </p:nvCxnSpPr>
        <p:spPr>
          <a:xfrm flipH="1" rot="10800000">
            <a:off x="5963098" y="3595259"/>
            <a:ext cx="970200" cy="483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71" name="Google Shape;9271;p407"/>
          <p:cNvCxnSpPr>
            <a:stCxn id="9269" idx="6"/>
            <a:endCxn id="9265" idx="2"/>
          </p:cNvCxnSpPr>
          <p:nvPr/>
        </p:nvCxnSpPr>
        <p:spPr>
          <a:xfrm>
            <a:off x="7341790" y="3595236"/>
            <a:ext cx="970200" cy="483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72" name="Google Shape;9272;p407"/>
          <p:cNvSpPr txBox="1"/>
          <p:nvPr/>
        </p:nvSpPr>
        <p:spPr>
          <a:xfrm>
            <a:off x="6248250" y="1666450"/>
            <a:ext cx="16827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1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273" name="Google Shape;9273;p407"/>
          <p:cNvSpPr txBox="1"/>
          <p:nvPr/>
        </p:nvSpPr>
        <p:spPr>
          <a:xfrm>
            <a:off x="6296150" y="3055400"/>
            <a:ext cx="16827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2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274" name="Google Shape;9274;p407"/>
          <p:cNvSpPr/>
          <p:nvPr/>
        </p:nvSpPr>
        <p:spPr>
          <a:xfrm>
            <a:off x="6933228" y="3873973"/>
            <a:ext cx="408600" cy="390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5" name="Google Shape;9275;p407"/>
          <p:cNvSpPr txBox="1"/>
          <p:nvPr/>
        </p:nvSpPr>
        <p:spPr>
          <a:xfrm>
            <a:off x="6296150" y="4722713"/>
            <a:ext cx="16827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3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9276" name="Google Shape;9276;p407"/>
          <p:cNvCxnSpPr>
            <a:stCxn id="9264" idx="6"/>
            <a:endCxn id="9274" idx="2"/>
          </p:cNvCxnSpPr>
          <p:nvPr/>
        </p:nvCxnSpPr>
        <p:spPr>
          <a:xfrm flipH="1" rot="10800000">
            <a:off x="5963098" y="4068959"/>
            <a:ext cx="970200" cy="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77" name="Google Shape;9277;p407"/>
          <p:cNvCxnSpPr>
            <a:stCxn id="9274" idx="6"/>
            <a:endCxn id="9265" idx="2"/>
          </p:cNvCxnSpPr>
          <p:nvPr/>
        </p:nvCxnSpPr>
        <p:spPr>
          <a:xfrm>
            <a:off x="7341828" y="4068973"/>
            <a:ext cx="970200" cy="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81" name="Shape 9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2" name="Google Shape;9282;p40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Menger’s Theorem</a:t>
            </a:r>
            <a:endParaRPr/>
          </a:p>
        </p:txBody>
      </p:sp>
      <p:sp>
        <p:nvSpPr>
          <p:cNvPr id="9283" name="Google Shape;9283;p408"/>
          <p:cNvSpPr txBox="1"/>
          <p:nvPr>
            <p:ph idx="1" type="body"/>
          </p:nvPr>
        </p:nvSpPr>
        <p:spPr>
          <a:xfrm>
            <a:off x="311700" y="1225225"/>
            <a:ext cx="429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Menger’s theorem states that:</a:t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4" name="Google Shape;9284;p408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5" name="Google Shape;9285;p408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6" name="Google Shape;9286;p408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7" name="Google Shape;9287;p408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88" name="Google Shape;9288;p408"/>
          <p:cNvCxnSpPr>
            <a:stCxn id="9284" idx="3"/>
            <a:endCxn id="9285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89" name="Google Shape;9289;p408"/>
          <p:cNvCxnSpPr>
            <a:stCxn id="9287" idx="1"/>
            <a:endCxn id="9285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90" name="Google Shape;9290;p408"/>
          <p:cNvCxnSpPr>
            <a:stCxn id="9284" idx="4"/>
            <a:endCxn id="9287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91" name="Google Shape;9291;p408"/>
          <p:cNvCxnSpPr>
            <a:stCxn id="9284" idx="5"/>
            <a:endCxn id="9286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92" name="Google Shape;9292;p408"/>
          <p:cNvCxnSpPr>
            <a:stCxn id="9286" idx="2"/>
            <a:endCxn id="9285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93" name="Google Shape;9293;p408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4" name="Google Shape;9294;p408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5" name="Google Shape;9295;p408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6" name="Google Shape;9296;p408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97" name="Google Shape;9297;p408"/>
          <p:cNvCxnSpPr>
            <a:stCxn id="9293" idx="3"/>
            <a:endCxn id="9294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98" name="Google Shape;9298;p408"/>
          <p:cNvCxnSpPr>
            <a:stCxn id="9296" idx="0"/>
            <a:endCxn id="9294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99" name="Google Shape;9299;p408"/>
          <p:cNvCxnSpPr>
            <a:stCxn id="9293" idx="5"/>
            <a:endCxn id="9295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00" name="Google Shape;9300;p408"/>
          <p:cNvCxnSpPr>
            <a:stCxn id="9295" idx="2"/>
            <a:endCxn id="9294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01" name="Google Shape;9301;p408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02" name="Google Shape;9302;p408"/>
          <p:cNvCxnSpPr>
            <a:stCxn id="9301" idx="0"/>
            <a:endCxn id="9294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03" name="Google Shape;9303;p408"/>
          <p:cNvCxnSpPr>
            <a:stCxn id="9295" idx="3"/>
            <a:endCxn id="9296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04" name="Google Shape;9304;p408"/>
          <p:cNvCxnSpPr>
            <a:stCxn id="9295" idx="3"/>
            <a:endCxn id="9301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05" name="Google Shape;9305;p408"/>
          <p:cNvCxnSpPr>
            <a:stCxn id="9293" idx="4"/>
            <a:endCxn id="9301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06" name="Google Shape;9306;p408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7" name="Google Shape;9307;p408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8" name="Google Shape;9308;p408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09" name="Google Shape;9309;p408"/>
          <p:cNvCxnSpPr>
            <a:stCxn id="9306" idx="3"/>
            <a:endCxn id="9307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10" name="Google Shape;9310;p408"/>
          <p:cNvCxnSpPr>
            <a:stCxn id="9306" idx="5"/>
            <a:endCxn id="9308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11" name="Google Shape;9311;p408"/>
          <p:cNvCxnSpPr>
            <a:stCxn id="9308" idx="2"/>
            <a:endCxn id="9307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12" name="Google Shape;9312;p408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13" name="Google Shape;9313;p408"/>
          <p:cNvCxnSpPr>
            <a:stCxn id="9312" idx="2"/>
            <a:endCxn id="9307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14" name="Google Shape;9314;p408"/>
          <p:cNvCxnSpPr>
            <a:stCxn id="9312" idx="0"/>
            <a:endCxn id="9306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15" name="Google Shape;9315;p408"/>
          <p:cNvCxnSpPr>
            <a:stCxn id="9286" idx="5"/>
            <a:endCxn id="9307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16" name="Google Shape;9316;p408"/>
          <p:cNvCxnSpPr>
            <a:stCxn id="9286" idx="7"/>
            <a:endCxn id="9296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17" name="Google Shape;9317;p408"/>
          <p:cNvCxnSpPr>
            <a:stCxn id="9301" idx="3"/>
            <a:endCxn id="9306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18" name="Google Shape;9318;p408"/>
          <p:cNvCxnSpPr>
            <a:stCxn id="9295" idx="4"/>
            <a:endCxn id="9308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19" name="Google Shape;9319;p408"/>
          <p:cNvCxnSpPr>
            <a:stCxn id="9284" idx="6"/>
            <a:endCxn id="9301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20" name="Google Shape;9320;p408"/>
          <p:cNvCxnSpPr>
            <a:stCxn id="9287" idx="6"/>
            <a:endCxn id="9306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321" name="Google Shape;9321;p408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322" name="Google Shape;9322;p408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323" name="Google Shape;9323;p408"/>
            <p:cNvCxnSpPr>
              <a:stCxn id="9322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24" name="Google Shape;9324;p408"/>
            <p:cNvCxnSpPr>
              <a:endCxn id="9322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25" name="Google Shape;9325;p408"/>
            <p:cNvCxnSpPr>
              <a:stCxn id="9322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326" name="Google Shape;9326;p408"/>
          <p:cNvSpPr txBox="1"/>
          <p:nvPr/>
        </p:nvSpPr>
        <p:spPr>
          <a:xfrm>
            <a:off x="729025" y="3636425"/>
            <a:ext cx="4119900" cy="106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The graph on the right is three-connected! 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(removing the three </a:t>
            </a:r>
            <a:r>
              <a:rPr b="1" lang="en">
                <a:solidFill>
                  <a:srgbClr val="FF0000"/>
                </a:solidFill>
              </a:rPr>
              <a:t>red </a:t>
            </a:r>
            <a:r>
              <a:rPr b="1" lang="en"/>
              <a:t>nodes disconnects the graph)</a:t>
            </a:r>
            <a:endParaRPr b="1"/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30" name="Shape 9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1" name="Google Shape;9331;p40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Menger’s Theorem</a:t>
            </a:r>
            <a:endParaRPr/>
          </a:p>
        </p:txBody>
      </p:sp>
      <p:sp>
        <p:nvSpPr>
          <p:cNvPr id="9332" name="Google Shape;9332;p409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3" name="Google Shape;9333;p409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4" name="Google Shape;9334;p409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5" name="Google Shape;9335;p409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36" name="Google Shape;9336;p409"/>
          <p:cNvCxnSpPr>
            <a:stCxn id="9332" idx="3"/>
            <a:endCxn id="9333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37" name="Google Shape;9337;p409"/>
          <p:cNvCxnSpPr>
            <a:stCxn id="9335" idx="1"/>
            <a:endCxn id="9333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38" name="Google Shape;9338;p409"/>
          <p:cNvCxnSpPr>
            <a:stCxn id="9332" idx="4"/>
            <a:endCxn id="9335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39" name="Google Shape;9339;p409"/>
          <p:cNvCxnSpPr>
            <a:stCxn id="9332" idx="5"/>
            <a:endCxn id="9334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40" name="Google Shape;9340;p409"/>
          <p:cNvCxnSpPr>
            <a:stCxn id="9334" idx="2"/>
            <a:endCxn id="9333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41" name="Google Shape;9341;p409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2" name="Google Shape;9342;p409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3" name="Google Shape;9343;p409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4" name="Google Shape;9344;p409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45" name="Google Shape;9345;p409"/>
          <p:cNvCxnSpPr>
            <a:stCxn id="9341" idx="3"/>
            <a:endCxn id="9342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46" name="Google Shape;9346;p409"/>
          <p:cNvCxnSpPr>
            <a:stCxn id="9344" idx="0"/>
            <a:endCxn id="9342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47" name="Google Shape;9347;p409"/>
          <p:cNvCxnSpPr>
            <a:stCxn id="9341" idx="5"/>
            <a:endCxn id="9343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48" name="Google Shape;9348;p409"/>
          <p:cNvCxnSpPr>
            <a:stCxn id="9343" idx="2"/>
            <a:endCxn id="9342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49" name="Google Shape;9349;p409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50" name="Google Shape;9350;p409"/>
          <p:cNvCxnSpPr>
            <a:stCxn id="9349" idx="0"/>
            <a:endCxn id="9342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51" name="Google Shape;9351;p409"/>
          <p:cNvCxnSpPr>
            <a:stCxn id="9343" idx="3"/>
            <a:endCxn id="9344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52" name="Google Shape;9352;p409"/>
          <p:cNvCxnSpPr>
            <a:stCxn id="9343" idx="3"/>
            <a:endCxn id="9349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53" name="Google Shape;9353;p409"/>
          <p:cNvCxnSpPr>
            <a:stCxn id="9341" idx="4"/>
            <a:endCxn id="9349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54" name="Google Shape;9354;p409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5" name="Google Shape;9355;p409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6" name="Google Shape;9356;p409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57" name="Google Shape;9357;p409"/>
          <p:cNvCxnSpPr>
            <a:stCxn id="9354" idx="3"/>
            <a:endCxn id="9355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58" name="Google Shape;9358;p409"/>
          <p:cNvCxnSpPr>
            <a:stCxn id="9354" idx="5"/>
            <a:endCxn id="9356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59" name="Google Shape;9359;p409"/>
          <p:cNvCxnSpPr>
            <a:stCxn id="9356" idx="2"/>
            <a:endCxn id="9355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60" name="Google Shape;9360;p409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61" name="Google Shape;9361;p409"/>
          <p:cNvCxnSpPr>
            <a:stCxn id="9360" idx="2"/>
            <a:endCxn id="9355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62" name="Google Shape;9362;p409"/>
          <p:cNvCxnSpPr>
            <a:stCxn id="9360" idx="0"/>
            <a:endCxn id="9354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63" name="Google Shape;9363;p409"/>
          <p:cNvCxnSpPr>
            <a:stCxn id="9334" idx="5"/>
            <a:endCxn id="9355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64" name="Google Shape;9364;p409"/>
          <p:cNvCxnSpPr>
            <a:stCxn id="9334" idx="7"/>
            <a:endCxn id="9344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65" name="Google Shape;9365;p409"/>
          <p:cNvCxnSpPr>
            <a:stCxn id="9349" idx="3"/>
            <a:endCxn id="9354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66" name="Google Shape;9366;p409"/>
          <p:cNvCxnSpPr>
            <a:stCxn id="9343" idx="4"/>
            <a:endCxn id="9356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67" name="Google Shape;9367;p409"/>
          <p:cNvCxnSpPr>
            <a:stCxn id="9332" idx="6"/>
            <a:endCxn id="9349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68" name="Google Shape;9368;p409"/>
          <p:cNvCxnSpPr>
            <a:stCxn id="9335" idx="6"/>
            <a:endCxn id="9354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369" name="Google Shape;9369;p409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370" name="Google Shape;9370;p409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371" name="Google Shape;9371;p409"/>
            <p:cNvCxnSpPr>
              <a:stCxn id="9370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72" name="Google Shape;9372;p409"/>
            <p:cNvCxnSpPr>
              <a:endCxn id="9370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73" name="Google Shape;9373;p409"/>
            <p:cNvCxnSpPr>
              <a:stCxn id="9370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374" name="Google Shape;9374;p409"/>
          <p:cNvSpPr txBox="1"/>
          <p:nvPr>
            <p:ph idx="1" type="body"/>
          </p:nvPr>
        </p:nvSpPr>
        <p:spPr>
          <a:xfrm>
            <a:off x="311700" y="1225225"/>
            <a:ext cx="4290300" cy="23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Menger’s theorem states that: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If a graph is k-connected there are at least k paths that don’t share other nodes connecting each non-adjacent pair of nodes</a:t>
            </a:r>
            <a:endParaRPr b="1"/>
          </a:p>
          <a:p>
            <a:pPr indent="0" lvl="0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5" name="Google Shape;9375;p409"/>
          <p:cNvSpPr txBox="1"/>
          <p:nvPr/>
        </p:nvSpPr>
        <p:spPr>
          <a:xfrm>
            <a:off x="729025" y="3636425"/>
            <a:ext cx="4119900" cy="106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The graph on the right is three-connected! 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(removing the three </a:t>
            </a:r>
            <a:r>
              <a:rPr b="1" lang="en">
                <a:solidFill>
                  <a:srgbClr val="FF0000"/>
                </a:solidFill>
              </a:rPr>
              <a:t>red </a:t>
            </a:r>
            <a:r>
              <a:rPr b="1" lang="en"/>
              <a:t>nodes disconnects the graph)</a:t>
            </a:r>
            <a:endParaRPr b="1"/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79" name="Shape 9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0" name="Google Shape;9380;p41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Menger’s Theorem</a:t>
            </a:r>
            <a:endParaRPr/>
          </a:p>
        </p:txBody>
      </p:sp>
      <p:sp>
        <p:nvSpPr>
          <p:cNvPr id="9381" name="Google Shape;9381;p410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2" name="Google Shape;9382;p410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3" name="Google Shape;9383;p410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4" name="Google Shape;9384;p410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85" name="Google Shape;9385;p410"/>
          <p:cNvCxnSpPr>
            <a:stCxn id="9381" idx="3"/>
            <a:endCxn id="9382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86" name="Google Shape;9386;p410"/>
          <p:cNvCxnSpPr>
            <a:stCxn id="9384" idx="1"/>
            <a:endCxn id="9382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87" name="Google Shape;9387;p410"/>
          <p:cNvCxnSpPr>
            <a:stCxn id="9381" idx="4"/>
            <a:endCxn id="9384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88" name="Google Shape;9388;p410"/>
          <p:cNvCxnSpPr>
            <a:stCxn id="9381" idx="5"/>
            <a:endCxn id="9383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89" name="Google Shape;9389;p410"/>
          <p:cNvCxnSpPr>
            <a:stCxn id="9383" idx="2"/>
            <a:endCxn id="9382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90" name="Google Shape;9390;p410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1" name="Google Shape;9391;p410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2" name="Google Shape;9392;p410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3" name="Google Shape;9393;p410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94" name="Google Shape;9394;p410"/>
          <p:cNvCxnSpPr>
            <a:stCxn id="9390" idx="3"/>
            <a:endCxn id="9391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95" name="Google Shape;9395;p410"/>
          <p:cNvCxnSpPr>
            <a:stCxn id="9393" idx="0"/>
            <a:endCxn id="9391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96" name="Google Shape;9396;p410"/>
          <p:cNvCxnSpPr>
            <a:stCxn id="9390" idx="5"/>
            <a:endCxn id="9392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97" name="Google Shape;9397;p410"/>
          <p:cNvCxnSpPr>
            <a:stCxn id="9392" idx="2"/>
            <a:endCxn id="9391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98" name="Google Shape;9398;p410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99" name="Google Shape;9399;p410"/>
          <p:cNvCxnSpPr>
            <a:stCxn id="9398" idx="0"/>
            <a:endCxn id="9391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00" name="Google Shape;9400;p410"/>
          <p:cNvCxnSpPr>
            <a:stCxn id="9392" idx="3"/>
            <a:endCxn id="9393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01" name="Google Shape;9401;p410"/>
          <p:cNvCxnSpPr>
            <a:stCxn id="9392" idx="3"/>
            <a:endCxn id="9398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02" name="Google Shape;9402;p410"/>
          <p:cNvCxnSpPr>
            <a:stCxn id="9390" idx="4"/>
            <a:endCxn id="9398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03" name="Google Shape;9403;p410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4" name="Google Shape;9404;p410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5" name="Google Shape;9405;p410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06" name="Google Shape;9406;p410"/>
          <p:cNvCxnSpPr>
            <a:stCxn id="9403" idx="3"/>
            <a:endCxn id="9404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07" name="Google Shape;9407;p410"/>
          <p:cNvCxnSpPr>
            <a:stCxn id="9403" idx="5"/>
            <a:endCxn id="9405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08" name="Google Shape;9408;p410"/>
          <p:cNvCxnSpPr>
            <a:stCxn id="9405" idx="2"/>
            <a:endCxn id="9404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09" name="Google Shape;9409;p410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10" name="Google Shape;9410;p410"/>
          <p:cNvCxnSpPr>
            <a:stCxn id="9409" idx="2"/>
            <a:endCxn id="9404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11" name="Google Shape;9411;p410"/>
          <p:cNvCxnSpPr>
            <a:stCxn id="9409" idx="0"/>
            <a:endCxn id="9403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12" name="Google Shape;9412;p410"/>
          <p:cNvCxnSpPr>
            <a:stCxn id="9383" idx="5"/>
            <a:endCxn id="9404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13" name="Google Shape;9413;p410"/>
          <p:cNvCxnSpPr>
            <a:stCxn id="9383" idx="7"/>
            <a:endCxn id="9393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14" name="Google Shape;9414;p410"/>
          <p:cNvCxnSpPr>
            <a:stCxn id="9398" idx="3"/>
            <a:endCxn id="9403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15" name="Google Shape;9415;p410"/>
          <p:cNvCxnSpPr>
            <a:stCxn id="9392" idx="4"/>
            <a:endCxn id="9405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16" name="Google Shape;9416;p410"/>
          <p:cNvCxnSpPr>
            <a:stCxn id="9381" idx="6"/>
            <a:endCxn id="9398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17" name="Google Shape;9417;p410"/>
          <p:cNvCxnSpPr>
            <a:stCxn id="9384" idx="6"/>
            <a:endCxn id="9403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418" name="Google Shape;9418;p410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419" name="Google Shape;9419;p410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420" name="Google Shape;9420;p410"/>
            <p:cNvCxnSpPr>
              <a:stCxn id="9419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1" name="Google Shape;9421;p410"/>
            <p:cNvCxnSpPr>
              <a:endCxn id="9419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2" name="Google Shape;9422;p410"/>
            <p:cNvCxnSpPr>
              <a:stCxn id="9419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423" name="Google Shape;9423;p410"/>
          <p:cNvSpPr txBox="1"/>
          <p:nvPr>
            <p:ph idx="1" type="body"/>
          </p:nvPr>
        </p:nvSpPr>
        <p:spPr>
          <a:xfrm>
            <a:off x="311700" y="1225225"/>
            <a:ext cx="4290300" cy="23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Menger’s theorem states that: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If a graph is k-connected there are at least k paths that don’t share other nodes connecting each non-adjacent pair of nodes</a:t>
            </a:r>
            <a:endParaRPr b="1"/>
          </a:p>
          <a:p>
            <a:pPr indent="0" lvl="0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4" name="Google Shape;9424;p410"/>
          <p:cNvSpPr txBox="1"/>
          <p:nvPr/>
        </p:nvSpPr>
        <p:spPr>
          <a:xfrm>
            <a:off x="729025" y="3636425"/>
            <a:ext cx="4119900" cy="106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This means the two non-adjacent </a:t>
            </a:r>
            <a:r>
              <a:rPr b="1" lang="en">
                <a:solidFill>
                  <a:srgbClr val="38761D"/>
                </a:solidFill>
              </a:rPr>
              <a:t>green </a:t>
            </a:r>
            <a:r>
              <a:rPr b="1" lang="en"/>
              <a:t>nodes are indirectly connected in three separate (node-independent) ways!</a:t>
            </a:r>
            <a:endParaRPr b="1"/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28" name="Shape 9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9" name="Google Shape;9429;p41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Menger’s Theorem</a:t>
            </a:r>
            <a:endParaRPr/>
          </a:p>
        </p:txBody>
      </p:sp>
      <p:sp>
        <p:nvSpPr>
          <p:cNvPr id="9430" name="Google Shape;9430;p411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1" name="Google Shape;9431;p411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2" name="Google Shape;9432;p411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3" name="Google Shape;9433;p411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34" name="Google Shape;9434;p411"/>
          <p:cNvCxnSpPr>
            <a:stCxn id="9430" idx="3"/>
            <a:endCxn id="9431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35" name="Google Shape;9435;p411"/>
          <p:cNvCxnSpPr>
            <a:stCxn id="9433" idx="1"/>
            <a:endCxn id="9431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36" name="Google Shape;9436;p411"/>
          <p:cNvCxnSpPr>
            <a:stCxn id="9430" idx="4"/>
            <a:endCxn id="9433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37" name="Google Shape;9437;p411"/>
          <p:cNvCxnSpPr>
            <a:stCxn id="9430" idx="5"/>
            <a:endCxn id="9432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438" name="Google Shape;9438;p411"/>
          <p:cNvCxnSpPr>
            <a:stCxn id="9432" idx="2"/>
            <a:endCxn id="9431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39" name="Google Shape;9439;p411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0" name="Google Shape;9440;p411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1" name="Google Shape;9441;p411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2" name="Google Shape;9442;p411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43" name="Google Shape;9443;p411"/>
          <p:cNvCxnSpPr>
            <a:stCxn id="9439" idx="3"/>
            <a:endCxn id="9440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44" name="Google Shape;9444;p411"/>
          <p:cNvCxnSpPr>
            <a:stCxn id="9442" idx="0"/>
            <a:endCxn id="9440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45" name="Google Shape;9445;p411"/>
          <p:cNvCxnSpPr>
            <a:stCxn id="9439" idx="5"/>
            <a:endCxn id="9441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46" name="Google Shape;9446;p411"/>
          <p:cNvCxnSpPr>
            <a:stCxn id="9441" idx="2"/>
            <a:endCxn id="9440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47" name="Google Shape;9447;p411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48" name="Google Shape;9448;p411"/>
          <p:cNvCxnSpPr>
            <a:stCxn id="9447" idx="0"/>
            <a:endCxn id="9440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49" name="Google Shape;9449;p411"/>
          <p:cNvCxnSpPr>
            <a:stCxn id="9441" idx="3"/>
            <a:endCxn id="9442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50" name="Google Shape;9450;p411"/>
          <p:cNvCxnSpPr>
            <a:stCxn id="9441" idx="3"/>
            <a:endCxn id="9447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51" name="Google Shape;9451;p411"/>
          <p:cNvCxnSpPr>
            <a:stCxn id="9439" idx="4"/>
            <a:endCxn id="9447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52" name="Google Shape;9452;p411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3" name="Google Shape;9453;p411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4" name="Google Shape;9454;p411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55" name="Google Shape;9455;p411"/>
          <p:cNvCxnSpPr>
            <a:stCxn id="9452" idx="3"/>
            <a:endCxn id="945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56" name="Google Shape;9456;p411"/>
          <p:cNvCxnSpPr>
            <a:stCxn id="9452" idx="5"/>
            <a:endCxn id="9454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57" name="Google Shape;9457;p411"/>
          <p:cNvCxnSpPr>
            <a:stCxn id="9454" idx="2"/>
            <a:endCxn id="9453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58" name="Google Shape;9458;p411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59" name="Google Shape;9459;p411"/>
          <p:cNvCxnSpPr>
            <a:stCxn id="9458" idx="2"/>
            <a:endCxn id="945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60" name="Google Shape;9460;p411"/>
          <p:cNvCxnSpPr>
            <a:stCxn id="9458" idx="0"/>
            <a:endCxn id="945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61" name="Google Shape;9461;p411"/>
          <p:cNvCxnSpPr>
            <a:stCxn id="9432" idx="5"/>
            <a:endCxn id="9453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62" name="Google Shape;9462;p411"/>
          <p:cNvCxnSpPr>
            <a:stCxn id="9432" idx="7"/>
            <a:endCxn id="9442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463" name="Google Shape;9463;p411"/>
          <p:cNvCxnSpPr>
            <a:stCxn id="9447" idx="3"/>
            <a:endCxn id="9452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64" name="Google Shape;9464;p411"/>
          <p:cNvCxnSpPr>
            <a:stCxn id="9441" idx="4"/>
            <a:endCxn id="9454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65" name="Google Shape;9465;p411"/>
          <p:cNvCxnSpPr>
            <a:stCxn id="9430" idx="6"/>
            <a:endCxn id="9447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66" name="Google Shape;9466;p411"/>
          <p:cNvCxnSpPr>
            <a:stCxn id="9433" idx="6"/>
            <a:endCxn id="9452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467" name="Google Shape;9467;p411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468" name="Google Shape;9468;p411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469" name="Google Shape;9469;p411"/>
            <p:cNvCxnSpPr>
              <a:stCxn id="9468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70" name="Google Shape;9470;p411"/>
            <p:cNvCxnSpPr>
              <a:endCxn id="9468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71" name="Google Shape;9471;p411"/>
            <p:cNvCxnSpPr>
              <a:stCxn id="9468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472" name="Google Shape;9472;p411"/>
          <p:cNvSpPr txBox="1"/>
          <p:nvPr/>
        </p:nvSpPr>
        <p:spPr>
          <a:xfrm>
            <a:off x="6016300" y="1147225"/>
            <a:ext cx="4764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8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473" name="Google Shape;9473;p411"/>
          <p:cNvSpPr txBox="1"/>
          <p:nvPr>
            <p:ph idx="1" type="body"/>
          </p:nvPr>
        </p:nvSpPr>
        <p:spPr>
          <a:xfrm>
            <a:off x="311700" y="1225225"/>
            <a:ext cx="429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Menger’s theorem states that: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If a graph is k-connected there are at least k paths that don’t share other nodes connecting each non-adjacent pair of nodes</a:t>
            </a:r>
            <a:endParaRPr b="1"/>
          </a:p>
          <a:p>
            <a:pPr indent="0" lvl="0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4" name="Google Shape;9474;p411"/>
          <p:cNvSpPr txBox="1"/>
          <p:nvPr/>
        </p:nvSpPr>
        <p:spPr>
          <a:xfrm>
            <a:off x="729025" y="3636425"/>
            <a:ext cx="4119900" cy="106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This means the two non-adjacent </a:t>
            </a:r>
            <a:r>
              <a:rPr b="1" lang="en">
                <a:solidFill>
                  <a:srgbClr val="38761D"/>
                </a:solidFill>
              </a:rPr>
              <a:t>green </a:t>
            </a:r>
            <a:r>
              <a:rPr b="1" lang="en"/>
              <a:t>nodes are indirectly connected in three separate (node-independent) ways!</a:t>
            </a:r>
            <a:endParaRPr b="1"/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78" name="Shape 9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9" name="Google Shape;9479;p41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Menger’s Theorem</a:t>
            </a:r>
            <a:endParaRPr/>
          </a:p>
        </p:txBody>
      </p:sp>
      <p:sp>
        <p:nvSpPr>
          <p:cNvPr id="9480" name="Google Shape;9480;p412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38761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1" name="Google Shape;9481;p412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2" name="Google Shape;9482;p412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3" name="Google Shape;9483;p412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84" name="Google Shape;9484;p412"/>
          <p:cNvCxnSpPr>
            <a:stCxn id="9480" idx="3"/>
            <a:endCxn id="9481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85" name="Google Shape;9485;p412"/>
          <p:cNvCxnSpPr>
            <a:stCxn id="9483" idx="1"/>
            <a:endCxn id="9481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86" name="Google Shape;9486;p412"/>
          <p:cNvCxnSpPr>
            <a:stCxn id="9480" idx="4"/>
            <a:endCxn id="9483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87" name="Google Shape;9487;p412"/>
          <p:cNvCxnSpPr>
            <a:stCxn id="9480" idx="5"/>
            <a:endCxn id="9482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88" name="Google Shape;9488;p412"/>
          <p:cNvCxnSpPr>
            <a:stCxn id="9482" idx="2"/>
            <a:endCxn id="9481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89" name="Google Shape;9489;p412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0" name="Google Shape;9490;p412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1" name="Google Shape;9491;p412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2" name="Google Shape;9492;p412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38761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93" name="Google Shape;9493;p412"/>
          <p:cNvCxnSpPr>
            <a:stCxn id="9489" idx="3"/>
            <a:endCxn id="9490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94" name="Google Shape;9494;p412"/>
          <p:cNvCxnSpPr>
            <a:stCxn id="9492" idx="0"/>
            <a:endCxn id="9490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9495" name="Google Shape;9495;p412"/>
          <p:cNvCxnSpPr>
            <a:stCxn id="9489" idx="5"/>
            <a:endCxn id="9491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96" name="Google Shape;9496;p412"/>
          <p:cNvCxnSpPr>
            <a:stCxn id="9491" idx="2"/>
            <a:endCxn id="9490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97" name="Google Shape;9497;p412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98" name="Google Shape;9498;p412"/>
          <p:cNvCxnSpPr>
            <a:stCxn id="9497" idx="0"/>
            <a:endCxn id="9490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499" name="Google Shape;9499;p412"/>
          <p:cNvCxnSpPr>
            <a:stCxn id="9491" idx="3"/>
            <a:endCxn id="9492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00" name="Google Shape;9500;p412"/>
          <p:cNvCxnSpPr>
            <a:stCxn id="9491" idx="3"/>
            <a:endCxn id="9497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01" name="Google Shape;9501;p412"/>
          <p:cNvCxnSpPr>
            <a:stCxn id="9489" idx="4"/>
            <a:endCxn id="9497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02" name="Google Shape;9502;p412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3" name="Google Shape;9503;p412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4" name="Google Shape;9504;p412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05" name="Google Shape;9505;p412"/>
          <p:cNvCxnSpPr>
            <a:stCxn id="9502" idx="3"/>
            <a:endCxn id="950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06" name="Google Shape;9506;p412"/>
          <p:cNvCxnSpPr>
            <a:stCxn id="9502" idx="5"/>
            <a:endCxn id="9504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07" name="Google Shape;9507;p412"/>
          <p:cNvCxnSpPr>
            <a:stCxn id="9504" idx="2"/>
            <a:endCxn id="9503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08" name="Google Shape;9508;p412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09" name="Google Shape;9509;p412"/>
          <p:cNvCxnSpPr>
            <a:stCxn id="9508" idx="2"/>
            <a:endCxn id="950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10" name="Google Shape;9510;p412"/>
          <p:cNvCxnSpPr>
            <a:stCxn id="9508" idx="0"/>
            <a:endCxn id="950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11" name="Google Shape;9511;p412"/>
          <p:cNvCxnSpPr>
            <a:stCxn id="9482" idx="5"/>
            <a:endCxn id="9503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12" name="Google Shape;9512;p412"/>
          <p:cNvCxnSpPr>
            <a:stCxn id="9482" idx="7"/>
            <a:endCxn id="9492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13" name="Google Shape;9513;p412"/>
          <p:cNvCxnSpPr>
            <a:stCxn id="9497" idx="3"/>
            <a:endCxn id="9502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14" name="Google Shape;9514;p412"/>
          <p:cNvCxnSpPr>
            <a:stCxn id="9491" idx="4"/>
            <a:endCxn id="9504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15" name="Google Shape;9515;p412"/>
          <p:cNvCxnSpPr>
            <a:stCxn id="9480" idx="6"/>
            <a:endCxn id="9497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516" name="Google Shape;9516;p412"/>
          <p:cNvCxnSpPr>
            <a:stCxn id="9483" idx="6"/>
            <a:endCxn id="9502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517" name="Google Shape;9517;p412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518" name="Google Shape;9518;p412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519" name="Google Shape;9519;p412"/>
            <p:cNvCxnSpPr>
              <a:stCxn id="9518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20" name="Google Shape;9520;p412"/>
            <p:cNvCxnSpPr>
              <a:endCxn id="9518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21" name="Google Shape;9521;p412"/>
            <p:cNvCxnSpPr>
              <a:stCxn id="9518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522" name="Google Shape;9522;p412"/>
          <p:cNvSpPr txBox="1"/>
          <p:nvPr/>
        </p:nvSpPr>
        <p:spPr>
          <a:xfrm>
            <a:off x="6016300" y="1147225"/>
            <a:ext cx="4764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18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523" name="Google Shape;9523;p412"/>
          <p:cNvSpPr txBox="1"/>
          <p:nvPr>
            <p:ph idx="1" type="body"/>
          </p:nvPr>
        </p:nvSpPr>
        <p:spPr>
          <a:xfrm>
            <a:off x="311700" y="1225225"/>
            <a:ext cx="429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Menger’s theorem states that: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If a graph is k-connected there are at least k paths that don’t share other nodes connecting each non-adjacent pair of nodes</a:t>
            </a:r>
            <a:endParaRPr b="1"/>
          </a:p>
          <a:p>
            <a:pPr indent="0" lvl="0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4" name="Google Shape;9524;p412"/>
          <p:cNvSpPr txBox="1"/>
          <p:nvPr/>
        </p:nvSpPr>
        <p:spPr>
          <a:xfrm>
            <a:off x="729025" y="3636425"/>
            <a:ext cx="4119900" cy="106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This means the two non-adjacent </a:t>
            </a:r>
            <a:r>
              <a:rPr b="1" lang="en">
                <a:solidFill>
                  <a:srgbClr val="38761D"/>
                </a:solidFill>
              </a:rPr>
              <a:t>green </a:t>
            </a:r>
            <a:r>
              <a:rPr b="1" lang="en"/>
              <a:t>nodes are indirectly connected in three separate (node-independent) ways!</a:t>
            </a:r>
            <a:endParaRPr b="1"/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28" name="Shape 9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9" name="Google Shape;9529;p41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Menger’s Theorem</a:t>
            </a:r>
            <a:endParaRPr/>
          </a:p>
        </p:txBody>
      </p:sp>
      <p:sp>
        <p:nvSpPr>
          <p:cNvPr id="9530" name="Google Shape;9530;p413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38761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1" name="Google Shape;9531;p413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2" name="Google Shape;9532;p413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3" name="Google Shape;9533;p413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34" name="Google Shape;9534;p413"/>
          <p:cNvCxnSpPr>
            <a:stCxn id="9530" idx="3"/>
            <a:endCxn id="9531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35" name="Google Shape;9535;p413"/>
          <p:cNvCxnSpPr>
            <a:stCxn id="9533" idx="1"/>
            <a:endCxn id="9531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36" name="Google Shape;9536;p413"/>
          <p:cNvCxnSpPr>
            <a:stCxn id="9530" idx="4"/>
            <a:endCxn id="9533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537" name="Google Shape;9537;p413"/>
          <p:cNvCxnSpPr>
            <a:stCxn id="9530" idx="5"/>
            <a:endCxn id="9532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38" name="Google Shape;9538;p413"/>
          <p:cNvCxnSpPr>
            <a:stCxn id="9532" idx="2"/>
            <a:endCxn id="9531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39" name="Google Shape;9539;p413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0" name="Google Shape;9540;p413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1" name="Google Shape;9541;p413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2" name="Google Shape;9542;p413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38761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43" name="Google Shape;9543;p413"/>
          <p:cNvCxnSpPr>
            <a:stCxn id="9539" idx="3"/>
            <a:endCxn id="9540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44" name="Google Shape;9544;p413"/>
          <p:cNvCxnSpPr>
            <a:stCxn id="9542" idx="0"/>
            <a:endCxn id="9540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45" name="Google Shape;9545;p413"/>
          <p:cNvCxnSpPr>
            <a:stCxn id="9539" idx="5"/>
            <a:endCxn id="9541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46" name="Google Shape;9546;p413"/>
          <p:cNvCxnSpPr>
            <a:stCxn id="9541" idx="2"/>
            <a:endCxn id="9540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47" name="Google Shape;9547;p413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48" name="Google Shape;9548;p413"/>
          <p:cNvCxnSpPr>
            <a:stCxn id="9547" idx="0"/>
            <a:endCxn id="9540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49" name="Google Shape;9549;p413"/>
          <p:cNvCxnSpPr>
            <a:stCxn id="9541" idx="3"/>
            <a:endCxn id="9542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550" name="Google Shape;9550;p413"/>
          <p:cNvCxnSpPr>
            <a:stCxn id="9541" idx="3"/>
            <a:endCxn id="9547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51" name="Google Shape;9551;p413"/>
          <p:cNvCxnSpPr>
            <a:stCxn id="9539" idx="4"/>
            <a:endCxn id="9547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52" name="Google Shape;9552;p413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3" name="Google Shape;9553;p413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4" name="Google Shape;9554;p413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55" name="Google Shape;9555;p413"/>
          <p:cNvCxnSpPr>
            <a:stCxn id="9552" idx="3"/>
            <a:endCxn id="955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56" name="Google Shape;9556;p413"/>
          <p:cNvCxnSpPr>
            <a:stCxn id="9552" idx="5"/>
            <a:endCxn id="9554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9557" name="Google Shape;9557;p413"/>
          <p:cNvCxnSpPr>
            <a:stCxn id="9554" idx="2"/>
            <a:endCxn id="9553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58" name="Google Shape;9558;p413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59" name="Google Shape;9559;p413"/>
          <p:cNvCxnSpPr>
            <a:stCxn id="9558" idx="2"/>
            <a:endCxn id="955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60" name="Google Shape;9560;p413"/>
          <p:cNvCxnSpPr>
            <a:stCxn id="9558" idx="0"/>
            <a:endCxn id="955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61" name="Google Shape;9561;p413"/>
          <p:cNvCxnSpPr>
            <a:stCxn id="9532" idx="5"/>
            <a:endCxn id="9553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62" name="Google Shape;9562;p413"/>
          <p:cNvCxnSpPr>
            <a:stCxn id="9532" idx="7"/>
            <a:endCxn id="9542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63" name="Google Shape;9563;p413"/>
          <p:cNvCxnSpPr>
            <a:stCxn id="9547" idx="3"/>
            <a:endCxn id="9552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64" name="Google Shape;9564;p413"/>
          <p:cNvCxnSpPr>
            <a:stCxn id="9541" idx="4"/>
            <a:endCxn id="9554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9565" name="Google Shape;9565;p413"/>
          <p:cNvCxnSpPr>
            <a:stCxn id="9530" idx="6"/>
            <a:endCxn id="9547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66" name="Google Shape;9566;p413"/>
          <p:cNvCxnSpPr>
            <a:stCxn id="9533" idx="6"/>
            <a:endCxn id="9552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grpSp>
        <p:nvGrpSpPr>
          <p:cNvPr id="9567" name="Google Shape;9567;p413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568" name="Google Shape;9568;p413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569" name="Google Shape;9569;p413"/>
            <p:cNvCxnSpPr>
              <a:stCxn id="9568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0" name="Google Shape;9570;p413"/>
            <p:cNvCxnSpPr>
              <a:endCxn id="9568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1" name="Google Shape;9571;p413"/>
            <p:cNvCxnSpPr>
              <a:stCxn id="9568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572" name="Google Shape;9572;p413"/>
          <p:cNvSpPr txBox="1"/>
          <p:nvPr/>
        </p:nvSpPr>
        <p:spPr>
          <a:xfrm>
            <a:off x="6016300" y="1147225"/>
            <a:ext cx="4764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endParaRPr b="1" sz="18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573" name="Google Shape;9573;p413"/>
          <p:cNvSpPr txBox="1"/>
          <p:nvPr>
            <p:ph idx="1" type="body"/>
          </p:nvPr>
        </p:nvSpPr>
        <p:spPr>
          <a:xfrm>
            <a:off x="311700" y="1225225"/>
            <a:ext cx="429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Menger’s theorem states that: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If a graph is k-connected there are at least k paths that don’t share other nodes connecting each non-adjacent pair of nodes</a:t>
            </a:r>
            <a:endParaRPr b="1"/>
          </a:p>
          <a:p>
            <a:pPr indent="0" lvl="0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4" name="Google Shape;9574;p413"/>
          <p:cNvSpPr txBox="1"/>
          <p:nvPr/>
        </p:nvSpPr>
        <p:spPr>
          <a:xfrm>
            <a:off x="729025" y="3636425"/>
            <a:ext cx="4119900" cy="106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This means the two non-adjacent </a:t>
            </a:r>
            <a:r>
              <a:rPr b="1" lang="en">
                <a:solidFill>
                  <a:srgbClr val="38761D"/>
                </a:solidFill>
              </a:rPr>
              <a:t>green </a:t>
            </a:r>
            <a:r>
              <a:rPr b="1" lang="en"/>
              <a:t>nodes are indirectly connected in three separate (node-independent) ways!</a:t>
            </a:r>
            <a:endParaRPr b="1"/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78" name="Shape 9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9" name="Google Shape;9579;p41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Menger’s Theorem</a:t>
            </a:r>
            <a:endParaRPr/>
          </a:p>
        </p:txBody>
      </p:sp>
      <p:sp>
        <p:nvSpPr>
          <p:cNvPr id="9580" name="Google Shape;9580;p414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1" name="Google Shape;9581;p414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2" name="Google Shape;9582;p414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3" name="Google Shape;9583;p414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84" name="Google Shape;9584;p414"/>
          <p:cNvCxnSpPr>
            <a:stCxn id="9580" idx="3"/>
            <a:endCxn id="9581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85" name="Google Shape;9585;p414"/>
          <p:cNvCxnSpPr>
            <a:stCxn id="9583" idx="1"/>
            <a:endCxn id="9581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86" name="Google Shape;9586;p414"/>
          <p:cNvCxnSpPr>
            <a:stCxn id="9580" idx="4"/>
            <a:endCxn id="9583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87" name="Google Shape;9587;p414"/>
          <p:cNvCxnSpPr>
            <a:stCxn id="9580" idx="5"/>
            <a:endCxn id="9582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88" name="Google Shape;9588;p414"/>
          <p:cNvCxnSpPr>
            <a:stCxn id="9582" idx="2"/>
            <a:endCxn id="9581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89" name="Google Shape;9589;p414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0" name="Google Shape;9590;p414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1" name="Google Shape;9591;p414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2" name="Google Shape;9592;p414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rgbClr val="38761D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93" name="Google Shape;9593;p414"/>
          <p:cNvCxnSpPr>
            <a:stCxn id="9589" idx="3"/>
            <a:endCxn id="9590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94" name="Google Shape;9594;p414"/>
          <p:cNvCxnSpPr>
            <a:stCxn id="9592" idx="0"/>
            <a:endCxn id="9590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95" name="Google Shape;9595;p414"/>
          <p:cNvCxnSpPr>
            <a:stCxn id="9589" idx="5"/>
            <a:endCxn id="9591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96" name="Google Shape;9596;p414"/>
          <p:cNvCxnSpPr>
            <a:stCxn id="9591" idx="2"/>
            <a:endCxn id="9590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97" name="Google Shape;9597;p414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98" name="Google Shape;9598;p414"/>
          <p:cNvCxnSpPr>
            <a:stCxn id="9597" idx="0"/>
            <a:endCxn id="9590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99" name="Google Shape;9599;p414"/>
          <p:cNvCxnSpPr>
            <a:stCxn id="9591" idx="3"/>
            <a:endCxn id="9592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00" name="Google Shape;9600;p414"/>
          <p:cNvCxnSpPr>
            <a:stCxn id="9591" idx="3"/>
            <a:endCxn id="9597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01" name="Google Shape;9601;p414"/>
          <p:cNvCxnSpPr>
            <a:stCxn id="9589" idx="4"/>
            <a:endCxn id="9597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02" name="Google Shape;9602;p414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3" name="Google Shape;9603;p414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4" name="Google Shape;9604;p414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05" name="Google Shape;9605;p414"/>
          <p:cNvCxnSpPr>
            <a:stCxn id="9602" idx="3"/>
            <a:endCxn id="960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06" name="Google Shape;9606;p414"/>
          <p:cNvCxnSpPr>
            <a:stCxn id="9602" idx="5"/>
            <a:endCxn id="9604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07" name="Google Shape;9607;p414"/>
          <p:cNvCxnSpPr>
            <a:stCxn id="9604" idx="2"/>
            <a:endCxn id="9603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08" name="Google Shape;9608;p414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09" name="Google Shape;9609;p414"/>
          <p:cNvCxnSpPr>
            <a:stCxn id="9608" idx="2"/>
            <a:endCxn id="960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10" name="Google Shape;9610;p414"/>
          <p:cNvCxnSpPr>
            <a:stCxn id="9608" idx="0"/>
            <a:endCxn id="960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11" name="Google Shape;9611;p414"/>
          <p:cNvCxnSpPr>
            <a:stCxn id="9582" idx="5"/>
            <a:endCxn id="9603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12" name="Google Shape;9612;p414"/>
          <p:cNvCxnSpPr>
            <a:stCxn id="9582" idx="7"/>
            <a:endCxn id="9592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13" name="Google Shape;9613;p414"/>
          <p:cNvCxnSpPr>
            <a:stCxn id="9597" idx="3"/>
            <a:endCxn id="9602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14" name="Google Shape;9614;p414"/>
          <p:cNvCxnSpPr>
            <a:stCxn id="9591" idx="4"/>
            <a:endCxn id="9604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15" name="Google Shape;9615;p414"/>
          <p:cNvCxnSpPr>
            <a:stCxn id="9580" idx="6"/>
            <a:endCxn id="9597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16" name="Google Shape;9616;p414"/>
          <p:cNvCxnSpPr>
            <a:stCxn id="9583" idx="6"/>
            <a:endCxn id="9602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617" name="Google Shape;9617;p414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618" name="Google Shape;9618;p414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619" name="Google Shape;9619;p414"/>
            <p:cNvCxnSpPr>
              <a:stCxn id="9618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20" name="Google Shape;9620;p414"/>
            <p:cNvCxnSpPr>
              <a:endCxn id="9618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21" name="Google Shape;9621;p414"/>
            <p:cNvCxnSpPr>
              <a:stCxn id="9618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622" name="Google Shape;9622;p414"/>
          <p:cNvSpPr txBox="1"/>
          <p:nvPr>
            <p:ph idx="1" type="body"/>
          </p:nvPr>
        </p:nvSpPr>
        <p:spPr>
          <a:xfrm>
            <a:off x="311700" y="1225225"/>
            <a:ext cx="4290300" cy="23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Menger’s theorem states that: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If a graph is k-connected there are at least k paths that don’t share other nodes connecting each non-adjacent pair of nodes</a:t>
            </a:r>
            <a:endParaRPr b="1"/>
          </a:p>
          <a:p>
            <a:pPr indent="0" lvl="0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3" name="Google Shape;9623;p414"/>
          <p:cNvSpPr txBox="1"/>
          <p:nvPr/>
        </p:nvSpPr>
        <p:spPr>
          <a:xfrm>
            <a:off x="729025" y="3636425"/>
            <a:ext cx="4119900" cy="106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an important result in graph theory!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27" name="Shape 9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8" name="Google Shape;9628;p41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  <p:sp>
        <p:nvSpPr>
          <p:cNvPr id="9629" name="Google Shape;9629;p415"/>
          <p:cNvSpPr txBox="1"/>
          <p:nvPr>
            <p:ph idx="1" type="body"/>
          </p:nvPr>
        </p:nvSpPr>
        <p:spPr>
          <a:xfrm>
            <a:off x="311700" y="1225225"/>
            <a:ext cx="4692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K-connectivity (graph theory) can represent  concept of </a:t>
            </a:r>
            <a:r>
              <a:rPr b="1" lang="en"/>
              <a:t>social</a:t>
            </a:r>
            <a:r>
              <a:rPr lang="en"/>
              <a:t> </a:t>
            </a:r>
            <a:r>
              <a:rPr b="1" lang="en"/>
              <a:t>cohesion</a:t>
            </a:r>
            <a:r>
              <a:rPr lang="en"/>
              <a:t> (network theory):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</a:t>
            </a:r>
            <a:r>
              <a:rPr b="1" lang="en"/>
              <a:t>larger</a:t>
            </a:r>
            <a:r>
              <a:rPr lang="en"/>
              <a:t> the (edge, node) cutset the </a:t>
            </a:r>
            <a:r>
              <a:rPr b="1" lang="en"/>
              <a:t>more</a:t>
            </a:r>
            <a:r>
              <a:rPr lang="en"/>
              <a:t> </a:t>
            </a:r>
            <a:r>
              <a:rPr b="1" lang="en"/>
              <a:t>cohesive</a:t>
            </a:r>
            <a:r>
              <a:rPr lang="en"/>
              <a:t> (integrated) groups are with one another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</a:t>
            </a:r>
            <a:r>
              <a:rPr b="1" lang="en"/>
              <a:t>smaller</a:t>
            </a:r>
            <a:r>
              <a:rPr lang="en"/>
              <a:t> the (edge, node) cutset the less cohesive and more potentially </a:t>
            </a:r>
            <a:r>
              <a:rPr b="1" lang="en"/>
              <a:t>fragmented</a:t>
            </a:r>
            <a:r>
              <a:rPr lang="en"/>
              <a:t> the group structure is</a:t>
            </a:r>
            <a:endParaRPr/>
          </a:p>
        </p:txBody>
      </p:sp>
      <p:sp>
        <p:nvSpPr>
          <p:cNvPr id="9630" name="Google Shape;9630;p415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1" name="Google Shape;9631;p415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2" name="Google Shape;9632;p415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3" name="Google Shape;9633;p415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34" name="Google Shape;9634;p415"/>
          <p:cNvCxnSpPr>
            <a:stCxn id="9630" idx="3"/>
            <a:endCxn id="9631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35" name="Google Shape;9635;p415"/>
          <p:cNvCxnSpPr>
            <a:stCxn id="9633" idx="1"/>
            <a:endCxn id="9631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36" name="Google Shape;9636;p415"/>
          <p:cNvCxnSpPr>
            <a:stCxn id="9630" idx="4"/>
            <a:endCxn id="9633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37" name="Google Shape;9637;p415"/>
          <p:cNvCxnSpPr>
            <a:stCxn id="9630" idx="5"/>
            <a:endCxn id="9632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38" name="Google Shape;9638;p415"/>
          <p:cNvCxnSpPr>
            <a:stCxn id="9632" idx="2"/>
            <a:endCxn id="9631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39" name="Google Shape;9639;p415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0" name="Google Shape;9640;p415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1" name="Google Shape;9641;p415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2" name="Google Shape;9642;p415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43" name="Google Shape;9643;p415"/>
          <p:cNvCxnSpPr>
            <a:stCxn id="9639" idx="3"/>
            <a:endCxn id="9640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44" name="Google Shape;9644;p415"/>
          <p:cNvCxnSpPr>
            <a:stCxn id="9642" idx="0"/>
            <a:endCxn id="9640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45" name="Google Shape;9645;p415"/>
          <p:cNvCxnSpPr>
            <a:stCxn id="9639" idx="5"/>
            <a:endCxn id="9641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46" name="Google Shape;9646;p415"/>
          <p:cNvCxnSpPr>
            <a:stCxn id="9641" idx="2"/>
            <a:endCxn id="9640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47" name="Google Shape;9647;p415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48" name="Google Shape;9648;p415"/>
          <p:cNvCxnSpPr>
            <a:stCxn id="9647" idx="0"/>
            <a:endCxn id="9640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49" name="Google Shape;9649;p415"/>
          <p:cNvCxnSpPr>
            <a:stCxn id="9641" idx="3"/>
            <a:endCxn id="9642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50" name="Google Shape;9650;p415"/>
          <p:cNvCxnSpPr>
            <a:stCxn id="9641" idx="3"/>
            <a:endCxn id="9647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51" name="Google Shape;9651;p415"/>
          <p:cNvCxnSpPr>
            <a:stCxn id="9639" idx="4"/>
            <a:endCxn id="9647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52" name="Google Shape;9652;p415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3" name="Google Shape;9653;p415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4" name="Google Shape;9654;p415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55" name="Google Shape;9655;p415"/>
          <p:cNvCxnSpPr>
            <a:stCxn id="9652" idx="3"/>
            <a:endCxn id="9653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56" name="Google Shape;9656;p415"/>
          <p:cNvCxnSpPr>
            <a:stCxn id="9652" idx="5"/>
            <a:endCxn id="9654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57" name="Google Shape;9657;p415"/>
          <p:cNvCxnSpPr>
            <a:stCxn id="9654" idx="2"/>
            <a:endCxn id="9653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58" name="Google Shape;9658;p415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59" name="Google Shape;9659;p415"/>
          <p:cNvCxnSpPr>
            <a:stCxn id="9658" idx="2"/>
            <a:endCxn id="9653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60" name="Google Shape;9660;p415"/>
          <p:cNvCxnSpPr>
            <a:stCxn id="9658" idx="0"/>
            <a:endCxn id="9652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61" name="Google Shape;9661;p415"/>
          <p:cNvCxnSpPr>
            <a:stCxn id="9632" idx="5"/>
            <a:endCxn id="9653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62" name="Google Shape;9662;p415"/>
          <p:cNvCxnSpPr>
            <a:stCxn id="9632" idx="7"/>
            <a:endCxn id="9642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63" name="Google Shape;9663;p415"/>
          <p:cNvCxnSpPr>
            <a:stCxn id="9647" idx="3"/>
            <a:endCxn id="9652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64" name="Google Shape;9664;p415"/>
          <p:cNvCxnSpPr>
            <a:stCxn id="9641" idx="4"/>
            <a:endCxn id="9654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65" name="Google Shape;9665;p415"/>
          <p:cNvCxnSpPr>
            <a:stCxn id="9630" idx="6"/>
            <a:endCxn id="9647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66" name="Google Shape;9666;p415"/>
          <p:cNvCxnSpPr>
            <a:stCxn id="9633" idx="6"/>
            <a:endCxn id="9652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667" name="Google Shape;9667;p415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668" name="Google Shape;9668;p415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669" name="Google Shape;9669;p415"/>
            <p:cNvCxnSpPr>
              <a:stCxn id="9668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70" name="Google Shape;9670;p415"/>
            <p:cNvCxnSpPr>
              <a:endCxn id="9668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71" name="Google Shape;9671;p415"/>
            <p:cNvCxnSpPr>
              <a:stCxn id="9668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75" name="Shape 9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6" name="Google Shape;9676;p41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  <p:sp>
        <p:nvSpPr>
          <p:cNvPr id="9677" name="Google Shape;9677;p416"/>
          <p:cNvSpPr txBox="1"/>
          <p:nvPr>
            <p:ph idx="1" type="body"/>
          </p:nvPr>
        </p:nvSpPr>
        <p:spPr>
          <a:xfrm>
            <a:off x="311700" y="1225225"/>
            <a:ext cx="4692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K-connectivity (graph theory) can represent  concept of </a:t>
            </a:r>
            <a:r>
              <a:rPr b="1" lang="en"/>
              <a:t>social</a:t>
            </a:r>
            <a:r>
              <a:rPr lang="en"/>
              <a:t> </a:t>
            </a:r>
            <a:r>
              <a:rPr b="1" lang="en"/>
              <a:t>cohesion</a:t>
            </a:r>
            <a:r>
              <a:rPr lang="en"/>
              <a:t> (network theory):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</a:t>
            </a:r>
            <a:r>
              <a:rPr b="1" lang="en"/>
              <a:t>more k-connectivity </a:t>
            </a:r>
            <a:r>
              <a:rPr lang="en"/>
              <a:t>the </a:t>
            </a:r>
            <a:r>
              <a:rPr b="1" lang="en"/>
              <a:t>more</a:t>
            </a:r>
            <a:r>
              <a:rPr lang="en"/>
              <a:t> </a:t>
            </a:r>
            <a:r>
              <a:rPr b="1" lang="en"/>
              <a:t>cohesive (integrated)</a:t>
            </a:r>
            <a:r>
              <a:rPr lang="en"/>
              <a:t> the group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More people would have to be removed to disrupt the group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Any graph can be split into subgraphs with any given level of k-connectivity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8" name="Google Shape;9678;p416"/>
          <p:cNvSpPr/>
          <p:nvPr/>
        </p:nvSpPr>
        <p:spPr>
          <a:xfrm>
            <a:off x="5844988" y="20950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9" name="Google Shape;9679;p416"/>
          <p:cNvSpPr/>
          <p:nvPr/>
        </p:nvSpPr>
        <p:spPr>
          <a:xfrm>
            <a:off x="5370463" y="2640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0" name="Google Shape;9680;p416"/>
          <p:cNvSpPr/>
          <p:nvPr/>
        </p:nvSpPr>
        <p:spPr>
          <a:xfrm>
            <a:off x="6370588" y="2529613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1" name="Google Shape;9681;p416"/>
          <p:cNvSpPr/>
          <p:nvPr/>
        </p:nvSpPr>
        <p:spPr>
          <a:xfrm>
            <a:off x="5875288" y="308213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82" name="Google Shape;9682;p416"/>
          <p:cNvCxnSpPr>
            <a:stCxn id="9678" idx="3"/>
            <a:endCxn id="9679" idx="7"/>
          </p:cNvCxnSpPr>
          <p:nvPr/>
        </p:nvCxnSpPr>
        <p:spPr>
          <a:xfrm flipH="1">
            <a:off x="5516674" y="2241301"/>
            <a:ext cx="353400" cy="42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83" name="Google Shape;9683;p416"/>
          <p:cNvCxnSpPr>
            <a:stCxn id="9681" idx="1"/>
            <a:endCxn id="9679" idx="5"/>
          </p:cNvCxnSpPr>
          <p:nvPr/>
        </p:nvCxnSpPr>
        <p:spPr>
          <a:xfrm rot="10800000">
            <a:off x="5516674" y="2787124"/>
            <a:ext cx="383700" cy="32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84" name="Google Shape;9684;p416"/>
          <p:cNvCxnSpPr>
            <a:stCxn id="9678" idx="4"/>
            <a:endCxn id="9681" idx="1"/>
          </p:cNvCxnSpPr>
          <p:nvPr/>
        </p:nvCxnSpPr>
        <p:spPr>
          <a:xfrm flipH="1">
            <a:off x="5900338" y="2266388"/>
            <a:ext cx="30300" cy="8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85" name="Google Shape;9685;p416"/>
          <p:cNvCxnSpPr>
            <a:stCxn id="9678" idx="5"/>
            <a:endCxn id="9680" idx="1"/>
          </p:cNvCxnSpPr>
          <p:nvPr/>
        </p:nvCxnSpPr>
        <p:spPr>
          <a:xfrm>
            <a:off x="5991201" y="2241301"/>
            <a:ext cx="404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86" name="Google Shape;9686;p416"/>
          <p:cNvCxnSpPr>
            <a:stCxn id="9680" idx="2"/>
            <a:endCxn id="9679" idx="6"/>
          </p:cNvCxnSpPr>
          <p:nvPr/>
        </p:nvCxnSpPr>
        <p:spPr>
          <a:xfrm flipH="1">
            <a:off x="5541688" y="2615263"/>
            <a:ext cx="828900" cy="111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87" name="Google Shape;9687;p416"/>
          <p:cNvSpPr/>
          <p:nvPr/>
        </p:nvSpPr>
        <p:spPr>
          <a:xfrm>
            <a:off x="7820950" y="6538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8" name="Google Shape;9688;p416"/>
          <p:cNvSpPr/>
          <p:nvPr/>
        </p:nvSpPr>
        <p:spPr>
          <a:xfrm>
            <a:off x="7200175" y="9267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9" name="Google Shape;9689;p416"/>
          <p:cNvSpPr/>
          <p:nvPr/>
        </p:nvSpPr>
        <p:spPr>
          <a:xfrm>
            <a:off x="8181075" y="1237988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0" name="Google Shape;9690;p416"/>
          <p:cNvSpPr/>
          <p:nvPr/>
        </p:nvSpPr>
        <p:spPr>
          <a:xfrm>
            <a:off x="7246000" y="1494713"/>
            <a:ext cx="171300" cy="171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91" name="Google Shape;9691;p416"/>
          <p:cNvCxnSpPr>
            <a:stCxn id="9687" idx="3"/>
            <a:endCxn id="9688" idx="7"/>
          </p:cNvCxnSpPr>
          <p:nvPr/>
        </p:nvCxnSpPr>
        <p:spPr>
          <a:xfrm flipH="1">
            <a:off x="7346536" y="800026"/>
            <a:ext cx="499500" cy="151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92" name="Google Shape;9692;p416"/>
          <p:cNvCxnSpPr>
            <a:stCxn id="9690" idx="0"/>
            <a:endCxn id="9688" idx="4"/>
          </p:cNvCxnSpPr>
          <p:nvPr/>
        </p:nvCxnSpPr>
        <p:spPr>
          <a:xfrm rot="10800000">
            <a:off x="7285750" y="1098113"/>
            <a:ext cx="45900" cy="396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93" name="Google Shape;9693;p416"/>
          <p:cNvCxnSpPr>
            <a:stCxn id="9687" idx="5"/>
            <a:endCxn id="9689" idx="1"/>
          </p:cNvCxnSpPr>
          <p:nvPr/>
        </p:nvCxnSpPr>
        <p:spPr>
          <a:xfrm>
            <a:off x="7967164" y="800026"/>
            <a:ext cx="239100" cy="46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94" name="Google Shape;9694;p416"/>
          <p:cNvCxnSpPr>
            <a:stCxn id="9689" idx="2"/>
            <a:endCxn id="9688" idx="6"/>
          </p:cNvCxnSpPr>
          <p:nvPr/>
        </p:nvCxnSpPr>
        <p:spPr>
          <a:xfrm rot="10800000">
            <a:off x="7371375" y="1012538"/>
            <a:ext cx="809700" cy="311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95" name="Google Shape;9695;p416"/>
          <p:cNvSpPr/>
          <p:nvPr/>
        </p:nvSpPr>
        <p:spPr>
          <a:xfrm>
            <a:off x="7820950" y="1806138"/>
            <a:ext cx="171300" cy="171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96" name="Google Shape;9696;p416"/>
          <p:cNvCxnSpPr>
            <a:stCxn id="9695" idx="0"/>
            <a:endCxn id="9688" idx="6"/>
          </p:cNvCxnSpPr>
          <p:nvPr/>
        </p:nvCxnSpPr>
        <p:spPr>
          <a:xfrm rot="10800000">
            <a:off x="7371400" y="1012338"/>
            <a:ext cx="535200" cy="79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97" name="Google Shape;9697;p416"/>
          <p:cNvCxnSpPr>
            <a:stCxn id="9689" idx="3"/>
            <a:endCxn id="9690" idx="6"/>
          </p:cNvCxnSpPr>
          <p:nvPr/>
        </p:nvCxnSpPr>
        <p:spPr>
          <a:xfrm flipH="1">
            <a:off x="7417161" y="1384201"/>
            <a:ext cx="789000" cy="196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98" name="Google Shape;9698;p416"/>
          <p:cNvCxnSpPr>
            <a:stCxn id="9689" idx="3"/>
            <a:endCxn id="9695" idx="1"/>
          </p:cNvCxnSpPr>
          <p:nvPr/>
        </p:nvCxnSpPr>
        <p:spPr>
          <a:xfrm flipH="1">
            <a:off x="7846161" y="1384201"/>
            <a:ext cx="360000" cy="44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99" name="Google Shape;9699;p416"/>
          <p:cNvCxnSpPr>
            <a:stCxn id="9687" idx="4"/>
            <a:endCxn id="9695" idx="0"/>
          </p:cNvCxnSpPr>
          <p:nvPr/>
        </p:nvCxnSpPr>
        <p:spPr>
          <a:xfrm>
            <a:off x="7906600" y="825113"/>
            <a:ext cx="0" cy="98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00" name="Google Shape;9700;p416"/>
          <p:cNvSpPr/>
          <p:nvPr/>
        </p:nvSpPr>
        <p:spPr>
          <a:xfrm rot="-1281263">
            <a:off x="7726111" y="3127097"/>
            <a:ext cx="171365" cy="17136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1" name="Google Shape;9701;p416"/>
          <p:cNvSpPr/>
          <p:nvPr/>
        </p:nvSpPr>
        <p:spPr>
          <a:xfrm rot="-1281263">
            <a:off x="7310069" y="3774485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2" name="Google Shape;9702;p416"/>
          <p:cNvSpPr/>
          <p:nvPr/>
        </p:nvSpPr>
        <p:spPr>
          <a:xfrm rot="-1281263">
            <a:off x="8557828" y="3439737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703" name="Google Shape;9703;p416"/>
          <p:cNvCxnSpPr>
            <a:stCxn id="9700" idx="3"/>
            <a:endCxn id="9701" idx="7"/>
          </p:cNvCxnSpPr>
          <p:nvPr/>
        </p:nvCxnSpPr>
        <p:spPr>
          <a:xfrm flipH="1">
            <a:off x="7430028" y="3291269"/>
            <a:ext cx="347400" cy="49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04" name="Google Shape;9704;p416"/>
          <p:cNvCxnSpPr>
            <a:stCxn id="9700" idx="5"/>
            <a:endCxn id="9702" idx="1"/>
          </p:cNvCxnSpPr>
          <p:nvPr/>
        </p:nvCxnSpPr>
        <p:spPr>
          <a:xfrm>
            <a:off x="7890283" y="3247145"/>
            <a:ext cx="674700" cy="243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05" name="Google Shape;9705;p416"/>
          <p:cNvCxnSpPr>
            <a:stCxn id="9702" idx="2"/>
            <a:endCxn id="9701" idx="6"/>
          </p:cNvCxnSpPr>
          <p:nvPr/>
        </p:nvCxnSpPr>
        <p:spPr>
          <a:xfrm flipH="1">
            <a:off x="7475611" y="3556619"/>
            <a:ext cx="1088100" cy="272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06" name="Google Shape;9706;p416"/>
          <p:cNvSpPr/>
          <p:nvPr/>
        </p:nvSpPr>
        <p:spPr>
          <a:xfrm rot="-1281263">
            <a:off x="8001037" y="3919934"/>
            <a:ext cx="171365" cy="17136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707" name="Google Shape;9707;p416"/>
          <p:cNvCxnSpPr>
            <a:stCxn id="9706" idx="2"/>
            <a:endCxn id="9701" idx="5"/>
          </p:cNvCxnSpPr>
          <p:nvPr/>
        </p:nvCxnSpPr>
        <p:spPr>
          <a:xfrm rot="10800000">
            <a:off x="7474120" y="3894616"/>
            <a:ext cx="532800" cy="142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08" name="Google Shape;9708;p416"/>
          <p:cNvCxnSpPr>
            <a:stCxn id="9706" idx="0"/>
            <a:endCxn id="9700" idx="3"/>
          </p:cNvCxnSpPr>
          <p:nvPr/>
        </p:nvCxnSpPr>
        <p:spPr>
          <a:xfrm rot="10800000">
            <a:off x="7777420" y="3291316"/>
            <a:ext cx="278100" cy="63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09" name="Google Shape;9709;p416"/>
          <p:cNvCxnSpPr>
            <a:stCxn id="9680" idx="5"/>
            <a:endCxn id="9701" idx="1"/>
          </p:cNvCxnSpPr>
          <p:nvPr/>
        </p:nvCxnSpPr>
        <p:spPr>
          <a:xfrm>
            <a:off x="6516801" y="2675826"/>
            <a:ext cx="800400" cy="114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10" name="Google Shape;9710;p416"/>
          <p:cNvCxnSpPr>
            <a:stCxn id="9680" idx="7"/>
            <a:endCxn id="9690" idx="3"/>
          </p:cNvCxnSpPr>
          <p:nvPr/>
        </p:nvCxnSpPr>
        <p:spPr>
          <a:xfrm flipH="1" rot="10800000">
            <a:off x="6516801" y="1640899"/>
            <a:ext cx="754200" cy="91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11" name="Google Shape;9711;p416"/>
          <p:cNvCxnSpPr>
            <a:stCxn id="9695" idx="3"/>
            <a:endCxn id="9700" idx="7"/>
          </p:cNvCxnSpPr>
          <p:nvPr/>
        </p:nvCxnSpPr>
        <p:spPr>
          <a:xfrm>
            <a:off x="7846036" y="1952351"/>
            <a:ext cx="0" cy="1182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12" name="Google Shape;9712;p416"/>
          <p:cNvCxnSpPr>
            <a:stCxn id="9689" idx="4"/>
            <a:endCxn id="9702" idx="0"/>
          </p:cNvCxnSpPr>
          <p:nvPr/>
        </p:nvCxnSpPr>
        <p:spPr>
          <a:xfrm>
            <a:off x="8266725" y="1409288"/>
            <a:ext cx="345600" cy="203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13" name="Google Shape;9713;p416"/>
          <p:cNvCxnSpPr>
            <a:stCxn id="9678" idx="6"/>
            <a:endCxn id="9695" idx="2"/>
          </p:cNvCxnSpPr>
          <p:nvPr/>
        </p:nvCxnSpPr>
        <p:spPr>
          <a:xfrm flipH="1" rot="10800000">
            <a:off x="6016288" y="1891838"/>
            <a:ext cx="1804800" cy="28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14" name="Google Shape;9714;p416"/>
          <p:cNvCxnSpPr>
            <a:stCxn id="9681" idx="6"/>
            <a:endCxn id="9700" idx="1"/>
          </p:cNvCxnSpPr>
          <p:nvPr/>
        </p:nvCxnSpPr>
        <p:spPr>
          <a:xfrm>
            <a:off x="6046588" y="3167788"/>
            <a:ext cx="1686600" cy="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715" name="Google Shape;9715;p416"/>
          <p:cNvGrpSpPr/>
          <p:nvPr/>
        </p:nvGrpSpPr>
        <p:grpSpPr>
          <a:xfrm>
            <a:off x="7426813" y="3603880"/>
            <a:ext cx="1182300" cy="1066200"/>
            <a:chOff x="7426813" y="3603880"/>
            <a:chExt cx="1182300" cy="1066200"/>
          </a:xfrm>
        </p:grpSpPr>
        <p:sp>
          <p:nvSpPr>
            <p:cNvPr id="9716" name="Google Shape;9716;p416"/>
            <p:cNvSpPr/>
            <p:nvPr/>
          </p:nvSpPr>
          <p:spPr>
            <a:xfrm rot="-1281263">
              <a:off x="7726031" y="4473397"/>
              <a:ext cx="171365" cy="171365"/>
            </a:xfrm>
            <a:prstGeom prst="ellipse">
              <a:avLst/>
            </a:prstGeom>
            <a:solidFill>
              <a:schemeClr val="lt2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717" name="Google Shape;9717;p416"/>
            <p:cNvCxnSpPr>
              <a:stCxn id="9716" idx="0"/>
            </p:cNvCxnSpPr>
            <p:nvPr/>
          </p:nvCxnSpPr>
          <p:spPr>
            <a:xfrm rot="10800000">
              <a:off x="7426813" y="3939880"/>
              <a:ext cx="353700" cy="5394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18" name="Google Shape;9718;p416"/>
            <p:cNvCxnSpPr>
              <a:endCxn id="9716" idx="6"/>
            </p:cNvCxnSpPr>
            <p:nvPr/>
          </p:nvCxnSpPr>
          <p:spPr>
            <a:xfrm flipH="1">
              <a:off x="7891513" y="3603880"/>
              <a:ext cx="717600" cy="9240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19" name="Google Shape;9719;p416"/>
            <p:cNvCxnSpPr>
              <a:stCxn id="9716" idx="6"/>
            </p:cNvCxnSpPr>
            <p:nvPr/>
          </p:nvCxnSpPr>
          <p:spPr>
            <a:xfrm flipH="1" rot="10800000">
              <a:off x="7891513" y="4036780"/>
              <a:ext cx="115500" cy="49110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23" name="Shape 9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4" name="Google Shape;9724;p417"/>
          <p:cNvSpPr/>
          <p:nvPr/>
        </p:nvSpPr>
        <p:spPr>
          <a:xfrm>
            <a:off x="878548" y="11813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9725" name="Google Shape;9725;p417"/>
          <p:cNvSpPr/>
          <p:nvPr/>
        </p:nvSpPr>
        <p:spPr>
          <a:xfrm>
            <a:off x="1379915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9726" name="Google Shape;9726;p417"/>
          <p:cNvSpPr/>
          <p:nvPr/>
        </p:nvSpPr>
        <p:spPr>
          <a:xfrm>
            <a:off x="311688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9727" name="Google Shape;9727;p417"/>
          <p:cNvSpPr/>
          <p:nvPr/>
        </p:nvSpPr>
        <p:spPr>
          <a:xfrm>
            <a:off x="878548" y="18628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9728" name="Google Shape;9728;p417"/>
          <p:cNvSpPr/>
          <p:nvPr/>
        </p:nvSpPr>
        <p:spPr>
          <a:xfrm>
            <a:off x="311688" y="206712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9729" name="Google Shape;9729;p417"/>
          <p:cNvSpPr/>
          <p:nvPr/>
        </p:nvSpPr>
        <p:spPr>
          <a:xfrm>
            <a:off x="461035" y="256907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9730" name="Google Shape;9730;p417"/>
          <p:cNvCxnSpPr>
            <a:endCxn id="9726" idx="7"/>
          </p:cNvCxnSpPr>
          <p:nvPr/>
        </p:nvCxnSpPr>
        <p:spPr>
          <a:xfrm flipH="1">
            <a:off x="566729" y="1435709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31" name="Google Shape;9731;p417"/>
          <p:cNvCxnSpPr>
            <a:stCxn id="9728" idx="0"/>
            <a:endCxn id="9726" idx="4"/>
          </p:cNvCxnSpPr>
          <p:nvPr/>
        </p:nvCxnSpPr>
        <p:spPr>
          <a:xfrm rot="10800000">
            <a:off x="461088" y="1863128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32" name="Google Shape;9732;p417"/>
          <p:cNvCxnSpPr>
            <a:stCxn id="9725" idx="1"/>
            <a:endCxn id="9724" idx="5"/>
          </p:cNvCxnSpPr>
          <p:nvPr/>
        </p:nvCxnSpPr>
        <p:spPr>
          <a:xfrm rot="10800000">
            <a:off x="1133573" y="1435709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33" name="Google Shape;9733;p417"/>
          <p:cNvCxnSpPr>
            <a:stCxn id="9734" idx="1"/>
            <a:endCxn id="9726" idx="5"/>
          </p:cNvCxnSpPr>
          <p:nvPr/>
        </p:nvCxnSpPr>
        <p:spPr>
          <a:xfrm rot="10800000">
            <a:off x="566743" y="1819506"/>
            <a:ext cx="504900" cy="867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35" name="Google Shape;9735;p417"/>
          <p:cNvCxnSpPr>
            <a:stCxn id="9727" idx="0"/>
            <a:endCxn id="9724" idx="4"/>
          </p:cNvCxnSpPr>
          <p:nvPr/>
        </p:nvCxnSpPr>
        <p:spPr>
          <a:xfrm rot="10800000">
            <a:off x="1027948" y="1479154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36" name="Google Shape;9736;p417"/>
          <p:cNvCxnSpPr>
            <a:stCxn id="9727" idx="5"/>
            <a:endCxn id="9737" idx="1"/>
          </p:cNvCxnSpPr>
          <p:nvPr/>
        </p:nvCxnSpPr>
        <p:spPr>
          <a:xfrm>
            <a:off x="1133589" y="2117127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38" name="Google Shape;9738;p417"/>
          <p:cNvSpPr/>
          <p:nvPr/>
        </p:nvSpPr>
        <p:spPr>
          <a:xfrm>
            <a:off x="1678689" y="19952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9737" name="Google Shape;9737;p417"/>
          <p:cNvSpPr/>
          <p:nvPr/>
        </p:nvSpPr>
        <p:spPr>
          <a:xfrm>
            <a:off x="1678689" y="253517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9734" name="Google Shape;9734;p417"/>
          <p:cNvSpPr/>
          <p:nvPr/>
        </p:nvSpPr>
        <p:spPr>
          <a:xfrm>
            <a:off x="1027885" y="26434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sp>
        <p:nvSpPr>
          <p:cNvPr id="9739" name="Google Shape;9739;p417"/>
          <p:cNvSpPr/>
          <p:nvPr/>
        </p:nvSpPr>
        <p:spPr>
          <a:xfrm>
            <a:off x="1080784" y="342412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9740" name="Google Shape;9740;p417"/>
          <p:cNvSpPr/>
          <p:nvPr/>
        </p:nvSpPr>
        <p:spPr>
          <a:xfrm>
            <a:off x="311688" y="350929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9741" name="Google Shape;9741;p417"/>
          <p:cNvSpPr/>
          <p:nvPr/>
        </p:nvSpPr>
        <p:spPr>
          <a:xfrm>
            <a:off x="610422" y="41738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9742" name="Google Shape;9742;p417"/>
          <p:cNvSpPr/>
          <p:nvPr/>
        </p:nvSpPr>
        <p:spPr>
          <a:xfrm>
            <a:off x="1678447" y="401308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9743" name="Google Shape;9743;p417"/>
          <p:cNvCxnSpPr>
            <a:stCxn id="9741" idx="2"/>
            <a:endCxn id="9740" idx="5"/>
          </p:cNvCxnSpPr>
          <p:nvPr/>
        </p:nvCxnSpPr>
        <p:spPr>
          <a:xfrm rot="10800000">
            <a:off x="566622" y="3763633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44" name="Google Shape;9744;p417"/>
          <p:cNvCxnSpPr>
            <a:stCxn id="9739" idx="2"/>
            <a:endCxn id="9740" idx="6"/>
          </p:cNvCxnSpPr>
          <p:nvPr/>
        </p:nvCxnSpPr>
        <p:spPr>
          <a:xfrm flipH="1">
            <a:off x="610384" y="3573076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45" name="Google Shape;9745;p417"/>
          <p:cNvCxnSpPr>
            <a:stCxn id="9741" idx="6"/>
            <a:endCxn id="9742" idx="3"/>
          </p:cNvCxnSpPr>
          <p:nvPr/>
        </p:nvCxnSpPr>
        <p:spPr>
          <a:xfrm flipH="1" rot="10800000">
            <a:off x="909222" y="4271833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46" name="Google Shape;9746;p417"/>
          <p:cNvCxnSpPr>
            <a:stCxn id="9747" idx="4"/>
            <a:endCxn id="9742" idx="0"/>
          </p:cNvCxnSpPr>
          <p:nvPr/>
        </p:nvCxnSpPr>
        <p:spPr>
          <a:xfrm>
            <a:off x="1827997" y="3664522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47" name="Google Shape;9747;p417"/>
          <p:cNvSpPr/>
          <p:nvPr/>
        </p:nvSpPr>
        <p:spPr>
          <a:xfrm>
            <a:off x="1678447" y="336152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9748" name="Google Shape;9748;p417"/>
          <p:cNvCxnSpPr>
            <a:stCxn id="9727" idx="3"/>
            <a:endCxn id="9729" idx="7"/>
          </p:cNvCxnSpPr>
          <p:nvPr/>
        </p:nvCxnSpPr>
        <p:spPr>
          <a:xfrm flipH="1">
            <a:off x="716206" y="2117127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49" name="Google Shape;9749;p417"/>
          <p:cNvCxnSpPr>
            <a:stCxn id="9725" idx="4"/>
            <a:endCxn id="9738" idx="1"/>
          </p:cNvCxnSpPr>
          <p:nvPr/>
        </p:nvCxnSpPr>
        <p:spPr>
          <a:xfrm>
            <a:off x="1529315" y="1863083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0" name="Google Shape;9750;p417"/>
          <p:cNvCxnSpPr>
            <a:stCxn id="9725" idx="4"/>
            <a:endCxn id="9734" idx="0"/>
          </p:cNvCxnSpPr>
          <p:nvPr/>
        </p:nvCxnSpPr>
        <p:spPr>
          <a:xfrm flipH="1">
            <a:off x="1177415" y="1863083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1" name="Google Shape;9751;p417"/>
          <p:cNvCxnSpPr>
            <a:stCxn id="9728" idx="4"/>
            <a:endCxn id="9729" idx="0"/>
          </p:cNvCxnSpPr>
          <p:nvPr/>
        </p:nvCxnSpPr>
        <p:spPr>
          <a:xfrm>
            <a:off x="461088" y="2365028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2" name="Google Shape;9752;p417"/>
          <p:cNvCxnSpPr>
            <a:stCxn id="9728" idx="5"/>
            <a:endCxn id="9737" idx="2"/>
          </p:cNvCxnSpPr>
          <p:nvPr/>
        </p:nvCxnSpPr>
        <p:spPr>
          <a:xfrm>
            <a:off x="566729" y="2321401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3" name="Google Shape;9753;p417"/>
          <p:cNvCxnSpPr>
            <a:stCxn id="9729" idx="6"/>
            <a:endCxn id="9734" idx="2"/>
          </p:cNvCxnSpPr>
          <p:nvPr/>
        </p:nvCxnSpPr>
        <p:spPr>
          <a:xfrm>
            <a:off x="759835" y="2718022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4" name="Google Shape;9754;p417"/>
          <p:cNvCxnSpPr>
            <a:stCxn id="9738" idx="3"/>
            <a:endCxn id="9734" idx="6"/>
          </p:cNvCxnSpPr>
          <p:nvPr/>
        </p:nvCxnSpPr>
        <p:spPr>
          <a:xfrm flipH="1">
            <a:off x="1326747" y="2249528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5" name="Google Shape;9755;p417"/>
          <p:cNvCxnSpPr>
            <a:stCxn id="9738" idx="4"/>
            <a:endCxn id="9737" idx="0"/>
          </p:cNvCxnSpPr>
          <p:nvPr/>
        </p:nvCxnSpPr>
        <p:spPr>
          <a:xfrm>
            <a:off x="1828089" y="2293154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6" name="Google Shape;9756;p417"/>
          <p:cNvCxnSpPr>
            <a:stCxn id="9739" idx="6"/>
            <a:endCxn id="9747" idx="3"/>
          </p:cNvCxnSpPr>
          <p:nvPr/>
        </p:nvCxnSpPr>
        <p:spPr>
          <a:xfrm>
            <a:off x="1379584" y="3573076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7" name="Google Shape;9757;p417"/>
          <p:cNvCxnSpPr>
            <a:stCxn id="9739" idx="5"/>
            <a:endCxn id="9742" idx="1"/>
          </p:cNvCxnSpPr>
          <p:nvPr/>
        </p:nvCxnSpPr>
        <p:spPr>
          <a:xfrm>
            <a:off x="1335826" y="3678399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58" name="Google Shape;9758;p417"/>
          <p:cNvCxnSpPr>
            <a:stCxn id="9747" idx="3"/>
            <a:endCxn id="9741" idx="7"/>
          </p:cNvCxnSpPr>
          <p:nvPr/>
        </p:nvCxnSpPr>
        <p:spPr>
          <a:xfrm flipH="1">
            <a:off x="865450" y="3620149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59" name="Google Shape;9759;p417"/>
          <p:cNvSpPr/>
          <p:nvPr/>
        </p:nvSpPr>
        <p:spPr>
          <a:xfrm>
            <a:off x="5440655" y="120184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9760" name="Google Shape;9760;p417"/>
          <p:cNvSpPr/>
          <p:nvPr/>
        </p:nvSpPr>
        <p:spPr>
          <a:xfrm>
            <a:off x="5942022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9761" name="Google Shape;9761;p417"/>
          <p:cNvSpPr/>
          <p:nvPr/>
        </p:nvSpPr>
        <p:spPr>
          <a:xfrm>
            <a:off x="4873795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9762" name="Google Shape;9762;p417"/>
          <p:cNvSpPr/>
          <p:nvPr/>
        </p:nvSpPr>
        <p:spPr>
          <a:xfrm>
            <a:off x="5440655" y="188331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9763" name="Google Shape;9763;p417"/>
          <p:cNvSpPr/>
          <p:nvPr/>
        </p:nvSpPr>
        <p:spPr>
          <a:xfrm>
            <a:off x="4873795" y="208758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9764" name="Google Shape;9764;p417"/>
          <p:cNvSpPr/>
          <p:nvPr/>
        </p:nvSpPr>
        <p:spPr>
          <a:xfrm>
            <a:off x="5023143" y="258953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9765" name="Google Shape;9765;p417"/>
          <p:cNvCxnSpPr>
            <a:endCxn id="9761" idx="7"/>
          </p:cNvCxnSpPr>
          <p:nvPr/>
        </p:nvCxnSpPr>
        <p:spPr>
          <a:xfrm flipH="1">
            <a:off x="5128837" y="1456171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66" name="Google Shape;9766;p417"/>
          <p:cNvCxnSpPr>
            <a:stCxn id="9763" idx="0"/>
            <a:endCxn id="9761" idx="4"/>
          </p:cNvCxnSpPr>
          <p:nvPr/>
        </p:nvCxnSpPr>
        <p:spPr>
          <a:xfrm rot="10800000">
            <a:off x="5023195" y="1883589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67" name="Google Shape;9767;p417"/>
          <p:cNvCxnSpPr>
            <a:stCxn id="9760" idx="1"/>
            <a:endCxn id="9759" idx="5"/>
          </p:cNvCxnSpPr>
          <p:nvPr/>
        </p:nvCxnSpPr>
        <p:spPr>
          <a:xfrm rot="10800000">
            <a:off x="5695681" y="1456171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68" name="Google Shape;9768;p417"/>
          <p:cNvCxnSpPr>
            <a:stCxn id="9769" idx="1"/>
            <a:endCxn id="9761" idx="5"/>
          </p:cNvCxnSpPr>
          <p:nvPr/>
        </p:nvCxnSpPr>
        <p:spPr>
          <a:xfrm rot="10800000">
            <a:off x="5128893" y="1839991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70" name="Google Shape;9770;p417"/>
          <p:cNvCxnSpPr>
            <a:stCxn id="9762" idx="0"/>
            <a:endCxn id="9759" idx="4"/>
          </p:cNvCxnSpPr>
          <p:nvPr/>
        </p:nvCxnSpPr>
        <p:spPr>
          <a:xfrm rot="10800000">
            <a:off x="5590055" y="1499615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71" name="Google Shape;9771;p417"/>
          <p:cNvCxnSpPr>
            <a:stCxn id="9762" idx="5"/>
            <a:endCxn id="9772" idx="1"/>
          </p:cNvCxnSpPr>
          <p:nvPr/>
        </p:nvCxnSpPr>
        <p:spPr>
          <a:xfrm>
            <a:off x="5695697" y="2137589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73" name="Google Shape;9773;p417"/>
          <p:cNvSpPr/>
          <p:nvPr/>
        </p:nvSpPr>
        <p:spPr>
          <a:xfrm>
            <a:off x="6240797" y="20157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9772" name="Google Shape;9772;p417"/>
          <p:cNvSpPr/>
          <p:nvPr/>
        </p:nvSpPr>
        <p:spPr>
          <a:xfrm>
            <a:off x="6240797" y="255563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9769" name="Google Shape;9769;p417"/>
          <p:cNvSpPr/>
          <p:nvPr/>
        </p:nvSpPr>
        <p:spPr>
          <a:xfrm>
            <a:off x="5589993" y="2663941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774" name="Google Shape;9774;p417"/>
          <p:cNvSpPr/>
          <p:nvPr/>
        </p:nvSpPr>
        <p:spPr>
          <a:xfrm>
            <a:off x="5642892" y="344458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9775" name="Google Shape;9775;p417"/>
          <p:cNvSpPr/>
          <p:nvPr/>
        </p:nvSpPr>
        <p:spPr>
          <a:xfrm>
            <a:off x="4873795" y="352975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9776" name="Google Shape;9776;p417"/>
          <p:cNvSpPr/>
          <p:nvPr/>
        </p:nvSpPr>
        <p:spPr>
          <a:xfrm>
            <a:off x="5172530" y="41943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9777" name="Google Shape;9777;p417"/>
          <p:cNvSpPr/>
          <p:nvPr/>
        </p:nvSpPr>
        <p:spPr>
          <a:xfrm>
            <a:off x="6240555" y="403354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9778" name="Google Shape;9778;p417"/>
          <p:cNvCxnSpPr>
            <a:stCxn id="9776" idx="2"/>
            <a:endCxn id="9775" idx="5"/>
          </p:cNvCxnSpPr>
          <p:nvPr/>
        </p:nvCxnSpPr>
        <p:spPr>
          <a:xfrm rot="10800000">
            <a:off x="5128730" y="3784095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79" name="Google Shape;9779;p417"/>
          <p:cNvCxnSpPr>
            <a:stCxn id="9774" idx="2"/>
            <a:endCxn id="9775" idx="6"/>
          </p:cNvCxnSpPr>
          <p:nvPr/>
        </p:nvCxnSpPr>
        <p:spPr>
          <a:xfrm flipH="1">
            <a:off x="5172492" y="3593538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0" name="Google Shape;9780;p417"/>
          <p:cNvCxnSpPr>
            <a:stCxn id="9776" idx="6"/>
            <a:endCxn id="9777" idx="3"/>
          </p:cNvCxnSpPr>
          <p:nvPr/>
        </p:nvCxnSpPr>
        <p:spPr>
          <a:xfrm flipH="1" rot="10800000">
            <a:off x="5471330" y="4292295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1" name="Google Shape;9781;p417"/>
          <p:cNvCxnSpPr>
            <a:stCxn id="9782" idx="4"/>
            <a:endCxn id="9777" idx="0"/>
          </p:cNvCxnSpPr>
          <p:nvPr/>
        </p:nvCxnSpPr>
        <p:spPr>
          <a:xfrm>
            <a:off x="6390105" y="3684984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82" name="Google Shape;9782;p417"/>
          <p:cNvSpPr/>
          <p:nvPr/>
        </p:nvSpPr>
        <p:spPr>
          <a:xfrm>
            <a:off x="6240555" y="338198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9783" name="Google Shape;9783;p417"/>
          <p:cNvCxnSpPr>
            <a:stCxn id="9762" idx="3"/>
            <a:endCxn id="9764" idx="3"/>
          </p:cNvCxnSpPr>
          <p:nvPr/>
        </p:nvCxnSpPr>
        <p:spPr>
          <a:xfrm flipH="1">
            <a:off x="5321814" y="2137589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4" name="Google Shape;9784;p417"/>
          <p:cNvCxnSpPr>
            <a:stCxn id="9760" idx="4"/>
            <a:endCxn id="9773" idx="1"/>
          </p:cNvCxnSpPr>
          <p:nvPr/>
        </p:nvCxnSpPr>
        <p:spPr>
          <a:xfrm>
            <a:off x="6091422" y="1883545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5" name="Google Shape;9785;p417"/>
          <p:cNvCxnSpPr>
            <a:stCxn id="9760" idx="4"/>
            <a:endCxn id="9769" idx="0"/>
          </p:cNvCxnSpPr>
          <p:nvPr/>
        </p:nvCxnSpPr>
        <p:spPr>
          <a:xfrm flipH="1">
            <a:off x="5739522" y="1883545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6" name="Google Shape;9786;p417"/>
          <p:cNvCxnSpPr>
            <a:stCxn id="9763" idx="4"/>
            <a:endCxn id="9764" idx="0"/>
          </p:cNvCxnSpPr>
          <p:nvPr/>
        </p:nvCxnSpPr>
        <p:spPr>
          <a:xfrm>
            <a:off x="5023195" y="2385489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7" name="Google Shape;9787;p417"/>
          <p:cNvCxnSpPr>
            <a:stCxn id="9763" idx="5"/>
            <a:endCxn id="9772" idx="2"/>
          </p:cNvCxnSpPr>
          <p:nvPr/>
        </p:nvCxnSpPr>
        <p:spPr>
          <a:xfrm>
            <a:off x="5128837" y="2341863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8" name="Google Shape;9788;p417"/>
          <p:cNvCxnSpPr>
            <a:stCxn id="9764" idx="3"/>
            <a:endCxn id="9769" idx="1"/>
          </p:cNvCxnSpPr>
          <p:nvPr/>
        </p:nvCxnSpPr>
        <p:spPr>
          <a:xfrm>
            <a:off x="5321943" y="2738484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9" name="Google Shape;9789;p417"/>
          <p:cNvCxnSpPr>
            <a:stCxn id="9773" idx="3"/>
            <a:endCxn id="9769" idx="3"/>
          </p:cNvCxnSpPr>
          <p:nvPr/>
        </p:nvCxnSpPr>
        <p:spPr>
          <a:xfrm flipH="1">
            <a:off x="5888855" y="2269990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90" name="Google Shape;9790;p417"/>
          <p:cNvCxnSpPr>
            <a:stCxn id="9773" idx="4"/>
            <a:endCxn id="9772" idx="0"/>
          </p:cNvCxnSpPr>
          <p:nvPr/>
        </p:nvCxnSpPr>
        <p:spPr>
          <a:xfrm>
            <a:off x="6390197" y="2313616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91" name="Google Shape;9791;p417"/>
          <p:cNvCxnSpPr>
            <a:stCxn id="9774" idx="6"/>
            <a:endCxn id="9782" idx="3"/>
          </p:cNvCxnSpPr>
          <p:nvPr/>
        </p:nvCxnSpPr>
        <p:spPr>
          <a:xfrm>
            <a:off x="5941692" y="3593538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92" name="Google Shape;9792;p417"/>
          <p:cNvCxnSpPr>
            <a:stCxn id="9774" idx="5"/>
            <a:endCxn id="9777" idx="1"/>
          </p:cNvCxnSpPr>
          <p:nvPr/>
        </p:nvCxnSpPr>
        <p:spPr>
          <a:xfrm>
            <a:off x="5897934" y="3698861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93" name="Google Shape;9793;p417"/>
          <p:cNvCxnSpPr>
            <a:stCxn id="9782" idx="3"/>
            <a:endCxn id="9776" idx="7"/>
          </p:cNvCxnSpPr>
          <p:nvPr/>
        </p:nvCxnSpPr>
        <p:spPr>
          <a:xfrm flipH="1">
            <a:off x="5427557" y="3640611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94" name="Google Shape;9794;p417"/>
          <p:cNvSpPr/>
          <p:nvPr/>
        </p:nvSpPr>
        <p:spPr>
          <a:xfrm>
            <a:off x="3208059" y="12018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9795" name="Google Shape;9795;p417"/>
          <p:cNvSpPr/>
          <p:nvPr/>
        </p:nvSpPr>
        <p:spPr>
          <a:xfrm>
            <a:off x="3709426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9796" name="Google Shape;9796;p417"/>
          <p:cNvSpPr/>
          <p:nvPr/>
        </p:nvSpPr>
        <p:spPr>
          <a:xfrm>
            <a:off x="2641199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9797" name="Google Shape;9797;p417"/>
          <p:cNvSpPr/>
          <p:nvPr/>
        </p:nvSpPr>
        <p:spPr>
          <a:xfrm>
            <a:off x="3208059" y="18833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9798" name="Google Shape;9798;p417"/>
          <p:cNvSpPr/>
          <p:nvPr/>
        </p:nvSpPr>
        <p:spPr>
          <a:xfrm>
            <a:off x="2641199" y="208759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9799" name="Google Shape;9799;p417"/>
          <p:cNvSpPr/>
          <p:nvPr/>
        </p:nvSpPr>
        <p:spPr>
          <a:xfrm>
            <a:off x="2790547" y="258953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9800" name="Google Shape;9800;p417"/>
          <p:cNvCxnSpPr>
            <a:endCxn id="9796" idx="7"/>
          </p:cNvCxnSpPr>
          <p:nvPr/>
        </p:nvCxnSpPr>
        <p:spPr>
          <a:xfrm flipH="1">
            <a:off x="2896241" y="1456175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01" name="Google Shape;9801;p417"/>
          <p:cNvCxnSpPr>
            <a:stCxn id="9798" idx="0"/>
            <a:endCxn id="9796" idx="4"/>
          </p:cNvCxnSpPr>
          <p:nvPr/>
        </p:nvCxnSpPr>
        <p:spPr>
          <a:xfrm rot="10800000">
            <a:off x="2790599" y="1883593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02" name="Google Shape;9802;p417"/>
          <p:cNvCxnSpPr>
            <a:stCxn id="9795" idx="1"/>
            <a:endCxn id="9794" idx="5"/>
          </p:cNvCxnSpPr>
          <p:nvPr/>
        </p:nvCxnSpPr>
        <p:spPr>
          <a:xfrm rot="10800000">
            <a:off x="3463085" y="1456175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03" name="Google Shape;9803;p417"/>
          <p:cNvCxnSpPr>
            <a:stCxn id="9804" idx="1"/>
            <a:endCxn id="9796" idx="5"/>
          </p:cNvCxnSpPr>
          <p:nvPr/>
        </p:nvCxnSpPr>
        <p:spPr>
          <a:xfrm rot="10800000">
            <a:off x="2896297" y="1839995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05" name="Google Shape;9805;p417"/>
          <p:cNvCxnSpPr>
            <a:stCxn id="9797" idx="0"/>
            <a:endCxn id="9794" idx="4"/>
          </p:cNvCxnSpPr>
          <p:nvPr/>
        </p:nvCxnSpPr>
        <p:spPr>
          <a:xfrm rot="10800000">
            <a:off x="3357459" y="1499619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06" name="Google Shape;9806;p417"/>
          <p:cNvCxnSpPr>
            <a:stCxn id="9797" idx="5"/>
            <a:endCxn id="9807" idx="1"/>
          </p:cNvCxnSpPr>
          <p:nvPr/>
        </p:nvCxnSpPr>
        <p:spPr>
          <a:xfrm>
            <a:off x="3463101" y="2137592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08" name="Google Shape;9808;p417"/>
          <p:cNvSpPr/>
          <p:nvPr/>
        </p:nvSpPr>
        <p:spPr>
          <a:xfrm>
            <a:off x="4008201" y="20157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9807" name="Google Shape;9807;p417"/>
          <p:cNvSpPr/>
          <p:nvPr/>
        </p:nvSpPr>
        <p:spPr>
          <a:xfrm>
            <a:off x="4008201" y="255564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9804" name="Google Shape;9804;p417"/>
          <p:cNvSpPr/>
          <p:nvPr/>
        </p:nvSpPr>
        <p:spPr>
          <a:xfrm>
            <a:off x="3357397" y="2663945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809" name="Google Shape;9809;p417"/>
          <p:cNvSpPr/>
          <p:nvPr/>
        </p:nvSpPr>
        <p:spPr>
          <a:xfrm>
            <a:off x="3410296" y="34445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9810" name="Google Shape;9810;p417"/>
          <p:cNvSpPr/>
          <p:nvPr/>
        </p:nvSpPr>
        <p:spPr>
          <a:xfrm>
            <a:off x="2641199" y="352976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9811" name="Google Shape;9811;p417"/>
          <p:cNvSpPr/>
          <p:nvPr/>
        </p:nvSpPr>
        <p:spPr>
          <a:xfrm>
            <a:off x="2939934" y="41943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9812" name="Google Shape;9812;p417"/>
          <p:cNvSpPr/>
          <p:nvPr/>
        </p:nvSpPr>
        <p:spPr>
          <a:xfrm>
            <a:off x="4007959" y="4033547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9813" name="Google Shape;9813;p417"/>
          <p:cNvCxnSpPr>
            <a:stCxn id="9811" idx="2"/>
            <a:endCxn id="9810" idx="5"/>
          </p:cNvCxnSpPr>
          <p:nvPr/>
        </p:nvCxnSpPr>
        <p:spPr>
          <a:xfrm rot="10800000">
            <a:off x="2896134" y="3784098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14" name="Google Shape;9814;p417"/>
          <p:cNvCxnSpPr>
            <a:stCxn id="9809" idx="2"/>
            <a:endCxn id="9810" idx="6"/>
          </p:cNvCxnSpPr>
          <p:nvPr/>
        </p:nvCxnSpPr>
        <p:spPr>
          <a:xfrm flipH="1">
            <a:off x="2939896" y="3593541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15" name="Google Shape;9815;p417"/>
          <p:cNvCxnSpPr>
            <a:stCxn id="9811" idx="6"/>
            <a:endCxn id="9812" idx="3"/>
          </p:cNvCxnSpPr>
          <p:nvPr/>
        </p:nvCxnSpPr>
        <p:spPr>
          <a:xfrm flipH="1" rot="10800000">
            <a:off x="3238734" y="4292298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16" name="Google Shape;9816;p417"/>
          <p:cNvCxnSpPr>
            <a:stCxn id="9817" idx="4"/>
            <a:endCxn id="9812" idx="0"/>
          </p:cNvCxnSpPr>
          <p:nvPr/>
        </p:nvCxnSpPr>
        <p:spPr>
          <a:xfrm>
            <a:off x="4157509" y="3684988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17" name="Google Shape;9817;p417"/>
          <p:cNvSpPr/>
          <p:nvPr/>
        </p:nvSpPr>
        <p:spPr>
          <a:xfrm>
            <a:off x="4007959" y="3381988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9818" name="Google Shape;9818;p417"/>
          <p:cNvCxnSpPr>
            <a:stCxn id="9797" idx="3"/>
            <a:endCxn id="9799" idx="7"/>
          </p:cNvCxnSpPr>
          <p:nvPr/>
        </p:nvCxnSpPr>
        <p:spPr>
          <a:xfrm flipH="1">
            <a:off x="3045718" y="2137592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19" name="Google Shape;9819;p417"/>
          <p:cNvCxnSpPr>
            <a:stCxn id="9795" idx="4"/>
            <a:endCxn id="9808" idx="1"/>
          </p:cNvCxnSpPr>
          <p:nvPr/>
        </p:nvCxnSpPr>
        <p:spPr>
          <a:xfrm>
            <a:off x="3858826" y="1883548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0" name="Google Shape;9820;p417"/>
          <p:cNvCxnSpPr>
            <a:stCxn id="9795" idx="4"/>
            <a:endCxn id="9804" idx="0"/>
          </p:cNvCxnSpPr>
          <p:nvPr/>
        </p:nvCxnSpPr>
        <p:spPr>
          <a:xfrm flipH="1">
            <a:off x="3506926" y="1883548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1" name="Google Shape;9821;p417"/>
          <p:cNvCxnSpPr>
            <a:stCxn id="9798" idx="4"/>
            <a:endCxn id="9799" idx="0"/>
          </p:cNvCxnSpPr>
          <p:nvPr/>
        </p:nvCxnSpPr>
        <p:spPr>
          <a:xfrm>
            <a:off x="2790599" y="2385493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2" name="Google Shape;9822;p417"/>
          <p:cNvCxnSpPr>
            <a:stCxn id="9798" idx="5"/>
            <a:endCxn id="9807" idx="2"/>
          </p:cNvCxnSpPr>
          <p:nvPr/>
        </p:nvCxnSpPr>
        <p:spPr>
          <a:xfrm>
            <a:off x="2896241" y="2341866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3" name="Google Shape;9823;p417"/>
          <p:cNvCxnSpPr>
            <a:stCxn id="9799" idx="6"/>
            <a:endCxn id="9804" idx="1"/>
          </p:cNvCxnSpPr>
          <p:nvPr/>
        </p:nvCxnSpPr>
        <p:spPr>
          <a:xfrm>
            <a:off x="3089347" y="2738487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4" name="Google Shape;9824;p417"/>
          <p:cNvCxnSpPr>
            <a:stCxn id="9808" idx="3"/>
            <a:endCxn id="9804" idx="3"/>
          </p:cNvCxnSpPr>
          <p:nvPr/>
        </p:nvCxnSpPr>
        <p:spPr>
          <a:xfrm flipH="1">
            <a:off x="3656259" y="2269993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5" name="Google Shape;9825;p417"/>
          <p:cNvCxnSpPr>
            <a:stCxn id="9808" idx="4"/>
            <a:endCxn id="9807" idx="0"/>
          </p:cNvCxnSpPr>
          <p:nvPr/>
        </p:nvCxnSpPr>
        <p:spPr>
          <a:xfrm>
            <a:off x="4157601" y="2313619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6" name="Google Shape;9826;p417"/>
          <p:cNvCxnSpPr>
            <a:stCxn id="9809" idx="6"/>
            <a:endCxn id="9817" idx="3"/>
          </p:cNvCxnSpPr>
          <p:nvPr/>
        </p:nvCxnSpPr>
        <p:spPr>
          <a:xfrm>
            <a:off x="3709096" y="3593541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7" name="Google Shape;9827;p417"/>
          <p:cNvCxnSpPr>
            <a:stCxn id="9809" idx="5"/>
            <a:endCxn id="9812" idx="1"/>
          </p:cNvCxnSpPr>
          <p:nvPr/>
        </p:nvCxnSpPr>
        <p:spPr>
          <a:xfrm>
            <a:off x="3665338" y="3698865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28" name="Google Shape;9828;p417"/>
          <p:cNvCxnSpPr>
            <a:stCxn id="9817" idx="3"/>
            <a:endCxn id="9811" idx="7"/>
          </p:cNvCxnSpPr>
          <p:nvPr/>
        </p:nvCxnSpPr>
        <p:spPr>
          <a:xfrm flipH="1">
            <a:off x="3194961" y="3640614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29" name="Google Shape;9829;p417"/>
          <p:cNvSpPr/>
          <p:nvPr/>
        </p:nvSpPr>
        <p:spPr>
          <a:xfrm>
            <a:off x="7699155" y="11472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9830" name="Google Shape;9830;p417"/>
          <p:cNvSpPr/>
          <p:nvPr/>
        </p:nvSpPr>
        <p:spPr>
          <a:xfrm>
            <a:off x="8200522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9831" name="Google Shape;9831;p417"/>
          <p:cNvSpPr/>
          <p:nvPr/>
        </p:nvSpPr>
        <p:spPr>
          <a:xfrm>
            <a:off x="7132295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9832" name="Google Shape;9832;p417"/>
          <p:cNvSpPr/>
          <p:nvPr/>
        </p:nvSpPr>
        <p:spPr>
          <a:xfrm>
            <a:off x="7699155" y="182869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9833" name="Google Shape;9833;p417"/>
          <p:cNvSpPr/>
          <p:nvPr/>
        </p:nvSpPr>
        <p:spPr>
          <a:xfrm>
            <a:off x="7132295" y="203296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9834" name="Google Shape;9834;p417"/>
          <p:cNvSpPr/>
          <p:nvPr/>
        </p:nvSpPr>
        <p:spPr>
          <a:xfrm>
            <a:off x="7281643" y="2534909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9835" name="Google Shape;9835;p417"/>
          <p:cNvCxnSpPr>
            <a:endCxn id="9831" idx="7"/>
          </p:cNvCxnSpPr>
          <p:nvPr/>
        </p:nvCxnSpPr>
        <p:spPr>
          <a:xfrm flipH="1">
            <a:off x="7387337" y="1401546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36" name="Google Shape;9836;p417"/>
          <p:cNvCxnSpPr>
            <a:stCxn id="9833" idx="0"/>
            <a:endCxn id="9831" idx="4"/>
          </p:cNvCxnSpPr>
          <p:nvPr/>
        </p:nvCxnSpPr>
        <p:spPr>
          <a:xfrm rot="10800000">
            <a:off x="7281695" y="1828964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37" name="Google Shape;9837;p417"/>
          <p:cNvCxnSpPr>
            <a:stCxn id="9830" idx="1"/>
            <a:endCxn id="9829" idx="5"/>
          </p:cNvCxnSpPr>
          <p:nvPr/>
        </p:nvCxnSpPr>
        <p:spPr>
          <a:xfrm rot="10800000">
            <a:off x="7954181" y="1401546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38" name="Google Shape;9838;p417"/>
          <p:cNvCxnSpPr>
            <a:stCxn id="9839" idx="1"/>
            <a:endCxn id="9831" idx="5"/>
          </p:cNvCxnSpPr>
          <p:nvPr/>
        </p:nvCxnSpPr>
        <p:spPr>
          <a:xfrm rot="10800000">
            <a:off x="7387393" y="1785366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40" name="Google Shape;9840;p417"/>
          <p:cNvCxnSpPr>
            <a:stCxn id="9832" idx="0"/>
            <a:endCxn id="9829" idx="4"/>
          </p:cNvCxnSpPr>
          <p:nvPr/>
        </p:nvCxnSpPr>
        <p:spPr>
          <a:xfrm rot="10800000">
            <a:off x="7848555" y="1444990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41" name="Google Shape;9841;p417"/>
          <p:cNvCxnSpPr>
            <a:stCxn id="9832" idx="5"/>
            <a:endCxn id="9842" idx="1"/>
          </p:cNvCxnSpPr>
          <p:nvPr/>
        </p:nvCxnSpPr>
        <p:spPr>
          <a:xfrm>
            <a:off x="7954197" y="2082964"/>
            <a:ext cx="545100" cy="56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43" name="Google Shape;9843;p417"/>
          <p:cNvSpPr/>
          <p:nvPr/>
        </p:nvSpPr>
        <p:spPr>
          <a:xfrm>
            <a:off x="8499297" y="19610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9842" name="Google Shape;9842;p417"/>
          <p:cNvSpPr/>
          <p:nvPr/>
        </p:nvSpPr>
        <p:spPr>
          <a:xfrm>
            <a:off x="8499297" y="250101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9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839" name="Google Shape;9839;p417"/>
          <p:cNvSpPr/>
          <p:nvPr/>
        </p:nvSpPr>
        <p:spPr>
          <a:xfrm>
            <a:off x="7848493" y="2609316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844" name="Google Shape;9844;p417"/>
          <p:cNvSpPr/>
          <p:nvPr/>
        </p:nvSpPr>
        <p:spPr>
          <a:xfrm>
            <a:off x="7901392" y="338996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9845" name="Google Shape;9845;p417"/>
          <p:cNvSpPr/>
          <p:nvPr/>
        </p:nvSpPr>
        <p:spPr>
          <a:xfrm>
            <a:off x="7132295" y="347513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9846" name="Google Shape;9846;p417"/>
          <p:cNvSpPr/>
          <p:nvPr/>
        </p:nvSpPr>
        <p:spPr>
          <a:xfrm>
            <a:off x="7431030" y="41397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9847" name="Google Shape;9847;p417"/>
          <p:cNvSpPr/>
          <p:nvPr/>
        </p:nvSpPr>
        <p:spPr>
          <a:xfrm>
            <a:off x="8499055" y="397891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9848" name="Google Shape;9848;p417"/>
          <p:cNvCxnSpPr>
            <a:stCxn id="9846" idx="2"/>
            <a:endCxn id="9845" idx="5"/>
          </p:cNvCxnSpPr>
          <p:nvPr/>
        </p:nvCxnSpPr>
        <p:spPr>
          <a:xfrm rot="10800000">
            <a:off x="7387230" y="3729470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49" name="Google Shape;9849;p417"/>
          <p:cNvCxnSpPr>
            <a:stCxn id="9844" idx="2"/>
            <a:endCxn id="9845" idx="6"/>
          </p:cNvCxnSpPr>
          <p:nvPr/>
        </p:nvCxnSpPr>
        <p:spPr>
          <a:xfrm flipH="1">
            <a:off x="7430992" y="3538913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50" name="Google Shape;9850;p417"/>
          <p:cNvCxnSpPr>
            <a:stCxn id="9846" idx="6"/>
            <a:endCxn id="9847" idx="3"/>
          </p:cNvCxnSpPr>
          <p:nvPr/>
        </p:nvCxnSpPr>
        <p:spPr>
          <a:xfrm flipH="1" rot="10800000">
            <a:off x="7729830" y="4237670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51" name="Google Shape;9851;p417"/>
          <p:cNvSpPr/>
          <p:nvPr/>
        </p:nvSpPr>
        <p:spPr>
          <a:xfrm>
            <a:off x="8499055" y="332735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9852" name="Google Shape;9852;p417"/>
          <p:cNvCxnSpPr>
            <a:stCxn id="9832" idx="3"/>
            <a:endCxn id="9834" idx="3"/>
          </p:cNvCxnSpPr>
          <p:nvPr/>
        </p:nvCxnSpPr>
        <p:spPr>
          <a:xfrm flipH="1">
            <a:off x="7580314" y="2082964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53" name="Google Shape;9853;p417"/>
          <p:cNvCxnSpPr>
            <a:stCxn id="9830" idx="4"/>
            <a:endCxn id="9843" idx="1"/>
          </p:cNvCxnSpPr>
          <p:nvPr/>
        </p:nvCxnSpPr>
        <p:spPr>
          <a:xfrm>
            <a:off x="8349922" y="1828920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54" name="Google Shape;9854;p417"/>
          <p:cNvCxnSpPr>
            <a:stCxn id="9830" idx="4"/>
            <a:endCxn id="9839" idx="0"/>
          </p:cNvCxnSpPr>
          <p:nvPr/>
        </p:nvCxnSpPr>
        <p:spPr>
          <a:xfrm flipH="1">
            <a:off x="7998022" y="1828920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55" name="Google Shape;9855;p417"/>
          <p:cNvCxnSpPr>
            <a:stCxn id="9833" idx="4"/>
            <a:endCxn id="9834" idx="0"/>
          </p:cNvCxnSpPr>
          <p:nvPr/>
        </p:nvCxnSpPr>
        <p:spPr>
          <a:xfrm>
            <a:off x="7281695" y="2330864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56" name="Google Shape;9856;p417"/>
          <p:cNvCxnSpPr>
            <a:stCxn id="9833" idx="5"/>
            <a:endCxn id="9842" idx="1"/>
          </p:cNvCxnSpPr>
          <p:nvPr/>
        </p:nvCxnSpPr>
        <p:spPr>
          <a:xfrm>
            <a:off x="7387337" y="2287238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57" name="Google Shape;9857;p417"/>
          <p:cNvCxnSpPr>
            <a:stCxn id="9834" idx="3"/>
            <a:endCxn id="9839" idx="1"/>
          </p:cNvCxnSpPr>
          <p:nvPr/>
        </p:nvCxnSpPr>
        <p:spPr>
          <a:xfrm>
            <a:off x="7580443" y="2683859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58" name="Google Shape;9858;p417"/>
          <p:cNvCxnSpPr>
            <a:stCxn id="9843" idx="3"/>
            <a:endCxn id="9839" idx="3"/>
          </p:cNvCxnSpPr>
          <p:nvPr/>
        </p:nvCxnSpPr>
        <p:spPr>
          <a:xfrm flipH="1">
            <a:off x="8147355" y="2215365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59" name="Google Shape;9859;p417"/>
          <p:cNvCxnSpPr>
            <a:stCxn id="9844" idx="6"/>
            <a:endCxn id="9851" idx="3"/>
          </p:cNvCxnSpPr>
          <p:nvPr/>
        </p:nvCxnSpPr>
        <p:spPr>
          <a:xfrm>
            <a:off x="8200192" y="3538913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0" name="Google Shape;9860;p417"/>
          <p:cNvCxnSpPr>
            <a:stCxn id="9844" idx="5"/>
            <a:endCxn id="9847" idx="1"/>
          </p:cNvCxnSpPr>
          <p:nvPr/>
        </p:nvCxnSpPr>
        <p:spPr>
          <a:xfrm>
            <a:off x="8156434" y="3644236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1" name="Google Shape;9861;p417"/>
          <p:cNvCxnSpPr>
            <a:stCxn id="9851" idx="3"/>
            <a:endCxn id="9846" idx="7"/>
          </p:cNvCxnSpPr>
          <p:nvPr/>
        </p:nvCxnSpPr>
        <p:spPr>
          <a:xfrm flipH="1">
            <a:off x="7686057" y="3585986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2" name="Google Shape;9862;p417"/>
          <p:cNvCxnSpPr>
            <a:stCxn id="9804" idx="2"/>
            <a:endCxn id="9809" idx="0"/>
          </p:cNvCxnSpPr>
          <p:nvPr/>
        </p:nvCxnSpPr>
        <p:spPr>
          <a:xfrm>
            <a:off x="3506797" y="2961845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3" name="Google Shape;9863;p417"/>
          <p:cNvCxnSpPr>
            <a:stCxn id="9769" idx="2"/>
            <a:endCxn id="9774" idx="0"/>
          </p:cNvCxnSpPr>
          <p:nvPr/>
        </p:nvCxnSpPr>
        <p:spPr>
          <a:xfrm>
            <a:off x="5739393" y="2961841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4" name="Google Shape;9864;p417"/>
          <p:cNvCxnSpPr>
            <a:stCxn id="9764" idx="2"/>
            <a:endCxn id="9775" idx="0"/>
          </p:cNvCxnSpPr>
          <p:nvPr/>
        </p:nvCxnSpPr>
        <p:spPr>
          <a:xfrm flipH="1">
            <a:off x="5023143" y="2887434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5" name="Google Shape;9865;p417"/>
          <p:cNvCxnSpPr>
            <a:stCxn id="9764" idx="2"/>
            <a:endCxn id="9774" idx="1"/>
          </p:cNvCxnSpPr>
          <p:nvPr/>
        </p:nvCxnSpPr>
        <p:spPr>
          <a:xfrm>
            <a:off x="5172543" y="2887434"/>
            <a:ext cx="5142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6" name="Google Shape;9866;p417"/>
          <p:cNvCxnSpPr>
            <a:stCxn id="9834" idx="2"/>
            <a:endCxn id="9845" idx="0"/>
          </p:cNvCxnSpPr>
          <p:nvPr/>
        </p:nvCxnSpPr>
        <p:spPr>
          <a:xfrm flipH="1">
            <a:off x="7281643" y="2832809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7" name="Google Shape;9867;p417"/>
          <p:cNvCxnSpPr>
            <a:stCxn id="9839" idx="2"/>
            <a:endCxn id="9844" idx="0"/>
          </p:cNvCxnSpPr>
          <p:nvPr/>
        </p:nvCxnSpPr>
        <p:spPr>
          <a:xfrm>
            <a:off x="7997893" y="2907216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8" name="Google Shape;9868;p417"/>
          <p:cNvCxnSpPr>
            <a:stCxn id="9842" idx="2"/>
            <a:endCxn id="9851" idx="0"/>
          </p:cNvCxnSpPr>
          <p:nvPr/>
        </p:nvCxnSpPr>
        <p:spPr>
          <a:xfrm>
            <a:off x="8648697" y="2798914"/>
            <a:ext cx="0" cy="52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69" name="Google Shape;9869;p417"/>
          <p:cNvCxnSpPr>
            <a:stCxn id="9843" idx="4"/>
            <a:endCxn id="9842" idx="0"/>
          </p:cNvCxnSpPr>
          <p:nvPr/>
        </p:nvCxnSpPr>
        <p:spPr>
          <a:xfrm>
            <a:off x="8648697" y="2258991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70" name="Google Shape;9870;p41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74" name="Shape 9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5" name="Google Shape;9875;p418"/>
          <p:cNvSpPr/>
          <p:nvPr/>
        </p:nvSpPr>
        <p:spPr>
          <a:xfrm>
            <a:off x="878548" y="11813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9876" name="Google Shape;9876;p418"/>
          <p:cNvSpPr/>
          <p:nvPr/>
        </p:nvSpPr>
        <p:spPr>
          <a:xfrm>
            <a:off x="1379915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9877" name="Google Shape;9877;p418"/>
          <p:cNvSpPr/>
          <p:nvPr/>
        </p:nvSpPr>
        <p:spPr>
          <a:xfrm>
            <a:off x="311688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9878" name="Google Shape;9878;p418"/>
          <p:cNvSpPr/>
          <p:nvPr/>
        </p:nvSpPr>
        <p:spPr>
          <a:xfrm>
            <a:off x="878548" y="18628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9879" name="Google Shape;9879;p418"/>
          <p:cNvSpPr/>
          <p:nvPr/>
        </p:nvSpPr>
        <p:spPr>
          <a:xfrm>
            <a:off x="311688" y="206712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9880" name="Google Shape;9880;p418"/>
          <p:cNvSpPr/>
          <p:nvPr/>
        </p:nvSpPr>
        <p:spPr>
          <a:xfrm>
            <a:off x="461035" y="256907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9881" name="Google Shape;9881;p418"/>
          <p:cNvCxnSpPr>
            <a:endCxn id="9877" idx="7"/>
          </p:cNvCxnSpPr>
          <p:nvPr/>
        </p:nvCxnSpPr>
        <p:spPr>
          <a:xfrm flipH="1">
            <a:off x="566729" y="1435709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82" name="Google Shape;9882;p418"/>
          <p:cNvCxnSpPr>
            <a:stCxn id="9879" idx="0"/>
            <a:endCxn id="9877" idx="4"/>
          </p:cNvCxnSpPr>
          <p:nvPr/>
        </p:nvCxnSpPr>
        <p:spPr>
          <a:xfrm rot="10800000">
            <a:off x="461088" y="1863128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83" name="Google Shape;9883;p418"/>
          <p:cNvCxnSpPr>
            <a:stCxn id="9876" idx="1"/>
            <a:endCxn id="9875" idx="5"/>
          </p:cNvCxnSpPr>
          <p:nvPr/>
        </p:nvCxnSpPr>
        <p:spPr>
          <a:xfrm rot="10800000">
            <a:off x="1133573" y="1435709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84" name="Google Shape;9884;p418"/>
          <p:cNvCxnSpPr>
            <a:stCxn id="9885" idx="1"/>
            <a:endCxn id="9877" idx="5"/>
          </p:cNvCxnSpPr>
          <p:nvPr/>
        </p:nvCxnSpPr>
        <p:spPr>
          <a:xfrm rot="10800000">
            <a:off x="566743" y="1819506"/>
            <a:ext cx="504900" cy="867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86" name="Google Shape;9886;p418"/>
          <p:cNvCxnSpPr>
            <a:stCxn id="9878" idx="0"/>
            <a:endCxn id="9875" idx="4"/>
          </p:cNvCxnSpPr>
          <p:nvPr/>
        </p:nvCxnSpPr>
        <p:spPr>
          <a:xfrm rot="10800000">
            <a:off x="1027948" y="1479154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87" name="Google Shape;9887;p418"/>
          <p:cNvCxnSpPr>
            <a:stCxn id="9878" idx="5"/>
            <a:endCxn id="9888" idx="1"/>
          </p:cNvCxnSpPr>
          <p:nvPr/>
        </p:nvCxnSpPr>
        <p:spPr>
          <a:xfrm>
            <a:off x="1133589" y="2117127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89" name="Google Shape;9889;p418"/>
          <p:cNvSpPr/>
          <p:nvPr/>
        </p:nvSpPr>
        <p:spPr>
          <a:xfrm>
            <a:off x="1678689" y="19952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9888" name="Google Shape;9888;p418"/>
          <p:cNvSpPr/>
          <p:nvPr/>
        </p:nvSpPr>
        <p:spPr>
          <a:xfrm>
            <a:off x="1678689" y="253517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9885" name="Google Shape;9885;p418"/>
          <p:cNvSpPr/>
          <p:nvPr/>
        </p:nvSpPr>
        <p:spPr>
          <a:xfrm>
            <a:off x="1027885" y="26434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sp>
        <p:nvSpPr>
          <p:cNvPr id="9890" name="Google Shape;9890;p418"/>
          <p:cNvSpPr/>
          <p:nvPr/>
        </p:nvSpPr>
        <p:spPr>
          <a:xfrm>
            <a:off x="1080784" y="342412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9891" name="Google Shape;9891;p418"/>
          <p:cNvSpPr/>
          <p:nvPr/>
        </p:nvSpPr>
        <p:spPr>
          <a:xfrm>
            <a:off x="311688" y="350929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9892" name="Google Shape;9892;p418"/>
          <p:cNvSpPr/>
          <p:nvPr/>
        </p:nvSpPr>
        <p:spPr>
          <a:xfrm>
            <a:off x="610422" y="41738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9893" name="Google Shape;9893;p418"/>
          <p:cNvSpPr/>
          <p:nvPr/>
        </p:nvSpPr>
        <p:spPr>
          <a:xfrm>
            <a:off x="1678447" y="401308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9894" name="Google Shape;9894;p418"/>
          <p:cNvCxnSpPr>
            <a:stCxn id="9892" idx="2"/>
            <a:endCxn id="9891" idx="5"/>
          </p:cNvCxnSpPr>
          <p:nvPr/>
        </p:nvCxnSpPr>
        <p:spPr>
          <a:xfrm rot="10800000">
            <a:off x="566622" y="3763633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95" name="Google Shape;9895;p418"/>
          <p:cNvCxnSpPr>
            <a:stCxn id="9890" idx="2"/>
            <a:endCxn id="9891" idx="6"/>
          </p:cNvCxnSpPr>
          <p:nvPr/>
        </p:nvCxnSpPr>
        <p:spPr>
          <a:xfrm flipH="1">
            <a:off x="610384" y="3573076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96" name="Google Shape;9896;p418"/>
          <p:cNvCxnSpPr>
            <a:stCxn id="9892" idx="6"/>
            <a:endCxn id="9893" idx="3"/>
          </p:cNvCxnSpPr>
          <p:nvPr/>
        </p:nvCxnSpPr>
        <p:spPr>
          <a:xfrm flipH="1" rot="10800000">
            <a:off x="909222" y="4271833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97" name="Google Shape;9897;p418"/>
          <p:cNvCxnSpPr>
            <a:stCxn id="9898" idx="4"/>
            <a:endCxn id="9893" idx="0"/>
          </p:cNvCxnSpPr>
          <p:nvPr/>
        </p:nvCxnSpPr>
        <p:spPr>
          <a:xfrm>
            <a:off x="1827997" y="3664522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98" name="Google Shape;9898;p418"/>
          <p:cNvSpPr/>
          <p:nvPr/>
        </p:nvSpPr>
        <p:spPr>
          <a:xfrm>
            <a:off x="1678447" y="336152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9899" name="Google Shape;9899;p418"/>
          <p:cNvCxnSpPr>
            <a:stCxn id="9878" idx="3"/>
            <a:endCxn id="9880" idx="7"/>
          </p:cNvCxnSpPr>
          <p:nvPr/>
        </p:nvCxnSpPr>
        <p:spPr>
          <a:xfrm flipH="1">
            <a:off x="716206" y="2117127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0" name="Google Shape;9900;p418"/>
          <p:cNvCxnSpPr>
            <a:stCxn id="9876" idx="4"/>
            <a:endCxn id="9889" idx="1"/>
          </p:cNvCxnSpPr>
          <p:nvPr/>
        </p:nvCxnSpPr>
        <p:spPr>
          <a:xfrm>
            <a:off x="1529315" y="1863083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1" name="Google Shape;9901;p418"/>
          <p:cNvCxnSpPr>
            <a:stCxn id="9876" idx="4"/>
            <a:endCxn id="9885" idx="0"/>
          </p:cNvCxnSpPr>
          <p:nvPr/>
        </p:nvCxnSpPr>
        <p:spPr>
          <a:xfrm flipH="1">
            <a:off x="1177415" y="1863083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2" name="Google Shape;9902;p418"/>
          <p:cNvCxnSpPr>
            <a:stCxn id="9879" idx="4"/>
            <a:endCxn id="9880" idx="0"/>
          </p:cNvCxnSpPr>
          <p:nvPr/>
        </p:nvCxnSpPr>
        <p:spPr>
          <a:xfrm>
            <a:off x="461088" y="2365028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3" name="Google Shape;9903;p418"/>
          <p:cNvCxnSpPr>
            <a:stCxn id="9879" idx="5"/>
            <a:endCxn id="9888" idx="2"/>
          </p:cNvCxnSpPr>
          <p:nvPr/>
        </p:nvCxnSpPr>
        <p:spPr>
          <a:xfrm>
            <a:off x="566729" y="2321401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4" name="Google Shape;9904;p418"/>
          <p:cNvCxnSpPr>
            <a:stCxn id="9880" idx="6"/>
            <a:endCxn id="9885" idx="2"/>
          </p:cNvCxnSpPr>
          <p:nvPr/>
        </p:nvCxnSpPr>
        <p:spPr>
          <a:xfrm>
            <a:off x="759835" y="2718022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5" name="Google Shape;9905;p418"/>
          <p:cNvCxnSpPr>
            <a:stCxn id="9889" idx="3"/>
            <a:endCxn id="9885" idx="6"/>
          </p:cNvCxnSpPr>
          <p:nvPr/>
        </p:nvCxnSpPr>
        <p:spPr>
          <a:xfrm flipH="1">
            <a:off x="1326747" y="2249528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6" name="Google Shape;9906;p418"/>
          <p:cNvCxnSpPr>
            <a:stCxn id="9889" idx="4"/>
            <a:endCxn id="9888" idx="0"/>
          </p:cNvCxnSpPr>
          <p:nvPr/>
        </p:nvCxnSpPr>
        <p:spPr>
          <a:xfrm>
            <a:off x="1828089" y="2293154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7" name="Google Shape;9907;p418"/>
          <p:cNvCxnSpPr>
            <a:stCxn id="9890" idx="6"/>
            <a:endCxn id="9898" idx="3"/>
          </p:cNvCxnSpPr>
          <p:nvPr/>
        </p:nvCxnSpPr>
        <p:spPr>
          <a:xfrm>
            <a:off x="1379584" y="3573076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8" name="Google Shape;9908;p418"/>
          <p:cNvCxnSpPr>
            <a:stCxn id="9890" idx="5"/>
            <a:endCxn id="9893" idx="1"/>
          </p:cNvCxnSpPr>
          <p:nvPr/>
        </p:nvCxnSpPr>
        <p:spPr>
          <a:xfrm>
            <a:off x="1335826" y="3678399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09" name="Google Shape;9909;p418"/>
          <p:cNvCxnSpPr>
            <a:stCxn id="9898" idx="3"/>
            <a:endCxn id="9892" idx="7"/>
          </p:cNvCxnSpPr>
          <p:nvPr/>
        </p:nvCxnSpPr>
        <p:spPr>
          <a:xfrm flipH="1">
            <a:off x="865450" y="3620149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10" name="Google Shape;9910;p418"/>
          <p:cNvSpPr/>
          <p:nvPr/>
        </p:nvSpPr>
        <p:spPr>
          <a:xfrm>
            <a:off x="5440655" y="120184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9911" name="Google Shape;9911;p418"/>
          <p:cNvSpPr/>
          <p:nvPr/>
        </p:nvSpPr>
        <p:spPr>
          <a:xfrm>
            <a:off x="5942022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9912" name="Google Shape;9912;p418"/>
          <p:cNvSpPr/>
          <p:nvPr/>
        </p:nvSpPr>
        <p:spPr>
          <a:xfrm>
            <a:off x="4873795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9913" name="Google Shape;9913;p418"/>
          <p:cNvSpPr/>
          <p:nvPr/>
        </p:nvSpPr>
        <p:spPr>
          <a:xfrm>
            <a:off x="5440655" y="188331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9914" name="Google Shape;9914;p418"/>
          <p:cNvSpPr/>
          <p:nvPr/>
        </p:nvSpPr>
        <p:spPr>
          <a:xfrm>
            <a:off x="4873795" y="208758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9915" name="Google Shape;9915;p418"/>
          <p:cNvSpPr/>
          <p:nvPr/>
        </p:nvSpPr>
        <p:spPr>
          <a:xfrm>
            <a:off x="5023143" y="258953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9916" name="Google Shape;9916;p418"/>
          <p:cNvCxnSpPr>
            <a:endCxn id="9912" idx="7"/>
          </p:cNvCxnSpPr>
          <p:nvPr/>
        </p:nvCxnSpPr>
        <p:spPr>
          <a:xfrm flipH="1">
            <a:off x="5128837" y="1456171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17" name="Google Shape;9917;p418"/>
          <p:cNvCxnSpPr>
            <a:stCxn id="9914" idx="0"/>
            <a:endCxn id="9912" idx="4"/>
          </p:cNvCxnSpPr>
          <p:nvPr/>
        </p:nvCxnSpPr>
        <p:spPr>
          <a:xfrm rot="10800000">
            <a:off x="5023195" y="1883589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18" name="Google Shape;9918;p418"/>
          <p:cNvCxnSpPr>
            <a:stCxn id="9911" idx="1"/>
            <a:endCxn id="9910" idx="5"/>
          </p:cNvCxnSpPr>
          <p:nvPr/>
        </p:nvCxnSpPr>
        <p:spPr>
          <a:xfrm rot="10800000">
            <a:off x="5695681" y="1456171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19" name="Google Shape;9919;p418"/>
          <p:cNvCxnSpPr>
            <a:stCxn id="9920" idx="1"/>
            <a:endCxn id="9912" idx="5"/>
          </p:cNvCxnSpPr>
          <p:nvPr/>
        </p:nvCxnSpPr>
        <p:spPr>
          <a:xfrm rot="10800000">
            <a:off x="5128893" y="1839991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21" name="Google Shape;9921;p418"/>
          <p:cNvCxnSpPr>
            <a:stCxn id="9913" idx="0"/>
            <a:endCxn id="9910" idx="4"/>
          </p:cNvCxnSpPr>
          <p:nvPr/>
        </p:nvCxnSpPr>
        <p:spPr>
          <a:xfrm rot="10800000">
            <a:off x="5590055" y="1499615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22" name="Google Shape;9922;p418"/>
          <p:cNvCxnSpPr>
            <a:stCxn id="9913" idx="5"/>
            <a:endCxn id="9923" idx="1"/>
          </p:cNvCxnSpPr>
          <p:nvPr/>
        </p:nvCxnSpPr>
        <p:spPr>
          <a:xfrm>
            <a:off x="5695697" y="2137589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24" name="Google Shape;9924;p418"/>
          <p:cNvSpPr/>
          <p:nvPr/>
        </p:nvSpPr>
        <p:spPr>
          <a:xfrm>
            <a:off x="6240797" y="20157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9923" name="Google Shape;9923;p418"/>
          <p:cNvSpPr/>
          <p:nvPr/>
        </p:nvSpPr>
        <p:spPr>
          <a:xfrm>
            <a:off x="6240797" y="255563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9920" name="Google Shape;9920;p418"/>
          <p:cNvSpPr/>
          <p:nvPr/>
        </p:nvSpPr>
        <p:spPr>
          <a:xfrm>
            <a:off x="5589993" y="2663941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925" name="Google Shape;9925;p418"/>
          <p:cNvSpPr/>
          <p:nvPr/>
        </p:nvSpPr>
        <p:spPr>
          <a:xfrm>
            <a:off x="5642892" y="344458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9926" name="Google Shape;9926;p418"/>
          <p:cNvSpPr/>
          <p:nvPr/>
        </p:nvSpPr>
        <p:spPr>
          <a:xfrm>
            <a:off x="4873795" y="352975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9927" name="Google Shape;9927;p418"/>
          <p:cNvSpPr/>
          <p:nvPr/>
        </p:nvSpPr>
        <p:spPr>
          <a:xfrm>
            <a:off x="5172530" y="41943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9928" name="Google Shape;9928;p418"/>
          <p:cNvSpPr/>
          <p:nvPr/>
        </p:nvSpPr>
        <p:spPr>
          <a:xfrm>
            <a:off x="6240555" y="403354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9929" name="Google Shape;9929;p418"/>
          <p:cNvCxnSpPr>
            <a:stCxn id="9927" idx="2"/>
            <a:endCxn id="9926" idx="5"/>
          </p:cNvCxnSpPr>
          <p:nvPr/>
        </p:nvCxnSpPr>
        <p:spPr>
          <a:xfrm rot="10800000">
            <a:off x="5128730" y="3784095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30" name="Google Shape;9930;p418"/>
          <p:cNvCxnSpPr>
            <a:stCxn id="9925" idx="2"/>
            <a:endCxn id="9926" idx="6"/>
          </p:cNvCxnSpPr>
          <p:nvPr/>
        </p:nvCxnSpPr>
        <p:spPr>
          <a:xfrm flipH="1">
            <a:off x="5172492" y="3593538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31" name="Google Shape;9931;p418"/>
          <p:cNvCxnSpPr>
            <a:stCxn id="9927" idx="6"/>
            <a:endCxn id="9928" idx="3"/>
          </p:cNvCxnSpPr>
          <p:nvPr/>
        </p:nvCxnSpPr>
        <p:spPr>
          <a:xfrm flipH="1" rot="10800000">
            <a:off x="5471330" y="4292295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32" name="Google Shape;9932;p418"/>
          <p:cNvCxnSpPr>
            <a:stCxn id="9933" idx="4"/>
            <a:endCxn id="9928" idx="0"/>
          </p:cNvCxnSpPr>
          <p:nvPr/>
        </p:nvCxnSpPr>
        <p:spPr>
          <a:xfrm>
            <a:off x="6390105" y="3684984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33" name="Google Shape;9933;p418"/>
          <p:cNvSpPr/>
          <p:nvPr/>
        </p:nvSpPr>
        <p:spPr>
          <a:xfrm>
            <a:off x="6240555" y="338198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9934" name="Google Shape;9934;p418"/>
          <p:cNvCxnSpPr>
            <a:stCxn id="9913" idx="3"/>
            <a:endCxn id="9915" idx="3"/>
          </p:cNvCxnSpPr>
          <p:nvPr/>
        </p:nvCxnSpPr>
        <p:spPr>
          <a:xfrm flipH="1">
            <a:off x="5321814" y="2137589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35" name="Google Shape;9935;p418"/>
          <p:cNvCxnSpPr>
            <a:stCxn id="9911" idx="4"/>
            <a:endCxn id="9924" idx="1"/>
          </p:cNvCxnSpPr>
          <p:nvPr/>
        </p:nvCxnSpPr>
        <p:spPr>
          <a:xfrm>
            <a:off x="6091422" y="1883545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36" name="Google Shape;9936;p418"/>
          <p:cNvCxnSpPr>
            <a:stCxn id="9911" idx="4"/>
            <a:endCxn id="9920" idx="0"/>
          </p:cNvCxnSpPr>
          <p:nvPr/>
        </p:nvCxnSpPr>
        <p:spPr>
          <a:xfrm flipH="1">
            <a:off x="5739522" y="1883545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37" name="Google Shape;9937;p418"/>
          <p:cNvCxnSpPr>
            <a:stCxn id="9914" idx="4"/>
            <a:endCxn id="9915" idx="0"/>
          </p:cNvCxnSpPr>
          <p:nvPr/>
        </p:nvCxnSpPr>
        <p:spPr>
          <a:xfrm>
            <a:off x="5023195" y="2385489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38" name="Google Shape;9938;p418"/>
          <p:cNvCxnSpPr>
            <a:stCxn id="9914" idx="5"/>
            <a:endCxn id="9923" idx="2"/>
          </p:cNvCxnSpPr>
          <p:nvPr/>
        </p:nvCxnSpPr>
        <p:spPr>
          <a:xfrm>
            <a:off x="5128837" y="2341863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39" name="Google Shape;9939;p418"/>
          <p:cNvCxnSpPr>
            <a:stCxn id="9915" idx="3"/>
            <a:endCxn id="9920" idx="1"/>
          </p:cNvCxnSpPr>
          <p:nvPr/>
        </p:nvCxnSpPr>
        <p:spPr>
          <a:xfrm>
            <a:off x="5321943" y="2738484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40" name="Google Shape;9940;p418"/>
          <p:cNvCxnSpPr>
            <a:stCxn id="9924" idx="3"/>
            <a:endCxn id="9920" idx="3"/>
          </p:cNvCxnSpPr>
          <p:nvPr/>
        </p:nvCxnSpPr>
        <p:spPr>
          <a:xfrm flipH="1">
            <a:off x="5888855" y="2269990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41" name="Google Shape;9941;p418"/>
          <p:cNvCxnSpPr>
            <a:stCxn id="9924" idx="4"/>
            <a:endCxn id="9923" idx="0"/>
          </p:cNvCxnSpPr>
          <p:nvPr/>
        </p:nvCxnSpPr>
        <p:spPr>
          <a:xfrm>
            <a:off x="6390197" y="2313616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42" name="Google Shape;9942;p418"/>
          <p:cNvCxnSpPr>
            <a:stCxn id="9925" idx="6"/>
            <a:endCxn id="9933" idx="3"/>
          </p:cNvCxnSpPr>
          <p:nvPr/>
        </p:nvCxnSpPr>
        <p:spPr>
          <a:xfrm>
            <a:off x="5941692" y="3593538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43" name="Google Shape;9943;p418"/>
          <p:cNvCxnSpPr>
            <a:stCxn id="9925" idx="5"/>
            <a:endCxn id="9928" idx="1"/>
          </p:cNvCxnSpPr>
          <p:nvPr/>
        </p:nvCxnSpPr>
        <p:spPr>
          <a:xfrm>
            <a:off x="5897934" y="3698861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44" name="Google Shape;9944;p418"/>
          <p:cNvCxnSpPr>
            <a:stCxn id="9933" idx="3"/>
            <a:endCxn id="9927" idx="7"/>
          </p:cNvCxnSpPr>
          <p:nvPr/>
        </p:nvCxnSpPr>
        <p:spPr>
          <a:xfrm flipH="1">
            <a:off x="5427557" y="3640611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45" name="Google Shape;9945;p418"/>
          <p:cNvSpPr/>
          <p:nvPr/>
        </p:nvSpPr>
        <p:spPr>
          <a:xfrm>
            <a:off x="3208059" y="12018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9946" name="Google Shape;9946;p418"/>
          <p:cNvSpPr/>
          <p:nvPr/>
        </p:nvSpPr>
        <p:spPr>
          <a:xfrm>
            <a:off x="3709426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9947" name="Google Shape;9947;p418"/>
          <p:cNvSpPr/>
          <p:nvPr/>
        </p:nvSpPr>
        <p:spPr>
          <a:xfrm>
            <a:off x="2641199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9948" name="Google Shape;9948;p418"/>
          <p:cNvSpPr/>
          <p:nvPr/>
        </p:nvSpPr>
        <p:spPr>
          <a:xfrm>
            <a:off x="3208059" y="18833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9949" name="Google Shape;9949;p418"/>
          <p:cNvSpPr/>
          <p:nvPr/>
        </p:nvSpPr>
        <p:spPr>
          <a:xfrm>
            <a:off x="2641199" y="208759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9950" name="Google Shape;9950;p418"/>
          <p:cNvSpPr/>
          <p:nvPr/>
        </p:nvSpPr>
        <p:spPr>
          <a:xfrm>
            <a:off x="2790547" y="258953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9951" name="Google Shape;9951;p418"/>
          <p:cNvCxnSpPr>
            <a:endCxn id="9947" idx="7"/>
          </p:cNvCxnSpPr>
          <p:nvPr/>
        </p:nvCxnSpPr>
        <p:spPr>
          <a:xfrm flipH="1">
            <a:off x="2896241" y="1456175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52" name="Google Shape;9952;p418"/>
          <p:cNvCxnSpPr>
            <a:stCxn id="9949" idx="0"/>
            <a:endCxn id="9947" idx="4"/>
          </p:cNvCxnSpPr>
          <p:nvPr/>
        </p:nvCxnSpPr>
        <p:spPr>
          <a:xfrm rot="10800000">
            <a:off x="2790599" y="1883593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53" name="Google Shape;9953;p418"/>
          <p:cNvCxnSpPr>
            <a:stCxn id="9946" idx="1"/>
            <a:endCxn id="9945" idx="5"/>
          </p:cNvCxnSpPr>
          <p:nvPr/>
        </p:nvCxnSpPr>
        <p:spPr>
          <a:xfrm rot="10800000">
            <a:off x="3463085" y="1456175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54" name="Google Shape;9954;p418"/>
          <p:cNvCxnSpPr>
            <a:stCxn id="9955" idx="1"/>
            <a:endCxn id="9947" idx="5"/>
          </p:cNvCxnSpPr>
          <p:nvPr/>
        </p:nvCxnSpPr>
        <p:spPr>
          <a:xfrm rot="10800000">
            <a:off x="2896297" y="1839995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56" name="Google Shape;9956;p418"/>
          <p:cNvCxnSpPr>
            <a:stCxn id="9948" idx="0"/>
            <a:endCxn id="9945" idx="4"/>
          </p:cNvCxnSpPr>
          <p:nvPr/>
        </p:nvCxnSpPr>
        <p:spPr>
          <a:xfrm rot="10800000">
            <a:off x="3357459" y="1499619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57" name="Google Shape;9957;p418"/>
          <p:cNvCxnSpPr>
            <a:stCxn id="9948" idx="5"/>
            <a:endCxn id="9958" idx="1"/>
          </p:cNvCxnSpPr>
          <p:nvPr/>
        </p:nvCxnSpPr>
        <p:spPr>
          <a:xfrm>
            <a:off x="3463101" y="2137592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59" name="Google Shape;9959;p418"/>
          <p:cNvSpPr/>
          <p:nvPr/>
        </p:nvSpPr>
        <p:spPr>
          <a:xfrm>
            <a:off x="4008201" y="20157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9958" name="Google Shape;9958;p418"/>
          <p:cNvSpPr/>
          <p:nvPr/>
        </p:nvSpPr>
        <p:spPr>
          <a:xfrm>
            <a:off x="4008201" y="255564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9955" name="Google Shape;9955;p418"/>
          <p:cNvSpPr/>
          <p:nvPr/>
        </p:nvSpPr>
        <p:spPr>
          <a:xfrm>
            <a:off x="3357397" y="2663945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960" name="Google Shape;9960;p418"/>
          <p:cNvSpPr/>
          <p:nvPr/>
        </p:nvSpPr>
        <p:spPr>
          <a:xfrm>
            <a:off x="3410296" y="34445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9961" name="Google Shape;9961;p418"/>
          <p:cNvSpPr/>
          <p:nvPr/>
        </p:nvSpPr>
        <p:spPr>
          <a:xfrm>
            <a:off x="2641199" y="352976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9962" name="Google Shape;9962;p418"/>
          <p:cNvSpPr/>
          <p:nvPr/>
        </p:nvSpPr>
        <p:spPr>
          <a:xfrm>
            <a:off x="2939934" y="41943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9963" name="Google Shape;9963;p418"/>
          <p:cNvSpPr/>
          <p:nvPr/>
        </p:nvSpPr>
        <p:spPr>
          <a:xfrm>
            <a:off x="4007959" y="4033547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9964" name="Google Shape;9964;p418"/>
          <p:cNvCxnSpPr>
            <a:stCxn id="9962" idx="2"/>
            <a:endCxn id="9961" idx="5"/>
          </p:cNvCxnSpPr>
          <p:nvPr/>
        </p:nvCxnSpPr>
        <p:spPr>
          <a:xfrm rot="10800000">
            <a:off x="2896134" y="3784098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65" name="Google Shape;9965;p418"/>
          <p:cNvCxnSpPr>
            <a:stCxn id="9960" idx="2"/>
            <a:endCxn id="9961" idx="6"/>
          </p:cNvCxnSpPr>
          <p:nvPr/>
        </p:nvCxnSpPr>
        <p:spPr>
          <a:xfrm flipH="1">
            <a:off x="2939896" y="3593541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66" name="Google Shape;9966;p418"/>
          <p:cNvCxnSpPr>
            <a:stCxn id="9962" idx="6"/>
            <a:endCxn id="9963" idx="3"/>
          </p:cNvCxnSpPr>
          <p:nvPr/>
        </p:nvCxnSpPr>
        <p:spPr>
          <a:xfrm flipH="1" rot="10800000">
            <a:off x="3238734" y="4292298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67" name="Google Shape;9967;p418"/>
          <p:cNvCxnSpPr>
            <a:stCxn id="9968" idx="4"/>
            <a:endCxn id="9963" idx="0"/>
          </p:cNvCxnSpPr>
          <p:nvPr/>
        </p:nvCxnSpPr>
        <p:spPr>
          <a:xfrm>
            <a:off x="4157509" y="3684988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68" name="Google Shape;9968;p418"/>
          <p:cNvSpPr/>
          <p:nvPr/>
        </p:nvSpPr>
        <p:spPr>
          <a:xfrm>
            <a:off x="4007959" y="3381988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9969" name="Google Shape;9969;p418"/>
          <p:cNvCxnSpPr>
            <a:stCxn id="9948" idx="3"/>
            <a:endCxn id="9950" idx="7"/>
          </p:cNvCxnSpPr>
          <p:nvPr/>
        </p:nvCxnSpPr>
        <p:spPr>
          <a:xfrm flipH="1">
            <a:off x="3045718" y="2137592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0" name="Google Shape;9970;p418"/>
          <p:cNvCxnSpPr>
            <a:stCxn id="9946" idx="4"/>
            <a:endCxn id="9959" idx="1"/>
          </p:cNvCxnSpPr>
          <p:nvPr/>
        </p:nvCxnSpPr>
        <p:spPr>
          <a:xfrm>
            <a:off x="3858826" y="1883548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1" name="Google Shape;9971;p418"/>
          <p:cNvCxnSpPr>
            <a:stCxn id="9946" idx="4"/>
            <a:endCxn id="9955" idx="0"/>
          </p:cNvCxnSpPr>
          <p:nvPr/>
        </p:nvCxnSpPr>
        <p:spPr>
          <a:xfrm flipH="1">
            <a:off x="3506926" y="1883548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2" name="Google Shape;9972;p418"/>
          <p:cNvCxnSpPr>
            <a:stCxn id="9949" idx="4"/>
            <a:endCxn id="9950" idx="0"/>
          </p:cNvCxnSpPr>
          <p:nvPr/>
        </p:nvCxnSpPr>
        <p:spPr>
          <a:xfrm>
            <a:off x="2790599" y="2385493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3" name="Google Shape;9973;p418"/>
          <p:cNvCxnSpPr>
            <a:stCxn id="9949" idx="5"/>
            <a:endCxn id="9958" idx="2"/>
          </p:cNvCxnSpPr>
          <p:nvPr/>
        </p:nvCxnSpPr>
        <p:spPr>
          <a:xfrm>
            <a:off x="2896241" y="2341866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4" name="Google Shape;9974;p418"/>
          <p:cNvCxnSpPr>
            <a:stCxn id="9950" idx="6"/>
            <a:endCxn id="9955" idx="1"/>
          </p:cNvCxnSpPr>
          <p:nvPr/>
        </p:nvCxnSpPr>
        <p:spPr>
          <a:xfrm>
            <a:off x="3089347" y="2738487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5" name="Google Shape;9975;p418"/>
          <p:cNvCxnSpPr>
            <a:stCxn id="9959" idx="3"/>
            <a:endCxn id="9955" idx="3"/>
          </p:cNvCxnSpPr>
          <p:nvPr/>
        </p:nvCxnSpPr>
        <p:spPr>
          <a:xfrm flipH="1">
            <a:off x="3656259" y="2269993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6" name="Google Shape;9976;p418"/>
          <p:cNvCxnSpPr>
            <a:stCxn id="9959" idx="4"/>
            <a:endCxn id="9958" idx="0"/>
          </p:cNvCxnSpPr>
          <p:nvPr/>
        </p:nvCxnSpPr>
        <p:spPr>
          <a:xfrm>
            <a:off x="4157601" y="2313619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7" name="Google Shape;9977;p418"/>
          <p:cNvCxnSpPr>
            <a:stCxn id="9960" idx="6"/>
            <a:endCxn id="9968" idx="3"/>
          </p:cNvCxnSpPr>
          <p:nvPr/>
        </p:nvCxnSpPr>
        <p:spPr>
          <a:xfrm>
            <a:off x="3709096" y="3593541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8" name="Google Shape;9978;p418"/>
          <p:cNvCxnSpPr>
            <a:stCxn id="9960" idx="5"/>
            <a:endCxn id="9963" idx="1"/>
          </p:cNvCxnSpPr>
          <p:nvPr/>
        </p:nvCxnSpPr>
        <p:spPr>
          <a:xfrm>
            <a:off x="3665338" y="3698865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79" name="Google Shape;9979;p418"/>
          <p:cNvCxnSpPr>
            <a:stCxn id="9968" idx="3"/>
            <a:endCxn id="9962" idx="7"/>
          </p:cNvCxnSpPr>
          <p:nvPr/>
        </p:nvCxnSpPr>
        <p:spPr>
          <a:xfrm flipH="1">
            <a:off x="3194961" y="3640614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80" name="Google Shape;9980;p418"/>
          <p:cNvSpPr/>
          <p:nvPr/>
        </p:nvSpPr>
        <p:spPr>
          <a:xfrm>
            <a:off x="7699155" y="11472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9981" name="Google Shape;9981;p418"/>
          <p:cNvSpPr/>
          <p:nvPr/>
        </p:nvSpPr>
        <p:spPr>
          <a:xfrm>
            <a:off x="8200522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9982" name="Google Shape;9982;p418"/>
          <p:cNvSpPr/>
          <p:nvPr/>
        </p:nvSpPr>
        <p:spPr>
          <a:xfrm>
            <a:off x="7132295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9983" name="Google Shape;9983;p418"/>
          <p:cNvSpPr/>
          <p:nvPr/>
        </p:nvSpPr>
        <p:spPr>
          <a:xfrm>
            <a:off x="7699155" y="182869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9984" name="Google Shape;9984;p418"/>
          <p:cNvSpPr/>
          <p:nvPr/>
        </p:nvSpPr>
        <p:spPr>
          <a:xfrm>
            <a:off x="7132295" y="203296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9985" name="Google Shape;9985;p418"/>
          <p:cNvSpPr/>
          <p:nvPr/>
        </p:nvSpPr>
        <p:spPr>
          <a:xfrm>
            <a:off x="7281643" y="2534909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9986" name="Google Shape;9986;p418"/>
          <p:cNvCxnSpPr>
            <a:endCxn id="9982" idx="7"/>
          </p:cNvCxnSpPr>
          <p:nvPr/>
        </p:nvCxnSpPr>
        <p:spPr>
          <a:xfrm flipH="1">
            <a:off x="7387337" y="1401546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87" name="Google Shape;9987;p418"/>
          <p:cNvCxnSpPr>
            <a:stCxn id="9984" idx="0"/>
            <a:endCxn id="9982" idx="4"/>
          </p:cNvCxnSpPr>
          <p:nvPr/>
        </p:nvCxnSpPr>
        <p:spPr>
          <a:xfrm rot="10800000">
            <a:off x="7281695" y="1828964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88" name="Google Shape;9988;p418"/>
          <p:cNvCxnSpPr>
            <a:stCxn id="9981" idx="1"/>
            <a:endCxn id="9980" idx="5"/>
          </p:cNvCxnSpPr>
          <p:nvPr/>
        </p:nvCxnSpPr>
        <p:spPr>
          <a:xfrm rot="10800000">
            <a:off x="7954181" y="1401546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89" name="Google Shape;9989;p418"/>
          <p:cNvCxnSpPr>
            <a:stCxn id="9990" idx="1"/>
            <a:endCxn id="9982" idx="5"/>
          </p:cNvCxnSpPr>
          <p:nvPr/>
        </p:nvCxnSpPr>
        <p:spPr>
          <a:xfrm rot="10800000">
            <a:off x="7387393" y="1785366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91" name="Google Shape;9991;p418"/>
          <p:cNvCxnSpPr>
            <a:stCxn id="9983" idx="0"/>
            <a:endCxn id="9980" idx="4"/>
          </p:cNvCxnSpPr>
          <p:nvPr/>
        </p:nvCxnSpPr>
        <p:spPr>
          <a:xfrm rot="10800000">
            <a:off x="7848555" y="1444990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92" name="Google Shape;9992;p418"/>
          <p:cNvCxnSpPr>
            <a:stCxn id="9983" idx="5"/>
            <a:endCxn id="9993" idx="1"/>
          </p:cNvCxnSpPr>
          <p:nvPr/>
        </p:nvCxnSpPr>
        <p:spPr>
          <a:xfrm>
            <a:off x="7954197" y="2082964"/>
            <a:ext cx="545100" cy="56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94" name="Google Shape;9994;p418"/>
          <p:cNvSpPr/>
          <p:nvPr/>
        </p:nvSpPr>
        <p:spPr>
          <a:xfrm>
            <a:off x="8499297" y="19610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9993" name="Google Shape;9993;p418"/>
          <p:cNvSpPr/>
          <p:nvPr/>
        </p:nvSpPr>
        <p:spPr>
          <a:xfrm>
            <a:off x="8499297" y="250101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9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990" name="Google Shape;9990;p418"/>
          <p:cNvSpPr/>
          <p:nvPr/>
        </p:nvSpPr>
        <p:spPr>
          <a:xfrm>
            <a:off x="7848493" y="2609316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995" name="Google Shape;9995;p418"/>
          <p:cNvSpPr/>
          <p:nvPr/>
        </p:nvSpPr>
        <p:spPr>
          <a:xfrm>
            <a:off x="7901392" y="338996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9996" name="Google Shape;9996;p418"/>
          <p:cNvSpPr/>
          <p:nvPr/>
        </p:nvSpPr>
        <p:spPr>
          <a:xfrm>
            <a:off x="7132295" y="347513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9997" name="Google Shape;9997;p418"/>
          <p:cNvSpPr/>
          <p:nvPr/>
        </p:nvSpPr>
        <p:spPr>
          <a:xfrm>
            <a:off x="7431030" y="41397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9998" name="Google Shape;9998;p418"/>
          <p:cNvSpPr/>
          <p:nvPr/>
        </p:nvSpPr>
        <p:spPr>
          <a:xfrm>
            <a:off x="8499055" y="397891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9999" name="Google Shape;9999;p418"/>
          <p:cNvCxnSpPr>
            <a:stCxn id="9997" idx="2"/>
            <a:endCxn id="9996" idx="5"/>
          </p:cNvCxnSpPr>
          <p:nvPr/>
        </p:nvCxnSpPr>
        <p:spPr>
          <a:xfrm rot="10800000">
            <a:off x="7387230" y="3729470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00" name="Google Shape;10000;p418"/>
          <p:cNvCxnSpPr>
            <a:stCxn id="9995" idx="2"/>
            <a:endCxn id="9996" idx="6"/>
          </p:cNvCxnSpPr>
          <p:nvPr/>
        </p:nvCxnSpPr>
        <p:spPr>
          <a:xfrm flipH="1">
            <a:off x="7430992" y="3538913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01" name="Google Shape;10001;p418"/>
          <p:cNvCxnSpPr>
            <a:stCxn id="9997" idx="6"/>
            <a:endCxn id="9998" idx="3"/>
          </p:cNvCxnSpPr>
          <p:nvPr/>
        </p:nvCxnSpPr>
        <p:spPr>
          <a:xfrm flipH="1" rot="10800000">
            <a:off x="7729830" y="4237670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02" name="Google Shape;10002;p418"/>
          <p:cNvSpPr/>
          <p:nvPr/>
        </p:nvSpPr>
        <p:spPr>
          <a:xfrm>
            <a:off x="8499055" y="332735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003" name="Google Shape;10003;p418"/>
          <p:cNvCxnSpPr>
            <a:stCxn id="9983" idx="3"/>
            <a:endCxn id="9985" idx="3"/>
          </p:cNvCxnSpPr>
          <p:nvPr/>
        </p:nvCxnSpPr>
        <p:spPr>
          <a:xfrm flipH="1">
            <a:off x="7580314" y="2082964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04" name="Google Shape;10004;p418"/>
          <p:cNvCxnSpPr>
            <a:stCxn id="9981" idx="4"/>
            <a:endCxn id="9994" idx="1"/>
          </p:cNvCxnSpPr>
          <p:nvPr/>
        </p:nvCxnSpPr>
        <p:spPr>
          <a:xfrm>
            <a:off x="8349922" y="1828920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05" name="Google Shape;10005;p418"/>
          <p:cNvCxnSpPr>
            <a:stCxn id="9981" idx="4"/>
            <a:endCxn id="9990" idx="0"/>
          </p:cNvCxnSpPr>
          <p:nvPr/>
        </p:nvCxnSpPr>
        <p:spPr>
          <a:xfrm flipH="1">
            <a:off x="7998022" y="1828920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06" name="Google Shape;10006;p418"/>
          <p:cNvCxnSpPr>
            <a:stCxn id="9984" idx="4"/>
            <a:endCxn id="9985" idx="0"/>
          </p:cNvCxnSpPr>
          <p:nvPr/>
        </p:nvCxnSpPr>
        <p:spPr>
          <a:xfrm>
            <a:off x="7281695" y="2330864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07" name="Google Shape;10007;p418"/>
          <p:cNvCxnSpPr>
            <a:stCxn id="9984" idx="5"/>
            <a:endCxn id="9993" idx="1"/>
          </p:cNvCxnSpPr>
          <p:nvPr/>
        </p:nvCxnSpPr>
        <p:spPr>
          <a:xfrm>
            <a:off x="7387337" y="2287238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08" name="Google Shape;10008;p418"/>
          <p:cNvCxnSpPr>
            <a:stCxn id="9985" idx="3"/>
            <a:endCxn id="9990" idx="1"/>
          </p:cNvCxnSpPr>
          <p:nvPr/>
        </p:nvCxnSpPr>
        <p:spPr>
          <a:xfrm>
            <a:off x="7580443" y="2683859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09" name="Google Shape;10009;p418"/>
          <p:cNvCxnSpPr>
            <a:stCxn id="9994" idx="3"/>
            <a:endCxn id="9990" idx="3"/>
          </p:cNvCxnSpPr>
          <p:nvPr/>
        </p:nvCxnSpPr>
        <p:spPr>
          <a:xfrm flipH="1">
            <a:off x="8147355" y="2215365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10" name="Google Shape;10010;p418"/>
          <p:cNvCxnSpPr>
            <a:stCxn id="9995" idx="6"/>
            <a:endCxn id="10002" idx="3"/>
          </p:cNvCxnSpPr>
          <p:nvPr/>
        </p:nvCxnSpPr>
        <p:spPr>
          <a:xfrm>
            <a:off x="8200192" y="3538913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11" name="Google Shape;10011;p418"/>
          <p:cNvCxnSpPr>
            <a:stCxn id="9995" idx="5"/>
            <a:endCxn id="9998" idx="1"/>
          </p:cNvCxnSpPr>
          <p:nvPr/>
        </p:nvCxnSpPr>
        <p:spPr>
          <a:xfrm>
            <a:off x="8156434" y="3644236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12" name="Google Shape;10012;p418"/>
          <p:cNvCxnSpPr>
            <a:stCxn id="10002" idx="3"/>
            <a:endCxn id="9997" idx="7"/>
          </p:cNvCxnSpPr>
          <p:nvPr/>
        </p:nvCxnSpPr>
        <p:spPr>
          <a:xfrm flipH="1">
            <a:off x="7686057" y="3585986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13" name="Google Shape;10013;p418"/>
          <p:cNvCxnSpPr>
            <a:stCxn id="9955" idx="2"/>
            <a:endCxn id="9960" idx="0"/>
          </p:cNvCxnSpPr>
          <p:nvPr/>
        </p:nvCxnSpPr>
        <p:spPr>
          <a:xfrm>
            <a:off x="3506797" y="2961845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14" name="Google Shape;10014;p418"/>
          <p:cNvSpPr txBox="1"/>
          <p:nvPr/>
        </p:nvSpPr>
        <p:spPr>
          <a:xfrm>
            <a:off x="734725" y="466462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0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0015" name="Google Shape;10015;p418"/>
          <p:cNvCxnSpPr>
            <a:stCxn id="9920" idx="2"/>
            <a:endCxn id="9925" idx="0"/>
          </p:cNvCxnSpPr>
          <p:nvPr/>
        </p:nvCxnSpPr>
        <p:spPr>
          <a:xfrm>
            <a:off x="5739393" y="2961841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16" name="Google Shape;10016;p418"/>
          <p:cNvCxnSpPr>
            <a:stCxn id="9915" idx="2"/>
            <a:endCxn id="9926" idx="0"/>
          </p:cNvCxnSpPr>
          <p:nvPr/>
        </p:nvCxnSpPr>
        <p:spPr>
          <a:xfrm flipH="1">
            <a:off x="5023143" y="2887434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17" name="Google Shape;10017;p418"/>
          <p:cNvCxnSpPr>
            <a:stCxn id="9915" idx="2"/>
            <a:endCxn id="9925" idx="1"/>
          </p:cNvCxnSpPr>
          <p:nvPr/>
        </p:nvCxnSpPr>
        <p:spPr>
          <a:xfrm>
            <a:off x="5172543" y="2887434"/>
            <a:ext cx="5142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18" name="Google Shape;10018;p418"/>
          <p:cNvCxnSpPr>
            <a:stCxn id="9985" idx="2"/>
            <a:endCxn id="9996" idx="0"/>
          </p:cNvCxnSpPr>
          <p:nvPr/>
        </p:nvCxnSpPr>
        <p:spPr>
          <a:xfrm flipH="1">
            <a:off x="7281643" y="2832809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19" name="Google Shape;10019;p418"/>
          <p:cNvCxnSpPr>
            <a:stCxn id="9990" idx="2"/>
            <a:endCxn id="9995" idx="0"/>
          </p:cNvCxnSpPr>
          <p:nvPr/>
        </p:nvCxnSpPr>
        <p:spPr>
          <a:xfrm>
            <a:off x="7997893" y="2907216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20" name="Google Shape;10020;p418"/>
          <p:cNvCxnSpPr>
            <a:stCxn id="9993" idx="2"/>
            <a:endCxn id="10002" idx="0"/>
          </p:cNvCxnSpPr>
          <p:nvPr/>
        </p:nvCxnSpPr>
        <p:spPr>
          <a:xfrm>
            <a:off x="8648697" y="2798914"/>
            <a:ext cx="0" cy="52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21" name="Google Shape;10021;p418"/>
          <p:cNvCxnSpPr>
            <a:stCxn id="9994" idx="4"/>
            <a:endCxn id="9993" idx="0"/>
          </p:cNvCxnSpPr>
          <p:nvPr/>
        </p:nvCxnSpPr>
        <p:spPr>
          <a:xfrm>
            <a:off x="8648697" y="2258991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22" name="Google Shape;10022;p418"/>
          <p:cNvSpPr txBox="1"/>
          <p:nvPr/>
        </p:nvSpPr>
        <p:spPr>
          <a:xfrm>
            <a:off x="461100" y="3007700"/>
            <a:ext cx="2283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Already 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023" name="Google Shape;10023;p41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027" name="Shape 10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8" name="Google Shape;10028;p419"/>
          <p:cNvSpPr/>
          <p:nvPr/>
        </p:nvSpPr>
        <p:spPr>
          <a:xfrm>
            <a:off x="878548" y="11813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029" name="Google Shape;10029;p419"/>
          <p:cNvSpPr/>
          <p:nvPr/>
        </p:nvSpPr>
        <p:spPr>
          <a:xfrm>
            <a:off x="1379915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030" name="Google Shape;10030;p419"/>
          <p:cNvSpPr/>
          <p:nvPr/>
        </p:nvSpPr>
        <p:spPr>
          <a:xfrm>
            <a:off x="311688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031" name="Google Shape;10031;p419"/>
          <p:cNvSpPr/>
          <p:nvPr/>
        </p:nvSpPr>
        <p:spPr>
          <a:xfrm>
            <a:off x="878548" y="18628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032" name="Google Shape;10032;p419"/>
          <p:cNvSpPr/>
          <p:nvPr/>
        </p:nvSpPr>
        <p:spPr>
          <a:xfrm>
            <a:off x="311688" y="206712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033" name="Google Shape;10033;p419"/>
          <p:cNvSpPr/>
          <p:nvPr/>
        </p:nvSpPr>
        <p:spPr>
          <a:xfrm>
            <a:off x="461035" y="256907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034" name="Google Shape;10034;p419"/>
          <p:cNvCxnSpPr>
            <a:endCxn id="10030" idx="7"/>
          </p:cNvCxnSpPr>
          <p:nvPr/>
        </p:nvCxnSpPr>
        <p:spPr>
          <a:xfrm flipH="1">
            <a:off x="566729" y="1435709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35" name="Google Shape;10035;p419"/>
          <p:cNvCxnSpPr>
            <a:stCxn id="10032" idx="0"/>
            <a:endCxn id="10030" idx="4"/>
          </p:cNvCxnSpPr>
          <p:nvPr/>
        </p:nvCxnSpPr>
        <p:spPr>
          <a:xfrm rot="10800000">
            <a:off x="461088" y="1863128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36" name="Google Shape;10036;p419"/>
          <p:cNvCxnSpPr>
            <a:stCxn id="10029" idx="1"/>
            <a:endCxn id="10028" idx="5"/>
          </p:cNvCxnSpPr>
          <p:nvPr/>
        </p:nvCxnSpPr>
        <p:spPr>
          <a:xfrm rot="10800000">
            <a:off x="1133573" y="1435709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37" name="Google Shape;10037;p419"/>
          <p:cNvCxnSpPr>
            <a:stCxn id="10038" idx="1"/>
            <a:endCxn id="10030" idx="5"/>
          </p:cNvCxnSpPr>
          <p:nvPr/>
        </p:nvCxnSpPr>
        <p:spPr>
          <a:xfrm rot="10800000">
            <a:off x="566743" y="1819506"/>
            <a:ext cx="504900" cy="867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39" name="Google Shape;10039;p419"/>
          <p:cNvCxnSpPr>
            <a:stCxn id="10031" idx="0"/>
            <a:endCxn id="10028" idx="4"/>
          </p:cNvCxnSpPr>
          <p:nvPr/>
        </p:nvCxnSpPr>
        <p:spPr>
          <a:xfrm rot="10800000">
            <a:off x="1027948" y="1479154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40" name="Google Shape;10040;p419"/>
          <p:cNvCxnSpPr>
            <a:stCxn id="10031" idx="5"/>
            <a:endCxn id="10041" idx="1"/>
          </p:cNvCxnSpPr>
          <p:nvPr/>
        </p:nvCxnSpPr>
        <p:spPr>
          <a:xfrm>
            <a:off x="1133589" y="2117127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42" name="Google Shape;10042;p419"/>
          <p:cNvSpPr/>
          <p:nvPr/>
        </p:nvSpPr>
        <p:spPr>
          <a:xfrm>
            <a:off x="1678689" y="19952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041" name="Google Shape;10041;p419"/>
          <p:cNvSpPr/>
          <p:nvPr/>
        </p:nvSpPr>
        <p:spPr>
          <a:xfrm>
            <a:off x="1678689" y="253517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038" name="Google Shape;10038;p419"/>
          <p:cNvSpPr/>
          <p:nvPr/>
        </p:nvSpPr>
        <p:spPr>
          <a:xfrm>
            <a:off x="1027885" y="26434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sp>
        <p:nvSpPr>
          <p:cNvPr id="10043" name="Google Shape;10043;p419"/>
          <p:cNvSpPr/>
          <p:nvPr/>
        </p:nvSpPr>
        <p:spPr>
          <a:xfrm>
            <a:off x="1080784" y="342412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044" name="Google Shape;10044;p419"/>
          <p:cNvSpPr/>
          <p:nvPr/>
        </p:nvSpPr>
        <p:spPr>
          <a:xfrm>
            <a:off x="311688" y="350929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045" name="Google Shape;10045;p419"/>
          <p:cNvSpPr/>
          <p:nvPr/>
        </p:nvSpPr>
        <p:spPr>
          <a:xfrm>
            <a:off x="610422" y="41738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046" name="Google Shape;10046;p419"/>
          <p:cNvSpPr/>
          <p:nvPr/>
        </p:nvSpPr>
        <p:spPr>
          <a:xfrm>
            <a:off x="1678447" y="401308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047" name="Google Shape;10047;p419"/>
          <p:cNvCxnSpPr>
            <a:stCxn id="10045" idx="2"/>
            <a:endCxn id="10044" idx="5"/>
          </p:cNvCxnSpPr>
          <p:nvPr/>
        </p:nvCxnSpPr>
        <p:spPr>
          <a:xfrm rot="10800000">
            <a:off x="566622" y="3763633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48" name="Google Shape;10048;p419"/>
          <p:cNvCxnSpPr>
            <a:stCxn id="10043" idx="2"/>
            <a:endCxn id="10044" idx="6"/>
          </p:cNvCxnSpPr>
          <p:nvPr/>
        </p:nvCxnSpPr>
        <p:spPr>
          <a:xfrm flipH="1">
            <a:off x="610384" y="3573076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49" name="Google Shape;10049;p419"/>
          <p:cNvCxnSpPr>
            <a:stCxn id="10045" idx="6"/>
            <a:endCxn id="10046" idx="3"/>
          </p:cNvCxnSpPr>
          <p:nvPr/>
        </p:nvCxnSpPr>
        <p:spPr>
          <a:xfrm flipH="1" rot="10800000">
            <a:off x="909222" y="4271833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50" name="Google Shape;10050;p419"/>
          <p:cNvCxnSpPr>
            <a:stCxn id="10051" idx="4"/>
            <a:endCxn id="10046" idx="0"/>
          </p:cNvCxnSpPr>
          <p:nvPr/>
        </p:nvCxnSpPr>
        <p:spPr>
          <a:xfrm>
            <a:off x="1827997" y="3664522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51" name="Google Shape;10051;p419"/>
          <p:cNvSpPr/>
          <p:nvPr/>
        </p:nvSpPr>
        <p:spPr>
          <a:xfrm>
            <a:off x="1678447" y="336152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052" name="Google Shape;10052;p419"/>
          <p:cNvCxnSpPr>
            <a:stCxn id="10031" idx="3"/>
            <a:endCxn id="10033" idx="7"/>
          </p:cNvCxnSpPr>
          <p:nvPr/>
        </p:nvCxnSpPr>
        <p:spPr>
          <a:xfrm flipH="1">
            <a:off x="716206" y="2117127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53" name="Google Shape;10053;p419"/>
          <p:cNvCxnSpPr>
            <a:stCxn id="10029" idx="4"/>
            <a:endCxn id="10042" idx="1"/>
          </p:cNvCxnSpPr>
          <p:nvPr/>
        </p:nvCxnSpPr>
        <p:spPr>
          <a:xfrm>
            <a:off x="1529315" y="1863083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54" name="Google Shape;10054;p419"/>
          <p:cNvCxnSpPr>
            <a:stCxn id="10029" idx="4"/>
            <a:endCxn id="10038" idx="0"/>
          </p:cNvCxnSpPr>
          <p:nvPr/>
        </p:nvCxnSpPr>
        <p:spPr>
          <a:xfrm flipH="1">
            <a:off x="1177415" y="1863083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55" name="Google Shape;10055;p419"/>
          <p:cNvCxnSpPr>
            <a:stCxn id="10032" idx="4"/>
            <a:endCxn id="10033" idx="0"/>
          </p:cNvCxnSpPr>
          <p:nvPr/>
        </p:nvCxnSpPr>
        <p:spPr>
          <a:xfrm>
            <a:off x="461088" y="2365028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56" name="Google Shape;10056;p419"/>
          <p:cNvCxnSpPr>
            <a:stCxn id="10032" idx="5"/>
            <a:endCxn id="10041" idx="2"/>
          </p:cNvCxnSpPr>
          <p:nvPr/>
        </p:nvCxnSpPr>
        <p:spPr>
          <a:xfrm>
            <a:off x="566729" y="2321401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57" name="Google Shape;10057;p419"/>
          <p:cNvCxnSpPr>
            <a:stCxn id="10033" idx="6"/>
            <a:endCxn id="10038" idx="2"/>
          </p:cNvCxnSpPr>
          <p:nvPr/>
        </p:nvCxnSpPr>
        <p:spPr>
          <a:xfrm>
            <a:off x="759835" y="2718022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58" name="Google Shape;10058;p419"/>
          <p:cNvCxnSpPr>
            <a:stCxn id="10042" idx="3"/>
            <a:endCxn id="10038" idx="6"/>
          </p:cNvCxnSpPr>
          <p:nvPr/>
        </p:nvCxnSpPr>
        <p:spPr>
          <a:xfrm flipH="1">
            <a:off x="1326747" y="2249528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59" name="Google Shape;10059;p419"/>
          <p:cNvCxnSpPr>
            <a:stCxn id="10042" idx="4"/>
            <a:endCxn id="10041" idx="0"/>
          </p:cNvCxnSpPr>
          <p:nvPr/>
        </p:nvCxnSpPr>
        <p:spPr>
          <a:xfrm>
            <a:off x="1828089" y="2293154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60" name="Google Shape;10060;p419"/>
          <p:cNvCxnSpPr>
            <a:stCxn id="10043" idx="6"/>
            <a:endCxn id="10051" idx="3"/>
          </p:cNvCxnSpPr>
          <p:nvPr/>
        </p:nvCxnSpPr>
        <p:spPr>
          <a:xfrm>
            <a:off x="1379584" y="3573076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61" name="Google Shape;10061;p419"/>
          <p:cNvCxnSpPr>
            <a:stCxn id="10043" idx="5"/>
            <a:endCxn id="10046" idx="1"/>
          </p:cNvCxnSpPr>
          <p:nvPr/>
        </p:nvCxnSpPr>
        <p:spPr>
          <a:xfrm>
            <a:off x="1335826" y="3678399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62" name="Google Shape;10062;p419"/>
          <p:cNvCxnSpPr>
            <a:stCxn id="10051" idx="3"/>
            <a:endCxn id="10045" idx="7"/>
          </p:cNvCxnSpPr>
          <p:nvPr/>
        </p:nvCxnSpPr>
        <p:spPr>
          <a:xfrm flipH="1">
            <a:off x="865450" y="3620149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63" name="Google Shape;10063;p419"/>
          <p:cNvSpPr/>
          <p:nvPr/>
        </p:nvSpPr>
        <p:spPr>
          <a:xfrm>
            <a:off x="5440655" y="120184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064" name="Google Shape;10064;p419"/>
          <p:cNvSpPr/>
          <p:nvPr/>
        </p:nvSpPr>
        <p:spPr>
          <a:xfrm>
            <a:off x="5942022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065" name="Google Shape;10065;p419"/>
          <p:cNvSpPr/>
          <p:nvPr/>
        </p:nvSpPr>
        <p:spPr>
          <a:xfrm>
            <a:off x="4873795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066" name="Google Shape;10066;p419"/>
          <p:cNvSpPr/>
          <p:nvPr/>
        </p:nvSpPr>
        <p:spPr>
          <a:xfrm>
            <a:off x="5440655" y="188331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067" name="Google Shape;10067;p419"/>
          <p:cNvSpPr/>
          <p:nvPr/>
        </p:nvSpPr>
        <p:spPr>
          <a:xfrm>
            <a:off x="4873795" y="208758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068" name="Google Shape;10068;p419"/>
          <p:cNvSpPr/>
          <p:nvPr/>
        </p:nvSpPr>
        <p:spPr>
          <a:xfrm>
            <a:off x="5023143" y="258953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0069" name="Google Shape;10069;p419"/>
          <p:cNvCxnSpPr>
            <a:endCxn id="10065" idx="7"/>
          </p:cNvCxnSpPr>
          <p:nvPr/>
        </p:nvCxnSpPr>
        <p:spPr>
          <a:xfrm flipH="1">
            <a:off x="5128837" y="1456171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70" name="Google Shape;10070;p419"/>
          <p:cNvCxnSpPr>
            <a:stCxn id="10067" idx="0"/>
            <a:endCxn id="10065" idx="4"/>
          </p:cNvCxnSpPr>
          <p:nvPr/>
        </p:nvCxnSpPr>
        <p:spPr>
          <a:xfrm rot="10800000">
            <a:off x="5023195" y="1883589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71" name="Google Shape;10071;p419"/>
          <p:cNvCxnSpPr>
            <a:stCxn id="10064" idx="1"/>
            <a:endCxn id="10063" idx="5"/>
          </p:cNvCxnSpPr>
          <p:nvPr/>
        </p:nvCxnSpPr>
        <p:spPr>
          <a:xfrm rot="10800000">
            <a:off x="5695681" y="1456171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72" name="Google Shape;10072;p419"/>
          <p:cNvCxnSpPr>
            <a:stCxn id="10073" idx="1"/>
            <a:endCxn id="10065" idx="5"/>
          </p:cNvCxnSpPr>
          <p:nvPr/>
        </p:nvCxnSpPr>
        <p:spPr>
          <a:xfrm rot="10800000">
            <a:off x="5128893" y="1839991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74" name="Google Shape;10074;p419"/>
          <p:cNvCxnSpPr>
            <a:stCxn id="10066" idx="0"/>
            <a:endCxn id="10063" idx="4"/>
          </p:cNvCxnSpPr>
          <p:nvPr/>
        </p:nvCxnSpPr>
        <p:spPr>
          <a:xfrm rot="10800000">
            <a:off x="5590055" y="1499615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75" name="Google Shape;10075;p419"/>
          <p:cNvCxnSpPr>
            <a:stCxn id="10066" idx="5"/>
            <a:endCxn id="10076" idx="1"/>
          </p:cNvCxnSpPr>
          <p:nvPr/>
        </p:nvCxnSpPr>
        <p:spPr>
          <a:xfrm>
            <a:off x="5695697" y="2137589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77" name="Google Shape;10077;p419"/>
          <p:cNvSpPr/>
          <p:nvPr/>
        </p:nvSpPr>
        <p:spPr>
          <a:xfrm>
            <a:off x="6240797" y="20157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076" name="Google Shape;10076;p419"/>
          <p:cNvSpPr/>
          <p:nvPr/>
        </p:nvSpPr>
        <p:spPr>
          <a:xfrm>
            <a:off x="6240797" y="255563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073" name="Google Shape;10073;p419"/>
          <p:cNvSpPr/>
          <p:nvPr/>
        </p:nvSpPr>
        <p:spPr>
          <a:xfrm>
            <a:off x="5589993" y="2663941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078" name="Google Shape;10078;p419"/>
          <p:cNvSpPr/>
          <p:nvPr/>
        </p:nvSpPr>
        <p:spPr>
          <a:xfrm>
            <a:off x="5642892" y="344458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079" name="Google Shape;10079;p419"/>
          <p:cNvSpPr/>
          <p:nvPr/>
        </p:nvSpPr>
        <p:spPr>
          <a:xfrm>
            <a:off x="4873795" y="352975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080" name="Google Shape;10080;p419"/>
          <p:cNvSpPr/>
          <p:nvPr/>
        </p:nvSpPr>
        <p:spPr>
          <a:xfrm>
            <a:off x="5172530" y="41943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081" name="Google Shape;10081;p419"/>
          <p:cNvSpPr/>
          <p:nvPr/>
        </p:nvSpPr>
        <p:spPr>
          <a:xfrm>
            <a:off x="6240555" y="403354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082" name="Google Shape;10082;p419"/>
          <p:cNvCxnSpPr>
            <a:stCxn id="10080" idx="2"/>
            <a:endCxn id="10079" idx="5"/>
          </p:cNvCxnSpPr>
          <p:nvPr/>
        </p:nvCxnSpPr>
        <p:spPr>
          <a:xfrm rot="10800000">
            <a:off x="5128730" y="3784095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83" name="Google Shape;10083;p419"/>
          <p:cNvCxnSpPr>
            <a:stCxn id="10078" idx="2"/>
            <a:endCxn id="10079" idx="6"/>
          </p:cNvCxnSpPr>
          <p:nvPr/>
        </p:nvCxnSpPr>
        <p:spPr>
          <a:xfrm flipH="1">
            <a:off x="5172492" y="3593538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84" name="Google Shape;10084;p419"/>
          <p:cNvCxnSpPr>
            <a:stCxn id="10080" idx="6"/>
            <a:endCxn id="10081" idx="3"/>
          </p:cNvCxnSpPr>
          <p:nvPr/>
        </p:nvCxnSpPr>
        <p:spPr>
          <a:xfrm flipH="1" rot="10800000">
            <a:off x="5471330" y="4292295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85" name="Google Shape;10085;p419"/>
          <p:cNvCxnSpPr>
            <a:stCxn id="10086" idx="4"/>
            <a:endCxn id="10081" idx="0"/>
          </p:cNvCxnSpPr>
          <p:nvPr/>
        </p:nvCxnSpPr>
        <p:spPr>
          <a:xfrm>
            <a:off x="6390105" y="3684984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86" name="Google Shape;10086;p419"/>
          <p:cNvSpPr/>
          <p:nvPr/>
        </p:nvSpPr>
        <p:spPr>
          <a:xfrm>
            <a:off x="6240555" y="338198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087" name="Google Shape;10087;p419"/>
          <p:cNvCxnSpPr>
            <a:stCxn id="10066" idx="3"/>
            <a:endCxn id="10068" idx="3"/>
          </p:cNvCxnSpPr>
          <p:nvPr/>
        </p:nvCxnSpPr>
        <p:spPr>
          <a:xfrm flipH="1">
            <a:off x="5321814" y="2137589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88" name="Google Shape;10088;p419"/>
          <p:cNvCxnSpPr>
            <a:stCxn id="10064" idx="4"/>
            <a:endCxn id="10077" idx="1"/>
          </p:cNvCxnSpPr>
          <p:nvPr/>
        </p:nvCxnSpPr>
        <p:spPr>
          <a:xfrm>
            <a:off x="6091422" y="1883545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89" name="Google Shape;10089;p419"/>
          <p:cNvCxnSpPr>
            <a:stCxn id="10064" idx="4"/>
            <a:endCxn id="10073" idx="0"/>
          </p:cNvCxnSpPr>
          <p:nvPr/>
        </p:nvCxnSpPr>
        <p:spPr>
          <a:xfrm flipH="1">
            <a:off x="5739522" y="1883545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90" name="Google Shape;10090;p419"/>
          <p:cNvCxnSpPr>
            <a:stCxn id="10067" idx="4"/>
            <a:endCxn id="10068" idx="0"/>
          </p:cNvCxnSpPr>
          <p:nvPr/>
        </p:nvCxnSpPr>
        <p:spPr>
          <a:xfrm>
            <a:off x="5023195" y="2385489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91" name="Google Shape;10091;p419"/>
          <p:cNvCxnSpPr>
            <a:stCxn id="10067" idx="5"/>
            <a:endCxn id="10076" idx="2"/>
          </p:cNvCxnSpPr>
          <p:nvPr/>
        </p:nvCxnSpPr>
        <p:spPr>
          <a:xfrm>
            <a:off x="5128837" y="2341863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92" name="Google Shape;10092;p419"/>
          <p:cNvCxnSpPr>
            <a:stCxn id="10068" idx="3"/>
            <a:endCxn id="10073" idx="1"/>
          </p:cNvCxnSpPr>
          <p:nvPr/>
        </p:nvCxnSpPr>
        <p:spPr>
          <a:xfrm>
            <a:off x="5321943" y="2738484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93" name="Google Shape;10093;p419"/>
          <p:cNvCxnSpPr>
            <a:stCxn id="10077" idx="3"/>
            <a:endCxn id="10073" idx="3"/>
          </p:cNvCxnSpPr>
          <p:nvPr/>
        </p:nvCxnSpPr>
        <p:spPr>
          <a:xfrm flipH="1">
            <a:off x="5888855" y="2269990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94" name="Google Shape;10094;p419"/>
          <p:cNvCxnSpPr>
            <a:stCxn id="10077" idx="4"/>
            <a:endCxn id="10076" idx="0"/>
          </p:cNvCxnSpPr>
          <p:nvPr/>
        </p:nvCxnSpPr>
        <p:spPr>
          <a:xfrm>
            <a:off x="6390197" y="2313616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95" name="Google Shape;10095;p419"/>
          <p:cNvCxnSpPr>
            <a:stCxn id="10078" idx="6"/>
            <a:endCxn id="10086" idx="3"/>
          </p:cNvCxnSpPr>
          <p:nvPr/>
        </p:nvCxnSpPr>
        <p:spPr>
          <a:xfrm>
            <a:off x="5941692" y="3593538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96" name="Google Shape;10096;p419"/>
          <p:cNvCxnSpPr>
            <a:stCxn id="10078" idx="5"/>
            <a:endCxn id="10081" idx="1"/>
          </p:cNvCxnSpPr>
          <p:nvPr/>
        </p:nvCxnSpPr>
        <p:spPr>
          <a:xfrm>
            <a:off x="5897934" y="3698861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097" name="Google Shape;10097;p419"/>
          <p:cNvCxnSpPr>
            <a:stCxn id="10086" idx="3"/>
            <a:endCxn id="10080" idx="7"/>
          </p:cNvCxnSpPr>
          <p:nvPr/>
        </p:nvCxnSpPr>
        <p:spPr>
          <a:xfrm flipH="1">
            <a:off x="5427557" y="3640611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98" name="Google Shape;10098;p419"/>
          <p:cNvSpPr/>
          <p:nvPr/>
        </p:nvSpPr>
        <p:spPr>
          <a:xfrm>
            <a:off x="3208059" y="12018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099" name="Google Shape;10099;p419"/>
          <p:cNvSpPr/>
          <p:nvPr/>
        </p:nvSpPr>
        <p:spPr>
          <a:xfrm>
            <a:off x="3709426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100" name="Google Shape;10100;p419"/>
          <p:cNvSpPr/>
          <p:nvPr/>
        </p:nvSpPr>
        <p:spPr>
          <a:xfrm>
            <a:off x="2641199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101" name="Google Shape;10101;p419"/>
          <p:cNvSpPr/>
          <p:nvPr/>
        </p:nvSpPr>
        <p:spPr>
          <a:xfrm>
            <a:off x="3208059" y="18833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102" name="Google Shape;10102;p419"/>
          <p:cNvSpPr/>
          <p:nvPr/>
        </p:nvSpPr>
        <p:spPr>
          <a:xfrm>
            <a:off x="2641199" y="208759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103" name="Google Shape;10103;p419"/>
          <p:cNvSpPr/>
          <p:nvPr/>
        </p:nvSpPr>
        <p:spPr>
          <a:xfrm>
            <a:off x="2790547" y="258953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104" name="Google Shape;10104;p419"/>
          <p:cNvCxnSpPr>
            <a:endCxn id="10100" idx="7"/>
          </p:cNvCxnSpPr>
          <p:nvPr/>
        </p:nvCxnSpPr>
        <p:spPr>
          <a:xfrm flipH="1">
            <a:off x="2896241" y="1456175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05" name="Google Shape;10105;p419"/>
          <p:cNvCxnSpPr>
            <a:stCxn id="10102" idx="0"/>
            <a:endCxn id="10100" idx="4"/>
          </p:cNvCxnSpPr>
          <p:nvPr/>
        </p:nvCxnSpPr>
        <p:spPr>
          <a:xfrm rot="10800000">
            <a:off x="2790599" y="1883593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06" name="Google Shape;10106;p419"/>
          <p:cNvCxnSpPr>
            <a:stCxn id="10099" idx="1"/>
            <a:endCxn id="10098" idx="5"/>
          </p:cNvCxnSpPr>
          <p:nvPr/>
        </p:nvCxnSpPr>
        <p:spPr>
          <a:xfrm rot="10800000">
            <a:off x="3463085" y="1456175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07" name="Google Shape;10107;p419"/>
          <p:cNvCxnSpPr>
            <a:stCxn id="10108" idx="1"/>
            <a:endCxn id="10100" idx="5"/>
          </p:cNvCxnSpPr>
          <p:nvPr/>
        </p:nvCxnSpPr>
        <p:spPr>
          <a:xfrm rot="10800000">
            <a:off x="2896297" y="1839995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09" name="Google Shape;10109;p419"/>
          <p:cNvCxnSpPr>
            <a:stCxn id="10101" idx="0"/>
            <a:endCxn id="10098" idx="4"/>
          </p:cNvCxnSpPr>
          <p:nvPr/>
        </p:nvCxnSpPr>
        <p:spPr>
          <a:xfrm rot="10800000">
            <a:off x="3357459" y="1499619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10" name="Google Shape;10110;p419"/>
          <p:cNvCxnSpPr>
            <a:stCxn id="10101" idx="5"/>
            <a:endCxn id="10111" idx="1"/>
          </p:cNvCxnSpPr>
          <p:nvPr/>
        </p:nvCxnSpPr>
        <p:spPr>
          <a:xfrm>
            <a:off x="3463101" y="2137592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12" name="Google Shape;10112;p419"/>
          <p:cNvSpPr/>
          <p:nvPr/>
        </p:nvSpPr>
        <p:spPr>
          <a:xfrm>
            <a:off x="4008201" y="20157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111" name="Google Shape;10111;p419"/>
          <p:cNvSpPr/>
          <p:nvPr/>
        </p:nvSpPr>
        <p:spPr>
          <a:xfrm>
            <a:off x="4008201" y="255564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108" name="Google Shape;10108;p419"/>
          <p:cNvSpPr/>
          <p:nvPr/>
        </p:nvSpPr>
        <p:spPr>
          <a:xfrm>
            <a:off x="3357397" y="2663945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113" name="Google Shape;10113;p419"/>
          <p:cNvSpPr/>
          <p:nvPr/>
        </p:nvSpPr>
        <p:spPr>
          <a:xfrm>
            <a:off x="3410296" y="34445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114" name="Google Shape;10114;p419"/>
          <p:cNvSpPr/>
          <p:nvPr/>
        </p:nvSpPr>
        <p:spPr>
          <a:xfrm>
            <a:off x="2641199" y="352976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115" name="Google Shape;10115;p419"/>
          <p:cNvSpPr/>
          <p:nvPr/>
        </p:nvSpPr>
        <p:spPr>
          <a:xfrm>
            <a:off x="2939934" y="41943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116" name="Google Shape;10116;p419"/>
          <p:cNvSpPr/>
          <p:nvPr/>
        </p:nvSpPr>
        <p:spPr>
          <a:xfrm>
            <a:off x="4007959" y="4033547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117" name="Google Shape;10117;p419"/>
          <p:cNvCxnSpPr>
            <a:stCxn id="10115" idx="2"/>
            <a:endCxn id="10114" idx="5"/>
          </p:cNvCxnSpPr>
          <p:nvPr/>
        </p:nvCxnSpPr>
        <p:spPr>
          <a:xfrm rot="10800000">
            <a:off x="2896134" y="3784098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18" name="Google Shape;10118;p419"/>
          <p:cNvCxnSpPr>
            <a:stCxn id="10113" idx="2"/>
            <a:endCxn id="10114" idx="6"/>
          </p:cNvCxnSpPr>
          <p:nvPr/>
        </p:nvCxnSpPr>
        <p:spPr>
          <a:xfrm flipH="1">
            <a:off x="2939896" y="3593541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19" name="Google Shape;10119;p419"/>
          <p:cNvCxnSpPr>
            <a:stCxn id="10115" idx="6"/>
            <a:endCxn id="10116" idx="3"/>
          </p:cNvCxnSpPr>
          <p:nvPr/>
        </p:nvCxnSpPr>
        <p:spPr>
          <a:xfrm flipH="1" rot="10800000">
            <a:off x="3238734" y="4292298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0" name="Google Shape;10120;p419"/>
          <p:cNvCxnSpPr>
            <a:stCxn id="10121" idx="4"/>
            <a:endCxn id="10116" idx="0"/>
          </p:cNvCxnSpPr>
          <p:nvPr/>
        </p:nvCxnSpPr>
        <p:spPr>
          <a:xfrm>
            <a:off x="4157509" y="3684988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21" name="Google Shape;10121;p419"/>
          <p:cNvSpPr/>
          <p:nvPr/>
        </p:nvSpPr>
        <p:spPr>
          <a:xfrm>
            <a:off x="4007959" y="3381988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122" name="Google Shape;10122;p419"/>
          <p:cNvCxnSpPr>
            <a:stCxn id="10101" idx="3"/>
            <a:endCxn id="10103" idx="7"/>
          </p:cNvCxnSpPr>
          <p:nvPr/>
        </p:nvCxnSpPr>
        <p:spPr>
          <a:xfrm flipH="1">
            <a:off x="3045718" y="2137592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3" name="Google Shape;10123;p419"/>
          <p:cNvCxnSpPr>
            <a:stCxn id="10099" idx="4"/>
            <a:endCxn id="10112" idx="1"/>
          </p:cNvCxnSpPr>
          <p:nvPr/>
        </p:nvCxnSpPr>
        <p:spPr>
          <a:xfrm>
            <a:off x="3858826" y="1883548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4" name="Google Shape;10124;p419"/>
          <p:cNvCxnSpPr>
            <a:stCxn id="10099" idx="4"/>
            <a:endCxn id="10108" idx="0"/>
          </p:cNvCxnSpPr>
          <p:nvPr/>
        </p:nvCxnSpPr>
        <p:spPr>
          <a:xfrm flipH="1">
            <a:off x="3506926" y="1883548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5" name="Google Shape;10125;p419"/>
          <p:cNvCxnSpPr>
            <a:stCxn id="10102" idx="4"/>
            <a:endCxn id="10103" idx="0"/>
          </p:cNvCxnSpPr>
          <p:nvPr/>
        </p:nvCxnSpPr>
        <p:spPr>
          <a:xfrm>
            <a:off x="2790599" y="2385493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6" name="Google Shape;10126;p419"/>
          <p:cNvCxnSpPr>
            <a:stCxn id="10102" idx="5"/>
            <a:endCxn id="10111" idx="2"/>
          </p:cNvCxnSpPr>
          <p:nvPr/>
        </p:nvCxnSpPr>
        <p:spPr>
          <a:xfrm>
            <a:off x="2896241" y="2341866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7" name="Google Shape;10127;p419"/>
          <p:cNvCxnSpPr>
            <a:stCxn id="10103" idx="6"/>
            <a:endCxn id="10108" idx="1"/>
          </p:cNvCxnSpPr>
          <p:nvPr/>
        </p:nvCxnSpPr>
        <p:spPr>
          <a:xfrm>
            <a:off x="3089347" y="2738487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8" name="Google Shape;10128;p419"/>
          <p:cNvCxnSpPr>
            <a:stCxn id="10112" idx="3"/>
            <a:endCxn id="10108" idx="3"/>
          </p:cNvCxnSpPr>
          <p:nvPr/>
        </p:nvCxnSpPr>
        <p:spPr>
          <a:xfrm flipH="1">
            <a:off x="3656259" y="2269993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29" name="Google Shape;10129;p419"/>
          <p:cNvCxnSpPr>
            <a:stCxn id="10112" idx="4"/>
            <a:endCxn id="10111" idx="0"/>
          </p:cNvCxnSpPr>
          <p:nvPr/>
        </p:nvCxnSpPr>
        <p:spPr>
          <a:xfrm>
            <a:off x="4157601" y="2313619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30" name="Google Shape;10130;p419"/>
          <p:cNvCxnSpPr>
            <a:stCxn id="10113" idx="6"/>
            <a:endCxn id="10121" idx="3"/>
          </p:cNvCxnSpPr>
          <p:nvPr/>
        </p:nvCxnSpPr>
        <p:spPr>
          <a:xfrm>
            <a:off x="3709096" y="3593541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31" name="Google Shape;10131;p419"/>
          <p:cNvCxnSpPr>
            <a:stCxn id="10113" idx="5"/>
            <a:endCxn id="10116" idx="1"/>
          </p:cNvCxnSpPr>
          <p:nvPr/>
        </p:nvCxnSpPr>
        <p:spPr>
          <a:xfrm>
            <a:off x="3665338" y="3698865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32" name="Google Shape;10132;p419"/>
          <p:cNvCxnSpPr>
            <a:stCxn id="10121" idx="3"/>
            <a:endCxn id="10115" idx="7"/>
          </p:cNvCxnSpPr>
          <p:nvPr/>
        </p:nvCxnSpPr>
        <p:spPr>
          <a:xfrm flipH="1">
            <a:off x="3194961" y="3640614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33" name="Google Shape;10133;p419"/>
          <p:cNvSpPr/>
          <p:nvPr/>
        </p:nvSpPr>
        <p:spPr>
          <a:xfrm>
            <a:off x="7699155" y="11472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134" name="Google Shape;10134;p419"/>
          <p:cNvSpPr/>
          <p:nvPr/>
        </p:nvSpPr>
        <p:spPr>
          <a:xfrm>
            <a:off x="8200522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135" name="Google Shape;10135;p419"/>
          <p:cNvSpPr/>
          <p:nvPr/>
        </p:nvSpPr>
        <p:spPr>
          <a:xfrm>
            <a:off x="7132295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136" name="Google Shape;10136;p419"/>
          <p:cNvSpPr/>
          <p:nvPr/>
        </p:nvSpPr>
        <p:spPr>
          <a:xfrm>
            <a:off x="7699155" y="182869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137" name="Google Shape;10137;p419"/>
          <p:cNvSpPr/>
          <p:nvPr/>
        </p:nvSpPr>
        <p:spPr>
          <a:xfrm>
            <a:off x="7132295" y="203296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138" name="Google Shape;10138;p419"/>
          <p:cNvSpPr/>
          <p:nvPr/>
        </p:nvSpPr>
        <p:spPr>
          <a:xfrm>
            <a:off x="7281643" y="2534909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0139" name="Google Shape;10139;p419"/>
          <p:cNvCxnSpPr>
            <a:endCxn id="10135" idx="7"/>
          </p:cNvCxnSpPr>
          <p:nvPr/>
        </p:nvCxnSpPr>
        <p:spPr>
          <a:xfrm flipH="1">
            <a:off x="7387337" y="1401546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40" name="Google Shape;10140;p419"/>
          <p:cNvCxnSpPr>
            <a:stCxn id="10137" idx="0"/>
            <a:endCxn id="10135" idx="4"/>
          </p:cNvCxnSpPr>
          <p:nvPr/>
        </p:nvCxnSpPr>
        <p:spPr>
          <a:xfrm rot="10800000">
            <a:off x="7281695" y="1828964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41" name="Google Shape;10141;p419"/>
          <p:cNvCxnSpPr>
            <a:stCxn id="10134" idx="1"/>
            <a:endCxn id="10133" idx="5"/>
          </p:cNvCxnSpPr>
          <p:nvPr/>
        </p:nvCxnSpPr>
        <p:spPr>
          <a:xfrm rot="10800000">
            <a:off x="7954181" y="1401546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42" name="Google Shape;10142;p419"/>
          <p:cNvCxnSpPr>
            <a:stCxn id="10143" idx="1"/>
            <a:endCxn id="10135" idx="5"/>
          </p:cNvCxnSpPr>
          <p:nvPr/>
        </p:nvCxnSpPr>
        <p:spPr>
          <a:xfrm rot="10800000">
            <a:off x="7387393" y="1785366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44" name="Google Shape;10144;p419"/>
          <p:cNvCxnSpPr>
            <a:stCxn id="10136" idx="0"/>
            <a:endCxn id="10133" idx="4"/>
          </p:cNvCxnSpPr>
          <p:nvPr/>
        </p:nvCxnSpPr>
        <p:spPr>
          <a:xfrm rot="10800000">
            <a:off x="7848555" y="1444990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45" name="Google Shape;10145;p419"/>
          <p:cNvCxnSpPr>
            <a:stCxn id="10136" idx="5"/>
            <a:endCxn id="10146" idx="1"/>
          </p:cNvCxnSpPr>
          <p:nvPr/>
        </p:nvCxnSpPr>
        <p:spPr>
          <a:xfrm>
            <a:off x="7954197" y="2082964"/>
            <a:ext cx="545100" cy="56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47" name="Google Shape;10147;p419"/>
          <p:cNvSpPr/>
          <p:nvPr/>
        </p:nvSpPr>
        <p:spPr>
          <a:xfrm>
            <a:off x="8499297" y="19610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146" name="Google Shape;10146;p419"/>
          <p:cNvSpPr/>
          <p:nvPr/>
        </p:nvSpPr>
        <p:spPr>
          <a:xfrm>
            <a:off x="8499297" y="250101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9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143" name="Google Shape;10143;p419"/>
          <p:cNvSpPr/>
          <p:nvPr/>
        </p:nvSpPr>
        <p:spPr>
          <a:xfrm>
            <a:off x="7848493" y="2609316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148" name="Google Shape;10148;p419"/>
          <p:cNvSpPr/>
          <p:nvPr/>
        </p:nvSpPr>
        <p:spPr>
          <a:xfrm>
            <a:off x="7901392" y="338996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149" name="Google Shape;10149;p419"/>
          <p:cNvSpPr/>
          <p:nvPr/>
        </p:nvSpPr>
        <p:spPr>
          <a:xfrm>
            <a:off x="7132295" y="347513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150" name="Google Shape;10150;p419"/>
          <p:cNvSpPr/>
          <p:nvPr/>
        </p:nvSpPr>
        <p:spPr>
          <a:xfrm>
            <a:off x="7431030" y="41397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151" name="Google Shape;10151;p419"/>
          <p:cNvSpPr/>
          <p:nvPr/>
        </p:nvSpPr>
        <p:spPr>
          <a:xfrm>
            <a:off x="8499055" y="397891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152" name="Google Shape;10152;p419"/>
          <p:cNvCxnSpPr>
            <a:stCxn id="10150" idx="2"/>
            <a:endCxn id="10149" idx="5"/>
          </p:cNvCxnSpPr>
          <p:nvPr/>
        </p:nvCxnSpPr>
        <p:spPr>
          <a:xfrm rot="10800000">
            <a:off x="7387230" y="3729470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53" name="Google Shape;10153;p419"/>
          <p:cNvCxnSpPr>
            <a:stCxn id="10148" idx="2"/>
            <a:endCxn id="10149" idx="6"/>
          </p:cNvCxnSpPr>
          <p:nvPr/>
        </p:nvCxnSpPr>
        <p:spPr>
          <a:xfrm flipH="1">
            <a:off x="7430992" y="3538913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54" name="Google Shape;10154;p419"/>
          <p:cNvCxnSpPr>
            <a:stCxn id="10150" idx="6"/>
            <a:endCxn id="10151" idx="3"/>
          </p:cNvCxnSpPr>
          <p:nvPr/>
        </p:nvCxnSpPr>
        <p:spPr>
          <a:xfrm flipH="1" rot="10800000">
            <a:off x="7729830" y="4237670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55" name="Google Shape;10155;p419"/>
          <p:cNvSpPr/>
          <p:nvPr/>
        </p:nvSpPr>
        <p:spPr>
          <a:xfrm>
            <a:off x="8499055" y="332735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156" name="Google Shape;10156;p419"/>
          <p:cNvCxnSpPr>
            <a:stCxn id="10136" idx="3"/>
            <a:endCxn id="10138" idx="3"/>
          </p:cNvCxnSpPr>
          <p:nvPr/>
        </p:nvCxnSpPr>
        <p:spPr>
          <a:xfrm flipH="1">
            <a:off x="7580314" y="2082964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57" name="Google Shape;10157;p419"/>
          <p:cNvCxnSpPr>
            <a:stCxn id="10134" idx="4"/>
            <a:endCxn id="10147" idx="1"/>
          </p:cNvCxnSpPr>
          <p:nvPr/>
        </p:nvCxnSpPr>
        <p:spPr>
          <a:xfrm>
            <a:off x="8349922" y="1828920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58" name="Google Shape;10158;p419"/>
          <p:cNvCxnSpPr>
            <a:stCxn id="10134" idx="4"/>
            <a:endCxn id="10143" idx="0"/>
          </p:cNvCxnSpPr>
          <p:nvPr/>
        </p:nvCxnSpPr>
        <p:spPr>
          <a:xfrm flipH="1">
            <a:off x="7998022" y="1828920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59" name="Google Shape;10159;p419"/>
          <p:cNvCxnSpPr>
            <a:stCxn id="10137" idx="4"/>
            <a:endCxn id="10138" idx="0"/>
          </p:cNvCxnSpPr>
          <p:nvPr/>
        </p:nvCxnSpPr>
        <p:spPr>
          <a:xfrm>
            <a:off x="7281695" y="2330864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60" name="Google Shape;10160;p419"/>
          <p:cNvCxnSpPr>
            <a:stCxn id="10137" idx="5"/>
            <a:endCxn id="10146" idx="1"/>
          </p:cNvCxnSpPr>
          <p:nvPr/>
        </p:nvCxnSpPr>
        <p:spPr>
          <a:xfrm>
            <a:off x="7387337" y="2287238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61" name="Google Shape;10161;p419"/>
          <p:cNvCxnSpPr>
            <a:stCxn id="10138" idx="3"/>
            <a:endCxn id="10143" idx="1"/>
          </p:cNvCxnSpPr>
          <p:nvPr/>
        </p:nvCxnSpPr>
        <p:spPr>
          <a:xfrm>
            <a:off x="7580443" y="2683859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62" name="Google Shape;10162;p419"/>
          <p:cNvCxnSpPr>
            <a:stCxn id="10147" idx="3"/>
            <a:endCxn id="10143" idx="3"/>
          </p:cNvCxnSpPr>
          <p:nvPr/>
        </p:nvCxnSpPr>
        <p:spPr>
          <a:xfrm flipH="1">
            <a:off x="8147355" y="2215365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63" name="Google Shape;10163;p419"/>
          <p:cNvCxnSpPr>
            <a:stCxn id="10148" idx="6"/>
            <a:endCxn id="10155" idx="3"/>
          </p:cNvCxnSpPr>
          <p:nvPr/>
        </p:nvCxnSpPr>
        <p:spPr>
          <a:xfrm>
            <a:off x="8200192" y="3538913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64" name="Google Shape;10164;p419"/>
          <p:cNvCxnSpPr>
            <a:stCxn id="10148" idx="5"/>
            <a:endCxn id="10151" idx="1"/>
          </p:cNvCxnSpPr>
          <p:nvPr/>
        </p:nvCxnSpPr>
        <p:spPr>
          <a:xfrm>
            <a:off x="8156434" y="3644236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65" name="Google Shape;10165;p419"/>
          <p:cNvCxnSpPr>
            <a:stCxn id="10155" idx="3"/>
            <a:endCxn id="10150" idx="7"/>
          </p:cNvCxnSpPr>
          <p:nvPr/>
        </p:nvCxnSpPr>
        <p:spPr>
          <a:xfrm flipH="1">
            <a:off x="7686057" y="3585986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66" name="Google Shape;10166;p419"/>
          <p:cNvCxnSpPr>
            <a:stCxn id="10108" idx="2"/>
            <a:endCxn id="10113" idx="0"/>
          </p:cNvCxnSpPr>
          <p:nvPr/>
        </p:nvCxnSpPr>
        <p:spPr>
          <a:xfrm>
            <a:off x="3506797" y="2961845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67" name="Google Shape;10167;p419"/>
          <p:cNvSpPr txBox="1"/>
          <p:nvPr/>
        </p:nvSpPr>
        <p:spPr>
          <a:xfrm>
            <a:off x="734725" y="466462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0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0168" name="Google Shape;10168;p419"/>
          <p:cNvCxnSpPr>
            <a:stCxn id="10073" idx="2"/>
            <a:endCxn id="10078" idx="0"/>
          </p:cNvCxnSpPr>
          <p:nvPr/>
        </p:nvCxnSpPr>
        <p:spPr>
          <a:xfrm>
            <a:off x="5739393" y="2961841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69" name="Google Shape;10169;p419"/>
          <p:cNvCxnSpPr>
            <a:stCxn id="10068" idx="2"/>
            <a:endCxn id="10079" idx="0"/>
          </p:cNvCxnSpPr>
          <p:nvPr/>
        </p:nvCxnSpPr>
        <p:spPr>
          <a:xfrm flipH="1">
            <a:off x="5023143" y="2887434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70" name="Google Shape;10170;p419"/>
          <p:cNvCxnSpPr>
            <a:stCxn id="10068" idx="2"/>
            <a:endCxn id="10078" idx="1"/>
          </p:cNvCxnSpPr>
          <p:nvPr/>
        </p:nvCxnSpPr>
        <p:spPr>
          <a:xfrm>
            <a:off x="5172543" y="2887434"/>
            <a:ext cx="5142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71" name="Google Shape;10171;p419"/>
          <p:cNvCxnSpPr>
            <a:stCxn id="10138" idx="2"/>
            <a:endCxn id="10149" idx="0"/>
          </p:cNvCxnSpPr>
          <p:nvPr/>
        </p:nvCxnSpPr>
        <p:spPr>
          <a:xfrm flipH="1">
            <a:off x="7281643" y="2832809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72" name="Google Shape;10172;p419"/>
          <p:cNvCxnSpPr>
            <a:stCxn id="10143" idx="2"/>
            <a:endCxn id="10148" idx="0"/>
          </p:cNvCxnSpPr>
          <p:nvPr/>
        </p:nvCxnSpPr>
        <p:spPr>
          <a:xfrm>
            <a:off x="7997893" y="2907216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73" name="Google Shape;10173;p419"/>
          <p:cNvCxnSpPr>
            <a:stCxn id="10146" idx="2"/>
            <a:endCxn id="10155" idx="0"/>
          </p:cNvCxnSpPr>
          <p:nvPr/>
        </p:nvCxnSpPr>
        <p:spPr>
          <a:xfrm>
            <a:off x="8648697" y="2798914"/>
            <a:ext cx="0" cy="52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74" name="Google Shape;10174;p419"/>
          <p:cNvCxnSpPr>
            <a:stCxn id="10147" idx="4"/>
            <a:endCxn id="10146" idx="0"/>
          </p:cNvCxnSpPr>
          <p:nvPr/>
        </p:nvCxnSpPr>
        <p:spPr>
          <a:xfrm>
            <a:off x="8648697" y="2258991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75" name="Google Shape;10175;p419"/>
          <p:cNvSpPr txBox="1"/>
          <p:nvPr/>
        </p:nvSpPr>
        <p:spPr>
          <a:xfrm>
            <a:off x="461100" y="3007700"/>
            <a:ext cx="2283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Already 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176" name="Google Shape;10176;p41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180" name="Shape 10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1" name="Google Shape;10181;p420"/>
          <p:cNvSpPr/>
          <p:nvPr/>
        </p:nvSpPr>
        <p:spPr>
          <a:xfrm>
            <a:off x="878548" y="11813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182" name="Google Shape;10182;p420"/>
          <p:cNvSpPr/>
          <p:nvPr/>
        </p:nvSpPr>
        <p:spPr>
          <a:xfrm>
            <a:off x="1379915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183" name="Google Shape;10183;p420"/>
          <p:cNvSpPr/>
          <p:nvPr/>
        </p:nvSpPr>
        <p:spPr>
          <a:xfrm>
            <a:off x="311688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184" name="Google Shape;10184;p420"/>
          <p:cNvSpPr/>
          <p:nvPr/>
        </p:nvSpPr>
        <p:spPr>
          <a:xfrm>
            <a:off x="878548" y="18628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185" name="Google Shape;10185;p420"/>
          <p:cNvSpPr/>
          <p:nvPr/>
        </p:nvSpPr>
        <p:spPr>
          <a:xfrm>
            <a:off x="311688" y="206712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186" name="Google Shape;10186;p420"/>
          <p:cNvSpPr/>
          <p:nvPr/>
        </p:nvSpPr>
        <p:spPr>
          <a:xfrm>
            <a:off x="461035" y="256907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187" name="Google Shape;10187;p420"/>
          <p:cNvCxnSpPr>
            <a:endCxn id="10183" idx="7"/>
          </p:cNvCxnSpPr>
          <p:nvPr/>
        </p:nvCxnSpPr>
        <p:spPr>
          <a:xfrm flipH="1">
            <a:off x="566729" y="1435709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88" name="Google Shape;10188;p420"/>
          <p:cNvCxnSpPr>
            <a:stCxn id="10185" idx="0"/>
            <a:endCxn id="10183" idx="4"/>
          </p:cNvCxnSpPr>
          <p:nvPr/>
        </p:nvCxnSpPr>
        <p:spPr>
          <a:xfrm rot="10800000">
            <a:off x="461088" y="1863128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89" name="Google Shape;10189;p420"/>
          <p:cNvCxnSpPr>
            <a:stCxn id="10182" idx="1"/>
            <a:endCxn id="10181" idx="5"/>
          </p:cNvCxnSpPr>
          <p:nvPr/>
        </p:nvCxnSpPr>
        <p:spPr>
          <a:xfrm rot="10800000">
            <a:off x="1133573" y="1435709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90" name="Google Shape;10190;p420"/>
          <p:cNvCxnSpPr>
            <a:stCxn id="10191" idx="1"/>
            <a:endCxn id="10183" idx="5"/>
          </p:cNvCxnSpPr>
          <p:nvPr/>
        </p:nvCxnSpPr>
        <p:spPr>
          <a:xfrm rot="10800000">
            <a:off x="566743" y="1819506"/>
            <a:ext cx="504900" cy="867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92" name="Google Shape;10192;p420"/>
          <p:cNvCxnSpPr>
            <a:stCxn id="10184" idx="0"/>
            <a:endCxn id="10181" idx="4"/>
          </p:cNvCxnSpPr>
          <p:nvPr/>
        </p:nvCxnSpPr>
        <p:spPr>
          <a:xfrm rot="10800000">
            <a:off x="1027948" y="1479154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193" name="Google Shape;10193;p420"/>
          <p:cNvCxnSpPr>
            <a:stCxn id="10184" idx="5"/>
            <a:endCxn id="10194" idx="1"/>
          </p:cNvCxnSpPr>
          <p:nvPr/>
        </p:nvCxnSpPr>
        <p:spPr>
          <a:xfrm>
            <a:off x="1133589" y="2117127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95" name="Google Shape;10195;p420"/>
          <p:cNvSpPr/>
          <p:nvPr/>
        </p:nvSpPr>
        <p:spPr>
          <a:xfrm>
            <a:off x="1678689" y="19952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194" name="Google Shape;10194;p420"/>
          <p:cNvSpPr/>
          <p:nvPr/>
        </p:nvSpPr>
        <p:spPr>
          <a:xfrm>
            <a:off x="1678689" y="253517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191" name="Google Shape;10191;p420"/>
          <p:cNvSpPr/>
          <p:nvPr/>
        </p:nvSpPr>
        <p:spPr>
          <a:xfrm>
            <a:off x="1027885" y="26434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sp>
        <p:nvSpPr>
          <p:cNvPr id="10196" name="Google Shape;10196;p420"/>
          <p:cNvSpPr/>
          <p:nvPr/>
        </p:nvSpPr>
        <p:spPr>
          <a:xfrm>
            <a:off x="1080784" y="342412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197" name="Google Shape;10197;p420"/>
          <p:cNvSpPr/>
          <p:nvPr/>
        </p:nvSpPr>
        <p:spPr>
          <a:xfrm>
            <a:off x="311688" y="350929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198" name="Google Shape;10198;p420"/>
          <p:cNvSpPr/>
          <p:nvPr/>
        </p:nvSpPr>
        <p:spPr>
          <a:xfrm>
            <a:off x="610422" y="41738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199" name="Google Shape;10199;p420"/>
          <p:cNvSpPr/>
          <p:nvPr/>
        </p:nvSpPr>
        <p:spPr>
          <a:xfrm>
            <a:off x="1678447" y="401308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200" name="Google Shape;10200;p420"/>
          <p:cNvCxnSpPr>
            <a:stCxn id="10198" idx="2"/>
            <a:endCxn id="10197" idx="5"/>
          </p:cNvCxnSpPr>
          <p:nvPr/>
        </p:nvCxnSpPr>
        <p:spPr>
          <a:xfrm rot="10800000">
            <a:off x="566622" y="3763633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01" name="Google Shape;10201;p420"/>
          <p:cNvCxnSpPr>
            <a:stCxn id="10196" idx="2"/>
            <a:endCxn id="10197" idx="6"/>
          </p:cNvCxnSpPr>
          <p:nvPr/>
        </p:nvCxnSpPr>
        <p:spPr>
          <a:xfrm flipH="1">
            <a:off x="610384" y="3573076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02" name="Google Shape;10202;p420"/>
          <p:cNvCxnSpPr>
            <a:stCxn id="10198" idx="6"/>
            <a:endCxn id="10199" idx="3"/>
          </p:cNvCxnSpPr>
          <p:nvPr/>
        </p:nvCxnSpPr>
        <p:spPr>
          <a:xfrm flipH="1" rot="10800000">
            <a:off x="909222" y="4271833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03" name="Google Shape;10203;p420"/>
          <p:cNvCxnSpPr>
            <a:stCxn id="10204" idx="4"/>
            <a:endCxn id="10199" idx="0"/>
          </p:cNvCxnSpPr>
          <p:nvPr/>
        </p:nvCxnSpPr>
        <p:spPr>
          <a:xfrm>
            <a:off x="1827997" y="3664522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04" name="Google Shape;10204;p420"/>
          <p:cNvSpPr/>
          <p:nvPr/>
        </p:nvSpPr>
        <p:spPr>
          <a:xfrm>
            <a:off x="1678447" y="336152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205" name="Google Shape;10205;p420"/>
          <p:cNvCxnSpPr>
            <a:stCxn id="10184" idx="3"/>
            <a:endCxn id="10186" idx="7"/>
          </p:cNvCxnSpPr>
          <p:nvPr/>
        </p:nvCxnSpPr>
        <p:spPr>
          <a:xfrm flipH="1">
            <a:off x="716206" y="2117127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06" name="Google Shape;10206;p420"/>
          <p:cNvCxnSpPr>
            <a:stCxn id="10182" idx="4"/>
            <a:endCxn id="10195" idx="1"/>
          </p:cNvCxnSpPr>
          <p:nvPr/>
        </p:nvCxnSpPr>
        <p:spPr>
          <a:xfrm>
            <a:off x="1529315" y="1863083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07" name="Google Shape;10207;p420"/>
          <p:cNvCxnSpPr>
            <a:stCxn id="10182" idx="4"/>
            <a:endCxn id="10191" idx="0"/>
          </p:cNvCxnSpPr>
          <p:nvPr/>
        </p:nvCxnSpPr>
        <p:spPr>
          <a:xfrm flipH="1">
            <a:off x="1177415" y="1863083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08" name="Google Shape;10208;p420"/>
          <p:cNvCxnSpPr>
            <a:stCxn id="10185" idx="4"/>
            <a:endCxn id="10186" idx="0"/>
          </p:cNvCxnSpPr>
          <p:nvPr/>
        </p:nvCxnSpPr>
        <p:spPr>
          <a:xfrm>
            <a:off x="461088" y="2365028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09" name="Google Shape;10209;p420"/>
          <p:cNvCxnSpPr>
            <a:stCxn id="10185" idx="5"/>
            <a:endCxn id="10194" idx="2"/>
          </p:cNvCxnSpPr>
          <p:nvPr/>
        </p:nvCxnSpPr>
        <p:spPr>
          <a:xfrm>
            <a:off x="566729" y="2321401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10" name="Google Shape;10210;p420"/>
          <p:cNvCxnSpPr>
            <a:stCxn id="10186" idx="6"/>
            <a:endCxn id="10191" idx="2"/>
          </p:cNvCxnSpPr>
          <p:nvPr/>
        </p:nvCxnSpPr>
        <p:spPr>
          <a:xfrm>
            <a:off x="759835" y="2718022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11" name="Google Shape;10211;p420"/>
          <p:cNvCxnSpPr>
            <a:stCxn id="10195" idx="3"/>
            <a:endCxn id="10191" idx="6"/>
          </p:cNvCxnSpPr>
          <p:nvPr/>
        </p:nvCxnSpPr>
        <p:spPr>
          <a:xfrm flipH="1">
            <a:off x="1326747" y="2249528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12" name="Google Shape;10212;p420"/>
          <p:cNvCxnSpPr>
            <a:stCxn id="10195" idx="4"/>
            <a:endCxn id="10194" idx="0"/>
          </p:cNvCxnSpPr>
          <p:nvPr/>
        </p:nvCxnSpPr>
        <p:spPr>
          <a:xfrm>
            <a:off x="1828089" y="2293154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13" name="Google Shape;10213;p420"/>
          <p:cNvCxnSpPr>
            <a:stCxn id="10196" idx="6"/>
            <a:endCxn id="10204" idx="3"/>
          </p:cNvCxnSpPr>
          <p:nvPr/>
        </p:nvCxnSpPr>
        <p:spPr>
          <a:xfrm>
            <a:off x="1379584" y="3573076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14" name="Google Shape;10214;p420"/>
          <p:cNvCxnSpPr>
            <a:stCxn id="10196" idx="5"/>
            <a:endCxn id="10199" idx="1"/>
          </p:cNvCxnSpPr>
          <p:nvPr/>
        </p:nvCxnSpPr>
        <p:spPr>
          <a:xfrm>
            <a:off x="1335826" y="3678399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15" name="Google Shape;10215;p420"/>
          <p:cNvCxnSpPr>
            <a:stCxn id="10204" idx="3"/>
            <a:endCxn id="10198" idx="7"/>
          </p:cNvCxnSpPr>
          <p:nvPr/>
        </p:nvCxnSpPr>
        <p:spPr>
          <a:xfrm flipH="1">
            <a:off x="865450" y="3620149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16" name="Google Shape;10216;p420"/>
          <p:cNvSpPr/>
          <p:nvPr/>
        </p:nvSpPr>
        <p:spPr>
          <a:xfrm>
            <a:off x="5440655" y="120184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217" name="Google Shape;10217;p420"/>
          <p:cNvSpPr/>
          <p:nvPr/>
        </p:nvSpPr>
        <p:spPr>
          <a:xfrm>
            <a:off x="5942022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218" name="Google Shape;10218;p420"/>
          <p:cNvSpPr/>
          <p:nvPr/>
        </p:nvSpPr>
        <p:spPr>
          <a:xfrm>
            <a:off x="4873795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219" name="Google Shape;10219;p420"/>
          <p:cNvSpPr/>
          <p:nvPr/>
        </p:nvSpPr>
        <p:spPr>
          <a:xfrm>
            <a:off x="5440655" y="188331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220" name="Google Shape;10220;p420"/>
          <p:cNvSpPr/>
          <p:nvPr/>
        </p:nvSpPr>
        <p:spPr>
          <a:xfrm>
            <a:off x="4873795" y="208758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221" name="Google Shape;10221;p420"/>
          <p:cNvSpPr/>
          <p:nvPr/>
        </p:nvSpPr>
        <p:spPr>
          <a:xfrm>
            <a:off x="5023143" y="258953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0222" name="Google Shape;10222;p420"/>
          <p:cNvCxnSpPr>
            <a:endCxn id="10218" idx="7"/>
          </p:cNvCxnSpPr>
          <p:nvPr/>
        </p:nvCxnSpPr>
        <p:spPr>
          <a:xfrm flipH="1">
            <a:off x="5128837" y="1456171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23" name="Google Shape;10223;p420"/>
          <p:cNvCxnSpPr>
            <a:stCxn id="10220" idx="0"/>
            <a:endCxn id="10218" idx="4"/>
          </p:cNvCxnSpPr>
          <p:nvPr/>
        </p:nvCxnSpPr>
        <p:spPr>
          <a:xfrm rot="10800000">
            <a:off x="5023195" y="1883589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24" name="Google Shape;10224;p420"/>
          <p:cNvCxnSpPr>
            <a:stCxn id="10217" idx="1"/>
            <a:endCxn id="10216" idx="5"/>
          </p:cNvCxnSpPr>
          <p:nvPr/>
        </p:nvCxnSpPr>
        <p:spPr>
          <a:xfrm rot="10800000">
            <a:off x="5695681" y="1456171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25" name="Google Shape;10225;p420"/>
          <p:cNvCxnSpPr>
            <a:stCxn id="10226" idx="1"/>
            <a:endCxn id="10218" idx="5"/>
          </p:cNvCxnSpPr>
          <p:nvPr/>
        </p:nvCxnSpPr>
        <p:spPr>
          <a:xfrm rot="10800000">
            <a:off x="5128893" y="1839991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27" name="Google Shape;10227;p420"/>
          <p:cNvCxnSpPr>
            <a:stCxn id="10219" idx="0"/>
            <a:endCxn id="10216" idx="4"/>
          </p:cNvCxnSpPr>
          <p:nvPr/>
        </p:nvCxnSpPr>
        <p:spPr>
          <a:xfrm rot="10800000">
            <a:off x="5590055" y="1499615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28" name="Google Shape;10228;p420"/>
          <p:cNvCxnSpPr>
            <a:stCxn id="10219" idx="5"/>
            <a:endCxn id="10229" idx="1"/>
          </p:cNvCxnSpPr>
          <p:nvPr/>
        </p:nvCxnSpPr>
        <p:spPr>
          <a:xfrm>
            <a:off x="5695697" y="2137589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30" name="Google Shape;10230;p420"/>
          <p:cNvSpPr/>
          <p:nvPr/>
        </p:nvSpPr>
        <p:spPr>
          <a:xfrm>
            <a:off x="6240797" y="20157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229" name="Google Shape;10229;p420"/>
          <p:cNvSpPr/>
          <p:nvPr/>
        </p:nvSpPr>
        <p:spPr>
          <a:xfrm>
            <a:off x="6240797" y="255563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226" name="Google Shape;10226;p420"/>
          <p:cNvSpPr/>
          <p:nvPr/>
        </p:nvSpPr>
        <p:spPr>
          <a:xfrm>
            <a:off x="5589993" y="2663941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231" name="Google Shape;10231;p420"/>
          <p:cNvSpPr/>
          <p:nvPr/>
        </p:nvSpPr>
        <p:spPr>
          <a:xfrm>
            <a:off x="5642892" y="344458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232" name="Google Shape;10232;p420"/>
          <p:cNvSpPr/>
          <p:nvPr/>
        </p:nvSpPr>
        <p:spPr>
          <a:xfrm>
            <a:off x="4873795" y="352975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233" name="Google Shape;10233;p420"/>
          <p:cNvSpPr/>
          <p:nvPr/>
        </p:nvSpPr>
        <p:spPr>
          <a:xfrm>
            <a:off x="5172530" y="41943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234" name="Google Shape;10234;p420"/>
          <p:cNvSpPr/>
          <p:nvPr/>
        </p:nvSpPr>
        <p:spPr>
          <a:xfrm>
            <a:off x="6240555" y="403354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235" name="Google Shape;10235;p420"/>
          <p:cNvCxnSpPr>
            <a:stCxn id="10233" idx="2"/>
            <a:endCxn id="10232" idx="5"/>
          </p:cNvCxnSpPr>
          <p:nvPr/>
        </p:nvCxnSpPr>
        <p:spPr>
          <a:xfrm rot="10800000">
            <a:off x="5128730" y="3784095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36" name="Google Shape;10236;p420"/>
          <p:cNvCxnSpPr>
            <a:stCxn id="10231" idx="2"/>
            <a:endCxn id="10232" idx="6"/>
          </p:cNvCxnSpPr>
          <p:nvPr/>
        </p:nvCxnSpPr>
        <p:spPr>
          <a:xfrm flipH="1">
            <a:off x="5172492" y="3593538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37" name="Google Shape;10237;p420"/>
          <p:cNvCxnSpPr>
            <a:stCxn id="10233" idx="6"/>
            <a:endCxn id="10234" idx="3"/>
          </p:cNvCxnSpPr>
          <p:nvPr/>
        </p:nvCxnSpPr>
        <p:spPr>
          <a:xfrm flipH="1" rot="10800000">
            <a:off x="5471330" y="4292295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38" name="Google Shape;10238;p420"/>
          <p:cNvCxnSpPr>
            <a:stCxn id="10239" idx="4"/>
            <a:endCxn id="10234" idx="0"/>
          </p:cNvCxnSpPr>
          <p:nvPr/>
        </p:nvCxnSpPr>
        <p:spPr>
          <a:xfrm>
            <a:off x="6390105" y="3684984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39" name="Google Shape;10239;p420"/>
          <p:cNvSpPr/>
          <p:nvPr/>
        </p:nvSpPr>
        <p:spPr>
          <a:xfrm>
            <a:off x="6240555" y="338198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240" name="Google Shape;10240;p420"/>
          <p:cNvCxnSpPr>
            <a:stCxn id="10219" idx="3"/>
            <a:endCxn id="10221" idx="3"/>
          </p:cNvCxnSpPr>
          <p:nvPr/>
        </p:nvCxnSpPr>
        <p:spPr>
          <a:xfrm flipH="1">
            <a:off x="5321814" y="2137589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1" name="Google Shape;10241;p420"/>
          <p:cNvCxnSpPr>
            <a:stCxn id="10217" idx="4"/>
            <a:endCxn id="10230" idx="1"/>
          </p:cNvCxnSpPr>
          <p:nvPr/>
        </p:nvCxnSpPr>
        <p:spPr>
          <a:xfrm>
            <a:off x="6091422" y="1883545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2" name="Google Shape;10242;p420"/>
          <p:cNvCxnSpPr>
            <a:stCxn id="10217" idx="4"/>
            <a:endCxn id="10226" idx="0"/>
          </p:cNvCxnSpPr>
          <p:nvPr/>
        </p:nvCxnSpPr>
        <p:spPr>
          <a:xfrm flipH="1">
            <a:off x="5739522" y="1883545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3" name="Google Shape;10243;p420"/>
          <p:cNvCxnSpPr>
            <a:stCxn id="10220" idx="4"/>
            <a:endCxn id="10221" idx="0"/>
          </p:cNvCxnSpPr>
          <p:nvPr/>
        </p:nvCxnSpPr>
        <p:spPr>
          <a:xfrm>
            <a:off x="5023195" y="2385489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4" name="Google Shape;10244;p420"/>
          <p:cNvCxnSpPr>
            <a:stCxn id="10220" idx="5"/>
            <a:endCxn id="10229" idx="2"/>
          </p:cNvCxnSpPr>
          <p:nvPr/>
        </p:nvCxnSpPr>
        <p:spPr>
          <a:xfrm>
            <a:off x="5128837" y="2341863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5" name="Google Shape;10245;p420"/>
          <p:cNvCxnSpPr>
            <a:stCxn id="10221" idx="3"/>
            <a:endCxn id="10226" idx="1"/>
          </p:cNvCxnSpPr>
          <p:nvPr/>
        </p:nvCxnSpPr>
        <p:spPr>
          <a:xfrm>
            <a:off x="5321943" y="2738484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6" name="Google Shape;10246;p420"/>
          <p:cNvCxnSpPr>
            <a:stCxn id="10230" idx="3"/>
            <a:endCxn id="10226" idx="3"/>
          </p:cNvCxnSpPr>
          <p:nvPr/>
        </p:nvCxnSpPr>
        <p:spPr>
          <a:xfrm flipH="1">
            <a:off x="5888855" y="2269990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7" name="Google Shape;10247;p420"/>
          <p:cNvCxnSpPr>
            <a:stCxn id="10230" idx="4"/>
            <a:endCxn id="10229" idx="0"/>
          </p:cNvCxnSpPr>
          <p:nvPr/>
        </p:nvCxnSpPr>
        <p:spPr>
          <a:xfrm>
            <a:off x="6390197" y="2313616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8" name="Google Shape;10248;p420"/>
          <p:cNvCxnSpPr>
            <a:stCxn id="10231" idx="6"/>
            <a:endCxn id="10239" idx="3"/>
          </p:cNvCxnSpPr>
          <p:nvPr/>
        </p:nvCxnSpPr>
        <p:spPr>
          <a:xfrm>
            <a:off x="5941692" y="3593538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49" name="Google Shape;10249;p420"/>
          <p:cNvCxnSpPr>
            <a:stCxn id="10231" idx="5"/>
            <a:endCxn id="10234" idx="1"/>
          </p:cNvCxnSpPr>
          <p:nvPr/>
        </p:nvCxnSpPr>
        <p:spPr>
          <a:xfrm>
            <a:off x="5897934" y="3698861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50" name="Google Shape;10250;p420"/>
          <p:cNvCxnSpPr>
            <a:stCxn id="10239" idx="3"/>
            <a:endCxn id="10233" idx="7"/>
          </p:cNvCxnSpPr>
          <p:nvPr/>
        </p:nvCxnSpPr>
        <p:spPr>
          <a:xfrm flipH="1">
            <a:off x="5427557" y="3640611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51" name="Google Shape;10251;p420"/>
          <p:cNvSpPr/>
          <p:nvPr/>
        </p:nvSpPr>
        <p:spPr>
          <a:xfrm>
            <a:off x="3208059" y="12018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252" name="Google Shape;10252;p420"/>
          <p:cNvSpPr/>
          <p:nvPr/>
        </p:nvSpPr>
        <p:spPr>
          <a:xfrm>
            <a:off x="3709426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253" name="Google Shape;10253;p420"/>
          <p:cNvSpPr/>
          <p:nvPr/>
        </p:nvSpPr>
        <p:spPr>
          <a:xfrm>
            <a:off x="2641199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254" name="Google Shape;10254;p420"/>
          <p:cNvSpPr/>
          <p:nvPr/>
        </p:nvSpPr>
        <p:spPr>
          <a:xfrm>
            <a:off x="3208059" y="18833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255" name="Google Shape;10255;p420"/>
          <p:cNvSpPr/>
          <p:nvPr/>
        </p:nvSpPr>
        <p:spPr>
          <a:xfrm>
            <a:off x="2641199" y="208759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256" name="Google Shape;10256;p420"/>
          <p:cNvSpPr/>
          <p:nvPr/>
        </p:nvSpPr>
        <p:spPr>
          <a:xfrm>
            <a:off x="2790547" y="258953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257" name="Google Shape;10257;p420"/>
          <p:cNvCxnSpPr>
            <a:endCxn id="10253" idx="7"/>
          </p:cNvCxnSpPr>
          <p:nvPr/>
        </p:nvCxnSpPr>
        <p:spPr>
          <a:xfrm flipH="1">
            <a:off x="2896241" y="1456175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58" name="Google Shape;10258;p420"/>
          <p:cNvCxnSpPr>
            <a:stCxn id="10255" idx="0"/>
            <a:endCxn id="10253" idx="4"/>
          </p:cNvCxnSpPr>
          <p:nvPr/>
        </p:nvCxnSpPr>
        <p:spPr>
          <a:xfrm rot="10800000">
            <a:off x="2790599" y="1883593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59" name="Google Shape;10259;p420"/>
          <p:cNvCxnSpPr>
            <a:stCxn id="10252" idx="1"/>
            <a:endCxn id="10251" idx="5"/>
          </p:cNvCxnSpPr>
          <p:nvPr/>
        </p:nvCxnSpPr>
        <p:spPr>
          <a:xfrm rot="10800000">
            <a:off x="3463085" y="1456175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60" name="Google Shape;10260;p420"/>
          <p:cNvCxnSpPr>
            <a:stCxn id="10254" idx="0"/>
            <a:endCxn id="10251" idx="4"/>
          </p:cNvCxnSpPr>
          <p:nvPr/>
        </p:nvCxnSpPr>
        <p:spPr>
          <a:xfrm rot="10800000">
            <a:off x="3357459" y="1499619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61" name="Google Shape;10261;p420"/>
          <p:cNvCxnSpPr>
            <a:stCxn id="10254" idx="5"/>
            <a:endCxn id="10262" idx="1"/>
          </p:cNvCxnSpPr>
          <p:nvPr/>
        </p:nvCxnSpPr>
        <p:spPr>
          <a:xfrm>
            <a:off x="3463101" y="2137592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63" name="Google Shape;10263;p420"/>
          <p:cNvSpPr/>
          <p:nvPr/>
        </p:nvSpPr>
        <p:spPr>
          <a:xfrm>
            <a:off x="4008201" y="20157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262" name="Google Shape;10262;p420"/>
          <p:cNvSpPr/>
          <p:nvPr/>
        </p:nvSpPr>
        <p:spPr>
          <a:xfrm>
            <a:off x="4008201" y="255564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264" name="Google Shape;10264;p420"/>
          <p:cNvSpPr/>
          <p:nvPr/>
        </p:nvSpPr>
        <p:spPr>
          <a:xfrm>
            <a:off x="3410296" y="34445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265" name="Google Shape;10265;p420"/>
          <p:cNvSpPr/>
          <p:nvPr/>
        </p:nvSpPr>
        <p:spPr>
          <a:xfrm>
            <a:off x="2641199" y="352976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266" name="Google Shape;10266;p420"/>
          <p:cNvSpPr/>
          <p:nvPr/>
        </p:nvSpPr>
        <p:spPr>
          <a:xfrm>
            <a:off x="2939934" y="41943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267" name="Google Shape;10267;p420"/>
          <p:cNvSpPr/>
          <p:nvPr/>
        </p:nvSpPr>
        <p:spPr>
          <a:xfrm>
            <a:off x="4007959" y="4033547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268" name="Google Shape;10268;p420"/>
          <p:cNvCxnSpPr>
            <a:stCxn id="10266" idx="2"/>
            <a:endCxn id="10265" idx="5"/>
          </p:cNvCxnSpPr>
          <p:nvPr/>
        </p:nvCxnSpPr>
        <p:spPr>
          <a:xfrm rot="10800000">
            <a:off x="2896134" y="3784098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69" name="Google Shape;10269;p420"/>
          <p:cNvCxnSpPr>
            <a:stCxn id="10264" idx="2"/>
            <a:endCxn id="10265" idx="6"/>
          </p:cNvCxnSpPr>
          <p:nvPr/>
        </p:nvCxnSpPr>
        <p:spPr>
          <a:xfrm flipH="1">
            <a:off x="2939896" y="3593541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70" name="Google Shape;10270;p420"/>
          <p:cNvCxnSpPr>
            <a:stCxn id="10266" idx="6"/>
            <a:endCxn id="10267" idx="3"/>
          </p:cNvCxnSpPr>
          <p:nvPr/>
        </p:nvCxnSpPr>
        <p:spPr>
          <a:xfrm flipH="1" rot="10800000">
            <a:off x="3238734" y="4292298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71" name="Google Shape;10271;p420"/>
          <p:cNvCxnSpPr>
            <a:stCxn id="10272" idx="4"/>
            <a:endCxn id="10267" idx="0"/>
          </p:cNvCxnSpPr>
          <p:nvPr/>
        </p:nvCxnSpPr>
        <p:spPr>
          <a:xfrm>
            <a:off x="4157509" y="3684988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72" name="Google Shape;10272;p420"/>
          <p:cNvSpPr/>
          <p:nvPr/>
        </p:nvSpPr>
        <p:spPr>
          <a:xfrm>
            <a:off x="4007959" y="3381988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273" name="Google Shape;10273;p420"/>
          <p:cNvCxnSpPr>
            <a:stCxn id="10254" idx="3"/>
            <a:endCxn id="10256" idx="7"/>
          </p:cNvCxnSpPr>
          <p:nvPr/>
        </p:nvCxnSpPr>
        <p:spPr>
          <a:xfrm flipH="1">
            <a:off x="3045718" y="2137592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74" name="Google Shape;10274;p420"/>
          <p:cNvCxnSpPr>
            <a:stCxn id="10252" idx="4"/>
            <a:endCxn id="10263" idx="1"/>
          </p:cNvCxnSpPr>
          <p:nvPr/>
        </p:nvCxnSpPr>
        <p:spPr>
          <a:xfrm>
            <a:off x="3858826" y="1883548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75" name="Google Shape;10275;p420"/>
          <p:cNvCxnSpPr>
            <a:stCxn id="10255" idx="4"/>
            <a:endCxn id="10256" idx="0"/>
          </p:cNvCxnSpPr>
          <p:nvPr/>
        </p:nvCxnSpPr>
        <p:spPr>
          <a:xfrm>
            <a:off x="2790599" y="2385493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76" name="Google Shape;10276;p420"/>
          <p:cNvCxnSpPr>
            <a:stCxn id="10255" idx="5"/>
            <a:endCxn id="10262" idx="2"/>
          </p:cNvCxnSpPr>
          <p:nvPr/>
        </p:nvCxnSpPr>
        <p:spPr>
          <a:xfrm>
            <a:off x="2896241" y="2341866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77" name="Google Shape;10277;p420"/>
          <p:cNvCxnSpPr>
            <a:stCxn id="10263" idx="4"/>
            <a:endCxn id="10262" idx="0"/>
          </p:cNvCxnSpPr>
          <p:nvPr/>
        </p:nvCxnSpPr>
        <p:spPr>
          <a:xfrm>
            <a:off x="4157601" y="2313619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78" name="Google Shape;10278;p420"/>
          <p:cNvCxnSpPr>
            <a:stCxn id="10264" idx="6"/>
            <a:endCxn id="10272" idx="3"/>
          </p:cNvCxnSpPr>
          <p:nvPr/>
        </p:nvCxnSpPr>
        <p:spPr>
          <a:xfrm>
            <a:off x="3709096" y="3593541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79" name="Google Shape;10279;p420"/>
          <p:cNvCxnSpPr>
            <a:stCxn id="10264" idx="5"/>
            <a:endCxn id="10267" idx="1"/>
          </p:cNvCxnSpPr>
          <p:nvPr/>
        </p:nvCxnSpPr>
        <p:spPr>
          <a:xfrm>
            <a:off x="3665338" y="3698865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80" name="Google Shape;10280;p420"/>
          <p:cNvCxnSpPr>
            <a:stCxn id="10272" idx="3"/>
            <a:endCxn id="10266" idx="7"/>
          </p:cNvCxnSpPr>
          <p:nvPr/>
        </p:nvCxnSpPr>
        <p:spPr>
          <a:xfrm flipH="1">
            <a:off x="3194961" y="3640614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81" name="Google Shape;10281;p420"/>
          <p:cNvSpPr/>
          <p:nvPr/>
        </p:nvSpPr>
        <p:spPr>
          <a:xfrm>
            <a:off x="7699155" y="11472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282" name="Google Shape;10282;p420"/>
          <p:cNvSpPr/>
          <p:nvPr/>
        </p:nvSpPr>
        <p:spPr>
          <a:xfrm>
            <a:off x="8200522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283" name="Google Shape;10283;p420"/>
          <p:cNvSpPr/>
          <p:nvPr/>
        </p:nvSpPr>
        <p:spPr>
          <a:xfrm>
            <a:off x="7132295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284" name="Google Shape;10284;p420"/>
          <p:cNvSpPr/>
          <p:nvPr/>
        </p:nvSpPr>
        <p:spPr>
          <a:xfrm>
            <a:off x="7699155" y="182869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285" name="Google Shape;10285;p420"/>
          <p:cNvSpPr/>
          <p:nvPr/>
        </p:nvSpPr>
        <p:spPr>
          <a:xfrm>
            <a:off x="7132295" y="203296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286" name="Google Shape;10286;p420"/>
          <p:cNvSpPr/>
          <p:nvPr/>
        </p:nvSpPr>
        <p:spPr>
          <a:xfrm>
            <a:off x="7281643" y="2534909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0287" name="Google Shape;10287;p420"/>
          <p:cNvCxnSpPr>
            <a:endCxn id="10283" idx="7"/>
          </p:cNvCxnSpPr>
          <p:nvPr/>
        </p:nvCxnSpPr>
        <p:spPr>
          <a:xfrm flipH="1">
            <a:off x="7387337" y="1401546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88" name="Google Shape;10288;p420"/>
          <p:cNvCxnSpPr>
            <a:stCxn id="10285" idx="0"/>
            <a:endCxn id="10283" idx="4"/>
          </p:cNvCxnSpPr>
          <p:nvPr/>
        </p:nvCxnSpPr>
        <p:spPr>
          <a:xfrm rot="10800000">
            <a:off x="7281695" y="1828964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89" name="Google Shape;10289;p420"/>
          <p:cNvCxnSpPr>
            <a:stCxn id="10282" idx="1"/>
            <a:endCxn id="10281" idx="5"/>
          </p:cNvCxnSpPr>
          <p:nvPr/>
        </p:nvCxnSpPr>
        <p:spPr>
          <a:xfrm rot="10800000">
            <a:off x="7954181" y="1401546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90" name="Google Shape;10290;p420"/>
          <p:cNvCxnSpPr>
            <a:stCxn id="10291" idx="1"/>
            <a:endCxn id="10283" idx="5"/>
          </p:cNvCxnSpPr>
          <p:nvPr/>
        </p:nvCxnSpPr>
        <p:spPr>
          <a:xfrm rot="10800000">
            <a:off x="7387393" y="1785366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92" name="Google Shape;10292;p420"/>
          <p:cNvCxnSpPr>
            <a:stCxn id="10284" idx="0"/>
            <a:endCxn id="10281" idx="4"/>
          </p:cNvCxnSpPr>
          <p:nvPr/>
        </p:nvCxnSpPr>
        <p:spPr>
          <a:xfrm rot="10800000">
            <a:off x="7848555" y="1444990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293" name="Google Shape;10293;p420"/>
          <p:cNvCxnSpPr>
            <a:stCxn id="10284" idx="5"/>
            <a:endCxn id="10294" idx="1"/>
          </p:cNvCxnSpPr>
          <p:nvPr/>
        </p:nvCxnSpPr>
        <p:spPr>
          <a:xfrm>
            <a:off x="7954197" y="2082964"/>
            <a:ext cx="545100" cy="56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295" name="Google Shape;10295;p420"/>
          <p:cNvSpPr/>
          <p:nvPr/>
        </p:nvSpPr>
        <p:spPr>
          <a:xfrm>
            <a:off x="8499297" y="19610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294" name="Google Shape;10294;p420"/>
          <p:cNvSpPr/>
          <p:nvPr/>
        </p:nvSpPr>
        <p:spPr>
          <a:xfrm>
            <a:off x="8499297" y="250101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9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291" name="Google Shape;10291;p420"/>
          <p:cNvSpPr/>
          <p:nvPr/>
        </p:nvSpPr>
        <p:spPr>
          <a:xfrm>
            <a:off x="7848493" y="2609316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296" name="Google Shape;10296;p420"/>
          <p:cNvSpPr/>
          <p:nvPr/>
        </p:nvSpPr>
        <p:spPr>
          <a:xfrm>
            <a:off x="7901392" y="338996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297" name="Google Shape;10297;p420"/>
          <p:cNvSpPr/>
          <p:nvPr/>
        </p:nvSpPr>
        <p:spPr>
          <a:xfrm>
            <a:off x="7132295" y="347513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298" name="Google Shape;10298;p420"/>
          <p:cNvSpPr/>
          <p:nvPr/>
        </p:nvSpPr>
        <p:spPr>
          <a:xfrm>
            <a:off x="7431030" y="41397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299" name="Google Shape;10299;p420"/>
          <p:cNvSpPr/>
          <p:nvPr/>
        </p:nvSpPr>
        <p:spPr>
          <a:xfrm>
            <a:off x="8499055" y="397891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300" name="Google Shape;10300;p420"/>
          <p:cNvCxnSpPr>
            <a:stCxn id="10298" idx="2"/>
            <a:endCxn id="10297" idx="5"/>
          </p:cNvCxnSpPr>
          <p:nvPr/>
        </p:nvCxnSpPr>
        <p:spPr>
          <a:xfrm rot="10800000">
            <a:off x="7387230" y="3729470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01" name="Google Shape;10301;p420"/>
          <p:cNvCxnSpPr>
            <a:stCxn id="10296" idx="2"/>
            <a:endCxn id="10297" idx="6"/>
          </p:cNvCxnSpPr>
          <p:nvPr/>
        </p:nvCxnSpPr>
        <p:spPr>
          <a:xfrm flipH="1">
            <a:off x="7430992" y="3538913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02" name="Google Shape;10302;p420"/>
          <p:cNvCxnSpPr>
            <a:stCxn id="10298" idx="6"/>
            <a:endCxn id="10299" idx="3"/>
          </p:cNvCxnSpPr>
          <p:nvPr/>
        </p:nvCxnSpPr>
        <p:spPr>
          <a:xfrm flipH="1" rot="10800000">
            <a:off x="7729830" y="4237670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03" name="Google Shape;10303;p420"/>
          <p:cNvSpPr/>
          <p:nvPr/>
        </p:nvSpPr>
        <p:spPr>
          <a:xfrm>
            <a:off x="8499055" y="332735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304" name="Google Shape;10304;p420"/>
          <p:cNvCxnSpPr>
            <a:stCxn id="10284" idx="3"/>
            <a:endCxn id="10286" idx="3"/>
          </p:cNvCxnSpPr>
          <p:nvPr/>
        </p:nvCxnSpPr>
        <p:spPr>
          <a:xfrm flipH="1">
            <a:off x="7580314" y="2082964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05" name="Google Shape;10305;p420"/>
          <p:cNvCxnSpPr>
            <a:stCxn id="10282" idx="4"/>
            <a:endCxn id="10295" idx="1"/>
          </p:cNvCxnSpPr>
          <p:nvPr/>
        </p:nvCxnSpPr>
        <p:spPr>
          <a:xfrm>
            <a:off x="8349922" y="1828920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06" name="Google Shape;10306;p420"/>
          <p:cNvCxnSpPr>
            <a:stCxn id="10282" idx="4"/>
            <a:endCxn id="10291" idx="0"/>
          </p:cNvCxnSpPr>
          <p:nvPr/>
        </p:nvCxnSpPr>
        <p:spPr>
          <a:xfrm flipH="1">
            <a:off x="7998022" y="1828920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07" name="Google Shape;10307;p420"/>
          <p:cNvCxnSpPr>
            <a:stCxn id="10285" idx="4"/>
            <a:endCxn id="10286" idx="0"/>
          </p:cNvCxnSpPr>
          <p:nvPr/>
        </p:nvCxnSpPr>
        <p:spPr>
          <a:xfrm>
            <a:off x="7281695" y="2330864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08" name="Google Shape;10308;p420"/>
          <p:cNvCxnSpPr>
            <a:stCxn id="10285" idx="5"/>
            <a:endCxn id="10294" idx="1"/>
          </p:cNvCxnSpPr>
          <p:nvPr/>
        </p:nvCxnSpPr>
        <p:spPr>
          <a:xfrm>
            <a:off x="7387337" y="2287238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09" name="Google Shape;10309;p420"/>
          <p:cNvCxnSpPr>
            <a:stCxn id="10286" idx="3"/>
            <a:endCxn id="10291" idx="1"/>
          </p:cNvCxnSpPr>
          <p:nvPr/>
        </p:nvCxnSpPr>
        <p:spPr>
          <a:xfrm>
            <a:off x="7580443" y="2683859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10" name="Google Shape;10310;p420"/>
          <p:cNvCxnSpPr>
            <a:stCxn id="10295" idx="3"/>
            <a:endCxn id="10291" idx="3"/>
          </p:cNvCxnSpPr>
          <p:nvPr/>
        </p:nvCxnSpPr>
        <p:spPr>
          <a:xfrm flipH="1">
            <a:off x="8147355" y="2215365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11" name="Google Shape;10311;p420"/>
          <p:cNvCxnSpPr>
            <a:stCxn id="10296" idx="6"/>
            <a:endCxn id="10303" idx="3"/>
          </p:cNvCxnSpPr>
          <p:nvPr/>
        </p:nvCxnSpPr>
        <p:spPr>
          <a:xfrm>
            <a:off x="8200192" y="3538913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12" name="Google Shape;10312;p420"/>
          <p:cNvCxnSpPr>
            <a:stCxn id="10296" idx="5"/>
            <a:endCxn id="10299" idx="1"/>
          </p:cNvCxnSpPr>
          <p:nvPr/>
        </p:nvCxnSpPr>
        <p:spPr>
          <a:xfrm>
            <a:off x="8156434" y="3644236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13" name="Google Shape;10313;p420"/>
          <p:cNvCxnSpPr>
            <a:stCxn id="10303" idx="3"/>
            <a:endCxn id="10298" idx="7"/>
          </p:cNvCxnSpPr>
          <p:nvPr/>
        </p:nvCxnSpPr>
        <p:spPr>
          <a:xfrm flipH="1">
            <a:off x="7686057" y="3585986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14" name="Google Shape;10314;p420"/>
          <p:cNvSpPr txBox="1"/>
          <p:nvPr/>
        </p:nvSpPr>
        <p:spPr>
          <a:xfrm>
            <a:off x="734725" y="466462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0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315" name="Google Shape;10315;p420"/>
          <p:cNvSpPr txBox="1"/>
          <p:nvPr/>
        </p:nvSpPr>
        <p:spPr>
          <a:xfrm>
            <a:off x="3064250" y="4685100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1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0316" name="Google Shape;10316;p420"/>
          <p:cNvCxnSpPr>
            <a:stCxn id="10226" idx="2"/>
            <a:endCxn id="10231" idx="0"/>
          </p:cNvCxnSpPr>
          <p:nvPr/>
        </p:nvCxnSpPr>
        <p:spPr>
          <a:xfrm>
            <a:off x="5739393" y="2961841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17" name="Google Shape;10317;p420"/>
          <p:cNvCxnSpPr>
            <a:stCxn id="10221" idx="2"/>
            <a:endCxn id="10232" idx="0"/>
          </p:cNvCxnSpPr>
          <p:nvPr/>
        </p:nvCxnSpPr>
        <p:spPr>
          <a:xfrm flipH="1">
            <a:off x="5023143" y="2887434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18" name="Google Shape;10318;p420"/>
          <p:cNvCxnSpPr>
            <a:stCxn id="10221" idx="2"/>
            <a:endCxn id="10231" idx="1"/>
          </p:cNvCxnSpPr>
          <p:nvPr/>
        </p:nvCxnSpPr>
        <p:spPr>
          <a:xfrm>
            <a:off x="5172543" y="2887434"/>
            <a:ext cx="5142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19" name="Google Shape;10319;p420"/>
          <p:cNvCxnSpPr>
            <a:stCxn id="10286" idx="2"/>
            <a:endCxn id="10297" idx="0"/>
          </p:cNvCxnSpPr>
          <p:nvPr/>
        </p:nvCxnSpPr>
        <p:spPr>
          <a:xfrm flipH="1">
            <a:off x="7281643" y="2832809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20" name="Google Shape;10320;p420"/>
          <p:cNvCxnSpPr>
            <a:stCxn id="10291" idx="2"/>
            <a:endCxn id="10296" idx="0"/>
          </p:cNvCxnSpPr>
          <p:nvPr/>
        </p:nvCxnSpPr>
        <p:spPr>
          <a:xfrm>
            <a:off x="7997893" y="2907216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21" name="Google Shape;10321;p420"/>
          <p:cNvCxnSpPr>
            <a:stCxn id="10294" idx="2"/>
            <a:endCxn id="10303" idx="0"/>
          </p:cNvCxnSpPr>
          <p:nvPr/>
        </p:nvCxnSpPr>
        <p:spPr>
          <a:xfrm>
            <a:off x="8648697" y="2798914"/>
            <a:ext cx="0" cy="52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22" name="Google Shape;10322;p420"/>
          <p:cNvSpPr txBox="1"/>
          <p:nvPr/>
        </p:nvSpPr>
        <p:spPr>
          <a:xfrm>
            <a:off x="2977725" y="2996863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323" name="Google Shape;10323;p42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27" name="Shape 10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8" name="Google Shape;10328;p421"/>
          <p:cNvSpPr/>
          <p:nvPr/>
        </p:nvSpPr>
        <p:spPr>
          <a:xfrm>
            <a:off x="878548" y="11813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329" name="Google Shape;10329;p421"/>
          <p:cNvSpPr/>
          <p:nvPr/>
        </p:nvSpPr>
        <p:spPr>
          <a:xfrm>
            <a:off x="1379915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330" name="Google Shape;10330;p421"/>
          <p:cNvSpPr/>
          <p:nvPr/>
        </p:nvSpPr>
        <p:spPr>
          <a:xfrm>
            <a:off x="311688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331" name="Google Shape;10331;p421"/>
          <p:cNvSpPr/>
          <p:nvPr/>
        </p:nvSpPr>
        <p:spPr>
          <a:xfrm>
            <a:off x="878548" y="18628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332" name="Google Shape;10332;p421"/>
          <p:cNvSpPr/>
          <p:nvPr/>
        </p:nvSpPr>
        <p:spPr>
          <a:xfrm>
            <a:off x="311688" y="206712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333" name="Google Shape;10333;p421"/>
          <p:cNvSpPr/>
          <p:nvPr/>
        </p:nvSpPr>
        <p:spPr>
          <a:xfrm>
            <a:off x="461035" y="256907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334" name="Google Shape;10334;p421"/>
          <p:cNvCxnSpPr>
            <a:endCxn id="10330" idx="7"/>
          </p:cNvCxnSpPr>
          <p:nvPr/>
        </p:nvCxnSpPr>
        <p:spPr>
          <a:xfrm flipH="1">
            <a:off x="566729" y="1435709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35" name="Google Shape;10335;p421"/>
          <p:cNvCxnSpPr>
            <a:stCxn id="10332" idx="0"/>
            <a:endCxn id="10330" idx="4"/>
          </p:cNvCxnSpPr>
          <p:nvPr/>
        </p:nvCxnSpPr>
        <p:spPr>
          <a:xfrm rot="10800000">
            <a:off x="461088" y="1863128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36" name="Google Shape;10336;p421"/>
          <p:cNvCxnSpPr>
            <a:stCxn id="10329" idx="1"/>
            <a:endCxn id="10328" idx="5"/>
          </p:cNvCxnSpPr>
          <p:nvPr/>
        </p:nvCxnSpPr>
        <p:spPr>
          <a:xfrm rot="10800000">
            <a:off x="1133573" y="1435709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37" name="Google Shape;10337;p421"/>
          <p:cNvCxnSpPr>
            <a:stCxn id="10338" idx="1"/>
            <a:endCxn id="10330" idx="5"/>
          </p:cNvCxnSpPr>
          <p:nvPr/>
        </p:nvCxnSpPr>
        <p:spPr>
          <a:xfrm rot="10800000">
            <a:off x="566743" y="1819506"/>
            <a:ext cx="504900" cy="867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39" name="Google Shape;10339;p421"/>
          <p:cNvCxnSpPr>
            <a:stCxn id="10331" idx="0"/>
            <a:endCxn id="10328" idx="4"/>
          </p:cNvCxnSpPr>
          <p:nvPr/>
        </p:nvCxnSpPr>
        <p:spPr>
          <a:xfrm rot="10800000">
            <a:off x="1027948" y="1479154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40" name="Google Shape;10340;p421"/>
          <p:cNvCxnSpPr>
            <a:stCxn id="10331" idx="5"/>
            <a:endCxn id="10341" idx="1"/>
          </p:cNvCxnSpPr>
          <p:nvPr/>
        </p:nvCxnSpPr>
        <p:spPr>
          <a:xfrm>
            <a:off x="1133589" y="2117127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42" name="Google Shape;10342;p421"/>
          <p:cNvSpPr/>
          <p:nvPr/>
        </p:nvSpPr>
        <p:spPr>
          <a:xfrm>
            <a:off x="1678689" y="19952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341" name="Google Shape;10341;p421"/>
          <p:cNvSpPr/>
          <p:nvPr/>
        </p:nvSpPr>
        <p:spPr>
          <a:xfrm>
            <a:off x="1678689" y="253517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338" name="Google Shape;10338;p421"/>
          <p:cNvSpPr/>
          <p:nvPr/>
        </p:nvSpPr>
        <p:spPr>
          <a:xfrm>
            <a:off x="1027885" y="26434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sp>
        <p:nvSpPr>
          <p:cNvPr id="10343" name="Google Shape;10343;p421"/>
          <p:cNvSpPr/>
          <p:nvPr/>
        </p:nvSpPr>
        <p:spPr>
          <a:xfrm>
            <a:off x="1080784" y="342412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344" name="Google Shape;10344;p421"/>
          <p:cNvSpPr/>
          <p:nvPr/>
        </p:nvSpPr>
        <p:spPr>
          <a:xfrm>
            <a:off x="311688" y="350929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345" name="Google Shape;10345;p421"/>
          <p:cNvSpPr/>
          <p:nvPr/>
        </p:nvSpPr>
        <p:spPr>
          <a:xfrm>
            <a:off x="610422" y="41738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346" name="Google Shape;10346;p421"/>
          <p:cNvSpPr/>
          <p:nvPr/>
        </p:nvSpPr>
        <p:spPr>
          <a:xfrm>
            <a:off x="1678447" y="401308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347" name="Google Shape;10347;p421"/>
          <p:cNvCxnSpPr>
            <a:stCxn id="10345" idx="2"/>
            <a:endCxn id="10344" idx="5"/>
          </p:cNvCxnSpPr>
          <p:nvPr/>
        </p:nvCxnSpPr>
        <p:spPr>
          <a:xfrm rot="10800000">
            <a:off x="566622" y="3763633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48" name="Google Shape;10348;p421"/>
          <p:cNvCxnSpPr>
            <a:stCxn id="10343" idx="2"/>
            <a:endCxn id="10344" idx="6"/>
          </p:cNvCxnSpPr>
          <p:nvPr/>
        </p:nvCxnSpPr>
        <p:spPr>
          <a:xfrm flipH="1">
            <a:off x="610384" y="3573076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49" name="Google Shape;10349;p421"/>
          <p:cNvCxnSpPr>
            <a:stCxn id="10345" idx="6"/>
            <a:endCxn id="10346" idx="3"/>
          </p:cNvCxnSpPr>
          <p:nvPr/>
        </p:nvCxnSpPr>
        <p:spPr>
          <a:xfrm flipH="1" rot="10800000">
            <a:off x="909222" y="4271833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50" name="Google Shape;10350;p421"/>
          <p:cNvCxnSpPr>
            <a:stCxn id="10351" idx="4"/>
            <a:endCxn id="10346" idx="0"/>
          </p:cNvCxnSpPr>
          <p:nvPr/>
        </p:nvCxnSpPr>
        <p:spPr>
          <a:xfrm>
            <a:off x="1827997" y="3664522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51" name="Google Shape;10351;p421"/>
          <p:cNvSpPr/>
          <p:nvPr/>
        </p:nvSpPr>
        <p:spPr>
          <a:xfrm>
            <a:off x="1678447" y="336152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352" name="Google Shape;10352;p421"/>
          <p:cNvCxnSpPr>
            <a:stCxn id="10331" idx="3"/>
            <a:endCxn id="10333" idx="7"/>
          </p:cNvCxnSpPr>
          <p:nvPr/>
        </p:nvCxnSpPr>
        <p:spPr>
          <a:xfrm flipH="1">
            <a:off x="716206" y="2117127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53" name="Google Shape;10353;p421"/>
          <p:cNvCxnSpPr>
            <a:stCxn id="10329" idx="4"/>
            <a:endCxn id="10342" idx="1"/>
          </p:cNvCxnSpPr>
          <p:nvPr/>
        </p:nvCxnSpPr>
        <p:spPr>
          <a:xfrm>
            <a:off x="1529315" y="1863083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54" name="Google Shape;10354;p421"/>
          <p:cNvCxnSpPr>
            <a:stCxn id="10329" idx="4"/>
            <a:endCxn id="10338" idx="0"/>
          </p:cNvCxnSpPr>
          <p:nvPr/>
        </p:nvCxnSpPr>
        <p:spPr>
          <a:xfrm flipH="1">
            <a:off x="1177415" y="1863083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55" name="Google Shape;10355;p421"/>
          <p:cNvCxnSpPr>
            <a:stCxn id="10332" idx="4"/>
            <a:endCxn id="10333" idx="0"/>
          </p:cNvCxnSpPr>
          <p:nvPr/>
        </p:nvCxnSpPr>
        <p:spPr>
          <a:xfrm>
            <a:off x="461088" y="2365028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56" name="Google Shape;10356;p421"/>
          <p:cNvCxnSpPr>
            <a:stCxn id="10332" idx="5"/>
            <a:endCxn id="10341" idx="2"/>
          </p:cNvCxnSpPr>
          <p:nvPr/>
        </p:nvCxnSpPr>
        <p:spPr>
          <a:xfrm>
            <a:off x="566729" y="2321401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57" name="Google Shape;10357;p421"/>
          <p:cNvCxnSpPr>
            <a:stCxn id="10333" idx="6"/>
            <a:endCxn id="10338" idx="2"/>
          </p:cNvCxnSpPr>
          <p:nvPr/>
        </p:nvCxnSpPr>
        <p:spPr>
          <a:xfrm>
            <a:off x="759835" y="2718022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58" name="Google Shape;10358;p421"/>
          <p:cNvCxnSpPr>
            <a:stCxn id="10342" idx="3"/>
            <a:endCxn id="10338" idx="6"/>
          </p:cNvCxnSpPr>
          <p:nvPr/>
        </p:nvCxnSpPr>
        <p:spPr>
          <a:xfrm flipH="1">
            <a:off x="1326747" y="2249528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59" name="Google Shape;10359;p421"/>
          <p:cNvCxnSpPr>
            <a:stCxn id="10342" idx="4"/>
            <a:endCxn id="10341" idx="0"/>
          </p:cNvCxnSpPr>
          <p:nvPr/>
        </p:nvCxnSpPr>
        <p:spPr>
          <a:xfrm>
            <a:off x="1828089" y="2293154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60" name="Google Shape;10360;p421"/>
          <p:cNvCxnSpPr>
            <a:stCxn id="10343" idx="6"/>
            <a:endCxn id="10351" idx="3"/>
          </p:cNvCxnSpPr>
          <p:nvPr/>
        </p:nvCxnSpPr>
        <p:spPr>
          <a:xfrm>
            <a:off x="1379584" y="3573076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61" name="Google Shape;10361;p421"/>
          <p:cNvCxnSpPr>
            <a:stCxn id="10343" idx="5"/>
            <a:endCxn id="10346" idx="1"/>
          </p:cNvCxnSpPr>
          <p:nvPr/>
        </p:nvCxnSpPr>
        <p:spPr>
          <a:xfrm>
            <a:off x="1335826" y="3678399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62" name="Google Shape;10362;p421"/>
          <p:cNvCxnSpPr>
            <a:stCxn id="10351" idx="3"/>
            <a:endCxn id="10345" idx="7"/>
          </p:cNvCxnSpPr>
          <p:nvPr/>
        </p:nvCxnSpPr>
        <p:spPr>
          <a:xfrm flipH="1">
            <a:off x="865450" y="3620149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63" name="Google Shape;10363;p421"/>
          <p:cNvSpPr/>
          <p:nvPr/>
        </p:nvSpPr>
        <p:spPr>
          <a:xfrm>
            <a:off x="5440655" y="120184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364" name="Google Shape;10364;p421"/>
          <p:cNvSpPr/>
          <p:nvPr/>
        </p:nvSpPr>
        <p:spPr>
          <a:xfrm>
            <a:off x="5942022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365" name="Google Shape;10365;p421"/>
          <p:cNvSpPr/>
          <p:nvPr/>
        </p:nvSpPr>
        <p:spPr>
          <a:xfrm>
            <a:off x="4873795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366" name="Google Shape;10366;p421"/>
          <p:cNvSpPr/>
          <p:nvPr/>
        </p:nvSpPr>
        <p:spPr>
          <a:xfrm>
            <a:off x="5440655" y="188331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367" name="Google Shape;10367;p421"/>
          <p:cNvSpPr/>
          <p:nvPr/>
        </p:nvSpPr>
        <p:spPr>
          <a:xfrm>
            <a:off x="4873795" y="208758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368" name="Google Shape;10368;p421"/>
          <p:cNvSpPr/>
          <p:nvPr/>
        </p:nvSpPr>
        <p:spPr>
          <a:xfrm>
            <a:off x="5023143" y="258953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0369" name="Google Shape;10369;p421"/>
          <p:cNvCxnSpPr>
            <a:endCxn id="10365" idx="7"/>
          </p:cNvCxnSpPr>
          <p:nvPr/>
        </p:nvCxnSpPr>
        <p:spPr>
          <a:xfrm flipH="1">
            <a:off x="5128837" y="1456171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70" name="Google Shape;10370;p421"/>
          <p:cNvCxnSpPr>
            <a:stCxn id="10367" idx="0"/>
            <a:endCxn id="10365" idx="4"/>
          </p:cNvCxnSpPr>
          <p:nvPr/>
        </p:nvCxnSpPr>
        <p:spPr>
          <a:xfrm rot="10800000">
            <a:off x="5023195" y="1883589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71" name="Google Shape;10371;p421"/>
          <p:cNvCxnSpPr>
            <a:stCxn id="10364" idx="1"/>
            <a:endCxn id="10363" idx="5"/>
          </p:cNvCxnSpPr>
          <p:nvPr/>
        </p:nvCxnSpPr>
        <p:spPr>
          <a:xfrm rot="10800000">
            <a:off x="5695681" y="1456171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72" name="Google Shape;10372;p421"/>
          <p:cNvCxnSpPr>
            <a:stCxn id="10373" idx="1"/>
            <a:endCxn id="10365" idx="5"/>
          </p:cNvCxnSpPr>
          <p:nvPr/>
        </p:nvCxnSpPr>
        <p:spPr>
          <a:xfrm rot="10800000">
            <a:off x="5128893" y="1839991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74" name="Google Shape;10374;p421"/>
          <p:cNvCxnSpPr>
            <a:stCxn id="10366" idx="0"/>
            <a:endCxn id="10363" idx="4"/>
          </p:cNvCxnSpPr>
          <p:nvPr/>
        </p:nvCxnSpPr>
        <p:spPr>
          <a:xfrm rot="10800000">
            <a:off x="5590055" y="1499615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75" name="Google Shape;10375;p421"/>
          <p:cNvCxnSpPr>
            <a:stCxn id="10366" idx="5"/>
            <a:endCxn id="10376" idx="1"/>
          </p:cNvCxnSpPr>
          <p:nvPr/>
        </p:nvCxnSpPr>
        <p:spPr>
          <a:xfrm>
            <a:off x="5695697" y="2137589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77" name="Google Shape;10377;p421"/>
          <p:cNvSpPr/>
          <p:nvPr/>
        </p:nvSpPr>
        <p:spPr>
          <a:xfrm>
            <a:off x="6240797" y="20157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376" name="Google Shape;10376;p421"/>
          <p:cNvSpPr/>
          <p:nvPr/>
        </p:nvSpPr>
        <p:spPr>
          <a:xfrm>
            <a:off x="6240797" y="255563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373" name="Google Shape;10373;p421"/>
          <p:cNvSpPr/>
          <p:nvPr/>
        </p:nvSpPr>
        <p:spPr>
          <a:xfrm>
            <a:off x="5589993" y="2663941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378" name="Google Shape;10378;p421"/>
          <p:cNvSpPr/>
          <p:nvPr/>
        </p:nvSpPr>
        <p:spPr>
          <a:xfrm>
            <a:off x="5642892" y="344458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379" name="Google Shape;10379;p421"/>
          <p:cNvSpPr/>
          <p:nvPr/>
        </p:nvSpPr>
        <p:spPr>
          <a:xfrm>
            <a:off x="4873795" y="352975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380" name="Google Shape;10380;p421"/>
          <p:cNvSpPr/>
          <p:nvPr/>
        </p:nvSpPr>
        <p:spPr>
          <a:xfrm>
            <a:off x="5172530" y="41943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381" name="Google Shape;10381;p421"/>
          <p:cNvSpPr/>
          <p:nvPr/>
        </p:nvSpPr>
        <p:spPr>
          <a:xfrm>
            <a:off x="6240555" y="403354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382" name="Google Shape;10382;p421"/>
          <p:cNvCxnSpPr>
            <a:stCxn id="10380" idx="2"/>
            <a:endCxn id="10379" idx="5"/>
          </p:cNvCxnSpPr>
          <p:nvPr/>
        </p:nvCxnSpPr>
        <p:spPr>
          <a:xfrm rot="10800000">
            <a:off x="5128730" y="3784095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83" name="Google Shape;10383;p421"/>
          <p:cNvCxnSpPr>
            <a:stCxn id="10378" idx="2"/>
            <a:endCxn id="10379" idx="6"/>
          </p:cNvCxnSpPr>
          <p:nvPr/>
        </p:nvCxnSpPr>
        <p:spPr>
          <a:xfrm flipH="1">
            <a:off x="5172492" y="3593538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84" name="Google Shape;10384;p421"/>
          <p:cNvCxnSpPr>
            <a:stCxn id="10380" idx="6"/>
            <a:endCxn id="10381" idx="3"/>
          </p:cNvCxnSpPr>
          <p:nvPr/>
        </p:nvCxnSpPr>
        <p:spPr>
          <a:xfrm flipH="1" rot="10800000">
            <a:off x="5471330" y="4292295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85" name="Google Shape;10385;p421"/>
          <p:cNvCxnSpPr>
            <a:stCxn id="10386" idx="4"/>
            <a:endCxn id="10381" idx="0"/>
          </p:cNvCxnSpPr>
          <p:nvPr/>
        </p:nvCxnSpPr>
        <p:spPr>
          <a:xfrm>
            <a:off x="6390105" y="3684984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86" name="Google Shape;10386;p421"/>
          <p:cNvSpPr/>
          <p:nvPr/>
        </p:nvSpPr>
        <p:spPr>
          <a:xfrm>
            <a:off x="6240555" y="338198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387" name="Google Shape;10387;p421"/>
          <p:cNvCxnSpPr>
            <a:stCxn id="10366" idx="3"/>
            <a:endCxn id="10368" idx="3"/>
          </p:cNvCxnSpPr>
          <p:nvPr/>
        </p:nvCxnSpPr>
        <p:spPr>
          <a:xfrm flipH="1">
            <a:off x="5321814" y="2137589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88" name="Google Shape;10388;p421"/>
          <p:cNvCxnSpPr>
            <a:stCxn id="10364" idx="4"/>
            <a:endCxn id="10377" idx="1"/>
          </p:cNvCxnSpPr>
          <p:nvPr/>
        </p:nvCxnSpPr>
        <p:spPr>
          <a:xfrm>
            <a:off x="6091422" y="1883545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89" name="Google Shape;10389;p421"/>
          <p:cNvCxnSpPr>
            <a:stCxn id="10364" idx="4"/>
            <a:endCxn id="10373" idx="0"/>
          </p:cNvCxnSpPr>
          <p:nvPr/>
        </p:nvCxnSpPr>
        <p:spPr>
          <a:xfrm flipH="1">
            <a:off x="5739522" y="1883545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0" name="Google Shape;10390;p421"/>
          <p:cNvCxnSpPr>
            <a:stCxn id="10367" idx="4"/>
            <a:endCxn id="10368" idx="0"/>
          </p:cNvCxnSpPr>
          <p:nvPr/>
        </p:nvCxnSpPr>
        <p:spPr>
          <a:xfrm>
            <a:off x="5023195" y="2385489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1" name="Google Shape;10391;p421"/>
          <p:cNvCxnSpPr>
            <a:stCxn id="10367" idx="5"/>
            <a:endCxn id="10376" idx="2"/>
          </p:cNvCxnSpPr>
          <p:nvPr/>
        </p:nvCxnSpPr>
        <p:spPr>
          <a:xfrm>
            <a:off x="5128837" y="2341863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2" name="Google Shape;10392;p421"/>
          <p:cNvCxnSpPr>
            <a:stCxn id="10368" idx="3"/>
            <a:endCxn id="10373" idx="1"/>
          </p:cNvCxnSpPr>
          <p:nvPr/>
        </p:nvCxnSpPr>
        <p:spPr>
          <a:xfrm>
            <a:off x="5321943" y="2738484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3" name="Google Shape;10393;p421"/>
          <p:cNvCxnSpPr>
            <a:stCxn id="10377" idx="3"/>
            <a:endCxn id="10373" idx="3"/>
          </p:cNvCxnSpPr>
          <p:nvPr/>
        </p:nvCxnSpPr>
        <p:spPr>
          <a:xfrm flipH="1">
            <a:off x="5888855" y="2269990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4" name="Google Shape;10394;p421"/>
          <p:cNvCxnSpPr>
            <a:stCxn id="10377" idx="4"/>
            <a:endCxn id="10376" idx="0"/>
          </p:cNvCxnSpPr>
          <p:nvPr/>
        </p:nvCxnSpPr>
        <p:spPr>
          <a:xfrm>
            <a:off x="6390197" y="2313616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5" name="Google Shape;10395;p421"/>
          <p:cNvCxnSpPr>
            <a:stCxn id="10378" idx="6"/>
            <a:endCxn id="10386" idx="3"/>
          </p:cNvCxnSpPr>
          <p:nvPr/>
        </p:nvCxnSpPr>
        <p:spPr>
          <a:xfrm>
            <a:off x="5941692" y="3593538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6" name="Google Shape;10396;p421"/>
          <p:cNvCxnSpPr>
            <a:stCxn id="10378" idx="5"/>
            <a:endCxn id="10381" idx="1"/>
          </p:cNvCxnSpPr>
          <p:nvPr/>
        </p:nvCxnSpPr>
        <p:spPr>
          <a:xfrm>
            <a:off x="5897934" y="3698861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7" name="Google Shape;10397;p421"/>
          <p:cNvCxnSpPr>
            <a:stCxn id="10386" idx="3"/>
            <a:endCxn id="10380" idx="7"/>
          </p:cNvCxnSpPr>
          <p:nvPr/>
        </p:nvCxnSpPr>
        <p:spPr>
          <a:xfrm flipH="1">
            <a:off x="5427557" y="3640611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398" name="Google Shape;10398;p421"/>
          <p:cNvSpPr/>
          <p:nvPr/>
        </p:nvSpPr>
        <p:spPr>
          <a:xfrm>
            <a:off x="3208059" y="12018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399" name="Google Shape;10399;p421"/>
          <p:cNvSpPr/>
          <p:nvPr/>
        </p:nvSpPr>
        <p:spPr>
          <a:xfrm>
            <a:off x="3709426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400" name="Google Shape;10400;p421"/>
          <p:cNvSpPr/>
          <p:nvPr/>
        </p:nvSpPr>
        <p:spPr>
          <a:xfrm>
            <a:off x="2641199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401" name="Google Shape;10401;p421"/>
          <p:cNvSpPr/>
          <p:nvPr/>
        </p:nvSpPr>
        <p:spPr>
          <a:xfrm>
            <a:off x="3208059" y="18833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402" name="Google Shape;10402;p421"/>
          <p:cNvSpPr/>
          <p:nvPr/>
        </p:nvSpPr>
        <p:spPr>
          <a:xfrm>
            <a:off x="2641199" y="208759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403" name="Google Shape;10403;p421"/>
          <p:cNvSpPr/>
          <p:nvPr/>
        </p:nvSpPr>
        <p:spPr>
          <a:xfrm>
            <a:off x="2790547" y="258953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404" name="Google Shape;10404;p421"/>
          <p:cNvCxnSpPr>
            <a:endCxn id="10400" idx="7"/>
          </p:cNvCxnSpPr>
          <p:nvPr/>
        </p:nvCxnSpPr>
        <p:spPr>
          <a:xfrm flipH="1">
            <a:off x="2896241" y="1456175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05" name="Google Shape;10405;p421"/>
          <p:cNvCxnSpPr>
            <a:stCxn id="10402" idx="0"/>
            <a:endCxn id="10400" idx="4"/>
          </p:cNvCxnSpPr>
          <p:nvPr/>
        </p:nvCxnSpPr>
        <p:spPr>
          <a:xfrm rot="10800000">
            <a:off x="2790599" y="1883593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06" name="Google Shape;10406;p421"/>
          <p:cNvCxnSpPr>
            <a:stCxn id="10399" idx="1"/>
            <a:endCxn id="10398" idx="5"/>
          </p:cNvCxnSpPr>
          <p:nvPr/>
        </p:nvCxnSpPr>
        <p:spPr>
          <a:xfrm rot="10800000">
            <a:off x="3463085" y="1456175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07" name="Google Shape;10407;p421"/>
          <p:cNvCxnSpPr>
            <a:stCxn id="10401" idx="0"/>
            <a:endCxn id="10398" idx="4"/>
          </p:cNvCxnSpPr>
          <p:nvPr/>
        </p:nvCxnSpPr>
        <p:spPr>
          <a:xfrm rot="10800000">
            <a:off x="3357459" y="1499619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08" name="Google Shape;10408;p421"/>
          <p:cNvCxnSpPr>
            <a:stCxn id="10401" idx="5"/>
            <a:endCxn id="10409" idx="1"/>
          </p:cNvCxnSpPr>
          <p:nvPr/>
        </p:nvCxnSpPr>
        <p:spPr>
          <a:xfrm>
            <a:off x="3463101" y="2137592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10" name="Google Shape;10410;p421"/>
          <p:cNvSpPr/>
          <p:nvPr/>
        </p:nvSpPr>
        <p:spPr>
          <a:xfrm>
            <a:off x="4008201" y="20157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409" name="Google Shape;10409;p421"/>
          <p:cNvSpPr/>
          <p:nvPr/>
        </p:nvSpPr>
        <p:spPr>
          <a:xfrm>
            <a:off x="4008201" y="255564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411" name="Google Shape;10411;p421"/>
          <p:cNvSpPr/>
          <p:nvPr/>
        </p:nvSpPr>
        <p:spPr>
          <a:xfrm>
            <a:off x="3410296" y="34445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412" name="Google Shape;10412;p421"/>
          <p:cNvSpPr/>
          <p:nvPr/>
        </p:nvSpPr>
        <p:spPr>
          <a:xfrm>
            <a:off x="2641199" y="352976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413" name="Google Shape;10413;p421"/>
          <p:cNvSpPr/>
          <p:nvPr/>
        </p:nvSpPr>
        <p:spPr>
          <a:xfrm>
            <a:off x="2939934" y="41943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414" name="Google Shape;10414;p421"/>
          <p:cNvSpPr/>
          <p:nvPr/>
        </p:nvSpPr>
        <p:spPr>
          <a:xfrm>
            <a:off x="4007959" y="4033547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415" name="Google Shape;10415;p421"/>
          <p:cNvCxnSpPr>
            <a:stCxn id="10413" idx="2"/>
            <a:endCxn id="10412" idx="5"/>
          </p:cNvCxnSpPr>
          <p:nvPr/>
        </p:nvCxnSpPr>
        <p:spPr>
          <a:xfrm rot="10800000">
            <a:off x="2896134" y="3784098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16" name="Google Shape;10416;p421"/>
          <p:cNvCxnSpPr>
            <a:stCxn id="10411" idx="2"/>
            <a:endCxn id="10412" idx="6"/>
          </p:cNvCxnSpPr>
          <p:nvPr/>
        </p:nvCxnSpPr>
        <p:spPr>
          <a:xfrm flipH="1">
            <a:off x="2939896" y="3593541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17" name="Google Shape;10417;p421"/>
          <p:cNvCxnSpPr>
            <a:stCxn id="10413" idx="6"/>
            <a:endCxn id="10414" idx="3"/>
          </p:cNvCxnSpPr>
          <p:nvPr/>
        </p:nvCxnSpPr>
        <p:spPr>
          <a:xfrm flipH="1" rot="10800000">
            <a:off x="3238734" y="4292298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18" name="Google Shape;10418;p421"/>
          <p:cNvCxnSpPr>
            <a:stCxn id="10419" idx="4"/>
            <a:endCxn id="10414" idx="0"/>
          </p:cNvCxnSpPr>
          <p:nvPr/>
        </p:nvCxnSpPr>
        <p:spPr>
          <a:xfrm>
            <a:off x="4157509" y="3684988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19" name="Google Shape;10419;p421"/>
          <p:cNvSpPr/>
          <p:nvPr/>
        </p:nvSpPr>
        <p:spPr>
          <a:xfrm>
            <a:off x="4007959" y="3381988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420" name="Google Shape;10420;p421"/>
          <p:cNvCxnSpPr>
            <a:stCxn id="10401" idx="3"/>
            <a:endCxn id="10403" idx="7"/>
          </p:cNvCxnSpPr>
          <p:nvPr/>
        </p:nvCxnSpPr>
        <p:spPr>
          <a:xfrm flipH="1">
            <a:off x="3045718" y="2137592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21" name="Google Shape;10421;p421"/>
          <p:cNvCxnSpPr>
            <a:stCxn id="10399" idx="4"/>
            <a:endCxn id="10410" idx="1"/>
          </p:cNvCxnSpPr>
          <p:nvPr/>
        </p:nvCxnSpPr>
        <p:spPr>
          <a:xfrm>
            <a:off x="3858826" y="1883548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22" name="Google Shape;10422;p421"/>
          <p:cNvCxnSpPr>
            <a:stCxn id="10402" idx="4"/>
            <a:endCxn id="10403" idx="0"/>
          </p:cNvCxnSpPr>
          <p:nvPr/>
        </p:nvCxnSpPr>
        <p:spPr>
          <a:xfrm>
            <a:off x="2790599" y="2385493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23" name="Google Shape;10423;p421"/>
          <p:cNvCxnSpPr>
            <a:stCxn id="10402" idx="5"/>
            <a:endCxn id="10409" idx="2"/>
          </p:cNvCxnSpPr>
          <p:nvPr/>
        </p:nvCxnSpPr>
        <p:spPr>
          <a:xfrm>
            <a:off x="2896241" y="2341866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24" name="Google Shape;10424;p421"/>
          <p:cNvCxnSpPr>
            <a:stCxn id="10410" idx="4"/>
            <a:endCxn id="10409" idx="0"/>
          </p:cNvCxnSpPr>
          <p:nvPr/>
        </p:nvCxnSpPr>
        <p:spPr>
          <a:xfrm>
            <a:off x="4157601" y="2313619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25" name="Google Shape;10425;p421"/>
          <p:cNvCxnSpPr>
            <a:stCxn id="10411" idx="6"/>
            <a:endCxn id="10419" idx="3"/>
          </p:cNvCxnSpPr>
          <p:nvPr/>
        </p:nvCxnSpPr>
        <p:spPr>
          <a:xfrm>
            <a:off x="3709096" y="3593541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26" name="Google Shape;10426;p421"/>
          <p:cNvCxnSpPr>
            <a:stCxn id="10411" idx="5"/>
            <a:endCxn id="10414" idx="1"/>
          </p:cNvCxnSpPr>
          <p:nvPr/>
        </p:nvCxnSpPr>
        <p:spPr>
          <a:xfrm>
            <a:off x="3665338" y="3698865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27" name="Google Shape;10427;p421"/>
          <p:cNvCxnSpPr>
            <a:stCxn id="10419" idx="3"/>
            <a:endCxn id="10413" idx="7"/>
          </p:cNvCxnSpPr>
          <p:nvPr/>
        </p:nvCxnSpPr>
        <p:spPr>
          <a:xfrm flipH="1">
            <a:off x="3194961" y="3640614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28" name="Google Shape;10428;p421"/>
          <p:cNvSpPr/>
          <p:nvPr/>
        </p:nvSpPr>
        <p:spPr>
          <a:xfrm>
            <a:off x="7699155" y="11472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429" name="Google Shape;10429;p421"/>
          <p:cNvSpPr/>
          <p:nvPr/>
        </p:nvSpPr>
        <p:spPr>
          <a:xfrm>
            <a:off x="8200522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430" name="Google Shape;10430;p421"/>
          <p:cNvSpPr/>
          <p:nvPr/>
        </p:nvSpPr>
        <p:spPr>
          <a:xfrm>
            <a:off x="7132295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431" name="Google Shape;10431;p421"/>
          <p:cNvSpPr/>
          <p:nvPr/>
        </p:nvSpPr>
        <p:spPr>
          <a:xfrm>
            <a:off x="7699155" y="182869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432" name="Google Shape;10432;p421"/>
          <p:cNvSpPr/>
          <p:nvPr/>
        </p:nvSpPr>
        <p:spPr>
          <a:xfrm>
            <a:off x="7132295" y="203296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433" name="Google Shape;10433;p421"/>
          <p:cNvSpPr/>
          <p:nvPr/>
        </p:nvSpPr>
        <p:spPr>
          <a:xfrm>
            <a:off x="7281643" y="2534909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0434" name="Google Shape;10434;p421"/>
          <p:cNvCxnSpPr>
            <a:endCxn id="10430" idx="7"/>
          </p:cNvCxnSpPr>
          <p:nvPr/>
        </p:nvCxnSpPr>
        <p:spPr>
          <a:xfrm flipH="1">
            <a:off x="7387337" y="1401546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35" name="Google Shape;10435;p421"/>
          <p:cNvCxnSpPr>
            <a:stCxn id="10432" idx="0"/>
            <a:endCxn id="10430" idx="4"/>
          </p:cNvCxnSpPr>
          <p:nvPr/>
        </p:nvCxnSpPr>
        <p:spPr>
          <a:xfrm rot="10800000">
            <a:off x="7281695" y="1828964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36" name="Google Shape;10436;p421"/>
          <p:cNvCxnSpPr>
            <a:stCxn id="10429" idx="1"/>
            <a:endCxn id="10428" idx="5"/>
          </p:cNvCxnSpPr>
          <p:nvPr/>
        </p:nvCxnSpPr>
        <p:spPr>
          <a:xfrm rot="10800000">
            <a:off x="7954181" y="1401546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37" name="Google Shape;10437;p421"/>
          <p:cNvCxnSpPr>
            <a:stCxn id="10438" idx="1"/>
            <a:endCxn id="10430" idx="5"/>
          </p:cNvCxnSpPr>
          <p:nvPr/>
        </p:nvCxnSpPr>
        <p:spPr>
          <a:xfrm rot="10800000">
            <a:off x="7387393" y="1785366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39" name="Google Shape;10439;p421"/>
          <p:cNvCxnSpPr>
            <a:stCxn id="10431" idx="0"/>
            <a:endCxn id="10428" idx="4"/>
          </p:cNvCxnSpPr>
          <p:nvPr/>
        </p:nvCxnSpPr>
        <p:spPr>
          <a:xfrm rot="10800000">
            <a:off x="7848555" y="1444990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40" name="Google Shape;10440;p421"/>
          <p:cNvCxnSpPr>
            <a:stCxn id="10431" idx="5"/>
            <a:endCxn id="10441" idx="1"/>
          </p:cNvCxnSpPr>
          <p:nvPr/>
        </p:nvCxnSpPr>
        <p:spPr>
          <a:xfrm>
            <a:off x="7954197" y="2082964"/>
            <a:ext cx="545100" cy="56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42" name="Google Shape;10442;p421"/>
          <p:cNvSpPr/>
          <p:nvPr/>
        </p:nvSpPr>
        <p:spPr>
          <a:xfrm>
            <a:off x="8499297" y="19610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441" name="Google Shape;10441;p421"/>
          <p:cNvSpPr/>
          <p:nvPr/>
        </p:nvSpPr>
        <p:spPr>
          <a:xfrm>
            <a:off x="8499297" y="250101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9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438" name="Google Shape;10438;p421"/>
          <p:cNvSpPr/>
          <p:nvPr/>
        </p:nvSpPr>
        <p:spPr>
          <a:xfrm>
            <a:off x="7848493" y="2609316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443" name="Google Shape;10443;p421"/>
          <p:cNvSpPr/>
          <p:nvPr/>
        </p:nvSpPr>
        <p:spPr>
          <a:xfrm>
            <a:off x="7901392" y="338996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444" name="Google Shape;10444;p421"/>
          <p:cNvSpPr/>
          <p:nvPr/>
        </p:nvSpPr>
        <p:spPr>
          <a:xfrm>
            <a:off x="7132295" y="347513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445" name="Google Shape;10445;p421"/>
          <p:cNvSpPr/>
          <p:nvPr/>
        </p:nvSpPr>
        <p:spPr>
          <a:xfrm>
            <a:off x="7431030" y="41397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446" name="Google Shape;10446;p421"/>
          <p:cNvSpPr/>
          <p:nvPr/>
        </p:nvSpPr>
        <p:spPr>
          <a:xfrm>
            <a:off x="8499055" y="397891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447" name="Google Shape;10447;p421"/>
          <p:cNvCxnSpPr>
            <a:stCxn id="10445" idx="2"/>
            <a:endCxn id="10444" idx="5"/>
          </p:cNvCxnSpPr>
          <p:nvPr/>
        </p:nvCxnSpPr>
        <p:spPr>
          <a:xfrm rot="10800000">
            <a:off x="7387230" y="3729470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48" name="Google Shape;10448;p421"/>
          <p:cNvCxnSpPr>
            <a:stCxn id="10443" idx="2"/>
            <a:endCxn id="10444" idx="6"/>
          </p:cNvCxnSpPr>
          <p:nvPr/>
        </p:nvCxnSpPr>
        <p:spPr>
          <a:xfrm flipH="1">
            <a:off x="7430992" y="3538913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49" name="Google Shape;10449;p421"/>
          <p:cNvCxnSpPr>
            <a:stCxn id="10445" idx="6"/>
            <a:endCxn id="10446" idx="3"/>
          </p:cNvCxnSpPr>
          <p:nvPr/>
        </p:nvCxnSpPr>
        <p:spPr>
          <a:xfrm flipH="1" rot="10800000">
            <a:off x="7729830" y="4237670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50" name="Google Shape;10450;p421"/>
          <p:cNvSpPr/>
          <p:nvPr/>
        </p:nvSpPr>
        <p:spPr>
          <a:xfrm>
            <a:off x="8499055" y="332735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451" name="Google Shape;10451;p421"/>
          <p:cNvCxnSpPr>
            <a:stCxn id="10431" idx="3"/>
            <a:endCxn id="10433" idx="3"/>
          </p:cNvCxnSpPr>
          <p:nvPr/>
        </p:nvCxnSpPr>
        <p:spPr>
          <a:xfrm flipH="1">
            <a:off x="7580314" y="2082964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52" name="Google Shape;10452;p421"/>
          <p:cNvCxnSpPr>
            <a:stCxn id="10429" idx="4"/>
            <a:endCxn id="10442" idx="1"/>
          </p:cNvCxnSpPr>
          <p:nvPr/>
        </p:nvCxnSpPr>
        <p:spPr>
          <a:xfrm>
            <a:off x="8349922" y="1828920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53" name="Google Shape;10453;p421"/>
          <p:cNvCxnSpPr>
            <a:stCxn id="10429" idx="4"/>
            <a:endCxn id="10438" idx="0"/>
          </p:cNvCxnSpPr>
          <p:nvPr/>
        </p:nvCxnSpPr>
        <p:spPr>
          <a:xfrm flipH="1">
            <a:off x="7998022" y="1828920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54" name="Google Shape;10454;p421"/>
          <p:cNvCxnSpPr>
            <a:stCxn id="10432" idx="4"/>
            <a:endCxn id="10433" idx="0"/>
          </p:cNvCxnSpPr>
          <p:nvPr/>
        </p:nvCxnSpPr>
        <p:spPr>
          <a:xfrm>
            <a:off x="7281695" y="2330864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55" name="Google Shape;10455;p421"/>
          <p:cNvCxnSpPr>
            <a:stCxn id="10432" idx="5"/>
            <a:endCxn id="10441" idx="1"/>
          </p:cNvCxnSpPr>
          <p:nvPr/>
        </p:nvCxnSpPr>
        <p:spPr>
          <a:xfrm>
            <a:off x="7387337" y="2287238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56" name="Google Shape;10456;p421"/>
          <p:cNvCxnSpPr>
            <a:stCxn id="10433" idx="3"/>
            <a:endCxn id="10438" idx="1"/>
          </p:cNvCxnSpPr>
          <p:nvPr/>
        </p:nvCxnSpPr>
        <p:spPr>
          <a:xfrm>
            <a:off x="7580443" y="2683859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57" name="Google Shape;10457;p421"/>
          <p:cNvCxnSpPr>
            <a:stCxn id="10442" idx="3"/>
            <a:endCxn id="10438" idx="3"/>
          </p:cNvCxnSpPr>
          <p:nvPr/>
        </p:nvCxnSpPr>
        <p:spPr>
          <a:xfrm flipH="1">
            <a:off x="8147355" y="2215365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58" name="Google Shape;10458;p421"/>
          <p:cNvCxnSpPr>
            <a:stCxn id="10443" idx="6"/>
            <a:endCxn id="10450" idx="3"/>
          </p:cNvCxnSpPr>
          <p:nvPr/>
        </p:nvCxnSpPr>
        <p:spPr>
          <a:xfrm>
            <a:off x="8200192" y="3538913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59" name="Google Shape;10459;p421"/>
          <p:cNvCxnSpPr>
            <a:stCxn id="10443" idx="5"/>
            <a:endCxn id="10446" idx="1"/>
          </p:cNvCxnSpPr>
          <p:nvPr/>
        </p:nvCxnSpPr>
        <p:spPr>
          <a:xfrm>
            <a:off x="8156434" y="3644236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60" name="Google Shape;10460;p421"/>
          <p:cNvCxnSpPr>
            <a:stCxn id="10450" idx="3"/>
            <a:endCxn id="10445" idx="7"/>
          </p:cNvCxnSpPr>
          <p:nvPr/>
        </p:nvCxnSpPr>
        <p:spPr>
          <a:xfrm flipH="1">
            <a:off x="7686057" y="3585986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61" name="Google Shape;10461;p421"/>
          <p:cNvSpPr txBox="1"/>
          <p:nvPr/>
        </p:nvSpPr>
        <p:spPr>
          <a:xfrm>
            <a:off x="734725" y="466462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0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462" name="Google Shape;10462;p421"/>
          <p:cNvSpPr txBox="1"/>
          <p:nvPr/>
        </p:nvSpPr>
        <p:spPr>
          <a:xfrm>
            <a:off x="3064250" y="4685100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1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0463" name="Google Shape;10463;p421"/>
          <p:cNvCxnSpPr>
            <a:stCxn id="10373" idx="2"/>
            <a:endCxn id="10378" idx="0"/>
          </p:cNvCxnSpPr>
          <p:nvPr/>
        </p:nvCxnSpPr>
        <p:spPr>
          <a:xfrm>
            <a:off x="5739393" y="2961841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64" name="Google Shape;10464;p421"/>
          <p:cNvCxnSpPr>
            <a:stCxn id="10368" idx="2"/>
            <a:endCxn id="10379" idx="0"/>
          </p:cNvCxnSpPr>
          <p:nvPr/>
        </p:nvCxnSpPr>
        <p:spPr>
          <a:xfrm flipH="1">
            <a:off x="5023143" y="2887434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65" name="Google Shape;10465;p421"/>
          <p:cNvCxnSpPr>
            <a:stCxn id="10368" idx="2"/>
            <a:endCxn id="10378" idx="1"/>
          </p:cNvCxnSpPr>
          <p:nvPr/>
        </p:nvCxnSpPr>
        <p:spPr>
          <a:xfrm>
            <a:off x="5172543" y="2887434"/>
            <a:ext cx="5142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66" name="Google Shape;10466;p421"/>
          <p:cNvCxnSpPr>
            <a:stCxn id="10433" idx="2"/>
            <a:endCxn id="10444" idx="0"/>
          </p:cNvCxnSpPr>
          <p:nvPr/>
        </p:nvCxnSpPr>
        <p:spPr>
          <a:xfrm flipH="1">
            <a:off x="7281643" y="2832809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67" name="Google Shape;10467;p421"/>
          <p:cNvCxnSpPr>
            <a:stCxn id="10438" idx="2"/>
            <a:endCxn id="10443" idx="0"/>
          </p:cNvCxnSpPr>
          <p:nvPr/>
        </p:nvCxnSpPr>
        <p:spPr>
          <a:xfrm>
            <a:off x="7997893" y="2907216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68" name="Google Shape;10468;p421"/>
          <p:cNvCxnSpPr>
            <a:stCxn id="10441" idx="2"/>
            <a:endCxn id="10450" idx="0"/>
          </p:cNvCxnSpPr>
          <p:nvPr/>
        </p:nvCxnSpPr>
        <p:spPr>
          <a:xfrm>
            <a:off x="8648697" y="2798914"/>
            <a:ext cx="0" cy="52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69" name="Google Shape;10469;p421"/>
          <p:cNvSpPr txBox="1"/>
          <p:nvPr/>
        </p:nvSpPr>
        <p:spPr>
          <a:xfrm>
            <a:off x="2977725" y="2996863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470" name="Google Shape;10470;p42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474" name="Shape 10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5" name="Google Shape;10475;p422"/>
          <p:cNvSpPr/>
          <p:nvPr/>
        </p:nvSpPr>
        <p:spPr>
          <a:xfrm>
            <a:off x="878548" y="11813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476" name="Google Shape;10476;p422"/>
          <p:cNvSpPr/>
          <p:nvPr/>
        </p:nvSpPr>
        <p:spPr>
          <a:xfrm>
            <a:off x="1379915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477" name="Google Shape;10477;p422"/>
          <p:cNvSpPr/>
          <p:nvPr/>
        </p:nvSpPr>
        <p:spPr>
          <a:xfrm>
            <a:off x="311688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478" name="Google Shape;10478;p422"/>
          <p:cNvSpPr/>
          <p:nvPr/>
        </p:nvSpPr>
        <p:spPr>
          <a:xfrm>
            <a:off x="878548" y="18628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479" name="Google Shape;10479;p422"/>
          <p:cNvSpPr/>
          <p:nvPr/>
        </p:nvSpPr>
        <p:spPr>
          <a:xfrm>
            <a:off x="311688" y="206712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480" name="Google Shape;10480;p422"/>
          <p:cNvSpPr/>
          <p:nvPr/>
        </p:nvSpPr>
        <p:spPr>
          <a:xfrm>
            <a:off x="461035" y="256907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481" name="Google Shape;10481;p422"/>
          <p:cNvCxnSpPr>
            <a:endCxn id="10477" idx="7"/>
          </p:cNvCxnSpPr>
          <p:nvPr/>
        </p:nvCxnSpPr>
        <p:spPr>
          <a:xfrm flipH="1">
            <a:off x="566729" y="1435709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82" name="Google Shape;10482;p422"/>
          <p:cNvCxnSpPr>
            <a:stCxn id="10479" idx="0"/>
            <a:endCxn id="10477" idx="4"/>
          </p:cNvCxnSpPr>
          <p:nvPr/>
        </p:nvCxnSpPr>
        <p:spPr>
          <a:xfrm rot="10800000">
            <a:off x="461088" y="1863128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83" name="Google Shape;10483;p422"/>
          <p:cNvCxnSpPr>
            <a:stCxn id="10476" idx="1"/>
            <a:endCxn id="10475" idx="5"/>
          </p:cNvCxnSpPr>
          <p:nvPr/>
        </p:nvCxnSpPr>
        <p:spPr>
          <a:xfrm rot="10800000">
            <a:off x="1133573" y="1435709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84" name="Google Shape;10484;p422"/>
          <p:cNvCxnSpPr>
            <a:stCxn id="10485" idx="1"/>
            <a:endCxn id="10477" idx="5"/>
          </p:cNvCxnSpPr>
          <p:nvPr/>
        </p:nvCxnSpPr>
        <p:spPr>
          <a:xfrm rot="10800000">
            <a:off x="566743" y="1819506"/>
            <a:ext cx="504900" cy="867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86" name="Google Shape;10486;p422"/>
          <p:cNvCxnSpPr>
            <a:stCxn id="10478" idx="0"/>
            <a:endCxn id="10475" idx="4"/>
          </p:cNvCxnSpPr>
          <p:nvPr/>
        </p:nvCxnSpPr>
        <p:spPr>
          <a:xfrm rot="10800000">
            <a:off x="1027948" y="1479154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87" name="Google Shape;10487;p422"/>
          <p:cNvCxnSpPr>
            <a:stCxn id="10478" idx="5"/>
            <a:endCxn id="10488" idx="1"/>
          </p:cNvCxnSpPr>
          <p:nvPr/>
        </p:nvCxnSpPr>
        <p:spPr>
          <a:xfrm>
            <a:off x="1133589" y="2117127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89" name="Google Shape;10489;p422"/>
          <p:cNvSpPr/>
          <p:nvPr/>
        </p:nvSpPr>
        <p:spPr>
          <a:xfrm>
            <a:off x="1678689" y="19952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488" name="Google Shape;10488;p422"/>
          <p:cNvSpPr/>
          <p:nvPr/>
        </p:nvSpPr>
        <p:spPr>
          <a:xfrm>
            <a:off x="1678689" y="253517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485" name="Google Shape;10485;p422"/>
          <p:cNvSpPr/>
          <p:nvPr/>
        </p:nvSpPr>
        <p:spPr>
          <a:xfrm>
            <a:off x="1027885" y="26434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sp>
        <p:nvSpPr>
          <p:cNvPr id="10490" name="Google Shape;10490;p422"/>
          <p:cNvSpPr/>
          <p:nvPr/>
        </p:nvSpPr>
        <p:spPr>
          <a:xfrm>
            <a:off x="1080784" y="342412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491" name="Google Shape;10491;p422"/>
          <p:cNvSpPr/>
          <p:nvPr/>
        </p:nvSpPr>
        <p:spPr>
          <a:xfrm>
            <a:off x="311688" y="350929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492" name="Google Shape;10492;p422"/>
          <p:cNvSpPr/>
          <p:nvPr/>
        </p:nvSpPr>
        <p:spPr>
          <a:xfrm>
            <a:off x="610422" y="41738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493" name="Google Shape;10493;p422"/>
          <p:cNvSpPr/>
          <p:nvPr/>
        </p:nvSpPr>
        <p:spPr>
          <a:xfrm>
            <a:off x="1678447" y="401308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494" name="Google Shape;10494;p422"/>
          <p:cNvCxnSpPr>
            <a:stCxn id="10492" idx="2"/>
            <a:endCxn id="10491" idx="5"/>
          </p:cNvCxnSpPr>
          <p:nvPr/>
        </p:nvCxnSpPr>
        <p:spPr>
          <a:xfrm rot="10800000">
            <a:off x="566622" y="3763633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95" name="Google Shape;10495;p422"/>
          <p:cNvCxnSpPr>
            <a:stCxn id="10490" idx="2"/>
            <a:endCxn id="10491" idx="6"/>
          </p:cNvCxnSpPr>
          <p:nvPr/>
        </p:nvCxnSpPr>
        <p:spPr>
          <a:xfrm flipH="1">
            <a:off x="610384" y="3573076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96" name="Google Shape;10496;p422"/>
          <p:cNvCxnSpPr>
            <a:stCxn id="10492" idx="6"/>
            <a:endCxn id="10493" idx="3"/>
          </p:cNvCxnSpPr>
          <p:nvPr/>
        </p:nvCxnSpPr>
        <p:spPr>
          <a:xfrm flipH="1" rot="10800000">
            <a:off x="909222" y="4271833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97" name="Google Shape;10497;p422"/>
          <p:cNvCxnSpPr>
            <a:stCxn id="10498" idx="4"/>
            <a:endCxn id="10493" idx="0"/>
          </p:cNvCxnSpPr>
          <p:nvPr/>
        </p:nvCxnSpPr>
        <p:spPr>
          <a:xfrm>
            <a:off x="1827997" y="3664522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98" name="Google Shape;10498;p422"/>
          <p:cNvSpPr/>
          <p:nvPr/>
        </p:nvSpPr>
        <p:spPr>
          <a:xfrm>
            <a:off x="1678447" y="336152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499" name="Google Shape;10499;p422"/>
          <p:cNvCxnSpPr>
            <a:stCxn id="10478" idx="3"/>
            <a:endCxn id="10480" idx="7"/>
          </p:cNvCxnSpPr>
          <p:nvPr/>
        </p:nvCxnSpPr>
        <p:spPr>
          <a:xfrm flipH="1">
            <a:off x="716206" y="2117127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0" name="Google Shape;10500;p422"/>
          <p:cNvCxnSpPr>
            <a:stCxn id="10476" idx="4"/>
            <a:endCxn id="10489" idx="1"/>
          </p:cNvCxnSpPr>
          <p:nvPr/>
        </p:nvCxnSpPr>
        <p:spPr>
          <a:xfrm>
            <a:off x="1529315" y="1863083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1" name="Google Shape;10501;p422"/>
          <p:cNvCxnSpPr>
            <a:stCxn id="10476" idx="4"/>
            <a:endCxn id="10485" idx="0"/>
          </p:cNvCxnSpPr>
          <p:nvPr/>
        </p:nvCxnSpPr>
        <p:spPr>
          <a:xfrm flipH="1">
            <a:off x="1177415" y="1863083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2" name="Google Shape;10502;p422"/>
          <p:cNvCxnSpPr>
            <a:stCxn id="10479" idx="4"/>
            <a:endCxn id="10480" idx="0"/>
          </p:cNvCxnSpPr>
          <p:nvPr/>
        </p:nvCxnSpPr>
        <p:spPr>
          <a:xfrm>
            <a:off x="461088" y="2365028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3" name="Google Shape;10503;p422"/>
          <p:cNvCxnSpPr>
            <a:stCxn id="10479" idx="5"/>
            <a:endCxn id="10488" idx="2"/>
          </p:cNvCxnSpPr>
          <p:nvPr/>
        </p:nvCxnSpPr>
        <p:spPr>
          <a:xfrm>
            <a:off x="566729" y="2321401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4" name="Google Shape;10504;p422"/>
          <p:cNvCxnSpPr>
            <a:stCxn id="10480" idx="6"/>
            <a:endCxn id="10485" idx="2"/>
          </p:cNvCxnSpPr>
          <p:nvPr/>
        </p:nvCxnSpPr>
        <p:spPr>
          <a:xfrm>
            <a:off x="759835" y="2718022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5" name="Google Shape;10505;p422"/>
          <p:cNvCxnSpPr>
            <a:stCxn id="10489" idx="3"/>
            <a:endCxn id="10485" idx="6"/>
          </p:cNvCxnSpPr>
          <p:nvPr/>
        </p:nvCxnSpPr>
        <p:spPr>
          <a:xfrm flipH="1">
            <a:off x="1326747" y="2249528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6" name="Google Shape;10506;p422"/>
          <p:cNvCxnSpPr>
            <a:stCxn id="10489" idx="4"/>
            <a:endCxn id="10488" idx="0"/>
          </p:cNvCxnSpPr>
          <p:nvPr/>
        </p:nvCxnSpPr>
        <p:spPr>
          <a:xfrm>
            <a:off x="1828089" y="2293154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7" name="Google Shape;10507;p422"/>
          <p:cNvCxnSpPr>
            <a:stCxn id="10490" idx="6"/>
            <a:endCxn id="10498" idx="3"/>
          </p:cNvCxnSpPr>
          <p:nvPr/>
        </p:nvCxnSpPr>
        <p:spPr>
          <a:xfrm>
            <a:off x="1379584" y="3573076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8" name="Google Shape;10508;p422"/>
          <p:cNvCxnSpPr>
            <a:stCxn id="10490" idx="5"/>
            <a:endCxn id="10493" idx="1"/>
          </p:cNvCxnSpPr>
          <p:nvPr/>
        </p:nvCxnSpPr>
        <p:spPr>
          <a:xfrm>
            <a:off x="1335826" y="3678399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09" name="Google Shape;10509;p422"/>
          <p:cNvCxnSpPr>
            <a:stCxn id="10498" idx="3"/>
            <a:endCxn id="10492" idx="7"/>
          </p:cNvCxnSpPr>
          <p:nvPr/>
        </p:nvCxnSpPr>
        <p:spPr>
          <a:xfrm flipH="1">
            <a:off x="865450" y="3620149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10" name="Google Shape;10510;p422"/>
          <p:cNvSpPr/>
          <p:nvPr/>
        </p:nvSpPr>
        <p:spPr>
          <a:xfrm>
            <a:off x="5440655" y="120184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511" name="Google Shape;10511;p422"/>
          <p:cNvSpPr/>
          <p:nvPr/>
        </p:nvSpPr>
        <p:spPr>
          <a:xfrm>
            <a:off x="5942022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512" name="Google Shape;10512;p422"/>
          <p:cNvSpPr/>
          <p:nvPr/>
        </p:nvSpPr>
        <p:spPr>
          <a:xfrm>
            <a:off x="4873795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513" name="Google Shape;10513;p422"/>
          <p:cNvSpPr/>
          <p:nvPr/>
        </p:nvSpPr>
        <p:spPr>
          <a:xfrm>
            <a:off x="5440655" y="188331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514" name="Google Shape;10514;p422"/>
          <p:cNvSpPr/>
          <p:nvPr/>
        </p:nvSpPr>
        <p:spPr>
          <a:xfrm>
            <a:off x="4873795" y="208758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cxnSp>
        <p:nvCxnSpPr>
          <p:cNvPr id="10515" name="Google Shape;10515;p422"/>
          <p:cNvCxnSpPr>
            <a:endCxn id="10512" idx="7"/>
          </p:cNvCxnSpPr>
          <p:nvPr/>
        </p:nvCxnSpPr>
        <p:spPr>
          <a:xfrm flipH="1">
            <a:off x="5128837" y="1456171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16" name="Google Shape;10516;p422"/>
          <p:cNvCxnSpPr>
            <a:stCxn id="10514" idx="0"/>
            <a:endCxn id="10512" idx="4"/>
          </p:cNvCxnSpPr>
          <p:nvPr/>
        </p:nvCxnSpPr>
        <p:spPr>
          <a:xfrm rot="10800000">
            <a:off x="5023195" y="1883589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17" name="Google Shape;10517;p422"/>
          <p:cNvCxnSpPr>
            <a:stCxn id="10511" idx="1"/>
            <a:endCxn id="10510" idx="5"/>
          </p:cNvCxnSpPr>
          <p:nvPr/>
        </p:nvCxnSpPr>
        <p:spPr>
          <a:xfrm rot="10800000">
            <a:off x="5695681" y="1456171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18" name="Google Shape;10518;p422"/>
          <p:cNvCxnSpPr>
            <a:stCxn id="10513" idx="0"/>
            <a:endCxn id="10510" idx="4"/>
          </p:cNvCxnSpPr>
          <p:nvPr/>
        </p:nvCxnSpPr>
        <p:spPr>
          <a:xfrm rot="10800000">
            <a:off x="5590055" y="1499615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19" name="Google Shape;10519;p422"/>
          <p:cNvCxnSpPr>
            <a:stCxn id="10513" idx="5"/>
            <a:endCxn id="10520" idx="1"/>
          </p:cNvCxnSpPr>
          <p:nvPr/>
        </p:nvCxnSpPr>
        <p:spPr>
          <a:xfrm>
            <a:off x="5695697" y="2137589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21" name="Google Shape;10521;p422"/>
          <p:cNvSpPr/>
          <p:nvPr/>
        </p:nvSpPr>
        <p:spPr>
          <a:xfrm>
            <a:off x="6240797" y="20157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520" name="Google Shape;10520;p422"/>
          <p:cNvSpPr/>
          <p:nvPr/>
        </p:nvSpPr>
        <p:spPr>
          <a:xfrm>
            <a:off x="6240797" y="255563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522" name="Google Shape;10522;p422"/>
          <p:cNvSpPr/>
          <p:nvPr/>
        </p:nvSpPr>
        <p:spPr>
          <a:xfrm>
            <a:off x="5642892" y="344458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523" name="Google Shape;10523;p422"/>
          <p:cNvSpPr/>
          <p:nvPr/>
        </p:nvSpPr>
        <p:spPr>
          <a:xfrm>
            <a:off x="4873795" y="352975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524" name="Google Shape;10524;p422"/>
          <p:cNvSpPr/>
          <p:nvPr/>
        </p:nvSpPr>
        <p:spPr>
          <a:xfrm>
            <a:off x="5172530" y="41943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525" name="Google Shape;10525;p422"/>
          <p:cNvSpPr/>
          <p:nvPr/>
        </p:nvSpPr>
        <p:spPr>
          <a:xfrm>
            <a:off x="6240555" y="403354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526" name="Google Shape;10526;p422"/>
          <p:cNvCxnSpPr>
            <a:stCxn id="10524" idx="2"/>
            <a:endCxn id="10523" idx="5"/>
          </p:cNvCxnSpPr>
          <p:nvPr/>
        </p:nvCxnSpPr>
        <p:spPr>
          <a:xfrm rot="10800000">
            <a:off x="5128730" y="3784095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27" name="Google Shape;10527;p422"/>
          <p:cNvCxnSpPr>
            <a:stCxn id="10522" idx="2"/>
            <a:endCxn id="10523" idx="6"/>
          </p:cNvCxnSpPr>
          <p:nvPr/>
        </p:nvCxnSpPr>
        <p:spPr>
          <a:xfrm flipH="1">
            <a:off x="5172492" y="3593538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28" name="Google Shape;10528;p422"/>
          <p:cNvCxnSpPr>
            <a:stCxn id="10524" idx="6"/>
            <a:endCxn id="10525" idx="3"/>
          </p:cNvCxnSpPr>
          <p:nvPr/>
        </p:nvCxnSpPr>
        <p:spPr>
          <a:xfrm flipH="1" rot="10800000">
            <a:off x="5471330" y="4292295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29" name="Google Shape;10529;p422"/>
          <p:cNvCxnSpPr>
            <a:stCxn id="10530" idx="4"/>
            <a:endCxn id="10525" idx="0"/>
          </p:cNvCxnSpPr>
          <p:nvPr/>
        </p:nvCxnSpPr>
        <p:spPr>
          <a:xfrm>
            <a:off x="6390105" y="3684984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30" name="Google Shape;10530;p422"/>
          <p:cNvSpPr/>
          <p:nvPr/>
        </p:nvSpPr>
        <p:spPr>
          <a:xfrm>
            <a:off x="6240555" y="338198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531" name="Google Shape;10531;p422"/>
          <p:cNvCxnSpPr>
            <a:stCxn id="10511" idx="4"/>
            <a:endCxn id="10521" idx="1"/>
          </p:cNvCxnSpPr>
          <p:nvPr/>
        </p:nvCxnSpPr>
        <p:spPr>
          <a:xfrm>
            <a:off x="6091422" y="1883545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32" name="Google Shape;10532;p422"/>
          <p:cNvCxnSpPr>
            <a:stCxn id="10514" idx="5"/>
            <a:endCxn id="10520" idx="2"/>
          </p:cNvCxnSpPr>
          <p:nvPr/>
        </p:nvCxnSpPr>
        <p:spPr>
          <a:xfrm>
            <a:off x="5128837" y="2341863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33" name="Google Shape;10533;p422"/>
          <p:cNvCxnSpPr>
            <a:stCxn id="10521" idx="4"/>
            <a:endCxn id="10520" idx="0"/>
          </p:cNvCxnSpPr>
          <p:nvPr/>
        </p:nvCxnSpPr>
        <p:spPr>
          <a:xfrm>
            <a:off x="6390197" y="2313616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34" name="Google Shape;10534;p422"/>
          <p:cNvCxnSpPr>
            <a:stCxn id="10522" idx="6"/>
            <a:endCxn id="10530" idx="3"/>
          </p:cNvCxnSpPr>
          <p:nvPr/>
        </p:nvCxnSpPr>
        <p:spPr>
          <a:xfrm>
            <a:off x="5941692" y="3593538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35" name="Google Shape;10535;p422"/>
          <p:cNvCxnSpPr>
            <a:stCxn id="10522" idx="5"/>
            <a:endCxn id="10525" idx="1"/>
          </p:cNvCxnSpPr>
          <p:nvPr/>
        </p:nvCxnSpPr>
        <p:spPr>
          <a:xfrm>
            <a:off x="5897934" y="3698861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36" name="Google Shape;10536;p422"/>
          <p:cNvCxnSpPr>
            <a:stCxn id="10530" idx="3"/>
            <a:endCxn id="10524" idx="7"/>
          </p:cNvCxnSpPr>
          <p:nvPr/>
        </p:nvCxnSpPr>
        <p:spPr>
          <a:xfrm flipH="1">
            <a:off x="5427557" y="3640611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37" name="Google Shape;10537;p422"/>
          <p:cNvSpPr/>
          <p:nvPr/>
        </p:nvSpPr>
        <p:spPr>
          <a:xfrm>
            <a:off x="3208059" y="12018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538" name="Google Shape;10538;p422"/>
          <p:cNvSpPr/>
          <p:nvPr/>
        </p:nvSpPr>
        <p:spPr>
          <a:xfrm>
            <a:off x="3709426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539" name="Google Shape;10539;p422"/>
          <p:cNvSpPr/>
          <p:nvPr/>
        </p:nvSpPr>
        <p:spPr>
          <a:xfrm>
            <a:off x="2641199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540" name="Google Shape;10540;p422"/>
          <p:cNvSpPr/>
          <p:nvPr/>
        </p:nvSpPr>
        <p:spPr>
          <a:xfrm>
            <a:off x="3208059" y="18833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541" name="Google Shape;10541;p422"/>
          <p:cNvSpPr/>
          <p:nvPr/>
        </p:nvSpPr>
        <p:spPr>
          <a:xfrm>
            <a:off x="2641199" y="208759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542" name="Google Shape;10542;p422"/>
          <p:cNvSpPr/>
          <p:nvPr/>
        </p:nvSpPr>
        <p:spPr>
          <a:xfrm>
            <a:off x="2790547" y="258953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543" name="Google Shape;10543;p422"/>
          <p:cNvCxnSpPr>
            <a:endCxn id="10539" idx="7"/>
          </p:cNvCxnSpPr>
          <p:nvPr/>
        </p:nvCxnSpPr>
        <p:spPr>
          <a:xfrm flipH="1">
            <a:off x="2896241" y="1456175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44" name="Google Shape;10544;p422"/>
          <p:cNvCxnSpPr>
            <a:stCxn id="10541" idx="0"/>
            <a:endCxn id="10539" idx="4"/>
          </p:cNvCxnSpPr>
          <p:nvPr/>
        </p:nvCxnSpPr>
        <p:spPr>
          <a:xfrm rot="10800000">
            <a:off x="2790599" y="1883593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45" name="Google Shape;10545;p422"/>
          <p:cNvCxnSpPr>
            <a:stCxn id="10538" idx="1"/>
            <a:endCxn id="10537" idx="5"/>
          </p:cNvCxnSpPr>
          <p:nvPr/>
        </p:nvCxnSpPr>
        <p:spPr>
          <a:xfrm rot="10800000">
            <a:off x="3463085" y="1456175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46" name="Google Shape;10546;p422"/>
          <p:cNvCxnSpPr>
            <a:stCxn id="10540" idx="0"/>
            <a:endCxn id="10537" idx="4"/>
          </p:cNvCxnSpPr>
          <p:nvPr/>
        </p:nvCxnSpPr>
        <p:spPr>
          <a:xfrm rot="10800000">
            <a:off x="3357459" y="1499619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47" name="Google Shape;10547;p422"/>
          <p:cNvCxnSpPr>
            <a:stCxn id="10540" idx="5"/>
            <a:endCxn id="10548" idx="1"/>
          </p:cNvCxnSpPr>
          <p:nvPr/>
        </p:nvCxnSpPr>
        <p:spPr>
          <a:xfrm>
            <a:off x="3463101" y="2137592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49" name="Google Shape;10549;p422"/>
          <p:cNvSpPr/>
          <p:nvPr/>
        </p:nvSpPr>
        <p:spPr>
          <a:xfrm>
            <a:off x="4008201" y="20157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548" name="Google Shape;10548;p422"/>
          <p:cNvSpPr/>
          <p:nvPr/>
        </p:nvSpPr>
        <p:spPr>
          <a:xfrm>
            <a:off x="4008201" y="255564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550" name="Google Shape;10550;p422"/>
          <p:cNvSpPr/>
          <p:nvPr/>
        </p:nvSpPr>
        <p:spPr>
          <a:xfrm>
            <a:off x="3410296" y="34445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551" name="Google Shape;10551;p422"/>
          <p:cNvSpPr/>
          <p:nvPr/>
        </p:nvSpPr>
        <p:spPr>
          <a:xfrm>
            <a:off x="2641199" y="352976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552" name="Google Shape;10552;p422"/>
          <p:cNvSpPr/>
          <p:nvPr/>
        </p:nvSpPr>
        <p:spPr>
          <a:xfrm>
            <a:off x="2939934" y="41943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553" name="Google Shape;10553;p422"/>
          <p:cNvSpPr/>
          <p:nvPr/>
        </p:nvSpPr>
        <p:spPr>
          <a:xfrm>
            <a:off x="4007959" y="4033547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554" name="Google Shape;10554;p422"/>
          <p:cNvCxnSpPr>
            <a:stCxn id="10552" idx="2"/>
            <a:endCxn id="10551" idx="5"/>
          </p:cNvCxnSpPr>
          <p:nvPr/>
        </p:nvCxnSpPr>
        <p:spPr>
          <a:xfrm rot="10800000">
            <a:off x="2896134" y="3784098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55" name="Google Shape;10555;p422"/>
          <p:cNvCxnSpPr>
            <a:stCxn id="10550" idx="2"/>
            <a:endCxn id="10551" idx="6"/>
          </p:cNvCxnSpPr>
          <p:nvPr/>
        </p:nvCxnSpPr>
        <p:spPr>
          <a:xfrm flipH="1">
            <a:off x="2939896" y="3593541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56" name="Google Shape;10556;p422"/>
          <p:cNvCxnSpPr>
            <a:stCxn id="10552" idx="6"/>
            <a:endCxn id="10553" idx="3"/>
          </p:cNvCxnSpPr>
          <p:nvPr/>
        </p:nvCxnSpPr>
        <p:spPr>
          <a:xfrm flipH="1" rot="10800000">
            <a:off x="3238734" y="4292298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57" name="Google Shape;10557;p422"/>
          <p:cNvCxnSpPr>
            <a:stCxn id="10558" idx="4"/>
            <a:endCxn id="10553" idx="0"/>
          </p:cNvCxnSpPr>
          <p:nvPr/>
        </p:nvCxnSpPr>
        <p:spPr>
          <a:xfrm>
            <a:off x="4157509" y="3684988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58" name="Google Shape;10558;p422"/>
          <p:cNvSpPr/>
          <p:nvPr/>
        </p:nvSpPr>
        <p:spPr>
          <a:xfrm>
            <a:off x="4007959" y="3381988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559" name="Google Shape;10559;p422"/>
          <p:cNvCxnSpPr>
            <a:stCxn id="10540" idx="3"/>
            <a:endCxn id="10542" idx="7"/>
          </p:cNvCxnSpPr>
          <p:nvPr/>
        </p:nvCxnSpPr>
        <p:spPr>
          <a:xfrm flipH="1">
            <a:off x="3045718" y="2137592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60" name="Google Shape;10560;p422"/>
          <p:cNvCxnSpPr>
            <a:stCxn id="10538" idx="4"/>
            <a:endCxn id="10549" idx="1"/>
          </p:cNvCxnSpPr>
          <p:nvPr/>
        </p:nvCxnSpPr>
        <p:spPr>
          <a:xfrm>
            <a:off x="3858826" y="1883548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61" name="Google Shape;10561;p422"/>
          <p:cNvCxnSpPr>
            <a:stCxn id="10541" idx="4"/>
            <a:endCxn id="10542" idx="0"/>
          </p:cNvCxnSpPr>
          <p:nvPr/>
        </p:nvCxnSpPr>
        <p:spPr>
          <a:xfrm>
            <a:off x="2790599" y="2385493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62" name="Google Shape;10562;p422"/>
          <p:cNvCxnSpPr>
            <a:stCxn id="10541" idx="5"/>
            <a:endCxn id="10548" idx="2"/>
          </p:cNvCxnSpPr>
          <p:nvPr/>
        </p:nvCxnSpPr>
        <p:spPr>
          <a:xfrm>
            <a:off x="2896241" y="2341866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63" name="Google Shape;10563;p422"/>
          <p:cNvCxnSpPr>
            <a:stCxn id="10549" idx="4"/>
            <a:endCxn id="10548" idx="0"/>
          </p:cNvCxnSpPr>
          <p:nvPr/>
        </p:nvCxnSpPr>
        <p:spPr>
          <a:xfrm>
            <a:off x="4157601" y="2313619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64" name="Google Shape;10564;p422"/>
          <p:cNvCxnSpPr>
            <a:stCxn id="10550" idx="6"/>
            <a:endCxn id="10558" idx="3"/>
          </p:cNvCxnSpPr>
          <p:nvPr/>
        </p:nvCxnSpPr>
        <p:spPr>
          <a:xfrm>
            <a:off x="3709096" y="3593541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65" name="Google Shape;10565;p422"/>
          <p:cNvCxnSpPr>
            <a:stCxn id="10550" idx="5"/>
            <a:endCxn id="10553" idx="1"/>
          </p:cNvCxnSpPr>
          <p:nvPr/>
        </p:nvCxnSpPr>
        <p:spPr>
          <a:xfrm>
            <a:off x="3665338" y="3698865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66" name="Google Shape;10566;p422"/>
          <p:cNvCxnSpPr>
            <a:stCxn id="10558" idx="3"/>
            <a:endCxn id="10552" idx="7"/>
          </p:cNvCxnSpPr>
          <p:nvPr/>
        </p:nvCxnSpPr>
        <p:spPr>
          <a:xfrm flipH="1">
            <a:off x="3194961" y="3640614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67" name="Google Shape;10567;p422"/>
          <p:cNvSpPr/>
          <p:nvPr/>
        </p:nvSpPr>
        <p:spPr>
          <a:xfrm>
            <a:off x="7699155" y="11472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568" name="Google Shape;10568;p422"/>
          <p:cNvSpPr/>
          <p:nvPr/>
        </p:nvSpPr>
        <p:spPr>
          <a:xfrm>
            <a:off x="8200522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569" name="Google Shape;10569;p422"/>
          <p:cNvSpPr/>
          <p:nvPr/>
        </p:nvSpPr>
        <p:spPr>
          <a:xfrm>
            <a:off x="7132295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570" name="Google Shape;10570;p422"/>
          <p:cNvSpPr/>
          <p:nvPr/>
        </p:nvSpPr>
        <p:spPr>
          <a:xfrm>
            <a:off x="7699155" y="182869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571" name="Google Shape;10571;p422"/>
          <p:cNvSpPr/>
          <p:nvPr/>
        </p:nvSpPr>
        <p:spPr>
          <a:xfrm>
            <a:off x="7132295" y="203296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572" name="Google Shape;10572;p422"/>
          <p:cNvSpPr/>
          <p:nvPr/>
        </p:nvSpPr>
        <p:spPr>
          <a:xfrm>
            <a:off x="7281643" y="2534909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6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10573" name="Google Shape;10573;p422"/>
          <p:cNvCxnSpPr>
            <a:endCxn id="10569" idx="7"/>
          </p:cNvCxnSpPr>
          <p:nvPr/>
        </p:nvCxnSpPr>
        <p:spPr>
          <a:xfrm flipH="1">
            <a:off x="7387337" y="1401546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74" name="Google Shape;10574;p422"/>
          <p:cNvCxnSpPr>
            <a:stCxn id="10571" idx="0"/>
            <a:endCxn id="10569" idx="4"/>
          </p:cNvCxnSpPr>
          <p:nvPr/>
        </p:nvCxnSpPr>
        <p:spPr>
          <a:xfrm rot="10800000">
            <a:off x="7281695" y="1828964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75" name="Google Shape;10575;p422"/>
          <p:cNvCxnSpPr>
            <a:stCxn id="10568" idx="1"/>
            <a:endCxn id="10567" idx="5"/>
          </p:cNvCxnSpPr>
          <p:nvPr/>
        </p:nvCxnSpPr>
        <p:spPr>
          <a:xfrm rot="10800000">
            <a:off x="7954181" y="1401546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76" name="Google Shape;10576;p422"/>
          <p:cNvCxnSpPr>
            <a:stCxn id="10577" idx="1"/>
            <a:endCxn id="10569" idx="5"/>
          </p:cNvCxnSpPr>
          <p:nvPr/>
        </p:nvCxnSpPr>
        <p:spPr>
          <a:xfrm rot="10800000">
            <a:off x="7387393" y="1785366"/>
            <a:ext cx="461100" cy="97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78" name="Google Shape;10578;p422"/>
          <p:cNvCxnSpPr>
            <a:stCxn id="10570" idx="0"/>
            <a:endCxn id="10567" idx="4"/>
          </p:cNvCxnSpPr>
          <p:nvPr/>
        </p:nvCxnSpPr>
        <p:spPr>
          <a:xfrm rot="10800000">
            <a:off x="7848555" y="1444990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79" name="Google Shape;10579;p422"/>
          <p:cNvCxnSpPr>
            <a:stCxn id="10570" idx="5"/>
            <a:endCxn id="10580" idx="1"/>
          </p:cNvCxnSpPr>
          <p:nvPr/>
        </p:nvCxnSpPr>
        <p:spPr>
          <a:xfrm>
            <a:off x="7954197" y="2082964"/>
            <a:ext cx="545100" cy="56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81" name="Google Shape;10581;p422"/>
          <p:cNvSpPr/>
          <p:nvPr/>
        </p:nvSpPr>
        <p:spPr>
          <a:xfrm>
            <a:off x="8499297" y="19610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580" name="Google Shape;10580;p422"/>
          <p:cNvSpPr/>
          <p:nvPr/>
        </p:nvSpPr>
        <p:spPr>
          <a:xfrm>
            <a:off x="8499297" y="250101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9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577" name="Google Shape;10577;p422"/>
          <p:cNvSpPr/>
          <p:nvPr/>
        </p:nvSpPr>
        <p:spPr>
          <a:xfrm>
            <a:off x="7848493" y="2609316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7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582" name="Google Shape;10582;p422"/>
          <p:cNvSpPr/>
          <p:nvPr/>
        </p:nvSpPr>
        <p:spPr>
          <a:xfrm>
            <a:off x="7901392" y="338996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583" name="Google Shape;10583;p422"/>
          <p:cNvSpPr/>
          <p:nvPr/>
        </p:nvSpPr>
        <p:spPr>
          <a:xfrm>
            <a:off x="7132295" y="347513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584" name="Google Shape;10584;p422"/>
          <p:cNvSpPr/>
          <p:nvPr/>
        </p:nvSpPr>
        <p:spPr>
          <a:xfrm>
            <a:off x="7431030" y="41397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585" name="Google Shape;10585;p422"/>
          <p:cNvSpPr/>
          <p:nvPr/>
        </p:nvSpPr>
        <p:spPr>
          <a:xfrm>
            <a:off x="8499055" y="397891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586" name="Google Shape;10586;p422"/>
          <p:cNvCxnSpPr>
            <a:stCxn id="10584" idx="2"/>
            <a:endCxn id="10583" idx="5"/>
          </p:cNvCxnSpPr>
          <p:nvPr/>
        </p:nvCxnSpPr>
        <p:spPr>
          <a:xfrm rot="10800000">
            <a:off x="7387230" y="3729470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87" name="Google Shape;10587;p422"/>
          <p:cNvCxnSpPr>
            <a:stCxn id="10582" idx="2"/>
            <a:endCxn id="10583" idx="6"/>
          </p:cNvCxnSpPr>
          <p:nvPr/>
        </p:nvCxnSpPr>
        <p:spPr>
          <a:xfrm flipH="1">
            <a:off x="7430992" y="3538913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88" name="Google Shape;10588;p422"/>
          <p:cNvCxnSpPr>
            <a:stCxn id="10584" idx="6"/>
            <a:endCxn id="10585" idx="3"/>
          </p:cNvCxnSpPr>
          <p:nvPr/>
        </p:nvCxnSpPr>
        <p:spPr>
          <a:xfrm flipH="1" rot="10800000">
            <a:off x="7729830" y="4237670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89" name="Google Shape;10589;p422"/>
          <p:cNvSpPr/>
          <p:nvPr/>
        </p:nvSpPr>
        <p:spPr>
          <a:xfrm>
            <a:off x="8499055" y="332735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590" name="Google Shape;10590;p422"/>
          <p:cNvCxnSpPr>
            <a:stCxn id="10570" idx="3"/>
            <a:endCxn id="10572" idx="3"/>
          </p:cNvCxnSpPr>
          <p:nvPr/>
        </p:nvCxnSpPr>
        <p:spPr>
          <a:xfrm flipH="1">
            <a:off x="7580314" y="2082964"/>
            <a:ext cx="162600" cy="60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1" name="Google Shape;10591;p422"/>
          <p:cNvCxnSpPr>
            <a:stCxn id="10568" idx="4"/>
            <a:endCxn id="10581" idx="1"/>
          </p:cNvCxnSpPr>
          <p:nvPr/>
        </p:nvCxnSpPr>
        <p:spPr>
          <a:xfrm>
            <a:off x="8349922" y="1828920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2" name="Google Shape;10592;p422"/>
          <p:cNvCxnSpPr>
            <a:stCxn id="10568" idx="4"/>
            <a:endCxn id="10577" idx="0"/>
          </p:cNvCxnSpPr>
          <p:nvPr/>
        </p:nvCxnSpPr>
        <p:spPr>
          <a:xfrm flipH="1">
            <a:off x="7998022" y="1828920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3" name="Google Shape;10593;p422"/>
          <p:cNvCxnSpPr>
            <a:stCxn id="10571" idx="4"/>
            <a:endCxn id="10572" idx="0"/>
          </p:cNvCxnSpPr>
          <p:nvPr/>
        </p:nvCxnSpPr>
        <p:spPr>
          <a:xfrm>
            <a:off x="7281695" y="2330864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4" name="Google Shape;10594;p422"/>
          <p:cNvCxnSpPr>
            <a:stCxn id="10571" idx="5"/>
            <a:endCxn id="10580" idx="1"/>
          </p:cNvCxnSpPr>
          <p:nvPr/>
        </p:nvCxnSpPr>
        <p:spPr>
          <a:xfrm>
            <a:off x="7387337" y="2287238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5" name="Google Shape;10595;p422"/>
          <p:cNvCxnSpPr>
            <a:stCxn id="10572" idx="3"/>
            <a:endCxn id="10577" idx="1"/>
          </p:cNvCxnSpPr>
          <p:nvPr/>
        </p:nvCxnSpPr>
        <p:spPr>
          <a:xfrm>
            <a:off x="7580443" y="2683859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6" name="Google Shape;10596;p422"/>
          <p:cNvCxnSpPr>
            <a:stCxn id="10581" idx="3"/>
            <a:endCxn id="10577" idx="3"/>
          </p:cNvCxnSpPr>
          <p:nvPr/>
        </p:nvCxnSpPr>
        <p:spPr>
          <a:xfrm flipH="1">
            <a:off x="8147355" y="2215365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7" name="Google Shape;10597;p422"/>
          <p:cNvCxnSpPr>
            <a:stCxn id="10582" idx="6"/>
            <a:endCxn id="10589" idx="3"/>
          </p:cNvCxnSpPr>
          <p:nvPr/>
        </p:nvCxnSpPr>
        <p:spPr>
          <a:xfrm>
            <a:off x="8200192" y="3538913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8" name="Google Shape;10598;p422"/>
          <p:cNvCxnSpPr>
            <a:stCxn id="10582" idx="5"/>
            <a:endCxn id="10585" idx="1"/>
          </p:cNvCxnSpPr>
          <p:nvPr/>
        </p:nvCxnSpPr>
        <p:spPr>
          <a:xfrm>
            <a:off x="8156434" y="3644236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599" name="Google Shape;10599;p422"/>
          <p:cNvCxnSpPr>
            <a:stCxn id="10589" idx="3"/>
            <a:endCxn id="10584" idx="7"/>
          </p:cNvCxnSpPr>
          <p:nvPr/>
        </p:nvCxnSpPr>
        <p:spPr>
          <a:xfrm flipH="1">
            <a:off x="7686057" y="3585986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00" name="Google Shape;10600;p422"/>
          <p:cNvSpPr txBox="1"/>
          <p:nvPr/>
        </p:nvSpPr>
        <p:spPr>
          <a:xfrm>
            <a:off x="734725" y="466462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0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601" name="Google Shape;10601;p422"/>
          <p:cNvSpPr txBox="1"/>
          <p:nvPr/>
        </p:nvSpPr>
        <p:spPr>
          <a:xfrm>
            <a:off x="3064250" y="4685100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1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0602" name="Google Shape;10602;p422"/>
          <p:cNvCxnSpPr>
            <a:stCxn id="10572" idx="2"/>
            <a:endCxn id="10583" idx="0"/>
          </p:cNvCxnSpPr>
          <p:nvPr/>
        </p:nvCxnSpPr>
        <p:spPr>
          <a:xfrm flipH="1">
            <a:off x="7281643" y="2832809"/>
            <a:ext cx="149400" cy="642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03" name="Google Shape;10603;p422"/>
          <p:cNvCxnSpPr>
            <a:stCxn id="10577" idx="2"/>
            <a:endCxn id="10582" idx="0"/>
          </p:cNvCxnSpPr>
          <p:nvPr/>
        </p:nvCxnSpPr>
        <p:spPr>
          <a:xfrm>
            <a:off x="7997893" y="2907216"/>
            <a:ext cx="52800" cy="48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04" name="Google Shape;10604;p422"/>
          <p:cNvSpPr txBox="1"/>
          <p:nvPr/>
        </p:nvSpPr>
        <p:spPr>
          <a:xfrm>
            <a:off x="5296850" y="472957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2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0605" name="Google Shape;10605;p422"/>
          <p:cNvCxnSpPr>
            <a:stCxn id="10580" idx="2"/>
            <a:endCxn id="10589" idx="0"/>
          </p:cNvCxnSpPr>
          <p:nvPr/>
        </p:nvCxnSpPr>
        <p:spPr>
          <a:xfrm>
            <a:off x="8648697" y="2798914"/>
            <a:ext cx="0" cy="52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06" name="Google Shape;10606;p422"/>
          <p:cNvSpPr txBox="1"/>
          <p:nvPr/>
        </p:nvSpPr>
        <p:spPr>
          <a:xfrm>
            <a:off x="5055200" y="2979900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607" name="Google Shape;10607;p422"/>
          <p:cNvSpPr txBox="1"/>
          <p:nvPr/>
        </p:nvSpPr>
        <p:spPr>
          <a:xfrm>
            <a:off x="2977725" y="2996863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608" name="Google Shape;10608;p42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12" name="Shape 10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3" name="Google Shape;10613;p423"/>
          <p:cNvSpPr/>
          <p:nvPr/>
        </p:nvSpPr>
        <p:spPr>
          <a:xfrm>
            <a:off x="878548" y="11813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614" name="Google Shape;10614;p423"/>
          <p:cNvSpPr/>
          <p:nvPr/>
        </p:nvSpPr>
        <p:spPr>
          <a:xfrm>
            <a:off x="1379915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615" name="Google Shape;10615;p423"/>
          <p:cNvSpPr/>
          <p:nvPr/>
        </p:nvSpPr>
        <p:spPr>
          <a:xfrm>
            <a:off x="311688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616" name="Google Shape;10616;p423"/>
          <p:cNvSpPr/>
          <p:nvPr/>
        </p:nvSpPr>
        <p:spPr>
          <a:xfrm>
            <a:off x="878548" y="18628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617" name="Google Shape;10617;p423"/>
          <p:cNvSpPr/>
          <p:nvPr/>
        </p:nvSpPr>
        <p:spPr>
          <a:xfrm>
            <a:off x="311688" y="206712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618" name="Google Shape;10618;p423"/>
          <p:cNvSpPr/>
          <p:nvPr/>
        </p:nvSpPr>
        <p:spPr>
          <a:xfrm>
            <a:off x="461035" y="256907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619" name="Google Shape;10619;p423"/>
          <p:cNvCxnSpPr>
            <a:endCxn id="10615" idx="7"/>
          </p:cNvCxnSpPr>
          <p:nvPr/>
        </p:nvCxnSpPr>
        <p:spPr>
          <a:xfrm flipH="1">
            <a:off x="566729" y="1435709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20" name="Google Shape;10620;p423"/>
          <p:cNvCxnSpPr>
            <a:stCxn id="10617" idx="0"/>
            <a:endCxn id="10615" idx="4"/>
          </p:cNvCxnSpPr>
          <p:nvPr/>
        </p:nvCxnSpPr>
        <p:spPr>
          <a:xfrm rot="10800000">
            <a:off x="461088" y="1863128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21" name="Google Shape;10621;p423"/>
          <p:cNvCxnSpPr>
            <a:stCxn id="10614" idx="1"/>
            <a:endCxn id="10613" idx="5"/>
          </p:cNvCxnSpPr>
          <p:nvPr/>
        </p:nvCxnSpPr>
        <p:spPr>
          <a:xfrm rot="10800000">
            <a:off x="1133573" y="1435709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22" name="Google Shape;10622;p423"/>
          <p:cNvCxnSpPr>
            <a:stCxn id="10623" idx="1"/>
            <a:endCxn id="10615" idx="5"/>
          </p:cNvCxnSpPr>
          <p:nvPr/>
        </p:nvCxnSpPr>
        <p:spPr>
          <a:xfrm rot="10800000">
            <a:off x="566743" y="1819506"/>
            <a:ext cx="504900" cy="867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24" name="Google Shape;10624;p423"/>
          <p:cNvCxnSpPr>
            <a:stCxn id="10616" idx="0"/>
            <a:endCxn id="10613" idx="4"/>
          </p:cNvCxnSpPr>
          <p:nvPr/>
        </p:nvCxnSpPr>
        <p:spPr>
          <a:xfrm rot="10800000">
            <a:off x="1027948" y="1479154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25" name="Google Shape;10625;p423"/>
          <p:cNvCxnSpPr>
            <a:stCxn id="10616" idx="5"/>
            <a:endCxn id="10626" idx="1"/>
          </p:cNvCxnSpPr>
          <p:nvPr/>
        </p:nvCxnSpPr>
        <p:spPr>
          <a:xfrm>
            <a:off x="1133589" y="2117127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27" name="Google Shape;10627;p423"/>
          <p:cNvSpPr/>
          <p:nvPr/>
        </p:nvSpPr>
        <p:spPr>
          <a:xfrm>
            <a:off x="1678689" y="19952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626" name="Google Shape;10626;p423"/>
          <p:cNvSpPr/>
          <p:nvPr/>
        </p:nvSpPr>
        <p:spPr>
          <a:xfrm>
            <a:off x="1678689" y="253517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623" name="Google Shape;10623;p423"/>
          <p:cNvSpPr/>
          <p:nvPr/>
        </p:nvSpPr>
        <p:spPr>
          <a:xfrm>
            <a:off x="1027885" y="26434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sp>
        <p:nvSpPr>
          <p:cNvPr id="10628" name="Google Shape;10628;p423"/>
          <p:cNvSpPr/>
          <p:nvPr/>
        </p:nvSpPr>
        <p:spPr>
          <a:xfrm>
            <a:off x="1080784" y="342412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629" name="Google Shape;10629;p423"/>
          <p:cNvSpPr/>
          <p:nvPr/>
        </p:nvSpPr>
        <p:spPr>
          <a:xfrm>
            <a:off x="311688" y="350929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630" name="Google Shape;10630;p423"/>
          <p:cNvSpPr/>
          <p:nvPr/>
        </p:nvSpPr>
        <p:spPr>
          <a:xfrm>
            <a:off x="610422" y="41738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631" name="Google Shape;10631;p423"/>
          <p:cNvSpPr/>
          <p:nvPr/>
        </p:nvSpPr>
        <p:spPr>
          <a:xfrm>
            <a:off x="1678447" y="401308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632" name="Google Shape;10632;p423"/>
          <p:cNvCxnSpPr>
            <a:stCxn id="10630" idx="2"/>
            <a:endCxn id="10629" idx="5"/>
          </p:cNvCxnSpPr>
          <p:nvPr/>
        </p:nvCxnSpPr>
        <p:spPr>
          <a:xfrm rot="10800000">
            <a:off x="566622" y="3763633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33" name="Google Shape;10633;p423"/>
          <p:cNvCxnSpPr>
            <a:stCxn id="10628" idx="2"/>
            <a:endCxn id="10629" idx="6"/>
          </p:cNvCxnSpPr>
          <p:nvPr/>
        </p:nvCxnSpPr>
        <p:spPr>
          <a:xfrm flipH="1">
            <a:off x="610384" y="3573076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34" name="Google Shape;10634;p423"/>
          <p:cNvCxnSpPr>
            <a:stCxn id="10630" idx="6"/>
            <a:endCxn id="10631" idx="3"/>
          </p:cNvCxnSpPr>
          <p:nvPr/>
        </p:nvCxnSpPr>
        <p:spPr>
          <a:xfrm flipH="1" rot="10800000">
            <a:off x="909222" y="4271833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35" name="Google Shape;10635;p423"/>
          <p:cNvCxnSpPr>
            <a:stCxn id="10636" idx="4"/>
            <a:endCxn id="10631" idx="0"/>
          </p:cNvCxnSpPr>
          <p:nvPr/>
        </p:nvCxnSpPr>
        <p:spPr>
          <a:xfrm>
            <a:off x="1827997" y="3664522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36" name="Google Shape;10636;p423"/>
          <p:cNvSpPr/>
          <p:nvPr/>
        </p:nvSpPr>
        <p:spPr>
          <a:xfrm>
            <a:off x="1678447" y="336152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637" name="Google Shape;10637;p423"/>
          <p:cNvCxnSpPr>
            <a:stCxn id="10616" idx="3"/>
            <a:endCxn id="10618" idx="7"/>
          </p:cNvCxnSpPr>
          <p:nvPr/>
        </p:nvCxnSpPr>
        <p:spPr>
          <a:xfrm flipH="1">
            <a:off x="716206" y="2117127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38" name="Google Shape;10638;p423"/>
          <p:cNvCxnSpPr>
            <a:stCxn id="10614" idx="4"/>
            <a:endCxn id="10627" idx="1"/>
          </p:cNvCxnSpPr>
          <p:nvPr/>
        </p:nvCxnSpPr>
        <p:spPr>
          <a:xfrm>
            <a:off x="1529315" y="1863083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39" name="Google Shape;10639;p423"/>
          <p:cNvCxnSpPr>
            <a:stCxn id="10614" idx="4"/>
            <a:endCxn id="10623" idx="0"/>
          </p:cNvCxnSpPr>
          <p:nvPr/>
        </p:nvCxnSpPr>
        <p:spPr>
          <a:xfrm flipH="1">
            <a:off x="1177415" y="1863083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40" name="Google Shape;10640;p423"/>
          <p:cNvCxnSpPr>
            <a:stCxn id="10617" idx="4"/>
            <a:endCxn id="10618" idx="0"/>
          </p:cNvCxnSpPr>
          <p:nvPr/>
        </p:nvCxnSpPr>
        <p:spPr>
          <a:xfrm>
            <a:off x="461088" y="2365028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41" name="Google Shape;10641;p423"/>
          <p:cNvCxnSpPr>
            <a:stCxn id="10617" idx="5"/>
            <a:endCxn id="10626" idx="2"/>
          </p:cNvCxnSpPr>
          <p:nvPr/>
        </p:nvCxnSpPr>
        <p:spPr>
          <a:xfrm>
            <a:off x="566729" y="2321401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42" name="Google Shape;10642;p423"/>
          <p:cNvCxnSpPr>
            <a:stCxn id="10618" idx="6"/>
            <a:endCxn id="10623" idx="2"/>
          </p:cNvCxnSpPr>
          <p:nvPr/>
        </p:nvCxnSpPr>
        <p:spPr>
          <a:xfrm>
            <a:off x="759835" y="2718022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43" name="Google Shape;10643;p423"/>
          <p:cNvCxnSpPr>
            <a:stCxn id="10627" idx="3"/>
            <a:endCxn id="10623" idx="6"/>
          </p:cNvCxnSpPr>
          <p:nvPr/>
        </p:nvCxnSpPr>
        <p:spPr>
          <a:xfrm flipH="1">
            <a:off x="1326747" y="2249528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44" name="Google Shape;10644;p423"/>
          <p:cNvCxnSpPr>
            <a:stCxn id="10627" idx="4"/>
            <a:endCxn id="10626" idx="0"/>
          </p:cNvCxnSpPr>
          <p:nvPr/>
        </p:nvCxnSpPr>
        <p:spPr>
          <a:xfrm>
            <a:off x="1828089" y="2293154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45" name="Google Shape;10645;p423"/>
          <p:cNvCxnSpPr>
            <a:stCxn id="10628" idx="6"/>
            <a:endCxn id="10636" idx="3"/>
          </p:cNvCxnSpPr>
          <p:nvPr/>
        </p:nvCxnSpPr>
        <p:spPr>
          <a:xfrm>
            <a:off x="1379584" y="3573076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46" name="Google Shape;10646;p423"/>
          <p:cNvCxnSpPr>
            <a:stCxn id="10628" idx="5"/>
            <a:endCxn id="10631" idx="1"/>
          </p:cNvCxnSpPr>
          <p:nvPr/>
        </p:nvCxnSpPr>
        <p:spPr>
          <a:xfrm>
            <a:off x="1335826" y="3678399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47" name="Google Shape;10647;p423"/>
          <p:cNvCxnSpPr>
            <a:stCxn id="10636" idx="3"/>
            <a:endCxn id="10630" idx="7"/>
          </p:cNvCxnSpPr>
          <p:nvPr/>
        </p:nvCxnSpPr>
        <p:spPr>
          <a:xfrm flipH="1">
            <a:off x="865450" y="3620149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48" name="Google Shape;10648;p423"/>
          <p:cNvSpPr/>
          <p:nvPr/>
        </p:nvSpPr>
        <p:spPr>
          <a:xfrm>
            <a:off x="5440655" y="120184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649" name="Google Shape;10649;p423"/>
          <p:cNvSpPr/>
          <p:nvPr/>
        </p:nvSpPr>
        <p:spPr>
          <a:xfrm>
            <a:off x="5942022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650" name="Google Shape;10650;p423"/>
          <p:cNvSpPr/>
          <p:nvPr/>
        </p:nvSpPr>
        <p:spPr>
          <a:xfrm>
            <a:off x="4873795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651" name="Google Shape;10651;p423"/>
          <p:cNvSpPr/>
          <p:nvPr/>
        </p:nvSpPr>
        <p:spPr>
          <a:xfrm>
            <a:off x="5440655" y="188331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652" name="Google Shape;10652;p423"/>
          <p:cNvSpPr/>
          <p:nvPr/>
        </p:nvSpPr>
        <p:spPr>
          <a:xfrm>
            <a:off x="4873795" y="208758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cxnSp>
        <p:nvCxnSpPr>
          <p:cNvPr id="10653" name="Google Shape;10653;p423"/>
          <p:cNvCxnSpPr>
            <a:endCxn id="10650" idx="7"/>
          </p:cNvCxnSpPr>
          <p:nvPr/>
        </p:nvCxnSpPr>
        <p:spPr>
          <a:xfrm flipH="1">
            <a:off x="5128837" y="1456171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54" name="Google Shape;10654;p423"/>
          <p:cNvCxnSpPr>
            <a:stCxn id="10652" idx="0"/>
            <a:endCxn id="10650" idx="4"/>
          </p:cNvCxnSpPr>
          <p:nvPr/>
        </p:nvCxnSpPr>
        <p:spPr>
          <a:xfrm rot="10800000">
            <a:off x="5023195" y="1883589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55" name="Google Shape;10655;p423"/>
          <p:cNvCxnSpPr>
            <a:stCxn id="10649" idx="1"/>
            <a:endCxn id="10648" idx="5"/>
          </p:cNvCxnSpPr>
          <p:nvPr/>
        </p:nvCxnSpPr>
        <p:spPr>
          <a:xfrm rot="10800000">
            <a:off x="5695681" y="1456171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56" name="Google Shape;10656;p423"/>
          <p:cNvCxnSpPr>
            <a:stCxn id="10651" idx="0"/>
            <a:endCxn id="10648" idx="4"/>
          </p:cNvCxnSpPr>
          <p:nvPr/>
        </p:nvCxnSpPr>
        <p:spPr>
          <a:xfrm rot="10800000">
            <a:off x="5590055" y="1499615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57" name="Google Shape;10657;p423"/>
          <p:cNvCxnSpPr>
            <a:stCxn id="10651" idx="5"/>
            <a:endCxn id="10658" idx="1"/>
          </p:cNvCxnSpPr>
          <p:nvPr/>
        </p:nvCxnSpPr>
        <p:spPr>
          <a:xfrm>
            <a:off x="5695697" y="2137589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59" name="Google Shape;10659;p423"/>
          <p:cNvSpPr/>
          <p:nvPr/>
        </p:nvSpPr>
        <p:spPr>
          <a:xfrm>
            <a:off x="6240797" y="20157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658" name="Google Shape;10658;p423"/>
          <p:cNvSpPr/>
          <p:nvPr/>
        </p:nvSpPr>
        <p:spPr>
          <a:xfrm>
            <a:off x="6240797" y="255563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660" name="Google Shape;10660;p423"/>
          <p:cNvSpPr/>
          <p:nvPr/>
        </p:nvSpPr>
        <p:spPr>
          <a:xfrm>
            <a:off x="5642892" y="344458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661" name="Google Shape;10661;p423"/>
          <p:cNvSpPr/>
          <p:nvPr/>
        </p:nvSpPr>
        <p:spPr>
          <a:xfrm>
            <a:off x="4873795" y="352975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662" name="Google Shape;10662;p423"/>
          <p:cNvSpPr/>
          <p:nvPr/>
        </p:nvSpPr>
        <p:spPr>
          <a:xfrm>
            <a:off x="5172530" y="41943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663" name="Google Shape;10663;p423"/>
          <p:cNvSpPr/>
          <p:nvPr/>
        </p:nvSpPr>
        <p:spPr>
          <a:xfrm>
            <a:off x="6240555" y="403354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664" name="Google Shape;10664;p423"/>
          <p:cNvCxnSpPr>
            <a:stCxn id="10662" idx="2"/>
            <a:endCxn id="10661" idx="5"/>
          </p:cNvCxnSpPr>
          <p:nvPr/>
        </p:nvCxnSpPr>
        <p:spPr>
          <a:xfrm rot="10800000">
            <a:off x="5128730" y="3784095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65" name="Google Shape;10665;p423"/>
          <p:cNvCxnSpPr>
            <a:stCxn id="10660" idx="2"/>
            <a:endCxn id="10661" idx="6"/>
          </p:cNvCxnSpPr>
          <p:nvPr/>
        </p:nvCxnSpPr>
        <p:spPr>
          <a:xfrm flipH="1">
            <a:off x="5172492" y="3593538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66" name="Google Shape;10666;p423"/>
          <p:cNvCxnSpPr>
            <a:stCxn id="10662" idx="6"/>
            <a:endCxn id="10663" idx="3"/>
          </p:cNvCxnSpPr>
          <p:nvPr/>
        </p:nvCxnSpPr>
        <p:spPr>
          <a:xfrm flipH="1" rot="10800000">
            <a:off x="5471330" y="4292295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67" name="Google Shape;10667;p423"/>
          <p:cNvCxnSpPr>
            <a:stCxn id="10668" idx="4"/>
            <a:endCxn id="10663" idx="0"/>
          </p:cNvCxnSpPr>
          <p:nvPr/>
        </p:nvCxnSpPr>
        <p:spPr>
          <a:xfrm>
            <a:off x="6390105" y="3684984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68" name="Google Shape;10668;p423"/>
          <p:cNvSpPr/>
          <p:nvPr/>
        </p:nvSpPr>
        <p:spPr>
          <a:xfrm>
            <a:off x="6240555" y="338198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669" name="Google Shape;10669;p423"/>
          <p:cNvCxnSpPr>
            <a:stCxn id="10649" idx="4"/>
            <a:endCxn id="10659" idx="1"/>
          </p:cNvCxnSpPr>
          <p:nvPr/>
        </p:nvCxnSpPr>
        <p:spPr>
          <a:xfrm>
            <a:off x="6091422" y="1883545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70" name="Google Shape;10670;p423"/>
          <p:cNvCxnSpPr>
            <a:stCxn id="10652" idx="5"/>
            <a:endCxn id="10658" idx="2"/>
          </p:cNvCxnSpPr>
          <p:nvPr/>
        </p:nvCxnSpPr>
        <p:spPr>
          <a:xfrm>
            <a:off x="5128837" y="2341863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71" name="Google Shape;10671;p423"/>
          <p:cNvCxnSpPr>
            <a:stCxn id="10659" idx="4"/>
            <a:endCxn id="10658" idx="0"/>
          </p:cNvCxnSpPr>
          <p:nvPr/>
        </p:nvCxnSpPr>
        <p:spPr>
          <a:xfrm>
            <a:off x="6390197" y="2313616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72" name="Google Shape;10672;p423"/>
          <p:cNvCxnSpPr>
            <a:stCxn id="10660" idx="6"/>
            <a:endCxn id="10668" idx="3"/>
          </p:cNvCxnSpPr>
          <p:nvPr/>
        </p:nvCxnSpPr>
        <p:spPr>
          <a:xfrm>
            <a:off x="5941692" y="3593538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73" name="Google Shape;10673;p423"/>
          <p:cNvCxnSpPr>
            <a:stCxn id="10660" idx="5"/>
            <a:endCxn id="10663" idx="1"/>
          </p:cNvCxnSpPr>
          <p:nvPr/>
        </p:nvCxnSpPr>
        <p:spPr>
          <a:xfrm>
            <a:off x="5897934" y="3698861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74" name="Google Shape;10674;p423"/>
          <p:cNvCxnSpPr>
            <a:stCxn id="10668" idx="3"/>
            <a:endCxn id="10662" idx="7"/>
          </p:cNvCxnSpPr>
          <p:nvPr/>
        </p:nvCxnSpPr>
        <p:spPr>
          <a:xfrm flipH="1">
            <a:off x="5427557" y="3640611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75" name="Google Shape;10675;p423"/>
          <p:cNvSpPr/>
          <p:nvPr/>
        </p:nvSpPr>
        <p:spPr>
          <a:xfrm>
            <a:off x="3208059" y="12018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676" name="Google Shape;10676;p423"/>
          <p:cNvSpPr/>
          <p:nvPr/>
        </p:nvSpPr>
        <p:spPr>
          <a:xfrm>
            <a:off x="3709426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677" name="Google Shape;10677;p423"/>
          <p:cNvSpPr/>
          <p:nvPr/>
        </p:nvSpPr>
        <p:spPr>
          <a:xfrm>
            <a:off x="2641199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678" name="Google Shape;10678;p423"/>
          <p:cNvSpPr/>
          <p:nvPr/>
        </p:nvSpPr>
        <p:spPr>
          <a:xfrm>
            <a:off x="3208059" y="18833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679" name="Google Shape;10679;p423"/>
          <p:cNvSpPr/>
          <p:nvPr/>
        </p:nvSpPr>
        <p:spPr>
          <a:xfrm>
            <a:off x="2641199" y="208759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680" name="Google Shape;10680;p423"/>
          <p:cNvSpPr/>
          <p:nvPr/>
        </p:nvSpPr>
        <p:spPr>
          <a:xfrm>
            <a:off x="2790547" y="258953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681" name="Google Shape;10681;p423"/>
          <p:cNvCxnSpPr>
            <a:endCxn id="10677" idx="7"/>
          </p:cNvCxnSpPr>
          <p:nvPr/>
        </p:nvCxnSpPr>
        <p:spPr>
          <a:xfrm flipH="1">
            <a:off x="2896241" y="1456175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82" name="Google Shape;10682;p423"/>
          <p:cNvCxnSpPr>
            <a:stCxn id="10679" idx="0"/>
            <a:endCxn id="10677" idx="4"/>
          </p:cNvCxnSpPr>
          <p:nvPr/>
        </p:nvCxnSpPr>
        <p:spPr>
          <a:xfrm rot="10800000">
            <a:off x="2790599" y="1883593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83" name="Google Shape;10683;p423"/>
          <p:cNvCxnSpPr>
            <a:stCxn id="10676" idx="1"/>
            <a:endCxn id="10675" idx="5"/>
          </p:cNvCxnSpPr>
          <p:nvPr/>
        </p:nvCxnSpPr>
        <p:spPr>
          <a:xfrm rot="10800000">
            <a:off x="3463085" y="1456175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84" name="Google Shape;10684;p423"/>
          <p:cNvCxnSpPr>
            <a:stCxn id="10678" idx="0"/>
            <a:endCxn id="10675" idx="4"/>
          </p:cNvCxnSpPr>
          <p:nvPr/>
        </p:nvCxnSpPr>
        <p:spPr>
          <a:xfrm rot="10800000">
            <a:off x="3357459" y="1499619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85" name="Google Shape;10685;p423"/>
          <p:cNvCxnSpPr>
            <a:stCxn id="10678" idx="5"/>
            <a:endCxn id="10686" idx="1"/>
          </p:cNvCxnSpPr>
          <p:nvPr/>
        </p:nvCxnSpPr>
        <p:spPr>
          <a:xfrm>
            <a:off x="3463101" y="2137592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87" name="Google Shape;10687;p423"/>
          <p:cNvSpPr/>
          <p:nvPr/>
        </p:nvSpPr>
        <p:spPr>
          <a:xfrm>
            <a:off x="4008201" y="20157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686" name="Google Shape;10686;p423"/>
          <p:cNvSpPr/>
          <p:nvPr/>
        </p:nvSpPr>
        <p:spPr>
          <a:xfrm>
            <a:off x="4008201" y="255564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688" name="Google Shape;10688;p423"/>
          <p:cNvSpPr/>
          <p:nvPr/>
        </p:nvSpPr>
        <p:spPr>
          <a:xfrm>
            <a:off x="3410296" y="34445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689" name="Google Shape;10689;p423"/>
          <p:cNvSpPr/>
          <p:nvPr/>
        </p:nvSpPr>
        <p:spPr>
          <a:xfrm>
            <a:off x="2641199" y="352976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690" name="Google Shape;10690;p423"/>
          <p:cNvSpPr/>
          <p:nvPr/>
        </p:nvSpPr>
        <p:spPr>
          <a:xfrm>
            <a:off x="2939934" y="41943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691" name="Google Shape;10691;p423"/>
          <p:cNvSpPr/>
          <p:nvPr/>
        </p:nvSpPr>
        <p:spPr>
          <a:xfrm>
            <a:off x="4007959" y="4033547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692" name="Google Shape;10692;p423"/>
          <p:cNvCxnSpPr>
            <a:stCxn id="10690" idx="2"/>
            <a:endCxn id="10689" idx="5"/>
          </p:cNvCxnSpPr>
          <p:nvPr/>
        </p:nvCxnSpPr>
        <p:spPr>
          <a:xfrm rot="10800000">
            <a:off x="2896134" y="3784098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93" name="Google Shape;10693;p423"/>
          <p:cNvCxnSpPr>
            <a:stCxn id="10688" idx="2"/>
            <a:endCxn id="10689" idx="6"/>
          </p:cNvCxnSpPr>
          <p:nvPr/>
        </p:nvCxnSpPr>
        <p:spPr>
          <a:xfrm flipH="1">
            <a:off x="2939896" y="3593541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94" name="Google Shape;10694;p423"/>
          <p:cNvCxnSpPr>
            <a:stCxn id="10690" idx="6"/>
            <a:endCxn id="10691" idx="3"/>
          </p:cNvCxnSpPr>
          <p:nvPr/>
        </p:nvCxnSpPr>
        <p:spPr>
          <a:xfrm flipH="1" rot="10800000">
            <a:off x="3238734" y="4292298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95" name="Google Shape;10695;p423"/>
          <p:cNvCxnSpPr>
            <a:stCxn id="10696" idx="4"/>
            <a:endCxn id="10691" idx="0"/>
          </p:cNvCxnSpPr>
          <p:nvPr/>
        </p:nvCxnSpPr>
        <p:spPr>
          <a:xfrm>
            <a:off x="4157509" y="3684988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96" name="Google Shape;10696;p423"/>
          <p:cNvSpPr/>
          <p:nvPr/>
        </p:nvSpPr>
        <p:spPr>
          <a:xfrm>
            <a:off x="4007959" y="3381988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697" name="Google Shape;10697;p423"/>
          <p:cNvCxnSpPr>
            <a:stCxn id="10678" idx="3"/>
            <a:endCxn id="10680" idx="7"/>
          </p:cNvCxnSpPr>
          <p:nvPr/>
        </p:nvCxnSpPr>
        <p:spPr>
          <a:xfrm flipH="1">
            <a:off x="3045718" y="2137592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98" name="Google Shape;10698;p423"/>
          <p:cNvCxnSpPr>
            <a:stCxn id="10676" idx="4"/>
            <a:endCxn id="10687" idx="1"/>
          </p:cNvCxnSpPr>
          <p:nvPr/>
        </p:nvCxnSpPr>
        <p:spPr>
          <a:xfrm>
            <a:off x="3858826" y="1883548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99" name="Google Shape;10699;p423"/>
          <p:cNvCxnSpPr>
            <a:stCxn id="10679" idx="4"/>
            <a:endCxn id="10680" idx="0"/>
          </p:cNvCxnSpPr>
          <p:nvPr/>
        </p:nvCxnSpPr>
        <p:spPr>
          <a:xfrm>
            <a:off x="2790599" y="2385493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00" name="Google Shape;10700;p423"/>
          <p:cNvCxnSpPr>
            <a:stCxn id="10679" idx="5"/>
            <a:endCxn id="10686" idx="2"/>
          </p:cNvCxnSpPr>
          <p:nvPr/>
        </p:nvCxnSpPr>
        <p:spPr>
          <a:xfrm>
            <a:off x="2896241" y="2341866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01" name="Google Shape;10701;p423"/>
          <p:cNvCxnSpPr>
            <a:stCxn id="10687" idx="4"/>
            <a:endCxn id="10686" idx="0"/>
          </p:cNvCxnSpPr>
          <p:nvPr/>
        </p:nvCxnSpPr>
        <p:spPr>
          <a:xfrm>
            <a:off x="4157601" y="2313619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02" name="Google Shape;10702;p423"/>
          <p:cNvCxnSpPr>
            <a:stCxn id="10688" idx="6"/>
            <a:endCxn id="10696" idx="3"/>
          </p:cNvCxnSpPr>
          <p:nvPr/>
        </p:nvCxnSpPr>
        <p:spPr>
          <a:xfrm>
            <a:off x="3709096" y="3593541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03" name="Google Shape;10703;p423"/>
          <p:cNvCxnSpPr>
            <a:stCxn id="10688" idx="5"/>
            <a:endCxn id="10691" idx="1"/>
          </p:cNvCxnSpPr>
          <p:nvPr/>
        </p:nvCxnSpPr>
        <p:spPr>
          <a:xfrm>
            <a:off x="3665338" y="3698865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04" name="Google Shape;10704;p423"/>
          <p:cNvCxnSpPr>
            <a:stCxn id="10696" idx="3"/>
            <a:endCxn id="10690" idx="7"/>
          </p:cNvCxnSpPr>
          <p:nvPr/>
        </p:nvCxnSpPr>
        <p:spPr>
          <a:xfrm flipH="1">
            <a:off x="3194961" y="3640614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05" name="Google Shape;10705;p423"/>
          <p:cNvSpPr/>
          <p:nvPr/>
        </p:nvSpPr>
        <p:spPr>
          <a:xfrm>
            <a:off x="7699155" y="11472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706" name="Google Shape;10706;p423"/>
          <p:cNvSpPr/>
          <p:nvPr/>
        </p:nvSpPr>
        <p:spPr>
          <a:xfrm>
            <a:off x="8200522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707" name="Google Shape;10707;p423"/>
          <p:cNvSpPr/>
          <p:nvPr/>
        </p:nvSpPr>
        <p:spPr>
          <a:xfrm>
            <a:off x="7132295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708" name="Google Shape;10708;p423"/>
          <p:cNvSpPr/>
          <p:nvPr/>
        </p:nvSpPr>
        <p:spPr>
          <a:xfrm>
            <a:off x="7699155" y="182869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709" name="Google Shape;10709;p423"/>
          <p:cNvSpPr/>
          <p:nvPr/>
        </p:nvSpPr>
        <p:spPr>
          <a:xfrm>
            <a:off x="7132295" y="203296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cxnSp>
        <p:nvCxnSpPr>
          <p:cNvPr id="10710" name="Google Shape;10710;p423"/>
          <p:cNvCxnSpPr>
            <a:endCxn id="10707" idx="7"/>
          </p:cNvCxnSpPr>
          <p:nvPr/>
        </p:nvCxnSpPr>
        <p:spPr>
          <a:xfrm flipH="1">
            <a:off x="7387337" y="1401546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11" name="Google Shape;10711;p423"/>
          <p:cNvCxnSpPr>
            <a:stCxn id="10709" idx="0"/>
            <a:endCxn id="10707" idx="4"/>
          </p:cNvCxnSpPr>
          <p:nvPr/>
        </p:nvCxnSpPr>
        <p:spPr>
          <a:xfrm rot="10800000">
            <a:off x="7281695" y="1828964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12" name="Google Shape;10712;p423"/>
          <p:cNvCxnSpPr>
            <a:stCxn id="10706" idx="1"/>
            <a:endCxn id="10705" idx="5"/>
          </p:cNvCxnSpPr>
          <p:nvPr/>
        </p:nvCxnSpPr>
        <p:spPr>
          <a:xfrm rot="10800000">
            <a:off x="7954181" y="1401546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13" name="Google Shape;10713;p423"/>
          <p:cNvCxnSpPr>
            <a:stCxn id="10708" idx="0"/>
            <a:endCxn id="10705" idx="4"/>
          </p:cNvCxnSpPr>
          <p:nvPr/>
        </p:nvCxnSpPr>
        <p:spPr>
          <a:xfrm rot="10800000">
            <a:off x="7848555" y="1444990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14" name="Google Shape;10714;p423"/>
          <p:cNvCxnSpPr>
            <a:stCxn id="10708" idx="5"/>
            <a:endCxn id="10715" idx="1"/>
          </p:cNvCxnSpPr>
          <p:nvPr/>
        </p:nvCxnSpPr>
        <p:spPr>
          <a:xfrm>
            <a:off x="7954197" y="2082964"/>
            <a:ext cx="545100" cy="567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16" name="Google Shape;10716;p423"/>
          <p:cNvSpPr/>
          <p:nvPr/>
        </p:nvSpPr>
        <p:spPr>
          <a:xfrm>
            <a:off x="8499297" y="19610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715" name="Google Shape;10715;p423"/>
          <p:cNvSpPr/>
          <p:nvPr/>
        </p:nvSpPr>
        <p:spPr>
          <a:xfrm>
            <a:off x="8499297" y="2501014"/>
            <a:ext cx="298800" cy="297900"/>
          </a:xfrm>
          <a:prstGeom prst="rect">
            <a:avLst/>
          </a:prstGeom>
          <a:solidFill>
            <a:srgbClr val="0000FF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9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717" name="Google Shape;10717;p423"/>
          <p:cNvSpPr/>
          <p:nvPr/>
        </p:nvSpPr>
        <p:spPr>
          <a:xfrm>
            <a:off x="7901392" y="338996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718" name="Google Shape;10718;p423"/>
          <p:cNvSpPr/>
          <p:nvPr/>
        </p:nvSpPr>
        <p:spPr>
          <a:xfrm>
            <a:off x="7132295" y="347513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719" name="Google Shape;10719;p423"/>
          <p:cNvSpPr/>
          <p:nvPr/>
        </p:nvSpPr>
        <p:spPr>
          <a:xfrm>
            <a:off x="7431030" y="41397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720" name="Google Shape;10720;p423"/>
          <p:cNvSpPr/>
          <p:nvPr/>
        </p:nvSpPr>
        <p:spPr>
          <a:xfrm>
            <a:off x="8499055" y="397891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721" name="Google Shape;10721;p423"/>
          <p:cNvCxnSpPr>
            <a:stCxn id="10719" idx="2"/>
            <a:endCxn id="10718" idx="5"/>
          </p:cNvCxnSpPr>
          <p:nvPr/>
        </p:nvCxnSpPr>
        <p:spPr>
          <a:xfrm rot="10800000">
            <a:off x="7387230" y="3729470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22" name="Google Shape;10722;p423"/>
          <p:cNvCxnSpPr>
            <a:stCxn id="10717" idx="2"/>
            <a:endCxn id="10718" idx="6"/>
          </p:cNvCxnSpPr>
          <p:nvPr/>
        </p:nvCxnSpPr>
        <p:spPr>
          <a:xfrm flipH="1">
            <a:off x="7430992" y="3538913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23" name="Google Shape;10723;p423"/>
          <p:cNvCxnSpPr>
            <a:stCxn id="10719" idx="6"/>
            <a:endCxn id="10720" idx="3"/>
          </p:cNvCxnSpPr>
          <p:nvPr/>
        </p:nvCxnSpPr>
        <p:spPr>
          <a:xfrm flipH="1" rot="10800000">
            <a:off x="7729830" y="4237670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24" name="Google Shape;10724;p423"/>
          <p:cNvSpPr/>
          <p:nvPr/>
        </p:nvSpPr>
        <p:spPr>
          <a:xfrm>
            <a:off x="8499055" y="332735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725" name="Google Shape;10725;p423"/>
          <p:cNvCxnSpPr>
            <a:stCxn id="10706" idx="4"/>
            <a:endCxn id="10716" idx="1"/>
          </p:cNvCxnSpPr>
          <p:nvPr/>
        </p:nvCxnSpPr>
        <p:spPr>
          <a:xfrm>
            <a:off x="8349922" y="1828920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26" name="Google Shape;10726;p423"/>
          <p:cNvCxnSpPr>
            <a:stCxn id="10717" idx="6"/>
            <a:endCxn id="10724" idx="3"/>
          </p:cNvCxnSpPr>
          <p:nvPr/>
        </p:nvCxnSpPr>
        <p:spPr>
          <a:xfrm>
            <a:off x="8200192" y="3538913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27" name="Google Shape;10727;p423"/>
          <p:cNvCxnSpPr>
            <a:stCxn id="10717" idx="5"/>
            <a:endCxn id="10720" idx="1"/>
          </p:cNvCxnSpPr>
          <p:nvPr/>
        </p:nvCxnSpPr>
        <p:spPr>
          <a:xfrm>
            <a:off x="8156434" y="3644236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28" name="Google Shape;10728;p423"/>
          <p:cNvCxnSpPr>
            <a:stCxn id="10724" idx="3"/>
            <a:endCxn id="10719" idx="7"/>
          </p:cNvCxnSpPr>
          <p:nvPr/>
        </p:nvCxnSpPr>
        <p:spPr>
          <a:xfrm flipH="1">
            <a:off x="7686057" y="3585986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29" name="Google Shape;10729;p423"/>
          <p:cNvSpPr txBox="1"/>
          <p:nvPr/>
        </p:nvSpPr>
        <p:spPr>
          <a:xfrm>
            <a:off x="734725" y="466462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0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730" name="Google Shape;10730;p423"/>
          <p:cNvSpPr txBox="1"/>
          <p:nvPr/>
        </p:nvSpPr>
        <p:spPr>
          <a:xfrm>
            <a:off x="3064250" y="4685100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1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731" name="Google Shape;10731;p423"/>
          <p:cNvSpPr txBox="1"/>
          <p:nvPr/>
        </p:nvSpPr>
        <p:spPr>
          <a:xfrm>
            <a:off x="5296850" y="472957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2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0732" name="Google Shape;10732;p423"/>
          <p:cNvCxnSpPr>
            <a:stCxn id="10715" idx="2"/>
            <a:endCxn id="10724" idx="0"/>
          </p:cNvCxnSpPr>
          <p:nvPr/>
        </p:nvCxnSpPr>
        <p:spPr>
          <a:xfrm>
            <a:off x="8648697" y="2798914"/>
            <a:ext cx="0" cy="52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33" name="Google Shape;10733;p423"/>
          <p:cNvSpPr txBox="1"/>
          <p:nvPr/>
        </p:nvSpPr>
        <p:spPr>
          <a:xfrm>
            <a:off x="2977725" y="2996863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734" name="Google Shape;10734;p423"/>
          <p:cNvSpPr txBox="1"/>
          <p:nvPr/>
        </p:nvSpPr>
        <p:spPr>
          <a:xfrm>
            <a:off x="5055200" y="2979900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735" name="Google Shape;10735;p423"/>
          <p:cNvSpPr txBox="1"/>
          <p:nvPr/>
        </p:nvSpPr>
        <p:spPr>
          <a:xfrm>
            <a:off x="7181050" y="2956588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Not yet!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736" name="Google Shape;10736;p42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40" name="Shape 10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1" name="Google Shape;10741;p424"/>
          <p:cNvSpPr/>
          <p:nvPr/>
        </p:nvSpPr>
        <p:spPr>
          <a:xfrm>
            <a:off x="878548" y="11813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742" name="Google Shape;10742;p424"/>
          <p:cNvSpPr/>
          <p:nvPr/>
        </p:nvSpPr>
        <p:spPr>
          <a:xfrm>
            <a:off x="1379915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743" name="Google Shape;10743;p424"/>
          <p:cNvSpPr/>
          <p:nvPr/>
        </p:nvSpPr>
        <p:spPr>
          <a:xfrm>
            <a:off x="311688" y="15651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744" name="Google Shape;10744;p424"/>
          <p:cNvSpPr/>
          <p:nvPr/>
        </p:nvSpPr>
        <p:spPr>
          <a:xfrm>
            <a:off x="878548" y="18628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745" name="Google Shape;10745;p424"/>
          <p:cNvSpPr/>
          <p:nvPr/>
        </p:nvSpPr>
        <p:spPr>
          <a:xfrm>
            <a:off x="311688" y="206712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746" name="Google Shape;10746;p424"/>
          <p:cNvSpPr/>
          <p:nvPr/>
        </p:nvSpPr>
        <p:spPr>
          <a:xfrm>
            <a:off x="461035" y="256907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747" name="Google Shape;10747;p424"/>
          <p:cNvCxnSpPr>
            <a:endCxn id="10743" idx="7"/>
          </p:cNvCxnSpPr>
          <p:nvPr/>
        </p:nvCxnSpPr>
        <p:spPr>
          <a:xfrm flipH="1">
            <a:off x="566729" y="1435709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48" name="Google Shape;10748;p424"/>
          <p:cNvCxnSpPr>
            <a:stCxn id="10745" idx="0"/>
            <a:endCxn id="10743" idx="4"/>
          </p:cNvCxnSpPr>
          <p:nvPr/>
        </p:nvCxnSpPr>
        <p:spPr>
          <a:xfrm rot="10800000">
            <a:off x="461088" y="1863128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49" name="Google Shape;10749;p424"/>
          <p:cNvCxnSpPr>
            <a:stCxn id="10742" idx="1"/>
            <a:endCxn id="10741" idx="5"/>
          </p:cNvCxnSpPr>
          <p:nvPr/>
        </p:nvCxnSpPr>
        <p:spPr>
          <a:xfrm rot="10800000">
            <a:off x="1133573" y="1435709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50" name="Google Shape;10750;p424"/>
          <p:cNvCxnSpPr>
            <a:stCxn id="10751" idx="1"/>
            <a:endCxn id="10743" idx="5"/>
          </p:cNvCxnSpPr>
          <p:nvPr/>
        </p:nvCxnSpPr>
        <p:spPr>
          <a:xfrm rot="10800000">
            <a:off x="566743" y="1819506"/>
            <a:ext cx="504900" cy="867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52" name="Google Shape;10752;p424"/>
          <p:cNvCxnSpPr>
            <a:stCxn id="10744" idx="0"/>
            <a:endCxn id="10741" idx="4"/>
          </p:cNvCxnSpPr>
          <p:nvPr/>
        </p:nvCxnSpPr>
        <p:spPr>
          <a:xfrm rot="10800000">
            <a:off x="1027948" y="1479154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53" name="Google Shape;10753;p424"/>
          <p:cNvCxnSpPr>
            <a:stCxn id="10744" idx="5"/>
            <a:endCxn id="10754" idx="1"/>
          </p:cNvCxnSpPr>
          <p:nvPr/>
        </p:nvCxnSpPr>
        <p:spPr>
          <a:xfrm>
            <a:off x="1133589" y="2117127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55" name="Google Shape;10755;p424"/>
          <p:cNvSpPr/>
          <p:nvPr/>
        </p:nvSpPr>
        <p:spPr>
          <a:xfrm>
            <a:off x="1678689" y="199525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754" name="Google Shape;10754;p424"/>
          <p:cNvSpPr/>
          <p:nvPr/>
        </p:nvSpPr>
        <p:spPr>
          <a:xfrm>
            <a:off x="1678689" y="253517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751" name="Google Shape;10751;p424"/>
          <p:cNvSpPr/>
          <p:nvPr/>
        </p:nvSpPr>
        <p:spPr>
          <a:xfrm>
            <a:off x="1027885" y="264347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sp>
        <p:nvSpPr>
          <p:cNvPr id="10756" name="Google Shape;10756;p424"/>
          <p:cNvSpPr/>
          <p:nvPr/>
        </p:nvSpPr>
        <p:spPr>
          <a:xfrm>
            <a:off x="1080784" y="342412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757" name="Google Shape;10757;p424"/>
          <p:cNvSpPr/>
          <p:nvPr/>
        </p:nvSpPr>
        <p:spPr>
          <a:xfrm>
            <a:off x="311688" y="350929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758" name="Google Shape;10758;p424"/>
          <p:cNvSpPr/>
          <p:nvPr/>
        </p:nvSpPr>
        <p:spPr>
          <a:xfrm>
            <a:off x="610422" y="417388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759" name="Google Shape;10759;p424"/>
          <p:cNvSpPr/>
          <p:nvPr/>
        </p:nvSpPr>
        <p:spPr>
          <a:xfrm>
            <a:off x="1678447" y="401308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760" name="Google Shape;10760;p424"/>
          <p:cNvCxnSpPr>
            <a:stCxn id="10758" idx="2"/>
            <a:endCxn id="10757" idx="5"/>
          </p:cNvCxnSpPr>
          <p:nvPr/>
        </p:nvCxnSpPr>
        <p:spPr>
          <a:xfrm rot="10800000">
            <a:off x="566622" y="3763633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61" name="Google Shape;10761;p424"/>
          <p:cNvCxnSpPr>
            <a:stCxn id="10756" idx="2"/>
            <a:endCxn id="10757" idx="6"/>
          </p:cNvCxnSpPr>
          <p:nvPr/>
        </p:nvCxnSpPr>
        <p:spPr>
          <a:xfrm flipH="1">
            <a:off x="610384" y="3573076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62" name="Google Shape;10762;p424"/>
          <p:cNvCxnSpPr>
            <a:stCxn id="10758" idx="6"/>
            <a:endCxn id="10759" idx="3"/>
          </p:cNvCxnSpPr>
          <p:nvPr/>
        </p:nvCxnSpPr>
        <p:spPr>
          <a:xfrm flipH="1" rot="10800000">
            <a:off x="909222" y="4271833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63" name="Google Shape;10763;p424"/>
          <p:cNvCxnSpPr>
            <a:stCxn id="10764" idx="4"/>
            <a:endCxn id="10759" idx="0"/>
          </p:cNvCxnSpPr>
          <p:nvPr/>
        </p:nvCxnSpPr>
        <p:spPr>
          <a:xfrm>
            <a:off x="1827997" y="3664522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64" name="Google Shape;10764;p424"/>
          <p:cNvSpPr/>
          <p:nvPr/>
        </p:nvSpPr>
        <p:spPr>
          <a:xfrm>
            <a:off x="1678447" y="3361522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765" name="Google Shape;10765;p424"/>
          <p:cNvCxnSpPr>
            <a:stCxn id="10744" idx="3"/>
            <a:endCxn id="10746" idx="7"/>
          </p:cNvCxnSpPr>
          <p:nvPr/>
        </p:nvCxnSpPr>
        <p:spPr>
          <a:xfrm flipH="1">
            <a:off x="716206" y="2117127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66" name="Google Shape;10766;p424"/>
          <p:cNvCxnSpPr>
            <a:stCxn id="10742" idx="4"/>
            <a:endCxn id="10755" idx="1"/>
          </p:cNvCxnSpPr>
          <p:nvPr/>
        </p:nvCxnSpPr>
        <p:spPr>
          <a:xfrm>
            <a:off x="1529315" y="1863083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67" name="Google Shape;10767;p424"/>
          <p:cNvCxnSpPr>
            <a:stCxn id="10742" idx="4"/>
            <a:endCxn id="10751" idx="0"/>
          </p:cNvCxnSpPr>
          <p:nvPr/>
        </p:nvCxnSpPr>
        <p:spPr>
          <a:xfrm flipH="1">
            <a:off x="1177415" y="1863083"/>
            <a:ext cx="351900" cy="7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68" name="Google Shape;10768;p424"/>
          <p:cNvCxnSpPr>
            <a:stCxn id="10745" idx="4"/>
            <a:endCxn id="10746" idx="0"/>
          </p:cNvCxnSpPr>
          <p:nvPr/>
        </p:nvCxnSpPr>
        <p:spPr>
          <a:xfrm>
            <a:off x="461088" y="2365028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69" name="Google Shape;10769;p424"/>
          <p:cNvCxnSpPr>
            <a:stCxn id="10745" idx="5"/>
            <a:endCxn id="10754" idx="2"/>
          </p:cNvCxnSpPr>
          <p:nvPr/>
        </p:nvCxnSpPr>
        <p:spPr>
          <a:xfrm>
            <a:off x="566729" y="2321401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70" name="Google Shape;10770;p424"/>
          <p:cNvCxnSpPr>
            <a:stCxn id="10746" idx="6"/>
            <a:endCxn id="10751" idx="2"/>
          </p:cNvCxnSpPr>
          <p:nvPr/>
        </p:nvCxnSpPr>
        <p:spPr>
          <a:xfrm>
            <a:off x="759835" y="2718022"/>
            <a:ext cx="268200" cy="74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71" name="Google Shape;10771;p424"/>
          <p:cNvCxnSpPr>
            <a:stCxn id="10755" idx="3"/>
            <a:endCxn id="10751" idx="6"/>
          </p:cNvCxnSpPr>
          <p:nvPr/>
        </p:nvCxnSpPr>
        <p:spPr>
          <a:xfrm flipH="1">
            <a:off x="1326747" y="2249528"/>
            <a:ext cx="395700" cy="54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72" name="Google Shape;10772;p424"/>
          <p:cNvCxnSpPr>
            <a:stCxn id="10755" idx="4"/>
            <a:endCxn id="10754" idx="0"/>
          </p:cNvCxnSpPr>
          <p:nvPr/>
        </p:nvCxnSpPr>
        <p:spPr>
          <a:xfrm>
            <a:off x="1828089" y="2293154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73" name="Google Shape;10773;p424"/>
          <p:cNvCxnSpPr>
            <a:stCxn id="10756" idx="6"/>
            <a:endCxn id="10764" idx="3"/>
          </p:cNvCxnSpPr>
          <p:nvPr/>
        </p:nvCxnSpPr>
        <p:spPr>
          <a:xfrm>
            <a:off x="1379584" y="3573076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74" name="Google Shape;10774;p424"/>
          <p:cNvCxnSpPr>
            <a:stCxn id="10756" idx="5"/>
            <a:endCxn id="10759" idx="1"/>
          </p:cNvCxnSpPr>
          <p:nvPr/>
        </p:nvCxnSpPr>
        <p:spPr>
          <a:xfrm>
            <a:off x="1335826" y="3678399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75" name="Google Shape;10775;p424"/>
          <p:cNvCxnSpPr>
            <a:stCxn id="10764" idx="3"/>
            <a:endCxn id="10758" idx="7"/>
          </p:cNvCxnSpPr>
          <p:nvPr/>
        </p:nvCxnSpPr>
        <p:spPr>
          <a:xfrm flipH="1">
            <a:off x="865450" y="3620149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76" name="Google Shape;10776;p424"/>
          <p:cNvSpPr/>
          <p:nvPr/>
        </p:nvSpPr>
        <p:spPr>
          <a:xfrm>
            <a:off x="5440655" y="120184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777" name="Google Shape;10777;p424"/>
          <p:cNvSpPr/>
          <p:nvPr/>
        </p:nvSpPr>
        <p:spPr>
          <a:xfrm>
            <a:off x="5942022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778" name="Google Shape;10778;p424"/>
          <p:cNvSpPr/>
          <p:nvPr/>
        </p:nvSpPr>
        <p:spPr>
          <a:xfrm>
            <a:off x="4873795" y="15856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779" name="Google Shape;10779;p424"/>
          <p:cNvSpPr/>
          <p:nvPr/>
        </p:nvSpPr>
        <p:spPr>
          <a:xfrm>
            <a:off x="5440655" y="188331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780" name="Google Shape;10780;p424"/>
          <p:cNvSpPr/>
          <p:nvPr/>
        </p:nvSpPr>
        <p:spPr>
          <a:xfrm>
            <a:off x="4873795" y="208758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cxnSp>
        <p:nvCxnSpPr>
          <p:cNvPr id="10781" name="Google Shape;10781;p424"/>
          <p:cNvCxnSpPr>
            <a:endCxn id="10778" idx="7"/>
          </p:cNvCxnSpPr>
          <p:nvPr/>
        </p:nvCxnSpPr>
        <p:spPr>
          <a:xfrm flipH="1">
            <a:off x="5128837" y="1456171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82" name="Google Shape;10782;p424"/>
          <p:cNvCxnSpPr>
            <a:stCxn id="10780" idx="0"/>
            <a:endCxn id="10778" idx="4"/>
          </p:cNvCxnSpPr>
          <p:nvPr/>
        </p:nvCxnSpPr>
        <p:spPr>
          <a:xfrm rot="10800000">
            <a:off x="5023195" y="1883589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83" name="Google Shape;10783;p424"/>
          <p:cNvCxnSpPr>
            <a:stCxn id="10777" idx="1"/>
            <a:endCxn id="10776" idx="5"/>
          </p:cNvCxnSpPr>
          <p:nvPr/>
        </p:nvCxnSpPr>
        <p:spPr>
          <a:xfrm rot="10800000">
            <a:off x="5695681" y="1456171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84" name="Google Shape;10784;p424"/>
          <p:cNvCxnSpPr>
            <a:stCxn id="10779" idx="0"/>
            <a:endCxn id="10776" idx="4"/>
          </p:cNvCxnSpPr>
          <p:nvPr/>
        </p:nvCxnSpPr>
        <p:spPr>
          <a:xfrm rot="10800000">
            <a:off x="5590055" y="1499615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85" name="Google Shape;10785;p424"/>
          <p:cNvCxnSpPr>
            <a:stCxn id="10779" idx="5"/>
            <a:endCxn id="10786" idx="1"/>
          </p:cNvCxnSpPr>
          <p:nvPr/>
        </p:nvCxnSpPr>
        <p:spPr>
          <a:xfrm>
            <a:off x="5695697" y="2137589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87" name="Google Shape;10787;p424"/>
          <p:cNvSpPr/>
          <p:nvPr/>
        </p:nvSpPr>
        <p:spPr>
          <a:xfrm>
            <a:off x="6240797" y="20157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786" name="Google Shape;10786;p424"/>
          <p:cNvSpPr/>
          <p:nvPr/>
        </p:nvSpPr>
        <p:spPr>
          <a:xfrm>
            <a:off x="6240797" y="255563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788" name="Google Shape;10788;p424"/>
          <p:cNvSpPr/>
          <p:nvPr/>
        </p:nvSpPr>
        <p:spPr>
          <a:xfrm>
            <a:off x="5642892" y="344458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789" name="Google Shape;10789;p424"/>
          <p:cNvSpPr/>
          <p:nvPr/>
        </p:nvSpPr>
        <p:spPr>
          <a:xfrm>
            <a:off x="4873795" y="352975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790" name="Google Shape;10790;p424"/>
          <p:cNvSpPr/>
          <p:nvPr/>
        </p:nvSpPr>
        <p:spPr>
          <a:xfrm>
            <a:off x="5172530" y="41943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791" name="Google Shape;10791;p424"/>
          <p:cNvSpPr/>
          <p:nvPr/>
        </p:nvSpPr>
        <p:spPr>
          <a:xfrm>
            <a:off x="6240555" y="403354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792" name="Google Shape;10792;p424"/>
          <p:cNvCxnSpPr>
            <a:stCxn id="10790" idx="2"/>
            <a:endCxn id="10789" idx="5"/>
          </p:cNvCxnSpPr>
          <p:nvPr/>
        </p:nvCxnSpPr>
        <p:spPr>
          <a:xfrm rot="10800000">
            <a:off x="5128730" y="3784095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93" name="Google Shape;10793;p424"/>
          <p:cNvCxnSpPr>
            <a:stCxn id="10788" idx="2"/>
            <a:endCxn id="10789" idx="6"/>
          </p:cNvCxnSpPr>
          <p:nvPr/>
        </p:nvCxnSpPr>
        <p:spPr>
          <a:xfrm flipH="1">
            <a:off x="5172492" y="3593538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94" name="Google Shape;10794;p424"/>
          <p:cNvCxnSpPr>
            <a:stCxn id="10790" idx="6"/>
            <a:endCxn id="10791" idx="3"/>
          </p:cNvCxnSpPr>
          <p:nvPr/>
        </p:nvCxnSpPr>
        <p:spPr>
          <a:xfrm flipH="1" rot="10800000">
            <a:off x="5471330" y="4292295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95" name="Google Shape;10795;p424"/>
          <p:cNvCxnSpPr>
            <a:stCxn id="10796" idx="4"/>
            <a:endCxn id="10791" idx="0"/>
          </p:cNvCxnSpPr>
          <p:nvPr/>
        </p:nvCxnSpPr>
        <p:spPr>
          <a:xfrm>
            <a:off x="6390105" y="3684984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96" name="Google Shape;10796;p424"/>
          <p:cNvSpPr/>
          <p:nvPr/>
        </p:nvSpPr>
        <p:spPr>
          <a:xfrm>
            <a:off x="6240555" y="3381984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797" name="Google Shape;10797;p424"/>
          <p:cNvCxnSpPr>
            <a:stCxn id="10777" idx="4"/>
            <a:endCxn id="10787" idx="1"/>
          </p:cNvCxnSpPr>
          <p:nvPr/>
        </p:nvCxnSpPr>
        <p:spPr>
          <a:xfrm>
            <a:off x="6091422" y="1883545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98" name="Google Shape;10798;p424"/>
          <p:cNvCxnSpPr>
            <a:stCxn id="10780" idx="5"/>
            <a:endCxn id="10786" idx="2"/>
          </p:cNvCxnSpPr>
          <p:nvPr/>
        </p:nvCxnSpPr>
        <p:spPr>
          <a:xfrm>
            <a:off x="5128837" y="2341863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99" name="Google Shape;10799;p424"/>
          <p:cNvCxnSpPr>
            <a:stCxn id="10787" idx="4"/>
            <a:endCxn id="10786" idx="0"/>
          </p:cNvCxnSpPr>
          <p:nvPr/>
        </p:nvCxnSpPr>
        <p:spPr>
          <a:xfrm>
            <a:off x="6390197" y="2313616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00" name="Google Shape;10800;p424"/>
          <p:cNvCxnSpPr>
            <a:stCxn id="10788" idx="6"/>
            <a:endCxn id="10796" idx="3"/>
          </p:cNvCxnSpPr>
          <p:nvPr/>
        </p:nvCxnSpPr>
        <p:spPr>
          <a:xfrm>
            <a:off x="5941692" y="3593538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01" name="Google Shape;10801;p424"/>
          <p:cNvCxnSpPr>
            <a:stCxn id="10788" idx="5"/>
            <a:endCxn id="10791" idx="1"/>
          </p:cNvCxnSpPr>
          <p:nvPr/>
        </p:nvCxnSpPr>
        <p:spPr>
          <a:xfrm>
            <a:off x="5897934" y="3698861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02" name="Google Shape;10802;p424"/>
          <p:cNvCxnSpPr>
            <a:stCxn id="10796" idx="3"/>
            <a:endCxn id="10790" idx="7"/>
          </p:cNvCxnSpPr>
          <p:nvPr/>
        </p:nvCxnSpPr>
        <p:spPr>
          <a:xfrm flipH="1">
            <a:off x="5427557" y="3640611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03" name="Google Shape;10803;p424"/>
          <p:cNvSpPr/>
          <p:nvPr/>
        </p:nvSpPr>
        <p:spPr>
          <a:xfrm>
            <a:off x="3208059" y="1201845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804" name="Google Shape;10804;p424"/>
          <p:cNvSpPr/>
          <p:nvPr/>
        </p:nvSpPr>
        <p:spPr>
          <a:xfrm>
            <a:off x="3709426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805" name="Google Shape;10805;p424"/>
          <p:cNvSpPr/>
          <p:nvPr/>
        </p:nvSpPr>
        <p:spPr>
          <a:xfrm>
            <a:off x="2641199" y="15856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806" name="Google Shape;10806;p424"/>
          <p:cNvSpPr/>
          <p:nvPr/>
        </p:nvSpPr>
        <p:spPr>
          <a:xfrm>
            <a:off x="3208059" y="18833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807" name="Google Shape;10807;p424"/>
          <p:cNvSpPr/>
          <p:nvPr/>
        </p:nvSpPr>
        <p:spPr>
          <a:xfrm>
            <a:off x="2641199" y="208759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808" name="Google Shape;10808;p424"/>
          <p:cNvSpPr/>
          <p:nvPr/>
        </p:nvSpPr>
        <p:spPr>
          <a:xfrm>
            <a:off x="2790547" y="2589537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0809" name="Google Shape;10809;p424"/>
          <p:cNvCxnSpPr>
            <a:endCxn id="10805" idx="7"/>
          </p:cNvCxnSpPr>
          <p:nvPr/>
        </p:nvCxnSpPr>
        <p:spPr>
          <a:xfrm flipH="1">
            <a:off x="2896241" y="1456175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10" name="Google Shape;10810;p424"/>
          <p:cNvCxnSpPr>
            <a:stCxn id="10807" idx="0"/>
            <a:endCxn id="10805" idx="4"/>
          </p:cNvCxnSpPr>
          <p:nvPr/>
        </p:nvCxnSpPr>
        <p:spPr>
          <a:xfrm rot="10800000">
            <a:off x="2790599" y="1883593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11" name="Google Shape;10811;p424"/>
          <p:cNvCxnSpPr>
            <a:stCxn id="10804" idx="1"/>
            <a:endCxn id="10803" idx="5"/>
          </p:cNvCxnSpPr>
          <p:nvPr/>
        </p:nvCxnSpPr>
        <p:spPr>
          <a:xfrm rot="10800000">
            <a:off x="3463085" y="1456175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12" name="Google Shape;10812;p424"/>
          <p:cNvCxnSpPr>
            <a:stCxn id="10806" idx="0"/>
            <a:endCxn id="10803" idx="4"/>
          </p:cNvCxnSpPr>
          <p:nvPr/>
        </p:nvCxnSpPr>
        <p:spPr>
          <a:xfrm rot="10800000">
            <a:off x="3357459" y="1499619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13" name="Google Shape;10813;p424"/>
          <p:cNvCxnSpPr>
            <a:stCxn id="10806" idx="5"/>
            <a:endCxn id="10814" idx="1"/>
          </p:cNvCxnSpPr>
          <p:nvPr/>
        </p:nvCxnSpPr>
        <p:spPr>
          <a:xfrm>
            <a:off x="3463101" y="2137592"/>
            <a:ext cx="588900" cy="461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15" name="Google Shape;10815;p424"/>
          <p:cNvSpPr/>
          <p:nvPr/>
        </p:nvSpPr>
        <p:spPr>
          <a:xfrm>
            <a:off x="4008201" y="2015719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814" name="Google Shape;10814;p424"/>
          <p:cNvSpPr/>
          <p:nvPr/>
        </p:nvSpPr>
        <p:spPr>
          <a:xfrm>
            <a:off x="4008201" y="255564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816" name="Google Shape;10816;p424"/>
          <p:cNvSpPr/>
          <p:nvPr/>
        </p:nvSpPr>
        <p:spPr>
          <a:xfrm>
            <a:off x="3410296" y="34445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817" name="Google Shape;10817;p424"/>
          <p:cNvSpPr/>
          <p:nvPr/>
        </p:nvSpPr>
        <p:spPr>
          <a:xfrm>
            <a:off x="2641199" y="352976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818" name="Google Shape;10818;p424"/>
          <p:cNvSpPr/>
          <p:nvPr/>
        </p:nvSpPr>
        <p:spPr>
          <a:xfrm>
            <a:off x="2939934" y="4194348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819" name="Google Shape;10819;p424"/>
          <p:cNvSpPr/>
          <p:nvPr/>
        </p:nvSpPr>
        <p:spPr>
          <a:xfrm>
            <a:off x="4007959" y="4033547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820" name="Google Shape;10820;p424"/>
          <p:cNvCxnSpPr>
            <a:stCxn id="10818" idx="2"/>
            <a:endCxn id="10817" idx="5"/>
          </p:cNvCxnSpPr>
          <p:nvPr/>
        </p:nvCxnSpPr>
        <p:spPr>
          <a:xfrm rot="10800000">
            <a:off x="2896134" y="3784098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21" name="Google Shape;10821;p424"/>
          <p:cNvCxnSpPr>
            <a:stCxn id="10816" idx="2"/>
            <a:endCxn id="10817" idx="6"/>
          </p:cNvCxnSpPr>
          <p:nvPr/>
        </p:nvCxnSpPr>
        <p:spPr>
          <a:xfrm flipH="1">
            <a:off x="2939896" y="3593541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22" name="Google Shape;10822;p424"/>
          <p:cNvCxnSpPr>
            <a:stCxn id="10818" idx="6"/>
            <a:endCxn id="10819" idx="3"/>
          </p:cNvCxnSpPr>
          <p:nvPr/>
        </p:nvCxnSpPr>
        <p:spPr>
          <a:xfrm flipH="1" rot="10800000">
            <a:off x="3238734" y="4292298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23" name="Google Shape;10823;p424"/>
          <p:cNvCxnSpPr>
            <a:stCxn id="10824" idx="4"/>
            <a:endCxn id="10819" idx="0"/>
          </p:cNvCxnSpPr>
          <p:nvPr/>
        </p:nvCxnSpPr>
        <p:spPr>
          <a:xfrm>
            <a:off x="4157509" y="3684988"/>
            <a:ext cx="0" cy="348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24" name="Google Shape;10824;p424"/>
          <p:cNvSpPr/>
          <p:nvPr/>
        </p:nvSpPr>
        <p:spPr>
          <a:xfrm>
            <a:off x="4007959" y="3381988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825" name="Google Shape;10825;p424"/>
          <p:cNvCxnSpPr>
            <a:stCxn id="10806" idx="3"/>
            <a:endCxn id="10808" idx="7"/>
          </p:cNvCxnSpPr>
          <p:nvPr/>
        </p:nvCxnSpPr>
        <p:spPr>
          <a:xfrm flipH="1">
            <a:off x="3045718" y="2137592"/>
            <a:ext cx="206100" cy="495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26" name="Google Shape;10826;p424"/>
          <p:cNvCxnSpPr>
            <a:stCxn id="10804" idx="4"/>
            <a:endCxn id="10815" idx="1"/>
          </p:cNvCxnSpPr>
          <p:nvPr/>
        </p:nvCxnSpPr>
        <p:spPr>
          <a:xfrm>
            <a:off x="3858826" y="1883548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27" name="Google Shape;10827;p424"/>
          <p:cNvCxnSpPr>
            <a:stCxn id="10807" idx="4"/>
            <a:endCxn id="10808" idx="0"/>
          </p:cNvCxnSpPr>
          <p:nvPr/>
        </p:nvCxnSpPr>
        <p:spPr>
          <a:xfrm>
            <a:off x="2790599" y="2385493"/>
            <a:ext cx="14940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28" name="Google Shape;10828;p424"/>
          <p:cNvCxnSpPr>
            <a:stCxn id="10807" idx="5"/>
            <a:endCxn id="10814" idx="2"/>
          </p:cNvCxnSpPr>
          <p:nvPr/>
        </p:nvCxnSpPr>
        <p:spPr>
          <a:xfrm>
            <a:off x="2896241" y="2341866"/>
            <a:ext cx="1112100" cy="362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29" name="Google Shape;10829;p424"/>
          <p:cNvCxnSpPr>
            <a:stCxn id="10815" idx="4"/>
            <a:endCxn id="10814" idx="0"/>
          </p:cNvCxnSpPr>
          <p:nvPr/>
        </p:nvCxnSpPr>
        <p:spPr>
          <a:xfrm>
            <a:off x="4157601" y="2313619"/>
            <a:ext cx="0" cy="242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30" name="Google Shape;10830;p424"/>
          <p:cNvCxnSpPr>
            <a:stCxn id="10816" idx="6"/>
            <a:endCxn id="10824" idx="3"/>
          </p:cNvCxnSpPr>
          <p:nvPr/>
        </p:nvCxnSpPr>
        <p:spPr>
          <a:xfrm>
            <a:off x="3709096" y="3593541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31" name="Google Shape;10831;p424"/>
          <p:cNvCxnSpPr>
            <a:stCxn id="10816" idx="5"/>
            <a:endCxn id="10819" idx="1"/>
          </p:cNvCxnSpPr>
          <p:nvPr/>
        </p:nvCxnSpPr>
        <p:spPr>
          <a:xfrm>
            <a:off x="3665338" y="3698865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32" name="Google Shape;10832;p424"/>
          <p:cNvCxnSpPr>
            <a:stCxn id="10824" idx="3"/>
            <a:endCxn id="10818" idx="7"/>
          </p:cNvCxnSpPr>
          <p:nvPr/>
        </p:nvCxnSpPr>
        <p:spPr>
          <a:xfrm flipH="1">
            <a:off x="3194961" y="3640614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33" name="Google Shape;10833;p424"/>
          <p:cNvSpPr/>
          <p:nvPr/>
        </p:nvSpPr>
        <p:spPr>
          <a:xfrm>
            <a:off x="7699155" y="1147216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834" name="Google Shape;10834;p424"/>
          <p:cNvSpPr/>
          <p:nvPr/>
        </p:nvSpPr>
        <p:spPr>
          <a:xfrm>
            <a:off x="8200522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835" name="Google Shape;10835;p424"/>
          <p:cNvSpPr/>
          <p:nvPr/>
        </p:nvSpPr>
        <p:spPr>
          <a:xfrm>
            <a:off x="7132295" y="15310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836" name="Google Shape;10836;p424"/>
          <p:cNvSpPr/>
          <p:nvPr/>
        </p:nvSpPr>
        <p:spPr>
          <a:xfrm>
            <a:off x="7699155" y="182869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837" name="Google Shape;10837;p424"/>
          <p:cNvSpPr/>
          <p:nvPr/>
        </p:nvSpPr>
        <p:spPr>
          <a:xfrm>
            <a:off x="7132295" y="2032964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cxnSp>
        <p:nvCxnSpPr>
          <p:cNvPr id="10838" name="Google Shape;10838;p424"/>
          <p:cNvCxnSpPr>
            <a:endCxn id="10835" idx="7"/>
          </p:cNvCxnSpPr>
          <p:nvPr/>
        </p:nvCxnSpPr>
        <p:spPr>
          <a:xfrm flipH="1">
            <a:off x="7387337" y="1401546"/>
            <a:ext cx="3552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39" name="Google Shape;10839;p424"/>
          <p:cNvCxnSpPr>
            <a:stCxn id="10837" idx="0"/>
            <a:endCxn id="10835" idx="4"/>
          </p:cNvCxnSpPr>
          <p:nvPr/>
        </p:nvCxnSpPr>
        <p:spPr>
          <a:xfrm rot="10800000">
            <a:off x="7281695" y="1828964"/>
            <a:ext cx="0" cy="204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40" name="Google Shape;10840;p424"/>
          <p:cNvCxnSpPr>
            <a:stCxn id="10834" idx="1"/>
            <a:endCxn id="10833" idx="5"/>
          </p:cNvCxnSpPr>
          <p:nvPr/>
        </p:nvCxnSpPr>
        <p:spPr>
          <a:xfrm rot="10800000">
            <a:off x="7954181" y="1401546"/>
            <a:ext cx="290100" cy="17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41" name="Google Shape;10841;p424"/>
          <p:cNvCxnSpPr>
            <a:stCxn id="10836" idx="0"/>
            <a:endCxn id="10833" idx="4"/>
          </p:cNvCxnSpPr>
          <p:nvPr/>
        </p:nvCxnSpPr>
        <p:spPr>
          <a:xfrm rot="10800000">
            <a:off x="7848555" y="1444990"/>
            <a:ext cx="0" cy="38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42" name="Google Shape;10842;p424"/>
          <p:cNvSpPr/>
          <p:nvPr/>
        </p:nvSpPr>
        <p:spPr>
          <a:xfrm>
            <a:off x="8499297" y="1961091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843" name="Google Shape;10843;p424"/>
          <p:cNvSpPr/>
          <p:nvPr/>
        </p:nvSpPr>
        <p:spPr>
          <a:xfrm>
            <a:off x="7901392" y="3389963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844" name="Google Shape;10844;p424"/>
          <p:cNvSpPr/>
          <p:nvPr/>
        </p:nvSpPr>
        <p:spPr>
          <a:xfrm>
            <a:off x="7132295" y="3475132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845" name="Google Shape;10845;p424"/>
          <p:cNvSpPr/>
          <p:nvPr/>
        </p:nvSpPr>
        <p:spPr>
          <a:xfrm>
            <a:off x="7431030" y="4139720"/>
            <a:ext cx="298800" cy="2979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846" name="Google Shape;10846;p424"/>
          <p:cNvSpPr/>
          <p:nvPr/>
        </p:nvSpPr>
        <p:spPr>
          <a:xfrm>
            <a:off x="8499055" y="397891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cxnSp>
        <p:nvCxnSpPr>
          <p:cNvPr id="10847" name="Google Shape;10847;p424"/>
          <p:cNvCxnSpPr>
            <a:stCxn id="10845" idx="2"/>
            <a:endCxn id="10844" idx="5"/>
          </p:cNvCxnSpPr>
          <p:nvPr/>
        </p:nvCxnSpPr>
        <p:spPr>
          <a:xfrm rot="10800000">
            <a:off x="7387230" y="3729470"/>
            <a:ext cx="43800" cy="55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48" name="Google Shape;10848;p424"/>
          <p:cNvCxnSpPr>
            <a:stCxn id="10843" idx="2"/>
            <a:endCxn id="10844" idx="6"/>
          </p:cNvCxnSpPr>
          <p:nvPr/>
        </p:nvCxnSpPr>
        <p:spPr>
          <a:xfrm flipH="1">
            <a:off x="7430992" y="3538913"/>
            <a:ext cx="470400" cy="85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49" name="Google Shape;10849;p424"/>
          <p:cNvCxnSpPr>
            <a:stCxn id="10845" idx="6"/>
            <a:endCxn id="10846" idx="3"/>
          </p:cNvCxnSpPr>
          <p:nvPr/>
        </p:nvCxnSpPr>
        <p:spPr>
          <a:xfrm flipH="1" rot="10800000">
            <a:off x="7729830" y="4237670"/>
            <a:ext cx="813000" cy="51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50" name="Google Shape;10850;p424"/>
          <p:cNvSpPr/>
          <p:nvPr/>
        </p:nvSpPr>
        <p:spPr>
          <a:xfrm>
            <a:off x="8499055" y="3327359"/>
            <a:ext cx="299100" cy="303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cxnSp>
        <p:nvCxnSpPr>
          <p:cNvPr id="10851" name="Google Shape;10851;p424"/>
          <p:cNvCxnSpPr>
            <a:stCxn id="10834" idx="4"/>
            <a:endCxn id="10842" idx="1"/>
          </p:cNvCxnSpPr>
          <p:nvPr/>
        </p:nvCxnSpPr>
        <p:spPr>
          <a:xfrm>
            <a:off x="8349922" y="1828920"/>
            <a:ext cx="193200" cy="175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52" name="Google Shape;10852;p424"/>
          <p:cNvCxnSpPr>
            <a:stCxn id="10843" idx="6"/>
            <a:endCxn id="10850" idx="3"/>
          </p:cNvCxnSpPr>
          <p:nvPr/>
        </p:nvCxnSpPr>
        <p:spPr>
          <a:xfrm>
            <a:off x="8200192" y="3538913"/>
            <a:ext cx="342600" cy="47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53" name="Google Shape;10853;p424"/>
          <p:cNvCxnSpPr>
            <a:stCxn id="10843" idx="5"/>
            <a:endCxn id="10846" idx="1"/>
          </p:cNvCxnSpPr>
          <p:nvPr/>
        </p:nvCxnSpPr>
        <p:spPr>
          <a:xfrm>
            <a:off x="8156434" y="3644236"/>
            <a:ext cx="386400" cy="379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54" name="Google Shape;10854;p424"/>
          <p:cNvCxnSpPr>
            <a:stCxn id="10850" idx="3"/>
            <a:endCxn id="10845" idx="7"/>
          </p:cNvCxnSpPr>
          <p:nvPr/>
        </p:nvCxnSpPr>
        <p:spPr>
          <a:xfrm flipH="1">
            <a:off x="7686057" y="3585986"/>
            <a:ext cx="856800" cy="597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55" name="Google Shape;10855;p424"/>
          <p:cNvSpPr txBox="1"/>
          <p:nvPr/>
        </p:nvSpPr>
        <p:spPr>
          <a:xfrm>
            <a:off x="734725" y="466462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0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856" name="Google Shape;10856;p424"/>
          <p:cNvSpPr txBox="1"/>
          <p:nvPr/>
        </p:nvSpPr>
        <p:spPr>
          <a:xfrm>
            <a:off x="3064250" y="4685100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1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857" name="Google Shape;10857;p424"/>
          <p:cNvSpPr txBox="1"/>
          <p:nvPr/>
        </p:nvSpPr>
        <p:spPr>
          <a:xfrm>
            <a:off x="5296850" y="472957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2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858" name="Google Shape;10858;p424"/>
          <p:cNvSpPr txBox="1"/>
          <p:nvPr/>
        </p:nvSpPr>
        <p:spPr>
          <a:xfrm>
            <a:off x="7603775" y="4729575"/>
            <a:ext cx="9909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K = 3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859" name="Google Shape;10859;p424"/>
          <p:cNvSpPr txBox="1"/>
          <p:nvPr/>
        </p:nvSpPr>
        <p:spPr>
          <a:xfrm>
            <a:off x="2977725" y="2996863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860" name="Google Shape;10860;p424"/>
          <p:cNvSpPr txBox="1"/>
          <p:nvPr/>
        </p:nvSpPr>
        <p:spPr>
          <a:xfrm>
            <a:off x="5055200" y="2979900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861" name="Google Shape;10861;p424"/>
          <p:cNvSpPr txBox="1"/>
          <p:nvPr/>
        </p:nvSpPr>
        <p:spPr>
          <a:xfrm>
            <a:off x="7181050" y="2956588"/>
            <a:ext cx="13350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disconnected!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862" name="Google Shape;10862;p42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Graph connectivity: Cutsets</a:t>
            </a:r>
            <a:endParaRPr/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66" name="Shape 10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7" name="Google Shape;10867;p42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Cohesive Blocking </a:t>
            </a:r>
            <a:endParaRPr/>
          </a:p>
        </p:txBody>
      </p:sp>
      <p:sp>
        <p:nvSpPr>
          <p:cNvPr id="10868" name="Google Shape;10868;p425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idea of cutsets leads to the </a:t>
            </a:r>
            <a:r>
              <a:rPr b="1" lang="en"/>
              <a:t>Cohesive Blocking</a:t>
            </a:r>
            <a:r>
              <a:rPr lang="en"/>
              <a:t> approach for the identification of nested cohesive subgroups (</a:t>
            </a:r>
            <a:r>
              <a:rPr lang="en" u="sng">
                <a:solidFill>
                  <a:schemeClr val="hlink"/>
                </a:solidFill>
                <a:hlinkClick r:id="rId3"/>
              </a:rPr>
              <a:t>Moody and White 2003</a:t>
            </a:r>
            <a:r>
              <a:rPr lang="en"/>
              <a:t>):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Identify the k-connectivity of the input graph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Remove the k-cutset (vertices)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Do the same on the resulting subgraphs until no more subdivisions can be obtained 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869" name="Google Shape;10869;p425"/>
          <p:cNvPicPr preferRelativeResize="0"/>
          <p:nvPr/>
        </p:nvPicPr>
        <p:blipFill rotWithShape="1">
          <a:blip r:embed="rId4">
            <a:alphaModFix/>
          </a:blip>
          <a:srcRect b="8822" l="15423" r="5080" t="11127"/>
          <a:stretch/>
        </p:blipFill>
        <p:spPr>
          <a:xfrm>
            <a:off x="665000" y="2835335"/>
            <a:ext cx="2417050" cy="2066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870" name="Google Shape;10870;p425"/>
          <p:cNvPicPr preferRelativeResize="0"/>
          <p:nvPr/>
        </p:nvPicPr>
        <p:blipFill rotWithShape="1">
          <a:blip r:embed="rId5">
            <a:alphaModFix/>
          </a:blip>
          <a:srcRect b="17073" l="0" r="0" t="6299"/>
          <a:stretch/>
        </p:blipFill>
        <p:spPr>
          <a:xfrm>
            <a:off x="6475925" y="3065812"/>
            <a:ext cx="2095775" cy="1605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871" name="Google Shape;10871;p42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234450" y="2895325"/>
            <a:ext cx="2923736" cy="2095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75" name="Shape 10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6" name="Google Shape;10876;p426"/>
          <p:cNvSpPr/>
          <p:nvPr/>
        </p:nvSpPr>
        <p:spPr>
          <a:xfrm>
            <a:off x="913295" y="11472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877" name="Google Shape;10877;p426"/>
          <p:cNvSpPr/>
          <p:nvPr/>
        </p:nvSpPr>
        <p:spPr>
          <a:xfrm>
            <a:off x="1445385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878" name="Google Shape;10878;p426"/>
          <p:cNvSpPr/>
          <p:nvPr/>
        </p:nvSpPr>
        <p:spPr>
          <a:xfrm>
            <a:off x="311700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879" name="Google Shape;10879;p426"/>
          <p:cNvSpPr/>
          <p:nvPr/>
        </p:nvSpPr>
        <p:spPr>
          <a:xfrm>
            <a:off x="913295" y="185551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880" name="Google Shape;10880;p426"/>
          <p:cNvSpPr/>
          <p:nvPr/>
        </p:nvSpPr>
        <p:spPr>
          <a:xfrm>
            <a:off x="311700" y="21649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881" name="Google Shape;10881;p426"/>
          <p:cNvSpPr/>
          <p:nvPr/>
        </p:nvSpPr>
        <p:spPr>
          <a:xfrm>
            <a:off x="913295" y="2434838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sp>
        <p:nvSpPr>
          <p:cNvPr id="10882" name="Google Shape;10882;p426"/>
          <p:cNvSpPr/>
          <p:nvPr/>
        </p:nvSpPr>
        <p:spPr>
          <a:xfrm>
            <a:off x="1445758" y="2165711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cxnSp>
        <p:nvCxnSpPr>
          <p:cNvPr id="10883" name="Google Shape;10883;p426"/>
          <p:cNvCxnSpPr>
            <a:endCxn id="10878" idx="7"/>
          </p:cNvCxnSpPr>
          <p:nvPr/>
        </p:nvCxnSpPr>
        <p:spPr>
          <a:xfrm flipH="1">
            <a:off x="582362" y="1411129"/>
            <a:ext cx="3774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84" name="Google Shape;10884;p426"/>
          <p:cNvCxnSpPr>
            <a:stCxn id="10880" idx="0"/>
            <a:endCxn id="10878" idx="4"/>
          </p:cNvCxnSpPr>
          <p:nvPr/>
        </p:nvCxnSpPr>
        <p:spPr>
          <a:xfrm rot="10800000">
            <a:off x="470250" y="1855304"/>
            <a:ext cx="0" cy="3096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85" name="Google Shape;10885;p426"/>
          <p:cNvCxnSpPr>
            <a:stCxn id="10881" idx="2"/>
            <a:endCxn id="10880" idx="5"/>
          </p:cNvCxnSpPr>
          <p:nvPr/>
        </p:nvCxnSpPr>
        <p:spPr>
          <a:xfrm rot="10800000">
            <a:off x="582395" y="2428988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86" name="Google Shape;10886;p426"/>
          <p:cNvCxnSpPr>
            <a:stCxn id="10879" idx="2"/>
            <a:endCxn id="10880" idx="6"/>
          </p:cNvCxnSpPr>
          <p:nvPr/>
        </p:nvCxnSpPr>
        <p:spPr>
          <a:xfrm flipH="1">
            <a:off x="628895" y="2010169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87" name="Google Shape;10887;p426"/>
          <p:cNvCxnSpPr>
            <a:stCxn id="10881" idx="2"/>
            <a:endCxn id="10878" idx="4"/>
          </p:cNvCxnSpPr>
          <p:nvPr/>
        </p:nvCxnSpPr>
        <p:spPr>
          <a:xfrm rot="10800000">
            <a:off x="470195" y="1855388"/>
            <a:ext cx="443100" cy="73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88" name="Google Shape;10888;p426"/>
          <p:cNvCxnSpPr>
            <a:stCxn id="10877" idx="2"/>
            <a:endCxn id="10879" idx="7"/>
          </p:cNvCxnSpPr>
          <p:nvPr/>
        </p:nvCxnSpPr>
        <p:spPr>
          <a:xfrm flipH="1">
            <a:off x="1184085" y="1700783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89" name="Google Shape;10889;p426"/>
          <p:cNvCxnSpPr>
            <a:stCxn id="10877" idx="2"/>
            <a:endCxn id="10878" idx="6"/>
          </p:cNvCxnSpPr>
          <p:nvPr/>
        </p:nvCxnSpPr>
        <p:spPr>
          <a:xfrm rot="10800000">
            <a:off x="628785" y="1700783"/>
            <a:ext cx="81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0" name="Google Shape;10890;p426"/>
          <p:cNvCxnSpPr>
            <a:stCxn id="10877" idx="0"/>
            <a:endCxn id="10876" idx="5"/>
          </p:cNvCxnSpPr>
          <p:nvPr/>
        </p:nvCxnSpPr>
        <p:spPr>
          <a:xfrm rot="10800000">
            <a:off x="1183935" y="1411133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1" name="Google Shape;10891;p426"/>
          <p:cNvCxnSpPr>
            <a:stCxn id="10882" idx="7"/>
            <a:endCxn id="10877" idx="4"/>
          </p:cNvCxnSpPr>
          <p:nvPr/>
        </p:nvCxnSpPr>
        <p:spPr>
          <a:xfrm rot="10800000">
            <a:off x="1603876" y="1855441"/>
            <a:ext cx="1128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2" name="Google Shape;10892;p426"/>
          <p:cNvCxnSpPr>
            <a:stCxn id="10882" idx="2"/>
            <a:endCxn id="10879" idx="6"/>
          </p:cNvCxnSpPr>
          <p:nvPr/>
        </p:nvCxnSpPr>
        <p:spPr>
          <a:xfrm rot="10800000">
            <a:off x="1230358" y="2010311"/>
            <a:ext cx="215400" cy="31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3" name="Google Shape;10893;p426"/>
          <p:cNvCxnSpPr>
            <a:stCxn id="10881" idx="0"/>
            <a:endCxn id="10879" idx="4"/>
          </p:cNvCxnSpPr>
          <p:nvPr/>
        </p:nvCxnSpPr>
        <p:spPr>
          <a:xfrm rot="10800000">
            <a:off x="1071845" y="2164838"/>
            <a:ext cx="0" cy="270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4" name="Google Shape;10894;p426"/>
          <p:cNvCxnSpPr>
            <a:stCxn id="10881" idx="6"/>
            <a:endCxn id="10882" idx="3"/>
          </p:cNvCxnSpPr>
          <p:nvPr/>
        </p:nvCxnSpPr>
        <p:spPr>
          <a:xfrm flipH="1" rot="10800000">
            <a:off x="1230395" y="2434688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5" name="Google Shape;10895;p426"/>
          <p:cNvCxnSpPr>
            <a:stCxn id="10880" idx="6"/>
            <a:endCxn id="10882" idx="2"/>
          </p:cNvCxnSpPr>
          <p:nvPr/>
        </p:nvCxnSpPr>
        <p:spPr>
          <a:xfrm>
            <a:off x="628800" y="2319554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6" name="Google Shape;10896;p426"/>
          <p:cNvCxnSpPr>
            <a:stCxn id="10880" idx="6"/>
            <a:endCxn id="10876" idx="4"/>
          </p:cNvCxnSpPr>
          <p:nvPr/>
        </p:nvCxnSpPr>
        <p:spPr>
          <a:xfrm flipH="1" rot="10800000">
            <a:off x="628800" y="1456454"/>
            <a:ext cx="443100" cy="86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7" name="Google Shape;10897;p426"/>
          <p:cNvCxnSpPr>
            <a:stCxn id="10879" idx="0"/>
            <a:endCxn id="10876" idx="4"/>
          </p:cNvCxnSpPr>
          <p:nvPr/>
        </p:nvCxnSpPr>
        <p:spPr>
          <a:xfrm rot="10800000">
            <a:off x="1071845" y="1456519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8" name="Google Shape;10898;p426"/>
          <p:cNvCxnSpPr>
            <a:stCxn id="10876" idx="4"/>
            <a:endCxn id="10882" idx="1"/>
          </p:cNvCxnSpPr>
          <p:nvPr/>
        </p:nvCxnSpPr>
        <p:spPr>
          <a:xfrm>
            <a:off x="1071845" y="1456525"/>
            <a:ext cx="420300" cy="755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9" name="Google Shape;10899;p426"/>
          <p:cNvCxnSpPr>
            <a:stCxn id="10881" idx="6"/>
            <a:endCxn id="10877" idx="3"/>
          </p:cNvCxnSpPr>
          <p:nvPr/>
        </p:nvCxnSpPr>
        <p:spPr>
          <a:xfrm flipH="1" rot="10800000">
            <a:off x="1230395" y="1810088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00" name="Google Shape;10900;p426"/>
          <p:cNvCxnSpPr>
            <a:stCxn id="10879" idx="1"/>
            <a:endCxn id="10878" idx="6"/>
          </p:cNvCxnSpPr>
          <p:nvPr/>
        </p:nvCxnSpPr>
        <p:spPr>
          <a:xfrm rot="10800000">
            <a:off x="628834" y="1700715"/>
            <a:ext cx="3309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901" name="Google Shape;10901;p426"/>
          <p:cNvSpPr/>
          <p:nvPr/>
        </p:nvSpPr>
        <p:spPr>
          <a:xfrm>
            <a:off x="1128323" y="311777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17</a:t>
            </a:r>
            <a:endParaRPr/>
          </a:p>
        </p:txBody>
      </p:sp>
      <p:sp>
        <p:nvSpPr>
          <p:cNvPr id="10902" name="Google Shape;10902;p426"/>
          <p:cNvSpPr/>
          <p:nvPr/>
        </p:nvSpPr>
        <p:spPr>
          <a:xfrm>
            <a:off x="1660413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19</a:t>
            </a:r>
            <a:endParaRPr/>
          </a:p>
        </p:txBody>
      </p:sp>
      <p:sp>
        <p:nvSpPr>
          <p:cNvPr id="10903" name="Google Shape;10903;p426"/>
          <p:cNvSpPr/>
          <p:nvPr/>
        </p:nvSpPr>
        <p:spPr>
          <a:xfrm>
            <a:off x="596234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18</a:t>
            </a:r>
            <a:endParaRPr/>
          </a:p>
        </p:txBody>
      </p:sp>
      <p:sp>
        <p:nvSpPr>
          <p:cNvPr id="10904" name="Google Shape;10904;p426"/>
          <p:cNvSpPr/>
          <p:nvPr/>
        </p:nvSpPr>
        <p:spPr>
          <a:xfrm>
            <a:off x="1128323" y="382607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</a:t>
            </a:r>
            <a:endParaRPr/>
          </a:p>
        </p:txBody>
      </p:sp>
      <p:sp>
        <p:nvSpPr>
          <p:cNvPr id="10905" name="Google Shape;10905;p426"/>
          <p:cNvSpPr/>
          <p:nvPr/>
        </p:nvSpPr>
        <p:spPr>
          <a:xfrm>
            <a:off x="526728" y="413545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</a:t>
            </a:r>
            <a:endParaRPr/>
          </a:p>
        </p:txBody>
      </p:sp>
      <p:sp>
        <p:nvSpPr>
          <p:cNvPr id="10906" name="Google Shape;10906;p426"/>
          <p:cNvSpPr/>
          <p:nvPr/>
        </p:nvSpPr>
        <p:spPr>
          <a:xfrm>
            <a:off x="1128323" y="440539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23</a:t>
            </a:r>
            <a:endParaRPr/>
          </a:p>
        </p:txBody>
      </p:sp>
      <p:sp>
        <p:nvSpPr>
          <p:cNvPr id="10907" name="Google Shape;10907;p426"/>
          <p:cNvSpPr/>
          <p:nvPr/>
        </p:nvSpPr>
        <p:spPr>
          <a:xfrm>
            <a:off x="1660786" y="4136262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22</a:t>
            </a:r>
            <a:endParaRPr/>
          </a:p>
        </p:txBody>
      </p:sp>
      <p:cxnSp>
        <p:nvCxnSpPr>
          <p:cNvPr id="10908" name="Google Shape;10908;p426"/>
          <p:cNvCxnSpPr>
            <a:stCxn id="10901" idx="3"/>
            <a:endCxn id="10903" idx="7"/>
          </p:cNvCxnSpPr>
          <p:nvPr/>
        </p:nvCxnSpPr>
        <p:spPr>
          <a:xfrm flipH="1">
            <a:off x="866962" y="3381780"/>
            <a:ext cx="3078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09" name="Google Shape;10909;p426"/>
          <p:cNvCxnSpPr>
            <a:stCxn id="10906" idx="2"/>
            <a:endCxn id="10905" idx="5"/>
          </p:cNvCxnSpPr>
          <p:nvPr/>
        </p:nvCxnSpPr>
        <p:spPr>
          <a:xfrm rot="10800000">
            <a:off x="797423" y="4399540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0" name="Google Shape;10910;p426"/>
          <p:cNvCxnSpPr>
            <a:stCxn id="10904" idx="2"/>
            <a:endCxn id="10905" idx="6"/>
          </p:cNvCxnSpPr>
          <p:nvPr/>
        </p:nvCxnSpPr>
        <p:spPr>
          <a:xfrm flipH="1">
            <a:off x="843923" y="3980720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1" name="Google Shape;10911;p426"/>
          <p:cNvCxnSpPr>
            <a:stCxn id="10905" idx="0"/>
            <a:endCxn id="10903" idx="4"/>
          </p:cNvCxnSpPr>
          <p:nvPr/>
        </p:nvCxnSpPr>
        <p:spPr>
          <a:xfrm flipH="1" rot="10800000">
            <a:off x="685278" y="3825856"/>
            <a:ext cx="696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2" name="Google Shape;10912;p426"/>
          <p:cNvCxnSpPr>
            <a:stCxn id="10902" idx="2"/>
            <a:endCxn id="10904" idx="7"/>
          </p:cNvCxnSpPr>
          <p:nvPr/>
        </p:nvCxnSpPr>
        <p:spPr>
          <a:xfrm flipH="1">
            <a:off x="1399113" y="3671335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3" name="Google Shape;10913;p426"/>
          <p:cNvCxnSpPr>
            <a:stCxn id="10902" idx="0"/>
            <a:endCxn id="10901" idx="5"/>
          </p:cNvCxnSpPr>
          <p:nvPr/>
        </p:nvCxnSpPr>
        <p:spPr>
          <a:xfrm rot="10800000">
            <a:off x="1398963" y="3381685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4" name="Google Shape;10914;p426"/>
          <p:cNvCxnSpPr>
            <a:stCxn id="10907" idx="0"/>
            <a:endCxn id="10902" idx="4"/>
          </p:cNvCxnSpPr>
          <p:nvPr/>
        </p:nvCxnSpPr>
        <p:spPr>
          <a:xfrm rot="10800000">
            <a:off x="1818886" y="3826062"/>
            <a:ext cx="600" cy="310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5" name="Google Shape;10915;p426"/>
          <p:cNvCxnSpPr>
            <a:stCxn id="10906" idx="6"/>
            <a:endCxn id="10907" idx="3"/>
          </p:cNvCxnSpPr>
          <p:nvPr/>
        </p:nvCxnSpPr>
        <p:spPr>
          <a:xfrm flipH="1" rot="10800000">
            <a:off x="1445423" y="4405240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6" name="Google Shape;10916;p426"/>
          <p:cNvCxnSpPr>
            <a:stCxn id="10905" idx="6"/>
            <a:endCxn id="10907" idx="2"/>
          </p:cNvCxnSpPr>
          <p:nvPr/>
        </p:nvCxnSpPr>
        <p:spPr>
          <a:xfrm>
            <a:off x="843828" y="4290106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7" name="Google Shape;10917;p426"/>
          <p:cNvCxnSpPr>
            <a:stCxn id="10904" idx="0"/>
            <a:endCxn id="10901" idx="4"/>
          </p:cNvCxnSpPr>
          <p:nvPr/>
        </p:nvCxnSpPr>
        <p:spPr>
          <a:xfrm rot="10800000">
            <a:off x="1286873" y="3427070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8" name="Google Shape;10918;p426"/>
          <p:cNvCxnSpPr>
            <a:stCxn id="10906" idx="6"/>
            <a:endCxn id="10902" idx="3"/>
          </p:cNvCxnSpPr>
          <p:nvPr/>
        </p:nvCxnSpPr>
        <p:spPr>
          <a:xfrm flipH="1" rot="10800000">
            <a:off x="1445423" y="3780640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19" name="Google Shape;10919;p426"/>
          <p:cNvCxnSpPr>
            <a:stCxn id="10904" idx="1"/>
            <a:endCxn id="10903" idx="6"/>
          </p:cNvCxnSpPr>
          <p:nvPr/>
        </p:nvCxnSpPr>
        <p:spPr>
          <a:xfrm rot="10800000">
            <a:off x="913462" y="3671266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20" name="Google Shape;10920;p426"/>
          <p:cNvCxnSpPr>
            <a:stCxn id="10905" idx="1"/>
            <a:endCxn id="10880" idx="4"/>
          </p:cNvCxnSpPr>
          <p:nvPr/>
        </p:nvCxnSpPr>
        <p:spPr>
          <a:xfrm rot="10800000">
            <a:off x="470266" y="2474352"/>
            <a:ext cx="102900" cy="170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21" name="Google Shape;10921;p426"/>
          <p:cNvCxnSpPr>
            <a:stCxn id="10902" idx="0"/>
            <a:endCxn id="10882" idx="4"/>
          </p:cNvCxnSpPr>
          <p:nvPr/>
        </p:nvCxnSpPr>
        <p:spPr>
          <a:xfrm rot="10800000">
            <a:off x="1604463" y="2480785"/>
            <a:ext cx="214500" cy="103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922" name="Google Shape;10922;p426"/>
          <p:cNvSpPr/>
          <p:nvPr/>
        </p:nvSpPr>
        <p:spPr>
          <a:xfrm>
            <a:off x="2195893" y="18556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0923" name="Google Shape;10923;p426"/>
          <p:cNvSpPr/>
          <p:nvPr/>
        </p:nvSpPr>
        <p:spPr>
          <a:xfrm>
            <a:off x="2195893" y="27130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0924" name="Google Shape;10924;p426"/>
          <p:cNvSpPr/>
          <p:nvPr/>
        </p:nvSpPr>
        <p:spPr>
          <a:xfrm>
            <a:off x="256379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0925" name="Google Shape;10925;p426"/>
          <p:cNvSpPr/>
          <p:nvPr/>
        </p:nvSpPr>
        <p:spPr>
          <a:xfrm>
            <a:off x="2880801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0926" name="Google Shape;10926;p426"/>
          <p:cNvSpPr/>
          <p:nvPr/>
        </p:nvSpPr>
        <p:spPr>
          <a:xfrm>
            <a:off x="3749082" y="1679501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0927" name="Google Shape;10927;p426"/>
          <p:cNvSpPr/>
          <p:nvPr/>
        </p:nvSpPr>
        <p:spPr>
          <a:xfrm>
            <a:off x="327440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sp>
        <p:nvSpPr>
          <p:cNvPr id="10928" name="Google Shape;10928;p426"/>
          <p:cNvSpPr/>
          <p:nvPr/>
        </p:nvSpPr>
        <p:spPr>
          <a:xfrm>
            <a:off x="4341627" y="2211777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sp>
        <p:nvSpPr>
          <p:cNvPr id="10929" name="Google Shape;10929;p426"/>
          <p:cNvSpPr/>
          <p:nvPr/>
        </p:nvSpPr>
        <p:spPr>
          <a:xfrm>
            <a:off x="3374610" y="291580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</a:t>
            </a:r>
            <a:endParaRPr/>
          </a:p>
        </p:txBody>
      </p:sp>
      <p:sp>
        <p:nvSpPr>
          <p:cNvPr id="10930" name="Google Shape;10930;p426"/>
          <p:cNvSpPr/>
          <p:nvPr/>
        </p:nvSpPr>
        <p:spPr>
          <a:xfrm>
            <a:off x="4223529" y="307246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</a:t>
            </a:r>
            <a:endParaRPr/>
          </a:p>
        </p:txBody>
      </p:sp>
      <p:cxnSp>
        <p:nvCxnSpPr>
          <p:cNvPr id="10931" name="Google Shape;10931;p426"/>
          <p:cNvCxnSpPr>
            <a:stCxn id="10882" idx="6"/>
            <a:endCxn id="10922" idx="3"/>
          </p:cNvCxnSpPr>
          <p:nvPr/>
        </p:nvCxnSpPr>
        <p:spPr>
          <a:xfrm flipH="1" rot="10800000">
            <a:off x="1763158" y="2119511"/>
            <a:ext cx="479100" cy="20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32" name="Google Shape;10932;p426"/>
          <p:cNvCxnSpPr>
            <a:stCxn id="10923" idx="2"/>
            <a:endCxn id="10882" idx="6"/>
          </p:cNvCxnSpPr>
          <p:nvPr/>
        </p:nvCxnSpPr>
        <p:spPr>
          <a:xfrm rot="10800000">
            <a:off x="1763293" y="2323154"/>
            <a:ext cx="432600" cy="54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33" name="Google Shape;10933;p426"/>
          <p:cNvCxnSpPr>
            <a:stCxn id="10924" idx="2"/>
            <a:endCxn id="10882" idx="6"/>
          </p:cNvCxnSpPr>
          <p:nvPr/>
        </p:nvCxnSpPr>
        <p:spPr>
          <a:xfrm rot="10800000">
            <a:off x="1763093" y="2323249"/>
            <a:ext cx="800700" cy="13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34" name="Google Shape;10934;p426"/>
          <p:cNvCxnSpPr>
            <a:stCxn id="10923" idx="0"/>
            <a:endCxn id="10922" idx="4"/>
          </p:cNvCxnSpPr>
          <p:nvPr/>
        </p:nvCxnSpPr>
        <p:spPr>
          <a:xfrm rot="10800000">
            <a:off x="2354443" y="2164904"/>
            <a:ext cx="0" cy="548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35" name="Google Shape;10935;p426"/>
          <p:cNvCxnSpPr>
            <a:stCxn id="10924" idx="0"/>
            <a:endCxn id="10922" idx="5"/>
          </p:cNvCxnSpPr>
          <p:nvPr/>
        </p:nvCxnSpPr>
        <p:spPr>
          <a:xfrm rot="10800000">
            <a:off x="2466443" y="2119699"/>
            <a:ext cx="2559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36" name="Google Shape;10936;p426"/>
          <p:cNvCxnSpPr>
            <a:stCxn id="10923" idx="6"/>
            <a:endCxn id="10924" idx="4"/>
          </p:cNvCxnSpPr>
          <p:nvPr/>
        </p:nvCxnSpPr>
        <p:spPr>
          <a:xfrm flipH="1" rot="10800000">
            <a:off x="2512993" y="2609354"/>
            <a:ext cx="209400" cy="25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37" name="Google Shape;10937;p426"/>
          <p:cNvCxnSpPr>
            <a:stCxn id="10922" idx="6"/>
            <a:endCxn id="10925" idx="2"/>
          </p:cNvCxnSpPr>
          <p:nvPr/>
        </p:nvCxnSpPr>
        <p:spPr>
          <a:xfrm flipH="1" rot="10800000">
            <a:off x="2512993" y="1700675"/>
            <a:ext cx="3678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38" name="Google Shape;10938;p426"/>
          <p:cNvCxnSpPr>
            <a:stCxn id="10926" idx="2"/>
            <a:endCxn id="10925" idx="6"/>
          </p:cNvCxnSpPr>
          <p:nvPr/>
        </p:nvCxnSpPr>
        <p:spPr>
          <a:xfrm rot="10800000">
            <a:off x="3197982" y="1700651"/>
            <a:ext cx="551100" cy="13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39" name="Google Shape;10939;p426"/>
          <p:cNvCxnSpPr>
            <a:stCxn id="10928" idx="1"/>
            <a:endCxn id="10926" idx="5"/>
          </p:cNvCxnSpPr>
          <p:nvPr/>
        </p:nvCxnSpPr>
        <p:spPr>
          <a:xfrm rot="10800000">
            <a:off x="4019665" y="1943573"/>
            <a:ext cx="368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40" name="Google Shape;10940;p426"/>
          <p:cNvCxnSpPr>
            <a:stCxn id="10927" idx="7"/>
            <a:endCxn id="10926" idx="4"/>
          </p:cNvCxnSpPr>
          <p:nvPr/>
        </p:nvCxnSpPr>
        <p:spPr>
          <a:xfrm flipH="1" rot="10800000">
            <a:off x="3545065" y="1988895"/>
            <a:ext cx="3627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41" name="Google Shape;10941;p426"/>
          <p:cNvCxnSpPr>
            <a:stCxn id="10930" idx="1"/>
            <a:endCxn id="10927" idx="5"/>
          </p:cNvCxnSpPr>
          <p:nvPr/>
        </p:nvCxnSpPr>
        <p:spPr>
          <a:xfrm rot="10800000">
            <a:off x="3545168" y="2563956"/>
            <a:ext cx="724800" cy="55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42" name="Google Shape;10942;p426"/>
          <p:cNvCxnSpPr>
            <a:stCxn id="10930" idx="2"/>
            <a:endCxn id="10929" idx="5"/>
          </p:cNvCxnSpPr>
          <p:nvPr/>
        </p:nvCxnSpPr>
        <p:spPr>
          <a:xfrm rot="10800000">
            <a:off x="3645129" y="3179710"/>
            <a:ext cx="578400" cy="4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43" name="Google Shape;10943;p426"/>
          <p:cNvCxnSpPr>
            <a:stCxn id="10929" idx="2"/>
            <a:endCxn id="10923" idx="6"/>
          </p:cNvCxnSpPr>
          <p:nvPr/>
        </p:nvCxnSpPr>
        <p:spPr>
          <a:xfrm rot="10800000">
            <a:off x="2513010" y="2867656"/>
            <a:ext cx="861600" cy="202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44" name="Google Shape;10944;p426"/>
          <p:cNvCxnSpPr>
            <a:stCxn id="10930" idx="0"/>
            <a:endCxn id="10928" idx="4"/>
          </p:cNvCxnSpPr>
          <p:nvPr/>
        </p:nvCxnSpPr>
        <p:spPr>
          <a:xfrm flipH="1" rot="10800000">
            <a:off x="4382079" y="2521060"/>
            <a:ext cx="118200" cy="55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45" name="Google Shape;10945;p426"/>
          <p:cNvCxnSpPr>
            <a:stCxn id="10927" idx="2"/>
            <a:endCxn id="10924" idx="6"/>
          </p:cNvCxnSpPr>
          <p:nvPr/>
        </p:nvCxnSpPr>
        <p:spPr>
          <a:xfrm rot="10800000">
            <a:off x="2880803" y="2454649"/>
            <a:ext cx="393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946" name="Google Shape;10946;p426"/>
          <p:cNvSpPr txBox="1"/>
          <p:nvPr>
            <p:ph type="title"/>
          </p:nvPr>
        </p:nvSpPr>
        <p:spPr>
          <a:xfrm>
            <a:off x="311700" y="315925"/>
            <a:ext cx="54051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Cohesive Blocking </a:t>
            </a:r>
            <a:endParaRPr/>
          </a:p>
        </p:txBody>
      </p:sp>
      <p:sp>
        <p:nvSpPr>
          <p:cNvPr id="10947" name="Google Shape;10947;p426"/>
          <p:cNvSpPr/>
          <p:nvPr/>
        </p:nvSpPr>
        <p:spPr>
          <a:xfrm>
            <a:off x="6584850" y="1958150"/>
            <a:ext cx="863100" cy="4179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G</a:t>
            </a:r>
            <a:endParaRPr b="1"/>
          </a:p>
        </p:txBody>
      </p:sp>
      <p:sp>
        <p:nvSpPr>
          <p:cNvPr id="10948" name="Google Shape;10948;p426"/>
          <p:cNvSpPr txBox="1"/>
          <p:nvPr>
            <p:ph idx="4294967295" type="body"/>
          </p:nvPr>
        </p:nvSpPr>
        <p:spPr>
          <a:xfrm>
            <a:off x="5342550" y="315925"/>
            <a:ext cx="3580800" cy="17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Identify the k-connectivity of the input graph (G)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Remove the k-cutset (vertices)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Do the same on the resulting subgraphs until no more subdivisions can be obtained </a:t>
            </a:r>
            <a:endParaRPr sz="1400">
              <a:solidFill>
                <a:srgbClr val="000000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rgbClr val="000000"/>
              </a:solidFill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52" name="Shape 10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3" name="Google Shape;10953;p427"/>
          <p:cNvSpPr/>
          <p:nvPr/>
        </p:nvSpPr>
        <p:spPr>
          <a:xfrm>
            <a:off x="913295" y="11472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0954" name="Google Shape;10954;p427"/>
          <p:cNvSpPr/>
          <p:nvPr/>
        </p:nvSpPr>
        <p:spPr>
          <a:xfrm>
            <a:off x="1445385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0955" name="Google Shape;10955;p427"/>
          <p:cNvSpPr/>
          <p:nvPr/>
        </p:nvSpPr>
        <p:spPr>
          <a:xfrm>
            <a:off x="311700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0956" name="Google Shape;10956;p427"/>
          <p:cNvSpPr/>
          <p:nvPr/>
        </p:nvSpPr>
        <p:spPr>
          <a:xfrm>
            <a:off x="913295" y="185551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0957" name="Google Shape;10957;p427"/>
          <p:cNvSpPr/>
          <p:nvPr/>
        </p:nvSpPr>
        <p:spPr>
          <a:xfrm>
            <a:off x="311700" y="21649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0958" name="Google Shape;10958;p427"/>
          <p:cNvSpPr/>
          <p:nvPr/>
        </p:nvSpPr>
        <p:spPr>
          <a:xfrm>
            <a:off x="913295" y="2434838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sp>
        <p:nvSpPr>
          <p:cNvPr id="10959" name="Google Shape;10959;p427"/>
          <p:cNvSpPr/>
          <p:nvPr/>
        </p:nvSpPr>
        <p:spPr>
          <a:xfrm>
            <a:off x="1445758" y="2165711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cxnSp>
        <p:nvCxnSpPr>
          <p:cNvPr id="10960" name="Google Shape;10960;p427"/>
          <p:cNvCxnSpPr>
            <a:endCxn id="10955" idx="7"/>
          </p:cNvCxnSpPr>
          <p:nvPr/>
        </p:nvCxnSpPr>
        <p:spPr>
          <a:xfrm flipH="1">
            <a:off x="582362" y="1411129"/>
            <a:ext cx="3774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1" name="Google Shape;10961;p427"/>
          <p:cNvCxnSpPr>
            <a:stCxn id="10957" idx="0"/>
            <a:endCxn id="10955" idx="4"/>
          </p:cNvCxnSpPr>
          <p:nvPr/>
        </p:nvCxnSpPr>
        <p:spPr>
          <a:xfrm rot="10800000">
            <a:off x="470250" y="1855304"/>
            <a:ext cx="0" cy="3096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2" name="Google Shape;10962;p427"/>
          <p:cNvCxnSpPr>
            <a:stCxn id="10958" idx="2"/>
            <a:endCxn id="10957" idx="5"/>
          </p:cNvCxnSpPr>
          <p:nvPr/>
        </p:nvCxnSpPr>
        <p:spPr>
          <a:xfrm rot="10800000">
            <a:off x="582395" y="2428988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3" name="Google Shape;10963;p427"/>
          <p:cNvCxnSpPr>
            <a:stCxn id="10956" idx="2"/>
            <a:endCxn id="10957" idx="6"/>
          </p:cNvCxnSpPr>
          <p:nvPr/>
        </p:nvCxnSpPr>
        <p:spPr>
          <a:xfrm flipH="1">
            <a:off x="628895" y="2010169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4" name="Google Shape;10964;p427"/>
          <p:cNvCxnSpPr>
            <a:stCxn id="10958" idx="2"/>
            <a:endCxn id="10955" idx="4"/>
          </p:cNvCxnSpPr>
          <p:nvPr/>
        </p:nvCxnSpPr>
        <p:spPr>
          <a:xfrm rot="10800000">
            <a:off x="470195" y="1855388"/>
            <a:ext cx="443100" cy="73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5" name="Google Shape;10965;p427"/>
          <p:cNvCxnSpPr>
            <a:stCxn id="10954" idx="2"/>
            <a:endCxn id="10956" idx="7"/>
          </p:cNvCxnSpPr>
          <p:nvPr/>
        </p:nvCxnSpPr>
        <p:spPr>
          <a:xfrm flipH="1">
            <a:off x="1184085" y="1700783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6" name="Google Shape;10966;p427"/>
          <p:cNvCxnSpPr>
            <a:stCxn id="10954" idx="2"/>
            <a:endCxn id="10955" idx="6"/>
          </p:cNvCxnSpPr>
          <p:nvPr/>
        </p:nvCxnSpPr>
        <p:spPr>
          <a:xfrm rot="10800000">
            <a:off x="628785" y="1700783"/>
            <a:ext cx="81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7" name="Google Shape;10967;p427"/>
          <p:cNvCxnSpPr>
            <a:stCxn id="10954" idx="0"/>
            <a:endCxn id="10953" idx="5"/>
          </p:cNvCxnSpPr>
          <p:nvPr/>
        </p:nvCxnSpPr>
        <p:spPr>
          <a:xfrm rot="10800000">
            <a:off x="1183935" y="1411133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8" name="Google Shape;10968;p427"/>
          <p:cNvCxnSpPr>
            <a:stCxn id="10959" idx="7"/>
            <a:endCxn id="10954" idx="4"/>
          </p:cNvCxnSpPr>
          <p:nvPr/>
        </p:nvCxnSpPr>
        <p:spPr>
          <a:xfrm rot="10800000">
            <a:off x="1603876" y="1855441"/>
            <a:ext cx="1128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69" name="Google Shape;10969;p427"/>
          <p:cNvCxnSpPr>
            <a:stCxn id="10959" idx="2"/>
            <a:endCxn id="10956" idx="6"/>
          </p:cNvCxnSpPr>
          <p:nvPr/>
        </p:nvCxnSpPr>
        <p:spPr>
          <a:xfrm rot="10800000">
            <a:off x="1230358" y="2010311"/>
            <a:ext cx="215400" cy="31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70" name="Google Shape;10970;p427"/>
          <p:cNvCxnSpPr>
            <a:stCxn id="10958" idx="0"/>
            <a:endCxn id="10956" idx="4"/>
          </p:cNvCxnSpPr>
          <p:nvPr/>
        </p:nvCxnSpPr>
        <p:spPr>
          <a:xfrm rot="10800000">
            <a:off x="1071845" y="2164838"/>
            <a:ext cx="0" cy="270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71" name="Google Shape;10971;p427"/>
          <p:cNvCxnSpPr>
            <a:stCxn id="10958" idx="6"/>
            <a:endCxn id="10959" idx="3"/>
          </p:cNvCxnSpPr>
          <p:nvPr/>
        </p:nvCxnSpPr>
        <p:spPr>
          <a:xfrm flipH="1" rot="10800000">
            <a:off x="1230395" y="2434688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72" name="Google Shape;10972;p427"/>
          <p:cNvCxnSpPr>
            <a:stCxn id="10957" idx="6"/>
            <a:endCxn id="10959" idx="2"/>
          </p:cNvCxnSpPr>
          <p:nvPr/>
        </p:nvCxnSpPr>
        <p:spPr>
          <a:xfrm>
            <a:off x="628800" y="2319554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73" name="Google Shape;10973;p427"/>
          <p:cNvCxnSpPr>
            <a:stCxn id="10957" idx="6"/>
            <a:endCxn id="10953" idx="4"/>
          </p:cNvCxnSpPr>
          <p:nvPr/>
        </p:nvCxnSpPr>
        <p:spPr>
          <a:xfrm flipH="1" rot="10800000">
            <a:off x="628800" y="1456454"/>
            <a:ext cx="443100" cy="86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74" name="Google Shape;10974;p427"/>
          <p:cNvCxnSpPr>
            <a:stCxn id="10956" idx="0"/>
            <a:endCxn id="10953" idx="4"/>
          </p:cNvCxnSpPr>
          <p:nvPr/>
        </p:nvCxnSpPr>
        <p:spPr>
          <a:xfrm rot="10800000">
            <a:off x="1071845" y="1456519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75" name="Google Shape;10975;p427"/>
          <p:cNvCxnSpPr>
            <a:stCxn id="10953" idx="4"/>
            <a:endCxn id="10959" idx="1"/>
          </p:cNvCxnSpPr>
          <p:nvPr/>
        </p:nvCxnSpPr>
        <p:spPr>
          <a:xfrm>
            <a:off x="1071845" y="1456525"/>
            <a:ext cx="420300" cy="755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76" name="Google Shape;10976;p427"/>
          <p:cNvCxnSpPr>
            <a:stCxn id="10958" idx="6"/>
            <a:endCxn id="10954" idx="3"/>
          </p:cNvCxnSpPr>
          <p:nvPr/>
        </p:nvCxnSpPr>
        <p:spPr>
          <a:xfrm flipH="1" rot="10800000">
            <a:off x="1230395" y="1810088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77" name="Google Shape;10977;p427"/>
          <p:cNvCxnSpPr>
            <a:stCxn id="10956" idx="1"/>
            <a:endCxn id="10955" idx="6"/>
          </p:cNvCxnSpPr>
          <p:nvPr/>
        </p:nvCxnSpPr>
        <p:spPr>
          <a:xfrm rot="10800000">
            <a:off x="628834" y="1700715"/>
            <a:ext cx="3309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978" name="Google Shape;10978;p427"/>
          <p:cNvSpPr/>
          <p:nvPr/>
        </p:nvSpPr>
        <p:spPr>
          <a:xfrm>
            <a:off x="1128323" y="311777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17</a:t>
            </a:r>
            <a:endParaRPr/>
          </a:p>
        </p:txBody>
      </p:sp>
      <p:sp>
        <p:nvSpPr>
          <p:cNvPr id="10979" name="Google Shape;10979;p427"/>
          <p:cNvSpPr/>
          <p:nvPr/>
        </p:nvSpPr>
        <p:spPr>
          <a:xfrm>
            <a:off x="1660413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19</a:t>
            </a:r>
            <a:endParaRPr/>
          </a:p>
        </p:txBody>
      </p:sp>
      <p:sp>
        <p:nvSpPr>
          <p:cNvPr id="10980" name="Google Shape;10980;p427"/>
          <p:cNvSpPr/>
          <p:nvPr/>
        </p:nvSpPr>
        <p:spPr>
          <a:xfrm>
            <a:off x="596234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18</a:t>
            </a:r>
            <a:endParaRPr/>
          </a:p>
        </p:txBody>
      </p:sp>
      <p:sp>
        <p:nvSpPr>
          <p:cNvPr id="10981" name="Google Shape;10981;p427"/>
          <p:cNvSpPr/>
          <p:nvPr/>
        </p:nvSpPr>
        <p:spPr>
          <a:xfrm>
            <a:off x="1128323" y="382607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</a:t>
            </a:r>
            <a:endParaRPr/>
          </a:p>
        </p:txBody>
      </p:sp>
      <p:sp>
        <p:nvSpPr>
          <p:cNvPr id="10982" name="Google Shape;10982;p427"/>
          <p:cNvSpPr/>
          <p:nvPr/>
        </p:nvSpPr>
        <p:spPr>
          <a:xfrm>
            <a:off x="526728" y="413545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</a:t>
            </a:r>
            <a:endParaRPr/>
          </a:p>
        </p:txBody>
      </p:sp>
      <p:sp>
        <p:nvSpPr>
          <p:cNvPr id="10983" name="Google Shape;10983;p427"/>
          <p:cNvSpPr/>
          <p:nvPr/>
        </p:nvSpPr>
        <p:spPr>
          <a:xfrm>
            <a:off x="1128323" y="440539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23</a:t>
            </a:r>
            <a:endParaRPr/>
          </a:p>
        </p:txBody>
      </p:sp>
      <p:sp>
        <p:nvSpPr>
          <p:cNvPr id="10984" name="Google Shape;10984;p427"/>
          <p:cNvSpPr/>
          <p:nvPr/>
        </p:nvSpPr>
        <p:spPr>
          <a:xfrm>
            <a:off x="1660786" y="4136262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22</a:t>
            </a:r>
            <a:endParaRPr/>
          </a:p>
        </p:txBody>
      </p:sp>
      <p:cxnSp>
        <p:nvCxnSpPr>
          <p:cNvPr id="10985" name="Google Shape;10985;p427"/>
          <p:cNvCxnSpPr>
            <a:stCxn id="10978" idx="3"/>
            <a:endCxn id="10980" idx="7"/>
          </p:cNvCxnSpPr>
          <p:nvPr/>
        </p:nvCxnSpPr>
        <p:spPr>
          <a:xfrm flipH="1">
            <a:off x="866962" y="3381780"/>
            <a:ext cx="3078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86" name="Google Shape;10986;p427"/>
          <p:cNvCxnSpPr>
            <a:stCxn id="10983" idx="2"/>
            <a:endCxn id="10982" idx="5"/>
          </p:cNvCxnSpPr>
          <p:nvPr/>
        </p:nvCxnSpPr>
        <p:spPr>
          <a:xfrm rot="10800000">
            <a:off x="797423" y="4399540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87" name="Google Shape;10987;p427"/>
          <p:cNvCxnSpPr>
            <a:stCxn id="10981" idx="2"/>
            <a:endCxn id="10982" idx="6"/>
          </p:cNvCxnSpPr>
          <p:nvPr/>
        </p:nvCxnSpPr>
        <p:spPr>
          <a:xfrm flipH="1">
            <a:off x="843923" y="3980720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88" name="Google Shape;10988;p427"/>
          <p:cNvCxnSpPr>
            <a:stCxn id="10982" idx="0"/>
            <a:endCxn id="10980" idx="4"/>
          </p:cNvCxnSpPr>
          <p:nvPr/>
        </p:nvCxnSpPr>
        <p:spPr>
          <a:xfrm flipH="1" rot="10800000">
            <a:off x="685278" y="3825856"/>
            <a:ext cx="696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89" name="Google Shape;10989;p427"/>
          <p:cNvCxnSpPr>
            <a:stCxn id="10979" idx="2"/>
            <a:endCxn id="10981" idx="7"/>
          </p:cNvCxnSpPr>
          <p:nvPr/>
        </p:nvCxnSpPr>
        <p:spPr>
          <a:xfrm flipH="1">
            <a:off x="1399113" y="3671335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0" name="Google Shape;10990;p427"/>
          <p:cNvCxnSpPr>
            <a:stCxn id="10979" idx="0"/>
            <a:endCxn id="10978" idx="5"/>
          </p:cNvCxnSpPr>
          <p:nvPr/>
        </p:nvCxnSpPr>
        <p:spPr>
          <a:xfrm rot="10800000">
            <a:off x="1398963" y="3381685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1" name="Google Shape;10991;p427"/>
          <p:cNvCxnSpPr>
            <a:stCxn id="10984" idx="0"/>
            <a:endCxn id="10979" idx="4"/>
          </p:cNvCxnSpPr>
          <p:nvPr/>
        </p:nvCxnSpPr>
        <p:spPr>
          <a:xfrm rot="10800000">
            <a:off x="1818886" y="3826062"/>
            <a:ext cx="600" cy="310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2" name="Google Shape;10992;p427"/>
          <p:cNvCxnSpPr>
            <a:stCxn id="10983" idx="6"/>
            <a:endCxn id="10984" idx="3"/>
          </p:cNvCxnSpPr>
          <p:nvPr/>
        </p:nvCxnSpPr>
        <p:spPr>
          <a:xfrm flipH="1" rot="10800000">
            <a:off x="1445423" y="4405240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3" name="Google Shape;10993;p427"/>
          <p:cNvCxnSpPr>
            <a:stCxn id="10982" idx="6"/>
            <a:endCxn id="10984" idx="2"/>
          </p:cNvCxnSpPr>
          <p:nvPr/>
        </p:nvCxnSpPr>
        <p:spPr>
          <a:xfrm>
            <a:off x="843828" y="4290106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4" name="Google Shape;10994;p427"/>
          <p:cNvCxnSpPr>
            <a:stCxn id="10981" idx="0"/>
            <a:endCxn id="10978" idx="4"/>
          </p:cNvCxnSpPr>
          <p:nvPr/>
        </p:nvCxnSpPr>
        <p:spPr>
          <a:xfrm rot="10800000">
            <a:off x="1286873" y="3427070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5" name="Google Shape;10995;p427"/>
          <p:cNvCxnSpPr>
            <a:stCxn id="10983" idx="6"/>
            <a:endCxn id="10979" idx="3"/>
          </p:cNvCxnSpPr>
          <p:nvPr/>
        </p:nvCxnSpPr>
        <p:spPr>
          <a:xfrm flipH="1" rot="10800000">
            <a:off x="1445423" y="3780640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6" name="Google Shape;10996;p427"/>
          <p:cNvCxnSpPr>
            <a:stCxn id="10981" idx="1"/>
            <a:endCxn id="10980" idx="6"/>
          </p:cNvCxnSpPr>
          <p:nvPr/>
        </p:nvCxnSpPr>
        <p:spPr>
          <a:xfrm rot="10800000">
            <a:off x="913462" y="3671266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7" name="Google Shape;10997;p427"/>
          <p:cNvCxnSpPr>
            <a:stCxn id="10982" idx="1"/>
            <a:endCxn id="10957" idx="4"/>
          </p:cNvCxnSpPr>
          <p:nvPr/>
        </p:nvCxnSpPr>
        <p:spPr>
          <a:xfrm rot="10800000">
            <a:off x="470266" y="2474352"/>
            <a:ext cx="102900" cy="170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98" name="Google Shape;10998;p427"/>
          <p:cNvCxnSpPr>
            <a:stCxn id="10979" idx="0"/>
            <a:endCxn id="10959" idx="4"/>
          </p:cNvCxnSpPr>
          <p:nvPr/>
        </p:nvCxnSpPr>
        <p:spPr>
          <a:xfrm rot="10800000">
            <a:off x="1604463" y="2480785"/>
            <a:ext cx="214500" cy="103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999" name="Google Shape;10999;p427"/>
          <p:cNvSpPr/>
          <p:nvPr/>
        </p:nvSpPr>
        <p:spPr>
          <a:xfrm>
            <a:off x="2195893" y="18556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1000" name="Google Shape;11000;p427"/>
          <p:cNvSpPr/>
          <p:nvPr/>
        </p:nvSpPr>
        <p:spPr>
          <a:xfrm>
            <a:off x="2195893" y="27130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1001" name="Google Shape;11001;p427"/>
          <p:cNvSpPr/>
          <p:nvPr/>
        </p:nvSpPr>
        <p:spPr>
          <a:xfrm>
            <a:off x="256379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1002" name="Google Shape;11002;p427"/>
          <p:cNvSpPr/>
          <p:nvPr/>
        </p:nvSpPr>
        <p:spPr>
          <a:xfrm>
            <a:off x="2880801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1003" name="Google Shape;11003;p427"/>
          <p:cNvSpPr/>
          <p:nvPr/>
        </p:nvSpPr>
        <p:spPr>
          <a:xfrm>
            <a:off x="3749082" y="1679501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1004" name="Google Shape;11004;p427"/>
          <p:cNvSpPr/>
          <p:nvPr/>
        </p:nvSpPr>
        <p:spPr>
          <a:xfrm>
            <a:off x="327440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sp>
        <p:nvSpPr>
          <p:cNvPr id="11005" name="Google Shape;11005;p427"/>
          <p:cNvSpPr/>
          <p:nvPr/>
        </p:nvSpPr>
        <p:spPr>
          <a:xfrm>
            <a:off x="4341627" y="2211777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sp>
        <p:nvSpPr>
          <p:cNvPr id="11006" name="Google Shape;11006;p427"/>
          <p:cNvSpPr/>
          <p:nvPr/>
        </p:nvSpPr>
        <p:spPr>
          <a:xfrm>
            <a:off x="3374610" y="291580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</a:t>
            </a:r>
            <a:endParaRPr/>
          </a:p>
        </p:txBody>
      </p:sp>
      <p:sp>
        <p:nvSpPr>
          <p:cNvPr id="11007" name="Google Shape;11007;p427"/>
          <p:cNvSpPr/>
          <p:nvPr/>
        </p:nvSpPr>
        <p:spPr>
          <a:xfrm>
            <a:off x="4223529" y="307246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</a:t>
            </a:r>
            <a:endParaRPr/>
          </a:p>
        </p:txBody>
      </p:sp>
      <p:cxnSp>
        <p:nvCxnSpPr>
          <p:cNvPr id="11008" name="Google Shape;11008;p427"/>
          <p:cNvCxnSpPr>
            <a:stCxn id="10959" idx="6"/>
            <a:endCxn id="10999" idx="3"/>
          </p:cNvCxnSpPr>
          <p:nvPr/>
        </p:nvCxnSpPr>
        <p:spPr>
          <a:xfrm flipH="1" rot="10800000">
            <a:off x="1763158" y="2119511"/>
            <a:ext cx="479100" cy="20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09" name="Google Shape;11009;p427"/>
          <p:cNvCxnSpPr>
            <a:stCxn id="11000" idx="2"/>
            <a:endCxn id="10959" idx="6"/>
          </p:cNvCxnSpPr>
          <p:nvPr/>
        </p:nvCxnSpPr>
        <p:spPr>
          <a:xfrm rot="10800000">
            <a:off x="1763293" y="2323154"/>
            <a:ext cx="432600" cy="54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0" name="Google Shape;11010;p427"/>
          <p:cNvCxnSpPr>
            <a:stCxn id="11001" idx="2"/>
            <a:endCxn id="10959" idx="6"/>
          </p:cNvCxnSpPr>
          <p:nvPr/>
        </p:nvCxnSpPr>
        <p:spPr>
          <a:xfrm rot="10800000">
            <a:off x="1763093" y="2323249"/>
            <a:ext cx="800700" cy="13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1" name="Google Shape;11011;p427"/>
          <p:cNvCxnSpPr>
            <a:stCxn id="11000" idx="0"/>
            <a:endCxn id="10999" idx="4"/>
          </p:cNvCxnSpPr>
          <p:nvPr/>
        </p:nvCxnSpPr>
        <p:spPr>
          <a:xfrm rot="10800000">
            <a:off x="2354443" y="2164904"/>
            <a:ext cx="0" cy="548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2" name="Google Shape;11012;p427"/>
          <p:cNvCxnSpPr>
            <a:stCxn id="11001" idx="0"/>
            <a:endCxn id="10999" idx="5"/>
          </p:cNvCxnSpPr>
          <p:nvPr/>
        </p:nvCxnSpPr>
        <p:spPr>
          <a:xfrm rot="10800000">
            <a:off x="2466443" y="2119699"/>
            <a:ext cx="2559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3" name="Google Shape;11013;p427"/>
          <p:cNvCxnSpPr>
            <a:stCxn id="11000" idx="6"/>
            <a:endCxn id="11001" idx="4"/>
          </p:cNvCxnSpPr>
          <p:nvPr/>
        </p:nvCxnSpPr>
        <p:spPr>
          <a:xfrm flipH="1" rot="10800000">
            <a:off x="2512993" y="2609354"/>
            <a:ext cx="209400" cy="25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4" name="Google Shape;11014;p427"/>
          <p:cNvCxnSpPr>
            <a:stCxn id="10999" idx="6"/>
            <a:endCxn id="11002" idx="2"/>
          </p:cNvCxnSpPr>
          <p:nvPr/>
        </p:nvCxnSpPr>
        <p:spPr>
          <a:xfrm flipH="1" rot="10800000">
            <a:off x="2512993" y="1700675"/>
            <a:ext cx="3678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5" name="Google Shape;11015;p427"/>
          <p:cNvCxnSpPr>
            <a:stCxn id="11003" idx="2"/>
            <a:endCxn id="11002" idx="6"/>
          </p:cNvCxnSpPr>
          <p:nvPr/>
        </p:nvCxnSpPr>
        <p:spPr>
          <a:xfrm rot="10800000">
            <a:off x="3197982" y="1700651"/>
            <a:ext cx="551100" cy="13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6" name="Google Shape;11016;p427"/>
          <p:cNvCxnSpPr>
            <a:stCxn id="11005" idx="1"/>
            <a:endCxn id="11003" idx="5"/>
          </p:cNvCxnSpPr>
          <p:nvPr/>
        </p:nvCxnSpPr>
        <p:spPr>
          <a:xfrm rot="10800000">
            <a:off x="4019665" y="1943573"/>
            <a:ext cx="368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7" name="Google Shape;11017;p427"/>
          <p:cNvCxnSpPr>
            <a:stCxn id="11004" idx="7"/>
            <a:endCxn id="11003" idx="4"/>
          </p:cNvCxnSpPr>
          <p:nvPr/>
        </p:nvCxnSpPr>
        <p:spPr>
          <a:xfrm flipH="1" rot="10800000">
            <a:off x="3545065" y="1988895"/>
            <a:ext cx="3627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8" name="Google Shape;11018;p427"/>
          <p:cNvCxnSpPr>
            <a:stCxn id="11007" idx="1"/>
            <a:endCxn id="11004" idx="5"/>
          </p:cNvCxnSpPr>
          <p:nvPr/>
        </p:nvCxnSpPr>
        <p:spPr>
          <a:xfrm rot="10800000">
            <a:off x="3545168" y="2563956"/>
            <a:ext cx="724800" cy="55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9" name="Google Shape;11019;p427"/>
          <p:cNvCxnSpPr>
            <a:stCxn id="11007" idx="2"/>
            <a:endCxn id="11006" idx="5"/>
          </p:cNvCxnSpPr>
          <p:nvPr/>
        </p:nvCxnSpPr>
        <p:spPr>
          <a:xfrm rot="10800000">
            <a:off x="3645129" y="3179710"/>
            <a:ext cx="578400" cy="4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20" name="Google Shape;11020;p427"/>
          <p:cNvCxnSpPr>
            <a:stCxn id="11006" idx="2"/>
            <a:endCxn id="11000" idx="6"/>
          </p:cNvCxnSpPr>
          <p:nvPr/>
        </p:nvCxnSpPr>
        <p:spPr>
          <a:xfrm rot="10800000">
            <a:off x="2513010" y="2867656"/>
            <a:ext cx="861600" cy="202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21" name="Google Shape;11021;p427"/>
          <p:cNvCxnSpPr>
            <a:stCxn id="11007" idx="0"/>
            <a:endCxn id="11005" idx="4"/>
          </p:cNvCxnSpPr>
          <p:nvPr/>
        </p:nvCxnSpPr>
        <p:spPr>
          <a:xfrm flipH="1" rot="10800000">
            <a:off x="4382079" y="2521060"/>
            <a:ext cx="118200" cy="55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22" name="Google Shape;11022;p427"/>
          <p:cNvCxnSpPr>
            <a:stCxn id="11004" idx="2"/>
            <a:endCxn id="11001" idx="6"/>
          </p:cNvCxnSpPr>
          <p:nvPr/>
        </p:nvCxnSpPr>
        <p:spPr>
          <a:xfrm rot="10800000">
            <a:off x="2880803" y="2454649"/>
            <a:ext cx="393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023" name="Google Shape;11023;p427"/>
          <p:cNvSpPr txBox="1"/>
          <p:nvPr>
            <p:ph type="title"/>
          </p:nvPr>
        </p:nvSpPr>
        <p:spPr>
          <a:xfrm>
            <a:off x="311700" y="315925"/>
            <a:ext cx="54051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Cohesive Blocking </a:t>
            </a:r>
            <a:endParaRPr/>
          </a:p>
        </p:txBody>
      </p:sp>
      <p:sp>
        <p:nvSpPr>
          <p:cNvPr id="11024" name="Google Shape;11024;p427"/>
          <p:cNvSpPr txBox="1"/>
          <p:nvPr/>
        </p:nvSpPr>
        <p:spPr>
          <a:xfrm>
            <a:off x="2691175" y="3706850"/>
            <a:ext cx="2476200" cy="116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This graph is 1-connected! Can you tell which node we need to remove?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1025" name="Google Shape;11025;p427"/>
          <p:cNvSpPr/>
          <p:nvPr/>
        </p:nvSpPr>
        <p:spPr>
          <a:xfrm>
            <a:off x="6584850" y="1958150"/>
            <a:ext cx="863100" cy="4179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G</a:t>
            </a:r>
            <a:endParaRPr b="1"/>
          </a:p>
        </p:txBody>
      </p:sp>
      <p:sp>
        <p:nvSpPr>
          <p:cNvPr id="11026" name="Google Shape;11026;p427"/>
          <p:cNvSpPr txBox="1"/>
          <p:nvPr>
            <p:ph idx="4294967295" type="body"/>
          </p:nvPr>
        </p:nvSpPr>
        <p:spPr>
          <a:xfrm>
            <a:off x="5342550" y="315925"/>
            <a:ext cx="3580800" cy="1765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 sz="1400">
                <a:solidFill>
                  <a:srgbClr val="FF0000"/>
                </a:solidFill>
              </a:rPr>
              <a:t>Identify the k-connectivity of the input graph (G)</a:t>
            </a:r>
            <a:endParaRPr b="1" sz="1400">
              <a:solidFill>
                <a:srgbClr val="FF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Remove the k-cutset (vertices)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 sz="1400"/>
              <a:t>Do the same on the resulting subgraphs until no more subdivisions can be obtained </a:t>
            </a:r>
            <a:endParaRPr sz="1400"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30" name="Shape 1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1" name="Google Shape;11031;p428"/>
          <p:cNvSpPr/>
          <p:nvPr/>
        </p:nvSpPr>
        <p:spPr>
          <a:xfrm>
            <a:off x="913295" y="11472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1032" name="Google Shape;11032;p428"/>
          <p:cNvSpPr/>
          <p:nvPr/>
        </p:nvSpPr>
        <p:spPr>
          <a:xfrm>
            <a:off x="1445385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1033" name="Google Shape;11033;p428"/>
          <p:cNvSpPr/>
          <p:nvPr/>
        </p:nvSpPr>
        <p:spPr>
          <a:xfrm>
            <a:off x="311700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1034" name="Google Shape;11034;p428"/>
          <p:cNvSpPr/>
          <p:nvPr/>
        </p:nvSpPr>
        <p:spPr>
          <a:xfrm>
            <a:off x="913295" y="185551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1035" name="Google Shape;11035;p428"/>
          <p:cNvSpPr/>
          <p:nvPr/>
        </p:nvSpPr>
        <p:spPr>
          <a:xfrm>
            <a:off x="311700" y="21649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1036" name="Google Shape;11036;p428"/>
          <p:cNvSpPr/>
          <p:nvPr/>
        </p:nvSpPr>
        <p:spPr>
          <a:xfrm>
            <a:off x="913295" y="2434838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sp>
        <p:nvSpPr>
          <p:cNvPr id="11037" name="Google Shape;11037;p428"/>
          <p:cNvSpPr/>
          <p:nvPr/>
        </p:nvSpPr>
        <p:spPr>
          <a:xfrm>
            <a:off x="1445758" y="2165711"/>
            <a:ext cx="317400" cy="3150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</a:t>
            </a:r>
            <a:endParaRPr/>
          </a:p>
        </p:txBody>
      </p:sp>
      <p:cxnSp>
        <p:nvCxnSpPr>
          <p:cNvPr id="11038" name="Google Shape;11038;p428"/>
          <p:cNvCxnSpPr>
            <a:endCxn id="11033" idx="7"/>
          </p:cNvCxnSpPr>
          <p:nvPr/>
        </p:nvCxnSpPr>
        <p:spPr>
          <a:xfrm flipH="1">
            <a:off x="582362" y="1411129"/>
            <a:ext cx="3774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39" name="Google Shape;11039;p428"/>
          <p:cNvCxnSpPr>
            <a:stCxn id="11035" idx="0"/>
            <a:endCxn id="11033" idx="4"/>
          </p:cNvCxnSpPr>
          <p:nvPr/>
        </p:nvCxnSpPr>
        <p:spPr>
          <a:xfrm rot="10800000">
            <a:off x="470250" y="1855304"/>
            <a:ext cx="0" cy="3096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0" name="Google Shape;11040;p428"/>
          <p:cNvCxnSpPr>
            <a:stCxn id="11036" idx="2"/>
            <a:endCxn id="11035" idx="5"/>
          </p:cNvCxnSpPr>
          <p:nvPr/>
        </p:nvCxnSpPr>
        <p:spPr>
          <a:xfrm rot="10800000">
            <a:off x="582395" y="2428988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1" name="Google Shape;11041;p428"/>
          <p:cNvCxnSpPr>
            <a:stCxn id="11034" idx="2"/>
            <a:endCxn id="11035" idx="6"/>
          </p:cNvCxnSpPr>
          <p:nvPr/>
        </p:nvCxnSpPr>
        <p:spPr>
          <a:xfrm flipH="1">
            <a:off x="628895" y="2010169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2" name="Google Shape;11042;p428"/>
          <p:cNvCxnSpPr>
            <a:stCxn id="11036" idx="2"/>
            <a:endCxn id="11033" idx="4"/>
          </p:cNvCxnSpPr>
          <p:nvPr/>
        </p:nvCxnSpPr>
        <p:spPr>
          <a:xfrm rot="10800000">
            <a:off x="470195" y="1855388"/>
            <a:ext cx="443100" cy="73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3" name="Google Shape;11043;p428"/>
          <p:cNvCxnSpPr>
            <a:stCxn id="11032" idx="2"/>
            <a:endCxn id="11034" idx="7"/>
          </p:cNvCxnSpPr>
          <p:nvPr/>
        </p:nvCxnSpPr>
        <p:spPr>
          <a:xfrm flipH="1">
            <a:off x="1184085" y="1700783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4" name="Google Shape;11044;p428"/>
          <p:cNvCxnSpPr>
            <a:stCxn id="11032" idx="2"/>
            <a:endCxn id="11033" idx="6"/>
          </p:cNvCxnSpPr>
          <p:nvPr/>
        </p:nvCxnSpPr>
        <p:spPr>
          <a:xfrm rot="10800000">
            <a:off x="628785" y="1700783"/>
            <a:ext cx="81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5" name="Google Shape;11045;p428"/>
          <p:cNvCxnSpPr>
            <a:stCxn id="11032" idx="0"/>
            <a:endCxn id="11031" idx="5"/>
          </p:cNvCxnSpPr>
          <p:nvPr/>
        </p:nvCxnSpPr>
        <p:spPr>
          <a:xfrm rot="10800000">
            <a:off x="1183935" y="1411133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6" name="Google Shape;11046;p428"/>
          <p:cNvCxnSpPr>
            <a:stCxn id="11037" idx="7"/>
            <a:endCxn id="11032" idx="4"/>
          </p:cNvCxnSpPr>
          <p:nvPr/>
        </p:nvCxnSpPr>
        <p:spPr>
          <a:xfrm rot="10800000">
            <a:off x="1603876" y="1855441"/>
            <a:ext cx="1128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7" name="Google Shape;11047;p428"/>
          <p:cNvCxnSpPr>
            <a:stCxn id="11037" idx="2"/>
            <a:endCxn id="11034" idx="6"/>
          </p:cNvCxnSpPr>
          <p:nvPr/>
        </p:nvCxnSpPr>
        <p:spPr>
          <a:xfrm rot="10800000">
            <a:off x="1230358" y="2010311"/>
            <a:ext cx="215400" cy="312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8" name="Google Shape;11048;p428"/>
          <p:cNvCxnSpPr>
            <a:stCxn id="11036" idx="0"/>
            <a:endCxn id="11034" idx="4"/>
          </p:cNvCxnSpPr>
          <p:nvPr/>
        </p:nvCxnSpPr>
        <p:spPr>
          <a:xfrm rot="10800000">
            <a:off x="1071845" y="2164838"/>
            <a:ext cx="0" cy="270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49" name="Google Shape;11049;p428"/>
          <p:cNvCxnSpPr>
            <a:stCxn id="11036" idx="6"/>
            <a:endCxn id="11037" idx="3"/>
          </p:cNvCxnSpPr>
          <p:nvPr/>
        </p:nvCxnSpPr>
        <p:spPr>
          <a:xfrm flipH="1" rot="10800000">
            <a:off x="1230395" y="2434688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50" name="Google Shape;11050;p428"/>
          <p:cNvCxnSpPr>
            <a:stCxn id="11035" idx="6"/>
            <a:endCxn id="11037" idx="2"/>
          </p:cNvCxnSpPr>
          <p:nvPr/>
        </p:nvCxnSpPr>
        <p:spPr>
          <a:xfrm>
            <a:off x="628800" y="2319554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51" name="Google Shape;11051;p428"/>
          <p:cNvCxnSpPr>
            <a:stCxn id="11035" idx="6"/>
            <a:endCxn id="11031" idx="4"/>
          </p:cNvCxnSpPr>
          <p:nvPr/>
        </p:nvCxnSpPr>
        <p:spPr>
          <a:xfrm flipH="1" rot="10800000">
            <a:off x="628800" y="1456454"/>
            <a:ext cx="443100" cy="86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52" name="Google Shape;11052;p428"/>
          <p:cNvCxnSpPr>
            <a:stCxn id="11034" idx="0"/>
            <a:endCxn id="11031" idx="4"/>
          </p:cNvCxnSpPr>
          <p:nvPr/>
        </p:nvCxnSpPr>
        <p:spPr>
          <a:xfrm rot="10800000">
            <a:off x="1071845" y="1456519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53" name="Google Shape;11053;p428"/>
          <p:cNvCxnSpPr>
            <a:stCxn id="11031" idx="4"/>
            <a:endCxn id="11037" idx="1"/>
          </p:cNvCxnSpPr>
          <p:nvPr/>
        </p:nvCxnSpPr>
        <p:spPr>
          <a:xfrm>
            <a:off x="1071845" y="1456525"/>
            <a:ext cx="420300" cy="755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54" name="Google Shape;11054;p428"/>
          <p:cNvCxnSpPr>
            <a:stCxn id="11036" idx="6"/>
            <a:endCxn id="11032" idx="3"/>
          </p:cNvCxnSpPr>
          <p:nvPr/>
        </p:nvCxnSpPr>
        <p:spPr>
          <a:xfrm flipH="1" rot="10800000">
            <a:off x="1230395" y="1810088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55" name="Google Shape;11055;p428"/>
          <p:cNvCxnSpPr>
            <a:stCxn id="11034" idx="1"/>
            <a:endCxn id="11033" idx="6"/>
          </p:cNvCxnSpPr>
          <p:nvPr/>
        </p:nvCxnSpPr>
        <p:spPr>
          <a:xfrm rot="10800000">
            <a:off x="628834" y="1700715"/>
            <a:ext cx="3309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056" name="Google Shape;11056;p428"/>
          <p:cNvSpPr/>
          <p:nvPr/>
        </p:nvSpPr>
        <p:spPr>
          <a:xfrm>
            <a:off x="1128323" y="311777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17</a:t>
            </a:r>
            <a:endParaRPr/>
          </a:p>
        </p:txBody>
      </p:sp>
      <p:sp>
        <p:nvSpPr>
          <p:cNvPr id="11057" name="Google Shape;11057;p428"/>
          <p:cNvSpPr/>
          <p:nvPr/>
        </p:nvSpPr>
        <p:spPr>
          <a:xfrm>
            <a:off x="1660413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19</a:t>
            </a:r>
            <a:endParaRPr/>
          </a:p>
        </p:txBody>
      </p:sp>
      <p:sp>
        <p:nvSpPr>
          <p:cNvPr id="11058" name="Google Shape;11058;p428"/>
          <p:cNvSpPr/>
          <p:nvPr/>
        </p:nvSpPr>
        <p:spPr>
          <a:xfrm>
            <a:off x="596234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18</a:t>
            </a:r>
            <a:endParaRPr/>
          </a:p>
        </p:txBody>
      </p:sp>
      <p:sp>
        <p:nvSpPr>
          <p:cNvPr id="11059" name="Google Shape;11059;p428"/>
          <p:cNvSpPr/>
          <p:nvPr/>
        </p:nvSpPr>
        <p:spPr>
          <a:xfrm>
            <a:off x="1128323" y="382607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</a:t>
            </a:r>
            <a:endParaRPr/>
          </a:p>
        </p:txBody>
      </p:sp>
      <p:sp>
        <p:nvSpPr>
          <p:cNvPr id="11060" name="Google Shape;11060;p428"/>
          <p:cNvSpPr/>
          <p:nvPr/>
        </p:nvSpPr>
        <p:spPr>
          <a:xfrm>
            <a:off x="526728" y="413545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</a:t>
            </a:r>
            <a:endParaRPr/>
          </a:p>
        </p:txBody>
      </p:sp>
      <p:sp>
        <p:nvSpPr>
          <p:cNvPr id="11061" name="Google Shape;11061;p428"/>
          <p:cNvSpPr/>
          <p:nvPr/>
        </p:nvSpPr>
        <p:spPr>
          <a:xfrm>
            <a:off x="1128323" y="440539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23</a:t>
            </a:r>
            <a:endParaRPr/>
          </a:p>
        </p:txBody>
      </p:sp>
      <p:sp>
        <p:nvSpPr>
          <p:cNvPr id="11062" name="Google Shape;11062;p428"/>
          <p:cNvSpPr/>
          <p:nvPr/>
        </p:nvSpPr>
        <p:spPr>
          <a:xfrm>
            <a:off x="1660786" y="4136262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22</a:t>
            </a:r>
            <a:endParaRPr/>
          </a:p>
        </p:txBody>
      </p:sp>
      <p:cxnSp>
        <p:nvCxnSpPr>
          <p:cNvPr id="11063" name="Google Shape;11063;p428"/>
          <p:cNvCxnSpPr>
            <a:stCxn id="11056" idx="3"/>
            <a:endCxn id="11058" idx="7"/>
          </p:cNvCxnSpPr>
          <p:nvPr/>
        </p:nvCxnSpPr>
        <p:spPr>
          <a:xfrm flipH="1">
            <a:off x="866962" y="3381780"/>
            <a:ext cx="3078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64" name="Google Shape;11064;p428"/>
          <p:cNvCxnSpPr>
            <a:stCxn id="11061" idx="2"/>
            <a:endCxn id="11060" idx="5"/>
          </p:cNvCxnSpPr>
          <p:nvPr/>
        </p:nvCxnSpPr>
        <p:spPr>
          <a:xfrm rot="10800000">
            <a:off x="797423" y="4399540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65" name="Google Shape;11065;p428"/>
          <p:cNvCxnSpPr>
            <a:stCxn id="11059" idx="2"/>
            <a:endCxn id="11060" idx="6"/>
          </p:cNvCxnSpPr>
          <p:nvPr/>
        </p:nvCxnSpPr>
        <p:spPr>
          <a:xfrm flipH="1">
            <a:off x="843923" y="3980720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66" name="Google Shape;11066;p428"/>
          <p:cNvCxnSpPr>
            <a:stCxn id="11060" idx="0"/>
            <a:endCxn id="11058" idx="4"/>
          </p:cNvCxnSpPr>
          <p:nvPr/>
        </p:nvCxnSpPr>
        <p:spPr>
          <a:xfrm flipH="1" rot="10800000">
            <a:off x="685278" y="3825856"/>
            <a:ext cx="696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67" name="Google Shape;11067;p428"/>
          <p:cNvCxnSpPr>
            <a:stCxn id="11057" idx="2"/>
            <a:endCxn id="11059" idx="7"/>
          </p:cNvCxnSpPr>
          <p:nvPr/>
        </p:nvCxnSpPr>
        <p:spPr>
          <a:xfrm flipH="1">
            <a:off x="1399113" y="3671335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68" name="Google Shape;11068;p428"/>
          <p:cNvCxnSpPr>
            <a:stCxn id="11057" idx="0"/>
            <a:endCxn id="11056" idx="5"/>
          </p:cNvCxnSpPr>
          <p:nvPr/>
        </p:nvCxnSpPr>
        <p:spPr>
          <a:xfrm rot="10800000">
            <a:off x="1398963" y="3381685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69" name="Google Shape;11069;p428"/>
          <p:cNvCxnSpPr>
            <a:stCxn id="11062" idx="0"/>
            <a:endCxn id="11057" idx="4"/>
          </p:cNvCxnSpPr>
          <p:nvPr/>
        </p:nvCxnSpPr>
        <p:spPr>
          <a:xfrm rot="10800000">
            <a:off x="1818886" y="3826062"/>
            <a:ext cx="600" cy="310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70" name="Google Shape;11070;p428"/>
          <p:cNvCxnSpPr>
            <a:stCxn id="11061" idx="6"/>
            <a:endCxn id="11062" idx="3"/>
          </p:cNvCxnSpPr>
          <p:nvPr/>
        </p:nvCxnSpPr>
        <p:spPr>
          <a:xfrm flipH="1" rot="10800000">
            <a:off x="1445423" y="4405240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71" name="Google Shape;11071;p428"/>
          <p:cNvCxnSpPr>
            <a:stCxn id="11060" idx="6"/>
            <a:endCxn id="11062" idx="2"/>
          </p:cNvCxnSpPr>
          <p:nvPr/>
        </p:nvCxnSpPr>
        <p:spPr>
          <a:xfrm>
            <a:off x="843828" y="4290106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72" name="Google Shape;11072;p428"/>
          <p:cNvCxnSpPr>
            <a:stCxn id="11059" idx="0"/>
            <a:endCxn id="11056" idx="4"/>
          </p:cNvCxnSpPr>
          <p:nvPr/>
        </p:nvCxnSpPr>
        <p:spPr>
          <a:xfrm rot="10800000">
            <a:off x="1286873" y="3427070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73" name="Google Shape;11073;p428"/>
          <p:cNvCxnSpPr>
            <a:stCxn id="11061" idx="6"/>
            <a:endCxn id="11057" idx="3"/>
          </p:cNvCxnSpPr>
          <p:nvPr/>
        </p:nvCxnSpPr>
        <p:spPr>
          <a:xfrm flipH="1" rot="10800000">
            <a:off x="1445423" y="3780640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74" name="Google Shape;11074;p428"/>
          <p:cNvCxnSpPr>
            <a:stCxn id="11059" idx="1"/>
            <a:endCxn id="11058" idx="6"/>
          </p:cNvCxnSpPr>
          <p:nvPr/>
        </p:nvCxnSpPr>
        <p:spPr>
          <a:xfrm rot="10800000">
            <a:off x="913462" y="3671266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75" name="Google Shape;11075;p428"/>
          <p:cNvCxnSpPr>
            <a:stCxn id="11060" idx="1"/>
            <a:endCxn id="11035" idx="4"/>
          </p:cNvCxnSpPr>
          <p:nvPr/>
        </p:nvCxnSpPr>
        <p:spPr>
          <a:xfrm rot="10800000">
            <a:off x="470266" y="2474352"/>
            <a:ext cx="102900" cy="170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76" name="Google Shape;11076;p428"/>
          <p:cNvCxnSpPr>
            <a:stCxn id="11057" idx="0"/>
            <a:endCxn id="11037" idx="4"/>
          </p:cNvCxnSpPr>
          <p:nvPr/>
        </p:nvCxnSpPr>
        <p:spPr>
          <a:xfrm rot="10800000">
            <a:off x="1604463" y="2480785"/>
            <a:ext cx="214500" cy="103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077" name="Google Shape;11077;p428"/>
          <p:cNvSpPr/>
          <p:nvPr/>
        </p:nvSpPr>
        <p:spPr>
          <a:xfrm>
            <a:off x="2195893" y="18556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1078" name="Google Shape;11078;p428"/>
          <p:cNvSpPr/>
          <p:nvPr/>
        </p:nvSpPr>
        <p:spPr>
          <a:xfrm>
            <a:off x="2195893" y="27130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1079" name="Google Shape;11079;p428"/>
          <p:cNvSpPr/>
          <p:nvPr/>
        </p:nvSpPr>
        <p:spPr>
          <a:xfrm>
            <a:off x="256379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1080" name="Google Shape;11080;p428"/>
          <p:cNvSpPr/>
          <p:nvPr/>
        </p:nvSpPr>
        <p:spPr>
          <a:xfrm>
            <a:off x="2880801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1081" name="Google Shape;11081;p428"/>
          <p:cNvSpPr/>
          <p:nvPr/>
        </p:nvSpPr>
        <p:spPr>
          <a:xfrm>
            <a:off x="3749082" y="1679501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1082" name="Google Shape;11082;p428"/>
          <p:cNvSpPr/>
          <p:nvPr/>
        </p:nvSpPr>
        <p:spPr>
          <a:xfrm>
            <a:off x="327440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sp>
        <p:nvSpPr>
          <p:cNvPr id="11083" name="Google Shape;11083;p428"/>
          <p:cNvSpPr/>
          <p:nvPr/>
        </p:nvSpPr>
        <p:spPr>
          <a:xfrm>
            <a:off x="4341627" y="2211777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sp>
        <p:nvSpPr>
          <p:cNvPr id="11084" name="Google Shape;11084;p428"/>
          <p:cNvSpPr/>
          <p:nvPr/>
        </p:nvSpPr>
        <p:spPr>
          <a:xfrm>
            <a:off x="3374610" y="291580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</a:t>
            </a:r>
            <a:endParaRPr/>
          </a:p>
        </p:txBody>
      </p:sp>
      <p:sp>
        <p:nvSpPr>
          <p:cNvPr id="11085" name="Google Shape;11085;p428"/>
          <p:cNvSpPr/>
          <p:nvPr/>
        </p:nvSpPr>
        <p:spPr>
          <a:xfrm>
            <a:off x="4223529" y="307246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</a:t>
            </a:r>
            <a:endParaRPr/>
          </a:p>
        </p:txBody>
      </p:sp>
      <p:cxnSp>
        <p:nvCxnSpPr>
          <p:cNvPr id="11086" name="Google Shape;11086;p428"/>
          <p:cNvCxnSpPr>
            <a:stCxn id="11037" idx="6"/>
            <a:endCxn id="11077" idx="3"/>
          </p:cNvCxnSpPr>
          <p:nvPr/>
        </p:nvCxnSpPr>
        <p:spPr>
          <a:xfrm flipH="1" rot="10800000">
            <a:off x="1763158" y="2119511"/>
            <a:ext cx="479100" cy="203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87" name="Google Shape;11087;p428"/>
          <p:cNvCxnSpPr>
            <a:stCxn id="11078" idx="2"/>
            <a:endCxn id="11037" idx="6"/>
          </p:cNvCxnSpPr>
          <p:nvPr/>
        </p:nvCxnSpPr>
        <p:spPr>
          <a:xfrm rot="10800000">
            <a:off x="1763293" y="2323154"/>
            <a:ext cx="432600" cy="544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88" name="Google Shape;11088;p428"/>
          <p:cNvCxnSpPr>
            <a:stCxn id="11079" idx="2"/>
            <a:endCxn id="11037" idx="6"/>
          </p:cNvCxnSpPr>
          <p:nvPr/>
        </p:nvCxnSpPr>
        <p:spPr>
          <a:xfrm rot="10800000">
            <a:off x="1763093" y="2323249"/>
            <a:ext cx="800700" cy="13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89" name="Google Shape;11089;p428"/>
          <p:cNvCxnSpPr>
            <a:stCxn id="11078" idx="0"/>
            <a:endCxn id="11077" idx="4"/>
          </p:cNvCxnSpPr>
          <p:nvPr/>
        </p:nvCxnSpPr>
        <p:spPr>
          <a:xfrm rot="10800000">
            <a:off x="2354443" y="2164904"/>
            <a:ext cx="0" cy="548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0" name="Google Shape;11090;p428"/>
          <p:cNvCxnSpPr>
            <a:stCxn id="11079" idx="0"/>
            <a:endCxn id="11077" idx="5"/>
          </p:cNvCxnSpPr>
          <p:nvPr/>
        </p:nvCxnSpPr>
        <p:spPr>
          <a:xfrm rot="10800000">
            <a:off x="2466443" y="2119699"/>
            <a:ext cx="2559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1" name="Google Shape;11091;p428"/>
          <p:cNvCxnSpPr>
            <a:stCxn id="11078" idx="6"/>
            <a:endCxn id="11079" idx="4"/>
          </p:cNvCxnSpPr>
          <p:nvPr/>
        </p:nvCxnSpPr>
        <p:spPr>
          <a:xfrm flipH="1" rot="10800000">
            <a:off x="2512993" y="2609354"/>
            <a:ext cx="209400" cy="25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2" name="Google Shape;11092;p428"/>
          <p:cNvCxnSpPr>
            <a:stCxn id="11077" idx="6"/>
            <a:endCxn id="11080" idx="2"/>
          </p:cNvCxnSpPr>
          <p:nvPr/>
        </p:nvCxnSpPr>
        <p:spPr>
          <a:xfrm flipH="1" rot="10800000">
            <a:off x="2512993" y="1700675"/>
            <a:ext cx="3678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3" name="Google Shape;11093;p428"/>
          <p:cNvCxnSpPr>
            <a:stCxn id="11081" idx="2"/>
            <a:endCxn id="11080" idx="6"/>
          </p:cNvCxnSpPr>
          <p:nvPr/>
        </p:nvCxnSpPr>
        <p:spPr>
          <a:xfrm rot="10800000">
            <a:off x="3197982" y="1700651"/>
            <a:ext cx="551100" cy="13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4" name="Google Shape;11094;p428"/>
          <p:cNvCxnSpPr>
            <a:stCxn id="11083" idx="1"/>
            <a:endCxn id="11081" idx="5"/>
          </p:cNvCxnSpPr>
          <p:nvPr/>
        </p:nvCxnSpPr>
        <p:spPr>
          <a:xfrm rot="10800000">
            <a:off x="4019665" y="1943573"/>
            <a:ext cx="368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5" name="Google Shape;11095;p428"/>
          <p:cNvCxnSpPr>
            <a:stCxn id="11082" idx="7"/>
            <a:endCxn id="11081" idx="4"/>
          </p:cNvCxnSpPr>
          <p:nvPr/>
        </p:nvCxnSpPr>
        <p:spPr>
          <a:xfrm flipH="1" rot="10800000">
            <a:off x="3545065" y="1988895"/>
            <a:ext cx="3627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6" name="Google Shape;11096;p428"/>
          <p:cNvCxnSpPr>
            <a:stCxn id="11085" idx="1"/>
            <a:endCxn id="11082" idx="5"/>
          </p:cNvCxnSpPr>
          <p:nvPr/>
        </p:nvCxnSpPr>
        <p:spPr>
          <a:xfrm rot="10800000">
            <a:off x="3545168" y="2563956"/>
            <a:ext cx="724800" cy="55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7" name="Google Shape;11097;p428"/>
          <p:cNvCxnSpPr>
            <a:stCxn id="11085" idx="2"/>
            <a:endCxn id="11084" idx="5"/>
          </p:cNvCxnSpPr>
          <p:nvPr/>
        </p:nvCxnSpPr>
        <p:spPr>
          <a:xfrm rot="10800000">
            <a:off x="3645129" y="3179710"/>
            <a:ext cx="578400" cy="4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8" name="Google Shape;11098;p428"/>
          <p:cNvCxnSpPr>
            <a:stCxn id="11084" idx="2"/>
            <a:endCxn id="11078" idx="6"/>
          </p:cNvCxnSpPr>
          <p:nvPr/>
        </p:nvCxnSpPr>
        <p:spPr>
          <a:xfrm rot="10800000">
            <a:off x="2513010" y="2867656"/>
            <a:ext cx="861600" cy="202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99" name="Google Shape;11099;p428"/>
          <p:cNvCxnSpPr>
            <a:stCxn id="11085" idx="0"/>
            <a:endCxn id="11083" idx="4"/>
          </p:cNvCxnSpPr>
          <p:nvPr/>
        </p:nvCxnSpPr>
        <p:spPr>
          <a:xfrm flipH="1" rot="10800000">
            <a:off x="4382079" y="2521060"/>
            <a:ext cx="118200" cy="55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00" name="Google Shape;11100;p428"/>
          <p:cNvCxnSpPr>
            <a:stCxn id="11082" idx="2"/>
            <a:endCxn id="11079" idx="6"/>
          </p:cNvCxnSpPr>
          <p:nvPr/>
        </p:nvCxnSpPr>
        <p:spPr>
          <a:xfrm rot="10800000">
            <a:off x="2880803" y="2454649"/>
            <a:ext cx="393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101" name="Google Shape;11101;p428"/>
          <p:cNvSpPr txBox="1"/>
          <p:nvPr>
            <p:ph type="title"/>
          </p:nvPr>
        </p:nvSpPr>
        <p:spPr>
          <a:xfrm>
            <a:off x="311700" y="315925"/>
            <a:ext cx="54051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Cohesive Blocking </a:t>
            </a:r>
            <a:endParaRPr/>
          </a:p>
        </p:txBody>
      </p:sp>
      <p:sp>
        <p:nvSpPr>
          <p:cNvPr id="11102" name="Google Shape;11102;p428"/>
          <p:cNvSpPr txBox="1"/>
          <p:nvPr/>
        </p:nvSpPr>
        <p:spPr>
          <a:xfrm>
            <a:off x="2691175" y="3706850"/>
            <a:ext cx="2476200" cy="116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This graph is 1-connected! Can you tell which node we need to remove?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1103" name="Google Shape;11103;p428"/>
          <p:cNvSpPr/>
          <p:nvPr/>
        </p:nvSpPr>
        <p:spPr>
          <a:xfrm>
            <a:off x="6584850" y="1958150"/>
            <a:ext cx="863100" cy="4179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G</a:t>
            </a:r>
            <a:endParaRPr b="1"/>
          </a:p>
        </p:txBody>
      </p:sp>
      <p:sp>
        <p:nvSpPr>
          <p:cNvPr id="11104" name="Google Shape;11104;p428"/>
          <p:cNvSpPr txBox="1"/>
          <p:nvPr>
            <p:ph idx="4294967295" type="body"/>
          </p:nvPr>
        </p:nvSpPr>
        <p:spPr>
          <a:xfrm>
            <a:off x="5342550" y="315925"/>
            <a:ext cx="3580800" cy="17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Identify the k-connectivity of the input graph (G)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 sz="1400">
                <a:solidFill>
                  <a:srgbClr val="FF0000"/>
                </a:solidFill>
              </a:rPr>
              <a:t>Remove the k-cutset (vertices)</a:t>
            </a:r>
            <a:endParaRPr b="1" sz="1400">
              <a:solidFill>
                <a:srgbClr val="FF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 sz="1400"/>
              <a:t>Do the same on the resulting subgraphs until no more subdivisions can be obtained </a:t>
            </a:r>
            <a:endParaRPr sz="1400"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108" name="Shape 1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9" name="Google Shape;11109;p429"/>
          <p:cNvSpPr/>
          <p:nvPr/>
        </p:nvSpPr>
        <p:spPr>
          <a:xfrm>
            <a:off x="913295" y="11472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1110" name="Google Shape;11110;p429"/>
          <p:cNvSpPr/>
          <p:nvPr/>
        </p:nvSpPr>
        <p:spPr>
          <a:xfrm>
            <a:off x="1445385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1111" name="Google Shape;11111;p429"/>
          <p:cNvSpPr/>
          <p:nvPr/>
        </p:nvSpPr>
        <p:spPr>
          <a:xfrm>
            <a:off x="311700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1112" name="Google Shape;11112;p429"/>
          <p:cNvSpPr/>
          <p:nvPr/>
        </p:nvSpPr>
        <p:spPr>
          <a:xfrm>
            <a:off x="913295" y="185551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1113" name="Google Shape;11113;p429"/>
          <p:cNvSpPr/>
          <p:nvPr/>
        </p:nvSpPr>
        <p:spPr>
          <a:xfrm>
            <a:off x="311700" y="21649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1114" name="Google Shape;11114;p429"/>
          <p:cNvSpPr/>
          <p:nvPr/>
        </p:nvSpPr>
        <p:spPr>
          <a:xfrm>
            <a:off x="913295" y="2434838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1115" name="Google Shape;11115;p429"/>
          <p:cNvCxnSpPr>
            <a:endCxn id="11111" idx="7"/>
          </p:cNvCxnSpPr>
          <p:nvPr/>
        </p:nvCxnSpPr>
        <p:spPr>
          <a:xfrm flipH="1">
            <a:off x="582362" y="1411129"/>
            <a:ext cx="3774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16" name="Google Shape;11116;p429"/>
          <p:cNvCxnSpPr>
            <a:stCxn id="11113" idx="0"/>
            <a:endCxn id="11111" idx="4"/>
          </p:cNvCxnSpPr>
          <p:nvPr/>
        </p:nvCxnSpPr>
        <p:spPr>
          <a:xfrm rot="10800000">
            <a:off x="470250" y="1855304"/>
            <a:ext cx="0" cy="3096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17" name="Google Shape;11117;p429"/>
          <p:cNvCxnSpPr>
            <a:stCxn id="11114" idx="2"/>
            <a:endCxn id="11113" idx="5"/>
          </p:cNvCxnSpPr>
          <p:nvPr/>
        </p:nvCxnSpPr>
        <p:spPr>
          <a:xfrm rot="10800000">
            <a:off x="582395" y="2428988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18" name="Google Shape;11118;p429"/>
          <p:cNvCxnSpPr>
            <a:stCxn id="11112" idx="2"/>
            <a:endCxn id="11113" idx="6"/>
          </p:cNvCxnSpPr>
          <p:nvPr/>
        </p:nvCxnSpPr>
        <p:spPr>
          <a:xfrm flipH="1">
            <a:off x="628895" y="2010169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19" name="Google Shape;11119;p429"/>
          <p:cNvCxnSpPr>
            <a:stCxn id="11114" idx="2"/>
            <a:endCxn id="11111" idx="4"/>
          </p:cNvCxnSpPr>
          <p:nvPr/>
        </p:nvCxnSpPr>
        <p:spPr>
          <a:xfrm rot="10800000">
            <a:off x="470195" y="1855388"/>
            <a:ext cx="443100" cy="73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20" name="Google Shape;11120;p429"/>
          <p:cNvCxnSpPr>
            <a:stCxn id="11110" idx="2"/>
            <a:endCxn id="11112" idx="7"/>
          </p:cNvCxnSpPr>
          <p:nvPr/>
        </p:nvCxnSpPr>
        <p:spPr>
          <a:xfrm flipH="1">
            <a:off x="1184085" y="1700783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21" name="Google Shape;11121;p429"/>
          <p:cNvCxnSpPr>
            <a:stCxn id="11110" idx="2"/>
            <a:endCxn id="11111" idx="6"/>
          </p:cNvCxnSpPr>
          <p:nvPr/>
        </p:nvCxnSpPr>
        <p:spPr>
          <a:xfrm rot="10800000">
            <a:off x="628785" y="1700783"/>
            <a:ext cx="81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22" name="Google Shape;11122;p429"/>
          <p:cNvCxnSpPr>
            <a:stCxn id="11110" idx="0"/>
            <a:endCxn id="11109" idx="5"/>
          </p:cNvCxnSpPr>
          <p:nvPr/>
        </p:nvCxnSpPr>
        <p:spPr>
          <a:xfrm rot="10800000">
            <a:off x="1183935" y="1411133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23" name="Google Shape;11123;p429"/>
          <p:cNvCxnSpPr>
            <a:stCxn id="11114" idx="0"/>
            <a:endCxn id="11112" idx="4"/>
          </p:cNvCxnSpPr>
          <p:nvPr/>
        </p:nvCxnSpPr>
        <p:spPr>
          <a:xfrm rot="10800000">
            <a:off x="1071845" y="2164838"/>
            <a:ext cx="0" cy="270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24" name="Google Shape;11124;p429"/>
          <p:cNvCxnSpPr>
            <a:stCxn id="11113" idx="6"/>
            <a:endCxn id="11109" idx="4"/>
          </p:cNvCxnSpPr>
          <p:nvPr/>
        </p:nvCxnSpPr>
        <p:spPr>
          <a:xfrm flipH="1" rot="10800000">
            <a:off x="628800" y="1456454"/>
            <a:ext cx="443100" cy="86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25" name="Google Shape;11125;p429"/>
          <p:cNvCxnSpPr>
            <a:stCxn id="11112" idx="0"/>
            <a:endCxn id="11109" idx="4"/>
          </p:cNvCxnSpPr>
          <p:nvPr/>
        </p:nvCxnSpPr>
        <p:spPr>
          <a:xfrm rot="10800000">
            <a:off x="1071845" y="1456519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26" name="Google Shape;11126;p429"/>
          <p:cNvCxnSpPr>
            <a:stCxn id="11114" idx="6"/>
            <a:endCxn id="11110" idx="3"/>
          </p:cNvCxnSpPr>
          <p:nvPr/>
        </p:nvCxnSpPr>
        <p:spPr>
          <a:xfrm flipH="1" rot="10800000">
            <a:off x="1230395" y="1810088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27" name="Google Shape;11127;p429"/>
          <p:cNvCxnSpPr>
            <a:stCxn id="11112" idx="1"/>
            <a:endCxn id="11111" idx="6"/>
          </p:cNvCxnSpPr>
          <p:nvPr/>
        </p:nvCxnSpPr>
        <p:spPr>
          <a:xfrm rot="10800000">
            <a:off x="628834" y="1700715"/>
            <a:ext cx="3309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128" name="Google Shape;11128;p429"/>
          <p:cNvSpPr/>
          <p:nvPr/>
        </p:nvSpPr>
        <p:spPr>
          <a:xfrm>
            <a:off x="1128323" y="311777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17</a:t>
            </a:r>
            <a:endParaRPr/>
          </a:p>
        </p:txBody>
      </p:sp>
      <p:sp>
        <p:nvSpPr>
          <p:cNvPr id="11129" name="Google Shape;11129;p429"/>
          <p:cNvSpPr/>
          <p:nvPr/>
        </p:nvSpPr>
        <p:spPr>
          <a:xfrm>
            <a:off x="1660413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19</a:t>
            </a:r>
            <a:endParaRPr/>
          </a:p>
        </p:txBody>
      </p:sp>
      <p:sp>
        <p:nvSpPr>
          <p:cNvPr id="11130" name="Google Shape;11130;p429"/>
          <p:cNvSpPr/>
          <p:nvPr/>
        </p:nvSpPr>
        <p:spPr>
          <a:xfrm>
            <a:off x="596234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18</a:t>
            </a:r>
            <a:endParaRPr/>
          </a:p>
        </p:txBody>
      </p:sp>
      <p:sp>
        <p:nvSpPr>
          <p:cNvPr id="11131" name="Google Shape;11131;p429"/>
          <p:cNvSpPr/>
          <p:nvPr/>
        </p:nvSpPr>
        <p:spPr>
          <a:xfrm>
            <a:off x="1128323" y="382607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</a:t>
            </a:r>
            <a:endParaRPr/>
          </a:p>
        </p:txBody>
      </p:sp>
      <p:sp>
        <p:nvSpPr>
          <p:cNvPr id="11132" name="Google Shape;11132;p429"/>
          <p:cNvSpPr/>
          <p:nvPr/>
        </p:nvSpPr>
        <p:spPr>
          <a:xfrm>
            <a:off x="526728" y="413545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</a:t>
            </a:r>
            <a:endParaRPr/>
          </a:p>
        </p:txBody>
      </p:sp>
      <p:sp>
        <p:nvSpPr>
          <p:cNvPr id="11133" name="Google Shape;11133;p429"/>
          <p:cNvSpPr/>
          <p:nvPr/>
        </p:nvSpPr>
        <p:spPr>
          <a:xfrm>
            <a:off x="1128323" y="440539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23</a:t>
            </a:r>
            <a:endParaRPr/>
          </a:p>
        </p:txBody>
      </p:sp>
      <p:sp>
        <p:nvSpPr>
          <p:cNvPr id="11134" name="Google Shape;11134;p429"/>
          <p:cNvSpPr/>
          <p:nvPr/>
        </p:nvSpPr>
        <p:spPr>
          <a:xfrm>
            <a:off x="1660786" y="4136262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22</a:t>
            </a:r>
            <a:endParaRPr/>
          </a:p>
        </p:txBody>
      </p:sp>
      <p:cxnSp>
        <p:nvCxnSpPr>
          <p:cNvPr id="11135" name="Google Shape;11135;p429"/>
          <p:cNvCxnSpPr>
            <a:stCxn id="11128" idx="3"/>
            <a:endCxn id="11130" idx="7"/>
          </p:cNvCxnSpPr>
          <p:nvPr/>
        </p:nvCxnSpPr>
        <p:spPr>
          <a:xfrm flipH="1">
            <a:off x="866962" y="3381780"/>
            <a:ext cx="3078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36" name="Google Shape;11136;p429"/>
          <p:cNvCxnSpPr>
            <a:stCxn id="11133" idx="2"/>
            <a:endCxn id="11132" idx="5"/>
          </p:cNvCxnSpPr>
          <p:nvPr/>
        </p:nvCxnSpPr>
        <p:spPr>
          <a:xfrm rot="10800000">
            <a:off x="797423" y="4399540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37" name="Google Shape;11137;p429"/>
          <p:cNvCxnSpPr>
            <a:stCxn id="11131" idx="2"/>
            <a:endCxn id="11132" idx="6"/>
          </p:cNvCxnSpPr>
          <p:nvPr/>
        </p:nvCxnSpPr>
        <p:spPr>
          <a:xfrm flipH="1">
            <a:off x="843923" y="3980720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38" name="Google Shape;11138;p429"/>
          <p:cNvCxnSpPr>
            <a:stCxn id="11132" idx="0"/>
            <a:endCxn id="11130" idx="4"/>
          </p:cNvCxnSpPr>
          <p:nvPr/>
        </p:nvCxnSpPr>
        <p:spPr>
          <a:xfrm flipH="1" rot="10800000">
            <a:off x="685278" y="3825856"/>
            <a:ext cx="696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39" name="Google Shape;11139;p429"/>
          <p:cNvCxnSpPr>
            <a:stCxn id="11129" idx="2"/>
            <a:endCxn id="11131" idx="7"/>
          </p:cNvCxnSpPr>
          <p:nvPr/>
        </p:nvCxnSpPr>
        <p:spPr>
          <a:xfrm flipH="1">
            <a:off x="1399113" y="3671335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40" name="Google Shape;11140;p429"/>
          <p:cNvCxnSpPr>
            <a:stCxn id="11129" idx="0"/>
            <a:endCxn id="11128" idx="5"/>
          </p:cNvCxnSpPr>
          <p:nvPr/>
        </p:nvCxnSpPr>
        <p:spPr>
          <a:xfrm rot="10800000">
            <a:off x="1398963" y="3381685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41" name="Google Shape;11141;p429"/>
          <p:cNvCxnSpPr>
            <a:stCxn id="11134" idx="0"/>
            <a:endCxn id="11129" idx="4"/>
          </p:cNvCxnSpPr>
          <p:nvPr/>
        </p:nvCxnSpPr>
        <p:spPr>
          <a:xfrm rot="10800000">
            <a:off x="1818886" y="3826062"/>
            <a:ext cx="600" cy="310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42" name="Google Shape;11142;p429"/>
          <p:cNvCxnSpPr>
            <a:stCxn id="11133" idx="6"/>
            <a:endCxn id="11134" idx="3"/>
          </p:cNvCxnSpPr>
          <p:nvPr/>
        </p:nvCxnSpPr>
        <p:spPr>
          <a:xfrm flipH="1" rot="10800000">
            <a:off x="1445423" y="4405240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43" name="Google Shape;11143;p429"/>
          <p:cNvCxnSpPr>
            <a:stCxn id="11132" idx="6"/>
            <a:endCxn id="11134" idx="2"/>
          </p:cNvCxnSpPr>
          <p:nvPr/>
        </p:nvCxnSpPr>
        <p:spPr>
          <a:xfrm>
            <a:off x="843828" y="4290106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44" name="Google Shape;11144;p429"/>
          <p:cNvCxnSpPr>
            <a:stCxn id="11131" idx="0"/>
            <a:endCxn id="11128" idx="4"/>
          </p:cNvCxnSpPr>
          <p:nvPr/>
        </p:nvCxnSpPr>
        <p:spPr>
          <a:xfrm rot="10800000">
            <a:off x="1286873" y="3427070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45" name="Google Shape;11145;p429"/>
          <p:cNvCxnSpPr>
            <a:stCxn id="11133" idx="6"/>
            <a:endCxn id="11129" idx="3"/>
          </p:cNvCxnSpPr>
          <p:nvPr/>
        </p:nvCxnSpPr>
        <p:spPr>
          <a:xfrm flipH="1" rot="10800000">
            <a:off x="1445423" y="3780640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46" name="Google Shape;11146;p429"/>
          <p:cNvCxnSpPr>
            <a:stCxn id="11131" idx="1"/>
            <a:endCxn id="11130" idx="6"/>
          </p:cNvCxnSpPr>
          <p:nvPr/>
        </p:nvCxnSpPr>
        <p:spPr>
          <a:xfrm rot="10800000">
            <a:off x="913462" y="3671266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47" name="Google Shape;11147;p429"/>
          <p:cNvCxnSpPr>
            <a:stCxn id="11132" idx="1"/>
            <a:endCxn id="11113" idx="4"/>
          </p:cNvCxnSpPr>
          <p:nvPr/>
        </p:nvCxnSpPr>
        <p:spPr>
          <a:xfrm rot="10800000">
            <a:off x="470266" y="2474352"/>
            <a:ext cx="102900" cy="170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148" name="Google Shape;11148;p429"/>
          <p:cNvSpPr/>
          <p:nvPr/>
        </p:nvSpPr>
        <p:spPr>
          <a:xfrm>
            <a:off x="2195893" y="18556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1149" name="Google Shape;11149;p429"/>
          <p:cNvSpPr/>
          <p:nvPr/>
        </p:nvSpPr>
        <p:spPr>
          <a:xfrm>
            <a:off x="2195893" y="27130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1150" name="Google Shape;11150;p429"/>
          <p:cNvSpPr/>
          <p:nvPr/>
        </p:nvSpPr>
        <p:spPr>
          <a:xfrm>
            <a:off x="256379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1151" name="Google Shape;11151;p429"/>
          <p:cNvSpPr/>
          <p:nvPr/>
        </p:nvSpPr>
        <p:spPr>
          <a:xfrm>
            <a:off x="2880801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1152" name="Google Shape;11152;p429"/>
          <p:cNvSpPr/>
          <p:nvPr/>
        </p:nvSpPr>
        <p:spPr>
          <a:xfrm>
            <a:off x="3749082" y="1679501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1153" name="Google Shape;11153;p429"/>
          <p:cNvSpPr/>
          <p:nvPr/>
        </p:nvSpPr>
        <p:spPr>
          <a:xfrm>
            <a:off x="327440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sp>
        <p:nvSpPr>
          <p:cNvPr id="11154" name="Google Shape;11154;p429"/>
          <p:cNvSpPr/>
          <p:nvPr/>
        </p:nvSpPr>
        <p:spPr>
          <a:xfrm>
            <a:off x="4341627" y="2211777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sp>
        <p:nvSpPr>
          <p:cNvPr id="11155" name="Google Shape;11155;p429"/>
          <p:cNvSpPr/>
          <p:nvPr/>
        </p:nvSpPr>
        <p:spPr>
          <a:xfrm>
            <a:off x="3374610" y="291580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</a:t>
            </a:r>
            <a:endParaRPr/>
          </a:p>
        </p:txBody>
      </p:sp>
      <p:sp>
        <p:nvSpPr>
          <p:cNvPr id="11156" name="Google Shape;11156;p429"/>
          <p:cNvSpPr/>
          <p:nvPr/>
        </p:nvSpPr>
        <p:spPr>
          <a:xfrm>
            <a:off x="4223529" y="307246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</a:t>
            </a:r>
            <a:endParaRPr/>
          </a:p>
        </p:txBody>
      </p:sp>
      <p:cxnSp>
        <p:nvCxnSpPr>
          <p:cNvPr id="11157" name="Google Shape;11157;p429"/>
          <p:cNvCxnSpPr>
            <a:stCxn id="11149" idx="0"/>
            <a:endCxn id="11148" idx="4"/>
          </p:cNvCxnSpPr>
          <p:nvPr/>
        </p:nvCxnSpPr>
        <p:spPr>
          <a:xfrm rot="10800000">
            <a:off x="2354443" y="2164904"/>
            <a:ext cx="0" cy="548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58" name="Google Shape;11158;p429"/>
          <p:cNvCxnSpPr>
            <a:stCxn id="11150" idx="0"/>
            <a:endCxn id="11148" idx="5"/>
          </p:cNvCxnSpPr>
          <p:nvPr/>
        </p:nvCxnSpPr>
        <p:spPr>
          <a:xfrm rot="10800000">
            <a:off x="2466443" y="2119699"/>
            <a:ext cx="2559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59" name="Google Shape;11159;p429"/>
          <p:cNvCxnSpPr>
            <a:stCxn id="11149" idx="6"/>
            <a:endCxn id="11150" idx="4"/>
          </p:cNvCxnSpPr>
          <p:nvPr/>
        </p:nvCxnSpPr>
        <p:spPr>
          <a:xfrm flipH="1" rot="10800000">
            <a:off x="2512993" y="2609354"/>
            <a:ext cx="209400" cy="25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0" name="Google Shape;11160;p429"/>
          <p:cNvCxnSpPr>
            <a:stCxn id="11148" idx="6"/>
            <a:endCxn id="11151" idx="2"/>
          </p:cNvCxnSpPr>
          <p:nvPr/>
        </p:nvCxnSpPr>
        <p:spPr>
          <a:xfrm flipH="1" rot="10800000">
            <a:off x="2512993" y="1700675"/>
            <a:ext cx="3678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1" name="Google Shape;11161;p429"/>
          <p:cNvCxnSpPr>
            <a:stCxn id="11152" idx="2"/>
            <a:endCxn id="11151" idx="6"/>
          </p:cNvCxnSpPr>
          <p:nvPr/>
        </p:nvCxnSpPr>
        <p:spPr>
          <a:xfrm rot="10800000">
            <a:off x="3197982" y="1700651"/>
            <a:ext cx="551100" cy="13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2" name="Google Shape;11162;p429"/>
          <p:cNvCxnSpPr>
            <a:stCxn id="11154" idx="1"/>
            <a:endCxn id="11152" idx="5"/>
          </p:cNvCxnSpPr>
          <p:nvPr/>
        </p:nvCxnSpPr>
        <p:spPr>
          <a:xfrm rot="10800000">
            <a:off x="4019665" y="1943573"/>
            <a:ext cx="368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3" name="Google Shape;11163;p429"/>
          <p:cNvCxnSpPr>
            <a:stCxn id="11153" idx="7"/>
            <a:endCxn id="11152" idx="4"/>
          </p:cNvCxnSpPr>
          <p:nvPr/>
        </p:nvCxnSpPr>
        <p:spPr>
          <a:xfrm flipH="1" rot="10800000">
            <a:off x="3545065" y="1988895"/>
            <a:ext cx="3627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4" name="Google Shape;11164;p429"/>
          <p:cNvCxnSpPr>
            <a:stCxn id="11156" idx="1"/>
            <a:endCxn id="11153" idx="5"/>
          </p:cNvCxnSpPr>
          <p:nvPr/>
        </p:nvCxnSpPr>
        <p:spPr>
          <a:xfrm rot="10800000">
            <a:off x="3545168" y="2563956"/>
            <a:ext cx="724800" cy="55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5" name="Google Shape;11165;p429"/>
          <p:cNvCxnSpPr>
            <a:stCxn id="11156" idx="2"/>
            <a:endCxn id="11155" idx="5"/>
          </p:cNvCxnSpPr>
          <p:nvPr/>
        </p:nvCxnSpPr>
        <p:spPr>
          <a:xfrm rot="10800000">
            <a:off x="3645129" y="3179710"/>
            <a:ext cx="578400" cy="4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6" name="Google Shape;11166;p429"/>
          <p:cNvCxnSpPr>
            <a:stCxn id="11155" idx="2"/>
            <a:endCxn id="11149" idx="6"/>
          </p:cNvCxnSpPr>
          <p:nvPr/>
        </p:nvCxnSpPr>
        <p:spPr>
          <a:xfrm rot="10800000">
            <a:off x="2513010" y="2867656"/>
            <a:ext cx="861600" cy="202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7" name="Google Shape;11167;p429"/>
          <p:cNvCxnSpPr>
            <a:stCxn id="11156" idx="0"/>
            <a:endCxn id="11154" idx="4"/>
          </p:cNvCxnSpPr>
          <p:nvPr/>
        </p:nvCxnSpPr>
        <p:spPr>
          <a:xfrm flipH="1" rot="10800000">
            <a:off x="4382079" y="2521060"/>
            <a:ext cx="118200" cy="55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68" name="Google Shape;11168;p429"/>
          <p:cNvCxnSpPr>
            <a:stCxn id="11153" idx="2"/>
            <a:endCxn id="11150" idx="6"/>
          </p:cNvCxnSpPr>
          <p:nvPr/>
        </p:nvCxnSpPr>
        <p:spPr>
          <a:xfrm rot="10800000">
            <a:off x="2880803" y="2454649"/>
            <a:ext cx="393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169" name="Google Shape;11169;p429"/>
          <p:cNvSpPr txBox="1"/>
          <p:nvPr>
            <p:ph idx="4294967295" type="body"/>
          </p:nvPr>
        </p:nvSpPr>
        <p:spPr>
          <a:xfrm>
            <a:off x="5342550" y="315925"/>
            <a:ext cx="3580800" cy="17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 sz="1400"/>
              <a:t>Identify the k-connectivity of the input graph (G)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 sz="1400">
                <a:solidFill>
                  <a:srgbClr val="FF0000"/>
                </a:solidFill>
              </a:rPr>
              <a:t>Remove the k-cutset (vertices)</a:t>
            </a:r>
            <a:endParaRPr b="1" sz="1400">
              <a:solidFill>
                <a:srgbClr val="FF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 sz="1400"/>
              <a:t>Do the same on the resulting subgraphs until no more subdivisions can be obtained </a:t>
            </a:r>
            <a:endParaRPr sz="1400"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11170" name="Google Shape;11170;p429"/>
          <p:cNvSpPr txBox="1"/>
          <p:nvPr>
            <p:ph type="title"/>
          </p:nvPr>
        </p:nvSpPr>
        <p:spPr>
          <a:xfrm>
            <a:off x="311700" y="315925"/>
            <a:ext cx="54051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Cohesive Blocking </a:t>
            </a:r>
            <a:endParaRPr/>
          </a:p>
        </p:txBody>
      </p:sp>
      <p:sp>
        <p:nvSpPr>
          <p:cNvPr id="11171" name="Google Shape;11171;p429"/>
          <p:cNvSpPr/>
          <p:nvPr/>
        </p:nvSpPr>
        <p:spPr>
          <a:xfrm>
            <a:off x="6584850" y="1958150"/>
            <a:ext cx="863100" cy="4179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G</a:t>
            </a:r>
            <a:endParaRPr b="1"/>
          </a:p>
        </p:txBody>
      </p:sp>
      <p:cxnSp>
        <p:nvCxnSpPr>
          <p:cNvPr id="11172" name="Google Shape;11172;p429"/>
          <p:cNvCxnSpPr>
            <a:stCxn id="11171" idx="4"/>
            <a:endCxn id="11173" idx="0"/>
          </p:cNvCxnSpPr>
          <p:nvPr/>
        </p:nvCxnSpPr>
        <p:spPr>
          <a:xfrm flipH="1">
            <a:off x="6296100" y="2376050"/>
            <a:ext cx="720300" cy="770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1174" name="Google Shape;11174;p429"/>
          <p:cNvCxnSpPr>
            <a:stCxn id="11171" idx="4"/>
            <a:endCxn id="11175" idx="0"/>
          </p:cNvCxnSpPr>
          <p:nvPr/>
        </p:nvCxnSpPr>
        <p:spPr>
          <a:xfrm>
            <a:off x="7016400" y="2376050"/>
            <a:ext cx="902700" cy="738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1175" name="Google Shape;11175;p429"/>
          <p:cNvSpPr/>
          <p:nvPr/>
        </p:nvSpPr>
        <p:spPr>
          <a:xfrm>
            <a:off x="7318725" y="3114100"/>
            <a:ext cx="1200600" cy="6060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</a:rPr>
              <a:t>7</a:t>
            </a:r>
            <a:r>
              <a:rPr lang="en" sz="1200"/>
              <a:t>, 8, 9, 10, 11, 12, 13, 14, 15, 16</a:t>
            </a:r>
            <a:endParaRPr sz="1200"/>
          </a:p>
        </p:txBody>
      </p:sp>
      <p:sp>
        <p:nvSpPr>
          <p:cNvPr id="11173" name="Google Shape;11173;p429"/>
          <p:cNvSpPr/>
          <p:nvPr/>
        </p:nvSpPr>
        <p:spPr>
          <a:xfrm>
            <a:off x="5581050" y="3146455"/>
            <a:ext cx="1429800" cy="6060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1, 2, 3, 4, 5, 6, 7, 17, 18, 19, 20, 21, 22, 23</a:t>
            </a:r>
            <a:endParaRPr sz="1200"/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179" name="Shape 1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0" name="Google Shape;11180;p430"/>
          <p:cNvSpPr/>
          <p:nvPr/>
        </p:nvSpPr>
        <p:spPr>
          <a:xfrm>
            <a:off x="913295" y="11472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1181" name="Google Shape;11181;p430"/>
          <p:cNvSpPr/>
          <p:nvPr/>
        </p:nvSpPr>
        <p:spPr>
          <a:xfrm>
            <a:off x="1445385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1182" name="Google Shape;11182;p430"/>
          <p:cNvSpPr/>
          <p:nvPr/>
        </p:nvSpPr>
        <p:spPr>
          <a:xfrm>
            <a:off x="311700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1183" name="Google Shape;11183;p430"/>
          <p:cNvSpPr/>
          <p:nvPr/>
        </p:nvSpPr>
        <p:spPr>
          <a:xfrm>
            <a:off x="913295" y="185551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1184" name="Google Shape;11184;p430"/>
          <p:cNvSpPr/>
          <p:nvPr/>
        </p:nvSpPr>
        <p:spPr>
          <a:xfrm>
            <a:off x="311700" y="21649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1185" name="Google Shape;11185;p430"/>
          <p:cNvSpPr/>
          <p:nvPr/>
        </p:nvSpPr>
        <p:spPr>
          <a:xfrm>
            <a:off x="913295" y="2434838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1186" name="Google Shape;11186;p430"/>
          <p:cNvCxnSpPr>
            <a:endCxn id="11182" idx="7"/>
          </p:cNvCxnSpPr>
          <p:nvPr/>
        </p:nvCxnSpPr>
        <p:spPr>
          <a:xfrm flipH="1">
            <a:off x="582362" y="1411129"/>
            <a:ext cx="3774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87" name="Google Shape;11187;p430"/>
          <p:cNvCxnSpPr>
            <a:stCxn id="11184" idx="0"/>
            <a:endCxn id="11182" idx="4"/>
          </p:cNvCxnSpPr>
          <p:nvPr/>
        </p:nvCxnSpPr>
        <p:spPr>
          <a:xfrm rot="10800000">
            <a:off x="470250" y="1855304"/>
            <a:ext cx="0" cy="3096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88" name="Google Shape;11188;p430"/>
          <p:cNvCxnSpPr>
            <a:stCxn id="11185" idx="2"/>
            <a:endCxn id="11184" idx="5"/>
          </p:cNvCxnSpPr>
          <p:nvPr/>
        </p:nvCxnSpPr>
        <p:spPr>
          <a:xfrm rot="10800000">
            <a:off x="582395" y="2428988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89" name="Google Shape;11189;p430"/>
          <p:cNvCxnSpPr>
            <a:stCxn id="11183" idx="2"/>
            <a:endCxn id="11184" idx="6"/>
          </p:cNvCxnSpPr>
          <p:nvPr/>
        </p:nvCxnSpPr>
        <p:spPr>
          <a:xfrm flipH="1">
            <a:off x="628895" y="2010169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0" name="Google Shape;11190;p430"/>
          <p:cNvCxnSpPr>
            <a:stCxn id="11185" idx="2"/>
            <a:endCxn id="11182" idx="4"/>
          </p:cNvCxnSpPr>
          <p:nvPr/>
        </p:nvCxnSpPr>
        <p:spPr>
          <a:xfrm rot="10800000">
            <a:off x="470195" y="1855388"/>
            <a:ext cx="443100" cy="73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1" name="Google Shape;11191;p430"/>
          <p:cNvCxnSpPr>
            <a:stCxn id="11181" idx="2"/>
            <a:endCxn id="11183" idx="7"/>
          </p:cNvCxnSpPr>
          <p:nvPr/>
        </p:nvCxnSpPr>
        <p:spPr>
          <a:xfrm flipH="1">
            <a:off x="1184085" y="1700783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2" name="Google Shape;11192;p430"/>
          <p:cNvCxnSpPr>
            <a:stCxn id="11181" idx="2"/>
            <a:endCxn id="11182" idx="6"/>
          </p:cNvCxnSpPr>
          <p:nvPr/>
        </p:nvCxnSpPr>
        <p:spPr>
          <a:xfrm rot="10800000">
            <a:off x="628785" y="1700783"/>
            <a:ext cx="81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3" name="Google Shape;11193;p430"/>
          <p:cNvCxnSpPr>
            <a:stCxn id="11181" idx="0"/>
            <a:endCxn id="11180" idx="5"/>
          </p:cNvCxnSpPr>
          <p:nvPr/>
        </p:nvCxnSpPr>
        <p:spPr>
          <a:xfrm rot="10800000">
            <a:off x="1183935" y="1411133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4" name="Google Shape;11194;p430"/>
          <p:cNvCxnSpPr>
            <a:stCxn id="11185" idx="0"/>
            <a:endCxn id="11183" idx="4"/>
          </p:cNvCxnSpPr>
          <p:nvPr/>
        </p:nvCxnSpPr>
        <p:spPr>
          <a:xfrm rot="10800000">
            <a:off x="1071845" y="2164838"/>
            <a:ext cx="0" cy="270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5" name="Google Shape;11195;p430"/>
          <p:cNvCxnSpPr>
            <a:stCxn id="11184" idx="6"/>
            <a:endCxn id="11180" idx="4"/>
          </p:cNvCxnSpPr>
          <p:nvPr/>
        </p:nvCxnSpPr>
        <p:spPr>
          <a:xfrm flipH="1" rot="10800000">
            <a:off x="628800" y="1456454"/>
            <a:ext cx="443100" cy="86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6" name="Google Shape;11196;p430"/>
          <p:cNvCxnSpPr>
            <a:stCxn id="11183" idx="0"/>
            <a:endCxn id="11180" idx="4"/>
          </p:cNvCxnSpPr>
          <p:nvPr/>
        </p:nvCxnSpPr>
        <p:spPr>
          <a:xfrm rot="10800000">
            <a:off x="1071845" y="1456519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7" name="Google Shape;11197;p430"/>
          <p:cNvCxnSpPr>
            <a:stCxn id="11185" idx="6"/>
            <a:endCxn id="11181" idx="3"/>
          </p:cNvCxnSpPr>
          <p:nvPr/>
        </p:nvCxnSpPr>
        <p:spPr>
          <a:xfrm flipH="1" rot="10800000">
            <a:off x="1230395" y="1810088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198" name="Google Shape;11198;p430"/>
          <p:cNvCxnSpPr>
            <a:stCxn id="11183" idx="1"/>
            <a:endCxn id="11182" idx="6"/>
          </p:cNvCxnSpPr>
          <p:nvPr/>
        </p:nvCxnSpPr>
        <p:spPr>
          <a:xfrm rot="10800000">
            <a:off x="628834" y="1700715"/>
            <a:ext cx="3309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199" name="Google Shape;11199;p430"/>
          <p:cNvSpPr/>
          <p:nvPr/>
        </p:nvSpPr>
        <p:spPr>
          <a:xfrm>
            <a:off x="1128323" y="311777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17</a:t>
            </a:r>
            <a:endParaRPr/>
          </a:p>
        </p:txBody>
      </p:sp>
      <p:sp>
        <p:nvSpPr>
          <p:cNvPr id="11200" name="Google Shape;11200;p430"/>
          <p:cNvSpPr/>
          <p:nvPr/>
        </p:nvSpPr>
        <p:spPr>
          <a:xfrm>
            <a:off x="1660413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19</a:t>
            </a:r>
            <a:endParaRPr/>
          </a:p>
        </p:txBody>
      </p:sp>
      <p:sp>
        <p:nvSpPr>
          <p:cNvPr id="11201" name="Google Shape;11201;p430"/>
          <p:cNvSpPr/>
          <p:nvPr/>
        </p:nvSpPr>
        <p:spPr>
          <a:xfrm>
            <a:off x="596234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18</a:t>
            </a:r>
            <a:endParaRPr/>
          </a:p>
        </p:txBody>
      </p:sp>
      <p:sp>
        <p:nvSpPr>
          <p:cNvPr id="11202" name="Google Shape;11202;p430"/>
          <p:cNvSpPr/>
          <p:nvPr/>
        </p:nvSpPr>
        <p:spPr>
          <a:xfrm>
            <a:off x="1128323" y="382607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</a:t>
            </a:r>
            <a:endParaRPr/>
          </a:p>
        </p:txBody>
      </p:sp>
      <p:sp>
        <p:nvSpPr>
          <p:cNvPr id="11203" name="Google Shape;11203;p430"/>
          <p:cNvSpPr/>
          <p:nvPr/>
        </p:nvSpPr>
        <p:spPr>
          <a:xfrm>
            <a:off x="526728" y="413545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</a:t>
            </a:r>
            <a:endParaRPr/>
          </a:p>
        </p:txBody>
      </p:sp>
      <p:sp>
        <p:nvSpPr>
          <p:cNvPr id="11204" name="Google Shape;11204;p430"/>
          <p:cNvSpPr/>
          <p:nvPr/>
        </p:nvSpPr>
        <p:spPr>
          <a:xfrm>
            <a:off x="1128323" y="440539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23</a:t>
            </a:r>
            <a:endParaRPr/>
          </a:p>
        </p:txBody>
      </p:sp>
      <p:sp>
        <p:nvSpPr>
          <p:cNvPr id="11205" name="Google Shape;11205;p430"/>
          <p:cNvSpPr/>
          <p:nvPr/>
        </p:nvSpPr>
        <p:spPr>
          <a:xfrm>
            <a:off x="1660786" y="4136262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22</a:t>
            </a:r>
            <a:endParaRPr/>
          </a:p>
        </p:txBody>
      </p:sp>
      <p:cxnSp>
        <p:nvCxnSpPr>
          <p:cNvPr id="11206" name="Google Shape;11206;p430"/>
          <p:cNvCxnSpPr>
            <a:stCxn id="11199" idx="3"/>
            <a:endCxn id="11201" idx="7"/>
          </p:cNvCxnSpPr>
          <p:nvPr/>
        </p:nvCxnSpPr>
        <p:spPr>
          <a:xfrm flipH="1">
            <a:off x="866962" y="3381780"/>
            <a:ext cx="3078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07" name="Google Shape;11207;p430"/>
          <p:cNvCxnSpPr>
            <a:stCxn id="11204" idx="2"/>
            <a:endCxn id="11203" idx="5"/>
          </p:cNvCxnSpPr>
          <p:nvPr/>
        </p:nvCxnSpPr>
        <p:spPr>
          <a:xfrm rot="10800000">
            <a:off x="797423" y="4399540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08" name="Google Shape;11208;p430"/>
          <p:cNvCxnSpPr>
            <a:stCxn id="11202" idx="2"/>
            <a:endCxn id="11203" idx="6"/>
          </p:cNvCxnSpPr>
          <p:nvPr/>
        </p:nvCxnSpPr>
        <p:spPr>
          <a:xfrm flipH="1">
            <a:off x="843923" y="3980720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09" name="Google Shape;11209;p430"/>
          <p:cNvCxnSpPr>
            <a:stCxn id="11203" idx="0"/>
            <a:endCxn id="11201" idx="4"/>
          </p:cNvCxnSpPr>
          <p:nvPr/>
        </p:nvCxnSpPr>
        <p:spPr>
          <a:xfrm flipH="1" rot="10800000">
            <a:off x="685278" y="3825856"/>
            <a:ext cx="696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0" name="Google Shape;11210;p430"/>
          <p:cNvCxnSpPr>
            <a:stCxn id="11200" idx="2"/>
            <a:endCxn id="11202" idx="7"/>
          </p:cNvCxnSpPr>
          <p:nvPr/>
        </p:nvCxnSpPr>
        <p:spPr>
          <a:xfrm flipH="1">
            <a:off x="1399113" y="3671335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1" name="Google Shape;11211;p430"/>
          <p:cNvCxnSpPr>
            <a:stCxn id="11200" idx="0"/>
            <a:endCxn id="11199" idx="5"/>
          </p:cNvCxnSpPr>
          <p:nvPr/>
        </p:nvCxnSpPr>
        <p:spPr>
          <a:xfrm rot="10800000">
            <a:off x="1398963" y="3381685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2" name="Google Shape;11212;p430"/>
          <p:cNvCxnSpPr>
            <a:stCxn id="11205" idx="0"/>
            <a:endCxn id="11200" idx="4"/>
          </p:cNvCxnSpPr>
          <p:nvPr/>
        </p:nvCxnSpPr>
        <p:spPr>
          <a:xfrm rot="10800000">
            <a:off x="1818886" y="3826062"/>
            <a:ext cx="600" cy="310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3" name="Google Shape;11213;p430"/>
          <p:cNvCxnSpPr>
            <a:stCxn id="11204" idx="6"/>
            <a:endCxn id="11205" idx="3"/>
          </p:cNvCxnSpPr>
          <p:nvPr/>
        </p:nvCxnSpPr>
        <p:spPr>
          <a:xfrm flipH="1" rot="10800000">
            <a:off x="1445423" y="4405240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4" name="Google Shape;11214;p430"/>
          <p:cNvCxnSpPr>
            <a:stCxn id="11203" idx="6"/>
            <a:endCxn id="11205" idx="2"/>
          </p:cNvCxnSpPr>
          <p:nvPr/>
        </p:nvCxnSpPr>
        <p:spPr>
          <a:xfrm>
            <a:off x="843828" y="4290106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5" name="Google Shape;11215;p430"/>
          <p:cNvCxnSpPr>
            <a:stCxn id="11202" idx="0"/>
            <a:endCxn id="11199" idx="4"/>
          </p:cNvCxnSpPr>
          <p:nvPr/>
        </p:nvCxnSpPr>
        <p:spPr>
          <a:xfrm rot="10800000">
            <a:off x="1286873" y="3427070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6" name="Google Shape;11216;p430"/>
          <p:cNvCxnSpPr>
            <a:stCxn id="11204" idx="6"/>
            <a:endCxn id="11200" idx="3"/>
          </p:cNvCxnSpPr>
          <p:nvPr/>
        </p:nvCxnSpPr>
        <p:spPr>
          <a:xfrm flipH="1" rot="10800000">
            <a:off x="1445423" y="3780640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7" name="Google Shape;11217;p430"/>
          <p:cNvCxnSpPr>
            <a:stCxn id="11202" idx="1"/>
            <a:endCxn id="11201" idx="6"/>
          </p:cNvCxnSpPr>
          <p:nvPr/>
        </p:nvCxnSpPr>
        <p:spPr>
          <a:xfrm rot="10800000">
            <a:off x="913462" y="3671266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8" name="Google Shape;11218;p430"/>
          <p:cNvCxnSpPr>
            <a:stCxn id="11203" idx="1"/>
            <a:endCxn id="11184" idx="4"/>
          </p:cNvCxnSpPr>
          <p:nvPr/>
        </p:nvCxnSpPr>
        <p:spPr>
          <a:xfrm rot="10800000">
            <a:off x="470266" y="2474352"/>
            <a:ext cx="102900" cy="170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219" name="Google Shape;11219;p430"/>
          <p:cNvSpPr/>
          <p:nvPr/>
        </p:nvSpPr>
        <p:spPr>
          <a:xfrm>
            <a:off x="2195893" y="18556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1220" name="Google Shape;11220;p430"/>
          <p:cNvSpPr/>
          <p:nvPr/>
        </p:nvSpPr>
        <p:spPr>
          <a:xfrm>
            <a:off x="2195893" y="27130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1221" name="Google Shape;11221;p430"/>
          <p:cNvSpPr/>
          <p:nvPr/>
        </p:nvSpPr>
        <p:spPr>
          <a:xfrm>
            <a:off x="256379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1222" name="Google Shape;11222;p430"/>
          <p:cNvSpPr/>
          <p:nvPr/>
        </p:nvSpPr>
        <p:spPr>
          <a:xfrm>
            <a:off x="2880801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1223" name="Google Shape;11223;p430"/>
          <p:cNvSpPr/>
          <p:nvPr/>
        </p:nvSpPr>
        <p:spPr>
          <a:xfrm>
            <a:off x="3749082" y="1679501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1224" name="Google Shape;11224;p430"/>
          <p:cNvSpPr/>
          <p:nvPr/>
        </p:nvSpPr>
        <p:spPr>
          <a:xfrm>
            <a:off x="327440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sp>
        <p:nvSpPr>
          <p:cNvPr id="11225" name="Google Shape;11225;p430"/>
          <p:cNvSpPr/>
          <p:nvPr/>
        </p:nvSpPr>
        <p:spPr>
          <a:xfrm>
            <a:off x="4341627" y="2211777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sp>
        <p:nvSpPr>
          <p:cNvPr id="11226" name="Google Shape;11226;p430"/>
          <p:cNvSpPr/>
          <p:nvPr/>
        </p:nvSpPr>
        <p:spPr>
          <a:xfrm>
            <a:off x="3374610" y="291580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</a:t>
            </a:r>
            <a:endParaRPr/>
          </a:p>
        </p:txBody>
      </p:sp>
      <p:sp>
        <p:nvSpPr>
          <p:cNvPr id="11227" name="Google Shape;11227;p430"/>
          <p:cNvSpPr/>
          <p:nvPr/>
        </p:nvSpPr>
        <p:spPr>
          <a:xfrm>
            <a:off x="4223529" y="307246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</a:t>
            </a:r>
            <a:endParaRPr/>
          </a:p>
        </p:txBody>
      </p:sp>
      <p:cxnSp>
        <p:nvCxnSpPr>
          <p:cNvPr id="11228" name="Google Shape;11228;p430"/>
          <p:cNvCxnSpPr>
            <a:stCxn id="11220" idx="0"/>
            <a:endCxn id="11219" idx="4"/>
          </p:cNvCxnSpPr>
          <p:nvPr/>
        </p:nvCxnSpPr>
        <p:spPr>
          <a:xfrm rot="10800000">
            <a:off x="2354443" y="2164904"/>
            <a:ext cx="0" cy="548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29" name="Google Shape;11229;p430"/>
          <p:cNvCxnSpPr>
            <a:stCxn id="11221" idx="0"/>
            <a:endCxn id="11219" idx="5"/>
          </p:cNvCxnSpPr>
          <p:nvPr/>
        </p:nvCxnSpPr>
        <p:spPr>
          <a:xfrm rot="10800000">
            <a:off x="2466443" y="2119699"/>
            <a:ext cx="2559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0" name="Google Shape;11230;p430"/>
          <p:cNvCxnSpPr>
            <a:stCxn id="11220" idx="6"/>
            <a:endCxn id="11221" idx="4"/>
          </p:cNvCxnSpPr>
          <p:nvPr/>
        </p:nvCxnSpPr>
        <p:spPr>
          <a:xfrm flipH="1" rot="10800000">
            <a:off x="2512993" y="2609354"/>
            <a:ext cx="209400" cy="25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1" name="Google Shape;11231;p430"/>
          <p:cNvCxnSpPr>
            <a:stCxn id="11219" idx="6"/>
            <a:endCxn id="11222" idx="2"/>
          </p:cNvCxnSpPr>
          <p:nvPr/>
        </p:nvCxnSpPr>
        <p:spPr>
          <a:xfrm flipH="1" rot="10800000">
            <a:off x="2512993" y="1700675"/>
            <a:ext cx="3678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2" name="Google Shape;11232;p430"/>
          <p:cNvCxnSpPr>
            <a:stCxn id="11223" idx="2"/>
            <a:endCxn id="11222" idx="6"/>
          </p:cNvCxnSpPr>
          <p:nvPr/>
        </p:nvCxnSpPr>
        <p:spPr>
          <a:xfrm rot="10800000">
            <a:off x="3197982" y="1700651"/>
            <a:ext cx="551100" cy="13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3" name="Google Shape;11233;p430"/>
          <p:cNvCxnSpPr>
            <a:stCxn id="11225" idx="1"/>
            <a:endCxn id="11223" idx="5"/>
          </p:cNvCxnSpPr>
          <p:nvPr/>
        </p:nvCxnSpPr>
        <p:spPr>
          <a:xfrm rot="10800000">
            <a:off x="4019665" y="1943573"/>
            <a:ext cx="368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4" name="Google Shape;11234;p430"/>
          <p:cNvCxnSpPr>
            <a:stCxn id="11224" idx="7"/>
            <a:endCxn id="11223" idx="4"/>
          </p:cNvCxnSpPr>
          <p:nvPr/>
        </p:nvCxnSpPr>
        <p:spPr>
          <a:xfrm flipH="1" rot="10800000">
            <a:off x="3545065" y="1988895"/>
            <a:ext cx="3627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5" name="Google Shape;11235;p430"/>
          <p:cNvCxnSpPr>
            <a:stCxn id="11227" idx="1"/>
            <a:endCxn id="11224" idx="5"/>
          </p:cNvCxnSpPr>
          <p:nvPr/>
        </p:nvCxnSpPr>
        <p:spPr>
          <a:xfrm rot="10800000">
            <a:off x="3545168" y="2563956"/>
            <a:ext cx="724800" cy="55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6" name="Google Shape;11236;p430"/>
          <p:cNvCxnSpPr>
            <a:stCxn id="11227" idx="2"/>
            <a:endCxn id="11226" idx="5"/>
          </p:cNvCxnSpPr>
          <p:nvPr/>
        </p:nvCxnSpPr>
        <p:spPr>
          <a:xfrm rot="10800000">
            <a:off x="3645129" y="3179710"/>
            <a:ext cx="578400" cy="4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7" name="Google Shape;11237;p430"/>
          <p:cNvCxnSpPr>
            <a:stCxn id="11226" idx="2"/>
            <a:endCxn id="11220" idx="6"/>
          </p:cNvCxnSpPr>
          <p:nvPr/>
        </p:nvCxnSpPr>
        <p:spPr>
          <a:xfrm rot="10800000">
            <a:off x="2513010" y="2867656"/>
            <a:ext cx="861600" cy="202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8" name="Google Shape;11238;p430"/>
          <p:cNvCxnSpPr>
            <a:stCxn id="11227" idx="0"/>
            <a:endCxn id="11225" idx="4"/>
          </p:cNvCxnSpPr>
          <p:nvPr/>
        </p:nvCxnSpPr>
        <p:spPr>
          <a:xfrm flipH="1" rot="10800000">
            <a:off x="4382079" y="2521060"/>
            <a:ext cx="118200" cy="55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39" name="Google Shape;11239;p430"/>
          <p:cNvCxnSpPr>
            <a:stCxn id="11224" idx="2"/>
            <a:endCxn id="11221" idx="6"/>
          </p:cNvCxnSpPr>
          <p:nvPr/>
        </p:nvCxnSpPr>
        <p:spPr>
          <a:xfrm rot="10800000">
            <a:off x="2880803" y="2454649"/>
            <a:ext cx="393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240" name="Google Shape;11240;p430"/>
          <p:cNvSpPr txBox="1"/>
          <p:nvPr>
            <p:ph idx="4294967295" type="body"/>
          </p:nvPr>
        </p:nvSpPr>
        <p:spPr>
          <a:xfrm>
            <a:off x="5342550" y="315925"/>
            <a:ext cx="3580800" cy="17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Identify the k-connectivity of the input graph (G)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Remove the k-cutset (vertices)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 sz="1400">
                <a:solidFill>
                  <a:srgbClr val="FF0000"/>
                </a:solidFill>
              </a:rPr>
              <a:t>Do the same on the resulting subgraphs until no more subdivisions can be obtained </a:t>
            </a:r>
            <a:endParaRPr b="1" sz="1400">
              <a:solidFill>
                <a:srgbClr val="FF0000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11241" name="Google Shape;11241;p430"/>
          <p:cNvSpPr txBox="1"/>
          <p:nvPr>
            <p:ph type="title"/>
          </p:nvPr>
        </p:nvSpPr>
        <p:spPr>
          <a:xfrm>
            <a:off x="311700" y="315925"/>
            <a:ext cx="54051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Cohesive Blocking </a:t>
            </a:r>
            <a:endParaRPr/>
          </a:p>
        </p:txBody>
      </p:sp>
      <p:sp>
        <p:nvSpPr>
          <p:cNvPr id="11242" name="Google Shape;11242;p430"/>
          <p:cNvSpPr txBox="1"/>
          <p:nvPr/>
        </p:nvSpPr>
        <p:spPr>
          <a:xfrm>
            <a:off x="2691175" y="3706850"/>
            <a:ext cx="2476200" cy="116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Who’s next?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1243" name="Google Shape;11243;p430"/>
          <p:cNvSpPr/>
          <p:nvPr/>
        </p:nvSpPr>
        <p:spPr>
          <a:xfrm>
            <a:off x="6584850" y="1958150"/>
            <a:ext cx="863100" cy="4179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G</a:t>
            </a:r>
            <a:endParaRPr b="1"/>
          </a:p>
        </p:txBody>
      </p:sp>
      <p:cxnSp>
        <p:nvCxnSpPr>
          <p:cNvPr id="11244" name="Google Shape;11244;p430"/>
          <p:cNvCxnSpPr>
            <a:stCxn id="11243" idx="4"/>
            <a:endCxn id="11245" idx="0"/>
          </p:cNvCxnSpPr>
          <p:nvPr/>
        </p:nvCxnSpPr>
        <p:spPr>
          <a:xfrm flipH="1">
            <a:off x="6296100" y="2376050"/>
            <a:ext cx="720300" cy="770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1246" name="Google Shape;11246;p430"/>
          <p:cNvCxnSpPr>
            <a:stCxn id="11243" idx="4"/>
            <a:endCxn id="11247" idx="0"/>
          </p:cNvCxnSpPr>
          <p:nvPr/>
        </p:nvCxnSpPr>
        <p:spPr>
          <a:xfrm>
            <a:off x="7016400" y="2376050"/>
            <a:ext cx="902700" cy="738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1247" name="Google Shape;11247;p430"/>
          <p:cNvSpPr/>
          <p:nvPr/>
        </p:nvSpPr>
        <p:spPr>
          <a:xfrm>
            <a:off x="7318725" y="3114100"/>
            <a:ext cx="1200600" cy="6060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</a:rPr>
              <a:t>7</a:t>
            </a:r>
            <a:r>
              <a:rPr lang="en" sz="1200"/>
              <a:t>, 8, 9, 10, 11, 12, 13, 14, 15, 16</a:t>
            </a:r>
            <a:endParaRPr sz="1200"/>
          </a:p>
        </p:txBody>
      </p:sp>
      <p:sp>
        <p:nvSpPr>
          <p:cNvPr id="11245" name="Google Shape;11245;p430"/>
          <p:cNvSpPr/>
          <p:nvPr/>
        </p:nvSpPr>
        <p:spPr>
          <a:xfrm>
            <a:off x="5581050" y="3146455"/>
            <a:ext cx="1429800" cy="6060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1, 2, 3, 4, 5, 6, 7, 17, 18, 19, 20, 21, 22, 23</a:t>
            </a:r>
            <a:endParaRPr sz="1200"/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51" name="Shape 1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2" name="Google Shape;11252;p431"/>
          <p:cNvSpPr/>
          <p:nvPr/>
        </p:nvSpPr>
        <p:spPr>
          <a:xfrm>
            <a:off x="913295" y="11472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1253" name="Google Shape;11253;p431"/>
          <p:cNvSpPr/>
          <p:nvPr/>
        </p:nvSpPr>
        <p:spPr>
          <a:xfrm>
            <a:off x="1445385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1254" name="Google Shape;11254;p431"/>
          <p:cNvSpPr/>
          <p:nvPr/>
        </p:nvSpPr>
        <p:spPr>
          <a:xfrm>
            <a:off x="311700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1255" name="Google Shape;11255;p431"/>
          <p:cNvSpPr/>
          <p:nvPr/>
        </p:nvSpPr>
        <p:spPr>
          <a:xfrm>
            <a:off x="913295" y="185551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1256" name="Google Shape;11256;p431"/>
          <p:cNvSpPr/>
          <p:nvPr/>
        </p:nvSpPr>
        <p:spPr>
          <a:xfrm>
            <a:off x="311700" y="2164904"/>
            <a:ext cx="317100" cy="3093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1257" name="Google Shape;11257;p431"/>
          <p:cNvSpPr/>
          <p:nvPr/>
        </p:nvSpPr>
        <p:spPr>
          <a:xfrm>
            <a:off x="913295" y="2434838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1258" name="Google Shape;11258;p431"/>
          <p:cNvCxnSpPr>
            <a:endCxn id="11254" idx="7"/>
          </p:cNvCxnSpPr>
          <p:nvPr/>
        </p:nvCxnSpPr>
        <p:spPr>
          <a:xfrm flipH="1">
            <a:off x="582362" y="1411129"/>
            <a:ext cx="3774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59" name="Google Shape;11259;p431"/>
          <p:cNvCxnSpPr>
            <a:stCxn id="11256" idx="0"/>
            <a:endCxn id="11254" idx="4"/>
          </p:cNvCxnSpPr>
          <p:nvPr/>
        </p:nvCxnSpPr>
        <p:spPr>
          <a:xfrm rot="10800000">
            <a:off x="470250" y="1855304"/>
            <a:ext cx="0" cy="3096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0" name="Google Shape;11260;p431"/>
          <p:cNvCxnSpPr>
            <a:stCxn id="11257" idx="2"/>
            <a:endCxn id="11256" idx="5"/>
          </p:cNvCxnSpPr>
          <p:nvPr/>
        </p:nvCxnSpPr>
        <p:spPr>
          <a:xfrm rot="10800000">
            <a:off x="582395" y="2428988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1" name="Google Shape;11261;p431"/>
          <p:cNvCxnSpPr>
            <a:stCxn id="11255" idx="2"/>
            <a:endCxn id="11256" idx="6"/>
          </p:cNvCxnSpPr>
          <p:nvPr/>
        </p:nvCxnSpPr>
        <p:spPr>
          <a:xfrm flipH="1">
            <a:off x="628895" y="2010169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2" name="Google Shape;11262;p431"/>
          <p:cNvCxnSpPr>
            <a:stCxn id="11257" idx="2"/>
            <a:endCxn id="11254" idx="4"/>
          </p:cNvCxnSpPr>
          <p:nvPr/>
        </p:nvCxnSpPr>
        <p:spPr>
          <a:xfrm rot="10800000">
            <a:off x="470195" y="1855388"/>
            <a:ext cx="443100" cy="73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3" name="Google Shape;11263;p431"/>
          <p:cNvCxnSpPr>
            <a:stCxn id="11253" idx="2"/>
            <a:endCxn id="11255" idx="7"/>
          </p:cNvCxnSpPr>
          <p:nvPr/>
        </p:nvCxnSpPr>
        <p:spPr>
          <a:xfrm flipH="1">
            <a:off x="1184085" y="1700783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4" name="Google Shape;11264;p431"/>
          <p:cNvCxnSpPr>
            <a:stCxn id="11253" idx="2"/>
            <a:endCxn id="11254" idx="6"/>
          </p:cNvCxnSpPr>
          <p:nvPr/>
        </p:nvCxnSpPr>
        <p:spPr>
          <a:xfrm rot="10800000">
            <a:off x="628785" y="1700783"/>
            <a:ext cx="81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5" name="Google Shape;11265;p431"/>
          <p:cNvCxnSpPr>
            <a:stCxn id="11253" idx="0"/>
            <a:endCxn id="11252" idx="5"/>
          </p:cNvCxnSpPr>
          <p:nvPr/>
        </p:nvCxnSpPr>
        <p:spPr>
          <a:xfrm rot="10800000">
            <a:off x="1183935" y="1411133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6" name="Google Shape;11266;p431"/>
          <p:cNvCxnSpPr>
            <a:stCxn id="11257" idx="0"/>
            <a:endCxn id="11255" idx="4"/>
          </p:cNvCxnSpPr>
          <p:nvPr/>
        </p:nvCxnSpPr>
        <p:spPr>
          <a:xfrm rot="10800000">
            <a:off x="1071845" y="2164838"/>
            <a:ext cx="0" cy="270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7" name="Google Shape;11267;p431"/>
          <p:cNvCxnSpPr>
            <a:stCxn id="11256" idx="6"/>
            <a:endCxn id="11252" idx="4"/>
          </p:cNvCxnSpPr>
          <p:nvPr/>
        </p:nvCxnSpPr>
        <p:spPr>
          <a:xfrm flipH="1" rot="10800000">
            <a:off x="628800" y="1456454"/>
            <a:ext cx="443100" cy="863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8" name="Google Shape;11268;p431"/>
          <p:cNvCxnSpPr>
            <a:stCxn id="11255" idx="0"/>
            <a:endCxn id="11252" idx="4"/>
          </p:cNvCxnSpPr>
          <p:nvPr/>
        </p:nvCxnSpPr>
        <p:spPr>
          <a:xfrm rot="10800000">
            <a:off x="1071845" y="1456519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69" name="Google Shape;11269;p431"/>
          <p:cNvCxnSpPr>
            <a:stCxn id="11257" idx="6"/>
            <a:endCxn id="11253" idx="3"/>
          </p:cNvCxnSpPr>
          <p:nvPr/>
        </p:nvCxnSpPr>
        <p:spPr>
          <a:xfrm flipH="1" rot="10800000">
            <a:off x="1230395" y="1810088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70" name="Google Shape;11270;p431"/>
          <p:cNvCxnSpPr>
            <a:stCxn id="11255" idx="1"/>
            <a:endCxn id="11254" idx="6"/>
          </p:cNvCxnSpPr>
          <p:nvPr/>
        </p:nvCxnSpPr>
        <p:spPr>
          <a:xfrm rot="10800000">
            <a:off x="628834" y="1700715"/>
            <a:ext cx="3309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271" name="Google Shape;11271;p431"/>
          <p:cNvSpPr/>
          <p:nvPr/>
        </p:nvSpPr>
        <p:spPr>
          <a:xfrm>
            <a:off x="1128323" y="311777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17</a:t>
            </a:r>
            <a:endParaRPr/>
          </a:p>
        </p:txBody>
      </p:sp>
      <p:sp>
        <p:nvSpPr>
          <p:cNvPr id="11272" name="Google Shape;11272;p431"/>
          <p:cNvSpPr/>
          <p:nvPr/>
        </p:nvSpPr>
        <p:spPr>
          <a:xfrm>
            <a:off x="1660413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19</a:t>
            </a:r>
            <a:endParaRPr/>
          </a:p>
        </p:txBody>
      </p:sp>
      <p:sp>
        <p:nvSpPr>
          <p:cNvPr id="11273" name="Google Shape;11273;p431"/>
          <p:cNvSpPr/>
          <p:nvPr/>
        </p:nvSpPr>
        <p:spPr>
          <a:xfrm>
            <a:off x="596234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18</a:t>
            </a:r>
            <a:endParaRPr/>
          </a:p>
        </p:txBody>
      </p:sp>
      <p:sp>
        <p:nvSpPr>
          <p:cNvPr id="11274" name="Google Shape;11274;p431"/>
          <p:cNvSpPr/>
          <p:nvPr/>
        </p:nvSpPr>
        <p:spPr>
          <a:xfrm>
            <a:off x="1128323" y="382607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</a:t>
            </a:r>
            <a:endParaRPr/>
          </a:p>
        </p:txBody>
      </p:sp>
      <p:sp>
        <p:nvSpPr>
          <p:cNvPr id="11275" name="Google Shape;11275;p431"/>
          <p:cNvSpPr/>
          <p:nvPr/>
        </p:nvSpPr>
        <p:spPr>
          <a:xfrm>
            <a:off x="526728" y="413545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</a:t>
            </a:r>
            <a:endParaRPr/>
          </a:p>
        </p:txBody>
      </p:sp>
      <p:sp>
        <p:nvSpPr>
          <p:cNvPr id="11276" name="Google Shape;11276;p431"/>
          <p:cNvSpPr/>
          <p:nvPr/>
        </p:nvSpPr>
        <p:spPr>
          <a:xfrm>
            <a:off x="1128323" y="440539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23</a:t>
            </a:r>
            <a:endParaRPr/>
          </a:p>
        </p:txBody>
      </p:sp>
      <p:sp>
        <p:nvSpPr>
          <p:cNvPr id="11277" name="Google Shape;11277;p431"/>
          <p:cNvSpPr/>
          <p:nvPr/>
        </p:nvSpPr>
        <p:spPr>
          <a:xfrm>
            <a:off x="1660786" y="4136262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22</a:t>
            </a:r>
            <a:endParaRPr/>
          </a:p>
        </p:txBody>
      </p:sp>
      <p:cxnSp>
        <p:nvCxnSpPr>
          <p:cNvPr id="11278" name="Google Shape;11278;p431"/>
          <p:cNvCxnSpPr>
            <a:stCxn id="11271" idx="3"/>
            <a:endCxn id="11273" idx="7"/>
          </p:cNvCxnSpPr>
          <p:nvPr/>
        </p:nvCxnSpPr>
        <p:spPr>
          <a:xfrm flipH="1">
            <a:off x="866962" y="3381780"/>
            <a:ext cx="3078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79" name="Google Shape;11279;p431"/>
          <p:cNvCxnSpPr>
            <a:stCxn id="11276" idx="2"/>
            <a:endCxn id="11275" idx="5"/>
          </p:cNvCxnSpPr>
          <p:nvPr/>
        </p:nvCxnSpPr>
        <p:spPr>
          <a:xfrm rot="10800000">
            <a:off x="797423" y="4399540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0" name="Google Shape;11280;p431"/>
          <p:cNvCxnSpPr>
            <a:stCxn id="11274" idx="2"/>
            <a:endCxn id="11275" idx="6"/>
          </p:cNvCxnSpPr>
          <p:nvPr/>
        </p:nvCxnSpPr>
        <p:spPr>
          <a:xfrm flipH="1">
            <a:off x="843923" y="3980720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1" name="Google Shape;11281;p431"/>
          <p:cNvCxnSpPr>
            <a:stCxn id="11275" idx="0"/>
            <a:endCxn id="11273" idx="4"/>
          </p:cNvCxnSpPr>
          <p:nvPr/>
        </p:nvCxnSpPr>
        <p:spPr>
          <a:xfrm flipH="1" rot="10800000">
            <a:off x="685278" y="3825856"/>
            <a:ext cx="696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2" name="Google Shape;11282;p431"/>
          <p:cNvCxnSpPr>
            <a:stCxn id="11272" idx="2"/>
            <a:endCxn id="11274" idx="7"/>
          </p:cNvCxnSpPr>
          <p:nvPr/>
        </p:nvCxnSpPr>
        <p:spPr>
          <a:xfrm flipH="1">
            <a:off x="1399113" y="3671335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3" name="Google Shape;11283;p431"/>
          <p:cNvCxnSpPr>
            <a:stCxn id="11272" idx="0"/>
            <a:endCxn id="11271" idx="5"/>
          </p:cNvCxnSpPr>
          <p:nvPr/>
        </p:nvCxnSpPr>
        <p:spPr>
          <a:xfrm rot="10800000">
            <a:off x="1398963" y="3381685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4" name="Google Shape;11284;p431"/>
          <p:cNvCxnSpPr>
            <a:stCxn id="11277" idx="0"/>
            <a:endCxn id="11272" idx="4"/>
          </p:cNvCxnSpPr>
          <p:nvPr/>
        </p:nvCxnSpPr>
        <p:spPr>
          <a:xfrm rot="10800000">
            <a:off x="1818886" y="3826062"/>
            <a:ext cx="600" cy="310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5" name="Google Shape;11285;p431"/>
          <p:cNvCxnSpPr>
            <a:stCxn id="11276" idx="6"/>
            <a:endCxn id="11277" idx="3"/>
          </p:cNvCxnSpPr>
          <p:nvPr/>
        </p:nvCxnSpPr>
        <p:spPr>
          <a:xfrm flipH="1" rot="10800000">
            <a:off x="1445423" y="4405240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6" name="Google Shape;11286;p431"/>
          <p:cNvCxnSpPr>
            <a:stCxn id="11275" idx="6"/>
            <a:endCxn id="11277" idx="2"/>
          </p:cNvCxnSpPr>
          <p:nvPr/>
        </p:nvCxnSpPr>
        <p:spPr>
          <a:xfrm>
            <a:off x="843828" y="4290106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7" name="Google Shape;11287;p431"/>
          <p:cNvCxnSpPr>
            <a:stCxn id="11274" idx="0"/>
            <a:endCxn id="11271" idx="4"/>
          </p:cNvCxnSpPr>
          <p:nvPr/>
        </p:nvCxnSpPr>
        <p:spPr>
          <a:xfrm rot="10800000">
            <a:off x="1286873" y="3427070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8" name="Google Shape;11288;p431"/>
          <p:cNvCxnSpPr>
            <a:stCxn id="11276" idx="6"/>
            <a:endCxn id="11272" idx="3"/>
          </p:cNvCxnSpPr>
          <p:nvPr/>
        </p:nvCxnSpPr>
        <p:spPr>
          <a:xfrm flipH="1" rot="10800000">
            <a:off x="1445423" y="3780640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9" name="Google Shape;11289;p431"/>
          <p:cNvCxnSpPr>
            <a:stCxn id="11274" idx="1"/>
            <a:endCxn id="11273" idx="6"/>
          </p:cNvCxnSpPr>
          <p:nvPr/>
        </p:nvCxnSpPr>
        <p:spPr>
          <a:xfrm rot="10800000">
            <a:off x="913462" y="3671266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90" name="Google Shape;11290;p431"/>
          <p:cNvCxnSpPr>
            <a:stCxn id="11275" idx="1"/>
            <a:endCxn id="11256" idx="4"/>
          </p:cNvCxnSpPr>
          <p:nvPr/>
        </p:nvCxnSpPr>
        <p:spPr>
          <a:xfrm rot="10800000">
            <a:off x="470266" y="2474352"/>
            <a:ext cx="102900" cy="170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291" name="Google Shape;11291;p431"/>
          <p:cNvSpPr/>
          <p:nvPr/>
        </p:nvSpPr>
        <p:spPr>
          <a:xfrm>
            <a:off x="2195893" y="18556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1292" name="Google Shape;11292;p431"/>
          <p:cNvSpPr/>
          <p:nvPr/>
        </p:nvSpPr>
        <p:spPr>
          <a:xfrm>
            <a:off x="2195893" y="27130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1293" name="Google Shape;11293;p431"/>
          <p:cNvSpPr/>
          <p:nvPr/>
        </p:nvSpPr>
        <p:spPr>
          <a:xfrm>
            <a:off x="256379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1294" name="Google Shape;11294;p431"/>
          <p:cNvSpPr/>
          <p:nvPr/>
        </p:nvSpPr>
        <p:spPr>
          <a:xfrm>
            <a:off x="2880801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1295" name="Google Shape;11295;p431"/>
          <p:cNvSpPr/>
          <p:nvPr/>
        </p:nvSpPr>
        <p:spPr>
          <a:xfrm>
            <a:off x="3749082" y="1679501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1296" name="Google Shape;11296;p431"/>
          <p:cNvSpPr/>
          <p:nvPr/>
        </p:nvSpPr>
        <p:spPr>
          <a:xfrm>
            <a:off x="327440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sp>
        <p:nvSpPr>
          <p:cNvPr id="11297" name="Google Shape;11297;p431"/>
          <p:cNvSpPr/>
          <p:nvPr/>
        </p:nvSpPr>
        <p:spPr>
          <a:xfrm>
            <a:off x="4341627" y="2211777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sp>
        <p:nvSpPr>
          <p:cNvPr id="11298" name="Google Shape;11298;p431"/>
          <p:cNvSpPr/>
          <p:nvPr/>
        </p:nvSpPr>
        <p:spPr>
          <a:xfrm>
            <a:off x="3374610" y="291580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</a:t>
            </a:r>
            <a:endParaRPr/>
          </a:p>
        </p:txBody>
      </p:sp>
      <p:sp>
        <p:nvSpPr>
          <p:cNvPr id="11299" name="Google Shape;11299;p431"/>
          <p:cNvSpPr/>
          <p:nvPr/>
        </p:nvSpPr>
        <p:spPr>
          <a:xfrm>
            <a:off x="4223529" y="307246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</a:t>
            </a:r>
            <a:endParaRPr/>
          </a:p>
        </p:txBody>
      </p:sp>
      <p:cxnSp>
        <p:nvCxnSpPr>
          <p:cNvPr id="11300" name="Google Shape;11300;p431"/>
          <p:cNvCxnSpPr>
            <a:stCxn id="11292" idx="0"/>
            <a:endCxn id="11291" idx="4"/>
          </p:cNvCxnSpPr>
          <p:nvPr/>
        </p:nvCxnSpPr>
        <p:spPr>
          <a:xfrm rot="10800000">
            <a:off x="2354443" y="2164904"/>
            <a:ext cx="0" cy="548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1" name="Google Shape;11301;p431"/>
          <p:cNvCxnSpPr>
            <a:stCxn id="11293" idx="0"/>
            <a:endCxn id="11291" idx="5"/>
          </p:cNvCxnSpPr>
          <p:nvPr/>
        </p:nvCxnSpPr>
        <p:spPr>
          <a:xfrm rot="10800000">
            <a:off x="2466443" y="2119699"/>
            <a:ext cx="2559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2" name="Google Shape;11302;p431"/>
          <p:cNvCxnSpPr>
            <a:stCxn id="11292" idx="6"/>
            <a:endCxn id="11293" idx="4"/>
          </p:cNvCxnSpPr>
          <p:nvPr/>
        </p:nvCxnSpPr>
        <p:spPr>
          <a:xfrm flipH="1" rot="10800000">
            <a:off x="2512993" y="2609354"/>
            <a:ext cx="209400" cy="25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3" name="Google Shape;11303;p431"/>
          <p:cNvCxnSpPr>
            <a:stCxn id="11291" idx="6"/>
            <a:endCxn id="11294" idx="2"/>
          </p:cNvCxnSpPr>
          <p:nvPr/>
        </p:nvCxnSpPr>
        <p:spPr>
          <a:xfrm flipH="1" rot="10800000">
            <a:off x="2512993" y="1700675"/>
            <a:ext cx="3678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4" name="Google Shape;11304;p431"/>
          <p:cNvCxnSpPr>
            <a:stCxn id="11295" idx="2"/>
            <a:endCxn id="11294" idx="6"/>
          </p:cNvCxnSpPr>
          <p:nvPr/>
        </p:nvCxnSpPr>
        <p:spPr>
          <a:xfrm rot="10800000">
            <a:off x="3197982" y="1700651"/>
            <a:ext cx="551100" cy="13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5" name="Google Shape;11305;p431"/>
          <p:cNvCxnSpPr>
            <a:stCxn id="11297" idx="1"/>
            <a:endCxn id="11295" idx="5"/>
          </p:cNvCxnSpPr>
          <p:nvPr/>
        </p:nvCxnSpPr>
        <p:spPr>
          <a:xfrm rot="10800000">
            <a:off x="4019665" y="1943573"/>
            <a:ext cx="368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6" name="Google Shape;11306;p431"/>
          <p:cNvCxnSpPr>
            <a:stCxn id="11296" idx="7"/>
            <a:endCxn id="11295" idx="4"/>
          </p:cNvCxnSpPr>
          <p:nvPr/>
        </p:nvCxnSpPr>
        <p:spPr>
          <a:xfrm flipH="1" rot="10800000">
            <a:off x="3545065" y="1988895"/>
            <a:ext cx="3627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7" name="Google Shape;11307;p431"/>
          <p:cNvCxnSpPr>
            <a:stCxn id="11299" idx="1"/>
            <a:endCxn id="11296" idx="5"/>
          </p:cNvCxnSpPr>
          <p:nvPr/>
        </p:nvCxnSpPr>
        <p:spPr>
          <a:xfrm rot="10800000">
            <a:off x="3545168" y="2563956"/>
            <a:ext cx="724800" cy="55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8" name="Google Shape;11308;p431"/>
          <p:cNvCxnSpPr>
            <a:stCxn id="11299" idx="2"/>
            <a:endCxn id="11298" idx="5"/>
          </p:cNvCxnSpPr>
          <p:nvPr/>
        </p:nvCxnSpPr>
        <p:spPr>
          <a:xfrm rot="10800000">
            <a:off x="3645129" y="3179710"/>
            <a:ext cx="578400" cy="4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09" name="Google Shape;11309;p431"/>
          <p:cNvCxnSpPr>
            <a:stCxn id="11298" idx="2"/>
            <a:endCxn id="11292" idx="6"/>
          </p:cNvCxnSpPr>
          <p:nvPr/>
        </p:nvCxnSpPr>
        <p:spPr>
          <a:xfrm rot="10800000">
            <a:off x="2513010" y="2867656"/>
            <a:ext cx="861600" cy="202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10" name="Google Shape;11310;p431"/>
          <p:cNvCxnSpPr>
            <a:stCxn id="11299" idx="0"/>
            <a:endCxn id="11297" idx="4"/>
          </p:cNvCxnSpPr>
          <p:nvPr/>
        </p:nvCxnSpPr>
        <p:spPr>
          <a:xfrm flipH="1" rot="10800000">
            <a:off x="4382079" y="2521060"/>
            <a:ext cx="118200" cy="55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11" name="Google Shape;11311;p431"/>
          <p:cNvCxnSpPr>
            <a:stCxn id="11296" idx="2"/>
            <a:endCxn id="11293" idx="6"/>
          </p:cNvCxnSpPr>
          <p:nvPr/>
        </p:nvCxnSpPr>
        <p:spPr>
          <a:xfrm rot="10800000">
            <a:off x="2880803" y="2454649"/>
            <a:ext cx="393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12" name="Google Shape;11312;p431"/>
          <p:cNvSpPr txBox="1"/>
          <p:nvPr>
            <p:ph idx="4294967295" type="body"/>
          </p:nvPr>
        </p:nvSpPr>
        <p:spPr>
          <a:xfrm>
            <a:off x="5342550" y="315925"/>
            <a:ext cx="3580800" cy="17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Identify the k-connectivity of the input graph (G)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Remove the k-cutset (vertices)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 sz="1400">
                <a:solidFill>
                  <a:srgbClr val="FF0000"/>
                </a:solidFill>
              </a:rPr>
              <a:t>Do the same on the resulting subgraphs until no more subdivisions can be obtained </a:t>
            </a:r>
            <a:endParaRPr b="1" sz="1400">
              <a:solidFill>
                <a:srgbClr val="FF0000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11313" name="Google Shape;11313;p431"/>
          <p:cNvSpPr txBox="1"/>
          <p:nvPr>
            <p:ph type="title"/>
          </p:nvPr>
        </p:nvSpPr>
        <p:spPr>
          <a:xfrm>
            <a:off x="311700" y="315925"/>
            <a:ext cx="54051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Cohesive Blocking </a:t>
            </a:r>
            <a:endParaRPr/>
          </a:p>
        </p:txBody>
      </p:sp>
      <p:sp>
        <p:nvSpPr>
          <p:cNvPr id="11314" name="Google Shape;11314;p431"/>
          <p:cNvSpPr txBox="1"/>
          <p:nvPr/>
        </p:nvSpPr>
        <p:spPr>
          <a:xfrm>
            <a:off x="2691175" y="3706850"/>
            <a:ext cx="2476200" cy="116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That’s right! 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1315" name="Google Shape;11315;p431"/>
          <p:cNvSpPr/>
          <p:nvPr/>
        </p:nvSpPr>
        <p:spPr>
          <a:xfrm>
            <a:off x="6584850" y="1958150"/>
            <a:ext cx="863100" cy="4179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G</a:t>
            </a:r>
            <a:endParaRPr b="1"/>
          </a:p>
        </p:txBody>
      </p:sp>
      <p:cxnSp>
        <p:nvCxnSpPr>
          <p:cNvPr id="11316" name="Google Shape;11316;p431"/>
          <p:cNvCxnSpPr>
            <a:stCxn id="11315" idx="4"/>
            <a:endCxn id="11317" idx="0"/>
          </p:cNvCxnSpPr>
          <p:nvPr/>
        </p:nvCxnSpPr>
        <p:spPr>
          <a:xfrm flipH="1">
            <a:off x="6296100" y="2376050"/>
            <a:ext cx="720300" cy="770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1318" name="Google Shape;11318;p431"/>
          <p:cNvCxnSpPr>
            <a:stCxn id="11315" idx="4"/>
            <a:endCxn id="11319" idx="0"/>
          </p:cNvCxnSpPr>
          <p:nvPr/>
        </p:nvCxnSpPr>
        <p:spPr>
          <a:xfrm>
            <a:off x="7016400" y="2376050"/>
            <a:ext cx="902700" cy="738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1319" name="Google Shape;11319;p431"/>
          <p:cNvSpPr/>
          <p:nvPr/>
        </p:nvSpPr>
        <p:spPr>
          <a:xfrm>
            <a:off x="7318725" y="3114100"/>
            <a:ext cx="1200600" cy="6060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</a:rPr>
              <a:t>7</a:t>
            </a:r>
            <a:r>
              <a:rPr lang="en" sz="1200"/>
              <a:t>, 8, 9, 10, 11, 12, 13, 14, 15, 16</a:t>
            </a:r>
            <a:endParaRPr sz="1200"/>
          </a:p>
        </p:txBody>
      </p:sp>
      <p:sp>
        <p:nvSpPr>
          <p:cNvPr id="11317" name="Google Shape;11317;p431"/>
          <p:cNvSpPr/>
          <p:nvPr/>
        </p:nvSpPr>
        <p:spPr>
          <a:xfrm>
            <a:off x="5581050" y="3146455"/>
            <a:ext cx="1429800" cy="6060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1, 2, 3, 4, 5, 6, 7, 17, 18, 19, 20, 21, 22, 23</a:t>
            </a:r>
            <a:endParaRPr sz="1200"/>
          </a:p>
        </p:txBody>
      </p:sp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23" name="Shape 1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4" name="Google Shape;11324;p432"/>
          <p:cNvSpPr/>
          <p:nvPr/>
        </p:nvSpPr>
        <p:spPr>
          <a:xfrm>
            <a:off x="913295" y="11472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1325" name="Google Shape;11325;p432"/>
          <p:cNvSpPr/>
          <p:nvPr/>
        </p:nvSpPr>
        <p:spPr>
          <a:xfrm>
            <a:off x="1445385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1326" name="Google Shape;11326;p432"/>
          <p:cNvSpPr/>
          <p:nvPr/>
        </p:nvSpPr>
        <p:spPr>
          <a:xfrm>
            <a:off x="311700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1327" name="Google Shape;11327;p432"/>
          <p:cNvSpPr/>
          <p:nvPr/>
        </p:nvSpPr>
        <p:spPr>
          <a:xfrm>
            <a:off x="913295" y="185551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1328" name="Google Shape;11328;p432"/>
          <p:cNvSpPr/>
          <p:nvPr/>
        </p:nvSpPr>
        <p:spPr>
          <a:xfrm>
            <a:off x="913295" y="2434838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</a:t>
            </a:r>
            <a:endParaRPr/>
          </a:p>
        </p:txBody>
      </p:sp>
      <p:cxnSp>
        <p:nvCxnSpPr>
          <p:cNvPr id="11329" name="Google Shape;11329;p432"/>
          <p:cNvCxnSpPr>
            <a:endCxn id="11326" idx="7"/>
          </p:cNvCxnSpPr>
          <p:nvPr/>
        </p:nvCxnSpPr>
        <p:spPr>
          <a:xfrm flipH="1">
            <a:off x="582362" y="1411129"/>
            <a:ext cx="3774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30" name="Google Shape;11330;p432"/>
          <p:cNvCxnSpPr>
            <a:stCxn id="11328" idx="2"/>
            <a:endCxn id="11326" idx="4"/>
          </p:cNvCxnSpPr>
          <p:nvPr/>
        </p:nvCxnSpPr>
        <p:spPr>
          <a:xfrm rot="10800000">
            <a:off x="470195" y="1855388"/>
            <a:ext cx="443100" cy="734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31" name="Google Shape;11331;p432"/>
          <p:cNvCxnSpPr>
            <a:stCxn id="11325" idx="2"/>
            <a:endCxn id="11327" idx="7"/>
          </p:cNvCxnSpPr>
          <p:nvPr/>
        </p:nvCxnSpPr>
        <p:spPr>
          <a:xfrm flipH="1">
            <a:off x="1184085" y="1700783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32" name="Google Shape;11332;p432"/>
          <p:cNvCxnSpPr>
            <a:stCxn id="11325" idx="2"/>
            <a:endCxn id="11326" idx="6"/>
          </p:cNvCxnSpPr>
          <p:nvPr/>
        </p:nvCxnSpPr>
        <p:spPr>
          <a:xfrm rot="10800000">
            <a:off x="628785" y="1700783"/>
            <a:ext cx="81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33" name="Google Shape;11333;p432"/>
          <p:cNvCxnSpPr>
            <a:stCxn id="11325" idx="0"/>
            <a:endCxn id="11324" idx="5"/>
          </p:cNvCxnSpPr>
          <p:nvPr/>
        </p:nvCxnSpPr>
        <p:spPr>
          <a:xfrm rot="10800000">
            <a:off x="1183935" y="1411133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34" name="Google Shape;11334;p432"/>
          <p:cNvCxnSpPr>
            <a:stCxn id="11328" idx="0"/>
            <a:endCxn id="11327" idx="4"/>
          </p:cNvCxnSpPr>
          <p:nvPr/>
        </p:nvCxnSpPr>
        <p:spPr>
          <a:xfrm rot="10800000">
            <a:off x="1071845" y="2164838"/>
            <a:ext cx="0" cy="270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35" name="Google Shape;11335;p432"/>
          <p:cNvCxnSpPr>
            <a:stCxn id="11327" idx="0"/>
            <a:endCxn id="11324" idx="4"/>
          </p:cNvCxnSpPr>
          <p:nvPr/>
        </p:nvCxnSpPr>
        <p:spPr>
          <a:xfrm rot="10800000">
            <a:off x="1071845" y="1456519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36" name="Google Shape;11336;p432"/>
          <p:cNvCxnSpPr>
            <a:stCxn id="11328" idx="6"/>
            <a:endCxn id="11325" idx="3"/>
          </p:cNvCxnSpPr>
          <p:nvPr/>
        </p:nvCxnSpPr>
        <p:spPr>
          <a:xfrm flipH="1" rot="10800000">
            <a:off x="1230395" y="1810088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37" name="Google Shape;11337;p432"/>
          <p:cNvCxnSpPr>
            <a:stCxn id="11327" idx="1"/>
            <a:endCxn id="11326" idx="6"/>
          </p:cNvCxnSpPr>
          <p:nvPr/>
        </p:nvCxnSpPr>
        <p:spPr>
          <a:xfrm rot="10800000">
            <a:off x="628834" y="1700715"/>
            <a:ext cx="3309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38" name="Google Shape;11338;p432"/>
          <p:cNvSpPr/>
          <p:nvPr/>
        </p:nvSpPr>
        <p:spPr>
          <a:xfrm>
            <a:off x="1128323" y="311777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17</a:t>
            </a:r>
            <a:endParaRPr/>
          </a:p>
        </p:txBody>
      </p:sp>
      <p:sp>
        <p:nvSpPr>
          <p:cNvPr id="11339" name="Google Shape;11339;p432"/>
          <p:cNvSpPr/>
          <p:nvPr/>
        </p:nvSpPr>
        <p:spPr>
          <a:xfrm>
            <a:off x="1660413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19</a:t>
            </a:r>
            <a:endParaRPr/>
          </a:p>
        </p:txBody>
      </p:sp>
      <p:sp>
        <p:nvSpPr>
          <p:cNvPr id="11340" name="Google Shape;11340;p432"/>
          <p:cNvSpPr/>
          <p:nvPr/>
        </p:nvSpPr>
        <p:spPr>
          <a:xfrm>
            <a:off x="596234" y="351668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18</a:t>
            </a:r>
            <a:endParaRPr/>
          </a:p>
        </p:txBody>
      </p:sp>
      <p:sp>
        <p:nvSpPr>
          <p:cNvPr id="11341" name="Google Shape;11341;p432"/>
          <p:cNvSpPr/>
          <p:nvPr/>
        </p:nvSpPr>
        <p:spPr>
          <a:xfrm>
            <a:off x="1128323" y="382607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</a:t>
            </a:r>
            <a:endParaRPr/>
          </a:p>
        </p:txBody>
      </p:sp>
      <p:sp>
        <p:nvSpPr>
          <p:cNvPr id="11342" name="Google Shape;11342;p432"/>
          <p:cNvSpPr/>
          <p:nvPr/>
        </p:nvSpPr>
        <p:spPr>
          <a:xfrm>
            <a:off x="526728" y="413545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</a:t>
            </a:r>
            <a:endParaRPr/>
          </a:p>
        </p:txBody>
      </p:sp>
      <p:sp>
        <p:nvSpPr>
          <p:cNvPr id="11343" name="Google Shape;11343;p432"/>
          <p:cNvSpPr/>
          <p:nvPr/>
        </p:nvSpPr>
        <p:spPr>
          <a:xfrm>
            <a:off x="1128323" y="440539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23</a:t>
            </a:r>
            <a:endParaRPr/>
          </a:p>
        </p:txBody>
      </p:sp>
      <p:sp>
        <p:nvSpPr>
          <p:cNvPr id="11344" name="Google Shape;11344;p432"/>
          <p:cNvSpPr/>
          <p:nvPr/>
        </p:nvSpPr>
        <p:spPr>
          <a:xfrm>
            <a:off x="1660786" y="4136262"/>
            <a:ext cx="317400" cy="315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22</a:t>
            </a:r>
            <a:endParaRPr/>
          </a:p>
        </p:txBody>
      </p:sp>
      <p:cxnSp>
        <p:nvCxnSpPr>
          <p:cNvPr id="11345" name="Google Shape;11345;p432"/>
          <p:cNvCxnSpPr>
            <a:stCxn id="11338" idx="3"/>
            <a:endCxn id="11340" idx="7"/>
          </p:cNvCxnSpPr>
          <p:nvPr/>
        </p:nvCxnSpPr>
        <p:spPr>
          <a:xfrm flipH="1">
            <a:off x="866962" y="3381780"/>
            <a:ext cx="3078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46" name="Google Shape;11346;p432"/>
          <p:cNvCxnSpPr>
            <a:stCxn id="11343" idx="2"/>
            <a:endCxn id="11342" idx="5"/>
          </p:cNvCxnSpPr>
          <p:nvPr/>
        </p:nvCxnSpPr>
        <p:spPr>
          <a:xfrm rot="10800000">
            <a:off x="797423" y="4399540"/>
            <a:ext cx="330900" cy="16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47" name="Google Shape;11347;p432"/>
          <p:cNvCxnSpPr>
            <a:stCxn id="11341" idx="2"/>
            <a:endCxn id="11342" idx="6"/>
          </p:cNvCxnSpPr>
          <p:nvPr/>
        </p:nvCxnSpPr>
        <p:spPr>
          <a:xfrm flipH="1">
            <a:off x="843923" y="3980720"/>
            <a:ext cx="284400" cy="309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48" name="Google Shape;11348;p432"/>
          <p:cNvCxnSpPr>
            <a:stCxn id="11342" idx="0"/>
            <a:endCxn id="11340" idx="4"/>
          </p:cNvCxnSpPr>
          <p:nvPr/>
        </p:nvCxnSpPr>
        <p:spPr>
          <a:xfrm flipH="1" rot="10800000">
            <a:off x="685278" y="3825856"/>
            <a:ext cx="696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49" name="Google Shape;11349;p432"/>
          <p:cNvCxnSpPr>
            <a:stCxn id="11339" idx="2"/>
            <a:endCxn id="11341" idx="7"/>
          </p:cNvCxnSpPr>
          <p:nvPr/>
        </p:nvCxnSpPr>
        <p:spPr>
          <a:xfrm flipH="1">
            <a:off x="1399113" y="3671335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50" name="Google Shape;11350;p432"/>
          <p:cNvCxnSpPr>
            <a:stCxn id="11339" idx="0"/>
            <a:endCxn id="11338" idx="5"/>
          </p:cNvCxnSpPr>
          <p:nvPr/>
        </p:nvCxnSpPr>
        <p:spPr>
          <a:xfrm rot="10800000">
            <a:off x="1398963" y="3381685"/>
            <a:ext cx="420000" cy="135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51" name="Google Shape;11351;p432"/>
          <p:cNvCxnSpPr>
            <a:stCxn id="11344" idx="0"/>
            <a:endCxn id="11339" idx="4"/>
          </p:cNvCxnSpPr>
          <p:nvPr/>
        </p:nvCxnSpPr>
        <p:spPr>
          <a:xfrm rot="10800000">
            <a:off x="1818886" y="3826062"/>
            <a:ext cx="600" cy="3102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52" name="Google Shape;11352;p432"/>
          <p:cNvCxnSpPr>
            <a:stCxn id="11343" idx="6"/>
            <a:endCxn id="11344" idx="3"/>
          </p:cNvCxnSpPr>
          <p:nvPr/>
        </p:nvCxnSpPr>
        <p:spPr>
          <a:xfrm flipH="1" rot="10800000">
            <a:off x="1445423" y="4405240"/>
            <a:ext cx="261900" cy="15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53" name="Google Shape;11353;p432"/>
          <p:cNvCxnSpPr>
            <a:stCxn id="11342" idx="6"/>
            <a:endCxn id="11344" idx="2"/>
          </p:cNvCxnSpPr>
          <p:nvPr/>
        </p:nvCxnSpPr>
        <p:spPr>
          <a:xfrm>
            <a:off x="843828" y="4290106"/>
            <a:ext cx="816900" cy="3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54" name="Google Shape;11354;p432"/>
          <p:cNvCxnSpPr>
            <a:stCxn id="11341" idx="0"/>
            <a:endCxn id="11338" idx="4"/>
          </p:cNvCxnSpPr>
          <p:nvPr/>
        </p:nvCxnSpPr>
        <p:spPr>
          <a:xfrm rot="10800000">
            <a:off x="1286873" y="3427070"/>
            <a:ext cx="0" cy="399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55" name="Google Shape;11355;p432"/>
          <p:cNvCxnSpPr>
            <a:stCxn id="11343" idx="6"/>
            <a:endCxn id="11339" idx="3"/>
          </p:cNvCxnSpPr>
          <p:nvPr/>
        </p:nvCxnSpPr>
        <p:spPr>
          <a:xfrm flipH="1" rot="10800000">
            <a:off x="1445423" y="3780640"/>
            <a:ext cx="261300" cy="779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56" name="Google Shape;11356;p432"/>
          <p:cNvCxnSpPr>
            <a:stCxn id="11341" idx="1"/>
            <a:endCxn id="11340" idx="6"/>
          </p:cNvCxnSpPr>
          <p:nvPr/>
        </p:nvCxnSpPr>
        <p:spPr>
          <a:xfrm rot="10800000">
            <a:off x="913462" y="3671266"/>
            <a:ext cx="261300" cy="200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57" name="Google Shape;11357;p432"/>
          <p:cNvSpPr/>
          <p:nvPr/>
        </p:nvSpPr>
        <p:spPr>
          <a:xfrm>
            <a:off x="2195893" y="1855625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endParaRPr/>
          </a:p>
        </p:txBody>
      </p:sp>
      <p:sp>
        <p:nvSpPr>
          <p:cNvPr id="11358" name="Google Shape;11358;p432"/>
          <p:cNvSpPr/>
          <p:nvPr/>
        </p:nvSpPr>
        <p:spPr>
          <a:xfrm>
            <a:off x="2195893" y="2713004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</a:t>
            </a:r>
            <a:endParaRPr/>
          </a:p>
        </p:txBody>
      </p:sp>
      <p:sp>
        <p:nvSpPr>
          <p:cNvPr id="11359" name="Google Shape;11359;p432"/>
          <p:cNvSpPr/>
          <p:nvPr/>
        </p:nvSpPr>
        <p:spPr>
          <a:xfrm>
            <a:off x="256379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</a:t>
            </a:r>
            <a:endParaRPr/>
          </a:p>
        </p:txBody>
      </p:sp>
      <p:sp>
        <p:nvSpPr>
          <p:cNvPr id="11360" name="Google Shape;11360;p432"/>
          <p:cNvSpPr/>
          <p:nvPr/>
        </p:nvSpPr>
        <p:spPr>
          <a:xfrm>
            <a:off x="2880801" y="1546133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</a:t>
            </a:r>
            <a:endParaRPr/>
          </a:p>
        </p:txBody>
      </p:sp>
      <p:sp>
        <p:nvSpPr>
          <p:cNvPr id="11361" name="Google Shape;11361;p432"/>
          <p:cNvSpPr/>
          <p:nvPr/>
        </p:nvSpPr>
        <p:spPr>
          <a:xfrm>
            <a:off x="3749082" y="1679501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endParaRPr/>
          </a:p>
        </p:txBody>
      </p:sp>
      <p:sp>
        <p:nvSpPr>
          <p:cNvPr id="11362" name="Google Shape;11362;p432"/>
          <p:cNvSpPr/>
          <p:nvPr/>
        </p:nvSpPr>
        <p:spPr>
          <a:xfrm>
            <a:off x="3274403" y="2299999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</a:t>
            </a:r>
            <a:endParaRPr/>
          </a:p>
        </p:txBody>
      </p:sp>
      <p:sp>
        <p:nvSpPr>
          <p:cNvPr id="11363" name="Google Shape;11363;p432"/>
          <p:cNvSpPr/>
          <p:nvPr/>
        </p:nvSpPr>
        <p:spPr>
          <a:xfrm>
            <a:off x="4341627" y="2211777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</a:t>
            </a:r>
            <a:endParaRPr/>
          </a:p>
        </p:txBody>
      </p:sp>
      <p:sp>
        <p:nvSpPr>
          <p:cNvPr id="11364" name="Google Shape;11364;p432"/>
          <p:cNvSpPr/>
          <p:nvPr/>
        </p:nvSpPr>
        <p:spPr>
          <a:xfrm>
            <a:off x="3374610" y="2915806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</a:t>
            </a:r>
            <a:endParaRPr/>
          </a:p>
        </p:txBody>
      </p:sp>
      <p:sp>
        <p:nvSpPr>
          <p:cNvPr id="11365" name="Google Shape;11365;p432"/>
          <p:cNvSpPr/>
          <p:nvPr/>
        </p:nvSpPr>
        <p:spPr>
          <a:xfrm>
            <a:off x="4223529" y="3072460"/>
            <a:ext cx="317100" cy="309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</a:t>
            </a:r>
            <a:endParaRPr/>
          </a:p>
        </p:txBody>
      </p:sp>
      <p:cxnSp>
        <p:nvCxnSpPr>
          <p:cNvPr id="11366" name="Google Shape;11366;p432"/>
          <p:cNvCxnSpPr>
            <a:stCxn id="11358" idx="0"/>
            <a:endCxn id="11357" idx="4"/>
          </p:cNvCxnSpPr>
          <p:nvPr/>
        </p:nvCxnSpPr>
        <p:spPr>
          <a:xfrm rot="10800000">
            <a:off x="2354443" y="2164904"/>
            <a:ext cx="0" cy="548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67" name="Google Shape;11367;p432"/>
          <p:cNvCxnSpPr>
            <a:stCxn id="11359" idx="0"/>
            <a:endCxn id="11357" idx="5"/>
          </p:cNvCxnSpPr>
          <p:nvPr/>
        </p:nvCxnSpPr>
        <p:spPr>
          <a:xfrm rot="10800000">
            <a:off x="2466443" y="2119699"/>
            <a:ext cx="255900" cy="180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68" name="Google Shape;11368;p432"/>
          <p:cNvCxnSpPr>
            <a:stCxn id="11358" idx="6"/>
            <a:endCxn id="11359" idx="4"/>
          </p:cNvCxnSpPr>
          <p:nvPr/>
        </p:nvCxnSpPr>
        <p:spPr>
          <a:xfrm flipH="1" rot="10800000">
            <a:off x="2512993" y="2609354"/>
            <a:ext cx="209400" cy="258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69" name="Google Shape;11369;p432"/>
          <p:cNvCxnSpPr>
            <a:stCxn id="11357" idx="6"/>
            <a:endCxn id="11360" idx="2"/>
          </p:cNvCxnSpPr>
          <p:nvPr/>
        </p:nvCxnSpPr>
        <p:spPr>
          <a:xfrm flipH="1" rot="10800000">
            <a:off x="2512993" y="1700675"/>
            <a:ext cx="367800" cy="3096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70" name="Google Shape;11370;p432"/>
          <p:cNvCxnSpPr>
            <a:stCxn id="11361" idx="2"/>
            <a:endCxn id="11360" idx="6"/>
          </p:cNvCxnSpPr>
          <p:nvPr/>
        </p:nvCxnSpPr>
        <p:spPr>
          <a:xfrm rot="10800000">
            <a:off x="3197982" y="1700651"/>
            <a:ext cx="551100" cy="13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71" name="Google Shape;11371;p432"/>
          <p:cNvCxnSpPr>
            <a:stCxn id="11363" idx="1"/>
            <a:endCxn id="11361" idx="5"/>
          </p:cNvCxnSpPr>
          <p:nvPr/>
        </p:nvCxnSpPr>
        <p:spPr>
          <a:xfrm rot="10800000">
            <a:off x="4019665" y="1943573"/>
            <a:ext cx="368400" cy="313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72" name="Google Shape;11372;p432"/>
          <p:cNvCxnSpPr>
            <a:stCxn id="11362" idx="7"/>
            <a:endCxn id="11361" idx="4"/>
          </p:cNvCxnSpPr>
          <p:nvPr/>
        </p:nvCxnSpPr>
        <p:spPr>
          <a:xfrm flipH="1" rot="10800000">
            <a:off x="3545065" y="1988895"/>
            <a:ext cx="362700" cy="356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73" name="Google Shape;11373;p432"/>
          <p:cNvCxnSpPr>
            <a:stCxn id="11365" idx="1"/>
            <a:endCxn id="11362" idx="5"/>
          </p:cNvCxnSpPr>
          <p:nvPr/>
        </p:nvCxnSpPr>
        <p:spPr>
          <a:xfrm rot="10800000">
            <a:off x="3545168" y="2563956"/>
            <a:ext cx="724800" cy="553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74" name="Google Shape;11374;p432"/>
          <p:cNvCxnSpPr>
            <a:stCxn id="11365" idx="2"/>
            <a:endCxn id="11364" idx="5"/>
          </p:cNvCxnSpPr>
          <p:nvPr/>
        </p:nvCxnSpPr>
        <p:spPr>
          <a:xfrm rot="10800000">
            <a:off x="3645129" y="3179710"/>
            <a:ext cx="578400" cy="4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75" name="Google Shape;11375;p432"/>
          <p:cNvCxnSpPr>
            <a:stCxn id="11364" idx="2"/>
            <a:endCxn id="11358" idx="6"/>
          </p:cNvCxnSpPr>
          <p:nvPr/>
        </p:nvCxnSpPr>
        <p:spPr>
          <a:xfrm rot="10800000">
            <a:off x="2513010" y="2867656"/>
            <a:ext cx="861600" cy="202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76" name="Google Shape;11376;p432"/>
          <p:cNvCxnSpPr>
            <a:stCxn id="11365" idx="0"/>
            <a:endCxn id="11363" idx="4"/>
          </p:cNvCxnSpPr>
          <p:nvPr/>
        </p:nvCxnSpPr>
        <p:spPr>
          <a:xfrm flipH="1" rot="10800000">
            <a:off x="4382079" y="2521060"/>
            <a:ext cx="118200" cy="551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77" name="Google Shape;11377;p432"/>
          <p:cNvCxnSpPr>
            <a:stCxn id="11362" idx="2"/>
            <a:endCxn id="11359" idx="6"/>
          </p:cNvCxnSpPr>
          <p:nvPr/>
        </p:nvCxnSpPr>
        <p:spPr>
          <a:xfrm rot="10800000">
            <a:off x="2880803" y="2454649"/>
            <a:ext cx="393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78" name="Google Shape;11378;p432"/>
          <p:cNvSpPr txBox="1"/>
          <p:nvPr>
            <p:ph idx="4294967295" type="body"/>
          </p:nvPr>
        </p:nvSpPr>
        <p:spPr>
          <a:xfrm>
            <a:off x="5342550" y="315925"/>
            <a:ext cx="3580800" cy="17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Identify the k-connectivity of the input graph (G)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AutoNum type="arabicPeriod"/>
            </a:pPr>
            <a:r>
              <a:rPr lang="en" sz="1400">
                <a:solidFill>
                  <a:srgbClr val="000000"/>
                </a:solidFill>
              </a:rPr>
              <a:t>Remove the k-cutset (vertices)</a:t>
            </a:r>
            <a:endParaRPr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 sz="1400">
                <a:solidFill>
                  <a:srgbClr val="FF0000"/>
                </a:solidFill>
              </a:rPr>
              <a:t>Do the same on the resulting subgraphs until no more subdivisions can be obtained </a:t>
            </a:r>
            <a:endParaRPr b="1" sz="1400">
              <a:solidFill>
                <a:srgbClr val="FF0000"/>
              </a:solidFill>
            </a:endParaRPr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11379" name="Google Shape;11379;p432"/>
          <p:cNvSpPr txBox="1"/>
          <p:nvPr>
            <p:ph type="title"/>
          </p:nvPr>
        </p:nvSpPr>
        <p:spPr>
          <a:xfrm>
            <a:off x="311700" y="315925"/>
            <a:ext cx="54051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Cohesive Blocking </a:t>
            </a:r>
            <a:endParaRPr/>
          </a:p>
        </p:txBody>
      </p:sp>
      <p:sp>
        <p:nvSpPr>
          <p:cNvPr id="11380" name="Google Shape;11380;p432"/>
          <p:cNvSpPr/>
          <p:nvPr/>
        </p:nvSpPr>
        <p:spPr>
          <a:xfrm>
            <a:off x="6584850" y="1958150"/>
            <a:ext cx="863100" cy="4179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G</a:t>
            </a:r>
            <a:endParaRPr b="1"/>
          </a:p>
        </p:txBody>
      </p:sp>
      <p:cxnSp>
        <p:nvCxnSpPr>
          <p:cNvPr id="11381" name="Google Shape;11381;p432"/>
          <p:cNvCxnSpPr>
            <a:stCxn id="11380" idx="4"/>
            <a:endCxn id="11382" idx="0"/>
          </p:cNvCxnSpPr>
          <p:nvPr/>
        </p:nvCxnSpPr>
        <p:spPr>
          <a:xfrm flipH="1">
            <a:off x="6296100" y="2376050"/>
            <a:ext cx="720300" cy="770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1383" name="Google Shape;11383;p432"/>
          <p:cNvCxnSpPr>
            <a:stCxn id="11380" idx="4"/>
            <a:endCxn id="11384" idx="0"/>
          </p:cNvCxnSpPr>
          <p:nvPr/>
        </p:nvCxnSpPr>
        <p:spPr>
          <a:xfrm>
            <a:off x="7016400" y="2376050"/>
            <a:ext cx="902700" cy="738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1384" name="Google Shape;11384;p432"/>
          <p:cNvSpPr/>
          <p:nvPr/>
        </p:nvSpPr>
        <p:spPr>
          <a:xfrm>
            <a:off x="7318725" y="3114100"/>
            <a:ext cx="1200600" cy="6060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</a:rPr>
              <a:t>7</a:t>
            </a:r>
            <a:r>
              <a:rPr lang="en" sz="1200"/>
              <a:t>, 8, 9, 10, 11, 12, 13, 14, 15, 16</a:t>
            </a:r>
            <a:endParaRPr sz="1200"/>
          </a:p>
        </p:txBody>
      </p:sp>
      <p:sp>
        <p:nvSpPr>
          <p:cNvPr id="11382" name="Google Shape;11382;p432"/>
          <p:cNvSpPr/>
          <p:nvPr/>
        </p:nvSpPr>
        <p:spPr>
          <a:xfrm>
            <a:off x="5581050" y="3146455"/>
            <a:ext cx="1429800" cy="6060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1, 2, 3, 4, 5, 6, 7, 17, 18, 19, 20, 21, 22, 23</a:t>
            </a:r>
            <a:endParaRPr sz="1200"/>
          </a:p>
        </p:txBody>
      </p:sp>
      <p:cxnSp>
        <p:nvCxnSpPr>
          <p:cNvPr id="11385" name="Google Shape;11385;p432"/>
          <p:cNvCxnSpPr>
            <a:stCxn id="11382" idx="2"/>
            <a:endCxn id="11386" idx="0"/>
          </p:cNvCxnSpPr>
          <p:nvPr/>
        </p:nvCxnSpPr>
        <p:spPr>
          <a:xfrm flipH="1">
            <a:off x="5767350" y="3752455"/>
            <a:ext cx="528600" cy="5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1387" name="Google Shape;11387;p432"/>
          <p:cNvCxnSpPr>
            <a:stCxn id="11382" idx="2"/>
            <a:endCxn id="11388" idx="0"/>
          </p:cNvCxnSpPr>
          <p:nvPr/>
        </p:nvCxnSpPr>
        <p:spPr>
          <a:xfrm>
            <a:off x="6295950" y="3752455"/>
            <a:ext cx="579000" cy="5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1386" name="Google Shape;11386;p432"/>
          <p:cNvSpPr/>
          <p:nvPr/>
        </p:nvSpPr>
        <p:spPr>
          <a:xfrm>
            <a:off x="5359175" y="4325375"/>
            <a:ext cx="816600" cy="6348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1, 2, 3, 4, </a:t>
            </a:r>
            <a:r>
              <a:rPr b="1" lang="en" sz="1200">
                <a:solidFill>
                  <a:srgbClr val="FF0000"/>
                </a:solidFill>
              </a:rPr>
              <a:t>5</a:t>
            </a:r>
            <a:r>
              <a:rPr lang="en" sz="1200"/>
              <a:t>, 6</a:t>
            </a:r>
            <a:endParaRPr sz="1200"/>
          </a:p>
        </p:txBody>
      </p:sp>
      <p:sp>
        <p:nvSpPr>
          <p:cNvPr id="11388" name="Google Shape;11388;p432"/>
          <p:cNvSpPr/>
          <p:nvPr/>
        </p:nvSpPr>
        <p:spPr>
          <a:xfrm>
            <a:off x="6367575" y="4325375"/>
            <a:ext cx="1014900" cy="634800"/>
          </a:xfrm>
          <a:prstGeom prst="bracePair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45700" spcFirstLastPara="1" rIns="457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17, 18, 19, 20, 21, 22, 23</a:t>
            </a:r>
            <a:endParaRPr sz="1200"/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92" name="Shape 11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3" name="Google Shape;11393;p43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Summary of key terms</a:t>
            </a:r>
            <a:endParaRPr/>
          </a:p>
        </p:txBody>
      </p:sp>
      <p:sp>
        <p:nvSpPr>
          <p:cNvPr id="11394" name="Google Shape;11394;p433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Subgraph:</a:t>
            </a:r>
            <a:r>
              <a:rPr lang="en"/>
              <a:t> A subset (G’) of the node and the edge set of a graph (G)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Connected subgraph: </a:t>
            </a:r>
            <a:r>
              <a:rPr lang="en"/>
              <a:t>All nodes in the subgraph can reach other nodes in the subgraph via some path within the subset of edges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Maximal subgraph:</a:t>
            </a:r>
            <a:r>
              <a:rPr lang="en"/>
              <a:t> A subgraph is maximal with respect to property </a:t>
            </a:r>
            <a:r>
              <a:rPr i="1" lang="en"/>
              <a:t>p</a:t>
            </a:r>
            <a:r>
              <a:rPr lang="en"/>
              <a:t> (e.d., completeness, connectivity) when no more nodes or edges can be added to the subgraph without losing that property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Maximally connected subgraph, maximally complete subgraph, etc.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Clique:</a:t>
            </a:r>
            <a:r>
              <a:rPr lang="en"/>
              <a:t> Maximally complete subgraph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Clique Size:</a:t>
            </a:r>
            <a:r>
              <a:rPr lang="en"/>
              <a:t> Number of nodes in a clique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n-Clique: </a:t>
            </a:r>
            <a:r>
              <a:rPr lang="en"/>
              <a:t>A subgraph in which every node can reach every other node inside the subgraph via a path of </a:t>
            </a:r>
            <a:r>
              <a:rPr i="1" lang="en"/>
              <a:t>minimum length n</a:t>
            </a:r>
            <a:endParaRPr/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98" name="Shape 11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9" name="Google Shape;11399;p43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Summary of key terms</a:t>
            </a:r>
            <a:endParaRPr/>
          </a:p>
        </p:txBody>
      </p:sp>
      <p:sp>
        <p:nvSpPr>
          <p:cNvPr id="11400" name="Google Shape;11400;p434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Connected graph: </a:t>
            </a:r>
            <a:r>
              <a:rPr lang="en"/>
              <a:t>All nodes in the graph can reach every other node via a path regardless of length (</a:t>
            </a:r>
            <a:r>
              <a:rPr i="1" lang="en">
                <a:latin typeface="Pacifico"/>
                <a:ea typeface="Pacifico"/>
                <a:cs typeface="Pacifico"/>
                <a:sym typeface="Pacifico"/>
              </a:rPr>
              <a:t>l</a:t>
            </a:r>
            <a:r>
              <a:rPr i="1" lang="en"/>
              <a:t> </a:t>
            </a:r>
            <a:r>
              <a:rPr lang="en"/>
              <a:t>&lt; ∞)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Disconnected graph: </a:t>
            </a:r>
            <a:r>
              <a:rPr lang="en"/>
              <a:t>Some nodes in the graph cannot reach other nodes via any path (e.g., for at least one pair of nodes </a:t>
            </a:r>
            <a:r>
              <a:rPr i="1" lang="en">
                <a:latin typeface="Pacifico"/>
                <a:ea typeface="Pacifico"/>
                <a:cs typeface="Pacifico"/>
                <a:sym typeface="Pacifico"/>
              </a:rPr>
              <a:t>l</a:t>
            </a:r>
            <a:r>
              <a:rPr i="1" lang="en"/>
              <a:t> </a:t>
            </a:r>
            <a:r>
              <a:rPr baseline="-25000" i="1" lang="en"/>
              <a:t>uv</a:t>
            </a:r>
            <a:r>
              <a:rPr i="1" lang="en"/>
              <a:t>= </a:t>
            </a:r>
            <a:r>
              <a:rPr lang="en"/>
              <a:t>∞)</a:t>
            </a:r>
            <a:endParaRPr i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Components: </a:t>
            </a:r>
            <a:r>
              <a:rPr lang="en"/>
              <a:t>Maximally connected subgraphs inside a disconnected graph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Giant Component: </a:t>
            </a:r>
            <a:r>
              <a:rPr lang="en"/>
              <a:t>The maximally connected subgraph in a disconnected graph with the largest number of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i="1" lang="en"/>
              <a:t>k-</a:t>
            </a:r>
            <a:r>
              <a:rPr b="1" lang="en"/>
              <a:t>Connected component</a:t>
            </a:r>
            <a:r>
              <a:rPr lang="en"/>
              <a:t>: A component in which every node can reach every other node inside the component via a path of minimum length </a:t>
            </a:r>
            <a:r>
              <a:rPr i="1" lang="en"/>
              <a:t>k</a:t>
            </a:r>
            <a:endParaRPr i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/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04" name="Shape 11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5" name="Google Shape;11405;p43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Summary of key terms</a:t>
            </a:r>
            <a:endParaRPr/>
          </a:p>
        </p:txBody>
      </p:sp>
      <p:sp>
        <p:nvSpPr>
          <p:cNvPr id="11406" name="Google Shape;11406;p435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Bridges: </a:t>
            </a:r>
            <a:r>
              <a:rPr lang="en"/>
              <a:t>An edge that if it were removed would disconnect the graph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Edge cutset: </a:t>
            </a:r>
            <a:r>
              <a:rPr lang="en"/>
              <a:t>Minimum number of edges whose removal would disconnect the graph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Node cutset: </a:t>
            </a:r>
            <a:r>
              <a:rPr lang="en"/>
              <a:t>Minimum number of nodes whose removal would disconnect the graph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uv-cutset:</a:t>
            </a:r>
            <a:r>
              <a:rPr lang="en"/>
              <a:t> Number of nodes whose removal would disconnect a pair of nodes (uv)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Menger’s Theorem: </a:t>
            </a:r>
            <a:r>
              <a:rPr lang="en"/>
              <a:t>Important result in graph theory!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Cohesive Blocking: </a:t>
            </a:r>
            <a:r>
              <a:rPr lang="en"/>
              <a:t>A way to find densely connected subgroups in a graph by removing nodes in the node cutset </a:t>
            </a:r>
            <a:endParaRPr/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1410" name="Shape 11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1" name="Google Shape;11411;p436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Triads in Social Networks</a:t>
            </a:r>
            <a:endParaRPr/>
          </a:p>
        </p:txBody>
      </p:sp>
      <p:sp>
        <p:nvSpPr>
          <p:cNvPr id="11412" name="Google Shape;11412;p436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16" name="Shape 1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17" name="Google Shape;11417;p437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11418" name="Google Shape;11418;p437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19" name="Google Shape;11419;p437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437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21" name="Google Shape;11421;p437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22" name="Google Shape;11422;p437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11423" name="Google Shape;11423;p437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24" name="Google Shape;11424;p437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437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26" name="Google Shape;11426;p437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27" name="Google Shape;11427;p437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11428" name="Google Shape;11428;p437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29" name="Google Shape;11429;p437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437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31" name="Google Shape;11431;p437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32" name="Google Shape;11432;p437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11433" name="Google Shape;11433;p437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34" name="Google Shape;11434;p437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437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36" name="Google Shape;11436;p437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37" name="Google Shape;11437;p437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11438" name="Google Shape;11438;p437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39" name="Google Shape;11439;p437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437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41" name="Google Shape;11441;p437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42" name="Google Shape;11442;p437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11443" name="Google Shape;11443;p437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44" name="Google Shape;11444;p437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45" name="Google Shape;11445;p437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46" name="Google Shape;11446;p437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47" name="Google Shape;11447;p437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48" name="Google Shape;11448;p437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49" name="Google Shape;11449;p437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0" name="Google Shape;11450;p437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1" name="Google Shape;11451;p437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2" name="Google Shape;11452;p437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3" name="Google Shape;11453;p437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4" name="Google Shape;11454;p437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5" name="Google Shape;11455;p437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6" name="Google Shape;11456;p437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7" name="Google Shape;11457;p437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8" name="Google Shape;11458;p437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59" name="Google Shape;11459;p437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sp>
        <p:nvSpPr>
          <p:cNvPr id="11460" name="Google Shape;11460;p437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461" name="Google Shape;11461;p43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65" name="Shape 1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66" name="Google Shape;11466;p438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11467" name="Google Shape;11467;p438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68" name="Google Shape;11468;p438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438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70" name="Google Shape;11470;p438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71" name="Google Shape;11471;p438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11472" name="Google Shape;11472;p438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73" name="Google Shape;11473;p438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438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75" name="Google Shape;11475;p438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76" name="Google Shape;11476;p438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11477" name="Google Shape;11477;p438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78" name="Google Shape;11478;p438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438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80" name="Google Shape;11480;p438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81" name="Google Shape;11481;p438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11482" name="Google Shape;11482;p438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483" name="Google Shape;11483;p438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438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485" name="Google Shape;11485;p438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1486" name="Google Shape;11486;p438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11487" name="Google Shape;11487;p438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88" name="Google Shape;11488;p438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89" name="Google Shape;11489;p438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0" name="Google Shape;11490;p438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1" name="Google Shape;11491;p438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2" name="Google Shape;11492;p438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3" name="Google Shape;11493;p438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4" name="Google Shape;11494;p438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5" name="Google Shape;11495;p438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6" name="Google Shape;11496;p438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7" name="Google Shape;11497;p438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8" name="Google Shape;11498;p438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499" name="Google Shape;11499;p438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500" name="Google Shape;11500;p438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501" name="Google Shape;11501;p438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502" name="Google Shape;11502;p438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1503" name="Google Shape;11503;p438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grpSp>
        <p:nvGrpSpPr>
          <p:cNvPr id="11504" name="Google Shape;11504;p438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11505" name="Google Shape;11505;p438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506" name="Google Shape;11506;p438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438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508" name="Google Shape;11508;p438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11509" name="Google Shape;11509;p438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510" name="Google Shape;11510;p43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  <p:sp>
        <p:nvSpPr>
          <p:cNvPr id="11511" name="Google Shape;11511;p438"/>
          <p:cNvSpPr/>
          <p:nvPr/>
        </p:nvSpPr>
        <p:spPr>
          <a:xfrm>
            <a:off x="4766075" y="2115325"/>
            <a:ext cx="4196100" cy="10140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15" name="Shape 11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6" name="Google Shape;11516;p43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Triads in Social Networks</a:t>
            </a:r>
            <a:endParaRPr/>
          </a:p>
        </p:txBody>
      </p:sp>
      <p:sp>
        <p:nvSpPr>
          <p:cNvPr id="11517" name="Google Shape;11517;p439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18" name="Google Shape;11518;p439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19" name="Google Shape;11519;p439"/>
          <p:cNvCxnSpPr>
            <a:stCxn id="11517" idx="6"/>
            <a:endCxn id="11518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20" name="Google Shape;11520;p439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21" name="Google Shape;11521;p439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22" name="Google Shape;11522;p439"/>
          <p:cNvSpPr/>
          <p:nvPr/>
        </p:nvSpPr>
        <p:spPr>
          <a:xfrm>
            <a:off x="828720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23" name="Google Shape;11523;p439"/>
          <p:cNvCxnSpPr>
            <a:stCxn id="11518" idx="7"/>
            <a:endCxn id="11520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24" name="Google Shape;11524;p439"/>
          <p:cNvCxnSpPr>
            <a:stCxn id="11522" idx="1"/>
            <a:endCxn id="11520" idx="5"/>
          </p:cNvCxnSpPr>
          <p:nvPr/>
        </p:nvCxnSpPr>
        <p:spPr>
          <a:xfrm rot="10800000">
            <a:off x="7644744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25" name="Google Shape;11525;p439"/>
          <p:cNvCxnSpPr>
            <a:stCxn id="11522" idx="3"/>
            <a:endCxn id="11521" idx="7"/>
          </p:cNvCxnSpPr>
          <p:nvPr/>
        </p:nvCxnSpPr>
        <p:spPr>
          <a:xfrm flipH="1">
            <a:off x="7644744" y="3114781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26" name="Google Shape;11526;p439"/>
          <p:cNvCxnSpPr>
            <a:stCxn id="11521" idx="1"/>
            <a:endCxn id="11518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27" name="Google Shape;11527;p439"/>
          <p:cNvCxnSpPr>
            <a:stCxn id="11521" idx="0"/>
            <a:endCxn id="11520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28" name="Google Shape;11528;p439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is a triad?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Any subgraph of order three!</a:t>
            </a:r>
            <a:endParaRPr/>
          </a:p>
        </p:txBody>
      </p:sp>
      <p:sp>
        <p:nvSpPr>
          <p:cNvPr id="11529" name="Google Shape;11529;p439"/>
          <p:cNvSpPr/>
          <p:nvPr/>
        </p:nvSpPr>
        <p:spPr>
          <a:xfrm>
            <a:off x="5975850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30" name="Google Shape;11530;p439"/>
          <p:cNvCxnSpPr>
            <a:stCxn id="11529" idx="0"/>
            <a:endCxn id="11518" idx="4"/>
          </p:cNvCxnSpPr>
          <p:nvPr/>
        </p:nvCxnSpPr>
        <p:spPr>
          <a:xfrm rot="10800000">
            <a:off x="6276450" y="3202875"/>
            <a:ext cx="0" cy="471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34" name="Shape 1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5" name="Google Shape;11535;p44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Triads in Social Networks</a:t>
            </a:r>
            <a:endParaRPr/>
          </a:p>
        </p:txBody>
      </p:sp>
      <p:sp>
        <p:nvSpPr>
          <p:cNvPr id="11536" name="Google Shape;11536;p440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37" name="Google Shape;11537;p440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38" name="Google Shape;11538;p440"/>
          <p:cNvCxnSpPr>
            <a:stCxn id="11536" idx="6"/>
            <a:endCxn id="11537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39" name="Google Shape;11539;p440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40" name="Google Shape;11540;p440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41" name="Google Shape;11541;p440"/>
          <p:cNvSpPr/>
          <p:nvPr/>
        </p:nvSpPr>
        <p:spPr>
          <a:xfrm>
            <a:off x="828720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42" name="Google Shape;11542;p440"/>
          <p:cNvCxnSpPr>
            <a:stCxn id="11537" idx="7"/>
            <a:endCxn id="11539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43" name="Google Shape;11543;p440"/>
          <p:cNvCxnSpPr>
            <a:stCxn id="11541" idx="1"/>
            <a:endCxn id="11539" idx="5"/>
          </p:cNvCxnSpPr>
          <p:nvPr/>
        </p:nvCxnSpPr>
        <p:spPr>
          <a:xfrm rot="10800000">
            <a:off x="7644744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44" name="Google Shape;11544;p440"/>
          <p:cNvCxnSpPr>
            <a:stCxn id="11541" idx="3"/>
            <a:endCxn id="11540" idx="7"/>
          </p:cNvCxnSpPr>
          <p:nvPr/>
        </p:nvCxnSpPr>
        <p:spPr>
          <a:xfrm flipH="1">
            <a:off x="7644744" y="3114781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45" name="Google Shape;11545;p440"/>
          <p:cNvCxnSpPr>
            <a:stCxn id="11540" idx="1"/>
            <a:endCxn id="11537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46" name="Google Shape;11546;p440"/>
          <p:cNvCxnSpPr>
            <a:stCxn id="11540" idx="0"/>
            <a:endCxn id="11539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47" name="Google Shape;11547;p440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is a triad?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Any subgraph of order three!</a:t>
            </a:r>
            <a:endParaRPr/>
          </a:p>
        </p:txBody>
      </p:sp>
      <p:sp>
        <p:nvSpPr>
          <p:cNvPr id="11548" name="Google Shape;11548;p440"/>
          <p:cNvSpPr/>
          <p:nvPr/>
        </p:nvSpPr>
        <p:spPr>
          <a:xfrm>
            <a:off x="5975850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49" name="Google Shape;11549;p440"/>
          <p:cNvCxnSpPr>
            <a:stCxn id="11548" idx="0"/>
          </p:cNvCxnSpPr>
          <p:nvPr/>
        </p:nvCxnSpPr>
        <p:spPr>
          <a:xfrm rot="10800000">
            <a:off x="6276450" y="3202875"/>
            <a:ext cx="0" cy="471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53" name="Shape 11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4" name="Google Shape;11554;p44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Triads in Social Networks</a:t>
            </a:r>
            <a:endParaRPr/>
          </a:p>
        </p:txBody>
      </p:sp>
      <p:sp>
        <p:nvSpPr>
          <p:cNvPr id="11555" name="Google Shape;11555;p441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56" name="Google Shape;11556;p441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57" name="Google Shape;11557;p441"/>
          <p:cNvCxnSpPr>
            <a:stCxn id="11555" idx="6"/>
            <a:endCxn id="11556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58" name="Google Shape;11558;p441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59" name="Google Shape;11559;p441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60" name="Google Shape;11560;p441"/>
          <p:cNvSpPr/>
          <p:nvPr/>
        </p:nvSpPr>
        <p:spPr>
          <a:xfrm>
            <a:off x="828720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61" name="Google Shape;11561;p441"/>
          <p:cNvCxnSpPr>
            <a:stCxn id="11556" idx="7"/>
            <a:endCxn id="11558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62" name="Google Shape;11562;p441"/>
          <p:cNvCxnSpPr>
            <a:stCxn id="11560" idx="1"/>
            <a:endCxn id="11558" idx="5"/>
          </p:cNvCxnSpPr>
          <p:nvPr/>
        </p:nvCxnSpPr>
        <p:spPr>
          <a:xfrm rot="10800000">
            <a:off x="7644744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63" name="Google Shape;11563;p441"/>
          <p:cNvCxnSpPr>
            <a:stCxn id="11560" idx="3"/>
            <a:endCxn id="11559" idx="7"/>
          </p:cNvCxnSpPr>
          <p:nvPr/>
        </p:nvCxnSpPr>
        <p:spPr>
          <a:xfrm flipH="1">
            <a:off x="7644744" y="3114781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64" name="Google Shape;11564;p441"/>
          <p:cNvCxnSpPr>
            <a:stCxn id="11559" idx="1"/>
            <a:endCxn id="11556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65" name="Google Shape;11565;p441"/>
          <p:cNvCxnSpPr>
            <a:stCxn id="11559" idx="0"/>
            <a:endCxn id="11558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66" name="Google Shape;11566;p441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is a triad?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Any subgraph of order three!</a:t>
            </a:r>
            <a:endParaRPr/>
          </a:p>
        </p:txBody>
      </p:sp>
      <p:sp>
        <p:nvSpPr>
          <p:cNvPr id="11567" name="Google Shape;11567;p441"/>
          <p:cNvSpPr/>
          <p:nvPr/>
        </p:nvSpPr>
        <p:spPr>
          <a:xfrm>
            <a:off x="4834825" y="1147225"/>
            <a:ext cx="18465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 triad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1568" name="Google Shape;11568;p441"/>
          <p:cNvCxnSpPr>
            <a:stCxn id="11567" idx="4"/>
          </p:cNvCxnSpPr>
          <p:nvPr/>
        </p:nvCxnSpPr>
        <p:spPr>
          <a:xfrm>
            <a:off x="5758075" y="1978525"/>
            <a:ext cx="860100" cy="283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1569" name="Google Shape;11569;p441"/>
          <p:cNvSpPr/>
          <p:nvPr/>
        </p:nvSpPr>
        <p:spPr>
          <a:xfrm>
            <a:off x="5975850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70" name="Google Shape;11570;p441"/>
          <p:cNvCxnSpPr>
            <a:stCxn id="11569" idx="0"/>
          </p:cNvCxnSpPr>
          <p:nvPr/>
        </p:nvCxnSpPr>
        <p:spPr>
          <a:xfrm rot="10800000">
            <a:off x="6276450" y="3202875"/>
            <a:ext cx="0" cy="471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74" name="Shape 1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5" name="Google Shape;11575;p44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Triads in Social Networks</a:t>
            </a:r>
            <a:endParaRPr/>
          </a:p>
        </p:txBody>
      </p:sp>
      <p:sp>
        <p:nvSpPr>
          <p:cNvPr id="11576" name="Google Shape;11576;p442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is a triad?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Any subgraph of order three!</a:t>
            </a:r>
            <a:endParaRPr/>
          </a:p>
        </p:txBody>
      </p:sp>
      <p:sp>
        <p:nvSpPr>
          <p:cNvPr id="11577" name="Google Shape;11577;p442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78" name="Google Shape;11578;p442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79" name="Google Shape;11579;p442"/>
          <p:cNvCxnSpPr>
            <a:stCxn id="11577" idx="6"/>
            <a:endCxn id="11578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80" name="Google Shape;11580;p442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81" name="Google Shape;11581;p442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82" name="Google Shape;11582;p442"/>
          <p:cNvSpPr/>
          <p:nvPr/>
        </p:nvSpPr>
        <p:spPr>
          <a:xfrm>
            <a:off x="828720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83" name="Google Shape;11583;p442"/>
          <p:cNvCxnSpPr>
            <a:stCxn id="11578" idx="7"/>
            <a:endCxn id="11580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84" name="Google Shape;11584;p442"/>
          <p:cNvCxnSpPr>
            <a:stCxn id="11582" idx="1"/>
            <a:endCxn id="11580" idx="5"/>
          </p:cNvCxnSpPr>
          <p:nvPr/>
        </p:nvCxnSpPr>
        <p:spPr>
          <a:xfrm rot="10800000">
            <a:off x="7644744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85" name="Google Shape;11585;p442"/>
          <p:cNvCxnSpPr>
            <a:stCxn id="11582" idx="3"/>
            <a:endCxn id="11581" idx="7"/>
          </p:cNvCxnSpPr>
          <p:nvPr/>
        </p:nvCxnSpPr>
        <p:spPr>
          <a:xfrm flipH="1">
            <a:off x="7644744" y="3114781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86" name="Google Shape;11586;p442"/>
          <p:cNvCxnSpPr>
            <a:stCxn id="11581" idx="1"/>
            <a:endCxn id="11578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87" name="Google Shape;11587;p442"/>
          <p:cNvCxnSpPr>
            <a:stCxn id="11581" idx="0"/>
            <a:endCxn id="11580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88" name="Google Shape;11588;p442"/>
          <p:cNvSpPr/>
          <p:nvPr/>
        </p:nvSpPr>
        <p:spPr>
          <a:xfrm>
            <a:off x="4169075" y="1303675"/>
            <a:ext cx="18465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is another triad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1589" name="Google Shape;11589;p442"/>
          <p:cNvCxnSpPr>
            <a:stCxn id="11588" idx="5"/>
          </p:cNvCxnSpPr>
          <p:nvPr/>
        </p:nvCxnSpPr>
        <p:spPr>
          <a:xfrm>
            <a:off x="5745161" y="2013234"/>
            <a:ext cx="407700" cy="438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1590" name="Google Shape;11590;p442"/>
          <p:cNvSpPr/>
          <p:nvPr/>
        </p:nvSpPr>
        <p:spPr>
          <a:xfrm>
            <a:off x="5975850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591" name="Google Shape;11591;p442"/>
          <p:cNvCxnSpPr>
            <a:stCxn id="11590" idx="0"/>
          </p:cNvCxnSpPr>
          <p:nvPr/>
        </p:nvCxnSpPr>
        <p:spPr>
          <a:xfrm rot="10800000">
            <a:off x="6276450" y="3202875"/>
            <a:ext cx="0" cy="471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95" name="Shape 1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6" name="Google Shape;11596;p44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Triads in Social Networks</a:t>
            </a:r>
            <a:endParaRPr/>
          </a:p>
        </p:txBody>
      </p:sp>
      <p:sp>
        <p:nvSpPr>
          <p:cNvPr id="11597" name="Google Shape;11597;p443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is a triad?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Any subgraph of order three!</a:t>
            </a:r>
            <a:endParaRPr/>
          </a:p>
        </p:txBody>
      </p:sp>
      <p:sp>
        <p:nvSpPr>
          <p:cNvPr id="11598" name="Google Shape;11598;p443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599" name="Google Shape;11599;p443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00" name="Google Shape;11600;p443"/>
          <p:cNvCxnSpPr>
            <a:stCxn id="11598" idx="6"/>
            <a:endCxn id="11599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01" name="Google Shape;11601;p443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02" name="Google Shape;11602;p443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03" name="Google Shape;11603;p443"/>
          <p:cNvSpPr/>
          <p:nvPr/>
        </p:nvSpPr>
        <p:spPr>
          <a:xfrm>
            <a:off x="8287200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04" name="Google Shape;11604;p443"/>
          <p:cNvCxnSpPr>
            <a:stCxn id="11599" idx="7"/>
            <a:endCxn id="11601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05" name="Google Shape;11605;p443"/>
          <p:cNvCxnSpPr>
            <a:stCxn id="11603" idx="1"/>
            <a:endCxn id="11601" idx="5"/>
          </p:cNvCxnSpPr>
          <p:nvPr/>
        </p:nvCxnSpPr>
        <p:spPr>
          <a:xfrm rot="10800000">
            <a:off x="7644744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06" name="Google Shape;11606;p443"/>
          <p:cNvCxnSpPr>
            <a:stCxn id="11603" idx="3"/>
            <a:endCxn id="11602" idx="7"/>
          </p:cNvCxnSpPr>
          <p:nvPr/>
        </p:nvCxnSpPr>
        <p:spPr>
          <a:xfrm flipH="1">
            <a:off x="7644744" y="3114781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07" name="Google Shape;11607;p443"/>
          <p:cNvCxnSpPr>
            <a:stCxn id="11602" idx="1"/>
            <a:endCxn id="11599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08" name="Google Shape;11608;p443"/>
          <p:cNvCxnSpPr>
            <a:stCxn id="11602" idx="0"/>
            <a:endCxn id="11601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09" name="Google Shape;11609;p443"/>
          <p:cNvSpPr/>
          <p:nvPr/>
        </p:nvSpPr>
        <p:spPr>
          <a:xfrm>
            <a:off x="5975850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10" name="Google Shape;11610;p443"/>
          <p:cNvCxnSpPr>
            <a:stCxn id="11609" idx="0"/>
            <a:endCxn id="11599" idx="4"/>
          </p:cNvCxnSpPr>
          <p:nvPr/>
        </p:nvCxnSpPr>
        <p:spPr>
          <a:xfrm rot="10800000">
            <a:off x="6276450" y="3202875"/>
            <a:ext cx="0" cy="4713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11" name="Google Shape;11611;p443"/>
          <p:cNvSpPr/>
          <p:nvPr/>
        </p:nvSpPr>
        <p:spPr>
          <a:xfrm>
            <a:off x="3537300" y="3762225"/>
            <a:ext cx="18465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Triads don’t have to be connected!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1612" name="Google Shape;11612;p443"/>
          <p:cNvCxnSpPr>
            <a:stCxn id="11611" idx="7"/>
          </p:cNvCxnSpPr>
          <p:nvPr/>
        </p:nvCxnSpPr>
        <p:spPr>
          <a:xfrm flipH="1" rot="10800000">
            <a:off x="5113386" y="3351166"/>
            <a:ext cx="737400" cy="532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16" name="Shape 11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7" name="Google Shape;11617;p44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Triads in Social Networks</a:t>
            </a:r>
            <a:endParaRPr/>
          </a:p>
        </p:txBody>
      </p:sp>
      <p:sp>
        <p:nvSpPr>
          <p:cNvPr id="11618" name="Google Shape;11618;p444"/>
          <p:cNvSpPr txBox="1"/>
          <p:nvPr>
            <p:ph idx="1" type="body"/>
          </p:nvPr>
        </p:nvSpPr>
        <p:spPr>
          <a:xfrm>
            <a:off x="311700" y="1225225"/>
            <a:ext cx="4323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is a triad?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Any subgraph of order three!</a:t>
            </a:r>
            <a:endParaRPr/>
          </a:p>
        </p:txBody>
      </p:sp>
      <p:sp>
        <p:nvSpPr>
          <p:cNvPr id="11619" name="Google Shape;11619;p444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20" name="Google Shape;11620;p444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21" name="Google Shape;11621;p444"/>
          <p:cNvCxnSpPr>
            <a:stCxn id="11619" idx="6"/>
            <a:endCxn id="11620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22" name="Google Shape;11622;p444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23" name="Google Shape;11623;p444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24" name="Google Shape;11624;p444"/>
          <p:cNvSpPr/>
          <p:nvPr/>
        </p:nvSpPr>
        <p:spPr>
          <a:xfrm>
            <a:off x="828720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25" name="Google Shape;11625;p444"/>
          <p:cNvCxnSpPr>
            <a:stCxn id="11620" idx="7"/>
            <a:endCxn id="11622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26" name="Google Shape;11626;p444"/>
          <p:cNvCxnSpPr>
            <a:stCxn id="11624" idx="1"/>
            <a:endCxn id="11622" idx="5"/>
          </p:cNvCxnSpPr>
          <p:nvPr/>
        </p:nvCxnSpPr>
        <p:spPr>
          <a:xfrm rot="10800000">
            <a:off x="7644744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27" name="Google Shape;11627;p444"/>
          <p:cNvCxnSpPr>
            <a:stCxn id="11624" idx="3"/>
            <a:endCxn id="11623" idx="7"/>
          </p:cNvCxnSpPr>
          <p:nvPr/>
        </p:nvCxnSpPr>
        <p:spPr>
          <a:xfrm flipH="1">
            <a:off x="7644744" y="3114781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28" name="Google Shape;11628;p444"/>
          <p:cNvCxnSpPr>
            <a:stCxn id="11623" idx="1"/>
            <a:endCxn id="11620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29" name="Google Shape;11629;p444"/>
          <p:cNvCxnSpPr>
            <a:stCxn id="11623" idx="0"/>
            <a:endCxn id="11622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30" name="Google Shape;11630;p444"/>
          <p:cNvSpPr/>
          <p:nvPr/>
        </p:nvSpPr>
        <p:spPr>
          <a:xfrm>
            <a:off x="5975850" y="367417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31" name="Google Shape;11631;p444"/>
          <p:cNvCxnSpPr>
            <a:stCxn id="11630" idx="0"/>
          </p:cNvCxnSpPr>
          <p:nvPr/>
        </p:nvCxnSpPr>
        <p:spPr>
          <a:xfrm rot="10800000">
            <a:off x="6276450" y="3202875"/>
            <a:ext cx="0" cy="471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32" name="Google Shape;11632;p444"/>
          <p:cNvSpPr/>
          <p:nvPr/>
        </p:nvSpPr>
        <p:spPr>
          <a:xfrm>
            <a:off x="3537300" y="3762225"/>
            <a:ext cx="18465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Triads could be empty subgraphs!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1633" name="Google Shape;11633;p444"/>
          <p:cNvCxnSpPr>
            <a:stCxn id="11632" idx="7"/>
          </p:cNvCxnSpPr>
          <p:nvPr/>
        </p:nvCxnSpPr>
        <p:spPr>
          <a:xfrm flipH="1" rot="10800000">
            <a:off x="5113386" y="3351166"/>
            <a:ext cx="737400" cy="532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37" name="Shape 11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8" name="Google Shape;11638;p445"/>
          <p:cNvSpPr/>
          <p:nvPr/>
        </p:nvSpPr>
        <p:spPr>
          <a:xfrm>
            <a:off x="72450" y="3253325"/>
            <a:ext cx="1233300" cy="1688100"/>
          </a:xfrm>
          <a:prstGeom prst="rect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9" name="Google Shape;11639;p445"/>
          <p:cNvSpPr/>
          <p:nvPr/>
        </p:nvSpPr>
        <p:spPr>
          <a:xfrm>
            <a:off x="3941650" y="3253300"/>
            <a:ext cx="1256100" cy="1688100"/>
          </a:xfrm>
          <a:prstGeom prst="rect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0" name="Google Shape;11640;p445"/>
          <p:cNvSpPr/>
          <p:nvPr/>
        </p:nvSpPr>
        <p:spPr>
          <a:xfrm>
            <a:off x="2639400" y="3253325"/>
            <a:ext cx="1256100" cy="1688100"/>
          </a:xfrm>
          <a:prstGeom prst="rect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1" name="Google Shape;11641;p445"/>
          <p:cNvSpPr/>
          <p:nvPr/>
        </p:nvSpPr>
        <p:spPr>
          <a:xfrm>
            <a:off x="1344975" y="3253325"/>
            <a:ext cx="1256100" cy="1688100"/>
          </a:xfrm>
          <a:prstGeom prst="rect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2" name="Google Shape;11642;p44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many types of triads are there?</a:t>
            </a:r>
            <a:endParaRPr/>
          </a:p>
        </p:txBody>
      </p:sp>
      <p:sp>
        <p:nvSpPr>
          <p:cNvPr id="11643" name="Google Shape;11643;p445"/>
          <p:cNvSpPr txBox="1"/>
          <p:nvPr>
            <p:ph idx="1" type="body"/>
          </p:nvPr>
        </p:nvSpPr>
        <p:spPr>
          <a:xfrm>
            <a:off x="311700" y="1225225"/>
            <a:ext cx="4528500" cy="17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an </a:t>
            </a:r>
            <a:r>
              <a:rPr b="1" lang="en"/>
              <a:t>undirected</a:t>
            </a:r>
            <a:r>
              <a:rPr lang="en"/>
              <a:t> graph there can be four types of triads: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■"/>
            </a:pPr>
            <a:r>
              <a:rPr b="1" lang="en">
                <a:solidFill>
                  <a:schemeClr val="accent6"/>
                </a:solidFill>
              </a:rPr>
              <a:t>Closed triad</a:t>
            </a:r>
            <a:endParaRPr b="1">
              <a:solidFill>
                <a:schemeClr val="accent6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■"/>
            </a:pPr>
            <a:r>
              <a:rPr b="1" lang="en">
                <a:solidFill>
                  <a:schemeClr val="accent5"/>
                </a:solidFill>
              </a:rPr>
              <a:t>Open triad</a:t>
            </a:r>
            <a:endParaRPr b="1">
              <a:solidFill>
                <a:schemeClr val="accent5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</a:pPr>
            <a:r>
              <a:rPr b="1" lang="en">
                <a:solidFill>
                  <a:schemeClr val="lt2"/>
                </a:solidFill>
              </a:rPr>
              <a:t>Connected pair + unconnected third party</a:t>
            </a:r>
            <a:endParaRPr b="1">
              <a:solidFill>
                <a:schemeClr val="lt2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■"/>
            </a:pPr>
            <a:r>
              <a:rPr b="1" lang="en">
                <a:solidFill>
                  <a:schemeClr val="accent3"/>
                </a:solidFill>
              </a:rPr>
              <a:t>Null (empty) triad</a:t>
            </a:r>
            <a:endParaRPr b="1">
              <a:solidFill>
                <a:schemeClr val="accent3"/>
              </a:solidFill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4" name="Google Shape;11644;p445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45" name="Google Shape;11645;p445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46" name="Google Shape;11646;p445"/>
          <p:cNvCxnSpPr>
            <a:stCxn id="11644" idx="6"/>
            <a:endCxn id="11645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47" name="Google Shape;11647;p445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48" name="Google Shape;11648;p445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49" name="Google Shape;11649;p445"/>
          <p:cNvSpPr/>
          <p:nvPr/>
        </p:nvSpPr>
        <p:spPr>
          <a:xfrm>
            <a:off x="828720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50" name="Google Shape;11650;p445"/>
          <p:cNvCxnSpPr>
            <a:stCxn id="11645" idx="7"/>
            <a:endCxn id="11647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51" name="Google Shape;11651;p445"/>
          <p:cNvCxnSpPr>
            <a:stCxn id="11649" idx="1"/>
            <a:endCxn id="11647" idx="5"/>
          </p:cNvCxnSpPr>
          <p:nvPr/>
        </p:nvCxnSpPr>
        <p:spPr>
          <a:xfrm rot="10800000">
            <a:off x="7644744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52" name="Google Shape;11652;p445"/>
          <p:cNvCxnSpPr>
            <a:stCxn id="11649" idx="3"/>
            <a:endCxn id="11648" idx="7"/>
          </p:cNvCxnSpPr>
          <p:nvPr/>
        </p:nvCxnSpPr>
        <p:spPr>
          <a:xfrm flipH="1">
            <a:off x="7644744" y="3114781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53" name="Google Shape;11653;p445"/>
          <p:cNvCxnSpPr>
            <a:stCxn id="11648" idx="1"/>
            <a:endCxn id="11645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54" name="Google Shape;11654;p445"/>
          <p:cNvCxnSpPr>
            <a:stCxn id="11648" idx="0"/>
            <a:endCxn id="11647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55" name="Google Shape;11655;p445"/>
          <p:cNvSpPr/>
          <p:nvPr/>
        </p:nvSpPr>
        <p:spPr>
          <a:xfrm>
            <a:off x="5975850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56" name="Google Shape;11656;p445"/>
          <p:cNvCxnSpPr>
            <a:stCxn id="11655" idx="0"/>
          </p:cNvCxnSpPr>
          <p:nvPr/>
        </p:nvCxnSpPr>
        <p:spPr>
          <a:xfrm rot="10800000">
            <a:off x="6276450" y="3202875"/>
            <a:ext cx="0" cy="471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57" name="Google Shape;11657;p445"/>
          <p:cNvSpPr/>
          <p:nvPr/>
        </p:nvSpPr>
        <p:spPr>
          <a:xfrm>
            <a:off x="246150" y="3799035"/>
            <a:ext cx="312900" cy="313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E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58" name="Google Shape;11658;p445"/>
          <p:cNvSpPr/>
          <p:nvPr/>
        </p:nvSpPr>
        <p:spPr>
          <a:xfrm>
            <a:off x="717544" y="3349550"/>
            <a:ext cx="312900" cy="313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C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59" name="Google Shape;11659;p445"/>
          <p:cNvSpPr/>
          <p:nvPr/>
        </p:nvSpPr>
        <p:spPr>
          <a:xfrm>
            <a:off x="717544" y="4248109"/>
            <a:ext cx="312900" cy="313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D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60" name="Google Shape;11660;p445"/>
          <p:cNvCxnSpPr>
            <a:stCxn id="11657" idx="7"/>
            <a:endCxn id="11658" idx="3"/>
          </p:cNvCxnSpPr>
          <p:nvPr/>
        </p:nvCxnSpPr>
        <p:spPr>
          <a:xfrm flipH="1" rot="10800000">
            <a:off x="513227" y="3616902"/>
            <a:ext cx="250200" cy="22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61" name="Google Shape;11661;p445"/>
          <p:cNvCxnSpPr>
            <a:stCxn id="11659" idx="1"/>
            <a:endCxn id="11657" idx="5"/>
          </p:cNvCxnSpPr>
          <p:nvPr/>
        </p:nvCxnSpPr>
        <p:spPr>
          <a:xfrm rot="10800000">
            <a:off x="513167" y="4066276"/>
            <a:ext cx="250200" cy="22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62" name="Google Shape;11662;p445"/>
          <p:cNvCxnSpPr>
            <a:stCxn id="11659" idx="0"/>
            <a:endCxn id="11658" idx="4"/>
          </p:cNvCxnSpPr>
          <p:nvPr/>
        </p:nvCxnSpPr>
        <p:spPr>
          <a:xfrm rot="10800000">
            <a:off x="873994" y="3662809"/>
            <a:ext cx="0" cy="585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63" name="Google Shape;11663;p445"/>
          <p:cNvSpPr/>
          <p:nvPr/>
        </p:nvSpPr>
        <p:spPr>
          <a:xfrm>
            <a:off x="1415200" y="3674175"/>
            <a:ext cx="310800" cy="3108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B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64" name="Google Shape;11664;p445"/>
          <p:cNvSpPr/>
          <p:nvPr/>
        </p:nvSpPr>
        <p:spPr>
          <a:xfrm>
            <a:off x="1928936" y="3674163"/>
            <a:ext cx="310800" cy="3108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E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65" name="Google Shape;11665;p445"/>
          <p:cNvCxnSpPr>
            <a:stCxn id="11663" idx="6"/>
            <a:endCxn id="11664" idx="2"/>
          </p:cNvCxnSpPr>
          <p:nvPr/>
        </p:nvCxnSpPr>
        <p:spPr>
          <a:xfrm>
            <a:off x="1726000" y="3829575"/>
            <a:ext cx="2028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66" name="Google Shape;11666;p445"/>
          <p:cNvSpPr/>
          <p:nvPr/>
        </p:nvSpPr>
        <p:spPr>
          <a:xfrm>
            <a:off x="2265316" y="4002446"/>
            <a:ext cx="310800" cy="3108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D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67" name="Google Shape;11667;p445"/>
          <p:cNvCxnSpPr>
            <a:stCxn id="11666" idx="1"/>
            <a:endCxn id="11664" idx="5"/>
          </p:cNvCxnSpPr>
          <p:nvPr/>
        </p:nvCxnSpPr>
        <p:spPr>
          <a:xfrm rot="10800000">
            <a:off x="2194132" y="3939361"/>
            <a:ext cx="116700" cy="1086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68" name="Google Shape;11668;p445"/>
          <p:cNvSpPr txBox="1"/>
          <p:nvPr/>
        </p:nvSpPr>
        <p:spPr>
          <a:xfrm>
            <a:off x="442150" y="4608850"/>
            <a:ext cx="863700" cy="23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Closed 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669" name="Google Shape;11669;p445"/>
          <p:cNvSpPr txBox="1"/>
          <p:nvPr/>
        </p:nvSpPr>
        <p:spPr>
          <a:xfrm>
            <a:off x="1625325" y="4608850"/>
            <a:ext cx="939900" cy="23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Open 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670" name="Google Shape;11670;p445"/>
          <p:cNvSpPr/>
          <p:nvPr/>
        </p:nvSpPr>
        <p:spPr>
          <a:xfrm>
            <a:off x="2707513" y="3516400"/>
            <a:ext cx="310800" cy="3108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E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71" name="Google Shape;11671;p445"/>
          <p:cNvSpPr/>
          <p:nvPr/>
        </p:nvSpPr>
        <p:spPr>
          <a:xfrm>
            <a:off x="3445738" y="3516400"/>
            <a:ext cx="310800" cy="3108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A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72" name="Google Shape;11672;p445"/>
          <p:cNvSpPr/>
          <p:nvPr/>
        </p:nvSpPr>
        <p:spPr>
          <a:xfrm>
            <a:off x="2707513" y="4122350"/>
            <a:ext cx="310800" cy="3108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F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73" name="Google Shape;11673;p445"/>
          <p:cNvCxnSpPr>
            <a:stCxn id="11672" idx="0"/>
            <a:endCxn id="11670" idx="4"/>
          </p:cNvCxnSpPr>
          <p:nvPr/>
        </p:nvCxnSpPr>
        <p:spPr>
          <a:xfrm rot="10800000">
            <a:off x="2862913" y="3827150"/>
            <a:ext cx="0" cy="2952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74" name="Google Shape;11674;p445"/>
          <p:cNvSpPr txBox="1"/>
          <p:nvPr/>
        </p:nvSpPr>
        <p:spPr>
          <a:xfrm>
            <a:off x="2830488" y="4608850"/>
            <a:ext cx="1065000" cy="23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Connected Pair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675" name="Google Shape;11675;p445"/>
          <p:cNvSpPr/>
          <p:nvPr/>
        </p:nvSpPr>
        <p:spPr>
          <a:xfrm>
            <a:off x="3964700" y="3481300"/>
            <a:ext cx="310800" cy="310800"/>
          </a:xfrm>
          <a:prstGeom prst="ellipse">
            <a:avLst/>
          </a:prstGeom>
          <a:solidFill>
            <a:schemeClr val="accent3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B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76" name="Google Shape;11676;p445"/>
          <p:cNvSpPr/>
          <p:nvPr/>
        </p:nvSpPr>
        <p:spPr>
          <a:xfrm>
            <a:off x="4780275" y="4047950"/>
            <a:ext cx="310800" cy="310800"/>
          </a:xfrm>
          <a:prstGeom prst="ellipse">
            <a:avLst/>
          </a:prstGeom>
          <a:solidFill>
            <a:schemeClr val="accent3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D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77" name="Google Shape;11677;p445"/>
          <p:cNvSpPr/>
          <p:nvPr/>
        </p:nvSpPr>
        <p:spPr>
          <a:xfrm>
            <a:off x="4224075" y="4047950"/>
            <a:ext cx="310800" cy="310800"/>
          </a:xfrm>
          <a:prstGeom prst="ellipse">
            <a:avLst/>
          </a:prstGeom>
          <a:solidFill>
            <a:schemeClr val="accent3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F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78" name="Google Shape;11678;p445"/>
          <p:cNvSpPr txBox="1"/>
          <p:nvPr/>
        </p:nvSpPr>
        <p:spPr>
          <a:xfrm>
            <a:off x="4361450" y="4608850"/>
            <a:ext cx="801300" cy="23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Null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82" name="Shape 1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3" name="Google Shape;11683;p446"/>
          <p:cNvSpPr/>
          <p:nvPr/>
        </p:nvSpPr>
        <p:spPr>
          <a:xfrm>
            <a:off x="72450" y="3253325"/>
            <a:ext cx="1233300" cy="1688100"/>
          </a:xfrm>
          <a:prstGeom prst="rect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4" name="Google Shape;11684;p446"/>
          <p:cNvSpPr/>
          <p:nvPr/>
        </p:nvSpPr>
        <p:spPr>
          <a:xfrm>
            <a:off x="3941650" y="3253300"/>
            <a:ext cx="1256100" cy="1688100"/>
          </a:xfrm>
          <a:prstGeom prst="rect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5" name="Google Shape;11685;p446"/>
          <p:cNvSpPr/>
          <p:nvPr/>
        </p:nvSpPr>
        <p:spPr>
          <a:xfrm>
            <a:off x="2639400" y="3253325"/>
            <a:ext cx="1256100" cy="1688100"/>
          </a:xfrm>
          <a:prstGeom prst="rect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6" name="Google Shape;11686;p446"/>
          <p:cNvSpPr/>
          <p:nvPr/>
        </p:nvSpPr>
        <p:spPr>
          <a:xfrm>
            <a:off x="1344975" y="3253325"/>
            <a:ext cx="1256100" cy="1688100"/>
          </a:xfrm>
          <a:prstGeom prst="rect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7" name="Google Shape;11687;p44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many types of triads are there?</a:t>
            </a:r>
            <a:endParaRPr/>
          </a:p>
        </p:txBody>
      </p:sp>
      <p:sp>
        <p:nvSpPr>
          <p:cNvPr id="11688" name="Google Shape;11688;p446"/>
          <p:cNvSpPr txBox="1"/>
          <p:nvPr>
            <p:ph idx="1" type="body"/>
          </p:nvPr>
        </p:nvSpPr>
        <p:spPr>
          <a:xfrm>
            <a:off x="311700" y="1225225"/>
            <a:ext cx="4528500" cy="17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an </a:t>
            </a:r>
            <a:r>
              <a:rPr b="1" lang="en"/>
              <a:t>undirected</a:t>
            </a:r>
            <a:r>
              <a:rPr lang="en"/>
              <a:t> graph there can be four types of triads: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■"/>
            </a:pPr>
            <a:r>
              <a:rPr b="1" lang="en">
                <a:solidFill>
                  <a:schemeClr val="accent6"/>
                </a:solidFill>
              </a:rPr>
              <a:t>Closed triad</a:t>
            </a:r>
            <a:endParaRPr b="1">
              <a:solidFill>
                <a:schemeClr val="accent6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■"/>
            </a:pPr>
            <a:r>
              <a:rPr b="1" lang="en">
                <a:solidFill>
                  <a:schemeClr val="accent5"/>
                </a:solidFill>
              </a:rPr>
              <a:t>Open triad</a:t>
            </a:r>
            <a:endParaRPr b="1">
              <a:solidFill>
                <a:schemeClr val="accent5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</a:pPr>
            <a:r>
              <a:rPr b="1" lang="en">
                <a:solidFill>
                  <a:schemeClr val="lt2"/>
                </a:solidFill>
              </a:rPr>
              <a:t>Connected pair + unconnected third party</a:t>
            </a:r>
            <a:endParaRPr b="1">
              <a:solidFill>
                <a:schemeClr val="lt2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■"/>
            </a:pPr>
            <a:r>
              <a:rPr b="1" lang="en">
                <a:solidFill>
                  <a:schemeClr val="accent3"/>
                </a:solidFill>
              </a:rPr>
              <a:t>Null (empty) triad</a:t>
            </a:r>
            <a:endParaRPr b="1">
              <a:solidFill>
                <a:schemeClr val="accent3"/>
              </a:solidFill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9" name="Google Shape;11689;p446"/>
          <p:cNvSpPr/>
          <p:nvPr/>
        </p:nvSpPr>
        <p:spPr>
          <a:xfrm>
            <a:off x="4635075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90" name="Google Shape;11690;p446"/>
          <p:cNvSpPr/>
          <p:nvPr/>
        </p:nvSpPr>
        <p:spPr>
          <a:xfrm>
            <a:off x="597585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91" name="Google Shape;11691;p446"/>
          <p:cNvCxnSpPr>
            <a:stCxn id="11689" idx="6"/>
            <a:endCxn id="11690" idx="2"/>
          </p:cNvCxnSpPr>
          <p:nvPr/>
        </p:nvCxnSpPr>
        <p:spPr>
          <a:xfrm>
            <a:off x="5236275" y="2902225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92" name="Google Shape;11692;p446"/>
          <p:cNvSpPr/>
          <p:nvPr/>
        </p:nvSpPr>
        <p:spPr>
          <a:xfrm>
            <a:off x="7131525" y="1487600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93" name="Google Shape;11693;p446"/>
          <p:cNvSpPr/>
          <p:nvPr/>
        </p:nvSpPr>
        <p:spPr>
          <a:xfrm>
            <a:off x="7131525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694" name="Google Shape;11694;p446"/>
          <p:cNvSpPr/>
          <p:nvPr/>
        </p:nvSpPr>
        <p:spPr>
          <a:xfrm>
            <a:off x="8287200" y="26016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695" name="Google Shape;11695;p446"/>
          <p:cNvCxnSpPr>
            <a:stCxn id="11690" idx="7"/>
            <a:endCxn id="11692" idx="3"/>
          </p:cNvCxnSpPr>
          <p:nvPr/>
        </p:nvCxnSpPr>
        <p:spPr>
          <a:xfrm flipH="1" rot="10800000">
            <a:off x="6489006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96" name="Google Shape;11696;p446"/>
          <p:cNvCxnSpPr>
            <a:stCxn id="11694" idx="1"/>
            <a:endCxn id="11692" idx="5"/>
          </p:cNvCxnSpPr>
          <p:nvPr/>
        </p:nvCxnSpPr>
        <p:spPr>
          <a:xfrm rot="10800000">
            <a:off x="7644744" y="2000869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97" name="Google Shape;11697;p446"/>
          <p:cNvCxnSpPr>
            <a:stCxn id="11694" idx="3"/>
            <a:endCxn id="11693" idx="7"/>
          </p:cNvCxnSpPr>
          <p:nvPr/>
        </p:nvCxnSpPr>
        <p:spPr>
          <a:xfrm flipH="1">
            <a:off x="7644744" y="3114781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98" name="Google Shape;11698;p446"/>
          <p:cNvCxnSpPr>
            <a:stCxn id="11693" idx="1"/>
            <a:endCxn id="11690" idx="5"/>
          </p:cNvCxnSpPr>
          <p:nvPr/>
        </p:nvCxnSpPr>
        <p:spPr>
          <a:xfrm rot="10800000">
            <a:off x="6489069" y="3114819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99" name="Google Shape;11699;p446"/>
          <p:cNvCxnSpPr>
            <a:stCxn id="11693" idx="0"/>
            <a:endCxn id="11692" idx="4"/>
          </p:cNvCxnSpPr>
          <p:nvPr/>
        </p:nvCxnSpPr>
        <p:spPr>
          <a:xfrm rot="10800000">
            <a:off x="7432125" y="2088675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00" name="Google Shape;11700;p446"/>
          <p:cNvSpPr/>
          <p:nvPr/>
        </p:nvSpPr>
        <p:spPr>
          <a:xfrm>
            <a:off x="5975850" y="367417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01" name="Google Shape;11701;p446"/>
          <p:cNvCxnSpPr>
            <a:stCxn id="11700" idx="0"/>
          </p:cNvCxnSpPr>
          <p:nvPr/>
        </p:nvCxnSpPr>
        <p:spPr>
          <a:xfrm rot="10800000">
            <a:off x="6276450" y="3202875"/>
            <a:ext cx="0" cy="471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02" name="Google Shape;11702;p446"/>
          <p:cNvSpPr/>
          <p:nvPr/>
        </p:nvSpPr>
        <p:spPr>
          <a:xfrm>
            <a:off x="246150" y="3799035"/>
            <a:ext cx="312900" cy="313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03" name="Google Shape;11703;p446"/>
          <p:cNvSpPr/>
          <p:nvPr/>
        </p:nvSpPr>
        <p:spPr>
          <a:xfrm>
            <a:off x="717544" y="3349550"/>
            <a:ext cx="312900" cy="313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04" name="Google Shape;11704;p446"/>
          <p:cNvSpPr/>
          <p:nvPr/>
        </p:nvSpPr>
        <p:spPr>
          <a:xfrm>
            <a:off x="717544" y="4248109"/>
            <a:ext cx="312900" cy="313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05" name="Google Shape;11705;p446"/>
          <p:cNvCxnSpPr>
            <a:stCxn id="11702" idx="7"/>
            <a:endCxn id="11703" idx="3"/>
          </p:cNvCxnSpPr>
          <p:nvPr/>
        </p:nvCxnSpPr>
        <p:spPr>
          <a:xfrm flipH="1" rot="10800000">
            <a:off x="513227" y="3616902"/>
            <a:ext cx="250200" cy="22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706" name="Google Shape;11706;p446"/>
          <p:cNvCxnSpPr>
            <a:stCxn id="11704" idx="1"/>
            <a:endCxn id="11702" idx="5"/>
          </p:cNvCxnSpPr>
          <p:nvPr/>
        </p:nvCxnSpPr>
        <p:spPr>
          <a:xfrm rot="10800000">
            <a:off x="513167" y="4066276"/>
            <a:ext cx="250200" cy="22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707" name="Google Shape;11707;p446"/>
          <p:cNvCxnSpPr>
            <a:stCxn id="11704" idx="0"/>
            <a:endCxn id="11703" idx="4"/>
          </p:cNvCxnSpPr>
          <p:nvPr/>
        </p:nvCxnSpPr>
        <p:spPr>
          <a:xfrm rot="10800000">
            <a:off x="873994" y="3662809"/>
            <a:ext cx="0" cy="585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08" name="Google Shape;11708;p446"/>
          <p:cNvSpPr txBox="1"/>
          <p:nvPr/>
        </p:nvSpPr>
        <p:spPr>
          <a:xfrm>
            <a:off x="442150" y="4608850"/>
            <a:ext cx="863700" cy="23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Closed 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709" name="Google Shape;11709;p446"/>
          <p:cNvSpPr txBox="1"/>
          <p:nvPr/>
        </p:nvSpPr>
        <p:spPr>
          <a:xfrm>
            <a:off x="1625325" y="4608850"/>
            <a:ext cx="939900" cy="23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Open 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710" name="Google Shape;11710;p446"/>
          <p:cNvSpPr txBox="1"/>
          <p:nvPr/>
        </p:nvSpPr>
        <p:spPr>
          <a:xfrm>
            <a:off x="2830488" y="4608850"/>
            <a:ext cx="1065000" cy="23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Connected Pair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711" name="Google Shape;11711;p446"/>
          <p:cNvSpPr txBox="1"/>
          <p:nvPr/>
        </p:nvSpPr>
        <p:spPr>
          <a:xfrm>
            <a:off x="4361450" y="4608850"/>
            <a:ext cx="801300" cy="23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Economica"/>
                <a:ea typeface="Economica"/>
                <a:cs typeface="Economica"/>
                <a:sym typeface="Economica"/>
              </a:rPr>
              <a:t>Null</a:t>
            </a:r>
            <a:endParaRPr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712" name="Google Shape;11712;p446"/>
          <p:cNvSpPr/>
          <p:nvPr/>
        </p:nvSpPr>
        <p:spPr>
          <a:xfrm>
            <a:off x="1580425" y="3818385"/>
            <a:ext cx="312900" cy="313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13" name="Google Shape;11713;p446"/>
          <p:cNvSpPr/>
          <p:nvPr/>
        </p:nvSpPr>
        <p:spPr>
          <a:xfrm>
            <a:off x="2051819" y="3368900"/>
            <a:ext cx="312900" cy="313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14" name="Google Shape;11714;p446"/>
          <p:cNvSpPr/>
          <p:nvPr/>
        </p:nvSpPr>
        <p:spPr>
          <a:xfrm>
            <a:off x="2051819" y="4267459"/>
            <a:ext cx="312900" cy="313200"/>
          </a:xfrm>
          <a:prstGeom prst="ellipse">
            <a:avLst/>
          </a:prstGeom>
          <a:solidFill>
            <a:schemeClr val="accent5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15" name="Google Shape;11715;p446"/>
          <p:cNvCxnSpPr>
            <a:stCxn id="11712" idx="7"/>
            <a:endCxn id="11713" idx="3"/>
          </p:cNvCxnSpPr>
          <p:nvPr/>
        </p:nvCxnSpPr>
        <p:spPr>
          <a:xfrm flipH="1" rot="10800000">
            <a:off x="1847502" y="3636252"/>
            <a:ext cx="250200" cy="2280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716" name="Google Shape;11716;p446"/>
          <p:cNvCxnSpPr>
            <a:stCxn id="11714" idx="1"/>
            <a:endCxn id="11712" idx="5"/>
          </p:cNvCxnSpPr>
          <p:nvPr/>
        </p:nvCxnSpPr>
        <p:spPr>
          <a:xfrm rot="10800000">
            <a:off x="1847442" y="4085626"/>
            <a:ext cx="250200" cy="227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17" name="Google Shape;11717;p446"/>
          <p:cNvSpPr/>
          <p:nvPr/>
        </p:nvSpPr>
        <p:spPr>
          <a:xfrm>
            <a:off x="2915600" y="3818585"/>
            <a:ext cx="312900" cy="313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18" name="Google Shape;11718;p446"/>
          <p:cNvSpPr/>
          <p:nvPr/>
        </p:nvSpPr>
        <p:spPr>
          <a:xfrm>
            <a:off x="3386994" y="3369100"/>
            <a:ext cx="312900" cy="313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19" name="Google Shape;11719;p446"/>
          <p:cNvSpPr/>
          <p:nvPr/>
        </p:nvSpPr>
        <p:spPr>
          <a:xfrm>
            <a:off x="3386994" y="4267659"/>
            <a:ext cx="312900" cy="313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20" name="Google Shape;11720;p446"/>
          <p:cNvCxnSpPr>
            <a:stCxn id="11719" idx="0"/>
            <a:endCxn id="11718" idx="4"/>
          </p:cNvCxnSpPr>
          <p:nvPr/>
        </p:nvCxnSpPr>
        <p:spPr>
          <a:xfrm rot="10800000">
            <a:off x="3543444" y="3682359"/>
            <a:ext cx="0" cy="585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21" name="Google Shape;11721;p446"/>
          <p:cNvSpPr/>
          <p:nvPr/>
        </p:nvSpPr>
        <p:spPr>
          <a:xfrm>
            <a:off x="4210025" y="3818785"/>
            <a:ext cx="312900" cy="313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22" name="Google Shape;11722;p446"/>
          <p:cNvSpPr/>
          <p:nvPr/>
        </p:nvSpPr>
        <p:spPr>
          <a:xfrm>
            <a:off x="4681419" y="3369300"/>
            <a:ext cx="312900" cy="313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23" name="Google Shape;11723;p446"/>
          <p:cNvSpPr/>
          <p:nvPr/>
        </p:nvSpPr>
        <p:spPr>
          <a:xfrm>
            <a:off x="4681419" y="4267859"/>
            <a:ext cx="312900" cy="313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1727" name="Shape 11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28" name="Google Shape;11728;p44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many types of triads are there?</a:t>
            </a:r>
            <a:endParaRPr/>
          </a:p>
        </p:txBody>
      </p:sp>
      <p:sp>
        <p:nvSpPr>
          <p:cNvPr id="11729" name="Google Shape;11729;p447"/>
          <p:cNvSpPr txBox="1"/>
          <p:nvPr>
            <p:ph idx="1" type="body"/>
          </p:nvPr>
        </p:nvSpPr>
        <p:spPr>
          <a:xfrm>
            <a:off x="311700" y="1225225"/>
            <a:ext cx="59991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a </a:t>
            </a:r>
            <a:r>
              <a:rPr b="1" lang="en"/>
              <a:t>directed</a:t>
            </a:r>
            <a:r>
              <a:rPr lang="en"/>
              <a:t> graph: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There can be </a:t>
            </a:r>
            <a:r>
              <a:rPr b="1" lang="en"/>
              <a:t>sixteen</a:t>
            </a:r>
            <a:r>
              <a:rPr lang="en"/>
              <a:t> (16) possible triads!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730" name="Google Shape;11730;p4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52300" y="2088800"/>
            <a:ext cx="2743200" cy="2825087"/>
          </a:xfrm>
          <a:prstGeom prst="rect">
            <a:avLst/>
          </a:prstGeom>
          <a:noFill/>
          <a:ln>
            <a:noFill/>
          </a:ln>
        </p:spPr>
      </p:pic>
      <p:sp>
        <p:nvSpPr>
          <p:cNvPr id="11731" name="Google Shape;11731;p447"/>
          <p:cNvSpPr/>
          <p:nvPr/>
        </p:nvSpPr>
        <p:spPr>
          <a:xfrm>
            <a:off x="4635075" y="2622350"/>
            <a:ext cx="601200" cy="601200"/>
          </a:xfrm>
          <a:prstGeom prst="ellipse">
            <a:avLst/>
          </a:prstGeom>
          <a:solidFill>
            <a:srgbClr val="000000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B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32" name="Google Shape;11732;p447"/>
          <p:cNvSpPr/>
          <p:nvPr/>
        </p:nvSpPr>
        <p:spPr>
          <a:xfrm>
            <a:off x="5975850" y="2622350"/>
            <a:ext cx="601200" cy="601200"/>
          </a:xfrm>
          <a:prstGeom prst="ellipse">
            <a:avLst/>
          </a:prstGeom>
          <a:solidFill>
            <a:srgbClr val="000000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E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33" name="Google Shape;11733;p447"/>
          <p:cNvCxnSpPr>
            <a:stCxn id="11731" idx="6"/>
            <a:endCxn id="11732" idx="2"/>
          </p:cNvCxnSpPr>
          <p:nvPr/>
        </p:nvCxnSpPr>
        <p:spPr>
          <a:xfrm>
            <a:off x="5236275" y="2922950"/>
            <a:ext cx="7395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stealth"/>
          </a:ln>
        </p:spPr>
      </p:cxnSp>
      <p:sp>
        <p:nvSpPr>
          <p:cNvPr id="11734" name="Google Shape;11734;p447"/>
          <p:cNvSpPr/>
          <p:nvPr/>
        </p:nvSpPr>
        <p:spPr>
          <a:xfrm>
            <a:off x="7131525" y="1508325"/>
            <a:ext cx="601200" cy="601200"/>
          </a:xfrm>
          <a:prstGeom prst="ellipse">
            <a:avLst/>
          </a:prstGeom>
          <a:solidFill>
            <a:srgbClr val="000000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C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35" name="Google Shape;11735;p447"/>
          <p:cNvSpPr/>
          <p:nvPr/>
        </p:nvSpPr>
        <p:spPr>
          <a:xfrm>
            <a:off x="7131525" y="3694900"/>
            <a:ext cx="601200" cy="601200"/>
          </a:xfrm>
          <a:prstGeom prst="ellipse">
            <a:avLst/>
          </a:prstGeom>
          <a:solidFill>
            <a:srgbClr val="000000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D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36" name="Google Shape;11736;p447"/>
          <p:cNvSpPr/>
          <p:nvPr/>
        </p:nvSpPr>
        <p:spPr>
          <a:xfrm>
            <a:off x="8287200" y="2665200"/>
            <a:ext cx="601200" cy="601200"/>
          </a:xfrm>
          <a:prstGeom prst="ellipse">
            <a:avLst/>
          </a:prstGeom>
          <a:solidFill>
            <a:srgbClr val="000000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A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37" name="Google Shape;11737;p447"/>
          <p:cNvCxnSpPr>
            <a:stCxn id="11732" idx="7"/>
            <a:endCxn id="11734" idx="3"/>
          </p:cNvCxnSpPr>
          <p:nvPr/>
        </p:nvCxnSpPr>
        <p:spPr>
          <a:xfrm flipH="1" rot="10800000">
            <a:off x="6489006" y="2021594"/>
            <a:ext cx="730500" cy="6888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none"/>
          </a:ln>
        </p:spPr>
      </p:cxnSp>
      <p:cxnSp>
        <p:nvCxnSpPr>
          <p:cNvPr id="11738" name="Google Shape;11738;p447"/>
          <p:cNvCxnSpPr>
            <a:stCxn id="11736" idx="1"/>
            <a:endCxn id="11734" idx="5"/>
          </p:cNvCxnSpPr>
          <p:nvPr/>
        </p:nvCxnSpPr>
        <p:spPr>
          <a:xfrm rot="10800000">
            <a:off x="7644744" y="2021544"/>
            <a:ext cx="730500" cy="731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739" name="Google Shape;11739;p447"/>
          <p:cNvCxnSpPr>
            <a:stCxn id="11736" idx="3"/>
            <a:endCxn id="11735" idx="7"/>
          </p:cNvCxnSpPr>
          <p:nvPr/>
        </p:nvCxnSpPr>
        <p:spPr>
          <a:xfrm flipH="1">
            <a:off x="7644744" y="3178356"/>
            <a:ext cx="730500" cy="604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740" name="Google Shape;11740;p447"/>
          <p:cNvCxnSpPr>
            <a:stCxn id="11735" idx="1"/>
            <a:endCxn id="11732" idx="5"/>
          </p:cNvCxnSpPr>
          <p:nvPr/>
        </p:nvCxnSpPr>
        <p:spPr>
          <a:xfrm rot="10800000">
            <a:off x="6489069" y="3135544"/>
            <a:ext cx="730500" cy="6474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stealth"/>
          </a:ln>
        </p:spPr>
      </p:cxnSp>
      <p:cxnSp>
        <p:nvCxnSpPr>
          <p:cNvPr id="11741" name="Google Shape;11741;p447"/>
          <p:cNvCxnSpPr>
            <a:stCxn id="11735" idx="0"/>
            <a:endCxn id="11734" idx="4"/>
          </p:cNvCxnSpPr>
          <p:nvPr/>
        </p:nvCxnSpPr>
        <p:spPr>
          <a:xfrm rot="10800000">
            <a:off x="7432125" y="2109400"/>
            <a:ext cx="0" cy="15855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742" name="Google Shape;11742;p447"/>
          <p:cNvSpPr/>
          <p:nvPr/>
        </p:nvSpPr>
        <p:spPr>
          <a:xfrm>
            <a:off x="5975850" y="3694900"/>
            <a:ext cx="601200" cy="601200"/>
          </a:xfrm>
          <a:prstGeom prst="ellipse">
            <a:avLst/>
          </a:prstGeom>
          <a:solidFill>
            <a:srgbClr val="000000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F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43" name="Google Shape;11743;p447"/>
          <p:cNvCxnSpPr>
            <a:stCxn id="11742" idx="0"/>
          </p:cNvCxnSpPr>
          <p:nvPr/>
        </p:nvCxnSpPr>
        <p:spPr>
          <a:xfrm rot="10800000">
            <a:off x="6276450" y="3223600"/>
            <a:ext cx="0" cy="4713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stealth"/>
          </a:ln>
        </p:spPr>
      </p:cxnSp>
      <p:cxnSp>
        <p:nvCxnSpPr>
          <p:cNvPr id="11744" name="Google Shape;11744;p447"/>
          <p:cNvCxnSpPr>
            <a:stCxn id="11742" idx="6"/>
            <a:endCxn id="11735" idx="2"/>
          </p:cNvCxnSpPr>
          <p:nvPr/>
        </p:nvCxnSpPr>
        <p:spPr>
          <a:xfrm>
            <a:off x="6577050" y="3995500"/>
            <a:ext cx="554400" cy="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stealth"/>
            <a:tailEnd len="med" w="med" type="stealth"/>
          </a:ln>
        </p:spPr>
      </p:cxnSp>
      <p:cxnSp>
        <p:nvCxnSpPr>
          <p:cNvPr id="11745" name="Google Shape;11745;p447"/>
          <p:cNvCxnSpPr>
            <a:stCxn id="11732" idx="6"/>
            <a:endCxn id="11736" idx="2"/>
          </p:cNvCxnSpPr>
          <p:nvPr/>
        </p:nvCxnSpPr>
        <p:spPr>
          <a:xfrm>
            <a:off x="6577050" y="2922950"/>
            <a:ext cx="1710300" cy="429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49" name="Shape 11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0" name="Google Shape;11750;p44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751" name="Google Shape;11751;p448"/>
          <p:cNvSpPr txBox="1"/>
          <p:nvPr>
            <p:ph idx="1" type="body"/>
          </p:nvPr>
        </p:nvSpPr>
        <p:spPr>
          <a:xfrm>
            <a:off x="311700" y="1225225"/>
            <a:ext cx="85206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55" name="Shape 11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6" name="Google Shape;11756;p44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757" name="Google Shape;11757;p449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(1) A person (P)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 “look” at the triad from this person’s point of view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8" name="Google Shape;11758;p449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62" name="Shape 11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3" name="Google Shape;11763;p45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764" name="Google Shape;11764;p450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(2) An object (O) towards which the focal person has some kind of sentiment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sentiment can be positive or negative</a:t>
            </a:r>
            <a:endParaRPr/>
          </a:p>
        </p:txBody>
      </p:sp>
      <p:sp>
        <p:nvSpPr>
          <p:cNvPr id="11765" name="Google Shape;11765;p450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66" name="Google Shape;11766;p450"/>
          <p:cNvSpPr/>
          <p:nvPr/>
        </p:nvSpPr>
        <p:spPr>
          <a:xfrm>
            <a:off x="3715450" y="44060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O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</p:spTree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70" name="Shape 11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1" name="Google Shape;11771;p45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772" name="Google Shape;11772;p451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(3) A third party (Q) towards which both the person and the other also have some kind of sentiment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3" name="Google Shape;11773;p451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74" name="Google Shape;11774;p451"/>
          <p:cNvSpPr/>
          <p:nvPr/>
        </p:nvSpPr>
        <p:spPr>
          <a:xfrm>
            <a:off x="3715450" y="44060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O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75" name="Google Shape;11775;p451"/>
          <p:cNvSpPr/>
          <p:nvPr/>
        </p:nvSpPr>
        <p:spPr>
          <a:xfrm>
            <a:off x="3715450" y="3064825"/>
            <a:ext cx="601200" cy="601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Q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79" name="Shape 11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0" name="Google Shape;11780;p45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781" name="Google Shape;11781;p452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(4) A set of </a:t>
            </a:r>
            <a:r>
              <a:rPr b="1" lang="en"/>
              <a:t>directed signed edges</a:t>
            </a:r>
            <a:r>
              <a:rPr lang="en"/>
              <a:t> that indicate </a:t>
            </a:r>
            <a:r>
              <a:rPr b="1" lang="en"/>
              <a:t>positive</a:t>
            </a:r>
            <a:r>
              <a:rPr lang="en"/>
              <a:t> (</a:t>
            </a:r>
            <a:r>
              <a:rPr i="1" lang="en"/>
              <a:t>solid</a:t>
            </a:r>
            <a:r>
              <a:rPr lang="en"/>
              <a:t>) or </a:t>
            </a:r>
            <a:r>
              <a:rPr b="1" lang="en"/>
              <a:t>negative</a:t>
            </a:r>
            <a:r>
              <a:rPr lang="en"/>
              <a:t> (</a:t>
            </a:r>
            <a:r>
              <a:rPr i="1" lang="en"/>
              <a:t>dashed</a:t>
            </a:r>
            <a:r>
              <a:rPr lang="en"/>
              <a:t>) sentiments that P and O have toward the third party Q and P towards O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2" name="Google Shape;11782;p452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83" name="Google Shape;11783;p452"/>
          <p:cNvSpPr/>
          <p:nvPr/>
        </p:nvSpPr>
        <p:spPr>
          <a:xfrm>
            <a:off x="3715450" y="44060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O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84" name="Google Shape;11784;p452"/>
          <p:cNvSpPr/>
          <p:nvPr/>
        </p:nvSpPr>
        <p:spPr>
          <a:xfrm>
            <a:off x="3715450" y="3064825"/>
            <a:ext cx="601200" cy="601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Q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85" name="Google Shape;11785;p452"/>
          <p:cNvCxnSpPr>
            <a:stCxn id="11782" idx="6"/>
            <a:endCxn id="11783" idx="2"/>
          </p:cNvCxnSpPr>
          <p:nvPr/>
        </p:nvCxnSpPr>
        <p:spPr>
          <a:xfrm>
            <a:off x="2229650" y="3887625"/>
            <a:ext cx="1485900" cy="819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786" name="Google Shape;11786;p452"/>
          <p:cNvCxnSpPr>
            <a:stCxn id="11783" idx="0"/>
            <a:endCxn id="11784" idx="4"/>
          </p:cNvCxnSpPr>
          <p:nvPr/>
        </p:nvCxnSpPr>
        <p:spPr>
          <a:xfrm rot="10800000">
            <a:off x="4016050" y="3665925"/>
            <a:ext cx="0" cy="74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787" name="Google Shape;11787;p452"/>
          <p:cNvCxnSpPr>
            <a:stCxn id="11782" idx="6"/>
            <a:endCxn id="11784" idx="2"/>
          </p:cNvCxnSpPr>
          <p:nvPr/>
        </p:nvCxnSpPr>
        <p:spPr>
          <a:xfrm flipH="1" rot="10800000">
            <a:off x="2229650" y="3365325"/>
            <a:ext cx="1485900" cy="522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91" name="Shape 11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2" name="Google Shape;11792;p45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793" name="Google Shape;11793;p453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(4) A set of </a:t>
            </a:r>
            <a:r>
              <a:rPr b="1" lang="en"/>
              <a:t>directed signed edges</a:t>
            </a:r>
            <a:r>
              <a:rPr lang="en"/>
              <a:t> that indicate </a:t>
            </a:r>
            <a:r>
              <a:rPr b="1" lang="en"/>
              <a:t>positive</a:t>
            </a:r>
            <a:r>
              <a:rPr lang="en"/>
              <a:t> (</a:t>
            </a:r>
            <a:r>
              <a:rPr i="1" lang="en"/>
              <a:t>solid</a:t>
            </a:r>
            <a:r>
              <a:rPr lang="en"/>
              <a:t>) or </a:t>
            </a:r>
            <a:r>
              <a:rPr b="1" lang="en"/>
              <a:t>negative</a:t>
            </a:r>
            <a:r>
              <a:rPr lang="en"/>
              <a:t> (</a:t>
            </a:r>
            <a:r>
              <a:rPr i="1" lang="en"/>
              <a:t>dashed</a:t>
            </a:r>
            <a:r>
              <a:rPr lang="en"/>
              <a:t>) sentiments that P and O have toward the third party Q and P towards O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4" name="Google Shape;11794;p453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95" name="Google Shape;11795;p453"/>
          <p:cNvSpPr/>
          <p:nvPr/>
        </p:nvSpPr>
        <p:spPr>
          <a:xfrm>
            <a:off x="3715450" y="44060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O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796" name="Google Shape;11796;p453"/>
          <p:cNvSpPr/>
          <p:nvPr/>
        </p:nvSpPr>
        <p:spPr>
          <a:xfrm>
            <a:off x="3715450" y="3064825"/>
            <a:ext cx="601200" cy="601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Q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797" name="Google Shape;11797;p453"/>
          <p:cNvCxnSpPr>
            <a:stCxn id="11794" idx="6"/>
            <a:endCxn id="11795" idx="2"/>
          </p:cNvCxnSpPr>
          <p:nvPr/>
        </p:nvCxnSpPr>
        <p:spPr>
          <a:xfrm>
            <a:off x="2229650" y="3887625"/>
            <a:ext cx="1485900" cy="819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798" name="Google Shape;11798;p453"/>
          <p:cNvCxnSpPr>
            <a:stCxn id="11795" idx="0"/>
            <a:endCxn id="11796" idx="4"/>
          </p:cNvCxnSpPr>
          <p:nvPr/>
        </p:nvCxnSpPr>
        <p:spPr>
          <a:xfrm rot="10800000">
            <a:off x="4016050" y="3665925"/>
            <a:ext cx="0" cy="74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799" name="Google Shape;11799;p453"/>
          <p:cNvCxnSpPr>
            <a:stCxn id="11794" idx="6"/>
            <a:endCxn id="11796" idx="2"/>
          </p:cNvCxnSpPr>
          <p:nvPr/>
        </p:nvCxnSpPr>
        <p:spPr>
          <a:xfrm flipH="1" rot="10800000">
            <a:off x="2229650" y="3365325"/>
            <a:ext cx="1485900" cy="522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800" name="Google Shape;11800;p453"/>
          <p:cNvSpPr/>
          <p:nvPr/>
        </p:nvSpPr>
        <p:spPr>
          <a:xfrm>
            <a:off x="4361875" y="3116175"/>
            <a:ext cx="4659000" cy="18396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This reads: </a:t>
            </a:r>
            <a:endParaRPr b="1">
              <a:solidFill>
                <a:srgbClr val="FF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>
                <a:solidFill>
                  <a:srgbClr val="FF0000"/>
                </a:solidFill>
              </a:rPr>
              <a:t>Person (P) likes other (O)</a:t>
            </a:r>
            <a:endParaRPr b="1">
              <a:solidFill>
                <a:srgbClr val="FF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>
                <a:solidFill>
                  <a:srgbClr val="FF0000"/>
                </a:solidFill>
              </a:rPr>
              <a:t>Other (O) likes the third party (Q)</a:t>
            </a:r>
            <a:endParaRPr b="1">
              <a:solidFill>
                <a:srgbClr val="FF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AutoNum type="arabicPeriod"/>
            </a:pPr>
            <a:r>
              <a:rPr b="1" lang="en">
                <a:solidFill>
                  <a:srgbClr val="FF0000"/>
                </a:solidFill>
              </a:rPr>
              <a:t>But person (P) dislikes the third party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04" name="Shape 11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5" name="Google Shape;11805;p45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806" name="Google Shape;11806;p454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(4) A set of </a:t>
            </a:r>
            <a:r>
              <a:rPr b="1" lang="en"/>
              <a:t>directed signed edges</a:t>
            </a:r>
            <a:r>
              <a:rPr lang="en"/>
              <a:t> that indicate </a:t>
            </a:r>
            <a:r>
              <a:rPr b="1" lang="en"/>
              <a:t>positive</a:t>
            </a:r>
            <a:r>
              <a:rPr lang="en"/>
              <a:t> (</a:t>
            </a:r>
            <a:r>
              <a:rPr i="1" lang="en"/>
              <a:t>solid</a:t>
            </a:r>
            <a:r>
              <a:rPr lang="en"/>
              <a:t>) or </a:t>
            </a:r>
            <a:r>
              <a:rPr b="1" lang="en"/>
              <a:t>negative</a:t>
            </a:r>
            <a:r>
              <a:rPr lang="en"/>
              <a:t> (</a:t>
            </a:r>
            <a:r>
              <a:rPr i="1" lang="en"/>
              <a:t>dashed</a:t>
            </a:r>
            <a:r>
              <a:rPr lang="en"/>
              <a:t>) sentiments that P and O have toward the third party Q and P towards O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7" name="Google Shape;11807;p454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08" name="Google Shape;11808;p454"/>
          <p:cNvSpPr/>
          <p:nvPr/>
        </p:nvSpPr>
        <p:spPr>
          <a:xfrm>
            <a:off x="3715450" y="44060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O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09" name="Google Shape;11809;p454"/>
          <p:cNvSpPr/>
          <p:nvPr/>
        </p:nvSpPr>
        <p:spPr>
          <a:xfrm>
            <a:off x="3715450" y="3064825"/>
            <a:ext cx="601200" cy="601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Q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810" name="Google Shape;11810;p454"/>
          <p:cNvCxnSpPr>
            <a:stCxn id="11807" idx="6"/>
            <a:endCxn id="11808" idx="2"/>
          </p:cNvCxnSpPr>
          <p:nvPr/>
        </p:nvCxnSpPr>
        <p:spPr>
          <a:xfrm>
            <a:off x="2229650" y="3887625"/>
            <a:ext cx="1485900" cy="819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11" name="Google Shape;11811;p454"/>
          <p:cNvCxnSpPr>
            <a:stCxn id="11808" idx="0"/>
            <a:endCxn id="11809" idx="4"/>
          </p:cNvCxnSpPr>
          <p:nvPr/>
        </p:nvCxnSpPr>
        <p:spPr>
          <a:xfrm rot="10800000">
            <a:off x="4016050" y="3665925"/>
            <a:ext cx="0" cy="74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12" name="Google Shape;11812;p454"/>
          <p:cNvCxnSpPr>
            <a:stCxn id="11807" idx="6"/>
            <a:endCxn id="11809" idx="2"/>
          </p:cNvCxnSpPr>
          <p:nvPr/>
        </p:nvCxnSpPr>
        <p:spPr>
          <a:xfrm flipH="1" rot="10800000">
            <a:off x="2229650" y="3365325"/>
            <a:ext cx="1485900" cy="522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813" name="Google Shape;11813;p454"/>
          <p:cNvSpPr/>
          <p:nvPr/>
        </p:nvSpPr>
        <p:spPr>
          <a:xfrm>
            <a:off x="4361875" y="3116175"/>
            <a:ext cx="4659000" cy="18396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Example: You (P) have a friend (O) whom you like and they like another classmate (Q) who you dislike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Sounds dicey!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17" name="Shape 11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8" name="Google Shape;11818;p45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819" name="Google Shape;11819;p455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(4) A set of </a:t>
            </a:r>
            <a:r>
              <a:rPr b="1" lang="en"/>
              <a:t>directed signed edges</a:t>
            </a:r>
            <a:r>
              <a:rPr lang="en"/>
              <a:t> that indicate </a:t>
            </a:r>
            <a:r>
              <a:rPr b="1" lang="en"/>
              <a:t>positive</a:t>
            </a:r>
            <a:r>
              <a:rPr lang="en"/>
              <a:t> (</a:t>
            </a:r>
            <a:r>
              <a:rPr i="1" lang="en"/>
              <a:t>solid</a:t>
            </a:r>
            <a:r>
              <a:rPr lang="en"/>
              <a:t>) or </a:t>
            </a:r>
            <a:r>
              <a:rPr b="1" lang="en"/>
              <a:t>negative</a:t>
            </a:r>
            <a:r>
              <a:rPr lang="en"/>
              <a:t> (</a:t>
            </a:r>
            <a:r>
              <a:rPr i="1" lang="en"/>
              <a:t>dashed</a:t>
            </a:r>
            <a:r>
              <a:rPr lang="en"/>
              <a:t>) sentiments that P and O have toward the third party Q and P towards O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0" name="Google Shape;11820;p455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21" name="Google Shape;11821;p455"/>
          <p:cNvSpPr/>
          <p:nvPr/>
        </p:nvSpPr>
        <p:spPr>
          <a:xfrm>
            <a:off x="3715450" y="44060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O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22" name="Google Shape;11822;p455"/>
          <p:cNvSpPr/>
          <p:nvPr/>
        </p:nvSpPr>
        <p:spPr>
          <a:xfrm>
            <a:off x="3715450" y="3064825"/>
            <a:ext cx="601200" cy="601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Q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823" name="Google Shape;11823;p455"/>
          <p:cNvCxnSpPr>
            <a:stCxn id="11820" idx="6"/>
            <a:endCxn id="11821" idx="2"/>
          </p:cNvCxnSpPr>
          <p:nvPr/>
        </p:nvCxnSpPr>
        <p:spPr>
          <a:xfrm>
            <a:off x="2229650" y="3887625"/>
            <a:ext cx="1485900" cy="819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24" name="Google Shape;11824;p455"/>
          <p:cNvCxnSpPr>
            <a:stCxn id="11821" idx="0"/>
            <a:endCxn id="11822" idx="4"/>
          </p:cNvCxnSpPr>
          <p:nvPr/>
        </p:nvCxnSpPr>
        <p:spPr>
          <a:xfrm rot="10800000">
            <a:off x="4016050" y="3665925"/>
            <a:ext cx="0" cy="74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25" name="Google Shape;11825;p455"/>
          <p:cNvCxnSpPr>
            <a:stCxn id="11820" idx="6"/>
            <a:endCxn id="11822" idx="2"/>
          </p:cNvCxnSpPr>
          <p:nvPr/>
        </p:nvCxnSpPr>
        <p:spPr>
          <a:xfrm flipH="1" rot="10800000">
            <a:off x="2229650" y="3365325"/>
            <a:ext cx="1485900" cy="522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826" name="Google Shape;11826;p455"/>
          <p:cNvSpPr/>
          <p:nvPr/>
        </p:nvSpPr>
        <p:spPr>
          <a:xfrm>
            <a:off x="4361875" y="3116175"/>
            <a:ext cx="4659000" cy="18396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In this example, you (P) have a friend (O) who you like and they like another classmate (Q) whom you also like.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Everything’s fine!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30" name="Shape 11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1" name="Google Shape;11831;p45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832" name="Google Shape;11832;p456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(4) A set of </a:t>
            </a:r>
            <a:r>
              <a:rPr b="1" lang="en"/>
              <a:t>directed signed edges</a:t>
            </a:r>
            <a:r>
              <a:rPr lang="en"/>
              <a:t> that indicate </a:t>
            </a:r>
            <a:r>
              <a:rPr b="1" lang="en"/>
              <a:t>positive</a:t>
            </a:r>
            <a:r>
              <a:rPr lang="en"/>
              <a:t> (</a:t>
            </a:r>
            <a:r>
              <a:rPr i="1" lang="en"/>
              <a:t>solid</a:t>
            </a:r>
            <a:r>
              <a:rPr lang="en"/>
              <a:t>) or </a:t>
            </a:r>
            <a:r>
              <a:rPr b="1" lang="en"/>
              <a:t>negative</a:t>
            </a:r>
            <a:r>
              <a:rPr lang="en"/>
              <a:t> (</a:t>
            </a:r>
            <a:r>
              <a:rPr i="1" lang="en"/>
              <a:t>dashed</a:t>
            </a:r>
            <a:r>
              <a:rPr lang="en"/>
              <a:t>) sentiments that P and O have toward the third party Q and P towards O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3" name="Google Shape;11833;p456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34" name="Google Shape;11834;p456"/>
          <p:cNvSpPr/>
          <p:nvPr/>
        </p:nvSpPr>
        <p:spPr>
          <a:xfrm>
            <a:off x="3715450" y="44060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O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35" name="Google Shape;11835;p456"/>
          <p:cNvSpPr/>
          <p:nvPr/>
        </p:nvSpPr>
        <p:spPr>
          <a:xfrm>
            <a:off x="3715450" y="3064825"/>
            <a:ext cx="601200" cy="601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Q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836" name="Google Shape;11836;p456"/>
          <p:cNvCxnSpPr>
            <a:stCxn id="11833" idx="6"/>
            <a:endCxn id="11834" idx="2"/>
          </p:cNvCxnSpPr>
          <p:nvPr/>
        </p:nvCxnSpPr>
        <p:spPr>
          <a:xfrm>
            <a:off x="2229650" y="3887625"/>
            <a:ext cx="1485900" cy="819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837" name="Google Shape;11837;p456"/>
          <p:cNvCxnSpPr>
            <a:stCxn id="11834" idx="0"/>
            <a:endCxn id="11835" idx="4"/>
          </p:cNvCxnSpPr>
          <p:nvPr/>
        </p:nvCxnSpPr>
        <p:spPr>
          <a:xfrm rot="10800000">
            <a:off x="4016050" y="3665925"/>
            <a:ext cx="0" cy="74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38" name="Google Shape;11838;p456"/>
          <p:cNvCxnSpPr>
            <a:stCxn id="11833" idx="6"/>
            <a:endCxn id="11835" idx="2"/>
          </p:cNvCxnSpPr>
          <p:nvPr/>
        </p:nvCxnSpPr>
        <p:spPr>
          <a:xfrm flipH="1" rot="10800000">
            <a:off x="2229650" y="3365325"/>
            <a:ext cx="1485900" cy="522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839" name="Google Shape;11839;p456"/>
          <p:cNvSpPr/>
          <p:nvPr/>
        </p:nvSpPr>
        <p:spPr>
          <a:xfrm>
            <a:off x="4361875" y="3116175"/>
            <a:ext cx="4659000" cy="18396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In this example, you (P) have an enemy (O) who likes another classmate (Q) who you dislike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Seems fine?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43" name="Shape 1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4" name="Google Shape;11844;p45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845" name="Google Shape;11845;p457"/>
          <p:cNvSpPr txBox="1"/>
          <p:nvPr>
            <p:ph idx="1" type="body"/>
          </p:nvPr>
        </p:nvSpPr>
        <p:spPr>
          <a:xfrm>
            <a:off x="311700" y="1225225"/>
            <a:ext cx="8520600" cy="18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Balance theory</a:t>
            </a:r>
            <a:r>
              <a:rPr lang="en"/>
              <a:t> is a social psychological theory designed to explain expected triadic configurations in sentiment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Sentiment networks are built from </a:t>
            </a:r>
            <a:r>
              <a:rPr b="1" lang="en"/>
              <a:t>valenced</a:t>
            </a:r>
            <a:r>
              <a:rPr lang="en"/>
              <a:t> ties (e.g., positive or negative)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four building blocks in 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Q does not have to be a real person!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It could be </a:t>
            </a:r>
            <a:r>
              <a:rPr b="1" lang="en"/>
              <a:t>any</a:t>
            </a:r>
            <a:r>
              <a:rPr lang="en"/>
              <a:t> </a:t>
            </a:r>
            <a:r>
              <a:rPr b="1" lang="en"/>
              <a:t>object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6" name="Google Shape;11846;p457"/>
          <p:cNvSpPr/>
          <p:nvPr/>
        </p:nvSpPr>
        <p:spPr>
          <a:xfrm>
            <a:off x="1628450" y="3587025"/>
            <a:ext cx="601200" cy="6012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P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47" name="Google Shape;11847;p457"/>
          <p:cNvSpPr/>
          <p:nvPr/>
        </p:nvSpPr>
        <p:spPr>
          <a:xfrm>
            <a:off x="3715450" y="4406025"/>
            <a:ext cx="601200" cy="601200"/>
          </a:xfrm>
          <a:prstGeom prst="ellipse">
            <a:avLst/>
          </a:prstGeom>
          <a:solidFill>
            <a:schemeClr val="accent6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O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48" name="Google Shape;11848;p457"/>
          <p:cNvSpPr/>
          <p:nvPr/>
        </p:nvSpPr>
        <p:spPr>
          <a:xfrm>
            <a:off x="3715450" y="3064825"/>
            <a:ext cx="601200" cy="601200"/>
          </a:xfrm>
          <a:prstGeom prst="ellipse">
            <a:avLst/>
          </a:prstGeom>
          <a:solidFill>
            <a:schemeClr val="accent4"/>
          </a:solidFill>
          <a:ln cap="flat" cmpd="sng" w="2857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latin typeface="Oxygen"/>
                <a:ea typeface="Oxygen"/>
                <a:cs typeface="Oxygen"/>
                <a:sym typeface="Oxygen"/>
              </a:rPr>
              <a:t>Q</a:t>
            </a:r>
            <a:endParaRPr sz="2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849" name="Google Shape;11849;p457"/>
          <p:cNvCxnSpPr>
            <a:stCxn id="11846" idx="6"/>
            <a:endCxn id="11847" idx="2"/>
          </p:cNvCxnSpPr>
          <p:nvPr/>
        </p:nvCxnSpPr>
        <p:spPr>
          <a:xfrm>
            <a:off x="2229650" y="3887625"/>
            <a:ext cx="1485900" cy="819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50" name="Google Shape;11850;p457"/>
          <p:cNvCxnSpPr>
            <a:stCxn id="11847" idx="0"/>
            <a:endCxn id="11848" idx="4"/>
          </p:cNvCxnSpPr>
          <p:nvPr/>
        </p:nvCxnSpPr>
        <p:spPr>
          <a:xfrm rot="10800000">
            <a:off x="4016050" y="3665925"/>
            <a:ext cx="0" cy="74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851" name="Google Shape;11851;p457"/>
          <p:cNvCxnSpPr>
            <a:stCxn id="11846" idx="6"/>
            <a:endCxn id="11848" idx="2"/>
          </p:cNvCxnSpPr>
          <p:nvPr/>
        </p:nvCxnSpPr>
        <p:spPr>
          <a:xfrm flipH="1" rot="10800000">
            <a:off x="2229650" y="3365325"/>
            <a:ext cx="1485900" cy="522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852" name="Google Shape;11852;p457"/>
          <p:cNvSpPr/>
          <p:nvPr/>
        </p:nvSpPr>
        <p:spPr>
          <a:xfrm>
            <a:off x="4361875" y="3116175"/>
            <a:ext cx="4659000" cy="18396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In this example, you (P) love Marvel movies (Q) but your long time partner O (who you like duh!) hates them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Trouble in paradise!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56" name="Shape 11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7" name="Google Shape;11857;p45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858" name="Google Shape;11858;p458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eight (8) configurations featuring one-way directed links from: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 (P) to Other (O)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 (P) to Third Party (Q)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 (O) to Third Party (Q)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62" name="Shape 11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3" name="Google Shape;11863;p45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864" name="Google Shape;11864;p459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eight (8) configurations featuring one-way directed links from: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 (P) to Other (O)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 (P) to Third Party (Q)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 (O) to Third Party (Q)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5" name="Google Shape;11865;p459"/>
          <p:cNvSpPr/>
          <p:nvPr/>
        </p:nvSpPr>
        <p:spPr>
          <a:xfrm>
            <a:off x="5786675" y="27218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66" name="Google Shape;11866;p459"/>
          <p:cNvSpPr/>
          <p:nvPr/>
        </p:nvSpPr>
        <p:spPr>
          <a:xfrm>
            <a:off x="6851409" y="31382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67" name="Google Shape;11867;p459"/>
          <p:cNvSpPr/>
          <p:nvPr/>
        </p:nvSpPr>
        <p:spPr>
          <a:xfrm>
            <a:off x="6851409" y="2380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868" name="Google Shape;11868;p459"/>
          <p:cNvCxnSpPr>
            <a:stCxn id="11865" idx="6"/>
            <a:endCxn id="11866" idx="2"/>
          </p:cNvCxnSpPr>
          <p:nvPr/>
        </p:nvCxnSpPr>
        <p:spPr>
          <a:xfrm>
            <a:off x="6093575" y="28747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69" name="Google Shape;11869;p459"/>
          <p:cNvCxnSpPr>
            <a:stCxn id="11866" idx="0"/>
            <a:endCxn id="11867" idx="4"/>
          </p:cNvCxnSpPr>
          <p:nvPr/>
        </p:nvCxnSpPr>
        <p:spPr>
          <a:xfrm rot="10800000">
            <a:off x="7004859" y="2686485"/>
            <a:ext cx="0" cy="4518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70" name="Google Shape;11870;p459"/>
          <p:cNvCxnSpPr>
            <a:stCxn id="11865" idx="6"/>
            <a:endCxn id="11867" idx="2"/>
          </p:cNvCxnSpPr>
          <p:nvPr/>
        </p:nvCxnSpPr>
        <p:spPr>
          <a:xfrm flipH="1" rot="10800000">
            <a:off x="6093575" y="2533613"/>
            <a:ext cx="757800" cy="3411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871" name="Google Shape;11871;p459"/>
          <p:cNvSpPr/>
          <p:nvPr/>
        </p:nvSpPr>
        <p:spPr>
          <a:xfrm>
            <a:off x="7460675" y="27218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72" name="Google Shape;11872;p459"/>
          <p:cNvSpPr/>
          <p:nvPr/>
        </p:nvSpPr>
        <p:spPr>
          <a:xfrm>
            <a:off x="8525409" y="31382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73" name="Google Shape;11873;p459"/>
          <p:cNvSpPr/>
          <p:nvPr/>
        </p:nvSpPr>
        <p:spPr>
          <a:xfrm>
            <a:off x="8525409" y="2380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874" name="Google Shape;11874;p459"/>
          <p:cNvCxnSpPr>
            <a:stCxn id="11871" idx="6"/>
            <a:endCxn id="11872" idx="2"/>
          </p:cNvCxnSpPr>
          <p:nvPr/>
        </p:nvCxnSpPr>
        <p:spPr>
          <a:xfrm>
            <a:off x="7767575" y="28747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75" name="Google Shape;11875;p459"/>
          <p:cNvCxnSpPr>
            <a:stCxn id="11872" idx="0"/>
            <a:endCxn id="11873" idx="4"/>
          </p:cNvCxnSpPr>
          <p:nvPr/>
        </p:nvCxnSpPr>
        <p:spPr>
          <a:xfrm rot="10800000">
            <a:off x="8678859" y="2686485"/>
            <a:ext cx="0" cy="4518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876" name="Google Shape;11876;p459"/>
          <p:cNvCxnSpPr>
            <a:stCxn id="11871" idx="6"/>
            <a:endCxn id="11873" idx="2"/>
          </p:cNvCxnSpPr>
          <p:nvPr/>
        </p:nvCxnSpPr>
        <p:spPr>
          <a:xfrm flipH="1" rot="10800000">
            <a:off x="7767575" y="2533613"/>
            <a:ext cx="757800" cy="3411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877" name="Google Shape;11877;p459"/>
          <p:cNvSpPr/>
          <p:nvPr/>
        </p:nvSpPr>
        <p:spPr>
          <a:xfrm>
            <a:off x="5786638" y="381608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78" name="Google Shape;11878;p459"/>
          <p:cNvSpPr/>
          <p:nvPr/>
        </p:nvSpPr>
        <p:spPr>
          <a:xfrm>
            <a:off x="6851372" y="423251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79" name="Google Shape;11879;p459"/>
          <p:cNvSpPr/>
          <p:nvPr/>
        </p:nvSpPr>
        <p:spPr>
          <a:xfrm>
            <a:off x="6851372" y="355057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880" name="Google Shape;11880;p459"/>
          <p:cNvCxnSpPr>
            <a:stCxn id="11877" idx="6"/>
            <a:endCxn id="11878" idx="2"/>
          </p:cNvCxnSpPr>
          <p:nvPr/>
        </p:nvCxnSpPr>
        <p:spPr>
          <a:xfrm>
            <a:off x="6093538" y="396893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881" name="Google Shape;11881;p459"/>
          <p:cNvCxnSpPr>
            <a:stCxn id="11878" idx="0"/>
            <a:endCxn id="11879" idx="4"/>
          </p:cNvCxnSpPr>
          <p:nvPr/>
        </p:nvCxnSpPr>
        <p:spPr>
          <a:xfrm rot="10800000">
            <a:off x="7004822" y="385631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882" name="Google Shape;11882;p459"/>
          <p:cNvCxnSpPr>
            <a:stCxn id="11877" idx="6"/>
            <a:endCxn id="11879" idx="2"/>
          </p:cNvCxnSpPr>
          <p:nvPr/>
        </p:nvCxnSpPr>
        <p:spPr>
          <a:xfrm flipH="1" rot="10800000">
            <a:off x="6093538" y="370343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883" name="Google Shape;11883;p459"/>
          <p:cNvSpPr/>
          <p:nvPr/>
        </p:nvSpPr>
        <p:spPr>
          <a:xfrm>
            <a:off x="7460663" y="381610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84" name="Google Shape;11884;p459"/>
          <p:cNvSpPr/>
          <p:nvPr/>
        </p:nvSpPr>
        <p:spPr>
          <a:xfrm>
            <a:off x="8525397" y="423252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85" name="Google Shape;11885;p459"/>
          <p:cNvSpPr/>
          <p:nvPr/>
        </p:nvSpPr>
        <p:spPr>
          <a:xfrm>
            <a:off x="8525397" y="355058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886" name="Google Shape;11886;p459"/>
          <p:cNvCxnSpPr>
            <a:stCxn id="11883" idx="6"/>
            <a:endCxn id="11884" idx="2"/>
          </p:cNvCxnSpPr>
          <p:nvPr/>
        </p:nvCxnSpPr>
        <p:spPr>
          <a:xfrm>
            <a:off x="7767563" y="396895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887" name="Google Shape;11887;p459"/>
          <p:cNvCxnSpPr>
            <a:stCxn id="11884" idx="0"/>
            <a:endCxn id="11885" idx="4"/>
          </p:cNvCxnSpPr>
          <p:nvPr/>
        </p:nvCxnSpPr>
        <p:spPr>
          <a:xfrm rot="10800000">
            <a:off x="8678847" y="385632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888" name="Google Shape;11888;p459"/>
          <p:cNvCxnSpPr>
            <a:stCxn id="11883" idx="6"/>
            <a:endCxn id="11885" idx="2"/>
          </p:cNvCxnSpPr>
          <p:nvPr/>
        </p:nvCxnSpPr>
        <p:spPr>
          <a:xfrm flipH="1" rot="10800000">
            <a:off x="7767563" y="370345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889" name="Google Shape;11889;p459"/>
          <p:cNvSpPr txBox="1"/>
          <p:nvPr/>
        </p:nvSpPr>
        <p:spPr>
          <a:xfrm>
            <a:off x="6412950" y="4644825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890" name="Google Shape;11890;p459"/>
          <p:cNvSpPr/>
          <p:nvPr/>
        </p:nvSpPr>
        <p:spPr>
          <a:xfrm>
            <a:off x="2766950" y="2316000"/>
            <a:ext cx="27897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Everything’s fine here!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1891" name="Google Shape;11891;p459"/>
          <p:cNvCxnSpPr>
            <a:stCxn id="11890" idx="4"/>
          </p:cNvCxnSpPr>
          <p:nvPr/>
        </p:nvCxnSpPr>
        <p:spPr>
          <a:xfrm>
            <a:off x="4161800" y="3147300"/>
            <a:ext cx="1482900" cy="746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95" name="Shape 11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6" name="Google Shape;11896;p46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897" name="Google Shape;11897;p460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eight (8) configurations featuring one-way directed links from: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 (P) to Other (O)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 (P) to Third Party (Q)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 (O) to Third Party (Q)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8" name="Google Shape;11898;p460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899" name="Google Shape;11899;p460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00" name="Google Shape;11900;p460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01" name="Google Shape;11901;p460"/>
          <p:cNvCxnSpPr>
            <a:stCxn id="11898" idx="6"/>
            <a:endCxn id="11899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02" name="Google Shape;11902;p460"/>
          <p:cNvCxnSpPr>
            <a:stCxn id="11899" idx="0"/>
            <a:endCxn id="11900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03" name="Google Shape;11903;p460"/>
          <p:cNvCxnSpPr>
            <a:stCxn id="11898" idx="6"/>
            <a:endCxn id="11900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904" name="Google Shape;11904;p460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05" name="Google Shape;11905;p460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06" name="Google Shape;11906;p460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07" name="Google Shape;11907;p460"/>
          <p:cNvCxnSpPr>
            <a:stCxn id="11904" idx="6"/>
            <a:endCxn id="11905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08" name="Google Shape;11908;p460"/>
          <p:cNvCxnSpPr>
            <a:stCxn id="11905" idx="0"/>
            <a:endCxn id="11906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09" name="Google Shape;11909;p460"/>
          <p:cNvCxnSpPr>
            <a:stCxn id="11904" idx="6"/>
            <a:endCxn id="11906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910" name="Google Shape;11910;p460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11" name="Google Shape;11911;p460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12" name="Google Shape;11912;p460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13" name="Google Shape;11913;p460"/>
          <p:cNvCxnSpPr>
            <a:stCxn id="11910" idx="6"/>
            <a:endCxn id="11911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14" name="Google Shape;11914;p460"/>
          <p:cNvCxnSpPr>
            <a:stCxn id="11911" idx="0"/>
            <a:endCxn id="11912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15" name="Google Shape;11915;p460"/>
          <p:cNvCxnSpPr>
            <a:stCxn id="11910" idx="6"/>
            <a:endCxn id="11912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916" name="Google Shape;11916;p460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17" name="Google Shape;11917;p460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18" name="Google Shape;11918;p460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19" name="Google Shape;11919;p460"/>
          <p:cNvCxnSpPr>
            <a:stCxn id="11916" idx="6"/>
            <a:endCxn id="11917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20" name="Google Shape;11920;p460"/>
          <p:cNvCxnSpPr>
            <a:stCxn id="11917" idx="0"/>
            <a:endCxn id="11918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21" name="Google Shape;11921;p460"/>
          <p:cNvCxnSpPr>
            <a:stCxn id="11916" idx="6"/>
            <a:endCxn id="11918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922" name="Google Shape;11922;p460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923" name="Google Shape;11923;p460"/>
          <p:cNvSpPr/>
          <p:nvPr/>
        </p:nvSpPr>
        <p:spPr>
          <a:xfrm>
            <a:off x="2766950" y="2316000"/>
            <a:ext cx="27897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Everything’s fine here!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1924" name="Google Shape;11924;p460"/>
          <p:cNvCxnSpPr>
            <a:stCxn id="11923" idx="4"/>
          </p:cNvCxnSpPr>
          <p:nvPr/>
        </p:nvCxnSpPr>
        <p:spPr>
          <a:xfrm>
            <a:off x="4161800" y="3147300"/>
            <a:ext cx="1482900" cy="746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28" name="Shape 11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9" name="Google Shape;11929;p46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930" name="Google Shape;11930;p461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There are eight (8) configurations featuring one-way directed links from: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 (P) to Other (O)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 (P) to Third Party (Q)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 (O) to Third Party (Q)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1" name="Google Shape;11931;p461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32" name="Google Shape;11932;p461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33" name="Google Shape;11933;p461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34" name="Google Shape;11934;p461"/>
          <p:cNvCxnSpPr>
            <a:stCxn id="11931" idx="6"/>
            <a:endCxn id="11932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35" name="Google Shape;11935;p461"/>
          <p:cNvCxnSpPr>
            <a:stCxn id="11932" idx="0"/>
            <a:endCxn id="11933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36" name="Google Shape;11936;p461"/>
          <p:cNvCxnSpPr>
            <a:stCxn id="11931" idx="6"/>
            <a:endCxn id="11933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937" name="Google Shape;11937;p461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38" name="Google Shape;11938;p461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39" name="Google Shape;11939;p461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40" name="Google Shape;11940;p461"/>
          <p:cNvCxnSpPr>
            <a:stCxn id="11937" idx="6"/>
            <a:endCxn id="11938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41" name="Google Shape;11941;p461"/>
          <p:cNvCxnSpPr>
            <a:stCxn id="11938" idx="0"/>
            <a:endCxn id="11939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42" name="Google Shape;11942;p461"/>
          <p:cNvCxnSpPr>
            <a:stCxn id="11937" idx="6"/>
            <a:endCxn id="11939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943" name="Google Shape;11943;p461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44" name="Google Shape;11944;p461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45" name="Google Shape;11945;p461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46" name="Google Shape;11946;p461"/>
          <p:cNvCxnSpPr>
            <a:stCxn id="11943" idx="6"/>
            <a:endCxn id="11944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47" name="Google Shape;11947;p461"/>
          <p:cNvCxnSpPr>
            <a:stCxn id="11944" idx="0"/>
            <a:endCxn id="11945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48" name="Google Shape;11948;p461"/>
          <p:cNvCxnSpPr>
            <a:stCxn id="11943" idx="6"/>
            <a:endCxn id="11945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949" name="Google Shape;11949;p461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50" name="Google Shape;11950;p461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51" name="Google Shape;11951;p461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52" name="Google Shape;11952;p461"/>
          <p:cNvCxnSpPr>
            <a:stCxn id="11949" idx="6"/>
            <a:endCxn id="11950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53" name="Google Shape;11953;p461"/>
          <p:cNvCxnSpPr>
            <a:stCxn id="11950" idx="0"/>
            <a:endCxn id="11951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54" name="Google Shape;11954;p461"/>
          <p:cNvCxnSpPr>
            <a:stCxn id="11949" idx="6"/>
            <a:endCxn id="11951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955" name="Google Shape;11955;p461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</a:t>
            </a: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956" name="Google Shape;11956;p461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57" name="Google Shape;11957;p461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58" name="Google Shape;11958;p461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59" name="Google Shape;11959;p461"/>
          <p:cNvCxnSpPr>
            <a:stCxn id="11956" idx="6"/>
            <a:endCxn id="11957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60" name="Google Shape;11960;p461"/>
          <p:cNvCxnSpPr>
            <a:stCxn id="11957" idx="0"/>
            <a:endCxn id="11958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61" name="Google Shape;11961;p461"/>
          <p:cNvCxnSpPr>
            <a:stCxn id="11956" idx="6"/>
            <a:endCxn id="11958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962" name="Google Shape;11962;p461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63" name="Google Shape;11963;p461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64" name="Google Shape;11964;p461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65" name="Google Shape;11965;p461"/>
          <p:cNvCxnSpPr>
            <a:stCxn id="11962" idx="6"/>
            <a:endCxn id="11963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66" name="Google Shape;11966;p461"/>
          <p:cNvCxnSpPr>
            <a:stCxn id="11963" idx="0"/>
            <a:endCxn id="11964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67" name="Google Shape;11967;p461"/>
          <p:cNvCxnSpPr>
            <a:stCxn id="11962" idx="6"/>
            <a:endCxn id="11964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968" name="Google Shape;11968;p461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69" name="Google Shape;11969;p461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70" name="Google Shape;11970;p461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71" name="Google Shape;11971;p461"/>
          <p:cNvCxnSpPr>
            <a:stCxn id="11968" idx="6"/>
            <a:endCxn id="11969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72" name="Google Shape;11972;p461"/>
          <p:cNvCxnSpPr>
            <a:stCxn id="11969" idx="0"/>
            <a:endCxn id="11970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73" name="Google Shape;11973;p461"/>
          <p:cNvCxnSpPr>
            <a:stCxn id="11968" idx="6"/>
            <a:endCxn id="11970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974" name="Google Shape;11974;p461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75" name="Google Shape;11975;p461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76" name="Google Shape;11976;p461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77" name="Google Shape;11977;p461"/>
          <p:cNvCxnSpPr>
            <a:stCxn id="11974" idx="6"/>
            <a:endCxn id="11975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78" name="Google Shape;11978;p461"/>
          <p:cNvCxnSpPr>
            <a:stCxn id="11975" idx="0"/>
            <a:endCxn id="11976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1979" name="Google Shape;11979;p461"/>
          <p:cNvCxnSpPr>
            <a:stCxn id="11974" idx="6"/>
            <a:endCxn id="11976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1980" name="Google Shape;11980;p461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1981" name="Google Shape;11981;p461"/>
          <p:cNvSpPr/>
          <p:nvPr/>
        </p:nvSpPr>
        <p:spPr>
          <a:xfrm>
            <a:off x="3742225" y="1877600"/>
            <a:ext cx="24999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Trouble in paradise!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1982" name="Google Shape;11982;p461"/>
          <p:cNvCxnSpPr>
            <a:stCxn id="11981" idx="4"/>
          </p:cNvCxnSpPr>
          <p:nvPr/>
        </p:nvCxnSpPr>
        <p:spPr>
          <a:xfrm flipH="1">
            <a:off x="3564175" y="2708900"/>
            <a:ext cx="1428000" cy="7452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86" name="Shape 11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7" name="Google Shape;11987;p46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1988" name="Google Shape;11988;p462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Basic idea is that unbalanced configurations will tend to transition to balanced configurations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Unbalanced configurations produce </a:t>
            </a:r>
            <a:r>
              <a:rPr b="1" lang="en"/>
              <a:t>tension</a:t>
            </a:r>
            <a:r>
              <a:rPr lang="en"/>
              <a:t> in P leading them to </a:t>
            </a:r>
            <a:r>
              <a:rPr b="1" lang="en"/>
              <a:t>change </a:t>
            </a:r>
            <a:r>
              <a:rPr lang="en"/>
              <a:t>their sentiments toward O or Q so as to generate balance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89" name="Google Shape;11989;p462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90" name="Google Shape;11990;p462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91" name="Google Shape;11991;p462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92" name="Google Shape;11992;p462"/>
          <p:cNvCxnSpPr>
            <a:stCxn id="11989" idx="6"/>
            <a:endCxn id="11990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93" name="Google Shape;11993;p462"/>
          <p:cNvCxnSpPr>
            <a:stCxn id="11990" idx="0"/>
            <a:endCxn id="11991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94" name="Google Shape;11994;p462"/>
          <p:cNvCxnSpPr>
            <a:stCxn id="11989" idx="6"/>
            <a:endCxn id="11991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1995" name="Google Shape;11995;p462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96" name="Google Shape;11996;p462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1997" name="Google Shape;11997;p462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1998" name="Google Shape;11998;p462"/>
          <p:cNvCxnSpPr>
            <a:stCxn id="11995" idx="6"/>
            <a:endCxn id="11996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1999" name="Google Shape;11999;p462"/>
          <p:cNvCxnSpPr>
            <a:stCxn id="11996" idx="0"/>
            <a:endCxn id="11997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00" name="Google Shape;12000;p462"/>
          <p:cNvCxnSpPr>
            <a:stCxn id="11995" idx="6"/>
            <a:endCxn id="11997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001" name="Google Shape;12001;p462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02" name="Google Shape;12002;p462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03" name="Google Shape;12003;p462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04" name="Google Shape;12004;p462"/>
          <p:cNvCxnSpPr>
            <a:stCxn id="12001" idx="6"/>
            <a:endCxn id="12002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05" name="Google Shape;12005;p462"/>
          <p:cNvCxnSpPr>
            <a:stCxn id="12002" idx="0"/>
            <a:endCxn id="12003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06" name="Google Shape;12006;p462"/>
          <p:cNvCxnSpPr>
            <a:stCxn id="12001" idx="6"/>
            <a:endCxn id="12003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007" name="Google Shape;12007;p462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08" name="Google Shape;12008;p462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09" name="Google Shape;12009;p462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10" name="Google Shape;12010;p462"/>
          <p:cNvCxnSpPr>
            <a:stCxn id="12007" idx="6"/>
            <a:endCxn id="12008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11" name="Google Shape;12011;p462"/>
          <p:cNvCxnSpPr>
            <a:stCxn id="12008" idx="0"/>
            <a:endCxn id="12009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12" name="Google Shape;12012;p462"/>
          <p:cNvCxnSpPr>
            <a:stCxn id="12007" idx="6"/>
            <a:endCxn id="12009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013" name="Google Shape;12013;p462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014" name="Google Shape;12014;p462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15" name="Google Shape;12015;p462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16" name="Google Shape;12016;p462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17" name="Google Shape;12017;p462"/>
          <p:cNvCxnSpPr>
            <a:stCxn id="12014" idx="6"/>
            <a:endCxn id="12015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18" name="Google Shape;12018;p462"/>
          <p:cNvCxnSpPr>
            <a:stCxn id="12015" idx="0"/>
            <a:endCxn id="12016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19" name="Google Shape;12019;p462"/>
          <p:cNvCxnSpPr>
            <a:stCxn id="12014" idx="6"/>
            <a:endCxn id="12016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020" name="Google Shape;12020;p462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21" name="Google Shape;12021;p462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22" name="Google Shape;12022;p462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23" name="Google Shape;12023;p462"/>
          <p:cNvCxnSpPr>
            <a:stCxn id="12020" idx="6"/>
            <a:endCxn id="12021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24" name="Google Shape;12024;p462"/>
          <p:cNvCxnSpPr>
            <a:stCxn id="12021" idx="0"/>
            <a:endCxn id="12022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25" name="Google Shape;12025;p462"/>
          <p:cNvCxnSpPr>
            <a:stCxn id="12020" idx="6"/>
            <a:endCxn id="12022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026" name="Google Shape;12026;p462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27" name="Google Shape;12027;p462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28" name="Google Shape;12028;p462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29" name="Google Shape;12029;p462"/>
          <p:cNvCxnSpPr>
            <a:stCxn id="12026" idx="6"/>
            <a:endCxn id="12027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30" name="Google Shape;12030;p462"/>
          <p:cNvCxnSpPr>
            <a:stCxn id="12027" idx="0"/>
            <a:endCxn id="12028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31" name="Google Shape;12031;p462"/>
          <p:cNvCxnSpPr>
            <a:stCxn id="12026" idx="6"/>
            <a:endCxn id="12028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032" name="Google Shape;12032;p462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33" name="Google Shape;12033;p462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34" name="Google Shape;12034;p462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35" name="Google Shape;12035;p462"/>
          <p:cNvCxnSpPr>
            <a:stCxn id="12032" idx="6"/>
            <a:endCxn id="12033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36" name="Google Shape;12036;p462"/>
          <p:cNvCxnSpPr>
            <a:stCxn id="12033" idx="0"/>
            <a:endCxn id="12034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37" name="Google Shape;12037;p462"/>
          <p:cNvCxnSpPr>
            <a:stCxn id="12032" idx="6"/>
            <a:endCxn id="12034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038" name="Google Shape;12038;p462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039" name="Google Shape;12039;p462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043" name="Shape 12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4" name="Google Shape;12044;p46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2045" name="Google Shape;12045;p463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Basic idea is that unbalanced configurations will tend to transition to balanced configurations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Unbalanced configurations produce </a:t>
            </a:r>
            <a:r>
              <a:rPr b="1" lang="en"/>
              <a:t>tension</a:t>
            </a:r>
            <a:r>
              <a:rPr lang="en"/>
              <a:t> in P leading them to </a:t>
            </a:r>
            <a:r>
              <a:rPr b="1" lang="en"/>
              <a:t>change </a:t>
            </a:r>
            <a:r>
              <a:rPr lang="en"/>
              <a:t>their sentiments toward O or Q so as to generate balance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6" name="Google Shape;12046;p463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47" name="Google Shape;12047;p463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48" name="Google Shape;12048;p463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49" name="Google Shape;12049;p463"/>
          <p:cNvCxnSpPr>
            <a:stCxn id="12046" idx="6"/>
            <a:endCxn id="12047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50" name="Google Shape;12050;p463"/>
          <p:cNvCxnSpPr>
            <a:stCxn id="12047" idx="0"/>
            <a:endCxn id="12048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51" name="Google Shape;12051;p463"/>
          <p:cNvCxnSpPr>
            <a:stCxn id="12046" idx="6"/>
            <a:endCxn id="12048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052" name="Google Shape;12052;p463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53" name="Google Shape;12053;p463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54" name="Google Shape;12054;p463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55" name="Google Shape;12055;p463"/>
          <p:cNvCxnSpPr>
            <a:stCxn id="12052" idx="6"/>
            <a:endCxn id="12053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56" name="Google Shape;12056;p463"/>
          <p:cNvCxnSpPr>
            <a:stCxn id="12053" idx="0"/>
            <a:endCxn id="12054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57" name="Google Shape;12057;p463"/>
          <p:cNvCxnSpPr>
            <a:stCxn id="12052" idx="6"/>
            <a:endCxn id="12054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058" name="Google Shape;12058;p463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59" name="Google Shape;12059;p463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60" name="Google Shape;12060;p463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61" name="Google Shape;12061;p463"/>
          <p:cNvCxnSpPr>
            <a:stCxn id="12058" idx="6"/>
            <a:endCxn id="12059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62" name="Google Shape;12062;p463"/>
          <p:cNvCxnSpPr>
            <a:stCxn id="12059" idx="0"/>
            <a:endCxn id="12060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63" name="Google Shape;12063;p463"/>
          <p:cNvCxnSpPr>
            <a:stCxn id="12058" idx="6"/>
            <a:endCxn id="12060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064" name="Google Shape;12064;p463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65" name="Google Shape;12065;p463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66" name="Google Shape;12066;p463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67" name="Google Shape;12067;p463"/>
          <p:cNvCxnSpPr>
            <a:stCxn id="12064" idx="6"/>
            <a:endCxn id="12065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68" name="Google Shape;12068;p463"/>
          <p:cNvCxnSpPr>
            <a:stCxn id="12065" idx="0"/>
            <a:endCxn id="12066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69" name="Google Shape;12069;p463"/>
          <p:cNvCxnSpPr>
            <a:stCxn id="12064" idx="6"/>
            <a:endCxn id="12066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070" name="Google Shape;12070;p463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071" name="Google Shape;12071;p463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72" name="Google Shape;12072;p463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73" name="Google Shape;12073;p463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74" name="Google Shape;12074;p463"/>
          <p:cNvCxnSpPr>
            <a:stCxn id="12071" idx="6"/>
            <a:endCxn id="12072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75" name="Google Shape;12075;p463"/>
          <p:cNvCxnSpPr>
            <a:stCxn id="12072" idx="0"/>
            <a:endCxn id="12073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76" name="Google Shape;12076;p463"/>
          <p:cNvCxnSpPr>
            <a:stCxn id="12071" idx="6"/>
            <a:endCxn id="12073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077" name="Google Shape;12077;p463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78" name="Google Shape;12078;p463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79" name="Google Shape;12079;p463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80" name="Google Shape;12080;p463"/>
          <p:cNvCxnSpPr>
            <a:stCxn id="12077" idx="6"/>
            <a:endCxn id="12078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81" name="Google Shape;12081;p463"/>
          <p:cNvCxnSpPr>
            <a:stCxn id="12078" idx="0"/>
            <a:endCxn id="12079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82" name="Google Shape;12082;p463"/>
          <p:cNvCxnSpPr>
            <a:stCxn id="12077" idx="6"/>
            <a:endCxn id="12079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083" name="Google Shape;12083;p463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84" name="Google Shape;12084;p463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85" name="Google Shape;12085;p463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86" name="Google Shape;12086;p463"/>
          <p:cNvCxnSpPr>
            <a:stCxn id="12083" idx="6"/>
            <a:endCxn id="12084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87" name="Google Shape;12087;p463"/>
          <p:cNvCxnSpPr>
            <a:stCxn id="12084" idx="0"/>
            <a:endCxn id="12085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088" name="Google Shape;12088;p463"/>
          <p:cNvCxnSpPr>
            <a:stCxn id="12083" idx="6"/>
            <a:endCxn id="12085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089" name="Google Shape;12089;p463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90" name="Google Shape;12090;p463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091" name="Google Shape;12091;p463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092" name="Google Shape;12092;p463"/>
          <p:cNvCxnSpPr>
            <a:stCxn id="12089" idx="6"/>
            <a:endCxn id="12090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93" name="Google Shape;12093;p463"/>
          <p:cNvCxnSpPr>
            <a:stCxn id="12090" idx="0"/>
            <a:endCxn id="12091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094" name="Google Shape;12094;p463"/>
          <p:cNvCxnSpPr>
            <a:stCxn id="12089" idx="6"/>
            <a:endCxn id="12091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095" name="Google Shape;12095;p463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096" name="Google Shape;12096;p463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7" name="Google Shape;12097;p463"/>
          <p:cNvSpPr/>
          <p:nvPr/>
        </p:nvSpPr>
        <p:spPr>
          <a:xfrm>
            <a:off x="1991475" y="2410375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8" name="Google Shape;12098;p463"/>
          <p:cNvSpPr/>
          <p:nvPr/>
        </p:nvSpPr>
        <p:spPr>
          <a:xfrm>
            <a:off x="7341125" y="2399750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02" name="Shape 12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3" name="Google Shape;12103;p46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Balance theory</a:t>
            </a:r>
            <a:endParaRPr/>
          </a:p>
        </p:txBody>
      </p:sp>
      <p:sp>
        <p:nvSpPr>
          <p:cNvPr id="12104" name="Google Shape;12104;p464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Basic idea is that unbalanced configurations will tend to transition to balanced configurations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Unbalanced configurations produce </a:t>
            </a:r>
            <a:r>
              <a:rPr b="1" lang="en"/>
              <a:t>tension</a:t>
            </a:r>
            <a:r>
              <a:rPr lang="en"/>
              <a:t> in P leading them to </a:t>
            </a:r>
            <a:r>
              <a:rPr b="1" lang="en"/>
              <a:t>change </a:t>
            </a:r>
            <a:r>
              <a:rPr lang="en"/>
              <a:t>their sentiments toward O or Q so as to generate balance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5" name="Google Shape;12105;p464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06" name="Google Shape;12106;p464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07" name="Google Shape;12107;p464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08" name="Google Shape;12108;p464"/>
          <p:cNvCxnSpPr>
            <a:stCxn id="12105" idx="6"/>
            <a:endCxn id="12106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09" name="Google Shape;12109;p464"/>
          <p:cNvCxnSpPr>
            <a:stCxn id="12106" idx="0"/>
            <a:endCxn id="12107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10" name="Google Shape;12110;p464"/>
          <p:cNvCxnSpPr>
            <a:stCxn id="12105" idx="6"/>
            <a:endCxn id="12107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111" name="Google Shape;12111;p464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12" name="Google Shape;12112;p464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13" name="Google Shape;12113;p464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14" name="Google Shape;12114;p464"/>
          <p:cNvCxnSpPr>
            <a:stCxn id="12111" idx="6"/>
            <a:endCxn id="12112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15" name="Google Shape;12115;p464"/>
          <p:cNvCxnSpPr>
            <a:stCxn id="12112" idx="0"/>
            <a:endCxn id="12113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16" name="Google Shape;12116;p464"/>
          <p:cNvCxnSpPr>
            <a:stCxn id="12111" idx="6"/>
            <a:endCxn id="12113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117" name="Google Shape;12117;p464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18" name="Google Shape;12118;p464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19" name="Google Shape;12119;p464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20" name="Google Shape;12120;p464"/>
          <p:cNvCxnSpPr>
            <a:stCxn id="12117" idx="6"/>
            <a:endCxn id="12118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21" name="Google Shape;12121;p464"/>
          <p:cNvCxnSpPr>
            <a:stCxn id="12118" idx="0"/>
            <a:endCxn id="12119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22" name="Google Shape;12122;p464"/>
          <p:cNvCxnSpPr>
            <a:stCxn id="12117" idx="6"/>
            <a:endCxn id="12119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123" name="Google Shape;12123;p464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24" name="Google Shape;12124;p464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25" name="Google Shape;12125;p464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26" name="Google Shape;12126;p464"/>
          <p:cNvCxnSpPr>
            <a:stCxn id="12123" idx="6"/>
            <a:endCxn id="12124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27" name="Google Shape;12127;p464"/>
          <p:cNvCxnSpPr>
            <a:stCxn id="12124" idx="0"/>
            <a:endCxn id="12125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28" name="Google Shape;12128;p464"/>
          <p:cNvCxnSpPr>
            <a:stCxn id="12123" idx="6"/>
            <a:endCxn id="12125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129" name="Google Shape;12129;p464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130" name="Google Shape;12130;p464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31" name="Google Shape;12131;p464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32" name="Google Shape;12132;p464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33" name="Google Shape;12133;p464"/>
          <p:cNvCxnSpPr>
            <a:stCxn id="12130" idx="6"/>
            <a:endCxn id="12131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34" name="Google Shape;12134;p464"/>
          <p:cNvCxnSpPr>
            <a:stCxn id="12131" idx="0"/>
            <a:endCxn id="12132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35" name="Google Shape;12135;p464"/>
          <p:cNvCxnSpPr>
            <a:stCxn id="12130" idx="6"/>
            <a:endCxn id="12132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136" name="Google Shape;12136;p464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37" name="Google Shape;12137;p464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38" name="Google Shape;12138;p464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39" name="Google Shape;12139;p464"/>
          <p:cNvCxnSpPr>
            <a:stCxn id="12136" idx="6"/>
            <a:endCxn id="12137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40" name="Google Shape;12140;p464"/>
          <p:cNvCxnSpPr>
            <a:stCxn id="12137" idx="0"/>
            <a:endCxn id="12138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41" name="Google Shape;12141;p464"/>
          <p:cNvCxnSpPr>
            <a:stCxn id="12136" idx="6"/>
            <a:endCxn id="12138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142" name="Google Shape;12142;p464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43" name="Google Shape;12143;p464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44" name="Google Shape;12144;p464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45" name="Google Shape;12145;p464"/>
          <p:cNvCxnSpPr>
            <a:stCxn id="12142" idx="6"/>
            <a:endCxn id="12143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46" name="Google Shape;12146;p464"/>
          <p:cNvCxnSpPr>
            <a:stCxn id="12143" idx="0"/>
            <a:endCxn id="12144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47" name="Google Shape;12147;p464"/>
          <p:cNvCxnSpPr>
            <a:stCxn id="12142" idx="6"/>
            <a:endCxn id="12144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148" name="Google Shape;12148;p464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49" name="Google Shape;12149;p464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50" name="Google Shape;12150;p464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51" name="Google Shape;12151;p464"/>
          <p:cNvCxnSpPr>
            <a:stCxn id="12148" idx="6"/>
            <a:endCxn id="12149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52" name="Google Shape;12152;p464"/>
          <p:cNvCxnSpPr>
            <a:stCxn id="12149" idx="0"/>
            <a:endCxn id="12150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53" name="Google Shape;12153;p464"/>
          <p:cNvCxnSpPr>
            <a:stCxn id="12148" idx="6"/>
            <a:endCxn id="12150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154" name="Google Shape;12154;p464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155" name="Google Shape;12155;p464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6" name="Google Shape;12156;p464"/>
          <p:cNvSpPr/>
          <p:nvPr/>
        </p:nvSpPr>
        <p:spPr>
          <a:xfrm>
            <a:off x="192175" y="2399738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7" name="Google Shape;12157;p464"/>
          <p:cNvSpPr/>
          <p:nvPr/>
        </p:nvSpPr>
        <p:spPr>
          <a:xfrm>
            <a:off x="5722263" y="2414025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61" name="Shape 12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2" name="Google Shape;12162;p46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163" name="Google Shape;12163;p465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Remember the rules of sign multiplication from basic algebra?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  * +1 = +1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  *  -1 =  -1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 -1  *  -1 = +1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4" name="Google Shape;12164;p465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65" name="Google Shape;12165;p465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66" name="Google Shape;12166;p465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67" name="Google Shape;12167;p465"/>
          <p:cNvCxnSpPr>
            <a:stCxn id="12164" idx="6"/>
            <a:endCxn id="12165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68" name="Google Shape;12168;p465"/>
          <p:cNvCxnSpPr>
            <a:stCxn id="12165" idx="0"/>
            <a:endCxn id="12166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69" name="Google Shape;12169;p465"/>
          <p:cNvCxnSpPr>
            <a:stCxn id="12164" idx="6"/>
            <a:endCxn id="12166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170" name="Google Shape;12170;p465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71" name="Google Shape;12171;p465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72" name="Google Shape;12172;p465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73" name="Google Shape;12173;p465"/>
          <p:cNvCxnSpPr>
            <a:stCxn id="12170" idx="6"/>
            <a:endCxn id="12171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74" name="Google Shape;12174;p465"/>
          <p:cNvCxnSpPr>
            <a:stCxn id="12171" idx="0"/>
            <a:endCxn id="12172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75" name="Google Shape;12175;p465"/>
          <p:cNvCxnSpPr>
            <a:stCxn id="12170" idx="6"/>
            <a:endCxn id="12172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176" name="Google Shape;12176;p465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77" name="Google Shape;12177;p465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78" name="Google Shape;12178;p465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79" name="Google Shape;12179;p465"/>
          <p:cNvCxnSpPr>
            <a:stCxn id="12176" idx="6"/>
            <a:endCxn id="12177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80" name="Google Shape;12180;p465"/>
          <p:cNvCxnSpPr>
            <a:stCxn id="12177" idx="0"/>
            <a:endCxn id="12178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81" name="Google Shape;12181;p465"/>
          <p:cNvCxnSpPr>
            <a:stCxn id="12176" idx="6"/>
            <a:endCxn id="12178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182" name="Google Shape;12182;p465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83" name="Google Shape;12183;p465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84" name="Google Shape;12184;p465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85" name="Google Shape;12185;p465"/>
          <p:cNvCxnSpPr>
            <a:stCxn id="12182" idx="6"/>
            <a:endCxn id="12183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86" name="Google Shape;12186;p465"/>
          <p:cNvCxnSpPr>
            <a:stCxn id="12183" idx="0"/>
            <a:endCxn id="12184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187" name="Google Shape;12187;p465"/>
          <p:cNvCxnSpPr>
            <a:stCxn id="12182" idx="6"/>
            <a:endCxn id="12184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188" name="Google Shape;12188;p465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189" name="Google Shape;12189;p465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90" name="Google Shape;12190;p465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91" name="Google Shape;12191;p465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92" name="Google Shape;12192;p465"/>
          <p:cNvCxnSpPr>
            <a:stCxn id="12189" idx="6"/>
            <a:endCxn id="12190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93" name="Google Shape;12193;p465"/>
          <p:cNvCxnSpPr>
            <a:stCxn id="12190" idx="0"/>
            <a:endCxn id="12191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94" name="Google Shape;12194;p465"/>
          <p:cNvCxnSpPr>
            <a:stCxn id="12189" idx="6"/>
            <a:endCxn id="12191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195" name="Google Shape;12195;p465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96" name="Google Shape;12196;p465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197" name="Google Shape;12197;p465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198" name="Google Shape;12198;p465"/>
          <p:cNvCxnSpPr>
            <a:stCxn id="12195" idx="6"/>
            <a:endCxn id="12196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199" name="Google Shape;12199;p465"/>
          <p:cNvCxnSpPr>
            <a:stCxn id="12196" idx="0"/>
            <a:endCxn id="12197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00" name="Google Shape;12200;p465"/>
          <p:cNvCxnSpPr>
            <a:stCxn id="12195" idx="6"/>
            <a:endCxn id="12197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201" name="Google Shape;12201;p465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02" name="Google Shape;12202;p465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03" name="Google Shape;12203;p465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04" name="Google Shape;12204;p465"/>
          <p:cNvCxnSpPr>
            <a:stCxn id="12201" idx="6"/>
            <a:endCxn id="12202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05" name="Google Shape;12205;p465"/>
          <p:cNvCxnSpPr>
            <a:stCxn id="12202" idx="0"/>
            <a:endCxn id="12203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06" name="Google Shape;12206;p465"/>
          <p:cNvCxnSpPr>
            <a:stCxn id="12201" idx="6"/>
            <a:endCxn id="12203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207" name="Google Shape;12207;p465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08" name="Google Shape;12208;p465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09" name="Google Shape;12209;p465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10" name="Google Shape;12210;p465"/>
          <p:cNvCxnSpPr>
            <a:stCxn id="12207" idx="6"/>
            <a:endCxn id="12208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11" name="Google Shape;12211;p465"/>
          <p:cNvCxnSpPr>
            <a:stCxn id="12208" idx="0"/>
            <a:endCxn id="12209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12" name="Google Shape;12212;p465"/>
          <p:cNvCxnSpPr>
            <a:stCxn id="12207" idx="6"/>
            <a:endCxn id="12209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213" name="Google Shape;12213;p465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214" name="Google Shape;12214;p465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218" name="Shape 12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9" name="Google Shape;12219;p46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220" name="Google Shape;12220;p466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Remember the rules of sign multiplication from basic algebra?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  * +1 = +1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  *  -1 =  -1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 -1  *  -1 = +1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1" name="Google Shape;12221;p466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22" name="Google Shape;12222;p466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23" name="Google Shape;12223;p466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24" name="Google Shape;12224;p466"/>
          <p:cNvCxnSpPr>
            <a:stCxn id="12221" idx="6"/>
            <a:endCxn id="12222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25" name="Google Shape;12225;p466"/>
          <p:cNvCxnSpPr>
            <a:stCxn id="12222" idx="0"/>
            <a:endCxn id="12223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26" name="Google Shape;12226;p466"/>
          <p:cNvCxnSpPr>
            <a:stCxn id="12221" idx="6"/>
            <a:endCxn id="12223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227" name="Google Shape;12227;p466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28" name="Google Shape;12228;p466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29" name="Google Shape;12229;p466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30" name="Google Shape;12230;p466"/>
          <p:cNvCxnSpPr>
            <a:stCxn id="12227" idx="6"/>
            <a:endCxn id="12228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31" name="Google Shape;12231;p466"/>
          <p:cNvCxnSpPr>
            <a:stCxn id="12228" idx="0"/>
            <a:endCxn id="12229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32" name="Google Shape;12232;p466"/>
          <p:cNvCxnSpPr>
            <a:stCxn id="12227" idx="6"/>
            <a:endCxn id="12229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233" name="Google Shape;12233;p466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34" name="Google Shape;12234;p466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35" name="Google Shape;12235;p466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36" name="Google Shape;12236;p466"/>
          <p:cNvCxnSpPr>
            <a:stCxn id="12233" idx="6"/>
            <a:endCxn id="12234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37" name="Google Shape;12237;p466"/>
          <p:cNvCxnSpPr>
            <a:stCxn id="12234" idx="0"/>
            <a:endCxn id="12235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38" name="Google Shape;12238;p466"/>
          <p:cNvCxnSpPr>
            <a:stCxn id="12233" idx="6"/>
            <a:endCxn id="12235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239" name="Google Shape;12239;p466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40" name="Google Shape;12240;p466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41" name="Google Shape;12241;p466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42" name="Google Shape;12242;p466"/>
          <p:cNvCxnSpPr>
            <a:stCxn id="12239" idx="6"/>
            <a:endCxn id="12240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43" name="Google Shape;12243;p466"/>
          <p:cNvCxnSpPr>
            <a:stCxn id="12240" idx="0"/>
            <a:endCxn id="12241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44" name="Google Shape;12244;p466"/>
          <p:cNvCxnSpPr>
            <a:stCxn id="12239" idx="6"/>
            <a:endCxn id="12241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245" name="Google Shape;12245;p466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246" name="Google Shape;12246;p466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47" name="Google Shape;12247;p466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48" name="Google Shape;12248;p466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49" name="Google Shape;12249;p466"/>
          <p:cNvCxnSpPr>
            <a:stCxn id="12246" idx="6"/>
            <a:endCxn id="12247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50" name="Google Shape;12250;p466"/>
          <p:cNvCxnSpPr>
            <a:stCxn id="12247" idx="0"/>
            <a:endCxn id="12248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51" name="Google Shape;12251;p466"/>
          <p:cNvCxnSpPr>
            <a:stCxn id="12246" idx="6"/>
            <a:endCxn id="12248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252" name="Google Shape;12252;p466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53" name="Google Shape;12253;p466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54" name="Google Shape;12254;p466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55" name="Google Shape;12255;p466"/>
          <p:cNvCxnSpPr>
            <a:stCxn id="12252" idx="6"/>
            <a:endCxn id="12253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56" name="Google Shape;12256;p466"/>
          <p:cNvCxnSpPr>
            <a:stCxn id="12253" idx="0"/>
            <a:endCxn id="12254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57" name="Google Shape;12257;p466"/>
          <p:cNvCxnSpPr>
            <a:stCxn id="12252" idx="6"/>
            <a:endCxn id="12254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258" name="Google Shape;12258;p466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59" name="Google Shape;12259;p466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60" name="Google Shape;12260;p466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61" name="Google Shape;12261;p466"/>
          <p:cNvCxnSpPr>
            <a:stCxn id="12258" idx="6"/>
            <a:endCxn id="12259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62" name="Google Shape;12262;p466"/>
          <p:cNvCxnSpPr>
            <a:stCxn id="12259" idx="0"/>
            <a:endCxn id="12260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63" name="Google Shape;12263;p466"/>
          <p:cNvCxnSpPr>
            <a:stCxn id="12258" idx="6"/>
            <a:endCxn id="12260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264" name="Google Shape;12264;p466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65" name="Google Shape;12265;p466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66" name="Google Shape;12266;p466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67" name="Google Shape;12267;p466"/>
          <p:cNvCxnSpPr>
            <a:stCxn id="12264" idx="6"/>
            <a:endCxn id="12265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68" name="Google Shape;12268;p466"/>
          <p:cNvCxnSpPr>
            <a:stCxn id="12265" idx="0"/>
            <a:endCxn id="12266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69" name="Google Shape;12269;p466"/>
          <p:cNvCxnSpPr>
            <a:stCxn id="12264" idx="6"/>
            <a:endCxn id="12266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270" name="Google Shape;12270;p466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271" name="Google Shape;12271;p466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2" name="Google Shape;12272;p466"/>
          <p:cNvSpPr/>
          <p:nvPr/>
        </p:nvSpPr>
        <p:spPr>
          <a:xfrm>
            <a:off x="3563675" y="1718788"/>
            <a:ext cx="2499900" cy="8313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They apply to balance theory!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276" name="Shape 12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7" name="Google Shape;12277;p46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278" name="Google Shape;12278;p467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Turns out that if you multiply the signs of the edges of each of the </a:t>
            </a:r>
            <a:r>
              <a:rPr b="1" lang="en"/>
              <a:t>unbalanced</a:t>
            </a:r>
            <a:r>
              <a:rPr lang="en"/>
              <a:t> triads you get a </a:t>
            </a:r>
            <a:r>
              <a:rPr b="1" lang="en"/>
              <a:t>negative</a:t>
            </a:r>
            <a:r>
              <a:rPr lang="en"/>
              <a:t> number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Try it!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9" name="Google Shape;12279;p467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80" name="Google Shape;12280;p467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81" name="Google Shape;12281;p467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82" name="Google Shape;12282;p467"/>
          <p:cNvCxnSpPr>
            <a:stCxn id="12279" idx="6"/>
            <a:endCxn id="12280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83" name="Google Shape;12283;p467"/>
          <p:cNvCxnSpPr>
            <a:stCxn id="12280" idx="0"/>
            <a:endCxn id="12281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84" name="Google Shape;12284;p467"/>
          <p:cNvCxnSpPr>
            <a:stCxn id="12279" idx="6"/>
            <a:endCxn id="12281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285" name="Google Shape;12285;p467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86" name="Google Shape;12286;p467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87" name="Google Shape;12287;p467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88" name="Google Shape;12288;p467"/>
          <p:cNvCxnSpPr>
            <a:stCxn id="12285" idx="6"/>
            <a:endCxn id="12286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89" name="Google Shape;12289;p467"/>
          <p:cNvCxnSpPr>
            <a:stCxn id="12286" idx="0"/>
            <a:endCxn id="12287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90" name="Google Shape;12290;p467"/>
          <p:cNvCxnSpPr>
            <a:stCxn id="12285" idx="6"/>
            <a:endCxn id="12287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291" name="Google Shape;12291;p467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92" name="Google Shape;12292;p467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93" name="Google Shape;12293;p467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294" name="Google Shape;12294;p467"/>
          <p:cNvCxnSpPr>
            <a:stCxn id="12291" idx="6"/>
            <a:endCxn id="12292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295" name="Google Shape;12295;p467"/>
          <p:cNvCxnSpPr>
            <a:stCxn id="12292" idx="0"/>
            <a:endCxn id="12293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296" name="Google Shape;12296;p467"/>
          <p:cNvCxnSpPr>
            <a:stCxn id="12291" idx="6"/>
            <a:endCxn id="12293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297" name="Google Shape;12297;p467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98" name="Google Shape;12298;p467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299" name="Google Shape;12299;p467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00" name="Google Shape;12300;p467"/>
          <p:cNvCxnSpPr>
            <a:stCxn id="12297" idx="6"/>
            <a:endCxn id="12298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01" name="Google Shape;12301;p467"/>
          <p:cNvCxnSpPr>
            <a:stCxn id="12298" idx="0"/>
            <a:endCxn id="12299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02" name="Google Shape;12302;p467"/>
          <p:cNvCxnSpPr>
            <a:stCxn id="12297" idx="6"/>
            <a:endCxn id="12299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303" name="Google Shape;12303;p467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304" name="Google Shape;12304;p467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05" name="Google Shape;12305;p467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06" name="Google Shape;12306;p467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07" name="Google Shape;12307;p467"/>
          <p:cNvCxnSpPr>
            <a:stCxn id="12304" idx="6"/>
            <a:endCxn id="12305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08" name="Google Shape;12308;p467"/>
          <p:cNvCxnSpPr>
            <a:stCxn id="12305" idx="0"/>
            <a:endCxn id="12306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09" name="Google Shape;12309;p467"/>
          <p:cNvCxnSpPr>
            <a:stCxn id="12304" idx="6"/>
            <a:endCxn id="12306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310" name="Google Shape;12310;p467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11" name="Google Shape;12311;p467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12" name="Google Shape;12312;p467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13" name="Google Shape;12313;p467"/>
          <p:cNvCxnSpPr>
            <a:stCxn id="12310" idx="6"/>
            <a:endCxn id="12311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14" name="Google Shape;12314;p467"/>
          <p:cNvCxnSpPr>
            <a:stCxn id="12311" idx="0"/>
            <a:endCxn id="12312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15" name="Google Shape;12315;p467"/>
          <p:cNvCxnSpPr>
            <a:stCxn id="12310" idx="6"/>
            <a:endCxn id="12312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316" name="Google Shape;12316;p467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17" name="Google Shape;12317;p467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18" name="Google Shape;12318;p467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19" name="Google Shape;12319;p467"/>
          <p:cNvCxnSpPr>
            <a:stCxn id="12316" idx="6"/>
            <a:endCxn id="12317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20" name="Google Shape;12320;p467"/>
          <p:cNvCxnSpPr>
            <a:stCxn id="12317" idx="0"/>
            <a:endCxn id="12318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21" name="Google Shape;12321;p467"/>
          <p:cNvCxnSpPr>
            <a:stCxn id="12316" idx="6"/>
            <a:endCxn id="12318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322" name="Google Shape;12322;p467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23" name="Google Shape;12323;p467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24" name="Google Shape;12324;p467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25" name="Google Shape;12325;p467"/>
          <p:cNvCxnSpPr>
            <a:stCxn id="12322" idx="6"/>
            <a:endCxn id="12323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26" name="Google Shape;12326;p467"/>
          <p:cNvCxnSpPr>
            <a:stCxn id="12323" idx="0"/>
            <a:endCxn id="12324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27" name="Google Shape;12327;p467"/>
          <p:cNvCxnSpPr>
            <a:stCxn id="12322" idx="6"/>
            <a:endCxn id="12324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328" name="Google Shape;12328;p467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329" name="Google Shape;12329;p467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333" name="Shape 12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4" name="Google Shape;12334;p46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335" name="Google Shape;12335;p468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Turns out that if you multiply the signs of the edges of each of the </a:t>
            </a:r>
            <a:r>
              <a:rPr b="1" lang="en"/>
              <a:t>unbalanced</a:t>
            </a:r>
            <a:r>
              <a:rPr lang="en"/>
              <a:t> triads you get a </a:t>
            </a:r>
            <a:r>
              <a:rPr b="1" lang="en"/>
              <a:t>negative</a:t>
            </a:r>
            <a:r>
              <a:rPr lang="en"/>
              <a:t> number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</a:t>
            </a:r>
            <a:r>
              <a:rPr baseline="-25000" lang="en"/>
              <a:t>PO </a:t>
            </a:r>
            <a:r>
              <a:rPr lang="en"/>
              <a:t>*</a:t>
            </a:r>
            <a:r>
              <a:rPr lang="en"/>
              <a:t> +1</a:t>
            </a:r>
            <a:r>
              <a:rPr baseline="-25000" lang="en"/>
              <a:t>OQ</a:t>
            </a:r>
            <a:r>
              <a:rPr lang="en"/>
              <a:t> * -1</a:t>
            </a:r>
            <a:r>
              <a:rPr baseline="-25000" lang="en"/>
              <a:t>PQ</a:t>
            </a:r>
            <a:r>
              <a:rPr lang="en"/>
              <a:t> =  -1</a:t>
            </a:r>
            <a:r>
              <a:rPr baseline="-25000" lang="en"/>
              <a:t>POQ</a:t>
            </a:r>
            <a:endParaRPr baseline="-25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6" name="Google Shape;12336;p468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37" name="Google Shape;12337;p468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38" name="Google Shape;12338;p468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39" name="Google Shape;12339;p468"/>
          <p:cNvCxnSpPr>
            <a:stCxn id="12336" idx="6"/>
            <a:endCxn id="12337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40" name="Google Shape;12340;p468"/>
          <p:cNvCxnSpPr>
            <a:stCxn id="12337" idx="0"/>
            <a:endCxn id="12338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41" name="Google Shape;12341;p468"/>
          <p:cNvCxnSpPr>
            <a:stCxn id="12336" idx="6"/>
            <a:endCxn id="12338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342" name="Google Shape;12342;p468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43" name="Google Shape;12343;p468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44" name="Google Shape;12344;p468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45" name="Google Shape;12345;p468"/>
          <p:cNvCxnSpPr>
            <a:stCxn id="12342" idx="6"/>
            <a:endCxn id="12343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46" name="Google Shape;12346;p468"/>
          <p:cNvCxnSpPr>
            <a:stCxn id="12343" idx="0"/>
            <a:endCxn id="12344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47" name="Google Shape;12347;p468"/>
          <p:cNvCxnSpPr>
            <a:stCxn id="12342" idx="6"/>
            <a:endCxn id="12344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348" name="Google Shape;12348;p468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49" name="Google Shape;12349;p468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50" name="Google Shape;12350;p468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51" name="Google Shape;12351;p468"/>
          <p:cNvCxnSpPr>
            <a:stCxn id="12348" idx="6"/>
            <a:endCxn id="12349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52" name="Google Shape;12352;p468"/>
          <p:cNvCxnSpPr>
            <a:stCxn id="12349" idx="0"/>
            <a:endCxn id="12350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53" name="Google Shape;12353;p468"/>
          <p:cNvCxnSpPr>
            <a:stCxn id="12348" idx="6"/>
            <a:endCxn id="12350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354" name="Google Shape;12354;p468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55" name="Google Shape;12355;p468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56" name="Google Shape;12356;p468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57" name="Google Shape;12357;p468"/>
          <p:cNvCxnSpPr>
            <a:stCxn id="12354" idx="6"/>
            <a:endCxn id="12355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58" name="Google Shape;12358;p468"/>
          <p:cNvCxnSpPr>
            <a:stCxn id="12355" idx="0"/>
            <a:endCxn id="12356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59" name="Google Shape;12359;p468"/>
          <p:cNvCxnSpPr>
            <a:stCxn id="12354" idx="6"/>
            <a:endCxn id="12356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360" name="Google Shape;12360;p468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361" name="Google Shape;12361;p468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62" name="Google Shape;12362;p468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63" name="Google Shape;12363;p468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64" name="Google Shape;12364;p468"/>
          <p:cNvCxnSpPr>
            <a:stCxn id="12361" idx="6"/>
            <a:endCxn id="12362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65" name="Google Shape;12365;p468"/>
          <p:cNvCxnSpPr>
            <a:stCxn id="12362" idx="0"/>
            <a:endCxn id="12363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66" name="Google Shape;12366;p468"/>
          <p:cNvCxnSpPr>
            <a:stCxn id="12361" idx="6"/>
            <a:endCxn id="12363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367" name="Google Shape;12367;p468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68" name="Google Shape;12368;p468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69" name="Google Shape;12369;p468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70" name="Google Shape;12370;p468"/>
          <p:cNvCxnSpPr>
            <a:stCxn id="12367" idx="6"/>
            <a:endCxn id="12368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71" name="Google Shape;12371;p468"/>
          <p:cNvCxnSpPr>
            <a:stCxn id="12368" idx="0"/>
            <a:endCxn id="12369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72" name="Google Shape;12372;p468"/>
          <p:cNvCxnSpPr>
            <a:stCxn id="12367" idx="6"/>
            <a:endCxn id="12369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373" name="Google Shape;12373;p468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74" name="Google Shape;12374;p468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75" name="Google Shape;12375;p468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76" name="Google Shape;12376;p468"/>
          <p:cNvCxnSpPr>
            <a:stCxn id="12373" idx="6"/>
            <a:endCxn id="12374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77" name="Google Shape;12377;p468"/>
          <p:cNvCxnSpPr>
            <a:stCxn id="12374" idx="0"/>
            <a:endCxn id="12375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78" name="Google Shape;12378;p468"/>
          <p:cNvCxnSpPr>
            <a:stCxn id="12373" idx="6"/>
            <a:endCxn id="12375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379" name="Google Shape;12379;p468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80" name="Google Shape;12380;p468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81" name="Google Shape;12381;p468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82" name="Google Shape;12382;p468"/>
          <p:cNvCxnSpPr>
            <a:stCxn id="12379" idx="6"/>
            <a:endCxn id="12380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83" name="Google Shape;12383;p468"/>
          <p:cNvCxnSpPr>
            <a:stCxn id="12380" idx="0"/>
            <a:endCxn id="12381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384" name="Google Shape;12384;p468"/>
          <p:cNvCxnSpPr>
            <a:stCxn id="12379" idx="6"/>
            <a:endCxn id="12381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385" name="Google Shape;12385;p468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386" name="Google Shape;12386;p468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7" name="Google Shape;12387;p468"/>
          <p:cNvSpPr/>
          <p:nvPr/>
        </p:nvSpPr>
        <p:spPr>
          <a:xfrm>
            <a:off x="192175" y="2399738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391" name="Shape 12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2" name="Google Shape;12392;p46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393" name="Google Shape;12393;p469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Turns out that if you multiply the signs of the edges of each of the </a:t>
            </a:r>
            <a:r>
              <a:rPr b="1" lang="en"/>
              <a:t>unbalanced</a:t>
            </a:r>
            <a:r>
              <a:rPr lang="en"/>
              <a:t> triads you get a </a:t>
            </a:r>
            <a:r>
              <a:rPr b="1" lang="en"/>
              <a:t>negative</a:t>
            </a:r>
            <a:r>
              <a:rPr lang="en"/>
              <a:t> number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</a:t>
            </a:r>
            <a:r>
              <a:rPr baseline="-25000" lang="en"/>
              <a:t>PO </a:t>
            </a:r>
            <a:r>
              <a:rPr lang="en"/>
              <a:t>* -1</a:t>
            </a:r>
            <a:r>
              <a:rPr baseline="-25000" lang="en"/>
              <a:t>OQ</a:t>
            </a:r>
            <a:r>
              <a:rPr lang="en"/>
              <a:t> * +1</a:t>
            </a:r>
            <a:r>
              <a:rPr baseline="-25000" lang="en"/>
              <a:t>PQ</a:t>
            </a:r>
            <a:r>
              <a:rPr lang="en"/>
              <a:t> =  -1</a:t>
            </a:r>
            <a:r>
              <a:rPr baseline="-25000" lang="en"/>
              <a:t>POQ</a:t>
            </a:r>
            <a:endParaRPr baseline="-25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4" name="Google Shape;12394;p469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95" name="Google Shape;12395;p469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396" name="Google Shape;12396;p469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397" name="Google Shape;12397;p469"/>
          <p:cNvCxnSpPr>
            <a:stCxn id="12394" idx="6"/>
            <a:endCxn id="12395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98" name="Google Shape;12398;p469"/>
          <p:cNvCxnSpPr>
            <a:stCxn id="12395" idx="0"/>
            <a:endCxn id="12396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399" name="Google Shape;12399;p469"/>
          <p:cNvCxnSpPr>
            <a:stCxn id="12394" idx="6"/>
            <a:endCxn id="12396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400" name="Google Shape;12400;p469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01" name="Google Shape;12401;p469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02" name="Google Shape;12402;p469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03" name="Google Shape;12403;p469"/>
          <p:cNvCxnSpPr>
            <a:stCxn id="12400" idx="6"/>
            <a:endCxn id="12401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04" name="Google Shape;12404;p469"/>
          <p:cNvCxnSpPr>
            <a:stCxn id="12401" idx="0"/>
            <a:endCxn id="12402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05" name="Google Shape;12405;p469"/>
          <p:cNvCxnSpPr>
            <a:stCxn id="12400" idx="6"/>
            <a:endCxn id="12402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406" name="Google Shape;12406;p469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07" name="Google Shape;12407;p469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08" name="Google Shape;12408;p469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09" name="Google Shape;12409;p469"/>
          <p:cNvCxnSpPr>
            <a:stCxn id="12406" idx="6"/>
            <a:endCxn id="12407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10" name="Google Shape;12410;p469"/>
          <p:cNvCxnSpPr>
            <a:stCxn id="12407" idx="0"/>
            <a:endCxn id="12408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11" name="Google Shape;12411;p469"/>
          <p:cNvCxnSpPr>
            <a:stCxn id="12406" idx="6"/>
            <a:endCxn id="12408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412" name="Google Shape;12412;p469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13" name="Google Shape;12413;p469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14" name="Google Shape;12414;p469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15" name="Google Shape;12415;p469"/>
          <p:cNvCxnSpPr>
            <a:stCxn id="12412" idx="6"/>
            <a:endCxn id="12413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16" name="Google Shape;12416;p469"/>
          <p:cNvCxnSpPr>
            <a:stCxn id="12413" idx="0"/>
            <a:endCxn id="12414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17" name="Google Shape;12417;p469"/>
          <p:cNvCxnSpPr>
            <a:stCxn id="12412" idx="6"/>
            <a:endCxn id="12414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418" name="Google Shape;12418;p469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419" name="Google Shape;12419;p469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20" name="Google Shape;12420;p469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21" name="Google Shape;12421;p469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22" name="Google Shape;12422;p469"/>
          <p:cNvCxnSpPr>
            <a:stCxn id="12419" idx="6"/>
            <a:endCxn id="12420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23" name="Google Shape;12423;p469"/>
          <p:cNvCxnSpPr>
            <a:stCxn id="12420" idx="0"/>
            <a:endCxn id="12421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24" name="Google Shape;12424;p469"/>
          <p:cNvCxnSpPr>
            <a:stCxn id="12419" idx="6"/>
            <a:endCxn id="12421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425" name="Google Shape;12425;p469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26" name="Google Shape;12426;p469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27" name="Google Shape;12427;p469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28" name="Google Shape;12428;p469"/>
          <p:cNvCxnSpPr>
            <a:stCxn id="12425" idx="6"/>
            <a:endCxn id="12426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29" name="Google Shape;12429;p469"/>
          <p:cNvCxnSpPr>
            <a:stCxn id="12426" idx="0"/>
            <a:endCxn id="12427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30" name="Google Shape;12430;p469"/>
          <p:cNvCxnSpPr>
            <a:stCxn id="12425" idx="6"/>
            <a:endCxn id="12427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431" name="Google Shape;12431;p469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32" name="Google Shape;12432;p469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33" name="Google Shape;12433;p469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34" name="Google Shape;12434;p469"/>
          <p:cNvCxnSpPr>
            <a:stCxn id="12431" idx="6"/>
            <a:endCxn id="12432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35" name="Google Shape;12435;p469"/>
          <p:cNvCxnSpPr>
            <a:stCxn id="12432" idx="0"/>
            <a:endCxn id="12433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36" name="Google Shape;12436;p469"/>
          <p:cNvCxnSpPr>
            <a:stCxn id="12431" idx="6"/>
            <a:endCxn id="12433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437" name="Google Shape;12437;p469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38" name="Google Shape;12438;p469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39" name="Google Shape;12439;p469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40" name="Google Shape;12440;p469"/>
          <p:cNvCxnSpPr>
            <a:stCxn id="12437" idx="6"/>
            <a:endCxn id="12438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41" name="Google Shape;12441;p469"/>
          <p:cNvCxnSpPr>
            <a:stCxn id="12438" idx="0"/>
            <a:endCxn id="12439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42" name="Google Shape;12442;p469"/>
          <p:cNvCxnSpPr>
            <a:stCxn id="12437" idx="6"/>
            <a:endCxn id="12439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443" name="Google Shape;12443;p469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444" name="Google Shape;12444;p469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5" name="Google Shape;12445;p469"/>
          <p:cNvSpPr/>
          <p:nvPr/>
        </p:nvSpPr>
        <p:spPr>
          <a:xfrm>
            <a:off x="1920175" y="2399738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449" name="Shape 12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0" name="Google Shape;12450;p47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451" name="Google Shape;12451;p470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Conversely, if you </a:t>
            </a:r>
            <a:r>
              <a:rPr lang="en"/>
              <a:t>multiply</a:t>
            </a:r>
            <a:r>
              <a:rPr lang="en"/>
              <a:t> the sign of the edges of the </a:t>
            </a:r>
            <a:r>
              <a:rPr b="1" lang="en"/>
              <a:t>balanced</a:t>
            </a:r>
            <a:r>
              <a:rPr lang="en"/>
              <a:t> triads you get a </a:t>
            </a:r>
            <a:r>
              <a:rPr b="1" lang="en"/>
              <a:t>positive</a:t>
            </a:r>
            <a:r>
              <a:rPr lang="en"/>
              <a:t> number: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-</a:t>
            </a:r>
            <a:r>
              <a:rPr lang="en"/>
              <a:t>1</a:t>
            </a:r>
            <a:r>
              <a:rPr baseline="-25000" lang="en"/>
              <a:t>PO </a:t>
            </a:r>
            <a:r>
              <a:rPr lang="en"/>
              <a:t>* +1</a:t>
            </a:r>
            <a:r>
              <a:rPr baseline="-25000" lang="en"/>
              <a:t>OQ</a:t>
            </a:r>
            <a:r>
              <a:rPr lang="en"/>
              <a:t> * -1</a:t>
            </a:r>
            <a:r>
              <a:rPr baseline="-25000" lang="en"/>
              <a:t>PQ</a:t>
            </a:r>
            <a:r>
              <a:rPr lang="en"/>
              <a:t> =  +1</a:t>
            </a:r>
            <a:r>
              <a:rPr baseline="-25000" lang="en"/>
              <a:t>POQ</a:t>
            </a:r>
            <a:endParaRPr baseline="-25000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2" name="Google Shape;12452;p470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53" name="Google Shape;12453;p470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54" name="Google Shape;12454;p470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55" name="Google Shape;12455;p470"/>
          <p:cNvCxnSpPr>
            <a:stCxn id="12452" idx="6"/>
            <a:endCxn id="12453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56" name="Google Shape;12456;p470"/>
          <p:cNvCxnSpPr>
            <a:stCxn id="12453" idx="0"/>
            <a:endCxn id="12454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57" name="Google Shape;12457;p470"/>
          <p:cNvCxnSpPr>
            <a:stCxn id="12452" idx="6"/>
            <a:endCxn id="12454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458" name="Google Shape;12458;p470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59" name="Google Shape;12459;p470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60" name="Google Shape;12460;p470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61" name="Google Shape;12461;p470"/>
          <p:cNvCxnSpPr>
            <a:stCxn id="12458" idx="6"/>
            <a:endCxn id="12459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62" name="Google Shape;12462;p470"/>
          <p:cNvCxnSpPr>
            <a:stCxn id="12459" idx="0"/>
            <a:endCxn id="12460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63" name="Google Shape;12463;p470"/>
          <p:cNvCxnSpPr>
            <a:stCxn id="12458" idx="6"/>
            <a:endCxn id="12460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464" name="Google Shape;12464;p470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65" name="Google Shape;12465;p470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66" name="Google Shape;12466;p470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67" name="Google Shape;12467;p470"/>
          <p:cNvCxnSpPr>
            <a:stCxn id="12464" idx="6"/>
            <a:endCxn id="12465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68" name="Google Shape;12468;p470"/>
          <p:cNvCxnSpPr>
            <a:stCxn id="12465" idx="0"/>
            <a:endCxn id="12466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69" name="Google Shape;12469;p470"/>
          <p:cNvCxnSpPr>
            <a:stCxn id="12464" idx="6"/>
            <a:endCxn id="12466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470" name="Google Shape;12470;p470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71" name="Google Shape;12471;p470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72" name="Google Shape;12472;p470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73" name="Google Shape;12473;p470"/>
          <p:cNvCxnSpPr>
            <a:stCxn id="12470" idx="6"/>
            <a:endCxn id="12471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74" name="Google Shape;12474;p470"/>
          <p:cNvCxnSpPr>
            <a:stCxn id="12471" idx="0"/>
            <a:endCxn id="12472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75" name="Google Shape;12475;p470"/>
          <p:cNvCxnSpPr>
            <a:stCxn id="12470" idx="6"/>
            <a:endCxn id="12472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476" name="Google Shape;12476;p470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477" name="Google Shape;12477;p470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78" name="Google Shape;12478;p470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79" name="Google Shape;12479;p470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80" name="Google Shape;12480;p470"/>
          <p:cNvCxnSpPr>
            <a:stCxn id="12477" idx="6"/>
            <a:endCxn id="12478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81" name="Google Shape;12481;p470"/>
          <p:cNvCxnSpPr>
            <a:stCxn id="12478" idx="0"/>
            <a:endCxn id="12479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82" name="Google Shape;12482;p470"/>
          <p:cNvCxnSpPr>
            <a:stCxn id="12477" idx="6"/>
            <a:endCxn id="12479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483" name="Google Shape;12483;p470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84" name="Google Shape;12484;p470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85" name="Google Shape;12485;p470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86" name="Google Shape;12486;p470"/>
          <p:cNvCxnSpPr>
            <a:stCxn id="12483" idx="6"/>
            <a:endCxn id="12484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87" name="Google Shape;12487;p470"/>
          <p:cNvCxnSpPr>
            <a:stCxn id="12484" idx="0"/>
            <a:endCxn id="12485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88" name="Google Shape;12488;p470"/>
          <p:cNvCxnSpPr>
            <a:stCxn id="12483" idx="6"/>
            <a:endCxn id="12485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489" name="Google Shape;12489;p470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90" name="Google Shape;12490;p470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91" name="Google Shape;12491;p470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92" name="Google Shape;12492;p470"/>
          <p:cNvCxnSpPr>
            <a:stCxn id="12489" idx="6"/>
            <a:endCxn id="12490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93" name="Google Shape;12493;p470"/>
          <p:cNvCxnSpPr>
            <a:stCxn id="12490" idx="0"/>
            <a:endCxn id="12491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494" name="Google Shape;12494;p470"/>
          <p:cNvCxnSpPr>
            <a:stCxn id="12489" idx="6"/>
            <a:endCxn id="12491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495" name="Google Shape;12495;p470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96" name="Google Shape;12496;p470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497" name="Google Shape;12497;p470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498" name="Google Shape;12498;p470"/>
          <p:cNvCxnSpPr>
            <a:stCxn id="12495" idx="6"/>
            <a:endCxn id="12496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499" name="Google Shape;12499;p470"/>
          <p:cNvCxnSpPr>
            <a:stCxn id="12496" idx="0"/>
            <a:endCxn id="12497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00" name="Google Shape;12500;p470"/>
          <p:cNvCxnSpPr>
            <a:stCxn id="12495" idx="6"/>
            <a:endCxn id="12497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501" name="Google Shape;12501;p470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502" name="Google Shape;12502;p470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3" name="Google Shape;12503;p470"/>
          <p:cNvSpPr/>
          <p:nvPr/>
        </p:nvSpPr>
        <p:spPr>
          <a:xfrm>
            <a:off x="5722263" y="3524463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507" name="Shape 12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8" name="Google Shape;12508;p47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509" name="Google Shape;12509;p471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Conversely, if you multiply the sign of the edges of the </a:t>
            </a:r>
            <a:r>
              <a:rPr b="1" lang="en"/>
              <a:t>balanced</a:t>
            </a:r>
            <a:r>
              <a:rPr lang="en"/>
              <a:t> triads you get a </a:t>
            </a:r>
            <a:r>
              <a:rPr b="1" lang="en"/>
              <a:t>positive</a:t>
            </a:r>
            <a:r>
              <a:rPr lang="en"/>
              <a:t> number: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</a:t>
            </a:r>
            <a:r>
              <a:rPr baseline="-25000" lang="en"/>
              <a:t>PO </a:t>
            </a:r>
            <a:r>
              <a:rPr lang="en"/>
              <a:t>* -1</a:t>
            </a:r>
            <a:r>
              <a:rPr baseline="-25000" lang="en"/>
              <a:t>OQ</a:t>
            </a:r>
            <a:r>
              <a:rPr lang="en"/>
              <a:t> * -1</a:t>
            </a:r>
            <a:r>
              <a:rPr baseline="-25000" lang="en"/>
              <a:t>PQ</a:t>
            </a:r>
            <a:r>
              <a:rPr lang="en"/>
              <a:t> =  +1</a:t>
            </a:r>
            <a:r>
              <a:rPr baseline="-25000" lang="en"/>
              <a:t>POQ</a:t>
            </a:r>
            <a:endParaRPr baseline="-25000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0" name="Google Shape;12510;p471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11" name="Google Shape;12511;p471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12" name="Google Shape;12512;p471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13" name="Google Shape;12513;p471"/>
          <p:cNvCxnSpPr>
            <a:stCxn id="12510" idx="6"/>
            <a:endCxn id="12511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14" name="Google Shape;12514;p471"/>
          <p:cNvCxnSpPr>
            <a:stCxn id="12511" idx="0"/>
            <a:endCxn id="12512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15" name="Google Shape;12515;p471"/>
          <p:cNvCxnSpPr>
            <a:stCxn id="12510" idx="6"/>
            <a:endCxn id="12512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516" name="Google Shape;12516;p471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17" name="Google Shape;12517;p471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18" name="Google Shape;12518;p471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19" name="Google Shape;12519;p471"/>
          <p:cNvCxnSpPr>
            <a:stCxn id="12516" idx="6"/>
            <a:endCxn id="12517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20" name="Google Shape;12520;p471"/>
          <p:cNvCxnSpPr>
            <a:stCxn id="12517" idx="0"/>
            <a:endCxn id="12518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21" name="Google Shape;12521;p471"/>
          <p:cNvCxnSpPr>
            <a:stCxn id="12516" idx="6"/>
            <a:endCxn id="12518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522" name="Google Shape;12522;p471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23" name="Google Shape;12523;p471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24" name="Google Shape;12524;p471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25" name="Google Shape;12525;p471"/>
          <p:cNvCxnSpPr>
            <a:stCxn id="12522" idx="6"/>
            <a:endCxn id="12523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26" name="Google Shape;12526;p471"/>
          <p:cNvCxnSpPr>
            <a:stCxn id="12523" idx="0"/>
            <a:endCxn id="12524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27" name="Google Shape;12527;p471"/>
          <p:cNvCxnSpPr>
            <a:stCxn id="12522" idx="6"/>
            <a:endCxn id="12524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528" name="Google Shape;12528;p471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29" name="Google Shape;12529;p471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30" name="Google Shape;12530;p471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31" name="Google Shape;12531;p471"/>
          <p:cNvCxnSpPr>
            <a:stCxn id="12528" idx="6"/>
            <a:endCxn id="12529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32" name="Google Shape;12532;p471"/>
          <p:cNvCxnSpPr>
            <a:stCxn id="12529" idx="0"/>
            <a:endCxn id="12530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33" name="Google Shape;12533;p471"/>
          <p:cNvCxnSpPr>
            <a:stCxn id="12528" idx="6"/>
            <a:endCxn id="12530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534" name="Google Shape;12534;p471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535" name="Google Shape;12535;p471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36" name="Google Shape;12536;p471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37" name="Google Shape;12537;p471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38" name="Google Shape;12538;p471"/>
          <p:cNvCxnSpPr>
            <a:stCxn id="12535" idx="6"/>
            <a:endCxn id="12536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39" name="Google Shape;12539;p471"/>
          <p:cNvCxnSpPr>
            <a:stCxn id="12536" idx="0"/>
            <a:endCxn id="12537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40" name="Google Shape;12540;p471"/>
          <p:cNvCxnSpPr>
            <a:stCxn id="12535" idx="6"/>
            <a:endCxn id="12537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541" name="Google Shape;12541;p471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42" name="Google Shape;12542;p471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43" name="Google Shape;12543;p471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44" name="Google Shape;12544;p471"/>
          <p:cNvCxnSpPr>
            <a:stCxn id="12541" idx="6"/>
            <a:endCxn id="12542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45" name="Google Shape;12545;p471"/>
          <p:cNvCxnSpPr>
            <a:stCxn id="12542" idx="0"/>
            <a:endCxn id="12543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46" name="Google Shape;12546;p471"/>
          <p:cNvCxnSpPr>
            <a:stCxn id="12541" idx="6"/>
            <a:endCxn id="12543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547" name="Google Shape;12547;p471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48" name="Google Shape;12548;p471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49" name="Google Shape;12549;p471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50" name="Google Shape;12550;p471"/>
          <p:cNvCxnSpPr>
            <a:stCxn id="12547" idx="6"/>
            <a:endCxn id="12548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51" name="Google Shape;12551;p471"/>
          <p:cNvCxnSpPr>
            <a:stCxn id="12548" idx="0"/>
            <a:endCxn id="12549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52" name="Google Shape;12552;p471"/>
          <p:cNvCxnSpPr>
            <a:stCxn id="12547" idx="6"/>
            <a:endCxn id="12549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553" name="Google Shape;12553;p471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54" name="Google Shape;12554;p471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55" name="Google Shape;12555;p471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56" name="Google Shape;12556;p471"/>
          <p:cNvCxnSpPr>
            <a:stCxn id="12553" idx="6"/>
            <a:endCxn id="12554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57" name="Google Shape;12557;p471"/>
          <p:cNvCxnSpPr>
            <a:stCxn id="12554" idx="0"/>
            <a:endCxn id="12555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58" name="Google Shape;12558;p471"/>
          <p:cNvCxnSpPr>
            <a:stCxn id="12553" idx="6"/>
            <a:endCxn id="12555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559" name="Google Shape;12559;p471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560" name="Google Shape;12560;p471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61" name="Google Shape;12561;p471"/>
          <p:cNvSpPr/>
          <p:nvPr/>
        </p:nvSpPr>
        <p:spPr>
          <a:xfrm>
            <a:off x="7379575" y="2414038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565" name="Shape 12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6" name="Google Shape;12566;p47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567" name="Google Shape;12567;p472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link between mathematics and the logic of social relations!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“A friend of a friend is a friend”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</a:t>
            </a:r>
            <a:r>
              <a:rPr baseline="-25000" lang="en"/>
              <a:t>PO </a:t>
            </a:r>
            <a:r>
              <a:rPr lang="en"/>
              <a:t>* +1</a:t>
            </a:r>
            <a:r>
              <a:rPr baseline="-25000" lang="en"/>
              <a:t>OQ</a:t>
            </a:r>
            <a:r>
              <a:rPr lang="en"/>
              <a:t> * +1</a:t>
            </a:r>
            <a:r>
              <a:rPr baseline="-25000" lang="en"/>
              <a:t>PQ</a:t>
            </a:r>
            <a:r>
              <a:rPr lang="en"/>
              <a:t> =  +1</a:t>
            </a:r>
            <a:r>
              <a:rPr baseline="-25000" lang="en"/>
              <a:t>POQ</a:t>
            </a:r>
            <a:endParaRPr baseline="-25000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68" name="Google Shape;12568;p472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69" name="Google Shape;12569;p472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70" name="Google Shape;12570;p472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71" name="Google Shape;12571;p472"/>
          <p:cNvCxnSpPr>
            <a:stCxn id="12568" idx="6"/>
            <a:endCxn id="12569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72" name="Google Shape;12572;p472"/>
          <p:cNvCxnSpPr>
            <a:stCxn id="12569" idx="0"/>
            <a:endCxn id="12570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73" name="Google Shape;12573;p472"/>
          <p:cNvCxnSpPr>
            <a:stCxn id="12568" idx="6"/>
            <a:endCxn id="12570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574" name="Google Shape;12574;p472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75" name="Google Shape;12575;p472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76" name="Google Shape;12576;p472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77" name="Google Shape;12577;p472"/>
          <p:cNvCxnSpPr>
            <a:stCxn id="12574" idx="6"/>
            <a:endCxn id="12575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78" name="Google Shape;12578;p472"/>
          <p:cNvCxnSpPr>
            <a:stCxn id="12575" idx="0"/>
            <a:endCxn id="12576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79" name="Google Shape;12579;p472"/>
          <p:cNvCxnSpPr>
            <a:stCxn id="12574" idx="6"/>
            <a:endCxn id="12576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580" name="Google Shape;12580;p472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81" name="Google Shape;12581;p472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82" name="Google Shape;12582;p472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83" name="Google Shape;12583;p472"/>
          <p:cNvCxnSpPr>
            <a:stCxn id="12580" idx="6"/>
            <a:endCxn id="12581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84" name="Google Shape;12584;p472"/>
          <p:cNvCxnSpPr>
            <a:stCxn id="12581" idx="0"/>
            <a:endCxn id="12582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85" name="Google Shape;12585;p472"/>
          <p:cNvCxnSpPr>
            <a:stCxn id="12580" idx="6"/>
            <a:endCxn id="12582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586" name="Google Shape;12586;p472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87" name="Google Shape;12587;p472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88" name="Google Shape;12588;p472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89" name="Google Shape;12589;p472"/>
          <p:cNvCxnSpPr>
            <a:stCxn id="12586" idx="6"/>
            <a:endCxn id="12587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90" name="Google Shape;12590;p472"/>
          <p:cNvCxnSpPr>
            <a:stCxn id="12587" idx="0"/>
            <a:endCxn id="12588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591" name="Google Shape;12591;p472"/>
          <p:cNvCxnSpPr>
            <a:stCxn id="12586" idx="6"/>
            <a:endCxn id="12588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592" name="Google Shape;12592;p472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593" name="Google Shape;12593;p472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94" name="Google Shape;12594;p472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595" name="Google Shape;12595;p472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596" name="Google Shape;12596;p472"/>
          <p:cNvCxnSpPr>
            <a:stCxn id="12593" idx="6"/>
            <a:endCxn id="12594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97" name="Google Shape;12597;p472"/>
          <p:cNvCxnSpPr>
            <a:stCxn id="12594" idx="0"/>
            <a:endCxn id="12595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598" name="Google Shape;12598;p472"/>
          <p:cNvCxnSpPr>
            <a:stCxn id="12593" idx="6"/>
            <a:endCxn id="12595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599" name="Google Shape;12599;p472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00" name="Google Shape;12600;p472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01" name="Google Shape;12601;p472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02" name="Google Shape;12602;p472"/>
          <p:cNvCxnSpPr>
            <a:stCxn id="12599" idx="6"/>
            <a:endCxn id="12600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03" name="Google Shape;12603;p472"/>
          <p:cNvCxnSpPr>
            <a:stCxn id="12600" idx="0"/>
            <a:endCxn id="12601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04" name="Google Shape;12604;p472"/>
          <p:cNvCxnSpPr>
            <a:stCxn id="12599" idx="6"/>
            <a:endCxn id="12601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605" name="Google Shape;12605;p472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06" name="Google Shape;12606;p472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07" name="Google Shape;12607;p472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08" name="Google Shape;12608;p472"/>
          <p:cNvCxnSpPr>
            <a:stCxn id="12605" idx="6"/>
            <a:endCxn id="12606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09" name="Google Shape;12609;p472"/>
          <p:cNvCxnSpPr>
            <a:stCxn id="12606" idx="0"/>
            <a:endCxn id="12607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10" name="Google Shape;12610;p472"/>
          <p:cNvCxnSpPr>
            <a:stCxn id="12605" idx="6"/>
            <a:endCxn id="12607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611" name="Google Shape;12611;p472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12" name="Google Shape;12612;p472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13" name="Google Shape;12613;p472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14" name="Google Shape;12614;p472"/>
          <p:cNvCxnSpPr>
            <a:stCxn id="12611" idx="6"/>
            <a:endCxn id="12612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15" name="Google Shape;12615;p472"/>
          <p:cNvCxnSpPr>
            <a:stCxn id="12612" idx="0"/>
            <a:endCxn id="12613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16" name="Google Shape;12616;p472"/>
          <p:cNvCxnSpPr>
            <a:stCxn id="12611" idx="6"/>
            <a:endCxn id="12613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617" name="Google Shape;12617;p472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618" name="Google Shape;12618;p472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9" name="Google Shape;12619;p472"/>
          <p:cNvSpPr/>
          <p:nvPr/>
        </p:nvSpPr>
        <p:spPr>
          <a:xfrm>
            <a:off x="5722263" y="2399738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623" name="Shape 12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4" name="Google Shape;12624;p47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625" name="Google Shape;12625;p473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link between mathematics and the logic of social relations!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“A friend of an enemy is an enemy”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-1</a:t>
            </a:r>
            <a:r>
              <a:rPr baseline="-25000" lang="en"/>
              <a:t>PO </a:t>
            </a:r>
            <a:r>
              <a:rPr lang="en"/>
              <a:t>* +1</a:t>
            </a:r>
            <a:r>
              <a:rPr baseline="-25000" lang="en"/>
              <a:t>OQ</a:t>
            </a:r>
            <a:r>
              <a:rPr lang="en"/>
              <a:t> * -1</a:t>
            </a:r>
            <a:r>
              <a:rPr baseline="-25000" lang="en"/>
              <a:t>PQ</a:t>
            </a:r>
            <a:r>
              <a:rPr lang="en"/>
              <a:t> =  +1</a:t>
            </a:r>
            <a:r>
              <a:rPr baseline="-25000" lang="en"/>
              <a:t>POQ</a:t>
            </a:r>
            <a:endParaRPr baseline="-25000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6" name="Google Shape;12626;p473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27" name="Google Shape;12627;p473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28" name="Google Shape;12628;p473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29" name="Google Shape;12629;p473"/>
          <p:cNvCxnSpPr>
            <a:stCxn id="12626" idx="6"/>
            <a:endCxn id="12627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30" name="Google Shape;12630;p473"/>
          <p:cNvCxnSpPr>
            <a:stCxn id="12627" idx="0"/>
            <a:endCxn id="12628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31" name="Google Shape;12631;p473"/>
          <p:cNvCxnSpPr>
            <a:stCxn id="12626" idx="6"/>
            <a:endCxn id="12628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632" name="Google Shape;12632;p473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33" name="Google Shape;12633;p473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34" name="Google Shape;12634;p473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35" name="Google Shape;12635;p473"/>
          <p:cNvCxnSpPr>
            <a:stCxn id="12632" idx="6"/>
            <a:endCxn id="12633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36" name="Google Shape;12636;p473"/>
          <p:cNvCxnSpPr>
            <a:stCxn id="12633" idx="0"/>
            <a:endCxn id="12634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37" name="Google Shape;12637;p473"/>
          <p:cNvCxnSpPr>
            <a:stCxn id="12632" idx="6"/>
            <a:endCxn id="12634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638" name="Google Shape;12638;p473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39" name="Google Shape;12639;p473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40" name="Google Shape;12640;p473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41" name="Google Shape;12641;p473"/>
          <p:cNvCxnSpPr>
            <a:stCxn id="12638" idx="6"/>
            <a:endCxn id="12639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42" name="Google Shape;12642;p473"/>
          <p:cNvCxnSpPr>
            <a:stCxn id="12639" idx="0"/>
            <a:endCxn id="12640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43" name="Google Shape;12643;p473"/>
          <p:cNvCxnSpPr>
            <a:stCxn id="12638" idx="6"/>
            <a:endCxn id="12640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644" name="Google Shape;12644;p473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45" name="Google Shape;12645;p473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46" name="Google Shape;12646;p473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47" name="Google Shape;12647;p473"/>
          <p:cNvCxnSpPr>
            <a:stCxn id="12644" idx="6"/>
            <a:endCxn id="12645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48" name="Google Shape;12648;p473"/>
          <p:cNvCxnSpPr>
            <a:stCxn id="12645" idx="0"/>
            <a:endCxn id="12646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49" name="Google Shape;12649;p473"/>
          <p:cNvCxnSpPr>
            <a:stCxn id="12644" idx="6"/>
            <a:endCxn id="12646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650" name="Google Shape;12650;p473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651" name="Google Shape;12651;p473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52" name="Google Shape;12652;p473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53" name="Google Shape;12653;p473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54" name="Google Shape;12654;p473"/>
          <p:cNvCxnSpPr>
            <a:stCxn id="12651" idx="6"/>
            <a:endCxn id="12652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55" name="Google Shape;12655;p473"/>
          <p:cNvCxnSpPr>
            <a:stCxn id="12652" idx="0"/>
            <a:endCxn id="12653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56" name="Google Shape;12656;p473"/>
          <p:cNvCxnSpPr>
            <a:stCxn id="12651" idx="6"/>
            <a:endCxn id="12653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657" name="Google Shape;12657;p473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58" name="Google Shape;12658;p473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59" name="Google Shape;12659;p473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60" name="Google Shape;12660;p473"/>
          <p:cNvCxnSpPr>
            <a:stCxn id="12657" idx="6"/>
            <a:endCxn id="12658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61" name="Google Shape;12661;p473"/>
          <p:cNvCxnSpPr>
            <a:stCxn id="12658" idx="0"/>
            <a:endCxn id="12659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62" name="Google Shape;12662;p473"/>
          <p:cNvCxnSpPr>
            <a:stCxn id="12657" idx="6"/>
            <a:endCxn id="12659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663" name="Google Shape;12663;p473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64" name="Google Shape;12664;p473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65" name="Google Shape;12665;p473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66" name="Google Shape;12666;p473"/>
          <p:cNvCxnSpPr>
            <a:stCxn id="12663" idx="6"/>
            <a:endCxn id="12664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67" name="Google Shape;12667;p473"/>
          <p:cNvCxnSpPr>
            <a:stCxn id="12664" idx="0"/>
            <a:endCxn id="12665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68" name="Google Shape;12668;p473"/>
          <p:cNvCxnSpPr>
            <a:stCxn id="12663" idx="6"/>
            <a:endCxn id="12665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669" name="Google Shape;12669;p473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70" name="Google Shape;12670;p473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71" name="Google Shape;12671;p473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72" name="Google Shape;12672;p473"/>
          <p:cNvCxnSpPr>
            <a:stCxn id="12669" idx="6"/>
            <a:endCxn id="12670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73" name="Google Shape;12673;p473"/>
          <p:cNvCxnSpPr>
            <a:stCxn id="12670" idx="0"/>
            <a:endCxn id="12671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74" name="Google Shape;12674;p473"/>
          <p:cNvCxnSpPr>
            <a:stCxn id="12669" idx="6"/>
            <a:endCxn id="12671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675" name="Google Shape;12675;p473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676" name="Google Shape;12676;p473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7" name="Google Shape;12677;p473"/>
          <p:cNvSpPr/>
          <p:nvPr/>
        </p:nvSpPr>
        <p:spPr>
          <a:xfrm>
            <a:off x="5628450" y="3524463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681" name="Shape 1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2" name="Google Shape;12682;p47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683" name="Google Shape;12683;p474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link between mathematics and the logic of social relations!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“An enemy of a friend is an enemy”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+1</a:t>
            </a:r>
            <a:r>
              <a:rPr baseline="-25000" lang="en"/>
              <a:t>PO </a:t>
            </a:r>
            <a:r>
              <a:rPr lang="en"/>
              <a:t>* -1</a:t>
            </a:r>
            <a:r>
              <a:rPr baseline="-25000" lang="en"/>
              <a:t>OQ</a:t>
            </a:r>
            <a:r>
              <a:rPr lang="en"/>
              <a:t> * -1</a:t>
            </a:r>
            <a:r>
              <a:rPr baseline="-25000" lang="en"/>
              <a:t>PQ</a:t>
            </a:r>
            <a:r>
              <a:rPr lang="en"/>
              <a:t> =  +1</a:t>
            </a:r>
            <a:r>
              <a:rPr baseline="-25000" lang="en"/>
              <a:t>POQ</a:t>
            </a:r>
            <a:endParaRPr baseline="-25000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4" name="Google Shape;12684;p474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85" name="Google Shape;12685;p474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86" name="Google Shape;12686;p474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87" name="Google Shape;12687;p474"/>
          <p:cNvCxnSpPr>
            <a:stCxn id="12684" idx="6"/>
            <a:endCxn id="12685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88" name="Google Shape;12688;p474"/>
          <p:cNvCxnSpPr>
            <a:stCxn id="12685" idx="0"/>
            <a:endCxn id="12686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89" name="Google Shape;12689;p474"/>
          <p:cNvCxnSpPr>
            <a:stCxn id="12684" idx="6"/>
            <a:endCxn id="12686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690" name="Google Shape;12690;p474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91" name="Google Shape;12691;p474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92" name="Google Shape;12692;p474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93" name="Google Shape;12693;p474"/>
          <p:cNvCxnSpPr>
            <a:stCxn id="12690" idx="6"/>
            <a:endCxn id="12691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694" name="Google Shape;12694;p474"/>
          <p:cNvCxnSpPr>
            <a:stCxn id="12691" idx="0"/>
            <a:endCxn id="12692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695" name="Google Shape;12695;p474"/>
          <p:cNvCxnSpPr>
            <a:stCxn id="12690" idx="6"/>
            <a:endCxn id="12692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696" name="Google Shape;12696;p474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97" name="Google Shape;12697;p474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698" name="Google Shape;12698;p474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699" name="Google Shape;12699;p474"/>
          <p:cNvCxnSpPr>
            <a:stCxn id="12696" idx="6"/>
            <a:endCxn id="12697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00" name="Google Shape;12700;p474"/>
          <p:cNvCxnSpPr>
            <a:stCxn id="12697" idx="0"/>
            <a:endCxn id="12698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01" name="Google Shape;12701;p474"/>
          <p:cNvCxnSpPr>
            <a:stCxn id="12696" idx="6"/>
            <a:endCxn id="12698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702" name="Google Shape;12702;p474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03" name="Google Shape;12703;p474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04" name="Google Shape;12704;p474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05" name="Google Shape;12705;p474"/>
          <p:cNvCxnSpPr>
            <a:stCxn id="12702" idx="6"/>
            <a:endCxn id="12703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06" name="Google Shape;12706;p474"/>
          <p:cNvCxnSpPr>
            <a:stCxn id="12703" idx="0"/>
            <a:endCxn id="12704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07" name="Google Shape;12707;p474"/>
          <p:cNvCxnSpPr>
            <a:stCxn id="12702" idx="6"/>
            <a:endCxn id="12704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708" name="Google Shape;12708;p474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709" name="Google Shape;12709;p474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10" name="Google Shape;12710;p474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11" name="Google Shape;12711;p474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12" name="Google Shape;12712;p474"/>
          <p:cNvCxnSpPr>
            <a:stCxn id="12709" idx="6"/>
            <a:endCxn id="12710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13" name="Google Shape;12713;p474"/>
          <p:cNvCxnSpPr>
            <a:stCxn id="12710" idx="0"/>
            <a:endCxn id="12711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14" name="Google Shape;12714;p474"/>
          <p:cNvCxnSpPr>
            <a:stCxn id="12709" idx="6"/>
            <a:endCxn id="12711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715" name="Google Shape;12715;p474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16" name="Google Shape;12716;p474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17" name="Google Shape;12717;p474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18" name="Google Shape;12718;p474"/>
          <p:cNvCxnSpPr>
            <a:stCxn id="12715" idx="6"/>
            <a:endCxn id="12716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19" name="Google Shape;12719;p474"/>
          <p:cNvCxnSpPr>
            <a:stCxn id="12716" idx="0"/>
            <a:endCxn id="12717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20" name="Google Shape;12720;p474"/>
          <p:cNvCxnSpPr>
            <a:stCxn id="12715" idx="6"/>
            <a:endCxn id="12717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721" name="Google Shape;12721;p474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22" name="Google Shape;12722;p474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23" name="Google Shape;12723;p474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24" name="Google Shape;12724;p474"/>
          <p:cNvCxnSpPr>
            <a:stCxn id="12721" idx="6"/>
            <a:endCxn id="12722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25" name="Google Shape;12725;p474"/>
          <p:cNvCxnSpPr>
            <a:stCxn id="12722" idx="0"/>
            <a:endCxn id="12723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26" name="Google Shape;12726;p474"/>
          <p:cNvCxnSpPr>
            <a:stCxn id="12721" idx="6"/>
            <a:endCxn id="12723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727" name="Google Shape;12727;p474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28" name="Google Shape;12728;p474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29" name="Google Shape;12729;p474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30" name="Google Shape;12730;p474"/>
          <p:cNvCxnSpPr>
            <a:stCxn id="12727" idx="6"/>
            <a:endCxn id="12728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31" name="Google Shape;12731;p474"/>
          <p:cNvCxnSpPr>
            <a:stCxn id="12728" idx="0"/>
            <a:endCxn id="12729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32" name="Google Shape;12732;p474"/>
          <p:cNvCxnSpPr>
            <a:stCxn id="12727" idx="6"/>
            <a:endCxn id="12729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733" name="Google Shape;12733;p474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734" name="Google Shape;12734;p474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35" name="Google Shape;12735;p474"/>
          <p:cNvSpPr/>
          <p:nvPr/>
        </p:nvSpPr>
        <p:spPr>
          <a:xfrm>
            <a:off x="7386450" y="2399738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39" name="Shape 12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0" name="Google Shape;12740;p47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Mathematics of Balance Theory</a:t>
            </a:r>
            <a:endParaRPr/>
          </a:p>
        </p:txBody>
      </p:sp>
      <p:sp>
        <p:nvSpPr>
          <p:cNvPr id="12741" name="Google Shape;12741;p475"/>
          <p:cNvSpPr txBox="1"/>
          <p:nvPr>
            <p:ph idx="1" type="body"/>
          </p:nvPr>
        </p:nvSpPr>
        <p:spPr>
          <a:xfrm>
            <a:off x="311700" y="1225225"/>
            <a:ext cx="85206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link between mathematics and the logic of social relations!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“An enemy of an enemy is a friend”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-1</a:t>
            </a:r>
            <a:r>
              <a:rPr baseline="-25000" lang="en"/>
              <a:t>PO </a:t>
            </a:r>
            <a:r>
              <a:rPr lang="en"/>
              <a:t>* -1</a:t>
            </a:r>
            <a:r>
              <a:rPr baseline="-25000" lang="en"/>
              <a:t>OQ</a:t>
            </a:r>
            <a:r>
              <a:rPr lang="en"/>
              <a:t> * +1</a:t>
            </a:r>
            <a:r>
              <a:rPr baseline="-25000" lang="en"/>
              <a:t>PQ</a:t>
            </a:r>
            <a:r>
              <a:rPr lang="en"/>
              <a:t> =  +1</a:t>
            </a:r>
            <a:r>
              <a:rPr baseline="-25000" lang="en"/>
              <a:t>POQ</a:t>
            </a:r>
            <a:endParaRPr baseline="-25000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42" name="Google Shape;12742;p475"/>
          <p:cNvSpPr/>
          <p:nvPr/>
        </p:nvSpPr>
        <p:spPr>
          <a:xfrm>
            <a:off x="311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43" name="Google Shape;12743;p475"/>
          <p:cNvSpPr/>
          <p:nvPr/>
        </p:nvSpPr>
        <p:spPr>
          <a:xfrm>
            <a:off x="1376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44" name="Google Shape;12744;p475"/>
          <p:cNvSpPr/>
          <p:nvPr/>
        </p:nvSpPr>
        <p:spPr>
          <a:xfrm>
            <a:off x="1376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45" name="Google Shape;12745;p475"/>
          <p:cNvCxnSpPr>
            <a:stCxn id="12742" idx="6"/>
            <a:endCxn id="12743" idx="2"/>
          </p:cNvCxnSpPr>
          <p:nvPr/>
        </p:nvCxnSpPr>
        <p:spPr>
          <a:xfrm>
            <a:off x="618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46" name="Google Shape;12746;p475"/>
          <p:cNvCxnSpPr>
            <a:stCxn id="12743" idx="0"/>
            <a:endCxn id="12744" idx="4"/>
          </p:cNvCxnSpPr>
          <p:nvPr/>
        </p:nvCxnSpPr>
        <p:spPr>
          <a:xfrm rot="10800000">
            <a:off x="1529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47" name="Google Shape;12747;p475"/>
          <p:cNvCxnSpPr>
            <a:stCxn id="12742" idx="6"/>
            <a:endCxn id="12744" idx="2"/>
          </p:cNvCxnSpPr>
          <p:nvPr/>
        </p:nvCxnSpPr>
        <p:spPr>
          <a:xfrm flipH="1" rot="10800000">
            <a:off x="618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748" name="Google Shape;12748;p475"/>
          <p:cNvSpPr/>
          <p:nvPr/>
        </p:nvSpPr>
        <p:spPr>
          <a:xfrm>
            <a:off x="1985725" y="272432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49" name="Google Shape;12749;p475"/>
          <p:cNvSpPr/>
          <p:nvPr/>
        </p:nvSpPr>
        <p:spPr>
          <a:xfrm>
            <a:off x="3050459" y="314074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50" name="Google Shape;12750;p475"/>
          <p:cNvSpPr/>
          <p:nvPr/>
        </p:nvSpPr>
        <p:spPr>
          <a:xfrm>
            <a:off x="3050459" y="245881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51" name="Google Shape;12751;p475"/>
          <p:cNvCxnSpPr>
            <a:stCxn id="12748" idx="6"/>
            <a:endCxn id="12749" idx="2"/>
          </p:cNvCxnSpPr>
          <p:nvPr/>
        </p:nvCxnSpPr>
        <p:spPr>
          <a:xfrm>
            <a:off x="2292625" y="287717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52" name="Google Shape;12752;p475"/>
          <p:cNvCxnSpPr>
            <a:stCxn id="12749" idx="0"/>
            <a:endCxn id="12750" idx="4"/>
          </p:cNvCxnSpPr>
          <p:nvPr/>
        </p:nvCxnSpPr>
        <p:spPr>
          <a:xfrm rot="10800000">
            <a:off x="3203909" y="276454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53" name="Google Shape;12753;p475"/>
          <p:cNvCxnSpPr>
            <a:stCxn id="12748" idx="6"/>
            <a:endCxn id="12750" idx="2"/>
          </p:cNvCxnSpPr>
          <p:nvPr/>
        </p:nvCxnSpPr>
        <p:spPr>
          <a:xfrm flipH="1" rot="10800000">
            <a:off x="2292625" y="261167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754" name="Google Shape;12754;p475"/>
          <p:cNvSpPr/>
          <p:nvPr/>
        </p:nvSpPr>
        <p:spPr>
          <a:xfrm>
            <a:off x="311688" y="3818551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55" name="Google Shape;12755;p475"/>
          <p:cNvSpPr/>
          <p:nvPr/>
        </p:nvSpPr>
        <p:spPr>
          <a:xfrm>
            <a:off x="1376422" y="4234973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56" name="Google Shape;12756;p475"/>
          <p:cNvSpPr/>
          <p:nvPr/>
        </p:nvSpPr>
        <p:spPr>
          <a:xfrm>
            <a:off x="1376422" y="3553038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57" name="Google Shape;12757;p475"/>
          <p:cNvCxnSpPr>
            <a:stCxn id="12754" idx="6"/>
            <a:endCxn id="12755" idx="2"/>
          </p:cNvCxnSpPr>
          <p:nvPr/>
        </p:nvCxnSpPr>
        <p:spPr>
          <a:xfrm>
            <a:off x="618588" y="3971401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58" name="Google Shape;12758;p475"/>
          <p:cNvCxnSpPr>
            <a:stCxn id="12755" idx="0"/>
            <a:endCxn id="12756" idx="4"/>
          </p:cNvCxnSpPr>
          <p:nvPr/>
        </p:nvCxnSpPr>
        <p:spPr>
          <a:xfrm rot="10800000">
            <a:off x="1529872" y="3858773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59" name="Google Shape;12759;p475"/>
          <p:cNvCxnSpPr>
            <a:stCxn id="12754" idx="6"/>
            <a:endCxn id="12756" idx="2"/>
          </p:cNvCxnSpPr>
          <p:nvPr/>
        </p:nvCxnSpPr>
        <p:spPr>
          <a:xfrm flipH="1" rot="10800000">
            <a:off x="618588" y="3705901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760" name="Google Shape;12760;p475"/>
          <p:cNvSpPr/>
          <p:nvPr/>
        </p:nvSpPr>
        <p:spPr>
          <a:xfrm>
            <a:off x="1985713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61" name="Google Shape;12761;p475"/>
          <p:cNvSpPr/>
          <p:nvPr/>
        </p:nvSpPr>
        <p:spPr>
          <a:xfrm>
            <a:off x="3050447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62" name="Google Shape;12762;p475"/>
          <p:cNvSpPr/>
          <p:nvPr/>
        </p:nvSpPr>
        <p:spPr>
          <a:xfrm>
            <a:off x="3050447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63" name="Google Shape;12763;p475"/>
          <p:cNvCxnSpPr>
            <a:stCxn id="12760" idx="6"/>
            <a:endCxn id="12761" idx="2"/>
          </p:cNvCxnSpPr>
          <p:nvPr/>
        </p:nvCxnSpPr>
        <p:spPr>
          <a:xfrm>
            <a:off x="2292613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64" name="Google Shape;12764;p475"/>
          <p:cNvCxnSpPr>
            <a:stCxn id="12761" idx="0"/>
            <a:endCxn id="12762" idx="4"/>
          </p:cNvCxnSpPr>
          <p:nvPr/>
        </p:nvCxnSpPr>
        <p:spPr>
          <a:xfrm rot="10800000">
            <a:off x="3203897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65" name="Google Shape;12765;p475"/>
          <p:cNvCxnSpPr>
            <a:stCxn id="12760" idx="6"/>
            <a:endCxn id="12762" idx="2"/>
          </p:cNvCxnSpPr>
          <p:nvPr/>
        </p:nvCxnSpPr>
        <p:spPr>
          <a:xfrm flipH="1" rot="10800000">
            <a:off x="2292613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766" name="Google Shape;12766;p475"/>
          <p:cNvSpPr txBox="1"/>
          <p:nvPr/>
        </p:nvSpPr>
        <p:spPr>
          <a:xfrm>
            <a:off x="938000" y="4647288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Unbalanced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767" name="Google Shape;12767;p475"/>
          <p:cNvSpPr/>
          <p:nvPr/>
        </p:nvSpPr>
        <p:spPr>
          <a:xfrm>
            <a:off x="5786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68" name="Google Shape;12768;p475"/>
          <p:cNvSpPr/>
          <p:nvPr/>
        </p:nvSpPr>
        <p:spPr>
          <a:xfrm>
            <a:off x="6851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69" name="Google Shape;12769;p475"/>
          <p:cNvSpPr/>
          <p:nvPr/>
        </p:nvSpPr>
        <p:spPr>
          <a:xfrm>
            <a:off x="6851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70" name="Google Shape;12770;p475"/>
          <p:cNvCxnSpPr>
            <a:stCxn id="12767" idx="6"/>
            <a:endCxn id="12768" idx="2"/>
          </p:cNvCxnSpPr>
          <p:nvPr/>
        </p:nvCxnSpPr>
        <p:spPr>
          <a:xfrm>
            <a:off x="6093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71" name="Google Shape;12771;p475"/>
          <p:cNvCxnSpPr>
            <a:stCxn id="12768" idx="0"/>
            <a:endCxn id="12769" idx="4"/>
          </p:cNvCxnSpPr>
          <p:nvPr/>
        </p:nvCxnSpPr>
        <p:spPr>
          <a:xfrm rot="10800000">
            <a:off x="7004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72" name="Google Shape;12772;p475"/>
          <p:cNvCxnSpPr>
            <a:stCxn id="12767" idx="6"/>
            <a:endCxn id="12769" idx="2"/>
          </p:cNvCxnSpPr>
          <p:nvPr/>
        </p:nvCxnSpPr>
        <p:spPr>
          <a:xfrm flipH="1" rot="10800000">
            <a:off x="6093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773" name="Google Shape;12773;p475"/>
          <p:cNvSpPr/>
          <p:nvPr/>
        </p:nvSpPr>
        <p:spPr>
          <a:xfrm>
            <a:off x="7460675" y="2724338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74" name="Google Shape;12774;p475"/>
          <p:cNvSpPr/>
          <p:nvPr/>
        </p:nvSpPr>
        <p:spPr>
          <a:xfrm>
            <a:off x="8525409" y="3140760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75" name="Google Shape;12775;p475"/>
          <p:cNvSpPr/>
          <p:nvPr/>
        </p:nvSpPr>
        <p:spPr>
          <a:xfrm>
            <a:off x="8525409" y="2458825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76" name="Google Shape;12776;p475"/>
          <p:cNvCxnSpPr>
            <a:stCxn id="12773" idx="6"/>
            <a:endCxn id="12774" idx="2"/>
          </p:cNvCxnSpPr>
          <p:nvPr/>
        </p:nvCxnSpPr>
        <p:spPr>
          <a:xfrm>
            <a:off x="7767575" y="2877188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77" name="Google Shape;12777;p475"/>
          <p:cNvCxnSpPr>
            <a:stCxn id="12774" idx="0"/>
            <a:endCxn id="12775" idx="4"/>
          </p:cNvCxnSpPr>
          <p:nvPr/>
        </p:nvCxnSpPr>
        <p:spPr>
          <a:xfrm rot="10800000">
            <a:off x="8678859" y="2764560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78" name="Google Shape;12778;p475"/>
          <p:cNvCxnSpPr>
            <a:stCxn id="12773" idx="6"/>
            <a:endCxn id="12775" idx="2"/>
          </p:cNvCxnSpPr>
          <p:nvPr/>
        </p:nvCxnSpPr>
        <p:spPr>
          <a:xfrm flipH="1" rot="10800000">
            <a:off x="7767575" y="2611688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779" name="Google Shape;12779;p475"/>
          <p:cNvSpPr/>
          <p:nvPr/>
        </p:nvSpPr>
        <p:spPr>
          <a:xfrm>
            <a:off x="5786638" y="3818563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80" name="Google Shape;12780;p475"/>
          <p:cNvSpPr/>
          <p:nvPr/>
        </p:nvSpPr>
        <p:spPr>
          <a:xfrm>
            <a:off x="6851372" y="4234985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81" name="Google Shape;12781;p475"/>
          <p:cNvSpPr/>
          <p:nvPr/>
        </p:nvSpPr>
        <p:spPr>
          <a:xfrm>
            <a:off x="6851372" y="3553050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82" name="Google Shape;12782;p475"/>
          <p:cNvCxnSpPr>
            <a:stCxn id="12779" idx="6"/>
            <a:endCxn id="12780" idx="2"/>
          </p:cNvCxnSpPr>
          <p:nvPr/>
        </p:nvCxnSpPr>
        <p:spPr>
          <a:xfrm>
            <a:off x="6093538" y="3971413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83" name="Google Shape;12783;p475"/>
          <p:cNvCxnSpPr>
            <a:stCxn id="12780" idx="0"/>
            <a:endCxn id="12781" idx="4"/>
          </p:cNvCxnSpPr>
          <p:nvPr/>
        </p:nvCxnSpPr>
        <p:spPr>
          <a:xfrm rot="10800000">
            <a:off x="7004822" y="3858785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2784" name="Google Shape;12784;p475"/>
          <p:cNvCxnSpPr>
            <a:stCxn id="12779" idx="6"/>
            <a:endCxn id="12781" idx="2"/>
          </p:cNvCxnSpPr>
          <p:nvPr/>
        </p:nvCxnSpPr>
        <p:spPr>
          <a:xfrm flipH="1" rot="10800000">
            <a:off x="6093538" y="3705913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2785" name="Google Shape;12785;p475"/>
          <p:cNvSpPr/>
          <p:nvPr/>
        </p:nvSpPr>
        <p:spPr>
          <a:xfrm>
            <a:off x="7460663" y="3818576"/>
            <a:ext cx="306900" cy="305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P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86" name="Google Shape;12786;p475"/>
          <p:cNvSpPr/>
          <p:nvPr/>
        </p:nvSpPr>
        <p:spPr>
          <a:xfrm>
            <a:off x="8525397" y="4234998"/>
            <a:ext cx="306900" cy="3057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O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2787" name="Google Shape;12787;p475"/>
          <p:cNvSpPr/>
          <p:nvPr/>
        </p:nvSpPr>
        <p:spPr>
          <a:xfrm>
            <a:off x="8525397" y="3553063"/>
            <a:ext cx="306900" cy="305700"/>
          </a:xfrm>
          <a:prstGeom prst="ellipse">
            <a:avLst/>
          </a:prstGeom>
          <a:solidFill>
            <a:schemeClr val="accent4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Oxygen"/>
                <a:ea typeface="Oxygen"/>
                <a:cs typeface="Oxygen"/>
                <a:sym typeface="Oxygen"/>
              </a:rPr>
              <a:t>Q</a:t>
            </a:r>
            <a:endParaRPr sz="1500">
              <a:latin typeface="Oxygen"/>
              <a:ea typeface="Oxygen"/>
              <a:cs typeface="Oxygen"/>
              <a:sym typeface="Oxygen"/>
            </a:endParaRPr>
          </a:p>
        </p:txBody>
      </p:sp>
      <p:cxnSp>
        <p:nvCxnSpPr>
          <p:cNvPr id="12788" name="Google Shape;12788;p475"/>
          <p:cNvCxnSpPr>
            <a:stCxn id="12785" idx="6"/>
            <a:endCxn id="12786" idx="2"/>
          </p:cNvCxnSpPr>
          <p:nvPr/>
        </p:nvCxnSpPr>
        <p:spPr>
          <a:xfrm>
            <a:off x="7767563" y="3971426"/>
            <a:ext cx="757800" cy="416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89" name="Google Shape;12789;p475"/>
          <p:cNvCxnSpPr>
            <a:stCxn id="12786" idx="0"/>
            <a:endCxn id="12787" idx="4"/>
          </p:cNvCxnSpPr>
          <p:nvPr/>
        </p:nvCxnSpPr>
        <p:spPr>
          <a:xfrm rot="10800000">
            <a:off x="8678847" y="3858798"/>
            <a:ext cx="0" cy="376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2790" name="Google Shape;12790;p475"/>
          <p:cNvCxnSpPr>
            <a:stCxn id="12785" idx="6"/>
            <a:endCxn id="12787" idx="2"/>
          </p:cNvCxnSpPr>
          <p:nvPr/>
        </p:nvCxnSpPr>
        <p:spPr>
          <a:xfrm flipH="1" rot="10800000">
            <a:off x="7767563" y="3705926"/>
            <a:ext cx="757800" cy="265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791" name="Google Shape;12791;p475"/>
          <p:cNvSpPr txBox="1"/>
          <p:nvPr/>
        </p:nvSpPr>
        <p:spPr>
          <a:xfrm>
            <a:off x="6412950" y="4647300"/>
            <a:ext cx="2265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Economica"/>
                <a:ea typeface="Economica"/>
                <a:cs typeface="Economica"/>
                <a:sym typeface="Economica"/>
              </a:rPr>
              <a:t>Balanced Configurations</a:t>
            </a:r>
            <a:endParaRPr sz="17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2792" name="Google Shape;12792;p475"/>
          <p:cNvSpPr/>
          <p:nvPr/>
        </p:nvSpPr>
        <p:spPr>
          <a:xfrm>
            <a:off x="3921150" y="3121650"/>
            <a:ext cx="1366500" cy="1002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3" name="Google Shape;12793;p475"/>
          <p:cNvSpPr/>
          <p:nvPr/>
        </p:nvSpPr>
        <p:spPr>
          <a:xfrm>
            <a:off x="7400200" y="3524463"/>
            <a:ext cx="1610700" cy="11058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97" name="Shape 12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8" name="Google Shape;12798;p47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799" name="Google Shape;12799;p476"/>
          <p:cNvSpPr txBox="1"/>
          <p:nvPr>
            <p:ph idx="1" type="body"/>
          </p:nvPr>
        </p:nvSpPr>
        <p:spPr>
          <a:xfrm>
            <a:off x="311700" y="1225225"/>
            <a:ext cx="5816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There are two types of connected dyads in networks:</a:t>
            </a:r>
            <a:endParaRPr>
              <a:solidFill>
                <a:srgbClr val="000000"/>
              </a:solidFill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0" name="Google Shape;12800;p476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01" name="Google Shape;12801;p476"/>
          <p:cNvCxnSpPr>
            <a:stCxn id="12800" idx="7"/>
            <a:endCxn id="12802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803" name="Google Shape;12803;p476"/>
          <p:cNvCxnSpPr>
            <a:stCxn id="12800" idx="5"/>
            <a:endCxn id="12804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02" name="Google Shape;12802;p476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4" name="Google Shape;12804;p476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05" name="Google Shape;12805;p476"/>
          <p:cNvCxnSpPr>
            <a:stCxn id="12804" idx="0"/>
            <a:endCxn id="12802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06" name="Google Shape;12806;p476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07" name="Google Shape;12807;p476"/>
          <p:cNvCxnSpPr>
            <a:stCxn id="12800" idx="4"/>
            <a:endCxn id="12806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11" name="Shape 12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2" name="Google Shape;12812;p47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813" name="Google Shape;12813;p477"/>
          <p:cNvSpPr txBox="1"/>
          <p:nvPr>
            <p:ph idx="1" type="body"/>
          </p:nvPr>
        </p:nvSpPr>
        <p:spPr>
          <a:xfrm>
            <a:off x="311700" y="1225225"/>
            <a:ext cx="5816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There are two types of connected dyads in networks: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lang="en" u="sng">
                <a:solidFill>
                  <a:srgbClr val="FF0000"/>
                </a:solidFill>
              </a:rPr>
              <a:t>Simmelian ties*</a:t>
            </a:r>
            <a:endParaRPr u="sng">
              <a:solidFill>
                <a:srgbClr val="FF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●"/>
            </a:pPr>
            <a:r>
              <a:rPr lang="en">
                <a:solidFill>
                  <a:srgbClr val="FF0000"/>
                </a:solidFill>
              </a:rPr>
              <a:t>Dyads embedded in triads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4" name="Google Shape;12814;p477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15" name="Google Shape;12815;p477"/>
          <p:cNvCxnSpPr>
            <a:stCxn id="12814" idx="7"/>
            <a:endCxn id="12816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817" name="Google Shape;12817;p477"/>
          <p:cNvCxnSpPr>
            <a:stCxn id="12814" idx="5"/>
            <a:endCxn id="12818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16" name="Google Shape;12816;p477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8" name="Google Shape;12818;p477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19" name="Google Shape;12819;p477"/>
          <p:cNvCxnSpPr>
            <a:stCxn id="12818" idx="0"/>
            <a:endCxn id="12816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20" name="Google Shape;12820;p477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21" name="Google Shape;12821;p477"/>
          <p:cNvCxnSpPr>
            <a:stCxn id="12814" idx="4"/>
            <a:endCxn id="12820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22" name="Google Shape;12822;p477"/>
          <p:cNvSpPr txBox="1"/>
          <p:nvPr/>
        </p:nvSpPr>
        <p:spPr>
          <a:xfrm>
            <a:off x="425775" y="4216425"/>
            <a:ext cx="51777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*Named after the German sociologist Georg Simmel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26" name="Shape 12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7" name="Google Shape;12827;p47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828" name="Google Shape;12828;p478"/>
          <p:cNvSpPr txBox="1"/>
          <p:nvPr>
            <p:ph idx="1" type="body"/>
          </p:nvPr>
        </p:nvSpPr>
        <p:spPr>
          <a:xfrm>
            <a:off x="311700" y="1225225"/>
            <a:ext cx="5816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There are two types of connected dyads in networks: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lang="en" u="sng">
                <a:solidFill>
                  <a:srgbClr val="FF0000"/>
                </a:solidFill>
              </a:rPr>
              <a:t>Simmelian ties*</a:t>
            </a:r>
            <a:endParaRPr u="sng">
              <a:solidFill>
                <a:srgbClr val="FF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●"/>
            </a:pPr>
            <a:r>
              <a:rPr lang="en">
                <a:solidFill>
                  <a:srgbClr val="FF0000"/>
                </a:solidFill>
              </a:rPr>
              <a:t>Dyads embedded in triads</a:t>
            </a:r>
            <a:endParaRPr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■"/>
            </a:pPr>
            <a:r>
              <a:rPr lang="en" u="sng">
                <a:solidFill>
                  <a:srgbClr val="0000FF"/>
                </a:solidFill>
              </a:rPr>
              <a:t>“Regular” (non-Simmelian) ties</a:t>
            </a:r>
            <a:endParaRPr u="sng">
              <a:solidFill>
                <a:srgbClr val="0000FF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●"/>
            </a:pPr>
            <a:r>
              <a:rPr lang="en">
                <a:solidFill>
                  <a:srgbClr val="0000FF"/>
                </a:solidFill>
              </a:rPr>
              <a:t>Stand alone dyads</a:t>
            </a:r>
            <a:endParaRPr>
              <a:solidFill>
                <a:srgbClr val="0000FF"/>
              </a:solidFill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9" name="Google Shape;12829;p478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30" name="Google Shape;12830;p478"/>
          <p:cNvCxnSpPr>
            <a:stCxn id="12829" idx="7"/>
            <a:endCxn id="12831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832" name="Google Shape;12832;p478"/>
          <p:cNvCxnSpPr>
            <a:stCxn id="12829" idx="5"/>
            <a:endCxn id="12833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31" name="Google Shape;12831;p478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3" name="Google Shape;12833;p478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34" name="Google Shape;12834;p478"/>
          <p:cNvCxnSpPr>
            <a:stCxn id="12833" idx="0"/>
            <a:endCxn id="12831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35" name="Google Shape;12835;p478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36" name="Google Shape;12836;p478"/>
          <p:cNvCxnSpPr>
            <a:stCxn id="12829" idx="4"/>
            <a:endCxn id="12835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37" name="Google Shape;12837;p478"/>
          <p:cNvSpPr txBox="1"/>
          <p:nvPr/>
        </p:nvSpPr>
        <p:spPr>
          <a:xfrm>
            <a:off x="425775" y="4216425"/>
            <a:ext cx="51777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*Named after the German sociologist Georg Simmel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41" name="Shape 12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2" name="Google Shape;12842;p47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843" name="Google Shape;12843;p479"/>
          <p:cNvSpPr txBox="1"/>
          <p:nvPr>
            <p:ph idx="1" type="body"/>
          </p:nvPr>
        </p:nvSpPr>
        <p:spPr>
          <a:xfrm>
            <a:off x="311700" y="1225225"/>
            <a:ext cx="5816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There are two types of connected dyads in networks: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lang="en" u="sng">
                <a:solidFill>
                  <a:srgbClr val="FF0000"/>
                </a:solidFill>
              </a:rPr>
              <a:t>Simmelian ties*</a:t>
            </a:r>
            <a:endParaRPr u="sng">
              <a:solidFill>
                <a:srgbClr val="FF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●"/>
            </a:pPr>
            <a:r>
              <a:rPr lang="en">
                <a:solidFill>
                  <a:srgbClr val="FF0000"/>
                </a:solidFill>
              </a:rPr>
              <a:t>Dyads embedded in triads</a:t>
            </a:r>
            <a:endParaRPr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■"/>
            </a:pPr>
            <a:r>
              <a:rPr lang="en" u="sng">
                <a:solidFill>
                  <a:srgbClr val="0000FF"/>
                </a:solidFill>
              </a:rPr>
              <a:t>“Regular” (non-Simmelian) ties</a:t>
            </a:r>
            <a:endParaRPr u="sng">
              <a:solidFill>
                <a:srgbClr val="0000FF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●"/>
            </a:pPr>
            <a:r>
              <a:rPr lang="en">
                <a:solidFill>
                  <a:srgbClr val="0000FF"/>
                </a:solidFill>
              </a:rPr>
              <a:t>Stand alone dyads</a:t>
            </a:r>
            <a:endParaRPr>
              <a:solidFill>
                <a:srgbClr val="0000FF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Contrast between a two-person and a three-person “group”</a:t>
            </a:r>
            <a:endParaRPr>
              <a:solidFill>
                <a:srgbClr val="000000"/>
              </a:solidFill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4" name="Google Shape;12844;p479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45" name="Google Shape;12845;p479"/>
          <p:cNvCxnSpPr>
            <a:stCxn id="12844" idx="7"/>
            <a:endCxn id="12846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847" name="Google Shape;12847;p479"/>
          <p:cNvCxnSpPr>
            <a:stCxn id="12844" idx="5"/>
            <a:endCxn id="12848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46" name="Google Shape;12846;p479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8" name="Google Shape;12848;p479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49" name="Google Shape;12849;p479"/>
          <p:cNvCxnSpPr>
            <a:stCxn id="12848" idx="0"/>
            <a:endCxn id="12846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50" name="Google Shape;12850;p479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51" name="Google Shape;12851;p479"/>
          <p:cNvCxnSpPr>
            <a:stCxn id="12844" idx="4"/>
            <a:endCxn id="12850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52" name="Google Shape;12852;p479"/>
          <p:cNvSpPr txBox="1"/>
          <p:nvPr/>
        </p:nvSpPr>
        <p:spPr>
          <a:xfrm>
            <a:off x="425775" y="4216425"/>
            <a:ext cx="51777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*Named after the German sociologist Georg Simmel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853" name="Google Shape;12853;p479"/>
          <p:cNvSpPr/>
          <p:nvPr/>
        </p:nvSpPr>
        <p:spPr>
          <a:xfrm>
            <a:off x="5713475" y="1016350"/>
            <a:ext cx="3344400" cy="2314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4" name="Google Shape;12854;p479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58" name="Shape 12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9" name="Google Shape;12859;p480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0" name="Google Shape;12860;p48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861" name="Google Shape;12861;p480"/>
          <p:cNvSpPr txBox="1"/>
          <p:nvPr>
            <p:ph idx="1" type="body"/>
          </p:nvPr>
        </p:nvSpPr>
        <p:spPr>
          <a:xfrm>
            <a:off x="311700" y="1225225"/>
            <a:ext cx="5816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two-person</a:t>
            </a:r>
            <a:r>
              <a:rPr lang="en"/>
              <a:t> group (standalone dyad):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■"/>
            </a:pPr>
            <a:r>
              <a:rPr lang="en">
                <a:solidFill>
                  <a:srgbClr val="FFFFFF"/>
                </a:solidFill>
              </a:rPr>
              <a:t>Have more individuality</a:t>
            </a:r>
            <a:endParaRPr>
              <a:solidFill>
                <a:srgbClr val="FFFFFF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■"/>
            </a:pPr>
            <a:r>
              <a:rPr lang="en">
                <a:solidFill>
                  <a:srgbClr val="FFFFFF"/>
                </a:solidFill>
              </a:rPr>
              <a:t>More potential for unresolved differences</a:t>
            </a:r>
            <a:endParaRPr/>
          </a:p>
        </p:txBody>
      </p:sp>
      <p:sp>
        <p:nvSpPr>
          <p:cNvPr id="12862" name="Google Shape;12862;p480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63" name="Google Shape;12863;p480"/>
          <p:cNvCxnSpPr>
            <a:stCxn id="12862" idx="7"/>
            <a:endCxn id="12864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865" name="Google Shape;12865;p480"/>
          <p:cNvCxnSpPr>
            <a:stCxn id="12862" idx="5"/>
            <a:endCxn id="12866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64" name="Google Shape;12864;p480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6" name="Google Shape;12866;p480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67" name="Google Shape;12867;p480"/>
          <p:cNvCxnSpPr>
            <a:stCxn id="12866" idx="0"/>
            <a:endCxn id="12864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68" name="Google Shape;12868;p480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69" name="Google Shape;12869;p480"/>
          <p:cNvCxnSpPr>
            <a:stCxn id="12862" idx="4"/>
            <a:endCxn id="12868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73" name="Shape 12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74" name="Google Shape;12874;p481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5" name="Google Shape;12875;p48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876" name="Google Shape;12876;p481"/>
          <p:cNvSpPr txBox="1"/>
          <p:nvPr>
            <p:ph idx="1" type="body"/>
          </p:nvPr>
        </p:nvSpPr>
        <p:spPr>
          <a:xfrm>
            <a:off x="311700" y="1225225"/>
            <a:ext cx="5816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two-person group (standalone dyad):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People have more individuality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More potential for unresolved differences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Ties are more “Breakable”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■"/>
            </a:pPr>
            <a:r>
              <a:rPr lang="en">
                <a:solidFill>
                  <a:srgbClr val="FFFFFF"/>
                </a:solidFill>
              </a:rPr>
              <a:t>Have more individuality</a:t>
            </a:r>
            <a:endParaRPr>
              <a:solidFill>
                <a:srgbClr val="FFFFFF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■"/>
            </a:pPr>
            <a:r>
              <a:rPr lang="en">
                <a:solidFill>
                  <a:srgbClr val="FFFFFF"/>
                </a:solidFill>
              </a:rPr>
              <a:t>More potential for unresolved differences</a:t>
            </a:r>
            <a:endParaRPr/>
          </a:p>
        </p:txBody>
      </p:sp>
      <p:sp>
        <p:nvSpPr>
          <p:cNvPr id="12877" name="Google Shape;12877;p481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78" name="Google Shape;12878;p481"/>
          <p:cNvCxnSpPr>
            <a:stCxn id="12877" idx="7"/>
            <a:endCxn id="12879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880" name="Google Shape;12880;p481"/>
          <p:cNvCxnSpPr>
            <a:stCxn id="12877" idx="5"/>
            <a:endCxn id="12881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79" name="Google Shape;12879;p481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1" name="Google Shape;12881;p481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82" name="Google Shape;12882;p481"/>
          <p:cNvCxnSpPr>
            <a:stCxn id="12881" idx="0"/>
            <a:endCxn id="12879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83" name="Google Shape;12883;p481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84" name="Google Shape;12884;p481"/>
          <p:cNvCxnSpPr>
            <a:stCxn id="12877" idx="4"/>
            <a:endCxn id="12883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85" name="Google Shape;12885;p481"/>
          <p:cNvSpPr/>
          <p:nvPr/>
        </p:nvSpPr>
        <p:spPr>
          <a:xfrm>
            <a:off x="6298538" y="2829638"/>
            <a:ext cx="453222" cy="446364"/>
          </a:xfrm>
          <a:prstGeom prst="irregularSeal1">
            <a:avLst/>
          </a:pr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89" name="Shape 12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0" name="Google Shape;12890;p482"/>
          <p:cNvSpPr/>
          <p:nvPr/>
        </p:nvSpPr>
        <p:spPr>
          <a:xfrm>
            <a:off x="5713475" y="1016350"/>
            <a:ext cx="3344400" cy="2314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1" name="Google Shape;12891;p482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2" name="Google Shape;12892;p48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893" name="Google Shape;12893;p482"/>
          <p:cNvSpPr txBox="1"/>
          <p:nvPr>
            <p:ph idx="1" type="body"/>
          </p:nvPr>
        </p:nvSpPr>
        <p:spPr>
          <a:xfrm>
            <a:off x="311700" y="1225225"/>
            <a:ext cx="536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two-person group (standalone dyad):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People have more individuality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More potential for unresolved differences</a:t>
            </a:r>
            <a:endParaRPr>
              <a:solidFill>
                <a:srgbClr val="00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Ties are more “Breakable”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three-person group (Simmelian dyads):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4" name="Google Shape;12894;p482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95" name="Google Shape;12895;p482"/>
          <p:cNvCxnSpPr>
            <a:stCxn id="12894" idx="7"/>
            <a:endCxn id="12896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897" name="Google Shape;12897;p482"/>
          <p:cNvCxnSpPr>
            <a:stCxn id="12894" idx="5"/>
            <a:endCxn id="12898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96" name="Google Shape;12896;p482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8" name="Google Shape;12898;p482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899" name="Google Shape;12899;p482"/>
          <p:cNvCxnSpPr>
            <a:stCxn id="12898" idx="0"/>
            <a:endCxn id="12896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00" name="Google Shape;12900;p482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01" name="Google Shape;12901;p482"/>
          <p:cNvCxnSpPr>
            <a:stCxn id="12894" idx="4"/>
            <a:endCxn id="12900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05" name="Shape 12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6" name="Google Shape;12906;p483"/>
          <p:cNvSpPr/>
          <p:nvPr/>
        </p:nvSpPr>
        <p:spPr>
          <a:xfrm>
            <a:off x="5713475" y="1016350"/>
            <a:ext cx="3344400" cy="2314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7" name="Google Shape;12907;p483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8" name="Google Shape;12908;p48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909" name="Google Shape;12909;p483"/>
          <p:cNvSpPr txBox="1"/>
          <p:nvPr>
            <p:ph idx="1" type="body"/>
          </p:nvPr>
        </p:nvSpPr>
        <p:spPr>
          <a:xfrm>
            <a:off x="311700" y="1225225"/>
            <a:ext cx="536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two-person group (standalone dyad):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People h</a:t>
            </a:r>
            <a:r>
              <a:rPr lang="en">
                <a:solidFill>
                  <a:srgbClr val="000000"/>
                </a:solidFill>
              </a:rPr>
              <a:t>ave more individuality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More potential for unresolved differences</a:t>
            </a:r>
            <a:endParaRPr>
              <a:solidFill>
                <a:srgbClr val="00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Ties are more “Breakable”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three-person group (Simmelian dyads):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more pressure to conform to the views of others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Any one member can be “outvoted” by the other two</a:t>
            </a:r>
            <a:endParaRPr i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/>
          </a:p>
        </p:txBody>
      </p:sp>
      <p:sp>
        <p:nvSpPr>
          <p:cNvPr id="12910" name="Google Shape;12910;p483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11" name="Google Shape;12911;p483"/>
          <p:cNvCxnSpPr>
            <a:stCxn id="12910" idx="7"/>
            <a:endCxn id="12912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913" name="Google Shape;12913;p483"/>
          <p:cNvCxnSpPr>
            <a:stCxn id="12910" idx="5"/>
            <a:endCxn id="12914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12" name="Google Shape;12912;p483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4" name="Google Shape;12914;p483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15" name="Google Shape;12915;p483"/>
          <p:cNvCxnSpPr>
            <a:stCxn id="12914" idx="0"/>
            <a:endCxn id="12912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16" name="Google Shape;12916;p483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17" name="Google Shape;12917;p483"/>
          <p:cNvCxnSpPr>
            <a:stCxn id="12910" idx="4"/>
            <a:endCxn id="12916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21" name="Shape 12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2" name="Google Shape;12922;p484"/>
          <p:cNvSpPr/>
          <p:nvPr/>
        </p:nvSpPr>
        <p:spPr>
          <a:xfrm>
            <a:off x="5713475" y="1016350"/>
            <a:ext cx="3344400" cy="2314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3" name="Google Shape;12923;p484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4" name="Google Shape;12924;p48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925" name="Google Shape;12925;p484"/>
          <p:cNvSpPr txBox="1"/>
          <p:nvPr>
            <p:ph idx="1" type="body"/>
          </p:nvPr>
        </p:nvSpPr>
        <p:spPr>
          <a:xfrm>
            <a:off x="311700" y="1225225"/>
            <a:ext cx="536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two-person group (standalone dyad):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People have more individuality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More potential for unresolved differences</a:t>
            </a:r>
            <a:endParaRPr>
              <a:solidFill>
                <a:srgbClr val="00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Ties are more “Breakable”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three-person group (Simmelian dyads):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more pressure to conform to the views of others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Any one member can be “outvoted” by the other two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more potential for conflict resolution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A fight between two members can be mediated by the third</a:t>
            </a:r>
            <a:endParaRPr i="1"/>
          </a:p>
        </p:txBody>
      </p:sp>
      <p:sp>
        <p:nvSpPr>
          <p:cNvPr id="12926" name="Google Shape;12926;p484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27" name="Google Shape;12927;p484"/>
          <p:cNvCxnSpPr>
            <a:stCxn id="12926" idx="7"/>
            <a:endCxn id="12928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929" name="Google Shape;12929;p484"/>
          <p:cNvCxnSpPr>
            <a:stCxn id="12926" idx="5"/>
            <a:endCxn id="12930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12928" name="Google Shape;12928;p484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0" name="Google Shape;12930;p484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31" name="Google Shape;12931;p484"/>
          <p:cNvCxnSpPr>
            <a:stCxn id="12930" idx="0"/>
            <a:endCxn id="12928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932" name="Google Shape;12932;p484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33" name="Google Shape;12933;p484"/>
          <p:cNvCxnSpPr>
            <a:stCxn id="12926" idx="4"/>
            <a:endCxn id="12932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34" name="Google Shape;12934;p484"/>
          <p:cNvSpPr/>
          <p:nvPr/>
        </p:nvSpPr>
        <p:spPr>
          <a:xfrm>
            <a:off x="7296463" y="1530138"/>
            <a:ext cx="453222" cy="446364"/>
          </a:xfrm>
          <a:prstGeom prst="irregularSeal1">
            <a:avLst/>
          </a:pr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38" name="Shape 12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9" name="Google Shape;12939;p485"/>
          <p:cNvSpPr/>
          <p:nvPr/>
        </p:nvSpPr>
        <p:spPr>
          <a:xfrm>
            <a:off x="5713475" y="1016350"/>
            <a:ext cx="3344400" cy="2314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0" name="Google Shape;12940;p485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1" name="Google Shape;12941;p48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942" name="Google Shape;12942;p485"/>
          <p:cNvSpPr txBox="1"/>
          <p:nvPr>
            <p:ph idx="1" type="body"/>
          </p:nvPr>
        </p:nvSpPr>
        <p:spPr>
          <a:xfrm>
            <a:off x="311700" y="1225225"/>
            <a:ext cx="536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Predictions: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Simmelian ties are stronger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Simmelian ties last longer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Simmelian ties are harder to break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three-person group (Simmelian dyads):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more pressure to conform to the views of others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Any one member can be “outvoted” by the other two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more potential for conflict resolution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A fight between two members can be mediated by the third</a:t>
            </a:r>
            <a:endParaRPr i="1"/>
          </a:p>
        </p:txBody>
      </p:sp>
      <p:sp>
        <p:nvSpPr>
          <p:cNvPr id="12943" name="Google Shape;12943;p485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44" name="Google Shape;12944;p485"/>
          <p:cNvCxnSpPr>
            <a:stCxn id="12943" idx="7"/>
            <a:endCxn id="12945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946" name="Google Shape;12946;p485"/>
          <p:cNvCxnSpPr>
            <a:stCxn id="12943" idx="5"/>
            <a:endCxn id="12947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12945" name="Google Shape;12945;p485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7" name="Google Shape;12947;p485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48" name="Google Shape;12948;p485"/>
          <p:cNvCxnSpPr>
            <a:stCxn id="12947" idx="0"/>
            <a:endCxn id="12945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949" name="Google Shape;12949;p485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50" name="Google Shape;12950;p485"/>
          <p:cNvCxnSpPr>
            <a:stCxn id="12943" idx="4"/>
            <a:endCxn id="12949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51" name="Google Shape;12951;p485"/>
          <p:cNvSpPr/>
          <p:nvPr/>
        </p:nvSpPr>
        <p:spPr>
          <a:xfrm>
            <a:off x="7296463" y="1530138"/>
            <a:ext cx="453222" cy="446364"/>
          </a:xfrm>
          <a:prstGeom prst="irregularSeal1">
            <a:avLst/>
          </a:pr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55" name="Shape 12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6" name="Google Shape;12956;p48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957" name="Google Shape;12957;p486"/>
          <p:cNvSpPr txBox="1"/>
          <p:nvPr>
            <p:ph idx="1" type="body"/>
          </p:nvPr>
        </p:nvSpPr>
        <p:spPr>
          <a:xfrm>
            <a:off x="311700" y="1225225"/>
            <a:ext cx="5816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Explains why conflict is more difficult to settle in standalone dyads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Explains why sometimes </a:t>
            </a:r>
            <a:r>
              <a:rPr b="1" lang="en"/>
              <a:t>only </a:t>
            </a:r>
            <a:r>
              <a:rPr lang="en"/>
              <a:t>conflict resolution recourse is to turn the standalone dyad into a “temporary” Simmelian dyad: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Arbitration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Mediation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Research shows that third parties are useful in alleviating dyadic conflicts </a:t>
            </a:r>
            <a:endParaRPr/>
          </a:p>
        </p:txBody>
      </p:sp>
      <p:sp>
        <p:nvSpPr>
          <p:cNvPr id="12958" name="Google Shape;12958;p486"/>
          <p:cNvSpPr/>
          <p:nvPr/>
        </p:nvSpPr>
        <p:spPr>
          <a:xfrm>
            <a:off x="5713475" y="1016350"/>
            <a:ext cx="3344400" cy="2314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9" name="Google Shape;12959;p486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0" name="Google Shape;12960;p486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61" name="Google Shape;12961;p486"/>
          <p:cNvCxnSpPr>
            <a:stCxn id="12960" idx="7"/>
            <a:endCxn id="12962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963" name="Google Shape;12963;p486"/>
          <p:cNvCxnSpPr>
            <a:stCxn id="12960" idx="5"/>
            <a:endCxn id="12964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none"/>
          </a:ln>
        </p:spPr>
      </p:cxnSp>
      <p:sp>
        <p:nvSpPr>
          <p:cNvPr id="12962" name="Google Shape;12962;p486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4" name="Google Shape;12964;p486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65" name="Google Shape;12965;p486"/>
          <p:cNvCxnSpPr>
            <a:stCxn id="12964" idx="0"/>
            <a:endCxn id="12962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2966" name="Google Shape;12966;p486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67" name="Google Shape;12967;p486"/>
          <p:cNvCxnSpPr>
            <a:stCxn id="12960" idx="4"/>
            <a:endCxn id="12966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68" name="Google Shape;12968;p486"/>
          <p:cNvSpPr/>
          <p:nvPr/>
        </p:nvSpPr>
        <p:spPr>
          <a:xfrm>
            <a:off x="7296463" y="1530138"/>
            <a:ext cx="453222" cy="446364"/>
          </a:xfrm>
          <a:prstGeom prst="irregularSeal1">
            <a:avLst/>
          </a:pr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2972" name="Shape 12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3" name="Google Shape;12973;p48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2974" name="Google Shape;12974;p487"/>
          <p:cNvSpPr txBox="1"/>
          <p:nvPr>
            <p:ph idx="1" type="body"/>
          </p:nvPr>
        </p:nvSpPr>
        <p:spPr>
          <a:xfrm>
            <a:off x="311700" y="1225225"/>
            <a:ext cx="5816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Simmel’s Model: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Triads are qualitatively different from dyads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Dyads embedded in reciprocally strong triads are not the same as standalone dyads</a:t>
            </a:r>
            <a:endParaRPr i="1"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</a:pPr>
            <a:r>
              <a:rPr lang="en"/>
              <a:t>People are “power-symmetric” in a standalone dyad:</a:t>
            </a:r>
            <a:endParaRPr/>
          </a:p>
          <a:p>
            <a:pPr indent="-317500" lvl="3" marL="1828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If either withdraws relationship dissolves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Any one ego is experiences “power-asymmetry” (dependence) in an a triad:</a:t>
            </a:r>
            <a:endParaRPr/>
          </a:p>
          <a:p>
            <a:pPr indent="-317500" lvl="3" marL="1828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S/he can withdraw but the other two people still have a relationship</a:t>
            </a:r>
            <a:endParaRPr/>
          </a:p>
          <a:p>
            <a:pPr indent="-317500" lvl="3" marL="1828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S/he loses the benefits of </a:t>
            </a:r>
            <a:r>
              <a:rPr b="1" lang="en"/>
              <a:t>two</a:t>
            </a:r>
            <a:r>
              <a:rPr lang="en"/>
              <a:t> relationships</a:t>
            </a:r>
            <a:endParaRPr/>
          </a:p>
          <a:p>
            <a:pPr indent="-317500" lvl="4" marL="22860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Each other ego only loses </a:t>
            </a:r>
            <a:r>
              <a:rPr b="1" lang="en"/>
              <a:t>one</a:t>
            </a:r>
            <a:endParaRPr b="1"/>
          </a:p>
        </p:txBody>
      </p:sp>
      <p:sp>
        <p:nvSpPr>
          <p:cNvPr id="12975" name="Google Shape;12975;p487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76" name="Google Shape;12976;p487"/>
          <p:cNvCxnSpPr>
            <a:stCxn id="12975" idx="7"/>
            <a:endCxn id="12977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978" name="Google Shape;12978;p487"/>
          <p:cNvCxnSpPr>
            <a:stCxn id="12975" idx="5"/>
            <a:endCxn id="12979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77" name="Google Shape;12977;p487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9" name="Google Shape;12979;p487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80" name="Google Shape;12980;p487"/>
          <p:cNvCxnSpPr>
            <a:stCxn id="12979" idx="0"/>
            <a:endCxn id="12977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81" name="Google Shape;12981;p487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82" name="Google Shape;12982;p487"/>
          <p:cNvCxnSpPr/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2986" name="Shape 12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7" name="Google Shape;12987;p488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Networks and Status Attainmnent</a:t>
            </a:r>
            <a:endParaRPr/>
          </a:p>
        </p:txBody>
      </p:sp>
      <p:sp>
        <p:nvSpPr>
          <p:cNvPr id="12988" name="Google Shape;12988;p488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92" name="Shape 12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3" name="Google Shape;12993;p48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social capital?</a:t>
            </a:r>
            <a:endParaRPr/>
          </a:p>
        </p:txBody>
      </p:sp>
      <p:sp>
        <p:nvSpPr>
          <p:cNvPr id="12994" name="Google Shape;12994;p489"/>
          <p:cNvSpPr txBox="1"/>
          <p:nvPr>
            <p:ph idx="1" type="body"/>
          </p:nvPr>
        </p:nvSpPr>
        <p:spPr>
          <a:xfrm>
            <a:off x="311700" y="1225225"/>
            <a:ext cx="5530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Social capital: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Benefits accrued as the result of your connections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People who are better connected do better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can you get from your connections?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Some benefits comes from strong, dense networks: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Social and emotional support 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Trusting</a:t>
            </a:r>
            <a:r>
              <a:rPr lang="en"/>
              <a:t> somebody with an intimate secret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Companionship </a:t>
            </a:r>
            <a:endParaRPr/>
          </a:p>
          <a:p>
            <a:pPr indent="-317500" lvl="3" marL="1828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Having somebody to </a:t>
            </a:r>
            <a:r>
              <a:rPr b="1" lang="en"/>
              <a:t>hang out </a:t>
            </a:r>
            <a:r>
              <a:rPr lang="en"/>
              <a:t>with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Material support 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knowing where to go in a time of </a:t>
            </a:r>
            <a:r>
              <a:rPr b="1" lang="en"/>
              <a:t>need</a:t>
            </a:r>
            <a:endParaRPr b="1"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2995" name="Google Shape;12995;p48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2500" y="1771712"/>
            <a:ext cx="2989800" cy="226103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99" name="Shape 1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0" name="Google Shape;13000;p49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social capital?</a:t>
            </a:r>
            <a:endParaRPr/>
          </a:p>
        </p:txBody>
      </p:sp>
      <p:sp>
        <p:nvSpPr>
          <p:cNvPr id="13001" name="Google Shape;13001;p490"/>
          <p:cNvSpPr txBox="1"/>
          <p:nvPr>
            <p:ph idx="1" type="body"/>
          </p:nvPr>
        </p:nvSpPr>
        <p:spPr>
          <a:xfrm>
            <a:off x="311700" y="1225225"/>
            <a:ext cx="5530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Social capital: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Benefits accrued as the result of your connections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People who are better connected do better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can you get from your connections?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Some benefits come weakly connected, diverse networks: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Novel information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Finding out about things that your close contacts might not know	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New or cutting edge ideas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Combining different ideas into a new idea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New people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Being introduced to people who can help </a:t>
            </a:r>
            <a:endParaRPr/>
          </a:p>
        </p:txBody>
      </p:sp>
      <p:pic>
        <p:nvPicPr>
          <p:cNvPr id="13002" name="Google Shape;13002;p49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2500" y="1771712"/>
            <a:ext cx="2989800" cy="226103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006" name="Shape 13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7" name="Google Shape;13007;p49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social capital?</a:t>
            </a:r>
            <a:endParaRPr/>
          </a:p>
        </p:txBody>
      </p:sp>
      <p:sp>
        <p:nvSpPr>
          <p:cNvPr id="13008" name="Google Shape;13008;p491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you get from your connections depends on how you are connected to others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Two arguments: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Social capital as closure (Coleman 1990)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Having a core group of intimate friends who also know one another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Social capital as brokerage (Burt 2005: 4)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“Advantage created by a person’s location in a structure of relations”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Which one is the better form of capital?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Depends on what you want!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Here we will focus on the second: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Social capital from being a connector (or being connected to people who connect) between different worlds</a:t>
            </a:r>
            <a:endParaRPr i="1"/>
          </a:p>
        </p:txBody>
      </p:sp>
    </p:spTree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12" name="Shape 13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3" name="Google Shape;13013;p49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Granovetter’s strength of weak ties theory</a:t>
            </a:r>
            <a:endParaRPr/>
          </a:p>
        </p:txBody>
      </p:sp>
      <p:sp>
        <p:nvSpPr>
          <p:cNvPr id="13014" name="Google Shape;13014;p492"/>
          <p:cNvSpPr txBox="1"/>
          <p:nvPr>
            <p:ph idx="1" type="body"/>
          </p:nvPr>
        </p:nvSpPr>
        <p:spPr>
          <a:xfrm>
            <a:off x="311700" y="1225225"/>
            <a:ext cx="5050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Concept: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Granovetter-transitivity</a:t>
            </a:r>
            <a:r>
              <a:rPr lang="en"/>
              <a:t> (g-transitivity)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Rule 1</a:t>
            </a:r>
            <a:r>
              <a:rPr lang="en"/>
              <a:t>: if two people are strongly connected they are likely to have a lot of other friends in common </a:t>
            </a:r>
            <a:endParaRPr/>
          </a:p>
        </p:txBody>
      </p:sp>
      <p:grpSp>
        <p:nvGrpSpPr>
          <p:cNvPr id="13015" name="Google Shape;13015;p492"/>
          <p:cNvGrpSpPr/>
          <p:nvPr/>
        </p:nvGrpSpPr>
        <p:grpSpPr>
          <a:xfrm>
            <a:off x="5530698" y="1471890"/>
            <a:ext cx="3301598" cy="2860671"/>
            <a:chOff x="5842400" y="1989875"/>
            <a:chExt cx="2423725" cy="2017825"/>
          </a:xfrm>
        </p:grpSpPr>
        <p:sp>
          <p:nvSpPr>
            <p:cNvPr id="13016" name="Google Shape;13016;p492"/>
            <p:cNvSpPr/>
            <p:nvPr/>
          </p:nvSpPr>
          <p:spPr>
            <a:xfrm>
              <a:off x="5842400" y="3429000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400">
                  <a:latin typeface="Open Sans"/>
                  <a:ea typeface="Open Sans"/>
                  <a:cs typeface="Open Sans"/>
                  <a:sym typeface="Open Sans"/>
                </a:rPr>
                <a:t>A</a:t>
              </a:r>
              <a:endParaRPr sz="24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3017" name="Google Shape;13017;p492"/>
            <p:cNvSpPr/>
            <p:nvPr/>
          </p:nvSpPr>
          <p:spPr>
            <a:xfrm>
              <a:off x="7763925" y="3429000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400">
                  <a:latin typeface="Open Sans"/>
                  <a:ea typeface="Open Sans"/>
                  <a:cs typeface="Open Sans"/>
                  <a:sym typeface="Open Sans"/>
                </a:rPr>
                <a:t>B</a:t>
              </a:r>
              <a:endParaRPr sz="24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13018" name="Google Shape;13018;p492"/>
            <p:cNvCxnSpPr>
              <a:stCxn id="13016" idx="6"/>
              <a:endCxn id="13017" idx="2"/>
            </p:cNvCxnSpPr>
            <p:nvPr/>
          </p:nvCxnSpPr>
          <p:spPr>
            <a:xfrm>
              <a:off x="6344600" y="3663750"/>
              <a:ext cx="1419300" cy="0"/>
            </a:xfrm>
            <a:prstGeom prst="straightConnector1">
              <a:avLst/>
            </a:prstGeom>
            <a:noFill/>
            <a:ln cap="flat" cmpd="sng" w="762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019" name="Google Shape;13019;p492"/>
            <p:cNvSpPr txBox="1"/>
            <p:nvPr/>
          </p:nvSpPr>
          <p:spPr>
            <a:xfrm>
              <a:off x="6486700" y="3756600"/>
              <a:ext cx="1130100" cy="25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Strong Tie</a:t>
              </a:r>
              <a:endParaRPr/>
            </a:p>
          </p:txBody>
        </p:sp>
        <p:sp>
          <p:nvSpPr>
            <p:cNvPr id="13020" name="Google Shape;13020;p492"/>
            <p:cNvSpPr/>
            <p:nvPr/>
          </p:nvSpPr>
          <p:spPr>
            <a:xfrm>
              <a:off x="6224500" y="2279938"/>
              <a:ext cx="262200" cy="251100"/>
            </a:xfrm>
            <a:prstGeom prst="ellipse">
              <a:avLst/>
            </a:prstGeom>
            <a:solidFill>
              <a:schemeClr val="accent5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492"/>
            <p:cNvSpPr/>
            <p:nvPr/>
          </p:nvSpPr>
          <p:spPr>
            <a:xfrm>
              <a:off x="6848100" y="1989875"/>
              <a:ext cx="262200" cy="251100"/>
            </a:xfrm>
            <a:prstGeom prst="ellipse">
              <a:avLst/>
            </a:prstGeom>
            <a:solidFill>
              <a:schemeClr val="accent5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492"/>
            <p:cNvSpPr/>
            <p:nvPr/>
          </p:nvSpPr>
          <p:spPr>
            <a:xfrm>
              <a:off x="7469150" y="2279925"/>
              <a:ext cx="262200" cy="251100"/>
            </a:xfrm>
            <a:prstGeom prst="ellipse">
              <a:avLst/>
            </a:prstGeom>
            <a:solidFill>
              <a:schemeClr val="accent5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492"/>
            <p:cNvSpPr/>
            <p:nvPr/>
          </p:nvSpPr>
          <p:spPr>
            <a:xfrm>
              <a:off x="6923150" y="2958000"/>
              <a:ext cx="262200" cy="251100"/>
            </a:xfrm>
            <a:prstGeom prst="ellipse">
              <a:avLst/>
            </a:prstGeom>
            <a:solidFill>
              <a:schemeClr val="accent5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3024" name="Google Shape;13024;p492"/>
            <p:cNvCxnSpPr>
              <a:stCxn id="13016" idx="0"/>
              <a:endCxn id="13020" idx="4"/>
            </p:cNvCxnSpPr>
            <p:nvPr/>
          </p:nvCxnSpPr>
          <p:spPr>
            <a:xfrm flipH="1" rot="10800000">
              <a:off x="6093500" y="2531100"/>
              <a:ext cx="262200" cy="8979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025" name="Google Shape;13025;p492"/>
            <p:cNvCxnSpPr>
              <a:stCxn id="13021" idx="5"/>
              <a:endCxn id="13017" idx="0"/>
            </p:cNvCxnSpPr>
            <p:nvPr/>
          </p:nvCxnSpPr>
          <p:spPr>
            <a:xfrm>
              <a:off x="7071902" y="2204202"/>
              <a:ext cx="943200" cy="12249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026" name="Google Shape;13026;p492"/>
            <p:cNvCxnSpPr>
              <a:stCxn id="13023" idx="6"/>
              <a:endCxn id="13017" idx="0"/>
            </p:cNvCxnSpPr>
            <p:nvPr/>
          </p:nvCxnSpPr>
          <p:spPr>
            <a:xfrm>
              <a:off x="7185350" y="3083550"/>
              <a:ext cx="829800" cy="345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027" name="Google Shape;13027;p492"/>
            <p:cNvCxnSpPr>
              <a:stCxn id="13016" idx="0"/>
              <a:endCxn id="13022" idx="3"/>
            </p:cNvCxnSpPr>
            <p:nvPr/>
          </p:nvCxnSpPr>
          <p:spPr>
            <a:xfrm flipH="1" rot="10800000">
              <a:off x="6093500" y="2494200"/>
              <a:ext cx="1413900" cy="9348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028" name="Google Shape;13028;p492"/>
            <p:cNvCxnSpPr>
              <a:stCxn id="13016" idx="0"/>
              <a:endCxn id="13021" idx="3"/>
            </p:cNvCxnSpPr>
            <p:nvPr/>
          </p:nvCxnSpPr>
          <p:spPr>
            <a:xfrm flipH="1" rot="10800000">
              <a:off x="6093500" y="2204100"/>
              <a:ext cx="792900" cy="12249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029" name="Google Shape;13029;p492"/>
            <p:cNvCxnSpPr>
              <a:stCxn id="13016" idx="0"/>
              <a:endCxn id="13023" idx="2"/>
            </p:cNvCxnSpPr>
            <p:nvPr/>
          </p:nvCxnSpPr>
          <p:spPr>
            <a:xfrm flipH="1" rot="10800000">
              <a:off x="6093500" y="3083700"/>
              <a:ext cx="829500" cy="345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030" name="Google Shape;13030;p492"/>
            <p:cNvCxnSpPr>
              <a:stCxn id="13020" idx="5"/>
              <a:endCxn id="13017" idx="0"/>
            </p:cNvCxnSpPr>
            <p:nvPr/>
          </p:nvCxnSpPr>
          <p:spPr>
            <a:xfrm>
              <a:off x="6448302" y="2494265"/>
              <a:ext cx="1566600" cy="9348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031" name="Google Shape;13031;p492"/>
            <p:cNvCxnSpPr>
              <a:stCxn id="13022" idx="4"/>
              <a:endCxn id="13017" idx="0"/>
            </p:cNvCxnSpPr>
            <p:nvPr/>
          </p:nvCxnSpPr>
          <p:spPr>
            <a:xfrm>
              <a:off x="7600250" y="2531025"/>
              <a:ext cx="414900" cy="8979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35" name="Shape 13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6" name="Google Shape;13036;p49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Granovetter’s strength of weak ties theory</a:t>
            </a:r>
            <a:endParaRPr/>
          </a:p>
        </p:txBody>
      </p:sp>
      <p:sp>
        <p:nvSpPr>
          <p:cNvPr id="13037" name="Google Shape;13037;p493"/>
          <p:cNvSpPr txBox="1"/>
          <p:nvPr>
            <p:ph idx="1" type="body"/>
          </p:nvPr>
        </p:nvSpPr>
        <p:spPr>
          <a:xfrm>
            <a:off x="311700" y="1225225"/>
            <a:ext cx="5214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Concept: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Granovetter-transitivity</a:t>
            </a:r>
            <a:r>
              <a:rPr lang="en"/>
              <a:t> (g-transitivity)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Rule 1</a:t>
            </a:r>
            <a:r>
              <a:rPr lang="en"/>
              <a:t>: if two people are strongly connected they are likely to have a lot of other friends in common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Rule 2: </a:t>
            </a:r>
            <a:r>
              <a:rPr lang="en"/>
              <a:t>if A and B have a strong tie and B and C have a strong tie there should be </a:t>
            </a:r>
            <a:r>
              <a:rPr b="1" lang="en"/>
              <a:t>at least</a:t>
            </a:r>
            <a:r>
              <a:rPr lang="en"/>
              <a:t> a weak tie between A and C </a:t>
            </a:r>
            <a:endParaRPr/>
          </a:p>
        </p:txBody>
      </p:sp>
      <p:grpSp>
        <p:nvGrpSpPr>
          <p:cNvPr id="13038" name="Google Shape;13038;p493"/>
          <p:cNvGrpSpPr/>
          <p:nvPr/>
        </p:nvGrpSpPr>
        <p:grpSpPr>
          <a:xfrm>
            <a:off x="5849158" y="1537434"/>
            <a:ext cx="2983154" cy="2729568"/>
            <a:chOff x="6285650" y="1749913"/>
            <a:chExt cx="2546657" cy="2304600"/>
          </a:xfrm>
        </p:grpSpPr>
        <p:sp>
          <p:nvSpPr>
            <p:cNvPr id="13039" name="Google Shape;13039;p493"/>
            <p:cNvSpPr/>
            <p:nvPr/>
          </p:nvSpPr>
          <p:spPr>
            <a:xfrm>
              <a:off x="6285650" y="34758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A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3040" name="Google Shape;13040;p493"/>
            <p:cNvSpPr/>
            <p:nvPr/>
          </p:nvSpPr>
          <p:spPr>
            <a:xfrm>
              <a:off x="8207175" y="34758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B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13041" name="Google Shape;13041;p493"/>
            <p:cNvCxnSpPr>
              <a:stCxn id="13039" idx="6"/>
              <a:endCxn id="13040" idx="2"/>
            </p:cNvCxnSpPr>
            <p:nvPr/>
          </p:nvCxnSpPr>
          <p:spPr>
            <a:xfrm>
              <a:off x="6787850" y="3710563"/>
              <a:ext cx="1419300" cy="0"/>
            </a:xfrm>
            <a:prstGeom prst="straightConnector1">
              <a:avLst/>
            </a:prstGeom>
            <a:noFill/>
            <a:ln cap="flat" cmpd="sng" w="762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042" name="Google Shape;13042;p493"/>
            <p:cNvSpPr txBox="1"/>
            <p:nvPr/>
          </p:nvSpPr>
          <p:spPr>
            <a:xfrm>
              <a:off x="6929950" y="3803413"/>
              <a:ext cx="1130100" cy="25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Strong Tie</a:t>
              </a:r>
              <a:endParaRPr/>
            </a:p>
          </p:txBody>
        </p:sp>
        <p:sp>
          <p:nvSpPr>
            <p:cNvPr id="13043" name="Google Shape;13043;p493"/>
            <p:cNvSpPr/>
            <p:nvPr/>
          </p:nvSpPr>
          <p:spPr>
            <a:xfrm>
              <a:off x="8207175" y="17499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C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13044" name="Google Shape;13044;p493"/>
            <p:cNvCxnSpPr>
              <a:stCxn id="13043" idx="4"/>
              <a:endCxn id="13040" idx="0"/>
            </p:cNvCxnSpPr>
            <p:nvPr/>
          </p:nvCxnSpPr>
          <p:spPr>
            <a:xfrm>
              <a:off x="8458275" y="2219413"/>
              <a:ext cx="0" cy="1256400"/>
            </a:xfrm>
            <a:prstGeom prst="straightConnector1">
              <a:avLst/>
            </a:prstGeom>
            <a:noFill/>
            <a:ln cap="flat" cmpd="sng" w="762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045" name="Google Shape;13045;p493"/>
            <p:cNvSpPr txBox="1"/>
            <p:nvPr/>
          </p:nvSpPr>
          <p:spPr>
            <a:xfrm rot="-5400913">
              <a:off x="8141557" y="2722066"/>
              <a:ext cx="1130100" cy="25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Strong Tie</a:t>
              </a:r>
              <a:endParaRPr/>
            </a:p>
          </p:txBody>
        </p:sp>
        <p:cxnSp>
          <p:nvCxnSpPr>
            <p:cNvPr id="13046" name="Google Shape;13046;p493"/>
            <p:cNvCxnSpPr>
              <a:stCxn id="13039" idx="7"/>
              <a:endCxn id="13043" idx="3"/>
            </p:cNvCxnSpPr>
            <p:nvPr/>
          </p:nvCxnSpPr>
          <p:spPr>
            <a:xfrm flipH="1" rot="10800000">
              <a:off x="6714305" y="2150769"/>
              <a:ext cx="1566300" cy="13938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dash"/>
              <a:round/>
              <a:headEnd len="med" w="med" type="none"/>
              <a:tailEnd len="med" w="med" type="none"/>
            </a:ln>
          </p:spPr>
        </p:cxnSp>
      </p:grpSp>
      <p:sp>
        <p:nvSpPr>
          <p:cNvPr id="13047" name="Google Shape;13047;p493"/>
          <p:cNvSpPr txBox="1"/>
          <p:nvPr/>
        </p:nvSpPr>
        <p:spPr>
          <a:xfrm>
            <a:off x="5849150" y="1147225"/>
            <a:ext cx="2126400" cy="71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Good probability of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existing tie!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3048" name="Google Shape;13048;p493"/>
          <p:cNvCxnSpPr>
            <a:stCxn id="13047" idx="2"/>
          </p:cNvCxnSpPr>
          <p:nvPr/>
        </p:nvCxnSpPr>
        <p:spPr>
          <a:xfrm>
            <a:off x="6912350" y="1860925"/>
            <a:ext cx="6600" cy="1178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52" name="Shape 13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3" name="Google Shape;13053;p49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Granovetter’s strength of weak ties theory</a:t>
            </a:r>
            <a:endParaRPr/>
          </a:p>
        </p:txBody>
      </p:sp>
      <p:sp>
        <p:nvSpPr>
          <p:cNvPr id="13054" name="Google Shape;13054;p494"/>
          <p:cNvSpPr txBox="1"/>
          <p:nvPr>
            <p:ph idx="1" type="body"/>
          </p:nvPr>
        </p:nvSpPr>
        <p:spPr>
          <a:xfrm>
            <a:off x="311700" y="1225225"/>
            <a:ext cx="5214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Concept: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Granovetter-transitivity</a:t>
            </a:r>
            <a:r>
              <a:rPr lang="en"/>
              <a:t> (g-transitivity)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Rule 1</a:t>
            </a:r>
            <a:r>
              <a:rPr lang="en"/>
              <a:t>: if two people are strongly connected they are likely to have a lot of other friends in common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Rule 2: </a:t>
            </a:r>
            <a:r>
              <a:rPr lang="en"/>
              <a:t>if A and B have a strong tie and B and C have a strong tie there should be </a:t>
            </a:r>
            <a:r>
              <a:rPr b="1" lang="en"/>
              <a:t>at least</a:t>
            </a:r>
            <a:r>
              <a:rPr lang="en"/>
              <a:t> a weak tie between A and C 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Reasons for g-transitivity: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Demographic similarity (homophily)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Shared foci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Propinquity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55" name="Google Shape;13055;p494"/>
          <p:cNvGrpSpPr/>
          <p:nvPr/>
        </p:nvGrpSpPr>
        <p:grpSpPr>
          <a:xfrm>
            <a:off x="5849158" y="1537434"/>
            <a:ext cx="2983154" cy="2729568"/>
            <a:chOff x="6285650" y="1749913"/>
            <a:chExt cx="2546657" cy="2304600"/>
          </a:xfrm>
        </p:grpSpPr>
        <p:sp>
          <p:nvSpPr>
            <p:cNvPr id="13056" name="Google Shape;13056;p494"/>
            <p:cNvSpPr/>
            <p:nvPr/>
          </p:nvSpPr>
          <p:spPr>
            <a:xfrm>
              <a:off x="6285650" y="34758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A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3057" name="Google Shape;13057;p494"/>
            <p:cNvSpPr/>
            <p:nvPr/>
          </p:nvSpPr>
          <p:spPr>
            <a:xfrm>
              <a:off x="8207175" y="34758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B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13058" name="Google Shape;13058;p494"/>
            <p:cNvCxnSpPr>
              <a:stCxn id="13056" idx="6"/>
              <a:endCxn id="13057" idx="2"/>
            </p:cNvCxnSpPr>
            <p:nvPr/>
          </p:nvCxnSpPr>
          <p:spPr>
            <a:xfrm>
              <a:off x="6787850" y="3710563"/>
              <a:ext cx="1419300" cy="0"/>
            </a:xfrm>
            <a:prstGeom prst="straightConnector1">
              <a:avLst/>
            </a:prstGeom>
            <a:noFill/>
            <a:ln cap="flat" cmpd="sng" w="762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059" name="Google Shape;13059;p494"/>
            <p:cNvSpPr txBox="1"/>
            <p:nvPr/>
          </p:nvSpPr>
          <p:spPr>
            <a:xfrm>
              <a:off x="6929950" y="3803413"/>
              <a:ext cx="1130100" cy="25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Strong Tie</a:t>
              </a:r>
              <a:endParaRPr/>
            </a:p>
          </p:txBody>
        </p:sp>
        <p:sp>
          <p:nvSpPr>
            <p:cNvPr id="13060" name="Google Shape;13060;p494"/>
            <p:cNvSpPr/>
            <p:nvPr/>
          </p:nvSpPr>
          <p:spPr>
            <a:xfrm>
              <a:off x="8207175" y="17499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C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13061" name="Google Shape;13061;p494"/>
            <p:cNvCxnSpPr>
              <a:stCxn id="13060" idx="4"/>
              <a:endCxn id="13057" idx="0"/>
            </p:cNvCxnSpPr>
            <p:nvPr/>
          </p:nvCxnSpPr>
          <p:spPr>
            <a:xfrm>
              <a:off x="8458275" y="2219413"/>
              <a:ext cx="0" cy="1256400"/>
            </a:xfrm>
            <a:prstGeom prst="straightConnector1">
              <a:avLst/>
            </a:prstGeom>
            <a:noFill/>
            <a:ln cap="flat" cmpd="sng" w="762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062" name="Google Shape;13062;p494"/>
            <p:cNvSpPr txBox="1"/>
            <p:nvPr/>
          </p:nvSpPr>
          <p:spPr>
            <a:xfrm rot="-5400913">
              <a:off x="8141557" y="2722066"/>
              <a:ext cx="1130100" cy="25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Strong Tie</a:t>
              </a:r>
              <a:endParaRPr/>
            </a:p>
          </p:txBody>
        </p:sp>
        <p:cxnSp>
          <p:nvCxnSpPr>
            <p:cNvPr id="13063" name="Google Shape;13063;p494"/>
            <p:cNvCxnSpPr>
              <a:stCxn id="13056" idx="7"/>
              <a:endCxn id="13060" idx="3"/>
            </p:cNvCxnSpPr>
            <p:nvPr/>
          </p:nvCxnSpPr>
          <p:spPr>
            <a:xfrm flipH="1" rot="10800000">
              <a:off x="6714305" y="2150769"/>
              <a:ext cx="1566300" cy="13938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dash"/>
              <a:round/>
              <a:headEnd len="med" w="med" type="none"/>
              <a:tailEnd len="med" w="med" type="none"/>
            </a:ln>
          </p:spPr>
        </p:cxnSp>
      </p:grpSp>
      <p:sp>
        <p:nvSpPr>
          <p:cNvPr id="13064" name="Google Shape;13064;p494"/>
          <p:cNvSpPr txBox="1"/>
          <p:nvPr/>
        </p:nvSpPr>
        <p:spPr>
          <a:xfrm>
            <a:off x="5849150" y="1147225"/>
            <a:ext cx="2126400" cy="71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Good probability of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existing tie!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3065" name="Google Shape;13065;p494"/>
          <p:cNvCxnSpPr>
            <a:stCxn id="13064" idx="2"/>
          </p:cNvCxnSpPr>
          <p:nvPr/>
        </p:nvCxnSpPr>
        <p:spPr>
          <a:xfrm>
            <a:off x="6912350" y="1860925"/>
            <a:ext cx="6600" cy="1178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69" name="Shape 13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0" name="Google Shape;13070;p49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Granovetter’s strength of weak ties theory</a:t>
            </a:r>
            <a:endParaRPr/>
          </a:p>
        </p:txBody>
      </p:sp>
      <p:sp>
        <p:nvSpPr>
          <p:cNvPr id="13071" name="Google Shape;13071;p495"/>
          <p:cNvSpPr txBox="1"/>
          <p:nvPr>
            <p:ph idx="1" type="body"/>
          </p:nvPr>
        </p:nvSpPr>
        <p:spPr>
          <a:xfrm>
            <a:off x="311700" y="1225225"/>
            <a:ext cx="5050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Concept: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</a:pPr>
            <a:r>
              <a:rPr b="1" lang="en"/>
              <a:t>Granovetter’s weak tie principle:</a:t>
            </a:r>
            <a:endParaRPr b="1"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Weak ties allow for a violation of g-transitivity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You don’t have to be connected to the people who are connected to the people whom you only have a weak tie connection to</a:t>
            </a:r>
            <a:endParaRPr i="1"/>
          </a:p>
        </p:txBody>
      </p:sp>
      <p:sp>
        <p:nvSpPr>
          <p:cNvPr id="13072" name="Google Shape;13072;p495"/>
          <p:cNvSpPr txBox="1"/>
          <p:nvPr/>
        </p:nvSpPr>
        <p:spPr>
          <a:xfrm>
            <a:off x="5849150" y="1147225"/>
            <a:ext cx="2126400" cy="71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Good probability of 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no tie!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3073" name="Google Shape;13073;p495"/>
          <p:cNvCxnSpPr>
            <a:stCxn id="13072" idx="2"/>
          </p:cNvCxnSpPr>
          <p:nvPr/>
        </p:nvCxnSpPr>
        <p:spPr>
          <a:xfrm>
            <a:off x="6912350" y="1860925"/>
            <a:ext cx="6600" cy="1178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grpSp>
        <p:nvGrpSpPr>
          <p:cNvPr id="13074" name="Google Shape;13074;p495"/>
          <p:cNvGrpSpPr/>
          <p:nvPr/>
        </p:nvGrpSpPr>
        <p:grpSpPr>
          <a:xfrm>
            <a:off x="5849158" y="1537434"/>
            <a:ext cx="2983154" cy="2729568"/>
            <a:chOff x="6285650" y="1749913"/>
            <a:chExt cx="2546657" cy="2304600"/>
          </a:xfrm>
        </p:grpSpPr>
        <p:sp>
          <p:nvSpPr>
            <p:cNvPr id="13075" name="Google Shape;13075;p495"/>
            <p:cNvSpPr/>
            <p:nvPr/>
          </p:nvSpPr>
          <p:spPr>
            <a:xfrm>
              <a:off x="6285650" y="34758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A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3076" name="Google Shape;13076;p495"/>
            <p:cNvSpPr/>
            <p:nvPr/>
          </p:nvSpPr>
          <p:spPr>
            <a:xfrm>
              <a:off x="8207175" y="34758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B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13077" name="Google Shape;13077;p495"/>
            <p:cNvCxnSpPr>
              <a:stCxn id="13075" idx="6"/>
              <a:endCxn id="13076" idx="2"/>
            </p:cNvCxnSpPr>
            <p:nvPr/>
          </p:nvCxnSpPr>
          <p:spPr>
            <a:xfrm>
              <a:off x="6787850" y="3710563"/>
              <a:ext cx="14193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dash"/>
              <a:round/>
              <a:headEnd len="med" w="med" type="none"/>
              <a:tailEnd len="med" w="med" type="none"/>
            </a:ln>
          </p:spPr>
        </p:cxnSp>
        <p:sp>
          <p:nvSpPr>
            <p:cNvPr id="13078" name="Google Shape;13078;p495"/>
            <p:cNvSpPr txBox="1"/>
            <p:nvPr/>
          </p:nvSpPr>
          <p:spPr>
            <a:xfrm>
              <a:off x="6929950" y="3803413"/>
              <a:ext cx="1130100" cy="25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Weak</a:t>
              </a:r>
              <a:r>
                <a:rPr lang="en"/>
                <a:t> Tie</a:t>
              </a:r>
              <a:endParaRPr/>
            </a:p>
          </p:txBody>
        </p:sp>
        <p:sp>
          <p:nvSpPr>
            <p:cNvPr id="13079" name="Google Shape;13079;p495"/>
            <p:cNvSpPr/>
            <p:nvPr/>
          </p:nvSpPr>
          <p:spPr>
            <a:xfrm>
              <a:off x="8207175" y="1749913"/>
              <a:ext cx="502200" cy="469500"/>
            </a:xfrm>
            <a:prstGeom prst="ellipse">
              <a:avLst/>
            </a:prstGeom>
            <a:solidFill>
              <a:schemeClr val="l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200">
                  <a:latin typeface="Open Sans"/>
                  <a:ea typeface="Open Sans"/>
                  <a:cs typeface="Open Sans"/>
                  <a:sym typeface="Open Sans"/>
                </a:rPr>
                <a:t>C</a:t>
              </a:r>
              <a:endParaRPr sz="2200"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cxnSp>
          <p:nvCxnSpPr>
            <p:cNvPr id="13080" name="Google Shape;13080;p495"/>
            <p:cNvCxnSpPr>
              <a:stCxn id="13079" idx="4"/>
              <a:endCxn id="13076" idx="0"/>
            </p:cNvCxnSpPr>
            <p:nvPr/>
          </p:nvCxnSpPr>
          <p:spPr>
            <a:xfrm>
              <a:off x="8458275" y="2219413"/>
              <a:ext cx="0" cy="1256400"/>
            </a:xfrm>
            <a:prstGeom prst="straightConnector1">
              <a:avLst/>
            </a:prstGeom>
            <a:noFill/>
            <a:ln cap="flat" cmpd="sng" w="762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081" name="Google Shape;13081;p495"/>
            <p:cNvSpPr txBox="1"/>
            <p:nvPr/>
          </p:nvSpPr>
          <p:spPr>
            <a:xfrm rot="-5400913">
              <a:off x="8141557" y="2722066"/>
              <a:ext cx="1130100" cy="25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Strong Tie</a:t>
              </a:r>
              <a:endParaRPr/>
            </a:p>
          </p:txBody>
        </p:sp>
      </p:grpSp>
    </p:spTree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85" name="Shape 13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86" name="Google Shape;13086;p49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Strength of weak ties theory</a:t>
            </a:r>
            <a:endParaRPr/>
          </a:p>
        </p:txBody>
      </p:sp>
      <p:sp>
        <p:nvSpPr>
          <p:cNvPr id="13087" name="Google Shape;13087;p496"/>
          <p:cNvSpPr txBox="1"/>
          <p:nvPr>
            <p:ph idx="1" type="body"/>
          </p:nvPr>
        </p:nvSpPr>
        <p:spPr>
          <a:xfrm>
            <a:off x="311700" y="1225225"/>
            <a:ext cx="3739500" cy="321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Application of the g-transitivity principle to ego-network layers: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G-transitivity more likely to apply to </a:t>
            </a:r>
            <a:r>
              <a:rPr b="1" lang="en"/>
              <a:t>strong ties </a:t>
            </a:r>
            <a:r>
              <a:rPr lang="en"/>
              <a:t>in your </a:t>
            </a:r>
            <a:r>
              <a:rPr b="1" lang="en"/>
              <a:t>support clique </a:t>
            </a:r>
            <a:r>
              <a:rPr lang="en"/>
              <a:t>and </a:t>
            </a:r>
            <a:r>
              <a:rPr b="1" lang="en"/>
              <a:t>sympathy group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Implication: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Weak ties</a:t>
            </a:r>
            <a:r>
              <a:rPr lang="en"/>
              <a:t> in you </a:t>
            </a:r>
            <a:r>
              <a:rPr b="1" lang="en"/>
              <a:t>active network </a:t>
            </a:r>
            <a:r>
              <a:rPr lang="en"/>
              <a:t>less likely to be connected to one another </a:t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Fig%2525201Strong-Weak%252520ties-701724.jpg" id="13088" name="Google Shape;13088;p496"/>
          <p:cNvPicPr preferRelativeResize="0"/>
          <p:nvPr/>
        </p:nvPicPr>
        <p:blipFill rotWithShape="1">
          <a:blip r:embed="rId3">
            <a:alphaModFix/>
          </a:blip>
          <a:srcRect b="0" l="0" r="12694" t="0"/>
          <a:stretch/>
        </p:blipFill>
        <p:spPr>
          <a:xfrm>
            <a:off x="5092925" y="1294088"/>
            <a:ext cx="3739375" cy="3216275"/>
          </a:xfrm>
          <a:prstGeom prst="rect">
            <a:avLst/>
          </a:prstGeom>
          <a:noFill/>
          <a:ln>
            <a:noFill/>
          </a:ln>
        </p:spPr>
      </p:pic>
      <p:sp>
        <p:nvSpPr>
          <p:cNvPr id="13089" name="Google Shape;13089;p496"/>
          <p:cNvSpPr txBox="1"/>
          <p:nvPr/>
        </p:nvSpPr>
        <p:spPr>
          <a:xfrm>
            <a:off x="7336200" y="1190450"/>
            <a:ext cx="1496100" cy="34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G-transitive ties</a:t>
            </a:r>
            <a:endParaRPr/>
          </a:p>
        </p:txBody>
      </p:sp>
      <p:cxnSp>
        <p:nvCxnSpPr>
          <p:cNvPr id="13090" name="Google Shape;13090;p496"/>
          <p:cNvCxnSpPr>
            <a:stCxn id="13089" idx="2"/>
          </p:cNvCxnSpPr>
          <p:nvPr/>
        </p:nvCxnSpPr>
        <p:spPr>
          <a:xfrm rot="5400000">
            <a:off x="6730200" y="1638500"/>
            <a:ext cx="1455300" cy="12528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3091" name="Google Shape;13091;p496"/>
          <p:cNvCxnSpPr>
            <a:stCxn id="13089" idx="2"/>
          </p:cNvCxnSpPr>
          <p:nvPr/>
        </p:nvCxnSpPr>
        <p:spPr>
          <a:xfrm rot="5400000">
            <a:off x="7320900" y="1848500"/>
            <a:ext cx="1074600" cy="4521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3092" name="Google Shape;13092;p496"/>
          <p:cNvSpPr/>
          <p:nvPr/>
        </p:nvSpPr>
        <p:spPr>
          <a:xfrm rot="-1688698">
            <a:off x="6288089" y="2489675"/>
            <a:ext cx="1883172" cy="795089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3" name="Google Shape;13093;p496"/>
          <p:cNvSpPr txBox="1"/>
          <p:nvPr/>
        </p:nvSpPr>
        <p:spPr>
          <a:xfrm>
            <a:off x="3393175" y="3890400"/>
            <a:ext cx="2035500" cy="34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G-transitivity violations</a:t>
            </a:r>
            <a:endParaRPr/>
          </a:p>
        </p:txBody>
      </p:sp>
      <p:sp>
        <p:nvSpPr>
          <p:cNvPr id="13094" name="Google Shape;13094;p496"/>
          <p:cNvSpPr/>
          <p:nvPr/>
        </p:nvSpPr>
        <p:spPr>
          <a:xfrm>
            <a:off x="5930725" y="2325338"/>
            <a:ext cx="369600" cy="3468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5" name="Google Shape;13095;p496"/>
          <p:cNvSpPr/>
          <p:nvPr/>
        </p:nvSpPr>
        <p:spPr>
          <a:xfrm rot="-1208086">
            <a:off x="6450672" y="3449826"/>
            <a:ext cx="2459405" cy="811959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096" name="Google Shape;13096;p496"/>
          <p:cNvCxnSpPr>
            <a:stCxn id="13093" idx="2"/>
            <a:endCxn id="13095" idx="4"/>
          </p:cNvCxnSpPr>
          <p:nvPr/>
        </p:nvCxnSpPr>
        <p:spPr>
          <a:xfrm flipH="1" rot="-5400000">
            <a:off x="6115225" y="2532900"/>
            <a:ext cx="600" cy="3409200"/>
          </a:xfrm>
          <a:prstGeom prst="bentConnector3">
            <a:avLst>
              <a:gd fmla="val 71058030" name="adj1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3097" name="Google Shape;13097;p496"/>
          <p:cNvCxnSpPr>
            <a:stCxn id="13093" idx="0"/>
            <a:endCxn id="13094" idx="4"/>
          </p:cNvCxnSpPr>
          <p:nvPr/>
        </p:nvCxnSpPr>
        <p:spPr>
          <a:xfrm rot="-5400000">
            <a:off x="4654075" y="2428950"/>
            <a:ext cx="1218300" cy="1704600"/>
          </a:xfrm>
          <a:prstGeom prst="bentConnector3">
            <a:avLst>
              <a:gd fmla="val 49998" name="adj1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01" name="Shape 13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2" name="Google Shape;13102;p49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Strength of weak ties theory</a:t>
            </a:r>
            <a:endParaRPr/>
          </a:p>
        </p:txBody>
      </p:sp>
      <p:sp>
        <p:nvSpPr>
          <p:cNvPr id="13103" name="Google Shape;13103;p497"/>
          <p:cNvSpPr txBox="1"/>
          <p:nvPr>
            <p:ph idx="1" type="body"/>
          </p:nvPr>
        </p:nvSpPr>
        <p:spPr>
          <a:xfrm>
            <a:off x="311700" y="1225225"/>
            <a:ext cx="4781100" cy="321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Application of the g-transitivity principle to ego-network layers: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Weak ties can function as </a:t>
            </a:r>
            <a:r>
              <a:rPr b="1" lang="en"/>
              <a:t>bridges</a:t>
            </a:r>
            <a:r>
              <a:rPr lang="en"/>
              <a:t> to parts of social structure to which you wouldn’t have access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Implication: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Absent weak ties: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will not have access to distant parts of the social system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Information will tend to be local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Will put you at a </a:t>
            </a:r>
            <a:r>
              <a:rPr b="1" lang="en"/>
              <a:t>disadvantage </a:t>
            </a:r>
            <a:r>
              <a:rPr lang="en"/>
              <a:t>when </a:t>
            </a:r>
            <a:r>
              <a:rPr b="1" lang="en"/>
              <a:t>novel </a:t>
            </a:r>
            <a:r>
              <a:rPr lang="en"/>
              <a:t>information is </a:t>
            </a:r>
            <a:r>
              <a:rPr b="1" lang="en"/>
              <a:t>valuable </a:t>
            </a:r>
            <a:r>
              <a:rPr lang="en"/>
              <a:t>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Fig%2525201Strong-Weak%252520ties-701724.jpg" id="13104" name="Google Shape;13104;p497"/>
          <p:cNvPicPr preferRelativeResize="0"/>
          <p:nvPr/>
        </p:nvPicPr>
        <p:blipFill rotWithShape="1">
          <a:blip r:embed="rId3">
            <a:alphaModFix/>
          </a:blip>
          <a:srcRect b="0" l="0" r="12694" t="0"/>
          <a:stretch/>
        </p:blipFill>
        <p:spPr>
          <a:xfrm>
            <a:off x="5092925" y="1294088"/>
            <a:ext cx="3739375" cy="3216275"/>
          </a:xfrm>
          <a:prstGeom prst="rect">
            <a:avLst/>
          </a:prstGeom>
          <a:noFill/>
          <a:ln>
            <a:noFill/>
          </a:ln>
        </p:spPr>
      </p:pic>
      <p:sp>
        <p:nvSpPr>
          <p:cNvPr id="13105" name="Google Shape;13105;p497"/>
          <p:cNvSpPr/>
          <p:nvPr/>
        </p:nvSpPr>
        <p:spPr>
          <a:xfrm rot="-1688698">
            <a:off x="6288089" y="2489675"/>
            <a:ext cx="1883172" cy="795089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6" name="Google Shape;13106;p497"/>
          <p:cNvSpPr/>
          <p:nvPr/>
        </p:nvSpPr>
        <p:spPr>
          <a:xfrm>
            <a:off x="5733200" y="2518813"/>
            <a:ext cx="369600" cy="3468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7" name="Google Shape;13107;p497"/>
          <p:cNvSpPr/>
          <p:nvPr/>
        </p:nvSpPr>
        <p:spPr>
          <a:xfrm rot="-1208086">
            <a:off x="6450672" y="3449826"/>
            <a:ext cx="2459405" cy="811959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11" name="Shape 13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Fig%2525201Strong-Weak%252520ties-701724.jpg" id="13112" name="Google Shape;13112;p498"/>
          <p:cNvPicPr preferRelativeResize="0"/>
          <p:nvPr/>
        </p:nvPicPr>
        <p:blipFill rotWithShape="1">
          <a:blip r:embed="rId3">
            <a:alphaModFix/>
          </a:blip>
          <a:srcRect b="0" l="0" r="12694" t="0"/>
          <a:stretch/>
        </p:blipFill>
        <p:spPr>
          <a:xfrm>
            <a:off x="5092925" y="1294088"/>
            <a:ext cx="3739375" cy="3216275"/>
          </a:xfrm>
          <a:prstGeom prst="rect">
            <a:avLst/>
          </a:prstGeom>
          <a:noFill/>
          <a:ln>
            <a:noFill/>
          </a:ln>
        </p:spPr>
      </p:pic>
      <p:sp>
        <p:nvSpPr>
          <p:cNvPr id="13113" name="Google Shape;13113;p498"/>
          <p:cNvSpPr txBox="1"/>
          <p:nvPr/>
        </p:nvSpPr>
        <p:spPr>
          <a:xfrm>
            <a:off x="5858800" y="4441525"/>
            <a:ext cx="1105800" cy="34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Bridging tie</a:t>
            </a:r>
            <a:endParaRPr/>
          </a:p>
        </p:txBody>
      </p:sp>
      <p:sp>
        <p:nvSpPr>
          <p:cNvPr id="13114" name="Google Shape;13114;p49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Strength of weak ties theory</a:t>
            </a:r>
            <a:endParaRPr/>
          </a:p>
        </p:txBody>
      </p:sp>
      <p:sp>
        <p:nvSpPr>
          <p:cNvPr id="13115" name="Google Shape;13115;p498"/>
          <p:cNvSpPr/>
          <p:nvPr/>
        </p:nvSpPr>
        <p:spPr>
          <a:xfrm>
            <a:off x="5776900" y="2418900"/>
            <a:ext cx="163800" cy="2130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6" name="Google Shape;13116;p498"/>
          <p:cNvSpPr txBox="1"/>
          <p:nvPr/>
        </p:nvSpPr>
        <p:spPr>
          <a:xfrm>
            <a:off x="5259225" y="3192200"/>
            <a:ext cx="768300" cy="21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Broker</a:t>
            </a:r>
            <a:endParaRPr/>
          </a:p>
        </p:txBody>
      </p:sp>
      <p:sp>
        <p:nvSpPr>
          <p:cNvPr id="13117" name="Google Shape;13117;p498"/>
          <p:cNvSpPr/>
          <p:nvPr/>
        </p:nvSpPr>
        <p:spPr>
          <a:xfrm>
            <a:off x="5813425" y="2178750"/>
            <a:ext cx="462600" cy="3468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8" name="Google Shape;13118;p498"/>
          <p:cNvSpPr txBox="1"/>
          <p:nvPr/>
        </p:nvSpPr>
        <p:spPr>
          <a:xfrm>
            <a:off x="7759075" y="844400"/>
            <a:ext cx="1191000" cy="150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who may know something your close friends don’t know</a:t>
            </a:r>
            <a:endParaRPr/>
          </a:p>
        </p:txBody>
      </p:sp>
      <p:sp>
        <p:nvSpPr>
          <p:cNvPr id="13119" name="Google Shape;13119;p498"/>
          <p:cNvSpPr/>
          <p:nvPr/>
        </p:nvSpPr>
        <p:spPr>
          <a:xfrm>
            <a:off x="4508600" y="1795500"/>
            <a:ext cx="831000" cy="6234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0" name="Google Shape;13120;p498"/>
          <p:cNvSpPr txBox="1"/>
          <p:nvPr>
            <p:ph idx="1" type="body"/>
          </p:nvPr>
        </p:nvSpPr>
        <p:spPr>
          <a:xfrm>
            <a:off x="311700" y="1225225"/>
            <a:ext cx="4781100" cy="321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Application of the g-transitivity principle to ego-network layers: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Weak ties can function as </a:t>
            </a:r>
            <a:r>
              <a:rPr b="1" lang="en"/>
              <a:t>bridges</a:t>
            </a:r>
            <a:r>
              <a:rPr lang="en"/>
              <a:t> to parts of social structure to which you wouldn’t have access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Implication: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Absent weak ties: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will not have access to distant parts of the social system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Information will tend to be local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Will put you at a </a:t>
            </a:r>
            <a:r>
              <a:rPr b="1" lang="en"/>
              <a:t>disadvantage </a:t>
            </a:r>
            <a:r>
              <a:rPr lang="en"/>
              <a:t>when </a:t>
            </a:r>
            <a:r>
              <a:rPr b="1" lang="en"/>
              <a:t>novel </a:t>
            </a:r>
            <a:r>
              <a:rPr lang="en"/>
              <a:t>information is </a:t>
            </a:r>
            <a:r>
              <a:rPr b="1" lang="en"/>
              <a:t>valuable </a:t>
            </a:r>
            <a:r>
              <a:rPr lang="en"/>
              <a:t>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121" name="Google Shape;13121;p498"/>
          <p:cNvCxnSpPr>
            <a:stCxn id="13118" idx="1"/>
          </p:cNvCxnSpPr>
          <p:nvPr/>
        </p:nvCxnSpPr>
        <p:spPr>
          <a:xfrm flipH="1">
            <a:off x="5713375" y="1598300"/>
            <a:ext cx="2045700" cy="3816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3122" name="Google Shape;13122;p498"/>
          <p:cNvCxnSpPr>
            <a:stCxn id="13116" idx="0"/>
            <a:endCxn id="13117" idx="4"/>
          </p:cNvCxnSpPr>
          <p:nvPr/>
        </p:nvCxnSpPr>
        <p:spPr>
          <a:xfrm flipH="1" rot="10800000">
            <a:off x="5643375" y="2525600"/>
            <a:ext cx="401400" cy="6666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3123" name="Google Shape;13123;p498"/>
          <p:cNvCxnSpPr>
            <a:stCxn id="13113" idx="0"/>
          </p:cNvCxnSpPr>
          <p:nvPr/>
        </p:nvCxnSpPr>
        <p:spPr>
          <a:xfrm flipH="1" rot="10800000">
            <a:off x="6411700" y="2659525"/>
            <a:ext cx="32400" cy="17820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27" name="Shape 1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8" name="Google Shape;13128;p49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Application: Getting a job</a:t>
            </a:r>
            <a:endParaRPr/>
          </a:p>
        </p:txBody>
      </p:sp>
      <p:sp>
        <p:nvSpPr>
          <p:cNvPr id="13129" name="Google Shape;13129;p499"/>
          <p:cNvSpPr txBox="1"/>
          <p:nvPr>
            <p:ph idx="1" type="body"/>
          </p:nvPr>
        </p:nvSpPr>
        <p:spPr>
          <a:xfrm>
            <a:off x="311700" y="1225225"/>
            <a:ext cx="5259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If social mobility (e.g. finding new job opportunities) depends on (new) information access: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Then having weak ties will be correlated with mobility and other forms of success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Contacts with whom you are weakly connected will be more likely to know something you don’t know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Weak ties help you insofar as they connect you to others with access to both information and resources </a:t>
            </a:r>
            <a:endParaRPr/>
          </a:p>
        </p:txBody>
      </p:sp>
      <p:pic>
        <p:nvPicPr>
          <p:cNvPr descr="granov2.gif" id="13130" name="Google Shape;13130;p49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71000" y="1067738"/>
            <a:ext cx="3261300" cy="366897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34" name="Shape 13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Fig%2525201Strong-Weak%252520ties-701724.jpg" id="13135" name="Google Shape;13135;p500"/>
          <p:cNvPicPr preferRelativeResize="0"/>
          <p:nvPr/>
        </p:nvPicPr>
        <p:blipFill rotWithShape="1">
          <a:blip r:embed="rId3">
            <a:alphaModFix/>
          </a:blip>
          <a:srcRect b="0" l="0" r="12694" t="0"/>
          <a:stretch/>
        </p:blipFill>
        <p:spPr>
          <a:xfrm>
            <a:off x="5092925" y="1294088"/>
            <a:ext cx="3739375" cy="3216275"/>
          </a:xfrm>
          <a:prstGeom prst="rect">
            <a:avLst/>
          </a:prstGeom>
          <a:noFill/>
          <a:ln>
            <a:noFill/>
          </a:ln>
        </p:spPr>
      </p:pic>
      <p:sp>
        <p:nvSpPr>
          <p:cNvPr id="13136" name="Google Shape;13136;p50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Structural holes theory</a:t>
            </a:r>
            <a:endParaRPr/>
          </a:p>
        </p:txBody>
      </p:sp>
      <p:sp>
        <p:nvSpPr>
          <p:cNvPr id="13137" name="Google Shape;13137;p500"/>
          <p:cNvSpPr txBox="1"/>
          <p:nvPr>
            <p:ph idx="1" type="body"/>
          </p:nvPr>
        </p:nvSpPr>
        <p:spPr>
          <a:xfrm>
            <a:off x="311700" y="1225225"/>
            <a:ext cx="42831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b="1" lang="en"/>
              <a:t>Strength of weak ties</a:t>
            </a:r>
            <a:r>
              <a:rPr lang="en"/>
              <a:t> theory is a theory about how you can connect to </a:t>
            </a:r>
            <a:r>
              <a:rPr b="1" lang="en"/>
              <a:t>brokers</a:t>
            </a:r>
            <a:r>
              <a:rPr lang="en"/>
              <a:t> by developing </a:t>
            </a:r>
            <a:r>
              <a:rPr b="1" lang="en"/>
              <a:t>bridging </a:t>
            </a:r>
            <a:r>
              <a:rPr lang="en"/>
              <a:t>ties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It is a theory of social capital as </a:t>
            </a:r>
            <a:r>
              <a:rPr b="1" lang="en"/>
              <a:t>information access</a:t>
            </a:r>
            <a:endParaRPr b="1"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note that here the powerful person is the </a:t>
            </a:r>
            <a:r>
              <a:rPr b="1" lang="en"/>
              <a:t>broker</a:t>
            </a:r>
            <a:r>
              <a:rPr lang="en"/>
              <a:t> not </a:t>
            </a:r>
            <a:r>
              <a:rPr b="1" lang="en"/>
              <a:t>you</a:t>
            </a:r>
            <a:endParaRPr b="1"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</a:t>
            </a:r>
            <a:r>
              <a:rPr lang="en"/>
              <a:t> control the information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800"/>
              <a:buChar char="●"/>
            </a:pPr>
            <a:r>
              <a:rPr i="1" lang="en">
                <a:solidFill>
                  <a:srgbClr val="FF0000"/>
                </a:solidFill>
              </a:rPr>
              <a:t>What if you want to be the broker in control?</a:t>
            </a:r>
            <a:endParaRPr i="1">
              <a:solidFill>
                <a:srgbClr val="FF0000"/>
              </a:solidFill>
            </a:endParaRPr>
          </a:p>
        </p:txBody>
      </p:sp>
      <p:sp>
        <p:nvSpPr>
          <p:cNvPr id="13138" name="Google Shape;13138;p500"/>
          <p:cNvSpPr/>
          <p:nvPr/>
        </p:nvSpPr>
        <p:spPr>
          <a:xfrm>
            <a:off x="5776900" y="2418900"/>
            <a:ext cx="163800" cy="2130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39" name="Google Shape;13139;p500"/>
          <p:cNvSpPr/>
          <p:nvPr/>
        </p:nvSpPr>
        <p:spPr>
          <a:xfrm>
            <a:off x="4508600" y="1795500"/>
            <a:ext cx="831000" cy="6234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40" name="Google Shape;13140;p500"/>
          <p:cNvSpPr txBox="1"/>
          <p:nvPr/>
        </p:nvSpPr>
        <p:spPr>
          <a:xfrm>
            <a:off x="5858800" y="4441525"/>
            <a:ext cx="1105800" cy="34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Bridging tie</a:t>
            </a:r>
            <a:endParaRPr/>
          </a:p>
        </p:txBody>
      </p:sp>
      <p:sp>
        <p:nvSpPr>
          <p:cNvPr id="13141" name="Google Shape;13141;p500"/>
          <p:cNvSpPr/>
          <p:nvPr/>
        </p:nvSpPr>
        <p:spPr>
          <a:xfrm>
            <a:off x="5813425" y="2178750"/>
            <a:ext cx="462600" cy="3468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42" name="Google Shape;13142;p500"/>
          <p:cNvSpPr txBox="1"/>
          <p:nvPr/>
        </p:nvSpPr>
        <p:spPr>
          <a:xfrm>
            <a:off x="7759075" y="844400"/>
            <a:ext cx="1191000" cy="150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who may know something your close friends don’t know</a:t>
            </a:r>
            <a:endParaRPr/>
          </a:p>
        </p:txBody>
      </p:sp>
      <p:cxnSp>
        <p:nvCxnSpPr>
          <p:cNvPr id="13143" name="Google Shape;13143;p500"/>
          <p:cNvCxnSpPr>
            <a:stCxn id="13142" idx="1"/>
          </p:cNvCxnSpPr>
          <p:nvPr/>
        </p:nvCxnSpPr>
        <p:spPr>
          <a:xfrm flipH="1">
            <a:off x="5713375" y="1598300"/>
            <a:ext cx="2045700" cy="3816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3144" name="Google Shape;13144;p500"/>
          <p:cNvCxnSpPr>
            <a:endCxn id="13141" idx="4"/>
          </p:cNvCxnSpPr>
          <p:nvPr/>
        </p:nvCxnSpPr>
        <p:spPr>
          <a:xfrm flipH="1" rot="10800000">
            <a:off x="5643325" y="2525550"/>
            <a:ext cx="401400" cy="6666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3145" name="Google Shape;13145;p500"/>
          <p:cNvCxnSpPr>
            <a:stCxn id="13140" idx="0"/>
          </p:cNvCxnSpPr>
          <p:nvPr/>
        </p:nvCxnSpPr>
        <p:spPr>
          <a:xfrm flipH="1" rot="10800000">
            <a:off x="6411700" y="2659525"/>
            <a:ext cx="32400" cy="17820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3146" name="Google Shape;13146;p500"/>
          <p:cNvSpPr txBox="1"/>
          <p:nvPr/>
        </p:nvSpPr>
        <p:spPr>
          <a:xfrm>
            <a:off x="5259225" y="3192200"/>
            <a:ext cx="768300" cy="21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Broker</a:t>
            </a:r>
            <a:endParaRPr/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50" name="Shape 13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1" name="Google Shape;13151;p50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Structural holes theory</a:t>
            </a:r>
            <a:endParaRPr/>
          </a:p>
        </p:txBody>
      </p:sp>
      <p:sp>
        <p:nvSpPr>
          <p:cNvPr id="13152" name="Google Shape;13152;p501"/>
          <p:cNvSpPr txBox="1"/>
          <p:nvPr>
            <p:ph idx="1" type="body"/>
          </p:nvPr>
        </p:nvSpPr>
        <p:spPr>
          <a:xfrm>
            <a:off x="311700" y="1225225"/>
            <a:ext cx="42831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b="1" lang="en"/>
              <a:t>Structural holes theory </a:t>
            </a:r>
            <a:r>
              <a:rPr lang="en"/>
              <a:t>is a theory about how to configure your network so that you </a:t>
            </a:r>
            <a:r>
              <a:rPr b="1" lang="en"/>
              <a:t>control</a:t>
            </a:r>
            <a:r>
              <a:rPr lang="en"/>
              <a:t> the information: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Others depend on </a:t>
            </a:r>
            <a:r>
              <a:rPr b="1" lang="en"/>
              <a:t>you</a:t>
            </a:r>
            <a:r>
              <a:rPr lang="en"/>
              <a:t> for access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You maximize social capital when you occupy a position “in between” others</a:t>
            </a:r>
            <a:r>
              <a:rPr b="1" lang="en"/>
              <a:t>:</a:t>
            </a:r>
            <a:r>
              <a:rPr lang="en"/>
              <a:t> 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Violations of </a:t>
            </a:r>
            <a:r>
              <a:rPr b="1" lang="en"/>
              <a:t>g-transitivity </a:t>
            </a:r>
            <a:r>
              <a:rPr lang="en"/>
              <a:t>create “</a:t>
            </a:r>
            <a:r>
              <a:rPr b="1" lang="en"/>
              <a:t>holes</a:t>
            </a:r>
            <a:r>
              <a:rPr lang="en"/>
              <a:t>” in social structure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Who has the most social capital?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James or Robert?</a:t>
            </a:r>
            <a:endParaRPr/>
          </a:p>
        </p:txBody>
      </p:sp>
      <p:pic>
        <p:nvPicPr>
          <p:cNvPr id="13153" name="Google Shape;13153;p50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94800" y="1373750"/>
            <a:ext cx="4244401" cy="30569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57" name="Shape 13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8" name="Google Shape;13158;p50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Structural holes theory</a:t>
            </a:r>
            <a:endParaRPr/>
          </a:p>
        </p:txBody>
      </p:sp>
      <p:sp>
        <p:nvSpPr>
          <p:cNvPr id="13159" name="Google Shape;13159;p502"/>
          <p:cNvSpPr txBox="1"/>
          <p:nvPr>
            <p:ph idx="1" type="body"/>
          </p:nvPr>
        </p:nvSpPr>
        <p:spPr>
          <a:xfrm>
            <a:off x="311700" y="1225225"/>
            <a:ext cx="42831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Structural holes in networks provide two kinds of benefits: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Passive exposure effect:</a:t>
            </a:r>
            <a:r>
              <a:rPr lang="en"/>
              <a:t> 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get to know what other people know (a la Granovetter)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Active control effect (Burt 1995):</a:t>
            </a:r>
            <a:r>
              <a:rPr lang="en"/>
              <a:t> 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</a:t>
            </a:r>
            <a:r>
              <a:rPr b="1" lang="en"/>
              <a:t>decide</a:t>
            </a:r>
            <a:r>
              <a:rPr lang="en"/>
              <a:t> whether some people know some things or not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</a:t>
            </a:r>
            <a:r>
              <a:rPr b="1" lang="en"/>
              <a:t>shape</a:t>
            </a:r>
            <a:r>
              <a:rPr lang="en"/>
              <a:t> the way other people perceive others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can </a:t>
            </a:r>
            <a:r>
              <a:rPr b="1" lang="en"/>
              <a:t>play</a:t>
            </a:r>
            <a:r>
              <a:rPr lang="en"/>
              <a:t> people against one another</a:t>
            </a:r>
            <a:endParaRPr/>
          </a:p>
        </p:txBody>
      </p:sp>
      <p:pic>
        <p:nvPicPr>
          <p:cNvPr id="13160" name="Google Shape;13160;p50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94800" y="1373750"/>
            <a:ext cx="4244401" cy="3056943"/>
          </a:xfrm>
          <a:prstGeom prst="rect">
            <a:avLst/>
          </a:prstGeom>
          <a:noFill/>
          <a:ln>
            <a:noFill/>
          </a:ln>
        </p:spPr>
      </p:pic>
      <p:sp>
        <p:nvSpPr>
          <p:cNvPr id="13161" name="Google Shape;13161;p502"/>
          <p:cNvSpPr/>
          <p:nvPr/>
        </p:nvSpPr>
        <p:spPr>
          <a:xfrm>
            <a:off x="6497625" y="2620900"/>
            <a:ext cx="764400" cy="8628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65" name="Shape 13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66" name="Google Shape;13166;p50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Structural holes theory</a:t>
            </a:r>
            <a:endParaRPr/>
          </a:p>
        </p:txBody>
      </p:sp>
      <p:sp>
        <p:nvSpPr>
          <p:cNvPr id="13167" name="Google Shape;13167;p503"/>
          <p:cNvSpPr txBox="1"/>
          <p:nvPr>
            <p:ph idx="1" type="body"/>
          </p:nvPr>
        </p:nvSpPr>
        <p:spPr>
          <a:xfrm>
            <a:off x="311700" y="1225225"/>
            <a:ext cx="42831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Structural holes in networks provide two kinds of benefits: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Passive exposure effect:</a:t>
            </a:r>
            <a:r>
              <a:rPr lang="en"/>
              <a:t> 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get to know what other people know (a la Granovetter)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Active control effect (Burt 1995):</a:t>
            </a:r>
            <a:r>
              <a:rPr lang="en"/>
              <a:t> 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are less </a:t>
            </a:r>
            <a:r>
              <a:rPr b="1" lang="en"/>
              <a:t>bound</a:t>
            </a:r>
            <a:r>
              <a:rPr lang="en"/>
              <a:t> by the norms and expectations of any one group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are </a:t>
            </a:r>
            <a:r>
              <a:rPr b="1" lang="en"/>
              <a:t>free</a:t>
            </a:r>
            <a:r>
              <a:rPr lang="en"/>
              <a:t> to move across the social structure</a:t>
            </a:r>
            <a:endParaRPr/>
          </a:p>
          <a:p>
            <a:pPr indent="-317500" lvl="3" marL="1828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Be different things to different people</a:t>
            </a:r>
            <a:endParaRPr/>
          </a:p>
        </p:txBody>
      </p:sp>
      <p:pic>
        <p:nvPicPr>
          <p:cNvPr id="13168" name="Google Shape;13168;p50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94800" y="1373750"/>
            <a:ext cx="4244401" cy="3056943"/>
          </a:xfrm>
          <a:prstGeom prst="rect">
            <a:avLst/>
          </a:prstGeom>
          <a:noFill/>
          <a:ln>
            <a:noFill/>
          </a:ln>
        </p:spPr>
      </p:pic>
      <p:sp>
        <p:nvSpPr>
          <p:cNvPr id="13169" name="Google Shape;13169;p503"/>
          <p:cNvSpPr/>
          <p:nvPr/>
        </p:nvSpPr>
        <p:spPr>
          <a:xfrm>
            <a:off x="6497625" y="2620900"/>
            <a:ext cx="764400" cy="8628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73" name="Shape 13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74" name="Google Shape;13174;p50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Structural holes theory</a:t>
            </a:r>
            <a:endParaRPr/>
          </a:p>
        </p:txBody>
      </p:sp>
      <p:sp>
        <p:nvSpPr>
          <p:cNvPr id="13175" name="Google Shape;13175;p504"/>
          <p:cNvSpPr txBox="1"/>
          <p:nvPr>
            <p:ph idx="1" type="body"/>
          </p:nvPr>
        </p:nvSpPr>
        <p:spPr>
          <a:xfrm>
            <a:off x="311700" y="1225225"/>
            <a:ext cx="42831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The opposite of having structural holes is what Burt calls </a:t>
            </a:r>
            <a:r>
              <a:rPr b="1" lang="en"/>
              <a:t>Network Constraint</a:t>
            </a:r>
            <a:endParaRPr b="1"/>
          </a:p>
          <a:p>
            <a:pPr indent="-3429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○"/>
            </a:pPr>
            <a:r>
              <a:rPr lang="en"/>
              <a:t>In a high constraint network: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Your contacts are connected to one another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are subject to the strong expectations of a single group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You depend on others for information access</a:t>
            </a:r>
            <a:endParaRPr/>
          </a:p>
        </p:txBody>
      </p:sp>
      <p:pic>
        <p:nvPicPr>
          <p:cNvPr id="13176" name="Google Shape;13176;p50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94800" y="1373750"/>
            <a:ext cx="4244401" cy="3056943"/>
          </a:xfrm>
          <a:prstGeom prst="rect">
            <a:avLst/>
          </a:prstGeom>
          <a:noFill/>
          <a:ln>
            <a:noFill/>
          </a:ln>
        </p:spPr>
      </p:pic>
      <p:sp>
        <p:nvSpPr>
          <p:cNvPr id="13177" name="Google Shape;13177;p504"/>
          <p:cNvSpPr/>
          <p:nvPr/>
        </p:nvSpPr>
        <p:spPr>
          <a:xfrm>
            <a:off x="8168425" y="2336975"/>
            <a:ext cx="764400" cy="8628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81" name="Shape 1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2" name="Google Shape;13182;p50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Structural holes theory</a:t>
            </a:r>
            <a:endParaRPr/>
          </a:p>
        </p:txBody>
      </p:sp>
      <p:sp>
        <p:nvSpPr>
          <p:cNvPr id="13183" name="Google Shape;13183;p505"/>
          <p:cNvSpPr txBox="1"/>
          <p:nvPr>
            <p:ph idx="1" type="body"/>
          </p:nvPr>
        </p:nvSpPr>
        <p:spPr>
          <a:xfrm>
            <a:off x="311700" y="1225225"/>
            <a:ext cx="8520600" cy="1383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Evidence for structural holes argument (Burt 2005):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corporate settings people who have networks rich in structural holes (low constraint):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Receive higher salaries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Get promoted faster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Receive better performance evaluations</a:t>
            </a:r>
            <a:endParaRPr/>
          </a:p>
          <a:p>
            <a:pPr indent="0" lvl="0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3184" name="Google Shape;13184;p50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01327" y="2608225"/>
            <a:ext cx="5741349" cy="2367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88" name="Shape 13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9" name="Google Shape;13189;p50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Structural holes theory</a:t>
            </a:r>
            <a:endParaRPr/>
          </a:p>
        </p:txBody>
      </p:sp>
      <p:sp>
        <p:nvSpPr>
          <p:cNvPr id="13190" name="Google Shape;13190;p506"/>
          <p:cNvSpPr txBox="1"/>
          <p:nvPr>
            <p:ph idx="1" type="body"/>
          </p:nvPr>
        </p:nvSpPr>
        <p:spPr>
          <a:xfrm>
            <a:off x="311700" y="1225225"/>
            <a:ext cx="4408200" cy="3589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Why do people located in between structural holes do better?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have better ideas (Burt 2005)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Why do they have better ideas?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can combine elements from different sources to create novel combinations</a:t>
            </a:r>
            <a:endParaRPr/>
          </a:p>
          <a:p>
            <a:pPr indent="0" lvl="0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3191" name="Google Shape;13191;p506"/>
          <p:cNvPicPr preferRelativeResize="0"/>
          <p:nvPr/>
        </p:nvPicPr>
        <p:blipFill rotWithShape="1">
          <a:blip r:embed="rId3">
            <a:alphaModFix/>
          </a:blip>
          <a:srcRect b="16269" l="15117" r="10561" t="16917"/>
          <a:stretch/>
        </p:blipFill>
        <p:spPr>
          <a:xfrm>
            <a:off x="4719900" y="1470438"/>
            <a:ext cx="4112400" cy="27725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92" name="Google Shape;13192;p50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82000" y="3324096"/>
            <a:ext cx="1918750" cy="13819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96" name="Shape 13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97" name="Google Shape;13197;p50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Clustering Coefficient</a:t>
            </a:r>
            <a:endParaRPr/>
          </a:p>
        </p:txBody>
      </p:sp>
      <p:sp>
        <p:nvSpPr>
          <p:cNvPr id="13198" name="Google Shape;13198;p507"/>
          <p:cNvSpPr/>
          <p:nvPr/>
        </p:nvSpPr>
        <p:spPr>
          <a:xfrm>
            <a:off x="576075" y="1147213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199" name="Google Shape;13199;p507"/>
          <p:cNvSpPr/>
          <p:nvPr/>
        </p:nvSpPr>
        <p:spPr>
          <a:xfrm>
            <a:off x="576075" y="2266373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00" name="Google Shape;13200;p507"/>
          <p:cNvSpPr/>
          <p:nvPr/>
        </p:nvSpPr>
        <p:spPr>
          <a:xfrm>
            <a:off x="1541077" y="2266373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01" name="Google Shape;13201;p507"/>
          <p:cNvSpPr/>
          <p:nvPr/>
        </p:nvSpPr>
        <p:spPr>
          <a:xfrm>
            <a:off x="977501" y="1632586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02" name="Google Shape;13202;p507"/>
          <p:cNvSpPr/>
          <p:nvPr/>
        </p:nvSpPr>
        <p:spPr>
          <a:xfrm>
            <a:off x="1541071" y="1147214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13203" name="Google Shape;13203;p507"/>
          <p:cNvCxnSpPr>
            <a:stCxn id="13202" idx="4"/>
            <a:endCxn id="13201" idx="7"/>
          </p:cNvCxnSpPr>
          <p:nvPr/>
        </p:nvCxnSpPr>
        <p:spPr>
          <a:xfrm flipH="1">
            <a:off x="1452571" y="150121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04" name="Google Shape;13204;p507"/>
          <p:cNvCxnSpPr>
            <a:stCxn id="13198" idx="4"/>
            <a:endCxn id="13201" idx="1"/>
          </p:cNvCxnSpPr>
          <p:nvPr/>
        </p:nvCxnSpPr>
        <p:spPr>
          <a:xfrm>
            <a:off x="750975" y="150121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05" name="Google Shape;13205;p507"/>
          <p:cNvCxnSpPr>
            <a:stCxn id="13199" idx="0"/>
            <a:endCxn id="13201" idx="3"/>
          </p:cNvCxnSpPr>
          <p:nvPr/>
        </p:nvCxnSpPr>
        <p:spPr>
          <a:xfrm flipH="1" rot="10800000">
            <a:off x="750975" y="203507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06" name="Google Shape;13206;p507"/>
          <p:cNvCxnSpPr>
            <a:stCxn id="13201" idx="5"/>
            <a:endCxn id="13200" idx="0"/>
          </p:cNvCxnSpPr>
          <p:nvPr/>
        </p:nvCxnSpPr>
        <p:spPr>
          <a:xfrm>
            <a:off x="1452504" y="203512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07" name="Google Shape;13207;p507"/>
          <p:cNvSpPr/>
          <p:nvPr/>
        </p:nvSpPr>
        <p:spPr>
          <a:xfrm>
            <a:off x="3837985" y="1177159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08" name="Google Shape;13208;p507"/>
          <p:cNvSpPr/>
          <p:nvPr/>
        </p:nvSpPr>
        <p:spPr>
          <a:xfrm>
            <a:off x="3837985" y="2296318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09" name="Google Shape;13209;p507"/>
          <p:cNvSpPr/>
          <p:nvPr/>
        </p:nvSpPr>
        <p:spPr>
          <a:xfrm>
            <a:off x="4802986" y="2296318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10" name="Google Shape;13210;p507"/>
          <p:cNvSpPr/>
          <p:nvPr/>
        </p:nvSpPr>
        <p:spPr>
          <a:xfrm>
            <a:off x="4239411" y="1662532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11" name="Google Shape;13211;p507"/>
          <p:cNvSpPr/>
          <p:nvPr/>
        </p:nvSpPr>
        <p:spPr>
          <a:xfrm>
            <a:off x="4802981" y="1177160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13212" name="Google Shape;13212;p507"/>
          <p:cNvCxnSpPr>
            <a:stCxn id="13211" idx="4"/>
            <a:endCxn id="13210" idx="7"/>
          </p:cNvCxnSpPr>
          <p:nvPr/>
        </p:nvCxnSpPr>
        <p:spPr>
          <a:xfrm flipH="1">
            <a:off x="4714481" y="1531160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13" name="Google Shape;13213;p507"/>
          <p:cNvCxnSpPr>
            <a:stCxn id="13207" idx="4"/>
            <a:endCxn id="13210" idx="1"/>
          </p:cNvCxnSpPr>
          <p:nvPr/>
        </p:nvCxnSpPr>
        <p:spPr>
          <a:xfrm>
            <a:off x="4012885" y="1531159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14" name="Google Shape;13214;p507"/>
          <p:cNvCxnSpPr>
            <a:stCxn id="13208" idx="0"/>
            <a:endCxn id="13210" idx="3"/>
          </p:cNvCxnSpPr>
          <p:nvPr/>
        </p:nvCxnSpPr>
        <p:spPr>
          <a:xfrm flipH="1" rot="10800000">
            <a:off x="4012885" y="2065018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15" name="Google Shape;13215;p507"/>
          <p:cNvCxnSpPr>
            <a:stCxn id="13210" idx="5"/>
            <a:endCxn id="13209" idx="0"/>
          </p:cNvCxnSpPr>
          <p:nvPr/>
        </p:nvCxnSpPr>
        <p:spPr>
          <a:xfrm>
            <a:off x="4714413" y="2065068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16" name="Google Shape;13216;p507"/>
          <p:cNvSpPr/>
          <p:nvPr/>
        </p:nvSpPr>
        <p:spPr>
          <a:xfrm>
            <a:off x="6999769" y="1147213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a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17" name="Google Shape;13217;p507"/>
          <p:cNvSpPr/>
          <p:nvPr/>
        </p:nvSpPr>
        <p:spPr>
          <a:xfrm>
            <a:off x="6999769" y="2266373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c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18" name="Google Shape;13218;p507"/>
          <p:cNvSpPr/>
          <p:nvPr/>
        </p:nvSpPr>
        <p:spPr>
          <a:xfrm>
            <a:off x="7964770" y="2266373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d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19" name="Google Shape;13219;p507"/>
          <p:cNvSpPr/>
          <p:nvPr/>
        </p:nvSpPr>
        <p:spPr>
          <a:xfrm>
            <a:off x="7401195" y="1632586"/>
            <a:ext cx="556500" cy="4716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3220" name="Google Shape;13220;p507"/>
          <p:cNvSpPr/>
          <p:nvPr/>
        </p:nvSpPr>
        <p:spPr>
          <a:xfrm>
            <a:off x="7964765" y="1147214"/>
            <a:ext cx="349800" cy="3540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b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cxnSp>
        <p:nvCxnSpPr>
          <p:cNvPr id="13221" name="Google Shape;13221;p507"/>
          <p:cNvCxnSpPr>
            <a:stCxn id="13220" idx="4"/>
            <a:endCxn id="13219" idx="7"/>
          </p:cNvCxnSpPr>
          <p:nvPr/>
        </p:nvCxnSpPr>
        <p:spPr>
          <a:xfrm flipH="1">
            <a:off x="7876265" y="1501214"/>
            <a:ext cx="2634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22" name="Google Shape;13222;p507"/>
          <p:cNvCxnSpPr>
            <a:stCxn id="13216" idx="4"/>
            <a:endCxn id="13219" idx="1"/>
          </p:cNvCxnSpPr>
          <p:nvPr/>
        </p:nvCxnSpPr>
        <p:spPr>
          <a:xfrm>
            <a:off x="7174669" y="1501213"/>
            <a:ext cx="308100" cy="2004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23" name="Google Shape;13223;p507"/>
          <p:cNvCxnSpPr>
            <a:stCxn id="13217" idx="0"/>
            <a:endCxn id="13219" idx="3"/>
          </p:cNvCxnSpPr>
          <p:nvPr/>
        </p:nvCxnSpPr>
        <p:spPr>
          <a:xfrm flipH="1" rot="10800000">
            <a:off x="7174669" y="2035073"/>
            <a:ext cx="3081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24" name="Google Shape;13224;p507"/>
          <p:cNvCxnSpPr>
            <a:stCxn id="13219" idx="5"/>
            <a:endCxn id="13218" idx="0"/>
          </p:cNvCxnSpPr>
          <p:nvPr/>
        </p:nvCxnSpPr>
        <p:spPr>
          <a:xfrm>
            <a:off x="7876198" y="2035122"/>
            <a:ext cx="263400" cy="231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3225" name="Google Shape;13225;p507"/>
          <p:cNvGraphicFramePr/>
          <p:nvPr/>
        </p:nvGraphicFramePr>
        <p:xfrm>
          <a:off x="829688" y="28948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248200"/>
                <a:gridCol w="248200"/>
                <a:gridCol w="248200"/>
                <a:gridCol w="248200"/>
                <a:gridCol w="248200"/>
              </a:tblGrid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a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b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c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d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0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0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0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 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13226" name="Google Shape;13226;p507"/>
          <p:cNvGraphicFramePr/>
          <p:nvPr/>
        </p:nvGraphicFramePr>
        <p:xfrm>
          <a:off x="4069313" y="29543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248200"/>
                <a:gridCol w="248200"/>
                <a:gridCol w="248200"/>
                <a:gridCol w="248200"/>
                <a:gridCol w="248200"/>
              </a:tblGrid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a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b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c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d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0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0 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1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13227" name="Google Shape;13227;p507"/>
          <p:cNvGraphicFramePr/>
          <p:nvPr/>
        </p:nvGraphicFramePr>
        <p:xfrm>
          <a:off x="7231038" y="29222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248200"/>
                <a:gridCol w="248200"/>
                <a:gridCol w="248200"/>
                <a:gridCol w="248200"/>
                <a:gridCol w="248200"/>
              </a:tblGrid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a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b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c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d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a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B7B7B7"/>
                          </a:solidFill>
                        </a:rPr>
                        <a:t>1</a:t>
                      </a:r>
                      <a:endParaRPr sz="1200">
                        <a:solidFill>
                          <a:srgbClr val="B7B7B7"/>
                        </a:solidFill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b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1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1 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c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CCCCCC"/>
                          </a:solidFill>
                        </a:rPr>
                        <a:t>1</a:t>
                      </a:r>
                      <a:endParaRPr sz="1200">
                        <a:solidFill>
                          <a:srgbClr val="CCCCCC"/>
                        </a:solidFill>
                      </a:endParaRPr>
                    </a:p>
                  </a:txBody>
                  <a:tcPr marT="0" marB="0" marR="0" marL="0" anchor="ctr"/>
                </a:tc>
              </a:tr>
              <a:tr h="239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d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sp>
        <p:nvSpPr>
          <p:cNvPr id="13228" name="Google Shape;13228;p507"/>
          <p:cNvSpPr txBox="1"/>
          <p:nvPr/>
        </p:nvSpPr>
        <p:spPr>
          <a:xfrm>
            <a:off x="882150" y="4094613"/>
            <a:ext cx="12411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0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3229" name="Google Shape;13229;p507"/>
          <p:cNvSpPr txBox="1"/>
          <p:nvPr/>
        </p:nvSpPr>
        <p:spPr>
          <a:xfrm>
            <a:off x="4144050" y="4143413"/>
            <a:ext cx="12411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0.5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3230" name="Google Shape;13230;p507"/>
          <p:cNvSpPr txBox="1"/>
          <p:nvPr/>
        </p:nvSpPr>
        <p:spPr>
          <a:xfrm>
            <a:off x="7231000" y="4143413"/>
            <a:ext cx="12411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CC</a:t>
            </a:r>
            <a:r>
              <a:rPr b="1" baseline="-25000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ego</a:t>
            </a:r>
            <a:r>
              <a:rPr b="1" lang="en" sz="1800">
                <a:solidFill>
                  <a:srgbClr val="A61C00"/>
                </a:solidFill>
                <a:latin typeface="Economica"/>
                <a:ea typeface="Economica"/>
                <a:cs typeface="Economica"/>
                <a:sym typeface="Economica"/>
              </a:rPr>
              <a:t>= 1.0</a:t>
            </a:r>
            <a:endParaRPr b="1" sz="1800">
              <a:solidFill>
                <a:srgbClr val="A61C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3231" name="Google Shape;13231;p507"/>
          <p:cNvCxnSpPr>
            <a:stCxn id="13207" idx="4"/>
            <a:endCxn id="13208" idx="0"/>
          </p:cNvCxnSpPr>
          <p:nvPr/>
        </p:nvCxnSpPr>
        <p:spPr>
          <a:xfrm>
            <a:off x="4012885" y="1531159"/>
            <a:ext cx="0" cy="7653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2" name="Google Shape;13232;p507"/>
          <p:cNvCxnSpPr>
            <a:stCxn id="13209" idx="2"/>
            <a:endCxn id="13208" idx="6"/>
          </p:cNvCxnSpPr>
          <p:nvPr/>
        </p:nvCxnSpPr>
        <p:spPr>
          <a:xfrm rot="10800000">
            <a:off x="4187686" y="2473318"/>
            <a:ext cx="615300" cy="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3" name="Google Shape;13233;p507"/>
          <p:cNvCxnSpPr>
            <a:stCxn id="13211" idx="2"/>
            <a:endCxn id="13207" idx="6"/>
          </p:cNvCxnSpPr>
          <p:nvPr/>
        </p:nvCxnSpPr>
        <p:spPr>
          <a:xfrm rot="10800000">
            <a:off x="4187681" y="1354160"/>
            <a:ext cx="615300" cy="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4" name="Google Shape;13234;p507"/>
          <p:cNvCxnSpPr>
            <a:stCxn id="13216" idx="4"/>
            <a:endCxn id="13217" idx="0"/>
          </p:cNvCxnSpPr>
          <p:nvPr/>
        </p:nvCxnSpPr>
        <p:spPr>
          <a:xfrm>
            <a:off x="7174669" y="1501213"/>
            <a:ext cx="0" cy="7653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5" name="Google Shape;13235;p507"/>
          <p:cNvCxnSpPr>
            <a:stCxn id="13220" idx="2"/>
            <a:endCxn id="13216" idx="6"/>
          </p:cNvCxnSpPr>
          <p:nvPr/>
        </p:nvCxnSpPr>
        <p:spPr>
          <a:xfrm rot="10800000">
            <a:off x="7349465" y="1324214"/>
            <a:ext cx="615300" cy="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6" name="Google Shape;13236;p507"/>
          <p:cNvCxnSpPr>
            <a:stCxn id="13220" idx="4"/>
            <a:endCxn id="13218" idx="0"/>
          </p:cNvCxnSpPr>
          <p:nvPr/>
        </p:nvCxnSpPr>
        <p:spPr>
          <a:xfrm>
            <a:off x="8139665" y="1501214"/>
            <a:ext cx="0" cy="76530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7" name="Google Shape;13237;p507"/>
          <p:cNvCxnSpPr>
            <a:stCxn id="13218" idx="2"/>
            <a:endCxn id="13217" idx="6"/>
          </p:cNvCxnSpPr>
          <p:nvPr/>
        </p:nvCxnSpPr>
        <p:spPr>
          <a:xfrm rot="10800000">
            <a:off x="7349470" y="2443373"/>
            <a:ext cx="615300" cy="0"/>
          </a:xfrm>
          <a:prstGeom prst="straightConnector1">
            <a:avLst/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8" name="Google Shape;13238;p507"/>
          <p:cNvCxnSpPr>
            <a:stCxn id="13216" idx="2"/>
            <a:endCxn id="13218" idx="5"/>
          </p:cNvCxnSpPr>
          <p:nvPr/>
        </p:nvCxnSpPr>
        <p:spPr>
          <a:xfrm>
            <a:off x="6999769" y="1324213"/>
            <a:ext cx="1263600" cy="1244400"/>
          </a:xfrm>
          <a:prstGeom prst="curvedConnector4">
            <a:avLst>
              <a:gd fmla="val -30474" name="adj1"/>
              <a:gd fmla="val 122023" name="adj2"/>
            </a:avLst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9" name="Google Shape;13239;p507"/>
          <p:cNvCxnSpPr>
            <a:stCxn id="13220" idx="6"/>
            <a:endCxn id="13217" idx="4"/>
          </p:cNvCxnSpPr>
          <p:nvPr/>
        </p:nvCxnSpPr>
        <p:spPr>
          <a:xfrm flipH="1">
            <a:off x="7174565" y="1324214"/>
            <a:ext cx="1140000" cy="1296300"/>
          </a:xfrm>
          <a:prstGeom prst="curvedConnector4">
            <a:avLst>
              <a:gd fmla="val -35523" name="adj1"/>
              <a:gd fmla="val 117148" name="adj2"/>
            </a:avLst>
          </a:prstGeom>
          <a:noFill/>
          <a:ln cap="flat" cmpd="sng" w="19050">
            <a:solidFill>
              <a:srgbClr val="FF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40" name="Google Shape;13240;p507"/>
          <p:cNvSpPr txBox="1"/>
          <p:nvPr/>
        </p:nvSpPr>
        <p:spPr>
          <a:xfrm>
            <a:off x="218850" y="4681950"/>
            <a:ext cx="19953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Unclustered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3241" name="Google Shape;13241;p507"/>
          <p:cNvCxnSpPr>
            <a:stCxn id="13240" idx="3"/>
            <a:endCxn id="13242" idx="1"/>
          </p:cNvCxnSpPr>
          <p:nvPr/>
        </p:nvCxnSpPr>
        <p:spPr>
          <a:xfrm>
            <a:off x="2214150" y="4828950"/>
            <a:ext cx="4873500" cy="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stealth"/>
            <a:tailEnd len="med" w="med" type="stealth"/>
          </a:ln>
        </p:spPr>
      </p:cxnSp>
      <p:sp>
        <p:nvSpPr>
          <p:cNvPr id="13242" name="Google Shape;13242;p507"/>
          <p:cNvSpPr txBox="1"/>
          <p:nvPr/>
        </p:nvSpPr>
        <p:spPr>
          <a:xfrm>
            <a:off x="7087504" y="4681950"/>
            <a:ext cx="19953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Clustered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246" name="Shape 13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7" name="Google Shape;13247;p50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Transitivity</a:t>
            </a:r>
            <a:endParaRPr/>
          </a:p>
        </p:txBody>
      </p:sp>
      <p:sp>
        <p:nvSpPr>
          <p:cNvPr id="13248" name="Google Shape;13248;p508"/>
          <p:cNvSpPr txBox="1"/>
          <p:nvPr>
            <p:ph idx="1" type="body"/>
          </p:nvPr>
        </p:nvSpPr>
        <p:spPr>
          <a:xfrm>
            <a:off x="311700" y="1225225"/>
            <a:ext cx="5050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Refers to the tendency in human social networks for open triads to transition into closed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Akin to Mathematical transitivity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Relation </a:t>
            </a:r>
            <a:r>
              <a:rPr b="1" lang="en"/>
              <a:t>R</a:t>
            </a:r>
            <a:r>
              <a:rPr lang="en"/>
              <a:t> is transitive iff: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</a:t>
            </a:r>
            <a:r>
              <a:rPr b="1" lang="en"/>
              <a:t>R</a:t>
            </a:r>
            <a:r>
              <a:rPr lang="en"/>
              <a:t>b, and b</a:t>
            </a:r>
            <a:r>
              <a:rPr b="1" lang="en"/>
              <a:t>R</a:t>
            </a:r>
            <a:r>
              <a:rPr lang="en"/>
              <a:t>c jointly imply a</a:t>
            </a:r>
            <a:r>
              <a:rPr b="1" lang="en"/>
              <a:t>R</a:t>
            </a:r>
            <a:r>
              <a:rPr lang="en"/>
              <a:t>c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Equality, Less than, Greater than, etc.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If 4 </a:t>
            </a:r>
            <a:r>
              <a:rPr b="1" lang="en"/>
              <a:t>&gt;</a:t>
            </a:r>
            <a:r>
              <a:rPr lang="en"/>
              <a:t> 3 &amp; 3 </a:t>
            </a:r>
            <a:r>
              <a:rPr b="1" lang="en"/>
              <a:t>&gt;</a:t>
            </a:r>
            <a:r>
              <a:rPr lang="en"/>
              <a:t> 2 then 4 </a:t>
            </a:r>
            <a:r>
              <a:rPr b="1" lang="en"/>
              <a:t>&gt;</a:t>
            </a:r>
            <a:r>
              <a:rPr lang="en"/>
              <a:t> 2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Same reasoning can apply to social relationships: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If A is </a:t>
            </a:r>
            <a:r>
              <a:rPr b="1" lang="en"/>
              <a:t>friends </a:t>
            </a:r>
            <a:r>
              <a:rPr lang="en"/>
              <a:t>with B and B is </a:t>
            </a:r>
            <a:r>
              <a:rPr b="1" lang="en"/>
              <a:t>friends </a:t>
            </a:r>
            <a:r>
              <a:rPr lang="en"/>
              <a:t>with C then A is </a:t>
            </a:r>
            <a:r>
              <a:rPr b="1" lang="en"/>
              <a:t>friends </a:t>
            </a:r>
            <a:r>
              <a:rPr lang="en"/>
              <a:t>with C</a:t>
            </a:r>
            <a:endParaRPr/>
          </a:p>
        </p:txBody>
      </p:sp>
      <p:pic>
        <p:nvPicPr>
          <p:cNvPr id="13249" name="Google Shape;13249;p508"/>
          <p:cNvPicPr preferRelativeResize="0"/>
          <p:nvPr/>
        </p:nvPicPr>
        <p:blipFill rotWithShape="1">
          <a:blip r:embed="rId3">
            <a:alphaModFix/>
          </a:blip>
          <a:srcRect b="0" l="0" r="0" t="8257"/>
          <a:stretch/>
        </p:blipFill>
        <p:spPr>
          <a:xfrm>
            <a:off x="5362525" y="1147225"/>
            <a:ext cx="3469775" cy="3760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253" name="Shape 13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4" name="Google Shape;13254;p509"/>
          <p:cNvSpPr/>
          <p:nvPr/>
        </p:nvSpPr>
        <p:spPr>
          <a:xfrm>
            <a:off x="595738" y="39389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255" name="Google Shape;13255;p509"/>
          <p:cNvCxnSpPr>
            <a:stCxn id="13254" idx="7"/>
            <a:endCxn id="13256" idx="2"/>
          </p:cNvCxnSpPr>
          <p:nvPr/>
        </p:nvCxnSpPr>
        <p:spPr>
          <a:xfrm flipH="1" rot="10800000">
            <a:off x="868192" y="3611784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57" name="Google Shape;13257;p509"/>
          <p:cNvCxnSpPr>
            <a:stCxn id="13254" idx="5"/>
            <a:endCxn id="13258" idx="2"/>
          </p:cNvCxnSpPr>
          <p:nvPr/>
        </p:nvCxnSpPr>
        <p:spPr>
          <a:xfrm>
            <a:off x="868192" y="4186516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56" name="Google Shape;13256;p509"/>
          <p:cNvSpPr/>
          <p:nvPr/>
        </p:nvSpPr>
        <p:spPr>
          <a:xfrm>
            <a:off x="1966338" y="34666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8" name="Google Shape;13258;p509"/>
          <p:cNvSpPr/>
          <p:nvPr/>
        </p:nvSpPr>
        <p:spPr>
          <a:xfrm>
            <a:off x="1966338" y="43742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9" name="Google Shape;13259;p509"/>
          <p:cNvSpPr/>
          <p:nvPr/>
        </p:nvSpPr>
        <p:spPr>
          <a:xfrm>
            <a:off x="6858463" y="39573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260" name="Google Shape;13260;p509"/>
          <p:cNvCxnSpPr>
            <a:stCxn id="13259" idx="7"/>
            <a:endCxn id="13261" idx="2"/>
          </p:cNvCxnSpPr>
          <p:nvPr/>
        </p:nvCxnSpPr>
        <p:spPr>
          <a:xfrm flipH="1" rot="10800000">
            <a:off x="7130917" y="3630259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62" name="Google Shape;13262;p509"/>
          <p:cNvCxnSpPr>
            <a:stCxn id="13259" idx="5"/>
            <a:endCxn id="13263" idx="2"/>
          </p:cNvCxnSpPr>
          <p:nvPr/>
        </p:nvCxnSpPr>
        <p:spPr>
          <a:xfrm>
            <a:off x="7130917" y="4204991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61" name="Google Shape;13261;p509"/>
          <p:cNvSpPr/>
          <p:nvPr/>
        </p:nvSpPr>
        <p:spPr>
          <a:xfrm>
            <a:off x="8229063" y="348512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3" name="Google Shape;13263;p509"/>
          <p:cNvSpPr/>
          <p:nvPr/>
        </p:nvSpPr>
        <p:spPr>
          <a:xfrm>
            <a:off x="8229063" y="43926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264" name="Google Shape;13264;p509"/>
          <p:cNvCxnSpPr>
            <a:stCxn id="13263" idx="0"/>
            <a:endCxn id="13261" idx="4"/>
          </p:cNvCxnSpPr>
          <p:nvPr/>
        </p:nvCxnSpPr>
        <p:spPr>
          <a:xfrm rot="10800000">
            <a:off x="8388663" y="3775275"/>
            <a:ext cx="0" cy="617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65" name="Google Shape;13265;p509"/>
          <p:cNvSpPr/>
          <p:nvPr/>
        </p:nvSpPr>
        <p:spPr>
          <a:xfrm>
            <a:off x="3832725" y="40217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266" name="Google Shape;13266;p509"/>
          <p:cNvCxnSpPr>
            <a:stCxn id="13265" idx="7"/>
            <a:endCxn id="13267" idx="2"/>
          </p:cNvCxnSpPr>
          <p:nvPr/>
        </p:nvCxnSpPr>
        <p:spPr>
          <a:xfrm flipH="1" rot="10800000">
            <a:off x="4105179" y="3694634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68" name="Google Shape;13268;p509"/>
          <p:cNvCxnSpPr>
            <a:stCxn id="13265" idx="5"/>
            <a:endCxn id="13269" idx="2"/>
          </p:cNvCxnSpPr>
          <p:nvPr/>
        </p:nvCxnSpPr>
        <p:spPr>
          <a:xfrm>
            <a:off x="4105179" y="4269366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67" name="Google Shape;13267;p509"/>
          <p:cNvSpPr/>
          <p:nvPr/>
        </p:nvSpPr>
        <p:spPr>
          <a:xfrm>
            <a:off x="5203325" y="35495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9" name="Google Shape;13269;p509"/>
          <p:cNvSpPr/>
          <p:nvPr/>
        </p:nvSpPr>
        <p:spPr>
          <a:xfrm>
            <a:off x="5203325" y="44570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0" name="Google Shape;13270;p509"/>
          <p:cNvSpPr/>
          <p:nvPr/>
        </p:nvSpPr>
        <p:spPr>
          <a:xfrm>
            <a:off x="3302113" y="2845975"/>
            <a:ext cx="1392300" cy="4641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Psychological Pressure</a:t>
            </a:r>
            <a:endParaRPr/>
          </a:p>
        </p:txBody>
      </p:sp>
      <p:cxnSp>
        <p:nvCxnSpPr>
          <p:cNvPr id="13271" name="Google Shape;13271;p509"/>
          <p:cNvCxnSpPr>
            <a:stCxn id="13270" idx="2"/>
            <a:endCxn id="13265" idx="0"/>
          </p:cNvCxnSpPr>
          <p:nvPr/>
        </p:nvCxnSpPr>
        <p:spPr>
          <a:xfrm flipH="1">
            <a:off x="3992263" y="3310075"/>
            <a:ext cx="6000" cy="711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272" name="Google Shape;13272;p509"/>
          <p:cNvSpPr/>
          <p:nvPr/>
        </p:nvSpPr>
        <p:spPr>
          <a:xfrm>
            <a:off x="2842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3" name="Google Shape;13273;p509"/>
          <p:cNvSpPr/>
          <p:nvPr/>
        </p:nvSpPr>
        <p:spPr>
          <a:xfrm>
            <a:off x="6079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4" name="Google Shape;13274;p50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n"/>
            </a:br>
            <a:r>
              <a:rPr lang="en"/>
              <a:t>Theories of transitivity</a:t>
            </a:r>
            <a:endParaRPr/>
          </a:p>
        </p:txBody>
      </p:sp>
      <p:sp>
        <p:nvSpPr>
          <p:cNvPr id="13275" name="Google Shape;13275;p509"/>
          <p:cNvSpPr txBox="1"/>
          <p:nvPr>
            <p:ph idx="1" type="body"/>
          </p:nvPr>
        </p:nvSpPr>
        <p:spPr>
          <a:xfrm>
            <a:off x="311700" y="1225225"/>
            <a:ext cx="8520600" cy="15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Balance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Open triad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Ego feels psychological pressure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Ego relieves pressure by closing (e.g., introducing unconnected alters)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Mechanism: Ego-driven link formation</a:t>
            </a:r>
            <a:endParaRPr/>
          </a:p>
        </p:txBody>
      </p:sp>
      <p:sp>
        <p:nvSpPr>
          <p:cNvPr id="13276" name="Google Shape;13276;p509"/>
          <p:cNvSpPr/>
          <p:nvPr/>
        </p:nvSpPr>
        <p:spPr>
          <a:xfrm>
            <a:off x="5272325" y="4061925"/>
            <a:ext cx="181200" cy="1728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277" name="Google Shape;13277;p509"/>
          <p:cNvCxnSpPr/>
          <p:nvPr/>
        </p:nvCxnSpPr>
        <p:spPr>
          <a:xfrm>
            <a:off x="4694413" y="3078025"/>
            <a:ext cx="759000" cy="1070400"/>
          </a:xfrm>
          <a:prstGeom prst="bentConnector3">
            <a:avLst>
              <a:gd fmla="val 131388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281" name="Shape 13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2" name="Google Shape;13282;p51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n"/>
            </a:br>
            <a:r>
              <a:rPr lang="en"/>
              <a:t>Theories of transitivity</a:t>
            </a:r>
            <a:endParaRPr/>
          </a:p>
        </p:txBody>
      </p:sp>
      <p:sp>
        <p:nvSpPr>
          <p:cNvPr id="13283" name="Google Shape;13283;p510"/>
          <p:cNvSpPr txBox="1"/>
          <p:nvPr>
            <p:ph idx="1" type="body"/>
          </p:nvPr>
        </p:nvSpPr>
        <p:spPr>
          <a:xfrm>
            <a:off x="311700" y="1225225"/>
            <a:ext cx="8520600" cy="15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Theory of Social Foci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Empty triad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Actors participates in common focus/joint activity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Closed triad (3-clique)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Mechanism: Context-driven link formation</a:t>
            </a:r>
            <a:endParaRPr/>
          </a:p>
        </p:txBody>
      </p:sp>
      <p:sp>
        <p:nvSpPr>
          <p:cNvPr id="13284" name="Google Shape;13284;p510"/>
          <p:cNvSpPr/>
          <p:nvPr/>
        </p:nvSpPr>
        <p:spPr>
          <a:xfrm>
            <a:off x="595738" y="39389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5" name="Google Shape;13285;p510"/>
          <p:cNvSpPr/>
          <p:nvPr/>
        </p:nvSpPr>
        <p:spPr>
          <a:xfrm>
            <a:off x="1966338" y="34666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6" name="Google Shape;13286;p510"/>
          <p:cNvSpPr/>
          <p:nvPr/>
        </p:nvSpPr>
        <p:spPr>
          <a:xfrm>
            <a:off x="1966338" y="43742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7" name="Google Shape;13287;p510"/>
          <p:cNvSpPr/>
          <p:nvPr/>
        </p:nvSpPr>
        <p:spPr>
          <a:xfrm>
            <a:off x="6858463" y="39573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288" name="Google Shape;13288;p510"/>
          <p:cNvCxnSpPr>
            <a:stCxn id="13287" idx="7"/>
            <a:endCxn id="13289" idx="2"/>
          </p:cNvCxnSpPr>
          <p:nvPr/>
        </p:nvCxnSpPr>
        <p:spPr>
          <a:xfrm flipH="1" rot="10800000">
            <a:off x="7130917" y="3630259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90" name="Google Shape;13290;p510"/>
          <p:cNvCxnSpPr>
            <a:stCxn id="13287" idx="5"/>
            <a:endCxn id="13291" idx="2"/>
          </p:cNvCxnSpPr>
          <p:nvPr/>
        </p:nvCxnSpPr>
        <p:spPr>
          <a:xfrm>
            <a:off x="7130917" y="4204991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89" name="Google Shape;13289;p510"/>
          <p:cNvSpPr/>
          <p:nvPr/>
        </p:nvSpPr>
        <p:spPr>
          <a:xfrm>
            <a:off x="8229063" y="348512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1" name="Google Shape;13291;p510"/>
          <p:cNvSpPr/>
          <p:nvPr/>
        </p:nvSpPr>
        <p:spPr>
          <a:xfrm>
            <a:off x="8229063" y="43926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292" name="Google Shape;13292;p510"/>
          <p:cNvCxnSpPr>
            <a:stCxn id="13291" idx="0"/>
            <a:endCxn id="13289" idx="4"/>
          </p:cNvCxnSpPr>
          <p:nvPr/>
        </p:nvCxnSpPr>
        <p:spPr>
          <a:xfrm rot="10800000">
            <a:off x="8388663" y="3775275"/>
            <a:ext cx="0" cy="617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93" name="Google Shape;13293;p510"/>
          <p:cNvSpPr/>
          <p:nvPr/>
        </p:nvSpPr>
        <p:spPr>
          <a:xfrm>
            <a:off x="3832725" y="40217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4" name="Google Shape;13294;p510"/>
          <p:cNvSpPr/>
          <p:nvPr/>
        </p:nvSpPr>
        <p:spPr>
          <a:xfrm>
            <a:off x="5203325" y="35495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5" name="Google Shape;13295;p510"/>
          <p:cNvSpPr/>
          <p:nvPr/>
        </p:nvSpPr>
        <p:spPr>
          <a:xfrm>
            <a:off x="5203325" y="44570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6" name="Google Shape;13296;p510"/>
          <p:cNvSpPr/>
          <p:nvPr/>
        </p:nvSpPr>
        <p:spPr>
          <a:xfrm>
            <a:off x="3302113" y="2845975"/>
            <a:ext cx="1392300" cy="4641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Foci</a:t>
            </a:r>
            <a:endParaRPr/>
          </a:p>
        </p:txBody>
      </p:sp>
      <p:cxnSp>
        <p:nvCxnSpPr>
          <p:cNvPr id="13297" name="Google Shape;13297;p510"/>
          <p:cNvCxnSpPr>
            <a:stCxn id="13296" idx="2"/>
            <a:endCxn id="13293" idx="0"/>
          </p:cNvCxnSpPr>
          <p:nvPr/>
        </p:nvCxnSpPr>
        <p:spPr>
          <a:xfrm flipH="1">
            <a:off x="3992263" y="3310075"/>
            <a:ext cx="6000" cy="711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298" name="Google Shape;13298;p510"/>
          <p:cNvSpPr/>
          <p:nvPr/>
        </p:nvSpPr>
        <p:spPr>
          <a:xfrm>
            <a:off x="2842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9" name="Google Shape;13299;p510"/>
          <p:cNvSpPr/>
          <p:nvPr/>
        </p:nvSpPr>
        <p:spPr>
          <a:xfrm>
            <a:off x="6079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00" name="Google Shape;13300;p510"/>
          <p:cNvCxnSpPr>
            <a:stCxn id="13296" idx="2"/>
            <a:endCxn id="13294" idx="1"/>
          </p:cNvCxnSpPr>
          <p:nvPr/>
        </p:nvCxnSpPr>
        <p:spPr>
          <a:xfrm>
            <a:off x="3998263" y="3310075"/>
            <a:ext cx="1251900" cy="2820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301" name="Google Shape;13301;p510"/>
          <p:cNvCxnSpPr>
            <a:stCxn id="13296" idx="2"/>
            <a:endCxn id="13295" idx="1"/>
          </p:cNvCxnSpPr>
          <p:nvPr/>
        </p:nvCxnSpPr>
        <p:spPr>
          <a:xfrm>
            <a:off x="3998263" y="3310075"/>
            <a:ext cx="1251900" cy="1189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05" name="Shape 13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6" name="Google Shape;13306;p51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n"/>
            </a:br>
            <a:r>
              <a:rPr lang="en"/>
              <a:t>Theories of transitivity</a:t>
            </a:r>
            <a:endParaRPr/>
          </a:p>
        </p:txBody>
      </p:sp>
      <p:sp>
        <p:nvSpPr>
          <p:cNvPr id="13307" name="Google Shape;13307;p511"/>
          <p:cNvSpPr txBox="1"/>
          <p:nvPr>
            <p:ph idx="1" type="body"/>
          </p:nvPr>
        </p:nvSpPr>
        <p:spPr>
          <a:xfrm>
            <a:off x="311700" y="1225225"/>
            <a:ext cx="8520600" cy="15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Strength of Weak Ties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Open triad with strong links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Depending on strength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Triad will either close or remain open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Mechanism: Strength-driven link formation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8" name="Google Shape;13308;p511"/>
          <p:cNvSpPr/>
          <p:nvPr/>
        </p:nvSpPr>
        <p:spPr>
          <a:xfrm>
            <a:off x="595738" y="39389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9" name="Google Shape;13309;p511"/>
          <p:cNvSpPr/>
          <p:nvPr/>
        </p:nvSpPr>
        <p:spPr>
          <a:xfrm>
            <a:off x="1966338" y="34666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0" name="Google Shape;13310;p511"/>
          <p:cNvSpPr/>
          <p:nvPr/>
        </p:nvSpPr>
        <p:spPr>
          <a:xfrm>
            <a:off x="1966338" y="43742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1" name="Google Shape;13311;p511"/>
          <p:cNvSpPr/>
          <p:nvPr/>
        </p:nvSpPr>
        <p:spPr>
          <a:xfrm>
            <a:off x="6858463" y="39573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12" name="Google Shape;13312;p511"/>
          <p:cNvCxnSpPr>
            <a:stCxn id="13311" idx="7"/>
            <a:endCxn id="13313" idx="2"/>
          </p:cNvCxnSpPr>
          <p:nvPr/>
        </p:nvCxnSpPr>
        <p:spPr>
          <a:xfrm flipH="1" rot="10800000">
            <a:off x="7130917" y="3630259"/>
            <a:ext cx="1098000" cy="3696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14" name="Google Shape;13314;p511"/>
          <p:cNvCxnSpPr>
            <a:stCxn id="13311" idx="5"/>
            <a:endCxn id="13315" idx="2"/>
          </p:cNvCxnSpPr>
          <p:nvPr/>
        </p:nvCxnSpPr>
        <p:spPr>
          <a:xfrm>
            <a:off x="7130917" y="4204991"/>
            <a:ext cx="1098000" cy="3327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13" name="Google Shape;13313;p511"/>
          <p:cNvSpPr/>
          <p:nvPr/>
        </p:nvSpPr>
        <p:spPr>
          <a:xfrm>
            <a:off x="8229063" y="348512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5" name="Google Shape;13315;p511"/>
          <p:cNvSpPr/>
          <p:nvPr/>
        </p:nvSpPr>
        <p:spPr>
          <a:xfrm>
            <a:off x="8229063" y="43926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16" name="Google Shape;13316;p511"/>
          <p:cNvCxnSpPr>
            <a:stCxn id="13315" idx="0"/>
            <a:endCxn id="13313" idx="4"/>
          </p:cNvCxnSpPr>
          <p:nvPr/>
        </p:nvCxnSpPr>
        <p:spPr>
          <a:xfrm rot="10800000">
            <a:off x="8388663" y="3775275"/>
            <a:ext cx="0" cy="617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317" name="Google Shape;13317;p511"/>
          <p:cNvSpPr/>
          <p:nvPr/>
        </p:nvSpPr>
        <p:spPr>
          <a:xfrm>
            <a:off x="3832725" y="40217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8" name="Google Shape;13318;p511"/>
          <p:cNvSpPr/>
          <p:nvPr/>
        </p:nvSpPr>
        <p:spPr>
          <a:xfrm>
            <a:off x="5203325" y="35495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9" name="Google Shape;13319;p511"/>
          <p:cNvSpPr/>
          <p:nvPr/>
        </p:nvSpPr>
        <p:spPr>
          <a:xfrm>
            <a:off x="5203325" y="44570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0" name="Google Shape;13320;p511"/>
          <p:cNvSpPr/>
          <p:nvPr/>
        </p:nvSpPr>
        <p:spPr>
          <a:xfrm>
            <a:off x="3302113" y="2845975"/>
            <a:ext cx="1392300" cy="4641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Strength Effect</a:t>
            </a:r>
            <a:endParaRPr/>
          </a:p>
        </p:txBody>
      </p:sp>
      <p:cxnSp>
        <p:nvCxnSpPr>
          <p:cNvPr id="13321" name="Google Shape;13321;p511"/>
          <p:cNvCxnSpPr>
            <a:stCxn id="13320" idx="2"/>
          </p:cNvCxnSpPr>
          <p:nvPr/>
        </p:nvCxnSpPr>
        <p:spPr>
          <a:xfrm>
            <a:off x="3998263" y="3310075"/>
            <a:ext cx="613500" cy="574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322" name="Google Shape;13322;p511"/>
          <p:cNvSpPr/>
          <p:nvPr/>
        </p:nvSpPr>
        <p:spPr>
          <a:xfrm>
            <a:off x="2842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3" name="Google Shape;13323;p511"/>
          <p:cNvSpPr/>
          <p:nvPr/>
        </p:nvSpPr>
        <p:spPr>
          <a:xfrm>
            <a:off x="6079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24" name="Google Shape;13324;p511"/>
          <p:cNvCxnSpPr>
            <a:stCxn id="13320" idx="2"/>
          </p:cNvCxnSpPr>
          <p:nvPr/>
        </p:nvCxnSpPr>
        <p:spPr>
          <a:xfrm>
            <a:off x="3998263" y="3310075"/>
            <a:ext cx="748800" cy="1145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325" name="Google Shape;13325;p511"/>
          <p:cNvCxnSpPr>
            <a:stCxn id="13308" idx="7"/>
            <a:endCxn id="13309" idx="2"/>
          </p:cNvCxnSpPr>
          <p:nvPr/>
        </p:nvCxnSpPr>
        <p:spPr>
          <a:xfrm flipH="1" rot="10800000">
            <a:off x="868192" y="3611784"/>
            <a:ext cx="1098000" cy="3696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26" name="Google Shape;13326;p511"/>
          <p:cNvCxnSpPr>
            <a:stCxn id="13308" idx="5"/>
            <a:endCxn id="13310" idx="2"/>
          </p:cNvCxnSpPr>
          <p:nvPr/>
        </p:nvCxnSpPr>
        <p:spPr>
          <a:xfrm>
            <a:off x="868192" y="4186516"/>
            <a:ext cx="1098000" cy="3327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27" name="Google Shape;13327;p511"/>
          <p:cNvCxnSpPr>
            <a:stCxn id="13317" idx="7"/>
            <a:endCxn id="13318" idx="2"/>
          </p:cNvCxnSpPr>
          <p:nvPr/>
        </p:nvCxnSpPr>
        <p:spPr>
          <a:xfrm flipH="1" rot="10800000">
            <a:off x="4105179" y="3694634"/>
            <a:ext cx="1098000" cy="3696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28" name="Google Shape;13328;p511"/>
          <p:cNvCxnSpPr>
            <a:stCxn id="13317" idx="5"/>
            <a:endCxn id="13319" idx="2"/>
          </p:cNvCxnSpPr>
          <p:nvPr/>
        </p:nvCxnSpPr>
        <p:spPr>
          <a:xfrm>
            <a:off x="4105179" y="4269366"/>
            <a:ext cx="1098000" cy="3327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32" name="Shape 13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3" name="Google Shape;13333;p51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n"/>
            </a:br>
            <a:r>
              <a:rPr lang="en"/>
              <a:t>Theories of transitivity</a:t>
            </a:r>
            <a:endParaRPr/>
          </a:p>
        </p:txBody>
      </p:sp>
      <p:sp>
        <p:nvSpPr>
          <p:cNvPr id="13334" name="Google Shape;13334;p512"/>
          <p:cNvSpPr txBox="1"/>
          <p:nvPr>
            <p:ph idx="1" type="body"/>
          </p:nvPr>
        </p:nvSpPr>
        <p:spPr>
          <a:xfrm>
            <a:off x="311700" y="1225225"/>
            <a:ext cx="8520600" cy="15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Strength of Weak Ties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Open triad with weak links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Depending on strength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Triad will either close or remain open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Mechanism: Open triads stay that way if the links are weak</a:t>
            </a:r>
            <a:endParaRPr/>
          </a:p>
        </p:txBody>
      </p:sp>
      <p:sp>
        <p:nvSpPr>
          <p:cNvPr id="13335" name="Google Shape;13335;p512"/>
          <p:cNvSpPr/>
          <p:nvPr/>
        </p:nvSpPr>
        <p:spPr>
          <a:xfrm>
            <a:off x="595738" y="39389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6" name="Google Shape;13336;p512"/>
          <p:cNvSpPr/>
          <p:nvPr/>
        </p:nvSpPr>
        <p:spPr>
          <a:xfrm>
            <a:off x="1966338" y="34666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7" name="Google Shape;13337;p512"/>
          <p:cNvSpPr/>
          <p:nvPr/>
        </p:nvSpPr>
        <p:spPr>
          <a:xfrm>
            <a:off x="1966338" y="43742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8" name="Google Shape;13338;p512"/>
          <p:cNvSpPr/>
          <p:nvPr/>
        </p:nvSpPr>
        <p:spPr>
          <a:xfrm>
            <a:off x="6858463" y="39573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39" name="Google Shape;13339;p512"/>
          <p:cNvCxnSpPr>
            <a:stCxn id="13338" idx="7"/>
            <a:endCxn id="13340" idx="2"/>
          </p:cNvCxnSpPr>
          <p:nvPr/>
        </p:nvCxnSpPr>
        <p:spPr>
          <a:xfrm flipH="1" rot="10800000">
            <a:off x="7130917" y="3630259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341" name="Google Shape;13341;p512"/>
          <p:cNvCxnSpPr>
            <a:stCxn id="13338" idx="5"/>
            <a:endCxn id="13342" idx="2"/>
          </p:cNvCxnSpPr>
          <p:nvPr/>
        </p:nvCxnSpPr>
        <p:spPr>
          <a:xfrm>
            <a:off x="7130917" y="4204991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340" name="Google Shape;13340;p512"/>
          <p:cNvSpPr/>
          <p:nvPr/>
        </p:nvSpPr>
        <p:spPr>
          <a:xfrm>
            <a:off x="8229063" y="348512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2" name="Google Shape;13342;p512"/>
          <p:cNvSpPr/>
          <p:nvPr/>
        </p:nvSpPr>
        <p:spPr>
          <a:xfrm>
            <a:off x="8229063" y="43926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3" name="Google Shape;13343;p512"/>
          <p:cNvSpPr/>
          <p:nvPr/>
        </p:nvSpPr>
        <p:spPr>
          <a:xfrm>
            <a:off x="3832725" y="40217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4" name="Google Shape;13344;p512"/>
          <p:cNvSpPr/>
          <p:nvPr/>
        </p:nvSpPr>
        <p:spPr>
          <a:xfrm>
            <a:off x="5203325" y="35495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5" name="Google Shape;13345;p512"/>
          <p:cNvSpPr/>
          <p:nvPr/>
        </p:nvSpPr>
        <p:spPr>
          <a:xfrm>
            <a:off x="5203325" y="44570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6" name="Google Shape;13346;p512"/>
          <p:cNvSpPr/>
          <p:nvPr/>
        </p:nvSpPr>
        <p:spPr>
          <a:xfrm>
            <a:off x="3302113" y="2845975"/>
            <a:ext cx="1392300" cy="4641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Weak Tie Effect</a:t>
            </a:r>
            <a:endParaRPr/>
          </a:p>
        </p:txBody>
      </p:sp>
      <p:cxnSp>
        <p:nvCxnSpPr>
          <p:cNvPr id="13347" name="Google Shape;13347;p512"/>
          <p:cNvCxnSpPr>
            <a:stCxn id="13346" idx="2"/>
          </p:cNvCxnSpPr>
          <p:nvPr/>
        </p:nvCxnSpPr>
        <p:spPr>
          <a:xfrm>
            <a:off x="3998263" y="3310075"/>
            <a:ext cx="613500" cy="574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348" name="Google Shape;13348;p512"/>
          <p:cNvSpPr/>
          <p:nvPr/>
        </p:nvSpPr>
        <p:spPr>
          <a:xfrm>
            <a:off x="2842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9" name="Google Shape;13349;p512"/>
          <p:cNvSpPr/>
          <p:nvPr/>
        </p:nvSpPr>
        <p:spPr>
          <a:xfrm>
            <a:off x="6079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50" name="Google Shape;13350;p512"/>
          <p:cNvCxnSpPr>
            <a:stCxn id="13346" idx="2"/>
          </p:cNvCxnSpPr>
          <p:nvPr/>
        </p:nvCxnSpPr>
        <p:spPr>
          <a:xfrm>
            <a:off x="3998263" y="3310075"/>
            <a:ext cx="748800" cy="1145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351" name="Google Shape;13351;p512"/>
          <p:cNvCxnSpPr>
            <a:stCxn id="13335" idx="7"/>
            <a:endCxn id="13336" idx="2"/>
          </p:cNvCxnSpPr>
          <p:nvPr/>
        </p:nvCxnSpPr>
        <p:spPr>
          <a:xfrm flipH="1" rot="10800000">
            <a:off x="868192" y="3611784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352" name="Google Shape;13352;p512"/>
          <p:cNvCxnSpPr>
            <a:stCxn id="13335" idx="5"/>
            <a:endCxn id="13337" idx="2"/>
          </p:cNvCxnSpPr>
          <p:nvPr/>
        </p:nvCxnSpPr>
        <p:spPr>
          <a:xfrm>
            <a:off x="868192" y="4186516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353" name="Google Shape;13353;p512"/>
          <p:cNvCxnSpPr>
            <a:stCxn id="13343" idx="7"/>
            <a:endCxn id="13344" idx="2"/>
          </p:cNvCxnSpPr>
          <p:nvPr/>
        </p:nvCxnSpPr>
        <p:spPr>
          <a:xfrm flipH="1" rot="10800000">
            <a:off x="4105179" y="3694634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354" name="Google Shape;13354;p512"/>
          <p:cNvCxnSpPr>
            <a:stCxn id="13343" idx="5"/>
            <a:endCxn id="13345" idx="2"/>
          </p:cNvCxnSpPr>
          <p:nvPr/>
        </p:nvCxnSpPr>
        <p:spPr>
          <a:xfrm>
            <a:off x="4105179" y="4269366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58" name="Shape 13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9" name="Google Shape;13359;p513"/>
          <p:cNvSpPr/>
          <p:nvPr/>
        </p:nvSpPr>
        <p:spPr>
          <a:xfrm>
            <a:off x="595738" y="39389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60" name="Google Shape;13360;p513"/>
          <p:cNvCxnSpPr>
            <a:stCxn id="13359" idx="7"/>
            <a:endCxn id="13361" idx="2"/>
          </p:cNvCxnSpPr>
          <p:nvPr/>
        </p:nvCxnSpPr>
        <p:spPr>
          <a:xfrm flipH="1" rot="10800000">
            <a:off x="868192" y="3611784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62" name="Google Shape;13362;p513"/>
          <p:cNvCxnSpPr>
            <a:stCxn id="13359" idx="5"/>
            <a:endCxn id="13363" idx="2"/>
          </p:cNvCxnSpPr>
          <p:nvPr/>
        </p:nvCxnSpPr>
        <p:spPr>
          <a:xfrm>
            <a:off x="868192" y="4186516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61" name="Google Shape;13361;p513"/>
          <p:cNvSpPr/>
          <p:nvPr/>
        </p:nvSpPr>
        <p:spPr>
          <a:xfrm>
            <a:off x="1966338" y="34666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3" name="Google Shape;13363;p513"/>
          <p:cNvSpPr/>
          <p:nvPr/>
        </p:nvSpPr>
        <p:spPr>
          <a:xfrm>
            <a:off x="1966338" y="43742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4" name="Google Shape;13364;p513"/>
          <p:cNvSpPr/>
          <p:nvPr/>
        </p:nvSpPr>
        <p:spPr>
          <a:xfrm>
            <a:off x="6858463" y="39573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65" name="Google Shape;13365;p513"/>
          <p:cNvCxnSpPr>
            <a:stCxn id="13364" idx="7"/>
            <a:endCxn id="13366" idx="2"/>
          </p:cNvCxnSpPr>
          <p:nvPr/>
        </p:nvCxnSpPr>
        <p:spPr>
          <a:xfrm flipH="1" rot="10800000">
            <a:off x="7130917" y="3630259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67" name="Google Shape;13367;p513"/>
          <p:cNvCxnSpPr>
            <a:stCxn id="13364" idx="5"/>
            <a:endCxn id="13368" idx="2"/>
          </p:cNvCxnSpPr>
          <p:nvPr/>
        </p:nvCxnSpPr>
        <p:spPr>
          <a:xfrm>
            <a:off x="7130917" y="4204991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66" name="Google Shape;13366;p513"/>
          <p:cNvSpPr/>
          <p:nvPr/>
        </p:nvSpPr>
        <p:spPr>
          <a:xfrm>
            <a:off x="8229063" y="348512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8" name="Google Shape;13368;p513"/>
          <p:cNvSpPr/>
          <p:nvPr/>
        </p:nvSpPr>
        <p:spPr>
          <a:xfrm>
            <a:off x="8229063" y="4392675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9" name="Google Shape;13369;p513"/>
          <p:cNvSpPr/>
          <p:nvPr/>
        </p:nvSpPr>
        <p:spPr>
          <a:xfrm>
            <a:off x="3832725" y="40217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70" name="Google Shape;13370;p513"/>
          <p:cNvCxnSpPr>
            <a:stCxn id="13369" idx="7"/>
            <a:endCxn id="13371" idx="2"/>
          </p:cNvCxnSpPr>
          <p:nvPr/>
        </p:nvCxnSpPr>
        <p:spPr>
          <a:xfrm flipH="1" rot="10800000">
            <a:off x="4105179" y="3694634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72" name="Google Shape;13372;p513"/>
          <p:cNvCxnSpPr>
            <a:stCxn id="13369" idx="5"/>
            <a:endCxn id="13373" idx="2"/>
          </p:cNvCxnSpPr>
          <p:nvPr/>
        </p:nvCxnSpPr>
        <p:spPr>
          <a:xfrm>
            <a:off x="4105179" y="4269366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71" name="Google Shape;13371;p513"/>
          <p:cNvSpPr/>
          <p:nvPr/>
        </p:nvSpPr>
        <p:spPr>
          <a:xfrm>
            <a:off x="5203325" y="354950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3" name="Google Shape;13373;p513"/>
          <p:cNvSpPr/>
          <p:nvPr/>
        </p:nvSpPr>
        <p:spPr>
          <a:xfrm>
            <a:off x="5203325" y="4457050"/>
            <a:ext cx="319200" cy="2901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4" name="Google Shape;13374;p513"/>
          <p:cNvSpPr/>
          <p:nvPr/>
        </p:nvSpPr>
        <p:spPr>
          <a:xfrm>
            <a:off x="3302113" y="2845975"/>
            <a:ext cx="1392300" cy="4641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works to keep open</a:t>
            </a:r>
            <a:endParaRPr/>
          </a:p>
        </p:txBody>
      </p:sp>
      <p:sp>
        <p:nvSpPr>
          <p:cNvPr id="13375" name="Google Shape;13375;p513"/>
          <p:cNvSpPr/>
          <p:nvPr/>
        </p:nvSpPr>
        <p:spPr>
          <a:xfrm>
            <a:off x="2842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6" name="Google Shape;13376;p513"/>
          <p:cNvSpPr/>
          <p:nvPr/>
        </p:nvSpPr>
        <p:spPr>
          <a:xfrm>
            <a:off x="6079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7" name="Google Shape;13377;p51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n"/>
            </a:br>
            <a:r>
              <a:rPr lang="en"/>
              <a:t>Theories of transitivity</a:t>
            </a:r>
            <a:endParaRPr/>
          </a:p>
        </p:txBody>
      </p:sp>
      <p:sp>
        <p:nvSpPr>
          <p:cNvPr id="13378" name="Google Shape;13378;p513"/>
          <p:cNvSpPr txBox="1"/>
          <p:nvPr>
            <p:ph idx="1" type="body"/>
          </p:nvPr>
        </p:nvSpPr>
        <p:spPr>
          <a:xfrm>
            <a:off x="311700" y="1225225"/>
            <a:ext cx="8520600" cy="153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Structural Holes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Unbalanced triad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Ego gains control benefits from it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Ego works to keep it from closing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Mechanism: Ego-driven brokerage</a:t>
            </a:r>
            <a:endParaRPr/>
          </a:p>
        </p:txBody>
      </p:sp>
      <p:sp>
        <p:nvSpPr>
          <p:cNvPr id="13379" name="Google Shape;13379;p513"/>
          <p:cNvSpPr/>
          <p:nvPr/>
        </p:nvSpPr>
        <p:spPr>
          <a:xfrm>
            <a:off x="5272325" y="4061925"/>
            <a:ext cx="181200" cy="1728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80" name="Google Shape;13380;p513"/>
          <p:cNvCxnSpPr>
            <a:stCxn id="13369" idx="0"/>
            <a:endCxn id="13374" idx="2"/>
          </p:cNvCxnSpPr>
          <p:nvPr/>
        </p:nvCxnSpPr>
        <p:spPr>
          <a:xfrm flipH="1" rot="10800000">
            <a:off x="3992325" y="3310150"/>
            <a:ext cx="6000" cy="711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81" name="Google Shape;13381;p513"/>
          <p:cNvCxnSpPr>
            <a:stCxn id="13374" idx="3"/>
            <a:endCxn id="13379" idx="6"/>
          </p:cNvCxnSpPr>
          <p:nvPr/>
        </p:nvCxnSpPr>
        <p:spPr>
          <a:xfrm>
            <a:off x="4694413" y="3078025"/>
            <a:ext cx="759000" cy="1070400"/>
          </a:xfrm>
          <a:prstGeom prst="bentConnector3">
            <a:avLst>
              <a:gd fmla="val 131388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85" name="Shape 13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6" name="Google Shape;13386;p51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Theories of transitivity</a:t>
            </a:r>
            <a:endParaRPr/>
          </a:p>
        </p:txBody>
      </p:sp>
      <p:sp>
        <p:nvSpPr>
          <p:cNvPr id="13387" name="Google Shape;13387;p514"/>
          <p:cNvSpPr txBox="1"/>
          <p:nvPr>
            <p:ph idx="1" type="body"/>
          </p:nvPr>
        </p:nvSpPr>
        <p:spPr>
          <a:xfrm>
            <a:off x="311700" y="1225225"/>
            <a:ext cx="8466900" cy="181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Closed triad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Simmelian tie effect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Triad stays closed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Mechanism: Triads have “top-down” effects on the dyads that compose them</a:t>
            </a:r>
            <a:endParaRPr/>
          </a:p>
        </p:txBody>
      </p:sp>
      <p:sp>
        <p:nvSpPr>
          <p:cNvPr id="13388" name="Google Shape;13388;p514"/>
          <p:cNvSpPr/>
          <p:nvPr/>
        </p:nvSpPr>
        <p:spPr>
          <a:xfrm>
            <a:off x="3702925" y="3449625"/>
            <a:ext cx="2020500" cy="1401900"/>
          </a:xfrm>
          <a:prstGeom prst="rect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9" name="Google Shape;13389;p514"/>
          <p:cNvSpPr/>
          <p:nvPr/>
        </p:nvSpPr>
        <p:spPr>
          <a:xfrm>
            <a:off x="595738" y="3938900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90" name="Google Shape;13390;p514"/>
          <p:cNvCxnSpPr>
            <a:stCxn id="13389" idx="7"/>
            <a:endCxn id="13391" idx="2"/>
          </p:cNvCxnSpPr>
          <p:nvPr/>
        </p:nvCxnSpPr>
        <p:spPr>
          <a:xfrm flipH="1" rot="10800000">
            <a:off x="868192" y="3611784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92" name="Google Shape;13392;p514"/>
          <p:cNvCxnSpPr>
            <a:stCxn id="13389" idx="5"/>
            <a:endCxn id="13393" idx="2"/>
          </p:cNvCxnSpPr>
          <p:nvPr/>
        </p:nvCxnSpPr>
        <p:spPr>
          <a:xfrm>
            <a:off x="868192" y="4186516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91" name="Google Shape;13391;p514"/>
          <p:cNvSpPr/>
          <p:nvPr/>
        </p:nvSpPr>
        <p:spPr>
          <a:xfrm>
            <a:off x="1966338" y="3466650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3" name="Google Shape;13393;p514"/>
          <p:cNvSpPr/>
          <p:nvPr/>
        </p:nvSpPr>
        <p:spPr>
          <a:xfrm>
            <a:off x="1966338" y="4374200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4" name="Google Shape;13394;p514"/>
          <p:cNvSpPr/>
          <p:nvPr/>
        </p:nvSpPr>
        <p:spPr>
          <a:xfrm>
            <a:off x="6858463" y="3957375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95" name="Google Shape;13395;p514"/>
          <p:cNvCxnSpPr>
            <a:stCxn id="13394" idx="7"/>
            <a:endCxn id="13396" idx="2"/>
          </p:cNvCxnSpPr>
          <p:nvPr/>
        </p:nvCxnSpPr>
        <p:spPr>
          <a:xfrm flipH="1" rot="10800000">
            <a:off x="7130917" y="3630259"/>
            <a:ext cx="1098000" cy="3696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97" name="Google Shape;13397;p514"/>
          <p:cNvCxnSpPr>
            <a:stCxn id="13394" idx="5"/>
            <a:endCxn id="13398" idx="2"/>
          </p:cNvCxnSpPr>
          <p:nvPr/>
        </p:nvCxnSpPr>
        <p:spPr>
          <a:xfrm>
            <a:off x="7130917" y="4204991"/>
            <a:ext cx="1098000" cy="3327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96" name="Google Shape;13396;p514"/>
          <p:cNvSpPr/>
          <p:nvPr/>
        </p:nvSpPr>
        <p:spPr>
          <a:xfrm>
            <a:off x="8229063" y="3485125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8" name="Google Shape;13398;p514"/>
          <p:cNvSpPr/>
          <p:nvPr/>
        </p:nvSpPr>
        <p:spPr>
          <a:xfrm>
            <a:off x="8229063" y="4392675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99" name="Google Shape;13399;p514"/>
          <p:cNvCxnSpPr>
            <a:stCxn id="13398" idx="0"/>
            <a:endCxn id="13396" idx="4"/>
          </p:cNvCxnSpPr>
          <p:nvPr/>
        </p:nvCxnSpPr>
        <p:spPr>
          <a:xfrm rot="10800000">
            <a:off x="8388663" y="3775275"/>
            <a:ext cx="0" cy="617400"/>
          </a:xfrm>
          <a:prstGeom prst="straightConnector1">
            <a:avLst/>
          </a:prstGeom>
          <a:noFill/>
          <a:ln cap="flat" cmpd="sng" w="381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400" name="Google Shape;13400;p514"/>
          <p:cNvSpPr/>
          <p:nvPr/>
        </p:nvSpPr>
        <p:spPr>
          <a:xfrm>
            <a:off x="3832725" y="4021750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401" name="Google Shape;13401;p514"/>
          <p:cNvCxnSpPr>
            <a:stCxn id="13400" idx="7"/>
            <a:endCxn id="13402" idx="2"/>
          </p:cNvCxnSpPr>
          <p:nvPr/>
        </p:nvCxnSpPr>
        <p:spPr>
          <a:xfrm flipH="1" rot="10800000">
            <a:off x="4105179" y="3694634"/>
            <a:ext cx="1098000" cy="369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03" name="Google Shape;13403;p514"/>
          <p:cNvCxnSpPr>
            <a:stCxn id="13400" idx="5"/>
            <a:endCxn id="13404" idx="2"/>
          </p:cNvCxnSpPr>
          <p:nvPr/>
        </p:nvCxnSpPr>
        <p:spPr>
          <a:xfrm>
            <a:off x="4105179" y="4269366"/>
            <a:ext cx="1098000" cy="33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402" name="Google Shape;13402;p514"/>
          <p:cNvSpPr/>
          <p:nvPr/>
        </p:nvSpPr>
        <p:spPr>
          <a:xfrm>
            <a:off x="5203325" y="3549500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4" name="Google Shape;13404;p514"/>
          <p:cNvSpPr/>
          <p:nvPr/>
        </p:nvSpPr>
        <p:spPr>
          <a:xfrm>
            <a:off x="5203325" y="4457050"/>
            <a:ext cx="319200" cy="290100"/>
          </a:xfrm>
          <a:prstGeom prst="ellipse">
            <a:avLst/>
          </a:prstGeom>
          <a:solidFill>
            <a:srgbClr val="CCA677"/>
          </a:solidFill>
          <a:ln cap="flat" cmpd="sng" w="19050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5" name="Google Shape;13405;p514"/>
          <p:cNvSpPr/>
          <p:nvPr/>
        </p:nvSpPr>
        <p:spPr>
          <a:xfrm>
            <a:off x="2842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6" name="Google Shape;13406;p514"/>
          <p:cNvSpPr/>
          <p:nvPr/>
        </p:nvSpPr>
        <p:spPr>
          <a:xfrm>
            <a:off x="6079338" y="4000450"/>
            <a:ext cx="386700" cy="332700"/>
          </a:xfrm>
          <a:prstGeom prst="rightArrow">
            <a:avLst>
              <a:gd fmla="val 50000" name="adj1"/>
              <a:gd fmla="val 50000" name="adj2"/>
            </a:avLst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407" name="Google Shape;13407;p514"/>
          <p:cNvCxnSpPr>
            <a:stCxn id="13393" idx="0"/>
            <a:endCxn id="13391" idx="4"/>
          </p:cNvCxnSpPr>
          <p:nvPr/>
        </p:nvCxnSpPr>
        <p:spPr>
          <a:xfrm rot="10800000">
            <a:off x="2125938" y="3756800"/>
            <a:ext cx="0" cy="6174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08" name="Google Shape;13408;p514"/>
          <p:cNvCxnSpPr>
            <a:stCxn id="13388" idx="2"/>
          </p:cNvCxnSpPr>
          <p:nvPr/>
        </p:nvCxnSpPr>
        <p:spPr>
          <a:xfrm flipH="1" rot="10800000">
            <a:off x="4713175" y="4503525"/>
            <a:ext cx="4800" cy="348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409" name="Google Shape;13409;p514"/>
          <p:cNvCxnSpPr>
            <a:stCxn id="13404" idx="0"/>
            <a:endCxn id="13402" idx="4"/>
          </p:cNvCxnSpPr>
          <p:nvPr/>
        </p:nvCxnSpPr>
        <p:spPr>
          <a:xfrm rot="10800000">
            <a:off x="5362925" y="3839650"/>
            <a:ext cx="0" cy="6174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10" name="Google Shape;13410;p514"/>
          <p:cNvCxnSpPr>
            <a:stCxn id="13388" idx="3"/>
          </p:cNvCxnSpPr>
          <p:nvPr/>
        </p:nvCxnSpPr>
        <p:spPr>
          <a:xfrm flipH="1">
            <a:off x="5394925" y="4150575"/>
            <a:ext cx="328500" cy="48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411" name="Google Shape;13411;p514"/>
          <p:cNvCxnSpPr/>
          <p:nvPr/>
        </p:nvCxnSpPr>
        <p:spPr>
          <a:xfrm>
            <a:off x="4572000" y="3452425"/>
            <a:ext cx="126900" cy="4032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412" name="Google Shape;13412;p514"/>
          <p:cNvCxnSpPr>
            <a:stCxn id="13388" idx="2"/>
            <a:endCxn id="13400" idx="4"/>
          </p:cNvCxnSpPr>
          <p:nvPr/>
        </p:nvCxnSpPr>
        <p:spPr>
          <a:xfrm rot="10800000">
            <a:off x="3992275" y="4311825"/>
            <a:ext cx="720900" cy="539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413" name="Google Shape;13413;p514"/>
          <p:cNvCxnSpPr>
            <a:stCxn id="13388" idx="3"/>
            <a:endCxn id="13404" idx="7"/>
          </p:cNvCxnSpPr>
          <p:nvPr/>
        </p:nvCxnSpPr>
        <p:spPr>
          <a:xfrm flipH="1">
            <a:off x="5475925" y="4150575"/>
            <a:ext cx="247500" cy="3489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414" name="Google Shape;13414;p514"/>
          <p:cNvCxnSpPr>
            <a:endCxn id="13402" idx="1"/>
          </p:cNvCxnSpPr>
          <p:nvPr/>
        </p:nvCxnSpPr>
        <p:spPr>
          <a:xfrm>
            <a:off x="4563071" y="3471684"/>
            <a:ext cx="687000" cy="1203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415" name="Google Shape;13415;p514"/>
          <p:cNvSpPr/>
          <p:nvPr/>
        </p:nvSpPr>
        <p:spPr>
          <a:xfrm>
            <a:off x="3702925" y="2733125"/>
            <a:ext cx="2020500" cy="7140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All actors work together to keep ties from dissolving</a:t>
            </a:r>
            <a:endParaRPr/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419" name="Shape 13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20" name="Google Shape;13420;p51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421" name="Google Shape;13421;p515"/>
          <p:cNvSpPr txBox="1"/>
          <p:nvPr>
            <p:ph idx="1" type="body"/>
          </p:nvPr>
        </p:nvSpPr>
        <p:spPr>
          <a:xfrm>
            <a:off x="311700" y="1225225"/>
            <a:ext cx="8520600" cy="148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Original Granovetter argument conceives of the properties of ties (e.g. strength) in static terms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Yet information transmission/access are events that happen in time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original SWT argument: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Weak ties: Novel information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Strong ties: Old/redundant information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2" name="Google Shape;13422;p515"/>
          <p:cNvSpPr/>
          <p:nvPr/>
        </p:nvSpPr>
        <p:spPr>
          <a:xfrm>
            <a:off x="918850" y="3903079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3" name="Google Shape;13423;p515"/>
          <p:cNvSpPr/>
          <p:nvPr/>
        </p:nvSpPr>
        <p:spPr>
          <a:xfrm>
            <a:off x="1622542" y="331681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4" name="Google Shape;13424;p515"/>
          <p:cNvSpPr/>
          <p:nvPr/>
        </p:nvSpPr>
        <p:spPr>
          <a:xfrm>
            <a:off x="2021356" y="3746222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5" name="Google Shape;13425;p515"/>
          <p:cNvSpPr/>
          <p:nvPr/>
        </p:nvSpPr>
        <p:spPr>
          <a:xfrm>
            <a:off x="2021356" y="4180668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6" name="Google Shape;13426;p515"/>
          <p:cNvSpPr/>
          <p:nvPr/>
        </p:nvSpPr>
        <p:spPr>
          <a:xfrm>
            <a:off x="1622542" y="4489051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427" name="Google Shape;13427;p515"/>
          <p:cNvCxnSpPr>
            <a:stCxn id="13422" idx="7"/>
            <a:endCxn id="13423" idx="3"/>
          </p:cNvCxnSpPr>
          <p:nvPr/>
        </p:nvCxnSpPr>
        <p:spPr>
          <a:xfrm flipH="1" rot="10800000">
            <a:off x="1148541" y="3533791"/>
            <a:ext cx="513300" cy="406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28" name="Google Shape;13428;p515"/>
          <p:cNvCxnSpPr>
            <a:stCxn id="13422" idx="5"/>
            <a:endCxn id="13426" idx="1"/>
          </p:cNvCxnSpPr>
          <p:nvPr/>
        </p:nvCxnSpPr>
        <p:spPr>
          <a:xfrm>
            <a:off x="1148541" y="4119967"/>
            <a:ext cx="513300" cy="4062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29" name="Google Shape;13429;p515"/>
          <p:cNvCxnSpPr>
            <a:stCxn id="13426" idx="7"/>
            <a:endCxn id="13425" idx="3"/>
          </p:cNvCxnSpPr>
          <p:nvPr/>
        </p:nvCxnSpPr>
        <p:spPr>
          <a:xfrm flipH="1" rot="10800000">
            <a:off x="1852233" y="4397563"/>
            <a:ext cx="208500" cy="1287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30" name="Google Shape;13430;p515"/>
          <p:cNvCxnSpPr>
            <a:stCxn id="13425" idx="0"/>
            <a:endCxn id="13424" idx="4"/>
          </p:cNvCxnSpPr>
          <p:nvPr/>
        </p:nvCxnSpPr>
        <p:spPr>
          <a:xfrm rot="10800000">
            <a:off x="2155906" y="4000368"/>
            <a:ext cx="0" cy="1803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31" name="Google Shape;13431;p515"/>
          <p:cNvCxnSpPr>
            <a:stCxn id="13424" idx="0"/>
            <a:endCxn id="13423" idx="5"/>
          </p:cNvCxnSpPr>
          <p:nvPr/>
        </p:nvCxnSpPr>
        <p:spPr>
          <a:xfrm rot="10800000">
            <a:off x="1852306" y="3533822"/>
            <a:ext cx="303600" cy="2124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32" name="Google Shape;13432;p515"/>
          <p:cNvCxnSpPr>
            <a:stCxn id="13426" idx="0"/>
            <a:endCxn id="13423" idx="4"/>
          </p:cNvCxnSpPr>
          <p:nvPr/>
        </p:nvCxnSpPr>
        <p:spPr>
          <a:xfrm rot="10800000">
            <a:off x="1757092" y="3571051"/>
            <a:ext cx="0" cy="9180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33" name="Google Shape;13433;p515"/>
          <p:cNvCxnSpPr>
            <a:stCxn id="13426" idx="0"/>
            <a:endCxn id="13424" idx="3"/>
          </p:cNvCxnSpPr>
          <p:nvPr/>
        </p:nvCxnSpPr>
        <p:spPr>
          <a:xfrm flipH="1" rot="10800000">
            <a:off x="1757092" y="3963151"/>
            <a:ext cx="303600" cy="5259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34" name="Google Shape;13434;p515"/>
          <p:cNvCxnSpPr>
            <a:stCxn id="13425" idx="1"/>
            <a:endCxn id="13423" idx="4"/>
          </p:cNvCxnSpPr>
          <p:nvPr/>
        </p:nvCxnSpPr>
        <p:spPr>
          <a:xfrm rot="10800000">
            <a:off x="1757164" y="3570780"/>
            <a:ext cx="303600" cy="6471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35" name="Google Shape;13435;p515"/>
          <p:cNvCxnSpPr>
            <a:stCxn id="13422" idx="6"/>
            <a:endCxn id="13424" idx="2"/>
          </p:cNvCxnSpPr>
          <p:nvPr/>
        </p:nvCxnSpPr>
        <p:spPr>
          <a:xfrm flipH="1" rot="10800000">
            <a:off x="1187950" y="3873229"/>
            <a:ext cx="833400" cy="1569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36" name="Google Shape;13436;p515"/>
          <p:cNvCxnSpPr>
            <a:stCxn id="13422" idx="6"/>
            <a:endCxn id="13425" idx="2"/>
          </p:cNvCxnSpPr>
          <p:nvPr/>
        </p:nvCxnSpPr>
        <p:spPr>
          <a:xfrm>
            <a:off x="1187950" y="4030129"/>
            <a:ext cx="833400" cy="27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437" name="Google Shape;13437;p515"/>
          <p:cNvSpPr/>
          <p:nvPr/>
        </p:nvSpPr>
        <p:spPr>
          <a:xfrm>
            <a:off x="3941829" y="3792172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8" name="Google Shape;13438;p515"/>
          <p:cNvSpPr/>
          <p:nvPr/>
        </p:nvSpPr>
        <p:spPr>
          <a:xfrm>
            <a:off x="4645521" y="320604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9" name="Google Shape;13439;p515"/>
          <p:cNvSpPr/>
          <p:nvPr/>
        </p:nvSpPr>
        <p:spPr>
          <a:xfrm>
            <a:off x="5044335" y="3635352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0" name="Google Shape;13440;p515"/>
          <p:cNvSpPr/>
          <p:nvPr/>
        </p:nvSpPr>
        <p:spPr>
          <a:xfrm>
            <a:off x="5044335" y="406969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1" name="Google Shape;13441;p515"/>
          <p:cNvSpPr/>
          <p:nvPr/>
        </p:nvSpPr>
        <p:spPr>
          <a:xfrm>
            <a:off x="4645521" y="437800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442" name="Google Shape;13442;p515"/>
          <p:cNvCxnSpPr>
            <a:stCxn id="13437" idx="7"/>
            <a:endCxn id="13438" idx="3"/>
          </p:cNvCxnSpPr>
          <p:nvPr/>
        </p:nvCxnSpPr>
        <p:spPr>
          <a:xfrm flipH="1" rot="10800000">
            <a:off x="4171520" y="3422884"/>
            <a:ext cx="513300" cy="406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443" name="Google Shape;13443;p515"/>
          <p:cNvCxnSpPr>
            <a:stCxn id="13437" idx="5"/>
            <a:endCxn id="13441" idx="1"/>
          </p:cNvCxnSpPr>
          <p:nvPr/>
        </p:nvCxnSpPr>
        <p:spPr>
          <a:xfrm>
            <a:off x="4171520" y="4009060"/>
            <a:ext cx="513300" cy="4062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444" name="Google Shape;13444;p515"/>
          <p:cNvCxnSpPr>
            <a:stCxn id="13440" idx="0"/>
            <a:endCxn id="13439" idx="4"/>
          </p:cNvCxnSpPr>
          <p:nvPr/>
        </p:nvCxnSpPr>
        <p:spPr>
          <a:xfrm rot="10800000">
            <a:off x="5178885" y="3889397"/>
            <a:ext cx="0" cy="1803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45" name="Google Shape;13445;p515"/>
          <p:cNvCxnSpPr>
            <a:stCxn id="13437" idx="6"/>
            <a:endCxn id="13439" idx="2"/>
          </p:cNvCxnSpPr>
          <p:nvPr/>
        </p:nvCxnSpPr>
        <p:spPr>
          <a:xfrm flipH="1" rot="10800000">
            <a:off x="4210929" y="3762322"/>
            <a:ext cx="833400" cy="1569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46" name="Google Shape;13446;p515"/>
          <p:cNvCxnSpPr>
            <a:stCxn id="13437" idx="6"/>
            <a:endCxn id="13440" idx="2"/>
          </p:cNvCxnSpPr>
          <p:nvPr/>
        </p:nvCxnSpPr>
        <p:spPr>
          <a:xfrm>
            <a:off x="4210929" y="3919222"/>
            <a:ext cx="833400" cy="27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47" name="Google Shape;13447;p515"/>
          <p:cNvCxnSpPr/>
          <p:nvPr/>
        </p:nvCxnSpPr>
        <p:spPr>
          <a:xfrm flipH="1" rot="10800000">
            <a:off x="4779947" y="2878820"/>
            <a:ext cx="79200" cy="324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48" name="Google Shape;13448;p515"/>
          <p:cNvCxnSpPr/>
          <p:nvPr/>
        </p:nvCxnSpPr>
        <p:spPr>
          <a:xfrm flipH="1" rot="10800000">
            <a:off x="4875007" y="3060294"/>
            <a:ext cx="320400" cy="183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49" name="Google Shape;13449;p515"/>
          <p:cNvCxnSpPr>
            <a:stCxn id="13441" idx="6"/>
          </p:cNvCxnSpPr>
          <p:nvPr/>
        </p:nvCxnSpPr>
        <p:spPr>
          <a:xfrm>
            <a:off x="4914621" y="4505057"/>
            <a:ext cx="319800" cy="75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50" name="Google Shape;13450;p515"/>
          <p:cNvCxnSpPr>
            <a:stCxn id="13441" idx="5"/>
          </p:cNvCxnSpPr>
          <p:nvPr/>
        </p:nvCxnSpPr>
        <p:spPr>
          <a:xfrm>
            <a:off x="4875213" y="4594895"/>
            <a:ext cx="139500" cy="27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3451" name="Google Shape;13451;p515"/>
          <p:cNvSpPr/>
          <p:nvPr/>
        </p:nvSpPr>
        <p:spPr>
          <a:xfrm>
            <a:off x="6853539" y="3838130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2" name="Google Shape;13452;p515"/>
          <p:cNvSpPr/>
          <p:nvPr/>
        </p:nvSpPr>
        <p:spPr>
          <a:xfrm>
            <a:off x="7557231" y="3252005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3" name="Google Shape;13453;p515"/>
          <p:cNvSpPr/>
          <p:nvPr/>
        </p:nvSpPr>
        <p:spPr>
          <a:xfrm>
            <a:off x="7956044" y="3681310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4" name="Google Shape;13454;p515"/>
          <p:cNvSpPr/>
          <p:nvPr/>
        </p:nvSpPr>
        <p:spPr>
          <a:xfrm>
            <a:off x="7956044" y="4115654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5" name="Google Shape;13455;p515"/>
          <p:cNvSpPr/>
          <p:nvPr/>
        </p:nvSpPr>
        <p:spPr>
          <a:xfrm>
            <a:off x="7557231" y="4423965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456" name="Google Shape;13456;p515"/>
          <p:cNvCxnSpPr>
            <a:stCxn id="13451" idx="7"/>
            <a:endCxn id="13452" idx="3"/>
          </p:cNvCxnSpPr>
          <p:nvPr/>
        </p:nvCxnSpPr>
        <p:spPr>
          <a:xfrm flipH="1" rot="10800000">
            <a:off x="7083230" y="3468842"/>
            <a:ext cx="513300" cy="406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457" name="Google Shape;13457;p515"/>
          <p:cNvCxnSpPr>
            <a:stCxn id="13451" idx="5"/>
            <a:endCxn id="13455" idx="1"/>
          </p:cNvCxnSpPr>
          <p:nvPr/>
        </p:nvCxnSpPr>
        <p:spPr>
          <a:xfrm>
            <a:off x="7083230" y="4055018"/>
            <a:ext cx="513300" cy="4062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458" name="Google Shape;13458;p515"/>
          <p:cNvCxnSpPr>
            <a:stCxn id="13451" idx="6"/>
            <a:endCxn id="13453" idx="2"/>
          </p:cNvCxnSpPr>
          <p:nvPr/>
        </p:nvCxnSpPr>
        <p:spPr>
          <a:xfrm flipH="1" rot="10800000">
            <a:off x="7122639" y="3808280"/>
            <a:ext cx="833400" cy="1569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459" name="Google Shape;13459;p515"/>
          <p:cNvCxnSpPr>
            <a:stCxn id="13451" idx="6"/>
            <a:endCxn id="13454" idx="2"/>
          </p:cNvCxnSpPr>
          <p:nvPr/>
        </p:nvCxnSpPr>
        <p:spPr>
          <a:xfrm>
            <a:off x="7122639" y="3965180"/>
            <a:ext cx="833400" cy="277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460" name="Google Shape;13460;p515"/>
          <p:cNvCxnSpPr/>
          <p:nvPr/>
        </p:nvCxnSpPr>
        <p:spPr>
          <a:xfrm flipH="1" rot="10800000">
            <a:off x="7691656" y="2924778"/>
            <a:ext cx="79200" cy="324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61" name="Google Shape;13461;p515"/>
          <p:cNvCxnSpPr/>
          <p:nvPr/>
        </p:nvCxnSpPr>
        <p:spPr>
          <a:xfrm flipH="1" rot="10800000">
            <a:off x="7786717" y="3106252"/>
            <a:ext cx="320400" cy="183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62" name="Google Shape;13462;p515"/>
          <p:cNvCxnSpPr>
            <a:stCxn id="13455" idx="6"/>
          </p:cNvCxnSpPr>
          <p:nvPr/>
        </p:nvCxnSpPr>
        <p:spPr>
          <a:xfrm>
            <a:off x="7826331" y="4551015"/>
            <a:ext cx="319800" cy="75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63" name="Google Shape;13463;p515"/>
          <p:cNvCxnSpPr>
            <a:stCxn id="13455" idx="5"/>
          </p:cNvCxnSpPr>
          <p:nvPr/>
        </p:nvCxnSpPr>
        <p:spPr>
          <a:xfrm>
            <a:off x="7786922" y="4640853"/>
            <a:ext cx="139500" cy="27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467" name="Shape 13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8" name="Google Shape;13468;p516"/>
          <p:cNvSpPr/>
          <p:nvPr/>
        </p:nvSpPr>
        <p:spPr>
          <a:xfrm>
            <a:off x="899338" y="2004988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9" name="Google Shape;13469;p516"/>
          <p:cNvSpPr/>
          <p:nvPr/>
        </p:nvSpPr>
        <p:spPr>
          <a:xfrm>
            <a:off x="1893162" y="1175092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70" name="Google Shape;13470;p516"/>
          <p:cNvSpPr/>
          <p:nvPr/>
        </p:nvSpPr>
        <p:spPr>
          <a:xfrm>
            <a:off x="2456406" y="1782946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71" name="Google Shape;13471;p516"/>
          <p:cNvSpPr/>
          <p:nvPr/>
        </p:nvSpPr>
        <p:spPr>
          <a:xfrm>
            <a:off x="2456406" y="2397935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72" name="Google Shape;13472;p516"/>
          <p:cNvSpPr/>
          <p:nvPr/>
        </p:nvSpPr>
        <p:spPr>
          <a:xfrm>
            <a:off x="1893162" y="2834473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473" name="Google Shape;13473;p516"/>
          <p:cNvCxnSpPr>
            <a:stCxn id="13468" idx="7"/>
            <a:endCxn id="13469" idx="3"/>
          </p:cNvCxnSpPr>
          <p:nvPr/>
        </p:nvCxnSpPr>
        <p:spPr>
          <a:xfrm flipH="1" rot="10800000">
            <a:off x="1223517" y="1482308"/>
            <a:ext cx="725400" cy="5754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74" name="Google Shape;13474;p516"/>
          <p:cNvCxnSpPr>
            <a:stCxn id="13468" idx="5"/>
            <a:endCxn id="13472" idx="1"/>
          </p:cNvCxnSpPr>
          <p:nvPr/>
        </p:nvCxnSpPr>
        <p:spPr>
          <a:xfrm>
            <a:off x="1223517" y="2312267"/>
            <a:ext cx="725400" cy="5748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75" name="Google Shape;13475;p516"/>
          <p:cNvCxnSpPr>
            <a:stCxn id="13472" idx="7"/>
            <a:endCxn id="13471" idx="3"/>
          </p:cNvCxnSpPr>
          <p:nvPr/>
        </p:nvCxnSpPr>
        <p:spPr>
          <a:xfrm flipH="1" rot="10800000">
            <a:off x="2217341" y="2705093"/>
            <a:ext cx="294600" cy="1821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76" name="Google Shape;13476;p516"/>
          <p:cNvCxnSpPr>
            <a:stCxn id="13471" idx="0"/>
            <a:endCxn id="13470" idx="4"/>
          </p:cNvCxnSpPr>
          <p:nvPr/>
        </p:nvCxnSpPr>
        <p:spPr>
          <a:xfrm rot="10800000">
            <a:off x="2646306" y="2142935"/>
            <a:ext cx="0" cy="2550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77" name="Google Shape;13477;p516"/>
          <p:cNvCxnSpPr>
            <a:stCxn id="13470" idx="0"/>
            <a:endCxn id="13469" idx="5"/>
          </p:cNvCxnSpPr>
          <p:nvPr/>
        </p:nvCxnSpPr>
        <p:spPr>
          <a:xfrm rot="10800000">
            <a:off x="2217306" y="1482346"/>
            <a:ext cx="429000" cy="3006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78" name="Google Shape;13478;p516"/>
          <p:cNvCxnSpPr>
            <a:stCxn id="13472" idx="0"/>
            <a:endCxn id="13469" idx="4"/>
          </p:cNvCxnSpPr>
          <p:nvPr/>
        </p:nvCxnSpPr>
        <p:spPr>
          <a:xfrm rot="10800000">
            <a:off x="2083062" y="1535173"/>
            <a:ext cx="0" cy="12993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79" name="Google Shape;13479;p516"/>
          <p:cNvCxnSpPr>
            <a:stCxn id="13472" idx="0"/>
            <a:endCxn id="13470" idx="3"/>
          </p:cNvCxnSpPr>
          <p:nvPr/>
        </p:nvCxnSpPr>
        <p:spPr>
          <a:xfrm flipH="1" rot="10800000">
            <a:off x="2083062" y="2090173"/>
            <a:ext cx="429000" cy="7443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80" name="Google Shape;13480;p516"/>
          <p:cNvCxnSpPr>
            <a:stCxn id="13471" idx="1"/>
            <a:endCxn id="13469" idx="4"/>
          </p:cNvCxnSpPr>
          <p:nvPr/>
        </p:nvCxnSpPr>
        <p:spPr>
          <a:xfrm rot="10800000">
            <a:off x="2083026" y="1535056"/>
            <a:ext cx="429000" cy="9156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81" name="Google Shape;13481;p516"/>
          <p:cNvCxnSpPr>
            <a:stCxn id="13468" idx="6"/>
            <a:endCxn id="13470" idx="2"/>
          </p:cNvCxnSpPr>
          <p:nvPr/>
        </p:nvCxnSpPr>
        <p:spPr>
          <a:xfrm flipH="1" rot="10800000">
            <a:off x="1279138" y="1962988"/>
            <a:ext cx="1177200" cy="2220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82" name="Google Shape;13482;p516"/>
          <p:cNvCxnSpPr>
            <a:stCxn id="13468" idx="6"/>
            <a:endCxn id="13471" idx="2"/>
          </p:cNvCxnSpPr>
          <p:nvPr/>
        </p:nvCxnSpPr>
        <p:spPr>
          <a:xfrm>
            <a:off x="1279138" y="2184988"/>
            <a:ext cx="1177200" cy="3930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483" name="Google Shape;13483;p516"/>
          <p:cNvSpPr/>
          <p:nvPr/>
        </p:nvSpPr>
        <p:spPr>
          <a:xfrm>
            <a:off x="3589267" y="2069992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4" name="Google Shape;13484;p516"/>
          <p:cNvSpPr/>
          <p:nvPr/>
        </p:nvSpPr>
        <p:spPr>
          <a:xfrm>
            <a:off x="4583091" y="1240096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5" name="Google Shape;13485;p516"/>
          <p:cNvSpPr/>
          <p:nvPr/>
        </p:nvSpPr>
        <p:spPr>
          <a:xfrm>
            <a:off x="5146335" y="1847950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6" name="Google Shape;13486;p516"/>
          <p:cNvSpPr/>
          <p:nvPr/>
        </p:nvSpPr>
        <p:spPr>
          <a:xfrm>
            <a:off x="5146335" y="2462939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7" name="Google Shape;13487;p516"/>
          <p:cNvSpPr/>
          <p:nvPr/>
        </p:nvSpPr>
        <p:spPr>
          <a:xfrm>
            <a:off x="4583091" y="2899477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488" name="Google Shape;13488;p516"/>
          <p:cNvCxnSpPr>
            <a:stCxn id="13483" idx="7"/>
            <a:endCxn id="13484" idx="3"/>
          </p:cNvCxnSpPr>
          <p:nvPr/>
        </p:nvCxnSpPr>
        <p:spPr>
          <a:xfrm flipH="1" rot="10800000">
            <a:off x="3913446" y="1547313"/>
            <a:ext cx="725400" cy="5754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489" name="Google Shape;13489;p516"/>
          <p:cNvCxnSpPr>
            <a:stCxn id="13483" idx="5"/>
            <a:endCxn id="13487" idx="1"/>
          </p:cNvCxnSpPr>
          <p:nvPr/>
        </p:nvCxnSpPr>
        <p:spPr>
          <a:xfrm>
            <a:off x="3913446" y="2377271"/>
            <a:ext cx="725400" cy="5748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490" name="Google Shape;13490;p516"/>
          <p:cNvCxnSpPr>
            <a:stCxn id="13486" idx="0"/>
            <a:endCxn id="13485" idx="4"/>
          </p:cNvCxnSpPr>
          <p:nvPr/>
        </p:nvCxnSpPr>
        <p:spPr>
          <a:xfrm rot="10800000">
            <a:off x="5336235" y="2207939"/>
            <a:ext cx="0" cy="2550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91" name="Google Shape;13491;p516"/>
          <p:cNvCxnSpPr>
            <a:stCxn id="13483" idx="6"/>
            <a:endCxn id="13485" idx="2"/>
          </p:cNvCxnSpPr>
          <p:nvPr/>
        </p:nvCxnSpPr>
        <p:spPr>
          <a:xfrm flipH="1" rot="10800000">
            <a:off x="3969067" y="2027992"/>
            <a:ext cx="1177200" cy="2220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92" name="Google Shape;13492;p516"/>
          <p:cNvCxnSpPr>
            <a:stCxn id="13483" idx="6"/>
            <a:endCxn id="13486" idx="2"/>
          </p:cNvCxnSpPr>
          <p:nvPr/>
        </p:nvCxnSpPr>
        <p:spPr>
          <a:xfrm>
            <a:off x="3969067" y="2249992"/>
            <a:ext cx="1177200" cy="3930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93" name="Google Shape;13493;p516"/>
          <p:cNvCxnSpPr/>
          <p:nvPr/>
        </p:nvCxnSpPr>
        <p:spPr>
          <a:xfrm flipH="1" rot="10800000">
            <a:off x="4772940" y="777127"/>
            <a:ext cx="111900" cy="4584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94" name="Google Shape;13494;p516"/>
          <p:cNvCxnSpPr/>
          <p:nvPr/>
        </p:nvCxnSpPr>
        <p:spPr>
          <a:xfrm flipH="1" rot="10800000">
            <a:off x="4907194" y="1033634"/>
            <a:ext cx="452400" cy="2592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95" name="Google Shape;13495;p516"/>
          <p:cNvCxnSpPr>
            <a:stCxn id="13487" idx="6"/>
          </p:cNvCxnSpPr>
          <p:nvPr/>
        </p:nvCxnSpPr>
        <p:spPr>
          <a:xfrm>
            <a:off x="4962891" y="3079477"/>
            <a:ext cx="452100" cy="1068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496" name="Google Shape;13496;p516"/>
          <p:cNvCxnSpPr>
            <a:stCxn id="13487" idx="5"/>
          </p:cNvCxnSpPr>
          <p:nvPr/>
        </p:nvCxnSpPr>
        <p:spPr>
          <a:xfrm>
            <a:off x="4907270" y="3206756"/>
            <a:ext cx="197100" cy="3858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3497" name="Google Shape;13497;p516"/>
          <p:cNvSpPr/>
          <p:nvPr/>
        </p:nvSpPr>
        <p:spPr>
          <a:xfrm>
            <a:off x="6278951" y="2155449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98" name="Google Shape;13498;p516"/>
          <p:cNvSpPr/>
          <p:nvPr/>
        </p:nvSpPr>
        <p:spPr>
          <a:xfrm>
            <a:off x="7272775" y="1325553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99" name="Google Shape;13499;p516"/>
          <p:cNvSpPr/>
          <p:nvPr/>
        </p:nvSpPr>
        <p:spPr>
          <a:xfrm>
            <a:off x="7836019" y="1933407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0" name="Google Shape;13500;p516"/>
          <p:cNvSpPr/>
          <p:nvPr/>
        </p:nvSpPr>
        <p:spPr>
          <a:xfrm>
            <a:off x="7836019" y="2548397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1" name="Google Shape;13501;p516"/>
          <p:cNvSpPr/>
          <p:nvPr/>
        </p:nvSpPr>
        <p:spPr>
          <a:xfrm>
            <a:off x="7272775" y="2984934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502" name="Google Shape;13502;p516"/>
          <p:cNvCxnSpPr>
            <a:stCxn id="13497" idx="7"/>
            <a:endCxn id="13498" idx="3"/>
          </p:cNvCxnSpPr>
          <p:nvPr/>
        </p:nvCxnSpPr>
        <p:spPr>
          <a:xfrm flipH="1" rot="10800000">
            <a:off x="6603131" y="1632770"/>
            <a:ext cx="725400" cy="5754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03" name="Google Shape;13503;p516"/>
          <p:cNvCxnSpPr>
            <a:stCxn id="13497" idx="5"/>
            <a:endCxn id="13501" idx="1"/>
          </p:cNvCxnSpPr>
          <p:nvPr/>
        </p:nvCxnSpPr>
        <p:spPr>
          <a:xfrm>
            <a:off x="6603131" y="2462729"/>
            <a:ext cx="725400" cy="5748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04" name="Google Shape;13504;p516"/>
          <p:cNvCxnSpPr>
            <a:stCxn id="13497" idx="6"/>
            <a:endCxn id="13499" idx="2"/>
          </p:cNvCxnSpPr>
          <p:nvPr/>
        </p:nvCxnSpPr>
        <p:spPr>
          <a:xfrm flipH="1" rot="10800000">
            <a:off x="6658751" y="2113449"/>
            <a:ext cx="1177200" cy="2220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05" name="Google Shape;13505;p516"/>
          <p:cNvCxnSpPr>
            <a:stCxn id="13497" idx="6"/>
            <a:endCxn id="13500" idx="2"/>
          </p:cNvCxnSpPr>
          <p:nvPr/>
        </p:nvCxnSpPr>
        <p:spPr>
          <a:xfrm>
            <a:off x="6658751" y="2335449"/>
            <a:ext cx="1177200" cy="3930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06" name="Google Shape;13506;p516"/>
          <p:cNvCxnSpPr/>
          <p:nvPr/>
        </p:nvCxnSpPr>
        <p:spPr>
          <a:xfrm flipH="1" rot="10800000">
            <a:off x="7462624" y="862584"/>
            <a:ext cx="111900" cy="4584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07" name="Google Shape;13507;p516"/>
          <p:cNvCxnSpPr/>
          <p:nvPr/>
        </p:nvCxnSpPr>
        <p:spPr>
          <a:xfrm flipH="1" rot="10800000">
            <a:off x="7596878" y="1119092"/>
            <a:ext cx="452400" cy="2592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08" name="Google Shape;13508;p516"/>
          <p:cNvCxnSpPr>
            <a:stCxn id="13501" idx="6"/>
          </p:cNvCxnSpPr>
          <p:nvPr/>
        </p:nvCxnSpPr>
        <p:spPr>
          <a:xfrm>
            <a:off x="7652575" y="3164934"/>
            <a:ext cx="452100" cy="1068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09" name="Google Shape;13509;p516"/>
          <p:cNvCxnSpPr>
            <a:stCxn id="13501" idx="5"/>
          </p:cNvCxnSpPr>
          <p:nvPr/>
        </p:nvCxnSpPr>
        <p:spPr>
          <a:xfrm>
            <a:off x="7596955" y="3292214"/>
            <a:ext cx="197100" cy="3858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10" name="Google Shape;13510;p516"/>
          <p:cNvCxnSpPr/>
          <p:nvPr/>
        </p:nvCxnSpPr>
        <p:spPr>
          <a:xfrm>
            <a:off x="249150" y="4392713"/>
            <a:ext cx="8645700" cy="7500"/>
          </a:xfrm>
          <a:prstGeom prst="straightConnector1">
            <a:avLst/>
          </a:prstGeom>
          <a:noFill/>
          <a:ln cap="flat" cmpd="sng" w="38100">
            <a:solidFill>
              <a:srgbClr val="000000"/>
            </a:solidFill>
            <a:prstDash val="solid"/>
            <a:round/>
            <a:headEnd len="med" w="med" type="stealth"/>
            <a:tailEnd len="med" w="med" type="triangle"/>
          </a:ln>
        </p:spPr>
      </p:cxnSp>
      <p:sp>
        <p:nvSpPr>
          <p:cNvPr id="13511" name="Google Shape;13511;p516"/>
          <p:cNvSpPr/>
          <p:nvPr/>
        </p:nvSpPr>
        <p:spPr>
          <a:xfrm>
            <a:off x="532000" y="4466825"/>
            <a:ext cx="343500" cy="351000"/>
          </a:xfrm>
          <a:prstGeom prst="ellipse">
            <a:avLst/>
          </a:prstGeom>
          <a:solidFill>
            <a:srgbClr val="1155CC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512" name="Google Shape;13512;p516"/>
          <p:cNvCxnSpPr>
            <a:stCxn id="13511" idx="6"/>
            <a:endCxn id="13513" idx="2"/>
          </p:cNvCxnSpPr>
          <p:nvPr/>
        </p:nvCxnSpPr>
        <p:spPr>
          <a:xfrm>
            <a:off x="875500" y="4642325"/>
            <a:ext cx="659100" cy="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513" name="Google Shape;13513;p516"/>
          <p:cNvSpPr/>
          <p:nvPr/>
        </p:nvSpPr>
        <p:spPr>
          <a:xfrm>
            <a:off x="1534675" y="4466825"/>
            <a:ext cx="343500" cy="351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14" name="Google Shape;13514;p516"/>
          <p:cNvSpPr txBox="1"/>
          <p:nvPr/>
        </p:nvSpPr>
        <p:spPr>
          <a:xfrm>
            <a:off x="791025" y="4844250"/>
            <a:ext cx="829800" cy="25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pen Sans"/>
                <a:ea typeface="Open Sans"/>
                <a:cs typeface="Open Sans"/>
                <a:sym typeface="Open Sans"/>
              </a:rPr>
              <a:t>High</a:t>
            </a:r>
            <a:endParaRPr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515" name="Google Shape;13515;p516"/>
          <p:cNvSpPr/>
          <p:nvPr/>
        </p:nvSpPr>
        <p:spPr>
          <a:xfrm>
            <a:off x="7220475" y="4466825"/>
            <a:ext cx="343500" cy="351000"/>
          </a:xfrm>
          <a:prstGeom prst="ellipse">
            <a:avLst/>
          </a:prstGeom>
          <a:solidFill>
            <a:srgbClr val="1155CC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516" name="Google Shape;13516;p516"/>
          <p:cNvCxnSpPr>
            <a:stCxn id="13515" idx="6"/>
            <a:endCxn id="13517" idx="2"/>
          </p:cNvCxnSpPr>
          <p:nvPr/>
        </p:nvCxnSpPr>
        <p:spPr>
          <a:xfrm>
            <a:off x="7563975" y="4642325"/>
            <a:ext cx="6591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517" name="Google Shape;13517;p516"/>
          <p:cNvSpPr/>
          <p:nvPr/>
        </p:nvSpPr>
        <p:spPr>
          <a:xfrm>
            <a:off x="8223150" y="4466825"/>
            <a:ext cx="343500" cy="351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18" name="Google Shape;13518;p516"/>
          <p:cNvSpPr txBox="1"/>
          <p:nvPr/>
        </p:nvSpPr>
        <p:spPr>
          <a:xfrm>
            <a:off x="7479500" y="4844250"/>
            <a:ext cx="829800" cy="25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pen Sans"/>
                <a:ea typeface="Open Sans"/>
                <a:cs typeface="Open Sans"/>
                <a:sym typeface="Open Sans"/>
              </a:rPr>
              <a:t>Low</a:t>
            </a:r>
            <a:endParaRPr sz="12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3519" name="Google Shape;13519;p516"/>
          <p:cNvCxnSpPr/>
          <p:nvPr/>
        </p:nvCxnSpPr>
        <p:spPr>
          <a:xfrm>
            <a:off x="362625" y="581625"/>
            <a:ext cx="8622000" cy="14700"/>
          </a:xfrm>
          <a:prstGeom prst="straightConnector1">
            <a:avLst/>
          </a:prstGeom>
          <a:noFill/>
          <a:ln cap="flat" cmpd="sng" w="38100">
            <a:solidFill>
              <a:srgbClr val="000000"/>
            </a:solidFill>
            <a:prstDash val="solid"/>
            <a:round/>
            <a:headEnd len="med" w="med" type="stealth"/>
            <a:tailEnd len="med" w="med" type="triangle"/>
          </a:ln>
        </p:spPr>
      </p:cxnSp>
      <p:sp>
        <p:nvSpPr>
          <p:cNvPr id="13520" name="Google Shape;13520;p516"/>
          <p:cNvSpPr txBox="1"/>
          <p:nvPr/>
        </p:nvSpPr>
        <p:spPr>
          <a:xfrm>
            <a:off x="2648675" y="4418775"/>
            <a:ext cx="3801300" cy="35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Channel Bandwidth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521" name="Google Shape;13521;p516"/>
          <p:cNvSpPr txBox="1"/>
          <p:nvPr/>
        </p:nvSpPr>
        <p:spPr>
          <a:xfrm>
            <a:off x="791013" y="298025"/>
            <a:ext cx="829800" cy="25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pen Sans"/>
                <a:ea typeface="Open Sans"/>
                <a:cs typeface="Open Sans"/>
                <a:sym typeface="Open Sans"/>
              </a:rPr>
              <a:t>High</a:t>
            </a:r>
            <a:endParaRPr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522" name="Google Shape;13522;p516"/>
          <p:cNvSpPr txBox="1"/>
          <p:nvPr/>
        </p:nvSpPr>
        <p:spPr>
          <a:xfrm>
            <a:off x="7479488" y="305100"/>
            <a:ext cx="829800" cy="25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pen Sans"/>
                <a:ea typeface="Open Sans"/>
                <a:cs typeface="Open Sans"/>
                <a:sym typeface="Open Sans"/>
              </a:rPr>
              <a:t>Low</a:t>
            </a:r>
            <a:endParaRPr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523" name="Google Shape;13523;p516"/>
          <p:cNvSpPr txBox="1"/>
          <p:nvPr/>
        </p:nvSpPr>
        <p:spPr>
          <a:xfrm>
            <a:off x="2561900" y="197125"/>
            <a:ext cx="3801300" cy="35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Network Clustering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524" name="Google Shape;13524;p516"/>
          <p:cNvSpPr txBox="1"/>
          <p:nvPr/>
        </p:nvSpPr>
        <p:spPr>
          <a:xfrm>
            <a:off x="957525" y="3640225"/>
            <a:ext cx="2195400" cy="62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Clustered Network of Strong, High-Bandwidth Ties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525" name="Google Shape;13525;p516"/>
          <p:cNvSpPr txBox="1"/>
          <p:nvPr/>
        </p:nvSpPr>
        <p:spPr>
          <a:xfrm>
            <a:off x="6393050" y="3693263"/>
            <a:ext cx="2195400" cy="62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Unclustered Network of Weak, Low-Bandwidth Ties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529" name="Shape 13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30" name="Google Shape;13530;p51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531" name="Google Shape;13531;p517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When taking into account temporal flow: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“Weak” ties: Information transmission at slower rates (less frequency)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“Strong” ties: Information transmission at higher rates (more frequency)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When seeking information via social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There is a tradeoff between novelty/diversity of information and tie “bandwidth”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3532" name="Google Shape;13532;p517"/>
          <p:cNvSpPr/>
          <p:nvPr/>
        </p:nvSpPr>
        <p:spPr>
          <a:xfrm>
            <a:off x="918850" y="3903079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3" name="Google Shape;13533;p517"/>
          <p:cNvSpPr/>
          <p:nvPr/>
        </p:nvSpPr>
        <p:spPr>
          <a:xfrm>
            <a:off x="1622542" y="331681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4" name="Google Shape;13534;p517"/>
          <p:cNvSpPr/>
          <p:nvPr/>
        </p:nvSpPr>
        <p:spPr>
          <a:xfrm>
            <a:off x="2021356" y="3746222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5" name="Google Shape;13535;p517"/>
          <p:cNvSpPr/>
          <p:nvPr/>
        </p:nvSpPr>
        <p:spPr>
          <a:xfrm>
            <a:off x="2021356" y="4180668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6" name="Google Shape;13536;p517"/>
          <p:cNvSpPr/>
          <p:nvPr/>
        </p:nvSpPr>
        <p:spPr>
          <a:xfrm>
            <a:off x="1622542" y="4489051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537" name="Google Shape;13537;p517"/>
          <p:cNvCxnSpPr>
            <a:stCxn id="13532" idx="7"/>
            <a:endCxn id="13533" idx="3"/>
          </p:cNvCxnSpPr>
          <p:nvPr/>
        </p:nvCxnSpPr>
        <p:spPr>
          <a:xfrm flipH="1" rot="10800000">
            <a:off x="1148541" y="3533791"/>
            <a:ext cx="513300" cy="406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38" name="Google Shape;13538;p517"/>
          <p:cNvCxnSpPr>
            <a:stCxn id="13532" idx="5"/>
            <a:endCxn id="13536" idx="1"/>
          </p:cNvCxnSpPr>
          <p:nvPr/>
        </p:nvCxnSpPr>
        <p:spPr>
          <a:xfrm>
            <a:off x="1148541" y="4119967"/>
            <a:ext cx="513300" cy="4062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39" name="Google Shape;13539;p517"/>
          <p:cNvCxnSpPr>
            <a:stCxn id="13536" idx="7"/>
            <a:endCxn id="13535" idx="3"/>
          </p:cNvCxnSpPr>
          <p:nvPr/>
        </p:nvCxnSpPr>
        <p:spPr>
          <a:xfrm flipH="1" rot="10800000">
            <a:off x="1852233" y="4397563"/>
            <a:ext cx="208500" cy="1287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40" name="Google Shape;13540;p517"/>
          <p:cNvCxnSpPr>
            <a:stCxn id="13535" idx="0"/>
            <a:endCxn id="13534" idx="4"/>
          </p:cNvCxnSpPr>
          <p:nvPr/>
        </p:nvCxnSpPr>
        <p:spPr>
          <a:xfrm rot="10800000">
            <a:off x="2155906" y="4000368"/>
            <a:ext cx="0" cy="1803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41" name="Google Shape;13541;p517"/>
          <p:cNvCxnSpPr>
            <a:stCxn id="13534" idx="0"/>
            <a:endCxn id="13533" idx="5"/>
          </p:cNvCxnSpPr>
          <p:nvPr/>
        </p:nvCxnSpPr>
        <p:spPr>
          <a:xfrm rot="10800000">
            <a:off x="1852306" y="3533822"/>
            <a:ext cx="303600" cy="2124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42" name="Google Shape;13542;p517"/>
          <p:cNvCxnSpPr>
            <a:stCxn id="13536" idx="0"/>
            <a:endCxn id="13533" idx="4"/>
          </p:cNvCxnSpPr>
          <p:nvPr/>
        </p:nvCxnSpPr>
        <p:spPr>
          <a:xfrm rot="10800000">
            <a:off x="1757092" y="3571051"/>
            <a:ext cx="0" cy="9180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43" name="Google Shape;13543;p517"/>
          <p:cNvCxnSpPr>
            <a:stCxn id="13536" idx="0"/>
            <a:endCxn id="13534" idx="3"/>
          </p:cNvCxnSpPr>
          <p:nvPr/>
        </p:nvCxnSpPr>
        <p:spPr>
          <a:xfrm flipH="1" rot="10800000">
            <a:off x="1757092" y="3963151"/>
            <a:ext cx="303600" cy="5259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44" name="Google Shape;13544;p517"/>
          <p:cNvCxnSpPr>
            <a:stCxn id="13535" idx="1"/>
            <a:endCxn id="13533" idx="4"/>
          </p:cNvCxnSpPr>
          <p:nvPr/>
        </p:nvCxnSpPr>
        <p:spPr>
          <a:xfrm rot="10800000">
            <a:off x="1757164" y="3570780"/>
            <a:ext cx="303600" cy="6471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45" name="Google Shape;13545;p517"/>
          <p:cNvCxnSpPr>
            <a:stCxn id="13532" idx="6"/>
            <a:endCxn id="13534" idx="2"/>
          </p:cNvCxnSpPr>
          <p:nvPr/>
        </p:nvCxnSpPr>
        <p:spPr>
          <a:xfrm flipH="1" rot="10800000">
            <a:off x="1187950" y="3873229"/>
            <a:ext cx="833400" cy="1569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46" name="Google Shape;13546;p517"/>
          <p:cNvCxnSpPr>
            <a:stCxn id="13532" idx="6"/>
            <a:endCxn id="13535" idx="2"/>
          </p:cNvCxnSpPr>
          <p:nvPr/>
        </p:nvCxnSpPr>
        <p:spPr>
          <a:xfrm>
            <a:off x="1187950" y="4030129"/>
            <a:ext cx="833400" cy="27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547" name="Google Shape;13547;p517"/>
          <p:cNvSpPr/>
          <p:nvPr/>
        </p:nvSpPr>
        <p:spPr>
          <a:xfrm>
            <a:off x="3941829" y="3792172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8" name="Google Shape;13548;p517"/>
          <p:cNvSpPr/>
          <p:nvPr/>
        </p:nvSpPr>
        <p:spPr>
          <a:xfrm>
            <a:off x="4645521" y="320604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9" name="Google Shape;13549;p517"/>
          <p:cNvSpPr/>
          <p:nvPr/>
        </p:nvSpPr>
        <p:spPr>
          <a:xfrm>
            <a:off x="5044335" y="3635352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0" name="Google Shape;13550;p517"/>
          <p:cNvSpPr/>
          <p:nvPr/>
        </p:nvSpPr>
        <p:spPr>
          <a:xfrm>
            <a:off x="5044335" y="406969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1" name="Google Shape;13551;p517"/>
          <p:cNvSpPr/>
          <p:nvPr/>
        </p:nvSpPr>
        <p:spPr>
          <a:xfrm>
            <a:off x="4645521" y="437800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552" name="Google Shape;13552;p517"/>
          <p:cNvCxnSpPr>
            <a:stCxn id="13547" idx="7"/>
            <a:endCxn id="13548" idx="3"/>
          </p:cNvCxnSpPr>
          <p:nvPr/>
        </p:nvCxnSpPr>
        <p:spPr>
          <a:xfrm flipH="1" rot="10800000">
            <a:off x="4171520" y="3422884"/>
            <a:ext cx="513300" cy="406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53" name="Google Shape;13553;p517"/>
          <p:cNvCxnSpPr>
            <a:stCxn id="13547" idx="5"/>
            <a:endCxn id="13551" idx="1"/>
          </p:cNvCxnSpPr>
          <p:nvPr/>
        </p:nvCxnSpPr>
        <p:spPr>
          <a:xfrm>
            <a:off x="4171520" y="4009060"/>
            <a:ext cx="513300" cy="4062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54" name="Google Shape;13554;p517"/>
          <p:cNvCxnSpPr>
            <a:stCxn id="13550" idx="0"/>
            <a:endCxn id="13549" idx="4"/>
          </p:cNvCxnSpPr>
          <p:nvPr/>
        </p:nvCxnSpPr>
        <p:spPr>
          <a:xfrm rot="10800000">
            <a:off x="5178885" y="3889397"/>
            <a:ext cx="0" cy="1803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55" name="Google Shape;13555;p517"/>
          <p:cNvCxnSpPr>
            <a:stCxn id="13547" idx="6"/>
            <a:endCxn id="13549" idx="2"/>
          </p:cNvCxnSpPr>
          <p:nvPr/>
        </p:nvCxnSpPr>
        <p:spPr>
          <a:xfrm flipH="1" rot="10800000">
            <a:off x="4210929" y="3762322"/>
            <a:ext cx="833400" cy="1569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56" name="Google Shape;13556;p517"/>
          <p:cNvCxnSpPr>
            <a:stCxn id="13547" idx="6"/>
            <a:endCxn id="13550" idx="2"/>
          </p:cNvCxnSpPr>
          <p:nvPr/>
        </p:nvCxnSpPr>
        <p:spPr>
          <a:xfrm>
            <a:off x="4210929" y="3919222"/>
            <a:ext cx="833400" cy="27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57" name="Google Shape;13557;p517"/>
          <p:cNvCxnSpPr/>
          <p:nvPr/>
        </p:nvCxnSpPr>
        <p:spPr>
          <a:xfrm flipH="1" rot="10800000">
            <a:off x="4779947" y="2878820"/>
            <a:ext cx="79200" cy="324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58" name="Google Shape;13558;p517"/>
          <p:cNvCxnSpPr/>
          <p:nvPr/>
        </p:nvCxnSpPr>
        <p:spPr>
          <a:xfrm flipH="1" rot="10800000">
            <a:off x="4875007" y="3060294"/>
            <a:ext cx="320400" cy="183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59" name="Google Shape;13559;p517"/>
          <p:cNvCxnSpPr>
            <a:stCxn id="13551" idx="6"/>
          </p:cNvCxnSpPr>
          <p:nvPr/>
        </p:nvCxnSpPr>
        <p:spPr>
          <a:xfrm>
            <a:off x="4914621" y="4505057"/>
            <a:ext cx="319800" cy="75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60" name="Google Shape;13560;p517"/>
          <p:cNvCxnSpPr>
            <a:stCxn id="13551" idx="5"/>
          </p:cNvCxnSpPr>
          <p:nvPr/>
        </p:nvCxnSpPr>
        <p:spPr>
          <a:xfrm>
            <a:off x="4875213" y="4594895"/>
            <a:ext cx="139500" cy="27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3561" name="Google Shape;13561;p517"/>
          <p:cNvSpPr/>
          <p:nvPr/>
        </p:nvSpPr>
        <p:spPr>
          <a:xfrm>
            <a:off x="6853539" y="3838130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2" name="Google Shape;13562;p517"/>
          <p:cNvSpPr/>
          <p:nvPr/>
        </p:nvSpPr>
        <p:spPr>
          <a:xfrm>
            <a:off x="7557231" y="3252005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3" name="Google Shape;13563;p517"/>
          <p:cNvSpPr/>
          <p:nvPr/>
        </p:nvSpPr>
        <p:spPr>
          <a:xfrm>
            <a:off x="7956044" y="3681310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4" name="Google Shape;13564;p517"/>
          <p:cNvSpPr/>
          <p:nvPr/>
        </p:nvSpPr>
        <p:spPr>
          <a:xfrm>
            <a:off x="7956044" y="4115654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5" name="Google Shape;13565;p517"/>
          <p:cNvSpPr/>
          <p:nvPr/>
        </p:nvSpPr>
        <p:spPr>
          <a:xfrm>
            <a:off x="7557231" y="4423965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566" name="Google Shape;13566;p517"/>
          <p:cNvCxnSpPr>
            <a:stCxn id="13561" idx="7"/>
            <a:endCxn id="13562" idx="3"/>
          </p:cNvCxnSpPr>
          <p:nvPr/>
        </p:nvCxnSpPr>
        <p:spPr>
          <a:xfrm flipH="1" rot="10800000">
            <a:off x="7083230" y="3468842"/>
            <a:ext cx="513300" cy="406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67" name="Google Shape;13567;p517"/>
          <p:cNvCxnSpPr>
            <a:stCxn id="13561" idx="5"/>
            <a:endCxn id="13565" idx="1"/>
          </p:cNvCxnSpPr>
          <p:nvPr/>
        </p:nvCxnSpPr>
        <p:spPr>
          <a:xfrm>
            <a:off x="7083230" y="4055018"/>
            <a:ext cx="513300" cy="4062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68" name="Google Shape;13568;p517"/>
          <p:cNvCxnSpPr>
            <a:stCxn id="13561" idx="6"/>
            <a:endCxn id="13563" idx="2"/>
          </p:cNvCxnSpPr>
          <p:nvPr/>
        </p:nvCxnSpPr>
        <p:spPr>
          <a:xfrm flipH="1" rot="10800000">
            <a:off x="7122639" y="3808280"/>
            <a:ext cx="833400" cy="1569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69" name="Google Shape;13569;p517"/>
          <p:cNvCxnSpPr>
            <a:stCxn id="13561" idx="6"/>
            <a:endCxn id="13564" idx="2"/>
          </p:cNvCxnSpPr>
          <p:nvPr/>
        </p:nvCxnSpPr>
        <p:spPr>
          <a:xfrm>
            <a:off x="7122639" y="3965180"/>
            <a:ext cx="833400" cy="277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570" name="Google Shape;13570;p517"/>
          <p:cNvCxnSpPr/>
          <p:nvPr/>
        </p:nvCxnSpPr>
        <p:spPr>
          <a:xfrm flipH="1" rot="10800000">
            <a:off x="7691656" y="2924778"/>
            <a:ext cx="79200" cy="324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71" name="Google Shape;13571;p517"/>
          <p:cNvCxnSpPr/>
          <p:nvPr/>
        </p:nvCxnSpPr>
        <p:spPr>
          <a:xfrm flipH="1" rot="10800000">
            <a:off x="7786717" y="3106252"/>
            <a:ext cx="320400" cy="183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72" name="Google Shape;13572;p517"/>
          <p:cNvCxnSpPr>
            <a:stCxn id="13565" idx="6"/>
          </p:cNvCxnSpPr>
          <p:nvPr/>
        </p:nvCxnSpPr>
        <p:spPr>
          <a:xfrm>
            <a:off x="7826331" y="4551015"/>
            <a:ext cx="319800" cy="75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573" name="Google Shape;13573;p517"/>
          <p:cNvCxnSpPr>
            <a:stCxn id="13565" idx="5"/>
          </p:cNvCxnSpPr>
          <p:nvPr/>
        </p:nvCxnSpPr>
        <p:spPr>
          <a:xfrm>
            <a:off x="7786922" y="4640853"/>
            <a:ext cx="139500" cy="27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577" name="Shape 1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8" name="Google Shape;13578;p51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579" name="Google Shape;13579;p518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about information complexity?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Low bandwidth ties: Novel but “simple” information 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Who’s hiring? What’s the best messaging app?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But what about novel but complex information?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How to do network analysis in R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 that case higher bandwidth ties are better!</a:t>
            </a:r>
            <a:endParaRPr b="1">
              <a:solidFill>
                <a:srgbClr val="FF0000"/>
              </a:solidFill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3580" name="Google Shape;13580;p518"/>
          <p:cNvSpPr/>
          <p:nvPr/>
        </p:nvSpPr>
        <p:spPr>
          <a:xfrm>
            <a:off x="918850" y="3903079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1" name="Google Shape;13581;p518"/>
          <p:cNvSpPr/>
          <p:nvPr/>
        </p:nvSpPr>
        <p:spPr>
          <a:xfrm>
            <a:off x="1622542" y="331681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2" name="Google Shape;13582;p518"/>
          <p:cNvSpPr/>
          <p:nvPr/>
        </p:nvSpPr>
        <p:spPr>
          <a:xfrm>
            <a:off x="2021356" y="3746222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3" name="Google Shape;13583;p518"/>
          <p:cNvSpPr/>
          <p:nvPr/>
        </p:nvSpPr>
        <p:spPr>
          <a:xfrm>
            <a:off x="2021356" y="4180668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4" name="Google Shape;13584;p518"/>
          <p:cNvSpPr/>
          <p:nvPr/>
        </p:nvSpPr>
        <p:spPr>
          <a:xfrm>
            <a:off x="1622542" y="4489051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585" name="Google Shape;13585;p518"/>
          <p:cNvCxnSpPr>
            <a:stCxn id="13580" idx="7"/>
            <a:endCxn id="13581" idx="3"/>
          </p:cNvCxnSpPr>
          <p:nvPr/>
        </p:nvCxnSpPr>
        <p:spPr>
          <a:xfrm flipH="1" rot="10800000">
            <a:off x="1148541" y="3533791"/>
            <a:ext cx="513300" cy="406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86" name="Google Shape;13586;p518"/>
          <p:cNvCxnSpPr>
            <a:stCxn id="13580" idx="5"/>
            <a:endCxn id="13584" idx="1"/>
          </p:cNvCxnSpPr>
          <p:nvPr/>
        </p:nvCxnSpPr>
        <p:spPr>
          <a:xfrm>
            <a:off x="1148541" y="4119967"/>
            <a:ext cx="513300" cy="4062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87" name="Google Shape;13587;p518"/>
          <p:cNvCxnSpPr>
            <a:stCxn id="13584" idx="7"/>
            <a:endCxn id="13583" idx="3"/>
          </p:cNvCxnSpPr>
          <p:nvPr/>
        </p:nvCxnSpPr>
        <p:spPr>
          <a:xfrm flipH="1" rot="10800000">
            <a:off x="1852233" y="4397563"/>
            <a:ext cx="208500" cy="1287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88" name="Google Shape;13588;p518"/>
          <p:cNvCxnSpPr>
            <a:stCxn id="13583" idx="0"/>
            <a:endCxn id="13582" idx="4"/>
          </p:cNvCxnSpPr>
          <p:nvPr/>
        </p:nvCxnSpPr>
        <p:spPr>
          <a:xfrm rot="10800000">
            <a:off x="2155906" y="4000368"/>
            <a:ext cx="0" cy="1803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89" name="Google Shape;13589;p518"/>
          <p:cNvCxnSpPr>
            <a:stCxn id="13582" idx="0"/>
            <a:endCxn id="13581" idx="5"/>
          </p:cNvCxnSpPr>
          <p:nvPr/>
        </p:nvCxnSpPr>
        <p:spPr>
          <a:xfrm rot="10800000">
            <a:off x="1852306" y="3533822"/>
            <a:ext cx="303600" cy="2124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90" name="Google Shape;13590;p518"/>
          <p:cNvCxnSpPr>
            <a:stCxn id="13584" idx="0"/>
            <a:endCxn id="13581" idx="4"/>
          </p:cNvCxnSpPr>
          <p:nvPr/>
        </p:nvCxnSpPr>
        <p:spPr>
          <a:xfrm rot="10800000">
            <a:off x="1757092" y="3571051"/>
            <a:ext cx="0" cy="9180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91" name="Google Shape;13591;p518"/>
          <p:cNvCxnSpPr>
            <a:stCxn id="13584" idx="0"/>
            <a:endCxn id="13582" idx="3"/>
          </p:cNvCxnSpPr>
          <p:nvPr/>
        </p:nvCxnSpPr>
        <p:spPr>
          <a:xfrm flipH="1" rot="10800000">
            <a:off x="1757092" y="3963151"/>
            <a:ext cx="303600" cy="5259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92" name="Google Shape;13592;p518"/>
          <p:cNvCxnSpPr>
            <a:stCxn id="13583" idx="1"/>
            <a:endCxn id="13581" idx="4"/>
          </p:cNvCxnSpPr>
          <p:nvPr/>
        </p:nvCxnSpPr>
        <p:spPr>
          <a:xfrm rot="10800000">
            <a:off x="1757164" y="3570780"/>
            <a:ext cx="303600" cy="6471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93" name="Google Shape;13593;p518"/>
          <p:cNvCxnSpPr>
            <a:stCxn id="13580" idx="6"/>
            <a:endCxn id="13582" idx="2"/>
          </p:cNvCxnSpPr>
          <p:nvPr/>
        </p:nvCxnSpPr>
        <p:spPr>
          <a:xfrm flipH="1" rot="10800000">
            <a:off x="1187950" y="3873229"/>
            <a:ext cx="833400" cy="1569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594" name="Google Shape;13594;p518"/>
          <p:cNvCxnSpPr>
            <a:stCxn id="13580" idx="6"/>
            <a:endCxn id="13583" idx="2"/>
          </p:cNvCxnSpPr>
          <p:nvPr/>
        </p:nvCxnSpPr>
        <p:spPr>
          <a:xfrm>
            <a:off x="1187950" y="4030129"/>
            <a:ext cx="833400" cy="27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595" name="Google Shape;13595;p518"/>
          <p:cNvSpPr/>
          <p:nvPr/>
        </p:nvSpPr>
        <p:spPr>
          <a:xfrm>
            <a:off x="3941829" y="3792172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6" name="Google Shape;13596;p518"/>
          <p:cNvSpPr/>
          <p:nvPr/>
        </p:nvSpPr>
        <p:spPr>
          <a:xfrm>
            <a:off x="4645521" y="320604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7" name="Google Shape;13597;p518"/>
          <p:cNvSpPr/>
          <p:nvPr/>
        </p:nvSpPr>
        <p:spPr>
          <a:xfrm>
            <a:off x="5044335" y="3635352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8" name="Google Shape;13598;p518"/>
          <p:cNvSpPr/>
          <p:nvPr/>
        </p:nvSpPr>
        <p:spPr>
          <a:xfrm>
            <a:off x="5044335" y="406969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9" name="Google Shape;13599;p518"/>
          <p:cNvSpPr/>
          <p:nvPr/>
        </p:nvSpPr>
        <p:spPr>
          <a:xfrm>
            <a:off x="4645521" y="437800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600" name="Google Shape;13600;p518"/>
          <p:cNvCxnSpPr>
            <a:stCxn id="13595" idx="7"/>
            <a:endCxn id="13596" idx="3"/>
          </p:cNvCxnSpPr>
          <p:nvPr/>
        </p:nvCxnSpPr>
        <p:spPr>
          <a:xfrm flipH="1" rot="10800000">
            <a:off x="4171520" y="3422884"/>
            <a:ext cx="513300" cy="406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01" name="Google Shape;13601;p518"/>
          <p:cNvCxnSpPr>
            <a:stCxn id="13595" idx="5"/>
            <a:endCxn id="13599" idx="1"/>
          </p:cNvCxnSpPr>
          <p:nvPr/>
        </p:nvCxnSpPr>
        <p:spPr>
          <a:xfrm>
            <a:off x="4171520" y="4009060"/>
            <a:ext cx="513300" cy="4062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02" name="Google Shape;13602;p518"/>
          <p:cNvCxnSpPr>
            <a:stCxn id="13598" idx="0"/>
            <a:endCxn id="13597" idx="4"/>
          </p:cNvCxnSpPr>
          <p:nvPr/>
        </p:nvCxnSpPr>
        <p:spPr>
          <a:xfrm rot="10800000">
            <a:off x="5178885" y="3889397"/>
            <a:ext cx="0" cy="1803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03" name="Google Shape;13603;p518"/>
          <p:cNvCxnSpPr>
            <a:stCxn id="13595" idx="6"/>
            <a:endCxn id="13597" idx="2"/>
          </p:cNvCxnSpPr>
          <p:nvPr/>
        </p:nvCxnSpPr>
        <p:spPr>
          <a:xfrm flipH="1" rot="10800000">
            <a:off x="4210929" y="3762322"/>
            <a:ext cx="833400" cy="1569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04" name="Google Shape;13604;p518"/>
          <p:cNvCxnSpPr>
            <a:stCxn id="13595" idx="6"/>
            <a:endCxn id="13598" idx="2"/>
          </p:cNvCxnSpPr>
          <p:nvPr/>
        </p:nvCxnSpPr>
        <p:spPr>
          <a:xfrm>
            <a:off x="4210929" y="3919222"/>
            <a:ext cx="833400" cy="27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05" name="Google Shape;13605;p518"/>
          <p:cNvCxnSpPr/>
          <p:nvPr/>
        </p:nvCxnSpPr>
        <p:spPr>
          <a:xfrm flipH="1" rot="10800000">
            <a:off x="4779947" y="2878820"/>
            <a:ext cx="79200" cy="324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06" name="Google Shape;13606;p518"/>
          <p:cNvCxnSpPr/>
          <p:nvPr/>
        </p:nvCxnSpPr>
        <p:spPr>
          <a:xfrm flipH="1" rot="10800000">
            <a:off x="4875007" y="3060294"/>
            <a:ext cx="320400" cy="183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07" name="Google Shape;13607;p518"/>
          <p:cNvCxnSpPr>
            <a:stCxn id="13599" idx="6"/>
          </p:cNvCxnSpPr>
          <p:nvPr/>
        </p:nvCxnSpPr>
        <p:spPr>
          <a:xfrm>
            <a:off x="4914621" y="4505057"/>
            <a:ext cx="319800" cy="75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08" name="Google Shape;13608;p518"/>
          <p:cNvCxnSpPr>
            <a:stCxn id="13599" idx="5"/>
          </p:cNvCxnSpPr>
          <p:nvPr/>
        </p:nvCxnSpPr>
        <p:spPr>
          <a:xfrm>
            <a:off x="4875213" y="4594895"/>
            <a:ext cx="139500" cy="27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3609" name="Google Shape;13609;p518"/>
          <p:cNvSpPr/>
          <p:nvPr/>
        </p:nvSpPr>
        <p:spPr>
          <a:xfrm>
            <a:off x="6853539" y="3838130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0" name="Google Shape;13610;p518"/>
          <p:cNvSpPr/>
          <p:nvPr/>
        </p:nvSpPr>
        <p:spPr>
          <a:xfrm>
            <a:off x="7557231" y="3252005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1" name="Google Shape;13611;p518"/>
          <p:cNvSpPr/>
          <p:nvPr/>
        </p:nvSpPr>
        <p:spPr>
          <a:xfrm>
            <a:off x="7956044" y="3681310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2" name="Google Shape;13612;p518"/>
          <p:cNvSpPr/>
          <p:nvPr/>
        </p:nvSpPr>
        <p:spPr>
          <a:xfrm>
            <a:off x="7956044" y="4115654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3" name="Google Shape;13613;p518"/>
          <p:cNvSpPr/>
          <p:nvPr/>
        </p:nvSpPr>
        <p:spPr>
          <a:xfrm>
            <a:off x="7557231" y="4423965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614" name="Google Shape;13614;p518"/>
          <p:cNvCxnSpPr>
            <a:stCxn id="13609" idx="7"/>
            <a:endCxn id="13610" idx="3"/>
          </p:cNvCxnSpPr>
          <p:nvPr/>
        </p:nvCxnSpPr>
        <p:spPr>
          <a:xfrm flipH="1" rot="10800000">
            <a:off x="7083230" y="3468842"/>
            <a:ext cx="513300" cy="406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15" name="Google Shape;13615;p518"/>
          <p:cNvCxnSpPr>
            <a:stCxn id="13609" idx="5"/>
            <a:endCxn id="13613" idx="1"/>
          </p:cNvCxnSpPr>
          <p:nvPr/>
        </p:nvCxnSpPr>
        <p:spPr>
          <a:xfrm>
            <a:off x="7083230" y="4055018"/>
            <a:ext cx="513300" cy="4062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16" name="Google Shape;13616;p518"/>
          <p:cNvCxnSpPr>
            <a:stCxn id="13609" idx="6"/>
            <a:endCxn id="13611" idx="2"/>
          </p:cNvCxnSpPr>
          <p:nvPr/>
        </p:nvCxnSpPr>
        <p:spPr>
          <a:xfrm flipH="1" rot="10800000">
            <a:off x="7122639" y="3808280"/>
            <a:ext cx="833400" cy="1569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17" name="Google Shape;13617;p518"/>
          <p:cNvCxnSpPr>
            <a:stCxn id="13609" idx="6"/>
            <a:endCxn id="13612" idx="2"/>
          </p:cNvCxnSpPr>
          <p:nvPr/>
        </p:nvCxnSpPr>
        <p:spPr>
          <a:xfrm>
            <a:off x="7122639" y="3965180"/>
            <a:ext cx="833400" cy="277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18" name="Google Shape;13618;p518"/>
          <p:cNvCxnSpPr/>
          <p:nvPr/>
        </p:nvCxnSpPr>
        <p:spPr>
          <a:xfrm flipH="1" rot="10800000">
            <a:off x="7691656" y="2924778"/>
            <a:ext cx="79200" cy="324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19" name="Google Shape;13619;p518"/>
          <p:cNvCxnSpPr/>
          <p:nvPr/>
        </p:nvCxnSpPr>
        <p:spPr>
          <a:xfrm flipH="1" rot="10800000">
            <a:off x="7786717" y="3106252"/>
            <a:ext cx="320400" cy="183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20" name="Google Shape;13620;p518"/>
          <p:cNvCxnSpPr>
            <a:stCxn id="13613" idx="6"/>
          </p:cNvCxnSpPr>
          <p:nvPr/>
        </p:nvCxnSpPr>
        <p:spPr>
          <a:xfrm>
            <a:off x="7826331" y="4551015"/>
            <a:ext cx="319800" cy="75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21" name="Google Shape;13621;p518"/>
          <p:cNvCxnSpPr>
            <a:stCxn id="13613" idx="5"/>
          </p:cNvCxnSpPr>
          <p:nvPr/>
        </p:nvCxnSpPr>
        <p:spPr>
          <a:xfrm>
            <a:off x="7786922" y="4640853"/>
            <a:ext cx="139500" cy="27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625" name="Shape 13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6" name="Google Shape;13626;p51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627" name="Google Shape;13627;p519"/>
          <p:cNvSpPr txBox="1"/>
          <p:nvPr>
            <p:ph idx="1" type="body"/>
          </p:nvPr>
        </p:nvSpPr>
        <p:spPr>
          <a:xfrm>
            <a:off x="311700" y="1225225"/>
            <a:ext cx="8520600" cy="16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strength of high bandwidth ties: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trust, intimacy, and cooperativeness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Better memory of who knows what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effective at transferring complex, interdependent information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Creating new knowledge (e.g. bringing together rather than keeping apart)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Commonality of interests and experience (homophily) </a:t>
            </a:r>
            <a:endParaRPr/>
          </a:p>
        </p:txBody>
      </p:sp>
      <p:sp>
        <p:nvSpPr>
          <p:cNvPr id="13628" name="Google Shape;13628;p519"/>
          <p:cNvSpPr/>
          <p:nvPr/>
        </p:nvSpPr>
        <p:spPr>
          <a:xfrm>
            <a:off x="918850" y="3903079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9" name="Google Shape;13629;p519"/>
          <p:cNvSpPr/>
          <p:nvPr/>
        </p:nvSpPr>
        <p:spPr>
          <a:xfrm>
            <a:off x="1622542" y="331681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0" name="Google Shape;13630;p519"/>
          <p:cNvSpPr/>
          <p:nvPr/>
        </p:nvSpPr>
        <p:spPr>
          <a:xfrm>
            <a:off x="2021356" y="3746222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1" name="Google Shape;13631;p519"/>
          <p:cNvSpPr/>
          <p:nvPr/>
        </p:nvSpPr>
        <p:spPr>
          <a:xfrm>
            <a:off x="2021356" y="4180668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2" name="Google Shape;13632;p519"/>
          <p:cNvSpPr/>
          <p:nvPr/>
        </p:nvSpPr>
        <p:spPr>
          <a:xfrm>
            <a:off x="1622542" y="4489051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633" name="Google Shape;13633;p519"/>
          <p:cNvCxnSpPr>
            <a:stCxn id="13628" idx="7"/>
            <a:endCxn id="13629" idx="3"/>
          </p:cNvCxnSpPr>
          <p:nvPr/>
        </p:nvCxnSpPr>
        <p:spPr>
          <a:xfrm flipH="1" rot="10800000">
            <a:off x="1148541" y="3533791"/>
            <a:ext cx="513300" cy="406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34" name="Google Shape;13634;p519"/>
          <p:cNvCxnSpPr>
            <a:stCxn id="13628" idx="5"/>
            <a:endCxn id="13632" idx="1"/>
          </p:cNvCxnSpPr>
          <p:nvPr/>
        </p:nvCxnSpPr>
        <p:spPr>
          <a:xfrm>
            <a:off x="1148541" y="4119967"/>
            <a:ext cx="513300" cy="4062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35" name="Google Shape;13635;p519"/>
          <p:cNvCxnSpPr>
            <a:stCxn id="13632" idx="7"/>
            <a:endCxn id="13631" idx="3"/>
          </p:cNvCxnSpPr>
          <p:nvPr/>
        </p:nvCxnSpPr>
        <p:spPr>
          <a:xfrm flipH="1" rot="10800000">
            <a:off x="1852233" y="4397563"/>
            <a:ext cx="208500" cy="1287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36" name="Google Shape;13636;p519"/>
          <p:cNvCxnSpPr>
            <a:stCxn id="13631" idx="0"/>
            <a:endCxn id="13630" idx="4"/>
          </p:cNvCxnSpPr>
          <p:nvPr/>
        </p:nvCxnSpPr>
        <p:spPr>
          <a:xfrm rot="10800000">
            <a:off x="2155906" y="4000368"/>
            <a:ext cx="0" cy="1803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37" name="Google Shape;13637;p519"/>
          <p:cNvCxnSpPr>
            <a:stCxn id="13630" idx="0"/>
            <a:endCxn id="13629" idx="5"/>
          </p:cNvCxnSpPr>
          <p:nvPr/>
        </p:nvCxnSpPr>
        <p:spPr>
          <a:xfrm rot="10800000">
            <a:off x="1852306" y="3533822"/>
            <a:ext cx="303600" cy="2124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38" name="Google Shape;13638;p519"/>
          <p:cNvCxnSpPr>
            <a:stCxn id="13632" idx="0"/>
            <a:endCxn id="13629" idx="4"/>
          </p:cNvCxnSpPr>
          <p:nvPr/>
        </p:nvCxnSpPr>
        <p:spPr>
          <a:xfrm rot="10800000">
            <a:off x="1757092" y="3571051"/>
            <a:ext cx="0" cy="9180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39" name="Google Shape;13639;p519"/>
          <p:cNvCxnSpPr>
            <a:stCxn id="13632" idx="0"/>
            <a:endCxn id="13630" idx="3"/>
          </p:cNvCxnSpPr>
          <p:nvPr/>
        </p:nvCxnSpPr>
        <p:spPr>
          <a:xfrm flipH="1" rot="10800000">
            <a:off x="1757092" y="3963151"/>
            <a:ext cx="303600" cy="5259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40" name="Google Shape;13640;p519"/>
          <p:cNvCxnSpPr>
            <a:stCxn id="13631" idx="1"/>
            <a:endCxn id="13629" idx="4"/>
          </p:cNvCxnSpPr>
          <p:nvPr/>
        </p:nvCxnSpPr>
        <p:spPr>
          <a:xfrm rot="10800000">
            <a:off x="1757164" y="3570780"/>
            <a:ext cx="303600" cy="6471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41" name="Google Shape;13641;p519"/>
          <p:cNvCxnSpPr>
            <a:stCxn id="13628" idx="6"/>
            <a:endCxn id="13630" idx="2"/>
          </p:cNvCxnSpPr>
          <p:nvPr/>
        </p:nvCxnSpPr>
        <p:spPr>
          <a:xfrm flipH="1" rot="10800000">
            <a:off x="1187950" y="3873229"/>
            <a:ext cx="833400" cy="1569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42" name="Google Shape;13642;p519"/>
          <p:cNvCxnSpPr>
            <a:stCxn id="13628" idx="6"/>
            <a:endCxn id="13631" idx="2"/>
          </p:cNvCxnSpPr>
          <p:nvPr/>
        </p:nvCxnSpPr>
        <p:spPr>
          <a:xfrm>
            <a:off x="1187950" y="4030129"/>
            <a:ext cx="833400" cy="27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643" name="Google Shape;13643;p519"/>
          <p:cNvSpPr/>
          <p:nvPr/>
        </p:nvSpPr>
        <p:spPr>
          <a:xfrm>
            <a:off x="3941829" y="3792172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4" name="Google Shape;13644;p519"/>
          <p:cNvSpPr/>
          <p:nvPr/>
        </p:nvSpPr>
        <p:spPr>
          <a:xfrm>
            <a:off x="4645521" y="320604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5" name="Google Shape;13645;p519"/>
          <p:cNvSpPr/>
          <p:nvPr/>
        </p:nvSpPr>
        <p:spPr>
          <a:xfrm>
            <a:off x="5044335" y="3635352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6" name="Google Shape;13646;p519"/>
          <p:cNvSpPr/>
          <p:nvPr/>
        </p:nvSpPr>
        <p:spPr>
          <a:xfrm>
            <a:off x="5044335" y="406969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7" name="Google Shape;13647;p519"/>
          <p:cNvSpPr/>
          <p:nvPr/>
        </p:nvSpPr>
        <p:spPr>
          <a:xfrm>
            <a:off x="4645521" y="4378007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648" name="Google Shape;13648;p519"/>
          <p:cNvCxnSpPr>
            <a:stCxn id="13643" idx="7"/>
            <a:endCxn id="13644" idx="3"/>
          </p:cNvCxnSpPr>
          <p:nvPr/>
        </p:nvCxnSpPr>
        <p:spPr>
          <a:xfrm flipH="1" rot="10800000">
            <a:off x="4171520" y="3422884"/>
            <a:ext cx="513300" cy="406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49" name="Google Shape;13649;p519"/>
          <p:cNvCxnSpPr>
            <a:stCxn id="13643" idx="5"/>
            <a:endCxn id="13647" idx="1"/>
          </p:cNvCxnSpPr>
          <p:nvPr/>
        </p:nvCxnSpPr>
        <p:spPr>
          <a:xfrm>
            <a:off x="4171520" y="4009060"/>
            <a:ext cx="513300" cy="4062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50" name="Google Shape;13650;p519"/>
          <p:cNvCxnSpPr>
            <a:stCxn id="13646" idx="0"/>
            <a:endCxn id="13645" idx="4"/>
          </p:cNvCxnSpPr>
          <p:nvPr/>
        </p:nvCxnSpPr>
        <p:spPr>
          <a:xfrm rot="10800000">
            <a:off x="5178885" y="3889397"/>
            <a:ext cx="0" cy="1803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51" name="Google Shape;13651;p519"/>
          <p:cNvCxnSpPr>
            <a:stCxn id="13643" idx="6"/>
            <a:endCxn id="13645" idx="2"/>
          </p:cNvCxnSpPr>
          <p:nvPr/>
        </p:nvCxnSpPr>
        <p:spPr>
          <a:xfrm flipH="1" rot="10800000">
            <a:off x="4210929" y="3762322"/>
            <a:ext cx="833400" cy="1569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52" name="Google Shape;13652;p519"/>
          <p:cNvCxnSpPr>
            <a:stCxn id="13643" idx="6"/>
            <a:endCxn id="13646" idx="2"/>
          </p:cNvCxnSpPr>
          <p:nvPr/>
        </p:nvCxnSpPr>
        <p:spPr>
          <a:xfrm>
            <a:off x="4210929" y="3919222"/>
            <a:ext cx="833400" cy="27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53" name="Google Shape;13653;p519"/>
          <p:cNvCxnSpPr/>
          <p:nvPr/>
        </p:nvCxnSpPr>
        <p:spPr>
          <a:xfrm flipH="1" rot="10800000">
            <a:off x="4779947" y="2878820"/>
            <a:ext cx="79200" cy="324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54" name="Google Shape;13654;p519"/>
          <p:cNvCxnSpPr/>
          <p:nvPr/>
        </p:nvCxnSpPr>
        <p:spPr>
          <a:xfrm flipH="1" rot="10800000">
            <a:off x="4875007" y="3060294"/>
            <a:ext cx="320400" cy="183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55" name="Google Shape;13655;p519"/>
          <p:cNvCxnSpPr>
            <a:stCxn id="13647" idx="6"/>
          </p:cNvCxnSpPr>
          <p:nvPr/>
        </p:nvCxnSpPr>
        <p:spPr>
          <a:xfrm>
            <a:off x="4914621" y="4505057"/>
            <a:ext cx="319800" cy="75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56" name="Google Shape;13656;p519"/>
          <p:cNvCxnSpPr>
            <a:stCxn id="13647" idx="5"/>
          </p:cNvCxnSpPr>
          <p:nvPr/>
        </p:nvCxnSpPr>
        <p:spPr>
          <a:xfrm>
            <a:off x="4875213" y="4594895"/>
            <a:ext cx="139500" cy="27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sp>
        <p:nvSpPr>
          <p:cNvPr id="13657" name="Google Shape;13657;p519"/>
          <p:cNvSpPr/>
          <p:nvPr/>
        </p:nvSpPr>
        <p:spPr>
          <a:xfrm>
            <a:off x="6853539" y="3838130"/>
            <a:ext cx="269100" cy="254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8" name="Google Shape;13658;p519"/>
          <p:cNvSpPr/>
          <p:nvPr/>
        </p:nvSpPr>
        <p:spPr>
          <a:xfrm>
            <a:off x="7557231" y="3252005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9" name="Google Shape;13659;p519"/>
          <p:cNvSpPr/>
          <p:nvPr/>
        </p:nvSpPr>
        <p:spPr>
          <a:xfrm>
            <a:off x="7956044" y="3681310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0" name="Google Shape;13660;p519"/>
          <p:cNvSpPr/>
          <p:nvPr/>
        </p:nvSpPr>
        <p:spPr>
          <a:xfrm>
            <a:off x="7956044" y="4115654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1" name="Google Shape;13661;p519"/>
          <p:cNvSpPr/>
          <p:nvPr/>
        </p:nvSpPr>
        <p:spPr>
          <a:xfrm>
            <a:off x="7557231" y="4423965"/>
            <a:ext cx="269100" cy="254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662" name="Google Shape;13662;p519"/>
          <p:cNvCxnSpPr>
            <a:stCxn id="13657" idx="7"/>
            <a:endCxn id="13658" idx="3"/>
          </p:cNvCxnSpPr>
          <p:nvPr/>
        </p:nvCxnSpPr>
        <p:spPr>
          <a:xfrm flipH="1" rot="10800000">
            <a:off x="7083230" y="3468842"/>
            <a:ext cx="513300" cy="406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63" name="Google Shape;13663;p519"/>
          <p:cNvCxnSpPr>
            <a:stCxn id="13657" idx="5"/>
            <a:endCxn id="13661" idx="1"/>
          </p:cNvCxnSpPr>
          <p:nvPr/>
        </p:nvCxnSpPr>
        <p:spPr>
          <a:xfrm>
            <a:off x="7083230" y="4055018"/>
            <a:ext cx="513300" cy="4062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64" name="Google Shape;13664;p519"/>
          <p:cNvCxnSpPr>
            <a:stCxn id="13657" idx="6"/>
            <a:endCxn id="13659" idx="2"/>
          </p:cNvCxnSpPr>
          <p:nvPr/>
        </p:nvCxnSpPr>
        <p:spPr>
          <a:xfrm flipH="1" rot="10800000">
            <a:off x="7122639" y="3808280"/>
            <a:ext cx="833400" cy="1569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65" name="Google Shape;13665;p519"/>
          <p:cNvCxnSpPr>
            <a:stCxn id="13657" idx="6"/>
            <a:endCxn id="13660" idx="2"/>
          </p:cNvCxnSpPr>
          <p:nvPr/>
        </p:nvCxnSpPr>
        <p:spPr>
          <a:xfrm>
            <a:off x="7122639" y="3965180"/>
            <a:ext cx="833400" cy="277500"/>
          </a:xfrm>
          <a:prstGeom prst="straightConnector1">
            <a:avLst/>
          </a:prstGeom>
          <a:noFill/>
          <a:ln cap="flat" cmpd="sng" w="19050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66" name="Google Shape;13666;p519"/>
          <p:cNvCxnSpPr/>
          <p:nvPr/>
        </p:nvCxnSpPr>
        <p:spPr>
          <a:xfrm flipH="1" rot="10800000">
            <a:off x="7691656" y="2924778"/>
            <a:ext cx="79200" cy="324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67" name="Google Shape;13667;p519"/>
          <p:cNvCxnSpPr/>
          <p:nvPr/>
        </p:nvCxnSpPr>
        <p:spPr>
          <a:xfrm flipH="1" rot="10800000">
            <a:off x="7786717" y="3106252"/>
            <a:ext cx="320400" cy="1830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68" name="Google Shape;13668;p519"/>
          <p:cNvCxnSpPr>
            <a:stCxn id="13661" idx="6"/>
          </p:cNvCxnSpPr>
          <p:nvPr/>
        </p:nvCxnSpPr>
        <p:spPr>
          <a:xfrm>
            <a:off x="7826331" y="4551015"/>
            <a:ext cx="319800" cy="756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  <p:cxnSp>
        <p:nvCxnSpPr>
          <p:cNvPr id="13669" name="Google Shape;13669;p519"/>
          <p:cNvCxnSpPr>
            <a:stCxn id="13661" idx="5"/>
          </p:cNvCxnSpPr>
          <p:nvPr/>
        </p:nvCxnSpPr>
        <p:spPr>
          <a:xfrm>
            <a:off x="7786922" y="4640853"/>
            <a:ext cx="139500" cy="272700"/>
          </a:xfrm>
          <a:prstGeom prst="straightConnector1">
            <a:avLst/>
          </a:prstGeom>
          <a:noFill/>
          <a:ln cap="flat" cmpd="sng" w="19050">
            <a:solidFill>
              <a:srgbClr val="B7B7B7"/>
            </a:solidFill>
            <a:prstDash val="dash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673" name="Shape 13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74" name="Google Shape;13674;p52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675" name="Google Shape;13675;p520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In thinking about preferences between low and high bandwidth ties we must take into account properties of the information environment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Who knows what?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At what frequency is knowledge transmitted?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Low bandwidth works better when contacts are diverse in information </a:t>
            </a:r>
            <a:endParaRPr/>
          </a:p>
        </p:txBody>
      </p:sp>
      <p:sp>
        <p:nvSpPr>
          <p:cNvPr id="13676" name="Google Shape;13676;p520"/>
          <p:cNvSpPr/>
          <p:nvPr/>
        </p:nvSpPr>
        <p:spPr>
          <a:xfrm>
            <a:off x="1011888" y="3759155"/>
            <a:ext cx="322200" cy="305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7" name="Google Shape;13677;p520"/>
          <p:cNvSpPr/>
          <p:nvPr/>
        </p:nvSpPr>
        <p:spPr>
          <a:xfrm>
            <a:off x="1855421" y="3055866"/>
            <a:ext cx="322200" cy="305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8" name="Google Shape;13678;p520"/>
          <p:cNvSpPr/>
          <p:nvPr/>
        </p:nvSpPr>
        <p:spPr>
          <a:xfrm>
            <a:off x="1855421" y="4462095"/>
            <a:ext cx="322200" cy="305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679" name="Google Shape;13679;p520"/>
          <p:cNvCxnSpPr>
            <a:stCxn id="13676" idx="7"/>
            <a:endCxn id="13677" idx="3"/>
          </p:cNvCxnSpPr>
          <p:nvPr/>
        </p:nvCxnSpPr>
        <p:spPr>
          <a:xfrm flipH="1" rot="10800000">
            <a:off x="1286902" y="3316336"/>
            <a:ext cx="615600" cy="4875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680" name="Google Shape;13680;p520"/>
          <p:cNvCxnSpPr>
            <a:stCxn id="13676" idx="5"/>
            <a:endCxn id="13678" idx="1"/>
          </p:cNvCxnSpPr>
          <p:nvPr/>
        </p:nvCxnSpPr>
        <p:spPr>
          <a:xfrm>
            <a:off x="1286902" y="4019574"/>
            <a:ext cx="615600" cy="4872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681" name="Google Shape;13681;p520"/>
          <p:cNvSpPr/>
          <p:nvPr/>
        </p:nvSpPr>
        <p:spPr>
          <a:xfrm>
            <a:off x="2248627" y="2997400"/>
            <a:ext cx="1306800" cy="4224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99999"/>
                </a:solidFill>
              </a:rPr>
              <a:t>1, 2, 3, 4</a:t>
            </a:r>
            <a:endParaRPr sz="1800">
              <a:solidFill>
                <a:srgbClr val="999999"/>
              </a:solidFill>
            </a:endParaRPr>
          </a:p>
        </p:txBody>
      </p:sp>
      <p:sp>
        <p:nvSpPr>
          <p:cNvPr id="13682" name="Google Shape;13682;p520"/>
          <p:cNvSpPr/>
          <p:nvPr/>
        </p:nvSpPr>
        <p:spPr>
          <a:xfrm>
            <a:off x="2248627" y="4403623"/>
            <a:ext cx="1306800" cy="4224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99999"/>
                </a:solidFill>
              </a:rPr>
              <a:t>5, 6, 7, 8</a:t>
            </a:r>
            <a:endParaRPr sz="1800">
              <a:solidFill>
                <a:srgbClr val="999999"/>
              </a:solidFill>
            </a:endParaRPr>
          </a:p>
        </p:txBody>
      </p:sp>
      <p:sp>
        <p:nvSpPr>
          <p:cNvPr id="13683" name="Google Shape;13683;p520"/>
          <p:cNvSpPr/>
          <p:nvPr/>
        </p:nvSpPr>
        <p:spPr>
          <a:xfrm>
            <a:off x="5588567" y="3759335"/>
            <a:ext cx="322200" cy="3051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4" name="Google Shape;13684;p520"/>
          <p:cNvSpPr/>
          <p:nvPr/>
        </p:nvSpPr>
        <p:spPr>
          <a:xfrm>
            <a:off x="6432100" y="3056046"/>
            <a:ext cx="322200" cy="305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5" name="Google Shape;13685;p520"/>
          <p:cNvSpPr/>
          <p:nvPr/>
        </p:nvSpPr>
        <p:spPr>
          <a:xfrm>
            <a:off x="6432100" y="4462275"/>
            <a:ext cx="322200" cy="3051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686" name="Google Shape;13686;p520"/>
          <p:cNvCxnSpPr>
            <a:stCxn id="13683" idx="7"/>
            <a:endCxn id="13684" idx="3"/>
          </p:cNvCxnSpPr>
          <p:nvPr/>
        </p:nvCxnSpPr>
        <p:spPr>
          <a:xfrm flipH="1" rot="10800000">
            <a:off x="5863582" y="3316516"/>
            <a:ext cx="615600" cy="4875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687" name="Google Shape;13687;p520"/>
          <p:cNvCxnSpPr>
            <a:stCxn id="13683" idx="5"/>
            <a:endCxn id="13685" idx="1"/>
          </p:cNvCxnSpPr>
          <p:nvPr/>
        </p:nvCxnSpPr>
        <p:spPr>
          <a:xfrm>
            <a:off x="5863582" y="4019754"/>
            <a:ext cx="615600" cy="4872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688" name="Google Shape;13688;p520"/>
          <p:cNvSpPr/>
          <p:nvPr/>
        </p:nvSpPr>
        <p:spPr>
          <a:xfrm>
            <a:off x="6825307" y="2997580"/>
            <a:ext cx="1306800" cy="4224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99999"/>
                </a:solidFill>
              </a:rPr>
              <a:t>1, 2, 3, 4</a:t>
            </a:r>
            <a:endParaRPr sz="1800">
              <a:solidFill>
                <a:srgbClr val="999999"/>
              </a:solidFill>
            </a:endParaRPr>
          </a:p>
        </p:txBody>
      </p:sp>
      <p:sp>
        <p:nvSpPr>
          <p:cNvPr id="13689" name="Google Shape;13689;p520"/>
          <p:cNvSpPr/>
          <p:nvPr/>
        </p:nvSpPr>
        <p:spPr>
          <a:xfrm>
            <a:off x="6825307" y="4403804"/>
            <a:ext cx="1306800" cy="4224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99999"/>
                </a:solidFill>
              </a:rPr>
              <a:t>1, 2, 3, 4</a:t>
            </a:r>
            <a:endParaRPr sz="1800">
              <a:solidFill>
                <a:srgbClr val="999999"/>
              </a:solidFill>
            </a:endParaRPr>
          </a:p>
        </p:txBody>
      </p:sp>
      <p:cxnSp>
        <p:nvCxnSpPr>
          <p:cNvPr id="13690" name="Google Shape;13690;p520"/>
          <p:cNvCxnSpPr>
            <a:stCxn id="13685" idx="0"/>
            <a:endCxn id="13684" idx="4"/>
          </p:cNvCxnSpPr>
          <p:nvPr/>
        </p:nvCxnSpPr>
        <p:spPr>
          <a:xfrm rot="10800000">
            <a:off x="6593200" y="3361275"/>
            <a:ext cx="0" cy="11010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694" name="Shape 13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5" name="Google Shape;13695;p52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696" name="Google Shape;13696;p521"/>
          <p:cNvSpPr/>
          <p:nvPr/>
        </p:nvSpPr>
        <p:spPr>
          <a:xfrm>
            <a:off x="341313" y="2201513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7" name="Google Shape;13697;p521"/>
          <p:cNvSpPr/>
          <p:nvPr/>
        </p:nvSpPr>
        <p:spPr>
          <a:xfrm>
            <a:off x="1335137" y="1371617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8" name="Google Shape;13698;p521"/>
          <p:cNvSpPr/>
          <p:nvPr/>
        </p:nvSpPr>
        <p:spPr>
          <a:xfrm>
            <a:off x="1335137" y="3030998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699" name="Google Shape;13699;p521"/>
          <p:cNvCxnSpPr>
            <a:stCxn id="13696" idx="7"/>
            <a:endCxn id="13697" idx="3"/>
          </p:cNvCxnSpPr>
          <p:nvPr/>
        </p:nvCxnSpPr>
        <p:spPr>
          <a:xfrm flipH="1" rot="10800000">
            <a:off x="665492" y="1678833"/>
            <a:ext cx="725400" cy="5754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700" name="Google Shape;13700;p521"/>
          <p:cNvCxnSpPr>
            <a:stCxn id="13696" idx="5"/>
            <a:endCxn id="13698" idx="1"/>
          </p:cNvCxnSpPr>
          <p:nvPr/>
        </p:nvCxnSpPr>
        <p:spPr>
          <a:xfrm>
            <a:off x="665492" y="2508792"/>
            <a:ext cx="725400" cy="5748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701" name="Google Shape;13701;p521"/>
          <p:cNvSpPr/>
          <p:nvPr/>
        </p:nvSpPr>
        <p:spPr>
          <a:xfrm>
            <a:off x="1798400" y="1302625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702" name="Google Shape;13702;p521"/>
          <p:cNvSpPr/>
          <p:nvPr/>
        </p:nvSpPr>
        <p:spPr>
          <a:xfrm>
            <a:off x="1798400" y="2962000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5, 6, 7, 8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703" name="Google Shape;13703;p521"/>
          <p:cNvSpPr/>
          <p:nvPr/>
        </p:nvSpPr>
        <p:spPr>
          <a:xfrm>
            <a:off x="5733413" y="2201725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4" name="Google Shape;13704;p521"/>
          <p:cNvSpPr/>
          <p:nvPr/>
        </p:nvSpPr>
        <p:spPr>
          <a:xfrm>
            <a:off x="6727237" y="1371829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5" name="Google Shape;13705;p521"/>
          <p:cNvSpPr/>
          <p:nvPr/>
        </p:nvSpPr>
        <p:spPr>
          <a:xfrm>
            <a:off x="6727237" y="3031210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06" name="Google Shape;13706;p521"/>
          <p:cNvCxnSpPr>
            <a:stCxn id="13703" idx="7"/>
            <a:endCxn id="13704" idx="3"/>
          </p:cNvCxnSpPr>
          <p:nvPr/>
        </p:nvCxnSpPr>
        <p:spPr>
          <a:xfrm flipH="1" rot="10800000">
            <a:off x="6057592" y="1679046"/>
            <a:ext cx="725400" cy="5754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707" name="Google Shape;13707;p521"/>
          <p:cNvCxnSpPr>
            <a:stCxn id="13703" idx="5"/>
            <a:endCxn id="13705" idx="1"/>
          </p:cNvCxnSpPr>
          <p:nvPr/>
        </p:nvCxnSpPr>
        <p:spPr>
          <a:xfrm>
            <a:off x="6057592" y="2509004"/>
            <a:ext cx="725400" cy="5748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708" name="Google Shape;13708;p521"/>
          <p:cNvSpPr/>
          <p:nvPr/>
        </p:nvSpPr>
        <p:spPr>
          <a:xfrm>
            <a:off x="7190500" y="1302838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709" name="Google Shape;13709;p521"/>
          <p:cNvSpPr/>
          <p:nvPr/>
        </p:nvSpPr>
        <p:spPr>
          <a:xfrm>
            <a:off x="7190500" y="2962213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cxnSp>
        <p:nvCxnSpPr>
          <p:cNvPr id="13710" name="Google Shape;13710;p521"/>
          <p:cNvCxnSpPr>
            <a:stCxn id="13705" idx="0"/>
            <a:endCxn id="13704" idx="4"/>
          </p:cNvCxnSpPr>
          <p:nvPr/>
        </p:nvCxnSpPr>
        <p:spPr>
          <a:xfrm rot="10800000">
            <a:off x="6917137" y="1731910"/>
            <a:ext cx="0" cy="12993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711" name="Google Shape;13711;p521"/>
          <p:cNvSpPr txBox="1"/>
          <p:nvPr/>
        </p:nvSpPr>
        <p:spPr>
          <a:xfrm>
            <a:off x="4179725" y="2093825"/>
            <a:ext cx="1059900" cy="57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This is better!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712" name="Google Shape;13712;p521"/>
          <p:cNvSpPr txBox="1"/>
          <p:nvPr>
            <p:ph idx="1" type="body"/>
          </p:nvPr>
        </p:nvSpPr>
        <p:spPr>
          <a:xfrm>
            <a:off x="311700" y="3705575"/>
            <a:ext cx="8520600" cy="11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When your contacts have diverse pools of information (different people you know different things)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Weak low bandwidth ties are better</a:t>
            </a:r>
            <a:endParaRPr/>
          </a:p>
        </p:txBody>
      </p:sp>
      <p:cxnSp>
        <p:nvCxnSpPr>
          <p:cNvPr id="13713" name="Google Shape;13713;p521"/>
          <p:cNvCxnSpPr>
            <a:stCxn id="13711" idx="1"/>
          </p:cNvCxnSpPr>
          <p:nvPr/>
        </p:nvCxnSpPr>
        <p:spPr>
          <a:xfrm rot="10800000">
            <a:off x="3419225" y="2375525"/>
            <a:ext cx="760500" cy="6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717" name="Shape 13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18" name="Google Shape;13718;p52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719" name="Google Shape;13719;p522"/>
          <p:cNvSpPr/>
          <p:nvPr/>
        </p:nvSpPr>
        <p:spPr>
          <a:xfrm>
            <a:off x="341313" y="2201513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0" name="Google Shape;13720;p522"/>
          <p:cNvSpPr/>
          <p:nvPr/>
        </p:nvSpPr>
        <p:spPr>
          <a:xfrm>
            <a:off x="1335137" y="1371617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1" name="Google Shape;13721;p522"/>
          <p:cNvSpPr/>
          <p:nvPr/>
        </p:nvSpPr>
        <p:spPr>
          <a:xfrm>
            <a:off x="1335137" y="3030998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22" name="Google Shape;13722;p522"/>
          <p:cNvCxnSpPr>
            <a:stCxn id="13719" idx="7"/>
            <a:endCxn id="13720" idx="3"/>
          </p:cNvCxnSpPr>
          <p:nvPr/>
        </p:nvCxnSpPr>
        <p:spPr>
          <a:xfrm flipH="1" rot="10800000">
            <a:off x="665492" y="1678833"/>
            <a:ext cx="725400" cy="5754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723" name="Google Shape;13723;p522"/>
          <p:cNvCxnSpPr>
            <a:stCxn id="13719" idx="5"/>
            <a:endCxn id="13721" idx="1"/>
          </p:cNvCxnSpPr>
          <p:nvPr/>
        </p:nvCxnSpPr>
        <p:spPr>
          <a:xfrm>
            <a:off x="665492" y="2508792"/>
            <a:ext cx="725400" cy="5748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724" name="Google Shape;13724;p522"/>
          <p:cNvSpPr/>
          <p:nvPr/>
        </p:nvSpPr>
        <p:spPr>
          <a:xfrm>
            <a:off x="1798400" y="1302625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725" name="Google Shape;13725;p522"/>
          <p:cNvSpPr/>
          <p:nvPr/>
        </p:nvSpPr>
        <p:spPr>
          <a:xfrm>
            <a:off x="1798400" y="2962000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5, 6, 7, 8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726" name="Google Shape;13726;p522"/>
          <p:cNvSpPr/>
          <p:nvPr/>
        </p:nvSpPr>
        <p:spPr>
          <a:xfrm>
            <a:off x="5733413" y="2201725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7" name="Google Shape;13727;p522"/>
          <p:cNvSpPr/>
          <p:nvPr/>
        </p:nvSpPr>
        <p:spPr>
          <a:xfrm>
            <a:off x="6727237" y="1371829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8" name="Google Shape;13728;p522"/>
          <p:cNvSpPr/>
          <p:nvPr/>
        </p:nvSpPr>
        <p:spPr>
          <a:xfrm>
            <a:off x="6727237" y="3031210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29" name="Google Shape;13729;p522"/>
          <p:cNvCxnSpPr>
            <a:stCxn id="13726" idx="7"/>
            <a:endCxn id="13727" idx="3"/>
          </p:cNvCxnSpPr>
          <p:nvPr/>
        </p:nvCxnSpPr>
        <p:spPr>
          <a:xfrm flipH="1" rot="10800000">
            <a:off x="6057592" y="1679046"/>
            <a:ext cx="725400" cy="5754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730" name="Google Shape;13730;p522"/>
          <p:cNvCxnSpPr>
            <a:stCxn id="13726" idx="5"/>
            <a:endCxn id="13728" idx="1"/>
          </p:cNvCxnSpPr>
          <p:nvPr/>
        </p:nvCxnSpPr>
        <p:spPr>
          <a:xfrm>
            <a:off x="6057592" y="2509004"/>
            <a:ext cx="725400" cy="5748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731" name="Google Shape;13731;p522"/>
          <p:cNvSpPr/>
          <p:nvPr/>
        </p:nvSpPr>
        <p:spPr>
          <a:xfrm>
            <a:off x="7190500" y="1302838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732" name="Google Shape;13732;p522"/>
          <p:cNvSpPr/>
          <p:nvPr/>
        </p:nvSpPr>
        <p:spPr>
          <a:xfrm>
            <a:off x="7190500" y="2962213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cxnSp>
        <p:nvCxnSpPr>
          <p:cNvPr id="13733" name="Google Shape;13733;p522"/>
          <p:cNvCxnSpPr>
            <a:stCxn id="13728" idx="0"/>
            <a:endCxn id="13727" idx="4"/>
          </p:cNvCxnSpPr>
          <p:nvPr/>
        </p:nvCxnSpPr>
        <p:spPr>
          <a:xfrm rot="10800000">
            <a:off x="6917137" y="1731910"/>
            <a:ext cx="0" cy="12993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734" name="Google Shape;13734;p522"/>
          <p:cNvSpPr txBox="1"/>
          <p:nvPr>
            <p:ph idx="1" type="body"/>
          </p:nvPr>
        </p:nvSpPr>
        <p:spPr>
          <a:xfrm>
            <a:off x="311700" y="3705575"/>
            <a:ext cx="8520600" cy="11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When your contacts do not have diverse pools information (the people you know all know the same thing because they talk to one another)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Strong, high-bandwidth ties just give you the same information</a:t>
            </a:r>
            <a:endParaRPr/>
          </a:p>
        </p:txBody>
      </p:sp>
      <p:sp>
        <p:nvSpPr>
          <p:cNvPr id="13735" name="Google Shape;13735;p522"/>
          <p:cNvSpPr txBox="1"/>
          <p:nvPr/>
        </p:nvSpPr>
        <p:spPr>
          <a:xfrm>
            <a:off x="3655950" y="2093600"/>
            <a:ext cx="1273500" cy="57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This is redundant!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3736" name="Google Shape;13736;p522"/>
          <p:cNvCxnSpPr>
            <a:stCxn id="13735" idx="3"/>
          </p:cNvCxnSpPr>
          <p:nvPr/>
        </p:nvCxnSpPr>
        <p:spPr>
          <a:xfrm>
            <a:off x="4929450" y="2381300"/>
            <a:ext cx="672900" cy="9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740" name="Shape 13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1" name="Google Shape;13741;p52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742" name="Google Shape;13742;p523"/>
          <p:cNvSpPr txBox="1"/>
          <p:nvPr>
            <p:ph idx="1" type="body"/>
          </p:nvPr>
        </p:nvSpPr>
        <p:spPr>
          <a:xfrm>
            <a:off x="311700" y="1225225"/>
            <a:ext cx="8520600" cy="155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In thinking about preferences between low and high bandwidth ties we have to consider properties of the information environment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Who knows what?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At what frequency is knowledge transmitted?</a:t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3743" name="Google Shape;13743;p523"/>
          <p:cNvSpPr/>
          <p:nvPr/>
        </p:nvSpPr>
        <p:spPr>
          <a:xfrm>
            <a:off x="160988" y="3386077"/>
            <a:ext cx="242100" cy="2286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4" name="Google Shape;13744;p523"/>
          <p:cNvSpPr/>
          <p:nvPr/>
        </p:nvSpPr>
        <p:spPr>
          <a:xfrm>
            <a:off x="794696" y="2858612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5" name="Google Shape;13745;p523"/>
          <p:cNvSpPr/>
          <p:nvPr/>
        </p:nvSpPr>
        <p:spPr>
          <a:xfrm>
            <a:off x="794696" y="3913281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46" name="Google Shape;13746;p523"/>
          <p:cNvCxnSpPr>
            <a:stCxn id="13743" idx="7"/>
            <a:endCxn id="13744" idx="3"/>
          </p:cNvCxnSpPr>
          <p:nvPr/>
        </p:nvCxnSpPr>
        <p:spPr>
          <a:xfrm flipH="1" rot="10800000">
            <a:off x="367633" y="3053855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747" name="Google Shape;13747;p523"/>
          <p:cNvCxnSpPr>
            <a:stCxn id="13743" idx="5"/>
            <a:endCxn id="13745" idx="1"/>
          </p:cNvCxnSpPr>
          <p:nvPr/>
        </p:nvCxnSpPr>
        <p:spPr>
          <a:xfrm>
            <a:off x="367633" y="3581199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748" name="Google Shape;13748;p523"/>
          <p:cNvSpPr/>
          <p:nvPr/>
        </p:nvSpPr>
        <p:spPr>
          <a:xfrm>
            <a:off x="1090094" y="2814763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1, 2, 3, 4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49" name="Google Shape;13749;p523"/>
          <p:cNvSpPr/>
          <p:nvPr/>
        </p:nvSpPr>
        <p:spPr>
          <a:xfrm>
            <a:off x="1090094" y="3869427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5, 6, 7, 8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50" name="Google Shape;13750;p523"/>
          <p:cNvSpPr/>
          <p:nvPr/>
        </p:nvSpPr>
        <p:spPr>
          <a:xfrm>
            <a:off x="3465788" y="3386177"/>
            <a:ext cx="242100" cy="2286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1" name="Google Shape;13751;p523"/>
          <p:cNvSpPr/>
          <p:nvPr/>
        </p:nvSpPr>
        <p:spPr>
          <a:xfrm>
            <a:off x="4099496" y="2858712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2" name="Google Shape;13752;p523"/>
          <p:cNvSpPr/>
          <p:nvPr/>
        </p:nvSpPr>
        <p:spPr>
          <a:xfrm>
            <a:off x="4099496" y="3913381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53" name="Google Shape;13753;p523"/>
          <p:cNvCxnSpPr>
            <a:stCxn id="13750" idx="7"/>
            <a:endCxn id="13751" idx="3"/>
          </p:cNvCxnSpPr>
          <p:nvPr/>
        </p:nvCxnSpPr>
        <p:spPr>
          <a:xfrm flipH="1" rot="10800000">
            <a:off x="3672433" y="3053955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754" name="Google Shape;13754;p523"/>
          <p:cNvCxnSpPr>
            <a:stCxn id="13750" idx="5"/>
            <a:endCxn id="13752" idx="1"/>
          </p:cNvCxnSpPr>
          <p:nvPr/>
        </p:nvCxnSpPr>
        <p:spPr>
          <a:xfrm>
            <a:off x="3672433" y="3581299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755" name="Google Shape;13755;p523"/>
          <p:cNvSpPr/>
          <p:nvPr/>
        </p:nvSpPr>
        <p:spPr>
          <a:xfrm>
            <a:off x="4394894" y="2814863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1, 2, 3, 4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56" name="Google Shape;13756;p523"/>
          <p:cNvSpPr/>
          <p:nvPr/>
        </p:nvSpPr>
        <p:spPr>
          <a:xfrm>
            <a:off x="4394894" y="3869527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1, 2, 7, 8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57" name="Google Shape;13757;p523"/>
          <p:cNvSpPr/>
          <p:nvPr/>
        </p:nvSpPr>
        <p:spPr>
          <a:xfrm>
            <a:off x="6770638" y="3386052"/>
            <a:ext cx="242100" cy="2286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8" name="Google Shape;13758;p523"/>
          <p:cNvSpPr/>
          <p:nvPr/>
        </p:nvSpPr>
        <p:spPr>
          <a:xfrm>
            <a:off x="7404346" y="2858587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9" name="Google Shape;13759;p523"/>
          <p:cNvSpPr/>
          <p:nvPr/>
        </p:nvSpPr>
        <p:spPr>
          <a:xfrm>
            <a:off x="7404346" y="3913256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60" name="Google Shape;13760;p523"/>
          <p:cNvCxnSpPr>
            <a:stCxn id="13757" idx="7"/>
            <a:endCxn id="13758" idx="3"/>
          </p:cNvCxnSpPr>
          <p:nvPr/>
        </p:nvCxnSpPr>
        <p:spPr>
          <a:xfrm flipH="1" rot="10800000">
            <a:off x="6977283" y="3053830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761" name="Google Shape;13761;p523"/>
          <p:cNvCxnSpPr>
            <a:stCxn id="13757" idx="5"/>
            <a:endCxn id="13759" idx="1"/>
          </p:cNvCxnSpPr>
          <p:nvPr/>
        </p:nvCxnSpPr>
        <p:spPr>
          <a:xfrm>
            <a:off x="6977283" y="3581174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762" name="Google Shape;13762;p523"/>
          <p:cNvSpPr/>
          <p:nvPr/>
        </p:nvSpPr>
        <p:spPr>
          <a:xfrm>
            <a:off x="7699744" y="2814738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1, 2, 3, 4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63" name="Google Shape;13763;p523"/>
          <p:cNvSpPr/>
          <p:nvPr/>
        </p:nvSpPr>
        <p:spPr>
          <a:xfrm>
            <a:off x="7699744" y="3869402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1, 2, 3, 4</a:t>
            </a:r>
            <a:endParaRPr>
              <a:solidFill>
                <a:srgbClr val="999999"/>
              </a:solidFill>
            </a:endParaRPr>
          </a:p>
        </p:txBody>
      </p:sp>
    </p:spTree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767" name="Shape 13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8" name="Google Shape;13768;p52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769" name="Google Shape;13769;p524"/>
          <p:cNvSpPr txBox="1"/>
          <p:nvPr>
            <p:ph idx="1" type="body"/>
          </p:nvPr>
        </p:nvSpPr>
        <p:spPr>
          <a:xfrm>
            <a:off x="311675" y="1225225"/>
            <a:ext cx="8520600" cy="110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Low bandwidth works better when contacts are diverse in information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Low bandwidth ties lose their advantage even when connecting ego to contacts with more homogeneous information, even if there is partial overlap of information across contacts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3770" name="Google Shape;13770;p524"/>
          <p:cNvSpPr/>
          <p:nvPr/>
        </p:nvSpPr>
        <p:spPr>
          <a:xfrm>
            <a:off x="160988" y="3386077"/>
            <a:ext cx="242100" cy="2286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1" name="Google Shape;13771;p524"/>
          <p:cNvSpPr/>
          <p:nvPr/>
        </p:nvSpPr>
        <p:spPr>
          <a:xfrm>
            <a:off x="794696" y="2858612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2" name="Google Shape;13772;p524"/>
          <p:cNvSpPr/>
          <p:nvPr/>
        </p:nvSpPr>
        <p:spPr>
          <a:xfrm>
            <a:off x="794696" y="3913281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73" name="Google Shape;13773;p524"/>
          <p:cNvCxnSpPr>
            <a:stCxn id="13770" idx="7"/>
            <a:endCxn id="13771" idx="3"/>
          </p:cNvCxnSpPr>
          <p:nvPr/>
        </p:nvCxnSpPr>
        <p:spPr>
          <a:xfrm flipH="1" rot="10800000">
            <a:off x="367633" y="3053855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774" name="Google Shape;13774;p524"/>
          <p:cNvCxnSpPr>
            <a:stCxn id="13770" idx="5"/>
            <a:endCxn id="13772" idx="1"/>
          </p:cNvCxnSpPr>
          <p:nvPr/>
        </p:nvCxnSpPr>
        <p:spPr>
          <a:xfrm>
            <a:off x="367633" y="3581199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775" name="Google Shape;13775;p524"/>
          <p:cNvSpPr/>
          <p:nvPr/>
        </p:nvSpPr>
        <p:spPr>
          <a:xfrm>
            <a:off x="1090094" y="2814763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1, 2, 3, 4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76" name="Google Shape;13776;p524"/>
          <p:cNvSpPr/>
          <p:nvPr/>
        </p:nvSpPr>
        <p:spPr>
          <a:xfrm>
            <a:off x="1090094" y="3869427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5, 6, 7, 8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77" name="Google Shape;13777;p524"/>
          <p:cNvSpPr/>
          <p:nvPr/>
        </p:nvSpPr>
        <p:spPr>
          <a:xfrm>
            <a:off x="3465788" y="3386177"/>
            <a:ext cx="242100" cy="2286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8" name="Google Shape;13778;p524"/>
          <p:cNvSpPr/>
          <p:nvPr/>
        </p:nvSpPr>
        <p:spPr>
          <a:xfrm>
            <a:off x="4099496" y="2858712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9" name="Google Shape;13779;p524"/>
          <p:cNvSpPr/>
          <p:nvPr/>
        </p:nvSpPr>
        <p:spPr>
          <a:xfrm>
            <a:off x="4099496" y="3913381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80" name="Google Shape;13780;p524"/>
          <p:cNvCxnSpPr>
            <a:stCxn id="13777" idx="7"/>
            <a:endCxn id="13778" idx="3"/>
          </p:cNvCxnSpPr>
          <p:nvPr/>
        </p:nvCxnSpPr>
        <p:spPr>
          <a:xfrm flipH="1" rot="10800000">
            <a:off x="3672433" y="3053955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781" name="Google Shape;13781;p524"/>
          <p:cNvCxnSpPr>
            <a:stCxn id="13777" idx="5"/>
            <a:endCxn id="13779" idx="1"/>
          </p:cNvCxnSpPr>
          <p:nvPr/>
        </p:nvCxnSpPr>
        <p:spPr>
          <a:xfrm>
            <a:off x="3672433" y="3581299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782" name="Google Shape;13782;p524"/>
          <p:cNvSpPr/>
          <p:nvPr/>
        </p:nvSpPr>
        <p:spPr>
          <a:xfrm>
            <a:off x="4394894" y="2814863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1, 2, 3, 4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83" name="Google Shape;13783;p524"/>
          <p:cNvSpPr/>
          <p:nvPr/>
        </p:nvSpPr>
        <p:spPr>
          <a:xfrm>
            <a:off x="4394894" y="3869527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1, 2, 7, 8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84" name="Google Shape;13784;p524"/>
          <p:cNvSpPr/>
          <p:nvPr/>
        </p:nvSpPr>
        <p:spPr>
          <a:xfrm>
            <a:off x="6770638" y="3386052"/>
            <a:ext cx="242100" cy="2286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5" name="Google Shape;13785;p524"/>
          <p:cNvSpPr/>
          <p:nvPr/>
        </p:nvSpPr>
        <p:spPr>
          <a:xfrm>
            <a:off x="7404346" y="2858587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6" name="Google Shape;13786;p524"/>
          <p:cNvSpPr/>
          <p:nvPr/>
        </p:nvSpPr>
        <p:spPr>
          <a:xfrm>
            <a:off x="7404346" y="3913256"/>
            <a:ext cx="242100" cy="2286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787" name="Google Shape;13787;p524"/>
          <p:cNvCxnSpPr>
            <a:stCxn id="13784" idx="7"/>
            <a:endCxn id="13785" idx="3"/>
          </p:cNvCxnSpPr>
          <p:nvPr/>
        </p:nvCxnSpPr>
        <p:spPr>
          <a:xfrm flipH="1" rot="10800000">
            <a:off x="6977283" y="3053830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788" name="Google Shape;13788;p524"/>
          <p:cNvCxnSpPr>
            <a:stCxn id="13784" idx="5"/>
            <a:endCxn id="13786" idx="1"/>
          </p:cNvCxnSpPr>
          <p:nvPr/>
        </p:nvCxnSpPr>
        <p:spPr>
          <a:xfrm>
            <a:off x="6977283" y="3581174"/>
            <a:ext cx="462600" cy="3657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789" name="Google Shape;13789;p524"/>
          <p:cNvSpPr/>
          <p:nvPr/>
        </p:nvSpPr>
        <p:spPr>
          <a:xfrm>
            <a:off x="7699744" y="2814738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1, 2, 3, 4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90" name="Google Shape;13790;p524"/>
          <p:cNvSpPr/>
          <p:nvPr/>
        </p:nvSpPr>
        <p:spPr>
          <a:xfrm>
            <a:off x="7699744" y="3869402"/>
            <a:ext cx="981900" cy="3168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</a:rPr>
              <a:t>1, 2, 3, 4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13791" name="Google Shape;13791;p524"/>
          <p:cNvSpPr txBox="1"/>
          <p:nvPr/>
        </p:nvSpPr>
        <p:spPr>
          <a:xfrm>
            <a:off x="536725" y="4341025"/>
            <a:ext cx="15846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Low bandwidth ties are good here!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792" name="Google Shape;13792;p524"/>
          <p:cNvSpPr txBox="1"/>
          <p:nvPr/>
        </p:nvSpPr>
        <p:spPr>
          <a:xfrm>
            <a:off x="3707900" y="4341025"/>
            <a:ext cx="15846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Low bandwidth ties not as good...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793" name="Google Shape;13793;p524"/>
          <p:cNvSpPr txBox="1"/>
          <p:nvPr/>
        </p:nvSpPr>
        <p:spPr>
          <a:xfrm>
            <a:off x="7398400" y="4341025"/>
            <a:ext cx="15846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Low bandwidth ties are worse here!</a:t>
            </a:r>
            <a:endParaRPr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794" name="Google Shape;13794;p524"/>
          <p:cNvSpPr txBox="1"/>
          <p:nvPr/>
        </p:nvSpPr>
        <p:spPr>
          <a:xfrm>
            <a:off x="437500" y="2390350"/>
            <a:ext cx="21009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No Information Overlap</a:t>
            </a:r>
            <a:endParaRPr b="1"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795" name="Google Shape;13795;p524"/>
          <p:cNvSpPr txBox="1"/>
          <p:nvPr/>
        </p:nvSpPr>
        <p:spPr>
          <a:xfrm>
            <a:off x="3376775" y="2390400"/>
            <a:ext cx="23904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Some Information Overlap</a:t>
            </a:r>
            <a:endParaRPr b="1"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796" name="Google Shape;13796;p524"/>
          <p:cNvSpPr txBox="1"/>
          <p:nvPr/>
        </p:nvSpPr>
        <p:spPr>
          <a:xfrm>
            <a:off x="6770650" y="2412250"/>
            <a:ext cx="23904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Total Information Overlap</a:t>
            </a:r>
            <a:endParaRPr b="1" sz="12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800" name="Shape 13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1" name="Google Shape;13801;p52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Diversity-bandwidth tradeoff</a:t>
            </a:r>
            <a:endParaRPr/>
          </a:p>
        </p:txBody>
      </p:sp>
      <p:sp>
        <p:nvSpPr>
          <p:cNvPr id="13802" name="Google Shape;13802;p525"/>
          <p:cNvSpPr/>
          <p:nvPr/>
        </p:nvSpPr>
        <p:spPr>
          <a:xfrm>
            <a:off x="341313" y="2201513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3" name="Google Shape;13803;p525"/>
          <p:cNvSpPr/>
          <p:nvPr/>
        </p:nvSpPr>
        <p:spPr>
          <a:xfrm>
            <a:off x="1335137" y="1371617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4" name="Google Shape;13804;p525"/>
          <p:cNvSpPr/>
          <p:nvPr/>
        </p:nvSpPr>
        <p:spPr>
          <a:xfrm>
            <a:off x="1335137" y="3030998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05" name="Google Shape;13805;p525"/>
          <p:cNvCxnSpPr>
            <a:stCxn id="13802" idx="7"/>
            <a:endCxn id="13803" idx="3"/>
          </p:cNvCxnSpPr>
          <p:nvPr/>
        </p:nvCxnSpPr>
        <p:spPr>
          <a:xfrm flipH="1" rot="10800000">
            <a:off x="665492" y="1678833"/>
            <a:ext cx="725400" cy="5754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3806" name="Google Shape;13806;p525"/>
          <p:cNvCxnSpPr>
            <a:stCxn id="13802" idx="5"/>
            <a:endCxn id="13804" idx="1"/>
          </p:cNvCxnSpPr>
          <p:nvPr/>
        </p:nvCxnSpPr>
        <p:spPr>
          <a:xfrm>
            <a:off x="665492" y="2508792"/>
            <a:ext cx="725400" cy="574800"/>
          </a:xfrm>
          <a:prstGeom prst="straightConnector1">
            <a:avLst/>
          </a:prstGeom>
          <a:noFill/>
          <a:ln cap="flat" cmpd="sng" w="28575">
            <a:solidFill>
              <a:srgbClr val="4A86E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3807" name="Google Shape;13807;p525"/>
          <p:cNvSpPr/>
          <p:nvPr/>
        </p:nvSpPr>
        <p:spPr>
          <a:xfrm>
            <a:off x="1798400" y="1302625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808" name="Google Shape;13808;p525"/>
          <p:cNvSpPr/>
          <p:nvPr/>
        </p:nvSpPr>
        <p:spPr>
          <a:xfrm>
            <a:off x="1798400" y="2962000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1, 2, 7, 8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809" name="Google Shape;13809;p525"/>
          <p:cNvSpPr/>
          <p:nvPr/>
        </p:nvSpPr>
        <p:spPr>
          <a:xfrm>
            <a:off x="5733413" y="2201725"/>
            <a:ext cx="379800" cy="360000"/>
          </a:xfrm>
          <a:prstGeom prst="ellipse">
            <a:avLst/>
          </a:prstGeom>
          <a:solidFill>
            <a:srgbClr val="1155CC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0" name="Google Shape;13810;p525"/>
          <p:cNvSpPr/>
          <p:nvPr/>
        </p:nvSpPr>
        <p:spPr>
          <a:xfrm>
            <a:off x="6727237" y="1371829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1" name="Google Shape;13811;p525"/>
          <p:cNvSpPr/>
          <p:nvPr/>
        </p:nvSpPr>
        <p:spPr>
          <a:xfrm>
            <a:off x="6727237" y="3031210"/>
            <a:ext cx="379800" cy="3600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12" name="Google Shape;13812;p525"/>
          <p:cNvCxnSpPr>
            <a:stCxn id="13809" idx="7"/>
            <a:endCxn id="13810" idx="3"/>
          </p:cNvCxnSpPr>
          <p:nvPr/>
        </p:nvCxnSpPr>
        <p:spPr>
          <a:xfrm flipH="1" rot="10800000">
            <a:off x="6057592" y="1679046"/>
            <a:ext cx="725400" cy="5754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813" name="Google Shape;13813;p525"/>
          <p:cNvCxnSpPr>
            <a:stCxn id="13809" idx="5"/>
            <a:endCxn id="13811" idx="1"/>
          </p:cNvCxnSpPr>
          <p:nvPr/>
        </p:nvCxnSpPr>
        <p:spPr>
          <a:xfrm>
            <a:off x="6057592" y="2509004"/>
            <a:ext cx="725400" cy="574800"/>
          </a:xfrm>
          <a:prstGeom prst="straightConnector1">
            <a:avLst/>
          </a:prstGeom>
          <a:noFill/>
          <a:ln cap="flat" cmpd="sng" w="76200">
            <a:solidFill>
              <a:srgbClr val="4A86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14" name="Google Shape;13814;p525"/>
          <p:cNvSpPr/>
          <p:nvPr/>
        </p:nvSpPr>
        <p:spPr>
          <a:xfrm>
            <a:off x="7190500" y="1302838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sp>
        <p:nvSpPr>
          <p:cNvPr id="13815" name="Google Shape;13815;p525"/>
          <p:cNvSpPr/>
          <p:nvPr/>
        </p:nvSpPr>
        <p:spPr>
          <a:xfrm>
            <a:off x="7190500" y="2962213"/>
            <a:ext cx="1539300" cy="498000"/>
          </a:xfrm>
          <a:prstGeom prst="bracePair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999999"/>
                </a:solidFill>
              </a:rPr>
              <a:t>1, 2, 3, 4</a:t>
            </a:r>
            <a:endParaRPr sz="2400">
              <a:solidFill>
                <a:srgbClr val="999999"/>
              </a:solidFill>
            </a:endParaRPr>
          </a:p>
        </p:txBody>
      </p:sp>
      <p:cxnSp>
        <p:nvCxnSpPr>
          <p:cNvPr id="13816" name="Google Shape;13816;p525"/>
          <p:cNvCxnSpPr>
            <a:stCxn id="13811" idx="0"/>
            <a:endCxn id="13810" idx="4"/>
          </p:cNvCxnSpPr>
          <p:nvPr/>
        </p:nvCxnSpPr>
        <p:spPr>
          <a:xfrm rot="10800000">
            <a:off x="6917137" y="1731910"/>
            <a:ext cx="0" cy="1299300"/>
          </a:xfrm>
          <a:prstGeom prst="straightConnector1">
            <a:avLst/>
          </a:prstGeom>
          <a:noFill/>
          <a:ln cap="flat" cmpd="sng" w="76200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17" name="Google Shape;13817;p525"/>
          <p:cNvSpPr txBox="1"/>
          <p:nvPr>
            <p:ph idx="1" type="body"/>
          </p:nvPr>
        </p:nvSpPr>
        <p:spPr>
          <a:xfrm>
            <a:off x="311700" y="3705575"/>
            <a:ext cx="8520600" cy="11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When your contacts do not have diverse pools information (the people you know all know the same thing because they talk to one another)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Strong, high-bandwidth ties just give you the same information</a:t>
            </a:r>
            <a:endParaRPr/>
          </a:p>
        </p:txBody>
      </p:sp>
      <p:sp>
        <p:nvSpPr>
          <p:cNvPr id="13818" name="Google Shape;13818;p525"/>
          <p:cNvSpPr txBox="1"/>
          <p:nvPr/>
        </p:nvSpPr>
        <p:spPr>
          <a:xfrm>
            <a:off x="3655950" y="2093600"/>
            <a:ext cx="1273500" cy="57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This is better!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3819" name="Google Shape;13819;p525"/>
          <p:cNvCxnSpPr>
            <a:stCxn id="13818" idx="3"/>
          </p:cNvCxnSpPr>
          <p:nvPr/>
        </p:nvCxnSpPr>
        <p:spPr>
          <a:xfrm>
            <a:off x="4929450" y="2381300"/>
            <a:ext cx="672900" cy="9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823" name="Shape 13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" name="Google Shape;13824;p526"/>
          <p:cNvSpPr/>
          <p:nvPr/>
        </p:nvSpPr>
        <p:spPr>
          <a:xfrm rot="5400000">
            <a:off x="4928546" y="2371525"/>
            <a:ext cx="3193200" cy="1222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5" name="Google Shape;13825;p52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are triads so special?</a:t>
            </a:r>
            <a:endParaRPr/>
          </a:p>
        </p:txBody>
      </p:sp>
      <p:sp>
        <p:nvSpPr>
          <p:cNvPr id="13826" name="Google Shape;13826;p526"/>
          <p:cNvSpPr txBox="1"/>
          <p:nvPr>
            <p:ph idx="1" type="body"/>
          </p:nvPr>
        </p:nvSpPr>
        <p:spPr>
          <a:xfrm>
            <a:off x="311700" y="1225225"/>
            <a:ext cx="5360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Simmelian Tie Theory: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two-person group (standalone dyad):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People have more individuality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More potential for unresolved differences</a:t>
            </a:r>
            <a:endParaRPr>
              <a:solidFill>
                <a:srgbClr val="00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t/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a three-person group (Simmelian dyads):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more pressure to conform to the views of others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Any one member can be “outvoted” by the other two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There is more potential for conflict resolution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 fight between two members can be mediated by the third</a:t>
            </a:r>
            <a:endParaRPr/>
          </a:p>
        </p:txBody>
      </p:sp>
      <p:sp>
        <p:nvSpPr>
          <p:cNvPr id="13827" name="Google Shape;13827;p526"/>
          <p:cNvSpPr/>
          <p:nvPr/>
        </p:nvSpPr>
        <p:spPr>
          <a:xfrm>
            <a:off x="6284401" y="1981110"/>
            <a:ext cx="481500" cy="4644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28" name="Google Shape;13828;p526"/>
          <p:cNvCxnSpPr>
            <a:stCxn id="13827" idx="7"/>
            <a:endCxn id="13829" idx="2"/>
          </p:cNvCxnSpPr>
          <p:nvPr/>
        </p:nvCxnSpPr>
        <p:spPr>
          <a:xfrm flipH="1" rot="10800000">
            <a:off x="6695387" y="1457520"/>
            <a:ext cx="1655400" cy="5916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830" name="Google Shape;13830;p526"/>
          <p:cNvCxnSpPr>
            <a:stCxn id="13827" idx="5"/>
            <a:endCxn id="13831" idx="2"/>
          </p:cNvCxnSpPr>
          <p:nvPr/>
        </p:nvCxnSpPr>
        <p:spPr>
          <a:xfrm>
            <a:off x="6695387" y="2377500"/>
            <a:ext cx="1655400" cy="5325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29" name="Google Shape;13829;p526"/>
          <p:cNvSpPr/>
          <p:nvPr/>
        </p:nvSpPr>
        <p:spPr>
          <a:xfrm>
            <a:off x="8350791" y="1225225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1" name="Google Shape;13831;p526"/>
          <p:cNvSpPr/>
          <p:nvPr/>
        </p:nvSpPr>
        <p:spPr>
          <a:xfrm>
            <a:off x="8350791" y="2677853"/>
            <a:ext cx="481500" cy="4644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32" name="Google Shape;13832;p526"/>
          <p:cNvCxnSpPr>
            <a:stCxn id="13831" idx="0"/>
            <a:endCxn id="13829" idx="4"/>
          </p:cNvCxnSpPr>
          <p:nvPr/>
        </p:nvCxnSpPr>
        <p:spPr>
          <a:xfrm rot="10800000">
            <a:off x="8591541" y="1689653"/>
            <a:ext cx="0" cy="988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33" name="Google Shape;13833;p526"/>
          <p:cNvSpPr/>
          <p:nvPr/>
        </p:nvSpPr>
        <p:spPr>
          <a:xfrm>
            <a:off x="6284391" y="3660153"/>
            <a:ext cx="481500" cy="464400"/>
          </a:xfrm>
          <a:prstGeom prst="ellipse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34" name="Google Shape;13834;p526"/>
          <p:cNvCxnSpPr>
            <a:stCxn id="13827" idx="4"/>
            <a:endCxn id="13833" idx="0"/>
          </p:cNvCxnSpPr>
          <p:nvPr/>
        </p:nvCxnSpPr>
        <p:spPr>
          <a:xfrm>
            <a:off x="6525151" y="2445510"/>
            <a:ext cx="0" cy="1214700"/>
          </a:xfrm>
          <a:prstGeom prst="straightConnector1">
            <a:avLst/>
          </a:prstGeom>
          <a:noFill/>
          <a:ln cap="flat" cmpd="sng" w="38100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35" name="Google Shape;13835;p526"/>
          <p:cNvSpPr/>
          <p:nvPr/>
        </p:nvSpPr>
        <p:spPr>
          <a:xfrm>
            <a:off x="5713475" y="1016350"/>
            <a:ext cx="3344400" cy="2314200"/>
          </a:xfrm>
          <a:prstGeom prst="flowChartAlternateProcess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3839" name="Shape 13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0" name="Google Shape;13840;p527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Status, Hierarchy, and Valenced Interactions</a:t>
            </a:r>
            <a:endParaRPr/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44" name="Shape 13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5" name="Google Shape;13845;p52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</a:t>
            </a:r>
            <a:endParaRPr/>
          </a:p>
        </p:txBody>
      </p:sp>
      <p:sp>
        <p:nvSpPr>
          <p:cNvPr id="13846" name="Google Shape;13846;p528"/>
          <p:cNvSpPr txBox="1"/>
          <p:nvPr>
            <p:ph idx="1" type="body"/>
          </p:nvPr>
        </p:nvSpPr>
        <p:spPr>
          <a:xfrm>
            <a:off x="311700" y="1225225"/>
            <a:ext cx="4959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Most social network theories assume ties and network flows are usually positive or neutral: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Ties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Friendship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Kinship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Co-membership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Flows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Information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Support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b="1" lang="en">
                <a:solidFill>
                  <a:srgbClr val="FF0000"/>
                </a:solidFill>
              </a:rPr>
              <a:t>Gossip</a:t>
            </a:r>
            <a:endParaRPr b="1"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b="1" lang="en">
                <a:solidFill>
                  <a:srgbClr val="FF0000"/>
                </a:solidFill>
              </a:rPr>
              <a:t>Violence</a:t>
            </a:r>
            <a:endParaRPr b="1">
              <a:solidFill>
                <a:srgbClr val="FF0000"/>
              </a:solidFill>
            </a:endParaRPr>
          </a:p>
        </p:txBody>
      </p:sp>
      <p:pic>
        <p:nvPicPr>
          <p:cNvPr id="13847" name="Google Shape;13847;p5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70574" y="1007713"/>
            <a:ext cx="3226100" cy="3789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51" name="Shape 13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2" name="Google Shape;13852;p52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</a:t>
            </a:r>
            <a:endParaRPr/>
          </a:p>
        </p:txBody>
      </p:sp>
      <p:sp>
        <p:nvSpPr>
          <p:cNvPr id="13853" name="Google Shape;13853;p529"/>
          <p:cNvSpPr txBox="1"/>
          <p:nvPr>
            <p:ph idx="1" type="body"/>
          </p:nvPr>
        </p:nvSpPr>
        <p:spPr>
          <a:xfrm>
            <a:off x="311700" y="1225225"/>
            <a:ext cx="4959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Most real-world social networks feature a mix of: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Positive and negative ties: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Friends and enemies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Liking and disliking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Members of same group versus rival groups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Positive and negative flows: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Gossip versus compliments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Helping versus violence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These are called </a:t>
            </a:r>
            <a:r>
              <a:rPr b="1" lang="en"/>
              <a:t>valenced relationships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854" name="Google Shape;13854;p5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70574" y="1007713"/>
            <a:ext cx="3226100" cy="3789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58" name="Shape 13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9" name="Google Shape;13859;p53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</a:t>
            </a:r>
            <a:endParaRPr/>
          </a:p>
        </p:txBody>
      </p:sp>
      <p:sp>
        <p:nvSpPr>
          <p:cNvPr id="13860" name="Google Shape;13860;p530"/>
          <p:cNvSpPr txBox="1"/>
          <p:nvPr>
            <p:ph idx="1" type="body"/>
          </p:nvPr>
        </p:nvSpPr>
        <p:spPr>
          <a:xfrm>
            <a:off x="311700" y="1225225"/>
            <a:ext cx="4959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Core network concepts change meaning when ties are valenced!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In-degree centrality: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Friendship (good)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Disliking (bad!)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Support (good!)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Enemies (bad?)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same goes for out-degree: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 bully is a person who has lots of outgoing negative 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And other network metrics: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Closeness, Betweenness, Eigenvector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861" name="Google Shape;13861;p5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70574" y="1007713"/>
            <a:ext cx="3226100" cy="3789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65" name="Shape 13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66" name="Google Shape;13866;p53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</a:t>
            </a:r>
            <a:endParaRPr/>
          </a:p>
        </p:txBody>
      </p:sp>
      <p:sp>
        <p:nvSpPr>
          <p:cNvPr id="13867" name="Google Shape;13867;p531"/>
          <p:cNvSpPr txBox="1"/>
          <p:nvPr>
            <p:ph idx="1" type="body"/>
          </p:nvPr>
        </p:nvSpPr>
        <p:spPr>
          <a:xfrm>
            <a:off x="311700" y="1225225"/>
            <a:ext cx="426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have seen on network theory (</a:t>
            </a:r>
            <a:r>
              <a:rPr b="1" lang="en"/>
              <a:t>balance</a:t>
            </a:r>
            <a:r>
              <a:rPr lang="en"/>
              <a:t>) designed to explain valenced relationships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this is not the only approach!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theory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(an extension of balance theory)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868" name="Google Shape;13868;p5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70574" y="1007713"/>
            <a:ext cx="3226100" cy="3789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72" name="Shape 13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3" name="Google Shape;13873;p532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4" name="Google Shape;13874;p53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3875" name="Google Shape;13875;p532"/>
          <p:cNvSpPr txBox="1"/>
          <p:nvPr>
            <p:ph idx="1" type="body"/>
          </p:nvPr>
        </p:nvSpPr>
        <p:spPr>
          <a:xfrm>
            <a:off x="311700" y="1225225"/>
            <a:ext cx="4564800" cy="355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First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in valenced networks is determined by sign of ties received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High status</a:t>
            </a:r>
            <a:endParaRPr>
              <a:solidFill>
                <a:srgbClr val="00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Lots of incoming </a:t>
            </a:r>
            <a:r>
              <a:rPr b="1" i="1" lang="en">
                <a:solidFill>
                  <a:srgbClr val="6AA84F"/>
                </a:solidFill>
              </a:rPr>
              <a:t>positive</a:t>
            </a:r>
            <a:r>
              <a:rPr i="1" lang="en"/>
              <a:t> ties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Low status </a:t>
            </a:r>
            <a:endParaRPr>
              <a:solidFill>
                <a:srgbClr val="00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Lots of incoming </a:t>
            </a:r>
            <a:r>
              <a:rPr b="1" i="1" lang="en">
                <a:solidFill>
                  <a:srgbClr val="FF0000"/>
                </a:solidFill>
              </a:rPr>
              <a:t>negative</a:t>
            </a:r>
            <a:r>
              <a:rPr i="1" lang="en"/>
              <a:t> ties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Directed </a:t>
            </a:r>
            <a:r>
              <a:rPr b="1" lang="en"/>
              <a:t>positive</a:t>
            </a:r>
            <a:r>
              <a:rPr lang="en"/>
              <a:t> tie from i →j: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 thinks of j as </a:t>
            </a:r>
            <a:r>
              <a:rPr b="1" lang="en"/>
              <a:t>higher</a:t>
            </a:r>
            <a:r>
              <a:rPr lang="en"/>
              <a:t> status</a:t>
            </a:r>
            <a:endParaRPr/>
          </a:p>
          <a:p>
            <a:pPr indent="0" lvl="0" marL="18288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n"/>
              <a:t> </a:t>
            </a:r>
            <a:endParaRPr i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6" name="Google Shape;13876;p532"/>
          <p:cNvSpPr/>
          <p:nvPr/>
        </p:nvSpPr>
        <p:spPr>
          <a:xfrm>
            <a:off x="6598775" y="2235400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7" name="Google Shape;13877;p532"/>
          <p:cNvSpPr/>
          <p:nvPr/>
        </p:nvSpPr>
        <p:spPr>
          <a:xfrm>
            <a:off x="6108150" y="13690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8" name="Google Shape;13878;p532"/>
          <p:cNvSpPr/>
          <p:nvPr/>
        </p:nvSpPr>
        <p:spPr>
          <a:xfrm>
            <a:off x="6598763" y="13690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9" name="Google Shape;13879;p532"/>
          <p:cNvSpPr/>
          <p:nvPr/>
        </p:nvSpPr>
        <p:spPr>
          <a:xfrm>
            <a:off x="7111100" y="13690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80" name="Google Shape;13880;p532"/>
          <p:cNvCxnSpPr>
            <a:stCxn id="13877" idx="4"/>
            <a:endCxn id="13876" idx="1"/>
          </p:cNvCxnSpPr>
          <p:nvPr/>
        </p:nvCxnSpPr>
        <p:spPr>
          <a:xfrm>
            <a:off x="6291150" y="17251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881" name="Google Shape;13881;p532"/>
          <p:cNvCxnSpPr>
            <a:stCxn id="13878" idx="4"/>
            <a:endCxn id="13876" idx="0"/>
          </p:cNvCxnSpPr>
          <p:nvPr/>
        </p:nvCxnSpPr>
        <p:spPr>
          <a:xfrm>
            <a:off x="6781763" y="17251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882" name="Google Shape;13882;p532"/>
          <p:cNvCxnSpPr>
            <a:stCxn id="13879" idx="4"/>
            <a:endCxn id="13876" idx="7"/>
          </p:cNvCxnSpPr>
          <p:nvPr/>
        </p:nvCxnSpPr>
        <p:spPr>
          <a:xfrm flipH="1">
            <a:off x="6911300" y="17251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883" name="Google Shape;13883;p532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4" name="Google Shape;13884;p532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85" name="Google Shape;13885;p532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886" name="Google Shape;13886;p532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887" name="Google Shape;13887;p532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3888" name="Google Shape;13888;p532"/>
          <p:cNvSpPr txBox="1"/>
          <p:nvPr/>
        </p:nvSpPr>
        <p:spPr>
          <a:xfrm>
            <a:off x="6198125" y="2670675"/>
            <a:ext cx="11673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High Status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889" name="Google Shape;13889;p532"/>
          <p:cNvSpPr/>
          <p:nvPr/>
        </p:nvSpPr>
        <p:spPr>
          <a:xfrm>
            <a:off x="6587925" y="4059200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0" name="Google Shape;13890;p532"/>
          <p:cNvSpPr/>
          <p:nvPr/>
        </p:nvSpPr>
        <p:spPr>
          <a:xfrm>
            <a:off x="6097300" y="31928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1" name="Google Shape;13891;p532"/>
          <p:cNvSpPr/>
          <p:nvPr/>
        </p:nvSpPr>
        <p:spPr>
          <a:xfrm>
            <a:off x="6587913" y="31928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2" name="Google Shape;13892;p532"/>
          <p:cNvSpPr/>
          <p:nvPr/>
        </p:nvSpPr>
        <p:spPr>
          <a:xfrm>
            <a:off x="7100250" y="31928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93" name="Google Shape;13893;p532"/>
          <p:cNvCxnSpPr>
            <a:stCxn id="13890" idx="4"/>
            <a:endCxn id="13889" idx="1"/>
          </p:cNvCxnSpPr>
          <p:nvPr/>
        </p:nvCxnSpPr>
        <p:spPr>
          <a:xfrm>
            <a:off x="6280300" y="35489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894" name="Google Shape;13894;p532"/>
          <p:cNvCxnSpPr>
            <a:stCxn id="13891" idx="4"/>
            <a:endCxn id="13889" idx="0"/>
          </p:cNvCxnSpPr>
          <p:nvPr/>
        </p:nvCxnSpPr>
        <p:spPr>
          <a:xfrm>
            <a:off x="6770913" y="35489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895" name="Google Shape;13895;p532"/>
          <p:cNvCxnSpPr>
            <a:stCxn id="13892" idx="4"/>
            <a:endCxn id="13889" idx="7"/>
          </p:cNvCxnSpPr>
          <p:nvPr/>
        </p:nvCxnSpPr>
        <p:spPr>
          <a:xfrm flipH="1">
            <a:off x="6900450" y="35489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896" name="Google Shape;13896;p532"/>
          <p:cNvSpPr txBox="1"/>
          <p:nvPr/>
        </p:nvSpPr>
        <p:spPr>
          <a:xfrm>
            <a:off x="6187275" y="4494475"/>
            <a:ext cx="11673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Low Status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00" name="Shape 13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1" name="Google Shape;13901;p533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2" name="Google Shape;13902;p53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3903" name="Google Shape;13903;p533"/>
          <p:cNvSpPr txBox="1"/>
          <p:nvPr>
            <p:ph idx="1" type="body"/>
          </p:nvPr>
        </p:nvSpPr>
        <p:spPr>
          <a:xfrm>
            <a:off x="311700" y="1225225"/>
            <a:ext cx="4564800" cy="355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First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in valenced networks is determined by sign of ties received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High status</a:t>
            </a:r>
            <a:endParaRPr>
              <a:solidFill>
                <a:srgbClr val="00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Lots of incoming </a:t>
            </a:r>
            <a:r>
              <a:rPr b="1" i="1" lang="en">
                <a:solidFill>
                  <a:srgbClr val="6AA84F"/>
                </a:solidFill>
              </a:rPr>
              <a:t>positive</a:t>
            </a:r>
            <a:r>
              <a:rPr i="1" lang="en"/>
              <a:t> ties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Low status </a:t>
            </a:r>
            <a:endParaRPr>
              <a:solidFill>
                <a:srgbClr val="00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Lots of incoming </a:t>
            </a:r>
            <a:r>
              <a:rPr b="1" i="1" lang="en">
                <a:solidFill>
                  <a:srgbClr val="FF0000"/>
                </a:solidFill>
              </a:rPr>
              <a:t>negative</a:t>
            </a:r>
            <a:r>
              <a:rPr i="1" lang="en"/>
              <a:t> ties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Directed </a:t>
            </a:r>
            <a:r>
              <a:rPr b="1" lang="en"/>
              <a:t>negative</a:t>
            </a:r>
            <a:r>
              <a:rPr lang="en"/>
              <a:t> tie from i →j: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 thinks of j as </a:t>
            </a:r>
            <a:r>
              <a:rPr b="1" lang="en"/>
              <a:t>lower</a:t>
            </a:r>
            <a:r>
              <a:rPr lang="en"/>
              <a:t> status</a:t>
            </a:r>
            <a:endParaRPr/>
          </a:p>
          <a:p>
            <a:pPr indent="0" lvl="0" marL="18288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n"/>
              <a:t> </a:t>
            </a:r>
            <a:endParaRPr i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4" name="Google Shape;13904;p533"/>
          <p:cNvSpPr/>
          <p:nvPr/>
        </p:nvSpPr>
        <p:spPr>
          <a:xfrm>
            <a:off x="6598775" y="2235400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5" name="Google Shape;13905;p533"/>
          <p:cNvSpPr/>
          <p:nvPr/>
        </p:nvSpPr>
        <p:spPr>
          <a:xfrm>
            <a:off x="6108150" y="13690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6" name="Google Shape;13906;p533"/>
          <p:cNvSpPr/>
          <p:nvPr/>
        </p:nvSpPr>
        <p:spPr>
          <a:xfrm>
            <a:off x="6598763" y="13690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7" name="Google Shape;13907;p533"/>
          <p:cNvSpPr/>
          <p:nvPr/>
        </p:nvSpPr>
        <p:spPr>
          <a:xfrm>
            <a:off x="7111100" y="13690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08" name="Google Shape;13908;p533"/>
          <p:cNvCxnSpPr>
            <a:stCxn id="13905" idx="4"/>
            <a:endCxn id="13904" idx="1"/>
          </p:cNvCxnSpPr>
          <p:nvPr/>
        </p:nvCxnSpPr>
        <p:spPr>
          <a:xfrm>
            <a:off x="6291150" y="17251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09" name="Google Shape;13909;p533"/>
          <p:cNvCxnSpPr>
            <a:stCxn id="13906" idx="4"/>
            <a:endCxn id="13904" idx="0"/>
          </p:cNvCxnSpPr>
          <p:nvPr/>
        </p:nvCxnSpPr>
        <p:spPr>
          <a:xfrm>
            <a:off x="6781763" y="17251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10" name="Google Shape;13910;p533"/>
          <p:cNvCxnSpPr>
            <a:stCxn id="13907" idx="4"/>
            <a:endCxn id="13904" idx="7"/>
          </p:cNvCxnSpPr>
          <p:nvPr/>
        </p:nvCxnSpPr>
        <p:spPr>
          <a:xfrm flipH="1">
            <a:off x="6911300" y="17251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11" name="Google Shape;13911;p533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2" name="Google Shape;13912;p533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13" name="Google Shape;13913;p533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14" name="Google Shape;13914;p533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15" name="Google Shape;13915;p533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3916" name="Google Shape;13916;p533"/>
          <p:cNvSpPr txBox="1"/>
          <p:nvPr/>
        </p:nvSpPr>
        <p:spPr>
          <a:xfrm>
            <a:off x="6198125" y="2670675"/>
            <a:ext cx="11673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High Status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917" name="Google Shape;13917;p533"/>
          <p:cNvSpPr/>
          <p:nvPr/>
        </p:nvSpPr>
        <p:spPr>
          <a:xfrm>
            <a:off x="6587925" y="4059200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8" name="Google Shape;13918;p533"/>
          <p:cNvSpPr/>
          <p:nvPr/>
        </p:nvSpPr>
        <p:spPr>
          <a:xfrm>
            <a:off x="6097300" y="31928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9" name="Google Shape;13919;p533"/>
          <p:cNvSpPr/>
          <p:nvPr/>
        </p:nvSpPr>
        <p:spPr>
          <a:xfrm>
            <a:off x="6587913" y="31928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0" name="Google Shape;13920;p533"/>
          <p:cNvSpPr/>
          <p:nvPr/>
        </p:nvSpPr>
        <p:spPr>
          <a:xfrm>
            <a:off x="7100250" y="31928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21" name="Google Shape;13921;p533"/>
          <p:cNvCxnSpPr>
            <a:stCxn id="13918" idx="4"/>
            <a:endCxn id="13917" idx="1"/>
          </p:cNvCxnSpPr>
          <p:nvPr/>
        </p:nvCxnSpPr>
        <p:spPr>
          <a:xfrm>
            <a:off x="6280300" y="35489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22" name="Google Shape;13922;p533"/>
          <p:cNvCxnSpPr>
            <a:stCxn id="13919" idx="4"/>
            <a:endCxn id="13917" idx="0"/>
          </p:cNvCxnSpPr>
          <p:nvPr/>
        </p:nvCxnSpPr>
        <p:spPr>
          <a:xfrm>
            <a:off x="6770913" y="35489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23" name="Google Shape;13923;p533"/>
          <p:cNvCxnSpPr>
            <a:stCxn id="13920" idx="4"/>
            <a:endCxn id="13917" idx="7"/>
          </p:cNvCxnSpPr>
          <p:nvPr/>
        </p:nvCxnSpPr>
        <p:spPr>
          <a:xfrm flipH="1">
            <a:off x="6900450" y="35489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24" name="Google Shape;13924;p533"/>
          <p:cNvSpPr txBox="1"/>
          <p:nvPr/>
        </p:nvSpPr>
        <p:spPr>
          <a:xfrm>
            <a:off x="6187275" y="4494475"/>
            <a:ext cx="11673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Low Status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28" name="Shape 13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9" name="Google Shape;13929;p534"/>
          <p:cNvSpPr/>
          <p:nvPr/>
        </p:nvSpPr>
        <p:spPr>
          <a:xfrm>
            <a:off x="5776550" y="1332338"/>
            <a:ext cx="2739900" cy="1593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0" name="Google Shape;13930;p53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3931" name="Google Shape;13931;p534"/>
          <p:cNvSpPr txBox="1"/>
          <p:nvPr>
            <p:ph idx="1" type="body"/>
          </p:nvPr>
        </p:nvSpPr>
        <p:spPr>
          <a:xfrm>
            <a:off x="311700" y="1225225"/>
            <a:ext cx="4535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Second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Status of nodes is also determined by the sign of their connections to (high and low status) others</a:t>
            </a:r>
            <a:r>
              <a:rPr i="1" lang="en"/>
              <a:t>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lang="en">
                <a:solidFill>
                  <a:srgbClr val="FF0000"/>
                </a:solidFill>
              </a:rPr>
              <a:t>Positive ties to high status others increase status</a:t>
            </a:r>
            <a:endParaRPr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Positive ties to low status others decrease status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2" name="Google Shape;13932;p534"/>
          <p:cNvSpPr/>
          <p:nvPr/>
        </p:nvSpPr>
        <p:spPr>
          <a:xfrm>
            <a:off x="7360375" y="22453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3" name="Google Shape;13933;p534"/>
          <p:cNvSpPr/>
          <p:nvPr/>
        </p:nvSpPr>
        <p:spPr>
          <a:xfrm>
            <a:off x="6869750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4" name="Google Shape;13934;p534"/>
          <p:cNvSpPr/>
          <p:nvPr/>
        </p:nvSpPr>
        <p:spPr>
          <a:xfrm>
            <a:off x="7360363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35" name="Google Shape;13935;p534"/>
          <p:cNvCxnSpPr>
            <a:stCxn id="13933" idx="4"/>
            <a:endCxn id="13932" idx="1"/>
          </p:cNvCxnSpPr>
          <p:nvPr/>
        </p:nvCxnSpPr>
        <p:spPr>
          <a:xfrm>
            <a:off x="7052750" y="17350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36" name="Google Shape;13936;p534"/>
          <p:cNvCxnSpPr>
            <a:stCxn id="13934" idx="4"/>
            <a:endCxn id="13932" idx="0"/>
          </p:cNvCxnSpPr>
          <p:nvPr/>
        </p:nvCxnSpPr>
        <p:spPr>
          <a:xfrm>
            <a:off x="7543363" y="17350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37" name="Google Shape;13937;p534"/>
          <p:cNvCxnSpPr>
            <a:stCxn id="13938" idx="4"/>
            <a:endCxn id="13932" idx="7"/>
          </p:cNvCxnSpPr>
          <p:nvPr/>
        </p:nvCxnSpPr>
        <p:spPr>
          <a:xfrm flipH="1">
            <a:off x="7672776" y="173495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39" name="Google Shape;13939;p534"/>
          <p:cNvSpPr txBox="1"/>
          <p:nvPr/>
        </p:nvSpPr>
        <p:spPr>
          <a:xfrm>
            <a:off x="6224950" y="2680575"/>
            <a:ext cx="19020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Status Boost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940" name="Google Shape;13940;p534"/>
          <p:cNvSpPr/>
          <p:nvPr/>
        </p:nvSpPr>
        <p:spPr>
          <a:xfrm>
            <a:off x="7349525" y="40691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41" name="Google Shape;13941;p534"/>
          <p:cNvSpPr/>
          <p:nvPr/>
        </p:nvSpPr>
        <p:spPr>
          <a:xfrm>
            <a:off x="6858900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42" name="Google Shape;13942;p534"/>
          <p:cNvSpPr/>
          <p:nvPr/>
        </p:nvSpPr>
        <p:spPr>
          <a:xfrm>
            <a:off x="7349513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43" name="Google Shape;13943;p534"/>
          <p:cNvSpPr/>
          <p:nvPr/>
        </p:nvSpPr>
        <p:spPr>
          <a:xfrm>
            <a:off x="7861850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44" name="Google Shape;13944;p534"/>
          <p:cNvCxnSpPr>
            <a:stCxn id="13941" idx="4"/>
            <a:endCxn id="13940" idx="1"/>
          </p:cNvCxnSpPr>
          <p:nvPr/>
        </p:nvCxnSpPr>
        <p:spPr>
          <a:xfrm>
            <a:off x="7041900" y="35588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45" name="Google Shape;13945;p534"/>
          <p:cNvCxnSpPr>
            <a:stCxn id="13942" idx="4"/>
            <a:endCxn id="13940" idx="0"/>
          </p:cNvCxnSpPr>
          <p:nvPr/>
        </p:nvCxnSpPr>
        <p:spPr>
          <a:xfrm>
            <a:off x="7532513" y="35588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46" name="Google Shape;13946;p534"/>
          <p:cNvCxnSpPr>
            <a:stCxn id="13943" idx="4"/>
            <a:endCxn id="13940" idx="7"/>
          </p:cNvCxnSpPr>
          <p:nvPr/>
        </p:nvCxnSpPr>
        <p:spPr>
          <a:xfrm flipH="1">
            <a:off x="7662050" y="35588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47" name="Google Shape;13947;p534"/>
          <p:cNvSpPr txBox="1"/>
          <p:nvPr/>
        </p:nvSpPr>
        <p:spPr>
          <a:xfrm>
            <a:off x="6403350" y="4504375"/>
            <a:ext cx="17127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Status Loss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948" name="Google Shape;13948;p534"/>
          <p:cNvSpPr/>
          <p:nvPr/>
        </p:nvSpPr>
        <p:spPr>
          <a:xfrm>
            <a:off x="5955825" y="225517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49" name="Google Shape;13949;p534"/>
          <p:cNvCxnSpPr>
            <a:stCxn id="13932" idx="2"/>
            <a:endCxn id="13948" idx="6"/>
          </p:cNvCxnSpPr>
          <p:nvPr/>
        </p:nvCxnSpPr>
        <p:spPr>
          <a:xfrm flipH="1">
            <a:off x="6321775" y="2423350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3950" name="Google Shape;13950;p534"/>
          <p:cNvSpPr/>
          <p:nvPr/>
        </p:nvSpPr>
        <p:spPr>
          <a:xfrm>
            <a:off x="5955825" y="4069100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51" name="Google Shape;13951;p534"/>
          <p:cNvCxnSpPr>
            <a:stCxn id="13940" idx="2"/>
            <a:endCxn id="13950" idx="6"/>
          </p:cNvCxnSpPr>
          <p:nvPr/>
        </p:nvCxnSpPr>
        <p:spPr>
          <a:xfrm rot="10800000">
            <a:off x="6321725" y="4247150"/>
            <a:ext cx="10278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3952" name="Google Shape;13952;p534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53" name="Google Shape;13953;p534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54" name="Google Shape;13954;p534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55" name="Google Shape;13955;p534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56" name="Google Shape;13956;p534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57" name="Google Shape;13957;p534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3958" name="Google Shape;13958;p534"/>
          <p:cNvSpPr/>
          <p:nvPr/>
        </p:nvSpPr>
        <p:spPr>
          <a:xfrm>
            <a:off x="7872700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62" name="Shape 13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3" name="Google Shape;13963;p535"/>
          <p:cNvSpPr/>
          <p:nvPr/>
        </p:nvSpPr>
        <p:spPr>
          <a:xfrm>
            <a:off x="5682800" y="3173288"/>
            <a:ext cx="2739900" cy="1593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4" name="Google Shape;13964;p53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3965" name="Google Shape;13965;p535"/>
          <p:cNvSpPr txBox="1"/>
          <p:nvPr>
            <p:ph idx="1" type="body"/>
          </p:nvPr>
        </p:nvSpPr>
        <p:spPr>
          <a:xfrm>
            <a:off x="311700" y="1225225"/>
            <a:ext cx="4535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Second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Status of nodes is also determined by the sign of their connections to (high and low status) others</a:t>
            </a:r>
            <a:r>
              <a:rPr i="1" lang="en"/>
              <a:t>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Positive ties to high status others increase status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lang="en">
                <a:solidFill>
                  <a:srgbClr val="FF0000"/>
                </a:solidFill>
              </a:rPr>
              <a:t>Positive ties to low status others decrease status</a:t>
            </a:r>
            <a:endParaRPr>
              <a:solidFill>
                <a:srgbClr val="FF0000"/>
              </a:solidFill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6" name="Google Shape;13966;p535"/>
          <p:cNvSpPr/>
          <p:nvPr/>
        </p:nvSpPr>
        <p:spPr>
          <a:xfrm>
            <a:off x="7360375" y="22453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7" name="Google Shape;13967;p535"/>
          <p:cNvSpPr/>
          <p:nvPr/>
        </p:nvSpPr>
        <p:spPr>
          <a:xfrm>
            <a:off x="6869750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8" name="Google Shape;13968;p535"/>
          <p:cNvSpPr/>
          <p:nvPr/>
        </p:nvSpPr>
        <p:spPr>
          <a:xfrm>
            <a:off x="7360363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9" name="Google Shape;13969;p535"/>
          <p:cNvSpPr/>
          <p:nvPr/>
        </p:nvSpPr>
        <p:spPr>
          <a:xfrm>
            <a:off x="7872700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70" name="Google Shape;13970;p535"/>
          <p:cNvCxnSpPr>
            <a:stCxn id="13967" idx="4"/>
            <a:endCxn id="13966" idx="1"/>
          </p:cNvCxnSpPr>
          <p:nvPr/>
        </p:nvCxnSpPr>
        <p:spPr>
          <a:xfrm>
            <a:off x="7052750" y="17350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71" name="Google Shape;13971;p535"/>
          <p:cNvCxnSpPr>
            <a:stCxn id="13968" idx="4"/>
            <a:endCxn id="13966" idx="0"/>
          </p:cNvCxnSpPr>
          <p:nvPr/>
        </p:nvCxnSpPr>
        <p:spPr>
          <a:xfrm>
            <a:off x="7543363" y="17350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72" name="Google Shape;13972;p535"/>
          <p:cNvCxnSpPr>
            <a:stCxn id="13969" idx="4"/>
            <a:endCxn id="13966" idx="7"/>
          </p:cNvCxnSpPr>
          <p:nvPr/>
        </p:nvCxnSpPr>
        <p:spPr>
          <a:xfrm flipH="1">
            <a:off x="7672900" y="17350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73" name="Google Shape;13973;p535"/>
          <p:cNvSpPr txBox="1"/>
          <p:nvPr/>
        </p:nvSpPr>
        <p:spPr>
          <a:xfrm>
            <a:off x="6224950" y="2680575"/>
            <a:ext cx="19020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Status Boost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974" name="Google Shape;13974;p535"/>
          <p:cNvSpPr/>
          <p:nvPr/>
        </p:nvSpPr>
        <p:spPr>
          <a:xfrm>
            <a:off x="7349525" y="40691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75" name="Google Shape;13975;p535"/>
          <p:cNvSpPr/>
          <p:nvPr/>
        </p:nvSpPr>
        <p:spPr>
          <a:xfrm>
            <a:off x="6858900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76" name="Google Shape;13976;p535"/>
          <p:cNvSpPr/>
          <p:nvPr/>
        </p:nvSpPr>
        <p:spPr>
          <a:xfrm>
            <a:off x="7349513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77" name="Google Shape;13977;p535"/>
          <p:cNvSpPr/>
          <p:nvPr/>
        </p:nvSpPr>
        <p:spPr>
          <a:xfrm>
            <a:off x="7861850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78" name="Google Shape;13978;p535"/>
          <p:cNvCxnSpPr>
            <a:stCxn id="13975" idx="4"/>
            <a:endCxn id="13974" idx="1"/>
          </p:cNvCxnSpPr>
          <p:nvPr/>
        </p:nvCxnSpPr>
        <p:spPr>
          <a:xfrm>
            <a:off x="7041900" y="35588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79" name="Google Shape;13979;p535"/>
          <p:cNvCxnSpPr>
            <a:stCxn id="13976" idx="4"/>
            <a:endCxn id="13974" idx="0"/>
          </p:cNvCxnSpPr>
          <p:nvPr/>
        </p:nvCxnSpPr>
        <p:spPr>
          <a:xfrm>
            <a:off x="7532513" y="35588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80" name="Google Shape;13980;p535"/>
          <p:cNvCxnSpPr>
            <a:stCxn id="13977" idx="4"/>
            <a:endCxn id="13974" idx="7"/>
          </p:cNvCxnSpPr>
          <p:nvPr/>
        </p:nvCxnSpPr>
        <p:spPr>
          <a:xfrm flipH="1">
            <a:off x="7662050" y="35588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81" name="Google Shape;13981;p535"/>
          <p:cNvSpPr txBox="1"/>
          <p:nvPr/>
        </p:nvSpPr>
        <p:spPr>
          <a:xfrm>
            <a:off x="6403350" y="4504375"/>
            <a:ext cx="17127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Status Loss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3982" name="Google Shape;13982;p535"/>
          <p:cNvSpPr/>
          <p:nvPr/>
        </p:nvSpPr>
        <p:spPr>
          <a:xfrm>
            <a:off x="5955825" y="225517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83" name="Google Shape;13983;p535"/>
          <p:cNvCxnSpPr>
            <a:stCxn id="13966" idx="2"/>
            <a:endCxn id="13982" idx="6"/>
          </p:cNvCxnSpPr>
          <p:nvPr/>
        </p:nvCxnSpPr>
        <p:spPr>
          <a:xfrm flipH="1">
            <a:off x="6321775" y="2423350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3984" name="Google Shape;13984;p535"/>
          <p:cNvSpPr/>
          <p:nvPr/>
        </p:nvSpPr>
        <p:spPr>
          <a:xfrm>
            <a:off x="5955825" y="4069100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85" name="Google Shape;13985;p535"/>
          <p:cNvCxnSpPr>
            <a:stCxn id="13974" idx="2"/>
            <a:endCxn id="13984" idx="6"/>
          </p:cNvCxnSpPr>
          <p:nvPr/>
        </p:nvCxnSpPr>
        <p:spPr>
          <a:xfrm rot="10800000">
            <a:off x="6321725" y="4247150"/>
            <a:ext cx="10278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3986" name="Google Shape;13986;p535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87" name="Google Shape;13987;p535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88" name="Google Shape;13988;p535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989" name="Google Shape;13989;p535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3990" name="Google Shape;13990;p535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3991" name="Google Shape;13991;p535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</p:spTree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95" name="Shape 13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6" name="Google Shape;13996;p536"/>
          <p:cNvSpPr/>
          <p:nvPr/>
        </p:nvSpPr>
        <p:spPr>
          <a:xfrm>
            <a:off x="5776550" y="1332338"/>
            <a:ext cx="2739900" cy="1593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0000"/>
              </a:solidFill>
            </a:endParaRPr>
          </a:p>
        </p:txBody>
      </p:sp>
      <p:sp>
        <p:nvSpPr>
          <p:cNvPr id="13997" name="Google Shape;13997;p536"/>
          <p:cNvSpPr/>
          <p:nvPr/>
        </p:nvSpPr>
        <p:spPr>
          <a:xfrm>
            <a:off x="7872700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98" name="Google Shape;13998;p53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3999" name="Google Shape;13999;p536"/>
          <p:cNvSpPr txBox="1"/>
          <p:nvPr>
            <p:ph idx="1" type="body"/>
          </p:nvPr>
        </p:nvSpPr>
        <p:spPr>
          <a:xfrm>
            <a:off x="311700" y="1225225"/>
            <a:ext cx="4605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Second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Status of nodes is also determined by the sign of their connections to (high and low status) others</a:t>
            </a:r>
            <a:r>
              <a:rPr i="1" lang="en"/>
              <a:t>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lang="en">
                <a:solidFill>
                  <a:srgbClr val="FF0000"/>
                </a:solidFill>
              </a:rPr>
              <a:t>Negative ties to high status others decrease status</a:t>
            </a:r>
            <a:endParaRPr>
              <a:solidFill>
                <a:srgbClr val="FF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Negative ties to low status others increase status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0" name="Google Shape;14000;p536"/>
          <p:cNvSpPr/>
          <p:nvPr/>
        </p:nvSpPr>
        <p:spPr>
          <a:xfrm>
            <a:off x="7360375" y="22453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1" name="Google Shape;14001;p536"/>
          <p:cNvSpPr/>
          <p:nvPr/>
        </p:nvSpPr>
        <p:spPr>
          <a:xfrm>
            <a:off x="6869750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2" name="Google Shape;14002;p536"/>
          <p:cNvSpPr/>
          <p:nvPr/>
        </p:nvSpPr>
        <p:spPr>
          <a:xfrm>
            <a:off x="7360363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03" name="Google Shape;14003;p536"/>
          <p:cNvCxnSpPr>
            <a:stCxn id="14001" idx="4"/>
            <a:endCxn id="14000" idx="1"/>
          </p:cNvCxnSpPr>
          <p:nvPr/>
        </p:nvCxnSpPr>
        <p:spPr>
          <a:xfrm>
            <a:off x="7052750" y="17350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04" name="Google Shape;14004;p536"/>
          <p:cNvCxnSpPr>
            <a:stCxn id="14002" idx="4"/>
            <a:endCxn id="14000" idx="0"/>
          </p:cNvCxnSpPr>
          <p:nvPr/>
        </p:nvCxnSpPr>
        <p:spPr>
          <a:xfrm>
            <a:off x="7543363" y="17350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05" name="Google Shape;14005;p536"/>
          <p:cNvCxnSpPr>
            <a:stCxn id="13997" idx="4"/>
            <a:endCxn id="14000" idx="7"/>
          </p:cNvCxnSpPr>
          <p:nvPr/>
        </p:nvCxnSpPr>
        <p:spPr>
          <a:xfrm flipH="1">
            <a:off x="7672900" y="17350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06" name="Google Shape;14006;p536"/>
          <p:cNvSpPr txBox="1"/>
          <p:nvPr/>
        </p:nvSpPr>
        <p:spPr>
          <a:xfrm>
            <a:off x="6224950" y="2680575"/>
            <a:ext cx="19020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Status Loss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007" name="Google Shape;14007;p536"/>
          <p:cNvSpPr/>
          <p:nvPr/>
        </p:nvSpPr>
        <p:spPr>
          <a:xfrm>
            <a:off x="7349525" y="40691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8" name="Google Shape;14008;p536"/>
          <p:cNvSpPr/>
          <p:nvPr/>
        </p:nvSpPr>
        <p:spPr>
          <a:xfrm>
            <a:off x="6858900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9" name="Google Shape;14009;p536"/>
          <p:cNvSpPr/>
          <p:nvPr/>
        </p:nvSpPr>
        <p:spPr>
          <a:xfrm>
            <a:off x="7349513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10" name="Google Shape;14010;p536"/>
          <p:cNvSpPr/>
          <p:nvPr/>
        </p:nvSpPr>
        <p:spPr>
          <a:xfrm>
            <a:off x="7861850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11" name="Google Shape;14011;p536"/>
          <p:cNvCxnSpPr>
            <a:stCxn id="14008" idx="4"/>
            <a:endCxn id="14007" idx="1"/>
          </p:cNvCxnSpPr>
          <p:nvPr/>
        </p:nvCxnSpPr>
        <p:spPr>
          <a:xfrm>
            <a:off x="7041900" y="35588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12" name="Google Shape;14012;p536"/>
          <p:cNvCxnSpPr>
            <a:stCxn id="14009" idx="4"/>
            <a:endCxn id="14007" idx="0"/>
          </p:cNvCxnSpPr>
          <p:nvPr/>
        </p:nvCxnSpPr>
        <p:spPr>
          <a:xfrm>
            <a:off x="7532513" y="35588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13" name="Google Shape;14013;p536"/>
          <p:cNvCxnSpPr>
            <a:stCxn id="14010" idx="4"/>
            <a:endCxn id="14007" idx="7"/>
          </p:cNvCxnSpPr>
          <p:nvPr/>
        </p:nvCxnSpPr>
        <p:spPr>
          <a:xfrm flipH="1">
            <a:off x="7662050" y="35588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14" name="Google Shape;14014;p536"/>
          <p:cNvSpPr txBox="1"/>
          <p:nvPr/>
        </p:nvSpPr>
        <p:spPr>
          <a:xfrm>
            <a:off x="6403350" y="4504375"/>
            <a:ext cx="17127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Status Boost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015" name="Google Shape;14015;p536"/>
          <p:cNvSpPr/>
          <p:nvPr/>
        </p:nvSpPr>
        <p:spPr>
          <a:xfrm>
            <a:off x="5955825" y="225517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16" name="Google Shape;14016;p536"/>
          <p:cNvCxnSpPr>
            <a:stCxn id="14000" idx="2"/>
            <a:endCxn id="14015" idx="6"/>
          </p:cNvCxnSpPr>
          <p:nvPr/>
        </p:nvCxnSpPr>
        <p:spPr>
          <a:xfrm flipH="1">
            <a:off x="6321775" y="2423350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017" name="Google Shape;14017;p536"/>
          <p:cNvSpPr/>
          <p:nvPr/>
        </p:nvSpPr>
        <p:spPr>
          <a:xfrm>
            <a:off x="5955825" y="4069100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18" name="Google Shape;14018;p536"/>
          <p:cNvCxnSpPr>
            <a:stCxn id="14007" idx="2"/>
            <a:endCxn id="14017" idx="6"/>
          </p:cNvCxnSpPr>
          <p:nvPr/>
        </p:nvCxnSpPr>
        <p:spPr>
          <a:xfrm rot="10800000">
            <a:off x="6321725" y="4247150"/>
            <a:ext cx="1027800" cy="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019" name="Google Shape;14019;p536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20" name="Google Shape;14020;p536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21" name="Google Shape;14021;p536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22" name="Google Shape;14022;p536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23" name="Google Shape;14023;p536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24" name="Google Shape;14024;p536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</p:spTree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028" name="Shape 14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" name="Google Shape;14029;p537"/>
          <p:cNvSpPr/>
          <p:nvPr/>
        </p:nvSpPr>
        <p:spPr>
          <a:xfrm>
            <a:off x="5682800" y="3173288"/>
            <a:ext cx="2739900" cy="1593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0000"/>
              </a:solidFill>
            </a:endParaRPr>
          </a:p>
        </p:txBody>
      </p:sp>
      <p:sp>
        <p:nvSpPr>
          <p:cNvPr id="14030" name="Google Shape;14030;p53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4031" name="Google Shape;14031;p537"/>
          <p:cNvSpPr txBox="1"/>
          <p:nvPr>
            <p:ph idx="1" type="body"/>
          </p:nvPr>
        </p:nvSpPr>
        <p:spPr>
          <a:xfrm>
            <a:off x="311700" y="1225225"/>
            <a:ext cx="4605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Second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Status of nodes is also determined by the sign of their connections to (high and low status) others</a:t>
            </a:r>
            <a:r>
              <a:rPr i="1" lang="en"/>
              <a:t>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Negative ties to high status others decrease status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lang="en">
                <a:solidFill>
                  <a:srgbClr val="FF0000"/>
                </a:solidFill>
              </a:rPr>
              <a:t>Negative ties to low status others increase status</a:t>
            </a:r>
            <a:endParaRPr>
              <a:solidFill>
                <a:srgbClr val="FF0000"/>
              </a:solidFill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32" name="Google Shape;14032;p537"/>
          <p:cNvSpPr/>
          <p:nvPr/>
        </p:nvSpPr>
        <p:spPr>
          <a:xfrm>
            <a:off x="7360375" y="22453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33" name="Google Shape;14033;p537"/>
          <p:cNvSpPr/>
          <p:nvPr/>
        </p:nvSpPr>
        <p:spPr>
          <a:xfrm>
            <a:off x="6869750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34" name="Google Shape;14034;p537"/>
          <p:cNvSpPr/>
          <p:nvPr/>
        </p:nvSpPr>
        <p:spPr>
          <a:xfrm>
            <a:off x="7360363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35" name="Google Shape;14035;p537"/>
          <p:cNvCxnSpPr>
            <a:stCxn id="14033" idx="4"/>
            <a:endCxn id="14032" idx="1"/>
          </p:cNvCxnSpPr>
          <p:nvPr/>
        </p:nvCxnSpPr>
        <p:spPr>
          <a:xfrm>
            <a:off x="7052750" y="17350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36" name="Google Shape;14036;p537"/>
          <p:cNvCxnSpPr>
            <a:stCxn id="14034" idx="4"/>
            <a:endCxn id="14032" idx="0"/>
          </p:cNvCxnSpPr>
          <p:nvPr/>
        </p:nvCxnSpPr>
        <p:spPr>
          <a:xfrm>
            <a:off x="7543363" y="17350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37" name="Google Shape;14037;p537"/>
          <p:cNvSpPr txBox="1"/>
          <p:nvPr/>
        </p:nvSpPr>
        <p:spPr>
          <a:xfrm>
            <a:off x="6224950" y="2680575"/>
            <a:ext cx="19020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Status Loss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038" name="Google Shape;14038;p537"/>
          <p:cNvSpPr/>
          <p:nvPr/>
        </p:nvSpPr>
        <p:spPr>
          <a:xfrm>
            <a:off x="7349525" y="40691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39" name="Google Shape;14039;p537"/>
          <p:cNvSpPr/>
          <p:nvPr/>
        </p:nvSpPr>
        <p:spPr>
          <a:xfrm>
            <a:off x="6858900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40" name="Google Shape;14040;p537"/>
          <p:cNvSpPr/>
          <p:nvPr/>
        </p:nvSpPr>
        <p:spPr>
          <a:xfrm>
            <a:off x="7349513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41" name="Google Shape;14041;p537"/>
          <p:cNvSpPr/>
          <p:nvPr/>
        </p:nvSpPr>
        <p:spPr>
          <a:xfrm>
            <a:off x="7861850" y="32027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42" name="Google Shape;14042;p537"/>
          <p:cNvCxnSpPr>
            <a:stCxn id="14039" idx="4"/>
            <a:endCxn id="14038" idx="1"/>
          </p:cNvCxnSpPr>
          <p:nvPr/>
        </p:nvCxnSpPr>
        <p:spPr>
          <a:xfrm>
            <a:off x="7041900" y="3558800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43" name="Google Shape;14043;p537"/>
          <p:cNvCxnSpPr>
            <a:stCxn id="14040" idx="4"/>
            <a:endCxn id="14038" idx="0"/>
          </p:cNvCxnSpPr>
          <p:nvPr/>
        </p:nvCxnSpPr>
        <p:spPr>
          <a:xfrm>
            <a:off x="7532513" y="3558800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44" name="Google Shape;14044;p537"/>
          <p:cNvCxnSpPr>
            <a:stCxn id="14041" idx="4"/>
            <a:endCxn id="14038" idx="7"/>
          </p:cNvCxnSpPr>
          <p:nvPr/>
        </p:nvCxnSpPr>
        <p:spPr>
          <a:xfrm flipH="1">
            <a:off x="7662050" y="35588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45" name="Google Shape;14045;p537"/>
          <p:cNvSpPr txBox="1"/>
          <p:nvPr/>
        </p:nvSpPr>
        <p:spPr>
          <a:xfrm>
            <a:off x="6403350" y="4504375"/>
            <a:ext cx="17127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Status Boost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046" name="Google Shape;14046;p537"/>
          <p:cNvSpPr/>
          <p:nvPr/>
        </p:nvSpPr>
        <p:spPr>
          <a:xfrm>
            <a:off x="5955825" y="225517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47" name="Google Shape;14047;p537"/>
          <p:cNvCxnSpPr>
            <a:stCxn id="14032" idx="2"/>
            <a:endCxn id="14046" idx="6"/>
          </p:cNvCxnSpPr>
          <p:nvPr/>
        </p:nvCxnSpPr>
        <p:spPr>
          <a:xfrm flipH="1">
            <a:off x="6321775" y="2423350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048" name="Google Shape;14048;p537"/>
          <p:cNvSpPr/>
          <p:nvPr/>
        </p:nvSpPr>
        <p:spPr>
          <a:xfrm>
            <a:off x="5955825" y="4069100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49" name="Google Shape;14049;p537"/>
          <p:cNvCxnSpPr>
            <a:stCxn id="14038" idx="2"/>
            <a:endCxn id="14048" idx="6"/>
          </p:cNvCxnSpPr>
          <p:nvPr/>
        </p:nvCxnSpPr>
        <p:spPr>
          <a:xfrm rot="10800000">
            <a:off x="6321725" y="4247150"/>
            <a:ext cx="1027800" cy="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050" name="Google Shape;14050;p537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51" name="Google Shape;14051;p537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52" name="Google Shape;14052;p537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53" name="Google Shape;14053;p537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54" name="Google Shape;14054;p537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55" name="Google Shape;14055;p537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056" name="Google Shape;14056;p537"/>
          <p:cNvSpPr/>
          <p:nvPr/>
        </p:nvSpPr>
        <p:spPr>
          <a:xfrm>
            <a:off x="7872700" y="1378900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57" name="Google Shape;14057;p537"/>
          <p:cNvCxnSpPr>
            <a:stCxn id="14056" idx="4"/>
          </p:cNvCxnSpPr>
          <p:nvPr/>
        </p:nvCxnSpPr>
        <p:spPr>
          <a:xfrm flipH="1">
            <a:off x="7672900" y="1735000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061" name="Shape 14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2" name="Google Shape;14062;p53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4063" name="Google Shape;14063;p538"/>
          <p:cNvSpPr txBox="1"/>
          <p:nvPr>
            <p:ph idx="1" type="body"/>
          </p:nvPr>
        </p:nvSpPr>
        <p:spPr>
          <a:xfrm>
            <a:off x="311700" y="1225225"/>
            <a:ext cx="8697000" cy="20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Third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aim to </a:t>
            </a:r>
            <a:r>
              <a:rPr b="1" lang="en"/>
              <a:t>avoid</a:t>
            </a:r>
            <a:r>
              <a:rPr lang="en"/>
              <a:t> status </a:t>
            </a:r>
            <a:r>
              <a:rPr b="1" lang="en"/>
              <a:t>loss</a:t>
            </a:r>
            <a:r>
              <a:rPr lang="en"/>
              <a:t> and </a:t>
            </a:r>
            <a:r>
              <a:rPr b="1" lang="en"/>
              <a:t>seek</a:t>
            </a:r>
            <a:r>
              <a:rPr lang="en"/>
              <a:t> status </a:t>
            </a:r>
            <a:r>
              <a:rPr b="1" lang="en"/>
              <a:t>boosts</a:t>
            </a:r>
            <a:r>
              <a:rPr lang="en"/>
              <a:t>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High status individuals will accumulate positive ties</a:t>
            </a:r>
            <a:endParaRPr i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Rich get richer effect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64" name="Google Shape;14064;p538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65" name="Google Shape;14065;p538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66" name="Google Shape;14066;p538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67" name="Google Shape;14067;p538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68" name="Google Shape;14068;p538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69" name="Google Shape;14069;p538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070" name="Google Shape;14070;p538"/>
          <p:cNvSpPr/>
          <p:nvPr/>
        </p:nvSpPr>
        <p:spPr>
          <a:xfrm>
            <a:off x="1989375" y="42366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71" name="Google Shape;14071;p538"/>
          <p:cNvSpPr/>
          <p:nvPr/>
        </p:nvSpPr>
        <p:spPr>
          <a:xfrm>
            <a:off x="1498750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72" name="Google Shape;14072;p538"/>
          <p:cNvSpPr/>
          <p:nvPr/>
        </p:nvSpPr>
        <p:spPr>
          <a:xfrm>
            <a:off x="1989363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73" name="Google Shape;14073;p538"/>
          <p:cNvSpPr/>
          <p:nvPr/>
        </p:nvSpPr>
        <p:spPr>
          <a:xfrm>
            <a:off x="2501700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74" name="Google Shape;14074;p538"/>
          <p:cNvCxnSpPr>
            <a:stCxn id="14071" idx="4"/>
            <a:endCxn id="14070" idx="1"/>
          </p:cNvCxnSpPr>
          <p:nvPr/>
        </p:nvCxnSpPr>
        <p:spPr>
          <a:xfrm>
            <a:off x="1681750" y="3726313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75" name="Google Shape;14075;p538"/>
          <p:cNvCxnSpPr>
            <a:stCxn id="14072" idx="4"/>
            <a:endCxn id="14070" idx="0"/>
          </p:cNvCxnSpPr>
          <p:nvPr/>
        </p:nvCxnSpPr>
        <p:spPr>
          <a:xfrm>
            <a:off x="2172363" y="3726313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76" name="Google Shape;14076;p538"/>
          <p:cNvCxnSpPr>
            <a:stCxn id="14073" idx="4"/>
            <a:endCxn id="14070" idx="7"/>
          </p:cNvCxnSpPr>
          <p:nvPr/>
        </p:nvCxnSpPr>
        <p:spPr>
          <a:xfrm flipH="1">
            <a:off x="2301900" y="3726313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77" name="Google Shape;14077;p538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078" name="Google Shape;14078;p538"/>
          <p:cNvSpPr/>
          <p:nvPr/>
        </p:nvSpPr>
        <p:spPr>
          <a:xfrm>
            <a:off x="584825" y="4246488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79" name="Google Shape;14079;p538"/>
          <p:cNvSpPr/>
          <p:nvPr/>
        </p:nvSpPr>
        <p:spPr>
          <a:xfrm>
            <a:off x="7574113" y="41004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80" name="Google Shape;14080;p538"/>
          <p:cNvSpPr/>
          <p:nvPr/>
        </p:nvSpPr>
        <p:spPr>
          <a:xfrm>
            <a:off x="7083488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81" name="Google Shape;14081;p538"/>
          <p:cNvSpPr/>
          <p:nvPr/>
        </p:nvSpPr>
        <p:spPr>
          <a:xfrm>
            <a:off x="7574100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82" name="Google Shape;14082;p538"/>
          <p:cNvSpPr/>
          <p:nvPr/>
        </p:nvSpPr>
        <p:spPr>
          <a:xfrm>
            <a:off x="8086438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83" name="Google Shape;14083;p538"/>
          <p:cNvCxnSpPr>
            <a:stCxn id="14080" idx="4"/>
            <a:endCxn id="14079" idx="1"/>
          </p:cNvCxnSpPr>
          <p:nvPr/>
        </p:nvCxnSpPr>
        <p:spPr>
          <a:xfrm>
            <a:off x="7266488" y="3590138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84" name="Google Shape;14084;p538"/>
          <p:cNvCxnSpPr>
            <a:stCxn id="14081" idx="4"/>
            <a:endCxn id="14079" idx="0"/>
          </p:cNvCxnSpPr>
          <p:nvPr/>
        </p:nvCxnSpPr>
        <p:spPr>
          <a:xfrm>
            <a:off x="7757100" y="3590138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085" name="Google Shape;14085;p538"/>
          <p:cNvCxnSpPr>
            <a:stCxn id="14082" idx="4"/>
            <a:endCxn id="14079" idx="7"/>
          </p:cNvCxnSpPr>
          <p:nvPr/>
        </p:nvCxnSpPr>
        <p:spPr>
          <a:xfrm flipH="1">
            <a:off x="7886638" y="3590138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086" name="Google Shape;14086;p538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087" name="Google Shape;14087;p538"/>
          <p:cNvSpPr/>
          <p:nvPr/>
        </p:nvSpPr>
        <p:spPr>
          <a:xfrm>
            <a:off x="6169563" y="4110313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88" name="Google Shape;14088;p538"/>
          <p:cNvCxnSpPr>
            <a:stCxn id="14079" idx="2"/>
            <a:endCxn id="14087" idx="6"/>
          </p:cNvCxnSpPr>
          <p:nvPr/>
        </p:nvCxnSpPr>
        <p:spPr>
          <a:xfrm flipH="1">
            <a:off x="6535513" y="4278488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089" name="Google Shape;14089;p538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093" name="Shape 14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4" name="Google Shape;14094;p539"/>
          <p:cNvSpPr txBox="1"/>
          <p:nvPr>
            <p:ph idx="1" type="body"/>
          </p:nvPr>
        </p:nvSpPr>
        <p:spPr>
          <a:xfrm>
            <a:off x="311700" y="1225225"/>
            <a:ext cx="8697000" cy="193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Third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aim to </a:t>
            </a:r>
            <a:r>
              <a:rPr b="1" lang="en"/>
              <a:t>avoid</a:t>
            </a:r>
            <a:r>
              <a:rPr lang="en"/>
              <a:t> status </a:t>
            </a:r>
            <a:r>
              <a:rPr b="1" lang="en"/>
              <a:t>loss</a:t>
            </a:r>
            <a:r>
              <a:rPr lang="en"/>
              <a:t> and </a:t>
            </a:r>
            <a:r>
              <a:rPr b="1" lang="en"/>
              <a:t>seek</a:t>
            </a:r>
            <a:r>
              <a:rPr lang="en"/>
              <a:t> status </a:t>
            </a:r>
            <a:r>
              <a:rPr b="1" lang="en"/>
              <a:t>boosts</a:t>
            </a:r>
            <a:r>
              <a:rPr lang="en"/>
              <a:t>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Low status individuals will accumulate negative ties</a:t>
            </a:r>
            <a:endParaRPr i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“Gang up” effect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95" name="Google Shape;14095;p53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4096" name="Google Shape;14096;p539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97" name="Google Shape;14097;p539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98" name="Google Shape;14098;p539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99" name="Google Shape;14099;p539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00" name="Google Shape;14100;p539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01" name="Google Shape;14101;p539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102" name="Google Shape;14102;p539"/>
          <p:cNvSpPr/>
          <p:nvPr/>
        </p:nvSpPr>
        <p:spPr>
          <a:xfrm>
            <a:off x="1989375" y="42366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03" name="Google Shape;14103;p539"/>
          <p:cNvSpPr/>
          <p:nvPr/>
        </p:nvSpPr>
        <p:spPr>
          <a:xfrm>
            <a:off x="1498750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04" name="Google Shape;14104;p539"/>
          <p:cNvSpPr/>
          <p:nvPr/>
        </p:nvSpPr>
        <p:spPr>
          <a:xfrm>
            <a:off x="1989363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05" name="Google Shape;14105;p539"/>
          <p:cNvSpPr/>
          <p:nvPr/>
        </p:nvSpPr>
        <p:spPr>
          <a:xfrm>
            <a:off x="2501700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06" name="Google Shape;14106;p539"/>
          <p:cNvCxnSpPr>
            <a:stCxn id="14103" idx="4"/>
            <a:endCxn id="14102" idx="1"/>
          </p:cNvCxnSpPr>
          <p:nvPr/>
        </p:nvCxnSpPr>
        <p:spPr>
          <a:xfrm>
            <a:off x="1681750" y="3726313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07" name="Google Shape;14107;p539"/>
          <p:cNvCxnSpPr>
            <a:stCxn id="14104" idx="4"/>
            <a:endCxn id="14102" idx="0"/>
          </p:cNvCxnSpPr>
          <p:nvPr/>
        </p:nvCxnSpPr>
        <p:spPr>
          <a:xfrm>
            <a:off x="2172363" y="3726313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08" name="Google Shape;14108;p539"/>
          <p:cNvCxnSpPr>
            <a:stCxn id="14105" idx="4"/>
            <a:endCxn id="14102" idx="7"/>
          </p:cNvCxnSpPr>
          <p:nvPr/>
        </p:nvCxnSpPr>
        <p:spPr>
          <a:xfrm flipH="1">
            <a:off x="2301900" y="3726313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09" name="Google Shape;14109;p539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110" name="Google Shape;14110;p539"/>
          <p:cNvSpPr/>
          <p:nvPr/>
        </p:nvSpPr>
        <p:spPr>
          <a:xfrm>
            <a:off x="584825" y="4246488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11" name="Google Shape;14111;p539"/>
          <p:cNvSpPr/>
          <p:nvPr/>
        </p:nvSpPr>
        <p:spPr>
          <a:xfrm>
            <a:off x="7574113" y="41004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12" name="Google Shape;14112;p539"/>
          <p:cNvSpPr/>
          <p:nvPr/>
        </p:nvSpPr>
        <p:spPr>
          <a:xfrm>
            <a:off x="7083488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13" name="Google Shape;14113;p539"/>
          <p:cNvSpPr/>
          <p:nvPr/>
        </p:nvSpPr>
        <p:spPr>
          <a:xfrm>
            <a:off x="7574100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14" name="Google Shape;14114;p539"/>
          <p:cNvSpPr/>
          <p:nvPr/>
        </p:nvSpPr>
        <p:spPr>
          <a:xfrm>
            <a:off x="8086438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15" name="Google Shape;14115;p539"/>
          <p:cNvCxnSpPr>
            <a:stCxn id="14112" idx="4"/>
            <a:endCxn id="14111" idx="1"/>
          </p:cNvCxnSpPr>
          <p:nvPr/>
        </p:nvCxnSpPr>
        <p:spPr>
          <a:xfrm>
            <a:off x="7266488" y="3590138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16" name="Google Shape;14116;p539"/>
          <p:cNvCxnSpPr>
            <a:stCxn id="14113" idx="4"/>
            <a:endCxn id="14111" idx="0"/>
          </p:cNvCxnSpPr>
          <p:nvPr/>
        </p:nvCxnSpPr>
        <p:spPr>
          <a:xfrm>
            <a:off x="7757100" y="3590138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17" name="Google Shape;14117;p539"/>
          <p:cNvCxnSpPr>
            <a:stCxn id="14114" idx="4"/>
            <a:endCxn id="14111" idx="7"/>
          </p:cNvCxnSpPr>
          <p:nvPr/>
        </p:nvCxnSpPr>
        <p:spPr>
          <a:xfrm flipH="1">
            <a:off x="7886638" y="3590138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18" name="Google Shape;14118;p539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119" name="Google Shape;14119;p539"/>
          <p:cNvSpPr/>
          <p:nvPr/>
        </p:nvSpPr>
        <p:spPr>
          <a:xfrm>
            <a:off x="6169563" y="4110313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20" name="Google Shape;14120;p539"/>
          <p:cNvCxnSpPr>
            <a:stCxn id="14111" idx="2"/>
            <a:endCxn id="14119" idx="6"/>
          </p:cNvCxnSpPr>
          <p:nvPr/>
        </p:nvCxnSpPr>
        <p:spPr>
          <a:xfrm flipH="1">
            <a:off x="6535513" y="4278488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121" name="Google Shape;14121;p539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125" name="Shape 14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6" name="Google Shape;14126;p54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4127" name="Google Shape;14127;p540"/>
          <p:cNvSpPr txBox="1"/>
          <p:nvPr>
            <p:ph idx="1" type="body"/>
          </p:nvPr>
        </p:nvSpPr>
        <p:spPr>
          <a:xfrm>
            <a:off x="311700" y="1225225"/>
            <a:ext cx="8697000" cy="191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Third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aim to </a:t>
            </a:r>
            <a:r>
              <a:rPr b="1" lang="en"/>
              <a:t>avoid</a:t>
            </a:r>
            <a:r>
              <a:rPr lang="en"/>
              <a:t> status </a:t>
            </a:r>
            <a:r>
              <a:rPr b="1" lang="en"/>
              <a:t>loss</a:t>
            </a:r>
            <a:r>
              <a:rPr lang="en"/>
              <a:t> and </a:t>
            </a:r>
            <a:r>
              <a:rPr b="1" lang="en"/>
              <a:t>seek</a:t>
            </a:r>
            <a:r>
              <a:rPr lang="en"/>
              <a:t> status </a:t>
            </a:r>
            <a:r>
              <a:rPr b="1" lang="en"/>
              <a:t>boosts</a:t>
            </a:r>
            <a:r>
              <a:rPr lang="en"/>
              <a:t>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High status individuals will lose negative ties</a:t>
            </a:r>
            <a:endParaRPr i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28" name="Google Shape;14128;p540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29" name="Google Shape;14129;p540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0" name="Google Shape;14130;p540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31" name="Google Shape;14131;p540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32" name="Google Shape;14132;p540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33" name="Google Shape;14133;p540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134" name="Google Shape;14134;p540"/>
          <p:cNvSpPr/>
          <p:nvPr/>
        </p:nvSpPr>
        <p:spPr>
          <a:xfrm>
            <a:off x="1989375" y="42366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5" name="Google Shape;14135;p540"/>
          <p:cNvSpPr/>
          <p:nvPr/>
        </p:nvSpPr>
        <p:spPr>
          <a:xfrm>
            <a:off x="1498750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6" name="Google Shape;14136;p540"/>
          <p:cNvSpPr/>
          <p:nvPr/>
        </p:nvSpPr>
        <p:spPr>
          <a:xfrm>
            <a:off x="1989363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7" name="Google Shape;14137;p540"/>
          <p:cNvSpPr/>
          <p:nvPr/>
        </p:nvSpPr>
        <p:spPr>
          <a:xfrm>
            <a:off x="2501700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38" name="Google Shape;14138;p540"/>
          <p:cNvCxnSpPr>
            <a:stCxn id="14135" idx="4"/>
            <a:endCxn id="14134" idx="1"/>
          </p:cNvCxnSpPr>
          <p:nvPr/>
        </p:nvCxnSpPr>
        <p:spPr>
          <a:xfrm>
            <a:off x="1681750" y="3726313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39" name="Google Shape;14139;p540"/>
          <p:cNvCxnSpPr>
            <a:stCxn id="14136" idx="4"/>
            <a:endCxn id="14134" idx="0"/>
          </p:cNvCxnSpPr>
          <p:nvPr/>
        </p:nvCxnSpPr>
        <p:spPr>
          <a:xfrm>
            <a:off x="2172363" y="3726313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40" name="Google Shape;14140;p540"/>
          <p:cNvCxnSpPr>
            <a:stCxn id="14137" idx="4"/>
            <a:endCxn id="14134" idx="7"/>
          </p:cNvCxnSpPr>
          <p:nvPr/>
        </p:nvCxnSpPr>
        <p:spPr>
          <a:xfrm flipH="1">
            <a:off x="2301900" y="3726313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41" name="Google Shape;14141;p540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142" name="Google Shape;14142;p540"/>
          <p:cNvSpPr/>
          <p:nvPr/>
        </p:nvSpPr>
        <p:spPr>
          <a:xfrm>
            <a:off x="584825" y="4246488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43" name="Google Shape;14143;p540"/>
          <p:cNvSpPr/>
          <p:nvPr/>
        </p:nvSpPr>
        <p:spPr>
          <a:xfrm>
            <a:off x="7574113" y="41004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44" name="Google Shape;14144;p540"/>
          <p:cNvSpPr/>
          <p:nvPr/>
        </p:nvSpPr>
        <p:spPr>
          <a:xfrm>
            <a:off x="7083488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45" name="Google Shape;14145;p540"/>
          <p:cNvSpPr/>
          <p:nvPr/>
        </p:nvSpPr>
        <p:spPr>
          <a:xfrm>
            <a:off x="7574100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46" name="Google Shape;14146;p540"/>
          <p:cNvSpPr/>
          <p:nvPr/>
        </p:nvSpPr>
        <p:spPr>
          <a:xfrm>
            <a:off x="8086438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47" name="Google Shape;14147;p540"/>
          <p:cNvCxnSpPr>
            <a:stCxn id="14144" idx="4"/>
            <a:endCxn id="14143" idx="1"/>
          </p:cNvCxnSpPr>
          <p:nvPr/>
        </p:nvCxnSpPr>
        <p:spPr>
          <a:xfrm>
            <a:off x="7266488" y="3590138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48" name="Google Shape;14148;p540"/>
          <p:cNvCxnSpPr>
            <a:stCxn id="14145" idx="4"/>
            <a:endCxn id="14143" idx="0"/>
          </p:cNvCxnSpPr>
          <p:nvPr/>
        </p:nvCxnSpPr>
        <p:spPr>
          <a:xfrm>
            <a:off x="7757100" y="3590138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49" name="Google Shape;14149;p540"/>
          <p:cNvCxnSpPr>
            <a:stCxn id="14146" idx="4"/>
            <a:endCxn id="14143" idx="7"/>
          </p:cNvCxnSpPr>
          <p:nvPr/>
        </p:nvCxnSpPr>
        <p:spPr>
          <a:xfrm flipH="1">
            <a:off x="7886638" y="3590138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50" name="Google Shape;14150;p540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151" name="Google Shape;14151;p540"/>
          <p:cNvSpPr/>
          <p:nvPr/>
        </p:nvSpPr>
        <p:spPr>
          <a:xfrm>
            <a:off x="6169563" y="4110313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52" name="Google Shape;14152;p540"/>
          <p:cNvCxnSpPr>
            <a:stCxn id="14134" idx="2"/>
            <a:endCxn id="14142" idx="6"/>
          </p:cNvCxnSpPr>
          <p:nvPr/>
        </p:nvCxnSpPr>
        <p:spPr>
          <a:xfrm flipH="1">
            <a:off x="950775" y="4414663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153" name="Google Shape;14153;p540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157" name="Shape 14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8" name="Google Shape;14158;p54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Status theory</a:t>
            </a:r>
            <a:endParaRPr/>
          </a:p>
        </p:txBody>
      </p:sp>
      <p:sp>
        <p:nvSpPr>
          <p:cNvPr id="14159" name="Google Shape;14159;p541"/>
          <p:cNvSpPr txBox="1"/>
          <p:nvPr>
            <p:ph idx="1" type="body"/>
          </p:nvPr>
        </p:nvSpPr>
        <p:spPr>
          <a:xfrm>
            <a:off x="311700" y="1225225"/>
            <a:ext cx="8697000" cy="21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Status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Designed to explain distribution of positive and negative ties in </a:t>
            </a:r>
            <a:r>
              <a:rPr b="1" lang="en"/>
              <a:t>valenced</a:t>
            </a:r>
            <a:r>
              <a:rPr lang="en"/>
              <a:t> networks with </a:t>
            </a:r>
            <a:r>
              <a:rPr b="1" lang="en"/>
              <a:t>directed</a:t>
            </a:r>
            <a:r>
              <a:rPr lang="en"/>
              <a:t>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Third principle: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aim to </a:t>
            </a:r>
            <a:r>
              <a:rPr b="1" lang="en"/>
              <a:t>avoid</a:t>
            </a:r>
            <a:r>
              <a:rPr lang="en"/>
              <a:t> status </a:t>
            </a:r>
            <a:r>
              <a:rPr b="1" lang="en"/>
              <a:t>loss</a:t>
            </a:r>
            <a:r>
              <a:rPr lang="en"/>
              <a:t> and </a:t>
            </a:r>
            <a:r>
              <a:rPr b="1" lang="en"/>
              <a:t>seek</a:t>
            </a:r>
            <a:r>
              <a:rPr lang="en"/>
              <a:t> status </a:t>
            </a:r>
            <a:r>
              <a:rPr b="1" lang="en"/>
              <a:t>boosts</a:t>
            </a:r>
            <a:r>
              <a:rPr lang="en"/>
              <a:t>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Low status individuals will lose positive  ties</a:t>
            </a:r>
            <a:endParaRPr i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0" name="Google Shape;14160;p541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1" name="Google Shape;14161;p541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2" name="Google Shape;14162;p541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63" name="Google Shape;14163;p541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64" name="Google Shape;14164;p541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65" name="Google Shape;14165;p541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166" name="Google Shape;14166;p541"/>
          <p:cNvSpPr/>
          <p:nvPr/>
        </p:nvSpPr>
        <p:spPr>
          <a:xfrm>
            <a:off x="1989375" y="42366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7" name="Google Shape;14167;p541"/>
          <p:cNvSpPr/>
          <p:nvPr/>
        </p:nvSpPr>
        <p:spPr>
          <a:xfrm>
            <a:off x="1498750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8" name="Google Shape;14168;p541"/>
          <p:cNvSpPr/>
          <p:nvPr/>
        </p:nvSpPr>
        <p:spPr>
          <a:xfrm>
            <a:off x="1989363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9" name="Google Shape;14169;p541"/>
          <p:cNvSpPr/>
          <p:nvPr/>
        </p:nvSpPr>
        <p:spPr>
          <a:xfrm>
            <a:off x="2501700" y="3370213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70" name="Google Shape;14170;p541"/>
          <p:cNvCxnSpPr>
            <a:stCxn id="14167" idx="4"/>
            <a:endCxn id="14166" idx="1"/>
          </p:cNvCxnSpPr>
          <p:nvPr/>
        </p:nvCxnSpPr>
        <p:spPr>
          <a:xfrm>
            <a:off x="1681750" y="3726313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71" name="Google Shape;14171;p541"/>
          <p:cNvCxnSpPr>
            <a:stCxn id="14168" idx="4"/>
            <a:endCxn id="14166" idx="0"/>
          </p:cNvCxnSpPr>
          <p:nvPr/>
        </p:nvCxnSpPr>
        <p:spPr>
          <a:xfrm>
            <a:off x="2172363" y="3726313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72" name="Google Shape;14172;p541"/>
          <p:cNvCxnSpPr>
            <a:stCxn id="14169" idx="4"/>
            <a:endCxn id="14166" idx="7"/>
          </p:cNvCxnSpPr>
          <p:nvPr/>
        </p:nvCxnSpPr>
        <p:spPr>
          <a:xfrm flipH="1">
            <a:off x="2301900" y="3726313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73" name="Google Shape;14173;p541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174" name="Google Shape;14174;p541"/>
          <p:cNvSpPr/>
          <p:nvPr/>
        </p:nvSpPr>
        <p:spPr>
          <a:xfrm>
            <a:off x="584825" y="4246488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5" name="Google Shape;14175;p541"/>
          <p:cNvSpPr/>
          <p:nvPr/>
        </p:nvSpPr>
        <p:spPr>
          <a:xfrm>
            <a:off x="7574113" y="41004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6" name="Google Shape;14176;p541"/>
          <p:cNvSpPr/>
          <p:nvPr/>
        </p:nvSpPr>
        <p:spPr>
          <a:xfrm>
            <a:off x="7083488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7" name="Google Shape;14177;p541"/>
          <p:cNvSpPr/>
          <p:nvPr/>
        </p:nvSpPr>
        <p:spPr>
          <a:xfrm>
            <a:off x="7574100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8" name="Google Shape;14178;p541"/>
          <p:cNvSpPr/>
          <p:nvPr/>
        </p:nvSpPr>
        <p:spPr>
          <a:xfrm>
            <a:off x="8086438" y="3234038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79" name="Google Shape;14179;p541"/>
          <p:cNvCxnSpPr>
            <a:stCxn id="14176" idx="4"/>
            <a:endCxn id="14175" idx="1"/>
          </p:cNvCxnSpPr>
          <p:nvPr/>
        </p:nvCxnSpPr>
        <p:spPr>
          <a:xfrm>
            <a:off x="7266488" y="3590138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80" name="Google Shape;14180;p541"/>
          <p:cNvCxnSpPr>
            <a:stCxn id="14177" idx="4"/>
            <a:endCxn id="14175" idx="0"/>
          </p:cNvCxnSpPr>
          <p:nvPr/>
        </p:nvCxnSpPr>
        <p:spPr>
          <a:xfrm>
            <a:off x="7757100" y="3590138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81" name="Google Shape;14181;p541"/>
          <p:cNvCxnSpPr>
            <a:stCxn id="14178" idx="4"/>
            <a:endCxn id="14175" idx="7"/>
          </p:cNvCxnSpPr>
          <p:nvPr/>
        </p:nvCxnSpPr>
        <p:spPr>
          <a:xfrm flipH="1">
            <a:off x="7886638" y="3590138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82" name="Google Shape;14182;p541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183" name="Google Shape;14183;p541"/>
          <p:cNvSpPr/>
          <p:nvPr/>
        </p:nvSpPr>
        <p:spPr>
          <a:xfrm>
            <a:off x="6169563" y="4110313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84" name="Google Shape;14184;p541"/>
          <p:cNvCxnSpPr>
            <a:stCxn id="14166" idx="2"/>
            <a:endCxn id="14174" idx="6"/>
          </p:cNvCxnSpPr>
          <p:nvPr/>
        </p:nvCxnSpPr>
        <p:spPr>
          <a:xfrm flipH="1">
            <a:off x="950775" y="4414663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185" name="Google Shape;14185;p541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189" name="Shape 14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0" name="Google Shape;14190;p54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Karma theory</a:t>
            </a:r>
            <a:endParaRPr/>
          </a:p>
        </p:txBody>
      </p:sp>
      <p:sp>
        <p:nvSpPr>
          <p:cNvPr id="14191" name="Google Shape;14191;p542"/>
          <p:cNvSpPr txBox="1"/>
          <p:nvPr>
            <p:ph idx="1" type="body"/>
          </p:nvPr>
        </p:nvSpPr>
        <p:spPr>
          <a:xfrm>
            <a:off x="311700" y="1225225"/>
            <a:ext cx="8697000" cy="161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Karma Theory: </a:t>
            </a:r>
            <a:r>
              <a:rPr lang="en"/>
              <a:t>You get what you spread out!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theory is based on (negative and positive) </a:t>
            </a:r>
            <a:r>
              <a:rPr b="1" lang="en"/>
              <a:t>popularity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Graph theoretic </a:t>
            </a:r>
            <a:r>
              <a:rPr i="1" lang="en"/>
              <a:t>indegree</a:t>
            </a:r>
            <a:r>
              <a:rPr lang="en"/>
              <a:t> centrality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Karma theory is based on (negative and positive) </a:t>
            </a:r>
            <a:r>
              <a:rPr b="1" lang="en"/>
              <a:t>activity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Graph theoretic </a:t>
            </a:r>
            <a:r>
              <a:rPr i="1" lang="en"/>
              <a:t>outdegree</a:t>
            </a:r>
            <a:r>
              <a:rPr lang="en"/>
              <a:t> centrality </a:t>
            </a:r>
            <a:endParaRPr i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2" name="Google Shape;14192;p542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3" name="Google Shape;14193;p542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4" name="Google Shape;14194;p542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195" name="Google Shape;14195;p542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196" name="Google Shape;14196;p542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197" name="Google Shape;14197;p542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198" name="Google Shape;14198;p542"/>
          <p:cNvSpPr/>
          <p:nvPr/>
        </p:nvSpPr>
        <p:spPr>
          <a:xfrm>
            <a:off x="1989375" y="4236613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9" name="Google Shape;14199;p542"/>
          <p:cNvSpPr/>
          <p:nvPr/>
        </p:nvSpPr>
        <p:spPr>
          <a:xfrm>
            <a:off x="1498750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0" name="Google Shape;14200;p542"/>
          <p:cNvSpPr/>
          <p:nvPr/>
        </p:nvSpPr>
        <p:spPr>
          <a:xfrm>
            <a:off x="1989363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1" name="Google Shape;14201;p542"/>
          <p:cNvSpPr/>
          <p:nvPr/>
        </p:nvSpPr>
        <p:spPr>
          <a:xfrm>
            <a:off x="2501700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02" name="Google Shape;14202;p542"/>
          <p:cNvCxnSpPr>
            <a:stCxn id="14199" idx="4"/>
            <a:endCxn id="14198" idx="1"/>
          </p:cNvCxnSpPr>
          <p:nvPr/>
        </p:nvCxnSpPr>
        <p:spPr>
          <a:xfrm>
            <a:off x="1681750" y="3726313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03" name="Google Shape;14203;p542"/>
          <p:cNvCxnSpPr>
            <a:stCxn id="14200" idx="4"/>
            <a:endCxn id="14198" idx="0"/>
          </p:cNvCxnSpPr>
          <p:nvPr/>
        </p:nvCxnSpPr>
        <p:spPr>
          <a:xfrm>
            <a:off x="2172363" y="3726313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04" name="Google Shape;14204;p542"/>
          <p:cNvCxnSpPr>
            <a:stCxn id="14201" idx="4"/>
            <a:endCxn id="14198" idx="7"/>
          </p:cNvCxnSpPr>
          <p:nvPr/>
        </p:nvCxnSpPr>
        <p:spPr>
          <a:xfrm flipH="1">
            <a:off x="2301900" y="3726313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205" name="Google Shape;14205;p542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206" name="Google Shape;14206;p542"/>
          <p:cNvSpPr/>
          <p:nvPr/>
        </p:nvSpPr>
        <p:spPr>
          <a:xfrm>
            <a:off x="584825" y="424648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7" name="Google Shape;14207;p542"/>
          <p:cNvSpPr/>
          <p:nvPr/>
        </p:nvSpPr>
        <p:spPr>
          <a:xfrm>
            <a:off x="7574113" y="4100438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8" name="Google Shape;14208;p542"/>
          <p:cNvSpPr/>
          <p:nvPr/>
        </p:nvSpPr>
        <p:spPr>
          <a:xfrm>
            <a:off x="7083488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9" name="Google Shape;14209;p542"/>
          <p:cNvSpPr/>
          <p:nvPr/>
        </p:nvSpPr>
        <p:spPr>
          <a:xfrm>
            <a:off x="7574100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0" name="Google Shape;14210;p542"/>
          <p:cNvSpPr/>
          <p:nvPr/>
        </p:nvSpPr>
        <p:spPr>
          <a:xfrm>
            <a:off x="8086438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11" name="Google Shape;14211;p542"/>
          <p:cNvCxnSpPr>
            <a:stCxn id="14208" idx="4"/>
            <a:endCxn id="14207" idx="1"/>
          </p:cNvCxnSpPr>
          <p:nvPr/>
        </p:nvCxnSpPr>
        <p:spPr>
          <a:xfrm>
            <a:off x="7266488" y="3590138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12" name="Google Shape;14212;p542"/>
          <p:cNvCxnSpPr>
            <a:stCxn id="14209" idx="4"/>
            <a:endCxn id="14207" idx="0"/>
          </p:cNvCxnSpPr>
          <p:nvPr/>
        </p:nvCxnSpPr>
        <p:spPr>
          <a:xfrm>
            <a:off x="7757100" y="3590138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13" name="Google Shape;14213;p542"/>
          <p:cNvCxnSpPr>
            <a:stCxn id="14210" idx="4"/>
            <a:endCxn id="14207" idx="7"/>
          </p:cNvCxnSpPr>
          <p:nvPr/>
        </p:nvCxnSpPr>
        <p:spPr>
          <a:xfrm flipH="1">
            <a:off x="7886638" y="3590138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214" name="Google Shape;14214;p542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215" name="Google Shape;14215;p542"/>
          <p:cNvSpPr/>
          <p:nvPr/>
        </p:nvSpPr>
        <p:spPr>
          <a:xfrm>
            <a:off x="6169563" y="41103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6" name="Google Shape;14216;p542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220" name="Shape 14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1" name="Google Shape;14221;p54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Karma theory</a:t>
            </a:r>
            <a:endParaRPr/>
          </a:p>
        </p:txBody>
      </p:sp>
      <p:sp>
        <p:nvSpPr>
          <p:cNvPr id="14222" name="Google Shape;14222;p543"/>
          <p:cNvSpPr txBox="1"/>
          <p:nvPr>
            <p:ph idx="1" type="body"/>
          </p:nvPr>
        </p:nvSpPr>
        <p:spPr>
          <a:xfrm>
            <a:off x="311700" y="1225225"/>
            <a:ext cx="8697000" cy="161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Karma Theory: </a:t>
            </a:r>
            <a:r>
              <a:rPr lang="en"/>
              <a:t>You get what you spread out!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theory is based on (negative and positive) </a:t>
            </a:r>
            <a:r>
              <a:rPr b="1" lang="en"/>
              <a:t>popularity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Graph theoretic </a:t>
            </a:r>
            <a:r>
              <a:rPr i="1" lang="en"/>
              <a:t>indegree</a:t>
            </a:r>
            <a:r>
              <a:rPr lang="en"/>
              <a:t> centrality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Karma theory is based on (negative and positive) </a:t>
            </a:r>
            <a:r>
              <a:rPr b="1" lang="en"/>
              <a:t>activity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Predict valenced indegree (what you get) from valenced outdegree (what you spread)</a:t>
            </a:r>
            <a:endParaRPr i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23" name="Google Shape;14223;p543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24" name="Google Shape;14224;p543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25" name="Google Shape;14225;p543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26" name="Google Shape;14226;p543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227" name="Google Shape;14227;p543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228" name="Google Shape;14228;p543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229" name="Google Shape;14229;p543"/>
          <p:cNvSpPr/>
          <p:nvPr/>
        </p:nvSpPr>
        <p:spPr>
          <a:xfrm>
            <a:off x="1989375" y="4236613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30" name="Google Shape;14230;p543"/>
          <p:cNvSpPr/>
          <p:nvPr/>
        </p:nvSpPr>
        <p:spPr>
          <a:xfrm>
            <a:off x="1498750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31" name="Google Shape;14231;p543"/>
          <p:cNvSpPr/>
          <p:nvPr/>
        </p:nvSpPr>
        <p:spPr>
          <a:xfrm>
            <a:off x="1989363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32" name="Google Shape;14232;p543"/>
          <p:cNvSpPr/>
          <p:nvPr/>
        </p:nvSpPr>
        <p:spPr>
          <a:xfrm>
            <a:off x="2501700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33" name="Google Shape;14233;p543"/>
          <p:cNvCxnSpPr>
            <a:stCxn id="14230" idx="4"/>
            <a:endCxn id="14229" idx="1"/>
          </p:cNvCxnSpPr>
          <p:nvPr/>
        </p:nvCxnSpPr>
        <p:spPr>
          <a:xfrm>
            <a:off x="1681750" y="3726313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34" name="Google Shape;14234;p543"/>
          <p:cNvCxnSpPr>
            <a:stCxn id="14231" idx="4"/>
            <a:endCxn id="14229" idx="0"/>
          </p:cNvCxnSpPr>
          <p:nvPr/>
        </p:nvCxnSpPr>
        <p:spPr>
          <a:xfrm>
            <a:off x="2172363" y="3726313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35" name="Google Shape;14235;p543"/>
          <p:cNvCxnSpPr>
            <a:stCxn id="14232" idx="4"/>
            <a:endCxn id="14229" idx="7"/>
          </p:cNvCxnSpPr>
          <p:nvPr/>
        </p:nvCxnSpPr>
        <p:spPr>
          <a:xfrm flipH="1">
            <a:off x="2301900" y="3726313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236" name="Google Shape;14236;p543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237" name="Google Shape;14237;p543"/>
          <p:cNvSpPr/>
          <p:nvPr/>
        </p:nvSpPr>
        <p:spPr>
          <a:xfrm>
            <a:off x="584825" y="424648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38" name="Google Shape;14238;p543"/>
          <p:cNvSpPr/>
          <p:nvPr/>
        </p:nvSpPr>
        <p:spPr>
          <a:xfrm>
            <a:off x="7574113" y="4100438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39" name="Google Shape;14239;p543"/>
          <p:cNvSpPr/>
          <p:nvPr/>
        </p:nvSpPr>
        <p:spPr>
          <a:xfrm>
            <a:off x="7083488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40" name="Google Shape;14240;p543"/>
          <p:cNvSpPr/>
          <p:nvPr/>
        </p:nvSpPr>
        <p:spPr>
          <a:xfrm>
            <a:off x="7574100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41" name="Google Shape;14241;p543"/>
          <p:cNvSpPr/>
          <p:nvPr/>
        </p:nvSpPr>
        <p:spPr>
          <a:xfrm>
            <a:off x="8086438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42" name="Google Shape;14242;p543"/>
          <p:cNvCxnSpPr>
            <a:stCxn id="14239" idx="4"/>
            <a:endCxn id="14238" idx="1"/>
          </p:cNvCxnSpPr>
          <p:nvPr/>
        </p:nvCxnSpPr>
        <p:spPr>
          <a:xfrm>
            <a:off x="7266488" y="3590138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43" name="Google Shape;14243;p543"/>
          <p:cNvCxnSpPr>
            <a:stCxn id="14240" idx="4"/>
            <a:endCxn id="14238" idx="0"/>
          </p:cNvCxnSpPr>
          <p:nvPr/>
        </p:nvCxnSpPr>
        <p:spPr>
          <a:xfrm>
            <a:off x="7757100" y="3590138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44" name="Google Shape;14244;p543"/>
          <p:cNvCxnSpPr>
            <a:stCxn id="14241" idx="4"/>
            <a:endCxn id="14238" idx="7"/>
          </p:cNvCxnSpPr>
          <p:nvPr/>
        </p:nvCxnSpPr>
        <p:spPr>
          <a:xfrm flipH="1">
            <a:off x="7886638" y="3590138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245" name="Google Shape;14245;p543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246" name="Google Shape;14246;p543"/>
          <p:cNvSpPr/>
          <p:nvPr/>
        </p:nvSpPr>
        <p:spPr>
          <a:xfrm>
            <a:off x="6169563" y="41103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47" name="Google Shape;14247;p543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251" name="Shape 14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2" name="Google Shape;14252;p54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Karma theory</a:t>
            </a:r>
            <a:endParaRPr/>
          </a:p>
        </p:txBody>
      </p:sp>
      <p:sp>
        <p:nvSpPr>
          <p:cNvPr id="14253" name="Google Shape;14253;p544"/>
          <p:cNvSpPr txBox="1"/>
          <p:nvPr>
            <p:ph idx="1" type="body"/>
          </p:nvPr>
        </p:nvSpPr>
        <p:spPr>
          <a:xfrm>
            <a:off x="311700" y="1225225"/>
            <a:ext cx="8697000" cy="21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Karma Theory: </a:t>
            </a:r>
            <a:r>
              <a:rPr lang="en"/>
              <a:t>You get what you spread out!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theory is based on (negative and positive) </a:t>
            </a:r>
            <a:r>
              <a:rPr b="1" lang="en"/>
              <a:t>popularity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Graph theoretic </a:t>
            </a:r>
            <a:r>
              <a:rPr i="1" lang="en"/>
              <a:t>indegree</a:t>
            </a:r>
            <a:r>
              <a:rPr lang="en"/>
              <a:t> centrality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Karma theory is based on (negative and positive) </a:t>
            </a:r>
            <a:r>
              <a:rPr b="1" lang="en"/>
              <a:t>activity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Predict valenced indegree (what you get) from valenced outdegree (what you spread)</a:t>
            </a:r>
            <a:endParaRPr b="1"/>
          </a:p>
        </p:txBody>
      </p:sp>
      <p:sp>
        <p:nvSpPr>
          <p:cNvPr id="14254" name="Google Shape;14254;p544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55" name="Google Shape;14255;p544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56" name="Google Shape;14256;p544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57" name="Google Shape;14257;p544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258" name="Google Shape;14258;p544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259" name="Google Shape;14259;p544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260" name="Google Shape;14260;p544"/>
          <p:cNvSpPr/>
          <p:nvPr/>
        </p:nvSpPr>
        <p:spPr>
          <a:xfrm>
            <a:off x="1989375" y="4236613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1" name="Google Shape;14261;p544"/>
          <p:cNvSpPr/>
          <p:nvPr/>
        </p:nvSpPr>
        <p:spPr>
          <a:xfrm>
            <a:off x="1498750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2" name="Google Shape;14262;p544"/>
          <p:cNvSpPr/>
          <p:nvPr/>
        </p:nvSpPr>
        <p:spPr>
          <a:xfrm>
            <a:off x="1989363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3" name="Google Shape;14263;p544"/>
          <p:cNvSpPr/>
          <p:nvPr/>
        </p:nvSpPr>
        <p:spPr>
          <a:xfrm>
            <a:off x="2501700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64" name="Google Shape;14264;p544"/>
          <p:cNvCxnSpPr>
            <a:stCxn id="14261" idx="4"/>
            <a:endCxn id="14260" idx="1"/>
          </p:cNvCxnSpPr>
          <p:nvPr/>
        </p:nvCxnSpPr>
        <p:spPr>
          <a:xfrm>
            <a:off x="1681750" y="3726313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65" name="Google Shape;14265;p544"/>
          <p:cNvCxnSpPr>
            <a:stCxn id="14262" idx="4"/>
            <a:endCxn id="14260" idx="0"/>
          </p:cNvCxnSpPr>
          <p:nvPr/>
        </p:nvCxnSpPr>
        <p:spPr>
          <a:xfrm>
            <a:off x="2172363" y="3726313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66" name="Google Shape;14266;p544"/>
          <p:cNvCxnSpPr>
            <a:stCxn id="14263" idx="4"/>
            <a:endCxn id="14260" idx="7"/>
          </p:cNvCxnSpPr>
          <p:nvPr/>
        </p:nvCxnSpPr>
        <p:spPr>
          <a:xfrm flipH="1">
            <a:off x="2301900" y="3726313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267" name="Google Shape;14267;p544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268" name="Google Shape;14268;p544"/>
          <p:cNvSpPr/>
          <p:nvPr/>
        </p:nvSpPr>
        <p:spPr>
          <a:xfrm>
            <a:off x="584825" y="424648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9" name="Google Shape;14269;p544"/>
          <p:cNvSpPr/>
          <p:nvPr/>
        </p:nvSpPr>
        <p:spPr>
          <a:xfrm>
            <a:off x="7574113" y="4100438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70" name="Google Shape;14270;p544"/>
          <p:cNvSpPr/>
          <p:nvPr/>
        </p:nvSpPr>
        <p:spPr>
          <a:xfrm>
            <a:off x="7083488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71" name="Google Shape;14271;p544"/>
          <p:cNvSpPr/>
          <p:nvPr/>
        </p:nvSpPr>
        <p:spPr>
          <a:xfrm>
            <a:off x="7574100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72" name="Google Shape;14272;p544"/>
          <p:cNvSpPr/>
          <p:nvPr/>
        </p:nvSpPr>
        <p:spPr>
          <a:xfrm>
            <a:off x="8086438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73" name="Google Shape;14273;p544"/>
          <p:cNvCxnSpPr>
            <a:stCxn id="14270" idx="4"/>
            <a:endCxn id="14269" idx="1"/>
          </p:cNvCxnSpPr>
          <p:nvPr/>
        </p:nvCxnSpPr>
        <p:spPr>
          <a:xfrm>
            <a:off x="7266488" y="3590138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74" name="Google Shape;14274;p544"/>
          <p:cNvCxnSpPr>
            <a:stCxn id="14271" idx="4"/>
            <a:endCxn id="14269" idx="0"/>
          </p:cNvCxnSpPr>
          <p:nvPr/>
        </p:nvCxnSpPr>
        <p:spPr>
          <a:xfrm>
            <a:off x="7757100" y="3590138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75" name="Google Shape;14275;p544"/>
          <p:cNvCxnSpPr>
            <a:stCxn id="14272" idx="4"/>
            <a:endCxn id="14269" idx="7"/>
          </p:cNvCxnSpPr>
          <p:nvPr/>
        </p:nvCxnSpPr>
        <p:spPr>
          <a:xfrm flipH="1">
            <a:off x="7886638" y="3590138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276" name="Google Shape;14276;p544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277" name="Google Shape;14277;p544"/>
          <p:cNvSpPr/>
          <p:nvPr/>
        </p:nvSpPr>
        <p:spPr>
          <a:xfrm>
            <a:off x="6169563" y="41103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78" name="Google Shape;14278;p544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79" name="Google Shape;14279;p544"/>
          <p:cNvCxnSpPr>
            <a:stCxn id="14269" idx="2"/>
            <a:endCxn id="14277" idx="6"/>
          </p:cNvCxnSpPr>
          <p:nvPr/>
        </p:nvCxnSpPr>
        <p:spPr>
          <a:xfrm flipH="1">
            <a:off x="6535513" y="4278488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280" name="Google Shape;14280;p544"/>
          <p:cNvSpPr txBox="1"/>
          <p:nvPr/>
        </p:nvSpPr>
        <p:spPr>
          <a:xfrm>
            <a:off x="2937725" y="4510450"/>
            <a:ext cx="2908200" cy="3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Bullies get bullied!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284" name="Shape 14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5" name="Google Shape;14285;p54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Karma theory</a:t>
            </a:r>
            <a:endParaRPr/>
          </a:p>
        </p:txBody>
      </p:sp>
      <p:sp>
        <p:nvSpPr>
          <p:cNvPr id="14286" name="Google Shape;14286;p545"/>
          <p:cNvSpPr txBox="1"/>
          <p:nvPr>
            <p:ph idx="1" type="body"/>
          </p:nvPr>
        </p:nvSpPr>
        <p:spPr>
          <a:xfrm>
            <a:off x="311700" y="1225225"/>
            <a:ext cx="8697000" cy="21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Karma Theory: </a:t>
            </a:r>
            <a:r>
              <a:rPr lang="en"/>
              <a:t>You get what you spread out!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theory is based on (negative and positive) </a:t>
            </a:r>
            <a:r>
              <a:rPr b="1" lang="en"/>
              <a:t>popularity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Graph theoretic </a:t>
            </a:r>
            <a:r>
              <a:rPr i="1" lang="en"/>
              <a:t>indegree</a:t>
            </a:r>
            <a:r>
              <a:rPr lang="en"/>
              <a:t> centrality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Karma theory is based on (negative and positive) </a:t>
            </a:r>
            <a:r>
              <a:rPr b="1" lang="en"/>
              <a:t>activity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Predict valenced indegree (what you get) from valenced outdegree (what you spread)</a:t>
            </a:r>
            <a:endParaRPr b="1"/>
          </a:p>
        </p:txBody>
      </p:sp>
      <p:sp>
        <p:nvSpPr>
          <p:cNvPr id="14287" name="Google Shape;14287;p545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88" name="Google Shape;14288;p545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89" name="Google Shape;14289;p545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90" name="Google Shape;14290;p545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291" name="Google Shape;14291;p545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292" name="Google Shape;14292;p545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293" name="Google Shape;14293;p545"/>
          <p:cNvSpPr/>
          <p:nvPr/>
        </p:nvSpPr>
        <p:spPr>
          <a:xfrm>
            <a:off x="1989375" y="4236613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4" name="Google Shape;14294;p545"/>
          <p:cNvSpPr/>
          <p:nvPr/>
        </p:nvSpPr>
        <p:spPr>
          <a:xfrm>
            <a:off x="1498750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5" name="Google Shape;14295;p545"/>
          <p:cNvSpPr/>
          <p:nvPr/>
        </p:nvSpPr>
        <p:spPr>
          <a:xfrm>
            <a:off x="1989363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6" name="Google Shape;14296;p545"/>
          <p:cNvSpPr/>
          <p:nvPr/>
        </p:nvSpPr>
        <p:spPr>
          <a:xfrm>
            <a:off x="2501700" y="33702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297" name="Google Shape;14297;p545"/>
          <p:cNvCxnSpPr>
            <a:stCxn id="14294" idx="4"/>
            <a:endCxn id="14293" idx="1"/>
          </p:cNvCxnSpPr>
          <p:nvPr/>
        </p:nvCxnSpPr>
        <p:spPr>
          <a:xfrm>
            <a:off x="1681750" y="3726313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98" name="Google Shape;14298;p545"/>
          <p:cNvCxnSpPr>
            <a:stCxn id="14295" idx="4"/>
            <a:endCxn id="14293" idx="0"/>
          </p:cNvCxnSpPr>
          <p:nvPr/>
        </p:nvCxnSpPr>
        <p:spPr>
          <a:xfrm>
            <a:off x="2172363" y="3726313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299" name="Google Shape;14299;p545"/>
          <p:cNvCxnSpPr>
            <a:stCxn id="14296" idx="4"/>
            <a:endCxn id="14293" idx="7"/>
          </p:cNvCxnSpPr>
          <p:nvPr/>
        </p:nvCxnSpPr>
        <p:spPr>
          <a:xfrm flipH="1">
            <a:off x="2301900" y="3726313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300" name="Google Shape;14300;p545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301" name="Google Shape;14301;p545"/>
          <p:cNvSpPr/>
          <p:nvPr/>
        </p:nvSpPr>
        <p:spPr>
          <a:xfrm>
            <a:off x="584825" y="424648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2" name="Google Shape;14302;p545"/>
          <p:cNvSpPr/>
          <p:nvPr/>
        </p:nvSpPr>
        <p:spPr>
          <a:xfrm>
            <a:off x="7574113" y="4100438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3" name="Google Shape;14303;p545"/>
          <p:cNvSpPr/>
          <p:nvPr/>
        </p:nvSpPr>
        <p:spPr>
          <a:xfrm>
            <a:off x="7083488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4" name="Google Shape;14304;p545"/>
          <p:cNvSpPr/>
          <p:nvPr/>
        </p:nvSpPr>
        <p:spPr>
          <a:xfrm>
            <a:off x="7574100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5" name="Google Shape;14305;p545"/>
          <p:cNvSpPr/>
          <p:nvPr/>
        </p:nvSpPr>
        <p:spPr>
          <a:xfrm>
            <a:off x="8086438" y="3234038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06" name="Google Shape;14306;p545"/>
          <p:cNvCxnSpPr>
            <a:stCxn id="14303" idx="4"/>
            <a:endCxn id="14302" idx="1"/>
          </p:cNvCxnSpPr>
          <p:nvPr/>
        </p:nvCxnSpPr>
        <p:spPr>
          <a:xfrm>
            <a:off x="7266488" y="3590138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307" name="Google Shape;14307;p545"/>
          <p:cNvCxnSpPr>
            <a:stCxn id="14304" idx="4"/>
            <a:endCxn id="14302" idx="0"/>
          </p:cNvCxnSpPr>
          <p:nvPr/>
        </p:nvCxnSpPr>
        <p:spPr>
          <a:xfrm>
            <a:off x="7757100" y="3590138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308" name="Google Shape;14308;p545"/>
          <p:cNvCxnSpPr>
            <a:stCxn id="14305" idx="4"/>
            <a:endCxn id="14302" idx="7"/>
          </p:cNvCxnSpPr>
          <p:nvPr/>
        </p:nvCxnSpPr>
        <p:spPr>
          <a:xfrm flipH="1">
            <a:off x="7886638" y="3590138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309" name="Google Shape;14309;p545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310" name="Google Shape;14310;p545"/>
          <p:cNvSpPr/>
          <p:nvPr/>
        </p:nvSpPr>
        <p:spPr>
          <a:xfrm>
            <a:off x="6169563" y="4110313"/>
            <a:ext cx="366000" cy="356100"/>
          </a:xfrm>
          <a:prstGeom prst="ellipse">
            <a:avLst/>
          </a:prstGeom>
          <a:solidFill>
            <a:srgbClr val="9FC5E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1" name="Google Shape;14311;p545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12" name="Google Shape;14312;p545"/>
          <p:cNvCxnSpPr>
            <a:stCxn id="14302" idx="2"/>
            <a:endCxn id="14310" idx="6"/>
          </p:cNvCxnSpPr>
          <p:nvPr/>
        </p:nvCxnSpPr>
        <p:spPr>
          <a:xfrm flipH="1">
            <a:off x="6535513" y="4278488"/>
            <a:ext cx="1038600" cy="99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313" name="Google Shape;14313;p545"/>
          <p:cNvSpPr txBox="1"/>
          <p:nvPr/>
        </p:nvSpPr>
        <p:spPr>
          <a:xfrm>
            <a:off x="2937725" y="4510450"/>
            <a:ext cx="2908200" cy="3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6AA84F"/>
                </a:solidFill>
                <a:latin typeface="Open Sans"/>
                <a:ea typeface="Open Sans"/>
                <a:cs typeface="Open Sans"/>
                <a:sym typeface="Open Sans"/>
              </a:rPr>
              <a:t>Likers get liked!</a:t>
            </a:r>
            <a:endParaRPr b="1">
              <a:solidFill>
                <a:srgbClr val="6AA84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17" name="Shape 14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8" name="Google Shape;14318;p54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Solidarity theory</a:t>
            </a:r>
            <a:endParaRPr/>
          </a:p>
        </p:txBody>
      </p:sp>
      <p:sp>
        <p:nvSpPr>
          <p:cNvPr id="14319" name="Google Shape;14319;p546"/>
          <p:cNvSpPr txBox="1"/>
          <p:nvPr>
            <p:ph idx="1" type="body"/>
          </p:nvPr>
        </p:nvSpPr>
        <p:spPr>
          <a:xfrm>
            <a:off x="311700" y="1225225"/>
            <a:ext cx="8697000" cy="17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Solidarity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in the same</a:t>
            </a:r>
            <a:r>
              <a:rPr b="1" lang="en"/>
              <a:t> position in the valenced interaction network</a:t>
            </a:r>
            <a:r>
              <a:rPr lang="en"/>
              <a:t> are likely to link via positive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Two types of solidarity: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solidarity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Karma solidarity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0" name="Google Shape;14320;p546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1" name="Google Shape;14321;p546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2" name="Google Shape;14322;p546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23" name="Google Shape;14323;p546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24" name="Google Shape;14324;p546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325" name="Google Shape;14325;p546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326" name="Google Shape;14326;p546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327" name="Google Shape;14327;p546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328" name="Google Shape;14328;p546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9" name="Google Shape;14329;p546"/>
          <p:cNvSpPr/>
          <p:nvPr/>
        </p:nvSpPr>
        <p:spPr>
          <a:xfrm>
            <a:off x="103475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0" name="Google Shape;14330;p546"/>
          <p:cNvSpPr/>
          <p:nvPr/>
        </p:nvSpPr>
        <p:spPr>
          <a:xfrm>
            <a:off x="5441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1" name="Google Shape;14331;p546"/>
          <p:cNvSpPr/>
          <p:nvPr/>
        </p:nvSpPr>
        <p:spPr>
          <a:xfrm>
            <a:off x="1034738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2" name="Google Shape;14332;p546"/>
          <p:cNvSpPr/>
          <p:nvPr/>
        </p:nvSpPr>
        <p:spPr>
          <a:xfrm>
            <a:off x="154707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33" name="Google Shape;14333;p546"/>
          <p:cNvCxnSpPr>
            <a:stCxn id="14330" idx="4"/>
            <a:endCxn id="14329" idx="1"/>
          </p:cNvCxnSpPr>
          <p:nvPr/>
        </p:nvCxnSpPr>
        <p:spPr>
          <a:xfrm>
            <a:off x="727125" y="36939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34" name="Google Shape;14334;p546"/>
          <p:cNvCxnSpPr>
            <a:stCxn id="14331" idx="4"/>
            <a:endCxn id="14329" idx="0"/>
          </p:cNvCxnSpPr>
          <p:nvPr/>
        </p:nvCxnSpPr>
        <p:spPr>
          <a:xfrm>
            <a:off x="1217738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35" name="Google Shape;14335;p546"/>
          <p:cNvCxnSpPr>
            <a:stCxn id="14332" idx="4"/>
            <a:endCxn id="14329" idx="7"/>
          </p:cNvCxnSpPr>
          <p:nvPr/>
        </p:nvCxnSpPr>
        <p:spPr>
          <a:xfrm flipH="1">
            <a:off x="13472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336" name="Google Shape;14336;p546"/>
          <p:cNvSpPr/>
          <p:nvPr/>
        </p:nvSpPr>
        <p:spPr>
          <a:xfrm>
            <a:off x="205940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7" name="Google Shape;14337;p546"/>
          <p:cNvSpPr/>
          <p:nvPr/>
        </p:nvSpPr>
        <p:spPr>
          <a:xfrm>
            <a:off x="2059400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8" name="Google Shape;14338;p546"/>
          <p:cNvSpPr/>
          <p:nvPr/>
        </p:nvSpPr>
        <p:spPr>
          <a:xfrm>
            <a:off x="25717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39" name="Google Shape;14339;p546"/>
          <p:cNvCxnSpPr>
            <a:stCxn id="14332" idx="4"/>
            <a:endCxn id="14336" idx="1"/>
          </p:cNvCxnSpPr>
          <p:nvPr/>
        </p:nvCxnSpPr>
        <p:spPr>
          <a:xfrm>
            <a:off x="17300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40" name="Google Shape;14340;p546"/>
          <p:cNvCxnSpPr>
            <a:stCxn id="14331" idx="4"/>
            <a:endCxn id="14336" idx="1"/>
          </p:cNvCxnSpPr>
          <p:nvPr/>
        </p:nvCxnSpPr>
        <p:spPr>
          <a:xfrm>
            <a:off x="1217738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41" name="Google Shape;14341;p546"/>
          <p:cNvCxnSpPr>
            <a:stCxn id="14337" idx="4"/>
            <a:endCxn id="14329" idx="7"/>
          </p:cNvCxnSpPr>
          <p:nvPr/>
        </p:nvCxnSpPr>
        <p:spPr>
          <a:xfrm flipH="1">
            <a:off x="1347200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42" name="Google Shape;14342;p546"/>
          <p:cNvCxnSpPr>
            <a:stCxn id="14338" idx="4"/>
            <a:endCxn id="14336" idx="0"/>
          </p:cNvCxnSpPr>
          <p:nvPr/>
        </p:nvCxnSpPr>
        <p:spPr>
          <a:xfrm flipH="1">
            <a:off x="2242325" y="36939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43" name="Google Shape;14343;p546"/>
          <p:cNvCxnSpPr>
            <a:stCxn id="14337" idx="4"/>
            <a:endCxn id="14336" idx="0"/>
          </p:cNvCxnSpPr>
          <p:nvPr/>
        </p:nvCxnSpPr>
        <p:spPr>
          <a:xfrm>
            <a:off x="2242400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44" name="Google Shape;14344;p546"/>
          <p:cNvCxnSpPr>
            <a:stCxn id="14330" idx="5"/>
            <a:endCxn id="14336" idx="1"/>
          </p:cNvCxnSpPr>
          <p:nvPr/>
        </p:nvCxnSpPr>
        <p:spPr>
          <a:xfrm>
            <a:off x="856526" y="36417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45" name="Google Shape;14345;p546"/>
          <p:cNvCxnSpPr>
            <a:stCxn id="14338" idx="3"/>
            <a:endCxn id="14329" idx="7"/>
          </p:cNvCxnSpPr>
          <p:nvPr/>
        </p:nvCxnSpPr>
        <p:spPr>
          <a:xfrm flipH="1">
            <a:off x="1347024" y="36417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346" name="Google Shape;14346;p546"/>
          <p:cNvSpPr/>
          <p:nvPr/>
        </p:nvSpPr>
        <p:spPr>
          <a:xfrm>
            <a:off x="672710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7" name="Google Shape;14347;p546"/>
          <p:cNvSpPr/>
          <p:nvPr/>
        </p:nvSpPr>
        <p:spPr>
          <a:xfrm>
            <a:off x="62364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8" name="Google Shape;14348;p546"/>
          <p:cNvSpPr/>
          <p:nvPr/>
        </p:nvSpPr>
        <p:spPr>
          <a:xfrm>
            <a:off x="6727088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9" name="Google Shape;14349;p546"/>
          <p:cNvSpPr/>
          <p:nvPr/>
        </p:nvSpPr>
        <p:spPr>
          <a:xfrm>
            <a:off x="723942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50" name="Google Shape;14350;p546"/>
          <p:cNvCxnSpPr>
            <a:stCxn id="14347" idx="4"/>
            <a:endCxn id="14346" idx="1"/>
          </p:cNvCxnSpPr>
          <p:nvPr/>
        </p:nvCxnSpPr>
        <p:spPr>
          <a:xfrm>
            <a:off x="6419475" y="37200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51" name="Google Shape;14351;p546"/>
          <p:cNvCxnSpPr>
            <a:stCxn id="14348" idx="4"/>
            <a:endCxn id="14346" idx="0"/>
          </p:cNvCxnSpPr>
          <p:nvPr/>
        </p:nvCxnSpPr>
        <p:spPr>
          <a:xfrm>
            <a:off x="6910088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52" name="Google Shape;14352;p546"/>
          <p:cNvCxnSpPr>
            <a:stCxn id="14349" idx="4"/>
            <a:endCxn id="14346" idx="7"/>
          </p:cNvCxnSpPr>
          <p:nvPr/>
        </p:nvCxnSpPr>
        <p:spPr>
          <a:xfrm flipH="1">
            <a:off x="70396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353" name="Google Shape;14353;p546"/>
          <p:cNvSpPr/>
          <p:nvPr/>
        </p:nvSpPr>
        <p:spPr>
          <a:xfrm>
            <a:off x="775175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54" name="Google Shape;14354;p546"/>
          <p:cNvSpPr/>
          <p:nvPr/>
        </p:nvSpPr>
        <p:spPr>
          <a:xfrm>
            <a:off x="7751750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55" name="Google Shape;14355;p546"/>
          <p:cNvSpPr/>
          <p:nvPr/>
        </p:nvSpPr>
        <p:spPr>
          <a:xfrm>
            <a:off x="82640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56" name="Google Shape;14356;p546"/>
          <p:cNvCxnSpPr>
            <a:stCxn id="14349" idx="4"/>
            <a:endCxn id="14353" idx="1"/>
          </p:cNvCxnSpPr>
          <p:nvPr/>
        </p:nvCxnSpPr>
        <p:spPr>
          <a:xfrm>
            <a:off x="74224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57" name="Google Shape;14357;p546"/>
          <p:cNvCxnSpPr>
            <a:stCxn id="14348" idx="4"/>
            <a:endCxn id="14353" idx="1"/>
          </p:cNvCxnSpPr>
          <p:nvPr/>
        </p:nvCxnSpPr>
        <p:spPr>
          <a:xfrm>
            <a:off x="6910088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58" name="Google Shape;14358;p546"/>
          <p:cNvCxnSpPr>
            <a:stCxn id="14354" idx="4"/>
            <a:endCxn id="14346" idx="7"/>
          </p:cNvCxnSpPr>
          <p:nvPr/>
        </p:nvCxnSpPr>
        <p:spPr>
          <a:xfrm flipH="1">
            <a:off x="7039550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59" name="Google Shape;14359;p546"/>
          <p:cNvCxnSpPr>
            <a:stCxn id="14355" idx="4"/>
            <a:endCxn id="14353" idx="0"/>
          </p:cNvCxnSpPr>
          <p:nvPr/>
        </p:nvCxnSpPr>
        <p:spPr>
          <a:xfrm flipH="1">
            <a:off x="7934675" y="37200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60" name="Google Shape;14360;p546"/>
          <p:cNvCxnSpPr>
            <a:stCxn id="14354" idx="4"/>
            <a:endCxn id="14353" idx="0"/>
          </p:cNvCxnSpPr>
          <p:nvPr/>
        </p:nvCxnSpPr>
        <p:spPr>
          <a:xfrm>
            <a:off x="7934750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61" name="Google Shape;14361;p546"/>
          <p:cNvCxnSpPr>
            <a:stCxn id="14347" idx="5"/>
            <a:endCxn id="14353" idx="1"/>
          </p:cNvCxnSpPr>
          <p:nvPr/>
        </p:nvCxnSpPr>
        <p:spPr>
          <a:xfrm>
            <a:off x="6548876" y="36678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62" name="Google Shape;14362;p546"/>
          <p:cNvCxnSpPr>
            <a:stCxn id="14355" idx="3"/>
            <a:endCxn id="14346" idx="7"/>
          </p:cNvCxnSpPr>
          <p:nvPr/>
        </p:nvCxnSpPr>
        <p:spPr>
          <a:xfrm flipH="1">
            <a:off x="7039374" y="36678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66" name="Shape 14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7" name="Google Shape;14367;p54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Solidarity theory</a:t>
            </a:r>
            <a:endParaRPr/>
          </a:p>
        </p:txBody>
      </p:sp>
      <p:sp>
        <p:nvSpPr>
          <p:cNvPr id="14368" name="Google Shape;14368;p547"/>
          <p:cNvSpPr txBox="1"/>
          <p:nvPr>
            <p:ph idx="1" type="body"/>
          </p:nvPr>
        </p:nvSpPr>
        <p:spPr>
          <a:xfrm>
            <a:off x="311700" y="1225225"/>
            <a:ext cx="8697000" cy="17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Solidarity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in the same </a:t>
            </a:r>
            <a:r>
              <a:rPr b="1" lang="en"/>
              <a:t>position in the valenced interaction network</a:t>
            </a:r>
            <a:r>
              <a:rPr lang="en"/>
              <a:t> are likely to link via positive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Two types of solidarity: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Status solidarity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Karma solidarity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69" name="Google Shape;14369;p547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0" name="Google Shape;14370;p547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1" name="Google Shape;14371;p547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72" name="Google Shape;14372;p547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73" name="Google Shape;14373;p547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374" name="Google Shape;14374;p547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375" name="Google Shape;14375;p547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376" name="Google Shape;14376;p547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377" name="Google Shape;14377;p547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8" name="Google Shape;14378;p547"/>
          <p:cNvSpPr/>
          <p:nvPr/>
        </p:nvSpPr>
        <p:spPr>
          <a:xfrm>
            <a:off x="103475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9" name="Google Shape;14379;p547"/>
          <p:cNvSpPr/>
          <p:nvPr/>
        </p:nvSpPr>
        <p:spPr>
          <a:xfrm>
            <a:off x="5441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0" name="Google Shape;14380;p547"/>
          <p:cNvSpPr/>
          <p:nvPr/>
        </p:nvSpPr>
        <p:spPr>
          <a:xfrm>
            <a:off x="1034738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1" name="Google Shape;14381;p547"/>
          <p:cNvSpPr/>
          <p:nvPr/>
        </p:nvSpPr>
        <p:spPr>
          <a:xfrm>
            <a:off x="154707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82" name="Google Shape;14382;p547"/>
          <p:cNvCxnSpPr>
            <a:stCxn id="14379" idx="4"/>
            <a:endCxn id="14378" idx="1"/>
          </p:cNvCxnSpPr>
          <p:nvPr/>
        </p:nvCxnSpPr>
        <p:spPr>
          <a:xfrm>
            <a:off x="727125" y="36939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83" name="Google Shape;14383;p547"/>
          <p:cNvCxnSpPr>
            <a:stCxn id="14380" idx="4"/>
            <a:endCxn id="14378" idx="0"/>
          </p:cNvCxnSpPr>
          <p:nvPr/>
        </p:nvCxnSpPr>
        <p:spPr>
          <a:xfrm>
            <a:off x="1217738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84" name="Google Shape;14384;p547"/>
          <p:cNvCxnSpPr>
            <a:stCxn id="14381" idx="4"/>
            <a:endCxn id="14378" idx="7"/>
          </p:cNvCxnSpPr>
          <p:nvPr/>
        </p:nvCxnSpPr>
        <p:spPr>
          <a:xfrm flipH="1">
            <a:off x="13472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385" name="Google Shape;14385;p547"/>
          <p:cNvSpPr/>
          <p:nvPr/>
        </p:nvSpPr>
        <p:spPr>
          <a:xfrm>
            <a:off x="205940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6" name="Google Shape;14386;p547"/>
          <p:cNvSpPr/>
          <p:nvPr/>
        </p:nvSpPr>
        <p:spPr>
          <a:xfrm>
            <a:off x="2059400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7" name="Google Shape;14387;p547"/>
          <p:cNvSpPr/>
          <p:nvPr/>
        </p:nvSpPr>
        <p:spPr>
          <a:xfrm>
            <a:off x="25717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88" name="Google Shape;14388;p547"/>
          <p:cNvCxnSpPr>
            <a:stCxn id="14381" idx="4"/>
            <a:endCxn id="14385" idx="1"/>
          </p:cNvCxnSpPr>
          <p:nvPr/>
        </p:nvCxnSpPr>
        <p:spPr>
          <a:xfrm>
            <a:off x="17300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89" name="Google Shape;14389;p547"/>
          <p:cNvCxnSpPr>
            <a:stCxn id="14380" idx="4"/>
            <a:endCxn id="14385" idx="1"/>
          </p:cNvCxnSpPr>
          <p:nvPr/>
        </p:nvCxnSpPr>
        <p:spPr>
          <a:xfrm>
            <a:off x="1217738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90" name="Google Shape;14390;p547"/>
          <p:cNvCxnSpPr>
            <a:stCxn id="14386" idx="4"/>
            <a:endCxn id="14378" idx="7"/>
          </p:cNvCxnSpPr>
          <p:nvPr/>
        </p:nvCxnSpPr>
        <p:spPr>
          <a:xfrm flipH="1">
            <a:off x="1347200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91" name="Google Shape;14391;p547"/>
          <p:cNvCxnSpPr>
            <a:stCxn id="14387" idx="4"/>
            <a:endCxn id="14385" idx="0"/>
          </p:cNvCxnSpPr>
          <p:nvPr/>
        </p:nvCxnSpPr>
        <p:spPr>
          <a:xfrm flipH="1">
            <a:off x="2242325" y="36939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92" name="Google Shape;14392;p547"/>
          <p:cNvCxnSpPr>
            <a:stCxn id="14386" idx="4"/>
            <a:endCxn id="14385" idx="0"/>
          </p:cNvCxnSpPr>
          <p:nvPr/>
        </p:nvCxnSpPr>
        <p:spPr>
          <a:xfrm>
            <a:off x="2242400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93" name="Google Shape;14393;p547"/>
          <p:cNvCxnSpPr>
            <a:stCxn id="14379" idx="5"/>
            <a:endCxn id="14385" idx="1"/>
          </p:cNvCxnSpPr>
          <p:nvPr/>
        </p:nvCxnSpPr>
        <p:spPr>
          <a:xfrm>
            <a:off x="856526" y="36417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394" name="Google Shape;14394;p547"/>
          <p:cNvCxnSpPr>
            <a:stCxn id="14387" idx="3"/>
            <a:endCxn id="14378" idx="7"/>
          </p:cNvCxnSpPr>
          <p:nvPr/>
        </p:nvCxnSpPr>
        <p:spPr>
          <a:xfrm flipH="1">
            <a:off x="1347024" y="36417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395" name="Google Shape;14395;p547"/>
          <p:cNvSpPr/>
          <p:nvPr/>
        </p:nvSpPr>
        <p:spPr>
          <a:xfrm>
            <a:off x="672710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6" name="Google Shape;14396;p547"/>
          <p:cNvSpPr/>
          <p:nvPr/>
        </p:nvSpPr>
        <p:spPr>
          <a:xfrm>
            <a:off x="62364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7" name="Google Shape;14397;p547"/>
          <p:cNvSpPr/>
          <p:nvPr/>
        </p:nvSpPr>
        <p:spPr>
          <a:xfrm>
            <a:off x="6727088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8" name="Google Shape;14398;p547"/>
          <p:cNvSpPr/>
          <p:nvPr/>
        </p:nvSpPr>
        <p:spPr>
          <a:xfrm>
            <a:off x="723942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399" name="Google Shape;14399;p547"/>
          <p:cNvCxnSpPr>
            <a:stCxn id="14396" idx="4"/>
            <a:endCxn id="14395" idx="1"/>
          </p:cNvCxnSpPr>
          <p:nvPr/>
        </p:nvCxnSpPr>
        <p:spPr>
          <a:xfrm>
            <a:off x="6419475" y="37200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00" name="Google Shape;14400;p547"/>
          <p:cNvCxnSpPr>
            <a:stCxn id="14397" idx="4"/>
            <a:endCxn id="14395" idx="0"/>
          </p:cNvCxnSpPr>
          <p:nvPr/>
        </p:nvCxnSpPr>
        <p:spPr>
          <a:xfrm>
            <a:off x="6910088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01" name="Google Shape;14401;p547"/>
          <p:cNvCxnSpPr>
            <a:stCxn id="14398" idx="4"/>
            <a:endCxn id="14395" idx="7"/>
          </p:cNvCxnSpPr>
          <p:nvPr/>
        </p:nvCxnSpPr>
        <p:spPr>
          <a:xfrm flipH="1">
            <a:off x="70396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402" name="Google Shape;14402;p547"/>
          <p:cNvSpPr/>
          <p:nvPr/>
        </p:nvSpPr>
        <p:spPr>
          <a:xfrm>
            <a:off x="775175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03" name="Google Shape;14403;p547"/>
          <p:cNvSpPr/>
          <p:nvPr/>
        </p:nvSpPr>
        <p:spPr>
          <a:xfrm>
            <a:off x="7751750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04" name="Google Shape;14404;p547"/>
          <p:cNvSpPr/>
          <p:nvPr/>
        </p:nvSpPr>
        <p:spPr>
          <a:xfrm>
            <a:off x="82640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05" name="Google Shape;14405;p547"/>
          <p:cNvCxnSpPr>
            <a:stCxn id="14398" idx="4"/>
            <a:endCxn id="14402" idx="1"/>
          </p:cNvCxnSpPr>
          <p:nvPr/>
        </p:nvCxnSpPr>
        <p:spPr>
          <a:xfrm>
            <a:off x="74224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06" name="Google Shape;14406;p547"/>
          <p:cNvCxnSpPr>
            <a:stCxn id="14397" idx="4"/>
            <a:endCxn id="14402" idx="1"/>
          </p:cNvCxnSpPr>
          <p:nvPr/>
        </p:nvCxnSpPr>
        <p:spPr>
          <a:xfrm>
            <a:off x="6910088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07" name="Google Shape;14407;p547"/>
          <p:cNvCxnSpPr>
            <a:stCxn id="14403" idx="4"/>
            <a:endCxn id="14395" idx="7"/>
          </p:cNvCxnSpPr>
          <p:nvPr/>
        </p:nvCxnSpPr>
        <p:spPr>
          <a:xfrm flipH="1">
            <a:off x="7039550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08" name="Google Shape;14408;p547"/>
          <p:cNvCxnSpPr>
            <a:stCxn id="14404" idx="4"/>
            <a:endCxn id="14402" idx="0"/>
          </p:cNvCxnSpPr>
          <p:nvPr/>
        </p:nvCxnSpPr>
        <p:spPr>
          <a:xfrm flipH="1">
            <a:off x="7934675" y="37200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09" name="Google Shape;14409;p547"/>
          <p:cNvCxnSpPr>
            <a:stCxn id="14403" idx="4"/>
            <a:endCxn id="14402" idx="0"/>
          </p:cNvCxnSpPr>
          <p:nvPr/>
        </p:nvCxnSpPr>
        <p:spPr>
          <a:xfrm>
            <a:off x="7934750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10" name="Google Shape;14410;p547"/>
          <p:cNvCxnSpPr>
            <a:stCxn id="14396" idx="5"/>
            <a:endCxn id="14402" idx="1"/>
          </p:cNvCxnSpPr>
          <p:nvPr/>
        </p:nvCxnSpPr>
        <p:spPr>
          <a:xfrm>
            <a:off x="6548876" y="36678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11" name="Google Shape;14411;p547"/>
          <p:cNvCxnSpPr>
            <a:stCxn id="14404" idx="3"/>
            <a:endCxn id="14395" idx="7"/>
          </p:cNvCxnSpPr>
          <p:nvPr/>
        </p:nvCxnSpPr>
        <p:spPr>
          <a:xfrm flipH="1">
            <a:off x="7039374" y="36678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12" name="Google Shape;14412;p547"/>
          <p:cNvCxnSpPr>
            <a:stCxn id="14395" idx="6"/>
            <a:endCxn id="14402" idx="2"/>
          </p:cNvCxnSpPr>
          <p:nvPr/>
        </p:nvCxnSpPr>
        <p:spPr>
          <a:xfrm>
            <a:off x="7093100" y="4408375"/>
            <a:ext cx="6588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13" name="Google Shape;14413;p547"/>
          <p:cNvCxnSpPr>
            <a:stCxn id="14402" idx="3"/>
            <a:endCxn id="14395" idx="5"/>
          </p:cNvCxnSpPr>
          <p:nvPr/>
        </p:nvCxnSpPr>
        <p:spPr>
          <a:xfrm rot="10800000">
            <a:off x="7039449" y="4534275"/>
            <a:ext cx="7659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414" name="Google Shape;14414;p547"/>
          <p:cNvSpPr txBox="1"/>
          <p:nvPr/>
        </p:nvSpPr>
        <p:spPr>
          <a:xfrm>
            <a:off x="2937725" y="4510450"/>
            <a:ext cx="2908200" cy="3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6AA84F"/>
                </a:solidFill>
                <a:latin typeface="Open Sans"/>
                <a:ea typeface="Open Sans"/>
                <a:cs typeface="Open Sans"/>
                <a:sym typeface="Open Sans"/>
              </a:rPr>
              <a:t>Popular “in-crowd” effect</a:t>
            </a:r>
            <a:endParaRPr b="1">
              <a:solidFill>
                <a:srgbClr val="6AA84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418" name="Shape 14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19" name="Google Shape;14419;p54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Solidarity theory</a:t>
            </a:r>
            <a:endParaRPr/>
          </a:p>
        </p:txBody>
      </p:sp>
      <p:sp>
        <p:nvSpPr>
          <p:cNvPr id="14420" name="Google Shape;14420;p548"/>
          <p:cNvSpPr txBox="1"/>
          <p:nvPr>
            <p:ph idx="1" type="body"/>
          </p:nvPr>
        </p:nvSpPr>
        <p:spPr>
          <a:xfrm>
            <a:off x="311700" y="1225225"/>
            <a:ext cx="8697000" cy="17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Solidarity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in the same </a:t>
            </a:r>
            <a:r>
              <a:rPr b="1" lang="en"/>
              <a:t>position in the valenced interaction network </a:t>
            </a:r>
            <a:r>
              <a:rPr lang="en"/>
              <a:t>are likely to link via positive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Two types of solidarity: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Status solidarity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Karma solidarity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1" name="Google Shape;14421;p548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2" name="Google Shape;14422;p548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3" name="Google Shape;14423;p548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24" name="Google Shape;14424;p548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25" name="Google Shape;14425;p548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426" name="Google Shape;14426;p548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427" name="Google Shape;14427;p548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428" name="Google Shape;14428;p548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429" name="Google Shape;14429;p548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0" name="Google Shape;14430;p548"/>
          <p:cNvSpPr/>
          <p:nvPr/>
        </p:nvSpPr>
        <p:spPr>
          <a:xfrm>
            <a:off x="103475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1" name="Google Shape;14431;p548"/>
          <p:cNvSpPr/>
          <p:nvPr/>
        </p:nvSpPr>
        <p:spPr>
          <a:xfrm>
            <a:off x="5441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2" name="Google Shape;14432;p548"/>
          <p:cNvSpPr/>
          <p:nvPr/>
        </p:nvSpPr>
        <p:spPr>
          <a:xfrm>
            <a:off x="1034738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3" name="Google Shape;14433;p548"/>
          <p:cNvSpPr/>
          <p:nvPr/>
        </p:nvSpPr>
        <p:spPr>
          <a:xfrm>
            <a:off x="154707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34" name="Google Shape;14434;p548"/>
          <p:cNvCxnSpPr>
            <a:stCxn id="14431" idx="4"/>
            <a:endCxn id="14430" idx="1"/>
          </p:cNvCxnSpPr>
          <p:nvPr/>
        </p:nvCxnSpPr>
        <p:spPr>
          <a:xfrm>
            <a:off x="727125" y="36939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35" name="Google Shape;14435;p548"/>
          <p:cNvCxnSpPr>
            <a:stCxn id="14432" idx="4"/>
            <a:endCxn id="14430" idx="0"/>
          </p:cNvCxnSpPr>
          <p:nvPr/>
        </p:nvCxnSpPr>
        <p:spPr>
          <a:xfrm>
            <a:off x="1217738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36" name="Google Shape;14436;p548"/>
          <p:cNvCxnSpPr>
            <a:stCxn id="14433" idx="4"/>
            <a:endCxn id="14430" idx="7"/>
          </p:cNvCxnSpPr>
          <p:nvPr/>
        </p:nvCxnSpPr>
        <p:spPr>
          <a:xfrm flipH="1">
            <a:off x="13472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437" name="Google Shape;14437;p548"/>
          <p:cNvSpPr/>
          <p:nvPr/>
        </p:nvSpPr>
        <p:spPr>
          <a:xfrm>
            <a:off x="205940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8" name="Google Shape;14438;p548"/>
          <p:cNvSpPr/>
          <p:nvPr/>
        </p:nvSpPr>
        <p:spPr>
          <a:xfrm>
            <a:off x="2059400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9" name="Google Shape;14439;p548"/>
          <p:cNvSpPr/>
          <p:nvPr/>
        </p:nvSpPr>
        <p:spPr>
          <a:xfrm>
            <a:off x="25717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40" name="Google Shape;14440;p548"/>
          <p:cNvCxnSpPr>
            <a:stCxn id="14433" idx="4"/>
            <a:endCxn id="14437" idx="1"/>
          </p:cNvCxnSpPr>
          <p:nvPr/>
        </p:nvCxnSpPr>
        <p:spPr>
          <a:xfrm>
            <a:off x="17300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41" name="Google Shape;14441;p548"/>
          <p:cNvCxnSpPr>
            <a:stCxn id="14432" idx="4"/>
            <a:endCxn id="14437" idx="1"/>
          </p:cNvCxnSpPr>
          <p:nvPr/>
        </p:nvCxnSpPr>
        <p:spPr>
          <a:xfrm>
            <a:off x="1217738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42" name="Google Shape;14442;p548"/>
          <p:cNvCxnSpPr>
            <a:stCxn id="14438" idx="4"/>
            <a:endCxn id="14430" idx="7"/>
          </p:cNvCxnSpPr>
          <p:nvPr/>
        </p:nvCxnSpPr>
        <p:spPr>
          <a:xfrm flipH="1">
            <a:off x="1347200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43" name="Google Shape;14443;p548"/>
          <p:cNvCxnSpPr>
            <a:stCxn id="14439" idx="4"/>
            <a:endCxn id="14437" idx="0"/>
          </p:cNvCxnSpPr>
          <p:nvPr/>
        </p:nvCxnSpPr>
        <p:spPr>
          <a:xfrm flipH="1">
            <a:off x="2242325" y="36939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44" name="Google Shape;14444;p548"/>
          <p:cNvCxnSpPr>
            <a:stCxn id="14438" idx="4"/>
            <a:endCxn id="14437" idx="0"/>
          </p:cNvCxnSpPr>
          <p:nvPr/>
        </p:nvCxnSpPr>
        <p:spPr>
          <a:xfrm>
            <a:off x="2242400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45" name="Google Shape;14445;p548"/>
          <p:cNvCxnSpPr>
            <a:stCxn id="14431" idx="5"/>
            <a:endCxn id="14437" idx="1"/>
          </p:cNvCxnSpPr>
          <p:nvPr/>
        </p:nvCxnSpPr>
        <p:spPr>
          <a:xfrm>
            <a:off x="856526" y="36417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46" name="Google Shape;14446;p548"/>
          <p:cNvCxnSpPr>
            <a:stCxn id="14439" idx="3"/>
            <a:endCxn id="14430" idx="7"/>
          </p:cNvCxnSpPr>
          <p:nvPr/>
        </p:nvCxnSpPr>
        <p:spPr>
          <a:xfrm flipH="1">
            <a:off x="1347024" y="36417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447" name="Google Shape;14447;p548"/>
          <p:cNvSpPr/>
          <p:nvPr/>
        </p:nvSpPr>
        <p:spPr>
          <a:xfrm>
            <a:off x="672710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8" name="Google Shape;14448;p548"/>
          <p:cNvSpPr/>
          <p:nvPr/>
        </p:nvSpPr>
        <p:spPr>
          <a:xfrm>
            <a:off x="62364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9" name="Google Shape;14449;p548"/>
          <p:cNvSpPr/>
          <p:nvPr/>
        </p:nvSpPr>
        <p:spPr>
          <a:xfrm>
            <a:off x="6727088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0" name="Google Shape;14450;p548"/>
          <p:cNvSpPr/>
          <p:nvPr/>
        </p:nvSpPr>
        <p:spPr>
          <a:xfrm>
            <a:off x="723942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51" name="Google Shape;14451;p548"/>
          <p:cNvCxnSpPr>
            <a:stCxn id="14448" idx="4"/>
            <a:endCxn id="14447" idx="1"/>
          </p:cNvCxnSpPr>
          <p:nvPr/>
        </p:nvCxnSpPr>
        <p:spPr>
          <a:xfrm>
            <a:off x="6419475" y="37200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52" name="Google Shape;14452;p548"/>
          <p:cNvCxnSpPr>
            <a:stCxn id="14449" idx="4"/>
            <a:endCxn id="14447" idx="0"/>
          </p:cNvCxnSpPr>
          <p:nvPr/>
        </p:nvCxnSpPr>
        <p:spPr>
          <a:xfrm>
            <a:off x="6910088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53" name="Google Shape;14453;p548"/>
          <p:cNvCxnSpPr>
            <a:stCxn id="14450" idx="4"/>
            <a:endCxn id="14447" idx="7"/>
          </p:cNvCxnSpPr>
          <p:nvPr/>
        </p:nvCxnSpPr>
        <p:spPr>
          <a:xfrm flipH="1">
            <a:off x="70396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454" name="Google Shape;14454;p548"/>
          <p:cNvSpPr/>
          <p:nvPr/>
        </p:nvSpPr>
        <p:spPr>
          <a:xfrm>
            <a:off x="775175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5" name="Google Shape;14455;p548"/>
          <p:cNvSpPr/>
          <p:nvPr/>
        </p:nvSpPr>
        <p:spPr>
          <a:xfrm>
            <a:off x="7751750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6" name="Google Shape;14456;p548"/>
          <p:cNvSpPr/>
          <p:nvPr/>
        </p:nvSpPr>
        <p:spPr>
          <a:xfrm>
            <a:off x="82640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57" name="Google Shape;14457;p548"/>
          <p:cNvCxnSpPr>
            <a:stCxn id="14450" idx="4"/>
            <a:endCxn id="14454" idx="1"/>
          </p:cNvCxnSpPr>
          <p:nvPr/>
        </p:nvCxnSpPr>
        <p:spPr>
          <a:xfrm>
            <a:off x="74224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58" name="Google Shape;14458;p548"/>
          <p:cNvCxnSpPr>
            <a:stCxn id="14449" idx="4"/>
            <a:endCxn id="14454" idx="1"/>
          </p:cNvCxnSpPr>
          <p:nvPr/>
        </p:nvCxnSpPr>
        <p:spPr>
          <a:xfrm>
            <a:off x="6910088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59" name="Google Shape;14459;p548"/>
          <p:cNvCxnSpPr>
            <a:stCxn id="14455" idx="4"/>
            <a:endCxn id="14447" idx="7"/>
          </p:cNvCxnSpPr>
          <p:nvPr/>
        </p:nvCxnSpPr>
        <p:spPr>
          <a:xfrm flipH="1">
            <a:off x="7039550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60" name="Google Shape;14460;p548"/>
          <p:cNvCxnSpPr>
            <a:stCxn id="14456" idx="4"/>
            <a:endCxn id="14454" idx="0"/>
          </p:cNvCxnSpPr>
          <p:nvPr/>
        </p:nvCxnSpPr>
        <p:spPr>
          <a:xfrm flipH="1">
            <a:off x="7934675" y="37200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61" name="Google Shape;14461;p548"/>
          <p:cNvCxnSpPr>
            <a:stCxn id="14455" idx="4"/>
            <a:endCxn id="14454" idx="0"/>
          </p:cNvCxnSpPr>
          <p:nvPr/>
        </p:nvCxnSpPr>
        <p:spPr>
          <a:xfrm>
            <a:off x="7934750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62" name="Google Shape;14462;p548"/>
          <p:cNvCxnSpPr>
            <a:stCxn id="14448" idx="5"/>
            <a:endCxn id="14454" idx="1"/>
          </p:cNvCxnSpPr>
          <p:nvPr/>
        </p:nvCxnSpPr>
        <p:spPr>
          <a:xfrm>
            <a:off x="6548876" y="36678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63" name="Google Shape;14463;p548"/>
          <p:cNvCxnSpPr>
            <a:stCxn id="14456" idx="3"/>
            <a:endCxn id="14447" idx="7"/>
          </p:cNvCxnSpPr>
          <p:nvPr/>
        </p:nvCxnSpPr>
        <p:spPr>
          <a:xfrm flipH="1">
            <a:off x="7039374" y="36678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64" name="Google Shape;14464;p548"/>
          <p:cNvCxnSpPr>
            <a:stCxn id="14447" idx="6"/>
            <a:endCxn id="14454" idx="2"/>
          </p:cNvCxnSpPr>
          <p:nvPr/>
        </p:nvCxnSpPr>
        <p:spPr>
          <a:xfrm>
            <a:off x="7093100" y="4408375"/>
            <a:ext cx="6588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65" name="Google Shape;14465;p548"/>
          <p:cNvCxnSpPr>
            <a:stCxn id="14454" idx="3"/>
            <a:endCxn id="14447" idx="5"/>
          </p:cNvCxnSpPr>
          <p:nvPr/>
        </p:nvCxnSpPr>
        <p:spPr>
          <a:xfrm rot="10800000">
            <a:off x="7039449" y="4534275"/>
            <a:ext cx="7659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466" name="Google Shape;14466;p548"/>
          <p:cNvSpPr txBox="1"/>
          <p:nvPr/>
        </p:nvSpPr>
        <p:spPr>
          <a:xfrm>
            <a:off x="2754725" y="4510450"/>
            <a:ext cx="3248400" cy="3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The downtrodden stick together!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470" name="Shape 14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71" name="Google Shape;14471;p54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Solidarity theory</a:t>
            </a:r>
            <a:endParaRPr/>
          </a:p>
        </p:txBody>
      </p:sp>
      <p:sp>
        <p:nvSpPr>
          <p:cNvPr id="14472" name="Google Shape;14472;p549"/>
          <p:cNvSpPr txBox="1"/>
          <p:nvPr>
            <p:ph idx="1" type="body"/>
          </p:nvPr>
        </p:nvSpPr>
        <p:spPr>
          <a:xfrm>
            <a:off x="311700" y="1225225"/>
            <a:ext cx="8697000" cy="17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Solidarity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in the same </a:t>
            </a:r>
            <a:r>
              <a:rPr b="1" lang="en"/>
              <a:t>position in the valenced interaction network</a:t>
            </a:r>
            <a:r>
              <a:rPr lang="en"/>
              <a:t> are likely to link via positive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Two types of solidarity: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solidarity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Karma solidarity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3" name="Google Shape;14473;p549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4" name="Google Shape;14474;p549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5" name="Google Shape;14475;p549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76" name="Google Shape;14476;p549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477" name="Google Shape;14477;p549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478" name="Google Shape;14478;p549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479" name="Google Shape;14479;p549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480" name="Google Shape;14480;p549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481" name="Google Shape;14481;p549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2" name="Google Shape;14482;p549"/>
          <p:cNvSpPr/>
          <p:nvPr/>
        </p:nvSpPr>
        <p:spPr>
          <a:xfrm>
            <a:off x="103475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3" name="Google Shape;14483;p549"/>
          <p:cNvSpPr/>
          <p:nvPr/>
        </p:nvSpPr>
        <p:spPr>
          <a:xfrm>
            <a:off x="5441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4" name="Google Shape;14484;p549"/>
          <p:cNvSpPr/>
          <p:nvPr/>
        </p:nvSpPr>
        <p:spPr>
          <a:xfrm>
            <a:off x="1034738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5" name="Google Shape;14485;p549"/>
          <p:cNvSpPr/>
          <p:nvPr/>
        </p:nvSpPr>
        <p:spPr>
          <a:xfrm>
            <a:off x="154707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86" name="Google Shape;14486;p549"/>
          <p:cNvCxnSpPr>
            <a:stCxn id="14483" idx="4"/>
            <a:endCxn id="14482" idx="1"/>
          </p:cNvCxnSpPr>
          <p:nvPr/>
        </p:nvCxnSpPr>
        <p:spPr>
          <a:xfrm>
            <a:off x="727125" y="36939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487" name="Google Shape;14487;p549"/>
          <p:cNvCxnSpPr>
            <a:stCxn id="14484" idx="4"/>
            <a:endCxn id="14482" idx="0"/>
          </p:cNvCxnSpPr>
          <p:nvPr/>
        </p:nvCxnSpPr>
        <p:spPr>
          <a:xfrm>
            <a:off x="1217738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488" name="Google Shape;14488;p549"/>
          <p:cNvCxnSpPr>
            <a:stCxn id="14485" idx="4"/>
            <a:endCxn id="14482" idx="7"/>
          </p:cNvCxnSpPr>
          <p:nvPr/>
        </p:nvCxnSpPr>
        <p:spPr>
          <a:xfrm flipH="1">
            <a:off x="13472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489" name="Google Shape;14489;p549"/>
          <p:cNvSpPr/>
          <p:nvPr/>
        </p:nvSpPr>
        <p:spPr>
          <a:xfrm>
            <a:off x="205940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0" name="Google Shape;14490;p549"/>
          <p:cNvSpPr/>
          <p:nvPr/>
        </p:nvSpPr>
        <p:spPr>
          <a:xfrm>
            <a:off x="2059400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1" name="Google Shape;14491;p549"/>
          <p:cNvSpPr/>
          <p:nvPr/>
        </p:nvSpPr>
        <p:spPr>
          <a:xfrm>
            <a:off x="25717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492" name="Google Shape;14492;p549"/>
          <p:cNvCxnSpPr>
            <a:stCxn id="14485" idx="4"/>
            <a:endCxn id="14489" idx="1"/>
          </p:cNvCxnSpPr>
          <p:nvPr/>
        </p:nvCxnSpPr>
        <p:spPr>
          <a:xfrm>
            <a:off x="17300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493" name="Google Shape;14493;p549"/>
          <p:cNvCxnSpPr>
            <a:stCxn id="14484" idx="4"/>
            <a:endCxn id="14489" idx="1"/>
          </p:cNvCxnSpPr>
          <p:nvPr/>
        </p:nvCxnSpPr>
        <p:spPr>
          <a:xfrm>
            <a:off x="1217738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494" name="Google Shape;14494;p549"/>
          <p:cNvCxnSpPr>
            <a:stCxn id="14490" idx="4"/>
            <a:endCxn id="14482" idx="7"/>
          </p:cNvCxnSpPr>
          <p:nvPr/>
        </p:nvCxnSpPr>
        <p:spPr>
          <a:xfrm flipH="1">
            <a:off x="1347200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495" name="Google Shape;14495;p549"/>
          <p:cNvCxnSpPr>
            <a:stCxn id="14491" idx="4"/>
            <a:endCxn id="14489" idx="0"/>
          </p:cNvCxnSpPr>
          <p:nvPr/>
        </p:nvCxnSpPr>
        <p:spPr>
          <a:xfrm flipH="1">
            <a:off x="2242325" y="36939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496" name="Google Shape;14496;p549"/>
          <p:cNvCxnSpPr>
            <a:stCxn id="14490" idx="4"/>
            <a:endCxn id="14489" idx="0"/>
          </p:cNvCxnSpPr>
          <p:nvPr/>
        </p:nvCxnSpPr>
        <p:spPr>
          <a:xfrm>
            <a:off x="2242400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497" name="Google Shape;14497;p549"/>
          <p:cNvCxnSpPr>
            <a:stCxn id="14483" idx="5"/>
            <a:endCxn id="14489" idx="1"/>
          </p:cNvCxnSpPr>
          <p:nvPr/>
        </p:nvCxnSpPr>
        <p:spPr>
          <a:xfrm>
            <a:off x="856526" y="36417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498" name="Google Shape;14498;p549"/>
          <p:cNvCxnSpPr>
            <a:stCxn id="14491" idx="3"/>
            <a:endCxn id="14482" idx="7"/>
          </p:cNvCxnSpPr>
          <p:nvPr/>
        </p:nvCxnSpPr>
        <p:spPr>
          <a:xfrm flipH="1">
            <a:off x="1347024" y="36417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499" name="Google Shape;14499;p549"/>
          <p:cNvSpPr/>
          <p:nvPr/>
        </p:nvSpPr>
        <p:spPr>
          <a:xfrm>
            <a:off x="672710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0" name="Google Shape;14500;p549"/>
          <p:cNvSpPr/>
          <p:nvPr/>
        </p:nvSpPr>
        <p:spPr>
          <a:xfrm>
            <a:off x="62364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1" name="Google Shape;14501;p549"/>
          <p:cNvSpPr/>
          <p:nvPr/>
        </p:nvSpPr>
        <p:spPr>
          <a:xfrm>
            <a:off x="6727088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2" name="Google Shape;14502;p549"/>
          <p:cNvSpPr/>
          <p:nvPr/>
        </p:nvSpPr>
        <p:spPr>
          <a:xfrm>
            <a:off x="723942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503" name="Google Shape;14503;p549"/>
          <p:cNvCxnSpPr>
            <a:stCxn id="14500" idx="4"/>
            <a:endCxn id="14499" idx="1"/>
          </p:cNvCxnSpPr>
          <p:nvPr/>
        </p:nvCxnSpPr>
        <p:spPr>
          <a:xfrm>
            <a:off x="6419475" y="37200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04" name="Google Shape;14504;p549"/>
          <p:cNvCxnSpPr>
            <a:stCxn id="14501" idx="4"/>
            <a:endCxn id="14499" idx="0"/>
          </p:cNvCxnSpPr>
          <p:nvPr/>
        </p:nvCxnSpPr>
        <p:spPr>
          <a:xfrm>
            <a:off x="6910088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05" name="Google Shape;14505;p549"/>
          <p:cNvCxnSpPr>
            <a:stCxn id="14502" idx="4"/>
            <a:endCxn id="14499" idx="7"/>
          </p:cNvCxnSpPr>
          <p:nvPr/>
        </p:nvCxnSpPr>
        <p:spPr>
          <a:xfrm flipH="1">
            <a:off x="70396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506" name="Google Shape;14506;p549"/>
          <p:cNvSpPr/>
          <p:nvPr/>
        </p:nvSpPr>
        <p:spPr>
          <a:xfrm>
            <a:off x="775175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7" name="Google Shape;14507;p549"/>
          <p:cNvSpPr/>
          <p:nvPr/>
        </p:nvSpPr>
        <p:spPr>
          <a:xfrm>
            <a:off x="7751750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8" name="Google Shape;14508;p549"/>
          <p:cNvSpPr/>
          <p:nvPr/>
        </p:nvSpPr>
        <p:spPr>
          <a:xfrm>
            <a:off x="82640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509" name="Google Shape;14509;p549"/>
          <p:cNvCxnSpPr>
            <a:stCxn id="14502" idx="4"/>
            <a:endCxn id="14506" idx="1"/>
          </p:cNvCxnSpPr>
          <p:nvPr/>
        </p:nvCxnSpPr>
        <p:spPr>
          <a:xfrm>
            <a:off x="74224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10" name="Google Shape;14510;p549"/>
          <p:cNvCxnSpPr>
            <a:stCxn id="14501" idx="4"/>
            <a:endCxn id="14506" idx="1"/>
          </p:cNvCxnSpPr>
          <p:nvPr/>
        </p:nvCxnSpPr>
        <p:spPr>
          <a:xfrm>
            <a:off x="6910088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11" name="Google Shape;14511;p549"/>
          <p:cNvCxnSpPr>
            <a:stCxn id="14507" idx="4"/>
            <a:endCxn id="14499" idx="7"/>
          </p:cNvCxnSpPr>
          <p:nvPr/>
        </p:nvCxnSpPr>
        <p:spPr>
          <a:xfrm flipH="1">
            <a:off x="7039550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12" name="Google Shape;14512;p549"/>
          <p:cNvCxnSpPr>
            <a:stCxn id="14508" idx="4"/>
            <a:endCxn id="14506" idx="0"/>
          </p:cNvCxnSpPr>
          <p:nvPr/>
        </p:nvCxnSpPr>
        <p:spPr>
          <a:xfrm flipH="1">
            <a:off x="7934675" y="37200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13" name="Google Shape;14513;p549"/>
          <p:cNvCxnSpPr>
            <a:stCxn id="14507" idx="4"/>
            <a:endCxn id="14506" idx="0"/>
          </p:cNvCxnSpPr>
          <p:nvPr/>
        </p:nvCxnSpPr>
        <p:spPr>
          <a:xfrm>
            <a:off x="7934750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14" name="Google Shape;14514;p549"/>
          <p:cNvCxnSpPr>
            <a:stCxn id="14500" idx="5"/>
            <a:endCxn id="14506" idx="1"/>
          </p:cNvCxnSpPr>
          <p:nvPr/>
        </p:nvCxnSpPr>
        <p:spPr>
          <a:xfrm>
            <a:off x="6548876" y="36678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15" name="Google Shape;14515;p549"/>
          <p:cNvCxnSpPr>
            <a:stCxn id="14508" idx="3"/>
            <a:endCxn id="14499" idx="7"/>
          </p:cNvCxnSpPr>
          <p:nvPr/>
        </p:nvCxnSpPr>
        <p:spPr>
          <a:xfrm flipH="1">
            <a:off x="7039374" y="36678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16" name="Google Shape;14516;p549"/>
          <p:cNvCxnSpPr>
            <a:stCxn id="14499" idx="6"/>
            <a:endCxn id="14506" idx="2"/>
          </p:cNvCxnSpPr>
          <p:nvPr/>
        </p:nvCxnSpPr>
        <p:spPr>
          <a:xfrm>
            <a:off x="7093100" y="4408375"/>
            <a:ext cx="6588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517" name="Google Shape;14517;p549"/>
          <p:cNvCxnSpPr>
            <a:stCxn id="14506" idx="3"/>
            <a:endCxn id="14499" idx="5"/>
          </p:cNvCxnSpPr>
          <p:nvPr/>
        </p:nvCxnSpPr>
        <p:spPr>
          <a:xfrm rot="10800000">
            <a:off x="7039449" y="4534275"/>
            <a:ext cx="7659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518" name="Google Shape;14518;p549"/>
          <p:cNvSpPr txBox="1"/>
          <p:nvPr/>
        </p:nvSpPr>
        <p:spPr>
          <a:xfrm>
            <a:off x="2937725" y="4510450"/>
            <a:ext cx="2908200" cy="3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Bullies stick together!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22" name="Shape 14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3" name="Google Shape;14523;p55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Valenced interactions: Solidarity theory</a:t>
            </a:r>
            <a:endParaRPr/>
          </a:p>
        </p:txBody>
      </p:sp>
      <p:sp>
        <p:nvSpPr>
          <p:cNvPr id="14524" name="Google Shape;14524;p550"/>
          <p:cNvSpPr txBox="1"/>
          <p:nvPr>
            <p:ph idx="1" type="body"/>
          </p:nvPr>
        </p:nvSpPr>
        <p:spPr>
          <a:xfrm>
            <a:off x="311700" y="1225225"/>
            <a:ext cx="8697000" cy="17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Solidarity Theory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in the same position in the valenced interaction network are likely to link via positive ties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Two types of solidarity: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Status solidarity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Karma solidarity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5" name="Google Shape;14525;p550"/>
          <p:cNvSpPr/>
          <p:nvPr/>
        </p:nvSpPr>
        <p:spPr>
          <a:xfrm>
            <a:off x="8027125" y="86350"/>
            <a:ext cx="981600" cy="1179600"/>
          </a:xfrm>
          <a:prstGeom prst="rect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6" name="Google Shape;14526;p550"/>
          <p:cNvSpPr/>
          <p:nvPr/>
        </p:nvSpPr>
        <p:spPr>
          <a:xfrm>
            <a:off x="8192860" y="472152"/>
            <a:ext cx="191400" cy="1932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7" name="Google Shape;14527;p550"/>
          <p:cNvSpPr/>
          <p:nvPr/>
        </p:nvSpPr>
        <p:spPr>
          <a:xfrm>
            <a:off x="8192860" y="216793"/>
            <a:ext cx="191400" cy="1932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528" name="Google Shape;14528;p550"/>
          <p:cNvCxnSpPr/>
          <p:nvPr/>
        </p:nvCxnSpPr>
        <p:spPr>
          <a:xfrm flipH="1" rot="10800000">
            <a:off x="8124842" y="847730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529" name="Google Shape;14529;p550"/>
          <p:cNvCxnSpPr/>
          <p:nvPr/>
        </p:nvCxnSpPr>
        <p:spPr>
          <a:xfrm flipH="1" rot="10800000">
            <a:off x="8124842" y="1076729"/>
            <a:ext cx="327600" cy="5700"/>
          </a:xfrm>
          <a:prstGeom prst="straightConnector1">
            <a:avLst/>
          </a:prstGeom>
          <a:noFill/>
          <a:ln cap="flat" cmpd="sng" w="3810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530" name="Google Shape;14530;p550"/>
          <p:cNvSpPr txBox="1"/>
          <p:nvPr/>
        </p:nvSpPr>
        <p:spPr>
          <a:xfrm>
            <a:off x="8384249" y="151200"/>
            <a:ext cx="676500" cy="1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Ego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Other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Neg.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Comfortaa"/>
                <a:ea typeface="Comfortaa"/>
                <a:cs typeface="Comfortaa"/>
                <a:sym typeface="Comfortaa"/>
              </a:rPr>
              <a:t>Pos.</a:t>
            </a:r>
            <a:endParaRPr b="1" sz="11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531" name="Google Shape;14531;p550"/>
          <p:cNvSpPr txBox="1"/>
          <p:nvPr/>
        </p:nvSpPr>
        <p:spPr>
          <a:xfrm>
            <a:off x="1114000" y="4670725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532" name="Google Shape;14532;p550"/>
          <p:cNvSpPr txBox="1"/>
          <p:nvPr/>
        </p:nvSpPr>
        <p:spPr>
          <a:xfrm>
            <a:off x="6698745" y="4602600"/>
            <a:ext cx="1135500" cy="24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533" name="Google Shape;14533;p550"/>
          <p:cNvSpPr/>
          <p:nvPr/>
        </p:nvSpPr>
        <p:spPr>
          <a:xfrm>
            <a:off x="3818050" y="3706900"/>
            <a:ext cx="1355100" cy="708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4" name="Google Shape;14534;p550"/>
          <p:cNvSpPr/>
          <p:nvPr/>
        </p:nvSpPr>
        <p:spPr>
          <a:xfrm>
            <a:off x="103475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5" name="Google Shape;14535;p550"/>
          <p:cNvSpPr/>
          <p:nvPr/>
        </p:nvSpPr>
        <p:spPr>
          <a:xfrm>
            <a:off x="5441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6" name="Google Shape;14536;p550"/>
          <p:cNvSpPr/>
          <p:nvPr/>
        </p:nvSpPr>
        <p:spPr>
          <a:xfrm>
            <a:off x="1034738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7" name="Google Shape;14537;p550"/>
          <p:cNvSpPr/>
          <p:nvPr/>
        </p:nvSpPr>
        <p:spPr>
          <a:xfrm>
            <a:off x="154707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538" name="Google Shape;14538;p550"/>
          <p:cNvCxnSpPr>
            <a:stCxn id="14535" idx="4"/>
            <a:endCxn id="14534" idx="1"/>
          </p:cNvCxnSpPr>
          <p:nvPr/>
        </p:nvCxnSpPr>
        <p:spPr>
          <a:xfrm>
            <a:off x="727125" y="36939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39" name="Google Shape;14539;p550"/>
          <p:cNvCxnSpPr>
            <a:stCxn id="14536" idx="4"/>
            <a:endCxn id="14534" idx="0"/>
          </p:cNvCxnSpPr>
          <p:nvPr/>
        </p:nvCxnSpPr>
        <p:spPr>
          <a:xfrm>
            <a:off x="1217738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40" name="Google Shape;14540;p550"/>
          <p:cNvCxnSpPr>
            <a:stCxn id="14537" idx="4"/>
            <a:endCxn id="14534" idx="7"/>
          </p:cNvCxnSpPr>
          <p:nvPr/>
        </p:nvCxnSpPr>
        <p:spPr>
          <a:xfrm flipH="1">
            <a:off x="13472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541" name="Google Shape;14541;p550"/>
          <p:cNvSpPr/>
          <p:nvPr/>
        </p:nvSpPr>
        <p:spPr>
          <a:xfrm>
            <a:off x="2059400" y="42042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2" name="Google Shape;14542;p550"/>
          <p:cNvSpPr/>
          <p:nvPr/>
        </p:nvSpPr>
        <p:spPr>
          <a:xfrm>
            <a:off x="2059400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3" name="Google Shape;14543;p550"/>
          <p:cNvSpPr/>
          <p:nvPr/>
        </p:nvSpPr>
        <p:spPr>
          <a:xfrm>
            <a:off x="2571725" y="33378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544" name="Google Shape;14544;p550"/>
          <p:cNvCxnSpPr>
            <a:stCxn id="14537" idx="4"/>
            <a:endCxn id="14541" idx="1"/>
          </p:cNvCxnSpPr>
          <p:nvPr/>
        </p:nvCxnSpPr>
        <p:spPr>
          <a:xfrm>
            <a:off x="1730075" y="36939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45" name="Google Shape;14545;p550"/>
          <p:cNvCxnSpPr>
            <a:stCxn id="14536" idx="4"/>
            <a:endCxn id="14541" idx="1"/>
          </p:cNvCxnSpPr>
          <p:nvPr/>
        </p:nvCxnSpPr>
        <p:spPr>
          <a:xfrm>
            <a:off x="1217738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46" name="Google Shape;14546;p550"/>
          <p:cNvCxnSpPr>
            <a:stCxn id="14542" idx="4"/>
            <a:endCxn id="14534" idx="7"/>
          </p:cNvCxnSpPr>
          <p:nvPr/>
        </p:nvCxnSpPr>
        <p:spPr>
          <a:xfrm flipH="1">
            <a:off x="1347200" y="36939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47" name="Google Shape;14547;p550"/>
          <p:cNvCxnSpPr>
            <a:stCxn id="14543" idx="4"/>
            <a:endCxn id="14541" idx="0"/>
          </p:cNvCxnSpPr>
          <p:nvPr/>
        </p:nvCxnSpPr>
        <p:spPr>
          <a:xfrm flipH="1">
            <a:off x="2242325" y="36939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48" name="Google Shape;14548;p550"/>
          <p:cNvCxnSpPr>
            <a:stCxn id="14542" idx="4"/>
            <a:endCxn id="14541" idx="0"/>
          </p:cNvCxnSpPr>
          <p:nvPr/>
        </p:nvCxnSpPr>
        <p:spPr>
          <a:xfrm>
            <a:off x="2242400" y="36939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49" name="Google Shape;14549;p550"/>
          <p:cNvCxnSpPr>
            <a:stCxn id="14535" idx="5"/>
            <a:endCxn id="14541" idx="1"/>
          </p:cNvCxnSpPr>
          <p:nvPr/>
        </p:nvCxnSpPr>
        <p:spPr>
          <a:xfrm>
            <a:off x="856526" y="36417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50" name="Google Shape;14550;p550"/>
          <p:cNvCxnSpPr>
            <a:stCxn id="14543" idx="3"/>
            <a:endCxn id="14534" idx="7"/>
          </p:cNvCxnSpPr>
          <p:nvPr/>
        </p:nvCxnSpPr>
        <p:spPr>
          <a:xfrm flipH="1">
            <a:off x="1347024" y="36417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551" name="Google Shape;14551;p550"/>
          <p:cNvSpPr/>
          <p:nvPr/>
        </p:nvSpPr>
        <p:spPr>
          <a:xfrm>
            <a:off x="672710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2" name="Google Shape;14552;p550"/>
          <p:cNvSpPr/>
          <p:nvPr/>
        </p:nvSpPr>
        <p:spPr>
          <a:xfrm>
            <a:off x="62364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3" name="Google Shape;14553;p550"/>
          <p:cNvSpPr/>
          <p:nvPr/>
        </p:nvSpPr>
        <p:spPr>
          <a:xfrm>
            <a:off x="6727088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4" name="Google Shape;14554;p550"/>
          <p:cNvSpPr/>
          <p:nvPr/>
        </p:nvSpPr>
        <p:spPr>
          <a:xfrm>
            <a:off x="723942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555" name="Google Shape;14555;p550"/>
          <p:cNvCxnSpPr>
            <a:stCxn id="14552" idx="4"/>
            <a:endCxn id="14551" idx="1"/>
          </p:cNvCxnSpPr>
          <p:nvPr/>
        </p:nvCxnSpPr>
        <p:spPr>
          <a:xfrm>
            <a:off x="6419475" y="3720025"/>
            <a:ext cx="361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56" name="Google Shape;14556;p550"/>
          <p:cNvCxnSpPr>
            <a:stCxn id="14553" idx="4"/>
            <a:endCxn id="14551" idx="0"/>
          </p:cNvCxnSpPr>
          <p:nvPr/>
        </p:nvCxnSpPr>
        <p:spPr>
          <a:xfrm>
            <a:off x="6910088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57" name="Google Shape;14557;p550"/>
          <p:cNvCxnSpPr>
            <a:stCxn id="14554" idx="4"/>
            <a:endCxn id="14551" idx="7"/>
          </p:cNvCxnSpPr>
          <p:nvPr/>
        </p:nvCxnSpPr>
        <p:spPr>
          <a:xfrm flipH="1">
            <a:off x="70396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14558" name="Google Shape;14558;p550"/>
          <p:cNvSpPr/>
          <p:nvPr/>
        </p:nvSpPr>
        <p:spPr>
          <a:xfrm>
            <a:off x="7751750" y="4230325"/>
            <a:ext cx="366000" cy="35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9" name="Google Shape;14559;p550"/>
          <p:cNvSpPr/>
          <p:nvPr/>
        </p:nvSpPr>
        <p:spPr>
          <a:xfrm>
            <a:off x="7751750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60" name="Google Shape;14560;p550"/>
          <p:cNvSpPr/>
          <p:nvPr/>
        </p:nvSpPr>
        <p:spPr>
          <a:xfrm>
            <a:off x="8264075" y="3363925"/>
            <a:ext cx="366000" cy="356100"/>
          </a:xfrm>
          <a:prstGeom prst="ellipse">
            <a:avLst/>
          </a:prstGeom>
          <a:solidFill>
            <a:srgbClr val="A4C2F4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561" name="Google Shape;14561;p550"/>
          <p:cNvCxnSpPr>
            <a:stCxn id="14554" idx="4"/>
            <a:endCxn id="14558" idx="1"/>
          </p:cNvCxnSpPr>
          <p:nvPr/>
        </p:nvCxnSpPr>
        <p:spPr>
          <a:xfrm>
            <a:off x="7422425" y="3720025"/>
            <a:ext cx="3828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62" name="Google Shape;14562;p550"/>
          <p:cNvCxnSpPr>
            <a:stCxn id="14553" idx="4"/>
            <a:endCxn id="14558" idx="1"/>
          </p:cNvCxnSpPr>
          <p:nvPr/>
        </p:nvCxnSpPr>
        <p:spPr>
          <a:xfrm>
            <a:off x="6910088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63" name="Google Shape;14563;p550"/>
          <p:cNvCxnSpPr>
            <a:stCxn id="14559" idx="4"/>
            <a:endCxn id="14551" idx="7"/>
          </p:cNvCxnSpPr>
          <p:nvPr/>
        </p:nvCxnSpPr>
        <p:spPr>
          <a:xfrm flipH="1">
            <a:off x="7039550" y="3720025"/>
            <a:ext cx="895200" cy="5625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64" name="Google Shape;14564;p550"/>
          <p:cNvCxnSpPr>
            <a:stCxn id="14560" idx="4"/>
            <a:endCxn id="14558" idx="0"/>
          </p:cNvCxnSpPr>
          <p:nvPr/>
        </p:nvCxnSpPr>
        <p:spPr>
          <a:xfrm flipH="1">
            <a:off x="7934675" y="3720025"/>
            <a:ext cx="51240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65" name="Google Shape;14565;p550"/>
          <p:cNvCxnSpPr>
            <a:stCxn id="14559" idx="4"/>
            <a:endCxn id="14558" idx="0"/>
          </p:cNvCxnSpPr>
          <p:nvPr/>
        </p:nvCxnSpPr>
        <p:spPr>
          <a:xfrm>
            <a:off x="7934750" y="3720025"/>
            <a:ext cx="0" cy="5103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66" name="Google Shape;14566;p550"/>
          <p:cNvCxnSpPr>
            <a:stCxn id="14552" idx="5"/>
            <a:endCxn id="14558" idx="1"/>
          </p:cNvCxnSpPr>
          <p:nvPr/>
        </p:nvCxnSpPr>
        <p:spPr>
          <a:xfrm>
            <a:off x="6548876" y="3667875"/>
            <a:ext cx="12564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67" name="Google Shape;14567;p550"/>
          <p:cNvCxnSpPr>
            <a:stCxn id="14560" idx="3"/>
            <a:endCxn id="14551" idx="7"/>
          </p:cNvCxnSpPr>
          <p:nvPr/>
        </p:nvCxnSpPr>
        <p:spPr>
          <a:xfrm flipH="1">
            <a:off x="7039374" y="3667875"/>
            <a:ext cx="1278300" cy="61470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14568" name="Google Shape;14568;p550"/>
          <p:cNvCxnSpPr>
            <a:stCxn id="14551" idx="6"/>
            <a:endCxn id="14558" idx="2"/>
          </p:cNvCxnSpPr>
          <p:nvPr/>
        </p:nvCxnSpPr>
        <p:spPr>
          <a:xfrm>
            <a:off x="7093100" y="4408375"/>
            <a:ext cx="6588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569" name="Google Shape;14569;p550"/>
          <p:cNvCxnSpPr>
            <a:stCxn id="14558" idx="3"/>
            <a:endCxn id="14551" idx="5"/>
          </p:cNvCxnSpPr>
          <p:nvPr/>
        </p:nvCxnSpPr>
        <p:spPr>
          <a:xfrm rot="10800000">
            <a:off x="7039449" y="4534275"/>
            <a:ext cx="765900" cy="0"/>
          </a:xfrm>
          <a:prstGeom prst="straightConnector1">
            <a:avLst/>
          </a:prstGeom>
          <a:noFill/>
          <a:ln cap="flat" cmpd="sng" w="19050">
            <a:solidFill>
              <a:srgbClr val="6AA84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570" name="Google Shape;14570;p550"/>
          <p:cNvSpPr txBox="1"/>
          <p:nvPr/>
        </p:nvSpPr>
        <p:spPr>
          <a:xfrm>
            <a:off x="2937725" y="4510450"/>
            <a:ext cx="2908200" cy="3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6AA84F"/>
                </a:solidFill>
                <a:latin typeface="Open Sans"/>
                <a:ea typeface="Open Sans"/>
                <a:cs typeface="Open Sans"/>
                <a:sym typeface="Open Sans"/>
              </a:rPr>
              <a:t>Cool kids stick together!</a:t>
            </a:r>
            <a:endParaRPr b="1">
              <a:solidFill>
                <a:srgbClr val="6AA84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74" name="Shape 14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5" name="Google Shape;14575;p55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Dominance orders among animals </a:t>
            </a:r>
            <a:endParaRPr/>
          </a:p>
        </p:txBody>
      </p:sp>
      <p:sp>
        <p:nvSpPr>
          <p:cNvPr id="14576" name="Google Shape;14576;p551"/>
          <p:cNvSpPr txBox="1"/>
          <p:nvPr>
            <p:ph idx="1" type="body"/>
          </p:nvPr>
        </p:nvSpPr>
        <p:spPr>
          <a:xfrm>
            <a:off x="311700" y="1225225"/>
            <a:ext cx="4327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Dominance hierarchies: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Observed across a number of species in the animal kingdom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Including (most notably) among chickens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You do not need a big brain to create a (complex) social network!</a:t>
            </a:r>
            <a:endParaRPr>
              <a:solidFill>
                <a:srgbClr val="FF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●"/>
            </a:pPr>
            <a:r>
              <a:rPr lang="en">
                <a:solidFill>
                  <a:srgbClr val="434343"/>
                </a:solidFill>
              </a:rPr>
              <a:t>“Pure” dominance order:</a:t>
            </a:r>
            <a:endParaRPr>
              <a:solidFill>
                <a:srgbClr val="434343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</a:pPr>
            <a:r>
              <a:rPr lang="en">
                <a:solidFill>
                  <a:srgbClr val="434343"/>
                </a:solidFill>
              </a:rPr>
              <a:t>Directed</a:t>
            </a:r>
            <a:endParaRPr>
              <a:solidFill>
                <a:srgbClr val="434343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</a:pPr>
            <a:r>
              <a:rPr lang="en">
                <a:solidFill>
                  <a:srgbClr val="434343"/>
                </a:solidFill>
              </a:rPr>
              <a:t>A dominates B</a:t>
            </a:r>
            <a:endParaRPr>
              <a:solidFill>
                <a:srgbClr val="434343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</a:pPr>
            <a:r>
              <a:rPr lang="en">
                <a:solidFill>
                  <a:srgbClr val="434343"/>
                </a:solidFill>
              </a:rPr>
              <a:t>Anti-symmetric</a:t>
            </a:r>
            <a:endParaRPr>
              <a:solidFill>
                <a:srgbClr val="434343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</a:pPr>
            <a:r>
              <a:rPr lang="en">
                <a:solidFill>
                  <a:srgbClr val="434343"/>
                </a:solidFill>
              </a:rPr>
              <a:t>If A dominates B then B </a:t>
            </a:r>
            <a:r>
              <a:rPr b="1" lang="en">
                <a:solidFill>
                  <a:srgbClr val="434343"/>
                </a:solidFill>
              </a:rPr>
              <a:t>cannot </a:t>
            </a:r>
            <a:r>
              <a:rPr lang="en">
                <a:solidFill>
                  <a:srgbClr val="434343"/>
                </a:solidFill>
              </a:rPr>
              <a:t>dominate A</a:t>
            </a:r>
            <a:endParaRPr>
              <a:solidFill>
                <a:srgbClr val="434343"/>
              </a:solidFill>
            </a:endParaRPr>
          </a:p>
        </p:txBody>
      </p:sp>
      <p:pic>
        <p:nvPicPr>
          <p:cNvPr id="14577" name="Google Shape;14577;p5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92675" y="1225225"/>
            <a:ext cx="4327500" cy="333730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81" name="Shape 14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82" name="Google Shape;14582;p55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Dominance orders among animals </a:t>
            </a:r>
            <a:endParaRPr/>
          </a:p>
        </p:txBody>
      </p:sp>
      <p:sp>
        <p:nvSpPr>
          <p:cNvPr id="14583" name="Google Shape;14583;p552"/>
          <p:cNvSpPr txBox="1"/>
          <p:nvPr>
            <p:ph idx="1" type="body"/>
          </p:nvPr>
        </p:nvSpPr>
        <p:spPr>
          <a:xfrm>
            <a:off x="311700" y="1225225"/>
            <a:ext cx="4327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Dominance hierarchies: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Observed across a number of species in the animal kingdom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Including (most notably) among chickens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You do not need a big brain to create a (complex) social network!</a:t>
            </a:r>
            <a:endParaRPr>
              <a:solidFill>
                <a:srgbClr val="FF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●"/>
            </a:pPr>
            <a:r>
              <a:rPr lang="en">
                <a:solidFill>
                  <a:srgbClr val="434343"/>
                </a:solidFill>
              </a:rPr>
              <a:t>“Pure” dominance order:</a:t>
            </a:r>
            <a:endParaRPr>
              <a:solidFill>
                <a:srgbClr val="434343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</a:pPr>
            <a:r>
              <a:rPr lang="en">
                <a:solidFill>
                  <a:srgbClr val="434343"/>
                </a:solidFill>
              </a:rPr>
              <a:t>Complete (all ties present)</a:t>
            </a:r>
            <a:endParaRPr>
              <a:solidFill>
                <a:srgbClr val="434343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</a:pPr>
            <a:r>
              <a:rPr lang="en">
                <a:solidFill>
                  <a:srgbClr val="434343"/>
                </a:solidFill>
              </a:rPr>
              <a:t>Either A dominates B or B dominates A</a:t>
            </a:r>
            <a:endParaRPr>
              <a:solidFill>
                <a:srgbClr val="434343"/>
              </a:solidFill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pic>
        <p:nvPicPr>
          <p:cNvPr id="14584" name="Google Shape;14584;p5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92675" y="1225225"/>
            <a:ext cx="4327500" cy="333730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88" name="Shape 14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89" name="Google Shape;14589;p55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Dominance orders among animals </a:t>
            </a:r>
            <a:endParaRPr/>
          </a:p>
        </p:txBody>
      </p:sp>
      <p:sp>
        <p:nvSpPr>
          <p:cNvPr id="14590" name="Google Shape;14590;p553"/>
          <p:cNvSpPr txBox="1"/>
          <p:nvPr>
            <p:ph idx="1" type="body"/>
          </p:nvPr>
        </p:nvSpPr>
        <p:spPr>
          <a:xfrm>
            <a:off x="311700" y="1225225"/>
            <a:ext cx="4327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Dominance hierarchies: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Observed across a number of species in the animal kingdom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Including (most notably) among chickens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lang="en">
                <a:solidFill>
                  <a:srgbClr val="FF0000"/>
                </a:solidFill>
              </a:rPr>
              <a:t>You do not need a big brain to create a (complex) social network!</a:t>
            </a:r>
            <a:endParaRPr>
              <a:solidFill>
                <a:srgbClr val="FF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●"/>
            </a:pPr>
            <a:r>
              <a:rPr lang="en">
                <a:solidFill>
                  <a:srgbClr val="434343"/>
                </a:solidFill>
              </a:rPr>
              <a:t>“Pure” dominance order:</a:t>
            </a:r>
            <a:endParaRPr>
              <a:solidFill>
                <a:srgbClr val="434343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</a:pPr>
            <a:r>
              <a:rPr lang="en">
                <a:solidFill>
                  <a:srgbClr val="434343"/>
                </a:solidFill>
              </a:rPr>
              <a:t>Transitive (all ties present)</a:t>
            </a:r>
            <a:endParaRPr>
              <a:solidFill>
                <a:srgbClr val="434343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</a:pPr>
            <a:r>
              <a:rPr lang="en">
                <a:solidFill>
                  <a:srgbClr val="434343"/>
                </a:solidFill>
              </a:rPr>
              <a:t>If A dominates B, and B dominates C, then by necessity A dominates C</a:t>
            </a:r>
            <a:endParaRPr>
              <a:solidFill>
                <a:srgbClr val="434343"/>
              </a:solidFill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pic>
        <p:nvPicPr>
          <p:cNvPr id="14591" name="Google Shape;14591;p5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92675" y="1225225"/>
            <a:ext cx="4327500" cy="333730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95" name="Shape 14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6" name="Google Shape;14596;p55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Algebraic Requirements for Dominance Order</a:t>
            </a:r>
            <a:endParaRPr/>
          </a:p>
        </p:txBody>
      </p:sp>
      <p:sp>
        <p:nvSpPr>
          <p:cNvPr id="14597" name="Google Shape;14597;p554"/>
          <p:cNvSpPr txBox="1"/>
          <p:nvPr/>
        </p:nvSpPr>
        <p:spPr>
          <a:xfrm>
            <a:off x="4572000" y="1343200"/>
            <a:ext cx="4214700" cy="13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 linear dominance order is </a:t>
            </a: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transitive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Economica"/>
              <a:buChar char="●"/>
            </a:pPr>
            <a:r>
              <a:rPr lang="en" sz="1800">
                <a:solidFill>
                  <a:srgbClr val="000000"/>
                </a:solidFill>
                <a:latin typeface="Economica"/>
                <a:ea typeface="Economica"/>
                <a:cs typeface="Economica"/>
                <a:sym typeface="Economica"/>
              </a:rPr>
              <a:t>Transitivity is a relation between node </a:t>
            </a:r>
            <a:r>
              <a:rPr b="1" lang="en" sz="1800">
                <a:solidFill>
                  <a:srgbClr val="000000"/>
                </a:solidFill>
                <a:latin typeface="Economica"/>
                <a:ea typeface="Economica"/>
                <a:cs typeface="Economica"/>
                <a:sym typeface="Economica"/>
              </a:rPr>
              <a:t>triples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If a dominates  b, and b dominates c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2" marL="1371600" rtl="0" algn="l"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■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Then a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necessarily 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dominates c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grpSp>
        <p:nvGrpSpPr>
          <p:cNvPr id="14598" name="Google Shape;14598;p554"/>
          <p:cNvGrpSpPr/>
          <p:nvPr/>
        </p:nvGrpSpPr>
        <p:grpSpPr>
          <a:xfrm>
            <a:off x="6672775" y="2881150"/>
            <a:ext cx="1647600" cy="1580100"/>
            <a:chOff x="6494400" y="3563400"/>
            <a:chExt cx="1647600" cy="1580100"/>
          </a:xfrm>
        </p:grpSpPr>
        <p:sp>
          <p:nvSpPr>
            <p:cNvPr id="14599" name="Google Shape;14599;p554"/>
            <p:cNvSpPr/>
            <p:nvPr/>
          </p:nvSpPr>
          <p:spPr>
            <a:xfrm>
              <a:off x="6494400" y="3563400"/>
              <a:ext cx="1647600" cy="1580100"/>
            </a:xfrm>
            <a:prstGeom prst="ellipse">
              <a:avLst/>
            </a:prstGeom>
            <a:noFill/>
            <a:ln cap="flat" cmpd="sng" w="28575">
              <a:solidFill>
                <a:srgbClr val="B7B7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554"/>
            <p:cNvSpPr/>
            <p:nvPr/>
          </p:nvSpPr>
          <p:spPr>
            <a:xfrm>
              <a:off x="6673050" y="3952250"/>
              <a:ext cx="390600" cy="368700"/>
            </a:xfrm>
            <a:prstGeom prst="ellipse">
              <a:avLst/>
            </a:prstGeom>
            <a:solidFill>
              <a:srgbClr val="EFEFEF"/>
            </a:solidFill>
            <a:ln cap="flat" cmpd="sng" w="9525">
              <a:solidFill>
                <a:srgbClr val="B7B7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a</a:t>
              </a:r>
              <a:endParaRPr/>
            </a:p>
          </p:txBody>
        </p:sp>
        <p:sp>
          <p:nvSpPr>
            <p:cNvPr id="14601" name="Google Shape;14601;p554"/>
            <p:cNvSpPr/>
            <p:nvPr/>
          </p:nvSpPr>
          <p:spPr>
            <a:xfrm>
              <a:off x="7572750" y="3952250"/>
              <a:ext cx="390600" cy="368700"/>
            </a:xfrm>
            <a:prstGeom prst="ellipse">
              <a:avLst/>
            </a:prstGeom>
            <a:solidFill>
              <a:srgbClr val="EFEFEF"/>
            </a:solidFill>
            <a:ln cap="flat" cmpd="sng" w="9525">
              <a:solidFill>
                <a:srgbClr val="B7B7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</a:t>
              </a:r>
              <a:endParaRPr/>
            </a:p>
          </p:txBody>
        </p:sp>
        <p:sp>
          <p:nvSpPr>
            <p:cNvPr id="14602" name="Google Shape;14602;p554"/>
            <p:cNvSpPr/>
            <p:nvPr/>
          </p:nvSpPr>
          <p:spPr>
            <a:xfrm>
              <a:off x="7122900" y="4638375"/>
              <a:ext cx="390600" cy="368700"/>
            </a:xfrm>
            <a:prstGeom prst="ellipse">
              <a:avLst/>
            </a:prstGeom>
            <a:solidFill>
              <a:srgbClr val="EFEFEF"/>
            </a:solidFill>
            <a:ln cap="flat" cmpd="sng" w="9525">
              <a:solidFill>
                <a:srgbClr val="B7B7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c</a:t>
              </a:r>
              <a:endParaRPr/>
            </a:p>
          </p:txBody>
        </p:sp>
        <p:cxnSp>
          <p:nvCxnSpPr>
            <p:cNvPr id="14603" name="Google Shape;14603;p554"/>
            <p:cNvCxnSpPr>
              <a:stCxn id="14600" idx="6"/>
              <a:endCxn id="14601" idx="2"/>
            </p:cNvCxnSpPr>
            <p:nvPr/>
          </p:nvCxnSpPr>
          <p:spPr>
            <a:xfrm>
              <a:off x="7063650" y="4136600"/>
              <a:ext cx="509100" cy="0"/>
            </a:xfrm>
            <a:prstGeom prst="straightConnector1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med" w="med" type="none"/>
              <a:tailEnd len="med" w="med" type="stealth"/>
            </a:ln>
          </p:spPr>
        </p:cxnSp>
        <p:cxnSp>
          <p:nvCxnSpPr>
            <p:cNvPr id="14604" name="Google Shape;14604;p554"/>
            <p:cNvCxnSpPr>
              <a:stCxn id="14601" idx="3"/>
              <a:endCxn id="14602" idx="0"/>
            </p:cNvCxnSpPr>
            <p:nvPr/>
          </p:nvCxnSpPr>
          <p:spPr>
            <a:xfrm flipH="1">
              <a:off x="7318252" y="4266955"/>
              <a:ext cx="311700" cy="371400"/>
            </a:xfrm>
            <a:prstGeom prst="straightConnector1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med" w="med" type="none"/>
              <a:tailEnd len="med" w="med" type="stealth"/>
            </a:ln>
          </p:spPr>
        </p:cxnSp>
        <p:cxnSp>
          <p:nvCxnSpPr>
            <p:cNvPr id="14605" name="Google Shape;14605;p554"/>
            <p:cNvCxnSpPr>
              <a:stCxn id="14600" idx="4"/>
              <a:endCxn id="14602" idx="0"/>
            </p:cNvCxnSpPr>
            <p:nvPr/>
          </p:nvCxnSpPr>
          <p:spPr>
            <a:xfrm>
              <a:off x="6868350" y="4320950"/>
              <a:ext cx="450000" cy="317400"/>
            </a:xfrm>
            <a:prstGeom prst="straightConnector1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med" w="med" type="none"/>
              <a:tailEnd len="med" w="med" type="stealth"/>
            </a:ln>
          </p:spPr>
        </p:cxnSp>
      </p:grpSp>
      <p:sp>
        <p:nvSpPr>
          <p:cNvPr id="14606" name="Google Shape;14606;p554"/>
          <p:cNvSpPr txBox="1"/>
          <p:nvPr/>
        </p:nvSpPr>
        <p:spPr>
          <a:xfrm rot="-1409">
            <a:off x="5124250" y="4270791"/>
            <a:ext cx="1464000" cy="30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This arc has to exist!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4607" name="Google Shape;14607;p554"/>
          <p:cNvCxnSpPr>
            <a:stCxn id="14606" idx="3"/>
          </p:cNvCxnSpPr>
          <p:nvPr/>
        </p:nvCxnSpPr>
        <p:spPr>
          <a:xfrm flipH="1" rot="10800000">
            <a:off x="6588250" y="3875091"/>
            <a:ext cx="562200" cy="549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608" name="Google Shape;14608;p554"/>
          <p:cNvSpPr txBox="1"/>
          <p:nvPr/>
        </p:nvSpPr>
        <p:spPr>
          <a:xfrm>
            <a:off x="6672775" y="4579225"/>
            <a:ext cx="1647600" cy="30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Transitive Triad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14609" name="Google Shape;14609;p5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1299625"/>
            <a:ext cx="4267197" cy="3319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13" name="Shape 14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4" name="Google Shape;14614;p55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Algebraic Requirements for Dominance Order</a:t>
            </a:r>
            <a:endParaRPr/>
          </a:p>
        </p:txBody>
      </p:sp>
      <p:sp>
        <p:nvSpPr>
          <p:cNvPr id="14615" name="Google Shape;14615;p555"/>
          <p:cNvSpPr txBox="1"/>
          <p:nvPr/>
        </p:nvSpPr>
        <p:spPr>
          <a:xfrm>
            <a:off x="4572000" y="1343201"/>
            <a:ext cx="4214700" cy="15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Economica"/>
              <a:buChar char="●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A linear dominance order contains no </a:t>
            </a: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cyclical</a:t>
            </a: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 triads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Economica"/>
              <a:buChar char="○"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Flashback: </a:t>
            </a: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A cycle is a path that begins and ends with the same node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grpSp>
        <p:nvGrpSpPr>
          <p:cNvPr id="14616" name="Google Shape;14616;p555"/>
          <p:cNvGrpSpPr/>
          <p:nvPr/>
        </p:nvGrpSpPr>
        <p:grpSpPr>
          <a:xfrm>
            <a:off x="6672800" y="2812425"/>
            <a:ext cx="1647600" cy="1580100"/>
            <a:chOff x="6494400" y="3563400"/>
            <a:chExt cx="1647600" cy="1580100"/>
          </a:xfrm>
        </p:grpSpPr>
        <p:sp>
          <p:nvSpPr>
            <p:cNvPr id="14617" name="Google Shape;14617;p555"/>
            <p:cNvSpPr/>
            <p:nvPr/>
          </p:nvSpPr>
          <p:spPr>
            <a:xfrm>
              <a:off x="6494400" y="3563400"/>
              <a:ext cx="1647600" cy="1580100"/>
            </a:xfrm>
            <a:prstGeom prst="ellipse">
              <a:avLst/>
            </a:prstGeom>
            <a:noFill/>
            <a:ln cap="flat" cmpd="sng" w="28575">
              <a:solidFill>
                <a:srgbClr val="B7B7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555"/>
            <p:cNvSpPr/>
            <p:nvPr/>
          </p:nvSpPr>
          <p:spPr>
            <a:xfrm>
              <a:off x="6673050" y="3952250"/>
              <a:ext cx="390600" cy="368700"/>
            </a:xfrm>
            <a:prstGeom prst="ellipse">
              <a:avLst/>
            </a:prstGeom>
            <a:solidFill>
              <a:srgbClr val="EFEFEF"/>
            </a:solidFill>
            <a:ln cap="flat" cmpd="sng" w="9525">
              <a:solidFill>
                <a:srgbClr val="B7B7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a</a:t>
              </a:r>
              <a:endParaRPr/>
            </a:p>
          </p:txBody>
        </p:sp>
        <p:sp>
          <p:nvSpPr>
            <p:cNvPr id="14619" name="Google Shape;14619;p555"/>
            <p:cNvSpPr/>
            <p:nvPr/>
          </p:nvSpPr>
          <p:spPr>
            <a:xfrm>
              <a:off x="7572750" y="3952250"/>
              <a:ext cx="390600" cy="368700"/>
            </a:xfrm>
            <a:prstGeom prst="ellipse">
              <a:avLst/>
            </a:prstGeom>
            <a:solidFill>
              <a:srgbClr val="EFEFEF"/>
            </a:solidFill>
            <a:ln cap="flat" cmpd="sng" w="9525">
              <a:solidFill>
                <a:srgbClr val="B7B7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</a:t>
              </a:r>
              <a:endParaRPr/>
            </a:p>
          </p:txBody>
        </p:sp>
        <p:sp>
          <p:nvSpPr>
            <p:cNvPr id="14620" name="Google Shape;14620;p555"/>
            <p:cNvSpPr/>
            <p:nvPr/>
          </p:nvSpPr>
          <p:spPr>
            <a:xfrm>
              <a:off x="7122900" y="4638375"/>
              <a:ext cx="390600" cy="368700"/>
            </a:xfrm>
            <a:prstGeom prst="ellipse">
              <a:avLst/>
            </a:prstGeom>
            <a:solidFill>
              <a:srgbClr val="EFEFEF"/>
            </a:solidFill>
            <a:ln cap="flat" cmpd="sng" w="9525">
              <a:solidFill>
                <a:srgbClr val="B7B7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c</a:t>
              </a:r>
              <a:endParaRPr/>
            </a:p>
          </p:txBody>
        </p:sp>
        <p:cxnSp>
          <p:nvCxnSpPr>
            <p:cNvPr id="14621" name="Google Shape;14621;p555"/>
            <p:cNvCxnSpPr>
              <a:stCxn id="14618" idx="6"/>
              <a:endCxn id="14619" idx="2"/>
            </p:cNvCxnSpPr>
            <p:nvPr/>
          </p:nvCxnSpPr>
          <p:spPr>
            <a:xfrm>
              <a:off x="7063650" y="4136600"/>
              <a:ext cx="509100" cy="0"/>
            </a:xfrm>
            <a:prstGeom prst="straightConnector1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med" w="med" type="none"/>
              <a:tailEnd len="med" w="med" type="stealth"/>
            </a:ln>
          </p:spPr>
        </p:cxnSp>
        <p:cxnSp>
          <p:nvCxnSpPr>
            <p:cNvPr id="14622" name="Google Shape;14622;p555"/>
            <p:cNvCxnSpPr>
              <a:stCxn id="14619" idx="3"/>
              <a:endCxn id="14620" idx="0"/>
            </p:cNvCxnSpPr>
            <p:nvPr/>
          </p:nvCxnSpPr>
          <p:spPr>
            <a:xfrm flipH="1">
              <a:off x="7318252" y="4266955"/>
              <a:ext cx="311700" cy="371400"/>
            </a:xfrm>
            <a:prstGeom prst="straightConnector1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med" w="med" type="none"/>
              <a:tailEnd len="med" w="med" type="stealth"/>
            </a:ln>
          </p:spPr>
        </p:cxnSp>
        <p:cxnSp>
          <p:nvCxnSpPr>
            <p:cNvPr id="14623" name="Google Shape;14623;p555"/>
            <p:cNvCxnSpPr>
              <a:stCxn id="14618" idx="4"/>
              <a:endCxn id="14620" idx="0"/>
            </p:cNvCxnSpPr>
            <p:nvPr/>
          </p:nvCxnSpPr>
          <p:spPr>
            <a:xfrm>
              <a:off x="6868350" y="4320950"/>
              <a:ext cx="450000" cy="317400"/>
            </a:xfrm>
            <a:prstGeom prst="straightConnector1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med" w="med" type="stealth"/>
              <a:tailEnd len="med" w="med" type="none"/>
            </a:ln>
          </p:spPr>
        </p:cxnSp>
      </p:grpSp>
      <p:sp>
        <p:nvSpPr>
          <p:cNvPr id="14624" name="Google Shape;14624;p555"/>
          <p:cNvSpPr txBox="1"/>
          <p:nvPr/>
        </p:nvSpPr>
        <p:spPr>
          <a:xfrm rot="-1409">
            <a:off x="5124275" y="4202066"/>
            <a:ext cx="1464000" cy="30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This would be weird!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4625" name="Google Shape;14625;p555"/>
          <p:cNvCxnSpPr>
            <a:stCxn id="14624" idx="3"/>
          </p:cNvCxnSpPr>
          <p:nvPr/>
        </p:nvCxnSpPr>
        <p:spPr>
          <a:xfrm flipH="1" rot="10800000">
            <a:off x="6588275" y="3806366"/>
            <a:ext cx="562200" cy="549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626" name="Google Shape;14626;p555"/>
          <p:cNvSpPr txBox="1"/>
          <p:nvPr/>
        </p:nvSpPr>
        <p:spPr>
          <a:xfrm>
            <a:off x="6672800" y="4510175"/>
            <a:ext cx="1647600" cy="30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Cyclical Triad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14627" name="Google Shape;14627;p5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1299625"/>
            <a:ext cx="4267197" cy="3319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31" name="Shape 14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32" name="Google Shape;14632;p55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emergence of dominance hierarchies</a:t>
            </a:r>
            <a:endParaRPr/>
          </a:p>
        </p:txBody>
      </p:sp>
      <p:sp>
        <p:nvSpPr>
          <p:cNvPr id="14633" name="Google Shape;14633;p556"/>
          <p:cNvSpPr txBox="1"/>
          <p:nvPr>
            <p:ph idx="1" type="body"/>
          </p:nvPr>
        </p:nvSpPr>
        <p:spPr>
          <a:xfrm>
            <a:off x="311700" y="1225225"/>
            <a:ext cx="8520600" cy="14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d</a:t>
            </a:r>
            <a:r>
              <a:rPr lang="en"/>
              <a:t>ominance order can be represented as </a:t>
            </a:r>
            <a:r>
              <a:rPr b="1" lang="en"/>
              <a:t>dominance network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Nodes</a:t>
            </a:r>
            <a:r>
              <a:rPr lang="en"/>
              <a:t> are animals (whether human or not)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Directed, antisymmetric </a:t>
            </a:r>
            <a:r>
              <a:rPr b="1" lang="en"/>
              <a:t>links</a:t>
            </a:r>
            <a:r>
              <a:rPr lang="en"/>
              <a:t> indicate that animal i dominates animal j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</a:t>
            </a:r>
            <a:r>
              <a:rPr b="1" lang="en"/>
              <a:t>possible</a:t>
            </a:r>
            <a:r>
              <a:rPr lang="en"/>
              <a:t> </a:t>
            </a:r>
            <a:r>
              <a:rPr b="1" lang="en"/>
              <a:t>triads</a:t>
            </a:r>
            <a:r>
              <a:rPr lang="en"/>
              <a:t> in dominance networks:</a:t>
            </a:r>
            <a:endParaRPr/>
          </a:p>
        </p:txBody>
      </p:sp>
      <p:pic>
        <p:nvPicPr>
          <p:cNvPr id="14634" name="Google Shape;14634;p55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11700" y="2809100"/>
            <a:ext cx="8520599" cy="144513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38" name="Shape 14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39" name="Google Shape;14639;p55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emergence of dominance hierarchies</a:t>
            </a:r>
            <a:endParaRPr/>
          </a:p>
        </p:txBody>
      </p:sp>
      <p:sp>
        <p:nvSpPr>
          <p:cNvPr id="14640" name="Google Shape;14640;p557"/>
          <p:cNvSpPr txBox="1"/>
          <p:nvPr>
            <p:ph idx="1" type="body"/>
          </p:nvPr>
        </p:nvSpPr>
        <p:spPr>
          <a:xfrm>
            <a:off x="311700" y="1225225"/>
            <a:ext cx="8520600" cy="14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d</a:t>
            </a:r>
            <a:r>
              <a:rPr lang="en"/>
              <a:t>ominance order can be represented as </a:t>
            </a:r>
            <a:r>
              <a:rPr b="1" lang="en"/>
              <a:t>dominance network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Nodes</a:t>
            </a:r>
            <a:r>
              <a:rPr lang="en"/>
              <a:t> are animals (whether human or not)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Directed, antisymmetric </a:t>
            </a:r>
            <a:r>
              <a:rPr b="1" lang="en"/>
              <a:t>links</a:t>
            </a:r>
            <a:r>
              <a:rPr lang="en"/>
              <a:t> indicate that animal i dominates animal j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</a:t>
            </a:r>
            <a:r>
              <a:rPr b="1" lang="en"/>
              <a:t>expected</a:t>
            </a:r>
            <a:r>
              <a:rPr lang="en"/>
              <a:t> </a:t>
            </a:r>
            <a:r>
              <a:rPr b="1" lang="en"/>
              <a:t>triads</a:t>
            </a:r>
            <a:r>
              <a:rPr lang="en"/>
              <a:t> in dominance networks:</a:t>
            </a:r>
            <a:endParaRPr/>
          </a:p>
        </p:txBody>
      </p:sp>
      <p:pic>
        <p:nvPicPr>
          <p:cNvPr id="14641" name="Google Shape;14641;p557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11700" y="2809100"/>
            <a:ext cx="8520599" cy="1445131"/>
          </a:xfrm>
          <a:prstGeom prst="rect">
            <a:avLst/>
          </a:prstGeom>
          <a:noFill/>
          <a:ln>
            <a:noFill/>
          </a:ln>
        </p:spPr>
      </p:pic>
      <p:sp>
        <p:nvSpPr>
          <p:cNvPr id="14642" name="Google Shape;14642;p557"/>
          <p:cNvSpPr/>
          <p:nvPr/>
        </p:nvSpPr>
        <p:spPr>
          <a:xfrm>
            <a:off x="7200900" y="2650825"/>
            <a:ext cx="1453200" cy="1137600"/>
          </a:xfrm>
          <a:prstGeom prst="mathMultiply">
            <a:avLst>
              <a:gd fmla="val 23520" name="adj1"/>
            </a:avLst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46" name="Shape 14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7" name="Google Shape;14647;p55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emergence of dominance hierarchies</a:t>
            </a:r>
            <a:endParaRPr/>
          </a:p>
        </p:txBody>
      </p:sp>
      <p:sp>
        <p:nvSpPr>
          <p:cNvPr id="14648" name="Google Shape;14648;p558"/>
          <p:cNvSpPr txBox="1"/>
          <p:nvPr>
            <p:ph idx="1" type="body"/>
          </p:nvPr>
        </p:nvSpPr>
        <p:spPr>
          <a:xfrm>
            <a:off x="311700" y="1225225"/>
            <a:ext cx="4396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Chickens form perfectly linear hierarchies (breaks down at about 10)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are these social structures formed?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 </a:t>
            </a:r>
            <a:r>
              <a:rPr b="1" lang="en"/>
              <a:t>attribute based-</a:t>
            </a:r>
            <a:r>
              <a:rPr lang="en"/>
              <a:t>model says position in the hierarchy is a function of individual characteristics (size, age, strength, etc.)</a:t>
            </a:r>
            <a:endParaRPr/>
          </a:p>
        </p:txBody>
      </p:sp>
      <p:sp>
        <p:nvSpPr>
          <p:cNvPr id="14649" name="Google Shape;14649;p558"/>
          <p:cNvSpPr/>
          <p:nvPr/>
        </p:nvSpPr>
        <p:spPr>
          <a:xfrm>
            <a:off x="5371050" y="312000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0" name="Google Shape;14650;p558"/>
          <p:cNvSpPr/>
          <p:nvPr/>
        </p:nvSpPr>
        <p:spPr>
          <a:xfrm>
            <a:off x="5474000" y="372740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1" name="Google Shape;14651;p558"/>
          <p:cNvSpPr/>
          <p:nvPr/>
        </p:nvSpPr>
        <p:spPr>
          <a:xfrm>
            <a:off x="5903350" y="275400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2" name="Google Shape;14652;p558"/>
          <p:cNvSpPr/>
          <p:nvPr/>
        </p:nvSpPr>
        <p:spPr>
          <a:xfrm>
            <a:off x="5830100" y="334255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3" name="Google Shape;14653;p558"/>
          <p:cNvSpPr/>
          <p:nvPr/>
        </p:nvSpPr>
        <p:spPr>
          <a:xfrm>
            <a:off x="5909388" y="393110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4" name="Google Shape;14654;p558"/>
          <p:cNvSpPr/>
          <p:nvPr/>
        </p:nvSpPr>
        <p:spPr>
          <a:xfrm>
            <a:off x="6289150" y="315955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5" name="Google Shape;14655;p558"/>
          <p:cNvSpPr txBox="1"/>
          <p:nvPr/>
        </p:nvSpPr>
        <p:spPr>
          <a:xfrm>
            <a:off x="4796525" y="1804513"/>
            <a:ext cx="2601300" cy="65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Comfortaa"/>
                <a:ea typeface="Comfortaa"/>
                <a:cs typeface="Comfortaa"/>
                <a:sym typeface="Comfortaa"/>
              </a:rPr>
              <a:t>How do we </a:t>
            </a:r>
            <a:endParaRPr sz="18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Comfortaa"/>
                <a:ea typeface="Comfortaa"/>
                <a:cs typeface="Comfortaa"/>
                <a:sym typeface="Comfortaa"/>
              </a:rPr>
              <a:t>go from:</a:t>
            </a:r>
            <a:endParaRPr sz="18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656" name="Google Shape;14656;p558"/>
          <p:cNvSpPr txBox="1"/>
          <p:nvPr/>
        </p:nvSpPr>
        <p:spPr>
          <a:xfrm>
            <a:off x="5644250" y="4599175"/>
            <a:ext cx="7278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Comfortaa"/>
                <a:ea typeface="Comfortaa"/>
                <a:cs typeface="Comfortaa"/>
                <a:sym typeface="Comfortaa"/>
              </a:rPr>
              <a:t>This</a:t>
            </a:r>
            <a:endParaRPr sz="18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657" name="Google Shape;14657;p558"/>
          <p:cNvSpPr txBox="1"/>
          <p:nvPr/>
        </p:nvSpPr>
        <p:spPr>
          <a:xfrm>
            <a:off x="7177300" y="4599175"/>
            <a:ext cx="1100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Comfortaa"/>
                <a:ea typeface="Comfortaa"/>
                <a:cs typeface="Comfortaa"/>
                <a:sym typeface="Comfortaa"/>
              </a:rPr>
              <a:t>To this?</a:t>
            </a:r>
            <a:endParaRPr sz="18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658" name="Google Shape;14658;p558"/>
          <p:cNvSpPr/>
          <p:nvPr/>
        </p:nvSpPr>
        <p:spPr>
          <a:xfrm>
            <a:off x="7549300" y="25066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9" name="Google Shape;14659;p558"/>
          <p:cNvSpPr/>
          <p:nvPr/>
        </p:nvSpPr>
        <p:spPr>
          <a:xfrm>
            <a:off x="7549300" y="14037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0" name="Google Shape;14660;p558"/>
          <p:cNvSpPr/>
          <p:nvPr/>
        </p:nvSpPr>
        <p:spPr>
          <a:xfrm>
            <a:off x="7549300" y="195516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1" name="Google Shape;14661;p558"/>
          <p:cNvSpPr/>
          <p:nvPr/>
        </p:nvSpPr>
        <p:spPr>
          <a:xfrm>
            <a:off x="7549300" y="36095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2" name="Google Shape;14662;p558"/>
          <p:cNvSpPr/>
          <p:nvPr/>
        </p:nvSpPr>
        <p:spPr>
          <a:xfrm>
            <a:off x="7549300" y="4143488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3" name="Google Shape;14663;p558"/>
          <p:cNvSpPr/>
          <p:nvPr/>
        </p:nvSpPr>
        <p:spPr>
          <a:xfrm>
            <a:off x="7549300" y="3075538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664" name="Google Shape;14664;p558"/>
          <p:cNvCxnSpPr>
            <a:stCxn id="14659" idx="4"/>
            <a:endCxn id="14660" idx="0"/>
          </p:cNvCxnSpPr>
          <p:nvPr/>
        </p:nvCxnSpPr>
        <p:spPr>
          <a:xfrm>
            <a:off x="7727350" y="1769713"/>
            <a:ext cx="0" cy="185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665" name="Google Shape;14665;p558"/>
          <p:cNvCxnSpPr>
            <a:stCxn id="14660" idx="4"/>
            <a:endCxn id="14658" idx="0"/>
          </p:cNvCxnSpPr>
          <p:nvPr/>
        </p:nvCxnSpPr>
        <p:spPr>
          <a:xfrm>
            <a:off x="7727350" y="2321163"/>
            <a:ext cx="0" cy="185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666" name="Google Shape;14666;p558"/>
          <p:cNvCxnSpPr>
            <a:stCxn id="14658" idx="4"/>
            <a:endCxn id="14663" idx="0"/>
          </p:cNvCxnSpPr>
          <p:nvPr/>
        </p:nvCxnSpPr>
        <p:spPr>
          <a:xfrm>
            <a:off x="7727350" y="2872613"/>
            <a:ext cx="0" cy="202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667" name="Google Shape;14667;p558"/>
          <p:cNvCxnSpPr>
            <a:stCxn id="14663" idx="4"/>
            <a:endCxn id="14661" idx="0"/>
          </p:cNvCxnSpPr>
          <p:nvPr/>
        </p:nvCxnSpPr>
        <p:spPr>
          <a:xfrm>
            <a:off x="7727350" y="3441538"/>
            <a:ext cx="0" cy="168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668" name="Google Shape;14668;p558"/>
          <p:cNvCxnSpPr>
            <a:stCxn id="14661" idx="4"/>
            <a:endCxn id="14662" idx="0"/>
          </p:cNvCxnSpPr>
          <p:nvPr/>
        </p:nvCxnSpPr>
        <p:spPr>
          <a:xfrm>
            <a:off x="7727350" y="3975513"/>
            <a:ext cx="0" cy="168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669" name="Google Shape;14669;p558"/>
          <p:cNvCxnSpPr>
            <a:stCxn id="14659" idx="6"/>
            <a:endCxn id="14658" idx="6"/>
          </p:cNvCxnSpPr>
          <p:nvPr/>
        </p:nvCxnSpPr>
        <p:spPr>
          <a:xfrm>
            <a:off x="7905400" y="1586713"/>
            <a:ext cx="600" cy="11028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0" name="Google Shape;14670;p558"/>
          <p:cNvCxnSpPr>
            <a:stCxn id="14659" idx="2"/>
            <a:endCxn id="14663" idx="2"/>
          </p:cNvCxnSpPr>
          <p:nvPr/>
        </p:nvCxnSpPr>
        <p:spPr>
          <a:xfrm>
            <a:off x="7549300" y="1586713"/>
            <a:ext cx="600" cy="16719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1" name="Google Shape;14671;p558"/>
          <p:cNvCxnSpPr>
            <a:stCxn id="14659" idx="6"/>
            <a:endCxn id="14661" idx="6"/>
          </p:cNvCxnSpPr>
          <p:nvPr/>
        </p:nvCxnSpPr>
        <p:spPr>
          <a:xfrm>
            <a:off x="7905400" y="1586713"/>
            <a:ext cx="600" cy="22059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2" name="Google Shape;14672;p558"/>
          <p:cNvCxnSpPr>
            <a:stCxn id="14659" idx="2"/>
            <a:endCxn id="14662" idx="2"/>
          </p:cNvCxnSpPr>
          <p:nvPr/>
        </p:nvCxnSpPr>
        <p:spPr>
          <a:xfrm>
            <a:off x="7549300" y="1586713"/>
            <a:ext cx="600" cy="27399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3" name="Google Shape;14673;p558"/>
          <p:cNvCxnSpPr>
            <a:stCxn id="14660" idx="6"/>
            <a:endCxn id="14663" idx="6"/>
          </p:cNvCxnSpPr>
          <p:nvPr/>
        </p:nvCxnSpPr>
        <p:spPr>
          <a:xfrm>
            <a:off x="7905400" y="2138163"/>
            <a:ext cx="600" cy="11205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4" name="Google Shape;14674;p558"/>
          <p:cNvCxnSpPr>
            <a:stCxn id="14660" idx="2"/>
            <a:endCxn id="14661" idx="2"/>
          </p:cNvCxnSpPr>
          <p:nvPr/>
        </p:nvCxnSpPr>
        <p:spPr>
          <a:xfrm>
            <a:off x="7549300" y="2138163"/>
            <a:ext cx="600" cy="16545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5" name="Google Shape;14675;p558"/>
          <p:cNvCxnSpPr>
            <a:stCxn id="14660" idx="6"/>
            <a:endCxn id="14662" idx="6"/>
          </p:cNvCxnSpPr>
          <p:nvPr/>
        </p:nvCxnSpPr>
        <p:spPr>
          <a:xfrm>
            <a:off x="7905400" y="2138163"/>
            <a:ext cx="600" cy="21882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6" name="Google Shape;14676;p558"/>
          <p:cNvCxnSpPr>
            <a:stCxn id="14658" idx="6"/>
            <a:endCxn id="14661" idx="6"/>
          </p:cNvCxnSpPr>
          <p:nvPr/>
        </p:nvCxnSpPr>
        <p:spPr>
          <a:xfrm>
            <a:off x="7905400" y="2689613"/>
            <a:ext cx="600" cy="11028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7" name="Google Shape;14677;p558"/>
          <p:cNvCxnSpPr>
            <a:stCxn id="14658" idx="2"/>
            <a:endCxn id="14662" idx="2"/>
          </p:cNvCxnSpPr>
          <p:nvPr/>
        </p:nvCxnSpPr>
        <p:spPr>
          <a:xfrm>
            <a:off x="7549300" y="2689613"/>
            <a:ext cx="600" cy="16368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678" name="Google Shape;14678;p558"/>
          <p:cNvCxnSpPr>
            <a:stCxn id="14663" idx="6"/>
            <a:endCxn id="14662" idx="6"/>
          </p:cNvCxnSpPr>
          <p:nvPr/>
        </p:nvCxnSpPr>
        <p:spPr>
          <a:xfrm>
            <a:off x="7905400" y="3258538"/>
            <a:ext cx="600" cy="10680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82" name="Shape 14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3" name="Google Shape;14683;p55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emergence of dominance hierarchies</a:t>
            </a:r>
            <a:endParaRPr/>
          </a:p>
        </p:txBody>
      </p:sp>
      <p:sp>
        <p:nvSpPr>
          <p:cNvPr id="14684" name="Google Shape;14684;p559"/>
          <p:cNvSpPr txBox="1"/>
          <p:nvPr>
            <p:ph idx="1" type="body"/>
          </p:nvPr>
        </p:nvSpPr>
        <p:spPr>
          <a:xfrm>
            <a:off x="311700" y="1225225"/>
            <a:ext cx="4396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Chickens form perfectly linear hierarchies (breaks down at about 10)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How are these social structures formed?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</a:t>
            </a:r>
            <a:r>
              <a:rPr b="1" lang="en"/>
              <a:t>interaction-based model</a:t>
            </a:r>
            <a:r>
              <a:rPr lang="en"/>
              <a:t> says the hierarchy emerges from local network processes partially independently from attributes</a:t>
            </a:r>
            <a:endParaRPr/>
          </a:p>
        </p:txBody>
      </p:sp>
      <p:sp>
        <p:nvSpPr>
          <p:cNvPr id="14685" name="Google Shape;14685;p559"/>
          <p:cNvSpPr/>
          <p:nvPr/>
        </p:nvSpPr>
        <p:spPr>
          <a:xfrm>
            <a:off x="5371050" y="312000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6" name="Google Shape;14686;p559"/>
          <p:cNvSpPr/>
          <p:nvPr/>
        </p:nvSpPr>
        <p:spPr>
          <a:xfrm>
            <a:off x="5474000" y="372740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7" name="Google Shape;14687;p559"/>
          <p:cNvSpPr/>
          <p:nvPr/>
        </p:nvSpPr>
        <p:spPr>
          <a:xfrm>
            <a:off x="5903350" y="275400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8" name="Google Shape;14688;p559"/>
          <p:cNvSpPr/>
          <p:nvPr/>
        </p:nvSpPr>
        <p:spPr>
          <a:xfrm>
            <a:off x="5830100" y="334255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9" name="Google Shape;14689;p559"/>
          <p:cNvSpPr/>
          <p:nvPr/>
        </p:nvSpPr>
        <p:spPr>
          <a:xfrm>
            <a:off x="5909388" y="393110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0" name="Google Shape;14690;p559"/>
          <p:cNvSpPr/>
          <p:nvPr/>
        </p:nvSpPr>
        <p:spPr>
          <a:xfrm>
            <a:off x="6289150" y="3159550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1" name="Google Shape;14691;p559"/>
          <p:cNvSpPr txBox="1"/>
          <p:nvPr/>
        </p:nvSpPr>
        <p:spPr>
          <a:xfrm>
            <a:off x="5644250" y="4599175"/>
            <a:ext cx="7278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Comfortaa"/>
                <a:ea typeface="Comfortaa"/>
                <a:cs typeface="Comfortaa"/>
                <a:sym typeface="Comfortaa"/>
              </a:rPr>
              <a:t>This</a:t>
            </a:r>
            <a:endParaRPr sz="18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692" name="Google Shape;14692;p559"/>
          <p:cNvSpPr txBox="1"/>
          <p:nvPr/>
        </p:nvSpPr>
        <p:spPr>
          <a:xfrm>
            <a:off x="7177300" y="4599175"/>
            <a:ext cx="1100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Comfortaa"/>
                <a:ea typeface="Comfortaa"/>
                <a:cs typeface="Comfortaa"/>
                <a:sym typeface="Comfortaa"/>
              </a:rPr>
              <a:t>To this?</a:t>
            </a:r>
            <a:endParaRPr sz="18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693" name="Google Shape;14693;p559"/>
          <p:cNvSpPr/>
          <p:nvPr/>
        </p:nvSpPr>
        <p:spPr>
          <a:xfrm>
            <a:off x="7549300" y="25066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4" name="Google Shape;14694;p559"/>
          <p:cNvSpPr/>
          <p:nvPr/>
        </p:nvSpPr>
        <p:spPr>
          <a:xfrm>
            <a:off x="7549300" y="14037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5" name="Google Shape;14695;p559"/>
          <p:cNvSpPr/>
          <p:nvPr/>
        </p:nvSpPr>
        <p:spPr>
          <a:xfrm>
            <a:off x="7549300" y="195516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6" name="Google Shape;14696;p559"/>
          <p:cNvSpPr/>
          <p:nvPr/>
        </p:nvSpPr>
        <p:spPr>
          <a:xfrm>
            <a:off x="7549300" y="36095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7" name="Google Shape;14697;p559"/>
          <p:cNvSpPr/>
          <p:nvPr/>
        </p:nvSpPr>
        <p:spPr>
          <a:xfrm>
            <a:off x="7549300" y="4143488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8" name="Google Shape;14698;p559"/>
          <p:cNvSpPr/>
          <p:nvPr/>
        </p:nvSpPr>
        <p:spPr>
          <a:xfrm>
            <a:off x="7549300" y="3075538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699" name="Google Shape;14699;p559"/>
          <p:cNvCxnSpPr>
            <a:stCxn id="14694" idx="4"/>
            <a:endCxn id="14695" idx="0"/>
          </p:cNvCxnSpPr>
          <p:nvPr/>
        </p:nvCxnSpPr>
        <p:spPr>
          <a:xfrm>
            <a:off x="7727350" y="1769713"/>
            <a:ext cx="0" cy="185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00" name="Google Shape;14700;p559"/>
          <p:cNvCxnSpPr>
            <a:stCxn id="14695" idx="4"/>
            <a:endCxn id="14693" idx="0"/>
          </p:cNvCxnSpPr>
          <p:nvPr/>
        </p:nvCxnSpPr>
        <p:spPr>
          <a:xfrm>
            <a:off x="7727350" y="2321163"/>
            <a:ext cx="0" cy="185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01" name="Google Shape;14701;p559"/>
          <p:cNvCxnSpPr>
            <a:stCxn id="14693" idx="4"/>
            <a:endCxn id="14698" idx="0"/>
          </p:cNvCxnSpPr>
          <p:nvPr/>
        </p:nvCxnSpPr>
        <p:spPr>
          <a:xfrm>
            <a:off x="7727350" y="2872613"/>
            <a:ext cx="0" cy="202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02" name="Google Shape;14702;p559"/>
          <p:cNvCxnSpPr>
            <a:stCxn id="14698" idx="4"/>
            <a:endCxn id="14696" idx="0"/>
          </p:cNvCxnSpPr>
          <p:nvPr/>
        </p:nvCxnSpPr>
        <p:spPr>
          <a:xfrm>
            <a:off x="7727350" y="3441538"/>
            <a:ext cx="0" cy="168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03" name="Google Shape;14703;p559"/>
          <p:cNvCxnSpPr>
            <a:stCxn id="14696" idx="4"/>
            <a:endCxn id="14697" idx="0"/>
          </p:cNvCxnSpPr>
          <p:nvPr/>
        </p:nvCxnSpPr>
        <p:spPr>
          <a:xfrm>
            <a:off x="7727350" y="3975513"/>
            <a:ext cx="0" cy="168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04" name="Google Shape;14704;p559"/>
          <p:cNvCxnSpPr>
            <a:stCxn id="14694" idx="6"/>
            <a:endCxn id="14693" idx="6"/>
          </p:cNvCxnSpPr>
          <p:nvPr/>
        </p:nvCxnSpPr>
        <p:spPr>
          <a:xfrm>
            <a:off x="7905400" y="1586713"/>
            <a:ext cx="600" cy="11028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05" name="Google Shape;14705;p559"/>
          <p:cNvCxnSpPr>
            <a:stCxn id="14694" idx="2"/>
            <a:endCxn id="14698" idx="2"/>
          </p:cNvCxnSpPr>
          <p:nvPr/>
        </p:nvCxnSpPr>
        <p:spPr>
          <a:xfrm>
            <a:off x="7549300" y="1586713"/>
            <a:ext cx="600" cy="16719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06" name="Google Shape;14706;p559"/>
          <p:cNvCxnSpPr>
            <a:stCxn id="14694" idx="6"/>
            <a:endCxn id="14696" idx="6"/>
          </p:cNvCxnSpPr>
          <p:nvPr/>
        </p:nvCxnSpPr>
        <p:spPr>
          <a:xfrm>
            <a:off x="7905400" y="1586713"/>
            <a:ext cx="600" cy="22059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07" name="Google Shape;14707;p559"/>
          <p:cNvCxnSpPr>
            <a:stCxn id="14694" idx="2"/>
            <a:endCxn id="14697" idx="2"/>
          </p:cNvCxnSpPr>
          <p:nvPr/>
        </p:nvCxnSpPr>
        <p:spPr>
          <a:xfrm>
            <a:off x="7549300" y="1586713"/>
            <a:ext cx="600" cy="27399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08" name="Google Shape;14708;p559"/>
          <p:cNvCxnSpPr>
            <a:stCxn id="14695" idx="6"/>
            <a:endCxn id="14698" idx="6"/>
          </p:cNvCxnSpPr>
          <p:nvPr/>
        </p:nvCxnSpPr>
        <p:spPr>
          <a:xfrm>
            <a:off x="7905400" y="2138163"/>
            <a:ext cx="600" cy="11205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09" name="Google Shape;14709;p559"/>
          <p:cNvCxnSpPr>
            <a:stCxn id="14695" idx="2"/>
            <a:endCxn id="14696" idx="2"/>
          </p:cNvCxnSpPr>
          <p:nvPr/>
        </p:nvCxnSpPr>
        <p:spPr>
          <a:xfrm>
            <a:off x="7549300" y="2138163"/>
            <a:ext cx="600" cy="16545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10" name="Google Shape;14710;p559"/>
          <p:cNvCxnSpPr>
            <a:stCxn id="14695" idx="6"/>
            <a:endCxn id="14697" idx="6"/>
          </p:cNvCxnSpPr>
          <p:nvPr/>
        </p:nvCxnSpPr>
        <p:spPr>
          <a:xfrm>
            <a:off x="7905400" y="2138163"/>
            <a:ext cx="600" cy="21882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11" name="Google Shape;14711;p559"/>
          <p:cNvCxnSpPr>
            <a:stCxn id="14693" idx="6"/>
            <a:endCxn id="14696" idx="6"/>
          </p:cNvCxnSpPr>
          <p:nvPr/>
        </p:nvCxnSpPr>
        <p:spPr>
          <a:xfrm>
            <a:off x="7905400" y="2689613"/>
            <a:ext cx="600" cy="11028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12" name="Google Shape;14712;p559"/>
          <p:cNvCxnSpPr>
            <a:stCxn id="14693" idx="2"/>
            <a:endCxn id="14697" idx="2"/>
          </p:cNvCxnSpPr>
          <p:nvPr/>
        </p:nvCxnSpPr>
        <p:spPr>
          <a:xfrm>
            <a:off x="7549300" y="2689613"/>
            <a:ext cx="600" cy="16368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713" name="Google Shape;14713;p559"/>
          <p:cNvCxnSpPr>
            <a:stCxn id="14698" idx="6"/>
            <a:endCxn id="14697" idx="6"/>
          </p:cNvCxnSpPr>
          <p:nvPr/>
        </p:nvCxnSpPr>
        <p:spPr>
          <a:xfrm>
            <a:off x="7905400" y="3258538"/>
            <a:ext cx="600" cy="10680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4714" name="Google Shape;14714;p559"/>
          <p:cNvSpPr txBox="1"/>
          <p:nvPr/>
        </p:nvSpPr>
        <p:spPr>
          <a:xfrm>
            <a:off x="4796525" y="1804513"/>
            <a:ext cx="2601300" cy="65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Comfortaa"/>
                <a:ea typeface="Comfortaa"/>
                <a:cs typeface="Comfortaa"/>
                <a:sym typeface="Comfortaa"/>
              </a:rPr>
              <a:t>How do we </a:t>
            </a:r>
            <a:endParaRPr sz="1800">
              <a:latin typeface="Comfortaa"/>
              <a:ea typeface="Comfortaa"/>
              <a:cs typeface="Comfortaa"/>
              <a:sym typeface="Comforta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Comfortaa"/>
                <a:ea typeface="Comfortaa"/>
                <a:cs typeface="Comfortaa"/>
                <a:sym typeface="Comfortaa"/>
              </a:rPr>
              <a:t>go from:</a:t>
            </a:r>
            <a:endParaRPr sz="1800">
              <a:latin typeface="Comfortaa"/>
              <a:ea typeface="Comfortaa"/>
              <a:cs typeface="Comfortaa"/>
              <a:sym typeface="Comfortaa"/>
            </a:endParaRPr>
          </a:p>
        </p:txBody>
      </p:sp>
    </p:spTree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18" name="Shape 14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19" name="Google Shape;14719;p56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Agonistic Competition as Iterative and Social</a:t>
            </a:r>
            <a:endParaRPr/>
          </a:p>
        </p:txBody>
      </p:sp>
      <p:sp>
        <p:nvSpPr>
          <p:cNvPr id="14720" name="Google Shape;14720;p560"/>
          <p:cNvSpPr/>
          <p:nvPr/>
        </p:nvSpPr>
        <p:spPr>
          <a:xfrm>
            <a:off x="5628775" y="1863261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1" name="Google Shape;14721;p560"/>
          <p:cNvSpPr/>
          <p:nvPr/>
        </p:nvSpPr>
        <p:spPr>
          <a:xfrm>
            <a:off x="5923928" y="1264244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22" name="Google Shape;14722;p560"/>
          <p:cNvCxnSpPr>
            <a:stCxn id="14721" idx="4"/>
            <a:endCxn id="14720" idx="0"/>
          </p:cNvCxnSpPr>
          <p:nvPr/>
        </p:nvCxnSpPr>
        <p:spPr>
          <a:xfrm flipH="1">
            <a:off x="5794778" y="160024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23" name="Google Shape;14723;p560"/>
          <p:cNvSpPr/>
          <p:nvPr/>
        </p:nvSpPr>
        <p:spPr>
          <a:xfrm>
            <a:off x="6936564" y="1583262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4" name="Google Shape;14724;p560"/>
          <p:cNvSpPr/>
          <p:nvPr/>
        </p:nvSpPr>
        <p:spPr>
          <a:xfrm>
            <a:off x="7737067" y="1863273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5" name="Google Shape;14725;p560"/>
          <p:cNvSpPr/>
          <p:nvPr/>
        </p:nvSpPr>
        <p:spPr>
          <a:xfrm>
            <a:off x="8327443" y="1863273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6" name="Google Shape;14726;p560"/>
          <p:cNvSpPr/>
          <p:nvPr/>
        </p:nvSpPr>
        <p:spPr>
          <a:xfrm>
            <a:off x="8032220" y="1264256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27" name="Google Shape;14727;p560"/>
          <p:cNvCxnSpPr>
            <a:stCxn id="14726" idx="4"/>
            <a:endCxn id="14724" idx="0"/>
          </p:cNvCxnSpPr>
          <p:nvPr/>
        </p:nvCxnSpPr>
        <p:spPr>
          <a:xfrm flipH="1">
            <a:off x="7903070" y="1600256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28" name="Google Shape;14728;p560"/>
          <p:cNvCxnSpPr>
            <a:stCxn id="14726" idx="4"/>
            <a:endCxn id="14725" idx="0"/>
          </p:cNvCxnSpPr>
          <p:nvPr/>
        </p:nvCxnSpPr>
        <p:spPr>
          <a:xfrm>
            <a:off x="8198270" y="1600256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29" name="Google Shape;14729;p560"/>
          <p:cNvSpPr txBox="1"/>
          <p:nvPr/>
        </p:nvSpPr>
        <p:spPr>
          <a:xfrm>
            <a:off x="5447850" y="459880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1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730" name="Google Shape;14730;p560"/>
          <p:cNvSpPr txBox="1"/>
          <p:nvPr/>
        </p:nvSpPr>
        <p:spPr>
          <a:xfrm>
            <a:off x="7703725" y="459885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2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731" name="Google Shape;14731;p560"/>
          <p:cNvSpPr txBox="1"/>
          <p:nvPr>
            <p:ph idx="1" type="body"/>
          </p:nvPr>
        </p:nvSpPr>
        <p:spPr>
          <a:xfrm>
            <a:off x="311700" y="1225225"/>
            <a:ext cx="5314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Three possible mechanisms: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Winner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Confidence, testosterone boost, experience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double-dominant triads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Loser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Lowered confidence, injury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double-loser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Bystander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Confidence vis-a-vis winner and loser changes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From </a:t>
            </a:r>
            <a:r>
              <a:rPr b="1" lang="en"/>
              <a:t>single-edge</a:t>
            </a:r>
            <a:r>
              <a:rPr lang="en"/>
              <a:t> to either: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Double-dominant triads</a:t>
            </a:r>
            <a:endParaRPr b="1"/>
          </a:p>
        </p:txBody>
      </p:sp>
      <p:sp>
        <p:nvSpPr>
          <p:cNvPr id="14732" name="Google Shape;14732;p560"/>
          <p:cNvSpPr txBox="1"/>
          <p:nvPr/>
        </p:nvSpPr>
        <p:spPr>
          <a:xfrm>
            <a:off x="6468095" y="1147225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Winner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733" name="Google Shape;14733;p560"/>
          <p:cNvSpPr/>
          <p:nvPr/>
        </p:nvSpPr>
        <p:spPr>
          <a:xfrm>
            <a:off x="5628788" y="2974750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4" name="Google Shape;14734;p560"/>
          <p:cNvSpPr/>
          <p:nvPr/>
        </p:nvSpPr>
        <p:spPr>
          <a:xfrm>
            <a:off x="5923940" y="2375734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35" name="Google Shape;14735;p560"/>
          <p:cNvCxnSpPr>
            <a:stCxn id="14734" idx="4"/>
            <a:endCxn id="14733" idx="0"/>
          </p:cNvCxnSpPr>
          <p:nvPr/>
        </p:nvCxnSpPr>
        <p:spPr>
          <a:xfrm flipH="1">
            <a:off x="5794790" y="271173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36" name="Google Shape;14736;p560"/>
          <p:cNvSpPr/>
          <p:nvPr/>
        </p:nvSpPr>
        <p:spPr>
          <a:xfrm>
            <a:off x="6936576" y="2694751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7" name="Google Shape;14737;p560"/>
          <p:cNvSpPr/>
          <p:nvPr/>
        </p:nvSpPr>
        <p:spPr>
          <a:xfrm>
            <a:off x="7737080" y="2974762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8" name="Google Shape;14738;p560"/>
          <p:cNvSpPr/>
          <p:nvPr/>
        </p:nvSpPr>
        <p:spPr>
          <a:xfrm>
            <a:off x="8327455" y="29747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9" name="Google Shape;14739;p560"/>
          <p:cNvSpPr/>
          <p:nvPr/>
        </p:nvSpPr>
        <p:spPr>
          <a:xfrm>
            <a:off x="8032233" y="2375745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40" name="Google Shape;14740;p560"/>
          <p:cNvCxnSpPr>
            <a:stCxn id="14739" idx="4"/>
            <a:endCxn id="14737" idx="0"/>
          </p:cNvCxnSpPr>
          <p:nvPr/>
        </p:nvCxnSpPr>
        <p:spPr>
          <a:xfrm flipH="1">
            <a:off x="7903083" y="27117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41" name="Google Shape;14741;p560"/>
          <p:cNvCxnSpPr>
            <a:stCxn id="14738" idx="2"/>
            <a:endCxn id="14737" idx="6"/>
          </p:cNvCxnSpPr>
          <p:nvPr/>
        </p:nvCxnSpPr>
        <p:spPr>
          <a:xfrm rot="10800000">
            <a:off x="8069155" y="3142762"/>
            <a:ext cx="258300" cy="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42" name="Google Shape;14742;p560"/>
          <p:cNvSpPr txBox="1"/>
          <p:nvPr/>
        </p:nvSpPr>
        <p:spPr>
          <a:xfrm>
            <a:off x="6468108" y="2258714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Loser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743" name="Google Shape;14743;p560"/>
          <p:cNvSpPr/>
          <p:nvPr/>
        </p:nvSpPr>
        <p:spPr>
          <a:xfrm>
            <a:off x="5625763" y="4086250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4" name="Google Shape;14744;p560"/>
          <p:cNvSpPr/>
          <p:nvPr/>
        </p:nvSpPr>
        <p:spPr>
          <a:xfrm>
            <a:off x="6216138" y="4086250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5" name="Google Shape;14745;p560"/>
          <p:cNvSpPr/>
          <p:nvPr/>
        </p:nvSpPr>
        <p:spPr>
          <a:xfrm>
            <a:off x="5920915" y="3487234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46" name="Google Shape;14746;p560"/>
          <p:cNvCxnSpPr>
            <a:stCxn id="14745" idx="4"/>
            <a:endCxn id="14743" idx="0"/>
          </p:cNvCxnSpPr>
          <p:nvPr/>
        </p:nvCxnSpPr>
        <p:spPr>
          <a:xfrm flipH="1">
            <a:off x="5791765" y="382323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47" name="Google Shape;14747;p560"/>
          <p:cNvSpPr/>
          <p:nvPr/>
        </p:nvSpPr>
        <p:spPr>
          <a:xfrm>
            <a:off x="6933551" y="3806251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8" name="Google Shape;14748;p560"/>
          <p:cNvSpPr/>
          <p:nvPr/>
        </p:nvSpPr>
        <p:spPr>
          <a:xfrm>
            <a:off x="7734055" y="40862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9" name="Google Shape;14749;p560"/>
          <p:cNvSpPr/>
          <p:nvPr/>
        </p:nvSpPr>
        <p:spPr>
          <a:xfrm>
            <a:off x="8324430" y="4086262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50" name="Google Shape;14750;p560"/>
          <p:cNvSpPr/>
          <p:nvPr/>
        </p:nvSpPr>
        <p:spPr>
          <a:xfrm>
            <a:off x="8029208" y="3487245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51" name="Google Shape;14751;p560"/>
          <p:cNvCxnSpPr>
            <a:stCxn id="14750" idx="4"/>
            <a:endCxn id="14748" idx="0"/>
          </p:cNvCxnSpPr>
          <p:nvPr/>
        </p:nvCxnSpPr>
        <p:spPr>
          <a:xfrm flipH="1">
            <a:off x="7900058" y="38232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52" name="Google Shape;14752;p560"/>
          <p:cNvSpPr txBox="1"/>
          <p:nvPr/>
        </p:nvSpPr>
        <p:spPr>
          <a:xfrm>
            <a:off x="6333350" y="3370225"/>
            <a:ext cx="16149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Bystander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cxnSp>
        <p:nvCxnSpPr>
          <p:cNvPr id="14753" name="Google Shape;14753;p560"/>
          <p:cNvCxnSpPr>
            <a:stCxn id="14750" idx="4"/>
            <a:endCxn id="14749" idx="0"/>
          </p:cNvCxnSpPr>
          <p:nvPr/>
        </p:nvCxnSpPr>
        <p:spPr>
          <a:xfrm>
            <a:off x="8195258" y="38232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57" name="Shape 14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8" name="Google Shape;14758;p56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Agonistic Competition as Iterative and Social</a:t>
            </a:r>
            <a:endParaRPr/>
          </a:p>
        </p:txBody>
      </p:sp>
      <p:sp>
        <p:nvSpPr>
          <p:cNvPr id="14759" name="Google Shape;14759;p561"/>
          <p:cNvSpPr/>
          <p:nvPr/>
        </p:nvSpPr>
        <p:spPr>
          <a:xfrm>
            <a:off x="5628775" y="1863261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0" name="Google Shape;14760;p561"/>
          <p:cNvSpPr/>
          <p:nvPr/>
        </p:nvSpPr>
        <p:spPr>
          <a:xfrm>
            <a:off x="5923928" y="1264244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61" name="Google Shape;14761;p561"/>
          <p:cNvCxnSpPr>
            <a:stCxn id="14760" idx="4"/>
            <a:endCxn id="14759" idx="0"/>
          </p:cNvCxnSpPr>
          <p:nvPr/>
        </p:nvCxnSpPr>
        <p:spPr>
          <a:xfrm flipH="1">
            <a:off x="5794778" y="160024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62" name="Google Shape;14762;p561"/>
          <p:cNvSpPr/>
          <p:nvPr/>
        </p:nvSpPr>
        <p:spPr>
          <a:xfrm>
            <a:off x="6936564" y="1583262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3" name="Google Shape;14763;p561"/>
          <p:cNvSpPr/>
          <p:nvPr/>
        </p:nvSpPr>
        <p:spPr>
          <a:xfrm>
            <a:off x="7737067" y="1863273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4" name="Google Shape;14764;p561"/>
          <p:cNvSpPr/>
          <p:nvPr/>
        </p:nvSpPr>
        <p:spPr>
          <a:xfrm>
            <a:off x="8327443" y="1863273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5" name="Google Shape;14765;p561"/>
          <p:cNvSpPr/>
          <p:nvPr/>
        </p:nvSpPr>
        <p:spPr>
          <a:xfrm>
            <a:off x="8032220" y="1264256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66" name="Google Shape;14766;p561"/>
          <p:cNvCxnSpPr>
            <a:stCxn id="14765" idx="4"/>
            <a:endCxn id="14763" idx="0"/>
          </p:cNvCxnSpPr>
          <p:nvPr/>
        </p:nvCxnSpPr>
        <p:spPr>
          <a:xfrm flipH="1">
            <a:off x="7903070" y="1600256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67" name="Google Shape;14767;p561"/>
          <p:cNvCxnSpPr>
            <a:stCxn id="14765" idx="4"/>
            <a:endCxn id="14764" idx="0"/>
          </p:cNvCxnSpPr>
          <p:nvPr/>
        </p:nvCxnSpPr>
        <p:spPr>
          <a:xfrm>
            <a:off x="8198270" y="1600256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68" name="Google Shape;14768;p561"/>
          <p:cNvSpPr txBox="1"/>
          <p:nvPr/>
        </p:nvSpPr>
        <p:spPr>
          <a:xfrm>
            <a:off x="5447850" y="459880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1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769" name="Google Shape;14769;p561"/>
          <p:cNvSpPr txBox="1"/>
          <p:nvPr/>
        </p:nvSpPr>
        <p:spPr>
          <a:xfrm>
            <a:off x="7703725" y="459885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2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770" name="Google Shape;14770;p561"/>
          <p:cNvSpPr txBox="1"/>
          <p:nvPr>
            <p:ph idx="1" type="body"/>
          </p:nvPr>
        </p:nvSpPr>
        <p:spPr>
          <a:xfrm>
            <a:off x="311700" y="1225225"/>
            <a:ext cx="5314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Three possible mechanisms: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Winner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Confidence, testosterone boost, experience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double-dominant triads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Loser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Lowered confidence, injury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double-loser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Bystander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Confidence vis-a-vis winner and loser changes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From </a:t>
            </a:r>
            <a:r>
              <a:rPr b="1" lang="en"/>
              <a:t>single-edge</a:t>
            </a:r>
            <a:r>
              <a:rPr lang="en"/>
              <a:t> to either: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Double-loser triads</a:t>
            </a:r>
            <a:endParaRPr b="1"/>
          </a:p>
        </p:txBody>
      </p:sp>
      <p:sp>
        <p:nvSpPr>
          <p:cNvPr id="14771" name="Google Shape;14771;p561"/>
          <p:cNvSpPr txBox="1"/>
          <p:nvPr/>
        </p:nvSpPr>
        <p:spPr>
          <a:xfrm>
            <a:off x="6468095" y="1147225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Winner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772" name="Google Shape;14772;p561"/>
          <p:cNvSpPr/>
          <p:nvPr/>
        </p:nvSpPr>
        <p:spPr>
          <a:xfrm>
            <a:off x="5628788" y="2974750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3" name="Google Shape;14773;p561"/>
          <p:cNvSpPr/>
          <p:nvPr/>
        </p:nvSpPr>
        <p:spPr>
          <a:xfrm>
            <a:off x="5923940" y="2375734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74" name="Google Shape;14774;p561"/>
          <p:cNvCxnSpPr>
            <a:stCxn id="14773" idx="4"/>
            <a:endCxn id="14772" idx="0"/>
          </p:cNvCxnSpPr>
          <p:nvPr/>
        </p:nvCxnSpPr>
        <p:spPr>
          <a:xfrm flipH="1">
            <a:off x="5794790" y="271173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75" name="Google Shape;14775;p561"/>
          <p:cNvSpPr/>
          <p:nvPr/>
        </p:nvSpPr>
        <p:spPr>
          <a:xfrm>
            <a:off x="6936576" y="2694751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6" name="Google Shape;14776;p561"/>
          <p:cNvSpPr/>
          <p:nvPr/>
        </p:nvSpPr>
        <p:spPr>
          <a:xfrm>
            <a:off x="7737080" y="2974762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7" name="Google Shape;14777;p561"/>
          <p:cNvSpPr/>
          <p:nvPr/>
        </p:nvSpPr>
        <p:spPr>
          <a:xfrm>
            <a:off x="8327455" y="29747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8" name="Google Shape;14778;p561"/>
          <p:cNvSpPr/>
          <p:nvPr/>
        </p:nvSpPr>
        <p:spPr>
          <a:xfrm>
            <a:off x="8032233" y="2375745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79" name="Google Shape;14779;p561"/>
          <p:cNvCxnSpPr>
            <a:stCxn id="14778" idx="4"/>
            <a:endCxn id="14776" idx="0"/>
          </p:cNvCxnSpPr>
          <p:nvPr/>
        </p:nvCxnSpPr>
        <p:spPr>
          <a:xfrm flipH="1">
            <a:off x="7903083" y="27117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780" name="Google Shape;14780;p561"/>
          <p:cNvCxnSpPr>
            <a:stCxn id="14777" idx="2"/>
            <a:endCxn id="14776" idx="6"/>
          </p:cNvCxnSpPr>
          <p:nvPr/>
        </p:nvCxnSpPr>
        <p:spPr>
          <a:xfrm rot="10800000">
            <a:off x="8069155" y="3142762"/>
            <a:ext cx="258300" cy="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81" name="Google Shape;14781;p561"/>
          <p:cNvSpPr txBox="1"/>
          <p:nvPr/>
        </p:nvSpPr>
        <p:spPr>
          <a:xfrm>
            <a:off x="6468108" y="2258714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Loser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782" name="Google Shape;14782;p561"/>
          <p:cNvSpPr/>
          <p:nvPr/>
        </p:nvSpPr>
        <p:spPr>
          <a:xfrm>
            <a:off x="5625763" y="4086250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3" name="Google Shape;14783;p561"/>
          <p:cNvSpPr/>
          <p:nvPr/>
        </p:nvSpPr>
        <p:spPr>
          <a:xfrm>
            <a:off x="6216138" y="4086250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4" name="Google Shape;14784;p561"/>
          <p:cNvSpPr/>
          <p:nvPr/>
        </p:nvSpPr>
        <p:spPr>
          <a:xfrm>
            <a:off x="5920915" y="3487234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85" name="Google Shape;14785;p561"/>
          <p:cNvCxnSpPr>
            <a:stCxn id="14784" idx="4"/>
            <a:endCxn id="14782" idx="0"/>
          </p:cNvCxnSpPr>
          <p:nvPr/>
        </p:nvCxnSpPr>
        <p:spPr>
          <a:xfrm flipH="1">
            <a:off x="5791765" y="382323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86" name="Google Shape;14786;p561"/>
          <p:cNvSpPr/>
          <p:nvPr/>
        </p:nvSpPr>
        <p:spPr>
          <a:xfrm>
            <a:off x="6933551" y="3806251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7" name="Google Shape;14787;p561"/>
          <p:cNvSpPr/>
          <p:nvPr/>
        </p:nvSpPr>
        <p:spPr>
          <a:xfrm>
            <a:off x="7734055" y="40862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8" name="Google Shape;14788;p561"/>
          <p:cNvSpPr/>
          <p:nvPr/>
        </p:nvSpPr>
        <p:spPr>
          <a:xfrm>
            <a:off x="8324430" y="4086262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9" name="Google Shape;14789;p561"/>
          <p:cNvSpPr/>
          <p:nvPr/>
        </p:nvSpPr>
        <p:spPr>
          <a:xfrm>
            <a:off x="8029208" y="3487245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90" name="Google Shape;14790;p561"/>
          <p:cNvCxnSpPr>
            <a:stCxn id="14789" idx="4"/>
            <a:endCxn id="14787" idx="0"/>
          </p:cNvCxnSpPr>
          <p:nvPr/>
        </p:nvCxnSpPr>
        <p:spPr>
          <a:xfrm flipH="1">
            <a:off x="7900058" y="38232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791" name="Google Shape;14791;p561"/>
          <p:cNvSpPr txBox="1"/>
          <p:nvPr/>
        </p:nvSpPr>
        <p:spPr>
          <a:xfrm>
            <a:off x="6333350" y="3370225"/>
            <a:ext cx="16149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Bystander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cxnSp>
        <p:nvCxnSpPr>
          <p:cNvPr id="14792" name="Google Shape;14792;p561"/>
          <p:cNvCxnSpPr>
            <a:stCxn id="14788" idx="2"/>
            <a:endCxn id="14787" idx="6"/>
          </p:cNvCxnSpPr>
          <p:nvPr/>
        </p:nvCxnSpPr>
        <p:spPr>
          <a:xfrm rot="10800000">
            <a:off x="8066130" y="4254262"/>
            <a:ext cx="258300" cy="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96" name="Shape 14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7" name="Google Shape;14797;p56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Agonistic Competition as Iterative and Social</a:t>
            </a:r>
            <a:endParaRPr/>
          </a:p>
        </p:txBody>
      </p:sp>
      <p:sp>
        <p:nvSpPr>
          <p:cNvPr id="14798" name="Google Shape;14798;p562"/>
          <p:cNvSpPr/>
          <p:nvPr/>
        </p:nvSpPr>
        <p:spPr>
          <a:xfrm>
            <a:off x="5628775" y="1863261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9" name="Google Shape;14799;p562"/>
          <p:cNvSpPr/>
          <p:nvPr/>
        </p:nvSpPr>
        <p:spPr>
          <a:xfrm>
            <a:off x="5923928" y="1264244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00" name="Google Shape;14800;p562"/>
          <p:cNvCxnSpPr>
            <a:stCxn id="14799" idx="4"/>
            <a:endCxn id="14798" idx="0"/>
          </p:cNvCxnSpPr>
          <p:nvPr/>
        </p:nvCxnSpPr>
        <p:spPr>
          <a:xfrm flipH="1">
            <a:off x="5794778" y="160024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01" name="Google Shape;14801;p562"/>
          <p:cNvSpPr/>
          <p:nvPr/>
        </p:nvSpPr>
        <p:spPr>
          <a:xfrm>
            <a:off x="6936564" y="1583262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2" name="Google Shape;14802;p562"/>
          <p:cNvSpPr/>
          <p:nvPr/>
        </p:nvSpPr>
        <p:spPr>
          <a:xfrm>
            <a:off x="7737067" y="1863273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3" name="Google Shape;14803;p562"/>
          <p:cNvSpPr/>
          <p:nvPr/>
        </p:nvSpPr>
        <p:spPr>
          <a:xfrm>
            <a:off x="8327443" y="1863273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4" name="Google Shape;14804;p562"/>
          <p:cNvSpPr/>
          <p:nvPr/>
        </p:nvSpPr>
        <p:spPr>
          <a:xfrm>
            <a:off x="8032220" y="1264256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05" name="Google Shape;14805;p562"/>
          <p:cNvCxnSpPr>
            <a:stCxn id="14804" idx="4"/>
            <a:endCxn id="14802" idx="0"/>
          </p:cNvCxnSpPr>
          <p:nvPr/>
        </p:nvCxnSpPr>
        <p:spPr>
          <a:xfrm flipH="1">
            <a:off x="7903070" y="1600256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06" name="Google Shape;14806;p562"/>
          <p:cNvCxnSpPr>
            <a:stCxn id="14804" idx="4"/>
            <a:endCxn id="14803" idx="0"/>
          </p:cNvCxnSpPr>
          <p:nvPr/>
        </p:nvCxnSpPr>
        <p:spPr>
          <a:xfrm>
            <a:off x="8198270" y="1600256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07" name="Google Shape;14807;p562"/>
          <p:cNvSpPr txBox="1"/>
          <p:nvPr/>
        </p:nvSpPr>
        <p:spPr>
          <a:xfrm>
            <a:off x="5447850" y="459880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1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08" name="Google Shape;14808;p562"/>
          <p:cNvSpPr txBox="1"/>
          <p:nvPr/>
        </p:nvSpPr>
        <p:spPr>
          <a:xfrm>
            <a:off x="7703725" y="459885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2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09" name="Google Shape;14809;p562"/>
          <p:cNvSpPr txBox="1"/>
          <p:nvPr>
            <p:ph idx="1" type="body"/>
          </p:nvPr>
        </p:nvSpPr>
        <p:spPr>
          <a:xfrm>
            <a:off x="311700" y="1225225"/>
            <a:ext cx="5314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Three possible mechanisms: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Winner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Confidence, testosterone boost, experience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double-dominant triads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Loser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Lowered confidence, injury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double-loser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Bystander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Bystanders almost never dominate initial dominant</a:t>
            </a:r>
            <a:endParaRPr b="1"/>
          </a:p>
        </p:txBody>
      </p:sp>
      <p:sp>
        <p:nvSpPr>
          <p:cNvPr id="14810" name="Google Shape;14810;p562"/>
          <p:cNvSpPr txBox="1"/>
          <p:nvPr/>
        </p:nvSpPr>
        <p:spPr>
          <a:xfrm>
            <a:off x="6468095" y="1147225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Winner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11" name="Google Shape;14811;p562"/>
          <p:cNvSpPr/>
          <p:nvPr/>
        </p:nvSpPr>
        <p:spPr>
          <a:xfrm>
            <a:off x="5628788" y="2974750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2" name="Google Shape;14812;p562"/>
          <p:cNvSpPr/>
          <p:nvPr/>
        </p:nvSpPr>
        <p:spPr>
          <a:xfrm>
            <a:off x="5923940" y="2375734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13" name="Google Shape;14813;p562"/>
          <p:cNvCxnSpPr>
            <a:stCxn id="14812" idx="4"/>
            <a:endCxn id="14811" idx="0"/>
          </p:cNvCxnSpPr>
          <p:nvPr/>
        </p:nvCxnSpPr>
        <p:spPr>
          <a:xfrm flipH="1">
            <a:off x="5794790" y="271173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14" name="Google Shape;14814;p562"/>
          <p:cNvSpPr/>
          <p:nvPr/>
        </p:nvSpPr>
        <p:spPr>
          <a:xfrm>
            <a:off x="6936576" y="2694751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5" name="Google Shape;14815;p562"/>
          <p:cNvSpPr/>
          <p:nvPr/>
        </p:nvSpPr>
        <p:spPr>
          <a:xfrm>
            <a:off x="7737080" y="2974762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6" name="Google Shape;14816;p562"/>
          <p:cNvSpPr/>
          <p:nvPr/>
        </p:nvSpPr>
        <p:spPr>
          <a:xfrm>
            <a:off x="8327455" y="29747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7" name="Google Shape;14817;p562"/>
          <p:cNvSpPr/>
          <p:nvPr/>
        </p:nvSpPr>
        <p:spPr>
          <a:xfrm>
            <a:off x="8032233" y="2375745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18" name="Google Shape;14818;p562"/>
          <p:cNvCxnSpPr>
            <a:stCxn id="14817" idx="4"/>
            <a:endCxn id="14815" idx="0"/>
          </p:cNvCxnSpPr>
          <p:nvPr/>
        </p:nvCxnSpPr>
        <p:spPr>
          <a:xfrm flipH="1">
            <a:off x="7903083" y="27117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19" name="Google Shape;14819;p562"/>
          <p:cNvCxnSpPr>
            <a:stCxn id="14816" idx="2"/>
            <a:endCxn id="14815" idx="6"/>
          </p:cNvCxnSpPr>
          <p:nvPr/>
        </p:nvCxnSpPr>
        <p:spPr>
          <a:xfrm rot="10800000">
            <a:off x="8069155" y="3142762"/>
            <a:ext cx="258300" cy="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20" name="Google Shape;14820;p562"/>
          <p:cNvSpPr txBox="1"/>
          <p:nvPr/>
        </p:nvSpPr>
        <p:spPr>
          <a:xfrm>
            <a:off x="6468108" y="2258714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Loser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21" name="Google Shape;14821;p562"/>
          <p:cNvSpPr/>
          <p:nvPr/>
        </p:nvSpPr>
        <p:spPr>
          <a:xfrm>
            <a:off x="5625763" y="4086250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2" name="Google Shape;14822;p562"/>
          <p:cNvSpPr/>
          <p:nvPr/>
        </p:nvSpPr>
        <p:spPr>
          <a:xfrm>
            <a:off x="6216138" y="4086250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3" name="Google Shape;14823;p562"/>
          <p:cNvSpPr/>
          <p:nvPr/>
        </p:nvSpPr>
        <p:spPr>
          <a:xfrm>
            <a:off x="5920915" y="3487234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24" name="Google Shape;14824;p562"/>
          <p:cNvCxnSpPr>
            <a:stCxn id="14823" idx="4"/>
            <a:endCxn id="14821" idx="0"/>
          </p:cNvCxnSpPr>
          <p:nvPr/>
        </p:nvCxnSpPr>
        <p:spPr>
          <a:xfrm flipH="1">
            <a:off x="5791765" y="382323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25" name="Google Shape;14825;p562"/>
          <p:cNvSpPr/>
          <p:nvPr/>
        </p:nvSpPr>
        <p:spPr>
          <a:xfrm>
            <a:off x="6933551" y="3806251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6" name="Google Shape;14826;p562"/>
          <p:cNvSpPr/>
          <p:nvPr/>
        </p:nvSpPr>
        <p:spPr>
          <a:xfrm>
            <a:off x="7734055" y="40862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7" name="Google Shape;14827;p562"/>
          <p:cNvSpPr/>
          <p:nvPr/>
        </p:nvSpPr>
        <p:spPr>
          <a:xfrm>
            <a:off x="8324430" y="4086262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8" name="Google Shape;14828;p562"/>
          <p:cNvSpPr/>
          <p:nvPr/>
        </p:nvSpPr>
        <p:spPr>
          <a:xfrm>
            <a:off x="8029208" y="3487245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29" name="Google Shape;14829;p562"/>
          <p:cNvCxnSpPr>
            <a:stCxn id="14828" idx="4"/>
            <a:endCxn id="14826" idx="0"/>
          </p:cNvCxnSpPr>
          <p:nvPr/>
        </p:nvCxnSpPr>
        <p:spPr>
          <a:xfrm flipH="1">
            <a:off x="7900058" y="38232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30" name="Google Shape;14830;p562"/>
          <p:cNvCxnSpPr>
            <a:stCxn id="14827" idx="0"/>
            <a:endCxn id="14828" idx="4"/>
          </p:cNvCxnSpPr>
          <p:nvPr/>
        </p:nvCxnSpPr>
        <p:spPr>
          <a:xfrm rot="10800000">
            <a:off x="8195280" y="3823162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31" name="Google Shape;14831;p562"/>
          <p:cNvSpPr txBox="1"/>
          <p:nvPr/>
        </p:nvSpPr>
        <p:spPr>
          <a:xfrm>
            <a:off x="6333350" y="3370225"/>
            <a:ext cx="16149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Bystander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32" name="Google Shape;14832;p562"/>
          <p:cNvSpPr txBox="1"/>
          <p:nvPr/>
        </p:nvSpPr>
        <p:spPr>
          <a:xfrm>
            <a:off x="6666775" y="4322525"/>
            <a:ext cx="914400" cy="26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Weird!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36" name="Shape 14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7" name="Google Shape;14837;p56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Agonistic Competition as Iterative and Social</a:t>
            </a:r>
            <a:endParaRPr/>
          </a:p>
        </p:txBody>
      </p:sp>
      <p:sp>
        <p:nvSpPr>
          <p:cNvPr id="14838" name="Google Shape;14838;p563"/>
          <p:cNvSpPr/>
          <p:nvPr/>
        </p:nvSpPr>
        <p:spPr>
          <a:xfrm>
            <a:off x="5628775" y="1863261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9" name="Google Shape;14839;p563"/>
          <p:cNvSpPr/>
          <p:nvPr/>
        </p:nvSpPr>
        <p:spPr>
          <a:xfrm>
            <a:off x="5923928" y="1264244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40" name="Google Shape;14840;p563"/>
          <p:cNvCxnSpPr>
            <a:stCxn id="14839" idx="4"/>
            <a:endCxn id="14838" idx="0"/>
          </p:cNvCxnSpPr>
          <p:nvPr/>
        </p:nvCxnSpPr>
        <p:spPr>
          <a:xfrm flipH="1">
            <a:off x="5794778" y="160024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41" name="Google Shape;14841;p563"/>
          <p:cNvSpPr/>
          <p:nvPr/>
        </p:nvSpPr>
        <p:spPr>
          <a:xfrm>
            <a:off x="6936564" y="1583262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2" name="Google Shape;14842;p563"/>
          <p:cNvSpPr/>
          <p:nvPr/>
        </p:nvSpPr>
        <p:spPr>
          <a:xfrm>
            <a:off x="7737067" y="1863273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3" name="Google Shape;14843;p563"/>
          <p:cNvSpPr/>
          <p:nvPr/>
        </p:nvSpPr>
        <p:spPr>
          <a:xfrm>
            <a:off x="8327443" y="1863273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4" name="Google Shape;14844;p563"/>
          <p:cNvSpPr/>
          <p:nvPr/>
        </p:nvSpPr>
        <p:spPr>
          <a:xfrm>
            <a:off x="8032220" y="1264256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45" name="Google Shape;14845;p563"/>
          <p:cNvCxnSpPr>
            <a:stCxn id="14844" idx="4"/>
            <a:endCxn id="14842" idx="0"/>
          </p:cNvCxnSpPr>
          <p:nvPr/>
        </p:nvCxnSpPr>
        <p:spPr>
          <a:xfrm flipH="1">
            <a:off x="7903070" y="1600256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46" name="Google Shape;14846;p563"/>
          <p:cNvCxnSpPr>
            <a:stCxn id="14844" idx="4"/>
            <a:endCxn id="14843" idx="0"/>
          </p:cNvCxnSpPr>
          <p:nvPr/>
        </p:nvCxnSpPr>
        <p:spPr>
          <a:xfrm>
            <a:off x="8198270" y="1600256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47" name="Google Shape;14847;p563"/>
          <p:cNvSpPr txBox="1"/>
          <p:nvPr/>
        </p:nvSpPr>
        <p:spPr>
          <a:xfrm>
            <a:off x="5447850" y="459880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1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48" name="Google Shape;14848;p563"/>
          <p:cNvSpPr txBox="1"/>
          <p:nvPr/>
        </p:nvSpPr>
        <p:spPr>
          <a:xfrm>
            <a:off x="7703725" y="459885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2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49" name="Google Shape;14849;p563"/>
          <p:cNvSpPr txBox="1"/>
          <p:nvPr>
            <p:ph idx="1" type="body"/>
          </p:nvPr>
        </p:nvSpPr>
        <p:spPr>
          <a:xfrm>
            <a:off x="311700" y="1225225"/>
            <a:ext cx="5314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Three possible mechanisms: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Winner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Confidence, testosterone boost, experience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double-dominant triads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Loser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Lowered confidence, injury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double-loser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Bystander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Bystanders almost never dominate initial dominant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Bystanders almost never get dominated by initial loser</a:t>
            </a:r>
            <a:endParaRPr/>
          </a:p>
        </p:txBody>
      </p:sp>
      <p:sp>
        <p:nvSpPr>
          <p:cNvPr id="14850" name="Google Shape;14850;p563"/>
          <p:cNvSpPr txBox="1"/>
          <p:nvPr/>
        </p:nvSpPr>
        <p:spPr>
          <a:xfrm>
            <a:off x="6468095" y="1147225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Winner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51" name="Google Shape;14851;p563"/>
          <p:cNvSpPr/>
          <p:nvPr/>
        </p:nvSpPr>
        <p:spPr>
          <a:xfrm>
            <a:off x="5628788" y="2974750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2" name="Google Shape;14852;p563"/>
          <p:cNvSpPr/>
          <p:nvPr/>
        </p:nvSpPr>
        <p:spPr>
          <a:xfrm>
            <a:off x="5923940" y="2375734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53" name="Google Shape;14853;p563"/>
          <p:cNvCxnSpPr>
            <a:stCxn id="14852" idx="4"/>
            <a:endCxn id="14851" idx="0"/>
          </p:cNvCxnSpPr>
          <p:nvPr/>
        </p:nvCxnSpPr>
        <p:spPr>
          <a:xfrm flipH="1">
            <a:off x="5794790" y="271173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54" name="Google Shape;14854;p563"/>
          <p:cNvSpPr/>
          <p:nvPr/>
        </p:nvSpPr>
        <p:spPr>
          <a:xfrm>
            <a:off x="6936576" y="2694751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5" name="Google Shape;14855;p563"/>
          <p:cNvSpPr/>
          <p:nvPr/>
        </p:nvSpPr>
        <p:spPr>
          <a:xfrm>
            <a:off x="7737080" y="29747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6" name="Google Shape;14856;p563"/>
          <p:cNvSpPr/>
          <p:nvPr/>
        </p:nvSpPr>
        <p:spPr>
          <a:xfrm>
            <a:off x="8327455" y="29747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7" name="Google Shape;14857;p563"/>
          <p:cNvSpPr/>
          <p:nvPr/>
        </p:nvSpPr>
        <p:spPr>
          <a:xfrm>
            <a:off x="8032233" y="2375745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58" name="Google Shape;14858;p563"/>
          <p:cNvCxnSpPr>
            <a:stCxn id="14857" idx="4"/>
            <a:endCxn id="14855" idx="0"/>
          </p:cNvCxnSpPr>
          <p:nvPr/>
        </p:nvCxnSpPr>
        <p:spPr>
          <a:xfrm flipH="1">
            <a:off x="7903083" y="27117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59" name="Google Shape;14859;p563"/>
          <p:cNvCxnSpPr>
            <a:stCxn id="14856" idx="2"/>
            <a:endCxn id="14855" idx="6"/>
          </p:cNvCxnSpPr>
          <p:nvPr/>
        </p:nvCxnSpPr>
        <p:spPr>
          <a:xfrm rot="10800000">
            <a:off x="8069155" y="3142762"/>
            <a:ext cx="258300" cy="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60" name="Google Shape;14860;p563"/>
          <p:cNvSpPr txBox="1"/>
          <p:nvPr/>
        </p:nvSpPr>
        <p:spPr>
          <a:xfrm>
            <a:off x="6468108" y="2258714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Loser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61" name="Google Shape;14861;p563"/>
          <p:cNvSpPr/>
          <p:nvPr/>
        </p:nvSpPr>
        <p:spPr>
          <a:xfrm>
            <a:off x="5625763" y="4086250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2" name="Google Shape;14862;p563"/>
          <p:cNvSpPr/>
          <p:nvPr/>
        </p:nvSpPr>
        <p:spPr>
          <a:xfrm>
            <a:off x="6216138" y="4086250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3" name="Google Shape;14863;p563"/>
          <p:cNvSpPr/>
          <p:nvPr/>
        </p:nvSpPr>
        <p:spPr>
          <a:xfrm>
            <a:off x="5920915" y="3487234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64" name="Google Shape;14864;p563"/>
          <p:cNvCxnSpPr>
            <a:stCxn id="14863" idx="4"/>
            <a:endCxn id="14861" idx="0"/>
          </p:cNvCxnSpPr>
          <p:nvPr/>
        </p:nvCxnSpPr>
        <p:spPr>
          <a:xfrm flipH="1">
            <a:off x="5791765" y="3823234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65" name="Google Shape;14865;p563"/>
          <p:cNvSpPr/>
          <p:nvPr/>
        </p:nvSpPr>
        <p:spPr>
          <a:xfrm>
            <a:off x="6933551" y="3806251"/>
            <a:ext cx="415200" cy="399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6" name="Google Shape;14866;p563"/>
          <p:cNvSpPr/>
          <p:nvPr/>
        </p:nvSpPr>
        <p:spPr>
          <a:xfrm>
            <a:off x="7734055" y="4086262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7" name="Google Shape;14867;p563"/>
          <p:cNvSpPr/>
          <p:nvPr/>
        </p:nvSpPr>
        <p:spPr>
          <a:xfrm>
            <a:off x="8324430" y="4086262"/>
            <a:ext cx="332100" cy="336000"/>
          </a:xfrm>
          <a:prstGeom prst="ellipse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8" name="Google Shape;14868;p563"/>
          <p:cNvSpPr/>
          <p:nvPr/>
        </p:nvSpPr>
        <p:spPr>
          <a:xfrm>
            <a:off x="8029208" y="3487245"/>
            <a:ext cx="332100" cy="33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69" name="Google Shape;14869;p563"/>
          <p:cNvCxnSpPr>
            <a:stCxn id="14868" idx="4"/>
            <a:endCxn id="14866" idx="0"/>
          </p:cNvCxnSpPr>
          <p:nvPr/>
        </p:nvCxnSpPr>
        <p:spPr>
          <a:xfrm flipH="1">
            <a:off x="7900058" y="3823245"/>
            <a:ext cx="295200" cy="2631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70" name="Google Shape;14870;p563"/>
          <p:cNvCxnSpPr>
            <a:stCxn id="14866" idx="6"/>
            <a:endCxn id="14867" idx="2"/>
          </p:cNvCxnSpPr>
          <p:nvPr/>
        </p:nvCxnSpPr>
        <p:spPr>
          <a:xfrm>
            <a:off x="8066155" y="4254262"/>
            <a:ext cx="258300" cy="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4871" name="Google Shape;14871;p563"/>
          <p:cNvSpPr txBox="1"/>
          <p:nvPr/>
        </p:nvSpPr>
        <p:spPr>
          <a:xfrm>
            <a:off x="6333350" y="3370225"/>
            <a:ext cx="16149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Bystander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72" name="Google Shape;14872;p563"/>
          <p:cNvSpPr txBox="1"/>
          <p:nvPr/>
        </p:nvSpPr>
        <p:spPr>
          <a:xfrm>
            <a:off x="6666775" y="4322525"/>
            <a:ext cx="914400" cy="39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Also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Weird!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76" name="Shape 14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7" name="Google Shape;14877;p56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Agonistic Competition as Iterative and Social</a:t>
            </a:r>
            <a:endParaRPr/>
          </a:p>
        </p:txBody>
      </p:sp>
      <p:sp>
        <p:nvSpPr>
          <p:cNvPr id="14878" name="Google Shape;14878;p564"/>
          <p:cNvSpPr txBox="1"/>
          <p:nvPr/>
        </p:nvSpPr>
        <p:spPr>
          <a:xfrm>
            <a:off x="5447850" y="459880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1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79" name="Google Shape;14879;p564"/>
          <p:cNvSpPr txBox="1"/>
          <p:nvPr/>
        </p:nvSpPr>
        <p:spPr>
          <a:xfrm>
            <a:off x="7703725" y="4598850"/>
            <a:ext cx="989100" cy="36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omfortaa"/>
                <a:ea typeface="Comfortaa"/>
                <a:cs typeface="Comfortaa"/>
                <a:sym typeface="Comfortaa"/>
              </a:rPr>
              <a:t>Time 2</a:t>
            </a:r>
            <a:endParaRPr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80" name="Google Shape;14880;p564"/>
          <p:cNvSpPr txBox="1"/>
          <p:nvPr>
            <p:ph idx="1" type="body"/>
          </p:nvPr>
        </p:nvSpPr>
        <p:spPr>
          <a:xfrm>
            <a:off x="311700" y="1225225"/>
            <a:ext cx="53142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Three possible mechanisms: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Winner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Confidence, testosterone boost, experience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double-dominant triads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Loser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Lowered confidence, injury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Emergence of </a:t>
            </a:r>
            <a:r>
              <a:rPr b="1" lang="en"/>
              <a:t>double-loser triads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Bystander Effects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Bystanders almost never dominate initial dominant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Bystanders almost never get dominated by initial loser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This guarantees transitivity and linearity!</a:t>
            </a:r>
            <a:endParaRPr/>
          </a:p>
        </p:txBody>
      </p:sp>
      <p:sp>
        <p:nvSpPr>
          <p:cNvPr id="14881" name="Google Shape;14881;p564"/>
          <p:cNvSpPr txBox="1"/>
          <p:nvPr/>
        </p:nvSpPr>
        <p:spPr>
          <a:xfrm>
            <a:off x="6468095" y="1147225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Winner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82" name="Google Shape;14882;p564"/>
          <p:cNvSpPr/>
          <p:nvPr/>
        </p:nvSpPr>
        <p:spPr>
          <a:xfrm>
            <a:off x="6700621" y="2690275"/>
            <a:ext cx="1060500" cy="5844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3" name="Google Shape;14883;p564"/>
          <p:cNvSpPr txBox="1"/>
          <p:nvPr/>
        </p:nvSpPr>
        <p:spPr>
          <a:xfrm>
            <a:off x="6468108" y="1483214"/>
            <a:ext cx="13461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Loser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84" name="Google Shape;14884;p564"/>
          <p:cNvSpPr txBox="1"/>
          <p:nvPr/>
        </p:nvSpPr>
        <p:spPr>
          <a:xfrm>
            <a:off x="6333700" y="1827125"/>
            <a:ext cx="1614900" cy="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Comfortaa"/>
                <a:ea typeface="Comfortaa"/>
                <a:cs typeface="Comfortaa"/>
                <a:sym typeface="Comfortaa"/>
              </a:rPr>
              <a:t>Bystander Effects</a:t>
            </a:r>
            <a:endParaRPr b="1" sz="12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885" name="Google Shape;14885;p564"/>
          <p:cNvSpPr/>
          <p:nvPr/>
        </p:nvSpPr>
        <p:spPr>
          <a:xfrm>
            <a:off x="8186375" y="25272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6" name="Google Shape;14886;p564"/>
          <p:cNvSpPr/>
          <p:nvPr/>
        </p:nvSpPr>
        <p:spPr>
          <a:xfrm>
            <a:off x="8186375" y="14243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7" name="Google Shape;14887;p564"/>
          <p:cNvSpPr/>
          <p:nvPr/>
        </p:nvSpPr>
        <p:spPr>
          <a:xfrm>
            <a:off x="8186375" y="197576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8" name="Google Shape;14888;p564"/>
          <p:cNvSpPr/>
          <p:nvPr/>
        </p:nvSpPr>
        <p:spPr>
          <a:xfrm>
            <a:off x="8186375" y="36301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9" name="Google Shape;14889;p564"/>
          <p:cNvSpPr/>
          <p:nvPr/>
        </p:nvSpPr>
        <p:spPr>
          <a:xfrm>
            <a:off x="8186375" y="4164088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0" name="Google Shape;14890;p564"/>
          <p:cNvSpPr/>
          <p:nvPr/>
        </p:nvSpPr>
        <p:spPr>
          <a:xfrm>
            <a:off x="8186375" y="3096138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891" name="Google Shape;14891;p564"/>
          <p:cNvCxnSpPr>
            <a:stCxn id="14886" idx="4"/>
            <a:endCxn id="14887" idx="0"/>
          </p:cNvCxnSpPr>
          <p:nvPr/>
        </p:nvCxnSpPr>
        <p:spPr>
          <a:xfrm>
            <a:off x="8364425" y="1790313"/>
            <a:ext cx="0" cy="185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92" name="Google Shape;14892;p564"/>
          <p:cNvCxnSpPr>
            <a:stCxn id="14887" idx="4"/>
            <a:endCxn id="14885" idx="0"/>
          </p:cNvCxnSpPr>
          <p:nvPr/>
        </p:nvCxnSpPr>
        <p:spPr>
          <a:xfrm>
            <a:off x="8364425" y="2341763"/>
            <a:ext cx="0" cy="1854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93" name="Google Shape;14893;p564"/>
          <p:cNvCxnSpPr>
            <a:stCxn id="14885" idx="4"/>
            <a:endCxn id="14890" idx="0"/>
          </p:cNvCxnSpPr>
          <p:nvPr/>
        </p:nvCxnSpPr>
        <p:spPr>
          <a:xfrm>
            <a:off x="8364425" y="2893213"/>
            <a:ext cx="0" cy="2028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94" name="Google Shape;14894;p564"/>
          <p:cNvCxnSpPr>
            <a:stCxn id="14890" idx="4"/>
            <a:endCxn id="14888" idx="0"/>
          </p:cNvCxnSpPr>
          <p:nvPr/>
        </p:nvCxnSpPr>
        <p:spPr>
          <a:xfrm>
            <a:off x="8364425" y="3462138"/>
            <a:ext cx="0" cy="168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95" name="Google Shape;14895;p564"/>
          <p:cNvCxnSpPr>
            <a:stCxn id="14888" idx="4"/>
            <a:endCxn id="14889" idx="0"/>
          </p:cNvCxnSpPr>
          <p:nvPr/>
        </p:nvCxnSpPr>
        <p:spPr>
          <a:xfrm>
            <a:off x="8364425" y="3996113"/>
            <a:ext cx="0" cy="168000"/>
          </a:xfrm>
          <a:prstGeom prst="straightConnector1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4896" name="Google Shape;14896;p564"/>
          <p:cNvCxnSpPr>
            <a:stCxn id="14886" idx="6"/>
            <a:endCxn id="14885" idx="6"/>
          </p:cNvCxnSpPr>
          <p:nvPr/>
        </p:nvCxnSpPr>
        <p:spPr>
          <a:xfrm>
            <a:off x="8542475" y="1607313"/>
            <a:ext cx="600" cy="11028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897" name="Google Shape;14897;p564"/>
          <p:cNvCxnSpPr>
            <a:stCxn id="14886" idx="2"/>
            <a:endCxn id="14890" idx="2"/>
          </p:cNvCxnSpPr>
          <p:nvPr/>
        </p:nvCxnSpPr>
        <p:spPr>
          <a:xfrm>
            <a:off x="8186375" y="1607313"/>
            <a:ext cx="600" cy="16719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898" name="Google Shape;14898;p564"/>
          <p:cNvCxnSpPr>
            <a:stCxn id="14886" idx="6"/>
            <a:endCxn id="14888" idx="6"/>
          </p:cNvCxnSpPr>
          <p:nvPr/>
        </p:nvCxnSpPr>
        <p:spPr>
          <a:xfrm>
            <a:off x="8542475" y="1607313"/>
            <a:ext cx="600" cy="22059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899" name="Google Shape;14899;p564"/>
          <p:cNvCxnSpPr>
            <a:stCxn id="14886" idx="2"/>
            <a:endCxn id="14889" idx="2"/>
          </p:cNvCxnSpPr>
          <p:nvPr/>
        </p:nvCxnSpPr>
        <p:spPr>
          <a:xfrm>
            <a:off x="8186375" y="1607313"/>
            <a:ext cx="600" cy="27399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900" name="Google Shape;14900;p564"/>
          <p:cNvCxnSpPr>
            <a:stCxn id="14887" idx="6"/>
            <a:endCxn id="14890" idx="6"/>
          </p:cNvCxnSpPr>
          <p:nvPr/>
        </p:nvCxnSpPr>
        <p:spPr>
          <a:xfrm>
            <a:off x="8542475" y="2158763"/>
            <a:ext cx="600" cy="11205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901" name="Google Shape;14901;p564"/>
          <p:cNvCxnSpPr>
            <a:stCxn id="14887" idx="2"/>
            <a:endCxn id="14888" idx="2"/>
          </p:cNvCxnSpPr>
          <p:nvPr/>
        </p:nvCxnSpPr>
        <p:spPr>
          <a:xfrm>
            <a:off x="8186375" y="2158763"/>
            <a:ext cx="600" cy="16545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902" name="Google Shape;14902;p564"/>
          <p:cNvCxnSpPr>
            <a:stCxn id="14887" idx="6"/>
            <a:endCxn id="14889" idx="6"/>
          </p:cNvCxnSpPr>
          <p:nvPr/>
        </p:nvCxnSpPr>
        <p:spPr>
          <a:xfrm>
            <a:off x="8542475" y="2158763"/>
            <a:ext cx="600" cy="21882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903" name="Google Shape;14903;p564"/>
          <p:cNvCxnSpPr>
            <a:stCxn id="14885" idx="6"/>
            <a:endCxn id="14888" idx="6"/>
          </p:cNvCxnSpPr>
          <p:nvPr/>
        </p:nvCxnSpPr>
        <p:spPr>
          <a:xfrm>
            <a:off x="8542475" y="2710213"/>
            <a:ext cx="600" cy="11028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904" name="Google Shape;14904;p564"/>
          <p:cNvCxnSpPr>
            <a:stCxn id="14885" idx="2"/>
            <a:endCxn id="14889" idx="2"/>
          </p:cNvCxnSpPr>
          <p:nvPr/>
        </p:nvCxnSpPr>
        <p:spPr>
          <a:xfrm>
            <a:off x="8186375" y="2710213"/>
            <a:ext cx="600" cy="1636800"/>
          </a:xfrm>
          <a:prstGeom prst="curvedConnector3">
            <a:avLst>
              <a:gd fmla="val -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14905" name="Google Shape;14905;p564"/>
          <p:cNvCxnSpPr>
            <a:stCxn id="14890" idx="6"/>
            <a:endCxn id="14889" idx="6"/>
          </p:cNvCxnSpPr>
          <p:nvPr/>
        </p:nvCxnSpPr>
        <p:spPr>
          <a:xfrm>
            <a:off x="8542475" y="3279138"/>
            <a:ext cx="600" cy="1068000"/>
          </a:xfrm>
          <a:prstGeom prst="curvedConnector3">
            <a:avLst>
              <a:gd fmla="val 39687500" name="adj1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stealth"/>
          </a:ln>
        </p:spPr>
      </p:cxnSp>
      <p:sp>
        <p:nvSpPr>
          <p:cNvPr id="14906" name="Google Shape;14906;p564"/>
          <p:cNvSpPr/>
          <p:nvPr/>
        </p:nvSpPr>
        <p:spPr>
          <a:xfrm>
            <a:off x="5247425" y="246746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7" name="Google Shape;14907;p564"/>
          <p:cNvSpPr/>
          <p:nvPr/>
        </p:nvSpPr>
        <p:spPr>
          <a:xfrm>
            <a:off x="5350375" y="307486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8" name="Google Shape;14908;p564"/>
          <p:cNvSpPr/>
          <p:nvPr/>
        </p:nvSpPr>
        <p:spPr>
          <a:xfrm>
            <a:off x="5779725" y="210146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9" name="Google Shape;14909;p564"/>
          <p:cNvSpPr/>
          <p:nvPr/>
        </p:nvSpPr>
        <p:spPr>
          <a:xfrm>
            <a:off x="5706475" y="26900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0" name="Google Shape;14910;p564"/>
          <p:cNvSpPr/>
          <p:nvPr/>
        </p:nvSpPr>
        <p:spPr>
          <a:xfrm>
            <a:off x="5785763" y="327856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1" name="Google Shape;14911;p564"/>
          <p:cNvSpPr/>
          <p:nvPr/>
        </p:nvSpPr>
        <p:spPr>
          <a:xfrm>
            <a:off x="6165525" y="2507013"/>
            <a:ext cx="356100" cy="3660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4915" name="Shape 14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6" name="Google Shape;14916;p565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Networks</a:t>
            </a:r>
            <a:endParaRPr/>
          </a:p>
        </p:txBody>
      </p:sp>
      <p:sp>
        <p:nvSpPr>
          <p:cNvPr id="14917" name="Google Shape;14917;p565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21" name="Shape 14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2" name="Google Shape;14922;p56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</a:t>
            </a:r>
            <a:r>
              <a:rPr lang="en"/>
              <a:t> Networks</a:t>
            </a:r>
            <a:endParaRPr/>
          </a:p>
        </p:txBody>
      </p:sp>
      <p:sp>
        <p:nvSpPr>
          <p:cNvPr id="14923" name="Google Shape;14923;p566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Typically a </a:t>
            </a:r>
            <a:r>
              <a:rPr b="1" lang="en"/>
              <a:t>network</a:t>
            </a:r>
            <a:r>
              <a:rPr lang="en"/>
              <a:t> consists of a set of </a:t>
            </a:r>
            <a:r>
              <a:rPr b="1" lang="en"/>
              <a:t>units</a:t>
            </a:r>
            <a:r>
              <a:rPr lang="en"/>
              <a:t> of the </a:t>
            </a:r>
            <a:r>
              <a:rPr b="1" lang="en"/>
              <a:t>same kind</a:t>
            </a:r>
            <a:r>
              <a:rPr lang="en"/>
              <a:t> linked via some kind of </a:t>
            </a:r>
            <a:r>
              <a:rPr b="1" lang="en"/>
              <a:t>relationship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Person</a:t>
            </a:r>
            <a:r>
              <a:rPr lang="en"/>
              <a:t> to </a:t>
            </a:r>
            <a:r>
              <a:rPr b="1" lang="en"/>
              <a:t>person</a:t>
            </a:r>
            <a:r>
              <a:rPr lang="en"/>
              <a:t> friendship 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Organization</a:t>
            </a:r>
            <a:r>
              <a:rPr lang="en"/>
              <a:t> to </a:t>
            </a:r>
            <a:r>
              <a:rPr b="1" lang="en"/>
              <a:t>organization</a:t>
            </a:r>
            <a:r>
              <a:rPr lang="en"/>
              <a:t> alliances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Airport</a:t>
            </a:r>
            <a:r>
              <a:rPr lang="en"/>
              <a:t> to </a:t>
            </a:r>
            <a:r>
              <a:rPr b="1" lang="en"/>
              <a:t>airport</a:t>
            </a:r>
            <a:r>
              <a:rPr lang="en"/>
              <a:t> plane routes</a:t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27" name="Shape 14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8" name="Google Shape;14928;p56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Networks</a:t>
            </a:r>
            <a:endParaRPr/>
          </a:p>
        </p:txBody>
      </p:sp>
      <p:sp>
        <p:nvSpPr>
          <p:cNvPr id="14929" name="Google Shape;14929;p567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Typically a </a:t>
            </a:r>
            <a:r>
              <a:rPr b="1" lang="en"/>
              <a:t>network</a:t>
            </a:r>
            <a:r>
              <a:rPr lang="en"/>
              <a:t> consists of a set of </a:t>
            </a:r>
            <a:r>
              <a:rPr b="1" lang="en"/>
              <a:t>units</a:t>
            </a:r>
            <a:r>
              <a:rPr lang="en"/>
              <a:t> of the </a:t>
            </a:r>
            <a:r>
              <a:rPr b="1" lang="en"/>
              <a:t>same kind</a:t>
            </a:r>
            <a:r>
              <a:rPr lang="en"/>
              <a:t> linked via some kind of </a:t>
            </a:r>
            <a:r>
              <a:rPr b="1" lang="en"/>
              <a:t>relationship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Person</a:t>
            </a:r>
            <a:r>
              <a:rPr lang="en"/>
              <a:t> to </a:t>
            </a:r>
            <a:r>
              <a:rPr b="1" lang="en"/>
              <a:t>person</a:t>
            </a:r>
            <a:r>
              <a:rPr lang="en"/>
              <a:t> friendship 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Organization</a:t>
            </a:r>
            <a:r>
              <a:rPr lang="en"/>
              <a:t> to </a:t>
            </a:r>
            <a:r>
              <a:rPr b="1" lang="en"/>
              <a:t>organization</a:t>
            </a:r>
            <a:r>
              <a:rPr lang="en"/>
              <a:t> alliances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Airport</a:t>
            </a:r>
            <a:r>
              <a:rPr lang="en"/>
              <a:t> to </a:t>
            </a:r>
            <a:r>
              <a:rPr b="1" lang="en"/>
              <a:t>airport</a:t>
            </a:r>
            <a:r>
              <a:rPr lang="en"/>
              <a:t> plane routes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Sometimes a network is composed of relationships between </a:t>
            </a:r>
            <a:r>
              <a:rPr b="1" lang="en"/>
              <a:t>two types</a:t>
            </a:r>
            <a:r>
              <a:rPr lang="en"/>
              <a:t> of entities: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Persons</a:t>
            </a:r>
            <a:r>
              <a:rPr lang="en"/>
              <a:t> and they </a:t>
            </a:r>
            <a:r>
              <a:rPr b="1" lang="en"/>
              <a:t>groups</a:t>
            </a:r>
            <a:r>
              <a:rPr lang="en"/>
              <a:t> they belong to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 sz="1400"/>
              <a:t>Actors</a:t>
            </a:r>
            <a:r>
              <a:rPr lang="en" sz="1400"/>
              <a:t> and the </a:t>
            </a:r>
            <a:r>
              <a:rPr b="1" lang="en" sz="1400"/>
              <a:t>movies</a:t>
            </a:r>
            <a:r>
              <a:rPr lang="en" sz="1400"/>
              <a:t> they appear in</a:t>
            </a:r>
            <a:endParaRPr sz="14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 sz="1400"/>
              <a:t>Scientists</a:t>
            </a:r>
            <a:r>
              <a:rPr lang="en" sz="1400"/>
              <a:t> and </a:t>
            </a:r>
            <a:r>
              <a:rPr b="1" lang="en" sz="1400"/>
              <a:t>papers</a:t>
            </a:r>
            <a:r>
              <a:rPr lang="en" sz="1400"/>
              <a:t> they write</a:t>
            </a:r>
            <a:endParaRPr sz="1400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33" name="Shape 14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4" name="Google Shape;14934;p56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Networks</a:t>
            </a:r>
            <a:endParaRPr/>
          </a:p>
        </p:txBody>
      </p:sp>
      <p:sp>
        <p:nvSpPr>
          <p:cNvPr id="14935" name="Google Shape;14935;p568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Typically a </a:t>
            </a:r>
            <a:r>
              <a:rPr b="1" lang="en"/>
              <a:t>network</a:t>
            </a:r>
            <a:r>
              <a:rPr lang="en"/>
              <a:t> consists of a set of </a:t>
            </a:r>
            <a:r>
              <a:rPr b="1" lang="en"/>
              <a:t>units</a:t>
            </a:r>
            <a:r>
              <a:rPr lang="en"/>
              <a:t> of the </a:t>
            </a:r>
            <a:r>
              <a:rPr b="1" lang="en"/>
              <a:t>same kind</a:t>
            </a:r>
            <a:r>
              <a:rPr lang="en"/>
              <a:t> linked via some kind of </a:t>
            </a:r>
            <a:r>
              <a:rPr b="1" lang="en"/>
              <a:t>relationship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Person</a:t>
            </a:r>
            <a:r>
              <a:rPr lang="en"/>
              <a:t> to </a:t>
            </a:r>
            <a:r>
              <a:rPr b="1" lang="en"/>
              <a:t>person</a:t>
            </a:r>
            <a:r>
              <a:rPr lang="en"/>
              <a:t> friendship 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Organization</a:t>
            </a:r>
            <a:r>
              <a:rPr lang="en"/>
              <a:t> to </a:t>
            </a:r>
            <a:r>
              <a:rPr b="1" lang="en"/>
              <a:t>organization</a:t>
            </a:r>
            <a:r>
              <a:rPr lang="en"/>
              <a:t> alliances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Airport</a:t>
            </a:r>
            <a:r>
              <a:rPr lang="en"/>
              <a:t> to </a:t>
            </a:r>
            <a:r>
              <a:rPr b="1" lang="en"/>
              <a:t>airport</a:t>
            </a:r>
            <a:r>
              <a:rPr lang="en"/>
              <a:t> plane routes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Sometimes a network is composed of relationships between </a:t>
            </a:r>
            <a:r>
              <a:rPr b="1" lang="en"/>
              <a:t>two types</a:t>
            </a:r>
            <a:r>
              <a:rPr lang="en"/>
              <a:t> of entities: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Persons</a:t>
            </a:r>
            <a:r>
              <a:rPr lang="en"/>
              <a:t> and they </a:t>
            </a:r>
            <a:r>
              <a:rPr b="1" lang="en"/>
              <a:t>groups</a:t>
            </a:r>
            <a:r>
              <a:rPr lang="en"/>
              <a:t> they belong to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 sz="1400"/>
              <a:t>Actors</a:t>
            </a:r>
            <a:r>
              <a:rPr lang="en" sz="1400"/>
              <a:t> and the </a:t>
            </a:r>
            <a:r>
              <a:rPr b="1" lang="en" sz="1400"/>
              <a:t>movies</a:t>
            </a:r>
            <a:r>
              <a:rPr lang="en" sz="1400"/>
              <a:t> they appear in</a:t>
            </a:r>
            <a:endParaRPr sz="14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 sz="1400"/>
              <a:t>Scientists</a:t>
            </a:r>
            <a:r>
              <a:rPr lang="en" sz="1400"/>
              <a:t> and </a:t>
            </a:r>
            <a:r>
              <a:rPr b="1" lang="en" sz="1400"/>
              <a:t>papers</a:t>
            </a:r>
            <a:r>
              <a:rPr lang="en" sz="1400"/>
              <a:t> they write</a:t>
            </a:r>
            <a:endParaRPr sz="14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These are called </a:t>
            </a:r>
            <a:r>
              <a:rPr b="1" lang="en"/>
              <a:t>Affiliation Networks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39" name="Shape 14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0" name="Google Shape;14940;p56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an affiliation network?</a:t>
            </a:r>
            <a:endParaRPr/>
          </a:p>
        </p:txBody>
      </p:sp>
      <p:pic>
        <p:nvPicPr>
          <p:cNvPr descr="marvel-3.png" id="14941" name="Google Shape;14941;p569"/>
          <p:cNvPicPr preferRelativeResize="0"/>
          <p:nvPr/>
        </p:nvPicPr>
        <p:blipFill rotWithShape="1">
          <a:blip r:embed="rId3">
            <a:alphaModFix/>
          </a:blip>
          <a:srcRect b="2471" l="2257" r="1691" t="263"/>
          <a:stretch/>
        </p:blipFill>
        <p:spPr>
          <a:xfrm>
            <a:off x="5626850" y="989475"/>
            <a:ext cx="3205450" cy="3825499"/>
          </a:xfrm>
          <a:prstGeom prst="rect">
            <a:avLst/>
          </a:prstGeom>
          <a:noFill/>
          <a:ln>
            <a:noFill/>
          </a:ln>
        </p:spPr>
      </p:pic>
      <p:sp>
        <p:nvSpPr>
          <p:cNvPr id="14942" name="Google Shape;14942;p569"/>
          <p:cNvSpPr txBox="1"/>
          <p:nvPr>
            <p:ph idx="1" type="body"/>
          </p:nvPr>
        </p:nvSpPr>
        <p:spPr>
          <a:xfrm>
            <a:off x="311700" y="1225225"/>
            <a:ext cx="4636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affiliation networks that have been studied in the literature include: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Hollywood</a:t>
            </a:r>
            <a:r>
              <a:rPr lang="en">
                <a:solidFill>
                  <a:srgbClr val="FF0000"/>
                </a:solidFill>
              </a:rPr>
              <a:t> </a:t>
            </a:r>
            <a:r>
              <a:rPr b="1" lang="en">
                <a:solidFill>
                  <a:srgbClr val="FF0000"/>
                </a:solidFill>
              </a:rPr>
              <a:t>actors</a:t>
            </a:r>
            <a:r>
              <a:rPr lang="en">
                <a:solidFill>
                  <a:srgbClr val="FF0000"/>
                </a:solidFill>
              </a:rPr>
              <a:t> and the </a:t>
            </a:r>
            <a:r>
              <a:rPr b="1" lang="en">
                <a:solidFill>
                  <a:srgbClr val="FF0000"/>
                </a:solidFill>
              </a:rPr>
              <a:t>movies</a:t>
            </a:r>
            <a:r>
              <a:rPr lang="en">
                <a:solidFill>
                  <a:srgbClr val="FF0000"/>
                </a:solidFill>
              </a:rPr>
              <a:t> that they make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b="1" lang="en">
                <a:solidFill>
                  <a:srgbClr val="000000"/>
                </a:solidFill>
              </a:rPr>
              <a:t>CEOs</a:t>
            </a:r>
            <a:r>
              <a:rPr lang="en">
                <a:solidFill>
                  <a:srgbClr val="000000"/>
                </a:solidFill>
              </a:rPr>
              <a:t> and the </a:t>
            </a:r>
            <a:r>
              <a:rPr b="1" lang="en">
                <a:solidFill>
                  <a:srgbClr val="000000"/>
                </a:solidFill>
              </a:rPr>
              <a:t>board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of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directors</a:t>
            </a:r>
            <a:r>
              <a:rPr lang="en">
                <a:solidFill>
                  <a:srgbClr val="000000"/>
                </a:solidFill>
              </a:rPr>
              <a:t> that they sit on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Books </a:t>
            </a:r>
            <a:r>
              <a:rPr lang="en"/>
              <a:t>and the people who buy them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Scientists </a:t>
            </a:r>
            <a:r>
              <a:rPr lang="en"/>
              <a:t>and the </a:t>
            </a:r>
            <a:r>
              <a:rPr b="1" lang="en"/>
              <a:t>journal</a:t>
            </a:r>
            <a:r>
              <a:rPr lang="en"/>
              <a:t> they publish in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</p:spTree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46" name="Shape 14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7" name="Google Shape;14947;p57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an affiliation network?</a:t>
            </a:r>
            <a:endParaRPr/>
          </a:p>
        </p:txBody>
      </p:sp>
      <p:pic>
        <p:nvPicPr>
          <p:cNvPr descr="Citigroup_corp_NetDraw.gif" id="14948" name="Google Shape;14948;p57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48500" y="1299625"/>
            <a:ext cx="4043100" cy="3308593"/>
          </a:xfrm>
          <a:prstGeom prst="rect">
            <a:avLst/>
          </a:prstGeom>
          <a:noFill/>
          <a:ln>
            <a:noFill/>
          </a:ln>
        </p:spPr>
      </p:pic>
      <p:sp>
        <p:nvSpPr>
          <p:cNvPr id="14949" name="Google Shape;14949;p570"/>
          <p:cNvSpPr txBox="1"/>
          <p:nvPr>
            <p:ph idx="1" type="body"/>
          </p:nvPr>
        </p:nvSpPr>
        <p:spPr>
          <a:xfrm>
            <a:off x="311700" y="1225225"/>
            <a:ext cx="4636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affiliation networks that have been studied in the literature include: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Hollywood</a:t>
            </a:r>
            <a:r>
              <a:rPr lang="en"/>
              <a:t> </a:t>
            </a:r>
            <a:r>
              <a:rPr b="1" lang="en"/>
              <a:t>actors</a:t>
            </a:r>
            <a:r>
              <a:rPr lang="en"/>
              <a:t> and the </a:t>
            </a:r>
            <a:r>
              <a:rPr b="1" lang="en"/>
              <a:t>movies</a:t>
            </a:r>
            <a:r>
              <a:rPr lang="en"/>
              <a:t> that they make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CEOs</a:t>
            </a:r>
            <a:r>
              <a:rPr lang="en">
                <a:solidFill>
                  <a:srgbClr val="FF0000"/>
                </a:solidFill>
              </a:rPr>
              <a:t> and the </a:t>
            </a:r>
            <a:r>
              <a:rPr b="1" lang="en">
                <a:solidFill>
                  <a:srgbClr val="FF0000"/>
                </a:solidFill>
              </a:rPr>
              <a:t>board</a:t>
            </a:r>
            <a:r>
              <a:rPr lang="en">
                <a:solidFill>
                  <a:srgbClr val="FF0000"/>
                </a:solidFill>
              </a:rPr>
              <a:t> </a:t>
            </a:r>
            <a:r>
              <a:rPr b="1" lang="en">
                <a:solidFill>
                  <a:srgbClr val="FF0000"/>
                </a:solidFill>
              </a:rPr>
              <a:t>of</a:t>
            </a:r>
            <a:r>
              <a:rPr lang="en">
                <a:solidFill>
                  <a:srgbClr val="FF0000"/>
                </a:solidFill>
              </a:rPr>
              <a:t> </a:t>
            </a:r>
            <a:r>
              <a:rPr b="1" lang="en">
                <a:solidFill>
                  <a:srgbClr val="FF0000"/>
                </a:solidFill>
              </a:rPr>
              <a:t>directors</a:t>
            </a:r>
            <a:r>
              <a:rPr lang="en">
                <a:solidFill>
                  <a:srgbClr val="FF0000"/>
                </a:solidFill>
              </a:rPr>
              <a:t> that they sit on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Books </a:t>
            </a:r>
            <a:r>
              <a:rPr lang="en"/>
              <a:t>and the people who buy them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Scientists </a:t>
            </a:r>
            <a:r>
              <a:rPr lang="en"/>
              <a:t>and the </a:t>
            </a:r>
            <a:r>
              <a:rPr b="1" lang="en"/>
              <a:t>journal</a:t>
            </a:r>
            <a:r>
              <a:rPr lang="en"/>
              <a:t> they publish in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</p:spTree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53" name="Shape 14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4" name="Google Shape;14954;p57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an affiliation network?</a:t>
            </a:r>
            <a:endParaRPr/>
          </a:p>
        </p:txBody>
      </p:sp>
      <p:sp>
        <p:nvSpPr>
          <p:cNvPr id="14955" name="Google Shape;14955;p571"/>
          <p:cNvSpPr txBox="1"/>
          <p:nvPr>
            <p:ph idx="1" type="body"/>
          </p:nvPr>
        </p:nvSpPr>
        <p:spPr>
          <a:xfrm>
            <a:off x="311700" y="1225225"/>
            <a:ext cx="4636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affiliation networks that have been studied in the literature include: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b="1" lang="en">
                <a:solidFill>
                  <a:srgbClr val="000000"/>
                </a:solidFill>
              </a:rPr>
              <a:t>Hollywood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actors</a:t>
            </a:r>
            <a:r>
              <a:rPr lang="en">
                <a:solidFill>
                  <a:srgbClr val="000000"/>
                </a:solidFill>
              </a:rPr>
              <a:t> and the </a:t>
            </a:r>
            <a:r>
              <a:rPr b="1" lang="en">
                <a:solidFill>
                  <a:srgbClr val="000000"/>
                </a:solidFill>
              </a:rPr>
              <a:t>movies</a:t>
            </a:r>
            <a:r>
              <a:rPr lang="en">
                <a:solidFill>
                  <a:srgbClr val="000000"/>
                </a:solidFill>
              </a:rPr>
              <a:t> that they make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b="1" lang="en">
                <a:solidFill>
                  <a:srgbClr val="000000"/>
                </a:solidFill>
              </a:rPr>
              <a:t>CEOs</a:t>
            </a:r>
            <a:r>
              <a:rPr lang="en">
                <a:solidFill>
                  <a:srgbClr val="000000"/>
                </a:solidFill>
              </a:rPr>
              <a:t> and the </a:t>
            </a:r>
            <a:r>
              <a:rPr b="1" lang="en">
                <a:solidFill>
                  <a:srgbClr val="000000"/>
                </a:solidFill>
              </a:rPr>
              <a:t>board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of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directors</a:t>
            </a:r>
            <a:r>
              <a:rPr lang="en">
                <a:solidFill>
                  <a:srgbClr val="000000"/>
                </a:solidFill>
              </a:rPr>
              <a:t> that they sit on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Books </a:t>
            </a:r>
            <a:r>
              <a:rPr lang="en">
                <a:solidFill>
                  <a:srgbClr val="FF0000"/>
                </a:solidFill>
              </a:rPr>
              <a:t>and the people who buy them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Scientists </a:t>
            </a:r>
            <a:r>
              <a:rPr lang="en"/>
              <a:t>and the </a:t>
            </a:r>
            <a:r>
              <a:rPr b="1" lang="en"/>
              <a:t>journal</a:t>
            </a:r>
            <a:r>
              <a:rPr lang="en"/>
              <a:t> they publish in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pic>
        <p:nvPicPr>
          <p:cNvPr id="14956" name="Google Shape;14956;p571"/>
          <p:cNvPicPr preferRelativeResize="0"/>
          <p:nvPr/>
        </p:nvPicPr>
        <p:blipFill rotWithShape="1">
          <a:blip r:embed="rId3">
            <a:alphaModFix/>
          </a:blip>
          <a:srcRect b="18702" l="51333" r="0" t="21586"/>
          <a:stretch/>
        </p:blipFill>
        <p:spPr>
          <a:xfrm>
            <a:off x="5233650" y="1225225"/>
            <a:ext cx="3644818" cy="33539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60" name="Shape 14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1" name="Google Shape;14961;p57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an affiliation network?</a:t>
            </a:r>
            <a:endParaRPr/>
          </a:p>
        </p:txBody>
      </p:sp>
      <p:pic>
        <p:nvPicPr>
          <p:cNvPr descr="image006.jpg" id="14962" name="Google Shape;14962;p5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48500" y="1299625"/>
            <a:ext cx="4043100" cy="3356725"/>
          </a:xfrm>
          <a:prstGeom prst="rect">
            <a:avLst/>
          </a:prstGeom>
          <a:noFill/>
          <a:ln>
            <a:noFill/>
          </a:ln>
        </p:spPr>
      </p:pic>
      <p:sp>
        <p:nvSpPr>
          <p:cNvPr id="14963" name="Google Shape;14963;p572"/>
          <p:cNvSpPr txBox="1"/>
          <p:nvPr>
            <p:ph idx="1" type="body"/>
          </p:nvPr>
        </p:nvSpPr>
        <p:spPr>
          <a:xfrm>
            <a:off x="311700" y="1225225"/>
            <a:ext cx="4636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affiliation networks that have been studied in the literature include: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Hollywood</a:t>
            </a:r>
            <a:r>
              <a:rPr lang="en"/>
              <a:t> </a:t>
            </a:r>
            <a:r>
              <a:rPr b="1" lang="en"/>
              <a:t>actors</a:t>
            </a:r>
            <a:r>
              <a:rPr lang="en"/>
              <a:t> and the </a:t>
            </a:r>
            <a:r>
              <a:rPr b="1" lang="en"/>
              <a:t>movies</a:t>
            </a:r>
            <a:r>
              <a:rPr lang="en"/>
              <a:t> that they make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CEOs</a:t>
            </a:r>
            <a:r>
              <a:rPr lang="en"/>
              <a:t> and the </a:t>
            </a:r>
            <a:r>
              <a:rPr b="1" lang="en"/>
              <a:t>board</a:t>
            </a:r>
            <a:r>
              <a:rPr lang="en"/>
              <a:t> </a:t>
            </a:r>
            <a:r>
              <a:rPr b="1" lang="en"/>
              <a:t>of</a:t>
            </a:r>
            <a:r>
              <a:rPr lang="en"/>
              <a:t> </a:t>
            </a:r>
            <a:r>
              <a:rPr b="1" lang="en"/>
              <a:t>directors</a:t>
            </a:r>
            <a:r>
              <a:rPr lang="en"/>
              <a:t> that they sit 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Books </a:t>
            </a:r>
            <a:r>
              <a:rPr lang="en"/>
              <a:t>and the people who buy them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Scientists </a:t>
            </a:r>
            <a:r>
              <a:rPr lang="en">
                <a:solidFill>
                  <a:srgbClr val="FF0000"/>
                </a:solidFill>
              </a:rPr>
              <a:t>and the </a:t>
            </a:r>
            <a:r>
              <a:rPr b="1" lang="en">
                <a:solidFill>
                  <a:srgbClr val="FF0000"/>
                </a:solidFill>
              </a:rPr>
              <a:t>journal</a:t>
            </a:r>
            <a:r>
              <a:rPr lang="en">
                <a:solidFill>
                  <a:srgbClr val="FF0000"/>
                </a:solidFill>
              </a:rPr>
              <a:t> they publish in</a:t>
            </a:r>
            <a:endParaRPr>
              <a:solidFill>
                <a:srgbClr val="FF0000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</p:spTree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67" name="Shape 14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8" name="Google Shape;14968;p57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Bipartite Graphs</a:t>
            </a:r>
            <a:endParaRPr/>
          </a:p>
        </p:txBody>
      </p:sp>
      <p:sp>
        <p:nvSpPr>
          <p:cNvPr id="14969" name="Google Shape;14969;p573"/>
          <p:cNvSpPr txBox="1"/>
          <p:nvPr>
            <p:ph idx="1" type="body"/>
          </p:nvPr>
        </p:nvSpPr>
        <p:spPr>
          <a:xfrm>
            <a:off x="311700" y="1225225"/>
            <a:ext cx="4260300" cy="352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Affiliation Networks</a:t>
            </a:r>
            <a:r>
              <a:rPr lang="en"/>
              <a:t> people are linked to other (usually larger) entities that are not people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Actors and movies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Scientists and papers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Persons and events</a:t>
            </a:r>
            <a:endParaRPr i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Bipartite graphs</a:t>
            </a:r>
            <a:r>
              <a:rPr lang="en"/>
              <a:t> can be used to represent the social network concepts of </a:t>
            </a:r>
            <a:r>
              <a:rPr b="1" lang="en"/>
              <a:t>affiliation</a:t>
            </a:r>
            <a:r>
              <a:rPr lang="en"/>
              <a:t> or </a:t>
            </a:r>
            <a:r>
              <a:rPr b="1" lang="en"/>
              <a:t>membership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4970" name="Google Shape;14970;p573"/>
          <p:cNvSpPr/>
          <p:nvPr/>
        </p:nvSpPr>
        <p:spPr>
          <a:xfrm>
            <a:off x="4760450" y="14231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4971" name="Google Shape;14971;p573"/>
          <p:cNvSpPr/>
          <p:nvPr/>
        </p:nvSpPr>
        <p:spPr>
          <a:xfrm>
            <a:off x="4760450" y="19777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4972" name="Google Shape;14972;p573"/>
          <p:cNvSpPr/>
          <p:nvPr/>
        </p:nvSpPr>
        <p:spPr>
          <a:xfrm>
            <a:off x="4760450" y="26070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4973" name="Google Shape;14973;p573"/>
          <p:cNvSpPr/>
          <p:nvPr/>
        </p:nvSpPr>
        <p:spPr>
          <a:xfrm>
            <a:off x="4760450" y="32140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4974" name="Google Shape;14974;p573"/>
          <p:cNvSpPr/>
          <p:nvPr/>
        </p:nvSpPr>
        <p:spPr>
          <a:xfrm>
            <a:off x="4760450" y="37909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4975" name="Google Shape;14975;p573"/>
          <p:cNvSpPr/>
          <p:nvPr/>
        </p:nvSpPr>
        <p:spPr>
          <a:xfrm>
            <a:off x="4760450" y="43812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4976" name="Google Shape;14976;p573"/>
          <p:cNvSpPr/>
          <p:nvPr/>
        </p:nvSpPr>
        <p:spPr>
          <a:xfrm>
            <a:off x="7356900" y="16569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4977" name="Google Shape;14977;p573"/>
          <p:cNvSpPr/>
          <p:nvPr/>
        </p:nvSpPr>
        <p:spPr>
          <a:xfrm>
            <a:off x="7356900" y="22656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4978" name="Google Shape;14978;p573"/>
          <p:cNvSpPr/>
          <p:nvPr/>
        </p:nvSpPr>
        <p:spPr>
          <a:xfrm>
            <a:off x="7356900" y="28482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4979" name="Google Shape;14979;p573"/>
          <p:cNvSpPr/>
          <p:nvPr/>
        </p:nvSpPr>
        <p:spPr>
          <a:xfrm>
            <a:off x="7356900" y="34578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4980" name="Google Shape;14980;p573"/>
          <p:cNvSpPr/>
          <p:nvPr/>
        </p:nvSpPr>
        <p:spPr>
          <a:xfrm>
            <a:off x="7356900" y="40329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4981" name="Google Shape;14981;p573"/>
          <p:cNvCxnSpPr>
            <a:stCxn id="14975" idx="6"/>
            <a:endCxn id="14980" idx="1"/>
          </p:cNvCxnSpPr>
          <p:nvPr/>
        </p:nvCxnSpPr>
        <p:spPr>
          <a:xfrm flipH="1" rot="10800000">
            <a:off x="6043850" y="42492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82" name="Google Shape;14982;p573"/>
          <p:cNvCxnSpPr>
            <a:stCxn id="14975" idx="6"/>
            <a:endCxn id="14977" idx="1"/>
          </p:cNvCxnSpPr>
          <p:nvPr/>
        </p:nvCxnSpPr>
        <p:spPr>
          <a:xfrm flipH="1" rot="10800000">
            <a:off x="6043850" y="24819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83" name="Google Shape;14983;p573"/>
          <p:cNvCxnSpPr>
            <a:stCxn id="14974" idx="6"/>
            <a:endCxn id="14980" idx="1"/>
          </p:cNvCxnSpPr>
          <p:nvPr/>
        </p:nvCxnSpPr>
        <p:spPr>
          <a:xfrm>
            <a:off x="6043850" y="39763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84" name="Google Shape;14984;p573"/>
          <p:cNvCxnSpPr>
            <a:stCxn id="14972" idx="6"/>
            <a:endCxn id="14977" idx="1"/>
          </p:cNvCxnSpPr>
          <p:nvPr/>
        </p:nvCxnSpPr>
        <p:spPr>
          <a:xfrm flipH="1" rot="10800000">
            <a:off x="6043850" y="24819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85" name="Google Shape;14985;p573"/>
          <p:cNvCxnSpPr>
            <a:stCxn id="14975" idx="6"/>
            <a:endCxn id="14979" idx="1"/>
          </p:cNvCxnSpPr>
          <p:nvPr/>
        </p:nvCxnSpPr>
        <p:spPr>
          <a:xfrm flipH="1" rot="10800000">
            <a:off x="6043850" y="36741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86" name="Google Shape;14986;p573"/>
          <p:cNvCxnSpPr>
            <a:stCxn id="14970" idx="6"/>
            <a:endCxn id="14976" idx="1"/>
          </p:cNvCxnSpPr>
          <p:nvPr/>
        </p:nvCxnSpPr>
        <p:spPr>
          <a:xfrm>
            <a:off x="6043850" y="1608513"/>
            <a:ext cx="1313100" cy="264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87" name="Google Shape;14987;p573"/>
          <p:cNvCxnSpPr>
            <a:stCxn id="14970" idx="6"/>
            <a:endCxn id="14978" idx="1"/>
          </p:cNvCxnSpPr>
          <p:nvPr/>
        </p:nvCxnSpPr>
        <p:spPr>
          <a:xfrm>
            <a:off x="6043850" y="1608513"/>
            <a:ext cx="1313100" cy="145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88" name="Google Shape;14988;p573"/>
          <p:cNvCxnSpPr>
            <a:stCxn id="14971" idx="6"/>
            <a:endCxn id="14977" idx="1"/>
          </p:cNvCxnSpPr>
          <p:nvPr/>
        </p:nvCxnSpPr>
        <p:spPr>
          <a:xfrm>
            <a:off x="6043850" y="21631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89" name="Google Shape;14989;p573"/>
          <p:cNvCxnSpPr>
            <a:stCxn id="14970" idx="6"/>
            <a:endCxn id="14980" idx="1"/>
          </p:cNvCxnSpPr>
          <p:nvPr/>
        </p:nvCxnSpPr>
        <p:spPr>
          <a:xfrm>
            <a:off x="6043850" y="1608513"/>
            <a:ext cx="1313100" cy="26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90" name="Google Shape;14990;p573"/>
          <p:cNvCxnSpPr>
            <a:stCxn id="14973" idx="6"/>
            <a:endCxn id="14978" idx="1"/>
          </p:cNvCxnSpPr>
          <p:nvPr/>
        </p:nvCxnSpPr>
        <p:spPr>
          <a:xfrm flipH="1" rot="10800000">
            <a:off x="6043850" y="30646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91" name="Google Shape;14991;p573"/>
          <p:cNvCxnSpPr>
            <a:stCxn id="14971" idx="6"/>
            <a:endCxn id="14979" idx="1"/>
          </p:cNvCxnSpPr>
          <p:nvPr/>
        </p:nvCxnSpPr>
        <p:spPr>
          <a:xfrm>
            <a:off x="6043850" y="21631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92" name="Google Shape;14992;p573"/>
          <p:cNvCxnSpPr>
            <a:stCxn id="14974" idx="6"/>
            <a:endCxn id="14977" idx="1"/>
          </p:cNvCxnSpPr>
          <p:nvPr/>
        </p:nvCxnSpPr>
        <p:spPr>
          <a:xfrm flipH="1" rot="10800000">
            <a:off x="6043850" y="24820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993" name="Google Shape;14993;p573"/>
          <p:cNvCxnSpPr>
            <a:stCxn id="14973" idx="6"/>
            <a:endCxn id="14976" idx="1"/>
          </p:cNvCxnSpPr>
          <p:nvPr/>
        </p:nvCxnSpPr>
        <p:spPr>
          <a:xfrm flipH="1" rot="10800000">
            <a:off x="6043850" y="18733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994" name="Google Shape;14994;p573"/>
          <p:cNvSpPr txBox="1"/>
          <p:nvPr/>
        </p:nvSpPr>
        <p:spPr>
          <a:xfrm>
            <a:off x="5268675" y="1075447"/>
            <a:ext cx="363900" cy="30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Comfortaa"/>
                <a:ea typeface="Comfortaa"/>
                <a:cs typeface="Comfortaa"/>
                <a:sym typeface="Comfortaa"/>
              </a:rPr>
              <a:t>U</a:t>
            </a:r>
            <a:endParaRPr sz="24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4995" name="Google Shape;14995;p573"/>
          <p:cNvSpPr txBox="1"/>
          <p:nvPr/>
        </p:nvSpPr>
        <p:spPr>
          <a:xfrm>
            <a:off x="7767900" y="1083559"/>
            <a:ext cx="363900" cy="30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Comfortaa"/>
                <a:ea typeface="Comfortaa"/>
                <a:cs typeface="Comfortaa"/>
                <a:sym typeface="Comfortaa"/>
              </a:rPr>
              <a:t>V</a:t>
            </a:r>
            <a:endParaRPr sz="2400">
              <a:latin typeface="Comfortaa"/>
              <a:ea typeface="Comfortaa"/>
              <a:cs typeface="Comfortaa"/>
              <a:sym typeface="Comfortaa"/>
            </a:endParaRPr>
          </a:p>
        </p:txBody>
      </p:sp>
    </p:spTree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99" name="Shape 14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00" name="Google Shape;15000;p57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Bipartite Graphs</a:t>
            </a:r>
            <a:endParaRPr/>
          </a:p>
        </p:txBody>
      </p:sp>
      <p:sp>
        <p:nvSpPr>
          <p:cNvPr id="15001" name="Google Shape;15001;p574"/>
          <p:cNvSpPr txBox="1"/>
          <p:nvPr>
            <p:ph idx="1" type="body"/>
          </p:nvPr>
        </p:nvSpPr>
        <p:spPr>
          <a:xfrm>
            <a:off x="311700" y="1225225"/>
            <a:ext cx="4260300" cy="352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bipartite graph</a:t>
            </a:r>
            <a:r>
              <a:rPr lang="en"/>
              <a:t> is a special kind of graph featuring: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Two</a:t>
            </a:r>
            <a:r>
              <a:rPr lang="en"/>
              <a:t> </a:t>
            </a:r>
            <a:r>
              <a:rPr b="1" lang="en"/>
              <a:t>disjoint</a:t>
            </a:r>
            <a:r>
              <a:rPr lang="en"/>
              <a:t> sets of vertices, U, V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i="1" lang="en">
                <a:solidFill>
                  <a:srgbClr val="000000"/>
                </a:solidFill>
              </a:rPr>
              <a:t>Two sets are disjoint when they don’t share members</a:t>
            </a:r>
            <a:endParaRPr i="1"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b="1" lang="en">
                <a:solidFill>
                  <a:srgbClr val="000000"/>
                </a:solidFill>
              </a:rPr>
              <a:t>One edge </a:t>
            </a:r>
            <a:r>
              <a:rPr lang="en">
                <a:solidFill>
                  <a:srgbClr val="000000"/>
                </a:solidFill>
              </a:rPr>
              <a:t>set (E)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G = {U, V, E}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Edges link vertices </a:t>
            </a:r>
            <a:r>
              <a:rPr b="1" lang="en"/>
              <a:t>between</a:t>
            </a:r>
            <a:r>
              <a:rPr lang="en"/>
              <a:t> sets but </a:t>
            </a:r>
            <a:r>
              <a:rPr b="1" lang="en"/>
              <a:t>not</a:t>
            </a:r>
            <a:r>
              <a:rPr lang="en"/>
              <a:t> </a:t>
            </a:r>
            <a:r>
              <a:rPr b="1" lang="en"/>
              <a:t>within</a:t>
            </a:r>
            <a:r>
              <a:rPr lang="en"/>
              <a:t> sets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two vertex sets can be of </a:t>
            </a:r>
            <a:r>
              <a:rPr b="1" lang="en"/>
              <a:t>different</a:t>
            </a:r>
            <a:r>
              <a:rPr lang="en"/>
              <a:t> cardinality (</a:t>
            </a:r>
            <a:r>
              <a:rPr b="1" lang="en"/>
              <a:t>size</a:t>
            </a:r>
            <a:r>
              <a:rPr lang="en"/>
              <a:t>)!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|U| = 6, |V| = 5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5002" name="Google Shape;15002;p574"/>
          <p:cNvSpPr/>
          <p:nvPr/>
        </p:nvSpPr>
        <p:spPr>
          <a:xfrm>
            <a:off x="4760450" y="14231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03" name="Google Shape;15003;p574"/>
          <p:cNvSpPr/>
          <p:nvPr/>
        </p:nvSpPr>
        <p:spPr>
          <a:xfrm>
            <a:off x="4760450" y="19777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04" name="Google Shape;15004;p574"/>
          <p:cNvSpPr/>
          <p:nvPr/>
        </p:nvSpPr>
        <p:spPr>
          <a:xfrm>
            <a:off x="4760450" y="26070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05" name="Google Shape;15005;p574"/>
          <p:cNvSpPr/>
          <p:nvPr/>
        </p:nvSpPr>
        <p:spPr>
          <a:xfrm>
            <a:off x="4760450" y="32140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06" name="Google Shape;15006;p574"/>
          <p:cNvSpPr/>
          <p:nvPr/>
        </p:nvSpPr>
        <p:spPr>
          <a:xfrm>
            <a:off x="4760450" y="37909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07" name="Google Shape;15007;p574"/>
          <p:cNvSpPr/>
          <p:nvPr/>
        </p:nvSpPr>
        <p:spPr>
          <a:xfrm>
            <a:off x="4760450" y="43812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08" name="Google Shape;15008;p574"/>
          <p:cNvSpPr/>
          <p:nvPr/>
        </p:nvSpPr>
        <p:spPr>
          <a:xfrm>
            <a:off x="7356900" y="16569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09" name="Google Shape;15009;p574"/>
          <p:cNvSpPr/>
          <p:nvPr/>
        </p:nvSpPr>
        <p:spPr>
          <a:xfrm>
            <a:off x="7356900" y="22656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10" name="Google Shape;15010;p574"/>
          <p:cNvSpPr/>
          <p:nvPr/>
        </p:nvSpPr>
        <p:spPr>
          <a:xfrm>
            <a:off x="7356900" y="28482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11" name="Google Shape;15011;p574"/>
          <p:cNvSpPr/>
          <p:nvPr/>
        </p:nvSpPr>
        <p:spPr>
          <a:xfrm>
            <a:off x="7356900" y="34578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12" name="Google Shape;15012;p574"/>
          <p:cNvSpPr/>
          <p:nvPr/>
        </p:nvSpPr>
        <p:spPr>
          <a:xfrm>
            <a:off x="7356900" y="40329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013" name="Google Shape;15013;p574"/>
          <p:cNvCxnSpPr>
            <a:stCxn id="15007" idx="6"/>
            <a:endCxn id="15012" idx="1"/>
          </p:cNvCxnSpPr>
          <p:nvPr/>
        </p:nvCxnSpPr>
        <p:spPr>
          <a:xfrm flipH="1" rot="10800000">
            <a:off x="6043850" y="42492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14" name="Google Shape;15014;p574"/>
          <p:cNvCxnSpPr>
            <a:stCxn id="15007" idx="6"/>
            <a:endCxn id="15009" idx="1"/>
          </p:cNvCxnSpPr>
          <p:nvPr/>
        </p:nvCxnSpPr>
        <p:spPr>
          <a:xfrm flipH="1" rot="10800000">
            <a:off x="6043850" y="24819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15" name="Google Shape;15015;p574"/>
          <p:cNvCxnSpPr>
            <a:stCxn id="15006" idx="6"/>
            <a:endCxn id="15012" idx="1"/>
          </p:cNvCxnSpPr>
          <p:nvPr/>
        </p:nvCxnSpPr>
        <p:spPr>
          <a:xfrm>
            <a:off x="6043850" y="39763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16" name="Google Shape;15016;p574"/>
          <p:cNvCxnSpPr>
            <a:stCxn id="15004" idx="6"/>
            <a:endCxn id="15009" idx="1"/>
          </p:cNvCxnSpPr>
          <p:nvPr/>
        </p:nvCxnSpPr>
        <p:spPr>
          <a:xfrm flipH="1" rot="10800000">
            <a:off x="6043850" y="24819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17" name="Google Shape;15017;p574"/>
          <p:cNvCxnSpPr>
            <a:stCxn id="15007" idx="6"/>
            <a:endCxn id="15011" idx="1"/>
          </p:cNvCxnSpPr>
          <p:nvPr/>
        </p:nvCxnSpPr>
        <p:spPr>
          <a:xfrm flipH="1" rot="10800000">
            <a:off x="6043850" y="36741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18" name="Google Shape;15018;p574"/>
          <p:cNvCxnSpPr>
            <a:stCxn id="15002" idx="6"/>
            <a:endCxn id="15008" idx="1"/>
          </p:cNvCxnSpPr>
          <p:nvPr/>
        </p:nvCxnSpPr>
        <p:spPr>
          <a:xfrm>
            <a:off x="6043850" y="1608513"/>
            <a:ext cx="1313100" cy="264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19" name="Google Shape;15019;p574"/>
          <p:cNvCxnSpPr>
            <a:stCxn id="15002" idx="6"/>
            <a:endCxn id="15010" idx="1"/>
          </p:cNvCxnSpPr>
          <p:nvPr/>
        </p:nvCxnSpPr>
        <p:spPr>
          <a:xfrm>
            <a:off x="6043850" y="1608513"/>
            <a:ext cx="1313100" cy="145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20" name="Google Shape;15020;p574"/>
          <p:cNvCxnSpPr>
            <a:stCxn id="15003" idx="6"/>
            <a:endCxn id="15009" idx="1"/>
          </p:cNvCxnSpPr>
          <p:nvPr/>
        </p:nvCxnSpPr>
        <p:spPr>
          <a:xfrm>
            <a:off x="6043850" y="21631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21" name="Google Shape;15021;p574"/>
          <p:cNvCxnSpPr>
            <a:stCxn id="15002" idx="6"/>
            <a:endCxn id="15012" idx="1"/>
          </p:cNvCxnSpPr>
          <p:nvPr/>
        </p:nvCxnSpPr>
        <p:spPr>
          <a:xfrm>
            <a:off x="6043850" y="1608513"/>
            <a:ext cx="1313100" cy="26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22" name="Google Shape;15022;p574"/>
          <p:cNvCxnSpPr>
            <a:stCxn id="15005" idx="6"/>
            <a:endCxn id="15010" idx="1"/>
          </p:cNvCxnSpPr>
          <p:nvPr/>
        </p:nvCxnSpPr>
        <p:spPr>
          <a:xfrm flipH="1" rot="10800000">
            <a:off x="6043850" y="30646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23" name="Google Shape;15023;p574"/>
          <p:cNvCxnSpPr>
            <a:stCxn id="15003" idx="6"/>
            <a:endCxn id="15011" idx="1"/>
          </p:cNvCxnSpPr>
          <p:nvPr/>
        </p:nvCxnSpPr>
        <p:spPr>
          <a:xfrm>
            <a:off x="6043850" y="21631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24" name="Google Shape;15024;p574"/>
          <p:cNvCxnSpPr>
            <a:stCxn id="15006" idx="6"/>
            <a:endCxn id="15009" idx="1"/>
          </p:cNvCxnSpPr>
          <p:nvPr/>
        </p:nvCxnSpPr>
        <p:spPr>
          <a:xfrm flipH="1" rot="10800000">
            <a:off x="6043850" y="24820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25" name="Google Shape;15025;p574"/>
          <p:cNvCxnSpPr>
            <a:stCxn id="15005" idx="6"/>
            <a:endCxn id="15008" idx="1"/>
          </p:cNvCxnSpPr>
          <p:nvPr/>
        </p:nvCxnSpPr>
        <p:spPr>
          <a:xfrm flipH="1" rot="10800000">
            <a:off x="6043850" y="18733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026" name="Google Shape;15026;p574"/>
          <p:cNvSpPr txBox="1"/>
          <p:nvPr/>
        </p:nvSpPr>
        <p:spPr>
          <a:xfrm>
            <a:off x="5268675" y="1075447"/>
            <a:ext cx="363900" cy="30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Comfortaa"/>
                <a:ea typeface="Comfortaa"/>
                <a:cs typeface="Comfortaa"/>
                <a:sym typeface="Comfortaa"/>
              </a:rPr>
              <a:t>U</a:t>
            </a:r>
            <a:endParaRPr sz="24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5027" name="Google Shape;15027;p574"/>
          <p:cNvSpPr txBox="1"/>
          <p:nvPr/>
        </p:nvSpPr>
        <p:spPr>
          <a:xfrm>
            <a:off x="7767900" y="1083559"/>
            <a:ext cx="363900" cy="30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Comfortaa"/>
                <a:ea typeface="Comfortaa"/>
                <a:cs typeface="Comfortaa"/>
                <a:sym typeface="Comfortaa"/>
              </a:rPr>
              <a:t>V</a:t>
            </a:r>
            <a:endParaRPr sz="2400">
              <a:latin typeface="Comfortaa"/>
              <a:ea typeface="Comfortaa"/>
              <a:cs typeface="Comfortaa"/>
              <a:sym typeface="Comfortaa"/>
            </a:endParaRPr>
          </a:p>
        </p:txBody>
      </p:sp>
    </p:spTree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31" name="Shape 15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2" name="Google Shape;15032;p57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Bipartite Graphs</a:t>
            </a:r>
            <a:endParaRPr/>
          </a:p>
        </p:txBody>
      </p:sp>
      <p:sp>
        <p:nvSpPr>
          <p:cNvPr id="15033" name="Google Shape;15033;p575"/>
          <p:cNvSpPr txBox="1"/>
          <p:nvPr>
            <p:ph idx="1" type="body"/>
          </p:nvPr>
        </p:nvSpPr>
        <p:spPr>
          <a:xfrm>
            <a:off x="311700" y="1225225"/>
            <a:ext cx="4260300" cy="352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bipartite graph</a:t>
            </a:r>
            <a:r>
              <a:rPr lang="en"/>
              <a:t> is a special kind of graph featuring: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Two</a:t>
            </a:r>
            <a:r>
              <a:rPr lang="en"/>
              <a:t> </a:t>
            </a:r>
            <a:r>
              <a:rPr b="1" lang="en"/>
              <a:t>disjoint</a:t>
            </a:r>
            <a:r>
              <a:rPr lang="en"/>
              <a:t> sets of vertices, U, V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Two sets are disjoint when they don’t share members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Edges link vertices </a:t>
            </a:r>
            <a:r>
              <a:rPr b="1" lang="en"/>
              <a:t>between</a:t>
            </a:r>
            <a:r>
              <a:rPr lang="en"/>
              <a:t> sets but </a:t>
            </a:r>
            <a:r>
              <a:rPr b="1" lang="en"/>
              <a:t>not</a:t>
            </a:r>
            <a:r>
              <a:rPr lang="en"/>
              <a:t> </a:t>
            </a:r>
            <a:r>
              <a:rPr b="1" lang="en"/>
              <a:t>within</a:t>
            </a:r>
            <a:r>
              <a:rPr lang="en"/>
              <a:t> sets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Affiliation or membership relations are </a:t>
            </a:r>
            <a:r>
              <a:rPr b="1" lang="en"/>
              <a:t>undirected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two sets can be of </a:t>
            </a:r>
            <a:r>
              <a:rPr b="1" lang="en"/>
              <a:t>different</a:t>
            </a:r>
            <a:r>
              <a:rPr lang="en"/>
              <a:t> cardinality (</a:t>
            </a:r>
            <a:r>
              <a:rPr b="1" lang="en"/>
              <a:t>size</a:t>
            </a:r>
            <a:r>
              <a:rPr lang="en"/>
              <a:t>)! (|U| = 6, |V| = 5)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5034" name="Google Shape;15034;p575"/>
          <p:cNvSpPr/>
          <p:nvPr/>
        </p:nvSpPr>
        <p:spPr>
          <a:xfrm>
            <a:off x="4760450" y="14231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35" name="Google Shape;15035;p575"/>
          <p:cNvSpPr/>
          <p:nvPr/>
        </p:nvSpPr>
        <p:spPr>
          <a:xfrm>
            <a:off x="4760450" y="19777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36" name="Google Shape;15036;p575"/>
          <p:cNvSpPr/>
          <p:nvPr/>
        </p:nvSpPr>
        <p:spPr>
          <a:xfrm>
            <a:off x="4760450" y="26070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37" name="Google Shape;15037;p575"/>
          <p:cNvSpPr/>
          <p:nvPr/>
        </p:nvSpPr>
        <p:spPr>
          <a:xfrm>
            <a:off x="4760450" y="32140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38" name="Google Shape;15038;p575"/>
          <p:cNvSpPr/>
          <p:nvPr/>
        </p:nvSpPr>
        <p:spPr>
          <a:xfrm>
            <a:off x="4760450" y="37909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39" name="Google Shape;15039;p575"/>
          <p:cNvSpPr/>
          <p:nvPr/>
        </p:nvSpPr>
        <p:spPr>
          <a:xfrm>
            <a:off x="4760450" y="43812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40" name="Google Shape;15040;p575"/>
          <p:cNvSpPr/>
          <p:nvPr/>
        </p:nvSpPr>
        <p:spPr>
          <a:xfrm>
            <a:off x="7356900" y="16569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41" name="Google Shape;15041;p575"/>
          <p:cNvSpPr/>
          <p:nvPr/>
        </p:nvSpPr>
        <p:spPr>
          <a:xfrm>
            <a:off x="7356900" y="22656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42" name="Google Shape;15042;p575"/>
          <p:cNvSpPr/>
          <p:nvPr/>
        </p:nvSpPr>
        <p:spPr>
          <a:xfrm>
            <a:off x="7356900" y="28482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43" name="Google Shape;15043;p575"/>
          <p:cNvSpPr/>
          <p:nvPr/>
        </p:nvSpPr>
        <p:spPr>
          <a:xfrm>
            <a:off x="7356900" y="34578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44" name="Google Shape;15044;p575"/>
          <p:cNvSpPr/>
          <p:nvPr/>
        </p:nvSpPr>
        <p:spPr>
          <a:xfrm>
            <a:off x="7356900" y="40329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045" name="Google Shape;15045;p575"/>
          <p:cNvCxnSpPr>
            <a:stCxn id="15039" idx="6"/>
            <a:endCxn id="15044" idx="1"/>
          </p:cNvCxnSpPr>
          <p:nvPr/>
        </p:nvCxnSpPr>
        <p:spPr>
          <a:xfrm flipH="1" rot="10800000">
            <a:off x="6043850" y="42492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46" name="Google Shape;15046;p575"/>
          <p:cNvCxnSpPr>
            <a:stCxn id="15039" idx="6"/>
            <a:endCxn id="15041" idx="1"/>
          </p:cNvCxnSpPr>
          <p:nvPr/>
        </p:nvCxnSpPr>
        <p:spPr>
          <a:xfrm flipH="1" rot="10800000">
            <a:off x="6043850" y="24819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47" name="Google Shape;15047;p575"/>
          <p:cNvCxnSpPr>
            <a:stCxn id="15038" idx="6"/>
            <a:endCxn id="15044" idx="1"/>
          </p:cNvCxnSpPr>
          <p:nvPr/>
        </p:nvCxnSpPr>
        <p:spPr>
          <a:xfrm>
            <a:off x="6043850" y="39763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48" name="Google Shape;15048;p575"/>
          <p:cNvCxnSpPr>
            <a:stCxn id="15036" idx="6"/>
            <a:endCxn id="15041" idx="1"/>
          </p:cNvCxnSpPr>
          <p:nvPr/>
        </p:nvCxnSpPr>
        <p:spPr>
          <a:xfrm flipH="1" rot="10800000">
            <a:off x="6043850" y="24819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49" name="Google Shape;15049;p575"/>
          <p:cNvCxnSpPr>
            <a:stCxn id="15039" idx="6"/>
            <a:endCxn id="15043" idx="1"/>
          </p:cNvCxnSpPr>
          <p:nvPr/>
        </p:nvCxnSpPr>
        <p:spPr>
          <a:xfrm flipH="1" rot="10800000">
            <a:off x="6043850" y="36741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0" name="Google Shape;15050;p575"/>
          <p:cNvCxnSpPr>
            <a:stCxn id="15034" idx="6"/>
            <a:endCxn id="15040" idx="1"/>
          </p:cNvCxnSpPr>
          <p:nvPr/>
        </p:nvCxnSpPr>
        <p:spPr>
          <a:xfrm>
            <a:off x="6043850" y="1608513"/>
            <a:ext cx="1313100" cy="264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1" name="Google Shape;15051;p575"/>
          <p:cNvCxnSpPr>
            <a:stCxn id="15034" idx="6"/>
            <a:endCxn id="15042" idx="1"/>
          </p:cNvCxnSpPr>
          <p:nvPr/>
        </p:nvCxnSpPr>
        <p:spPr>
          <a:xfrm>
            <a:off x="6043850" y="1608513"/>
            <a:ext cx="1313100" cy="145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2" name="Google Shape;15052;p575"/>
          <p:cNvCxnSpPr>
            <a:stCxn id="15035" idx="6"/>
            <a:endCxn id="15041" idx="1"/>
          </p:cNvCxnSpPr>
          <p:nvPr/>
        </p:nvCxnSpPr>
        <p:spPr>
          <a:xfrm>
            <a:off x="6043850" y="21631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3" name="Google Shape;15053;p575"/>
          <p:cNvCxnSpPr>
            <a:stCxn id="15034" idx="6"/>
            <a:endCxn id="15044" idx="1"/>
          </p:cNvCxnSpPr>
          <p:nvPr/>
        </p:nvCxnSpPr>
        <p:spPr>
          <a:xfrm>
            <a:off x="6043850" y="1608513"/>
            <a:ext cx="1313100" cy="26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4" name="Google Shape;15054;p575"/>
          <p:cNvCxnSpPr>
            <a:stCxn id="15037" idx="6"/>
            <a:endCxn id="15042" idx="1"/>
          </p:cNvCxnSpPr>
          <p:nvPr/>
        </p:nvCxnSpPr>
        <p:spPr>
          <a:xfrm flipH="1" rot="10800000">
            <a:off x="6043850" y="30646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5" name="Google Shape;15055;p575"/>
          <p:cNvCxnSpPr>
            <a:stCxn id="15035" idx="6"/>
            <a:endCxn id="15043" idx="1"/>
          </p:cNvCxnSpPr>
          <p:nvPr/>
        </p:nvCxnSpPr>
        <p:spPr>
          <a:xfrm>
            <a:off x="6043850" y="21631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6" name="Google Shape;15056;p575"/>
          <p:cNvCxnSpPr>
            <a:stCxn id="15038" idx="6"/>
            <a:endCxn id="15041" idx="1"/>
          </p:cNvCxnSpPr>
          <p:nvPr/>
        </p:nvCxnSpPr>
        <p:spPr>
          <a:xfrm flipH="1" rot="10800000">
            <a:off x="6043850" y="24820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57" name="Google Shape;15057;p575"/>
          <p:cNvCxnSpPr>
            <a:stCxn id="15037" idx="6"/>
            <a:endCxn id="15040" idx="1"/>
          </p:cNvCxnSpPr>
          <p:nvPr/>
        </p:nvCxnSpPr>
        <p:spPr>
          <a:xfrm flipH="1" rot="10800000">
            <a:off x="6043850" y="18733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058" name="Google Shape;15058;p575"/>
          <p:cNvSpPr txBox="1"/>
          <p:nvPr/>
        </p:nvSpPr>
        <p:spPr>
          <a:xfrm>
            <a:off x="5268675" y="1075447"/>
            <a:ext cx="363900" cy="30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Comfortaa"/>
                <a:ea typeface="Comfortaa"/>
                <a:cs typeface="Comfortaa"/>
                <a:sym typeface="Comfortaa"/>
              </a:rPr>
              <a:t>U</a:t>
            </a:r>
            <a:endParaRPr sz="2400"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15059" name="Google Shape;15059;p575"/>
          <p:cNvSpPr txBox="1"/>
          <p:nvPr/>
        </p:nvSpPr>
        <p:spPr>
          <a:xfrm>
            <a:off x="7767900" y="1083559"/>
            <a:ext cx="363900" cy="30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Comfortaa"/>
                <a:ea typeface="Comfortaa"/>
                <a:cs typeface="Comfortaa"/>
                <a:sym typeface="Comfortaa"/>
              </a:rPr>
              <a:t>V</a:t>
            </a:r>
            <a:endParaRPr sz="2400">
              <a:latin typeface="Comfortaa"/>
              <a:ea typeface="Comfortaa"/>
              <a:cs typeface="Comfortaa"/>
              <a:sym typeface="Comfortaa"/>
            </a:endParaRPr>
          </a:p>
        </p:txBody>
      </p:sp>
    </p:spTree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63" name="Shape 15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64" name="Google Shape;15064;p57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Form bipartite graph to affiliation matrix</a:t>
            </a:r>
            <a:endParaRPr/>
          </a:p>
        </p:txBody>
      </p:sp>
      <p:sp>
        <p:nvSpPr>
          <p:cNvPr id="15065" name="Google Shape;15065;p576"/>
          <p:cNvSpPr/>
          <p:nvPr/>
        </p:nvSpPr>
        <p:spPr>
          <a:xfrm>
            <a:off x="311700" y="11472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66" name="Google Shape;15066;p576"/>
          <p:cNvSpPr/>
          <p:nvPr/>
        </p:nvSpPr>
        <p:spPr>
          <a:xfrm>
            <a:off x="311700" y="17018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67" name="Google Shape;15067;p576"/>
          <p:cNvSpPr/>
          <p:nvPr/>
        </p:nvSpPr>
        <p:spPr>
          <a:xfrm>
            <a:off x="311700" y="23311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68" name="Google Shape;15068;p576"/>
          <p:cNvSpPr/>
          <p:nvPr/>
        </p:nvSpPr>
        <p:spPr>
          <a:xfrm>
            <a:off x="311700" y="29381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69" name="Google Shape;15069;p576"/>
          <p:cNvSpPr/>
          <p:nvPr/>
        </p:nvSpPr>
        <p:spPr>
          <a:xfrm>
            <a:off x="311700" y="35150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70" name="Google Shape;15070;p576"/>
          <p:cNvSpPr/>
          <p:nvPr/>
        </p:nvSpPr>
        <p:spPr>
          <a:xfrm>
            <a:off x="311700" y="41053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71" name="Google Shape;15071;p576"/>
          <p:cNvSpPr/>
          <p:nvPr/>
        </p:nvSpPr>
        <p:spPr>
          <a:xfrm>
            <a:off x="2908150" y="13810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72" name="Google Shape;15072;p576"/>
          <p:cNvSpPr/>
          <p:nvPr/>
        </p:nvSpPr>
        <p:spPr>
          <a:xfrm>
            <a:off x="2908150" y="19897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73" name="Google Shape;15073;p576"/>
          <p:cNvSpPr/>
          <p:nvPr/>
        </p:nvSpPr>
        <p:spPr>
          <a:xfrm>
            <a:off x="2908150" y="25723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74" name="Google Shape;15074;p576"/>
          <p:cNvSpPr/>
          <p:nvPr/>
        </p:nvSpPr>
        <p:spPr>
          <a:xfrm>
            <a:off x="2908150" y="31819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075" name="Google Shape;15075;p576"/>
          <p:cNvSpPr/>
          <p:nvPr/>
        </p:nvSpPr>
        <p:spPr>
          <a:xfrm>
            <a:off x="2908150" y="37570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076" name="Google Shape;15076;p576"/>
          <p:cNvCxnSpPr>
            <a:stCxn id="15070" idx="6"/>
            <a:endCxn id="15075" idx="1"/>
          </p:cNvCxnSpPr>
          <p:nvPr/>
        </p:nvCxnSpPr>
        <p:spPr>
          <a:xfrm flipH="1" rot="10800000">
            <a:off x="1595100" y="39733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77" name="Google Shape;15077;p576"/>
          <p:cNvCxnSpPr>
            <a:stCxn id="15070" idx="6"/>
            <a:endCxn id="15072" idx="1"/>
          </p:cNvCxnSpPr>
          <p:nvPr/>
        </p:nvCxnSpPr>
        <p:spPr>
          <a:xfrm flipH="1" rot="10800000">
            <a:off x="1595100" y="22060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78" name="Google Shape;15078;p576"/>
          <p:cNvCxnSpPr>
            <a:stCxn id="15069" idx="6"/>
            <a:endCxn id="15075" idx="1"/>
          </p:cNvCxnSpPr>
          <p:nvPr/>
        </p:nvCxnSpPr>
        <p:spPr>
          <a:xfrm>
            <a:off x="1595100" y="37004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79" name="Google Shape;15079;p576"/>
          <p:cNvCxnSpPr>
            <a:stCxn id="15067" idx="6"/>
            <a:endCxn id="15072" idx="1"/>
          </p:cNvCxnSpPr>
          <p:nvPr/>
        </p:nvCxnSpPr>
        <p:spPr>
          <a:xfrm flipH="1" rot="10800000">
            <a:off x="1595100" y="22060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0" name="Google Shape;15080;p576"/>
          <p:cNvCxnSpPr>
            <a:stCxn id="15070" idx="6"/>
            <a:endCxn id="15074" idx="1"/>
          </p:cNvCxnSpPr>
          <p:nvPr/>
        </p:nvCxnSpPr>
        <p:spPr>
          <a:xfrm flipH="1" rot="10800000">
            <a:off x="1595100" y="33982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1" name="Google Shape;15081;p576"/>
          <p:cNvCxnSpPr>
            <a:stCxn id="15065" idx="6"/>
            <a:endCxn id="15071" idx="1"/>
          </p:cNvCxnSpPr>
          <p:nvPr/>
        </p:nvCxnSpPr>
        <p:spPr>
          <a:xfrm>
            <a:off x="1595100" y="1332613"/>
            <a:ext cx="1313100" cy="264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2" name="Google Shape;15082;p576"/>
          <p:cNvCxnSpPr>
            <a:stCxn id="15065" idx="6"/>
            <a:endCxn id="15073" idx="1"/>
          </p:cNvCxnSpPr>
          <p:nvPr/>
        </p:nvCxnSpPr>
        <p:spPr>
          <a:xfrm>
            <a:off x="1595100" y="1332613"/>
            <a:ext cx="1313100" cy="145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3" name="Google Shape;15083;p576"/>
          <p:cNvCxnSpPr>
            <a:stCxn id="15066" idx="6"/>
            <a:endCxn id="15072" idx="1"/>
          </p:cNvCxnSpPr>
          <p:nvPr/>
        </p:nvCxnSpPr>
        <p:spPr>
          <a:xfrm>
            <a:off x="1595100" y="18872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4" name="Google Shape;15084;p576"/>
          <p:cNvCxnSpPr>
            <a:stCxn id="15065" idx="6"/>
            <a:endCxn id="15075" idx="1"/>
          </p:cNvCxnSpPr>
          <p:nvPr/>
        </p:nvCxnSpPr>
        <p:spPr>
          <a:xfrm>
            <a:off x="1595100" y="1332613"/>
            <a:ext cx="1313100" cy="26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5" name="Google Shape;15085;p576"/>
          <p:cNvCxnSpPr>
            <a:stCxn id="15068" idx="6"/>
            <a:endCxn id="15073" idx="1"/>
          </p:cNvCxnSpPr>
          <p:nvPr/>
        </p:nvCxnSpPr>
        <p:spPr>
          <a:xfrm flipH="1" rot="10800000">
            <a:off x="1595100" y="27887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6" name="Google Shape;15086;p576"/>
          <p:cNvCxnSpPr>
            <a:stCxn id="15066" idx="6"/>
            <a:endCxn id="15074" idx="1"/>
          </p:cNvCxnSpPr>
          <p:nvPr/>
        </p:nvCxnSpPr>
        <p:spPr>
          <a:xfrm>
            <a:off x="1595100" y="18872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7" name="Google Shape;15087;p576"/>
          <p:cNvCxnSpPr>
            <a:stCxn id="15069" idx="6"/>
            <a:endCxn id="15072" idx="1"/>
          </p:cNvCxnSpPr>
          <p:nvPr/>
        </p:nvCxnSpPr>
        <p:spPr>
          <a:xfrm flipH="1" rot="10800000">
            <a:off x="1595100" y="22061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88" name="Google Shape;15088;p576"/>
          <p:cNvCxnSpPr>
            <a:stCxn id="15068" idx="6"/>
            <a:endCxn id="15071" idx="1"/>
          </p:cNvCxnSpPr>
          <p:nvPr/>
        </p:nvCxnSpPr>
        <p:spPr>
          <a:xfrm flipH="1" rot="10800000">
            <a:off x="1595100" y="15974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5089" name="Google Shape;15089;p576"/>
          <p:cNvGraphicFramePr/>
          <p:nvPr/>
        </p:nvGraphicFramePr>
        <p:xfrm>
          <a:off x="4521375" y="12916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Gabriela</a:t>
                      </a:r>
                      <a:endParaRPr b="1" sz="1000"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15090" name="Google Shape;15090;p576"/>
          <p:cNvSpPr txBox="1"/>
          <p:nvPr/>
        </p:nvSpPr>
        <p:spPr>
          <a:xfrm>
            <a:off x="670850" y="4430025"/>
            <a:ext cx="6075900" cy="56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An affiliation matrix (A) has number of rows equals to the number of people and number of columns equal to the number of groups!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94" name="Shape 15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5" name="Google Shape;15095;p57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Form bipartite graph to affiliation matrix</a:t>
            </a:r>
            <a:endParaRPr/>
          </a:p>
        </p:txBody>
      </p:sp>
      <p:sp>
        <p:nvSpPr>
          <p:cNvPr id="15096" name="Google Shape;15096;p577"/>
          <p:cNvSpPr/>
          <p:nvPr/>
        </p:nvSpPr>
        <p:spPr>
          <a:xfrm>
            <a:off x="311700" y="11472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97" name="Google Shape;15097;p577"/>
          <p:cNvSpPr/>
          <p:nvPr/>
        </p:nvSpPr>
        <p:spPr>
          <a:xfrm>
            <a:off x="311700" y="17018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98" name="Google Shape;15098;p577"/>
          <p:cNvSpPr/>
          <p:nvPr/>
        </p:nvSpPr>
        <p:spPr>
          <a:xfrm>
            <a:off x="311700" y="23311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099" name="Google Shape;15099;p577"/>
          <p:cNvSpPr/>
          <p:nvPr/>
        </p:nvSpPr>
        <p:spPr>
          <a:xfrm>
            <a:off x="311700" y="29381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00" name="Google Shape;15100;p577"/>
          <p:cNvSpPr/>
          <p:nvPr/>
        </p:nvSpPr>
        <p:spPr>
          <a:xfrm>
            <a:off x="311700" y="35150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01" name="Google Shape;15101;p577"/>
          <p:cNvSpPr/>
          <p:nvPr/>
        </p:nvSpPr>
        <p:spPr>
          <a:xfrm>
            <a:off x="311700" y="41053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02" name="Google Shape;15102;p577"/>
          <p:cNvSpPr/>
          <p:nvPr/>
        </p:nvSpPr>
        <p:spPr>
          <a:xfrm>
            <a:off x="2908150" y="13810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03" name="Google Shape;15103;p577"/>
          <p:cNvSpPr/>
          <p:nvPr/>
        </p:nvSpPr>
        <p:spPr>
          <a:xfrm>
            <a:off x="2908150" y="19897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04" name="Google Shape;15104;p577"/>
          <p:cNvSpPr/>
          <p:nvPr/>
        </p:nvSpPr>
        <p:spPr>
          <a:xfrm>
            <a:off x="2908150" y="25723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05" name="Google Shape;15105;p577"/>
          <p:cNvSpPr/>
          <p:nvPr/>
        </p:nvSpPr>
        <p:spPr>
          <a:xfrm>
            <a:off x="2908150" y="31819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06" name="Google Shape;15106;p577"/>
          <p:cNvSpPr/>
          <p:nvPr/>
        </p:nvSpPr>
        <p:spPr>
          <a:xfrm>
            <a:off x="2908150" y="37570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107" name="Google Shape;15107;p577"/>
          <p:cNvCxnSpPr>
            <a:stCxn id="15101" idx="6"/>
            <a:endCxn id="15106" idx="1"/>
          </p:cNvCxnSpPr>
          <p:nvPr/>
        </p:nvCxnSpPr>
        <p:spPr>
          <a:xfrm flipH="1" rot="10800000">
            <a:off x="1595100" y="39733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08" name="Google Shape;15108;p577"/>
          <p:cNvCxnSpPr>
            <a:stCxn id="15101" idx="6"/>
            <a:endCxn id="15103" idx="1"/>
          </p:cNvCxnSpPr>
          <p:nvPr/>
        </p:nvCxnSpPr>
        <p:spPr>
          <a:xfrm flipH="1" rot="10800000">
            <a:off x="1595100" y="22060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09" name="Google Shape;15109;p577"/>
          <p:cNvCxnSpPr>
            <a:stCxn id="15100" idx="6"/>
            <a:endCxn id="15106" idx="1"/>
          </p:cNvCxnSpPr>
          <p:nvPr/>
        </p:nvCxnSpPr>
        <p:spPr>
          <a:xfrm>
            <a:off x="1595100" y="37004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0" name="Google Shape;15110;p577"/>
          <p:cNvCxnSpPr>
            <a:stCxn id="15098" idx="6"/>
            <a:endCxn id="15103" idx="1"/>
          </p:cNvCxnSpPr>
          <p:nvPr/>
        </p:nvCxnSpPr>
        <p:spPr>
          <a:xfrm flipH="1" rot="10800000">
            <a:off x="1595100" y="22060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1" name="Google Shape;15111;p577"/>
          <p:cNvCxnSpPr>
            <a:stCxn id="15101" idx="6"/>
            <a:endCxn id="15105" idx="1"/>
          </p:cNvCxnSpPr>
          <p:nvPr/>
        </p:nvCxnSpPr>
        <p:spPr>
          <a:xfrm flipH="1" rot="10800000">
            <a:off x="1595100" y="33982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2" name="Google Shape;15112;p577"/>
          <p:cNvCxnSpPr>
            <a:stCxn id="15096" idx="6"/>
            <a:endCxn id="15102" idx="1"/>
          </p:cNvCxnSpPr>
          <p:nvPr/>
        </p:nvCxnSpPr>
        <p:spPr>
          <a:xfrm>
            <a:off x="1595100" y="1332613"/>
            <a:ext cx="1313100" cy="264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3" name="Google Shape;15113;p577"/>
          <p:cNvCxnSpPr>
            <a:stCxn id="15096" idx="6"/>
            <a:endCxn id="15104" idx="1"/>
          </p:cNvCxnSpPr>
          <p:nvPr/>
        </p:nvCxnSpPr>
        <p:spPr>
          <a:xfrm>
            <a:off x="1595100" y="1332613"/>
            <a:ext cx="1313100" cy="145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4" name="Google Shape;15114;p577"/>
          <p:cNvCxnSpPr>
            <a:stCxn id="15097" idx="6"/>
            <a:endCxn id="15103" idx="1"/>
          </p:cNvCxnSpPr>
          <p:nvPr/>
        </p:nvCxnSpPr>
        <p:spPr>
          <a:xfrm>
            <a:off x="1595100" y="18872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5" name="Google Shape;15115;p577"/>
          <p:cNvCxnSpPr>
            <a:stCxn id="15096" idx="6"/>
            <a:endCxn id="15106" idx="1"/>
          </p:cNvCxnSpPr>
          <p:nvPr/>
        </p:nvCxnSpPr>
        <p:spPr>
          <a:xfrm>
            <a:off x="1595100" y="1332613"/>
            <a:ext cx="1313100" cy="26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6" name="Google Shape;15116;p577"/>
          <p:cNvCxnSpPr>
            <a:stCxn id="15099" idx="6"/>
            <a:endCxn id="15104" idx="1"/>
          </p:cNvCxnSpPr>
          <p:nvPr/>
        </p:nvCxnSpPr>
        <p:spPr>
          <a:xfrm flipH="1" rot="10800000">
            <a:off x="1595100" y="27887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7" name="Google Shape;15117;p577"/>
          <p:cNvCxnSpPr>
            <a:stCxn id="15097" idx="6"/>
            <a:endCxn id="15105" idx="1"/>
          </p:cNvCxnSpPr>
          <p:nvPr/>
        </p:nvCxnSpPr>
        <p:spPr>
          <a:xfrm>
            <a:off x="1595100" y="18872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8" name="Google Shape;15118;p577"/>
          <p:cNvCxnSpPr>
            <a:stCxn id="15100" idx="6"/>
            <a:endCxn id="15103" idx="1"/>
          </p:cNvCxnSpPr>
          <p:nvPr/>
        </p:nvCxnSpPr>
        <p:spPr>
          <a:xfrm flipH="1" rot="10800000">
            <a:off x="1595100" y="22061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9" name="Google Shape;15119;p577"/>
          <p:cNvCxnSpPr>
            <a:stCxn id="15099" idx="6"/>
            <a:endCxn id="15102" idx="1"/>
          </p:cNvCxnSpPr>
          <p:nvPr/>
        </p:nvCxnSpPr>
        <p:spPr>
          <a:xfrm flipH="1" rot="10800000">
            <a:off x="1595100" y="15974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5120" name="Google Shape;15120;p577"/>
          <p:cNvGraphicFramePr/>
          <p:nvPr/>
        </p:nvGraphicFramePr>
        <p:xfrm>
          <a:off x="4521375" y="12916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Gabriela</a:t>
                      </a:r>
                      <a:endParaRPr b="1" sz="1000"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15121" name="Google Shape;15121;p577"/>
          <p:cNvSpPr txBox="1"/>
          <p:nvPr/>
        </p:nvSpPr>
        <p:spPr>
          <a:xfrm>
            <a:off x="670850" y="4430025"/>
            <a:ext cx="8083500" cy="56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Because the number of people does not have to be the same as the number of groups affiliation matrices are usually rectangular not square like adjacency matrices 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25" name="Shape 15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6" name="Google Shape;15126;p57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Form bipartite graph to affiliation matrix</a:t>
            </a:r>
            <a:endParaRPr/>
          </a:p>
        </p:txBody>
      </p:sp>
      <p:sp>
        <p:nvSpPr>
          <p:cNvPr id="15127" name="Google Shape;15127;p578"/>
          <p:cNvSpPr/>
          <p:nvPr/>
        </p:nvSpPr>
        <p:spPr>
          <a:xfrm>
            <a:off x="311700" y="11472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28" name="Google Shape;15128;p578"/>
          <p:cNvSpPr/>
          <p:nvPr/>
        </p:nvSpPr>
        <p:spPr>
          <a:xfrm>
            <a:off x="311700" y="17018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29" name="Google Shape;15129;p578"/>
          <p:cNvSpPr/>
          <p:nvPr/>
        </p:nvSpPr>
        <p:spPr>
          <a:xfrm>
            <a:off x="311700" y="23311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30" name="Google Shape;15130;p578"/>
          <p:cNvSpPr/>
          <p:nvPr/>
        </p:nvSpPr>
        <p:spPr>
          <a:xfrm>
            <a:off x="311700" y="29381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31" name="Google Shape;15131;p578"/>
          <p:cNvSpPr/>
          <p:nvPr/>
        </p:nvSpPr>
        <p:spPr>
          <a:xfrm>
            <a:off x="311700" y="35150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32" name="Google Shape;15132;p578"/>
          <p:cNvSpPr/>
          <p:nvPr/>
        </p:nvSpPr>
        <p:spPr>
          <a:xfrm>
            <a:off x="311700" y="41053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33" name="Google Shape;15133;p578"/>
          <p:cNvSpPr/>
          <p:nvPr/>
        </p:nvSpPr>
        <p:spPr>
          <a:xfrm>
            <a:off x="2908150" y="13810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34" name="Google Shape;15134;p578"/>
          <p:cNvSpPr/>
          <p:nvPr/>
        </p:nvSpPr>
        <p:spPr>
          <a:xfrm>
            <a:off x="2908150" y="19897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35" name="Google Shape;15135;p578"/>
          <p:cNvSpPr/>
          <p:nvPr/>
        </p:nvSpPr>
        <p:spPr>
          <a:xfrm>
            <a:off x="2908150" y="25723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36" name="Google Shape;15136;p578"/>
          <p:cNvSpPr/>
          <p:nvPr/>
        </p:nvSpPr>
        <p:spPr>
          <a:xfrm>
            <a:off x="2908150" y="31819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37" name="Google Shape;15137;p578"/>
          <p:cNvSpPr/>
          <p:nvPr/>
        </p:nvSpPr>
        <p:spPr>
          <a:xfrm>
            <a:off x="2908150" y="37570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138" name="Google Shape;15138;p578"/>
          <p:cNvCxnSpPr>
            <a:stCxn id="15132" idx="6"/>
            <a:endCxn id="15137" idx="1"/>
          </p:cNvCxnSpPr>
          <p:nvPr/>
        </p:nvCxnSpPr>
        <p:spPr>
          <a:xfrm flipH="1" rot="10800000">
            <a:off x="1595100" y="39733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39" name="Google Shape;15139;p578"/>
          <p:cNvCxnSpPr>
            <a:stCxn id="15132" idx="6"/>
            <a:endCxn id="15134" idx="1"/>
          </p:cNvCxnSpPr>
          <p:nvPr/>
        </p:nvCxnSpPr>
        <p:spPr>
          <a:xfrm flipH="1" rot="10800000">
            <a:off x="1595100" y="22060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0" name="Google Shape;15140;p578"/>
          <p:cNvCxnSpPr>
            <a:stCxn id="15131" idx="6"/>
            <a:endCxn id="15137" idx="1"/>
          </p:cNvCxnSpPr>
          <p:nvPr/>
        </p:nvCxnSpPr>
        <p:spPr>
          <a:xfrm>
            <a:off x="1595100" y="37004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1" name="Google Shape;15141;p578"/>
          <p:cNvCxnSpPr>
            <a:stCxn id="15129" idx="6"/>
            <a:endCxn id="15134" idx="1"/>
          </p:cNvCxnSpPr>
          <p:nvPr/>
        </p:nvCxnSpPr>
        <p:spPr>
          <a:xfrm flipH="1" rot="10800000">
            <a:off x="1595100" y="22060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2" name="Google Shape;15142;p578"/>
          <p:cNvCxnSpPr>
            <a:stCxn id="15132" idx="6"/>
            <a:endCxn id="15136" idx="1"/>
          </p:cNvCxnSpPr>
          <p:nvPr/>
        </p:nvCxnSpPr>
        <p:spPr>
          <a:xfrm flipH="1" rot="10800000">
            <a:off x="1595100" y="33982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3" name="Google Shape;15143;p578"/>
          <p:cNvCxnSpPr>
            <a:stCxn id="15127" idx="6"/>
            <a:endCxn id="15133" idx="1"/>
          </p:cNvCxnSpPr>
          <p:nvPr/>
        </p:nvCxnSpPr>
        <p:spPr>
          <a:xfrm>
            <a:off x="1595100" y="1332613"/>
            <a:ext cx="1313100" cy="264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4" name="Google Shape;15144;p578"/>
          <p:cNvCxnSpPr>
            <a:stCxn id="15127" idx="6"/>
            <a:endCxn id="15135" idx="1"/>
          </p:cNvCxnSpPr>
          <p:nvPr/>
        </p:nvCxnSpPr>
        <p:spPr>
          <a:xfrm>
            <a:off x="1595100" y="1332613"/>
            <a:ext cx="1313100" cy="1455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5" name="Google Shape;15145;p578"/>
          <p:cNvCxnSpPr>
            <a:stCxn id="15128" idx="6"/>
            <a:endCxn id="15134" idx="1"/>
          </p:cNvCxnSpPr>
          <p:nvPr/>
        </p:nvCxnSpPr>
        <p:spPr>
          <a:xfrm>
            <a:off x="1595100" y="18872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6" name="Google Shape;15146;p578"/>
          <p:cNvCxnSpPr>
            <a:stCxn id="15127" idx="6"/>
            <a:endCxn id="15137" idx="1"/>
          </p:cNvCxnSpPr>
          <p:nvPr/>
        </p:nvCxnSpPr>
        <p:spPr>
          <a:xfrm>
            <a:off x="1595100" y="1332613"/>
            <a:ext cx="1313100" cy="2640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7" name="Google Shape;15147;p578"/>
          <p:cNvCxnSpPr>
            <a:stCxn id="15130" idx="6"/>
            <a:endCxn id="15135" idx="1"/>
          </p:cNvCxnSpPr>
          <p:nvPr/>
        </p:nvCxnSpPr>
        <p:spPr>
          <a:xfrm flipH="1" rot="10800000">
            <a:off x="1595100" y="27887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8" name="Google Shape;15148;p578"/>
          <p:cNvCxnSpPr>
            <a:stCxn id="15128" idx="6"/>
            <a:endCxn id="15136" idx="1"/>
          </p:cNvCxnSpPr>
          <p:nvPr/>
        </p:nvCxnSpPr>
        <p:spPr>
          <a:xfrm>
            <a:off x="1595100" y="18872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49" name="Google Shape;15149;p578"/>
          <p:cNvCxnSpPr>
            <a:stCxn id="15131" idx="6"/>
            <a:endCxn id="15134" idx="1"/>
          </p:cNvCxnSpPr>
          <p:nvPr/>
        </p:nvCxnSpPr>
        <p:spPr>
          <a:xfrm flipH="1" rot="10800000">
            <a:off x="1595100" y="22061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50" name="Google Shape;15150;p578"/>
          <p:cNvCxnSpPr>
            <a:stCxn id="15130" idx="6"/>
            <a:endCxn id="15133" idx="1"/>
          </p:cNvCxnSpPr>
          <p:nvPr/>
        </p:nvCxnSpPr>
        <p:spPr>
          <a:xfrm flipH="1" rot="10800000">
            <a:off x="1595100" y="15974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5151" name="Google Shape;15151;p578"/>
          <p:cNvGraphicFramePr/>
          <p:nvPr/>
        </p:nvGraphicFramePr>
        <p:xfrm>
          <a:off x="4521375" y="12916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rgbClr val="FF0000"/>
                          </a:solidFill>
                        </a:rPr>
                        <a:t>Gabriela</a:t>
                      </a:r>
                      <a:endParaRPr b="1" sz="1000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15152" name="Google Shape;15152;p578"/>
          <p:cNvSpPr txBox="1"/>
          <p:nvPr/>
        </p:nvSpPr>
        <p:spPr>
          <a:xfrm>
            <a:off x="670850" y="4430025"/>
            <a:ext cx="7898400" cy="56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We fill out the affiliation matrix just like we did the adjacency matrix: Cell A</a:t>
            </a:r>
            <a:r>
              <a:rPr b="1" baseline="-25000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ij</a:t>
            </a: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 = 1 if person i is affiliated with group j. Otherwise A</a:t>
            </a:r>
            <a:r>
              <a:rPr b="1" baseline="-25000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ij</a:t>
            </a: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 = 0.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56" name="Shape 15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7" name="Google Shape;15157;p57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Form bipartite graph to affiliation matrix</a:t>
            </a:r>
            <a:endParaRPr/>
          </a:p>
        </p:txBody>
      </p:sp>
      <p:sp>
        <p:nvSpPr>
          <p:cNvPr id="15158" name="Google Shape;15158;p579"/>
          <p:cNvSpPr/>
          <p:nvPr/>
        </p:nvSpPr>
        <p:spPr>
          <a:xfrm>
            <a:off x="311700" y="11472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59" name="Google Shape;15159;p579"/>
          <p:cNvSpPr/>
          <p:nvPr/>
        </p:nvSpPr>
        <p:spPr>
          <a:xfrm>
            <a:off x="311700" y="17018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60" name="Google Shape;15160;p579"/>
          <p:cNvSpPr/>
          <p:nvPr/>
        </p:nvSpPr>
        <p:spPr>
          <a:xfrm>
            <a:off x="311700" y="23311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61" name="Google Shape;15161;p579"/>
          <p:cNvSpPr/>
          <p:nvPr/>
        </p:nvSpPr>
        <p:spPr>
          <a:xfrm>
            <a:off x="311700" y="29381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62" name="Google Shape;15162;p579"/>
          <p:cNvSpPr/>
          <p:nvPr/>
        </p:nvSpPr>
        <p:spPr>
          <a:xfrm>
            <a:off x="311700" y="35150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63" name="Google Shape;15163;p579"/>
          <p:cNvSpPr/>
          <p:nvPr/>
        </p:nvSpPr>
        <p:spPr>
          <a:xfrm>
            <a:off x="311700" y="41053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64" name="Google Shape;15164;p579"/>
          <p:cNvSpPr/>
          <p:nvPr/>
        </p:nvSpPr>
        <p:spPr>
          <a:xfrm>
            <a:off x="2908150" y="13810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65" name="Google Shape;15165;p579"/>
          <p:cNvSpPr/>
          <p:nvPr/>
        </p:nvSpPr>
        <p:spPr>
          <a:xfrm>
            <a:off x="2908150" y="19897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66" name="Google Shape;15166;p579"/>
          <p:cNvSpPr/>
          <p:nvPr/>
        </p:nvSpPr>
        <p:spPr>
          <a:xfrm>
            <a:off x="2908150" y="25723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67" name="Google Shape;15167;p579"/>
          <p:cNvSpPr/>
          <p:nvPr/>
        </p:nvSpPr>
        <p:spPr>
          <a:xfrm>
            <a:off x="2908150" y="31819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68" name="Google Shape;15168;p579"/>
          <p:cNvSpPr/>
          <p:nvPr/>
        </p:nvSpPr>
        <p:spPr>
          <a:xfrm>
            <a:off x="2908150" y="37570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169" name="Google Shape;15169;p579"/>
          <p:cNvCxnSpPr>
            <a:stCxn id="15163" idx="6"/>
            <a:endCxn id="15168" idx="1"/>
          </p:cNvCxnSpPr>
          <p:nvPr/>
        </p:nvCxnSpPr>
        <p:spPr>
          <a:xfrm flipH="1" rot="10800000">
            <a:off x="1595100" y="39733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0" name="Google Shape;15170;p579"/>
          <p:cNvCxnSpPr>
            <a:stCxn id="15163" idx="6"/>
            <a:endCxn id="15165" idx="1"/>
          </p:cNvCxnSpPr>
          <p:nvPr/>
        </p:nvCxnSpPr>
        <p:spPr>
          <a:xfrm flipH="1" rot="10800000">
            <a:off x="1595100" y="22060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1" name="Google Shape;15171;p579"/>
          <p:cNvCxnSpPr>
            <a:stCxn id="15162" idx="6"/>
            <a:endCxn id="15168" idx="1"/>
          </p:cNvCxnSpPr>
          <p:nvPr/>
        </p:nvCxnSpPr>
        <p:spPr>
          <a:xfrm>
            <a:off x="1595100" y="37004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2" name="Google Shape;15172;p579"/>
          <p:cNvCxnSpPr>
            <a:stCxn id="15160" idx="6"/>
            <a:endCxn id="15165" idx="1"/>
          </p:cNvCxnSpPr>
          <p:nvPr/>
        </p:nvCxnSpPr>
        <p:spPr>
          <a:xfrm flipH="1" rot="10800000">
            <a:off x="1595100" y="22060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3" name="Google Shape;15173;p579"/>
          <p:cNvCxnSpPr>
            <a:stCxn id="15163" idx="6"/>
            <a:endCxn id="15167" idx="1"/>
          </p:cNvCxnSpPr>
          <p:nvPr/>
        </p:nvCxnSpPr>
        <p:spPr>
          <a:xfrm flipH="1" rot="10800000">
            <a:off x="1595100" y="33982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4" name="Google Shape;15174;p579"/>
          <p:cNvCxnSpPr>
            <a:stCxn id="15158" idx="6"/>
            <a:endCxn id="15164" idx="1"/>
          </p:cNvCxnSpPr>
          <p:nvPr/>
        </p:nvCxnSpPr>
        <p:spPr>
          <a:xfrm>
            <a:off x="1595100" y="1332613"/>
            <a:ext cx="1313100" cy="264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5" name="Google Shape;15175;p579"/>
          <p:cNvCxnSpPr>
            <a:stCxn id="15158" idx="6"/>
            <a:endCxn id="15166" idx="1"/>
          </p:cNvCxnSpPr>
          <p:nvPr/>
        </p:nvCxnSpPr>
        <p:spPr>
          <a:xfrm>
            <a:off x="1595100" y="1332613"/>
            <a:ext cx="1313100" cy="1455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6" name="Google Shape;15176;p579"/>
          <p:cNvCxnSpPr>
            <a:stCxn id="15159" idx="6"/>
            <a:endCxn id="15165" idx="1"/>
          </p:cNvCxnSpPr>
          <p:nvPr/>
        </p:nvCxnSpPr>
        <p:spPr>
          <a:xfrm>
            <a:off x="1595100" y="18872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7" name="Google Shape;15177;p579"/>
          <p:cNvCxnSpPr>
            <a:stCxn id="15158" idx="6"/>
            <a:endCxn id="15168" idx="1"/>
          </p:cNvCxnSpPr>
          <p:nvPr/>
        </p:nvCxnSpPr>
        <p:spPr>
          <a:xfrm>
            <a:off x="1595100" y="1332613"/>
            <a:ext cx="1313100" cy="26409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8" name="Google Shape;15178;p579"/>
          <p:cNvCxnSpPr>
            <a:stCxn id="15161" idx="6"/>
            <a:endCxn id="15166" idx="1"/>
          </p:cNvCxnSpPr>
          <p:nvPr/>
        </p:nvCxnSpPr>
        <p:spPr>
          <a:xfrm flipH="1" rot="10800000">
            <a:off x="1595100" y="27887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79" name="Google Shape;15179;p579"/>
          <p:cNvCxnSpPr>
            <a:stCxn id="15159" idx="6"/>
            <a:endCxn id="15167" idx="1"/>
          </p:cNvCxnSpPr>
          <p:nvPr/>
        </p:nvCxnSpPr>
        <p:spPr>
          <a:xfrm>
            <a:off x="1595100" y="18872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80" name="Google Shape;15180;p579"/>
          <p:cNvCxnSpPr>
            <a:stCxn id="15162" idx="6"/>
            <a:endCxn id="15165" idx="1"/>
          </p:cNvCxnSpPr>
          <p:nvPr/>
        </p:nvCxnSpPr>
        <p:spPr>
          <a:xfrm flipH="1" rot="10800000">
            <a:off x="1595100" y="22061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81" name="Google Shape;15181;p579"/>
          <p:cNvCxnSpPr>
            <a:stCxn id="15161" idx="6"/>
            <a:endCxn id="15164" idx="1"/>
          </p:cNvCxnSpPr>
          <p:nvPr/>
        </p:nvCxnSpPr>
        <p:spPr>
          <a:xfrm flipH="1" rot="10800000">
            <a:off x="1595100" y="15974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5182" name="Google Shape;15182;p579"/>
          <p:cNvGraphicFramePr/>
          <p:nvPr/>
        </p:nvGraphicFramePr>
        <p:xfrm>
          <a:off x="4521375" y="12916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rgbClr val="FF0000"/>
                          </a:solidFill>
                        </a:rPr>
                        <a:t>Gabriela</a:t>
                      </a:r>
                      <a:endParaRPr b="1" sz="1000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T cap="flat" cmpd="sng" w="19050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15183" name="Google Shape;15183;p579"/>
          <p:cNvSpPr txBox="1"/>
          <p:nvPr/>
        </p:nvSpPr>
        <p:spPr>
          <a:xfrm>
            <a:off x="670850" y="4430025"/>
            <a:ext cx="7898400" cy="56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So Gabriela gets a one in the columns corresponding to the Super Smash Bros., Nerdfighters, and the Fashion Club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87" name="Shape 15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8" name="Google Shape;15188;p58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Form bipartite graph to affiliation matrix</a:t>
            </a:r>
            <a:endParaRPr/>
          </a:p>
        </p:txBody>
      </p:sp>
      <p:graphicFrame>
        <p:nvGraphicFramePr>
          <p:cNvPr id="15189" name="Google Shape;15189;p580"/>
          <p:cNvGraphicFramePr/>
          <p:nvPr/>
        </p:nvGraphicFramePr>
        <p:xfrm>
          <a:off x="4521375" y="12916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Gabriela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15190" name="Google Shape;15190;p580"/>
          <p:cNvSpPr/>
          <p:nvPr/>
        </p:nvSpPr>
        <p:spPr>
          <a:xfrm>
            <a:off x="311700" y="11472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91" name="Google Shape;15191;p580"/>
          <p:cNvSpPr/>
          <p:nvPr/>
        </p:nvSpPr>
        <p:spPr>
          <a:xfrm>
            <a:off x="311700" y="17018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92" name="Google Shape;15192;p580"/>
          <p:cNvSpPr/>
          <p:nvPr/>
        </p:nvSpPr>
        <p:spPr>
          <a:xfrm>
            <a:off x="311700" y="23311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93" name="Google Shape;15193;p580"/>
          <p:cNvSpPr/>
          <p:nvPr/>
        </p:nvSpPr>
        <p:spPr>
          <a:xfrm>
            <a:off x="311700" y="29381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94" name="Google Shape;15194;p580"/>
          <p:cNvSpPr/>
          <p:nvPr/>
        </p:nvSpPr>
        <p:spPr>
          <a:xfrm>
            <a:off x="311700" y="35150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95" name="Google Shape;15195;p580"/>
          <p:cNvSpPr/>
          <p:nvPr/>
        </p:nvSpPr>
        <p:spPr>
          <a:xfrm>
            <a:off x="311700" y="41053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196" name="Google Shape;15196;p580"/>
          <p:cNvSpPr/>
          <p:nvPr/>
        </p:nvSpPr>
        <p:spPr>
          <a:xfrm>
            <a:off x="2908150" y="13810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97" name="Google Shape;15197;p580"/>
          <p:cNvSpPr/>
          <p:nvPr/>
        </p:nvSpPr>
        <p:spPr>
          <a:xfrm>
            <a:off x="2908150" y="19897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98" name="Google Shape;15198;p580"/>
          <p:cNvSpPr/>
          <p:nvPr/>
        </p:nvSpPr>
        <p:spPr>
          <a:xfrm>
            <a:off x="2908150" y="25723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199" name="Google Shape;15199;p580"/>
          <p:cNvSpPr/>
          <p:nvPr/>
        </p:nvSpPr>
        <p:spPr>
          <a:xfrm>
            <a:off x="2908150" y="31819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00" name="Google Shape;15200;p580"/>
          <p:cNvSpPr/>
          <p:nvPr/>
        </p:nvSpPr>
        <p:spPr>
          <a:xfrm>
            <a:off x="2908150" y="37570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201" name="Google Shape;15201;p580"/>
          <p:cNvCxnSpPr>
            <a:stCxn id="15195" idx="6"/>
            <a:endCxn id="15200" idx="1"/>
          </p:cNvCxnSpPr>
          <p:nvPr/>
        </p:nvCxnSpPr>
        <p:spPr>
          <a:xfrm flipH="1" rot="10800000">
            <a:off x="1595100" y="39733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02" name="Google Shape;15202;p580"/>
          <p:cNvCxnSpPr>
            <a:stCxn id="15195" idx="6"/>
            <a:endCxn id="15197" idx="1"/>
          </p:cNvCxnSpPr>
          <p:nvPr/>
        </p:nvCxnSpPr>
        <p:spPr>
          <a:xfrm flipH="1" rot="10800000">
            <a:off x="1595100" y="22060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03" name="Google Shape;15203;p580"/>
          <p:cNvCxnSpPr>
            <a:stCxn id="15194" idx="6"/>
            <a:endCxn id="15200" idx="1"/>
          </p:cNvCxnSpPr>
          <p:nvPr/>
        </p:nvCxnSpPr>
        <p:spPr>
          <a:xfrm>
            <a:off x="1595100" y="37004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04" name="Google Shape;15204;p580"/>
          <p:cNvCxnSpPr>
            <a:stCxn id="15192" idx="6"/>
            <a:endCxn id="15197" idx="1"/>
          </p:cNvCxnSpPr>
          <p:nvPr/>
        </p:nvCxnSpPr>
        <p:spPr>
          <a:xfrm flipH="1" rot="10800000">
            <a:off x="1595100" y="22060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05" name="Google Shape;15205;p580"/>
          <p:cNvCxnSpPr>
            <a:stCxn id="15195" idx="6"/>
            <a:endCxn id="15199" idx="1"/>
          </p:cNvCxnSpPr>
          <p:nvPr/>
        </p:nvCxnSpPr>
        <p:spPr>
          <a:xfrm flipH="1" rot="10800000">
            <a:off x="1595100" y="33982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06" name="Google Shape;15206;p580"/>
          <p:cNvCxnSpPr>
            <a:stCxn id="15190" idx="6"/>
            <a:endCxn id="15196" idx="1"/>
          </p:cNvCxnSpPr>
          <p:nvPr/>
        </p:nvCxnSpPr>
        <p:spPr>
          <a:xfrm>
            <a:off x="1595100" y="1332613"/>
            <a:ext cx="1313100" cy="264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07" name="Google Shape;15207;p580"/>
          <p:cNvCxnSpPr>
            <a:stCxn id="15190" idx="6"/>
            <a:endCxn id="15198" idx="1"/>
          </p:cNvCxnSpPr>
          <p:nvPr/>
        </p:nvCxnSpPr>
        <p:spPr>
          <a:xfrm>
            <a:off x="1595100" y="1332613"/>
            <a:ext cx="1313100" cy="145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08" name="Google Shape;15208;p580"/>
          <p:cNvCxnSpPr>
            <a:stCxn id="15191" idx="6"/>
            <a:endCxn id="15197" idx="1"/>
          </p:cNvCxnSpPr>
          <p:nvPr/>
        </p:nvCxnSpPr>
        <p:spPr>
          <a:xfrm>
            <a:off x="1595100" y="18872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09" name="Google Shape;15209;p580"/>
          <p:cNvCxnSpPr>
            <a:stCxn id="15190" idx="6"/>
            <a:endCxn id="15200" idx="1"/>
          </p:cNvCxnSpPr>
          <p:nvPr/>
        </p:nvCxnSpPr>
        <p:spPr>
          <a:xfrm>
            <a:off x="1595100" y="1332613"/>
            <a:ext cx="1313100" cy="26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10" name="Google Shape;15210;p580"/>
          <p:cNvCxnSpPr>
            <a:stCxn id="15193" idx="6"/>
            <a:endCxn id="15198" idx="1"/>
          </p:cNvCxnSpPr>
          <p:nvPr/>
        </p:nvCxnSpPr>
        <p:spPr>
          <a:xfrm flipH="1" rot="10800000">
            <a:off x="1595100" y="27887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11" name="Google Shape;15211;p580"/>
          <p:cNvCxnSpPr>
            <a:stCxn id="15191" idx="6"/>
            <a:endCxn id="15199" idx="1"/>
          </p:cNvCxnSpPr>
          <p:nvPr/>
        </p:nvCxnSpPr>
        <p:spPr>
          <a:xfrm>
            <a:off x="1595100" y="18872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12" name="Google Shape;15212;p580"/>
          <p:cNvCxnSpPr>
            <a:stCxn id="15194" idx="6"/>
            <a:endCxn id="15197" idx="1"/>
          </p:cNvCxnSpPr>
          <p:nvPr/>
        </p:nvCxnSpPr>
        <p:spPr>
          <a:xfrm flipH="1" rot="10800000">
            <a:off x="1595100" y="22061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13" name="Google Shape;15213;p580"/>
          <p:cNvCxnSpPr>
            <a:stCxn id="15193" idx="6"/>
            <a:endCxn id="15196" idx="1"/>
          </p:cNvCxnSpPr>
          <p:nvPr/>
        </p:nvCxnSpPr>
        <p:spPr>
          <a:xfrm flipH="1" rot="10800000">
            <a:off x="1595100" y="15974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214" name="Google Shape;15214;p580"/>
          <p:cNvSpPr txBox="1"/>
          <p:nvPr/>
        </p:nvSpPr>
        <p:spPr>
          <a:xfrm>
            <a:off x="670850" y="4563225"/>
            <a:ext cx="7898400" cy="43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This is the full affiliation matrix corresponding to the bipartite graph on the right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18" name="Shape 15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9" name="Google Shape;15219;p58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centrality in affiliation networks</a:t>
            </a:r>
            <a:endParaRPr/>
          </a:p>
        </p:txBody>
      </p:sp>
      <p:graphicFrame>
        <p:nvGraphicFramePr>
          <p:cNvPr id="15220" name="Google Shape;15220;p581"/>
          <p:cNvGraphicFramePr/>
          <p:nvPr/>
        </p:nvGraphicFramePr>
        <p:xfrm>
          <a:off x="4521375" y="12916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Gabriela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221" name="Google Shape;15221;p581"/>
          <p:cNvSpPr/>
          <p:nvPr/>
        </p:nvSpPr>
        <p:spPr>
          <a:xfrm>
            <a:off x="311700" y="11472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22" name="Google Shape;15222;p581"/>
          <p:cNvSpPr/>
          <p:nvPr/>
        </p:nvSpPr>
        <p:spPr>
          <a:xfrm>
            <a:off x="311700" y="17018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23" name="Google Shape;15223;p581"/>
          <p:cNvSpPr/>
          <p:nvPr/>
        </p:nvSpPr>
        <p:spPr>
          <a:xfrm>
            <a:off x="311700" y="23311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24" name="Google Shape;15224;p581"/>
          <p:cNvSpPr/>
          <p:nvPr/>
        </p:nvSpPr>
        <p:spPr>
          <a:xfrm>
            <a:off x="311700" y="29381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25" name="Google Shape;15225;p581"/>
          <p:cNvSpPr/>
          <p:nvPr/>
        </p:nvSpPr>
        <p:spPr>
          <a:xfrm>
            <a:off x="311700" y="35150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26" name="Google Shape;15226;p581"/>
          <p:cNvSpPr/>
          <p:nvPr/>
        </p:nvSpPr>
        <p:spPr>
          <a:xfrm>
            <a:off x="311700" y="41053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27" name="Google Shape;15227;p581"/>
          <p:cNvSpPr/>
          <p:nvPr/>
        </p:nvSpPr>
        <p:spPr>
          <a:xfrm>
            <a:off x="2908150" y="13810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28" name="Google Shape;15228;p581"/>
          <p:cNvSpPr/>
          <p:nvPr/>
        </p:nvSpPr>
        <p:spPr>
          <a:xfrm>
            <a:off x="2908150" y="19897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29" name="Google Shape;15229;p581"/>
          <p:cNvSpPr/>
          <p:nvPr/>
        </p:nvSpPr>
        <p:spPr>
          <a:xfrm>
            <a:off x="2908150" y="25723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30" name="Google Shape;15230;p581"/>
          <p:cNvSpPr/>
          <p:nvPr/>
        </p:nvSpPr>
        <p:spPr>
          <a:xfrm>
            <a:off x="2908150" y="31819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31" name="Google Shape;15231;p581"/>
          <p:cNvSpPr/>
          <p:nvPr/>
        </p:nvSpPr>
        <p:spPr>
          <a:xfrm>
            <a:off x="2908150" y="37570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232" name="Google Shape;15232;p581"/>
          <p:cNvCxnSpPr>
            <a:stCxn id="15226" idx="6"/>
            <a:endCxn id="15231" idx="1"/>
          </p:cNvCxnSpPr>
          <p:nvPr/>
        </p:nvCxnSpPr>
        <p:spPr>
          <a:xfrm flipH="1" rot="10800000">
            <a:off x="1595100" y="39733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33" name="Google Shape;15233;p581"/>
          <p:cNvCxnSpPr>
            <a:stCxn id="15226" idx="6"/>
            <a:endCxn id="15228" idx="1"/>
          </p:cNvCxnSpPr>
          <p:nvPr/>
        </p:nvCxnSpPr>
        <p:spPr>
          <a:xfrm flipH="1" rot="10800000">
            <a:off x="1595100" y="22060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34" name="Google Shape;15234;p581"/>
          <p:cNvCxnSpPr>
            <a:stCxn id="15225" idx="6"/>
            <a:endCxn id="15231" idx="1"/>
          </p:cNvCxnSpPr>
          <p:nvPr/>
        </p:nvCxnSpPr>
        <p:spPr>
          <a:xfrm>
            <a:off x="1595100" y="37004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35" name="Google Shape;15235;p581"/>
          <p:cNvCxnSpPr>
            <a:stCxn id="15223" idx="6"/>
            <a:endCxn id="15228" idx="1"/>
          </p:cNvCxnSpPr>
          <p:nvPr/>
        </p:nvCxnSpPr>
        <p:spPr>
          <a:xfrm flipH="1" rot="10800000">
            <a:off x="1595100" y="22060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36" name="Google Shape;15236;p581"/>
          <p:cNvCxnSpPr>
            <a:stCxn id="15226" idx="6"/>
            <a:endCxn id="15230" idx="1"/>
          </p:cNvCxnSpPr>
          <p:nvPr/>
        </p:nvCxnSpPr>
        <p:spPr>
          <a:xfrm flipH="1" rot="10800000">
            <a:off x="1595100" y="33982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37" name="Google Shape;15237;p581"/>
          <p:cNvCxnSpPr>
            <a:stCxn id="15221" idx="6"/>
            <a:endCxn id="15227" idx="1"/>
          </p:cNvCxnSpPr>
          <p:nvPr/>
        </p:nvCxnSpPr>
        <p:spPr>
          <a:xfrm>
            <a:off x="1595100" y="1332613"/>
            <a:ext cx="1313100" cy="264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38" name="Google Shape;15238;p581"/>
          <p:cNvCxnSpPr>
            <a:stCxn id="15221" idx="6"/>
            <a:endCxn id="15229" idx="1"/>
          </p:cNvCxnSpPr>
          <p:nvPr/>
        </p:nvCxnSpPr>
        <p:spPr>
          <a:xfrm>
            <a:off x="1595100" y="1332613"/>
            <a:ext cx="1313100" cy="145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39" name="Google Shape;15239;p581"/>
          <p:cNvCxnSpPr>
            <a:stCxn id="15222" idx="6"/>
            <a:endCxn id="15228" idx="1"/>
          </p:cNvCxnSpPr>
          <p:nvPr/>
        </p:nvCxnSpPr>
        <p:spPr>
          <a:xfrm>
            <a:off x="1595100" y="18872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40" name="Google Shape;15240;p581"/>
          <p:cNvCxnSpPr>
            <a:stCxn id="15221" idx="6"/>
            <a:endCxn id="15231" idx="1"/>
          </p:cNvCxnSpPr>
          <p:nvPr/>
        </p:nvCxnSpPr>
        <p:spPr>
          <a:xfrm>
            <a:off x="1595100" y="1332613"/>
            <a:ext cx="1313100" cy="26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41" name="Google Shape;15241;p581"/>
          <p:cNvCxnSpPr>
            <a:stCxn id="15224" idx="6"/>
            <a:endCxn id="15229" idx="1"/>
          </p:cNvCxnSpPr>
          <p:nvPr/>
        </p:nvCxnSpPr>
        <p:spPr>
          <a:xfrm flipH="1" rot="10800000">
            <a:off x="1595100" y="27887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42" name="Google Shape;15242;p581"/>
          <p:cNvCxnSpPr>
            <a:stCxn id="15222" idx="6"/>
            <a:endCxn id="15230" idx="1"/>
          </p:cNvCxnSpPr>
          <p:nvPr/>
        </p:nvCxnSpPr>
        <p:spPr>
          <a:xfrm>
            <a:off x="1595100" y="18872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43" name="Google Shape;15243;p581"/>
          <p:cNvCxnSpPr>
            <a:stCxn id="15225" idx="6"/>
            <a:endCxn id="15228" idx="1"/>
          </p:cNvCxnSpPr>
          <p:nvPr/>
        </p:nvCxnSpPr>
        <p:spPr>
          <a:xfrm flipH="1" rot="10800000">
            <a:off x="1595100" y="22061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44" name="Google Shape;15244;p581"/>
          <p:cNvCxnSpPr>
            <a:stCxn id="15224" idx="6"/>
            <a:endCxn id="15227" idx="1"/>
          </p:cNvCxnSpPr>
          <p:nvPr/>
        </p:nvCxnSpPr>
        <p:spPr>
          <a:xfrm flipH="1" rot="10800000">
            <a:off x="1595100" y="15974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5245" name="Google Shape;15245;p581"/>
          <p:cNvGraphicFramePr/>
          <p:nvPr/>
        </p:nvGraphicFramePr>
        <p:xfrm>
          <a:off x="8501025" y="19896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75700"/>
              </a:tblGrid>
              <a:tr h="414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3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</a:tr>
              <a:tr h="414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2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</a:tr>
              <a:tr h="414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1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</a:tr>
              <a:tr h="414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2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</a:tr>
              <a:tr h="414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2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</a:tr>
              <a:tr h="414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3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246" name="Google Shape;15246;p581"/>
          <p:cNvSpPr txBox="1"/>
          <p:nvPr/>
        </p:nvSpPr>
        <p:spPr>
          <a:xfrm>
            <a:off x="670850" y="4430025"/>
            <a:ext cx="4663500" cy="56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The row sums of the affiliation matrix gives us the number of each memberships each person has!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5247" name="Google Shape;15247;p581"/>
          <p:cNvCxnSpPr/>
          <p:nvPr/>
        </p:nvCxnSpPr>
        <p:spPr>
          <a:xfrm>
            <a:off x="5299000" y="2071550"/>
            <a:ext cx="3203400" cy="102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descr="\sum_j A_{ij}" id="15248" name="Google Shape;15248;p581" title="MathEquation,#0000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90511" y="4496625"/>
            <a:ext cx="958678" cy="432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52" name="Shape 15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3" name="Google Shape;15253;p58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 centrality in affiliation networks</a:t>
            </a:r>
            <a:endParaRPr/>
          </a:p>
        </p:txBody>
      </p:sp>
      <p:graphicFrame>
        <p:nvGraphicFramePr>
          <p:cNvPr id="15254" name="Google Shape;15254;p582"/>
          <p:cNvGraphicFramePr/>
          <p:nvPr/>
        </p:nvGraphicFramePr>
        <p:xfrm>
          <a:off x="4521375" y="12916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Gabriela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255" name="Google Shape;15255;p582"/>
          <p:cNvSpPr/>
          <p:nvPr/>
        </p:nvSpPr>
        <p:spPr>
          <a:xfrm>
            <a:off x="311700" y="114721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56" name="Google Shape;15256;p582"/>
          <p:cNvSpPr/>
          <p:nvPr/>
        </p:nvSpPr>
        <p:spPr>
          <a:xfrm>
            <a:off x="311700" y="1701878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57" name="Google Shape;15257;p582"/>
          <p:cNvSpPr/>
          <p:nvPr/>
        </p:nvSpPr>
        <p:spPr>
          <a:xfrm>
            <a:off x="311700" y="2331144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58" name="Google Shape;15258;p582"/>
          <p:cNvSpPr/>
          <p:nvPr/>
        </p:nvSpPr>
        <p:spPr>
          <a:xfrm>
            <a:off x="311700" y="2938159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59" name="Google Shape;15259;p582"/>
          <p:cNvSpPr/>
          <p:nvPr/>
        </p:nvSpPr>
        <p:spPr>
          <a:xfrm>
            <a:off x="311700" y="3515073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60" name="Google Shape;15260;p582"/>
          <p:cNvSpPr/>
          <p:nvPr/>
        </p:nvSpPr>
        <p:spPr>
          <a:xfrm>
            <a:off x="311700" y="4105337"/>
            <a:ext cx="1283400" cy="370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261" name="Google Shape;15261;p582"/>
          <p:cNvSpPr/>
          <p:nvPr/>
        </p:nvSpPr>
        <p:spPr>
          <a:xfrm>
            <a:off x="2908150" y="1381089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62" name="Google Shape;15262;p582"/>
          <p:cNvSpPr/>
          <p:nvPr/>
        </p:nvSpPr>
        <p:spPr>
          <a:xfrm>
            <a:off x="2908150" y="1989777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63" name="Google Shape;15263;p582"/>
          <p:cNvSpPr/>
          <p:nvPr/>
        </p:nvSpPr>
        <p:spPr>
          <a:xfrm>
            <a:off x="2908150" y="2572314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64" name="Google Shape;15264;p582"/>
          <p:cNvSpPr/>
          <p:nvPr/>
        </p:nvSpPr>
        <p:spPr>
          <a:xfrm>
            <a:off x="2908150" y="318191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265" name="Google Shape;15265;p582"/>
          <p:cNvSpPr/>
          <p:nvPr/>
        </p:nvSpPr>
        <p:spPr>
          <a:xfrm>
            <a:off x="2908150" y="37570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266" name="Google Shape;15266;p582"/>
          <p:cNvCxnSpPr>
            <a:stCxn id="15260" idx="6"/>
            <a:endCxn id="15265" idx="1"/>
          </p:cNvCxnSpPr>
          <p:nvPr/>
        </p:nvCxnSpPr>
        <p:spPr>
          <a:xfrm flipH="1" rot="10800000">
            <a:off x="1595100" y="3973337"/>
            <a:ext cx="1313100" cy="3174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67" name="Google Shape;15267;p582"/>
          <p:cNvCxnSpPr>
            <a:stCxn id="15260" idx="6"/>
            <a:endCxn id="15262" idx="1"/>
          </p:cNvCxnSpPr>
          <p:nvPr/>
        </p:nvCxnSpPr>
        <p:spPr>
          <a:xfrm flipH="1" rot="10800000">
            <a:off x="1595100" y="2206037"/>
            <a:ext cx="1313100" cy="2084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68" name="Google Shape;15268;p582"/>
          <p:cNvCxnSpPr>
            <a:stCxn id="15259" idx="6"/>
            <a:endCxn id="15265" idx="1"/>
          </p:cNvCxnSpPr>
          <p:nvPr/>
        </p:nvCxnSpPr>
        <p:spPr>
          <a:xfrm>
            <a:off x="1595100" y="3700473"/>
            <a:ext cx="1313100" cy="2730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69" name="Google Shape;15269;p582"/>
          <p:cNvCxnSpPr>
            <a:stCxn id="15257" idx="6"/>
            <a:endCxn id="15262" idx="1"/>
          </p:cNvCxnSpPr>
          <p:nvPr/>
        </p:nvCxnSpPr>
        <p:spPr>
          <a:xfrm flipH="1" rot="10800000">
            <a:off x="1595100" y="2206044"/>
            <a:ext cx="1313100" cy="310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0" name="Google Shape;15270;p582"/>
          <p:cNvCxnSpPr>
            <a:stCxn id="15260" idx="6"/>
            <a:endCxn id="15264" idx="1"/>
          </p:cNvCxnSpPr>
          <p:nvPr/>
        </p:nvCxnSpPr>
        <p:spPr>
          <a:xfrm flipH="1" rot="10800000">
            <a:off x="1595100" y="3398237"/>
            <a:ext cx="1313100" cy="89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1" name="Google Shape;15271;p582"/>
          <p:cNvCxnSpPr>
            <a:stCxn id="15255" idx="6"/>
            <a:endCxn id="15261" idx="1"/>
          </p:cNvCxnSpPr>
          <p:nvPr/>
        </p:nvCxnSpPr>
        <p:spPr>
          <a:xfrm>
            <a:off x="1595100" y="1332613"/>
            <a:ext cx="1313100" cy="264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2" name="Google Shape;15272;p582"/>
          <p:cNvCxnSpPr>
            <a:stCxn id="15255" idx="6"/>
            <a:endCxn id="15263" idx="1"/>
          </p:cNvCxnSpPr>
          <p:nvPr/>
        </p:nvCxnSpPr>
        <p:spPr>
          <a:xfrm>
            <a:off x="1595100" y="1332613"/>
            <a:ext cx="1313100" cy="145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3" name="Google Shape;15273;p582"/>
          <p:cNvCxnSpPr>
            <a:stCxn id="15256" idx="6"/>
            <a:endCxn id="15262" idx="1"/>
          </p:cNvCxnSpPr>
          <p:nvPr/>
        </p:nvCxnSpPr>
        <p:spPr>
          <a:xfrm>
            <a:off x="1595100" y="1887278"/>
            <a:ext cx="1313100" cy="318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4" name="Google Shape;15274;p582"/>
          <p:cNvCxnSpPr>
            <a:stCxn id="15255" idx="6"/>
            <a:endCxn id="15265" idx="1"/>
          </p:cNvCxnSpPr>
          <p:nvPr/>
        </p:nvCxnSpPr>
        <p:spPr>
          <a:xfrm>
            <a:off x="1595100" y="1332613"/>
            <a:ext cx="1313100" cy="2640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5" name="Google Shape;15275;p582"/>
          <p:cNvCxnSpPr>
            <a:stCxn id="15258" idx="6"/>
            <a:endCxn id="15263" idx="1"/>
          </p:cNvCxnSpPr>
          <p:nvPr/>
        </p:nvCxnSpPr>
        <p:spPr>
          <a:xfrm flipH="1" rot="10800000">
            <a:off x="1595100" y="2788759"/>
            <a:ext cx="1313100" cy="334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6" name="Google Shape;15276;p582"/>
          <p:cNvCxnSpPr>
            <a:stCxn id="15256" idx="6"/>
            <a:endCxn id="15264" idx="1"/>
          </p:cNvCxnSpPr>
          <p:nvPr/>
        </p:nvCxnSpPr>
        <p:spPr>
          <a:xfrm>
            <a:off x="1595100" y="1887278"/>
            <a:ext cx="1313100" cy="15108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7" name="Google Shape;15277;p582"/>
          <p:cNvCxnSpPr>
            <a:stCxn id="15259" idx="6"/>
            <a:endCxn id="15262" idx="1"/>
          </p:cNvCxnSpPr>
          <p:nvPr/>
        </p:nvCxnSpPr>
        <p:spPr>
          <a:xfrm flipH="1" rot="10800000">
            <a:off x="1595100" y="2206173"/>
            <a:ext cx="1313100" cy="14943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78" name="Google Shape;15278;p582"/>
          <p:cNvCxnSpPr>
            <a:stCxn id="15258" idx="6"/>
            <a:endCxn id="15261" idx="1"/>
          </p:cNvCxnSpPr>
          <p:nvPr/>
        </p:nvCxnSpPr>
        <p:spPr>
          <a:xfrm flipH="1" rot="10800000">
            <a:off x="1595100" y="1597459"/>
            <a:ext cx="1313100" cy="15261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5279" name="Google Shape;15279;p582"/>
          <p:cNvGraphicFramePr/>
          <p:nvPr/>
        </p:nvGraphicFramePr>
        <p:xfrm>
          <a:off x="5334450" y="45057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16775"/>
                <a:gridCol w="616775"/>
                <a:gridCol w="616775"/>
                <a:gridCol w="616775"/>
                <a:gridCol w="616775"/>
              </a:tblGrid>
              <a:tr h="414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2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4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2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2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0000"/>
                          </a:solidFill>
                        </a:rPr>
                        <a:t>3</a:t>
                      </a:r>
                      <a:endParaRPr b="1">
                        <a:solidFill>
                          <a:srgbClr val="FF0000"/>
                        </a:solidFill>
                      </a:endParaRPr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280" name="Google Shape;15280;p582"/>
          <p:cNvSpPr txBox="1"/>
          <p:nvPr/>
        </p:nvSpPr>
        <p:spPr>
          <a:xfrm>
            <a:off x="670850" y="4430025"/>
            <a:ext cx="3598800" cy="56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The column sums of the affiliation matrix gives us the size of each group!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5281" name="Google Shape;15281;p582"/>
          <p:cNvCxnSpPr/>
          <p:nvPr/>
        </p:nvCxnSpPr>
        <p:spPr>
          <a:xfrm flipH="1">
            <a:off x="5410050" y="2091750"/>
            <a:ext cx="10200" cy="2394900"/>
          </a:xfrm>
          <a:prstGeom prst="straightConnector1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descr="\sum_i A_{ij}" id="15282" name="Google Shape;15282;p582" title="MathEquation,#0000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59307" y="4527525"/>
            <a:ext cx="885492" cy="370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86" name="Shape 15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87" name="Google Shape;15287;p58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Matrix Operations: The Transpose</a:t>
            </a:r>
            <a:endParaRPr/>
          </a:p>
        </p:txBody>
      </p:sp>
      <p:sp>
        <p:nvSpPr>
          <p:cNvPr id="15288" name="Google Shape;15288;p583"/>
          <p:cNvSpPr txBox="1"/>
          <p:nvPr>
            <p:ph idx="1" type="body"/>
          </p:nvPr>
        </p:nvSpPr>
        <p:spPr>
          <a:xfrm>
            <a:off x="311700" y="1225225"/>
            <a:ext cx="4260300" cy="32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transpose </a:t>
            </a:r>
            <a:r>
              <a:rPr lang="en"/>
              <a:t>(' or </a:t>
            </a:r>
            <a:r>
              <a:rPr baseline="30000" lang="en"/>
              <a:t>T</a:t>
            </a:r>
            <a:r>
              <a:rPr lang="en"/>
              <a:t>) of a matrix reverses the row and column dimensions.</a:t>
            </a:r>
            <a:endParaRPr baseline="-250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 g x h matrix becomes a h x g matrix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number of rows of the transpose </a:t>
            </a:r>
            <a:r>
              <a:rPr b="1" lang="en"/>
              <a:t>A</a:t>
            </a:r>
            <a:r>
              <a:rPr b="1" baseline="30000" lang="en" sz="1800"/>
              <a:t>T </a:t>
            </a:r>
            <a:r>
              <a:rPr lang="en"/>
              <a:t>is the number of columns of the original </a:t>
            </a:r>
            <a:r>
              <a:rPr b="1" lang="en"/>
              <a:t>A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number of columns of the transpose </a:t>
            </a:r>
            <a:r>
              <a:rPr b="1" lang="en"/>
              <a:t>A</a:t>
            </a:r>
            <a:r>
              <a:rPr b="1" baseline="30000" lang="en" sz="1800"/>
              <a:t>T </a:t>
            </a:r>
            <a:r>
              <a:rPr lang="en"/>
              <a:t>is the number of rows of the original </a:t>
            </a:r>
            <a:r>
              <a:rPr b="1" lang="en"/>
              <a:t>A</a:t>
            </a:r>
            <a:endParaRPr/>
          </a:p>
        </p:txBody>
      </p:sp>
      <p:graphicFrame>
        <p:nvGraphicFramePr>
          <p:cNvPr id="15289" name="Google Shape;15289;p583"/>
          <p:cNvGraphicFramePr/>
          <p:nvPr/>
        </p:nvGraphicFramePr>
        <p:xfrm>
          <a:off x="4572000" y="20481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{632AA907-9878-4405-B012-53F35075F722}</a:tableStyleId>
              </a:tblPr>
              <a:tblGrid>
                <a:gridCol w="382850"/>
                <a:gridCol w="382850"/>
              </a:tblGrid>
              <a:tr h="268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FF0000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a</a:t>
                      </a:r>
                      <a:endParaRPr b="1" sz="2200">
                        <a:solidFill>
                          <a:srgbClr val="FF0000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FF0000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b</a:t>
                      </a:r>
                      <a:endParaRPr b="1" sz="2200">
                        <a:solidFill>
                          <a:srgbClr val="FF0000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68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0000FF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c</a:t>
                      </a:r>
                      <a:endParaRPr b="1" sz="2200">
                        <a:solidFill>
                          <a:srgbClr val="0000FF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0000FF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d</a:t>
                      </a:r>
                      <a:endParaRPr b="1" sz="2200">
                        <a:solidFill>
                          <a:srgbClr val="0000FF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68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38761D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e</a:t>
                      </a:r>
                      <a:endParaRPr b="1" sz="2200">
                        <a:solidFill>
                          <a:srgbClr val="38761D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38761D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f</a:t>
                      </a:r>
                      <a:endParaRPr b="1" sz="2200">
                        <a:solidFill>
                          <a:srgbClr val="38761D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290" name="Google Shape;15290;p583"/>
          <p:cNvSpPr/>
          <p:nvPr/>
        </p:nvSpPr>
        <p:spPr>
          <a:xfrm>
            <a:off x="5573575" y="2578000"/>
            <a:ext cx="1530300" cy="460500"/>
          </a:xfrm>
          <a:prstGeom prst="rightArrow">
            <a:avLst>
              <a:gd fmla="val 50000" name="adj1"/>
              <a:gd fmla="val 50000" name="adj2"/>
            </a:avLst>
          </a:prstGeom>
          <a:solidFill>
            <a:srgbClr val="CFD4D4"/>
          </a:solidFill>
          <a:ln cap="flat" cmpd="sng" w="19050">
            <a:solidFill>
              <a:srgbClr val="5B595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15291" name="Google Shape;15291;p583"/>
          <p:cNvGraphicFramePr/>
          <p:nvPr/>
        </p:nvGraphicFramePr>
        <p:xfrm>
          <a:off x="7324600" y="23015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{632AA907-9878-4405-B012-53F35075F722}</a:tableStyleId>
              </a:tblPr>
              <a:tblGrid>
                <a:gridCol w="449550"/>
                <a:gridCol w="449550"/>
                <a:gridCol w="449550"/>
              </a:tblGrid>
              <a:tr h="4174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FF0000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a</a:t>
                      </a:r>
                      <a:endParaRPr b="1" sz="2200">
                        <a:solidFill>
                          <a:srgbClr val="FF0000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0000FF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c</a:t>
                      </a:r>
                      <a:endParaRPr b="1" sz="2200">
                        <a:solidFill>
                          <a:srgbClr val="0000FF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38761D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e</a:t>
                      </a:r>
                      <a:endParaRPr b="1" sz="2200">
                        <a:solidFill>
                          <a:srgbClr val="38761D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74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FF0000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b</a:t>
                      </a:r>
                      <a:endParaRPr b="1" sz="2200">
                        <a:solidFill>
                          <a:srgbClr val="FF0000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0000FF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d</a:t>
                      </a:r>
                      <a:endParaRPr b="1" sz="2200">
                        <a:solidFill>
                          <a:srgbClr val="0000FF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200">
                          <a:solidFill>
                            <a:srgbClr val="38761D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f</a:t>
                      </a:r>
                      <a:endParaRPr b="1" sz="2200">
                        <a:solidFill>
                          <a:srgbClr val="38761D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292" name="Google Shape;15292;p583"/>
          <p:cNvSpPr txBox="1"/>
          <p:nvPr/>
        </p:nvSpPr>
        <p:spPr>
          <a:xfrm>
            <a:off x="4572050" y="1235013"/>
            <a:ext cx="765600" cy="7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600">
                <a:latin typeface="Josefin Slab"/>
                <a:ea typeface="Josefin Slab"/>
                <a:cs typeface="Josefin Slab"/>
                <a:sym typeface="Josefin Slab"/>
              </a:rPr>
              <a:t>A</a:t>
            </a:r>
            <a:endParaRPr b="1" sz="3600"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293" name="Google Shape;15293;p583"/>
          <p:cNvSpPr txBox="1"/>
          <p:nvPr/>
        </p:nvSpPr>
        <p:spPr>
          <a:xfrm>
            <a:off x="7504375" y="1225225"/>
            <a:ext cx="989100" cy="7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600">
                <a:latin typeface="Josefin Slab"/>
                <a:ea typeface="Josefin Slab"/>
                <a:cs typeface="Josefin Slab"/>
                <a:sym typeface="Josefin Slab"/>
              </a:rPr>
              <a:t>A</a:t>
            </a:r>
            <a:r>
              <a:rPr b="1" baseline="30000" lang="en" sz="3600">
                <a:latin typeface="Josefin Slab"/>
                <a:ea typeface="Josefin Slab"/>
                <a:cs typeface="Josefin Slab"/>
                <a:sym typeface="Josefin Slab"/>
              </a:rPr>
              <a:t>T</a:t>
            </a:r>
            <a:endParaRPr b="1" baseline="30000" sz="3600"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294" name="Google Shape;15294;p583"/>
          <p:cNvSpPr txBox="1"/>
          <p:nvPr/>
        </p:nvSpPr>
        <p:spPr>
          <a:xfrm>
            <a:off x="5573575" y="3863175"/>
            <a:ext cx="2294100" cy="103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3600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rPr>
              <a:t>A</a:t>
            </a:r>
            <a:r>
              <a:rPr b="1" baseline="-25000" lang="en" sz="3600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rPr>
              <a:t>ij</a:t>
            </a:r>
            <a:r>
              <a:rPr b="1" baseline="30000" lang="en" sz="3600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rPr>
              <a:t>T</a:t>
            </a:r>
            <a:r>
              <a:rPr b="1" lang="en" sz="3600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rPr>
              <a:t>= A</a:t>
            </a:r>
            <a:r>
              <a:rPr b="1" baseline="-25000" lang="en" sz="3600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rPr>
              <a:t>ji</a:t>
            </a:r>
            <a:endParaRPr b="1" sz="3600">
              <a:latin typeface="Antic Didone"/>
              <a:ea typeface="Antic Didone"/>
              <a:cs typeface="Antic Didone"/>
              <a:sym typeface="Antic Didone"/>
            </a:endParaRPr>
          </a:p>
        </p:txBody>
      </p:sp>
      <p:sp>
        <p:nvSpPr>
          <p:cNvPr id="15295" name="Google Shape;15295;p583"/>
          <p:cNvSpPr txBox="1"/>
          <p:nvPr/>
        </p:nvSpPr>
        <p:spPr>
          <a:xfrm>
            <a:off x="4572050" y="3684650"/>
            <a:ext cx="765600" cy="30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3 X 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296" name="Google Shape;15296;p583"/>
          <p:cNvSpPr txBox="1"/>
          <p:nvPr/>
        </p:nvSpPr>
        <p:spPr>
          <a:xfrm>
            <a:off x="7655125" y="3374725"/>
            <a:ext cx="765600" cy="30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2 X 3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00" name="Shape 15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301" name="Google Shape;15301;p584"/>
          <p:cNvGraphicFramePr/>
          <p:nvPr/>
        </p:nvGraphicFramePr>
        <p:xfrm>
          <a:off x="311700" y="11472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Gabriela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5302" name="Google Shape;15302;p584"/>
          <p:cNvGraphicFramePr/>
          <p:nvPr/>
        </p:nvGraphicFramePr>
        <p:xfrm>
          <a:off x="4425075" y="11628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90675"/>
                <a:gridCol w="638225"/>
                <a:gridCol w="638225"/>
                <a:gridCol w="638225"/>
                <a:gridCol w="638225"/>
                <a:gridCol w="638225"/>
                <a:gridCol w="638225"/>
              </a:tblGrid>
              <a:tr h="659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/>
                    </a:p>
                  </a:txBody>
                  <a:tcPr marT="91425" marB="91425" marR="0" marL="0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Cheese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10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Magic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Fashion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15303" name="Google Shape;15303;p584"/>
          <p:cNvSpPr txBox="1"/>
          <p:nvPr/>
        </p:nvSpPr>
        <p:spPr>
          <a:xfrm>
            <a:off x="1962275" y="4520500"/>
            <a:ext cx="1009500" cy="45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(6 x 5)</a:t>
            </a:r>
            <a:endParaRPr b="1" baseline="-25000" sz="24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04" name="Google Shape;15304;p584"/>
          <p:cNvSpPr txBox="1"/>
          <p:nvPr/>
        </p:nvSpPr>
        <p:spPr>
          <a:xfrm>
            <a:off x="6392197" y="4520500"/>
            <a:ext cx="1339200" cy="45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30000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</a:t>
            </a:r>
            <a:r>
              <a:rPr b="1" baseline="-25000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(5 x 6)</a:t>
            </a:r>
            <a:endParaRPr b="1" baseline="-25000" sz="24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05" name="Google Shape;15305;p58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matrix (A) and its transpose (A</a:t>
            </a:r>
            <a:r>
              <a:rPr baseline="30000" lang="en"/>
              <a:t>T</a:t>
            </a:r>
            <a:r>
              <a:rPr lang="en"/>
              <a:t>)</a:t>
            </a:r>
            <a:endParaRPr/>
          </a:p>
        </p:txBody>
      </p:sp>
    </p:spTree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09" name="Shape 15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10" name="Google Shape;15310;p58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matrix (A) and its transpose (A</a:t>
            </a:r>
            <a:r>
              <a:rPr baseline="30000" lang="en"/>
              <a:t>T</a:t>
            </a:r>
            <a:r>
              <a:rPr lang="en"/>
              <a:t>)</a:t>
            </a:r>
            <a:endParaRPr/>
          </a:p>
        </p:txBody>
      </p:sp>
      <p:graphicFrame>
        <p:nvGraphicFramePr>
          <p:cNvPr id="15311" name="Google Shape;15311;p585"/>
          <p:cNvGraphicFramePr/>
          <p:nvPr/>
        </p:nvGraphicFramePr>
        <p:xfrm>
          <a:off x="311700" y="11472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813075"/>
                <a:gridCol w="616775"/>
                <a:gridCol w="616775"/>
                <a:gridCol w="616775"/>
                <a:gridCol w="616775"/>
                <a:gridCol w="616775"/>
              </a:tblGrid>
              <a:tr h="7197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Super Smash Bros.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Cheese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Nerd-</a:t>
                      </a:r>
                      <a:endParaRPr b="1" sz="10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Fighters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Magic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Fashion</a:t>
                      </a:r>
                      <a:endParaRPr b="1" sz="1000"/>
                    </a:p>
                  </a:txBody>
                  <a:tcPr marT="91425" marB="91425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Gabriela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Parker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Brandon</a:t>
                      </a:r>
                      <a:endParaRPr b="1" sz="1000"/>
                    </a:p>
                  </a:txBody>
                  <a:tcPr marT="91425" marB="91425" marR="91425" marL="91425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Marie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Rahul</a:t>
                      </a:r>
                      <a:endParaRPr b="1" sz="10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07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/>
                        <a:t>Minjoo</a:t>
                      </a:r>
                      <a:endParaRPr b="1" sz="1000"/>
                    </a:p>
                  </a:txBody>
                  <a:tcPr marT="91425" marB="91425" marR="91425" marL="91425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5312" name="Google Shape;15312;p585"/>
          <p:cNvGraphicFramePr/>
          <p:nvPr/>
        </p:nvGraphicFramePr>
        <p:xfrm>
          <a:off x="4425075" y="11628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90675"/>
                <a:gridCol w="638225"/>
                <a:gridCol w="638225"/>
                <a:gridCol w="638225"/>
                <a:gridCol w="638225"/>
                <a:gridCol w="638225"/>
                <a:gridCol w="638225"/>
              </a:tblGrid>
              <a:tr h="659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/>
                    </a:p>
                  </a:txBody>
                  <a:tcPr marT="91425" marB="91425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/>
                    </a:p>
                  </a:txBody>
                  <a:tcPr marT="91425" marB="91425" marR="0" marL="0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10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1000">
                        <a:solidFill>
                          <a:schemeClr val="dk1"/>
                        </a:solidFill>
                      </a:endParaRPr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Cheese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10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Magic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  <a:tr h="539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Fashion</a:t>
                      </a:r>
                      <a:endParaRPr/>
                    </a:p>
                  </a:txBody>
                  <a:tcPr marT="0" marB="0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91425" marB="91425" marR="91425" marL="91425" anchor="ctr"/>
                </a:tc>
              </a:tr>
            </a:tbl>
          </a:graphicData>
        </a:graphic>
      </p:graphicFrame>
      <p:sp>
        <p:nvSpPr>
          <p:cNvPr id="15313" name="Google Shape;15313;p585"/>
          <p:cNvSpPr txBox="1"/>
          <p:nvPr/>
        </p:nvSpPr>
        <p:spPr>
          <a:xfrm>
            <a:off x="1962275" y="4520500"/>
            <a:ext cx="1009500" cy="45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(6 x 5)</a:t>
            </a:r>
            <a:endParaRPr b="1" baseline="-25000" sz="24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14" name="Google Shape;15314;p585"/>
          <p:cNvSpPr txBox="1"/>
          <p:nvPr/>
        </p:nvSpPr>
        <p:spPr>
          <a:xfrm>
            <a:off x="6392209" y="4520500"/>
            <a:ext cx="1009500" cy="45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30000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’</a:t>
            </a:r>
            <a:r>
              <a:rPr b="1" baseline="-25000" lang="en" sz="24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(5 x 6)</a:t>
            </a:r>
            <a:endParaRPr b="1" baseline="-25000" sz="24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15" name="Google Shape;15315;p585"/>
          <p:cNvSpPr txBox="1"/>
          <p:nvPr/>
        </p:nvSpPr>
        <p:spPr>
          <a:xfrm>
            <a:off x="6151875" y="315925"/>
            <a:ext cx="2936100" cy="77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The transpose of a matrix is the same matrix with the rows and columns switched around!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19" name="Shape 15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0" name="Google Shape;15320;p586"/>
          <p:cNvSpPr/>
          <p:nvPr/>
        </p:nvSpPr>
        <p:spPr>
          <a:xfrm rot="-5345203">
            <a:off x="813914" y="1668062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1" name="Google Shape;15321;p58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Matrix Operations: Matrix Multiplication</a:t>
            </a:r>
            <a:endParaRPr/>
          </a:p>
        </p:txBody>
      </p:sp>
      <p:sp>
        <p:nvSpPr>
          <p:cNvPr id="15322" name="Google Shape;15322;p586"/>
          <p:cNvSpPr/>
          <p:nvPr/>
        </p:nvSpPr>
        <p:spPr>
          <a:xfrm rot="-5346771">
            <a:off x="1531104" y="1312366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3" name="Google Shape;15323;p586"/>
          <p:cNvSpPr txBox="1"/>
          <p:nvPr/>
        </p:nvSpPr>
        <p:spPr>
          <a:xfrm>
            <a:off x="743525" y="3224225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324" name="Google Shape;15324;p586"/>
          <p:cNvSpPr txBox="1"/>
          <p:nvPr/>
        </p:nvSpPr>
        <p:spPr>
          <a:xfrm>
            <a:off x="137659" y="1013691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25" name="Google Shape;15325;p586"/>
          <p:cNvSpPr txBox="1"/>
          <p:nvPr/>
        </p:nvSpPr>
        <p:spPr>
          <a:xfrm>
            <a:off x="981675" y="1903875"/>
            <a:ext cx="14250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15326" name="Google Shape;15326;p586"/>
          <p:cNvGraphicFramePr/>
          <p:nvPr/>
        </p:nvGraphicFramePr>
        <p:xfrm>
          <a:off x="88975" y="310169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graphicFrame>
        <p:nvGraphicFramePr>
          <p:cNvPr id="15327" name="Google Shape;15327;p586"/>
          <p:cNvGraphicFramePr/>
          <p:nvPr/>
        </p:nvGraphicFramePr>
        <p:xfrm>
          <a:off x="2302200" y="37409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328" name="Google Shape;15328;p586"/>
          <p:cNvSpPr txBox="1"/>
          <p:nvPr/>
        </p:nvSpPr>
        <p:spPr>
          <a:xfrm>
            <a:off x="174425" y="4684613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4 x 2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29" name="Google Shape;15329;p586"/>
          <p:cNvSpPr txBox="1"/>
          <p:nvPr/>
        </p:nvSpPr>
        <p:spPr>
          <a:xfrm>
            <a:off x="2610825" y="460620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B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2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330" name="Google Shape;15330;p586"/>
          <p:cNvGraphicFramePr/>
          <p:nvPr/>
        </p:nvGraphicFramePr>
        <p:xfrm>
          <a:off x="4961775" y="297052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68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graphicFrame>
        <p:nvGraphicFramePr>
          <p:cNvPr id="15331" name="Google Shape;15331;p586"/>
          <p:cNvGraphicFramePr/>
          <p:nvPr/>
        </p:nvGraphicFramePr>
        <p:xfrm>
          <a:off x="7669850" y="302786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332" name="Google Shape;15332;p586"/>
          <p:cNvSpPr txBox="1"/>
          <p:nvPr/>
        </p:nvSpPr>
        <p:spPr>
          <a:xfrm>
            <a:off x="5493550" y="455345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4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33" name="Google Shape;15333;p586"/>
          <p:cNvSpPr txBox="1"/>
          <p:nvPr/>
        </p:nvSpPr>
        <p:spPr>
          <a:xfrm>
            <a:off x="7978475" y="389315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B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2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34" name="Google Shape;15334;p586"/>
          <p:cNvSpPr/>
          <p:nvPr/>
        </p:nvSpPr>
        <p:spPr>
          <a:xfrm rot="-5345203">
            <a:off x="6169814" y="1718549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5" name="Google Shape;15335;p586"/>
          <p:cNvSpPr/>
          <p:nvPr/>
        </p:nvSpPr>
        <p:spPr>
          <a:xfrm rot="-5346771">
            <a:off x="6887004" y="1362853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6" name="Google Shape;15336;p586"/>
          <p:cNvSpPr txBox="1"/>
          <p:nvPr/>
        </p:nvSpPr>
        <p:spPr>
          <a:xfrm>
            <a:off x="6099425" y="3274713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337" name="Google Shape;15337;p586"/>
          <p:cNvSpPr txBox="1"/>
          <p:nvPr/>
        </p:nvSpPr>
        <p:spPr>
          <a:xfrm>
            <a:off x="5493559" y="1064179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38" name="Google Shape;15338;p586"/>
          <p:cNvSpPr txBox="1"/>
          <p:nvPr/>
        </p:nvSpPr>
        <p:spPr>
          <a:xfrm>
            <a:off x="6337575" y="1954363"/>
            <a:ext cx="14250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42" name="Shape 15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3" name="Google Shape;15343;p587"/>
          <p:cNvSpPr/>
          <p:nvPr/>
        </p:nvSpPr>
        <p:spPr>
          <a:xfrm rot="-5345203">
            <a:off x="813914" y="1668062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4" name="Google Shape;15344;p58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Matrix Operations: Matrix Multiplication</a:t>
            </a:r>
            <a:endParaRPr/>
          </a:p>
        </p:txBody>
      </p:sp>
      <p:sp>
        <p:nvSpPr>
          <p:cNvPr id="15345" name="Google Shape;15345;p587"/>
          <p:cNvSpPr/>
          <p:nvPr/>
        </p:nvSpPr>
        <p:spPr>
          <a:xfrm rot="-5346771">
            <a:off x="1531104" y="1312366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6" name="Google Shape;15346;p587"/>
          <p:cNvSpPr txBox="1"/>
          <p:nvPr/>
        </p:nvSpPr>
        <p:spPr>
          <a:xfrm>
            <a:off x="743525" y="3224225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347" name="Google Shape;15347;p587"/>
          <p:cNvSpPr txBox="1"/>
          <p:nvPr/>
        </p:nvSpPr>
        <p:spPr>
          <a:xfrm>
            <a:off x="137659" y="1013691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48" name="Google Shape;15348;p587"/>
          <p:cNvSpPr txBox="1"/>
          <p:nvPr/>
        </p:nvSpPr>
        <p:spPr>
          <a:xfrm>
            <a:off x="981675" y="1903875"/>
            <a:ext cx="14250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15349" name="Google Shape;15349;p587"/>
          <p:cNvGraphicFramePr/>
          <p:nvPr/>
        </p:nvGraphicFramePr>
        <p:xfrm>
          <a:off x="88975" y="310169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graphicFrame>
        <p:nvGraphicFramePr>
          <p:cNvPr id="15350" name="Google Shape;15350;p587"/>
          <p:cNvGraphicFramePr/>
          <p:nvPr/>
        </p:nvGraphicFramePr>
        <p:xfrm>
          <a:off x="2302200" y="37409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351" name="Google Shape;15351;p587"/>
          <p:cNvSpPr txBox="1"/>
          <p:nvPr/>
        </p:nvSpPr>
        <p:spPr>
          <a:xfrm>
            <a:off x="174425" y="4684613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4 x 2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52" name="Google Shape;15352;p587"/>
          <p:cNvSpPr txBox="1"/>
          <p:nvPr/>
        </p:nvSpPr>
        <p:spPr>
          <a:xfrm>
            <a:off x="2610825" y="460620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B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2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353" name="Google Shape;15353;p587"/>
          <p:cNvGraphicFramePr/>
          <p:nvPr/>
        </p:nvGraphicFramePr>
        <p:xfrm>
          <a:off x="4961775" y="297052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68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graphicFrame>
        <p:nvGraphicFramePr>
          <p:cNvPr id="15354" name="Google Shape;15354;p587"/>
          <p:cNvGraphicFramePr/>
          <p:nvPr/>
        </p:nvGraphicFramePr>
        <p:xfrm>
          <a:off x="7669850" y="302786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355" name="Google Shape;15355;p587"/>
          <p:cNvSpPr txBox="1"/>
          <p:nvPr/>
        </p:nvSpPr>
        <p:spPr>
          <a:xfrm>
            <a:off x="5493550" y="455345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4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56" name="Google Shape;15356;p587"/>
          <p:cNvSpPr txBox="1"/>
          <p:nvPr/>
        </p:nvSpPr>
        <p:spPr>
          <a:xfrm>
            <a:off x="7978475" y="389315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B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2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57" name="Google Shape;15357;p587"/>
          <p:cNvSpPr/>
          <p:nvPr/>
        </p:nvSpPr>
        <p:spPr>
          <a:xfrm rot="-5345203">
            <a:off x="6169814" y="1718549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8" name="Google Shape;15358;p587"/>
          <p:cNvSpPr/>
          <p:nvPr/>
        </p:nvSpPr>
        <p:spPr>
          <a:xfrm rot="-5346771">
            <a:off x="6887004" y="1362853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9" name="Google Shape;15359;p587"/>
          <p:cNvSpPr txBox="1"/>
          <p:nvPr/>
        </p:nvSpPr>
        <p:spPr>
          <a:xfrm>
            <a:off x="6099425" y="3274713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360" name="Google Shape;15360;p587"/>
          <p:cNvSpPr txBox="1"/>
          <p:nvPr/>
        </p:nvSpPr>
        <p:spPr>
          <a:xfrm>
            <a:off x="5493559" y="1064179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61" name="Google Shape;15361;p587"/>
          <p:cNvSpPr txBox="1"/>
          <p:nvPr/>
        </p:nvSpPr>
        <p:spPr>
          <a:xfrm>
            <a:off x="6337575" y="1954369"/>
            <a:ext cx="14250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362" name="Google Shape;15362;p587"/>
          <p:cNvSpPr txBox="1"/>
          <p:nvPr/>
        </p:nvSpPr>
        <p:spPr>
          <a:xfrm>
            <a:off x="2885350" y="1147225"/>
            <a:ext cx="1425000" cy="151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match! Matrices are conformable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363" name="Google Shape;15363;p587"/>
          <p:cNvCxnSpPr>
            <a:stCxn id="15362" idx="1"/>
            <a:endCxn id="15348" idx="0"/>
          </p:cNvCxnSpPr>
          <p:nvPr/>
        </p:nvCxnSpPr>
        <p:spPr>
          <a:xfrm rot="10800000">
            <a:off x="1694050" y="1903825"/>
            <a:ext cx="1191300" cy="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5364" name="Google Shape;15364;p587"/>
          <p:cNvSpPr txBox="1"/>
          <p:nvPr/>
        </p:nvSpPr>
        <p:spPr>
          <a:xfrm>
            <a:off x="4429278" y="1200025"/>
            <a:ext cx="1562400" cy="151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don’t match! Matrices are not conformable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365" name="Google Shape;15365;p587"/>
          <p:cNvCxnSpPr>
            <a:stCxn id="15364" idx="3"/>
            <a:endCxn id="15361" idx="0"/>
          </p:cNvCxnSpPr>
          <p:nvPr/>
        </p:nvCxnSpPr>
        <p:spPr>
          <a:xfrm flipH="1" rot="10800000">
            <a:off x="5991678" y="1954225"/>
            <a:ext cx="1058400" cy="2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69" name="Shape 15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70" name="Google Shape;15370;p588"/>
          <p:cNvSpPr/>
          <p:nvPr/>
        </p:nvSpPr>
        <p:spPr>
          <a:xfrm rot="-5345203">
            <a:off x="813914" y="1668062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1" name="Google Shape;15371;p58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Matrix Operations: Matrix Multiplication</a:t>
            </a:r>
            <a:endParaRPr/>
          </a:p>
        </p:txBody>
      </p:sp>
      <p:sp>
        <p:nvSpPr>
          <p:cNvPr id="15372" name="Google Shape;15372;p588"/>
          <p:cNvSpPr/>
          <p:nvPr/>
        </p:nvSpPr>
        <p:spPr>
          <a:xfrm rot="-5346771">
            <a:off x="1531104" y="1312366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3" name="Google Shape;15373;p588"/>
          <p:cNvSpPr txBox="1"/>
          <p:nvPr/>
        </p:nvSpPr>
        <p:spPr>
          <a:xfrm>
            <a:off x="743525" y="3224225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374" name="Google Shape;15374;p588"/>
          <p:cNvSpPr txBox="1"/>
          <p:nvPr/>
        </p:nvSpPr>
        <p:spPr>
          <a:xfrm>
            <a:off x="137659" y="1013691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75" name="Google Shape;15375;p588"/>
          <p:cNvSpPr txBox="1"/>
          <p:nvPr/>
        </p:nvSpPr>
        <p:spPr>
          <a:xfrm>
            <a:off x="981675" y="1903875"/>
            <a:ext cx="14250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15376" name="Google Shape;15376;p588"/>
          <p:cNvGraphicFramePr/>
          <p:nvPr/>
        </p:nvGraphicFramePr>
        <p:xfrm>
          <a:off x="88975" y="310169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graphicFrame>
        <p:nvGraphicFramePr>
          <p:cNvPr id="15377" name="Google Shape;15377;p588"/>
          <p:cNvGraphicFramePr/>
          <p:nvPr/>
        </p:nvGraphicFramePr>
        <p:xfrm>
          <a:off x="2302200" y="37409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378" name="Google Shape;15378;p588"/>
          <p:cNvSpPr txBox="1"/>
          <p:nvPr/>
        </p:nvSpPr>
        <p:spPr>
          <a:xfrm>
            <a:off x="174425" y="4684613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4 x 2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79" name="Google Shape;15379;p588"/>
          <p:cNvSpPr txBox="1"/>
          <p:nvPr/>
        </p:nvSpPr>
        <p:spPr>
          <a:xfrm>
            <a:off x="2610825" y="460620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B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2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380" name="Google Shape;15380;p588"/>
          <p:cNvGraphicFramePr/>
          <p:nvPr/>
        </p:nvGraphicFramePr>
        <p:xfrm>
          <a:off x="4961775" y="297052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68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graphicFrame>
        <p:nvGraphicFramePr>
          <p:cNvPr id="15381" name="Google Shape;15381;p588"/>
          <p:cNvGraphicFramePr/>
          <p:nvPr/>
        </p:nvGraphicFramePr>
        <p:xfrm>
          <a:off x="7669850" y="302786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382" name="Google Shape;15382;p588"/>
          <p:cNvSpPr txBox="1"/>
          <p:nvPr/>
        </p:nvSpPr>
        <p:spPr>
          <a:xfrm>
            <a:off x="5493550" y="455345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4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83" name="Google Shape;15383;p588"/>
          <p:cNvSpPr txBox="1"/>
          <p:nvPr/>
        </p:nvSpPr>
        <p:spPr>
          <a:xfrm>
            <a:off x="7978475" y="389315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B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2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84" name="Google Shape;15384;p588"/>
          <p:cNvSpPr/>
          <p:nvPr/>
        </p:nvSpPr>
        <p:spPr>
          <a:xfrm rot="-5345203">
            <a:off x="6169814" y="1718549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5" name="Google Shape;15385;p588"/>
          <p:cNvSpPr/>
          <p:nvPr/>
        </p:nvSpPr>
        <p:spPr>
          <a:xfrm rot="-5346771">
            <a:off x="6887004" y="1362853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6" name="Google Shape;15386;p588"/>
          <p:cNvSpPr txBox="1"/>
          <p:nvPr/>
        </p:nvSpPr>
        <p:spPr>
          <a:xfrm>
            <a:off x="6099425" y="3274713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387" name="Google Shape;15387;p588"/>
          <p:cNvSpPr txBox="1"/>
          <p:nvPr/>
        </p:nvSpPr>
        <p:spPr>
          <a:xfrm>
            <a:off x="5493559" y="1064179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388" name="Google Shape;15388;p588"/>
          <p:cNvSpPr txBox="1"/>
          <p:nvPr/>
        </p:nvSpPr>
        <p:spPr>
          <a:xfrm>
            <a:off x="6337575" y="1954369"/>
            <a:ext cx="14250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389" name="Google Shape;15389;p588"/>
          <p:cNvSpPr txBox="1"/>
          <p:nvPr/>
        </p:nvSpPr>
        <p:spPr>
          <a:xfrm>
            <a:off x="2885350" y="1147225"/>
            <a:ext cx="1425000" cy="151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match! Matrices are conformable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390" name="Google Shape;15390;p588"/>
          <p:cNvCxnSpPr>
            <a:stCxn id="15389" idx="1"/>
            <a:endCxn id="15375" idx="0"/>
          </p:cNvCxnSpPr>
          <p:nvPr/>
        </p:nvCxnSpPr>
        <p:spPr>
          <a:xfrm rot="10800000">
            <a:off x="1694050" y="1903825"/>
            <a:ext cx="1191300" cy="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5391" name="Google Shape;15391;p588"/>
          <p:cNvSpPr txBox="1"/>
          <p:nvPr/>
        </p:nvSpPr>
        <p:spPr>
          <a:xfrm>
            <a:off x="4429278" y="1200025"/>
            <a:ext cx="1562400" cy="151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don’t match! Matrices are not conformable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392" name="Google Shape;15392;p588"/>
          <p:cNvCxnSpPr>
            <a:stCxn id="15391" idx="3"/>
            <a:endCxn id="15388" idx="0"/>
          </p:cNvCxnSpPr>
          <p:nvPr/>
        </p:nvCxnSpPr>
        <p:spPr>
          <a:xfrm flipH="1" rot="10800000">
            <a:off x="5991678" y="1954225"/>
            <a:ext cx="1058400" cy="2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15393" name="Google Shape;15393;p58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354383" y="2523231"/>
            <a:ext cx="1339049" cy="11620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394" name="Google Shape;15394;p58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799175" y="881800"/>
            <a:ext cx="2567551" cy="29343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98" name="Shape 15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9" name="Google Shape;15399;p589"/>
          <p:cNvSpPr/>
          <p:nvPr/>
        </p:nvSpPr>
        <p:spPr>
          <a:xfrm rot="-5345203">
            <a:off x="813914" y="1668062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0" name="Google Shape;15400;p58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Matrix Operations: Matrix Multiplication</a:t>
            </a:r>
            <a:endParaRPr/>
          </a:p>
        </p:txBody>
      </p:sp>
      <p:sp>
        <p:nvSpPr>
          <p:cNvPr id="15401" name="Google Shape;15401;p589"/>
          <p:cNvSpPr/>
          <p:nvPr/>
        </p:nvSpPr>
        <p:spPr>
          <a:xfrm rot="-5346771">
            <a:off x="1531104" y="1312366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2" name="Google Shape;15402;p589"/>
          <p:cNvSpPr txBox="1"/>
          <p:nvPr/>
        </p:nvSpPr>
        <p:spPr>
          <a:xfrm>
            <a:off x="743525" y="3224225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03" name="Google Shape;15403;p589"/>
          <p:cNvSpPr txBox="1"/>
          <p:nvPr/>
        </p:nvSpPr>
        <p:spPr>
          <a:xfrm>
            <a:off x="137659" y="1013691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04" name="Google Shape;15404;p589"/>
          <p:cNvSpPr txBox="1"/>
          <p:nvPr/>
        </p:nvSpPr>
        <p:spPr>
          <a:xfrm>
            <a:off x="981675" y="1903875"/>
            <a:ext cx="14250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15405" name="Google Shape;15405;p589"/>
          <p:cNvGraphicFramePr/>
          <p:nvPr/>
        </p:nvGraphicFramePr>
        <p:xfrm>
          <a:off x="88975" y="310169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graphicFrame>
        <p:nvGraphicFramePr>
          <p:cNvPr id="15406" name="Google Shape;15406;p589"/>
          <p:cNvGraphicFramePr/>
          <p:nvPr/>
        </p:nvGraphicFramePr>
        <p:xfrm>
          <a:off x="2302200" y="37409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407" name="Google Shape;15407;p589"/>
          <p:cNvSpPr txBox="1"/>
          <p:nvPr/>
        </p:nvSpPr>
        <p:spPr>
          <a:xfrm>
            <a:off x="174425" y="4684613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4 x 2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08" name="Google Shape;15408;p589"/>
          <p:cNvSpPr txBox="1"/>
          <p:nvPr/>
        </p:nvSpPr>
        <p:spPr>
          <a:xfrm>
            <a:off x="2610825" y="460620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B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2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409" name="Google Shape;15409;p589"/>
          <p:cNvGraphicFramePr/>
          <p:nvPr/>
        </p:nvGraphicFramePr>
        <p:xfrm>
          <a:off x="4961775" y="297052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4053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68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graphicFrame>
        <p:nvGraphicFramePr>
          <p:cNvPr id="15410" name="Google Shape;15410;p589"/>
          <p:cNvGraphicFramePr/>
          <p:nvPr/>
        </p:nvGraphicFramePr>
        <p:xfrm>
          <a:off x="7669850" y="302786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46350"/>
                <a:gridCol w="446350"/>
                <a:gridCol w="446350"/>
              </a:tblGrid>
              <a:tr h="35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  <a:tr h="322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/>
                </a:tc>
              </a:tr>
            </a:tbl>
          </a:graphicData>
        </a:graphic>
      </p:graphicFrame>
      <p:sp>
        <p:nvSpPr>
          <p:cNvPr id="15411" name="Google Shape;15411;p589"/>
          <p:cNvSpPr txBox="1"/>
          <p:nvPr/>
        </p:nvSpPr>
        <p:spPr>
          <a:xfrm>
            <a:off x="5493550" y="455345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4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12" name="Google Shape;15412;p589"/>
          <p:cNvSpPr txBox="1"/>
          <p:nvPr/>
        </p:nvSpPr>
        <p:spPr>
          <a:xfrm>
            <a:off x="7978475" y="3893150"/>
            <a:ext cx="7218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B</a:t>
            </a:r>
            <a:r>
              <a:rPr b="1" baseline="-25000" lang="en" sz="1800">
                <a:latin typeface="Open Sans"/>
                <a:ea typeface="Open Sans"/>
                <a:cs typeface="Open Sans"/>
                <a:sym typeface="Open Sans"/>
              </a:rPr>
              <a:t> 2 x 3</a:t>
            </a:r>
            <a:endParaRPr b="1" baseline="-25000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13" name="Google Shape;15413;p589"/>
          <p:cNvSpPr/>
          <p:nvPr/>
        </p:nvSpPr>
        <p:spPr>
          <a:xfrm rot="-5345203">
            <a:off x="6169814" y="1718549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4" name="Google Shape;15414;p589"/>
          <p:cNvSpPr/>
          <p:nvPr/>
        </p:nvSpPr>
        <p:spPr>
          <a:xfrm rot="-5346771">
            <a:off x="6887004" y="1362853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5" name="Google Shape;15415;p589"/>
          <p:cNvSpPr txBox="1"/>
          <p:nvPr/>
        </p:nvSpPr>
        <p:spPr>
          <a:xfrm>
            <a:off x="6099425" y="3274713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16" name="Google Shape;15416;p589"/>
          <p:cNvSpPr txBox="1"/>
          <p:nvPr/>
        </p:nvSpPr>
        <p:spPr>
          <a:xfrm>
            <a:off x="5493559" y="1064179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17" name="Google Shape;15417;p589"/>
          <p:cNvSpPr txBox="1"/>
          <p:nvPr/>
        </p:nvSpPr>
        <p:spPr>
          <a:xfrm>
            <a:off x="6337575" y="1954369"/>
            <a:ext cx="14250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18" name="Google Shape;15418;p589"/>
          <p:cNvSpPr txBox="1"/>
          <p:nvPr/>
        </p:nvSpPr>
        <p:spPr>
          <a:xfrm>
            <a:off x="2885350" y="1147225"/>
            <a:ext cx="1425000" cy="151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match! Matrices are conformable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419" name="Google Shape;15419;p589"/>
          <p:cNvCxnSpPr>
            <a:stCxn id="15418" idx="1"/>
            <a:endCxn id="15404" idx="0"/>
          </p:cNvCxnSpPr>
          <p:nvPr/>
        </p:nvCxnSpPr>
        <p:spPr>
          <a:xfrm rot="10800000">
            <a:off x="1694050" y="1903825"/>
            <a:ext cx="1191300" cy="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5420" name="Google Shape;15420;p589"/>
          <p:cNvSpPr txBox="1"/>
          <p:nvPr/>
        </p:nvSpPr>
        <p:spPr>
          <a:xfrm>
            <a:off x="4429278" y="1200025"/>
            <a:ext cx="1562400" cy="151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don’t match! Matrices are not conformable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421" name="Google Shape;15421;p589"/>
          <p:cNvCxnSpPr>
            <a:stCxn id="15420" idx="3"/>
            <a:endCxn id="15417" idx="0"/>
          </p:cNvCxnSpPr>
          <p:nvPr/>
        </p:nvCxnSpPr>
        <p:spPr>
          <a:xfrm flipH="1" rot="10800000">
            <a:off x="5991678" y="1954225"/>
            <a:ext cx="1058400" cy="2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15422" name="Google Shape;15422;p58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354383" y="2523231"/>
            <a:ext cx="1339049" cy="11620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23" name="Google Shape;15423;p58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799175" y="881800"/>
            <a:ext cx="2567551" cy="29343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427" name="Shape 15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28" name="Google Shape;15428;p590"/>
          <p:cNvSpPr/>
          <p:nvPr/>
        </p:nvSpPr>
        <p:spPr>
          <a:xfrm rot="-5345203">
            <a:off x="813914" y="1668062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9" name="Google Shape;15429;p59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Matrix Operations: Matrix Multiplication</a:t>
            </a:r>
            <a:endParaRPr/>
          </a:p>
        </p:txBody>
      </p:sp>
      <p:sp>
        <p:nvSpPr>
          <p:cNvPr id="15430" name="Google Shape;15430;p590"/>
          <p:cNvSpPr/>
          <p:nvPr/>
        </p:nvSpPr>
        <p:spPr>
          <a:xfrm rot="-5346771">
            <a:off x="1531104" y="1312366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1" name="Google Shape;15431;p590"/>
          <p:cNvSpPr txBox="1"/>
          <p:nvPr/>
        </p:nvSpPr>
        <p:spPr>
          <a:xfrm>
            <a:off x="743525" y="3224225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32" name="Google Shape;15432;p590"/>
          <p:cNvSpPr txBox="1"/>
          <p:nvPr/>
        </p:nvSpPr>
        <p:spPr>
          <a:xfrm>
            <a:off x="137659" y="1013691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33" name="Google Shape;15433;p590"/>
          <p:cNvSpPr txBox="1"/>
          <p:nvPr/>
        </p:nvSpPr>
        <p:spPr>
          <a:xfrm>
            <a:off x="981675" y="1903875"/>
            <a:ext cx="14250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34" name="Google Shape;15434;p590"/>
          <p:cNvSpPr/>
          <p:nvPr/>
        </p:nvSpPr>
        <p:spPr>
          <a:xfrm rot="-5345203">
            <a:off x="6169814" y="1718549"/>
            <a:ext cx="1750422" cy="1392777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5" name="Google Shape;15435;p590"/>
          <p:cNvSpPr/>
          <p:nvPr/>
        </p:nvSpPr>
        <p:spPr>
          <a:xfrm rot="-5346771">
            <a:off x="6887004" y="1362853"/>
            <a:ext cx="368144" cy="803204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6" name="Google Shape;15436;p590"/>
          <p:cNvSpPr txBox="1"/>
          <p:nvPr/>
        </p:nvSpPr>
        <p:spPr>
          <a:xfrm>
            <a:off x="6099425" y="3274713"/>
            <a:ext cx="18912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37" name="Google Shape;15437;p590"/>
          <p:cNvSpPr txBox="1"/>
          <p:nvPr/>
        </p:nvSpPr>
        <p:spPr>
          <a:xfrm>
            <a:off x="5493559" y="1064179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38" name="Google Shape;15438;p590"/>
          <p:cNvSpPr txBox="1"/>
          <p:nvPr/>
        </p:nvSpPr>
        <p:spPr>
          <a:xfrm>
            <a:off x="6337575" y="1954369"/>
            <a:ext cx="14250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39" name="Google Shape;15439;p590"/>
          <p:cNvSpPr txBox="1"/>
          <p:nvPr/>
        </p:nvSpPr>
        <p:spPr>
          <a:xfrm>
            <a:off x="2885350" y="1147225"/>
            <a:ext cx="1425000" cy="151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match! Matrices are conformable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440" name="Google Shape;15440;p590"/>
          <p:cNvCxnSpPr>
            <a:stCxn id="15439" idx="1"/>
            <a:endCxn id="15433" idx="0"/>
          </p:cNvCxnSpPr>
          <p:nvPr/>
        </p:nvCxnSpPr>
        <p:spPr>
          <a:xfrm rot="10800000">
            <a:off x="1694050" y="1903825"/>
            <a:ext cx="1191300" cy="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5441" name="Google Shape;15441;p590"/>
          <p:cNvSpPr txBox="1"/>
          <p:nvPr/>
        </p:nvSpPr>
        <p:spPr>
          <a:xfrm>
            <a:off x="4429278" y="1200025"/>
            <a:ext cx="1562400" cy="151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don’t match! Matrices are not conformable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442" name="Google Shape;15442;p590"/>
          <p:cNvCxnSpPr>
            <a:stCxn id="15441" idx="3"/>
            <a:endCxn id="15438" idx="0"/>
          </p:cNvCxnSpPr>
          <p:nvPr/>
        </p:nvCxnSpPr>
        <p:spPr>
          <a:xfrm flipH="1" rot="10800000">
            <a:off x="5991678" y="1954225"/>
            <a:ext cx="1058400" cy="2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15443" name="Google Shape;15443;p59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354383" y="2523231"/>
            <a:ext cx="1339049" cy="11620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44" name="Google Shape;15444;p59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799175" y="881800"/>
            <a:ext cx="2567551" cy="2934354"/>
          </a:xfrm>
          <a:prstGeom prst="rect">
            <a:avLst/>
          </a:prstGeom>
          <a:noFill/>
          <a:ln>
            <a:noFill/>
          </a:ln>
        </p:spPr>
      </p:pic>
      <p:sp>
        <p:nvSpPr>
          <p:cNvPr id="15445" name="Google Shape;15445;p590"/>
          <p:cNvSpPr txBox="1"/>
          <p:nvPr>
            <p:ph idx="1" type="body"/>
          </p:nvPr>
        </p:nvSpPr>
        <p:spPr>
          <a:xfrm>
            <a:off x="311700" y="3581675"/>
            <a:ext cx="8520600" cy="9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general you can multiply any A</a:t>
            </a:r>
            <a:r>
              <a:rPr baseline="-25000" lang="en"/>
              <a:t>m x n</a:t>
            </a:r>
            <a:r>
              <a:rPr lang="en"/>
              <a:t> matrix </a:t>
            </a:r>
            <a:r>
              <a:rPr b="1" lang="en" sz="2200"/>
              <a:t>✕ </a:t>
            </a:r>
            <a:r>
              <a:rPr lang="en"/>
              <a:t>any B </a:t>
            </a:r>
            <a:r>
              <a:rPr baseline="-25000" lang="en"/>
              <a:t>q x p</a:t>
            </a:r>
            <a:r>
              <a:rPr lang="en"/>
              <a:t> matrix: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 long as n = q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It doesn’t matter what the values of the outer dimensions is</a:t>
            </a:r>
            <a:endParaRPr/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449" name="Shape 15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50" name="Google Shape;15450;p591"/>
          <p:cNvSpPr/>
          <p:nvPr/>
        </p:nvSpPr>
        <p:spPr>
          <a:xfrm rot="-5334278">
            <a:off x="5284792" y="1812913"/>
            <a:ext cx="1459467" cy="1392720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1" name="Google Shape;15451;p59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Matrix Operations: Matrix Multiplication</a:t>
            </a:r>
            <a:endParaRPr/>
          </a:p>
        </p:txBody>
      </p:sp>
      <p:sp>
        <p:nvSpPr>
          <p:cNvPr id="15452" name="Google Shape;15452;p591"/>
          <p:cNvSpPr/>
          <p:nvPr/>
        </p:nvSpPr>
        <p:spPr>
          <a:xfrm rot="-5345394">
            <a:off x="1204691" y="1585129"/>
            <a:ext cx="377748" cy="760899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3" name="Google Shape;15453;p591"/>
          <p:cNvSpPr txBox="1"/>
          <p:nvPr/>
        </p:nvSpPr>
        <p:spPr>
          <a:xfrm>
            <a:off x="311709" y="1248129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✕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= C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baseline="-25000" lang="en" sz="2200">
                <a:solidFill>
                  <a:srgbClr val="257E12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54" name="Google Shape;15454;p591"/>
          <p:cNvSpPr txBox="1"/>
          <p:nvPr/>
        </p:nvSpPr>
        <p:spPr>
          <a:xfrm>
            <a:off x="4924209" y="1248116"/>
            <a:ext cx="39081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1"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lang="en" sz="2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✕</a:t>
            </a:r>
            <a:r>
              <a:rPr b="1" lang="en" sz="2200">
                <a:latin typeface="Open Sans"/>
                <a:ea typeface="Open Sans"/>
                <a:cs typeface="Open Sans"/>
                <a:sym typeface="Open Sans"/>
              </a:rPr>
              <a:t>   B</a:t>
            </a:r>
            <a:r>
              <a:rPr b="1" baseline="-25000" lang="en" sz="2200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aseline="-25000" lang="en" sz="2200">
                <a:latin typeface="Open Sans"/>
                <a:ea typeface="Open Sans"/>
                <a:cs typeface="Open Sans"/>
                <a:sym typeface="Open Sans"/>
              </a:rPr>
              <a:t> x </a:t>
            </a:r>
            <a:r>
              <a:rPr b="1" baseline="-25000" lang="en" sz="2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4</a:t>
            </a:r>
            <a:r>
              <a:rPr lang="en" sz="2200">
                <a:latin typeface="Open Sans"/>
                <a:ea typeface="Open Sans"/>
                <a:cs typeface="Open Sans"/>
                <a:sym typeface="Open Sans"/>
              </a:rPr>
              <a:t>  = Not defined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55" name="Google Shape;15455;p591"/>
          <p:cNvSpPr/>
          <p:nvPr/>
        </p:nvSpPr>
        <p:spPr>
          <a:xfrm rot="-5344964">
            <a:off x="5853696" y="1599388"/>
            <a:ext cx="449758" cy="732389"/>
          </a:xfrm>
          <a:prstGeom prst="leftBrace">
            <a:avLst>
              <a:gd fmla="val 8333" name="adj1"/>
              <a:gd fmla="val 51810" name="adj2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6" name="Google Shape;15456;p591"/>
          <p:cNvSpPr txBox="1"/>
          <p:nvPr/>
        </p:nvSpPr>
        <p:spPr>
          <a:xfrm>
            <a:off x="5482925" y="2156100"/>
            <a:ext cx="12420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57" name="Google Shape;15457;p591"/>
          <p:cNvSpPr txBox="1"/>
          <p:nvPr/>
        </p:nvSpPr>
        <p:spPr>
          <a:xfrm>
            <a:off x="731175" y="2156113"/>
            <a:ext cx="1324800" cy="39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Inner dimensions  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58" name="Google Shape;15458;p591"/>
          <p:cNvSpPr txBox="1"/>
          <p:nvPr/>
        </p:nvSpPr>
        <p:spPr>
          <a:xfrm>
            <a:off x="5068925" y="3226200"/>
            <a:ext cx="1891200" cy="32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59" name="Google Shape;15459;p591"/>
          <p:cNvSpPr/>
          <p:nvPr/>
        </p:nvSpPr>
        <p:spPr>
          <a:xfrm rot="-5334278">
            <a:off x="663842" y="1812925"/>
            <a:ext cx="1459467" cy="1392720"/>
          </a:xfrm>
          <a:prstGeom prst="leftBrace">
            <a:avLst>
              <a:gd fmla="val 8333" name="adj1"/>
              <a:gd fmla="val 51420" name="adj2"/>
            </a:avLst>
          </a:prstGeom>
          <a:noFill/>
          <a:ln cap="flat" cmpd="sng" w="28575">
            <a:solidFill>
              <a:srgbClr val="00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0" name="Google Shape;15460;p591"/>
          <p:cNvSpPr txBox="1"/>
          <p:nvPr/>
        </p:nvSpPr>
        <p:spPr>
          <a:xfrm>
            <a:off x="447975" y="3226213"/>
            <a:ext cx="1891200" cy="32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Outer dimensions</a:t>
            </a:r>
            <a:endParaRPr b="1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rPr>
              <a:t>.</a:t>
            </a:r>
            <a:endParaRPr b="1" sz="1200">
              <a:solidFill>
                <a:srgbClr val="0000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461" name="Google Shape;15461;p591"/>
          <p:cNvSpPr txBox="1"/>
          <p:nvPr>
            <p:ph idx="1" type="body"/>
          </p:nvPr>
        </p:nvSpPr>
        <p:spPr>
          <a:xfrm>
            <a:off x="311700" y="3581675"/>
            <a:ext cx="8520600" cy="9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The outer dimensions determine the dimensions of the resulting matrix such that </a:t>
            </a:r>
            <a:r>
              <a:rPr b="1" lang="en"/>
              <a:t>A</a:t>
            </a:r>
            <a:r>
              <a:rPr b="1" baseline="-25000" lang="en"/>
              <a:t>m x n</a:t>
            </a:r>
            <a:r>
              <a:rPr b="1" lang="en"/>
              <a:t> ✕  B </a:t>
            </a:r>
            <a:r>
              <a:rPr b="1" baseline="-25000" lang="en"/>
              <a:t>q x p</a:t>
            </a:r>
            <a:r>
              <a:rPr b="1" lang="en"/>
              <a:t> = C </a:t>
            </a:r>
            <a:r>
              <a:rPr b="1" baseline="-25000" lang="en"/>
              <a:t>m x p</a:t>
            </a:r>
            <a:endParaRPr b="1" baseline="-25000"/>
          </a:p>
        </p:txBody>
      </p:sp>
      <p:sp>
        <p:nvSpPr>
          <p:cNvPr id="15462" name="Google Shape;15462;p591"/>
          <p:cNvSpPr txBox="1"/>
          <p:nvPr/>
        </p:nvSpPr>
        <p:spPr>
          <a:xfrm>
            <a:off x="2286600" y="2393400"/>
            <a:ext cx="2202600" cy="115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Product matrix C is 3 X 4 same as the outer dimensions</a:t>
            </a:r>
            <a:endParaRPr b="1" sz="1800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5463" name="Google Shape;15463;p591"/>
          <p:cNvCxnSpPr>
            <a:stCxn id="15462" idx="0"/>
          </p:cNvCxnSpPr>
          <p:nvPr/>
        </p:nvCxnSpPr>
        <p:spPr>
          <a:xfrm rot="10800000">
            <a:off x="3019500" y="1770300"/>
            <a:ext cx="368400" cy="6231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467" name="Shape 15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8" name="Google Shape;15468;p592"/>
          <p:cNvSpPr/>
          <p:nvPr/>
        </p:nvSpPr>
        <p:spPr>
          <a:xfrm rot="-5344590">
            <a:off x="5603011" y="3327153"/>
            <a:ext cx="1507696" cy="1282662"/>
          </a:xfrm>
          <a:prstGeom prst="leftBrace">
            <a:avLst>
              <a:gd fmla="val 8333" name="adj1"/>
              <a:gd fmla="val 54471" name="adj2"/>
            </a:avLst>
          </a:prstGeom>
          <a:noFill/>
          <a:ln cap="flat" cmpd="sng" w="19050">
            <a:solidFill>
              <a:srgbClr val="257E1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9" name="Google Shape;15469;p592"/>
          <p:cNvSpPr/>
          <p:nvPr/>
        </p:nvSpPr>
        <p:spPr>
          <a:xfrm rot="-5344590">
            <a:off x="1138486" y="3327153"/>
            <a:ext cx="1507696" cy="1282662"/>
          </a:xfrm>
          <a:prstGeom prst="leftBrace">
            <a:avLst>
              <a:gd fmla="val 8333" name="adj1"/>
              <a:gd fmla="val 54471" name="adj2"/>
            </a:avLst>
          </a:prstGeom>
          <a:noFill/>
          <a:ln cap="flat" cmpd="sng" w="19050">
            <a:solidFill>
              <a:srgbClr val="257E1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0" name="Google Shape;15470;p592"/>
          <p:cNvSpPr txBox="1"/>
          <p:nvPr/>
        </p:nvSpPr>
        <p:spPr>
          <a:xfrm>
            <a:off x="813184" y="2728816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Josefin Slab"/>
                <a:ea typeface="Josefin Slab"/>
                <a:cs typeface="Josefin Slab"/>
                <a:sym typeface="Josefin Slab"/>
              </a:rPr>
              <a:t>A</a:t>
            </a:r>
            <a:r>
              <a:rPr b="1" baseline="-25000" lang="en" sz="2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3</a:t>
            </a:r>
            <a:r>
              <a:rPr b="1" baseline="-25000" lang="en" sz="2200">
                <a:latin typeface="Josefin Slab"/>
                <a:ea typeface="Josefin Slab"/>
                <a:cs typeface="Josefin Slab"/>
                <a:sym typeface="Josefin Slab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Josefin Slab"/>
                <a:ea typeface="Josefin Slab"/>
                <a:cs typeface="Josefin Slab"/>
                <a:sym typeface="Josefin Slab"/>
              </a:rPr>
              <a:t>2</a:t>
            </a:r>
            <a:r>
              <a:rPr b="1" lang="en" sz="2200">
                <a:latin typeface="Josefin Slab"/>
                <a:ea typeface="Josefin Slab"/>
                <a:cs typeface="Josefin Slab"/>
                <a:sym typeface="Josefin Slab"/>
              </a:rPr>
              <a:t> x   A</a:t>
            </a:r>
            <a:r>
              <a:rPr b="1" baseline="30000" lang="en" sz="2200">
                <a:latin typeface="Josefin Slab"/>
                <a:ea typeface="Josefin Slab"/>
                <a:cs typeface="Josefin Slab"/>
                <a:sym typeface="Josefin Slab"/>
              </a:rPr>
              <a:t>T</a:t>
            </a:r>
            <a:r>
              <a:rPr b="1" baseline="-25000" lang="en" sz="2200">
                <a:solidFill>
                  <a:srgbClr val="FF0000"/>
                </a:solidFill>
                <a:latin typeface="Josefin Slab"/>
                <a:ea typeface="Josefin Slab"/>
                <a:cs typeface="Josefin Slab"/>
                <a:sym typeface="Josefin Slab"/>
              </a:rPr>
              <a:t>2</a:t>
            </a:r>
            <a:r>
              <a:rPr b="1" baseline="-25000" lang="en" sz="2200">
                <a:latin typeface="Josefin Slab"/>
                <a:ea typeface="Josefin Slab"/>
                <a:cs typeface="Josefin Slab"/>
                <a:sym typeface="Josefin Slab"/>
              </a:rPr>
              <a:t> x </a:t>
            </a:r>
            <a:r>
              <a:rPr b="1" baseline="-25000" lang="en" sz="2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3</a:t>
            </a:r>
            <a:r>
              <a:rPr b="1" lang="en" sz="2200">
                <a:latin typeface="Josefin Slab"/>
                <a:ea typeface="Josefin Slab"/>
                <a:cs typeface="Josefin Slab"/>
                <a:sym typeface="Josefin Slab"/>
              </a:rPr>
              <a:t>  = C</a:t>
            </a:r>
            <a:r>
              <a:rPr b="1" baseline="-25000" lang="en" sz="2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3 </a:t>
            </a:r>
            <a:r>
              <a:rPr b="1" baseline="-25000" lang="en" sz="2200">
                <a:latin typeface="Josefin Slab"/>
                <a:ea typeface="Josefin Slab"/>
                <a:cs typeface="Josefin Slab"/>
                <a:sym typeface="Josefin Slab"/>
              </a:rPr>
              <a:t>x </a:t>
            </a:r>
            <a:r>
              <a:rPr b="1" baseline="-25000" lang="en" sz="2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3</a:t>
            </a:r>
            <a:endParaRPr b="1"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471" name="Google Shape;15471;p592"/>
          <p:cNvSpPr txBox="1"/>
          <p:nvPr/>
        </p:nvSpPr>
        <p:spPr>
          <a:xfrm>
            <a:off x="1258213" y="3527466"/>
            <a:ext cx="1315200" cy="47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Josefin Slab"/>
                <a:ea typeface="Josefin Slab"/>
                <a:cs typeface="Josefin Slab"/>
                <a:sym typeface="Josefin Slab"/>
              </a:rPr>
              <a:t>Inner dims. match!</a:t>
            </a:r>
            <a:endParaRPr b="1" sz="1200">
              <a:solidFill>
                <a:srgbClr val="FF0000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472" name="Google Shape;15472;p59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Matrix Operations: Matrix Multiplication</a:t>
            </a:r>
            <a:endParaRPr/>
          </a:p>
        </p:txBody>
      </p:sp>
      <p:sp>
        <p:nvSpPr>
          <p:cNvPr id="15473" name="Google Shape;15473;p592"/>
          <p:cNvSpPr txBox="1"/>
          <p:nvPr>
            <p:ph idx="1" type="body"/>
          </p:nvPr>
        </p:nvSpPr>
        <p:spPr>
          <a:xfrm>
            <a:off x="311700" y="1225225"/>
            <a:ext cx="8331600" cy="15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Turns out that the product of any matrix (</a:t>
            </a:r>
            <a:r>
              <a:rPr b="1" lang="en"/>
              <a:t>A</a:t>
            </a:r>
            <a:r>
              <a:rPr lang="en"/>
              <a:t>) times its transpose (</a:t>
            </a:r>
            <a:r>
              <a:rPr b="1" lang="en"/>
              <a:t>A</a:t>
            </a:r>
            <a:r>
              <a:rPr b="1" baseline="30000" lang="en"/>
              <a:t>T</a:t>
            </a:r>
            <a:r>
              <a:rPr lang="en"/>
              <a:t>)</a:t>
            </a:r>
            <a:r>
              <a:rPr baseline="30000" lang="en"/>
              <a:t> </a:t>
            </a:r>
            <a:r>
              <a:rPr lang="en"/>
              <a:t>is always defined!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So is the product of the transpose (</a:t>
            </a:r>
            <a:r>
              <a:rPr b="1" lang="en"/>
              <a:t>A</a:t>
            </a:r>
            <a:r>
              <a:rPr b="1" baseline="30000" lang="en"/>
              <a:t>T</a:t>
            </a:r>
            <a:r>
              <a:rPr lang="en"/>
              <a:t>) times the original matrix (</a:t>
            </a:r>
            <a:r>
              <a:rPr b="1" lang="en"/>
              <a:t>A</a:t>
            </a:r>
            <a:r>
              <a:rPr lang="en"/>
              <a:t>)!</a:t>
            </a:r>
            <a:endParaRPr/>
          </a:p>
        </p:txBody>
      </p:sp>
      <p:sp>
        <p:nvSpPr>
          <p:cNvPr id="15474" name="Google Shape;15474;p592"/>
          <p:cNvSpPr/>
          <p:nvPr/>
        </p:nvSpPr>
        <p:spPr>
          <a:xfrm rot="-5345394">
            <a:off x="1706166" y="3022592"/>
            <a:ext cx="377748" cy="760899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5" name="Google Shape;15475;p592"/>
          <p:cNvSpPr txBox="1"/>
          <p:nvPr/>
        </p:nvSpPr>
        <p:spPr>
          <a:xfrm>
            <a:off x="1359540" y="4606800"/>
            <a:ext cx="11274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38761D"/>
                </a:solidFill>
                <a:latin typeface="Josefin Slab"/>
                <a:ea typeface="Josefin Slab"/>
                <a:cs typeface="Josefin Slab"/>
                <a:sym typeface="Josefin Slab"/>
              </a:rPr>
              <a:t>Outer dims.</a:t>
            </a:r>
            <a:endParaRPr b="1" sz="1200">
              <a:solidFill>
                <a:srgbClr val="38761D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cxnSp>
        <p:nvCxnSpPr>
          <p:cNvPr id="15476" name="Google Shape;15476;p592"/>
          <p:cNvCxnSpPr>
            <a:stCxn id="15475" idx="3"/>
          </p:cNvCxnSpPr>
          <p:nvPr/>
        </p:nvCxnSpPr>
        <p:spPr>
          <a:xfrm flipH="1" rot="10800000">
            <a:off x="2486940" y="3281100"/>
            <a:ext cx="887700" cy="1476000"/>
          </a:xfrm>
          <a:prstGeom prst="straightConnector1">
            <a:avLst/>
          </a:prstGeom>
          <a:noFill/>
          <a:ln cap="flat" cmpd="sng" w="19050">
            <a:solidFill>
              <a:srgbClr val="5B595A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5477" name="Google Shape;15477;p592"/>
          <p:cNvSpPr/>
          <p:nvPr/>
        </p:nvSpPr>
        <p:spPr>
          <a:xfrm rot="-5345394">
            <a:off x="6170691" y="3022592"/>
            <a:ext cx="377748" cy="760899"/>
          </a:xfrm>
          <a:prstGeom prst="leftBrace">
            <a:avLst>
              <a:gd fmla="val 8333" name="adj1"/>
              <a:gd fmla="val 54154" name="adj2"/>
            </a:avLst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0000"/>
              </a:solidFill>
            </a:endParaRPr>
          </a:p>
        </p:txBody>
      </p:sp>
      <p:sp>
        <p:nvSpPr>
          <p:cNvPr id="15478" name="Google Shape;15478;p592"/>
          <p:cNvSpPr txBox="1"/>
          <p:nvPr/>
        </p:nvSpPr>
        <p:spPr>
          <a:xfrm>
            <a:off x="5722738" y="3527466"/>
            <a:ext cx="1315200" cy="47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0000"/>
                </a:solidFill>
                <a:latin typeface="Josefin Slab"/>
                <a:ea typeface="Josefin Slab"/>
                <a:cs typeface="Josefin Slab"/>
                <a:sym typeface="Josefin Slab"/>
              </a:rPr>
              <a:t>Inner dims. match!</a:t>
            </a:r>
            <a:endParaRPr b="1" sz="1200">
              <a:solidFill>
                <a:srgbClr val="FF0000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479" name="Google Shape;15479;p592"/>
          <p:cNvSpPr txBox="1"/>
          <p:nvPr/>
        </p:nvSpPr>
        <p:spPr>
          <a:xfrm>
            <a:off x="5824065" y="4606800"/>
            <a:ext cx="1127400" cy="30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Outer dims.</a:t>
            </a:r>
            <a:endParaRPr b="1" sz="1200">
              <a:solidFill>
                <a:srgbClr val="257E12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480" name="Google Shape;15480;p592"/>
          <p:cNvSpPr txBox="1"/>
          <p:nvPr/>
        </p:nvSpPr>
        <p:spPr>
          <a:xfrm>
            <a:off x="5277709" y="2728816"/>
            <a:ext cx="29217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latin typeface="Josefin Slab"/>
                <a:ea typeface="Josefin Slab"/>
                <a:cs typeface="Josefin Slab"/>
                <a:sym typeface="Josefin Slab"/>
              </a:rPr>
              <a:t>A</a:t>
            </a:r>
            <a:r>
              <a:rPr b="1" baseline="30000" lang="en" sz="2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T</a:t>
            </a:r>
            <a:r>
              <a:rPr b="1" baseline="-25000" lang="en" sz="2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2</a:t>
            </a:r>
            <a:r>
              <a:rPr b="1" baseline="-25000" lang="en" sz="2200">
                <a:latin typeface="Josefin Slab"/>
                <a:ea typeface="Josefin Slab"/>
                <a:cs typeface="Josefin Slab"/>
                <a:sym typeface="Josefin Slab"/>
              </a:rPr>
              <a:t> x </a:t>
            </a:r>
            <a:r>
              <a:rPr b="1" baseline="-25000" lang="en" sz="2200">
                <a:solidFill>
                  <a:srgbClr val="FF0000"/>
                </a:solidFill>
                <a:latin typeface="Josefin Slab"/>
                <a:ea typeface="Josefin Slab"/>
                <a:cs typeface="Josefin Slab"/>
                <a:sym typeface="Josefin Slab"/>
              </a:rPr>
              <a:t>3</a:t>
            </a:r>
            <a:r>
              <a:rPr b="1" lang="en" sz="2200">
                <a:latin typeface="Josefin Slab"/>
                <a:ea typeface="Josefin Slab"/>
                <a:cs typeface="Josefin Slab"/>
                <a:sym typeface="Josefin Slab"/>
              </a:rPr>
              <a:t> x   A</a:t>
            </a:r>
            <a:r>
              <a:rPr b="1" baseline="-25000" lang="en" sz="2200">
                <a:solidFill>
                  <a:srgbClr val="FF0000"/>
                </a:solidFill>
                <a:latin typeface="Josefin Slab"/>
                <a:ea typeface="Josefin Slab"/>
                <a:cs typeface="Josefin Slab"/>
                <a:sym typeface="Josefin Slab"/>
              </a:rPr>
              <a:t>3 </a:t>
            </a:r>
            <a:r>
              <a:rPr b="1" baseline="-25000" lang="en" sz="2200">
                <a:latin typeface="Josefin Slab"/>
                <a:ea typeface="Josefin Slab"/>
                <a:cs typeface="Josefin Slab"/>
                <a:sym typeface="Josefin Slab"/>
              </a:rPr>
              <a:t>x </a:t>
            </a:r>
            <a:r>
              <a:rPr b="1" baseline="-25000" lang="en" sz="2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2</a:t>
            </a:r>
            <a:r>
              <a:rPr b="1" lang="en" sz="2200">
                <a:latin typeface="Josefin Slab"/>
                <a:ea typeface="Josefin Slab"/>
                <a:cs typeface="Josefin Slab"/>
                <a:sym typeface="Josefin Slab"/>
              </a:rPr>
              <a:t>  = C</a:t>
            </a:r>
            <a:r>
              <a:rPr b="1" baseline="-25000" lang="en" sz="2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2 </a:t>
            </a:r>
            <a:r>
              <a:rPr b="1" baseline="-25000" lang="en" sz="2200">
                <a:latin typeface="Josefin Slab"/>
                <a:ea typeface="Josefin Slab"/>
                <a:cs typeface="Josefin Slab"/>
                <a:sym typeface="Josefin Slab"/>
              </a:rPr>
              <a:t>x </a:t>
            </a:r>
            <a:r>
              <a:rPr b="1" baseline="-25000" lang="en" sz="2200">
                <a:solidFill>
                  <a:srgbClr val="257E12"/>
                </a:solidFill>
                <a:latin typeface="Josefin Slab"/>
                <a:ea typeface="Josefin Slab"/>
                <a:cs typeface="Josefin Slab"/>
                <a:sym typeface="Josefin Slab"/>
              </a:rPr>
              <a:t>2</a:t>
            </a:r>
            <a:endParaRPr b="1">
              <a:latin typeface="Josefin Slab"/>
              <a:ea typeface="Josefin Slab"/>
              <a:cs typeface="Josefin Slab"/>
              <a:sym typeface="Josefin Slab"/>
            </a:endParaRPr>
          </a:p>
        </p:txBody>
      </p:sp>
      <p:cxnSp>
        <p:nvCxnSpPr>
          <p:cNvPr id="15481" name="Google Shape;15481;p592"/>
          <p:cNvCxnSpPr>
            <a:stCxn id="15479" idx="3"/>
          </p:cNvCxnSpPr>
          <p:nvPr/>
        </p:nvCxnSpPr>
        <p:spPr>
          <a:xfrm flipH="1" rot="10800000">
            <a:off x="6951465" y="3281100"/>
            <a:ext cx="887700" cy="1476000"/>
          </a:xfrm>
          <a:prstGeom prst="straightConnector1">
            <a:avLst/>
          </a:prstGeom>
          <a:noFill/>
          <a:ln cap="flat" cmpd="sng" w="19050">
            <a:solidFill>
              <a:srgbClr val="5B595A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485" name="Shape 15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86" name="Google Shape;15486;p59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Co-membership matrix</a:t>
            </a:r>
            <a:endParaRPr/>
          </a:p>
        </p:txBody>
      </p:sp>
      <p:graphicFrame>
        <p:nvGraphicFramePr>
          <p:cNvPr id="15487" name="Google Shape;15487;p593"/>
          <p:cNvGraphicFramePr/>
          <p:nvPr/>
        </p:nvGraphicFramePr>
        <p:xfrm>
          <a:off x="1005200" y="11461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33500"/>
                <a:gridCol w="437050"/>
                <a:gridCol w="437050"/>
                <a:gridCol w="437050"/>
                <a:gridCol w="437050"/>
                <a:gridCol w="4370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Gabriela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Parker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Brandon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Marie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Rahul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488" name="Google Shape;15488;p593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489" name="Google Shape;15489;p593"/>
          <p:cNvGraphicFramePr/>
          <p:nvPr/>
        </p:nvGraphicFramePr>
        <p:xfrm>
          <a:off x="4804063" y="10641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58925"/>
                <a:gridCol w="424075"/>
                <a:gridCol w="424075"/>
                <a:gridCol w="424075"/>
                <a:gridCol w="424075"/>
                <a:gridCol w="424075"/>
                <a:gridCol w="424075"/>
              </a:tblGrid>
              <a:tr h="3525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Minjoo</a:t>
                      </a:r>
                      <a:endParaRPr sz="800"/>
                    </a:p>
                  </a:txBody>
                  <a:tcPr marT="0" marB="0" marR="0" marL="0" anchor="ctr"/>
                </a:tc>
              </a:tr>
              <a:tr h="3228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15490" name="Google Shape;15490;p593"/>
          <p:cNvGraphicFramePr/>
          <p:nvPr/>
        </p:nvGraphicFramePr>
        <p:xfrm>
          <a:off x="2643675" y="31836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22350"/>
                <a:gridCol w="526650"/>
                <a:gridCol w="526650"/>
                <a:gridCol w="526650"/>
                <a:gridCol w="526650"/>
                <a:gridCol w="526650"/>
                <a:gridCol w="5266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 b="1"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Gabriela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Parker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Brandon</a:t>
                      </a:r>
                      <a:endParaRPr b="1" sz="9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Marie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Rahul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Minjoo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491" name="Google Shape;15491;p593"/>
          <p:cNvSpPr txBox="1"/>
          <p:nvPr/>
        </p:nvSpPr>
        <p:spPr>
          <a:xfrm>
            <a:off x="3865000" y="1857075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✕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92" name="Google Shape;15492;p593"/>
          <p:cNvSpPr txBox="1"/>
          <p:nvPr/>
        </p:nvSpPr>
        <p:spPr>
          <a:xfrm>
            <a:off x="1875750" y="3786763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Open Sans"/>
                <a:ea typeface="Open Sans"/>
                <a:cs typeface="Open Sans"/>
                <a:sym typeface="Open Sans"/>
              </a:rPr>
              <a:t>=</a:t>
            </a:r>
            <a:endParaRPr sz="36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93" name="Google Shape;15493;p593"/>
          <p:cNvSpPr txBox="1"/>
          <p:nvPr/>
        </p:nvSpPr>
        <p:spPr>
          <a:xfrm>
            <a:off x="97275" y="1769175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94" name="Google Shape;15494;p593"/>
          <p:cNvSpPr txBox="1"/>
          <p:nvPr/>
        </p:nvSpPr>
        <p:spPr>
          <a:xfrm>
            <a:off x="7959225" y="16614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aseline="30000" lang="en" sz="3000">
                <a:latin typeface="Open Sans"/>
                <a:ea typeface="Open Sans"/>
                <a:cs typeface="Open Sans"/>
                <a:sym typeface="Open Sans"/>
              </a:rPr>
              <a:t>T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495" name="Google Shape;15495;p593"/>
          <p:cNvSpPr txBox="1"/>
          <p:nvPr/>
        </p:nvSpPr>
        <p:spPr>
          <a:xfrm>
            <a:off x="6537050" y="42348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499" name="Shape 1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00" name="Google Shape;15500;p59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Co-membership matrix</a:t>
            </a:r>
            <a:endParaRPr/>
          </a:p>
        </p:txBody>
      </p:sp>
      <p:graphicFrame>
        <p:nvGraphicFramePr>
          <p:cNvPr id="15501" name="Google Shape;15501;p594"/>
          <p:cNvGraphicFramePr/>
          <p:nvPr/>
        </p:nvGraphicFramePr>
        <p:xfrm>
          <a:off x="1005200" y="11461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33500"/>
                <a:gridCol w="437050"/>
                <a:gridCol w="437050"/>
                <a:gridCol w="437050"/>
                <a:gridCol w="437050"/>
                <a:gridCol w="4370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Gabriela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Parker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Brandon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Marie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Rahul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502" name="Google Shape;15502;p594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503" name="Google Shape;15503;p594"/>
          <p:cNvGraphicFramePr/>
          <p:nvPr/>
        </p:nvGraphicFramePr>
        <p:xfrm>
          <a:off x="4804063" y="10641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58925"/>
                <a:gridCol w="424075"/>
                <a:gridCol w="424075"/>
                <a:gridCol w="424075"/>
                <a:gridCol w="424075"/>
                <a:gridCol w="424075"/>
                <a:gridCol w="424075"/>
              </a:tblGrid>
              <a:tr h="3525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Minjoo</a:t>
                      </a:r>
                      <a:endParaRPr sz="800"/>
                    </a:p>
                  </a:txBody>
                  <a:tcPr marT="0" marB="0" marR="0" marL="0" anchor="ctr"/>
                </a:tc>
              </a:tr>
              <a:tr h="3228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15504" name="Google Shape;15504;p594"/>
          <p:cNvGraphicFramePr/>
          <p:nvPr/>
        </p:nvGraphicFramePr>
        <p:xfrm>
          <a:off x="2643675" y="31836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22350"/>
                <a:gridCol w="526650"/>
                <a:gridCol w="526650"/>
                <a:gridCol w="526650"/>
                <a:gridCol w="526650"/>
                <a:gridCol w="526650"/>
                <a:gridCol w="5266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 b="1"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Gabriela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Parker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Brandon</a:t>
                      </a:r>
                      <a:endParaRPr b="1" sz="9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Marie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Rahul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Minjoo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505" name="Google Shape;15505;p594"/>
          <p:cNvSpPr txBox="1"/>
          <p:nvPr/>
        </p:nvSpPr>
        <p:spPr>
          <a:xfrm>
            <a:off x="3865000" y="1857075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✕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06" name="Google Shape;15506;p594"/>
          <p:cNvSpPr txBox="1"/>
          <p:nvPr/>
        </p:nvSpPr>
        <p:spPr>
          <a:xfrm>
            <a:off x="1875750" y="3786763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Open Sans"/>
                <a:ea typeface="Open Sans"/>
                <a:cs typeface="Open Sans"/>
                <a:sym typeface="Open Sans"/>
              </a:rPr>
              <a:t>=</a:t>
            </a:r>
            <a:endParaRPr sz="36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07" name="Google Shape;15507;p594"/>
          <p:cNvSpPr txBox="1"/>
          <p:nvPr/>
        </p:nvSpPr>
        <p:spPr>
          <a:xfrm>
            <a:off x="6635675" y="3309825"/>
            <a:ext cx="2303400" cy="69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= (1 * 0) + (0 * 1) + (1 * 0) + (0 * 1) + (1 * 0)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08" name="Google Shape;15508;p594"/>
          <p:cNvSpPr txBox="1"/>
          <p:nvPr/>
        </p:nvSpPr>
        <p:spPr>
          <a:xfrm>
            <a:off x="97275" y="1769175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09" name="Google Shape;15509;p594"/>
          <p:cNvSpPr txBox="1"/>
          <p:nvPr/>
        </p:nvSpPr>
        <p:spPr>
          <a:xfrm>
            <a:off x="7959225" y="16614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aseline="30000" lang="en" sz="3000">
                <a:latin typeface="Open Sans"/>
                <a:ea typeface="Open Sans"/>
                <a:cs typeface="Open Sans"/>
                <a:sym typeface="Open Sans"/>
              </a:rPr>
              <a:t>T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10" name="Google Shape;15510;p594"/>
          <p:cNvSpPr txBox="1"/>
          <p:nvPr/>
        </p:nvSpPr>
        <p:spPr>
          <a:xfrm>
            <a:off x="6537050" y="42348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14" name="Shape 15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5" name="Google Shape;15515;p59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Co-membership matrix</a:t>
            </a:r>
            <a:endParaRPr/>
          </a:p>
        </p:txBody>
      </p:sp>
      <p:graphicFrame>
        <p:nvGraphicFramePr>
          <p:cNvPr id="15516" name="Google Shape;15516;p595"/>
          <p:cNvGraphicFramePr/>
          <p:nvPr/>
        </p:nvGraphicFramePr>
        <p:xfrm>
          <a:off x="1005200" y="11461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33500"/>
                <a:gridCol w="437050"/>
                <a:gridCol w="437050"/>
                <a:gridCol w="437050"/>
                <a:gridCol w="437050"/>
                <a:gridCol w="4370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Gabriela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Parker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Brandon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Marie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Rahul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517" name="Google Shape;15517;p595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518" name="Google Shape;15518;p595"/>
          <p:cNvGraphicFramePr/>
          <p:nvPr/>
        </p:nvGraphicFramePr>
        <p:xfrm>
          <a:off x="4804063" y="10641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58925"/>
                <a:gridCol w="424075"/>
                <a:gridCol w="424075"/>
                <a:gridCol w="424075"/>
                <a:gridCol w="424075"/>
                <a:gridCol w="424075"/>
                <a:gridCol w="424075"/>
              </a:tblGrid>
              <a:tr h="3525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Minjoo</a:t>
                      </a:r>
                      <a:endParaRPr sz="800"/>
                    </a:p>
                  </a:txBody>
                  <a:tcPr marT="0" marB="0" marR="0" marL="0" anchor="ctr"/>
                </a:tc>
              </a:tr>
              <a:tr h="3228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15519" name="Google Shape;15519;p595"/>
          <p:cNvGraphicFramePr/>
          <p:nvPr/>
        </p:nvGraphicFramePr>
        <p:xfrm>
          <a:off x="2643675" y="31836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22350"/>
                <a:gridCol w="526650"/>
                <a:gridCol w="526650"/>
                <a:gridCol w="526650"/>
                <a:gridCol w="526650"/>
                <a:gridCol w="526650"/>
                <a:gridCol w="5266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 b="1"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Gabriela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Parker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Brandon</a:t>
                      </a:r>
                      <a:endParaRPr b="1" sz="9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Marie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Rahul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Minjoo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520" name="Google Shape;15520;p595"/>
          <p:cNvSpPr txBox="1"/>
          <p:nvPr/>
        </p:nvSpPr>
        <p:spPr>
          <a:xfrm>
            <a:off x="3865000" y="1857075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✕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21" name="Google Shape;15521;p595"/>
          <p:cNvSpPr txBox="1"/>
          <p:nvPr/>
        </p:nvSpPr>
        <p:spPr>
          <a:xfrm>
            <a:off x="1875750" y="3786763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Open Sans"/>
                <a:ea typeface="Open Sans"/>
                <a:cs typeface="Open Sans"/>
                <a:sym typeface="Open Sans"/>
              </a:rPr>
              <a:t>=</a:t>
            </a:r>
            <a:endParaRPr sz="36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22" name="Google Shape;15522;p595"/>
          <p:cNvSpPr txBox="1"/>
          <p:nvPr/>
        </p:nvSpPr>
        <p:spPr>
          <a:xfrm>
            <a:off x="6635675" y="3309825"/>
            <a:ext cx="2329500" cy="69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= (0 * 1) + (1 * 0) + (0 * 1) + (1 * 0) + (0 * 1)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23" name="Google Shape;15523;p595"/>
          <p:cNvSpPr txBox="1"/>
          <p:nvPr/>
        </p:nvSpPr>
        <p:spPr>
          <a:xfrm>
            <a:off x="97275" y="1769175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24" name="Google Shape;15524;p595"/>
          <p:cNvSpPr txBox="1"/>
          <p:nvPr/>
        </p:nvSpPr>
        <p:spPr>
          <a:xfrm>
            <a:off x="7959225" y="16614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aseline="30000" lang="en" sz="3000">
                <a:latin typeface="Open Sans"/>
                <a:ea typeface="Open Sans"/>
                <a:cs typeface="Open Sans"/>
                <a:sym typeface="Open Sans"/>
              </a:rPr>
              <a:t>T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25" name="Google Shape;15525;p595"/>
          <p:cNvSpPr txBox="1"/>
          <p:nvPr/>
        </p:nvSpPr>
        <p:spPr>
          <a:xfrm>
            <a:off x="6537050" y="42348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29" name="Shape 15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30" name="Google Shape;15530;p59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Co-membership matrix</a:t>
            </a:r>
            <a:endParaRPr/>
          </a:p>
        </p:txBody>
      </p:sp>
      <p:graphicFrame>
        <p:nvGraphicFramePr>
          <p:cNvPr id="15531" name="Google Shape;15531;p596"/>
          <p:cNvGraphicFramePr/>
          <p:nvPr/>
        </p:nvGraphicFramePr>
        <p:xfrm>
          <a:off x="1005200" y="11461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33500"/>
                <a:gridCol w="437050"/>
                <a:gridCol w="437050"/>
                <a:gridCol w="437050"/>
                <a:gridCol w="437050"/>
                <a:gridCol w="4370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Gabriela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Parker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Brandon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Marie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Rahul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532" name="Google Shape;15532;p596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533" name="Google Shape;15533;p596"/>
          <p:cNvGraphicFramePr/>
          <p:nvPr/>
        </p:nvGraphicFramePr>
        <p:xfrm>
          <a:off x="4804063" y="10641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58925"/>
                <a:gridCol w="424075"/>
                <a:gridCol w="424075"/>
                <a:gridCol w="424075"/>
                <a:gridCol w="424075"/>
                <a:gridCol w="424075"/>
                <a:gridCol w="424075"/>
              </a:tblGrid>
              <a:tr h="3525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Minjoo</a:t>
                      </a:r>
                      <a:endParaRPr sz="800"/>
                    </a:p>
                  </a:txBody>
                  <a:tcPr marT="0" marB="0" marR="0" marL="0" anchor="ctr"/>
                </a:tc>
              </a:tr>
              <a:tr h="3228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15534" name="Google Shape;15534;p596"/>
          <p:cNvGraphicFramePr/>
          <p:nvPr/>
        </p:nvGraphicFramePr>
        <p:xfrm>
          <a:off x="2643675" y="31836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22350"/>
                <a:gridCol w="526650"/>
                <a:gridCol w="526650"/>
                <a:gridCol w="526650"/>
                <a:gridCol w="526650"/>
                <a:gridCol w="526650"/>
                <a:gridCol w="5266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 b="1"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Gabriela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Parker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Brandon</a:t>
                      </a:r>
                      <a:endParaRPr b="1" sz="9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Marie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Rahul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Minjoo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535" name="Google Shape;15535;p596"/>
          <p:cNvSpPr txBox="1"/>
          <p:nvPr/>
        </p:nvSpPr>
        <p:spPr>
          <a:xfrm>
            <a:off x="3865000" y="1857075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✕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36" name="Google Shape;15536;p596"/>
          <p:cNvSpPr txBox="1"/>
          <p:nvPr/>
        </p:nvSpPr>
        <p:spPr>
          <a:xfrm>
            <a:off x="1875750" y="3786763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Open Sans"/>
                <a:ea typeface="Open Sans"/>
                <a:cs typeface="Open Sans"/>
                <a:sym typeface="Open Sans"/>
              </a:rPr>
              <a:t>=</a:t>
            </a:r>
            <a:endParaRPr sz="36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37" name="Google Shape;15537;p596"/>
          <p:cNvSpPr txBox="1"/>
          <p:nvPr/>
        </p:nvSpPr>
        <p:spPr>
          <a:xfrm>
            <a:off x="6635675" y="3309825"/>
            <a:ext cx="2329500" cy="69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= </a:t>
            </a: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(1 * 1)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+ (0 * 0) + </a:t>
            </a: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(1 * 1)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+ (0 * 0) + (1 * 0)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38" name="Google Shape;15538;p596"/>
          <p:cNvSpPr txBox="1"/>
          <p:nvPr/>
        </p:nvSpPr>
        <p:spPr>
          <a:xfrm>
            <a:off x="97275" y="1769175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39" name="Google Shape;15539;p596"/>
          <p:cNvSpPr txBox="1"/>
          <p:nvPr/>
        </p:nvSpPr>
        <p:spPr>
          <a:xfrm>
            <a:off x="7959225" y="16614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aseline="30000" lang="en" sz="3000">
                <a:latin typeface="Open Sans"/>
                <a:ea typeface="Open Sans"/>
                <a:cs typeface="Open Sans"/>
                <a:sym typeface="Open Sans"/>
              </a:rPr>
              <a:t>T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40" name="Google Shape;15540;p596"/>
          <p:cNvSpPr txBox="1"/>
          <p:nvPr/>
        </p:nvSpPr>
        <p:spPr>
          <a:xfrm>
            <a:off x="6537050" y="42348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44" name="Shape 15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45" name="Google Shape;15545;p59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Co-membership matrix</a:t>
            </a:r>
            <a:endParaRPr/>
          </a:p>
        </p:txBody>
      </p:sp>
      <p:graphicFrame>
        <p:nvGraphicFramePr>
          <p:cNvPr id="15546" name="Google Shape;15546;p597"/>
          <p:cNvGraphicFramePr/>
          <p:nvPr/>
        </p:nvGraphicFramePr>
        <p:xfrm>
          <a:off x="1005200" y="11461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33500"/>
                <a:gridCol w="437050"/>
                <a:gridCol w="437050"/>
                <a:gridCol w="437050"/>
                <a:gridCol w="437050"/>
                <a:gridCol w="4370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Gabriela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Parker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Brandon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Marie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Rahul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547" name="Google Shape;15547;p597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548" name="Google Shape;15548;p597"/>
          <p:cNvGraphicFramePr/>
          <p:nvPr/>
        </p:nvGraphicFramePr>
        <p:xfrm>
          <a:off x="4804063" y="10641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58925"/>
                <a:gridCol w="424075"/>
                <a:gridCol w="424075"/>
                <a:gridCol w="424075"/>
                <a:gridCol w="424075"/>
                <a:gridCol w="424075"/>
                <a:gridCol w="424075"/>
              </a:tblGrid>
              <a:tr h="3525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Minjoo</a:t>
                      </a:r>
                      <a:endParaRPr sz="800"/>
                    </a:p>
                  </a:txBody>
                  <a:tcPr marT="0" marB="0" marR="0" marL="0" anchor="ctr"/>
                </a:tc>
              </a:tr>
              <a:tr h="3228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/>
                </a:tc>
              </a:tr>
            </a:tbl>
          </a:graphicData>
        </a:graphic>
      </p:graphicFrame>
      <p:graphicFrame>
        <p:nvGraphicFramePr>
          <p:cNvPr id="15549" name="Google Shape;15549;p597"/>
          <p:cNvGraphicFramePr/>
          <p:nvPr/>
        </p:nvGraphicFramePr>
        <p:xfrm>
          <a:off x="2643675" y="31836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22350"/>
                <a:gridCol w="526650"/>
                <a:gridCol w="526650"/>
                <a:gridCol w="526650"/>
                <a:gridCol w="526650"/>
                <a:gridCol w="526650"/>
                <a:gridCol w="5266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 b="1"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Gabriela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Parker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Brandon</a:t>
                      </a:r>
                      <a:endParaRPr b="1" sz="9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Marie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Rahul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Minjoo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550" name="Google Shape;15550;p597"/>
          <p:cNvSpPr txBox="1"/>
          <p:nvPr/>
        </p:nvSpPr>
        <p:spPr>
          <a:xfrm>
            <a:off x="3865000" y="1857075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✕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51" name="Google Shape;15551;p597"/>
          <p:cNvSpPr txBox="1"/>
          <p:nvPr/>
        </p:nvSpPr>
        <p:spPr>
          <a:xfrm>
            <a:off x="1875750" y="3786763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Open Sans"/>
                <a:ea typeface="Open Sans"/>
                <a:cs typeface="Open Sans"/>
                <a:sym typeface="Open Sans"/>
              </a:rPr>
              <a:t>=</a:t>
            </a:r>
            <a:endParaRPr sz="36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52" name="Google Shape;15552;p597"/>
          <p:cNvSpPr txBox="1"/>
          <p:nvPr/>
        </p:nvSpPr>
        <p:spPr>
          <a:xfrm>
            <a:off x="6635675" y="3309825"/>
            <a:ext cx="2329500" cy="69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= </a:t>
            </a: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(1 * 1)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+ (0 * 0) + </a:t>
            </a: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(1 * 1)</a:t>
            </a:r>
            <a:r>
              <a:rPr lang="en">
                <a:latin typeface="Open Sans"/>
                <a:ea typeface="Open Sans"/>
                <a:cs typeface="Open Sans"/>
                <a:sym typeface="Open Sans"/>
              </a:rPr>
              <a:t> + (0 * 0) + </a:t>
            </a: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(1 * 1)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53" name="Google Shape;15553;p597"/>
          <p:cNvSpPr txBox="1"/>
          <p:nvPr/>
        </p:nvSpPr>
        <p:spPr>
          <a:xfrm>
            <a:off x="97275" y="1769175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54" name="Google Shape;15554;p597"/>
          <p:cNvSpPr txBox="1"/>
          <p:nvPr/>
        </p:nvSpPr>
        <p:spPr>
          <a:xfrm>
            <a:off x="7959225" y="16614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aseline="30000" lang="en" sz="3000">
                <a:latin typeface="Open Sans"/>
                <a:ea typeface="Open Sans"/>
                <a:cs typeface="Open Sans"/>
                <a:sym typeface="Open Sans"/>
              </a:rPr>
              <a:t>T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55" name="Google Shape;15555;p597"/>
          <p:cNvSpPr txBox="1"/>
          <p:nvPr/>
        </p:nvSpPr>
        <p:spPr>
          <a:xfrm>
            <a:off x="6537050" y="42348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59" name="Shape 15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0" name="Google Shape;15560;p59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Co-membership matrix</a:t>
            </a:r>
            <a:endParaRPr/>
          </a:p>
        </p:txBody>
      </p:sp>
      <p:graphicFrame>
        <p:nvGraphicFramePr>
          <p:cNvPr id="15561" name="Google Shape;15561;p598"/>
          <p:cNvGraphicFramePr/>
          <p:nvPr/>
        </p:nvGraphicFramePr>
        <p:xfrm>
          <a:off x="1005200" y="11461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33500"/>
                <a:gridCol w="437050"/>
                <a:gridCol w="437050"/>
                <a:gridCol w="437050"/>
                <a:gridCol w="437050"/>
                <a:gridCol w="4370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Gabriela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Parker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Brandon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Marie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Rahul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  <p:sp>
        <p:nvSpPr>
          <p:cNvPr id="15562" name="Google Shape;15562;p598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563" name="Google Shape;15563;p598"/>
          <p:cNvGraphicFramePr/>
          <p:nvPr/>
        </p:nvGraphicFramePr>
        <p:xfrm>
          <a:off x="4804063" y="10641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58925"/>
                <a:gridCol w="424075"/>
                <a:gridCol w="424075"/>
                <a:gridCol w="424075"/>
                <a:gridCol w="424075"/>
                <a:gridCol w="424075"/>
                <a:gridCol w="424075"/>
              </a:tblGrid>
              <a:tr h="3525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Minjoo</a:t>
                      </a:r>
                      <a:endParaRPr sz="800"/>
                    </a:p>
                  </a:txBody>
                  <a:tcPr marT="0" marB="0" marR="0" marL="0" anchor="ctr"/>
                </a:tc>
              </a:tr>
              <a:tr h="3228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5564" name="Google Shape;15564;p598"/>
          <p:cNvGraphicFramePr/>
          <p:nvPr/>
        </p:nvGraphicFramePr>
        <p:xfrm>
          <a:off x="2643675" y="31836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22350"/>
                <a:gridCol w="526650"/>
                <a:gridCol w="526650"/>
                <a:gridCol w="526650"/>
                <a:gridCol w="526650"/>
                <a:gridCol w="526650"/>
                <a:gridCol w="5266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 b="1"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Gabriela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Parker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Brandon</a:t>
                      </a:r>
                      <a:endParaRPr b="1" sz="9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Marie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Rahul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Minjoo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  <p:sp>
        <p:nvSpPr>
          <p:cNvPr id="15565" name="Google Shape;15565;p598"/>
          <p:cNvSpPr txBox="1"/>
          <p:nvPr/>
        </p:nvSpPr>
        <p:spPr>
          <a:xfrm>
            <a:off x="3865000" y="1857075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✕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66" name="Google Shape;15566;p598"/>
          <p:cNvSpPr txBox="1"/>
          <p:nvPr/>
        </p:nvSpPr>
        <p:spPr>
          <a:xfrm>
            <a:off x="1875750" y="3786763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Open Sans"/>
                <a:ea typeface="Open Sans"/>
                <a:cs typeface="Open Sans"/>
                <a:sym typeface="Open Sans"/>
              </a:rPr>
              <a:t>=</a:t>
            </a:r>
            <a:endParaRPr sz="36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67" name="Google Shape;15567;p598"/>
          <p:cNvSpPr txBox="1"/>
          <p:nvPr/>
        </p:nvSpPr>
        <p:spPr>
          <a:xfrm>
            <a:off x="97275" y="1769175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68" name="Google Shape;15568;p598"/>
          <p:cNvSpPr txBox="1"/>
          <p:nvPr/>
        </p:nvSpPr>
        <p:spPr>
          <a:xfrm>
            <a:off x="7959225" y="16614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aseline="30000" lang="en" sz="3000">
                <a:latin typeface="Open Sans"/>
                <a:ea typeface="Open Sans"/>
                <a:cs typeface="Open Sans"/>
                <a:sym typeface="Open Sans"/>
              </a:rPr>
              <a:t>T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69" name="Google Shape;15569;p598"/>
          <p:cNvSpPr txBox="1"/>
          <p:nvPr/>
        </p:nvSpPr>
        <p:spPr>
          <a:xfrm>
            <a:off x="6537050" y="42348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73" name="Shape 15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74" name="Google Shape;15574;p59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Co-membership matrix</a:t>
            </a:r>
            <a:endParaRPr/>
          </a:p>
        </p:txBody>
      </p:sp>
      <p:sp>
        <p:nvSpPr>
          <p:cNvPr id="15575" name="Google Shape;15575;p599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76" name="Google Shape;15576;p599"/>
          <p:cNvSpPr txBox="1"/>
          <p:nvPr/>
        </p:nvSpPr>
        <p:spPr>
          <a:xfrm>
            <a:off x="6537050" y="42348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C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77" name="Google Shape;15577;p599"/>
          <p:cNvSpPr txBox="1"/>
          <p:nvPr>
            <p:ph idx="1" type="body"/>
          </p:nvPr>
        </p:nvSpPr>
        <p:spPr>
          <a:xfrm>
            <a:off x="311700" y="1225225"/>
            <a:ext cx="8520600" cy="1878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X A</a:t>
            </a:r>
            <a:r>
              <a:rPr baseline="30000" lang="en"/>
              <a:t>T </a:t>
            </a:r>
            <a:r>
              <a:rPr lang="en"/>
              <a:t>returns the </a:t>
            </a:r>
            <a:r>
              <a:rPr b="1" lang="en"/>
              <a:t>co-membership matrix (C)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Each </a:t>
            </a:r>
            <a:r>
              <a:rPr b="1" lang="en">
                <a:solidFill>
                  <a:srgbClr val="3D85C6"/>
                </a:solidFill>
              </a:rPr>
              <a:t>off-diagonal</a:t>
            </a:r>
            <a:r>
              <a:rPr b="1" lang="en"/>
              <a:t> </a:t>
            </a:r>
            <a:r>
              <a:rPr lang="en"/>
              <a:t>cell (C</a:t>
            </a:r>
            <a:r>
              <a:rPr baseline="-25000" lang="en"/>
              <a:t>ij</a:t>
            </a:r>
            <a:r>
              <a:rPr lang="en"/>
              <a:t>) tell us </a:t>
            </a:r>
            <a:r>
              <a:rPr i="1" lang="en"/>
              <a:t>the number of affiliations that person i has in common with person j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Each </a:t>
            </a:r>
            <a:r>
              <a:rPr b="1" lang="en">
                <a:solidFill>
                  <a:srgbClr val="E06666"/>
                </a:solidFill>
              </a:rPr>
              <a:t>diagonal</a:t>
            </a:r>
            <a:r>
              <a:rPr b="1" lang="en"/>
              <a:t> </a:t>
            </a:r>
            <a:r>
              <a:rPr lang="en"/>
              <a:t>cell (C</a:t>
            </a:r>
            <a:r>
              <a:rPr baseline="-25000" lang="en"/>
              <a:t>ii</a:t>
            </a:r>
            <a:r>
              <a:rPr lang="en"/>
              <a:t>) tells us the </a:t>
            </a:r>
            <a:r>
              <a:rPr i="1" lang="en"/>
              <a:t>number of total memberships person i has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matrix represents a </a:t>
            </a:r>
            <a:r>
              <a:rPr b="1" lang="en"/>
              <a:t>weighted one-mode</a:t>
            </a:r>
            <a:r>
              <a:rPr lang="en"/>
              <a:t> network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Strength of tie between i and j = number of common memberships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 “similarity” relation (thus </a:t>
            </a:r>
            <a:r>
              <a:rPr b="1" lang="en"/>
              <a:t>symmetric</a:t>
            </a:r>
            <a:r>
              <a:rPr lang="en"/>
              <a:t>)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15578" name="Google Shape;15578;p599"/>
          <p:cNvGraphicFramePr/>
          <p:nvPr/>
        </p:nvGraphicFramePr>
        <p:xfrm>
          <a:off x="2643675" y="31836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22350"/>
                <a:gridCol w="526650"/>
                <a:gridCol w="526650"/>
                <a:gridCol w="526650"/>
                <a:gridCol w="526650"/>
                <a:gridCol w="526650"/>
                <a:gridCol w="5266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000">
                          <a:solidFill>
                            <a:schemeClr val="dk1"/>
                          </a:solidFill>
                        </a:rPr>
                        <a:t>Minjoo</a:t>
                      </a:r>
                      <a:endParaRPr b="1" sz="10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Gabriela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Parker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Brandon</a:t>
                      </a:r>
                      <a:endParaRPr b="1" sz="9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Marie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Rahul</a:t>
                      </a:r>
                      <a:endParaRPr b="1" sz="9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900"/>
                        <a:t>Minjoo</a:t>
                      </a:r>
                      <a:endParaRPr b="1" sz="9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82" name="Shape 15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83" name="Google Shape;15583;p60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Group Overlap matrix</a:t>
            </a:r>
            <a:endParaRPr/>
          </a:p>
        </p:txBody>
      </p:sp>
      <p:graphicFrame>
        <p:nvGraphicFramePr>
          <p:cNvPr id="15584" name="Google Shape;15584;p600"/>
          <p:cNvGraphicFramePr/>
          <p:nvPr/>
        </p:nvGraphicFramePr>
        <p:xfrm>
          <a:off x="4745975" y="13080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33500"/>
                <a:gridCol w="437050"/>
                <a:gridCol w="437050"/>
                <a:gridCol w="437050"/>
                <a:gridCol w="437050"/>
                <a:gridCol w="437050"/>
              </a:tblGrid>
              <a:tr h="3876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Gabriela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Parker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Brandon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Marie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Rahul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21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  <p:sp>
        <p:nvSpPr>
          <p:cNvPr id="15585" name="Google Shape;15585;p600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586" name="Google Shape;15586;p600"/>
          <p:cNvGraphicFramePr/>
          <p:nvPr/>
        </p:nvGraphicFramePr>
        <p:xfrm>
          <a:off x="925188" y="12260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58925"/>
                <a:gridCol w="424075"/>
                <a:gridCol w="424075"/>
                <a:gridCol w="424075"/>
                <a:gridCol w="424075"/>
                <a:gridCol w="424075"/>
                <a:gridCol w="424075"/>
              </a:tblGrid>
              <a:tr h="3525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800"/>
                    </a:p>
                  </a:txBody>
                  <a:tcPr marT="0" marB="0" marR="0" marL="0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Minjoo</a:t>
                      </a:r>
                      <a:endParaRPr sz="800"/>
                    </a:p>
                  </a:txBody>
                  <a:tcPr marT="0" marB="0" marR="0" marL="0" anchor="ctr"/>
                </a:tc>
              </a:tr>
              <a:tr h="3228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  <a:tr h="288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  <p:sp>
        <p:nvSpPr>
          <p:cNvPr id="15587" name="Google Shape;15587;p600"/>
          <p:cNvSpPr txBox="1"/>
          <p:nvPr/>
        </p:nvSpPr>
        <p:spPr>
          <a:xfrm>
            <a:off x="4015200" y="1999075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✕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88" name="Google Shape;15588;p600"/>
          <p:cNvSpPr txBox="1"/>
          <p:nvPr/>
        </p:nvSpPr>
        <p:spPr>
          <a:xfrm>
            <a:off x="1875750" y="3786763"/>
            <a:ext cx="5568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Open Sans"/>
                <a:ea typeface="Open Sans"/>
                <a:cs typeface="Open Sans"/>
                <a:sym typeface="Open Sans"/>
              </a:rPr>
              <a:t>=</a:t>
            </a:r>
            <a:endParaRPr sz="36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89" name="Google Shape;15589;p600"/>
          <p:cNvSpPr txBox="1"/>
          <p:nvPr/>
        </p:nvSpPr>
        <p:spPr>
          <a:xfrm>
            <a:off x="97275" y="1769175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r>
              <a:rPr baseline="30000" lang="en" sz="3000">
                <a:latin typeface="Open Sans"/>
                <a:ea typeface="Open Sans"/>
                <a:cs typeface="Open Sans"/>
                <a:sym typeface="Open Sans"/>
              </a:rPr>
              <a:t>T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90" name="Google Shape;15590;p600"/>
          <p:cNvSpPr txBox="1"/>
          <p:nvPr/>
        </p:nvSpPr>
        <p:spPr>
          <a:xfrm>
            <a:off x="7400400" y="1823275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A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91" name="Google Shape;15591;p600"/>
          <p:cNvSpPr txBox="1"/>
          <p:nvPr/>
        </p:nvSpPr>
        <p:spPr>
          <a:xfrm>
            <a:off x="6537050" y="4234813"/>
            <a:ext cx="741300" cy="68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Open Sans"/>
                <a:ea typeface="Open Sans"/>
                <a:cs typeface="Open Sans"/>
                <a:sym typeface="Open Sans"/>
              </a:rPr>
              <a:t>G</a:t>
            </a:r>
            <a:endParaRPr baseline="30000" sz="3000">
              <a:latin typeface="Open Sans"/>
              <a:ea typeface="Open Sans"/>
              <a:cs typeface="Open Sans"/>
              <a:sym typeface="Open Sans"/>
            </a:endParaRPr>
          </a:p>
        </p:txBody>
      </p:sp>
      <p:graphicFrame>
        <p:nvGraphicFramePr>
          <p:cNvPr id="15592" name="Google Shape;15592;p600"/>
          <p:cNvGraphicFramePr/>
          <p:nvPr/>
        </p:nvGraphicFramePr>
        <p:xfrm>
          <a:off x="2354938" y="31835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87725"/>
                <a:gridCol w="693400"/>
                <a:gridCol w="693400"/>
                <a:gridCol w="693400"/>
                <a:gridCol w="693400"/>
                <a:gridCol w="693400"/>
              </a:tblGrid>
              <a:tr h="317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96" name="Shape 15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97" name="Google Shape;15597;p60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Affiliation matrix -&gt; Group Overlap matrix</a:t>
            </a:r>
            <a:endParaRPr/>
          </a:p>
        </p:txBody>
      </p:sp>
      <p:sp>
        <p:nvSpPr>
          <p:cNvPr id="15598" name="Google Shape;15598;p601"/>
          <p:cNvSpPr txBox="1"/>
          <p:nvPr/>
        </p:nvSpPr>
        <p:spPr>
          <a:xfrm>
            <a:off x="838575" y="3517450"/>
            <a:ext cx="2781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599" name="Google Shape;15599;p601"/>
          <p:cNvSpPr txBox="1"/>
          <p:nvPr>
            <p:ph idx="1" type="body"/>
          </p:nvPr>
        </p:nvSpPr>
        <p:spPr>
          <a:xfrm>
            <a:off x="311700" y="1225225"/>
            <a:ext cx="8520600" cy="1878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</a:t>
            </a:r>
            <a:r>
              <a:rPr baseline="30000" lang="en"/>
              <a:t>T</a:t>
            </a:r>
            <a:r>
              <a:rPr lang="en"/>
              <a:t> X A</a:t>
            </a:r>
            <a:r>
              <a:rPr baseline="30000" lang="en"/>
              <a:t> </a:t>
            </a:r>
            <a:r>
              <a:rPr lang="en"/>
              <a:t>returns the </a:t>
            </a:r>
            <a:r>
              <a:rPr b="1" lang="en"/>
              <a:t>group overlap matrix (G)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Each </a:t>
            </a:r>
            <a:r>
              <a:rPr b="1" lang="en">
                <a:solidFill>
                  <a:srgbClr val="3C78D8"/>
                </a:solidFill>
              </a:rPr>
              <a:t>off-diagonal</a:t>
            </a:r>
            <a:r>
              <a:rPr b="1" lang="en"/>
              <a:t> </a:t>
            </a:r>
            <a:r>
              <a:rPr lang="en"/>
              <a:t>cell (G</a:t>
            </a:r>
            <a:r>
              <a:rPr baseline="-25000" lang="en"/>
              <a:t>ij</a:t>
            </a:r>
            <a:r>
              <a:rPr lang="en"/>
              <a:t>) tell us the number of members groups i and j have in common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Each </a:t>
            </a:r>
            <a:r>
              <a:rPr b="1" lang="en">
                <a:solidFill>
                  <a:srgbClr val="E06666"/>
                </a:solidFill>
              </a:rPr>
              <a:t>diagonal</a:t>
            </a:r>
            <a:r>
              <a:rPr b="1" lang="en"/>
              <a:t> </a:t>
            </a:r>
            <a:r>
              <a:rPr lang="en"/>
              <a:t>cell (G</a:t>
            </a:r>
            <a:r>
              <a:rPr baseline="-25000" lang="en"/>
              <a:t>ii</a:t>
            </a:r>
            <a:r>
              <a:rPr lang="en"/>
              <a:t>) tells us the number of total members in group i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matrix represents a </a:t>
            </a:r>
            <a:r>
              <a:rPr b="1" lang="en"/>
              <a:t>weighted one-mode</a:t>
            </a:r>
            <a:r>
              <a:rPr lang="en"/>
              <a:t> network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Two groups are more strongly connected if they have lots of members in common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 “similarity” relation (thus </a:t>
            </a:r>
            <a:r>
              <a:rPr b="1" lang="en"/>
              <a:t>symmetric</a:t>
            </a:r>
            <a:r>
              <a:rPr lang="en"/>
              <a:t>)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15600" name="Google Shape;15600;p601"/>
          <p:cNvGraphicFramePr/>
          <p:nvPr/>
        </p:nvGraphicFramePr>
        <p:xfrm>
          <a:off x="2354938" y="31835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87725"/>
                <a:gridCol w="693400"/>
                <a:gridCol w="693400"/>
                <a:gridCol w="693400"/>
                <a:gridCol w="693400"/>
                <a:gridCol w="693400"/>
              </a:tblGrid>
              <a:tr h="317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9DAF8"/>
                    </a:solidFill>
                  </a:tcPr>
                </a:tc>
              </a:tr>
              <a:tr h="2836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</a:t>
                      </a:r>
                      <a:endParaRPr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C9DAF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</a:t>
                      </a:r>
                      <a:endParaRPr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604" name="Shape 15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5605" name="Google Shape;15605;p602"/>
          <p:cNvCxnSpPr>
            <a:stCxn id="15606" idx="0"/>
            <a:endCxn id="15607" idx="4"/>
          </p:cNvCxnSpPr>
          <p:nvPr/>
        </p:nvCxnSpPr>
        <p:spPr>
          <a:xfrm rot="10800000">
            <a:off x="6070175" y="2506176"/>
            <a:ext cx="1143000" cy="11091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08" name="Google Shape;15608;p60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From co-membership matrix back to graph</a:t>
            </a:r>
            <a:endParaRPr/>
          </a:p>
        </p:txBody>
      </p:sp>
      <p:graphicFrame>
        <p:nvGraphicFramePr>
          <p:cNvPr id="15609" name="Google Shape;15609;p602"/>
          <p:cNvGraphicFramePr/>
          <p:nvPr/>
        </p:nvGraphicFramePr>
        <p:xfrm>
          <a:off x="311700" y="18715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567575"/>
                <a:gridCol w="572250"/>
                <a:gridCol w="572250"/>
                <a:gridCol w="572250"/>
                <a:gridCol w="572250"/>
                <a:gridCol w="572250"/>
                <a:gridCol w="572250"/>
              </a:tblGrid>
              <a:tr h="1993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Gabriela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Parker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Brandon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Marie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Rahul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993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Gabriela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1993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Parker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1993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Brandon</a:t>
                      </a:r>
                      <a:endParaRPr b="1" sz="800"/>
                    </a:p>
                  </a:txBody>
                  <a:tcPr marT="0" marB="0" marR="0" marL="0" anchor="ctr"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1993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Marie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1993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Rahul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1993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Minjoo</a:t>
                      </a:r>
                      <a:endParaRPr b="1" sz="800"/>
                    </a:p>
                  </a:txBody>
                  <a:tcPr marT="0" marB="0" marR="0" marL="0" anchor="ctr"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  <p:sp>
        <p:nvSpPr>
          <p:cNvPr id="15610" name="Google Shape;15610;p602"/>
          <p:cNvSpPr txBox="1"/>
          <p:nvPr/>
        </p:nvSpPr>
        <p:spPr>
          <a:xfrm>
            <a:off x="364788" y="3343450"/>
            <a:ext cx="3894900" cy="22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Co-Membership Matrix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11" name="Google Shape;15611;p602"/>
          <p:cNvSpPr/>
          <p:nvPr/>
        </p:nvSpPr>
        <p:spPr>
          <a:xfrm>
            <a:off x="4499950" y="2410138"/>
            <a:ext cx="654000" cy="576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F6B26B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7" name="Google Shape;15607;p602"/>
          <p:cNvSpPr/>
          <p:nvPr/>
        </p:nvSpPr>
        <p:spPr>
          <a:xfrm>
            <a:off x="5554788" y="2188597"/>
            <a:ext cx="1030800" cy="317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Gabriela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612" name="Google Shape;15612;p602"/>
          <p:cNvSpPr/>
          <p:nvPr/>
        </p:nvSpPr>
        <p:spPr>
          <a:xfrm>
            <a:off x="6697775" y="1463900"/>
            <a:ext cx="1030800" cy="317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Parker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613" name="Google Shape;15613;p602"/>
          <p:cNvSpPr/>
          <p:nvPr/>
        </p:nvSpPr>
        <p:spPr>
          <a:xfrm>
            <a:off x="5554800" y="2985736"/>
            <a:ext cx="1030800" cy="317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Brandon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606" name="Google Shape;15606;p602"/>
          <p:cNvSpPr/>
          <p:nvPr/>
        </p:nvSpPr>
        <p:spPr>
          <a:xfrm>
            <a:off x="6697775" y="3615276"/>
            <a:ext cx="1030800" cy="317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Marie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614" name="Google Shape;15614;p602"/>
          <p:cNvSpPr/>
          <p:nvPr/>
        </p:nvSpPr>
        <p:spPr>
          <a:xfrm>
            <a:off x="7648500" y="2188575"/>
            <a:ext cx="1030800" cy="317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Rahul</a:t>
            </a:r>
            <a:endParaRPr b="1" sz="1200">
              <a:solidFill>
                <a:srgbClr val="FFFFFF"/>
              </a:solidFill>
            </a:endParaRPr>
          </a:p>
        </p:txBody>
      </p:sp>
      <p:sp>
        <p:nvSpPr>
          <p:cNvPr id="15615" name="Google Shape;15615;p602"/>
          <p:cNvSpPr/>
          <p:nvPr/>
        </p:nvSpPr>
        <p:spPr>
          <a:xfrm>
            <a:off x="7648500" y="2985738"/>
            <a:ext cx="1030800" cy="317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</a:rPr>
              <a:t>Minjoo</a:t>
            </a:r>
            <a:endParaRPr b="1" sz="1200">
              <a:solidFill>
                <a:srgbClr val="FFFFFF"/>
              </a:solidFill>
            </a:endParaRPr>
          </a:p>
        </p:txBody>
      </p:sp>
      <p:cxnSp>
        <p:nvCxnSpPr>
          <p:cNvPr id="15616" name="Google Shape;15616;p602"/>
          <p:cNvCxnSpPr>
            <a:stCxn id="15614" idx="2"/>
            <a:endCxn id="15607" idx="6"/>
          </p:cNvCxnSpPr>
          <p:nvPr/>
        </p:nvCxnSpPr>
        <p:spPr>
          <a:xfrm rot="10800000">
            <a:off x="6585600" y="2347425"/>
            <a:ext cx="10629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17" name="Google Shape;15617;p602"/>
          <p:cNvCxnSpPr>
            <a:stCxn id="15615" idx="2"/>
            <a:endCxn id="15607" idx="6"/>
          </p:cNvCxnSpPr>
          <p:nvPr/>
        </p:nvCxnSpPr>
        <p:spPr>
          <a:xfrm rot="10800000">
            <a:off x="6585600" y="2347488"/>
            <a:ext cx="1062900" cy="79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18" name="Google Shape;15618;p602"/>
          <p:cNvCxnSpPr>
            <a:stCxn id="15613" idx="6"/>
            <a:endCxn id="15612" idx="4"/>
          </p:cNvCxnSpPr>
          <p:nvPr/>
        </p:nvCxnSpPr>
        <p:spPr>
          <a:xfrm flipH="1" rot="10800000">
            <a:off x="6585600" y="1781686"/>
            <a:ext cx="627600" cy="1362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19" name="Google Shape;15619;p602"/>
          <p:cNvCxnSpPr>
            <a:stCxn id="15614" idx="0"/>
            <a:endCxn id="15612" idx="4"/>
          </p:cNvCxnSpPr>
          <p:nvPr/>
        </p:nvCxnSpPr>
        <p:spPr>
          <a:xfrm rot="10800000">
            <a:off x="7213200" y="1781475"/>
            <a:ext cx="950700" cy="40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20" name="Google Shape;15620;p602"/>
          <p:cNvCxnSpPr>
            <a:stCxn id="15615" idx="1"/>
            <a:endCxn id="15612" idx="4"/>
          </p:cNvCxnSpPr>
          <p:nvPr/>
        </p:nvCxnSpPr>
        <p:spPr>
          <a:xfrm rot="10800000">
            <a:off x="7213257" y="1781564"/>
            <a:ext cx="586200" cy="12507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21" name="Google Shape;15621;p602"/>
          <p:cNvCxnSpPr>
            <a:stCxn id="15613" idx="6"/>
            <a:endCxn id="15614" idx="2"/>
          </p:cNvCxnSpPr>
          <p:nvPr/>
        </p:nvCxnSpPr>
        <p:spPr>
          <a:xfrm flipH="1" rot="10800000">
            <a:off x="6585600" y="2347486"/>
            <a:ext cx="1062900" cy="797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22" name="Google Shape;15622;p602"/>
          <p:cNvCxnSpPr>
            <a:stCxn id="15613" idx="6"/>
            <a:endCxn id="15615" idx="2"/>
          </p:cNvCxnSpPr>
          <p:nvPr/>
        </p:nvCxnSpPr>
        <p:spPr>
          <a:xfrm>
            <a:off x="6585600" y="3144586"/>
            <a:ext cx="1062900" cy="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23" name="Google Shape;15623;p602"/>
          <p:cNvCxnSpPr>
            <a:stCxn id="15615" idx="0"/>
            <a:endCxn id="15614" idx="4"/>
          </p:cNvCxnSpPr>
          <p:nvPr/>
        </p:nvCxnSpPr>
        <p:spPr>
          <a:xfrm rot="10800000">
            <a:off x="8163900" y="2506338"/>
            <a:ext cx="0" cy="4794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24" name="Google Shape;15624;p602"/>
          <p:cNvSpPr txBox="1"/>
          <p:nvPr/>
        </p:nvSpPr>
        <p:spPr>
          <a:xfrm>
            <a:off x="5003738" y="4244800"/>
            <a:ext cx="3894900" cy="22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One-Mode Person-to-Person Network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25" name="Google Shape;15625;p602"/>
          <p:cNvSpPr txBox="1"/>
          <p:nvPr/>
        </p:nvSpPr>
        <p:spPr>
          <a:xfrm>
            <a:off x="7090325" y="2098275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26" name="Google Shape;15626;p602"/>
          <p:cNvSpPr txBox="1"/>
          <p:nvPr/>
        </p:nvSpPr>
        <p:spPr>
          <a:xfrm>
            <a:off x="7648500" y="1798700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27" name="Google Shape;15627;p602"/>
          <p:cNvSpPr txBox="1"/>
          <p:nvPr/>
        </p:nvSpPr>
        <p:spPr>
          <a:xfrm>
            <a:off x="6776575" y="1941700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28" name="Google Shape;15628;p602"/>
          <p:cNvSpPr txBox="1"/>
          <p:nvPr/>
        </p:nvSpPr>
        <p:spPr>
          <a:xfrm>
            <a:off x="7648488" y="2575575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29" name="Google Shape;15629;p602"/>
          <p:cNvSpPr txBox="1"/>
          <p:nvPr/>
        </p:nvSpPr>
        <p:spPr>
          <a:xfrm>
            <a:off x="8163900" y="2623163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30" name="Google Shape;15630;p602"/>
          <p:cNvSpPr txBox="1"/>
          <p:nvPr/>
        </p:nvSpPr>
        <p:spPr>
          <a:xfrm>
            <a:off x="7090325" y="3118350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31" name="Google Shape;15631;p602"/>
          <p:cNvSpPr txBox="1"/>
          <p:nvPr/>
        </p:nvSpPr>
        <p:spPr>
          <a:xfrm>
            <a:off x="6452075" y="2702588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32" name="Google Shape;15632;p602"/>
          <p:cNvSpPr txBox="1"/>
          <p:nvPr/>
        </p:nvSpPr>
        <p:spPr>
          <a:xfrm>
            <a:off x="7213175" y="2621425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636" name="Shape 15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637" name="Google Shape;15637;p603"/>
          <p:cNvGraphicFramePr/>
          <p:nvPr/>
        </p:nvGraphicFramePr>
        <p:xfrm>
          <a:off x="311688" y="18254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62300"/>
                <a:gridCol w="667750"/>
                <a:gridCol w="667750"/>
                <a:gridCol w="667750"/>
                <a:gridCol w="667750"/>
                <a:gridCol w="667750"/>
              </a:tblGrid>
              <a:tr h="247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Super Smash Bros.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Cheese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Nerd-</a:t>
                      </a:r>
                      <a:endParaRPr b="1" sz="800"/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Fighters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Magic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/>
                        <a:t>Fashion</a:t>
                      </a:r>
                      <a:endParaRPr b="1"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Super Smash 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Bros.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Cheese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Nerd-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Fighters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Magic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0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Fashion</a:t>
                      </a:r>
                      <a:endParaRPr sz="8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2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T cap="flat" cmpd="sng" w="9525">
                      <a:solidFill>
                        <a:srgbClr val="99999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1</a:t>
                      </a:r>
                      <a:endParaRPr sz="1200"/>
                    </a:p>
                  </a:txBody>
                  <a:tcPr marT="0" marB="0" marR="0" marL="0" anchor="ctr"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/>
                        <a:t>--</a:t>
                      </a:r>
                      <a:endParaRPr sz="1200"/>
                    </a:p>
                  </a:txBody>
                  <a:tcPr marT="0" marB="0" marR="0" marL="0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CCC"/>
                    </a:solidFill>
                  </a:tcPr>
                </a:tc>
              </a:tr>
            </a:tbl>
          </a:graphicData>
        </a:graphic>
      </p:graphicFrame>
      <p:sp>
        <p:nvSpPr>
          <p:cNvPr id="15638" name="Google Shape;15638;p603"/>
          <p:cNvSpPr txBox="1"/>
          <p:nvPr/>
        </p:nvSpPr>
        <p:spPr>
          <a:xfrm>
            <a:off x="364788" y="3311325"/>
            <a:ext cx="3894900" cy="22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Group-Overlap Matrix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39" name="Google Shape;15639;p603"/>
          <p:cNvSpPr/>
          <p:nvPr/>
        </p:nvSpPr>
        <p:spPr>
          <a:xfrm>
            <a:off x="4628150" y="2398963"/>
            <a:ext cx="654000" cy="576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F6B26B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0" name="Google Shape;15640;p60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From group overlap matrix back to graph</a:t>
            </a:r>
            <a:endParaRPr/>
          </a:p>
        </p:txBody>
      </p:sp>
      <p:sp>
        <p:nvSpPr>
          <p:cNvPr id="15641" name="Google Shape;15641;p603"/>
          <p:cNvSpPr/>
          <p:nvPr/>
        </p:nvSpPr>
        <p:spPr>
          <a:xfrm>
            <a:off x="6646025" y="1473376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Super Smash Bros.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642" name="Google Shape;15642;p603"/>
          <p:cNvSpPr/>
          <p:nvPr/>
        </p:nvSpPr>
        <p:spPr>
          <a:xfrm>
            <a:off x="5644163" y="2505926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Nerdfighters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643" name="Google Shape;15643;p603"/>
          <p:cNvSpPr/>
          <p:nvPr/>
        </p:nvSpPr>
        <p:spPr>
          <a:xfrm>
            <a:off x="7557550" y="3468551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Magic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5644" name="Google Shape;15644;p603"/>
          <p:cNvSpPr/>
          <p:nvPr/>
        </p:nvSpPr>
        <p:spPr>
          <a:xfrm>
            <a:off x="7557575" y="2505763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Fashion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645" name="Google Shape;15645;p603"/>
          <p:cNvCxnSpPr>
            <a:stCxn id="15642" idx="0"/>
            <a:endCxn id="15641" idx="2"/>
          </p:cNvCxnSpPr>
          <p:nvPr/>
        </p:nvCxnSpPr>
        <p:spPr>
          <a:xfrm flipH="1" rot="10800000">
            <a:off x="6237113" y="1905926"/>
            <a:ext cx="1002000" cy="6000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46" name="Google Shape;15646;p603"/>
          <p:cNvCxnSpPr>
            <a:stCxn id="15641" idx="2"/>
            <a:endCxn id="15644" idx="0"/>
          </p:cNvCxnSpPr>
          <p:nvPr/>
        </p:nvCxnSpPr>
        <p:spPr>
          <a:xfrm>
            <a:off x="7238975" y="1905976"/>
            <a:ext cx="911700" cy="599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47" name="Google Shape;15647;p603"/>
          <p:cNvSpPr/>
          <p:nvPr/>
        </p:nvSpPr>
        <p:spPr>
          <a:xfrm>
            <a:off x="5644175" y="3468565"/>
            <a:ext cx="1185900" cy="4326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Cheese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5648" name="Google Shape;15648;p603"/>
          <p:cNvCxnSpPr>
            <a:stCxn id="15643" idx="1"/>
            <a:endCxn id="15647" idx="3"/>
          </p:cNvCxnSpPr>
          <p:nvPr/>
        </p:nvCxnSpPr>
        <p:spPr>
          <a:xfrm rot="10800000">
            <a:off x="6830050" y="3684851"/>
            <a:ext cx="727500" cy="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49" name="Google Shape;15649;p603"/>
          <p:cNvCxnSpPr>
            <a:stCxn id="15647" idx="3"/>
            <a:endCxn id="15644" idx="1"/>
          </p:cNvCxnSpPr>
          <p:nvPr/>
        </p:nvCxnSpPr>
        <p:spPr>
          <a:xfrm flipH="1" rot="10800000">
            <a:off x="6830075" y="2722165"/>
            <a:ext cx="727500" cy="9627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50" name="Google Shape;15650;p603"/>
          <p:cNvCxnSpPr>
            <a:stCxn id="15642" idx="3"/>
            <a:endCxn id="15644" idx="1"/>
          </p:cNvCxnSpPr>
          <p:nvPr/>
        </p:nvCxnSpPr>
        <p:spPr>
          <a:xfrm flipH="1" rot="10800000">
            <a:off x="6830063" y="2721926"/>
            <a:ext cx="727500" cy="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51" name="Google Shape;15651;p603"/>
          <p:cNvCxnSpPr>
            <a:stCxn id="15643" idx="0"/>
            <a:endCxn id="15644" idx="2"/>
          </p:cNvCxnSpPr>
          <p:nvPr/>
        </p:nvCxnSpPr>
        <p:spPr>
          <a:xfrm rot="10800000">
            <a:off x="8150500" y="2938451"/>
            <a:ext cx="0" cy="5301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52" name="Google Shape;15652;p603"/>
          <p:cNvSpPr txBox="1"/>
          <p:nvPr/>
        </p:nvSpPr>
        <p:spPr>
          <a:xfrm>
            <a:off x="7752825" y="1991075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53" name="Google Shape;15653;p603"/>
          <p:cNvSpPr txBox="1"/>
          <p:nvPr/>
        </p:nvSpPr>
        <p:spPr>
          <a:xfrm>
            <a:off x="8150500" y="3080625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54" name="Google Shape;15654;p603"/>
          <p:cNvSpPr txBox="1"/>
          <p:nvPr/>
        </p:nvSpPr>
        <p:spPr>
          <a:xfrm>
            <a:off x="7070963" y="2445525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55" name="Google Shape;15655;p603"/>
          <p:cNvSpPr txBox="1"/>
          <p:nvPr/>
        </p:nvSpPr>
        <p:spPr>
          <a:xfrm>
            <a:off x="6400325" y="1991075"/>
            <a:ext cx="2457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56" name="Google Shape;15656;p603"/>
          <p:cNvSpPr txBox="1"/>
          <p:nvPr/>
        </p:nvSpPr>
        <p:spPr>
          <a:xfrm>
            <a:off x="6892525" y="2951688"/>
            <a:ext cx="245700" cy="28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57" name="Google Shape;15657;p603"/>
          <p:cNvSpPr txBox="1"/>
          <p:nvPr/>
        </p:nvSpPr>
        <p:spPr>
          <a:xfrm>
            <a:off x="7070963" y="3397450"/>
            <a:ext cx="245700" cy="28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58" name="Google Shape;15658;p603"/>
          <p:cNvSpPr txBox="1"/>
          <p:nvPr/>
        </p:nvSpPr>
        <p:spPr>
          <a:xfrm>
            <a:off x="5003738" y="4244800"/>
            <a:ext cx="3894900" cy="22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One-Mode Group-to-Group Network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662" name="Shape 15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3" name="Google Shape;15663;p60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duality between persons and groups</a:t>
            </a:r>
            <a:endParaRPr/>
          </a:p>
        </p:txBody>
      </p:sp>
      <p:cxnSp>
        <p:nvCxnSpPr>
          <p:cNvPr id="15664" name="Google Shape;15664;p604"/>
          <p:cNvCxnSpPr>
            <a:stCxn id="15665" idx="0"/>
            <a:endCxn id="15666" idx="4"/>
          </p:cNvCxnSpPr>
          <p:nvPr/>
        </p:nvCxnSpPr>
        <p:spPr>
          <a:xfrm rot="10800000">
            <a:off x="557477" y="3491136"/>
            <a:ext cx="912900" cy="8850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66" name="Google Shape;15666;p604"/>
          <p:cNvSpPr/>
          <p:nvPr/>
        </p:nvSpPr>
        <p:spPr>
          <a:xfrm>
            <a:off x="145991" y="3237605"/>
            <a:ext cx="823200" cy="2535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Gabriela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667" name="Google Shape;15667;p604"/>
          <p:cNvSpPr/>
          <p:nvPr/>
        </p:nvSpPr>
        <p:spPr>
          <a:xfrm>
            <a:off x="1058777" y="2659276"/>
            <a:ext cx="823200" cy="2535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Parker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668" name="Google Shape;15668;p604"/>
          <p:cNvSpPr/>
          <p:nvPr/>
        </p:nvSpPr>
        <p:spPr>
          <a:xfrm>
            <a:off x="146001" y="3873746"/>
            <a:ext cx="823200" cy="2535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Brandon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665" name="Google Shape;15665;p604"/>
          <p:cNvSpPr/>
          <p:nvPr/>
        </p:nvSpPr>
        <p:spPr>
          <a:xfrm>
            <a:off x="1058777" y="4376136"/>
            <a:ext cx="823200" cy="2535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Marie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669" name="Google Shape;15669;p604"/>
          <p:cNvSpPr/>
          <p:nvPr/>
        </p:nvSpPr>
        <p:spPr>
          <a:xfrm>
            <a:off x="1818022" y="3237588"/>
            <a:ext cx="823200" cy="2535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Rahul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670" name="Google Shape;15670;p604"/>
          <p:cNvSpPr/>
          <p:nvPr/>
        </p:nvSpPr>
        <p:spPr>
          <a:xfrm>
            <a:off x="1818022" y="3873747"/>
            <a:ext cx="823200" cy="2535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Minjoo</a:t>
            </a:r>
            <a:endParaRPr b="1" sz="800">
              <a:solidFill>
                <a:srgbClr val="FFFFFF"/>
              </a:solidFill>
            </a:endParaRPr>
          </a:p>
        </p:txBody>
      </p:sp>
      <p:cxnSp>
        <p:nvCxnSpPr>
          <p:cNvPr id="15671" name="Google Shape;15671;p604"/>
          <p:cNvCxnSpPr>
            <a:stCxn id="15669" idx="2"/>
            <a:endCxn id="15666" idx="6"/>
          </p:cNvCxnSpPr>
          <p:nvPr/>
        </p:nvCxnSpPr>
        <p:spPr>
          <a:xfrm rot="10800000">
            <a:off x="969322" y="3364338"/>
            <a:ext cx="8487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72" name="Google Shape;15672;p604"/>
          <p:cNvCxnSpPr>
            <a:stCxn id="15670" idx="2"/>
            <a:endCxn id="15666" idx="6"/>
          </p:cNvCxnSpPr>
          <p:nvPr/>
        </p:nvCxnSpPr>
        <p:spPr>
          <a:xfrm rot="10800000">
            <a:off x="969322" y="3364497"/>
            <a:ext cx="848700" cy="636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73" name="Google Shape;15673;p604"/>
          <p:cNvCxnSpPr>
            <a:stCxn id="15668" idx="6"/>
            <a:endCxn id="15667" idx="4"/>
          </p:cNvCxnSpPr>
          <p:nvPr/>
        </p:nvCxnSpPr>
        <p:spPr>
          <a:xfrm flipH="1" rot="10800000">
            <a:off x="969201" y="2912696"/>
            <a:ext cx="501300" cy="1087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74" name="Google Shape;15674;p604"/>
          <p:cNvCxnSpPr>
            <a:stCxn id="15669" idx="0"/>
            <a:endCxn id="15667" idx="4"/>
          </p:cNvCxnSpPr>
          <p:nvPr/>
        </p:nvCxnSpPr>
        <p:spPr>
          <a:xfrm rot="10800000">
            <a:off x="1470322" y="2912688"/>
            <a:ext cx="759300" cy="324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75" name="Google Shape;15675;p604"/>
          <p:cNvCxnSpPr>
            <a:stCxn id="15670" idx="1"/>
            <a:endCxn id="15667" idx="4"/>
          </p:cNvCxnSpPr>
          <p:nvPr/>
        </p:nvCxnSpPr>
        <p:spPr>
          <a:xfrm rot="10800000">
            <a:off x="1470277" y="2912771"/>
            <a:ext cx="468300" cy="9981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76" name="Google Shape;15676;p604"/>
          <p:cNvCxnSpPr>
            <a:stCxn id="15668" idx="6"/>
            <a:endCxn id="15669" idx="2"/>
          </p:cNvCxnSpPr>
          <p:nvPr/>
        </p:nvCxnSpPr>
        <p:spPr>
          <a:xfrm flipH="1" rot="10800000">
            <a:off x="969201" y="3364196"/>
            <a:ext cx="848700" cy="636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77" name="Google Shape;15677;p604"/>
          <p:cNvCxnSpPr>
            <a:stCxn id="15668" idx="6"/>
            <a:endCxn id="15670" idx="2"/>
          </p:cNvCxnSpPr>
          <p:nvPr/>
        </p:nvCxnSpPr>
        <p:spPr>
          <a:xfrm>
            <a:off x="969201" y="4000496"/>
            <a:ext cx="848700" cy="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78" name="Google Shape;15678;p604"/>
          <p:cNvCxnSpPr>
            <a:stCxn id="15670" idx="0"/>
            <a:endCxn id="15669" idx="4"/>
          </p:cNvCxnSpPr>
          <p:nvPr/>
        </p:nvCxnSpPr>
        <p:spPr>
          <a:xfrm rot="10800000">
            <a:off x="2229622" y="3490947"/>
            <a:ext cx="0" cy="3828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79" name="Google Shape;15679;p604"/>
          <p:cNvSpPr txBox="1"/>
          <p:nvPr/>
        </p:nvSpPr>
        <p:spPr>
          <a:xfrm>
            <a:off x="113650" y="4781325"/>
            <a:ext cx="2670300" cy="18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latin typeface="Open Sans"/>
                <a:ea typeface="Open Sans"/>
                <a:cs typeface="Open Sans"/>
                <a:sym typeface="Open Sans"/>
              </a:rPr>
              <a:t>One-Mode Person-to-Person Network</a:t>
            </a:r>
            <a:endParaRPr b="1" sz="1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80" name="Google Shape;15680;p604"/>
          <p:cNvSpPr txBox="1"/>
          <p:nvPr/>
        </p:nvSpPr>
        <p:spPr>
          <a:xfrm>
            <a:off x="1372266" y="3165526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81" name="Google Shape;15681;p604"/>
          <p:cNvSpPr txBox="1"/>
          <p:nvPr/>
        </p:nvSpPr>
        <p:spPr>
          <a:xfrm>
            <a:off x="1818022" y="2926456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82" name="Google Shape;15682;p604"/>
          <p:cNvSpPr txBox="1"/>
          <p:nvPr/>
        </p:nvSpPr>
        <p:spPr>
          <a:xfrm>
            <a:off x="1121706" y="3040574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83" name="Google Shape;15683;p604"/>
          <p:cNvSpPr txBox="1"/>
          <p:nvPr/>
        </p:nvSpPr>
        <p:spPr>
          <a:xfrm>
            <a:off x="1818012" y="3546425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84" name="Google Shape;15684;p604"/>
          <p:cNvSpPr txBox="1"/>
          <p:nvPr/>
        </p:nvSpPr>
        <p:spPr>
          <a:xfrm>
            <a:off x="1372266" y="3979575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85" name="Google Shape;15685;p604"/>
          <p:cNvSpPr txBox="1"/>
          <p:nvPr/>
        </p:nvSpPr>
        <p:spPr>
          <a:xfrm>
            <a:off x="862562" y="3647785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86" name="Google Shape;15686;p604"/>
          <p:cNvSpPr txBox="1"/>
          <p:nvPr/>
        </p:nvSpPr>
        <p:spPr>
          <a:xfrm>
            <a:off x="1470373" y="3583015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87" name="Google Shape;15687;p604"/>
          <p:cNvSpPr/>
          <p:nvPr/>
        </p:nvSpPr>
        <p:spPr>
          <a:xfrm>
            <a:off x="7420610" y="2603964"/>
            <a:ext cx="947100" cy="345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Super Smash Bros. </a:t>
            </a:r>
            <a:endParaRPr sz="800">
              <a:solidFill>
                <a:srgbClr val="FFFFFF"/>
              </a:solidFill>
            </a:endParaRPr>
          </a:p>
        </p:txBody>
      </p:sp>
      <p:sp>
        <p:nvSpPr>
          <p:cNvPr id="15688" name="Google Shape;15688;p604"/>
          <p:cNvSpPr/>
          <p:nvPr/>
        </p:nvSpPr>
        <p:spPr>
          <a:xfrm>
            <a:off x="6620527" y="3427970"/>
            <a:ext cx="947100" cy="345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Nerdfighters</a:t>
            </a:r>
            <a:endParaRPr sz="800">
              <a:solidFill>
                <a:srgbClr val="FFFFFF"/>
              </a:solidFill>
            </a:endParaRPr>
          </a:p>
        </p:txBody>
      </p:sp>
      <p:sp>
        <p:nvSpPr>
          <p:cNvPr id="15689" name="Google Shape;15689;p604"/>
          <p:cNvSpPr/>
          <p:nvPr/>
        </p:nvSpPr>
        <p:spPr>
          <a:xfrm>
            <a:off x="8148551" y="4196172"/>
            <a:ext cx="947100" cy="345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Magic</a:t>
            </a:r>
            <a:endParaRPr sz="800">
              <a:solidFill>
                <a:srgbClr val="FFFFFF"/>
              </a:solidFill>
            </a:endParaRPr>
          </a:p>
        </p:txBody>
      </p:sp>
      <p:sp>
        <p:nvSpPr>
          <p:cNvPr id="15690" name="Google Shape;15690;p604"/>
          <p:cNvSpPr/>
          <p:nvPr/>
        </p:nvSpPr>
        <p:spPr>
          <a:xfrm>
            <a:off x="8148571" y="3427839"/>
            <a:ext cx="947100" cy="345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Fashion</a:t>
            </a:r>
            <a:endParaRPr sz="800">
              <a:solidFill>
                <a:srgbClr val="FFFFFF"/>
              </a:solidFill>
            </a:endParaRPr>
          </a:p>
        </p:txBody>
      </p:sp>
      <p:cxnSp>
        <p:nvCxnSpPr>
          <p:cNvPr id="15691" name="Google Shape;15691;p604"/>
          <p:cNvCxnSpPr>
            <a:stCxn id="15688" idx="0"/>
            <a:endCxn id="15687" idx="2"/>
          </p:cNvCxnSpPr>
          <p:nvPr/>
        </p:nvCxnSpPr>
        <p:spPr>
          <a:xfrm flipH="1" rot="10800000">
            <a:off x="7094077" y="2949170"/>
            <a:ext cx="800100" cy="4788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92" name="Google Shape;15692;p604"/>
          <p:cNvCxnSpPr>
            <a:stCxn id="15687" idx="2"/>
            <a:endCxn id="15690" idx="0"/>
          </p:cNvCxnSpPr>
          <p:nvPr/>
        </p:nvCxnSpPr>
        <p:spPr>
          <a:xfrm>
            <a:off x="7894160" y="2949264"/>
            <a:ext cx="728100" cy="478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93" name="Google Shape;15693;p604"/>
          <p:cNvSpPr/>
          <p:nvPr/>
        </p:nvSpPr>
        <p:spPr>
          <a:xfrm>
            <a:off x="6620537" y="4196183"/>
            <a:ext cx="947100" cy="345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Cheese</a:t>
            </a:r>
            <a:endParaRPr sz="800">
              <a:solidFill>
                <a:srgbClr val="FFFFFF"/>
              </a:solidFill>
            </a:endParaRPr>
          </a:p>
        </p:txBody>
      </p:sp>
      <p:cxnSp>
        <p:nvCxnSpPr>
          <p:cNvPr id="15694" name="Google Shape;15694;p604"/>
          <p:cNvCxnSpPr>
            <a:stCxn id="15689" idx="1"/>
            <a:endCxn id="15693" idx="3"/>
          </p:cNvCxnSpPr>
          <p:nvPr/>
        </p:nvCxnSpPr>
        <p:spPr>
          <a:xfrm rot="10800000">
            <a:off x="7567751" y="4368822"/>
            <a:ext cx="580800" cy="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95" name="Google Shape;15695;p604"/>
          <p:cNvCxnSpPr>
            <a:stCxn id="15693" idx="3"/>
            <a:endCxn id="15690" idx="1"/>
          </p:cNvCxnSpPr>
          <p:nvPr/>
        </p:nvCxnSpPr>
        <p:spPr>
          <a:xfrm flipH="1" rot="10800000">
            <a:off x="7567637" y="3600533"/>
            <a:ext cx="580800" cy="768300"/>
          </a:xfrm>
          <a:prstGeom prst="straightConnector1">
            <a:avLst/>
          </a:prstGeom>
          <a:noFill/>
          <a:ln cap="flat" cmpd="sng" w="762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96" name="Google Shape;15696;p604"/>
          <p:cNvCxnSpPr>
            <a:stCxn id="15688" idx="3"/>
            <a:endCxn id="15690" idx="1"/>
          </p:cNvCxnSpPr>
          <p:nvPr/>
        </p:nvCxnSpPr>
        <p:spPr>
          <a:xfrm>
            <a:off x="7567627" y="3600620"/>
            <a:ext cx="5808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97" name="Google Shape;15697;p604"/>
          <p:cNvCxnSpPr>
            <a:stCxn id="15689" idx="0"/>
            <a:endCxn id="15690" idx="2"/>
          </p:cNvCxnSpPr>
          <p:nvPr/>
        </p:nvCxnSpPr>
        <p:spPr>
          <a:xfrm rot="10800000">
            <a:off x="8622101" y="3773172"/>
            <a:ext cx="0" cy="423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98" name="Google Shape;15698;p604"/>
          <p:cNvSpPr txBox="1"/>
          <p:nvPr/>
        </p:nvSpPr>
        <p:spPr>
          <a:xfrm>
            <a:off x="8304497" y="3017103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699" name="Google Shape;15699;p604"/>
          <p:cNvSpPr txBox="1"/>
          <p:nvPr/>
        </p:nvSpPr>
        <p:spPr>
          <a:xfrm>
            <a:off x="8622079" y="3886596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700" name="Google Shape;15700;p604"/>
          <p:cNvSpPr txBox="1"/>
          <p:nvPr/>
        </p:nvSpPr>
        <p:spPr>
          <a:xfrm>
            <a:off x="7759964" y="3379768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701" name="Google Shape;15701;p604"/>
          <p:cNvSpPr txBox="1"/>
          <p:nvPr/>
        </p:nvSpPr>
        <p:spPr>
          <a:xfrm>
            <a:off x="7224395" y="3017103"/>
            <a:ext cx="196200" cy="19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702" name="Google Shape;15702;p604"/>
          <p:cNvSpPr txBox="1"/>
          <p:nvPr/>
        </p:nvSpPr>
        <p:spPr>
          <a:xfrm>
            <a:off x="7617464" y="3783700"/>
            <a:ext cx="196200" cy="22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703" name="Google Shape;15703;p604"/>
          <p:cNvSpPr txBox="1"/>
          <p:nvPr/>
        </p:nvSpPr>
        <p:spPr>
          <a:xfrm>
            <a:off x="7759964" y="4139431"/>
            <a:ext cx="196200" cy="22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b="1" sz="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704" name="Google Shape;15704;p604"/>
          <p:cNvSpPr txBox="1"/>
          <p:nvPr/>
        </p:nvSpPr>
        <p:spPr>
          <a:xfrm>
            <a:off x="6360051" y="4807600"/>
            <a:ext cx="2793000" cy="18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latin typeface="Open Sans"/>
                <a:ea typeface="Open Sans"/>
                <a:cs typeface="Open Sans"/>
                <a:sym typeface="Open Sans"/>
              </a:rPr>
              <a:t>One-Mode Group-to-Group Network</a:t>
            </a:r>
            <a:endParaRPr b="1" sz="10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705" name="Google Shape;15705;p604"/>
          <p:cNvSpPr txBox="1"/>
          <p:nvPr>
            <p:ph idx="1" type="body"/>
          </p:nvPr>
        </p:nvSpPr>
        <p:spPr>
          <a:xfrm>
            <a:off x="311700" y="1225225"/>
            <a:ext cx="8520600" cy="10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Connections between people are given by the groups they belong to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Connections between groups are given by the people that belong to them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called </a:t>
            </a:r>
            <a:r>
              <a:rPr b="1" lang="en"/>
              <a:t>the duality between persons and groups </a:t>
            </a:r>
            <a:endParaRPr b="1"/>
          </a:p>
        </p:txBody>
      </p:sp>
      <p:sp>
        <p:nvSpPr>
          <p:cNvPr id="15706" name="Google Shape;15706;p604"/>
          <p:cNvSpPr/>
          <p:nvPr/>
        </p:nvSpPr>
        <p:spPr>
          <a:xfrm>
            <a:off x="3421426" y="2391025"/>
            <a:ext cx="900300" cy="257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Gabriela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707" name="Google Shape;15707;p604"/>
          <p:cNvSpPr/>
          <p:nvPr/>
        </p:nvSpPr>
        <p:spPr>
          <a:xfrm>
            <a:off x="3421426" y="2775960"/>
            <a:ext cx="900300" cy="257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Parker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708" name="Google Shape;15708;p604"/>
          <p:cNvSpPr/>
          <p:nvPr/>
        </p:nvSpPr>
        <p:spPr>
          <a:xfrm>
            <a:off x="3421426" y="3212668"/>
            <a:ext cx="900300" cy="257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Brandon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709" name="Google Shape;15709;p604"/>
          <p:cNvSpPr/>
          <p:nvPr/>
        </p:nvSpPr>
        <p:spPr>
          <a:xfrm>
            <a:off x="3421426" y="3633934"/>
            <a:ext cx="900300" cy="257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Marie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710" name="Google Shape;15710;p604"/>
          <p:cNvSpPr/>
          <p:nvPr/>
        </p:nvSpPr>
        <p:spPr>
          <a:xfrm>
            <a:off x="3421426" y="4034309"/>
            <a:ext cx="900300" cy="257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Rahul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711" name="Google Shape;15711;p604"/>
          <p:cNvSpPr/>
          <p:nvPr/>
        </p:nvSpPr>
        <p:spPr>
          <a:xfrm>
            <a:off x="3421426" y="4443950"/>
            <a:ext cx="900300" cy="257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</a:rPr>
              <a:t>Minjoo</a:t>
            </a:r>
            <a:endParaRPr b="1" sz="800">
              <a:solidFill>
                <a:srgbClr val="FFFFFF"/>
              </a:solidFill>
            </a:endParaRPr>
          </a:p>
        </p:txBody>
      </p:sp>
      <p:sp>
        <p:nvSpPr>
          <p:cNvPr id="15712" name="Google Shape;15712;p604"/>
          <p:cNvSpPr/>
          <p:nvPr/>
        </p:nvSpPr>
        <p:spPr>
          <a:xfrm>
            <a:off x="4940163" y="2553334"/>
            <a:ext cx="831900" cy="300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Super Smash Bros. </a:t>
            </a:r>
            <a:endParaRPr sz="800">
              <a:solidFill>
                <a:srgbClr val="FFFFFF"/>
              </a:solidFill>
            </a:endParaRPr>
          </a:p>
        </p:txBody>
      </p:sp>
      <p:sp>
        <p:nvSpPr>
          <p:cNvPr id="15713" name="Google Shape;15713;p604"/>
          <p:cNvSpPr/>
          <p:nvPr/>
        </p:nvSpPr>
        <p:spPr>
          <a:xfrm>
            <a:off x="4940163" y="2975761"/>
            <a:ext cx="831900" cy="300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Cheese</a:t>
            </a:r>
            <a:endParaRPr sz="800">
              <a:solidFill>
                <a:srgbClr val="FFFFFF"/>
              </a:solidFill>
            </a:endParaRPr>
          </a:p>
        </p:txBody>
      </p:sp>
      <p:sp>
        <p:nvSpPr>
          <p:cNvPr id="15714" name="Google Shape;15714;p604"/>
          <p:cNvSpPr/>
          <p:nvPr/>
        </p:nvSpPr>
        <p:spPr>
          <a:xfrm>
            <a:off x="4940163" y="3380039"/>
            <a:ext cx="831900" cy="300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Nerdfighters</a:t>
            </a:r>
            <a:endParaRPr sz="800">
              <a:solidFill>
                <a:srgbClr val="FFFFFF"/>
              </a:solidFill>
            </a:endParaRPr>
          </a:p>
        </p:txBody>
      </p:sp>
      <p:sp>
        <p:nvSpPr>
          <p:cNvPr id="15715" name="Google Shape;15715;p604"/>
          <p:cNvSpPr/>
          <p:nvPr/>
        </p:nvSpPr>
        <p:spPr>
          <a:xfrm>
            <a:off x="4940163" y="3803098"/>
            <a:ext cx="831900" cy="300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Magic</a:t>
            </a:r>
            <a:endParaRPr sz="800">
              <a:solidFill>
                <a:srgbClr val="FFFFFF"/>
              </a:solidFill>
            </a:endParaRPr>
          </a:p>
        </p:txBody>
      </p:sp>
      <p:sp>
        <p:nvSpPr>
          <p:cNvPr id="15716" name="Google Shape;15716;p604"/>
          <p:cNvSpPr/>
          <p:nvPr/>
        </p:nvSpPr>
        <p:spPr>
          <a:xfrm>
            <a:off x="4940163" y="4202249"/>
            <a:ext cx="831900" cy="3003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</a:rPr>
              <a:t>Fashion</a:t>
            </a:r>
            <a:endParaRPr sz="800">
              <a:solidFill>
                <a:srgbClr val="FFFFFF"/>
              </a:solidFill>
            </a:endParaRPr>
          </a:p>
        </p:txBody>
      </p:sp>
      <p:cxnSp>
        <p:nvCxnSpPr>
          <p:cNvPr id="15717" name="Google Shape;15717;p604"/>
          <p:cNvCxnSpPr>
            <a:stCxn id="15711" idx="6"/>
            <a:endCxn id="15716" idx="1"/>
          </p:cNvCxnSpPr>
          <p:nvPr/>
        </p:nvCxnSpPr>
        <p:spPr>
          <a:xfrm flipH="1" rot="10800000">
            <a:off x="4321726" y="4352450"/>
            <a:ext cx="618300" cy="2202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18" name="Google Shape;15718;p604"/>
          <p:cNvCxnSpPr>
            <a:stCxn id="15711" idx="6"/>
            <a:endCxn id="15713" idx="1"/>
          </p:cNvCxnSpPr>
          <p:nvPr/>
        </p:nvCxnSpPr>
        <p:spPr>
          <a:xfrm flipH="1" rot="10800000">
            <a:off x="4321726" y="3126050"/>
            <a:ext cx="618300" cy="14466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19" name="Google Shape;15719;p604"/>
          <p:cNvCxnSpPr>
            <a:stCxn id="15710" idx="6"/>
            <a:endCxn id="15716" idx="1"/>
          </p:cNvCxnSpPr>
          <p:nvPr/>
        </p:nvCxnSpPr>
        <p:spPr>
          <a:xfrm>
            <a:off x="4321726" y="4163009"/>
            <a:ext cx="618300" cy="1893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0" name="Google Shape;15720;p604"/>
          <p:cNvCxnSpPr>
            <a:stCxn id="15708" idx="6"/>
            <a:endCxn id="15713" idx="1"/>
          </p:cNvCxnSpPr>
          <p:nvPr/>
        </p:nvCxnSpPr>
        <p:spPr>
          <a:xfrm flipH="1" rot="10800000">
            <a:off x="4321726" y="3125968"/>
            <a:ext cx="618300" cy="2154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1" name="Google Shape;15721;p604"/>
          <p:cNvCxnSpPr>
            <a:stCxn id="15711" idx="6"/>
            <a:endCxn id="15715" idx="1"/>
          </p:cNvCxnSpPr>
          <p:nvPr/>
        </p:nvCxnSpPr>
        <p:spPr>
          <a:xfrm flipH="1" rot="10800000">
            <a:off x="4321726" y="3953150"/>
            <a:ext cx="618300" cy="6195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2" name="Google Shape;15722;p604"/>
          <p:cNvCxnSpPr>
            <a:stCxn id="15706" idx="6"/>
            <a:endCxn id="15712" idx="1"/>
          </p:cNvCxnSpPr>
          <p:nvPr/>
        </p:nvCxnSpPr>
        <p:spPr>
          <a:xfrm>
            <a:off x="4321726" y="2519725"/>
            <a:ext cx="618300" cy="1839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3" name="Google Shape;15723;p604"/>
          <p:cNvCxnSpPr>
            <a:stCxn id="15706" idx="6"/>
            <a:endCxn id="15714" idx="1"/>
          </p:cNvCxnSpPr>
          <p:nvPr/>
        </p:nvCxnSpPr>
        <p:spPr>
          <a:xfrm>
            <a:off x="4321726" y="2519725"/>
            <a:ext cx="618300" cy="10104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4" name="Google Shape;15724;p604"/>
          <p:cNvCxnSpPr>
            <a:stCxn id="15707" idx="6"/>
            <a:endCxn id="15713" idx="1"/>
          </p:cNvCxnSpPr>
          <p:nvPr/>
        </p:nvCxnSpPr>
        <p:spPr>
          <a:xfrm>
            <a:off x="4321726" y="2904660"/>
            <a:ext cx="618300" cy="2214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5" name="Google Shape;15725;p604"/>
          <p:cNvCxnSpPr>
            <a:stCxn id="15706" idx="6"/>
            <a:endCxn id="15716" idx="1"/>
          </p:cNvCxnSpPr>
          <p:nvPr/>
        </p:nvCxnSpPr>
        <p:spPr>
          <a:xfrm>
            <a:off x="4321726" y="2519725"/>
            <a:ext cx="618300" cy="18327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6" name="Google Shape;15726;p604"/>
          <p:cNvCxnSpPr>
            <a:stCxn id="15709" idx="6"/>
            <a:endCxn id="15714" idx="1"/>
          </p:cNvCxnSpPr>
          <p:nvPr/>
        </p:nvCxnSpPr>
        <p:spPr>
          <a:xfrm flipH="1" rot="10800000">
            <a:off x="4321726" y="3530134"/>
            <a:ext cx="618300" cy="2325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7" name="Google Shape;15727;p604"/>
          <p:cNvCxnSpPr>
            <a:stCxn id="15707" idx="6"/>
            <a:endCxn id="15715" idx="1"/>
          </p:cNvCxnSpPr>
          <p:nvPr/>
        </p:nvCxnSpPr>
        <p:spPr>
          <a:xfrm>
            <a:off x="4321726" y="2904660"/>
            <a:ext cx="618300" cy="10485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8" name="Google Shape;15728;p604"/>
          <p:cNvCxnSpPr>
            <a:stCxn id="15710" idx="6"/>
            <a:endCxn id="15713" idx="1"/>
          </p:cNvCxnSpPr>
          <p:nvPr/>
        </p:nvCxnSpPr>
        <p:spPr>
          <a:xfrm flipH="1" rot="10800000">
            <a:off x="4321726" y="3125909"/>
            <a:ext cx="618300" cy="10371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29" name="Google Shape;15729;p604"/>
          <p:cNvCxnSpPr>
            <a:stCxn id="15709" idx="6"/>
            <a:endCxn id="15712" idx="1"/>
          </p:cNvCxnSpPr>
          <p:nvPr/>
        </p:nvCxnSpPr>
        <p:spPr>
          <a:xfrm flipH="1" rot="10800000">
            <a:off x="4321726" y="2703634"/>
            <a:ext cx="618300" cy="1059000"/>
          </a:xfrm>
          <a:prstGeom prst="straightConnector1">
            <a:avLst/>
          </a:prstGeom>
          <a:noFill/>
          <a:ln cap="flat" cmpd="sng" w="19050">
            <a:solidFill>
              <a:srgbClr val="99999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730" name="Google Shape;15730;p604"/>
          <p:cNvSpPr/>
          <p:nvPr/>
        </p:nvSpPr>
        <p:spPr>
          <a:xfrm>
            <a:off x="5908863" y="3284413"/>
            <a:ext cx="654000" cy="576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F6B26B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1" name="Google Shape;15731;p604"/>
          <p:cNvSpPr/>
          <p:nvPr/>
        </p:nvSpPr>
        <p:spPr>
          <a:xfrm rot="10800000">
            <a:off x="2726775" y="3280488"/>
            <a:ext cx="654000" cy="5766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F6B26B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2" name="Google Shape;15732;p604"/>
          <p:cNvSpPr txBox="1"/>
          <p:nvPr/>
        </p:nvSpPr>
        <p:spPr>
          <a:xfrm>
            <a:off x="3486228" y="4792875"/>
            <a:ext cx="2289300" cy="18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latin typeface="Open Sans"/>
                <a:ea typeface="Open Sans"/>
                <a:cs typeface="Open Sans"/>
                <a:sym typeface="Open Sans"/>
              </a:rPr>
              <a:t>Original Two-Mode Network</a:t>
            </a:r>
            <a:endParaRPr b="1" sz="10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36" name="Shape 15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7" name="Google Shape;15737;p60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an affiliation network?</a:t>
            </a:r>
            <a:endParaRPr/>
          </a:p>
        </p:txBody>
      </p:sp>
      <p:pic>
        <p:nvPicPr>
          <p:cNvPr descr="marvel-3.png" id="15738" name="Google Shape;15738;p605"/>
          <p:cNvPicPr preferRelativeResize="0"/>
          <p:nvPr/>
        </p:nvPicPr>
        <p:blipFill rotWithShape="1">
          <a:blip r:embed="rId3">
            <a:alphaModFix/>
          </a:blip>
          <a:srcRect b="2471" l="2257" r="1691" t="263"/>
          <a:stretch/>
        </p:blipFill>
        <p:spPr>
          <a:xfrm>
            <a:off x="5626850" y="989475"/>
            <a:ext cx="3205450" cy="3825499"/>
          </a:xfrm>
          <a:prstGeom prst="rect">
            <a:avLst/>
          </a:prstGeom>
          <a:noFill/>
          <a:ln>
            <a:noFill/>
          </a:ln>
        </p:spPr>
      </p:pic>
      <p:sp>
        <p:nvSpPr>
          <p:cNvPr id="15739" name="Google Shape;15739;p605"/>
          <p:cNvSpPr txBox="1"/>
          <p:nvPr>
            <p:ph idx="1" type="body"/>
          </p:nvPr>
        </p:nvSpPr>
        <p:spPr>
          <a:xfrm>
            <a:off x="311700" y="1225225"/>
            <a:ext cx="4636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affiliation networks that have been studied in the literature include: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Hollywood</a:t>
            </a:r>
            <a:r>
              <a:rPr lang="en">
                <a:solidFill>
                  <a:srgbClr val="FF0000"/>
                </a:solidFill>
              </a:rPr>
              <a:t> </a:t>
            </a:r>
            <a:r>
              <a:rPr b="1" lang="en">
                <a:solidFill>
                  <a:srgbClr val="FF0000"/>
                </a:solidFill>
              </a:rPr>
              <a:t>actors</a:t>
            </a:r>
            <a:r>
              <a:rPr lang="en">
                <a:solidFill>
                  <a:srgbClr val="FF0000"/>
                </a:solidFill>
              </a:rPr>
              <a:t> and the </a:t>
            </a:r>
            <a:r>
              <a:rPr b="1" lang="en">
                <a:solidFill>
                  <a:srgbClr val="FF0000"/>
                </a:solidFill>
              </a:rPr>
              <a:t>movies</a:t>
            </a:r>
            <a:r>
              <a:rPr lang="en">
                <a:solidFill>
                  <a:srgbClr val="FF0000"/>
                </a:solidFill>
              </a:rPr>
              <a:t> that they make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b="1" lang="en">
                <a:solidFill>
                  <a:srgbClr val="000000"/>
                </a:solidFill>
              </a:rPr>
              <a:t>CEOs</a:t>
            </a:r>
            <a:r>
              <a:rPr lang="en">
                <a:solidFill>
                  <a:srgbClr val="000000"/>
                </a:solidFill>
              </a:rPr>
              <a:t> and the </a:t>
            </a:r>
            <a:r>
              <a:rPr b="1" lang="en">
                <a:solidFill>
                  <a:srgbClr val="000000"/>
                </a:solidFill>
              </a:rPr>
              <a:t>board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of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directors</a:t>
            </a:r>
            <a:r>
              <a:rPr lang="en">
                <a:solidFill>
                  <a:srgbClr val="000000"/>
                </a:solidFill>
              </a:rPr>
              <a:t> that they sit on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Books </a:t>
            </a:r>
            <a:r>
              <a:rPr lang="en"/>
              <a:t>and the people who buy them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Scientists </a:t>
            </a:r>
            <a:r>
              <a:rPr lang="en"/>
              <a:t>and the </a:t>
            </a:r>
            <a:r>
              <a:rPr b="1" lang="en"/>
              <a:t>journal</a:t>
            </a:r>
            <a:r>
              <a:rPr lang="en"/>
              <a:t> they publish in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43" name="Shape 15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44" name="Google Shape;15744;p60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an affiliation network?</a:t>
            </a:r>
            <a:endParaRPr/>
          </a:p>
        </p:txBody>
      </p:sp>
      <p:pic>
        <p:nvPicPr>
          <p:cNvPr descr="Citigroup_corp_NetDraw.gif" id="15745" name="Google Shape;15745;p60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48500" y="1299625"/>
            <a:ext cx="4043100" cy="3308593"/>
          </a:xfrm>
          <a:prstGeom prst="rect">
            <a:avLst/>
          </a:prstGeom>
          <a:noFill/>
          <a:ln>
            <a:noFill/>
          </a:ln>
        </p:spPr>
      </p:pic>
      <p:sp>
        <p:nvSpPr>
          <p:cNvPr id="15746" name="Google Shape;15746;p606"/>
          <p:cNvSpPr txBox="1"/>
          <p:nvPr>
            <p:ph idx="1" type="body"/>
          </p:nvPr>
        </p:nvSpPr>
        <p:spPr>
          <a:xfrm>
            <a:off x="311700" y="1225225"/>
            <a:ext cx="4636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affiliation networks that have been studied in the literature include: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Hollywood</a:t>
            </a:r>
            <a:r>
              <a:rPr lang="en"/>
              <a:t> </a:t>
            </a:r>
            <a:r>
              <a:rPr b="1" lang="en"/>
              <a:t>actors</a:t>
            </a:r>
            <a:r>
              <a:rPr lang="en"/>
              <a:t> and the </a:t>
            </a:r>
            <a:r>
              <a:rPr b="1" lang="en"/>
              <a:t>movies</a:t>
            </a:r>
            <a:r>
              <a:rPr lang="en"/>
              <a:t> that they make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CEOs</a:t>
            </a:r>
            <a:r>
              <a:rPr lang="en">
                <a:solidFill>
                  <a:srgbClr val="FF0000"/>
                </a:solidFill>
              </a:rPr>
              <a:t> and the </a:t>
            </a:r>
            <a:r>
              <a:rPr b="1" lang="en">
                <a:solidFill>
                  <a:srgbClr val="FF0000"/>
                </a:solidFill>
              </a:rPr>
              <a:t>board</a:t>
            </a:r>
            <a:r>
              <a:rPr lang="en">
                <a:solidFill>
                  <a:srgbClr val="FF0000"/>
                </a:solidFill>
              </a:rPr>
              <a:t> </a:t>
            </a:r>
            <a:r>
              <a:rPr b="1" lang="en">
                <a:solidFill>
                  <a:srgbClr val="FF0000"/>
                </a:solidFill>
              </a:rPr>
              <a:t>of</a:t>
            </a:r>
            <a:r>
              <a:rPr lang="en">
                <a:solidFill>
                  <a:srgbClr val="FF0000"/>
                </a:solidFill>
              </a:rPr>
              <a:t> </a:t>
            </a:r>
            <a:r>
              <a:rPr b="1" lang="en">
                <a:solidFill>
                  <a:srgbClr val="FF0000"/>
                </a:solidFill>
              </a:rPr>
              <a:t>directors</a:t>
            </a:r>
            <a:r>
              <a:rPr lang="en">
                <a:solidFill>
                  <a:srgbClr val="FF0000"/>
                </a:solidFill>
              </a:rPr>
              <a:t> that they sit on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Books </a:t>
            </a:r>
            <a:r>
              <a:rPr lang="en"/>
              <a:t>and the people who buy them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Scientists </a:t>
            </a:r>
            <a:r>
              <a:rPr lang="en"/>
              <a:t>and the </a:t>
            </a:r>
            <a:r>
              <a:rPr b="1" lang="en"/>
              <a:t>journal</a:t>
            </a:r>
            <a:r>
              <a:rPr lang="en"/>
              <a:t> they publish in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</p:spTree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50" name="Shape 15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51" name="Google Shape;15751;p60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an affiliation network?</a:t>
            </a:r>
            <a:endParaRPr/>
          </a:p>
        </p:txBody>
      </p:sp>
      <p:sp>
        <p:nvSpPr>
          <p:cNvPr id="15752" name="Google Shape;15752;p607"/>
          <p:cNvSpPr txBox="1"/>
          <p:nvPr>
            <p:ph idx="1" type="body"/>
          </p:nvPr>
        </p:nvSpPr>
        <p:spPr>
          <a:xfrm>
            <a:off x="311700" y="1225225"/>
            <a:ext cx="4636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affiliation networks that have been studied in the literature include: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b="1" lang="en">
                <a:solidFill>
                  <a:srgbClr val="000000"/>
                </a:solidFill>
              </a:rPr>
              <a:t>Hollywood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actors</a:t>
            </a:r>
            <a:r>
              <a:rPr lang="en">
                <a:solidFill>
                  <a:srgbClr val="000000"/>
                </a:solidFill>
              </a:rPr>
              <a:t> and the </a:t>
            </a:r>
            <a:r>
              <a:rPr b="1" lang="en">
                <a:solidFill>
                  <a:srgbClr val="000000"/>
                </a:solidFill>
              </a:rPr>
              <a:t>movies</a:t>
            </a:r>
            <a:r>
              <a:rPr lang="en">
                <a:solidFill>
                  <a:srgbClr val="000000"/>
                </a:solidFill>
              </a:rPr>
              <a:t> that they make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b="1" lang="en">
                <a:solidFill>
                  <a:srgbClr val="000000"/>
                </a:solidFill>
              </a:rPr>
              <a:t>CEOs</a:t>
            </a:r>
            <a:r>
              <a:rPr lang="en">
                <a:solidFill>
                  <a:srgbClr val="000000"/>
                </a:solidFill>
              </a:rPr>
              <a:t> and the </a:t>
            </a:r>
            <a:r>
              <a:rPr b="1" lang="en">
                <a:solidFill>
                  <a:srgbClr val="000000"/>
                </a:solidFill>
              </a:rPr>
              <a:t>board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of</a:t>
            </a:r>
            <a:r>
              <a:rPr lang="en">
                <a:solidFill>
                  <a:srgbClr val="000000"/>
                </a:solidFill>
              </a:rPr>
              <a:t> </a:t>
            </a:r>
            <a:r>
              <a:rPr b="1" lang="en">
                <a:solidFill>
                  <a:srgbClr val="000000"/>
                </a:solidFill>
              </a:rPr>
              <a:t>directors</a:t>
            </a:r>
            <a:r>
              <a:rPr lang="en">
                <a:solidFill>
                  <a:srgbClr val="000000"/>
                </a:solidFill>
              </a:rPr>
              <a:t> that they sit on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Books </a:t>
            </a:r>
            <a:r>
              <a:rPr lang="en">
                <a:solidFill>
                  <a:srgbClr val="FF0000"/>
                </a:solidFill>
              </a:rPr>
              <a:t>and the people who buy them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Scientists </a:t>
            </a:r>
            <a:r>
              <a:rPr lang="en"/>
              <a:t>and the </a:t>
            </a:r>
            <a:r>
              <a:rPr b="1" lang="en"/>
              <a:t>journal</a:t>
            </a:r>
            <a:r>
              <a:rPr lang="en"/>
              <a:t> they publish in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pic>
        <p:nvPicPr>
          <p:cNvPr id="15753" name="Google Shape;15753;p607"/>
          <p:cNvPicPr preferRelativeResize="0"/>
          <p:nvPr/>
        </p:nvPicPr>
        <p:blipFill rotWithShape="1">
          <a:blip r:embed="rId3">
            <a:alphaModFix/>
          </a:blip>
          <a:srcRect b="18702" l="51333" r="0" t="21586"/>
          <a:stretch/>
        </p:blipFill>
        <p:spPr>
          <a:xfrm>
            <a:off x="5233650" y="1225225"/>
            <a:ext cx="3644818" cy="33539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57" name="Shape 15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58" name="Google Shape;15758;p60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an affiliation network?</a:t>
            </a:r>
            <a:endParaRPr/>
          </a:p>
        </p:txBody>
      </p:sp>
      <p:pic>
        <p:nvPicPr>
          <p:cNvPr descr="image006.jpg" id="15759" name="Google Shape;15759;p60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48500" y="1299625"/>
            <a:ext cx="4043100" cy="3356725"/>
          </a:xfrm>
          <a:prstGeom prst="rect">
            <a:avLst/>
          </a:prstGeom>
          <a:noFill/>
          <a:ln>
            <a:noFill/>
          </a:ln>
        </p:spPr>
      </p:pic>
      <p:sp>
        <p:nvSpPr>
          <p:cNvPr id="15760" name="Google Shape;15760;p608"/>
          <p:cNvSpPr txBox="1"/>
          <p:nvPr>
            <p:ph idx="1" type="body"/>
          </p:nvPr>
        </p:nvSpPr>
        <p:spPr>
          <a:xfrm>
            <a:off x="311700" y="1225225"/>
            <a:ext cx="4636800" cy="3354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Types of affiliation networks that have been studied in the literature include: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Hollywood</a:t>
            </a:r>
            <a:r>
              <a:rPr lang="en"/>
              <a:t> </a:t>
            </a:r>
            <a:r>
              <a:rPr b="1" lang="en"/>
              <a:t>actors</a:t>
            </a:r>
            <a:r>
              <a:rPr lang="en"/>
              <a:t> and the </a:t>
            </a:r>
            <a:r>
              <a:rPr b="1" lang="en"/>
              <a:t>movies</a:t>
            </a:r>
            <a:r>
              <a:rPr lang="en"/>
              <a:t> that they make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CEOs</a:t>
            </a:r>
            <a:r>
              <a:rPr lang="en"/>
              <a:t> and the </a:t>
            </a:r>
            <a:r>
              <a:rPr b="1" lang="en"/>
              <a:t>board</a:t>
            </a:r>
            <a:r>
              <a:rPr lang="en"/>
              <a:t> </a:t>
            </a:r>
            <a:r>
              <a:rPr b="1" lang="en"/>
              <a:t>of</a:t>
            </a:r>
            <a:r>
              <a:rPr lang="en"/>
              <a:t> </a:t>
            </a:r>
            <a:r>
              <a:rPr b="1" lang="en"/>
              <a:t>directors</a:t>
            </a:r>
            <a:r>
              <a:rPr lang="en"/>
              <a:t> that they sit 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Books </a:t>
            </a:r>
            <a:r>
              <a:rPr lang="en"/>
              <a:t>and the people who buy them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Scientists </a:t>
            </a:r>
            <a:r>
              <a:rPr lang="en">
                <a:solidFill>
                  <a:srgbClr val="FF0000"/>
                </a:solidFill>
              </a:rPr>
              <a:t>and the </a:t>
            </a:r>
            <a:r>
              <a:rPr b="1" lang="en">
                <a:solidFill>
                  <a:srgbClr val="FF0000"/>
                </a:solidFill>
              </a:rPr>
              <a:t>journal</a:t>
            </a:r>
            <a:r>
              <a:rPr lang="en">
                <a:solidFill>
                  <a:srgbClr val="FF0000"/>
                </a:solidFill>
              </a:rPr>
              <a:t> they publish in</a:t>
            </a:r>
            <a:endParaRPr>
              <a:solidFill>
                <a:srgbClr val="FF0000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</p:spTree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64" name="Shape 15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5" name="Google Shape;15765;p60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Glossary of Key Terms (Affiliation Networks)</a:t>
            </a:r>
            <a:endParaRPr/>
          </a:p>
        </p:txBody>
      </p:sp>
      <p:sp>
        <p:nvSpPr>
          <p:cNvPr id="15766" name="Google Shape;15766;p609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Affiliation network:</a:t>
            </a:r>
            <a:r>
              <a:rPr lang="en"/>
              <a:t> A social network in which two types of entities (e.g., people and the books they bought) are linked together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Bipartite Graph: </a:t>
            </a:r>
            <a:r>
              <a:rPr lang="en"/>
              <a:t>A graph with two disjoint set of nodes in which nodes link only to nodes in the other set but not with nodes in their own set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Bipartite graphs are useful for representing two-mode networks!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Affiliation Matrix: </a:t>
            </a:r>
            <a:r>
              <a:rPr lang="en"/>
              <a:t>Matrix recording the adjacency relations between vertices in a bipartite graph representing a two-mode network</a:t>
            </a:r>
            <a:endParaRPr/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70" name="Shape 15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1" name="Google Shape;15771;p61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Glossary of Key Terms (Affiliation Networks)</a:t>
            </a:r>
            <a:endParaRPr/>
          </a:p>
        </p:txBody>
      </p:sp>
      <p:sp>
        <p:nvSpPr>
          <p:cNvPr id="15772" name="Google Shape;15772;p610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Matrix Transpose: </a:t>
            </a:r>
            <a:r>
              <a:rPr lang="en"/>
              <a:t>A matrix operation that produces a new matrix (the transpose) by switching around the number of rows and the number of columns of the original matrix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Co-membership Matrix:</a:t>
            </a:r>
            <a:r>
              <a:rPr lang="en"/>
              <a:t> Matrix that results from multiplying an affiliation matrix times its transpose. The off-diagonal cells of the co-membership matrix records the number of shared memberships each pair of people have in an affiliation network.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Group Overlap Matrix:</a:t>
            </a:r>
            <a:r>
              <a:rPr lang="en"/>
              <a:t> Matrix that results from multiplying the transpose of an affiliation matrix times the original. The off-diagonal cells of the group overlap matrix records the number of shared members each pair of groups have in an affiliation network.</a:t>
            </a:r>
            <a:endParaRPr/>
          </a:p>
        </p:txBody>
      </p:sp>
    </p:spTree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5776" name="Shape 15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7" name="Google Shape;15777;p611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Whole Network Level</a:t>
            </a:r>
            <a:endParaRPr/>
          </a:p>
        </p:txBody>
      </p:sp>
      <p:sp>
        <p:nvSpPr>
          <p:cNvPr id="15778" name="Google Shape;15778;p611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82" name="Shape 15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83" name="Google Shape;15783;p612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15784" name="Google Shape;15784;p612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785" name="Google Shape;15785;p612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612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787" name="Google Shape;15787;p612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5788" name="Google Shape;15788;p612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15789" name="Google Shape;15789;p612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790" name="Google Shape;15790;p612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612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792" name="Google Shape;15792;p612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5793" name="Google Shape;15793;p612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15794" name="Google Shape;15794;p612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795" name="Google Shape;15795;p612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612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797" name="Google Shape;15797;p612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5798" name="Google Shape;15798;p612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15799" name="Google Shape;15799;p612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800" name="Google Shape;15800;p612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612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802" name="Google Shape;15802;p612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5803" name="Google Shape;15803;p612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15804" name="Google Shape;15804;p612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05" name="Google Shape;15805;p612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06" name="Google Shape;15806;p612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07" name="Google Shape;15807;p612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08" name="Google Shape;15808;p612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09" name="Google Shape;15809;p612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0" name="Google Shape;15810;p612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1" name="Google Shape;15811;p612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2" name="Google Shape;15812;p612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3" name="Google Shape;15813;p612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4" name="Google Shape;15814;p612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5" name="Google Shape;15815;p612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6" name="Google Shape;15816;p612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7" name="Google Shape;15817;p612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8" name="Google Shape;15818;p612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19" name="Google Shape;15819;p612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20" name="Google Shape;15820;p612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grpSp>
        <p:nvGrpSpPr>
          <p:cNvPr id="15821" name="Google Shape;15821;p612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15822" name="Google Shape;15822;p612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823" name="Google Shape;15823;p612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612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825" name="Google Shape;15825;p612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15826" name="Google Shape;15826;p612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827" name="Google Shape;15827;p61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</p:spTree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831" name="Shape 15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32" name="Google Shape;15832;p613"/>
          <p:cNvGrpSpPr/>
          <p:nvPr/>
        </p:nvGrpSpPr>
        <p:grpSpPr>
          <a:xfrm>
            <a:off x="4725650" y="1479057"/>
            <a:ext cx="3820529" cy="747300"/>
            <a:chOff x="4530625" y="1206568"/>
            <a:chExt cx="3820529" cy="747300"/>
          </a:xfrm>
        </p:grpSpPr>
        <p:cxnSp>
          <p:nvCxnSpPr>
            <p:cNvPr id="15833" name="Google Shape;15833;p613"/>
            <p:cNvCxnSpPr/>
            <p:nvPr/>
          </p:nvCxnSpPr>
          <p:spPr>
            <a:xfrm>
              <a:off x="4530625" y="1582195"/>
              <a:ext cx="16527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834" name="Google Shape;15834;p613"/>
            <p:cNvSpPr/>
            <p:nvPr/>
          </p:nvSpPr>
          <p:spPr>
            <a:xfrm>
              <a:off x="6014671" y="1481782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613"/>
            <p:cNvSpPr txBox="1"/>
            <p:nvPr/>
          </p:nvSpPr>
          <p:spPr>
            <a:xfrm>
              <a:off x="5990215" y="142376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836" name="Google Shape;15836;p613"/>
            <p:cNvSpPr txBox="1"/>
            <p:nvPr/>
          </p:nvSpPr>
          <p:spPr>
            <a:xfrm>
              <a:off x="6223854" y="1206568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Individual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5837" name="Google Shape;15837;p613"/>
          <p:cNvGrpSpPr/>
          <p:nvPr/>
        </p:nvGrpSpPr>
        <p:grpSpPr>
          <a:xfrm>
            <a:off x="5769175" y="3491301"/>
            <a:ext cx="2777004" cy="747300"/>
            <a:chOff x="5574150" y="3083456"/>
            <a:chExt cx="2777004" cy="747300"/>
          </a:xfrm>
        </p:grpSpPr>
        <p:cxnSp>
          <p:nvCxnSpPr>
            <p:cNvPr id="15838" name="Google Shape;15838;p613"/>
            <p:cNvCxnSpPr/>
            <p:nvPr/>
          </p:nvCxnSpPr>
          <p:spPr>
            <a:xfrm>
              <a:off x="5574150" y="3449448"/>
              <a:ext cx="6093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839" name="Google Shape;15839;p613"/>
            <p:cNvSpPr/>
            <p:nvPr/>
          </p:nvSpPr>
          <p:spPr>
            <a:xfrm>
              <a:off x="6014671" y="3349032"/>
              <a:ext cx="198600" cy="198300"/>
            </a:xfrm>
            <a:prstGeom prst="ellipse">
              <a:avLst/>
            </a:prstGeom>
            <a:solidFill>
              <a:srgbClr val="922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613"/>
            <p:cNvSpPr txBox="1"/>
            <p:nvPr/>
          </p:nvSpPr>
          <p:spPr>
            <a:xfrm>
              <a:off x="5991690" y="329111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841" name="Google Shape;15841;p613"/>
            <p:cNvSpPr txBox="1"/>
            <p:nvPr/>
          </p:nvSpPr>
          <p:spPr>
            <a:xfrm>
              <a:off x="6223854" y="3083456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Whole Network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5842" name="Google Shape;15842;p613"/>
          <p:cNvGrpSpPr/>
          <p:nvPr/>
        </p:nvGrpSpPr>
        <p:grpSpPr>
          <a:xfrm>
            <a:off x="597801" y="1980193"/>
            <a:ext cx="3468724" cy="747300"/>
            <a:chOff x="744101" y="1672393"/>
            <a:chExt cx="3468724" cy="747300"/>
          </a:xfrm>
        </p:grpSpPr>
        <p:cxnSp>
          <p:nvCxnSpPr>
            <p:cNvPr id="15843" name="Google Shape;15843;p613"/>
            <p:cNvCxnSpPr/>
            <p:nvPr/>
          </p:nvCxnSpPr>
          <p:spPr>
            <a:xfrm rot="10800000">
              <a:off x="2921325" y="2046050"/>
              <a:ext cx="12915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844" name="Google Shape;15844;p613"/>
            <p:cNvSpPr/>
            <p:nvPr/>
          </p:nvSpPr>
          <p:spPr>
            <a:xfrm>
              <a:off x="2874851" y="1943786"/>
              <a:ext cx="198600" cy="198300"/>
            </a:xfrm>
            <a:prstGeom prst="ellipse">
              <a:avLst/>
            </a:prstGeom>
            <a:solidFill>
              <a:srgbClr val="701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613"/>
            <p:cNvSpPr txBox="1"/>
            <p:nvPr/>
          </p:nvSpPr>
          <p:spPr>
            <a:xfrm>
              <a:off x="2849841" y="1884747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846" name="Google Shape;15846;p613"/>
            <p:cNvSpPr txBox="1"/>
            <p:nvPr/>
          </p:nvSpPr>
          <p:spPr>
            <a:xfrm>
              <a:off x="744101" y="1672393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Dyads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5847" name="Google Shape;15847;p613"/>
          <p:cNvGrpSpPr/>
          <p:nvPr/>
        </p:nvGrpSpPr>
        <p:grpSpPr>
          <a:xfrm>
            <a:off x="597801" y="2897769"/>
            <a:ext cx="3021694" cy="747300"/>
            <a:chOff x="744101" y="2507609"/>
            <a:chExt cx="3021694" cy="747300"/>
          </a:xfrm>
        </p:grpSpPr>
        <p:cxnSp>
          <p:nvCxnSpPr>
            <p:cNvPr id="15848" name="Google Shape;15848;p613"/>
            <p:cNvCxnSpPr/>
            <p:nvPr/>
          </p:nvCxnSpPr>
          <p:spPr>
            <a:xfrm rot="10800000">
              <a:off x="2915895" y="2881250"/>
              <a:ext cx="8499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849" name="Google Shape;15849;p613"/>
            <p:cNvSpPr/>
            <p:nvPr/>
          </p:nvSpPr>
          <p:spPr>
            <a:xfrm>
              <a:off x="2874851" y="2780836"/>
              <a:ext cx="198600" cy="198300"/>
            </a:xfrm>
            <a:prstGeom prst="ellipse">
              <a:avLst/>
            </a:prstGeom>
            <a:solidFill>
              <a:srgbClr val="7F20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613"/>
            <p:cNvSpPr txBox="1"/>
            <p:nvPr/>
          </p:nvSpPr>
          <p:spPr>
            <a:xfrm>
              <a:off x="2849841" y="2724795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851" name="Google Shape;15851;p613"/>
            <p:cNvSpPr txBox="1"/>
            <p:nvPr/>
          </p:nvSpPr>
          <p:spPr>
            <a:xfrm>
              <a:off x="744101" y="250760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Cliques, Communities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5852" name="Google Shape;15852;p613"/>
          <p:cNvGrpSpPr/>
          <p:nvPr/>
        </p:nvGrpSpPr>
        <p:grpSpPr>
          <a:xfrm>
            <a:off x="2811509" y="1603902"/>
            <a:ext cx="3509178" cy="3257208"/>
            <a:chOff x="3318063" y="1368287"/>
            <a:chExt cx="2408000" cy="2993482"/>
          </a:xfrm>
        </p:grpSpPr>
        <p:sp>
          <p:nvSpPr>
            <p:cNvPr id="15853" name="Google Shape;15853;p613"/>
            <p:cNvSpPr/>
            <p:nvPr/>
          </p:nvSpPr>
          <p:spPr>
            <a:xfrm>
              <a:off x="3595785" y="2775241"/>
              <a:ext cx="1853168" cy="9191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54" name="Google Shape;15854;p613"/>
            <p:cNvSpPr/>
            <p:nvPr/>
          </p:nvSpPr>
          <p:spPr>
            <a:xfrm>
              <a:off x="3318063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55" name="Google Shape;15855;p613"/>
            <p:cNvSpPr/>
            <p:nvPr/>
          </p:nvSpPr>
          <p:spPr>
            <a:xfrm flipH="1">
              <a:off x="4522196" y="3194383"/>
              <a:ext cx="1203867" cy="1167385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9225A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56" name="Google Shape;15856;p613"/>
            <p:cNvSpPr/>
            <p:nvPr/>
          </p:nvSpPr>
          <p:spPr>
            <a:xfrm>
              <a:off x="3844034" y="2401368"/>
              <a:ext cx="1356545" cy="672851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57" name="Google Shape;15857;p613"/>
            <p:cNvSpPr/>
            <p:nvPr/>
          </p:nvSpPr>
          <p:spPr>
            <a:xfrm>
              <a:off x="3930892" y="2272397"/>
              <a:ext cx="1175304" cy="581421"/>
            </a:xfrm>
            <a:custGeom>
              <a:rect b="b" l="l" r="r" t="t"/>
              <a:pathLst>
                <a:path extrusionOk="0" h="16300" w="49248">
                  <a:moveTo>
                    <a:pt x="0" y="7554"/>
                  </a:moveTo>
                  <a:lnTo>
                    <a:pt x="24649" y="16300"/>
                  </a:lnTo>
                  <a:lnTo>
                    <a:pt x="49248" y="760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58" name="Google Shape;15858;p613"/>
            <p:cNvSpPr/>
            <p:nvPr/>
          </p:nvSpPr>
          <p:spPr>
            <a:xfrm>
              <a:off x="4052837" y="2081437"/>
              <a:ext cx="931314" cy="460727"/>
            </a:xfrm>
            <a:custGeom>
              <a:rect b="b" l="l" r="r" t="t"/>
              <a:pathLst>
                <a:path extrusionOk="0" h="12970" w="39012">
                  <a:moveTo>
                    <a:pt x="0" y="5914"/>
                  </a:moveTo>
                  <a:lnTo>
                    <a:pt x="19531" y="12970"/>
                  </a:lnTo>
                  <a:lnTo>
                    <a:pt x="39012" y="5914"/>
                  </a:lnTo>
                  <a:lnTo>
                    <a:pt x="1958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59" name="Google Shape;15859;p613"/>
            <p:cNvSpPr/>
            <p:nvPr/>
          </p:nvSpPr>
          <p:spPr>
            <a:xfrm>
              <a:off x="4233144" y="1787006"/>
              <a:ext cx="573183" cy="289305"/>
            </a:xfrm>
            <a:custGeom>
              <a:rect b="b" l="l" r="r" t="t"/>
              <a:pathLst>
                <a:path extrusionOk="0" h="8150" w="24053">
                  <a:moveTo>
                    <a:pt x="0" y="3827"/>
                  </a:moveTo>
                  <a:lnTo>
                    <a:pt x="11976" y="8150"/>
                  </a:lnTo>
                  <a:lnTo>
                    <a:pt x="24053" y="3827"/>
                  </a:lnTo>
                  <a:lnTo>
                    <a:pt x="1212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0" name="Google Shape;15860;p613"/>
            <p:cNvSpPr/>
            <p:nvPr/>
          </p:nvSpPr>
          <p:spPr>
            <a:xfrm>
              <a:off x="3640743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1" name="Google Shape;15861;p613"/>
            <p:cNvSpPr/>
            <p:nvPr/>
          </p:nvSpPr>
          <p:spPr>
            <a:xfrm>
              <a:off x="3964720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gradFill>
              <a:gsLst>
                <a:gs pos="0">
                  <a:srgbClr val="FFCA37"/>
                </a:gs>
                <a:gs pos="100000">
                  <a:srgbClr val="AD8107"/>
                </a:gs>
              </a:gsLst>
              <a:lin ang="5400012" scaled="0"/>
            </a:gra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2" name="Google Shape;15862;p613"/>
            <p:cNvSpPr/>
            <p:nvPr/>
          </p:nvSpPr>
          <p:spPr>
            <a:xfrm flipH="1">
              <a:off x="4518736" y="2291507"/>
              <a:ext cx="555203" cy="453658"/>
            </a:xfrm>
            <a:custGeom>
              <a:rect b="b" l="l" r="r" t="t"/>
              <a:pathLst>
                <a:path extrusionOk="0" h="12771" w="23257">
                  <a:moveTo>
                    <a:pt x="3727" y="0"/>
                  </a:moveTo>
                  <a:lnTo>
                    <a:pt x="0" y="4522"/>
                  </a:lnTo>
                  <a:lnTo>
                    <a:pt x="23257" y="12771"/>
                  </a:lnTo>
                  <a:lnTo>
                    <a:pt x="23257" y="7056"/>
                  </a:lnTo>
                  <a:close/>
                </a:path>
              </a:pathLst>
            </a:custGeom>
            <a:solidFill>
              <a:srgbClr val="F4B40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3" name="Google Shape;15863;p613"/>
            <p:cNvSpPr/>
            <p:nvPr/>
          </p:nvSpPr>
          <p:spPr>
            <a:xfrm>
              <a:off x="4084537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4" name="Google Shape;15864;p613"/>
            <p:cNvSpPr/>
            <p:nvPr/>
          </p:nvSpPr>
          <p:spPr>
            <a:xfrm flipH="1">
              <a:off x="4518735" y="1922553"/>
              <a:ext cx="435387" cy="501365"/>
            </a:xfrm>
            <a:custGeom>
              <a:rect b="b" l="l" r="r" t="t"/>
              <a:pathLst>
                <a:path extrusionOk="0" h="14114" w="18238">
                  <a:moveTo>
                    <a:pt x="6262" y="0"/>
                  </a:moveTo>
                  <a:lnTo>
                    <a:pt x="18238" y="4324"/>
                  </a:lnTo>
                  <a:lnTo>
                    <a:pt x="18238" y="14114"/>
                  </a:lnTo>
                  <a:lnTo>
                    <a:pt x="0" y="7554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5" name="Google Shape;15865;p613"/>
            <p:cNvSpPr/>
            <p:nvPr/>
          </p:nvSpPr>
          <p:spPr>
            <a:xfrm>
              <a:off x="4266040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6" name="Google Shape;15866;p613"/>
            <p:cNvSpPr/>
            <p:nvPr/>
          </p:nvSpPr>
          <p:spPr>
            <a:xfrm flipH="1">
              <a:off x="4518734" y="1368287"/>
              <a:ext cx="253884" cy="593119"/>
            </a:xfrm>
            <a:custGeom>
              <a:rect b="b" l="l" r="r" t="t"/>
              <a:pathLst>
                <a:path extrusionOk="0" h="16697" w="10635">
                  <a:moveTo>
                    <a:pt x="10635" y="0"/>
                  </a:moveTo>
                  <a:lnTo>
                    <a:pt x="0" y="12722"/>
                  </a:lnTo>
                  <a:lnTo>
                    <a:pt x="10635" y="16697"/>
                  </a:lnTo>
                  <a:close/>
                </a:path>
              </a:pathLst>
            </a:custGeom>
            <a:solidFill>
              <a:srgbClr val="701C7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7" name="Google Shape;15867;p613"/>
            <p:cNvSpPr/>
            <p:nvPr/>
          </p:nvSpPr>
          <p:spPr>
            <a:xfrm>
              <a:off x="3877348" y="2290728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55156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8" name="Google Shape;15868;p613"/>
            <p:cNvSpPr/>
            <p:nvPr/>
          </p:nvSpPr>
          <p:spPr>
            <a:xfrm flipH="1">
              <a:off x="4518572" y="2291772"/>
              <a:ext cx="642683" cy="657851"/>
            </a:xfrm>
            <a:custGeom>
              <a:rect b="b" l="l" r="r" t="t"/>
              <a:pathLst>
                <a:path extrusionOk="0" h="46623" w="65016">
                  <a:moveTo>
                    <a:pt x="17858" y="0"/>
                  </a:moveTo>
                  <a:lnTo>
                    <a:pt x="0" y="22135"/>
                  </a:lnTo>
                  <a:lnTo>
                    <a:pt x="65016" y="46623"/>
                  </a:lnTo>
                  <a:lnTo>
                    <a:pt x="65016" y="17537"/>
                  </a:lnTo>
                  <a:close/>
                </a:path>
              </a:pathLst>
            </a:custGeom>
            <a:solidFill>
              <a:srgbClr val="761E8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  <p:sp>
          <p:nvSpPr>
            <p:cNvPr id="15869" name="Google Shape;15869;p613"/>
            <p:cNvSpPr/>
            <p:nvPr/>
          </p:nvSpPr>
          <p:spPr>
            <a:xfrm flipH="1">
              <a:off x="4522009" y="2708179"/>
              <a:ext cx="881371" cy="854431"/>
            </a:xfrm>
            <a:custGeom>
              <a:rect b="b" l="l" r="r" t="t"/>
              <a:pathLst>
                <a:path extrusionOk="0" h="20822" w="31954">
                  <a:moveTo>
                    <a:pt x="7355" y="0"/>
                  </a:moveTo>
                  <a:lnTo>
                    <a:pt x="31954" y="8796"/>
                  </a:lnTo>
                  <a:lnTo>
                    <a:pt x="31954" y="20822"/>
                  </a:lnTo>
                  <a:lnTo>
                    <a:pt x="0" y="8895"/>
                  </a:lnTo>
                  <a:close/>
                </a:path>
              </a:pathLst>
            </a:custGeom>
            <a:solidFill>
              <a:srgbClr val="7F20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  <a:reflection blurRad="0" dir="5400000" dist="38100" endA="0" endPos="30000" fadeDir="5400012" kx="0" rotWithShape="0" algn="bl" stPos="0" sy="-100000" ky="0"/>
            </a:effectLst>
          </p:spPr>
        </p:sp>
      </p:grpSp>
      <p:grpSp>
        <p:nvGrpSpPr>
          <p:cNvPr id="15870" name="Google Shape;15870;p613"/>
          <p:cNvGrpSpPr/>
          <p:nvPr/>
        </p:nvGrpSpPr>
        <p:grpSpPr>
          <a:xfrm>
            <a:off x="5259475" y="2411864"/>
            <a:ext cx="3286704" cy="747300"/>
            <a:chOff x="5064450" y="2086419"/>
            <a:chExt cx="3286704" cy="747300"/>
          </a:xfrm>
        </p:grpSpPr>
        <p:cxnSp>
          <p:nvCxnSpPr>
            <p:cNvPr id="15871" name="Google Shape;15871;p613"/>
            <p:cNvCxnSpPr/>
            <p:nvPr/>
          </p:nvCxnSpPr>
          <p:spPr>
            <a:xfrm>
              <a:off x="5064450" y="2460069"/>
              <a:ext cx="1119000" cy="0"/>
            </a:xfrm>
            <a:prstGeom prst="straightConnector1">
              <a:avLst/>
            </a:prstGeom>
            <a:noFill/>
            <a:ln cap="flat" cmpd="sng" w="9525">
              <a:solidFill>
                <a:srgbClr val="BDBDBD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5872" name="Google Shape;15872;p613"/>
            <p:cNvSpPr/>
            <p:nvPr/>
          </p:nvSpPr>
          <p:spPr>
            <a:xfrm>
              <a:off x="6014671" y="2353882"/>
              <a:ext cx="198600" cy="198300"/>
            </a:xfrm>
            <a:prstGeom prst="ellipse">
              <a:avLst/>
            </a:prstGeom>
            <a:solidFill>
              <a:srgbClr val="761E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613"/>
            <p:cNvSpPr txBox="1"/>
            <p:nvPr/>
          </p:nvSpPr>
          <p:spPr>
            <a:xfrm>
              <a:off x="5991690" y="2295028"/>
              <a:ext cx="247500" cy="31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5874" name="Google Shape;15874;p613"/>
            <p:cNvSpPr txBox="1"/>
            <p:nvPr/>
          </p:nvSpPr>
          <p:spPr>
            <a:xfrm>
              <a:off x="6223854" y="2086419"/>
              <a:ext cx="2127300" cy="74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b="1" lang="en" sz="1800">
                  <a:latin typeface="Roboto"/>
                  <a:ea typeface="Roboto"/>
                  <a:cs typeface="Roboto"/>
                  <a:sym typeface="Roboto"/>
                </a:rPr>
                <a:t>Triads</a:t>
              </a:r>
              <a:endParaRPr b="1" sz="1800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15875" name="Google Shape;15875;p613"/>
          <p:cNvSpPr txBox="1"/>
          <p:nvPr/>
        </p:nvSpPr>
        <p:spPr>
          <a:xfrm>
            <a:off x="78425" y="3815350"/>
            <a:ext cx="2777100" cy="13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Economica"/>
                <a:ea typeface="Economica"/>
                <a:cs typeface="Economica"/>
                <a:sym typeface="Economica"/>
              </a:rPr>
              <a:t> The first part of the course follows this organization!</a:t>
            </a:r>
            <a:endParaRPr b="1" sz="24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876" name="Google Shape;15876;p61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Levels of Analysis in social networks</a:t>
            </a:r>
            <a:endParaRPr/>
          </a:p>
        </p:txBody>
      </p:sp>
      <p:sp>
        <p:nvSpPr>
          <p:cNvPr id="15877" name="Google Shape;15877;p613"/>
          <p:cNvSpPr/>
          <p:nvPr/>
        </p:nvSpPr>
        <p:spPr>
          <a:xfrm>
            <a:off x="4804775" y="3357950"/>
            <a:ext cx="4196100" cy="10140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881" name="Shape 15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2" name="Google Shape;15882;p61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properties of whole networks</a:t>
            </a:r>
            <a:endParaRPr/>
          </a:p>
        </p:txBody>
      </p:sp>
      <p:sp>
        <p:nvSpPr>
          <p:cNvPr id="15883" name="Google Shape;15883;p614"/>
          <p:cNvSpPr txBox="1"/>
          <p:nvPr>
            <p:ph idx="1" type="body"/>
          </p:nvPr>
        </p:nvSpPr>
        <p:spPr>
          <a:xfrm>
            <a:off x="311700" y="1225225"/>
            <a:ext cx="4154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have already some important ones: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Number of nodes (graph order): N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Number of links (graph size): 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Density: E / (N(N-1)/2)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Max/min degree: d</a:t>
            </a:r>
            <a:r>
              <a:rPr b="1" baseline="-25000" lang="en"/>
              <a:t>max</a:t>
            </a:r>
            <a:r>
              <a:rPr b="1" lang="en"/>
              <a:t> and d</a:t>
            </a:r>
            <a:r>
              <a:rPr b="1" baseline="-25000" lang="en"/>
              <a:t>min</a:t>
            </a:r>
            <a:endParaRPr b="1" baseline="-250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Average degree: 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But there are some other ones: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Network Diameter: D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Average shortest path: L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Average clustering coefficient: C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884" name="Google Shape;15884;p61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23026" y="1371225"/>
            <a:ext cx="4109275" cy="30619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888" name="Shape 15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9" name="Google Shape;15889;p61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Degree-based network properties</a:t>
            </a:r>
            <a:endParaRPr/>
          </a:p>
        </p:txBody>
      </p:sp>
      <p:sp>
        <p:nvSpPr>
          <p:cNvPr id="15890" name="Google Shape;15890;p615"/>
          <p:cNvSpPr/>
          <p:nvPr/>
        </p:nvSpPr>
        <p:spPr>
          <a:xfrm>
            <a:off x="465800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891" name="Google Shape;15891;p615"/>
          <p:cNvSpPr/>
          <p:nvPr/>
        </p:nvSpPr>
        <p:spPr>
          <a:xfrm>
            <a:off x="1466967" y="118055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5892" name="Google Shape;15892;p615"/>
          <p:cNvSpPr/>
          <p:nvPr/>
        </p:nvSpPr>
        <p:spPr>
          <a:xfrm>
            <a:off x="1466967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893" name="Google Shape;15893;p615"/>
          <p:cNvSpPr/>
          <p:nvPr/>
        </p:nvSpPr>
        <p:spPr>
          <a:xfrm>
            <a:off x="2468133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894" name="Google Shape;15894;p615"/>
          <p:cNvSpPr/>
          <p:nvPr/>
        </p:nvSpPr>
        <p:spPr>
          <a:xfrm>
            <a:off x="1466967" y="301140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5895" name="Google Shape;15895;p615"/>
          <p:cNvCxnSpPr>
            <a:stCxn id="15891" idx="4"/>
            <a:endCxn id="15892" idx="0"/>
          </p:cNvCxnSpPr>
          <p:nvPr/>
        </p:nvCxnSpPr>
        <p:spPr>
          <a:xfrm>
            <a:off x="1705317" y="1626650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896" name="Google Shape;15896;p615"/>
          <p:cNvCxnSpPr>
            <a:stCxn id="15891" idx="5"/>
            <a:endCxn id="15893" idx="1"/>
          </p:cNvCxnSpPr>
          <p:nvPr/>
        </p:nvCxnSpPr>
        <p:spPr>
          <a:xfrm>
            <a:off x="1873855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897" name="Google Shape;15897;p615"/>
          <p:cNvCxnSpPr>
            <a:stCxn id="15892" idx="2"/>
            <a:endCxn id="15890" idx="6"/>
          </p:cNvCxnSpPr>
          <p:nvPr/>
        </p:nvCxnSpPr>
        <p:spPr>
          <a:xfrm rot="10800000">
            <a:off x="9425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898" name="Google Shape;15898;p615"/>
          <p:cNvCxnSpPr>
            <a:stCxn id="15891" idx="3"/>
            <a:endCxn id="15890" idx="7"/>
          </p:cNvCxnSpPr>
          <p:nvPr/>
        </p:nvCxnSpPr>
        <p:spPr>
          <a:xfrm flipH="1">
            <a:off x="872578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899" name="Google Shape;15899;p615"/>
          <p:cNvCxnSpPr>
            <a:stCxn id="15892" idx="6"/>
            <a:endCxn id="15893" idx="2"/>
          </p:cNvCxnSpPr>
          <p:nvPr/>
        </p:nvCxnSpPr>
        <p:spPr>
          <a:xfrm>
            <a:off x="19436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00" name="Google Shape;15900;p615"/>
          <p:cNvCxnSpPr>
            <a:stCxn id="15891" idx="2"/>
            <a:endCxn id="15894" idx="2"/>
          </p:cNvCxnSpPr>
          <p:nvPr/>
        </p:nvCxnSpPr>
        <p:spPr>
          <a:xfrm>
            <a:off x="1466967" y="1403600"/>
            <a:ext cx="600" cy="1830900"/>
          </a:xfrm>
          <a:prstGeom prst="curvedConnector3">
            <a:avLst>
              <a:gd fmla="val -192544425" name="adj1"/>
            </a:avLst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901" name="Google Shape;15901;p615"/>
          <p:cNvSpPr/>
          <p:nvPr/>
        </p:nvSpPr>
        <p:spPr>
          <a:xfrm>
            <a:off x="4739425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02" name="Google Shape;15902;p615"/>
          <p:cNvSpPr/>
          <p:nvPr/>
        </p:nvSpPr>
        <p:spPr>
          <a:xfrm>
            <a:off x="5740592" y="121422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5903" name="Google Shape;15903;p615"/>
          <p:cNvSpPr/>
          <p:nvPr/>
        </p:nvSpPr>
        <p:spPr>
          <a:xfrm>
            <a:off x="5740592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04" name="Google Shape;15904;p615"/>
          <p:cNvSpPr/>
          <p:nvPr/>
        </p:nvSpPr>
        <p:spPr>
          <a:xfrm>
            <a:off x="6741758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05" name="Google Shape;15905;p615"/>
          <p:cNvSpPr/>
          <p:nvPr/>
        </p:nvSpPr>
        <p:spPr>
          <a:xfrm>
            <a:off x="5740592" y="304507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5906" name="Google Shape;15906;p615"/>
          <p:cNvCxnSpPr>
            <a:stCxn id="15902" idx="4"/>
            <a:endCxn id="15903" idx="0"/>
          </p:cNvCxnSpPr>
          <p:nvPr/>
        </p:nvCxnSpPr>
        <p:spPr>
          <a:xfrm>
            <a:off x="5978942" y="1660325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07" name="Google Shape;15907;p615"/>
          <p:cNvCxnSpPr>
            <a:stCxn id="15902" idx="5"/>
            <a:endCxn id="15904" idx="1"/>
          </p:cNvCxnSpPr>
          <p:nvPr/>
        </p:nvCxnSpPr>
        <p:spPr>
          <a:xfrm>
            <a:off x="6147480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08" name="Google Shape;15908;p615"/>
          <p:cNvCxnSpPr>
            <a:stCxn id="15903" idx="2"/>
            <a:endCxn id="15901" idx="6"/>
          </p:cNvCxnSpPr>
          <p:nvPr/>
        </p:nvCxnSpPr>
        <p:spPr>
          <a:xfrm rot="10800000">
            <a:off x="52161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09" name="Google Shape;15909;p615"/>
          <p:cNvCxnSpPr>
            <a:stCxn id="15902" idx="3"/>
            <a:endCxn id="15901" idx="7"/>
          </p:cNvCxnSpPr>
          <p:nvPr/>
        </p:nvCxnSpPr>
        <p:spPr>
          <a:xfrm flipH="1">
            <a:off x="5146203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10" name="Google Shape;15910;p615"/>
          <p:cNvCxnSpPr>
            <a:stCxn id="15903" idx="6"/>
            <a:endCxn id="15904" idx="2"/>
          </p:cNvCxnSpPr>
          <p:nvPr/>
        </p:nvCxnSpPr>
        <p:spPr>
          <a:xfrm>
            <a:off x="62172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11" name="Google Shape;15911;p615"/>
          <p:cNvCxnSpPr>
            <a:stCxn id="15905" idx="1"/>
            <a:endCxn id="15901" idx="5"/>
          </p:cNvCxnSpPr>
          <p:nvPr/>
        </p:nvCxnSpPr>
        <p:spPr>
          <a:xfrm rot="10800000">
            <a:off x="5146203" y="2544004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12" name="Google Shape;15912;p615"/>
          <p:cNvCxnSpPr>
            <a:stCxn id="15903" idx="4"/>
            <a:endCxn id="15905" idx="0"/>
          </p:cNvCxnSpPr>
          <p:nvPr/>
        </p:nvCxnSpPr>
        <p:spPr>
          <a:xfrm>
            <a:off x="5978942" y="2609420"/>
            <a:ext cx="0" cy="435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13" name="Google Shape;15913;p615"/>
          <p:cNvCxnSpPr>
            <a:stCxn id="15904" idx="3"/>
            <a:endCxn id="15905" idx="7"/>
          </p:cNvCxnSpPr>
          <p:nvPr/>
        </p:nvCxnSpPr>
        <p:spPr>
          <a:xfrm flipH="1">
            <a:off x="6147369" y="2544091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917" name="Shape 15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18" name="Google Shape;15918;p61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Degree-based network properties</a:t>
            </a:r>
            <a:endParaRPr/>
          </a:p>
        </p:txBody>
      </p:sp>
      <p:graphicFrame>
        <p:nvGraphicFramePr>
          <p:cNvPr id="15919" name="Google Shape;15919;p616"/>
          <p:cNvGraphicFramePr/>
          <p:nvPr/>
        </p:nvGraphicFramePr>
        <p:xfrm>
          <a:off x="508013" y="35473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78925"/>
                <a:gridCol w="478925"/>
                <a:gridCol w="478925"/>
                <a:gridCol w="478925"/>
                <a:gridCol w="478925"/>
              </a:tblGrid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A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B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C 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D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E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4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2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1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2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5920" name="Google Shape;15920;p616"/>
          <p:cNvGraphicFramePr/>
          <p:nvPr/>
        </p:nvGraphicFramePr>
        <p:xfrm>
          <a:off x="4781638" y="35641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78925"/>
                <a:gridCol w="478925"/>
                <a:gridCol w="478925"/>
                <a:gridCol w="478925"/>
                <a:gridCol w="478925"/>
              </a:tblGrid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A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B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C 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D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E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4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921" name="Google Shape;15921;p616"/>
          <p:cNvSpPr txBox="1"/>
          <p:nvPr/>
        </p:nvSpPr>
        <p:spPr>
          <a:xfrm>
            <a:off x="533800" y="4623500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Degree Set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922" name="Google Shape;15922;p616"/>
          <p:cNvSpPr txBox="1"/>
          <p:nvPr/>
        </p:nvSpPr>
        <p:spPr>
          <a:xfrm>
            <a:off x="4781650" y="4576725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Degree Set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923" name="Google Shape;15923;p616"/>
          <p:cNvSpPr/>
          <p:nvPr/>
        </p:nvSpPr>
        <p:spPr>
          <a:xfrm>
            <a:off x="465800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24" name="Google Shape;15924;p616"/>
          <p:cNvSpPr/>
          <p:nvPr/>
        </p:nvSpPr>
        <p:spPr>
          <a:xfrm>
            <a:off x="1466967" y="118055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5925" name="Google Shape;15925;p616"/>
          <p:cNvSpPr/>
          <p:nvPr/>
        </p:nvSpPr>
        <p:spPr>
          <a:xfrm>
            <a:off x="1466967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26" name="Google Shape;15926;p616"/>
          <p:cNvSpPr/>
          <p:nvPr/>
        </p:nvSpPr>
        <p:spPr>
          <a:xfrm>
            <a:off x="2468133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27" name="Google Shape;15927;p616"/>
          <p:cNvSpPr/>
          <p:nvPr/>
        </p:nvSpPr>
        <p:spPr>
          <a:xfrm>
            <a:off x="1466967" y="301140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5928" name="Google Shape;15928;p616"/>
          <p:cNvCxnSpPr>
            <a:stCxn id="15924" idx="4"/>
            <a:endCxn id="15925" idx="0"/>
          </p:cNvCxnSpPr>
          <p:nvPr/>
        </p:nvCxnSpPr>
        <p:spPr>
          <a:xfrm>
            <a:off x="1705317" y="1626650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29" name="Google Shape;15929;p616"/>
          <p:cNvCxnSpPr>
            <a:stCxn id="15924" idx="5"/>
            <a:endCxn id="15926" idx="1"/>
          </p:cNvCxnSpPr>
          <p:nvPr/>
        </p:nvCxnSpPr>
        <p:spPr>
          <a:xfrm>
            <a:off x="1873855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30" name="Google Shape;15930;p616"/>
          <p:cNvCxnSpPr>
            <a:stCxn id="15925" idx="2"/>
            <a:endCxn id="15923" idx="6"/>
          </p:cNvCxnSpPr>
          <p:nvPr/>
        </p:nvCxnSpPr>
        <p:spPr>
          <a:xfrm rot="10800000">
            <a:off x="9425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31" name="Google Shape;15931;p616"/>
          <p:cNvCxnSpPr>
            <a:stCxn id="15924" idx="3"/>
            <a:endCxn id="15923" idx="7"/>
          </p:cNvCxnSpPr>
          <p:nvPr/>
        </p:nvCxnSpPr>
        <p:spPr>
          <a:xfrm flipH="1">
            <a:off x="872578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32" name="Google Shape;15932;p616"/>
          <p:cNvCxnSpPr>
            <a:stCxn id="15925" idx="6"/>
            <a:endCxn id="15926" idx="2"/>
          </p:cNvCxnSpPr>
          <p:nvPr/>
        </p:nvCxnSpPr>
        <p:spPr>
          <a:xfrm>
            <a:off x="19436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33" name="Google Shape;15933;p616"/>
          <p:cNvCxnSpPr>
            <a:stCxn id="15924" idx="2"/>
            <a:endCxn id="15927" idx="2"/>
          </p:cNvCxnSpPr>
          <p:nvPr/>
        </p:nvCxnSpPr>
        <p:spPr>
          <a:xfrm>
            <a:off x="1466967" y="1403600"/>
            <a:ext cx="600" cy="1830900"/>
          </a:xfrm>
          <a:prstGeom prst="curvedConnector3">
            <a:avLst>
              <a:gd fmla="val -194106925" name="adj1"/>
            </a:avLst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934" name="Google Shape;15934;p616"/>
          <p:cNvSpPr/>
          <p:nvPr/>
        </p:nvSpPr>
        <p:spPr>
          <a:xfrm>
            <a:off x="4739425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35" name="Google Shape;15935;p616"/>
          <p:cNvSpPr/>
          <p:nvPr/>
        </p:nvSpPr>
        <p:spPr>
          <a:xfrm>
            <a:off x="5740592" y="121422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5936" name="Google Shape;15936;p616"/>
          <p:cNvSpPr/>
          <p:nvPr/>
        </p:nvSpPr>
        <p:spPr>
          <a:xfrm>
            <a:off x="5740592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37" name="Google Shape;15937;p616"/>
          <p:cNvSpPr/>
          <p:nvPr/>
        </p:nvSpPr>
        <p:spPr>
          <a:xfrm>
            <a:off x="6741758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38" name="Google Shape;15938;p616"/>
          <p:cNvSpPr/>
          <p:nvPr/>
        </p:nvSpPr>
        <p:spPr>
          <a:xfrm>
            <a:off x="5740592" y="304507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5939" name="Google Shape;15939;p616"/>
          <p:cNvCxnSpPr>
            <a:stCxn id="15935" idx="4"/>
            <a:endCxn id="15936" idx="0"/>
          </p:cNvCxnSpPr>
          <p:nvPr/>
        </p:nvCxnSpPr>
        <p:spPr>
          <a:xfrm>
            <a:off x="5978942" y="1660325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40" name="Google Shape;15940;p616"/>
          <p:cNvCxnSpPr>
            <a:stCxn id="15935" idx="5"/>
            <a:endCxn id="15937" idx="1"/>
          </p:cNvCxnSpPr>
          <p:nvPr/>
        </p:nvCxnSpPr>
        <p:spPr>
          <a:xfrm>
            <a:off x="6147480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41" name="Google Shape;15941;p616"/>
          <p:cNvCxnSpPr>
            <a:stCxn id="15936" idx="2"/>
            <a:endCxn id="15934" idx="6"/>
          </p:cNvCxnSpPr>
          <p:nvPr/>
        </p:nvCxnSpPr>
        <p:spPr>
          <a:xfrm rot="10800000">
            <a:off x="52161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42" name="Google Shape;15942;p616"/>
          <p:cNvCxnSpPr>
            <a:stCxn id="15935" idx="3"/>
            <a:endCxn id="15934" idx="7"/>
          </p:cNvCxnSpPr>
          <p:nvPr/>
        </p:nvCxnSpPr>
        <p:spPr>
          <a:xfrm flipH="1">
            <a:off x="5146203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43" name="Google Shape;15943;p616"/>
          <p:cNvCxnSpPr>
            <a:stCxn id="15936" idx="6"/>
            <a:endCxn id="15937" idx="2"/>
          </p:cNvCxnSpPr>
          <p:nvPr/>
        </p:nvCxnSpPr>
        <p:spPr>
          <a:xfrm>
            <a:off x="62172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44" name="Google Shape;15944;p616"/>
          <p:cNvCxnSpPr>
            <a:stCxn id="15938" idx="1"/>
            <a:endCxn id="15934" idx="5"/>
          </p:cNvCxnSpPr>
          <p:nvPr/>
        </p:nvCxnSpPr>
        <p:spPr>
          <a:xfrm rot="10800000">
            <a:off x="5146203" y="2544004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45" name="Google Shape;15945;p616"/>
          <p:cNvCxnSpPr>
            <a:stCxn id="15936" idx="4"/>
            <a:endCxn id="15938" idx="0"/>
          </p:cNvCxnSpPr>
          <p:nvPr/>
        </p:nvCxnSpPr>
        <p:spPr>
          <a:xfrm>
            <a:off x="5978942" y="2609420"/>
            <a:ext cx="0" cy="435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46" name="Google Shape;15946;p616"/>
          <p:cNvCxnSpPr>
            <a:stCxn id="15937" idx="3"/>
            <a:endCxn id="15938" idx="7"/>
          </p:cNvCxnSpPr>
          <p:nvPr/>
        </p:nvCxnSpPr>
        <p:spPr>
          <a:xfrm flipH="1">
            <a:off x="6147369" y="2544091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950" name="Shape 15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51" name="Google Shape;15951;p61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Degree-based network properties</a:t>
            </a:r>
            <a:endParaRPr/>
          </a:p>
        </p:txBody>
      </p:sp>
      <p:sp>
        <p:nvSpPr>
          <p:cNvPr id="15952" name="Google Shape;15952;p617"/>
          <p:cNvSpPr/>
          <p:nvPr/>
        </p:nvSpPr>
        <p:spPr>
          <a:xfrm>
            <a:off x="465800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53" name="Google Shape;15953;p617"/>
          <p:cNvSpPr/>
          <p:nvPr/>
        </p:nvSpPr>
        <p:spPr>
          <a:xfrm>
            <a:off x="1466967" y="118055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5954" name="Google Shape;15954;p617"/>
          <p:cNvSpPr/>
          <p:nvPr/>
        </p:nvSpPr>
        <p:spPr>
          <a:xfrm>
            <a:off x="1466967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55" name="Google Shape;15955;p617"/>
          <p:cNvSpPr/>
          <p:nvPr/>
        </p:nvSpPr>
        <p:spPr>
          <a:xfrm>
            <a:off x="2468133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56" name="Google Shape;15956;p617"/>
          <p:cNvSpPr/>
          <p:nvPr/>
        </p:nvSpPr>
        <p:spPr>
          <a:xfrm>
            <a:off x="1466967" y="301140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5957" name="Google Shape;15957;p617"/>
          <p:cNvCxnSpPr>
            <a:stCxn id="15953" idx="4"/>
            <a:endCxn id="15954" idx="0"/>
          </p:cNvCxnSpPr>
          <p:nvPr/>
        </p:nvCxnSpPr>
        <p:spPr>
          <a:xfrm>
            <a:off x="1705317" y="1626650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58" name="Google Shape;15958;p617"/>
          <p:cNvCxnSpPr>
            <a:stCxn id="15953" idx="5"/>
            <a:endCxn id="15955" idx="1"/>
          </p:cNvCxnSpPr>
          <p:nvPr/>
        </p:nvCxnSpPr>
        <p:spPr>
          <a:xfrm>
            <a:off x="1873855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59" name="Google Shape;15959;p617"/>
          <p:cNvCxnSpPr>
            <a:stCxn id="15954" idx="2"/>
            <a:endCxn id="15952" idx="6"/>
          </p:cNvCxnSpPr>
          <p:nvPr/>
        </p:nvCxnSpPr>
        <p:spPr>
          <a:xfrm rot="10800000">
            <a:off x="9425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60" name="Google Shape;15960;p617"/>
          <p:cNvCxnSpPr>
            <a:stCxn id="15953" idx="3"/>
            <a:endCxn id="15952" idx="7"/>
          </p:cNvCxnSpPr>
          <p:nvPr/>
        </p:nvCxnSpPr>
        <p:spPr>
          <a:xfrm flipH="1">
            <a:off x="872578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61" name="Google Shape;15961;p617"/>
          <p:cNvCxnSpPr>
            <a:stCxn id="15954" idx="6"/>
            <a:endCxn id="15955" idx="2"/>
          </p:cNvCxnSpPr>
          <p:nvPr/>
        </p:nvCxnSpPr>
        <p:spPr>
          <a:xfrm>
            <a:off x="19436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62" name="Google Shape;15962;p617"/>
          <p:cNvCxnSpPr>
            <a:stCxn id="15953" idx="2"/>
            <a:endCxn id="15956" idx="2"/>
          </p:cNvCxnSpPr>
          <p:nvPr/>
        </p:nvCxnSpPr>
        <p:spPr>
          <a:xfrm>
            <a:off x="1466967" y="1403600"/>
            <a:ext cx="600" cy="1830900"/>
          </a:xfrm>
          <a:prstGeom prst="curvedConnector3">
            <a:avLst>
              <a:gd fmla="val -192544425" name="adj1"/>
            </a:avLst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5963" name="Google Shape;15963;p617"/>
          <p:cNvGraphicFramePr/>
          <p:nvPr/>
        </p:nvGraphicFramePr>
        <p:xfrm>
          <a:off x="508013" y="35473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78925"/>
                <a:gridCol w="478925"/>
                <a:gridCol w="478925"/>
                <a:gridCol w="478925"/>
                <a:gridCol w="478925"/>
              </a:tblGrid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A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B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C 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D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E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4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2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1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2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5964" name="Google Shape;15964;p617"/>
          <p:cNvGraphicFramePr/>
          <p:nvPr/>
        </p:nvGraphicFramePr>
        <p:xfrm>
          <a:off x="4781638" y="35641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78925"/>
                <a:gridCol w="478925"/>
                <a:gridCol w="478925"/>
                <a:gridCol w="478925"/>
                <a:gridCol w="478925"/>
              </a:tblGrid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A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B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C 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D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E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4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5965" name="Google Shape;15965;p617"/>
          <p:cNvSpPr txBox="1"/>
          <p:nvPr/>
        </p:nvSpPr>
        <p:spPr>
          <a:xfrm>
            <a:off x="533800" y="4623500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Degree Set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966" name="Google Shape;15966;p617"/>
          <p:cNvSpPr txBox="1"/>
          <p:nvPr/>
        </p:nvSpPr>
        <p:spPr>
          <a:xfrm>
            <a:off x="4781650" y="4576775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Degree Set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5967" name="Google Shape;15967;p617"/>
          <p:cNvSpPr txBox="1"/>
          <p:nvPr/>
        </p:nvSpPr>
        <p:spPr>
          <a:xfrm>
            <a:off x="2983375" y="3547350"/>
            <a:ext cx="1478700" cy="10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Max degree: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Min degree: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968" name="Google Shape;15968;p617"/>
          <p:cNvSpPr txBox="1"/>
          <p:nvPr/>
        </p:nvSpPr>
        <p:spPr>
          <a:xfrm>
            <a:off x="7250600" y="3547325"/>
            <a:ext cx="1408200" cy="10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Max degree: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Min degree: 3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969" name="Google Shape;15969;p617"/>
          <p:cNvSpPr/>
          <p:nvPr/>
        </p:nvSpPr>
        <p:spPr>
          <a:xfrm>
            <a:off x="4739425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70" name="Google Shape;15970;p617"/>
          <p:cNvSpPr/>
          <p:nvPr/>
        </p:nvSpPr>
        <p:spPr>
          <a:xfrm>
            <a:off x="5740592" y="121422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5971" name="Google Shape;15971;p617"/>
          <p:cNvSpPr/>
          <p:nvPr/>
        </p:nvSpPr>
        <p:spPr>
          <a:xfrm>
            <a:off x="5740592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72" name="Google Shape;15972;p617"/>
          <p:cNvSpPr/>
          <p:nvPr/>
        </p:nvSpPr>
        <p:spPr>
          <a:xfrm>
            <a:off x="6741758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73" name="Google Shape;15973;p617"/>
          <p:cNvSpPr/>
          <p:nvPr/>
        </p:nvSpPr>
        <p:spPr>
          <a:xfrm>
            <a:off x="5740592" y="304507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5974" name="Google Shape;15974;p617"/>
          <p:cNvCxnSpPr>
            <a:stCxn id="15970" idx="4"/>
            <a:endCxn id="15971" idx="0"/>
          </p:cNvCxnSpPr>
          <p:nvPr/>
        </p:nvCxnSpPr>
        <p:spPr>
          <a:xfrm>
            <a:off x="5978942" y="1660325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75" name="Google Shape;15975;p617"/>
          <p:cNvCxnSpPr>
            <a:stCxn id="15970" idx="5"/>
            <a:endCxn id="15972" idx="1"/>
          </p:cNvCxnSpPr>
          <p:nvPr/>
        </p:nvCxnSpPr>
        <p:spPr>
          <a:xfrm>
            <a:off x="6147480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76" name="Google Shape;15976;p617"/>
          <p:cNvCxnSpPr>
            <a:stCxn id="15971" idx="2"/>
            <a:endCxn id="15969" idx="6"/>
          </p:cNvCxnSpPr>
          <p:nvPr/>
        </p:nvCxnSpPr>
        <p:spPr>
          <a:xfrm rot="10800000">
            <a:off x="52161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77" name="Google Shape;15977;p617"/>
          <p:cNvCxnSpPr>
            <a:stCxn id="15970" idx="3"/>
            <a:endCxn id="15969" idx="7"/>
          </p:cNvCxnSpPr>
          <p:nvPr/>
        </p:nvCxnSpPr>
        <p:spPr>
          <a:xfrm flipH="1">
            <a:off x="5146203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78" name="Google Shape;15978;p617"/>
          <p:cNvCxnSpPr>
            <a:stCxn id="15971" idx="6"/>
            <a:endCxn id="15972" idx="2"/>
          </p:cNvCxnSpPr>
          <p:nvPr/>
        </p:nvCxnSpPr>
        <p:spPr>
          <a:xfrm>
            <a:off x="62172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79" name="Google Shape;15979;p617"/>
          <p:cNvCxnSpPr>
            <a:stCxn id="15973" idx="1"/>
            <a:endCxn id="15969" idx="5"/>
          </p:cNvCxnSpPr>
          <p:nvPr/>
        </p:nvCxnSpPr>
        <p:spPr>
          <a:xfrm rot="10800000">
            <a:off x="5146203" y="2544004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80" name="Google Shape;15980;p617"/>
          <p:cNvCxnSpPr>
            <a:stCxn id="15971" idx="4"/>
            <a:endCxn id="15973" idx="0"/>
          </p:cNvCxnSpPr>
          <p:nvPr/>
        </p:nvCxnSpPr>
        <p:spPr>
          <a:xfrm>
            <a:off x="5978942" y="2609420"/>
            <a:ext cx="0" cy="435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81" name="Google Shape;15981;p617"/>
          <p:cNvCxnSpPr>
            <a:stCxn id="15972" idx="3"/>
            <a:endCxn id="15973" idx="7"/>
          </p:cNvCxnSpPr>
          <p:nvPr/>
        </p:nvCxnSpPr>
        <p:spPr>
          <a:xfrm flipH="1">
            <a:off x="6147369" y="2544091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982" name="Google Shape;15982;p617"/>
          <p:cNvSpPr txBox="1"/>
          <p:nvPr/>
        </p:nvSpPr>
        <p:spPr>
          <a:xfrm>
            <a:off x="2406800" y="1180550"/>
            <a:ext cx="2394600" cy="63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d = (4 + 3 + 2 + 1 + 2) / 5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5983" name="Google Shape;15983;p617"/>
          <p:cNvSpPr txBox="1"/>
          <p:nvPr/>
        </p:nvSpPr>
        <p:spPr>
          <a:xfrm>
            <a:off x="6474700" y="1180550"/>
            <a:ext cx="2394600" cy="63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d = (3 + 4 + 3 + 3 + 3) / 5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987" name="Shape 15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88" name="Google Shape;15988;p61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Degree-based network properties</a:t>
            </a:r>
            <a:endParaRPr/>
          </a:p>
        </p:txBody>
      </p:sp>
      <p:sp>
        <p:nvSpPr>
          <p:cNvPr id="15989" name="Google Shape;15989;p618"/>
          <p:cNvSpPr/>
          <p:nvPr/>
        </p:nvSpPr>
        <p:spPr>
          <a:xfrm>
            <a:off x="465800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90" name="Google Shape;15990;p618"/>
          <p:cNvSpPr/>
          <p:nvPr/>
        </p:nvSpPr>
        <p:spPr>
          <a:xfrm>
            <a:off x="1466967" y="118055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5991" name="Google Shape;15991;p618"/>
          <p:cNvSpPr/>
          <p:nvPr/>
        </p:nvSpPr>
        <p:spPr>
          <a:xfrm>
            <a:off x="1466967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92" name="Google Shape;15992;p618"/>
          <p:cNvSpPr/>
          <p:nvPr/>
        </p:nvSpPr>
        <p:spPr>
          <a:xfrm>
            <a:off x="2468133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5993" name="Google Shape;15993;p618"/>
          <p:cNvSpPr/>
          <p:nvPr/>
        </p:nvSpPr>
        <p:spPr>
          <a:xfrm>
            <a:off x="1466967" y="301140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5994" name="Google Shape;15994;p618"/>
          <p:cNvCxnSpPr>
            <a:stCxn id="15990" idx="4"/>
            <a:endCxn id="15991" idx="0"/>
          </p:cNvCxnSpPr>
          <p:nvPr/>
        </p:nvCxnSpPr>
        <p:spPr>
          <a:xfrm>
            <a:off x="1705317" y="1626650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95" name="Google Shape;15995;p618"/>
          <p:cNvCxnSpPr>
            <a:stCxn id="15990" idx="5"/>
            <a:endCxn id="15992" idx="1"/>
          </p:cNvCxnSpPr>
          <p:nvPr/>
        </p:nvCxnSpPr>
        <p:spPr>
          <a:xfrm>
            <a:off x="1873855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96" name="Google Shape;15996;p618"/>
          <p:cNvCxnSpPr>
            <a:stCxn id="15991" idx="2"/>
            <a:endCxn id="15989" idx="6"/>
          </p:cNvCxnSpPr>
          <p:nvPr/>
        </p:nvCxnSpPr>
        <p:spPr>
          <a:xfrm rot="10800000">
            <a:off x="9425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97" name="Google Shape;15997;p618"/>
          <p:cNvCxnSpPr>
            <a:stCxn id="15990" idx="3"/>
            <a:endCxn id="15989" idx="7"/>
          </p:cNvCxnSpPr>
          <p:nvPr/>
        </p:nvCxnSpPr>
        <p:spPr>
          <a:xfrm flipH="1">
            <a:off x="872578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98" name="Google Shape;15998;p618"/>
          <p:cNvCxnSpPr>
            <a:stCxn id="15991" idx="6"/>
            <a:endCxn id="15992" idx="2"/>
          </p:cNvCxnSpPr>
          <p:nvPr/>
        </p:nvCxnSpPr>
        <p:spPr>
          <a:xfrm>
            <a:off x="19436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999" name="Google Shape;15999;p618"/>
          <p:cNvCxnSpPr>
            <a:stCxn id="15990" idx="2"/>
            <a:endCxn id="15993" idx="2"/>
          </p:cNvCxnSpPr>
          <p:nvPr/>
        </p:nvCxnSpPr>
        <p:spPr>
          <a:xfrm>
            <a:off x="1466967" y="1403600"/>
            <a:ext cx="600" cy="1830900"/>
          </a:xfrm>
          <a:prstGeom prst="curvedConnector3">
            <a:avLst>
              <a:gd fmla="val -192544425" name="adj1"/>
            </a:avLst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6000" name="Google Shape;16000;p618"/>
          <p:cNvGraphicFramePr/>
          <p:nvPr/>
        </p:nvGraphicFramePr>
        <p:xfrm>
          <a:off x="508013" y="35473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78925"/>
                <a:gridCol w="478925"/>
                <a:gridCol w="478925"/>
                <a:gridCol w="478925"/>
                <a:gridCol w="478925"/>
              </a:tblGrid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A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B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C 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D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E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4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2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1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2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001" name="Google Shape;16001;p618"/>
          <p:cNvGraphicFramePr/>
          <p:nvPr/>
        </p:nvGraphicFramePr>
        <p:xfrm>
          <a:off x="4781638" y="35641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478925"/>
                <a:gridCol w="478925"/>
                <a:gridCol w="478925"/>
                <a:gridCol w="478925"/>
                <a:gridCol w="478925"/>
              </a:tblGrid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A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B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C 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D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FFFF"/>
                          </a:solidFill>
                        </a:rPr>
                        <a:t>E</a:t>
                      </a:r>
                      <a:endParaRPr b="1" sz="1800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4698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4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/>
                        <a:t>3</a:t>
                      </a:r>
                      <a:endParaRPr sz="1800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6002" name="Google Shape;16002;p618"/>
          <p:cNvSpPr txBox="1"/>
          <p:nvPr/>
        </p:nvSpPr>
        <p:spPr>
          <a:xfrm>
            <a:off x="533800" y="4623500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Degree Set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003" name="Google Shape;16003;p618"/>
          <p:cNvSpPr txBox="1"/>
          <p:nvPr/>
        </p:nvSpPr>
        <p:spPr>
          <a:xfrm>
            <a:off x="4781650" y="4576775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Degree Set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004" name="Google Shape;16004;p618"/>
          <p:cNvSpPr txBox="1"/>
          <p:nvPr/>
        </p:nvSpPr>
        <p:spPr>
          <a:xfrm>
            <a:off x="2983375" y="3547350"/>
            <a:ext cx="1478700" cy="10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Max degree: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Min degree: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d = 2.4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005" name="Google Shape;16005;p618"/>
          <p:cNvSpPr txBox="1"/>
          <p:nvPr/>
        </p:nvSpPr>
        <p:spPr>
          <a:xfrm>
            <a:off x="7250600" y="3547325"/>
            <a:ext cx="1408200" cy="10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Max degree: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Min degree: 3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d = 3.2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006" name="Google Shape;16006;p618"/>
          <p:cNvSpPr/>
          <p:nvPr/>
        </p:nvSpPr>
        <p:spPr>
          <a:xfrm>
            <a:off x="4739425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07" name="Google Shape;16007;p618"/>
          <p:cNvSpPr/>
          <p:nvPr/>
        </p:nvSpPr>
        <p:spPr>
          <a:xfrm>
            <a:off x="5740592" y="121422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6008" name="Google Shape;16008;p618"/>
          <p:cNvSpPr/>
          <p:nvPr/>
        </p:nvSpPr>
        <p:spPr>
          <a:xfrm>
            <a:off x="5740592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09" name="Google Shape;16009;p618"/>
          <p:cNvSpPr/>
          <p:nvPr/>
        </p:nvSpPr>
        <p:spPr>
          <a:xfrm>
            <a:off x="6741758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10" name="Google Shape;16010;p618"/>
          <p:cNvSpPr/>
          <p:nvPr/>
        </p:nvSpPr>
        <p:spPr>
          <a:xfrm>
            <a:off x="5740592" y="304507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6011" name="Google Shape;16011;p618"/>
          <p:cNvCxnSpPr>
            <a:stCxn id="16007" idx="4"/>
            <a:endCxn id="16008" idx="0"/>
          </p:cNvCxnSpPr>
          <p:nvPr/>
        </p:nvCxnSpPr>
        <p:spPr>
          <a:xfrm>
            <a:off x="5978942" y="1660325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12" name="Google Shape;16012;p618"/>
          <p:cNvCxnSpPr>
            <a:stCxn id="16007" idx="5"/>
            <a:endCxn id="16009" idx="1"/>
          </p:cNvCxnSpPr>
          <p:nvPr/>
        </p:nvCxnSpPr>
        <p:spPr>
          <a:xfrm>
            <a:off x="6147480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13" name="Google Shape;16013;p618"/>
          <p:cNvCxnSpPr>
            <a:stCxn id="16008" idx="2"/>
            <a:endCxn id="16006" idx="6"/>
          </p:cNvCxnSpPr>
          <p:nvPr/>
        </p:nvCxnSpPr>
        <p:spPr>
          <a:xfrm rot="10800000">
            <a:off x="52161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14" name="Google Shape;16014;p618"/>
          <p:cNvCxnSpPr>
            <a:stCxn id="16007" idx="3"/>
            <a:endCxn id="16006" idx="7"/>
          </p:cNvCxnSpPr>
          <p:nvPr/>
        </p:nvCxnSpPr>
        <p:spPr>
          <a:xfrm flipH="1">
            <a:off x="5146203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15" name="Google Shape;16015;p618"/>
          <p:cNvCxnSpPr>
            <a:stCxn id="16008" idx="6"/>
            <a:endCxn id="16009" idx="2"/>
          </p:cNvCxnSpPr>
          <p:nvPr/>
        </p:nvCxnSpPr>
        <p:spPr>
          <a:xfrm>
            <a:off x="62172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16" name="Google Shape;16016;p618"/>
          <p:cNvCxnSpPr>
            <a:stCxn id="16010" idx="1"/>
            <a:endCxn id="16006" idx="5"/>
          </p:cNvCxnSpPr>
          <p:nvPr/>
        </p:nvCxnSpPr>
        <p:spPr>
          <a:xfrm rot="10800000">
            <a:off x="5146203" y="2544004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17" name="Google Shape;16017;p618"/>
          <p:cNvCxnSpPr>
            <a:stCxn id="16008" idx="4"/>
            <a:endCxn id="16010" idx="0"/>
          </p:cNvCxnSpPr>
          <p:nvPr/>
        </p:nvCxnSpPr>
        <p:spPr>
          <a:xfrm>
            <a:off x="5978942" y="2609420"/>
            <a:ext cx="0" cy="435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18" name="Google Shape;16018;p618"/>
          <p:cNvCxnSpPr>
            <a:stCxn id="16009" idx="3"/>
            <a:endCxn id="16010" idx="7"/>
          </p:cNvCxnSpPr>
          <p:nvPr/>
        </p:nvCxnSpPr>
        <p:spPr>
          <a:xfrm flipH="1">
            <a:off x="6147369" y="2544091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019" name="Google Shape;16019;p618"/>
          <p:cNvSpPr txBox="1"/>
          <p:nvPr/>
        </p:nvSpPr>
        <p:spPr>
          <a:xfrm>
            <a:off x="2406800" y="1180550"/>
            <a:ext cx="2394600" cy="63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d = (4 + 3 + 2 + 1 + 2) / 5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020" name="Google Shape;16020;p618"/>
          <p:cNvSpPr txBox="1"/>
          <p:nvPr/>
        </p:nvSpPr>
        <p:spPr>
          <a:xfrm>
            <a:off x="6474700" y="1180550"/>
            <a:ext cx="2394600" cy="63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d = (3 + 4 + 3 + 3 + 3) / 5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024" name="Shape 16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5" name="Google Shape;16025;p61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Degree-based network properties</a:t>
            </a:r>
            <a:endParaRPr/>
          </a:p>
        </p:txBody>
      </p:sp>
      <p:sp>
        <p:nvSpPr>
          <p:cNvPr id="16026" name="Google Shape;16026;p619"/>
          <p:cNvSpPr/>
          <p:nvPr/>
        </p:nvSpPr>
        <p:spPr>
          <a:xfrm>
            <a:off x="465800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27" name="Google Shape;16027;p619"/>
          <p:cNvSpPr/>
          <p:nvPr/>
        </p:nvSpPr>
        <p:spPr>
          <a:xfrm>
            <a:off x="1466967" y="118055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6028" name="Google Shape;16028;p619"/>
          <p:cNvSpPr/>
          <p:nvPr/>
        </p:nvSpPr>
        <p:spPr>
          <a:xfrm>
            <a:off x="1466967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29" name="Google Shape;16029;p619"/>
          <p:cNvSpPr/>
          <p:nvPr/>
        </p:nvSpPr>
        <p:spPr>
          <a:xfrm>
            <a:off x="2468133" y="212964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30" name="Google Shape;16030;p619"/>
          <p:cNvSpPr/>
          <p:nvPr/>
        </p:nvSpPr>
        <p:spPr>
          <a:xfrm>
            <a:off x="1466967" y="301140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6031" name="Google Shape;16031;p619"/>
          <p:cNvCxnSpPr>
            <a:stCxn id="16027" idx="4"/>
            <a:endCxn id="16028" idx="0"/>
          </p:cNvCxnSpPr>
          <p:nvPr/>
        </p:nvCxnSpPr>
        <p:spPr>
          <a:xfrm>
            <a:off x="1705317" y="1626650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32" name="Google Shape;16032;p619"/>
          <p:cNvCxnSpPr>
            <a:stCxn id="16027" idx="5"/>
            <a:endCxn id="16029" idx="1"/>
          </p:cNvCxnSpPr>
          <p:nvPr/>
        </p:nvCxnSpPr>
        <p:spPr>
          <a:xfrm>
            <a:off x="1873855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33" name="Google Shape;16033;p619"/>
          <p:cNvCxnSpPr>
            <a:stCxn id="16028" idx="2"/>
            <a:endCxn id="16026" idx="6"/>
          </p:cNvCxnSpPr>
          <p:nvPr/>
        </p:nvCxnSpPr>
        <p:spPr>
          <a:xfrm rot="10800000">
            <a:off x="9425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34" name="Google Shape;16034;p619"/>
          <p:cNvCxnSpPr>
            <a:stCxn id="16027" idx="3"/>
            <a:endCxn id="16026" idx="7"/>
          </p:cNvCxnSpPr>
          <p:nvPr/>
        </p:nvCxnSpPr>
        <p:spPr>
          <a:xfrm flipH="1">
            <a:off x="872578" y="1561320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35" name="Google Shape;16035;p619"/>
          <p:cNvCxnSpPr>
            <a:stCxn id="16028" idx="6"/>
            <a:endCxn id="16029" idx="2"/>
          </p:cNvCxnSpPr>
          <p:nvPr/>
        </p:nvCxnSpPr>
        <p:spPr>
          <a:xfrm>
            <a:off x="1943667" y="2352695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36" name="Google Shape;16036;p619"/>
          <p:cNvCxnSpPr>
            <a:stCxn id="16027" idx="2"/>
            <a:endCxn id="16030" idx="2"/>
          </p:cNvCxnSpPr>
          <p:nvPr/>
        </p:nvCxnSpPr>
        <p:spPr>
          <a:xfrm>
            <a:off x="1466967" y="1403600"/>
            <a:ext cx="600" cy="1830900"/>
          </a:xfrm>
          <a:prstGeom prst="curvedConnector3">
            <a:avLst>
              <a:gd fmla="val -192544425" name="adj1"/>
            </a:avLst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16037" name="Google Shape;16037;p619"/>
          <p:cNvGraphicFramePr/>
          <p:nvPr/>
        </p:nvGraphicFramePr>
        <p:xfrm>
          <a:off x="508013" y="35473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09200"/>
                <a:gridCol w="609200"/>
                <a:gridCol w="609200"/>
                <a:gridCol w="609200"/>
              </a:tblGrid>
              <a:tr h="312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1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2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3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4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312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2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0.4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6038" name="Google Shape;16038;p619"/>
          <p:cNvSpPr txBox="1"/>
          <p:nvPr/>
        </p:nvSpPr>
        <p:spPr>
          <a:xfrm>
            <a:off x="533800" y="4623500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Degree Distribution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039" name="Google Shape;16039;p619"/>
          <p:cNvSpPr txBox="1"/>
          <p:nvPr/>
        </p:nvSpPr>
        <p:spPr>
          <a:xfrm>
            <a:off x="4781650" y="4623500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Degree Distribution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16040" name="Google Shape;16040;p619"/>
          <p:cNvGraphicFramePr/>
          <p:nvPr/>
        </p:nvGraphicFramePr>
        <p:xfrm>
          <a:off x="4781638" y="3547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09200"/>
                <a:gridCol w="609200"/>
                <a:gridCol w="609200"/>
                <a:gridCol w="609200"/>
              </a:tblGrid>
              <a:tr h="312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1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2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3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4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312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2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0.8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6041" name="Google Shape;16041;p619"/>
          <p:cNvSpPr/>
          <p:nvPr/>
        </p:nvSpPr>
        <p:spPr>
          <a:xfrm>
            <a:off x="4739425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E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42" name="Google Shape;16042;p619"/>
          <p:cNvSpPr/>
          <p:nvPr/>
        </p:nvSpPr>
        <p:spPr>
          <a:xfrm>
            <a:off x="5740592" y="121422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A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16043" name="Google Shape;16043;p619"/>
          <p:cNvSpPr/>
          <p:nvPr/>
        </p:nvSpPr>
        <p:spPr>
          <a:xfrm>
            <a:off x="5740592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B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44" name="Google Shape;16044;p619"/>
          <p:cNvSpPr/>
          <p:nvPr/>
        </p:nvSpPr>
        <p:spPr>
          <a:xfrm>
            <a:off x="6741758" y="2163320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C</a:t>
            </a:r>
            <a:endParaRPr b="1" sz="1800">
              <a:solidFill>
                <a:srgbClr val="FFFFFF"/>
              </a:solidFill>
            </a:endParaRPr>
          </a:p>
        </p:txBody>
      </p:sp>
      <p:sp>
        <p:nvSpPr>
          <p:cNvPr id="16045" name="Google Shape;16045;p619"/>
          <p:cNvSpPr/>
          <p:nvPr/>
        </p:nvSpPr>
        <p:spPr>
          <a:xfrm>
            <a:off x="5740592" y="3045075"/>
            <a:ext cx="476700" cy="4461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</a:rPr>
              <a:t>D</a:t>
            </a:r>
            <a:endParaRPr b="1" sz="1800">
              <a:solidFill>
                <a:srgbClr val="FFFFFF"/>
              </a:solidFill>
            </a:endParaRPr>
          </a:p>
        </p:txBody>
      </p:sp>
      <p:cxnSp>
        <p:nvCxnSpPr>
          <p:cNvPr id="16046" name="Google Shape;16046;p619"/>
          <p:cNvCxnSpPr>
            <a:stCxn id="16042" idx="4"/>
            <a:endCxn id="16043" idx="0"/>
          </p:cNvCxnSpPr>
          <p:nvPr/>
        </p:nvCxnSpPr>
        <p:spPr>
          <a:xfrm>
            <a:off x="5978942" y="1660325"/>
            <a:ext cx="0" cy="5031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47" name="Google Shape;16047;p619"/>
          <p:cNvCxnSpPr>
            <a:stCxn id="16042" idx="5"/>
            <a:endCxn id="16044" idx="1"/>
          </p:cNvCxnSpPr>
          <p:nvPr/>
        </p:nvCxnSpPr>
        <p:spPr>
          <a:xfrm>
            <a:off x="6147480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48" name="Google Shape;16048;p619"/>
          <p:cNvCxnSpPr>
            <a:stCxn id="16043" idx="2"/>
            <a:endCxn id="16041" idx="6"/>
          </p:cNvCxnSpPr>
          <p:nvPr/>
        </p:nvCxnSpPr>
        <p:spPr>
          <a:xfrm rot="10800000">
            <a:off x="52161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49" name="Google Shape;16049;p619"/>
          <p:cNvCxnSpPr>
            <a:stCxn id="16042" idx="3"/>
            <a:endCxn id="16041" idx="7"/>
          </p:cNvCxnSpPr>
          <p:nvPr/>
        </p:nvCxnSpPr>
        <p:spPr>
          <a:xfrm flipH="1">
            <a:off x="5146203" y="1594995"/>
            <a:ext cx="664200" cy="633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50" name="Google Shape;16050;p619"/>
          <p:cNvCxnSpPr>
            <a:stCxn id="16043" idx="6"/>
            <a:endCxn id="16044" idx="2"/>
          </p:cNvCxnSpPr>
          <p:nvPr/>
        </p:nvCxnSpPr>
        <p:spPr>
          <a:xfrm>
            <a:off x="6217292" y="2386370"/>
            <a:ext cx="5244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51" name="Google Shape;16051;p619"/>
          <p:cNvCxnSpPr>
            <a:stCxn id="16045" idx="1"/>
            <a:endCxn id="16041" idx="5"/>
          </p:cNvCxnSpPr>
          <p:nvPr/>
        </p:nvCxnSpPr>
        <p:spPr>
          <a:xfrm rot="10800000">
            <a:off x="5146203" y="2544004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52" name="Google Shape;16052;p619"/>
          <p:cNvCxnSpPr>
            <a:stCxn id="16043" idx="4"/>
            <a:endCxn id="16045" idx="0"/>
          </p:cNvCxnSpPr>
          <p:nvPr/>
        </p:nvCxnSpPr>
        <p:spPr>
          <a:xfrm>
            <a:off x="5978942" y="2609420"/>
            <a:ext cx="0" cy="4356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53" name="Google Shape;16053;p619"/>
          <p:cNvCxnSpPr>
            <a:stCxn id="16044" idx="3"/>
            <a:endCxn id="16045" idx="7"/>
          </p:cNvCxnSpPr>
          <p:nvPr/>
        </p:nvCxnSpPr>
        <p:spPr>
          <a:xfrm flipH="1">
            <a:off x="6147369" y="2544091"/>
            <a:ext cx="664200" cy="5664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054" name="Google Shape;16054;p619"/>
          <p:cNvSpPr txBox="1"/>
          <p:nvPr/>
        </p:nvSpPr>
        <p:spPr>
          <a:xfrm>
            <a:off x="2983375" y="3547350"/>
            <a:ext cx="1478700" cy="10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Max degree: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Min degree: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d = 2.4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055" name="Google Shape;16055;p619"/>
          <p:cNvSpPr txBox="1"/>
          <p:nvPr/>
        </p:nvSpPr>
        <p:spPr>
          <a:xfrm>
            <a:off x="7250600" y="3547325"/>
            <a:ext cx="1408200" cy="10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Max degree: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Min degree: 3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d = 3.2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056" name="Google Shape;16056;p619"/>
          <p:cNvSpPr txBox="1"/>
          <p:nvPr/>
        </p:nvSpPr>
        <p:spPr>
          <a:xfrm>
            <a:off x="6667425" y="224925"/>
            <a:ext cx="2203500" cy="183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The degree distribution (p</a:t>
            </a:r>
            <a:r>
              <a:rPr b="1" baseline="-25000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k</a:t>
            </a: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) is the probability of observing a node with degree k for each value of degree in the network!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057" name="Google Shape;16057;p619"/>
          <p:cNvCxnSpPr>
            <a:stCxn id="16056" idx="3"/>
            <a:endCxn id="16039" idx="3"/>
          </p:cNvCxnSpPr>
          <p:nvPr/>
        </p:nvCxnSpPr>
        <p:spPr>
          <a:xfrm flipH="1">
            <a:off x="7176225" y="1140375"/>
            <a:ext cx="1694700" cy="3647100"/>
          </a:xfrm>
          <a:prstGeom prst="bentConnector3">
            <a:avLst>
              <a:gd fmla="val -2760" name="adj1"/>
            </a:avLst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stealth"/>
          </a:ln>
        </p:spPr>
      </p:cxnSp>
    </p:spTree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061" name="Shape 16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62" name="Google Shape;16062;p62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Degree-based network properties</a:t>
            </a:r>
            <a:endParaRPr/>
          </a:p>
        </p:txBody>
      </p:sp>
      <p:graphicFrame>
        <p:nvGraphicFramePr>
          <p:cNvPr id="16063" name="Google Shape;16063;p620"/>
          <p:cNvGraphicFramePr/>
          <p:nvPr/>
        </p:nvGraphicFramePr>
        <p:xfrm>
          <a:off x="508013" y="35473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09200"/>
                <a:gridCol w="609200"/>
                <a:gridCol w="609200"/>
                <a:gridCol w="609200"/>
              </a:tblGrid>
              <a:tr h="312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1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2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3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4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312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2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0.4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6064" name="Google Shape;16064;p620"/>
          <p:cNvSpPr txBox="1"/>
          <p:nvPr/>
        </p:nvSpPr>
        <p:spPr>
          <a:xfrm>
            <a:off x="533800" y="4623500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Economica"/>
                <a:ea typeface="Economica"/>
                <a:cs typeface="Economica"/>
                <a:sym typeface="Economica"/>
              </a:rPr>
              <a:t>Degree Distribution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065" name="Google Shape;16065;p620"/>
          <p:cNvSpPr txBox="1"/>
          <p:nvPr/>
        </p:nvSpPr>
        <p:spPr>
          <a:xfrm>
            <a:off x="4781650" y="4623500"/>
            <a:ext cx="239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Degree Distribution</a:t>
            </a:r>
            <a:endParaRPr sz="1800"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16066" name="Google Shape;16066;p620"/>
          <p:cNvGraphicFramePr/>
          <p:nvPr/>
        </p:nvGraphicFramePr>
        <p:xfrm>
          <a:off x="4781638" y="3547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609200"/>
                <a:gridCol w="609200"/>
                <a:gridCol w="609200"/>
                <a:gridCol w="609200"/>
              </a:tblGrid>
              <a:tr h="312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1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2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3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</a:rPr>
                        <a:t>4</a:t>
                      </a:r>
                      <a:endParaRPr b="1">
                        <a:solidFill>
                          <a:srgbClr val="FFFFFF"/>
                        </a:solidFill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312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1/5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2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0.8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</a:t>
                      </a:r>
                      <a:endParaRPr/>
                    </a:p>
                  </a:txBody>
                  <a:tcPr marT="0" marB="0" marR="91425" marL="91425" anchor="ctr">
                    <a:lnL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6067" name="Google Shape;16067;p620"/>
          <p:cNvSpPr txBox="1"/>
          <p:nvPr/>
        </p:nvSpPr>
        <p:spPr>
          <a:xfrm>
            <a:off x="2983375" y="3547350"/>
            <a:ext cx="1478700" cy="10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Max degree: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Min degree: 1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d = 2.4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068" name="Google Shape;16068;p620"/>
          <p:cNvSpPr txBox="1"/>
          <p:nvPr/>
        </p:nvSpPr>
        <p:spPr>
          <a:xfrm>
            <a:off x="7250600" y="3547325"/>
            <a:ext cx="1408200" cy="10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Max degree: 4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Min degree: 3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d = 3.2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6069" name="Google Shape;16069;p620" title="Chart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8025" y="1299625"/>
            <a:ext cx="3388665" cy="2095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070" name="Google Shape;16070;p620" title="Chart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81640" y="1299625"/>
            <a:ext cx="3388644" cy="209531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074" name="Shape 16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5" name="Google Shape;16075;p62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Degree-based network properties</a:t>
            </a:r>
            <a:endParaRPr/>
          </a:p>
        </p:txBody>
      </p:sp>
      <p:grpSp>
        <p:nvGrpSpPr>
          <p:cNvPr id="16076" name="Google Shape;16076;p621"/>
          <p:cNvGrpSpPr/>
          <p:nvPr/>
        </p:nvGrpSpPr>
        <p:grpSpPr>
          <a:xfrm>
            <a:off x="459802" y="1147225"/>
            <a:ext cx="8224398" cy="2267500"/>
            <a:chOff x="311702" y="1147225"/>
            <a:chExt cx="8224398" cy="2267500"/>
          </a:xfrm>
        </p:grpSpPr>
        <p:sp>
          <p:nvSpPr>
            <p:cNvPr id="16077" name="Google Shape;16077;p621"/>
            <p:cNvSpPr txBox="1"/>
            <p:nvPr/>
          </p:nvSpPr>
          <p:spPr>
            <a:xfrm>
              <a:off x="321438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Facebook Users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pic>
          <p:nvPicPr>
            <p:cNvPr id="16078" name="Google Shape;16078;p62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2" y="1163800"/>
              <a:ext cx="2469000" cy="19396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079" name="Google Shape;16079;p621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125221" y="1147225"/>
              <a:ext cx="2597355" cy="193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080" name="Google Shape;16080;p621"/>
            <p:cNvSpPr txBox="1"/>
            <p:nvPr/>
          </p:nvSpPr>
          <p:spPr>
            <a:xfrm>
              <a:off x="3199138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Add Health Study (High School)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16081" name="Google Shape;16081;p621"/>
            <p:cNvSpPr txBox="1"/>
            <p:nvPr/>
          </p:nvSpPr>
          <p:spPr>
            <a:xfrm>
              <a:off x="6131763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LiveJournal Users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pic>
          <p:nvPicPr>
            <p:cNvPr id="16082" name="Google Shape;16082;p621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6067100" y="1190579"/>
              <a:ext cx="2469000" cy="185289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083" name="Google Shape;16083;p621"/>
          <p:cNvSpPr txBox="1"/>
          <p:nvPr/>
        </p:nvSpPr>
        <p:spPr>
          <a:xfrm>
            <a:off x="6258975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4,847,571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68,475,391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22,887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28.5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solidFill>
                <a:schemeClr val="dk1"/>
              </a:solidFill>
              <a:highlight>
                <a:srgbClr val="F4F4FF"/>
              </a:highlight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084" name="Google Shape;16084;p621"/>
          <p:cNvSpPr txBox="1"/>
          <p:nvPr/>
        </p:nvSpPr>
        <p:spPr>
          <a:xfrm>
            <a:off x="448650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63,731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817,035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1,098 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25.6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085" name="Google Shape;16085;p621"/>
          <p:cNvSpPr txBox="1"/>
          <p:nvPr/>
        </p:nvSpPr>
        <p:spPr>
          <a:xfrm>
            <a:off x="3501900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2539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12,969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36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10.2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089" name="Shape 16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90" name="Google Shape;16090;p62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Path-based network properties</a:t>
            </a:r>
            <a:endParaRPr/>
          </a:p>
        </p:txBody>
      </p:sp>
      <p:sp>
        <p:nvSpPr>
          <p:cNvPr id="16091" name="Google Shape;16091;p622"/>
          <p:cNvSpPr txBox="1"/>
          <p:nvPr>
            <p:ph idx="1" type="body"/>
          </p:nvPr>
        </p:nvSpPr>
        <p:spPr>
          <a:xfrm>
            <a:off x="311700" y="1225225"/>
            <a:ext cx="5230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diameter </a:t>
            </a:r>
            <a:r>
              <a:rPr b="1" lang="en"/>
              <a:t>(D)</a:t>
            </a:r>
            <a:r>
              <a:rPr lang="en"/>
              <a:t> of a network is the length of the </a:t>
            </a:r>
            <a:r>
              <a:rPr b="1" lang="en"/>
              <a:t>longest</a:t>
            </a:r>
            <a:r>
              <a:rPr lang="en"/>
              <a:t> shortest path between two nodes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092" name="Google Shape;16092;p622"/>
          <p:cNvPicPr preferRelativeResize="0"/>
          <p:nvPr/>
        </p:nvPicPr>
        <p:blipFill rotWithShape="1">
          <a:blip r:embed="rId3">
            <a:alphaModFix/>
          </a:blip>
          <a:srcRect b="10373" l="12259" r="8186" t="11220"/>
          <a:stretch/>
        </p:blipFill>
        <p:spPr>
          <a:xfrm>
            <a:off x="5542200" y="1270175"/>
            <a:ext cx="3311974" cy="3264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096" name="Shape 16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97" name="Google Shape;16097;p62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Path-based network properties</a:t>
            </a:r>
            <a:endParaRPr/>
          </a:p>
        </p:txBody>
      </p:sp>
      <p:sp>
        <p:nvSpPr>
          <p:cNvPr id="16098" name="Google Shape;16098;p623"/>
          <p:cNvSpPr txBox="1"/>
          <p:nvPr>
            <p:ph idx="1" type="body"/>
          </p:nvPr>
        </p:nvSpPr>
        <p:spPr>
          <a:xfrm>
            <a:off x="311700" y="1225225"/>
            <a:ext cx="5230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diameter </a:t>
            </a:r>
            <a:r>
              <a:rPr b="1" lang="en"/>
              <a:t>(D) </a:t>
            </a:r>
            <a:r>
              <a:rPr lang="en"/>
              <a:t>of a network is the length of the </a:t>
            </a:r>
            <a:r>
              <a:rPr b="1" lang="en"/>
              <a:t>longest</a:t>
            </a:r>
            <a:r>
              <a:rPr lang="en"/>
              <a:t> shortest path between two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compute the </a:t>
            </a:r>
            <a:r>
              <a:rPr b="1" lang="en"/>
              <a:t>average shortest path length</a:t>
            </a:r>
            <a:r>
              <a:rPr lang="en"/>
              <a:t> </a:t>
            </a:r>
            <a:r>
              <a:rPr b="1" lang="en"/>
              <a:t>(L)</a:t>
            </a:r>
            <a:r>
              <a:rPr lang="en"/>
              <a:t> between all pairs of nodes in a network</a:t>
            </a:r>
            <a:endParaRPr/>
          </a:p>
        </p:txBody>
      </p:sp>
      <p:pic>
        <p:nvPicPr>
          <p:cNvPr id="16099" name="Google Shape;16099;p623"/>
          <p:cNvPicPr preferRelativeResize="0"/>
          <p:nvPr/>
        </p:nvPicPr>
        <p:blipFill rotWithShape="1">
          <a:blip r:embed="rId3">
            <a:alphaModFix/>
          </a:blip>
          <a:srcRect b="10373" l="12259" r="8186" t="11220"/>
          <a:stretch/>
        </p:blipFill>
        <p:spPr>
          <a:xfrm>
            <a:off x="5542200" y="1270175"/>
            <a:ext cx="3311974" cy="3264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03" name="Shape 16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4" name="Google Shape;16104;p62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Path-based network properties</a:t>
            </a:r>
            <a:endParaRPr/>
          </a:p>
        </p:txBody>
      </p:sp>
      <p:sp>
        <p:nvSpPr>
          <p:cNvPr id="16105" name="Google Shape;16105;p624"/>
          <p:cNvSpPr txBox="1"/>
          <p:nvPr>
            <p:ph idx="1" type="body"/>
          </p:nvPr>
        </p:nvSpPr>
        <p:spPr>
          <a:xfrm>
            <a:off x="311700" y="1225225"/>
            <a:ext cx="5230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diameter </a:t>
            </a:r>
            <a:r>
              <a:rPr b="1" lang="en"/>
              <a:t>(D)</a:t>
            </a:r>
            <a:r>
              <a:rPr lang="en"/>
              <a:t> of a network is the length of the </a:t>
            </a:r>
            <a:r>
              <a:rPr b="1" lang="en"/>
              <a:t>longest</a:t>
            </a:r>
            <a:r>
              <a:rPr lang="en"/>
              <a:t> shortest path between two nodes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also compute the </a:t>
            </a:r>
            <a:r>
              <a:rPr b="1" lang="en"/>
              <a:t>average shortest path length</a:t>
            </a:r>
            <a:r>
              <a:rPr lang="en"/>
              <a:t> </a:t>
            </a:r>
            <a:r>
              <a:rPr b="1" lang="en"/>
              <a:t>(L)</a:t>
            </a:r>
            <a:r>
              <a:rPr lang="en"/>
              <a:t> between all pairs of nodes in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Can only be computed for </a:t>
            </a:r>
            <a:r>
              <a:rPr b="1" lang="en"/>
              <a:t>connected graphs</a:t>
            </a:r>
            <a:r>
              <a:rPr lang="en"/>
              <a:t> or in the </a:t>
            </a:r>
            <a:r>
              <a:rPr b="1" lang="en"/>
              <a:t>giant component </a:t>
            </a:r>
            <a:r>
              <a:rPr lang="en"/>
              <a:t>of disconnected ones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106" name="Google Shape;16106;p624"/>
          <p:cNvPicPr preferRelativeResize="0"/>
          <p:nvPr/>
        </p:nvPicPr>
        <p:blipFill rotWithShape="1">
          <a:blip r:embed="rId3">
            <a:alphaModFix/>
          </a:blip>
          <a:srcRect b="10373" l="12259" r="8186" t="11220"/>
          <a:stretch/>
        </p:blipFill>
        <p:spPr>
          <a:xfrm>
            <a:off x="5542200" y="1270175"/>
            <a:ext cx="3311974" cy="3264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10" name="Shape 16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1" name="Google Shape;16111;p62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Path-based network properties</a:t>
            </a:r>
            <a:endParaRPr/>
          </a:p>
        </p:txBody>
      </p:sp>
      <p:grpSp>
        <p:nvGrpSpPr>
          <p:cNvPr id="16112" name="Google Shape;16112;p625"/>
          <p:cNvGrpSpPr/>
          <p:nvPr/>
        </p:nvGrpSpPr>
        <p:grpSpPr>
          <a:xfrm>
            <a:off x="459802" y="1147225"/>
            <a:ext cx="8224398" cy="2267500"/>
            <a:chOff x="311702" y="1147225"/>
            <a:chExt cx="8224398" cy="2267500"/>
          </a:xfrm>
        </p:grpSpPr>
        <p:sp>
          <p:nvSpPr>
            <p:cNvPr id="16113" name="Google Shape;16113;p625"/>
            <p:cNvSpPr txBox="1"/>
            <p:nvPr/>
          </p:nvSpPr>
          <p:spPr>
            <a:xfrm>
              <a:off x="321438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Facebook Users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pic>
          <p:nvPicPr>
            <p:cNvPr id="16114" name="Google Shape;16114;p62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2" y="1163800"/>
              <a:ext cx="2469000" cy="19396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115" name="Google Shape;16115;p625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125221" y="1147225"/>
              <a:ext cx="2597355" cy="193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116" name="Google Shape;16116;p625"/>
            <p:cNvSpPr txBox="1"/>
            <p:nvPr/>
          </p:nvSpPr>
          <p:spPr>
            <a:xfrm>
              <a:off x="3199138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Add Health Study (High School)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16117" name="Google Shape;16117;p625"/>
            <p:cNvSpPr txBox="1"/>
            <p:nvPr/>
          </p:nvSpPr>
          <p:spPr>
            <a:xfrm>
              <a:off x="6131763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LiveJournal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pic>
          <p:nvPicPr>
            <p:cNvPr id="16118" name="Google Shape;16118;p6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6067100" y="1190579"/>
              <a:ext cx="2469000" cy="185289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119" name="Google Shape;16119;p625"/>
          <p:cNvSpPr txBox="1"/>
          <p:nvPr/>
        </p:nvSpPr>
        <p:spPr>
          <a:xfrm>
            <a:off x="6258975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4,847,571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68,475,391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22,887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28.5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20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L = 5.5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solidFill>
                <a:schemeClr val="dk1"/>
              </a:solidFill>
              <a:highlight>
                <a:srgbClr val="F4F4FF"/>
              </a:highlight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120" name="Google Shape;16120;p625"/>
          <p:cNvSpPr txBox="1"/>
          <p:nvPr/>
        </p:nvSpPr>
        <p:spPr>
          <a:xfrm>
            <a:off x="448650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63,731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817,035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1,098 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25.6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15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L = 4.3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121" name="Google Shape;16121;p625"/>
          <p:cNvSpPr txBox="1"/>
          <p:nvPr/>
        </p:nvSpPr>
        <p:spPr>
          <a:xfrm>
            <a:off x="3501900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2539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12,969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36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10.2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10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L = 4.5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25" name="Shape 16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6" name="Google Shape;16126;p62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Path-based network properties</a:t>
            </a:r>
            <a:endParaRPr/>
          </a:p>
        </p:txBody>
      </p:sp>
      <p:grpSp>
        <p:nvGrpSpPr>
          <p:cNvPr id="16127" name="Google Shape;16127;p626"/>
          <p:cNvGrpSpPr/>
          <p:nvPr/>
        </p:nvGrpSpPr>
        <p:grpSpPr>
          <a:xfrm>
            <a:off x="459802" y="1147225"/>
            <a:ext cx="8224398" cy="2267500"/>
            <a:chOff x="311702" y="1147225"/>
            <a:chExt cx="8224398" cy="2267500"/>
          </a:xfrm>
        </p:grpSpPr>
        <p:sp>
          <p:nvSpPr>
            <p:cNvPr id="16128" name="Google Shape;16128;p626"/>
            <p:cNvSpPr txBox="1"/>
            <p:nvPr/>
          </p:nvSpPr>
          <p:spPr>
            <a:xfrm>
              <a:off x="321438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Facebook Users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pic>
          <p:nvPicPr>
            <p:cNvPr id="16129" name="Google Shape;16129;p62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2" y="1163800"/>
              <a:ext cx="2469000" cy="19396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130" name="Google Shape;16130;p62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125221" y="1147225"/>
              <a:ext cx="2597355" cy="193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131" name="Google Shape;16131;p626"/>
            <p:cNvSpPr txBox="1"/>
            <p:nvPr/>
          </p:nvSpPr>
          <p:spPr>
            <a:xfrm>
              <a:off x="3199138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Add Health Study (High School)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16132" name="Google Shape;16132;p626"/>
            <p:cNvSpPr txBox="1"/>
            <p:nvPr/>
          </p:nvSpPr>
          <p:spPr>
            <a:xfrm>
              <a:off x="6131763" y="3086825"/>
              <a:ext cx="2394600" cy="327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latin typeface="Economica"/>
                  <a:ea typeface="Economica"/>
                  <a:cs typeface="Economica"/>
                  <a:sym typeface="Economica"/>
                </a:rPr>
                <a:t>LiveJournal</a:t>
              </a:r>
              <a:endParaRPr sz="1800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pic>
          <p:nvPicPr>
            <p:cNvPr id="16133" name="Google Shape;16133;p626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6067100" y="1190579"/>
              <a:ext cx="2469000" cy="185289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134" name="Google Shape;16134;p626"/>
          <p:cNvSpPr txBox="1"/>
          <p:nvPr/>
        </p:nvSpPr>
        <p:spPr>
          <a:xfrm>
            <a:off x="6258975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4,847,571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68,475,391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22,887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28.5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20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L = 5.5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solidFill>
                <a:schemeClr val="dk1"/>
              </a:solidFill>
              <a:highlight>
                <a:srgbClr val="F4F4FF"/>
              </a:highlight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135" name="Google Shape;16135;p626"/>
          <p:cNvSpPr txBox="1"/>
          <p:nvPr/>
        </p:nvSpPr>
        <p:spPr>
          <a:xfrm>
            <a:off x="448650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63,731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817,035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1,098 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25.6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15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L = 4.3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136" name="Google Shape;16136;p626"/>
          <p:cNvSpPr txBox="1"/>
          <p:nvPr/>
        </p:nvSpPr>
        <p:spPr>
          <a:xfrm>
            <a:off x="3501900" y="3414725"/>
            <a:ext cx="2140200" cy="155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N = 2539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E = 12,969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Max degree: 36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10.2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D = 10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Economica"/>
                <a:ea typeface="Economica"/>
                <a:cs typeface="Economica"/>
                <a:sym typeface="Economica"/>
              </a:rPr>
              <a:t>L = 4.5</a:t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137" name="Google Shape;16137;p626"/>
          <p:cNvSpPr/>
          <p:nvPr/>
        </p:nvSpPr>
        <p:spPr>
          <a:xfrm>
            <a:off x="328050" y="4359900"/>
            <a:ext cx="707100" cy="282900"/>
          </a:xfrm>
          <a:prstGeom prst="ellipse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8" name="Google Shape;16138;p626"/>
          <p:cNvSpPr/>
          <p:nvPr/>
        </p:nvSpPr>
        <p:spPr>
          <a:xfrm>
            <a:off x="3418675" y="4359900"/>
            <a:ext cx="707100" cy="282900"/>
          </a:xfrm>
          <a:prstGeom prst="ellipse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9" name="Google Shape;16139;p626"/>
          <p:cNvSpPr/>
          <p:nvPr/>
        </p:nvSpPr>
        <p:spPr>
          <a:xfrm>
            <a:off x="6200675" y="4388225"/>
            <a:ext cx="707100" cy="282900"/>
          </a:xfrm>
          <a:prstGeom prst="ellipse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0" name="Google Shape;16140;p626"/>
          <p:cNvSpPr txBox="1"/>
          <p:nvPr/>
        </p:nvSpPr>
        <p:spPr>
          <a:xfrm>
            <a:off x="1485350" y="3999850"/>
            <a:ext cx="1157400" cy="67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L is small!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6144" name="Shape 16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5" name="Google Shape;16145;p627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Small World Networks</a:t>
            </a:r>
            <a:endParaRPr/>
          </a:p>
        </p:txBody>
      </p:sp>
      <p:sp>
        <p:nvSpPr>
          <p:cNvPr id="16146" name="Google Shape;16146;p627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50" name="Shape 16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1" name="Google Shape;16151;p62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152" name="Google Shape;16152;p628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153" name="Google Shape;16153;p628"/>
          <p:cNvPicPr preferRelativeResize="0"/>
          <p:nvPr/>
        </p:nvPicPr>
        <p:blipFill rotWithShape="1">
          <a:blip r:embed="rId3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57" name="Shape 16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8" name="Google Shape;16158;p62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159" name="Google Shape;16159;p629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0" name="Google Shape;16160;p629"/>
          <p:cNvSpPr txBox="1"/>
          <p:nvPr>
            <p:ph idx="1" type="body"/>
          </p:nvPr>
        </p:nvSpPr>
        <p:spPr>
          <a:xfrm>
            <a:off x="5143500" y="1225225"/>
            <a:ext cx="3722400" cy="3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Order </a:t>
            </a:r>
            <a:r>
              <a:rPr lang="en"/>
              <a:t>(N) is </a:t>
            </a:r>
            <a:r>
              <a:rPr b="1" lang="en"/>
              <a:t>large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7.8 billion</a:t>
            </a:r>
            <a:r>
              <a:rPr lang="en"/>
              <a:t> as of March 2021!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161" name="Google Shape;16161;p629"/>
          <p:cNvPicPr preferRelativeResize="0"/>
          <p:nvPr/>
        </p:nvPicPr>
        <p:blipFill rotWithShape="1">
          <a:blip r:embed="rId3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65" name="Shape 16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6" name="Google Shape;16166;p63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167" name="Google Shape;16167;p630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8" name="Google Shape;16168;p630"/>
          <p:cNvSpPr txBox="1"/>
          <p:nvPr>
            <p:ph idx="1" type="body"/>
          </p:nvPr>
        </p:nvSpPr>
        <p:spPr>
          <a:xfrm>
            <a:off x="5143500" y="1225225"/>
            <a:ext cx="3722400" cy="240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Order </a:t>
            </a:r>
            <a:r>
              <a:rPr lang="en"/>
              <a:t>(N) is </a:t>
            </a:r>
            <a:r>
              <a:rPr b="1" lang="en"/>
              <a:t>large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Sparse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Density </a:t>
            </a:r>
            <a:r>
              <a:rPr lang="en"/>
              <a:t>(</a:t>
            </a:r>
            <a:r>
              <a:rPr i="1" lang="en"/>
              <a:t>d</a:t>
            </a:r>
            <a:r>
              <a:rPr lang="en"/>
              <a:t>) is </a:t>
            </a:r>
            <a:r>
              <a:rPr b="1" lang="en"/>
              <a:t>low</a:t>
            </a:r>
            <a:r>
              <a:rPr lang="en"/>
              <a:t>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Number of </a:t>
            </a:r>
            <a:r>
              <a:rPr b="1" lang="en"/>
              <a:t>connected pairs</a:t>
            </a:r>
            <a:r>
              <a:rPr lang="en"/>
              <a:t> of people in the world (E) is </a:t>
            </a:r>
            <a:r>
              <a:rPr b="1" lang="en"/>
              <a:t>small </a:t>
            </a:r>
            <a:r>
              <a:rPr lang="en"/>
              <a:t>relative </a:t>
            </a:r>
            <a:r>
              <a:rPr b="1" lang="en"/>
              <a:t>graph size</a:t>
            </a:r>
            <a:r>
              <a:rPr lang="en"/>
              <a:t>: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d = \frac{E}{N(N-1)}= \frac{E}{7.8 \times 10^9(7.8 \times 10^9-1)}= tiny" id="16169" name="Google Shape;16169;p630" title="MathEquation,#0000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21850" y="3053600"/>
            <a:ext cx="4470024" cy="49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170" name="Google Shape;16170;p630"/>
          <p:cNvPicPr preferRelativeResize="0"/>
          <p:nvPr/>
        </p:nvPicPr>
        <p:blipFill rotWithShape="1">
          <a:blip r:embed="rId4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74" name="Shape 16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5" name="Google Shape;16175;p63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176" name="Google Shape;16176;p631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7" name="Google Shape;16177;p631"/>
          <p:cNvSpPr txBox="1"/>
          <p:nvPr>
            <p:ph idx="1" type="body"/>
          </p:nvPr>
        </p:nvSpPr>
        <p:spPr>
          <a:xfrm>
            <a:off x="5143500" y="1225225"/>
            <a:ext cx="3722400" cy="16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Order </a:t>
            </a:r>
            <a:r>
              <a:rPr lang="en"/>
              <a:t>(N) is </a:t>
            </a:r>
            <a:r>
              <a:rPr b="1" lang="en"/>
              <a:t>large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Sparse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Average degree </a:t>
            </a:r>
            <a:r>
              <a:rPr lang="en"/>
              <a:t>(d) is </a:t>
            </a:r>
            <a:r>
              <a:rPr b="1" lang="en"/>
              <a:t>small </a:t>
            </a:r>
            <a:r>
              <a:rPr lang="en"/>
              <a:t>relative to </a:t>
            </a:r>
            <a:r>
              <a:rPr b="1" lang="en"/>
              <a:t>graph order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\frac{d}{N} = \frac{d}{7.8 \times 10^9} = tiny" id="16178" name="Google Shape;16178;p631" title="MathEquation,#0000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68388" y="2571759"/>
            <a:ext cx="2776624" cy="56574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179" name="Google Shape;16179;p631"/>
          <p:cNvPicPr preferRelativeResize="0"/>
          <p:nvPr/>
        </p:nvPicPr>
        <p:blipFill rotWithShape="1">
          <a:blip r:embed="rId4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83" name="Shape 16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4" name="Google Shape;16184;p63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185" name="Google Shape;16185;p632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6" name="Google Shape;16186;p632"/>
          <p:cNvSpPr txBox="1"/>
          <p:nvPr>
            <p:ph idx="1" type="body"/>
          </p:nvPr>
        </p:nvSpPr>
        <p:spPr>
          <a:xfrm>
            <a:off x="5143500" y="1225225"/>
            <a:ext cx="3722400" cy="193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Order </a:t>
            </a:r>
            <a:r>
              <a:rPr lang="en"/>
              <a:t>(N) is </a:t>
            </a:r>
            <a:r>
              <a:rPr b="1" lang="en"/>
              <a:t>large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Sparse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Decentralized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Maximum degree</a:t>
            </a:r>
            <a:r>
              <a:rPr lang="en"/>
              <a:t> (d</a:t>
            </a:r>
            <a:r>
              <a:rPr baseline="30000" lang="en"/>
              <a:t>MAX</a:t>
            </a:r>
            <a:r>
              <a:rPr lang="en"/>
              <a:t>) is </a:t>
            </a:r>
            <a:r>
              <a:rPr b="1" lang="en"/>
              <a:t>small </a:t>
            </a:r>
            <a:r>
              <a:rPr lang="en"/>
              <a:t>relative to graph order: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\frac{d^{MAX}}{N} = \frac{d^{MAX}}{7.8 \times 10^9} = tiny" id="16187" name="Google Shape;16187;p632" title="MathEquation,#0000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397100" y="2880638"/>
            <a:ext cx="3215190" cy="635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188" name="Google Shape;16188;p632"/>
          <p:cNvPicPr preferRelativeResize="0"/>
          <p:nvPr/>
        </p:nvPicPr>
        <p:blipFill rotWithShape="1">
          <a:blip r:embed="rId4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92" name="Shape 16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3" name="Google Shape;16193;p63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194" name="Google Shape;16194;p633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5" name="Google Shape;16195;p633"/>
          <p:cNvSpPr txBox="1"/>
          <p:nvPr>
            <p:ph idx="1" type="body"/>
          </p:nvPr>
        </p:nvSpPr>
        <p:spPr>
          <a:xfrm>
            <a:off x="5143500" y="1225225"/>
            <a:ext cx="3722400" cy="30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Order </a:t>
            </a:r>
            <a:r>
              <a:rPr lang="en"/>
              <a:t>(N) is </a:t>
            </a:r>
            <a:r>
              <a:rPr b="1" lang="en"/>
              <a:t>large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Sparse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Decentralized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Clustered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Transitivity</a:t>
            </a:r>
            <a:r>
              <a:rPr lang="en"/>
              <a:t>: Friends of friends tend to be friends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ego-networks have </a:t>
            </a:r>
            <a:r>
              <a:rPr b="1" lang="en"/>
              <a:t>clustering coefficients</a:t>
            </a:r>
            <a:r>
              <a:rPr lang="en"/>
              <a:t> above zero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Average clustering coefficient</a:t>
            </a:r>
            <a:r>
              <a:rPr lang="en"/>
              <a:t> is larger than zero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196" name="Google Shape;16196;p633"/>
          <p:cNvPicPr preferRelativeResize="0"/>
          <p:nvPr/>
        </p:nvPicPr>
        <p:blipFill rotWithShape="1">
          <a:blip r:embed="rId3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00" name="Shape 16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1" name="Google Shape;16201;p63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202" name="Google Shape;16202;p634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3" name="Google Shape;16203;p634"/>
          <p:cNvSpPr txBox="1"/>
          <p:nvPr>
            <p:ph idx="1" type="body"/>
          </p:nvPr>
        </p:nvSpPr>
        <p:spPr>
          <a:xfrm>
            <a:off x="5143500" y="1225225"/>
            <a:ext cx="3722400" cy="30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Order </a:t>
            </a:r>
            <a:r>
              <a:rPr lang="en"/>
              <a:t>(N) is </a:t>
            </a:r>
            <a:r>
              <a:rPr b="1" lang="en"/>
              <a:t>large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Sparse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Decentralized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Clustered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Subgroup structure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connections in </a:t>
            </a:r>
            <a:r>
              <a:rPr b="1" lang="en"/>
              <a:t>densely connected subgraphs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Only a few between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Graph can be split into </a:t>
            </a:r>
            <a:r>
              <a:rPr b="1" lang="en"/>
              <a:t>cohesive subgroups</a:t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04" name="Google Shape;16204;p634"/>
          <p:cNvPicPr preferRelativeResize="0"/>
          <p:nvPr/>
        </p:nvPicPr>
        <p:blipFill rotWithShape="1">
          <a:blip r:embed="rId3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08" name="Shape 16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9" name="Google Shape;16209;p63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210" name="Google Shape;16210;p635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1" name="Google Shape;16211;p635"/>
          <p:cNvSpPr txBox="1"/>
          <p:nvPr>
            <p:ph idx="1" type="body"/>
          </p:nvPr>
        </p:nvSpPr>
        <p:spPr>
          <a:xfrm>
            <a:off x="5143500" y="1225225"/>
            <a:ext cx="3722400" cy="30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Order </a:t>
            </a:r>
            <a:r>
              <a:rPr lang="en"/>
              <a:t>(N) is </a:t>
            </a:r>
            <a:r>
              <a:rPr b="1" lang="en"/>
              <a:t>large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Sparse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Decentralized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Clustered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Subgroup structure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b="1" lang="en">
                <a:solidFill>
                  <a:srgbClr val="000000"/>
                </a:solidFill>
              </a:rPr>
              <a:t>Six degrees of separation</a:t>
            </a:r>
            <a:endParaRPr b="1"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Average shortest path length between people is (relatively) small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12" name="Google Shape;16212;p635"/>
          <p:cNvPicPr preferRelativeResize="0"/>
          <p:nvPr/>
        </p:nvPicPr>
        <p:blipFill rotWithShape="1">
          <a:blip r:embed="rId3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16" name="Shape 16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7" name="Google Shape;16217;p63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218" name="Google Shape;16218;p636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9" name="Google Shape;16219;p636"/>
          <p:cNvSpPr txBox="1"/>
          <p:nvPr>
            <p:ph idx="1" type="body"/>
          </p:nvPr>
        </p:nvSpPr>
        <p:spPr>
          <a:xfrm>
            <a:off x="5143500" y="1225225"/>
            <a:ext cx="3722400" cy="30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Order </a:t>
            </a:r>
            <a:r>
              <a:rPr lang="en"/>
              <a:t>(N) is </a:t>
            </a:r>
            <a:r>
              <a:rPr b="1" lang="en"/>
              <a:t>large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Sparse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Decentralized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Clustered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Subgroup structure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800"/>
              <a:buChar char="●"/>
            </a:pPr>
            <a:r>
              <a:rPr b="1" lang="en">
                <a:solidFill>
                  <a:srgbClr val="FF0000"/>
                </a:solidFill>
              </a:rPr>
              <a:t>Six degrees of separation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20" name="Google Shape;16220;p636"/>
          <p:cNvPicPr preferRelativeResize="0"/>
          <p:nvPr/>
        </p:nvPicPr>
        <p:blipFill rotWithShape="1">
          <a:blip r:embed="rId3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  <p:sp>
        <p:nvSpPr>
          <p:cNvPr id="16221" name="Google Shape;16221;p636"/>
          <p:cNvSpPr txBox="1"/>
          <p:nvPr/>
        </p:nvSpPr>
        <p:spPr>
          <a:xfrm>
            <a:off x="5750250" y="3626450"/>
            <a:ext cx="25089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This last thing is weird!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25" name="Shape 16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6" name="Google Shape;16226;p63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world as a network</a:t>
            </a:r>
            <a:endParaRPr/>
          </a:p>
        </p:txBody>
      </p:sp>
      <p:sp>
        <p:nvSpPr>
          <p:cNvPr id="16227" name="Google Shape;16227;p637"/>
          <p:cNvSpPr txBox="1"/>
          <p:nvPr>
            <p:ph idx="1" type="body"/>
          </p:nvPr>
        </p:nvSpPr>
        <p:spPr>
          <a:xfrm>
            <a:off x="311700" y="1225225"/>
            <a:ext cx="4535700" cy="12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Imagine that the entire world (or a big place like the U. S.) as a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What can we deduce to be true of the graph the represents this network?</a:t>
            </a:r>
            <a:endParaRPr i="1"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8" name="Google Shape;16228;p637"/>
          <p:cNvSpPr txBox="1"/>
          <p:nvPr>
            <p:ph idx="1" type="body"/>
          </p:nvPr>
        </p:nvSpPr>
        <p:spPr>
          <a:xfrm>
            <a:off x="5143500" y="1225225"/>
            <a:ext cx="3722400" cy="35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In a large, sparse, decentralized graph, with clustering and subgroup structure: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Any two random individuals should (on average) be separated by a </a:t>
            </a:r>
            <a:r>
              <a:rPr b="1" lang="en">
                <a:solidFill>
                  <a:srgbClr val="000000"/>
                </a:solidFill>
              </a:rPr>
              <a:t>long shortest paths </a:t>
            </a:r>
            <a:endParaRPr b="1">
              <a:solidFill>
                <a:srgbClr val="00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But real world shows “six degrees of separation” effect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i="1" lang="en">
                <a:solidFill>
                  <a:srgbClr val="0000FF"/>
                </a:solidFill>
              </a:rPr>
              <a:t>Six is a small number</a:t>
            </a:r>
            <a:endParaRPr i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It’s a small world!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29" name="Google Shape;16229;p637"/>
          <p:cNvPicPr preferRelativeResize="0"/>
          <p:nvPr/>
        </p:nvPicPr>
        <p:blipFill rotWithShape="1">
          <a:blip r:embed="rId3">
            <a:alphaModFix/>
          </a:blip>
          <a:srcRect b="0" l="0" r="0" t="3985"/>
          <a:stretch/>
        </p:blipFill>
        <p:spPr>
          <a:xfrm>
            <a:off x="984250" y="2442325"/>
            <a:ext cx="3190588" cy="2475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33" name="Shape 16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4" name="Google Shape;16234;p63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 </a:t>
            </a:r>
            <a:endParaRPr/>
          </a:p>
        </p:txBody>
      </p:sp>
      <p:sp>
        <p:nvSpPr>
          <p:cNvPr id="16235" name="Google Shape;16235;p638"/>
          <p:cNvSpPr txBox="1"/>
          <p:nvPr>
            <p:ph idx="1" type="body"/>
          </p:nvPr>
        </p:nvSpPr>
        <p:spPr>
          <a:xfrm>
            <a:off x="311700" y="1225225"/>
            <a:ext cx="5294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Classic study by Travers and Milgram (1969)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Target  (Boston stockbroker)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296 participants ("starting persons")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196 from Nebraska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100 Stockbrokers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96 Random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100 from Boston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217 forwarded packet so get to target person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453 Intermediaries enlisted by the participants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36" name="Google Shape;16236;p6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20075" y="1225225"/>
            <a:ext cx="2440524" cy="33540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40" name="Shape 16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1" name="Google Shape;16241;p63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242" name="Google Shape;16242;p639"/>
          <p:cNvSpPr txBox="1"/>
          <p:nvPr>
            <p:ph idx="1" type="body"/>
          </p:nvPr>
        </p:nvSpPr>
        <p:spPr>
          <a:xfrm>
            <a:off x="311700" y="1225225"/>
            <a:ext cx="5294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Target  (Boston stockbroker)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296 participants ("starting persons")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196 from Nebraska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100 Stockbrokers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96 Random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100 from Boston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217 forwarded packet so get to target person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453 Intermediaries enlisted by the participants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64 completed chains (29%)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Mean path length: 5.2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43" name="Google Shape;16243;p639"/>
          <p:cNvPicPr preferRelativeResize="0"/>
          <p:nvPr/>
        </p:nvPicPr>
        <p:blipFill rotWithShape="1">
          <a:blip r:embed="rId3">
            <a:alphaModFix/>
          </a:blip>
          <a:srcRect b="0" l="0" r="0" t="8717"/>
          <a:stretch/>
        </p:blipFill>
        <p:spPr>
          <a:xfrm>
            <a:off x="5497150" y="1562837"/>
            <a:ext cx="3335149" cy="2678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47" name="Shape 16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8" name="Google Shape;16248;p64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249" name="Google Shape;16249;p640"/>
          <p:cNvSpPr txBox="1"/>
          <p:nvPr>
            <p:ph idx="1" type="body"/>
          </p:nvPr>
        </p:nvSpPr>
        <p:spPr>
          <a:xfrm>
            <a:off x="311700" y="1225225"/>
            <a:ext cx="52944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Target  (Boston stockbroker)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296 participants ("starting persons")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196 from Nebraska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100 Stockbrokers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96 Random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100 from Boston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217 forwarded packet so get to target person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453 Intermediaries enlisted by the participants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232 incomplete chains (71%)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Mean path length: 2.6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50" name="Google Shape;16250;p640"/>
          <p:cNvPicPr preferRelativeResize="0"/>
          <p:nvPr/>
        </p:nvPicPr>
        <p:blipFill rotWithShape="1">
          <a:blip r:embed="rId3">
            <a:alphaModFix/>
          </a:blip>
          <a:srcRect b="0" l="8298" r="9384" t="0"/>
          <a:stretch/>
        </p:blipFill>
        <p:spPr>
          <a:xfrm>
            <a:off x="5397350" y="1469400"/>
            <a:ext cx="3434949" cy="28656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54" name="Shape 16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55" name="Google Shape;16255;p64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256" name="Google Shape;16256;p641"/>
          <p:cNvSpPr txBox="1"/>
          <p:nvPr>
            <p:ph idx="1" type="body"/>
          </p:nvPr>
        </p:nvSpPr>
        <p:spPr>
          <a:xfrm>
            <a:off x="311700" y="1225225"/>
            <a:ext cx="5595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Out of the 64 completed chains 26 people made the final link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16 (25%) reached the target via a single neighbor: "Mr. G."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Another accounted for 10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Another for 5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top three account for 48% of completions 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86% of “starters” sent the letter to friends and acquaintances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14% send it to relatives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age, gender, SES homophily in Intermediary choice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57" name="Google Shape;16257;p641"/>
          <p:cNvGrpSpPr/>
          <p:nvPr/>
        </p:nvGrpSpPr>
        <p:grpSpPr>
          <a:xfrm>
            <a:off x="5906704" y="1225215"/>
            <a:ext cx="2609404" cy="3435684"/>
            <a:chOff x="4963250" y="1775572"/>
            <a:chExt cx="3496454" cy="4805152"/>
          </a:xfrm>
        </p:grpSpPr>
        <p:pic>
          <p:nvPicPr>
            <p:cNvPr id="16258" name="Google Shape;16258;p64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963250" y="1775572"/>
              <a:ext cx="3496454" cy="48051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259" name="Google Shape;16259;p641"/>
            <p:cNvSpPr/>
            <p:nvPr/>
          </p:nvSpPr>
          <p:spPr>
            <a:xfrm>
              <a:off x="6578075" y="2405550"/>
              <a:ext cx="843900" cy="861600"/>
            </a:xfrm>
            <a:prstGeom prst="ellipse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641"/>
            <p:cNvSpPr/>
            <p:nvPr/>
          </p:nvSpPr>
          <p:spPr>
            <a:xfrm>
              <a:off x="6511800" y="3458925"/>
              <a:ext cx="843900" cy="861600"/>
            </a:xfrm>
            <a:prstGeom prst="ellipse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641"/>
            <p:cNvSpPr/>
            <p:nvPr/>
          </p:nvSpPr>
          <p:spPr>
            <a:xfrm>
              <a:off x="6511800" y="4206150"/>
              <a:ext cx="843900" cy="861600"/>
            </a:xfrm>
            <a:prstGeom prst="ellipse">
              <a:avLst/>
            </a:prstGeom>
            <a:noFill/>
            <a:ln cap="flat" cmpd="sng" w="19050">
              <a:solidFill>
                <a:srgbClr val="FF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65" name="Shape 16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66" name="Google Shape;16266;p64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267" name="Google Shape;16267;p642"/>
          <p:cNvSpPr txBox="1"/>
          <p:nvPr>
            <p:ph idx="1" type="body"/>
          </p:nvPr>
        </p:nvSpPr>
        <p:spPr>
          <a:xfrm>
            <a:off x="311700" y="1225225"/>
            <a:ext cx="8520600" cy="16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Dodds, Muhammad and Watts (2003) Replication of Milgram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Internet based social experiment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18 target persons from 13 countries randomly allocated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98,847 participants registered, 25% initiated a chain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61,168 total participants from 166 countries (including intermediaries)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71" name="Shape 16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72" name="Google Shape;16272;p64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273" name="Google Shape;16273;p643"/>
          <p:cNvSpPr txBox="1"/>
          <p:nvPr>
            <p:ph idx="1" type="body"/>
          </p:nvPr>
        </p:nvSpPr>
        <p:spPr>
          <a:xfrm>
            <a:off x="311700" y="1225225"/>
            <a:ext cx="2900700" cy="357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384 completed chains (out 24,163); Average (L): 4.05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Corrected for attrition the median chain length is between 5 and 7</a:t>
            </a:r>
            <a:endParaRPr/>
          </a:p>
        </p:txBody>
      </p:sp>
      <p:pic>
        <p:nvPicPr>
          <p:cNvPr id="16274" name="Google Shape;16274;p6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365000" y="1517350"/>
            <a:ext cx="5467300" cy="29869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78" name="Shape 16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79" name="Google Shape;16279;p64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280" name="Google Shape;16280;p644"/>
          <p:cNvSpPr txBox="1"/>
          <p:nvPr>
            <p:ph idx="1" type="body"/>
          </p:nvPr>
        </p:nvSpPr>
        <p:spPr>
          <a:xfrm>
            <a:off x="311700" y="1225225"/>
            <a:ext cx="8520600" cy="16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Dodds, Muhammad and Watts (2003) Replication of Milgram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Internet based social experiment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18 target persons from 13 countries randomly allocated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98,847 participants registered, 25% initiated a chain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61,168 total participants from 166 countries (including intermediaries)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81" name="Google Shape;16281;p6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86575" y="2918725"/>
            <a:ext cx="5570849" cy="18576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85" name="Shape 16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6" name="Google Shape;16286;p64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287" name="Google Shape;16287;p645"/>
          <p:cNvSpPr txBox="1"/>
          <p:nvPr>
            <p:ph idx="1" type="body"/>
          </p:nvPr>
        </p:nvSpPr>
        <p:spPr>
          <a:xfrm>
            <a:off x="311700" y="1225225"/>
            <a:ext cx="8520600" cy="16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Dodds, Muhammad and Watts (2003) Replication of Milgram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than half from North America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Middle Class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Professional, College Educated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Largely Christian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88" name="Google Shape;16288;p6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86575" y="2918725"/>
            <a:ext cx="5570849" cy="18576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92" name="Shape 16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3" name="Google Shape;16293;p64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294" name="Google Shape;16294;p646"/>
          <p:cNvSpPr txBox="1"/>
          <p:nvPr>
            <p:ph idx="1" type="body"/>
          </p:nvPr>
        </p:nvSpPr>
        <p:spPr>
          <a:xfrm>
            <a:off x="311700" y="1225225"/>
            <a:ext cx="8520600" cy="16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Dodds, Muhammad and Watts (2003) Replication of Milgram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Strong preference for: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Friends as role relations (rather than kin or co-workers)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Ties embedded in work and school affiliations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Ties of Intermediate strength (closeness)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Same-gender ties</a:t>
            </a:r>
            <a:endParaRPr/>
          </a:p>
        </p:txBody>
      </p:sp>
      <p:pic>
        <p:nvPicPr>
          <p:cNvPr id="16295" name="Google Shape;16295;p6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86575" y="2918725"/>
            <a:ext cx="5570849" cy="18576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99" name="Shape 16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0" name="Google Shape;16300;p64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301" name="Google Shape;16301;p647"/>
          <p:cNvSpPr txBox="1"/>
          <p:nvPr>
            <p:ph idx="1" type="body"/>
          </p:nvPr>
        </p:nvSpPr>
        <p:spPr>
          <a:xfrm>
            <a:off x="311700" y="1225225"/>
            <a:ext cx="8520600" cy="16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Dodds, Muhammad and Watts (2003) Replication of Milgram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effective chains more likely to feature: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Professional ties (in contrast to friend and kin) as role relations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Work or higher education ties as foci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Either causal or “not close” ties in terms of strength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Why this pattern?</a:t>
            </a:r>
            <a:endParaRPr/>
          </a:p>
        </p:txBody>
      </p:sp>
      <p:pic>
        <p:nvPicPr>
          <p:cNvPr id="16302" name="Google Shape;16302;p6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86575" y="2918725"/>
            <a:ext cx="5570849" cy="18576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06" name="Shape 16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7" name="Google Shape;16307;p64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308" name="Google Shape;16308;p648"/>
          <p:cNvSpPr txBox="1"/>
          <p:nvPr>
            <p:ph idx="1" type="body"/>
          </p:nvPr>
        </p:nvSpPr>
        <p:spPr>
          <a:xfrm>
            <a:off x="311700" y="1225225"/>
            <a:ext cx="8520600" cy="12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Dodds, Muhammad and Watts (2003) Replication of Milgram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Geographic proximity and similarity of occupation were the primary search heuristics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Number of friends ("hub heuristic") almost never used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Proximity declines and homophily increases in importance with chain length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309" name="Google Shape;16309;p6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09200" y="2456125"/>
            <a:ext cx="5725601" cy="2349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13" name="Shape 16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4" name="Google Shape;16314;p64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 world phenomenon</a:t>
            </a:r>
            <a:endParaRPr/>
          </a:p>
        </p:txBody>
      </p:sp>
      <p:sp>
        <p:nvSpPr>
          <p:cNvPr id="16315" name="Google Shape;16315;p649"/>
          <p:cNvSpPr txBox="1"/>
          <p:nvPr>
            <p:ph idx="1" type="body"/>
          </p:nvPr>
        </p:nvSpPr>
        <p:spPr>
          <a:xfrm>
            <a:off x="311700" y="1225225"/>
            <a:ext cx="2900700" cy="357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384 completed chains (out 24,163); Average (L): 4.05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Corrected for attrition the median chain length is between 5 and 7</a:t>
            </a:r>
            <a:endParaRPr/>
          </a:p>
        </p:txBody>
      </p:sp>
      <p:pic>
        <p:nvPicPr>
          <p:cNvPr id="16316" name="Google Shape;16316;p6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365000" y="1517350"/>
            <a:ext cx="5467300" cy="2986951"/>
          </a:xfrm>
          <a:prstGeom prst="rect">
            <a:avLst/>
          </a:prstGeom>
          <a:noFill/>
          <a:ln>
            <a:noFill/>
          </a:ln>
        </p:spPr>
      </p:pic>
      <p:sp>
        <p:nvSpPr>
          <p:cNvPr id="16317" name="Google Shape;16317;p649"/>
          <p:cNvSpPr txBox="1"/>
          <p:nvPr/>
        </p:nvSpPr>
        <p:spPr>
          <a:xfrm>
            <a:off x="481775" y="3753175"/>
            <a:ext cx="26727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The world is indeed small!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6321" name="Shape 16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2" name="Google Shape;16322;p650"/>
          <p:cNvSpPr txBox="1"/>
          <p:nvPr>
            <p:ph type="ctrTitle"/>
          </p:nvPr>
        </p:nvSpPr>
        <p:spPr>
          <a:xfrm>
            <a:off x="3044700" y="1030634"/>
            <a:ext cx="3054600" cy="229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Diffusion: How Things Spread in Networks</a:t>
            </a:r>
            <a:endParaRPr/>
          </a:p>
        </p:txBody>
      </p:sp>
    </p:spTree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26" name="Shape 16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7" name="Google Shape;16327;p651"/>
          <p:cNvSpPr txBox="1"/>
          <p:nvPr>
            <p:ph idx="1" type="body"/>
          </p:nvPr>
        </p:nvSpPr>
        <p:spPr>
          <a:xfrm>
            <a:off x="457200" y="4370568"/>
            <a:ext cx="8229600" cy="55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Thompson, D. (2012) The 100-Year March of Technology in 1 Graph.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http://www.theatlantic.com/technology/archive/2012/04/the-100-year-march-of-technology-in-1-graph/255573/</a:t>
            </a:r>
            <a:r>
              <a:rPr lang="en"/>
              <a:t> (last accessed October 9th 2014)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pic>
        <p:nvPicPr>
          <p:cNvPr descr="history-of-products.gif" id="16328" name="Google Shape;16328;p65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63800" y="469779"/>
            <a:ext cx="7754739" cy="32598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32" name="Shape 16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3" name="Google Shape;16333;p65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diffusion?</a:t>
            </a:r>
            <a:endParaRPr/>
          </a:p>
        </p:txBody>
      </p:sp>
      <p:sp>
        <p:nvSpPr>
          <p:cNvPr id="16334" name="Google Shape;16334;p652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Spread</a:t>
            </a:r>
            <a:r>
              <a:rPr lang="en"/>
              <a:t> of objects, ideas, information, concepts, fashions, tastes, practices etc. in a social network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diffusion process has five elements: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An Innovation</a:t>
            </a:r>
            <a:r>
              <a:rPr lang="en"/>
              <a:t>: The object that diffuses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Actors: </a:t>
            </a:r>
            <a:r>
              <a:rPr lang="en"/>
              <a:t>Usually people but also groups that adopt (or fail to adopt) the innovation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Flow</a:t>
            </a:r>
            <a:r>
              <a:rPr lang="en"/>
              <a:t> : From </a:t>
            </a:r>
            <a:r>
              <a:rPr b="1" lang="en"/>
              <a:t>source actor</a:t>
            </a:r>
            <a:r>
              <a:rPr lang="en"/>
              <a:t> to an </a:t>
            </a:r>
            <a:r>
              <a:rPr b="1" lang="en"/>
              <a:t>adopting actor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Mechanism</a:t>
            </a:r>
            <a:r>
              <a:rPr lang="en"/>
              <a:t> :Process linking sources and adopters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(e.g., imitation, physical contact, proximity,  influence, comparison)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i="1" lang="en">
                <a:solidFill>
                  <a:srgbClr val="000000"/>
                </a:solidFill>
              </a:rPr>
              <a:t>Outcome</a:t>
            </a:r>
            <a:r>
              <a:rPr i="1" lang="en"/>
              <a:t>: </a:t>
            </a:r>
            <a:r>
              <a:rPr lang="en"/>
              <a:t>The end state of the adopting actor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(e.g., opinion change, conversion, participation, infection)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35" name="Google Shape;16335;p652"/>
          <p:cNvGrpSpPr/>
          <p:nvPr/>
        </p:nvGrpSpPr>
        <p:grpSpPr>
          <a:xfrm>
            <a:off x="2726725" y="3994365"/>
            <a:ext cx="3256400" cy="965550"/>
            <a:chOff x="2943800" y="3937915"/>
            <a:chExt cx="3256400" cy="965550"/>
          </a:xfrm>
        </p:grpSpPr>
        <p:sp>
          <p:nvSpPr>
            <p:cNvPr id="16336" name="Google Shape;16336;p652"/>
            <p:cNvSpPr/>
            <p:nvPr/>
          </p:nvSpPr>
          <p:spPr>
            <a:xfrm>
              <a:off x="2943800" y="4313665"/>
              <a:ext cx="687600" cy="589800"/>
            </a:xfrm>
            <a:prstGeom prst="ellipse">
              <a:avLst/>
            </a:prstGeom>
            <a:solidFill>
              <a:srgbClr val="E69138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0" spcFirstLastPara="1" rIns="0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rgbClr val="FFFFFF"/>
                  </a:solidFill>
                  <a:latin typeface="Economica"/>
                  <a:ea typeface="Economica"/>
                  <a:cs typeface="Economica"/>
                  <a:sym typeface="Economica"/>
                </a:rPr>
                <a:t>Source</a:t>
              </a:r>
              <a:endParaRPr b="1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sp>
          <p:nvSpPr>
            <p:cNvPr id="16337" name="Google Shape;16337;p652"/>
            <p:cNvSpPr/>
            <p:nvPr/>
          </p:nvSpPr>
          <p:spPr>
            <a:xfrm>
              <a:off x="5512600" y="4313665"/>
              <a:ext cx="687600" cy="589800"/>
            </a:xfrm>
            <a:prstGeom prst="ellipse">
              <a:avLst/>
            </a:prstGeom>
            <a:solidFill>
              <a:schemeClr val="accent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0" spcFirstLastPara="1" rIns="0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rgbClr val="FFFFFF"/>
                  </a:solidFill>
                  <a:latin typeface="Economica"/>
                  <a:ea typeface="Economica"/>
                  <a:cs typeface="Economica"/>
                  <a:sym typeface="Economica"/>
                </a:rPr>
                <a:t>Adopter</a:t>
              </a:r>
              <a:endParaRPr b="1">
                <a:solidFill>
                  <a:srgbClr val="FFFFFF"/>
                </a:solidFill>
              </a:endParaRPr>
            </a:p>
          </p:txBody>
        </p:sp>
        <p:sp>
          <p:nvSpPr>
            <p:cNvPr id="16338" name="Google Shape;16338;p652"/>
            <p:cNvSpPr/>
            <p:nvPr/>
          </p:nvSpPr>
          <p:spPr>
            <a:xfrm>
              <a:off x="4142548" y="3937915"/>
              <a:ext cx="818700" cy="268800"/>
            </a:xfrm>
            <a:prstGeom prst="rect">
              <a:avLst/>
            </a:prstGeom>
            <a:solidFill>
              <a:schemeClr val="accent6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Innovation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cxnSp>
          <p:nvCxnSpPr>
            <p:cNvPr id="16339" name="Google Shape;16339;p652"/>
            <p:cNvCxnSpPr>
              <a:stCxn id="16336" idx="7"/>
              <a:endCxn id="16338" idx="1"/>
            </p:cNvCxnSpPr>
            <p:nvPr/>
          </p:nvCxnSpPr>
          <p:spPr>
            <a:xfrm rot="-5400000">
              <a:off x="3672753" y="3930389"/>
              <a:ext cx="327600" cy="611700"/>
            </a:xfrm>
            <a:prstGeom prst="curvedConnector2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6340" name="Google Shape;16340;p652"/>
            <p:cNvCxnSpPr>
              <a:stCxn id="16338" idx="3"/>
              <a:endCxn id="16337" idx="1"/>
            </p:cNvCxnSpPr>
            <p:nvPr/>
          </p:nvCxnSpPr>
          <p:spPr>
            <a:xfrm>
              <a:off x="4961248" y="4072315"/>
              <a:ext cx="651900" cy="327600"/>
            </a:xfrm>
            <a:prstGeom prst="curvedConnector2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16341" name="Google Shape;16341;p652"/>
            <p:cNvSpPr/>
            <p:nvPr/>
          </p:nvSpPr>
          <p:spPr>
            <a:xfrm>
              <a:off x="4118550" y="4474045"/>
              <a:ext cx="906900" cy="268800"/>
            </a:xfrm>
            <a:prstGeom prst="rect">
              <a:avLst/>
            </a:prstGeom>
            <a:noFill/>
            <a:ln cap="flat" cmpd="sng" w="19050">
              <a:solidFill>
                <a:schemeClr val="dk2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Mechanism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  <p:cxnSp>
          <p:nvCxnSpPr>
            <p:cNvPr id="16342" name="Google Shape;16342;p652"/>
            <p:cNvCxnSpPr>
              <a:stCxn id="16336" idx="6"/>
              <a:endCxn id="16341" idx="1"/>
            </p:cNvCxnSpPr>
            <p:nvPr/>
          </p:nvCxnSpPr>
          <p:spPr>
            <a:xfrm>
              <a:off x="3631400" y="4608565"/>
              <a:ext cx="487200" cy="600"/>
            </a:xfrm>
            <a:prstGeom prst="curvedConnector3">
              <a:avLst>
                <a:gd fmla="val 49995" name="adj1"/>
              </a:avLst>
            </a:prstGeom>
            <a:noFill/>
            <a:ln cap="flat" cmpd="sng" w="19050">
              <a:solidFill>
                <a:schemeClr val="dk2"/>
              </a:solidFill>
              <a:prstDash val="dash"/>
              <a:round/>
              <a:headEnd len="med" w="med" type="none"/>
              <a:tailEnd len="med" w="med" type="none"/>
            </a:ln>
          </p:spPr>
        </p:cxnSp>
        <p:cxnSp>
          <p:nvCxnSpPr>
            <p:cNvPr id="16343" name="Google Shape;16343;p652"/>
            <p:cNvCxnSpPr>
              <a:stCxn id="16341" idx="3"/>
              <a:endCxn id="16337" idx="2"/>
            </p:cNvCxnSpPr>
            <p:nvPr/>
          </p:nvCxnSpPr>
          <p:spPr>
            <a:xfrm>
              <a:off x="5025450" y="4608445"/>
              <a:ext cx="487200" cy="600"/>
            </a:xfrm>
            <a:prstGeom prst="curvedConnector3">
              <a:avLst>
                <a:gd fmla="val 49995" name="adj1"/>
              </a:avLst>
            </a:prstGeom>
            <a:noFill/>
            <a:ln cap="flat" cmpd="sng" w="19050">
              <a:solidFill>
                <a:schemeClr val="dk2"/>
              </a:solidFill>
              <a:prstDash val="dash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47" name="Shape 16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8" name="Google Shape;16348;p65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sp>
        <p:nvSpPr>
          <p:cNvPr id="16349" name="Google Shape;16349;p653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Initial slow uptake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Rapid spread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Final slow saturation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0" name="Google Shape;16350;p653"/>
          <p:cNvSpPr/>
          <p:nvPr/>
        </p:nvSpPr>
        <p:spPr>
          <a:xfrm>
            <a:off x="7997575" y="1225204"/>
            <a:ext cx="1061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S-shaped diffusion curve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351" name="Google Shape;16351;p653"/>
          <p:cNvCxnSpPr>
            <a:endCxn id="16350" idx="1"/>
          </p:cNvCxnSpPr>
          <p:nvPr/>
        </p:nvCxnSpPr>
        <p:spPr>
          <a:xfrm flipH="1" rot="10800000">
            <a:off x="4543975" y="1437904"/>
            <a:ext cx="3453600" cy="2884800"/>
          </a:xfrm>
          <a:prstGeom prst="curvedConnector3">
            <a:avLst>
              <a:gd fmla="val 50000" name="adj1"/>
            </a:avLst>
          </a:prstGeom>
          <a:noFill/>
          <a:ln cap="flat" cmpd="sng" w="38100">
            <a:solidFill>
              <a:srgbClr val="93C47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352" name="Google Shape;16352;p653"/>
          <p:cNvSpPr/>
          <p:nvPr/>
        </p:nvSpPr>
        <p:spPr>
          <a:xfrm>
            <a:off x="4393675" y="410983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353" name="Google Shape;16353;p653"/>
          <p:cNvCxnSpPr>
            <a:stCxn id="16352" idx="3"/>
            <a:endCxn id="16354" idx="2"/>
          </p:cNvCxnSpPr>
          <p:nvPr/>
        </p:nvCxnSpPr>
        <p:spPr>
          <a:xfrm rot="10800000">
            <a:off x="4525075" y="1408339"/>
            <a:ext cx="18900" cy="29142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355" name="Google Shape;16355;p653"/>
          <p:cNvCxnSpPr>
            <a:stCxn id="16352" idx="3"/>
          </p:cNvCxnSpPr>
          <p:nvPr/>
        </p:nvCxnSpPr>
        <p:spPr>
          <a:xfrm flipH="1" rot="10800000">
            <a:off x="4543975" y="431203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356" name="Google Shape;16356;p653"/>
          <p:cNvSpPr txBox="1"/>
          <p:nvPr/>
        </p:nvSpPr>
        <p:spPr>
          <a:xfrm>
            <a:off x="5843725" y="4322599"/>
            <a:ext cx="12033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57" name="Google Shape;16357;p653"/>
          <p:cNvSpPr txBox="1"/>
          <p:nvPr/>
        </p:nvSpPr>
        <p:spPr>
          <a:xfrm rot="-5400000">
            <a:off x="2960250" y="2786175"/>
            <a:ext cx="27312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Percentage of Adopters in Population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54" name="Google Shape;16354;p653"/>
          <p:cNvSpPr txBox="1"/>
          <p:nvPr/>
        </p:nvSpPr>
        <p:spPr>
          <a:xfrm>
            <a:off x="4133875" y="1147241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100%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58" name="Google Shape;16358;p653"/>
          <p:cNvSpPr txBox="1"/>
          <p:nvPr/>
        </p:nvSpPr>
        <p:spPr>
          <a:xfrm>
            <a:off x="4180800" y="432259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62" name="Shape 16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3" name="Google Shape;16363;p654"/>
          <p:cNvSpPr/>
          <p:nvPr/>
        </p:nvSpPr>
        <p:spPr>
          <a:xfrm>
            <a:off x="4525075" y="1408230"/>
            <a:ext cx="1130700" cy="2914500"/>
          </a:xfrm>
          <a:prstGeom prst="rect">
            <a:avLst/>
          </a:prstGeom>
          <a:solidFill>
            <a:srgbClr val="F4CC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4" name="Google Shape;16364;p654"/>
          <p:cNvSpPr/>
          <p:nvPr/>
        </p:nvSpPr>
        <p:spPr>
          <a:xfrm>
            <a:off x="7997575" y="1225204"/>
            <a:ext cx="1061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S-shaped diffusion curve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365" name="Google Shape;16365;p654"/>
          <p:cNvCxnSpPr>
            <a:endCxn id="16364" idx="1"/>
          </p:cNvCxnSpPr>
          <p:nvPr/>
        </p:nvCxnSpPr>
        <p:spPr>
          <a:xfrm flipH="1" rot="10800000">
            <a:off x="4543975" y="1437904"/>
            <a:ext cx="3453600" cy="2884800"/>
          </a:xfrm>
          <a:prstGeom prst="curvedConnector3">
            <a:avLst>
              <a:gd fmla="val 50000" name="adj1"/>
            </a:avLst>
          </a:prstGeom>
          <a:noFill/>
          <a:ln cap="flat" cmpd="sng" w="38100">
            <a:solidFill>
              <a:srgbClr val="93C47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366" name="Google Shape;16366;p65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sp>
        <p:nvSpPr>
          <p:cNvPr id="16367" name="Google Shape;16367;p654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Initial slow uptake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Rapid spread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Final slow saturation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8" name="Google Shape;16368;p654"/>
          <p:cNvSpPr/>
          <p:nvPr/>
        </p:nvSpPr>
        <p:spPr>
          <a:xfrm>
            <a:off x="4393675" y="410983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369" name="Google Shape;16369;p654"/>
          <p:cNvCxnSpPr>
            <a:stCxn id="16368" idx="3"/>
            <a:endCxn id="16370" idx="2"/>
          </p:cNvCxnSpPr>
          <p:nvPr/>
        </p:nvCxnSpPr>
        <p:spPr>
          <a:xfrm rot="10800000">
            <a:off x="4525075" y="1408339"/>
            <a:ext cx="18900" cy="29142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371" name="Google Shape;16371;p654"/>
          <p:cNvCxnSpPr>
            <a:stCxn id="16368" idx="3"/>
          </p:cNvCxnSpPr>
          <p:nvPr/>
        </p:nvCxnSpPr>
        <p:spPr>
          <a:xfrm flipH="1" rot="10800000">
            <a:off x="4543975" y="431203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372" name="Google Shape;16372;p654"/>
          <p:cNvSpPr txBox="1"/>
          <p:nvPr/>
        </p:nvSpPr>
        <p:spPr>
          <a:xfrm>
            <a:off x="5843725" y="4322599"/>
            <a:ext cx="12033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73" name="Google Shape;16373;p654"/>
          <p:cNvSpPr txBox="1"/>
          <p:nvPr/>
        </p:nvSpPr>
        <p:spPr>
          <a:xfrm rot="-5400000">
            <a:off x="2960250" y="2786175"/>
            <a:ext cx="27312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Percentage of Adopters in Population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70" name="Google Shape;16370;p654"/>
          <p:cNvSpPr txBox="1"/>
          <p:nvPr/>
        </p:nvSpPr>
        <p:spPr>
          <a:xfrm>
            <a:off x="4133875" y="1147241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100%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74" name="Google Shape;16374;p654"/>
          <p:cNvSpPr txBox="1"/>
          <p:nvPr/>
        </p:nvSpPr>
        <p:spPr>
          <a:xfrm>
            <a:off x="4180800" y="432259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78" name="Shape 1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9" name="Google Shape;16379;p655"/>
          <p:cNvSpPr/>
          <p:nvPr/>
        </p:nvSpPr>
        <p:spPr>
          <a:xfrm>
            <a:off x="5634035" y="1408230"/>
            <a:ext cx="1273500" cy="2914500"/>
          </a:xfrm>
          <a:prstGeom prst="rect">
            <a:avLst/>
          </a:prstGeom>
          <a:solidFill>
            <a:srgbClr val="C9DAF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0" name="Google Shape;16380;p655"/>
          <p:cNvSpPr/>
          <p:nvPr/>
        </p:nvSpPr>
        <p:spPr>
          <a:xfrm>
            <a:off x="4525075" y="1408230"/>
            <a:ext cx="1130700" cy="2914500"/>
          </a:xfrm>
          <a:prstGeom prst="rect">
            <a:avLst/>
          </a:prstGeom>
          <a:solidFill>
            <a:srgbClr val="F4CC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1" name="Google Shape;16381;p65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sp>
        <p:nvSpPr>
          <p:cNvPr id="16382" name="Google Shape;16382;p655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Initial slow uptake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b="1" lang="en">
                <a:solidFill>
                  <a:srgbClr val="0000FF"/>
                </a:solidFill>
              </a:rPr>
              <a:t>Rapid spread </a:t>
            </a:r>
            <a:endParaRPr b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Final slow saturation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3" name="Google Shape;16383;p655"/>
          <p:cNvSpPr/>
          <p:nvPr/>
        </p:nvSpPr>
        <p:spPr>
          <a:xfrm>
            <a:off x="4393675" y="410983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384" name="Google Shape;16384;p655"/>
          <p:cNvCxnSpPr>
            <a:stCxn id="16383" idx="3"/>
            <a:endCxn id="16385" idx="2"/>
          </p:cNvCxnSpPr>
          <p:nvPr/>
        </p:nvCxnSpPr>
        <p:spPr>
          <a:xfrm rot="10800000">
            <a:off x="4525075" y="1408339"/>
            <a:ext cx="18900" cy="29142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386" name="Google Shape;16386;p655"/>
          <p:cNvCxnSpPr>
            <a:stCxn id="16383" idx="3"/>
          </p:cNvCxnSpPr>
          <p:nvPr/>
        </p:nvCxnSpPr>
        <p:spPr>
          <a:xfrm flipH="1" rot="10800000">
            <a:off x="4543975" y="431203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387" name="Google Shape;16387;p655"/>
          <p:cNvSpPr txBox="1"/>
          <p:nvPr/>
        </p:nvSpPr>
        <p:spPr>
          <a:xfrm>
            <a:off x="5843725" y="4322599"/>
            <a:ext cx="12033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88" name="Google Shape;16388;p655"/>
          <p:cNvSpPr txBox="1"/>
          <p:nvPr/>
        </p:nvSpPr>
        <p:spPr>
          <a:xfrm rot="-5400000">
            <a:off x="2960250" y="2786175"/>
            <a:ext cx="27312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Percentage of Adopters in Population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85" name="Google Shape;16385;p655"/>
          <p:cNvSpPr txBox="1"/>
          <p:nvPr/>
        </p:nvSpPr>
        <p:spPr>
          <a:xfrm>
            <a:off x="4133875" y="1147241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100%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89" name="Google Shape;16389;p655"/>
          <p:cNvSpPr txBox="1"/>
          <p:nvPr/>
        </p:nvSpPr>
        <p:spPr>
          <a:xfrm>
            <a:off x="4180800" y="432259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390" name="Google Shape;16390;p655"/>
          <p:cNvSpPr/>
          <p:nvPr/>
        </p:nvSpPr>
        <p:spPr>
          <a:xfrm>
            <a:off x="7997575" y="1225204"/>
            <a:ext cx="1061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S-shaped diffusion curve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391" name="Google Shape;16391;p655"/>
          <p:cNvCxnSpPr>
            <a:endCxn id="16390" idx="1"/>
          </p:cNvCxnSpPr>
          <p:nvPr/>
        </p:nvCxnSpPr>
        <p:spPr>
          <a:xfrm flipH="1" rot="10800000">
            <a:off x="4543975" y="1437904"/>
            <a:ext cx="3453600" cy="2884800"/>
          </a:xfrm>
          <a:prstGeom prst="curvedConnector3">
            <a:avLst>
              <a:gd fmla="val 50000" name="adj1"/>
            </a:avLst>
          </a:prstGeom>
          <a:noFill/>
          <a:ln cap="flat" cmpd="sng" w="38100">
            <a:solidFill>
              <a:srgbClr val="93C47D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95" name="Shape 16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6" name="Google Shape;16396;p656"/>
          <p:cNvSpPr/>
          <p:nvPr/>
        </p:nvSpPr>
        <p:spPr>
          <a:xfrm>
            <a:off x="6907529" y="1408230"/>
            <a:ext cx="1130700" cy="2914500"/>
          </a:xfrm>
          <a:prstGeom prst="rect">
            <a:avLst/>
          </a:prstGeom>
          <a:solidFill>
            <a:srgbClr val="D5A6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7" name="Google Shape;16397;p656"/>
          <p:cNvSpPr/>
          <p:nvPr/>
        </p:nvSpPr>
        <p:spPr>
          <a:xfrm>
            <a:off x="5634035" y="1408230"/>
            <a:ext cx="1273500" cy="2914500"/>
          </a:xfrm>
          <a:prstGeom prst="rect">
            <a:avLst/>
          </a:prstGeom>
          <a:solidFill>
            <a:srgbClr val="C9DAF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8" name="Google Shape;16398;p656"/>
          <p:cNvSpPr/>
          <p:nvPr/>
        </p:nvSpPr>
        <p:spPr>
          <a:xfrm>
            <a:off x="4525075" y="1408230"/>
            <a:ext cx="1130700" cy="2914500"/>
          </a:xfrm>
          <a:prstGeom prst="rect">
            <a:avLst/>
          </a:prstGeom>
          <a:solidFill>
            <a:srgbClr val="F4CC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9" name="Google Shape;16399;p65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sp>
        <p:nvSpPr>
          <p:cNvPr id="16400" name="Google Shape;16400;p656"/>
          <p:cNvSpPr/>
          <p:nvPr/>
        </p:nvSpPr>
        <p:spPr>
          <a:xfrm>
            <a:off x="4393675" y="410983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1" name="Google Shape;16401;p656"/>
          <p:cNvSpPr/>
          <p:nvPr/>
        </p:nvSpPr>
        <p:spPr>
          <a:xfrm>
            <a:off x="7997575" y="1225204"/>
            <a:ext cx="1061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S-shaped diffusion curve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402" name="Google Shape;16402;p656"/>
          <p:cNvCxnSpPr>
            <a:stCxn id="16400" idx="3"/>
            <a:endCxn id="16401" idx="1"/>
          </p:cNvCxnSpPr>
          <p:nvPr/>
        </p:nvCxnSpPr>
        <p:spPr>
          <a:xfrm flipH="1" rot="10800000">
            <a:off x="4543975" y="1438039"/>
            <a:ext cx="3453600" cy="2884500"/>
          </a:xfrm>
          <a:prstGeom prst="curvedConnector3">
            <a:avLst>
              <a:gd fmla="val 50000" name="adj1"/>
            </a:avLst>
          </a:prstGeom>
          <a:noFill/>
          <a:ln cap="flat" cmpd="sng" w="38100">
            <a:solidFill>
              <a:srgbClr val="93C47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03" name="Google Shape;16403;p656"/>
          <p:cNvCxnSpPr>
            <a:stCxn id="16400" idx="3"/>
            <a:endCxn id="16404" idx="2"/>
          </p:cNvCxnSpPr>
          <p:nvPr/>
        </p:nvCxnSpPr>
        <p:spPr>
          <a:xfrm rot="10800000">
            <a:off x="4525075" y="1408339"/>
            <a:ext cx="18900" cy="29142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405" name="Google Shape;16405;p656"/>
          <p:cNvCxnSpPr>
            <a:stCxn id="16400" idx="3"/>
          </p:cNvCxnSpPr>
          <p:nvPr/>
        </p:nvCxnSpPr>
        <p:spPr>
          <a:xfrm flipH="1" rot="10800000">
            <a:off x="4543975" y="431203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406" name="Google Shape;16406;p656"/>
          <p:cNvSpPr txBox="1"/>
          <p:nvPr/>
        </p:nvSpPr>
        <p:spPr>
          <a:xfrm>
            <a:off x="5843725" y="4322599"/>
            <a:ext cx="12033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07" name="Google Shape;16407;p656"/>
          <p:cNvSpPr txBox="1"/>
          <p:nvPr/>
        </p:nvSpPr>
        <p:spPr>
          <a:xfrm rot="-5400000">
            <a:off x="2960250" y="2786175"/>
            <a:ext cx="27312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Percentage of Adopters in Population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04" name="Google Shape;16404;p656"/>
          <p:cNvSpPr txBox="1"/>
          <p:nvPr/>
        </p:nvSpPr>
        <p:spPr>
          <a:xfrm>
            <a:off x="4133875" y="1147241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100%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08" name="Google Shape;16408;p656"/>
          <p:cNvSpPr txBox="1"/>
          <p:nvPr/>
        </p:nvSpPr>
        <p:spPr>
          <a:xfrm>
            <a:off x="4180800" y="432259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09" name="Google Shape;16409;p656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Initial slow uptake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b="1" lang="en">
                <a:solidFill>
                  <a:srgbClr val="0000FF"/>
                </a:solidFill>
              </a:rPr>
              <a:t>Rapid spread </a:t>
            </a:r>
            <a:endParaRPr b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A64D79"/>
              </a:buClr>
              <a:buSzPts val="1400"/>
              <a:buChar char="○"/>
            </a:pPr>
            <a:r>
              <a:rPr b="1" lang="en">
                <a:solidFill>
                  <a:srgbClr val="A64D79"/>
                </a:solidFill>
              </a:rPr>
              <a:t>Final slow saturation</a:t>
            </a:r>
            <a:endParaRPr b="1">
              <a:solidFill>
                <a:srgbClr val="A64D7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13" name="Shape 16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4" name="Google Shape;16414;p657"/>
          <p:cNvSpPr/>
          <p:nvPr/>
        </p:nvSpPr>
        <p:spPr>
          <a:xfrm>
            <a:off x="6907529" y="1408230"/>
            <a:ext cx="1130700" cy="2914500"/>
          </a:xfrm>
          <a:prstGeom prst="rect">
            <a:avLst/>
          </a:prstGeom>
          <a:solidFill>
            <a:srgbClr val="D5A6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5" name="Google Shape;16415;p657"/>
          <p:cNvSpPr/>
          <p:nvPr/>
        </p:nvSpPr>
        <p:spPr>
          <a:xfrm>
            <a:off x="5634035" y="1408230"/>
            <a:ext cx="1273500" cy="2914500"/>
          </a:xfrm>
          <a:prstGeom prst="rect">
            <a:avLst/>
          </a:prstGeom>
          <a:solidFill>
            <a:srgbClr val="C9DAF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6" name="Google Shape;16416;p657"/>
          <p:cNvSpPr/>
          <p:nvPr/>
        </p:nvSpPr>
        <p:spPr>
          <a:xfrm>
            <a:off x="4525075" y="1408230"/>
            <a:ext cx="1130700" cy="2914500"/>
          </a:xfrm>
          <a:prstGeom prst="rect">
            <a:avLst/>
          </a:prstGeom>
          <a:solidFill>
            <a:srgbClr val="F4CC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7" name="Google Shape;16417;p65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sp>
        <p:nvSpPr>
          <p:cNvPr id="16418" name="Google Shape;16418;p657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Initial slow uptake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b="1" lang="en">
                <a:solidFill>
                  <a:srgbClr val="0000FF"/>
                </a:solidFill>
              </a:rPr>
              <a:t>Rapid spread </a:t>
            </a:r>
            <a:endParaRPr b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A64D79"/>
              </a:buClr>
              <a:buSzPts val="1400"/>
              <a:buChar char="○"/>
            </a:pPr>
            <a:r>
              <a:rPr b="1" lang="en">
                <a:solidFill>
                  <a:srgbClr val="A64D79"/>
                </a:solidFill>
              </a:rPr>
              <a:t>Final slow saturation</a:t>
            </a:r>
            <a:endParaRPr>
              <a:solidFill>
                <a:srgbClr val="00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Number of adopters per unit of time </a:t>
            </a:r>
            <a:r>
              <a:rPr b="1" lang="en">
                <a:solidFill>
                  <a:srgbClr val="FF0000"/>
                </a:solidFill>
              </a:rPr>
              <a:t>peaks</a:t>
            </a:r>
            <a:r>
              <a:rPr lang="en">
                <a:solidFill>
                  <a:srgbClr val="000000"/>
                </a:solidFill>
              </a:rPr>
              <a:t> during the “take off” period</a:t>
            </a:r>
            <a:endParaRPr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9" name="Google Shape;16419;p657"/>
          <p:cNvSpPr/>
          <p:nvPr/>
        </p:nvSpPr>
        <p:spPr>
          <a:xfrm>
            <a:off x="4393675" y="410983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0" name="Google Shape;16420;p657"/>
          <p:cNvSpPr/>
          <p:nvPr/>
        </p:nvSpPr>
        <p:spPr>
          <a:xfrm>
            <a:off x="7997575" y="1225204"/>
            <a:ext cx="1061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S-shaped diffusion curve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421" name="Google Shape;16421;p657"/>
          <p:cNvCxnSpPr>
            <a:stCxn id="16419" idx="3"/>
            <a:endCxn id="16420" idx="1"/>
          </p:cNvCxnSpPr>
          <p:nvPr/>
        </p:nvCxnSpPr>
        <p:spPr>
          <a:xfrm flipH="1" rot="10800000">
            <a:off x="4543975" y="1438039"/>
            <a:ext cx="3453600" cy="2884500"/>
          </a:xfrm>
          <a:prstGeom prst="curvedConnector3">
            <a:avLst>
              <a:gd fmla="val 50000" name="adj1"/>
            </a:avLst>
          </a:prstGeom>
          <a:noFill/>
          <a:ln cap="flat" cmpd="sng" w="38100">
            <a:solidFill>
              <a:srgbClr val="93C47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22" name="Google Shape;16422;p657"/>
          <p:cNvCxnSpPr>
            <a:stCxn id="16419" idx="3"/>
            <a:endCxn id="16423" idx="2"/>
          </p:cNvCxnSpPr>
          <p:nvPr/>
        </p:nvCxnSpPr>
        <p:spPr>
          <a:xfrm rot="10800000">
            <a:off x="4525075" y="1408339"/>
            <a:ext cx="18900" cy="29142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424" name="Google Shape;16424;p657"/>
          <p:cNvCxnSpPr>
            <a:stCxn id="16419" idx="3"/>
          </p:cNvCxnSpPr>
          <p:nvPr/>
        </p:nvCxnSpPr>
        <p:spPr>
          <a:xfrm flipH="1" rot="10800000">
            <a:off x="4543975" y="431203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425" name="Google Shape;16425;p657"/>
          <p:cNvSpPr txBox="1"/>
          <p:nvPr/>
        </p:nvSpPr>
        <p:spPr>
          <a:xfrm>
            <a:off x="5843725" y="4322599"/>
            <a:ext cx="12033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26" name="Google Shape;16426;p657"/>
          <p:cNvSpPr txBox="1"/>
          <p:nvPr/>
        </p:nvSpPr>
        <p:spPr>
          <a:xfrm rot="-5400000">
            <a:off x="2960250" y="2786175"/>
            <a:ext cx="27312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Percentage of Adopters in Population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23" name="Google Shape;16423;p657"/>
          <p:cNvSpPr txBox="1"/>
          <p:nvPr/>
        </p:nvSpPr>
        <p:spPr>
          <a:xfrm>
            <a:off x="4133875" y="1147241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100%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27" name="Google Shape;16427;p657"/>
          <p:cNvSpPr txBox="1"/>
          <p:nvPr/>
        </p:nvSpPr>
        <p:spPr>
          <a:xfrm>
            <a:off x="4180800" y="432259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28" name="Google Shape;16428;p657"/>
          <p:cNvSpPr txBox="1"/>
          <p:nvPr/>
        </p:nvSpPr>
        <p:spPr>
          <a:xfrm>
            <a:off x="8346775" y="4240530"/>
            <a:ext cx="290100" cy="1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29" name="Google Shape;16429;p657"/>
          <p:cNvSpPr txBox="1"/>
          <p:nvPr/>
        </p:nvSpPr>
        <p:spPr>
          <a:xfrm flipH="1" rot="10800000">
            <a:off x="6306300" y="2898113"/>
            <a:ext cx="40800" cy="261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6AA84F"/>
                </a:solidFill>
                <a:latin typeface="Open Sans"/>
                <a:ea typeface="Open Sans"/>
                <a:cs typeface="Open Sans"/>
                <a:sym typeface="Open Sans"/>
              </a:rPr>
              <a:t>-</a:t>
            </a:r>
            <a:endParaRPr sz="1100">
              <a:solidFill>
                <a:srgbClr val="6AA84F"/>
              </a:solidFill>
              <a:highlight>
                <a:srgbClr val="6AA84F"/>
              </a:highligh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430" name="Google Shape;16430;p657"/>
          <p:cNvSpPr txBox="1"/>
          <p:nvPr/>
        </p:nvSpPr>
        <p:spPr>
          <a:xfrm>
            <a:off x="3742525" y="418678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431" name="Google Shape;16431;p657"/>
          <p:cNvCxnSpPr>
            <a:stCxn id="16429" idx="3"/>
            <a:endCxn id="16428" idx="1"/>
          </p:cNvCxnSpPr>
          <p:nvPr/>
        </p:nvCxnSpPr>
        <p:spPr>
          <a:xfrm>
            <a:off x="6347100" y="2911163"/>
            <a:ext cx="1999800" cy="1394700"/>
          </a:xfrm>
          <a:prstGeom prst="curvedConnector3">
            <a:avLst>
              <a:gd fmla="val 44381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32" name="Google Shape;16432;p657"/>
          <p:cNvCxnSpPr>
            <a:stCxn id="16429" idx="1"/>
            <a:endCxn id="16430" idx="3"/>
          </p:cNvCxnSpPr>
          <p:nvPr/>
        </p:nvCxnSpPr>
        <p:spPr>
          <a:xfrm flipH="1">
            <a:off x="4524900" y="2911163"/>
            <a:ext cx="1781400" cy="1406100"/>
          </a:xfrm>
          <a:prstGeom prst="curvedConnector3">
            <a:avLst>
              <a:gd fmla="val 47227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36" name="Shape 16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7" name="Google Shape;16437;p65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pic>
        <p:nvPicPr>
          <p:cNvPr id="16438" name="Google Shape;16438;p65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95025" y="1166748"/>
            <a:ext cx="3234664" cy="3207037"/>
          </a:xfrm>
          <a:prstGeom prst="rect">
            <a:avLst/>
          </a:prstGeom>
          <a:noFill/>
          <a:ln>
            <a:noFill/>
          </a:ln>
        </p:spPr>
      </p:pic>
      <p:sp>
        <p:nvSpPr>
          <p:cNvPr id="16439" name="Google Shape;16439;p658"/>
          <p:cNvSpPr txBox="1"/>
          <p:nvPr/>
        </p:nvSpPr>
        <p:spPr>
          <a:xfrm>
            <a:off x="311700" y="4373775"/>
            <a:ext cx="8520600" cy="4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Ryan, B. and N.C. Gross (1943) The Diffusion of Hybrid Seed Corn in Two Iowa Communities, </a:t>
            </a:r>
            <a:r>
              <a:rPr i="1" lang="en"/>
              <a:t>Rural Sociology</a:t>
            </a:r>
            <a:r>
              <a:rPr lang="en"/>
              <a:t>, 8: 15-24.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0" name="Google Shape;16440;p658"/>
          <p:cNvSpPr/>
          <p:nvPr/>
        </p:nvSpPr>
        <p:spPr>
          <a:xfrm>
            <a:off x="6811185" y="1278405"/>
            <a:ext cx="885600" cy="2675100"/>
          </a:xfrm>
          <a:prstGeom prst="rect">
            <a:avLst/>
          </a:prstGeom>
          <a:solidFill>
            <a:srgbClr val="D5A6BD">
              <a:alpha val="430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1" name="Google Shape;16441;p658"/>
          <p:cNvSpPr/>
          <p:nvPr/>
        </p:nvSpPr>
        <p:spPr>
          <a:xfrm>
            <a:off x="5813826" y="1278405"/>
            <a:ext cx="997200" cy="2675100"/>
          </a:xfrm>
          <a:prstGeom prst="rect">
            <a:avLst/>
          </a:prstGeom>
          <a:solidFill>
            <a:srgbClr val="C9DAF8">
              <a:alpha val="335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2" name="Google Shape;16442;p658"/>
          <p:cNvSpPr/>
          <p:nvPr/>
        </p:nvSpPr>
        <p:spPr>
          <a:xfrm>
            <a:off x="4945325" y="1278405"/>
            <a:ext cx="885600" cy="2675100"/>
          </a:xfrm>
          <a:prstGeom prst="rect">
            <a:avLst/>
          </a:prstGeom>
          <a:solidFill>
            <a:srgbClr val="F4CCCC">
              <a:alpha val="35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3" name="Google Shape;16443;p658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Initial slow uptake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b="1" lang="en">
                <a:solidFill>
                  <a:srgbClr val="0000FF"/>
                </a:solidFill>
              </a:rPr>
              <a:t>Rapid spread </a:t>
            </a:r>
            <a:endParaRPr b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A64D79"/>
              </a:buClr>
              <a:buSzPts val="1400"/>
              <a:buChar char="○"/>
            </a:pPr>
            <a:r>
              <a:rPr b="1" lang="en">
                <a:solidFill>
                  <a:srgbClr val="A64D79"/>
                </a:solidFill>
              </a:rPr>
              <a:t>Final slow saturation</a:t>
            </a:r>
            <a:endParaRPr>
              <a:solidFill>
                <a:srgbClr val="00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Char char="●"/>
            </a:pPr>
            <a:r>
              <a:rPr lang="en">
                <a:solidFill>
                  <a:srgbClr val="000000"/>
                </a:solidFill>
              </a:rPr>
              <a:t>Number of adopters per unit of time </a:t>
            </a:r>
            <a:r>
              <a:rPr b="1" lang="en">
                <a:solidFill>
                  <a:srgbClr val="FF0000"/>
                </a:solidFill>
              </a:rPr>
              <a:t>peaks</a:t>
            </a:r>
            <a:r>
              <a:rPr lang="en">
                <a:solidFill>
                  <a:srgbClr val="000000"/>
                </a:solidFill>
              </a:rPr>
              <a:t> during the “take off” period</a:t>
            </a:r>
            <a:endParaRPr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47" name="Shape 16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48" name="Google Shape;16448;p659"/>
          <p:cNvSpPr txBox="1"/>
          <p:nvPr>
            <p:ph idx="1" type="body"/>
          </p:nvPr>
        </p:nvSpPr>
        <p:spPr>
          <a:xfrm>
            <a:off x="457200" y="4370568"/>
            <a:ext cx="8229600" cy="55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Thompson, D. (2012) The 100-Year March of Technology in 1 Graph.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http://www.theatlantic.com/technology/archive/2012/04/the-100-year-march-of-technology-in-1-graph/255573/</a:t>
            </a:r>
            <a:r>
              <a:rPr lang="en"/>
              <a:t>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pic>
        <p:nvPicPr>
          <p:cNvPr descr="history-of-products.gif" id="16449" name="Google Shape;16449;p65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63800" y="469779"/>
            <a:ext cx="7754739" cy="32598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53" name="Shape 16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4" name="Google Shape;16454;p66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network models of diffusion</a:t>
            </a:r>
            <a:endParaRPr/>
          </a:p>
        </p:txBody>
      </p:sp>
      <p:sp>
        <p:nvSpPr>
          <p:cNvPr id="16455" name="Google Shape;16455;p660"/>
          <p:cNvSpPr txBox="1"/>
          <p:nvPr>
            <p:ph idx="1" type="body"/>
          </p:nvPr>
        </p:nvSpPr>
        <p:spPr>
          <a:xfrm>
            <a:off x="311700" y="1225217"/>
            <a:ext cx="8520600" cy="26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Four types of social network models of diffusion: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Direct Cohesion Models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Focus on the </a:t>
            </a:r>
            <a:r>
              <a:rPr b="1" lang="en"/>
              <a:t>connectivity</a:t>
            </a:r>
            <a:r>
              <a:rPr lang="en"/>
              <a:t> of adopters to their sources via network ties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Two-Step Models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Focus on the the </a:t>
            </a:r>
            <a:r>
              <a:rPr b="1" lang="en"/>
              <a:t>social distance </a:t>
            </a:r>
            <a:r>
              <a:rPr lang="en"/>
              <a:t>between adopters and influential sources as well as characteristics of </a:t>
            </a:r>
            <a:r>
              <a:rPr b="1" lang="en"/>
              <a:t>influentials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Threshold Models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Focus on </a:t>
            </a:r>
            <a:r>
              <a:rPr b="1" lang="en"/>
              <a:t>susceptibility</a:t>
            </a:r>
            <a:r>
              <a:rPr lang="en"/>
              <a:t> of adopters to the behavior of multiple sources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/>
              <a:t>Positional Equivalence Models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Focus on </a:t>
            </a:r>
            <a:r>
              <a:rPr b="1" lang="en"/>
              <a:t>indirect influence </a:t>
            </a:r>
            <a:r>
              <a:rPr lang="en"/>
              <a:t>and comparison between sources and positionally equivalent adopters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6456" name="Google Shape;16456;p660"/>
          <p:cNvPicPr preferRelativeResize="0"/>
          <p:nvPr/>
        </p:nvPicPr>
        <p:blipFill rotWithShape="1">
          <a:blip r:embed="rId3">
            <a:alphaModFix/>
          </a:blip>
          <a:srcRect b="49729" l="22912" r="6131" t="8892"/>
          <a:stretch/>
        </p:blipFill>
        <p:spPr>
          <a:xfrm>
            <a:off x="2560325" y="4127782"/>
            <a:ext cx="4023360" cy="91531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60" name="Shape 16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1" name="Google Shape;16461;p66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Diffusion via Cohesion</a:t>
            </a:r>
            <a:endParaRPr/>
          </a:p>
        </p:txBody>
      </p:sp>
      <p:sp>
        <p:nvSpPr>
          <p:cNvPr id="16462" name="Google Shape;16462;p661"/>
          <p:cNvSpPr txBox="1"/>
          <p:nvPr>
            <p:ph idx="1" type="body"/>
          </p:nvPr>
        </p:nvSpPr>
        <p:spPr>
          <a:xfrm>
            <a:off x="311700" y="1225215"/>
            <a:ext cx="8520600" cy="221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Simplest model of diffusion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Innovations “travel” via social network links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Focuses on how innovations </a:t>
            </a:r>
            <a:r>
              <a:rPr b="1" lang="en"/>
              <a:t>spread</a:t>
            </a:r>
            <a:r>
              <a:rPr lang="en"/>
              <a:t> within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Focuses on how </a:t>
            </a:r>
            <a:r>
              <a:rPr b="1" lang="en"/>
              <a:t>patterns</a:t>
            </a:r>
            <a:r>
              <a:rPr lang="en"/>
              <a:t> </a:t>
            </a:r>
            <a:r>
              <a:rPr b="1" lang="en"/>
              <a:t>of</a:t>
            </a:r>
            <a:r>
              <a:rPr lang="en"/>
              <a:t> </a:t>
            </a:r>
            <a:r>
              <a:rPr b="1" lang="en"/>
              <a:t>connectivity</a:t>
            </a:r>
            <a:r>
              <a:rPr lang="en"/>
              <a:t> help (or hinder) diffusion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Imitation or adoption via the </a:t>
            </a:r>
            <a:r>
              <a:rPr b="1" lang="en"/>
              <a:t>similarity heuristic</a:t>
            </a:r>
            <a:r>
              <a:rPr lang="en"/>
              <a:t> is the main mechanism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Similarity heuristic: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 adopt the innovations that people like me adopt (homophily)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Imitation mechanism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3" name="Google Shape;16463;p661"/>
          <p:cNvSpPr/>
          <p:nvPr/>
        </p:nvSpPr>
        <p:spPr>
          <a:xfrm>
            <a:off x="1811550" y="3854248"/>
            <a:ext cx="687600" cy="589800"/>
          </a:xfrm>
          <a:prstGeom prst="ellipse">
            <a:avLst/>
          </a:prstGeom>
          <a:solidFill>
            <a:srgbClr val="E6913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Source</a:t>
            </a:r>
            <a:endParaRPr b="1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464" name="Google Shape;16464;p661"/>
          <p:cNvSpPr/>
          <p:nvPr/>
        </p:nvSpPr>
        <p:spPr>
          <a:xfrm>
            <a:off x="3178448" y="3478498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465" name="Google Shape;16465;p661"/>
          <p:cNvCxnSpPr>
            <a:stCxn id="16463" idx="7"/>
            <a:endCxn id="16464" idx="1"/>
          </p:cNvCxnSpPr>
          <p:nvPr/>
        </p:nvCxnSpPr>
        <p:spPr>
          <a:xfrm rot="-5400000">
            <a:off x="2624653" y="3386822"/>
            <a:ext cx="327600" cy="7800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66" name="Google Shape;16466;p661"/>
          <p:cNvCxnSpPr>
            <a:stCxn id="16464" idx="3"/>
            <a:endCxn id="16467" idx="1"/>
          </p:cNvCxnSpPr>
          <p:nvPr/>
        </p:nvCxnSpPr>
        <p:spPr>
          <a:xfrm>
            <a:off x="3997148" y="3612898"/>
            <a:ext cx="780000" cy="3273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468" name="Google Shape;16468;p661"/>
          <p:cNvSpPr/>
          <p:nvPr/>
        </p:nvSpPr>
        <p:spPr>
          <a:xfrm>
            <a:off x="3134350" y="4015167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Imitation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469" name="Google Shape;16469;p661"/>
          <p:cNvCxnSpPr>
            <a:stCxn id="16463" idx="6"/>
            <a:endCxn id="16468" idx="1"/>
          </p:cNvCxnSpPr>
          <p:nvPr/>
        </p:nvCxnSpPr>
        <p:spPr>
          <a:xfrm>
            <a:off x="2499150" y="4149148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6470" name="Google Shape;16470;p661"/>
          <p:cNvCxnSpPr>
            <a:stCxn id="16468" idx="3"/>
            <a:endCxn id="16467" idx="2"/>
          </p:cNvCxnSpPr>
          <p:nvPr/>
        </p:nvCxnSpPr>
        <p:spPr>
          <a:xfrm flipH="1" rot="10800000">
            <a:off x="4041250" y="4148667"/>
            <a:ext cx="635100" cy="9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6467" name="Google Shape;16467;p661"/>
          <p:cNvSpPr/>
          <p:nvPr/>
        </p:nvSpPr>
        <p:spPr>
          <a:xfrm>
            <a:off x="4676450" y="3853775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471" name="Google Shape;16471;p661"/>
          <p:cNvSpPr/>
          <p:nvPr/>
        </p:nvSpPr>
        <p:spPr>
          <a:xfrm>
            <a:off x="6644850" y="3852763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472" name="Google Shape;16472;p661"/>
          <p:cNvSpPr/>
          <p:nvPr/>
        </p:nvSpPr>
        <p:spPr>
          <a:xfrm>
            <a:off x="5634350" y="4442858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473" name="Google Shape;16473;p661"/>
          <p:cNvSpPr/>
          <p:nvPr/>
        </p:nvSpPr>
        <p:spPr>
          <a:xfrm>
            <a:off x="5634050" y="3264703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cxnSp>
        <p:nvCxnSpPr>
          <p:cNvPr id="16474" name="Google Shape;16474;p661"/>
          <p:cNvCxnSpPr>
            <a:stCxn id="16472" idx="2"/>
            <a:endCxn id="16467" idx="4"/>
          </p:cNvCxnSpPr>
          <p:nvPr/>
        </p:nvCxnSpPr>
        <p:spPr>
          <a:xfrm rot="10800000">
            <a:off x="5020250" y="4443458"/>
            <a:ext cx="614100" cy="2943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75" name="Google Shape;16475;p661"/>
          <p:cNvCxnSpPr>
            <a:stCxn id="16467" idx="0"/>
            <a:endCxn id="16473" idx="2"/>
          </p:cNvCxnSpPr>
          <p:nvPr/>
        </p:nvCxnSpPr>
        <p:spPr>
          <a:xfrm rot="-5400000">
            <a:off x="5180000" y="3399725"/>
            <a:ext cx="294300" cy="6138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76" name="Google Shape;16476;p661"/>
          <p:cNvCxnSpPr>
            <a:stCxn id="16471" idx="4"/>
            <a:endCxn id="16472" idx="6"/>
          </p:cNvCxnSpPr>
          <p:nvPr/>
        </p:nvCxnSpPr>
        <p:spPr>
          <a:xfrm rot="5400000">
            <a:off x="6507750" y="4256863"/>
            <a:ext cx="295200" cy="666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77" name="Google Shape;16477;p661"/>
          <p:cNvCxnSpPr>
            <a:stCxn id="16471" idx="0"/>
            <a:endCxn id="16473" idx="6"/>
          </p:cNvCxnSpPr>
          <p:nvPr/>
        </p:nvCxnSpPr>
        <p:spPr>
          <a:xfrm flipH="1" rot="5400000">
            <a:off x="6508650" y="3372763"/>
            <a:ext cx="293100" cy="6669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478" name="Google Shape;16478;p661"/>
          <p:cNvSpPr/>
          <p:nvPr/>
        </p:nvSpPr>
        <p:spPr>
          <a:xfrm>
            <a:off x="5524400" y="4014155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Imitation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479" name="Google Shape;16479;p661"/>
          <p:cNvCxnSpPr>
            <a:stCxn id="16478" idx="0"/>
            <a:endCxn id="16473" idx="4"/>
          </p:cNvCxnSpPr>
          <p:nvPr/>
        </p:nvCxnSpPr>
        <p:spPr>
          <a:xfrm rot="-5400000">
            <a:off x="5898350" y="3934055"/>
            <a:ext cx="159600" cy="600"/>
          </a:xfrm>
          <a:prstGeom prst="curvedConnector3">
            <a:avLst>
              <a:gd fmla="val 50016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80" name="Google Shape;16480;p661"/>
          <p:cNvCxnSpPr>
            <a:stCxn id="16471" idx="2"/>
            <a:endCxn id="16478" idx="3"/>
          </p:cNvCxnSpPr>
          <p:nvPr/>
        </p:nvCxnSpPr>
        <p:spPr>
          <a:xfrm flipH="1">
            <a:off x="6431250" y="4147663"/>
            <a:ext cx="213600" cy="900"/>
          </a:xfrm>
          <a:prstGeom prst="curvedConnector3">
            <a:avLst>
              <a:gd fmla="val 4998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81" name="Google Shape;16481;p661"/>
          <p:cNvCxnSpPr>
            <a:stCxn id="16467" idx="6"/>
            <a:endCxn id="16478" idx="1"/>
          </p:cNvCxnSpPr>
          <p:nvPr/>
        </p:nvCxnSpPr>
        <p:spPr>
          <a:xfrm>
            <a:off x="5364050" y="4148675"/>
            <a:ext cx="160500" cy="600"/>
          </a:xfrm>
          <a:prstGeom prst="curvedConnector3">
            <a:avLst>
              <a:gd fmla="val 49953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82" name="Google Shape;16482;p661"/>
          <p:cNvCxnSpPr>
            <a:stCxn id="16478" idx="2"/>
            <a:endCxn id="16472" idx="0"/>
          </p:cNvCxnSpPr>
          <p:nvPr/>
        </p:nvCxnSpPr>
        <p:spPr>
          <a:xfrm flipH="1" rot="-5400000">
            <a:off x="5898200" y="4362605"/>
            <a:ext cx="159900" cy="600"/>
          </a:xfrm>
          <a:prstGeom prst="curvedConnector3">
            <a:avLst>
              <a:gd fmla="val 50001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86" name="Shape 16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7" name="Google Shape;16487;p66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Diffusion via Cohesion</a:t>
            </a:r>
            <a:endParaRPr/>
          </a:p>
        </p:txBody>
      </p:sp>
      <p:sp>
        <p:nvSpPr>
          <p:cNvPr id="16488" name="Google Shape;16488;p662"/>
          <p:cNvSpPr txBox="1"/>
          <p:nvPr>
            <p:ph idx="1" type="body"/>
          </p:nvPr>
        </p:nvSpPr>
        <p:spPr>
          <a:xfrm>
            <a:off x="311700" y="1225215"/>
            <a:ext cx="8520600" cy="200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Simplest model of diffusion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Innovations “travel” via social network links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Focuses on how innovations </a:t>
            </a:r>
            <a:r>
              <a:rPr b="1" lang="en"/>
              <a:t>spread</a:t>
            </a:r>
            <a:r>
              <a:rPr lang="en"/>
              <a:t> within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Focuses on how </a:t>
            </a:r>
            <a:r>
              <a:rPr b="1" lang="en"/>
              <a:t>patterns</a:t>
            </a:r>
            <a:r>
              <a:rPr lang="en"/>
              <a:t> </a:t>
            </a:r>
            <a:r>
              <a:rPr b="1" lang="en"/>
              <a:t>of</a:t>
            </a:r>
            <a:r>
              <a:rPr lang="en"/>
              <a:t> </a:t>
            </a:r>
            <a:r>
              <a:rPr b="1" lang="en"/>
              <a:t>connectivity</a:t>
            </a:r>
            <a:r>
              <a:rPr lang="en"/>
              <a:t> help (or hinder) diffusion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Imitation or adoption via the </a:t>
            </a:r>
            <a:r>
              <a:rPr b="1" lang="en"/>
              <a:t>similarity heuristic</a:t>
            </a:r>
            <a:r>
              <a:rPr lang="en"/>
              <a:t> is the main mechanism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Innovations diffuse like a “virus” (sometimes literally)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Contagion mechanism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Sharing a meme on social media (“going viral”)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9" name="Google Shape;16489;p662"/>
          <p:cNvSpPr/>
          <p:nvPr/>
        </p:nvSpPr>
        <p:spPr>
          <a:xfrm>
            <a:off x="1811550" y="3854248"/>
            <a:ext cx="687600" cy="589800"/>
          </a:xfrm>
          <a:prstGeom prst="ellipse">
            <a:avLst/>
          </a:prstGeom>
          <a:solidFill>
            <a:srgbClr val="E6913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Source</a:t>
            </a:r>
            <a:endParaRPr b="1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490" name="Google Shape;16490;p662"/>
          <p:cNvSpPr/>
          <p:nvPr/>
        </p:nvSpPr>
        <p:spPr>
          <a:xfrm>
            <a:off x="3178448" y="3478498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491" name="Google Shape;16491;p662"/>
          <p:cNvCxnSpPr>
            <a:stCxn id="16489" idx="7"/>
            <a:endCxn id="16490" idx="1"/>
          </p:cNvCxnSpPr>
          <p:nvPr/>
        </p:nvCxnSpPr>
        <p:spPr>
          <a:xfrm rot="-5400000">
            <a:off x="2624653" y="3386822"/>
            <a:ext cx="327600" cy="7800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92" name="Google Shape;16492;p662"/>
          <p:cNvCxnSpPr>
            <a:stCxn id="16490" idx="3"/>
            <a:endCxn id="16493" idx="1"/>
          </p:cNvCxnSpPr>
          <p:nvPr/>
        </p:nvCxnSpPr>
        <p:spPr>
          <a:xfrm>
            <a:off x="3997148" y="3612898"/>
            <a:ext cx="780000" cy="3273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494" name="Google Shape;16494;p662"/>
          <p:cNvSpPr/>
          <p:nvPr/>
        </p:nvSpPr>
        <p:spPr>
          <a:xfrm>
            <a:off x="3134350" y="4015167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Contagion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495" name="Google Shape;16495;p662"/>
          <p:cNvCxnSpPr>
            <a:stCxn id="16489" idx="6"/>
            <a:endCxn id="16494" idx="1"/>
          </p:cNvCxnSpPr>
          <p:nvPr/>
        </p:nvCxnSpPr>
        <p:spPr>
          <a:xfrm>
            <a:off x="2499150" y="4149148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6496" name="Google Shape;16496;p662"/>
          <p:cNvCxnSpPr>
            <a:stCxn id="16494" idx="3"/>
            <a:endCxn id="16493" idx="2"/>
          </p:cNvCxnSpPr>
          <p:nvPr/>
        </p:nvCxnSpPr>
        <p:spPr>
          <a:xfrm flipH="1" rot="10800000">
            <a:off x="4041250" y="4148667"/>
            <a:ext cx="635100" cy="9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6493" name="Google Shape;16493;p662"/>
          <p:cNvSpPr/>
          <p:nvPr/>
        </p:nvSpPr>
        <p:spPr>
          <a:xfrm>
            <a:off x="4676450" y="3853775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497" name="Google Shape;16497;p662"/>
          <p:cNvSpPr/>
          <p:nvPr/>
        </p:nvSpPr>
        <p:spPr>
          <a:xfrm>
            <a:off x="6644850" y="3852763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498" name="Google Shape;16498;p662"/>
          <p:cNvSpPr/>
          <p:nvPr/>
        </p:nvSpPr>
        <p:spPr>
          <a:xfrm>
            <a:off x="5634350" y="4442858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499" name="Google Shape;16499;p662"/>
          <p:cNvSpPr/>
          <p:nvPr/>
        </p:nvSpPr>
        <p:spPr>
          <a:xfrm>
            <a:off x="5634050" y="3264703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cxnSp>
        <p:nvCxnSpPr>
          <p:cNvPr id="16500" name="Google Shape;16500;p662"/>
          <p:cNvCxnSpPr>
            <a:stCxn id="16498" idx="2"/>
            <a:endCxn id="16493" idx="4"/>
          </p:cNvCxnSpPr>
          <p:nvPr/>
        </p:nvCxnSpPr>
        <p:spPr>
          <a:xfrm rot="10800000">
            <a:off x="5020250" y="4443458"/>
            <a:ext cx="614100" cy="2943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01" name="Google Shape;16501;p662"/>
          <p:cNvCxnSpPr>
            <a:stCxn id="16493" idx="0"/>
            <a:endCxn id="16499" idx="2"/>
          </p:cNvCxnSpPr>
          <p:nvPr/>
        </p:nvCxnSpPr>
        <p:spPr>
          <a:xfrm rot="-5400000">
            <a:off x="5180000" y="3399725"/>
            <a:ext cx="294300" cy="6138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02" name="Google Shape;16502;p662"/>
          <p:cNvCxnSpPr>
            <a:stCxn id="16497" idx="4"/>
            <a:endCxn id="16498" idx="6"/>
          </p:cNvCxnSpPr>
          <p:nvPr/>
        </p:nvCxnSpPr>
        <p:spPr>
          <a:xfrm rot="5400000">
            <a:off x="6507750" y="4256863"/>
            <a:ext cx="295200" cy="666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03" name="Google Shape;16503;p662"/>
          <p:cNvCxnSpPr>
            <a:stCxn id="16497" idx="0"/>
            <a:endCxn id="16499" idx="6"/>
          </p:cNvCxnSpPr>
          <p:nvPr/>
        </p:nvCxnSpPr>
        <p:spPr>
          <a:xfrm flipH="1" rot="5400000">
            <a:off x="6508650" y="3372763"/>
            <a:ext cx="293100" cy="6669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04" name="Google Shape;16504;p662"/>
          <p:cNvSpPr/>
          <p:nvPr/>
        </p:nvSpPr>
        <p:spPr>
          <a:xfrm>
            <a:off x="5524400" y="4014155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Contagion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05" name="Google Shape;16505;p662"/>
          <p:cNvCxnSpPr>
            <a:stCxn id="16504" idx="0"/>
            <a:endCxn id="16499" idx="4"/>
          </p:cNvCxnSpPr>
          <p:nvPr/>
        </p:nvCxnSpPr>
        <p:spPr>
          <a:xfrm rot="-5400000">
            <a:off x="5898350" y="3934055"/>
            <a:ext cx="159600" cy="600"/>
          </a:xfrm>
          <a:prstGeom prst="curvedConnector3">
            <a:avLst>
              <a:gd fmla="val 50016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06" name="Google Shape;16506;p662"/>
          <p:cNvCxnSpPr>
            <a:stCxn id="16497" idx="2"/>
            <a:endCxn id="16504" idx="3"/>
          </p:cNvCxnSpPr>
          <p:nvPr/>
        </p:nvCxnSpPr>
        <p:spPr>
          <a:xfrm flipH="1">
            <a:off x="6431250" y="4147663"/>
            <a:ext cx="213600" cy="900"/>
          </a:xfrm>
          <a:prstGeom prst="curvedConnector3">
            <a:avLst>
              <a:gd fmla="val 4998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07" name="Google Shape;16507;p662"/>
          <p:cNvCxnSpPr>
            <a:stCxn id="16493" idx="6"/>
            <a:endCxn id="16504" idx="1"/>
          </p:cNvCxnSpPr>
          <p:nvPr/>
        </p:nvCxnSpPr>
        <p:spPr>
          <a:xfrm>
            <a:off x="5364050" y="4148675"/>
            <a:ext cx="160500" cy="600"/>
          </a:xfrm>
          <a:prstGeom prst="curvedConnector3">
            <a:avLst>
              <a:gd fmla="val 49953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08" name="Google Shape;16508;p662"/>
          <p:cNvCxnSpPr>
            <a:stCxn id="16504" idx="2"/>
            <a:endCxn id="16498" idx="0"/>
          </p:cNvCxnSpPr>
          <p:nvPr/>
        </p:nvCxnSpPr>
        <p:spPr>
          <a:xfrm flipH="1" rot="-5400000">
            <a:off x="5898200" y="4362605"/>
            <a:ext cx="159900" cy="600"/>
          </a:xfrm>
          <a:prstGeom prst="curvedConnector3">
            <a:avLst>
              <a:gd fmla="val 50001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12" name="Shape 16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3" name="Google Shape;16513;p66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Diffusion via Cohesion</a:t>
            </a:r>
            <a:endParaRPr/>
          </a:p>
        </p:txBody>
      </p:sp>
      <p:pic>
        <p:nvPicPr>
          <p:cNvPr descr="N.A. Christakis and J.H. Fowler, &quot;The Spread of Obesity in a Large Social Network Over 32 Years,&quot; New England Journal of Medicine  357(4): 370-379 (July 2007)" id="16514" name="Google Shape;16514;p663" title="The Spread of Obesity in Social Networks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451185"/>
            <a:ext cx="4114800" cy="3086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15" name="Google Shape;16515;p663">
            <a:hlinkClick r:id="rId5"/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228299" y="405248"/>
            <a:ext cx="3243600" cy="4304947"/>
          </a:xfrm>
          <a:prstGeom prst="rect">
            <a:avLst/>
          </a:prstGeom>
          <a:noFill/>
          <a:ln>
            <a:noFill/>
          </a:ln>
        </p:spPr>
      </p:pic>
      <p:sp>
        <p:nvSpPr>
          <p:cNvPr id="16516" name="Google Shape;16516;p663">
            <a:hlinkClick r:id="rId7"/>
          </p:cNvPr>
          <p:cNvSpPr/>
          <p:nvPr/>
        </p:nvSpPr>
        <p:spPr>
          <a:xfrm>
            <a:off x="7044425" y="1371600"/>
            <a:ext cx="1870500" cy="33384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20" name="Shape 16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1" name="Google Shape;16521;p66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Diffusion via Cohesion (Planet of the Apes!)</a:t>
            </a:r>
            <a:endParaRPr/>
          </a:p>
        </p:txBody>
      </p:sp>
      <p:pic>
        <p:nvPicPr>
          <p:cNvPr descr="Graphic That Shows The Spread Of The Simian Flu Virus Worldwide" id="16522" name="Google Shape;16522;p664" title="Rise Of The Planet Of The Apes Mid Credits Scene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830513" y="1190373"/>
            <a:ext cx="4934677" cy="370100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26" name="Shape 16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7" name="Google Shape;16527;p66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Diffusion via Cohesion</a:t>
            </a:r>
            <a:endParaRPr/>
          </a:p>
        </p:txBody>
      </p:sp>
      <p:pic>
        <p:nvPicPr>
          <p:cNvPr id="16528" name="Google Shape;16528;p66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027663" y="1179914"/>
            <a:ext cx="4579800" cy="3721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32" name="Shape 16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3" name="Google Shape;16533;p66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Two step models of diffusion</a:t>
            </a:r>
            <a:endParaRPr/>
          </a:p>
        </p:txBody>
      </p:sp>
      <p:sp>
        <p:nvSpPr>
          <p:cNvPr id="16534" name="Google Shape;16534;p666"/>
          <p:cNvSpPr txBox="1"/>
          <p:nvPr>
            <p:ph idx="1" type="body"/>
          </p:nvPr>
        </p:nvSpPr>
        <p:spPr>
          <a:xfrm>
            <a:off x="311700" y="1225218"/>
            <a:ext cx="8520600" cy="22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Basic claim: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Innovations diffuse via </a:t>
            </a:r>
            <a:r>
              <a:rPr b="1" lang="en"/>
              <a:t>opinion leaders </a:t>
            </a:r>
            <a:r>
              <a:rPr lang="en"/>
              <a:t>(“influencers”)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Potential sources look up to opinion leaders to see what innovations they should adopt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Who are opinion leaders?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“[</a:t>
            </a:r>
            <a:r>
              <a:rPr i="1" lang="en"/>
              <a:t>P]eople who influence the opinions, attitudes, beliefs, motivations, and behaviors of others</a:t>
            </a:r>
            <a:r>
              <a:rPr lang="en"/>
              <a:t>” (Valente and Pumpuang 2007: 881)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Opinion leaders are “early” or first adopters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is why this is called “two-step” diffusion</a:t>
            </a:r>
            <a:endParaRPr/>
          </a:p>
        </p:txBody>
      </p:sp>
      <p:sp>
        <p:nvSpPr>
          <p:cNvPr id="16535" name="Google Shape;16535;p666"/>
          <p:cNvSpPr/>
          <p:nvPr/>
        </p:nvSpPr>
        <p:spPr>
          <a:xfrm>
            <a:off x="4228200" y="3895395"/>
            <a:ext cx="687600" cy="589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Opinion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Leader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536" name="Google Shape;16536;p666"/>
          <p:cNvSpPr/>
          <p:nvPr/>
        </p:nvSpPr>
        <p:spPr>
          <a:xfrm>
            <a:off x="7093100" y="3895935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537" name="Google Shape;16537;p666"/>
          <p:cNvSpPr/>
          <p:nvPr/>
        </p:nvSpPr>
        <p:spPr>
          <a:xfrm>
            <a:off x="5595098" y="3519645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38" name="Google Shape;16538;p666"/>
          <p:cNvCxnSpPr>
            <a:stCxn id="16535" idx="7"/>
            <a:endCxn id="16537" idx="1"/>
          </p:cNvCxnSpPr>
          <p:nvPr/>
        </p:nvCxnSpPr>
        <p:spPr>
          <a:xfrm rot="-5400000">
            <a:off x="5041303" y="3427969"/>
            <a:ext cx="327600" cy="7800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39" name="Google Shape;16539;p666"/>
          <p:cNvCxnSpPr>
            <a:stCxn id="16537" idx="3"/>
            <a:endCxn id="16536" idx="1"/>
          </p:cNvCxnSpPr>
          <p:nvPr/>
        </p:nvCxnSpPr>
        <p:spPr>
          <a:xfrm>
            <a:off x="6413798" y="3654045"/>
            <a:ext cx="780000" cy="3282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540" name="Google Shape;16540;p666"/>
          <p:cNvSpPr/>
          <p:nvPr/>
        </p:nvSpPr>
        <p:spPr>
          <a:xfrm>
            <a:off x="5551000" y="4056315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Influence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41" name="Google Shape;16541;p666"/>
          <p:cNvCxnSpPr>
            <a:stCxn id="16535" idx="6"/>
            <a:endCxn id="16540" idx="1"/>
          </p:cNvCxnSpPr>
          <p:nvPr/>
        </p:nvCxnSpPr>
        <p:spPr>
          <a:xfrm>
            <a:off x="4915800" y="4190295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6542" name="Google Shape;16542;p666"/>
          <p:cNvCxnSpPr>
            <a:stCxn id="16540" idx="3"/>
            <a:endCxn id="16536" idx="2"/>
          </p:cNvCxnSpPr>
          <p:nvPr/>
        </p:nvCxnSpPr>
        <p:spPr>
          <a:xfrm>
            <a:off x="6457900" y="4190715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6543" name="Google Shape;16543;p666"/>
          <p:cNvSpPr/>
          <p:nvPr/>
        </p:nvSpPr>
        <p:spPr>
          <a:xfrm>
            <a:off x="1363300" y="3895665"/>
            <a:ext cx="687600" cy="589800"/>
          </a:xfrm>
          <a:prstGeom prst="ellipse">
            <a:avLst/>
          </a:prstGeom>
          <a:solidFill>
            <a:schemeClr val="accent5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Original 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Source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544" name="Google Shape;16544;p666"/>
          <p:cNvSpPr/>
          <p:nvPr/>
        </p:nvSpPr>
        <p:spPr>
          <a:xfrm>
            <a:off x="2730198" y="3519634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45" name="Google Shape;16545;p666"/>
          <p:cNvCxnSpPr>
            <a:stCxn id="16543" idx="7"/>
            <a:endCxn id="16544" idx="1"/>
          </p:cNvCxnSpPr>
          <p:nvPr/>
        </p:nvCxnSpPr>
        <p:spPr>
          <a:xfrm rot="-5400000">
            <a:off x="2176253" y="3428089"/>
            <a:ext cx="327900" cy="7800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46" name="Google Shape;16546;p666"/>
          <p:cNvCxnSpPr>
            <a:stCxn id="16544" idx="3"/>
            <a:endCxn id="16535" idx="1"/>
          </p:cNvCxnSpPr>
          <p:nvPr/>
        </p:nvCxnSpPr>
        <p:spPr>
          <a:xfrm>
            <a:off x="3548898" y="3654034"/>
            <a:ext cx="780000" cy="32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547" name="Google Shape;16547;p666"/>
          <p:cNvSpPr/>
          <p:nvPr/>
        </p:nvSpPr>
        <p:spPr>
          <a:xfrm>
            <a:off x="2686100" y="4055775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Access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48" name="Google Shape;16548;p666"/>
          <p:cNvCxnSpPr>
            <a:stCxn id="16543" idx="6"/>
            <a:endCxn id="16547" idx="1"/>
          </p:cNvCxnSpPr>
          <p:nvPr/>
        </p:nvCxnSpPr>
        <p:spPr>
          <a:xfrm>
            <a:off x="2050900" y="4190565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6549" name="Google Shape;16549;p666"/>
          <p:cNvCxnSpPr>
            <a:stCxn id="16547" idx="3"/>
            <a:endCxn id="16535" idx="2"/>
          </p:cNvCxnSpPr>
          <p:nvPr/>
        </p:nvCxnSpPr>
        <p:spPr>
          <a:xfrm>
            <a:off x="3593000" y="4190175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53" name="Shape 16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54" name="Google Shape;16554;p66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Two step models of diffusion</a:t>
            </a:r>
            <a:endParaRPr/>
          </a:p>
        </p:txBody>
      </p:sp>
      <p:sp>
        <p:nvSpPr>
          <p:cNvPr id="16555" name="Google Shape;16555;p667"/>
          <p:cNvSpPr txBox="1"/>
          <p:nvPr>
            <p:ph idx="1" type="body"/>
          </p:nvPr>
        </p:nvSpPr>
        <p:spPr>
          <a:xfrm>
            <a:off x="311700" y="1225218"/>
            <a:ext cx="8520600" cy="22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Characteristics of opinion leaders: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who are visible (e.g., celebrities, instagram influencers)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who occupy powerful positions (e.g., politicians, captains of industry)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who are well connected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Degree centrality (Popular people)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Eigenvector centrality (People who can influence popular people)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Betweenness centrality (People who can intermediate between groups)</a:t>
            </a:r>
            <a:endParaRPr/>
          </a:p>
          <a:p>
            <a:pPr indent="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6556" name="Google Shape;16556;p667"/>
          <p:cNvSpPr/>
          <p:nvPr/>
        </p:nvSpPr>
        <p:spPr>
          <a:xfrm>
            <a:off x="4228200" y="3895395"/>
            <a:ext cx="687600" cy="589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Opinion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Leader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557" name="Google Shape;16557;p667"/>
          <p:cNvSpPr/>
          <p:nvPr/>
        </p:nvSpPr>
        <p:spPr>
          <a:xfrm>
            <a:off x="7093100" y="3895935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558" name="Google Shape;16558;p667"/>
          <p:cNvSpPr/>
          <p:nvPr/>
        </p:nvSpPr>
        <p:spPr>
          <a:xfrm>
            <a:off x="5595098" y="3519645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59" name="Google Shape;16559;p667"/>
          <p:cNvCxnSpPr>
            <a:stCxn id="16556" idx="7"/>
            <a:endCxn id="16558" idx="1"/>
          </p:cNvCxnSpPr>
          <p:nvPr/>
        </p:nvCxnSpPr>
        <p:spPr>
          <a:xfrm rot="-5400000">
            <a:off x="5041303" y="3427969"/>
            <a:ext cx="327600" cy="7800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60" name="Google Shape;16560;p667"/>
          <p:cNvCxnSpPr>
            <a:stCxn id="16558" idx="3"/>
            <a:endCxn id="16557" idx="1"/>
          </p:cNvCxnSpPr>
          <p:nvPr/>
        </p:nvCxnSpPr>
        <p:spPr>
          <a:xfrm>
            <a:off x="6413798" y="3654045"/>
            <a:ext cx="780000" cy="3282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561" name="Google Shape;16561;p667"/>
          <p:cNvSpPr/>
          <p:nvPr/>
        </p:nvSpPr>
        <p:spPr>
          <a:xfrm>
            <a:off x="5551000" y="4056315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Influence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62" name="Google Shape;16562;p667"/>
          <p:cNvCxnSpPr>
            <a:stCxn id="16556" idx="6"/>
            <a:endCxn id="16561" idx="1"/>
          </p:cNvCxnSpPr>
          <p:nvPr/>
        </p:nvCxnSpPr>
        <p:spPr>
          <a:xfrm>
            <a:off x="4915800" y="4190295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6563" name="Google Shape;16563;p667"/>
          <p:cNvCxnSpPr>
            <a:stCxn id="16561" idx="3"/>
            <a:endCxn id="16557" idx="2"/>
          </p:cNvCxnSpPr>
          <p:nvPr/>
        </p:nvCxnSpPr>
        <p:spPr>
          <a:xfrm>
            <a:off x="6457900" y="4190715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6564" name="Google Shape;16564;p667"/>
          <p:cNvSpPr/>
          <p:nvPr/>
        </p:nvSpPr>
        <p:spPr>
          <a:xfrm>
            <a:off x="1363300" y="3895665"/>
            <a:ext cx="687600" cy="589800"/>
          </a:xfrm>
          <a:prstGeom prst="ellipse">
            <a:avLst/>
          </a:prstGeom>
          <a:solidFill>
            <a:schemeClr val="accent5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Original 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Source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565" name="Google Shape;16565;p667"/>
          <p:cNvSpPr/>
          <p:nvPr/>
        </p:nvSpPr>
        <p:spPr>
          <a:xfrm>
            <a:off x="2730198" y="3519634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66" name="Google Shape;16566;p667"/>
          <p:cNvCxnSpPr>
            <a:stCxn id="16564" idx="7"/>
            <a:endCxn id="16565" idx="1"/>
          </p:cNvCxnSpPr>
          <p:nvPr/>
        </p:nvCxnSpPr>
        <p:spPr>
          <a:xfrm rot="-5400000">
            <a:off x="2176253" y="3428089"/>
            <a:ext cx="327900" cy="7800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67" name="Google Shape;16567;p667"/>
          <p:cNvCxnSpPr>
            <a:stCxn id="16565" idx="3"/>
            <a:endCxn id="16556" idx="1"/>
          </p:cNvCxnSpPr>
          <p:nvPr/>
        </p:nvCxnSpPr>
        <p:spPr>
          <a:xfrm>
            <a:off x="3548898" y="3654034"/>
            <a:ext cx="780000" cy="32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568" name="Google Shape;16568;p667"/>
          <p:cNvSpPr/>
          <p:nvPr/>
        </p:nvSpPr>
        <p:spPr>
          <a:xfrm>
            <a:off x="2686100" y="4055775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Access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69" name="Google Shape;16569;p667"/>
          <p:cNvCxnSpPr>
            <a:stCxn id="16564" idx="6"/>
            <a:endCxn id="16568" idx="1"/>
          </p:cNvCxnSpPr>
          <p:nvPr/>
        </p:nvCxnSpPr>
        <p:spPr>
          <a:xfrm>
            <a:off x="2050900" y="4190565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6570" name="Google Shape;16570;p667"/>
          <p:cNvCxnSpPr>
            <a:stCxn id="16568" idx="3"/>
            <a:endCxn id="16556" idx="2"/>
          </p:cNvCxnSpPr>
          <p:nvPr/>
        </p:nvCxnSpPr>
        <p:spPr>
          <a:xfrm>
            <a:off x="3593000" y="4190175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74" name="Shape 16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75" name="Google Shape;16575;p66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Two step models of diffusion</a:t>
            </a:r>
            <a:endParaRPr/>
          </a:p>
        </p:txBody>
      </p:sp>
      <p:sp>
        <p:nvSpPr>
          <p:cNvPr id="16576" name="Google Shape;16576;p668"/>
          <p:cNvSpPr txBox="1"/>
          <p:nvPr>
            <p:ph idx="1" type="body"/>
          </p:nvPr>
        </p:nvSpPr>
        <p:spPr>
          <a:xfrm>
            <a:off x="311700" y="1225215"/>
            <a:ext cx="8520600" cy="11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We can combine the two-step and cohesion models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Innovations begin at a source and are transferred to opinion leaders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Opinion leaders then transfer the information to adopters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Innovation spreads via cohesion among adopters in the second step</a:t>
            </a:r>
            <a:endParaRPr/>
          </a:p>
        </p:txBody>
      </p:sp>
      <p:sp>
        <p:nvSpPr>
          <p:cNvPr id="16577" name="Google Shape;16577;p668"/>
          <p:cNvSpPr/>
          <p:nvPr/>
        </p:nvSpPr>
        <p:spPr>
          <a:xfrm>
            <a:off x="3254700" y="3710653"/>
            <a:ext cx="687600" cy="5898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Opinion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Leader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578" name="Google Shape;16578;p668"/>
          <p:cNvSpPr/>
          <p:nvPr/>
        </p:nvSpPr>
        <p:spPr>
          <a:xfrm>
            <a:off x="6098200" y="3712475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579" name="Google Shape;16579;p668"/>
          <p:cNvSpPr/>
          <p:nvPr/>
        </p:nvSpPr>
        <p:spPr>
          <a:xfrm>
            <a:off x="4621598" y="3334903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80" name="Google Shape;16580;p668"/>
          <p:cNvCxnSpPr>
            <a:stCxn id="16577" idx="7"/>
            <a:endCxn id="16579" idx="1"/>
          </p:cNvCxnSpPr>
          <p:nvPr/>
        </p:nvCxnSpPr>
        <p:spPr>
          <a:xfrm rot="-5400000">
            <a:off x="4067803" y="3243227"/>
            <a:ext cx="327600" cy="7800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81" name="Google Shape;16581;p668"/>
          <p:cNvCxnSpPr>
            <a:stCxn id="16579" idx="3"/>
            <a:endCxn id="16578" idx="1"/>
          </p:cNvCxnSpPr>
          <p:nvPr/>
        </p:nvCxnSpPr>
        <p:spPr>
          <a:xfrm>
            <a:off x="5440298" y="3469303"/>
            <a:ext cx="758700" cy="3294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582" name="Google Shape;16582;p668"/>
          <p:cNvSpPr/>
          <p:nvPr/>
        </p:nvSpPr>
        <p:spPr>
          <a:xfrm>
            <a:off x="4577500" y="3871572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Influence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83" name="Google Shape;16583;p668"/>
          <p:cNvCxnSpPr>
            <a:stCxn id="16577" idx="6"/>
            <a:endCxn id="16582" idx="1"/>
          </p:cNvCxnSpPr>
          <p:nvPr/>
        </p:nvCxnSpPr>
        <p:spPr>
          <a:xfrm>
            <a:off x="3942300" y="4005553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6584" name="Google Shape;16584;p668"/>
          <p:cNvCxnSpPr>
            <a:stCxn id="16582" idx="3"/>
            <a:endCxn id="16578" idx="2"/>
          </p:cNvCxnSpPr>
          <p:nvPr/>
        </p:nvCxnSpPr>
        <p:spPr>
          <a:xfrm>
            <a:off x="5484400" y="4005972"/>
            <a:ext cx="613800" cy="1500"/>
          </a:xfrm>
          <a:prstGeom prst="curvedConnector3">
            <a:avLst>
              <a:gd fmla="val 50000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6585" name="Google Shape;16585;p668"/>
          <p:cNvSpPr/>
          <p:nvPr/>
        </p:nvSpPr>
        <p:spPr>
          <a:xfrm>
            <a:off x="389800" y="3710923"/>
            <a:ext cx="687600" cy="589800"/>
          </a:xfrm>
          <a:prstGeom prst="ellipse">
            <a:avLst/>
          </a:prstGeom>
          <a:solidFill>
            <a:schemeClr val="accent5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Original 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Source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6586" name="Google Shape;16586;p668"/>
          <p:cNvSpPr/>
          <p:nvPr/>
        </p:nvSpPr>
        <p:spPr>
          <a:xfrm>
            <a:off x="1756698" y="3334891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87" name="Google Shape;16587;p668"/>
          <p:cNvCxnSpPr>
            <a:stCxn id="16585" idx="7"/>
            <a:endCxn id="16586" idx="1"/>
          </p:cNvCxnSpPr>
          <p:nvPr/>
        </p:nvCxnSpPr>
        <p:spPr>
          <a:xfrm rot="-5400000">
            <a:off x="1202753" y="3243347"/>
            <a:ext cx="327900" cy="7800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88" name="Google Shape;16588;p668"/>
          <p:cNvCxnSpPr>
            <a:stCxn id="16586" idx="3"/>
            <a:endCxn id="16577" idx="1"/>
          </p:cNvCxnSpPr>
          <p:nvPr/>
        </p:nvCxnSpPr>
        <p:spPr>
          <a:xfrm>
            <a:off x="2575398" y="3469291"/>
            <a:ext cx="780000" cy="3276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589" name="Google Shape;16589;p668"/>
          <p:cNvSpPr/>
          <p:nvPr/>
        </p:nvSpPr>
        <p:spPr>
          <a:xfrm>
            <a:off x="1712600" y="3871032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Access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590" name="Google Shape;16590;p668"/>
          <p:cNvCxnSpPr>
            <a:stCxn id="16585" idx="6"/>
            <a:endCxn id="16589" idx="1"/>
          </p:cNvCxnSpPr>
          <p:nvPr/>
        </p:nvCxnSpPr>
        <p:spPr>
          <a:xfrm>
            <a:off x="1077400" y="4005823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6591" name="Google Shape;16591;p668"/>
          <p:cNvCxnSpPr>
            <a:stCxn id="16589" idx="3"/>
            <a:endCxn id="16577" idx="2"/>
          </p:cNvCxnSpPr>
          <p:nvPr/>
        </p:nvCxnSpPr>
        <p:spPr>
          <a:xfrm>
            <a:off x="2619500" y="4005432"/>
            <a:ext cx="635100" cy="600"/>
          </a:xfrm>
          <a:prstGeom prst="curvedConnector3">
            <a:avLst>
              <a:gd fmla="val 5000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6592" name="Google Shape;16592;p668"/>
          <p:cNvSpPr/>
          <p:nvPr/>
        </p:nvSpPr>
        <p:spPr>
          <a:xfrm>
            <a:off x="8066600" y="3711463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593" name="Google Shape;16593;p668"/>
          <p:cNvSpPr/>
          <p:nvPr/>
        </p:nvSpPr>
        <p:spPr>
          <a:xfrm>
            <a:off x="7055800" y="4300333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6594" name="Google Shape;16594;p668"/>
          <p:cNvSpPr/>
          <p:nvPr/>
        </p:nvSpPr>
        <p:spPr>
          <a:xfrm>
            <a:off x="7055800" y="3123403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cxnSp>
        <p:nvCxnSpPr>
          <p:cNvPr id="16595" name="Google Shape;16595;p668"/>
          <p:cNvCxnSpPr>
            <a:stCxn id="16593" idx="2"/>
            <a:endCxn id="16578" idx="4"/>
          </p:cNvCxnSpPr>
          <p:nvPr/>
        </p:nvCxnSpPr>
        <p:spPr>
          <a:xfrm rot="10800000">
            <a:off x="6442000" y="4302133"/>
            <a:ext cx="613800" cy="2931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96" name="Google Shape;16596;p668"/>
          <p:cNvCxnSpPr>
            <a:stCxn id="16578" idx="0"/>
            <a:endCxn id="16594" idx="2"/>
          </p:cNvCxnSpPr>
          <p:nvPr/>
        </p:nvCxnSpPr>
        <p:spPr>
          <a:xfrm rot="-5400000">
            <a:off x="6601750" y="3258425"/>
            <a:ext cx="294300" cy="6138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97" name="Google Shape;16597;p668"/>
          <p:cNvCxnSpPr>
            <a:stCxn id="16592" idx="4"/>
            <a:endCxn id="16593" idx="6"/>
          </p:cNvCxnSpPr>
          <p:nvPr/>
        </p:nvCxnSpPr>
        <p:spPr>
          <a:xfrm rot="5400000">
            <a:off x="7929950" y="4114813"/>
            <a:ext cx="294000" cy="6669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598" name="Google Shape;16598;p668"/>
          <p:cNvCxnSpPr>
            <a:stCxn id="16592" idx="0"/>
            <a:endCxn id="16594" idx="6"/>
          </p:cNvCxnSpPr>
          <p:nvPr/>
        </p:nvCxnSpPr>
        <p:spPr>
          <a:xfrm flipH="1" rot="5400000">
            <a:off x="7930400" y="3231463"/>
            <a:ext cx="293100" cy="6669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99" name="Google Shape;16599;p668"/>
          <p:cNvSpPr txBox="1"/>
          <p:nvPr/>
        </p:nvSpPr>
        <p:spPr>
          <a:xfrm>
            <a:off x="1923650" y="2508470"/>
            <a:ext cx="484800" cy="58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1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00" name="Google Shape;16600;p668"/>
          <p:cNvSpPr txBox="1"/>
          <p:nvPr/>
        </p:nvSpPr>
        <p:spPr>
          <a:xfrm>
            <a:off x="4788550" y="2508433"/>
            <a:ext cx="484800" cy="58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01" name="Google Shape;16601;p668"/>
          <p:cNvSpPr txBox="1"/>
          <p:nvPr/>
        </p:nvSpPr>
        <p:spPr>
          <a:xfrm>
            <a:off x="7157200" y="2508458"/>
            <a:ext cx="484800" cy="58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Open Sans"/>
                <a:ea typeface="Open Sans"/>
                <a:cs typeface="Open Sans"/>
                <a:sym typeface="Open Sans"/>
              </a:rPr>
              <a:t>3</a:t>
            </a:r>
            <a:endParaRPr sz="2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02" name="Google Shape;16602;p668"/>
          <p:cNvSpPr/>
          <p:nvPr/>
        </p:nvSpPr>
        <p:spPr>
          <a:xfrm>
            <a:off x="6946150" y="3872855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Imitation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603" name="Google Shape;16603;p668"/>
          <p:cNvCxnSpPr>
            <a:stCxn id="16602" idx="2"/>
            <a:endCxn id="16602" idx="2"/>
          </p:cNvCxnSpPr>
          <p:nvPr/>
        </p:nvCxnSpPr>
        <p:spPr>
          <a:xfrm flipH="1" rot="-5400000">
            <a:off x="7399600" y="4141655"/>
            <a:ext cx="600" cy="600"/>
          </a:xfrm>
          <a:prstGeom prst="curvedConnector3">
            <a:avLst>
              <a:gd fmla="val 396875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04" name="Google Shape;16604;p668"/>
          <p:cNvCxnSpPr>
            <a:stCxn id="16602" idx="0"/>
            <a:endCxn id="16594" idx="4"/>
          </p:cNvCxnSpPr>
          <p:nvPr/>
        </p:nvCxnSpPr>
        <p:spPr>
          <a:xfrm rot="-5400000">
            <a:off x="7320100" y="3792755"/>
            <a:ext cx="159600" cy="600"/>
          </a:xfrm>
          <a:prstGeom prst="curvedConnector3">
            <a:avLst>
              <a:gd fmla="val 49979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05" name="Google Shape;16605;p668"/>
          <p:cNvCxnSpPr>
            <a:stCxn id="16592" idx="2"/>
            <a:endCxn id="16602" idx="3"/>
          </p:cNvCxnSpPr>
          <p:nvPr/>
        </p:nvCxnSpPr>
        <p:spPr>
          <a:xfrm flipH="1">
            <a:off x="7853000" y="4006363"/>
            <a:ext cx="213600" cy="900"/>
          </a:xfrm>
          <a:prstGeom prst="curvedConnector3">
            <a:avLst>
              <a:gd fmla="val 4998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06" name="Google Shape;16606;p668"/>
          <p:cNvCxnSpPr>
            <a:stCxn id="16578" idx="6"/>
            <a:endCxn id="16602" idx="1"/>
          </p:cNvCxnSpPr>
          <p:nvPr/>
        </p:nvCxnSpPr>
        <p:spPr>
          <a:xfrm>
            <a:off x="6785800" y="4007375"/>
            <a:ext cx="160500" cy="600"/>
          </a:xfrm>
          <a:prstGeom prst="curvedConnector3">
            <a:avLst>
              <a:gd fmla="val 49953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610" name="Shape 16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11" name="Google Shape;16611;p66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Global threshold model</a:t>
            </a:r>
            <a:endParaRPr/>
          </a:p>
        </p:txBody>
      </p:sp>
      <p:sp>
        <p:nvSpPr>
          <p:cNvPr id="16612" name="Google Shape;16612;p669"/>
          <p:cNvSpPr txBox="1"/>
          <p:nvPr>
            <p:ph idx="1" type="body"/>
          </p:nvPr>
        </p:nvSpPr>
        <p:spPr>
          <a:xfrm>
            <a:off x="311700" y="1225215"/>
            <a:ext cx="3869100" cy="335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If your friend jumped off a bridge would you?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Better question: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How </a:t>
            </a:r>
            <a:r>
              <a:rPr b="1" lang="en"/>
              <a:t>many other people </a:t>
            </a:r>
            <a:r>
              <a:rPr lang="en"/>
              <a:t>would have to jump before you did?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What is your q?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13" name="Google Shape;16613;p669"/>
          <p:cNvSpPr/>
          <p:nvPr/>
        </p:nvSpPr>
        <p:spPr>
          <a:xfrm>
            <a:off x="7997575" y="1225204"/>
            <a:ext cx="1061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S-shaped diffusion curve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614" name="Google Shape;16614;p669"/>
          <p:cNvCxnSpPr>
            <a:endCxn id="16613" idx="1"/>
          </p:cNvCxnSpPr>
          <p:nvPr/>
        </p:nvCxnSpPr>
        <p:spPr>
          <a:xfrm flipH="1" rot="10800000">
            <a:off x="4543975" y="1437904"/>
            <a:ext cx="3453600" cy="2884800"/>
          </a:xfrm>
          <a:prstGeom prst="curvedConnector3">
            <a:avLst>
              <a:gd fmla="val 50000" name="adj1"/>
            </a:avLst>
          </a:prstGeom>
          <a:noFill/>
          <a:ln cap="flat" cmpd="sng" w="38100">
            <a:solidFill>
              <a:srgbClr val="93C47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615" name="Google Shape;16615;p669"/>
          <p:cNvSpPr/>
          <p:nvPr/>
        </p:nvSpPr>
        <p:spPr>
          <a:xfrm>
            <a:off x="4393675" y="410983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616" name="Google Shape;16616;p669"/>
          <p:cNvCxnSpPr>
            <a:stCxn id="16615" idx="3"/>
            <a:endCxn id="16617" idx="2"/>
          </p:cNvCxnSpPr>
          <p:nvPr/>
        </p:nvCxnSpPr>
        <p:spPr>
          <a:xfrm rot="10800000">
            <a:off x="4525075" y="1408339"/>
            <a:ext cx="18900" cy="29142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618" name="Google Shape;16618;p669"/>
          <p:cNvCxnSpPr>
            <a:stCxn id="16615" idx="3"/>
          </p:cNvCxnSpPr>
          <p:nvPr/>
        </p:nvCxnSpPr>
        <p:spPr>
          <a:xfrm flipH="1" rot="10800000">
            <a:off x="4543975" y="431203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619" name="Google Shape;16619;p669"/>
          <p:cNvSpPr txBox="1"/>
          <p:nvPr/>
        </p:nvSpPr>
        <p:spPr>
          <a:xfrm>
            <a:off x="5843725" y="4322599"/>
            <a:ext cx="12033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20" name="Google Shape;16620;p669"/>
          <p:cNvSpPr txBox="1"/>
          <p:nvPr/>
        </p:nvSpPr>
        <p:spPr>
          <a:xfrm rot="-5400000">
            <a:off x="2960250" y="2786175"/>
            <a:ext cx="27312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Percentage of Adopters in Population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17" name="Google Shape;16617;p669"/>
          <p:cNvSpPr txBox="1"/>
          <p:nvPr/>
        </p:nvSpPr>
        <p:spPr>
          <a:xfrm>
            <a:off x="4133875" y="1147241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100%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21" name="Google Shape;16621;p669"/>
          <p:cNvSpPr txBox="1"/>
          <p:nvPr/>
        </p:nvSpPr>
        <p:spPr>
          <a:xfrm>
            <a:off x="4180800" y="432259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625" name="Shape 16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26" name="Google Shape;16626;p67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Global threshold model</a:t>
            </a:r>
            <a:endParaRPr/>
          </a:p>
        </p:txBody>
      </p:sp>
      <p:sp>
        <p:nvSpPr>
          <p:cNvPr id="16627" name="Google Shape;16627;p670"/>
          <p:cNvSpPr txBox="1"/>
          <p:nvPr>
            <p:ph idx="1" type="body"/>
          </p:nvPr>
        </p:nvSpPr>
        <p:spPr>
          <a:xfrm>
            <a:off x="311700" y="1225215"/>
            <a:ext cx="3869100" cy="335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If your friend </a:t>
            </a:r>
            <a:r>
              <a:rPr lang="en"/>
              <a:t>adopts</a:t>
            </a:r>
            <a:r>
              <a:rPr lang="en"/>
              <a:t> an innovation would you?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Better question: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 </a:t>
            </a:r>
            <a:r>
              <a:rPr b="1" lang="en"/>
              <a:t>many other people </a:t>
            </a:r>
            <a:r>
              <a:rPr lang="en"/>
              <a:t>would have to adopt it before you did?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What is your q?</a:t>
            </a:r>
            <a:endParaRPr/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Each actor (i) has a “threshold” for adoption q(i)</a:t>
            </a:r>
            <a:endParaRPr/>
          </a:p>
          <a:p>
            <a: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q</a:t>
            </a:r>
            <a:r>
              <a:rPr baseline="-25000" lang="en"/>
              <a:t>i</a:t>
            </a:r>
            <a:r>
              <a:rPr lang="en"/>
              <a:t> is between zero and one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0 &gt; q(i) &lt; 1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(i) adopts when the proportion of people who have adopted (p) is equal to q(i)</a:t>
            </a:r>
            <a:endParaRPr/>
          </a:p>
        </p:txBody>
      </p:sp>
      <p:sp>
        <p:nvSpPr>
          <p:cNvPr id="16628" name="Google Shape;16628;p670"/>
          <p:cNvSpPr/>
          <p:nvPr/>
        </p:nvSpPr>
        <p:spPr>
          <a:xfrm>
            <a:off x="7997575" y="1225204"/>
            <a:ext cx="1061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S-shaped diffusion curve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6629" name="Google Shape;16629;p670"/>
          <p:cNvCxnSpPr>
            <a:endCxn id="16628" idx="1"/>
          </p:cNvCxnSpPr>
          <p:nvPr/>
        </p:nvCxnSpPr>
        <p:spPr>
          <a:xfrm flipH="1" rot="10800000">
            <a:off x="4543975" y="1437904"/>
            <a:ext cx="3453600" cy="2884800"/>
          </a:xfrm>
          <a:prstGeom prst="curvedConnector3">
            <a:avLst>
              <a:gd fmla="val 50000" name="adj1"/>
            </a:avLst>
          </a:prstGeom>
          <a:noFill/>
          <a:ln cap="flat" cmpd="sng" w="38100">
            <a:solidFill>
              <a:srgbClr val="93C47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630" name="Google Shape;16630;p670"/>
          <p:cNvSpPr/>
          <p:nvPr/>
        </p:nvSpPr>
        <p:spPr>
          <a:xfrm>
            <a:off x="4393675" y="410983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631" name="Google Shape;16631;p670"/>
          <p:cNvCxnSpPr>
            <a:stCxn id="16630" idx="3"/>
            <a:endCxn id="16632" idx="2"/>
          </p:cNvCxnSpPr>
          <p:nvPr/>
        </p:nvCxnSpPr>
        <p:spPr>
          <a:xfrm rot="10800000">
            <a:off x="4525075" y="1408339"/>
            <a:ext cx="18900" cy="29142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633" name="Google Shape;16633;p670"/>
          <p:cNvCxnSpPr>
            <a:stCxn id="16630" idx="3"/>
          </p:cNvCxnSpPr>
          <p:nvPr/>
        </p:nvCxnSpPr>
        <p:spPr>
          <a:xfrm flipH="1" rot="10800000">
            <a:off x="4543975" y="431203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634" name="Google Shape;16634;p670"/>
          <p:cNvSpPr txBox="1"/>
          <p:nvPr/>
        </p:nvSpPr>
        <p:spPr>
          <a:xfrm>
            <a:off x="5843725" y="4322599"/>
            <a:ext cx="12033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Time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35" name="Google Shape;16635;p670"/>
          <p:cNvSpPr txBox="1"/>
          <p:nvPr/>
        </p:nvSpPr>
        <p:spPr>
          <a:xfrm rot="-5400000">
            <a:off x="2960250" y="2786175"/>
            <a:ext cx="27312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Percentage of Adopters in Population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32" name="Google Shape;16632;p670"/>
          <p:cNvSpPr txBox="1"/>
          <p:nvPr/>
        </p:nvSpPr>
        <p:spPr>
          <a:xfrm>
            <a:off x="4133875" y="1147241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100%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36" name="Google Shape;16636;p670"/>
          <p:cNvSpPr txBox="1"/>
          <p:nvPr/>
        </p:nvSpPr>
        <p:spPr>
          <a:xfrm>
            <a:off x="4180800" y="432259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0%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640" name="Shape 16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41" name="Google Shape;16641;p67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Global threshold models</a:t>
            </a:r>
            <a:endParaRPr/>
          </a:p>
        </p:txBody>
      </p:sp>
      <p:sp>
        <p:nvSpPr>
          <p:cNvPr id="16642" name="Google Shape;16642;p671"/>
          <p:cNvSpPr txBox="1"/>
          <p:nvPr>
            <p:ph idx="1" type="body"/>
          </p:nvPr>
        </p:nvSpPr>
        <p:spPr>
          <a:xfrm>
            <a:off x="311700" y="1225215"/>
            <a:ext cx="4232700" cy="3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have different q values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high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Low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in the Middle (a bell curve)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can explain the S-shaped pattern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Slow uptake when adoption is concentrated among a few low q people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Faster as the majority of middle q people join in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Slow again as the last few high q people finally adopt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43" name="Google Shape;16643;p671"/>
          <p:cNvSpPr/>
          <p:nvPr/>
        </p:nvSpPr>
        <p:spPr>
          <a:xfrm>
            <a:off x="4654650" y="388861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644" name="Google Shape;16644;p671"/>
          <p:cNvCxnSpPr>
            <a:stCxn id="16643" idx="3"/>
          </p:cNvCxnSpPr>
          <p:nvPr/>
        </p:nvCxnSpPr>
        <p:spPr>
          <a:xfrm rot="10800000">
            <a:off x="4786050" y="1186819"/>
            <a:ext cx="18900" cy="2914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645" name="Google Shape;16645;p671"/>
          <p:cNvCxnSpPr>
            <a:stCxn id="16643" idx="3"/>
          </p:cNvCxnSpPr>
          <p:nvPr/>
        </p:nvCxnSpPr>
        <p:spPr>
          <a:xfrm flipH="1" rot="10800000">
            <a:off x="4804950" y="409081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646" name="Google Shape;16646;p671"/>
          <p:cNvSpPr txBox="1"/>
          <p:nvPr/>
        </p:nvSpPr>
        <p:spPr>
          <a:xfrm>
            <a:off x="5986025" y="1986561"/>
            <a:ext cx="1203300" cy="59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Probability of Adoption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47" name="Google Shape;16647;p671"/>
          <p:cNvSpPr txBox="1"/>
          <p:nvPr/>
        </p:nvSpPr>
        <p:spPr>
          <a:xfrm rot="-5400000">
            <a:off x="2882375" y="2226099"/>
            <a:ext cx="34089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Proportion of people with this q value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48" name="Google Shape;16648;p671"/>
          <p:cNvSpPr txBox="1"/>
          <p:nvPr/>
        </p:nvSpPr>
        <p:spPr>
          <a:xfrm>
            <a:off x="4441775" y="4101399"/>
            <a:ext cx="782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Low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649" name="Google Shape;16649;p671"/>
          <p:cNvCxnSpPr>
            <a:stCxn id="16650" idx="3"/>
            <a:endCxn id="16651" idx="1"/>
          </p:cNvCxnSpPr>
          <p:nvPr/>
        </p:nvCxnSpPr>
        <p:spPr>
          <a:xfrm>
            <a:off x="6608075" y="2689943"/>
            <a:ext cx="1999800" cy="1394700"/>
          </a:xfrm>
          <a:prstGeom prst="curvedConnector3">
            <a:avLst>
              <a:gd fmla="val 49997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651" name="Google Shape;16651;p671"/>
          <p:cNvSpPr txBox="1"/>
          <p:nvPr/>
        </p:nvSpPr>
        <p:spPr>
          <a:xfrm>
            <a:off x="8607750" y="4019310"/>
            <a:ext cx="290100" cy="1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652" name="Google Shape;16652;p671"/>
          <p:cNvCxnSpPr>
            <a:stCxn id="16650" idx="1"/>
            <a:endCxn id="16653" idx="3"/>
          </p:cNvCxnSpPr>
          <p:nvPr/>
        </p:nvCxnSpPr>
        <p:spPr>
          <a:xfrm flipH="1">
            <a:off x="4785875" y="2689943"/>
            <a:ext cx="1781400" cy="1406100"/>
          </a:xfrm>
          <a:prstGeom prst="curvedConnector3">
            <a:avLst>
              <a:gd fmla="val 49999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650" name="Google Shape;16650;p671"/>
          <p:cNvSpPr txBox="1"/>
          <p:nvPr/>
        </p:nvSpPr>
        <p:spPr>
          <a:xfrm flipH="1" rot="10800000">
            <a:off x="6567275" y="2676893"/>
            <a:ext cx="40800" cy="261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6AA84F"/>
                </a:solidFill>
                <a:latin typeface="Open Sans"/>
                <a:ea typeface="Open Sans"/>
                <a:cs typeface="Open Sans"/>
                <a:sym typeface="Open Sans"/>
              </a:rPr>
              <a:t>-</a:t>
            </a:r>
            <a:endParaRPr sz="1100">
              <a:solidFill>
                <a:srgbClr val="6AA84F"/>
              </a:solidFill>
              <a:highlight>
                <a:srgbClr val="6AA84F"/>
              </a:highligh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53" name="Google Shape;16653;p671"/>
          <p:cNvSpPr txBox="1"/>
          <p:nvPr/>
        </p:nvSpPr>
        <p:spPr>
          <a:xfrm>
            <a:off x="4003500" y="396556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54" name="Google Shape;16654;p671"/>
          <p:cNvSpPr txBox="1"/>
          <p:nvPr/>
        </p:nvSpPr>
        <p:spPr>
          <a:xfrm>
            <a:off x="8361600" y="4084749"/>
            <a:ext cx="782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High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55" name="Google Shape;16655;p671"/>
          <p:cNvSpPr txBox="1"/>
          <p:nvPr/>
        </p:nvSpPr>
        <p:spPr>
          <a:xfrm>
            <a:off x="6361239" y="4101390"/>
            <a:ext cx="8229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Middle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659" name="Shape 16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0" name="Google Shape;16660;p67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Global threshold models</a:t>
            </a:r>
            <a:endParaRPr/>
          </a:p>
        </p:txBody>
      </p:sp>
      <p:sp>
        <p:nvSpPr>
          <p:cNvPr id="16661" name="Google Shape;16661;p672"/>
          <p:cNvSpPr txBox="1"/>
          <p:nvPr>
            <p:ph idx="1" type="body"/>
          </p:nvPr>
        </p:nvSpPr>
        <p:spPr>
          <a:xfrm>
            <a:off x="311700" y="1225215"/>
            <a:ext cx="4232700" cy="3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have different q values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high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Low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in the Middle (a bell curve)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can explain the S-shaped pattern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Slow uptake when adoption is concentrated among a few low q people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Faster as the majority of middle q people join in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Slow again as the last few high q people finally adopt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2" name="Google Shape;16662;p672"/>
          <p:cNvSpPr/>
          <p:nvPr/>
        </p:nvSpPr>
        <p:spPr>
          <a:xfrm>
            <a:off x="4654650" y="388861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663" name="Google Shape;16663;p672"/>
          <p:cNvCxnSpPr>
            <a:stCxn id="16662" idx="3"/>
          </p:cNvCxnSpPr>
          <p:nvPr/>
        </p:nvCxnSpPr>
        <p:spPr>
          <a:xfrm rot="10800000">
            <a:off x="4786050" y="1186819"/>
            <a:ext cx="18900" cy="2914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664" name="Google Shape;16664;p672"/>
          <p:cNvCxnSpPr>
            <a:stCxn id="16662" idx="3"/>
          </p:cNvCxnSpPr>
          <p:nvPr/>
        </p:nvCxnSpPr>
        <p:spPr>
          <a:xfrm flipH="1" rot="10800000">
            <a:off x="4804950" y="409081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665" name="Google Shape;16665;p672"/>
          <p:cNvSpPr txBox="1"/>
          <p:nvPr/>
        </p:nvSpPr>
        <p:spPr>
          <a:xfrm>
            <a:off x="5986025" y="1986561"/>
            <a:ext cx="1203300" cy="59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Probability of Adoption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66" name="Google Shape;16666;p672"/>
          <p:cNvSpPr txBox="1"/>
          <p:nvPr/>
        </p:nvSpPr>
        <p:spPr>
          <a:xfrm rot="-5400000">
            <a:off x="2911325" y="2255049"/>
            <a:ext cx="33510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Proportion of people with this q value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67" name="Google Shape;16667;p672"/>
          <p:cNvSpPr txBox="1"/>
          <p:nvPr/>
        </p:nvSpPr>
        <p:spPr>
          <a:xfrm>
            <a:off x="4441775" y="4101399"/>
            <a:ext cx="782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Low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668" name="Google Shape;16668;p672"/>
          <p:cNvCxnSpPr>
            <a:stCxn id="16669" idx="3"/>
            <a:endCxn id="16670" idx="1"/>
          </p:cNvCxnSpPr>
          <p:nvPr/>
        </p:nvCxnSpPr>
        <p:spPr>
          <a:xfrm>
            <a:off x="6608075" y="2689943"/>
            <a:ext cx="1999800" cy="1394700"/>
          </a:xfrm>
          <a:prstGeom prst="curvedConnector3">
            <a:avLst>
              <a:gd fmla="val 49997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670" name="Google Shape;16670;p672"/>
          <p:cNvSpPr txBox="1"/>
          <p:nvPr/>
        </p:nvSpPr>
        <p:spPr>
          <a:xfrm>
            <a:off x="8607750" y="4019310"/>
            <a:ext cx="290100" cy="1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671" name="Google Shape;16671;p672"/>
          <p:cNvCxnSpPr>
            <a:stCxn id="16669" idx="1"/>
            <a:endCxn id="16672" idx="3"/>
          </p:cNvCxnSpPr>
          <p:nvPr/>
        </p:nvCxnSpPr>
        <p:spPr>
          <a:xfrm flipH="1">
            <a:off x="4785875" y="2689943"/>
            <a:ext cx="1781400" cy="1406100"/>
          </a:xfrm>
          <a:prstGeom prst="curvedConnector3">
            <a:avLst>
              <a:gd fmla="val 49999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669" name="Google Shape;16669;p672"/>
          <p:cNvSpPr txBox="1"/>
          <p:nvPr/>
        </p:nvSpPr>
        <p:spPr>
          <a:xfrm flipH="1" rot="10800000">
            <a:off x="6567275" y="2676893"/>
            <a:ext cx="40800" cy="261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6AA84F"/>
                </a:solidFill>
                <a:latin typeface="Open Sans"/>
                <a:ea typeface="Open Sans"/>
                <a:cs typeface="Open Sans"/>
                <a:sym typeface="Open Sans"/>
              </a:rPr>
              <a:t>-</a:t>
            </a:r>
            <a:endParaRPr sz="1100">
              <a:solidFill>
                <a:srgbClr val="6AA84F"/>
              </a:solidFill>
              <a:highlight>
                <a:srgbClr val="6AA84F"/>
              </a:highligh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72" name="Google Shape;16672;p672"/>
          <p:cNvSpPr txBox="1"/>
          <p:nvPr/>
        </p:nvSpPr>
        <p:spPr>
          <a:xfrm>
            <a:off x="4003500" y="396556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73" name="Google Shape;16673;p672"/>
          <p:cNvSpPr txBox="1"/>
          <p:nvPr/>
        </p:nvSpPr>
        <p:spPr>
          <a:xfrm>
            <a:off x="8361600" y="4084749"/>
            <a:ext cx="782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High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74" name="Google Shape;16674;p672"/>
          <p:cNvSpPr txBox="1"/>
          <p:nvPr/>
        </p:nvSpPr>
        <p:spPr>
          <a:xfrm>
            <a:off x="6361239" y="4101390"/>
            <a:ext cx="8229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Middle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75" name="Google Shape;16675;p672"/>
          <p:cNvSpPr txBox="1"/>
          <p:nvPr/>
        </p:nvSpPr>
        <p:spPr>
          <a:xfrm>
            <a:off x="4757300" y="1492400"/>
            <a:ext cx="12033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High-risk early adopters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76" name="Google Shape;16676;p672"/>
          <p:cNvSpPr txBox="1"/>
          <p:nvPr/>
        </p:nvSpPr>
        <p:spPr>
          <a:xfrm>
            <a:off x="7432175" y="1438097"/>
            <a:ext cx="12033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Risk-averse late adopters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677" name="Google Shape;16677;p672"/>
          <p:cNvCxnSpPr>
            <a:stCxn id="16675" idx="2"/>
          </p:cNvCxnSpPr>
          <p:nvPr/>
        </p:nvCxnSpPr>
        <p:spPr>
          <a:xfrm>
            <a:off x="5358950" y="2323700"/>
            <a:ext cx="4500" cy="14358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678" name="Google Shape;16678;p672"/>
          <p:cNvCxnSpPr>
            <a:stCxn id="16676" idx="2"/>
          </p:cNvCxnSpPr>
          <p:nvPr/>
        </p:nvCxnSpPr>
        <p:spPr>
          <a:xfrm flipH="1">
            <a:off x="8032325" y="2269397"/>
            <a:ext cx="1500" cy="14901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682" name="Shape 16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3" name="Google Shape;16683;p67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Global threshold models</a:t>
            </a:r>
            <a:endParaRPr/>
          </a:p>
        </p:txBody>
      </p:sp>
      <p:sp>
        <p:nvSpPr>
          <p:cNvPr id="16684" name="Google Shape;16684;p673"/>
          <p:cNvSpPr txBox="1"/>
          <p:nvPr>
            <p:ph idx="1" type="body"/>
          </p:nvPr>
        </p:nvSpPr>
        <p:spPr>
          <a:xfrm>
            <a:off x="311700" y="1225215"/>
            <a:ext cx="4232700" cy="3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have different q values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high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Low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in the Middle (a bell curve)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The shape of the threshold distribution can determine whether you get full diffusion or not: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q distribution is skewed toward </a:t>
            </a:r>
            <a:r>
              <a:rPr b="1" lang="en"/>
              <a:t>risk averse</a:t>
            </a:r>
            <a:r>
              <a:rPr lang="en"/>
              <a:t> late adopters the diffusion is </a:t>
            </a:r>
            <a:r>
              <a:rPr b="1" lang="en"/>
              <a:t>less</a:t>
            </a:r>
            <a:r>
              <a:rPr lang="en"/>
              <a:t> likely</a:t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85" name="Google Shape;16685;p673"/>
          <p:cNvSpPr/>
          <p:nvPr/>
        </p:nvSpPr>
        <p:spPr>
          <a:xfrm>
            <a:off x="4654650" y="388861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686" name="Google Shape;16686;p673"/>
          <p:cNvCxnSpPr>
            <a:stCxn id="16685" idx="3"/>
          </p:cNvCxnSpPr>
          <p:nvPr/>
        </p:nvCxnSpPr>
        <p:spPr>
          <a:xfrm rot="10800000">
            <a:off x="4786050" y="1186819"/>
            <a:ext cx="18900" cy="2914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687" name="Google Shape;16687;p673"/>
          <p:cNvCxnSpPr>
            <a:stCxn id="16685" idx="3"/>
          </p:cNvCxnSpPr>
          <p:nvPr/>
        </p:nvCxnSpPr>
        <p:spPr>
          <a:xfrm flipH="1" rot="10800000">
            <a:off x="4804950" y="409081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688" name="Google Shape;16688;p673"/>
          <p:cNvSpPr txBox="1"/>
          <p:nvPr/>
        </p:nvSpPr>
        <p:spPr>
          <a:xfrm>
            <a:off x="5986025" y="1986561"/>
            <a:ext cx="1203300" cy="59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Probability of Adoption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89" name="Google Shape;16689;p673"/>
          <p:cNvSpPr txBox="1"/>
          <p:nvPr/>
        </p:nvSpPr>
        <p:spPr>
          <a:xfrm rot="-5400000">
            <a:off x="2871425" y="2215149"/>
            <a:ext cx="34308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Proportion of people with this q value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90" name="Google Shape;16690;p673"/>
          <p:cNvSpPr txBox="1"/>
          <p:nvPr/>
        </p:nvSpPr>
        <p:spPr>
          <a:xfrm>
            <a:off x="4441775" y="4101399"/>
            <a:ext cx="782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Low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691" name="Google Shape;16691;p673"/>
          <p:cNvCxnSpPr>
            <a:stCxn id="16692" idx="3"/>
            <a:endCxn id="16693" idx="1"/>
          </p:cNvCxnSpPr>
          <p:nvPr/>
        </p:nvCxnSpPr>
        <p:spPr>
          <a:xfrm>
            <a:off x="8186075" y="2419110"/>
            <a:ext cx="421800" cy="1665600"/>
          </a:xfrm>
          <a:prstGeom prst="curvedConnector3">
            <a:avLst>
              <a:gd fmla="val 49985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693" name="Google Shape;16693;p673"/>
          <p:cNvSpPr txBox="1"/>
          <p:nvPr/>
        </p:nvSpPr>
        <p:spPr>
          <a:xfrm>
            <a:off x="8607750" y="4019310"/>
            <a:ext cx="290100" cy="1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694" name="Google Shape;16694;p673"/>
          <p:cNvCxnSpPr>
            <a:stCxn id="16692" idx="1"/>
            <a:endCxn id="16695" idx="3"/>
          </p:cNvCxnSpPr>
          <p:nvPr/>
        </p:nvCxnSpPr>
        <p:spPr>
          <a:xfrm flipH="1">
            <a:off x="4785875" y="2419110"/>
            <a:ext cx="3359400" cy="1677000"/>
          </a:xfrm>
          <a:prstGeom prst="curvedConnector3">
            <a:avLst>
              <a:gd fmla="val 23490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692" name="Google Shape;16692;p673"/>
          <p:cNvSpPr txBox="1"/>
          <p:nvPr/>
        </p:nvSpPr>
        <p:spPr>
          <a:xfrm flipH="1" rot="10800000">
            <a:off x="8145275" y="2406060"/>
            <a:ext cx="40800" cy="261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6AA84F"/>
                </a:solidFill>
                <a:latin typeface="Open Sans"/>
                <a:ea typeface="Open Sans"/>
                <a:cs typeface="Open Sans"/>
                <a:sym typeface="Open Sans"/>
              </a:rPr>
              <a:t>-</a:t>
            </a:r>
            <a:endParaRPr sz="1100">
              <a:solidFill>
                <a:srgbClr val="6AA84F"/>
              </a:solidFill>
              <a:highlight>
                <a:srgbClr val="6AA84F"/>
              </a:highligh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95" name="Google Shape;16695;p673"/>
          <p:cNvSpPr txBox="1"/>
          <p:nvPr/>
        </p:nvSpPr>
        <p:spPr>
          <a:xfrm>
            <a:off x="4003500" y="396556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96" name="Google Shape;16696;p673"/>
          <p:cNvSpPr txBox="1"/>
          <p:nvPr/>
        </p:nvSpPr>
        <p:spPr>
          <a:xfrm>
            <a:off x="8361600" y="4084749"/>
            <a:ext cx="782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High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97" name="Google Shape;16697;p673"/>
          <p:cNvSpPr txBox="1"/>
          <p:nvPr/>
        </p:nvSpPr>
        <p:spPr>
          <a:xfrm>
            <a:off x="6361239" y="4101390"/>
            <a:ext cx="8229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Middle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98" name="Google Shape;16698;p673"/>
          <p:cNvSpPr txBox="1"/>
          <p:nvPr/>
        </p:nvSpPr>
        <p:spPr>
          <a:xfrm>
            <a:off x="4757300" y="1492476"/>
            <a:ext cx="1455900" cy="102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Two few high-risk early adopters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699" name="Google Shape;16699;p673"/>
          <p:cNvCxnSpPr>
            <a:stCxn id="16698" idx="2"/>
          </p:cNvCxnSpPr>
          <p:nvPr/>
        </p:nvCxnSpPr>
        <p:spPr>
          <a:xfrm>
            <a:off x="5485250" y="2514276"/>
            <a:ext cx="4500" cy="12453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700" name="Google Shape;16700;p673"/>
          <p:cNvSpPr txBox="1"/>
          <p:nvPr/>
        </p:nvSpPr>
        <p:spPr>
          <a:xfrm>
            <a:off x="6888550" y="131850"/>
            <a:ext cx="1719300" cy="7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Too many  risk-averse late adopters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701" name="Google Shape;16701;p673"/>
          <p:cNvCxnSpPr>
            <a:stCxn id="16700" idx="2"/>
          </p:cNvCxnSpPr>
          <p:nvPr/>
        </p:nvCxnSpPr>
        <p:spPr>
          <a:xfrm flipH="1">
            <a:off x="7746700" y="833550"/>
            <a:ext cx="1500" cy="14901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05" name="Shape 16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6" name="Google Shape;16706;p67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Global threshold models</a:t>
            </a:r>
            <a:endParaRPr/>
          </a:p>
        </p:txBody>
      </p:sp>
      <p:sp>
        <p:nvSpPr>
          <p:cNvPr id="16707" name="Google Shape;16707;p674"/>
          <p:cNvSpPr txBox="1"/>
          <p:nvPr>
            <p:ph idx="1" type="body"/>
          </p:nvPr>
        </p:nvSpPr>
        <p:spPr>
          <a:xfrm>
            <a:off x="311700" y="1225215"/>
            <a:ext cx="4232700" cy="3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have different q values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high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Some Low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in the Middle (a bell curve)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The shape of the threshold distribution can determine whether you get full diffusion or not: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q distribution is skewed toward </a:t>
            </a:r>
            <a:r>
              <a:rPr b="1" lang="en"/>
              <a:t>high risk</a:t>
            </a:r>
            <a:r>
              <a:rPr lang="en"/>
              <a:t> early adopters diffusion is </a:t>
            </a:r>
            <a:r>
              <a:rPr b="1" lang="en"/>
              <a:t>more</a:t>
            </a:r>
            <a:r>
              <a:rPr lang="en"/>
              <a:t> likely</a:t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08" name="Google Shape;16708;p674"/>
          <p:cNvSpPr/>
          <p:nvPr/>
        </p:nvSpPr>
        <p:spPr>
          <a:xfrm>
            <a:off x="4654650" y="3888619"/>
            <a:ext cx="1503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709" name="Google Shape;16709;p674"/>
          <p:cNvCxnSpPr>
            <a:stCxn id="16708" idx="3"/>
          </p:cNvCxnSpPr>
          <p:nvPr/>
        </p:nvCxnSpPr>
        <p:spPr>
          <a:xfrm rot="10800000">
            <a:off x="4786050" y="1186819"/>
            <a:ext cx="18900" cy="2914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6710" name="Google Shape;16710;p674"/>
          <p:cNvCxnSpPr>
            <a:stCxn id="16708" idx="3"/>
          </p:cNvCxnSpPr>
          <p:nvPr/>
        </p:nvCxnSpPr>
        <p:spPr>
          <a:xfrm flipH="1" rot="10800000">
            <a:off x="4804950" y="4090819"/>
            <a:ext cx="4232700" cy="10500"/>
          </a:xfrm>
          <a:prstGeom prst="straightConnector1">
            <a:avLst/>
          </a:prstGeom>
          <a:noFill/>
          <a:ln cap="flat" cmpd="sng" w="28575">
            <a:solidFill>
              <a:srgbClr val="00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711" name="Google Shape;16711;p674"/>
          <p:cNvSpPr txBox="1"/>
          <p:nvPr/>
        </p:nvSpPr>
        <p:spPr>
          <a:xfrm>
            <a:off x="5986025" y="1986561"/>
            <a:ext cx="1203300" cy="59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pen Sans"/>
                <a:ea typeface="Open Sans"/>
                <a:cs typeface="Open Sans"/>
                <a:sym typeface="Open Sans"/>
              </a:rPr>
              <a:t>Probability of Adoption</a:t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712" name="Google Shape;16712;p674"/>
          <p:cNvSpPr txBox="1"/>
          <p:nvPr/>
        </p:nvSpPr>
        <p:spPr>
          <a:xfrm rot="-5400000">
            <a:off x="2838875" y="2182599"/>
            <a:ext cx="3495900" cy="29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Open Sans"/>
                <a:ea typeface="Open Sans"/>
                <a:cs typeface="Open Sans"/>
                <a:sym typeface="Open Sans"/>
              </a:rPr>
              <a:t>Proportion of people with this q value</a:t>
            </a:r>
            <a:endParaRPr b="1" sz="12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713" name="Google Shape;16713;p674"/>
          <p:cNvSpPr txBox="1"/>
          <p:nvPr/>
        </p:nvSpPr>
        <p:spPr>
          <a:xfrm>
            <a:off x="4441775" y="4101399"/>
            <a:ext cx="782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Low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714" name="Google Shape;16714;p674"/>
          <p:cNvCxnSpPr>
            <a:stCxn id="16715" idx="3"/>
            <a:endCxn id="16716" idx="1"/>
          </p:cNvCxnSpPr>
          <p:nvPr/>
        </p:nvCxnSpPr>
        <p:spPr>
          <a:xfrm>
            <a:off x="5482475" y="2543625"/>
            <a:ext cx="3125400" cy="1541100"/>
          </a:xfrm>
          <a:prstGeom prst="curvedConnector3">
            <a:avLst>
              <a:gd fmla="val 49998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716" name="Google Shape;16716;p674"/>
          <p:cNvSpPr txBox="1"/>
          <p:nvPr/>
        </p:nvSpPr>
        <p:spPr>
          <a:xfrm>
            <a:off x="8607750" y="4019310"/>
            <a:ext cx="290100" cy="1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717" name="Google Shape;16717;p674"/>
          <p:cNvCxnSpPr>
            <a:stCxn id="16715" idx="1"/>
            <a:endCxn id="16718" idx="3"/>
          </p:cNvCxnSpPr>
          <p:nvPr/>
        </p:nvCxnSpPr>
        <p:spPr>
          <a:xfrm flipH="1">
            <a:off x="4785875" y="2543625"/>
            <a:ext cx="655800" cy="1552500"/>
          </a:xfrm>
          <a:prstGeom prst="curvedConnector3">
            <a:avLst>
              <a:gd fmla="val 77779" name="adj1"/>
            </a:avLst>
          </a:pr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715" name="Google Shape;16715;p674"/>
          <p:cNvSpPr txBox="1"/>
          <p:nvPr/>
        </p:nvSpPr>
        <p:spPr>
          <a:xfrm flipH="1" rot="10800000">
            <a:off x="5441675" y="2530575"/>
            <a:ext cx="40800" cy="261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6AA84F"/>
                </a:solidFill>
                <a:latin typeface="Open Sans"/>
                <a:ea typeface="Open Sans"/>
                <a:cs typeface="Open Sans"/>
                <a:sym typeface="Open Sans"/>
              </a:rPr>
              <a:t>-</a:t>
            </a:r>
            <a:endParaRPr sz="1100">
              <a:solidFill>
                <a:srgbClr val="6AA84F"/>
              </a:solidFill>
              <a:highlight>
                <a:srgbClr val="6AA84F"/>
              </a:highligh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718" name="Google Shape;16718;p674"/>
          <p:cNvSpPr txBox="1"/>
          <p:nvPr/>
        </p:nvSpPr>
        <p:spPr>
          <a:xfrm>
            <a:off x="4003500" y="3965569"/>
            <a:ext cx="782400" cy="26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719" name="Google Shape;16719;p674"/>
          <p:cNvSpPr txBox="1"/>
          <p:nvPr/>
        </p:nvSpPr>
        <p:spPr>
          <a:xfrm>
            <a:off x="8361600" y="4084749"/>
            <a:ext cx="7824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High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720" name="Google Shape;16720;p674"/>
          <p:cNvSpPr txBox="1"/>
          <p:nvPr/>
        </p:nvSpPr>
        <p:spPr>
          <a:xfrm>
            <a:off x="6361239" y="4101390"/>
            <a:ext cx="822900" cy="4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Open Sans"/>
                <a:ea typeface="Open Sans"/>
                <a:cs typeface="Open Sans"/>
                <a:sym typeface="Open Sans"/>
              </a:rPr>
              <a:t>Middle q</a:t>
            </a:r>
            <a:endParaRPr b="1" sz="11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721" name="Google Shape;16721;p674"/>
          <p:cNvSpPr txBox="1"/>
          <p:nvPr/>
        </p:nvSpPr>
        <p:spPr>
          <a:xfrm>
            <a:off x="4731875" y="164970"/>
            <a:ext cx="14559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Plenty  of high risk early adopters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722" name="Google Shape;16722;p674"/>
          <p:cNvCxnSpPr>
            <a:stCxn id="16721" idx="2"/>
          </p:cNvCxnSpPr>
          <p:nvPr/>
        </p:nvCxnSpPr>
        <p:spPr>
          <a:xfrm>
            <a:off x="5459825" y="996270"/>
            <a:ext cx="4500" cy="14358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723" name="Google Shape;16723;p674"/>
          <p:cNvSpPr txBox="1"/>
          <p:nvPr/>
        </p:nvSpPr>
        <p:spPr>
          <a:xfrm>
            <a:off x="6888550" y="131850"/>
            <a:ext cx="1719300" cy="7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Not too many  averse late adopters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724" name="Google Shape;16724;p674"/>
          <p:cNvCxnSpPr>
            <a:stCxn id="16723" idx="2"/>
          </p:cNvCxnSpPr>
          <p:nvPr/>
        </p:nvCxnSpPr>
        <p:spPr>
          <a:xfrm flipH="1">
            <a:off x="7737100" y="833550"/>
            <a:ext cx="11100" cy="2813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28" name="Shape 16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29" name="Google Shape;16729;p675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Initial slow uptake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b="1" lang="en">
                <a:solidFill>
                  <a:srgbClr val="0000FF"/>
                </a:solidFill>
              </a:rPr>
              <a:t>Rapid spread </a:t>
            </a:r>
            <a:endParaRPr b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A64D79"/>
              </a:buClr>
              <a:buSzPts val="1400"/>
              <a:buChar char="○"/>
            </a:pPr>
            <a:r>
              <a:rPr b="1" lang="en">
                <a:solidFill>
                  <a:srgbClr val="A64D79"/>
                </a:solidFill>
              </a:rPr>
              <a:t>Final slow saturation</a:t>
            </a:r>
            <a:endParaRPr b="1">
              <a:solidFill>
                <a:srgbClr val="A64D7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srep00197-f1.jpg" id="16730" name="Google Shape;16730;p67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00900" y="1419244"/>
            <a:ext cx="4206869" cy="2966152"/>
          </a:xfrm>
          <a:prstGeom prst="rect">
            <a:avLst/>
          </a:prstGeom>
          <a:noFill/>
          <a:ln>
            <a:noFill/>
          </a:ln>
        </p:spPr>
      </p:pic>
      <p:sp>
        <p:nvSpPr>
          <p:cNvPr id="16731" name="Google Shape;16731;p67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sp>
        <p:nvSpPr>
          <p:cNvPr id="16732" name="Google Shape;16732;p675"/>
          <p:cNvSpPr txBox="1"/>
          <p:nvPr/>
        </p:nvSpPr>
        <p:spPr>
          <a:xfrm>
            <a:off x="311700" y="4330958"/>
            <a:ext cx="84699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u="sng">
                <a:solidFill>
                  <a:schemeClr val="hlink"/>
                </a:solidFill>
                <a:hlinkClick r:id="rId5"/>
              </a:rPr>
              <a:t>González-Bailón, S., Borge-Holthoefer, J., Rivero, A., &amp; Moreno, Y. (2011). The dynamics of protest recruitment through an online network. </a:t>
            </a:r>
            <a:r>
              <a:rPr i="1" lang="en" u="sng">
                <a:solidFill>
                  <a:schemeClr val="hlink"/>
                </a:solidFill>
                <a:hlinkClick r:id="rId6"/>
              </a:rPr>
              <a:t>Scientific Reports</a:t>
            </a:r>
            <a:r>
              <a:rPr lang="en" u="sng">
                <a:solidFill>
                  <a:schemeClr val="hlink"/>
                </a:solidFill>
                <a:hlinkClick r:id="rId7"/>
              </a:rPr>
              <a:t>, 1, 197.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33" name="Google Shape;16733;p675"/>
          <p:cNvSpPr/>
          <p:nvPr/>
        </p:nvSpPr>
        <p:spPr>
          <a:xfrm>
            <a:off x="7946700" y="1464435"/>
            <a:ext cx="885600" cy="2656200"/>
          </a:xfrm>
          <a:prstGeom prst="rect">
            <a:avLst/>
          </a:prstGeom>
          <a:solidFill>
            <a:srgbClr val="D5A6BD">
              <a:alpha val="430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34" name="Google Shape;16734;p675"/>
          <p:cNvSpPr/>
          <p:nvPr/>
        </p:nvSpPr>
        <p:spPr>
          <a:xfrm>
            <a:off x="6918150" y="1464503"/>
            <a:ext cx="1028700" cy="2656200"/>
          </a:xfrm>
          <a:prstGeom prst="rect">
            <a:avLst/>
          </a:prstGeom>
          <a:solidFill>
            <a:srgbClr val="C9DAF8">
              <a:alpha val="335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35" name="Google Shape;16735;p675"/>
          <p:cNvSpPr/>
          <p:nvPr/>
        </p:nvSpPr>
        <p:spPr>
          <a:xfrm>
            <a:off x="4618000" y="1464503"/>
            <a:ext cx="2300100" cy="2656200"/>
          </a:xfrm>
          <a:prstGeom prst="rect">
            <a:avLst/>
          </a:prstGeom>
          <a:solidFill>
            <a:srgbClr val="F4CCCC">
              <a:alpha val="35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736" name="Google Shape;16736;p675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968224" y="2810765"/>
            <a:ext cx="2286000" cy="152019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40" name="Shape 16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41" name="Google Shape;16741;p676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Initial slow uptake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b="1" lang="en">
                <a:solidFill>
                  <a:srgbClr val="0000FF"/>
                </a:solidFill>
              </a:rPr>
              <a:t>Rapid spread </a:t>
            </a:r>
            <a:endParaRPr b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A64D79"/>
              </a:buClr>
              <a:buSzPts val="1400"/>
              <a:buChar char="○"/>
            </a:pPr>
            <a:r>
              <a:rPr b="1" lang="en">
                <a:solidFill>
                  <a:srgbClr val="A64D79"/>
                </a:solidFill>
              </a:rPr>
              <a:t>Final slow saturation</a:t>
            </a:r>
            <a:endParaRPr b="1">
              <a:solidFill>
                <a:srgbClr val="A64D7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srep00197-f1.jpg" id="16742" name="Google Shape;16742;p67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00900" y="1419244"/>
            <a:ext cx="4206869" cy="2966152"/>
          </a:xfrm>
          <a:prstGeom prst="rect">
            <a:avLst/>
          </a:prstGeom>
          <a:noFill/>
          <a:ln>
            <a:noFill/>
          </a:ln>
        </p:spPr>
      </p:pic>
      <p:sp>
        <p:nvSpPr>
          <p:cNvPr id="16743" name="Google Shape;16743;p67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sp>
        <p:nvSpPr>
          <p:cNvPr id="16744" name="Google Shape;16744;p676"/>
          <p:cNvSpPr txBox="1"/>
          <p:nvPr/>
        </p:nvSpPr>
        <p:spPr>
          <a:xfrm>
            <a:off x="311700" y="4330958"/>
            <a:ext cx="84699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u="sng">
                <a:solidFill>
                  <a:schemeClr val="hlink"/>
                </a:solidFill>
                <a:hlinkClick r:id="rId5"/>
              </a:rPr>
              <a:t>González-Bailón, S., Borge-Holthoefer, J., Rivero, A., &amp; Moreno, Y. (2011). The dynamics of protest recruitment through an online network. </a:t>
            </a:r>
            <a:r>
              <a:rPr i="1" lang="en" u="sng">
                <a:solidFill>
                  <a:schemeClr val="hlink"/>
                </a:solidFill>
                <a:hlinkClick r:id="rId6"/>
              </a:rPr>
              <a:t>Scientific Reports</a:t>
            </a:r>
            <a:r>
              <a:rPr lang="en" u="sng">
                <a:solidFill>
                  <a:schemeClr val="hlink"/>
                </a:solidFill>
                <a:hlinkClick r:id="rId7"/>
              </a:rPr>
              <a:t>, 1, 197.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5" name="Google Shape;16745;p676"/>
          <p:cNvSpPr/>
          <p:nvPr/>
        </p:nvSpPr>
        <p:spPr>
          <a:xfrm>
            <a:off x="7946700" y="1464435"/>
            <a:ext cx="885600" cy="2656200"/>
          </a:xfrm>
          <a:prstGeom prst="rect">
            <a:avLst/>
          </a:prstGeom>
          <a:solidFill>
            <a:srgbClr val="D5A6BD">
              <a:alpha val="430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6" name="Google Shape;16746;p676"/>
          <p:cNvSpPr/>
          <p:nvPr/>
        </p:nvSpPr>
        <p:spPr>
          <a:xfrm>
            <a:off x="6918150" y="1464503"/>
            <a:ext cx="1028700" cy="2656200"/>
          </a:xfrm>
          <a:prstGeom prst="rect">
            <a:avLst/>
          </a:prstGeom>
          <a:solidFill>
            <a:srgbClr val="C9DAF8">
              <a:alpha val="335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7" name="Google Shape;16747;p676"/>
          <p:cNvSpPr/>
          <p:nvPr/>
        </p:nvSpPr>
        <p:spPr>
          <a:xfrm>
            <a:off x="4618000" y="1464503"/>
            <a:ext cx="2300100" cy="2656200"/>
          </a:xfrm>
          <a:prstGeom prst="rect">
            <a:avLst/>
          </a:prstGeom>
          <a:solidFill>
            <a:srgbClr val="F4CCCC">
              <a:alpha val="35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8" name="Google Shape;16748;p676"/>
          <p:cNvSpPr txBox="1"/>
          <p:nvPr/>
        </p:nvSpPr>
        <p:spPr>
          <a:xfrm>
            <a:off x="4538375" y="1186358"/>
            <a:ext cx="2574300" cy="23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&lt;- Long uptake period! -&gt;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749" name="Google Shape;16749;p676"/>
          <p:cNvCxnSpPr/>
          <p:nvPr/>
        </p:nvCxnSpPr>
        <p:spPr>
          <a:xfrm flipH="1" rot="10800000">
            <a:off x="4688775" y="3885503"/>
            <a:ext cx="2229300" cy="2070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16750" name="Google Shape;16750;p676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968224" y="2810765"/>
            <a:ext cx="2286000" cy="152019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54" name="Shape 16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5" name="Google Shape;16755;p677"/>
          <p:cNvSpPr txBox="1"/>
          <p:nvPr>
            <p:ph idx="1" type="body"/>
          </p:nvPr>
        </p:nvSpPr>
        <p:spPr>
          <a:xfrm>
            <a:off x="311700" y="1225215"/>
            <a:ext cx="3987900" cy="335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Typical S-shaped pattern of cumulative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Initial slow uptake</a:t>
            </a:r>
            <a:endParaRPr b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FF"/>
              </a:buClr>
              <a:buSzPts val="1400"/>
              <a:buChar char="○"/>
            </a:pPr>
            <a:r>
              <a:rPr b="1" lang="en">
                <a:solidFill>
                  <a:srgbClr val="0000FF"/>
                </a:solidFill>
              </a:rPr>
              <a:t>Rapid spread </a:t>
            </a:r>
            <a:endParaRPr b="1">
              <a:solidFill>
                <a:srgbClr val="0000FF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A64D79"/>
              </a:buClr>
              <a:buSzPts val="1400"/>
              <a:buChar char="○"/>
            </a:pPr>
            <a:r>
              <a:rPr b="1" lang="en">
                <a:solidFill>
                  <a:srgbClr val="A64D79"/>
                </a:solidFill>
              </a:rPr>
              <a:t>Final slow saturation</a:t>
            </a:r>
            <a:endParaRPr b="1">
              <a:solidFill>
                <a:srgbClr val="A64D7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srep00197-f1.jpg" id="16756" name="Google Shape;16756;p67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00900" y="1419244"/>
            <a:ext cx="4206869" cy="2966152"/>
          </a:xfrm>
          <a:prstGeom prst="rect">
            <a:avLst/>
          </a:prstGeom>
          <a:noFill/>
          <a:ln>
            <a:noFill/>
          </a:ln>
        </p:spPr>
      </p:pic>
      <p:sp>
        <p:nvSpPr>
          <p:cNvPr id="16757" name="Google Shape;16757;p67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things spread? The S curve</a:t>
            </a:r>
            <a:endParaRPr/>
          </a:p>
        </p:txBody>
      </p:sp>
      <p:sp>
        <p:nvSpPr>
          <p:cNvPr id="16758" name="Google Shape;16758;p677"/>
          <p:cNvSpPr txBox="1"/>
          <p:nvPr/>
        </p:nvSpPr>
        <p:spPr>
          <a:xfrm>
            <a:off x="311700" y="4330958"/>
            <a:ext cx="84699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u="sng">
                <a:solidFill>
                  <a:schemeClr val="hlink"/>
                </a:solidFill>
                <a:hlinkClick r:id="rId5"/>
              </a:rPr>
              <a:t>González-Bailón, S., Borge-Holthoefer, J., Rivero, A., &amp; Moreno, Y. (2011). The dynamics of protest recruitment through an online network. </a:t>
            </a:r>
            <a:r>
              <a:rPr i="1" lang="en" u="sng">
                <a:solidFill>
                  <a:schemeClr val="hlink"/>
                </a:solidFill>
                <a:hlinkClick r:id="rId6"/>
              </a:rPr>
              <a:t>Scientific Reports</a:t>
            </a:r>
            <a:r>
              <a:rPr lang="en" u="sng">
                <a:solidFill>
                  <a:schemeClr val="hlink"/>
                </a:solidFill>
                <a:hlinkClick r:id="rId7"/>
              </a:rPr>
              <a:t>, 1, 197.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59" name="Google Shape;16759;p677"/>
          <p:cNvSpPr/>
          <p:nvPr/>
        </p:nvSpPr>
        <p:spPr>
          <a:xfrm>
            <a:off x="7946700" y="1464435"/>
            <a:ext cx="885600" cy="2656200"/>
          </a:xfrm>
          <a:prstGeom prst="rect">
            <a:avLst/>
          </a:prstGeom>
          <a:solidFill>
            <a:srgbClr val="D5A6BD">
              <a:alpha val="430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60" name="Google Shape;16760;p677"/>
          <p:cNvSpPr/>
          <p:nvPr/>
        </p:nvSpPr>
        <p:spPr>
          <a:xfrm>
            <a:off x="6918150" y="1464503"/>
            <a:ext cx="1028700" cy="2656200"/>
          </a:xfrm>
          <a:prstGeom prst="rect">
            <a:avLst/>
          </a:prstGeom>
          <a:solidFill>
            <a:srgbClr val="C9DAF8">
              <a:alpha val="335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61" name="Google Shape;16761;p677"/>
          <p:cNvSpPr/>
          <p:nvPr/>
        </p:nvSpPr>
        <p:spPr>
          <a:xfrm>
            <a:off x="4618000" y="1464503"/>
            <a:ext cx="2300100" cy="2656200"/>
          </a:xfrm>
          <a:prstGeom prst="rect">
            <a:avLst/>
          </a:prstGeom>
          <a:solidFill>
            <a:srgbClr val="F4CCCC">
              <a:alpha val="35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762" name="Google Shape;16762;p677"/>
          <p:cNvCxnSpPr/>
          <p:nvPr/>
        </p:nvCxnSpPr>
        <p:spPr>
          <a:xfrm flipH="1">
            <a:off x="6918300" y="1472985"/>
            <a:ext cx="8700" cy="26751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763" name="Google Shape;16763;p677"/>
          <p:cNvSpPr txBox="1"/>
          <p:nvPr/>
        </p:nvSpPr>
        <p:spPr>
          <a:xfrm>
            <a:off x="6148500" y="796208"/>
            <a:ext cx="26064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Big mobilization helps to recruit high threshold people leading to rapid spread</a:t>
            </a:r>
            <a:endParaRPr b="1" sz="1200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6764" name="Google Shape;16764;p677"/>
          <p:cNvCxnSpPr/>
          <p:nvPr/>
        </p:nvCxnSpPr>
        <p:spPr>
          <a:xfrm flipH="1" rot="10800000">
            <a:off x="6918150" y="1950540"/>
            <a:ext cx="1026300" cy="1863300"/>
          </a:xfrm>
          <a:prstGeom prst="straightConnector1">
            <a:avLst/>
          </a:prstGeom>
          <a:noFill/>
          <a:ln cap="flat" cmpd="sng" w="28575">
            <a:solidFill>
              <a:srgbClr val="0000FF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16765" name="Google Shape;16765;p67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968224" y="2810765"/>
            <a:ext cx="2286000" cy="152019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69" name="Shape 16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0" name="Google Shape;16770;p678"/>
          <p:cNvSpPr txBox="1"/>
          <p:nvPr>
            <p:ph idx="4294967295"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Rogers Classification of Adopters </a:t>
            </a:r>
            <a:endParaRPr/>
          </a:p>
        </p:txBody>
      </p:sp>
      <p:sp>
        <p:nvSpPr>
          <p:cNvPr id="16771" name="Google Shape;16771;p678"/>
          <p:cNvSpPr txBox="1"/>
          <p:nvPr>
            <p:ph idx="1" type="body"/>
          </p:nvPr>
        </p:nvSpPr>
        <p:spPr>
          <a:xfrm>
            <a:off x="319500" y="4218930"/>
            <a:ext cx="85206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Rogers, E.M.(1962) The Diffusion of Innovations, Free Press, New York.</a:t>
            </a:r>
            <a:endParaRPr/>
          </a:p>
        </p:txBody>
      </p:sp>
      <p:pic>
        <p:nvPicPr>
          <p:cNvPr id="16772" name="Google Shape;16772;p67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43879" y="1147258"/>
            <a:ext cx="4550600" cy="3173881"/>
          </a:xfrm>
          <a:prstGeom prst="rect">
            <a:avLst/>
          </a:prstGeom>
          <a:noFill/>
          <a:ln>
            <a:noFill/>
          </a:ln>
        </p:spPr>
      </p:pic>
      <p:sp>
        <p:nvSpPr>
          <p:cNvPr id="16773" name="Google Shape;16773;p678"/>
          <p:cNvSpPr txBox="1"/>
          <p:nvPr/>
        </p:nvSpPr>
        <p:spPr>
          <a:xfrm rot="5400000">
            <a:off x="5808325" y="2430480"/>
            <a:ext cx="2301000" cy="28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Proportion of adopters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774" name="Google Shape;16774;p678"/>
          <p:cNvSpPr txBox="1"/>
          <p:nvPr/>
        </p:nvSpPr>
        <p:spPr>
          <a:xfrm>
            <a:off x="2086750" y="3796725"/>
            <a:ext cx="3593700" cy="524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78" name="Shape 16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9" name="Google Shape;16779;p679"/>
          <p:cNvSpPr txBox="1"/>
          <p:nvPr>
            <p:ph idx="4294967295"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Rogers Classification of Adopters </a:t>
            </a:r>
            <a:endParaRPr/>
          </a:p>
        </p:txBody>
      </p:sp>
      <p:pic>
        <p:nvPicPr>
          <p:cNvPr id="16780" name="Google Shape;16780;p67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43879" y="1147258"/>
            <a:ext cx="4550600" cy="3173881"/>
          </a:xfrm>
          <a:prstGeom prst="rect">
            <a:avLst/>
          </a:prstGeom>
          <a:noFill/>
          <a:ln>
            <a:noFill/>
          </a:ln>
        </p:spPr>
      </p:pic>
      <p:sp>
        <p:nvSpPr>
          <p:cNvPr id="16781" name="Google Shape;16781;p679"/>
          <p:cNvSpPr txBox="1"/>
          <p:nvPr>
            <p:ph idx="1" type="body"/>
          </p:nvPr>
        </p:nvSpPr>
        <p:spPr>
          <a:xfrm>
            <a:off x="319500" y="4218930"/>
            <a:ext cx="85206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Rogers, E.M.(1962) The Diffusion of Innovations, Free Press, New York.</a:t>
            </a:r>
            <a:endParaRPr/>
          </a:p>
        </p:txBody>
      </p:sp>
      <p:sp>
        <p:nvSpPr>
          <p:cNvPr id="16782" name="Google Shape;16782;p679"/>
          <p:cNvSpPr txBox="1"/>
          <p:nvPr/>
        </p:nvSpPr>
        <p:spPr>
          <a:xfrm rot="5400000">
            <a:off x="5808325" y="2430480"/>
            <a:ext cx="2301000" cy="28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Proportion of adopters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86" name="Shape 16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87" name="Google Shape;16787;p680"/>
          <p:cNvSpPr txBox="1"/>
          <p:nvPr>
            <p:ph idx="4294967295"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Rogers Classification of Adopters </a:t>
            </a:r>
            <a:endParaRPr/>
          </a:p>
        </p:txBody>
      </p:sp>
      <p:pic>
        <p:nvPicPr>
          <p:cNvPr id="16788" name="Google Shape;16788;p68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43879" y="1147258"/>
            <a:ext cx="4550600" cy="3173881"/>
          </a:xfrm>
          <a:prstGeom prst="rect">
            <a:avLst/>
          </a:prstGeom>
          <a:noFill/>
          <a:ln>
            <a:noFill/>
          </a:ln>
        </p:spPr>
      </p:pic>
      <p:sp>
        <p:nvSpPr>
          <p:cNvPr id="16789" name="Google Shape;16789;p680"/>
          <p:cNvSpPr txBox="1"/>
          <p:nvPr>
            <p:ph idx="1" type="body"/>
          </p:nvPr>
        </p:nvSpPr>
        <p:spPr>
          <a:xfrm>
            <a:off x="319500" y="4218930"/>
            <a:ext cx="85206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Rogers, E.M.(1962) The Diffusion of Innovations, Free Press, New York.</a:t>
            </a:r>
            <a:endParaRPr/>
          </a:p>
        </p:txBody>
      </p:sp>
      <p:sp>
        <p:nvSpPr>
          <p:cNvPr id="16790" name="Google Shape;16790;p680"/>
          <p:cNvSpPr txBox="1"/>
          <p:nvPr/>
        </p:nvSpPr>
        <p:spPr>
          <a:xfrm>
            <a:off x="1475425" y="2264352"/>
            <a:ext cx="1461900" cy="35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Tipping point</a:t>
            </a:r>
            <a:endParaRPr b="1">
              <a:solidFill>
                <a:srgbClr val="FF0000"/>
              </a:solidFill>
            </a:endParaRPr>
          </a:p>
        </p:txBody>
      </p:sp>
      <p:cxnSp>
        <p:nvCxnSpPr>
          <p:cNvPr id="16791" name="Google Shape;16791;p680"/>
          <p:cNvCxnSpPr>
            <a:stCxn id="16790" idx="2"/>
          </p:cNvCxnSpPr>
          <p:nvPr/>
        </p:nvCxnSpPr>
        <p:spPr>
          <a:xfrm>
            <a:off x="2206375" y="2622852"/>
            <a:ext cx="1093500" cy="8328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792" name="Google Shape;16792;p680"/>
          <p:cNvSpPr txBox="1"/>
          <p:nvPr/>
        </p:nvSpPr>
        <p:spPr>
          <a:xfrm rot="5400000">
            <a:off x="5808325" y="2430480"/>
            <a:ext cx="2301000" cy="28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Proportion of adopters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96" name="Shape 16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7" name="Google Shape;16797;p681"/>
          <p:cNvSpPr txBox="1"/>
          <p:nvPr>
            <p:ph idx="4294967295"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Rogers Classification of Adopters </a:t>
            </a:r>
            <a:endParaRPr/>
          </a:p>
        </p:txBody>
      </p:sp>
      <p:pic>
        <p:nvPicPr>
          <p:cNvPr id="16798" name="Google Shape;16798;p68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43879" y="1147258"/>
            <a:ext cx="4550600" cy="3173881"/>
          </a:xfrm>
          <a:prstGeom prst="rect">
            <a:avLst/>
          </a:prstGeom>
          <a:noFill/>
          <a:ln>
            <a:noFill/>
          </a:ln>
        </p:spPr>
      </p:pic>
      <p:sp>
        <p:nvSpPr>
          <p:cNvPr id="16799" name="Google Shape;16799;p681"/>
          <p:cNvSpPr txBox="1"/>
          <p:nvPr>
            <p:ph idx="1" type="body"/>
          </p:nvPr>
        </p:nvSpPr>
        <p:spPr>
          <a:xfrm>
            <a:off x="319500" y="4218930"/>
            <a:ext cx="8520600" cy="59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Rogers, E.M.(1962) The Diffusion of Innovations, Free Press, New York.</a:t>
            </a:r>
            <a:endParaRPr/>
          </a:p>
        </p:txBody>
      </p:sp>
      <p:cxnSp>
        <p:nvCxnSpPr>
          <p:cNvPr id="16800" name="Google Shape;16800;p681"/>
          <p:cNvCxnSpPr>
            <a:stCxn id="16801" idx="2"/>
          </p:cNvCxnSpPr>
          <p:nvPr/>
        </p:nvCxnSpPr>
        <p:spPr>
          <a:xfrm>
            <a:off x="2255175" y="2825789"/>
            <a:ext cx="540300" cy="653700"/>
          </a:xfrm>
          <a:prstGeom prst="straightConnector1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6801" name="Google Shape;16801;p681"/>
          <p:cNvSpPr txBox="1"/>
          <p:nvPr/>
        </p:nvSpPr>
        <p:spPr>
          <a:xfrm>
            <a:off x="958425" y="2119589"/>
            <a:ext cx="2593500" cy="70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Failed Innovations die before reaching the tipping point</a:t>
            </a:r>
            <a:endParaRPr b="1">
              <a:solidFill>
                <a:srgbClr val="FF0000"/>
              </a:solidFill>
            </a:endParaRPr>
          </a:p>
        </p:txBody>
      </p:sp>
      <p:sp>
        <p:nvSpPr>
          <p:cNvPr id="16802" name="Google Shape;16802;p681"/>
          <p:cNvSpPr/>
          <p:nvPr/>
        </p:nvSpPr>
        <p:spPr>
          <a:xfrm>
            <a:off x="2185150" y="3447585"/>
            <a:ext cx="1318129" cy="310524"/>
          </a:xfrm>
          <a:custGeom>
            <a:rect b="b" l="l" r="r" t="t"/>
            <a:pathLst>
              <a:path extrusionOk="0" h="12181" w="71039">
                <a:moveTo>
                  <a:pt x="0" y="10541"/>
                </a:moveTo>
                <a:cubicBezTo>
                  <a:pt x="3188" y="10177"/>
                  <a:pt x="10565" y="10086"/>
                  <a:pt x="19126" y="8356"/>
                </a:cubicBezTo>
                <a:cubicBezTo>
                  <a:pt x="27687" y="6626"/>
                  <a:pt x="42715" y="-478"/>
                  <a:pt x="51367" y="159"/>
                </a:cubicBezTo>
                <a:cubicBezTo>
                  <a:pt x="60019" y="797"/>
                  <a:pt x="67760" y="10177"/>
                  <a:pt x="71039" y="12181"/>
                </a:cubicBezTo>
              </a:path>
            </a:pathLst>
          </a:custGeom>
          <a:noFill/>
          <a:ln cap="flat" cmpd="sng" w="38100">
            <a:solidFill>
              <a:srgbClr val="FF0000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6803" name="Google Shape;16803;p681"/>
          <p:cNvSpPr txBox="1"/>
          <p:nvPr/>
        </p:nvSpPr>
        <p:spPr>
          <a:xfrm rot="5400000">
            <a:off x="5808325" y="2430480"/>
            <a:ext cx="2301000" cy="28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Open Sans"/>
                <a:ea typeface="Open Sans"/>
                <a:cs typeface="Open Sans"/>
                <a:sym typeface="Open Sans"/>
              </a:rPr>
              <a:t>Proportion of adopters</a:t>
            </a:r>
            <a:endParaRPr b="1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6807" name="Shape 16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8" name="Google Shape;16808;p682"/>
          <p:cNvSpPr txBox="1"/>
          <p:nvPr>
            <p:ph idx="4294967295"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Rogers Classification of Adopters </a:t>
            </a:r>
            <a:endParaRPr/>
          </a:p>
        </p:txBody>
      </p:sp>
      <p:grpSp>
        <p:nvGrpSpPr>
          <p:cNvPr id="16809" name="Google Shape;16809;p682"/>
          <p:cNvGrpSpPr/>
          <p:nvPr/>
        </p:nvGrpSpPr>
        <p:grpSpPr>
          <a:xfrm>
            <a:off x="470125" y="1464473"/>
            <a:ext cx="6500650" cy="2214563"/>
            <a:chOff x="470125" y="1627192"/>
            <a:chExt cx="6500650" cy="2460625"/>
          </a:xfrm>
        </p:grpSpPr>
        <p:pic>
          <p:nvPicPr>
            <p:cNvPr descr="techadoptioncycle.png" id="16810" name="Google Shape;16810;p68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70125" y="1627192"/>
              <a:ext cx="6318250" cy="246062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811" name="Google Shape;16811;p682"/>
            <p:cNvSpPr txBox="1"/>
            <p:nvPr/>
          </p:nvSpPr>
          <p:spPr>
            <a:xfrm>
              <a:off x="5126375" y="2562558"/>
              <a:ext cx="1844400" cy="952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/>
                <a:t>Area under the curve represents number of adopters</a:t>
              </a:r>
              <a:endParaRPr b="1"/>
            </a:p>
          </p:txBody>
        </p:sp>
      </p:grpSp>
      <p:sp>
        <p:nvSpPr>
          <p:cNvPr id="16812" name="Google Shape;16812;p682"/>
          <p:cNvSpPr txBox="1"/>
          <p:nvPr>
            <p:ph idx="1" type="body"/>
          </p:nvPr>
        </p:nvSpPr>
        <p:spPr>
          <a:xfrm>
            <a:off x="319500" y="3679043"/>
            <a:ext cx="8462100" cy="11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Kastelle, T (2012) Two Problems Caused by the Innovation Diffusion Curve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4"/>
              </a:rPr>
              <a:t>http://timkastelle.org/blog/2012/02/two-problems-caused-by-the-innovation-diffusion-curve/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16" name="Shape 16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7" name="Google Shape;16817;p68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Rogers Classification </a:t>
            </a:r>
            <a:endParaRPr/>
          </a:p>
        </p:txBody>
      </p:sp>
      <p:sp>
        <p:nvSpPr>
          <p:cNvPr id="16818" name="Google Shape;16818;p683"/>
          <p:cNvSpPr txBox="1"/>
          <p:nvPr>
            <p:ph idx="1" type="body"/>
          </p:nvPr>
        </p:nvSpPr>
        <p:spPr>
          <a:xfrm>
            <a:off x="311700" y="1225225"/>
            <a:ext cx="45501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Innovators and Early adopters 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Individuals whose time-of-adoption is greater than one standard deviation earlier than the average time-of-adoption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Early and late majorities 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Individuals whose time-of-adoption is bounded by one  standard deviation earlier and later than the average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Laggards</a:t>
            </a:r>
            <a:r>
              <a:rPr lang="en"/>
              <a:t>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Individuals who adopted later than one standard deviation from the average</a:t>
            </a:r>
            <a:endParaRPr/>
          </a:p>
        </p:txBody>
      </p:sp>
      <p:pic>
        <p:nvPicPr>
          <p:cNvPr id="16819" name="Google Shape;16819;p68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61799" y="1496923"/>
            <a:ext cx="4031199" cy="2810601"/>
          </a:xfrm>
          <a:prstGeom prst="rect">
            <a:avLst/>
          </a:prstGeom>
          <a:noFill/>
          <a:ln>
            <a:noFill/>
          </a:ln>
        </p:spPr>
      </p:pic>
      <p:sp>
        <p:nvSpPr>
          <p:cNvPr id="16820" name="Google Shape;16820;p683"/>
          <p:cNvSpPr txBox="1"/>
          <p:nvPr/>
        </p:nvSpPr>
        <p:spPr>
          <a:xfrm rot="5400000">
            <a:off x="7927149" y="2851225"/>
            <a:ext cx="1663800" cy="267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latin typeface="Open Sans"/>
                <a:ea typeface="Open Sans"/>
                <a:cs typeface="Open Sans"/>
                <a:sym typeface="Open Sans"/>
              </a:rPr>
              <a:t>Proportion of adopters</a:t>
            </a:r>
            <a:endParaRPr b="1" sz="10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24" name="Shape 16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5" name="Google Shape;16825;p68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Complex versus simplex contagion</a:t>
            </a:r>
            <a:endParaRPr/>
          </a:p>
        </p:txBody>
      </p:sp>
      <p:sp>
        <p:nvSpPr>
          <p:cNvPr id="16826" name="Google Shape;16826;p684"/>
          <p:cNvSpPr txBox="1"/>
          <p:nvPr>
            <p:ph idx="1" type="body"/>
          </p:nvPr>
        </p:nvSpPr>
        <p:spPr>
          <a:xfrm>
            <a:off x="311700" y="1225215"/>
            <a:ext cx="8187600" cy="240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Innovations that entail risk, ostracism, potential loss of resources, may elicit higher thresholds from all actors in the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Persons require exposure to multiple sources to adopt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the difference between </a:t>
            </a:r>
            <a:r>
              <a:rPr b="1" lang="en"/>
              <a:t>simplex </a:t>
            </a:r>
            <a:r>
              <a:rPr lang="en"/>
              <a:t>and </a:t>
            </a:r>
            <a:r>
              <a:rPr b="1" lang="en"/>
              <a:t>complex </a:t>
            </a:r>
            <a:r>
              <a:rPr lang="en"/>
              <a:t>contagion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lang="en">
                <a:solidFill>
                  <a:srgbClr val="FF0000"/>
                </a:solidFill>
              </a:rPr>
              <a:t>Certain innovations only diffuse via complex contagion</a:t>
            </a:r>
            <a:endParaRPr b="1">
              <a:solidFill>
                <a:srgbClr val="FF0000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827" name="Google Shape;16827;p68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64238" y="2839320"/>
            <a:ext cx="5233972" cy="212415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31" name="Shape 16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2" name="Google Shape;16832;p68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Complex versus simplex contagion</a:t>
            </a:r>
            <a:endParaRPr/>
          </a:p>
        </p:txBody>
      </p:sp>
      <p:sp>
        <p:nvSpPr>
          <p:cNvPr id="16833" name="Google Shape;16833;p685"/>
          <p:cNvSpPr txBox="1"/>
          <p:nvPr>
            <p:ph idx="1" type="body"/>
          </p:nvPr>
        </p:nvSpPr>
        <p:spPr>
          <a:xfrm>
            <a:off x="311700" y="1225215"/>
            <a:ext cx="8187600" cy="13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Candidates for simplex contagion: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Information, gossip, disease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Candidates for complex contagion: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High risk social movement participation, religious conversion, migration, etc.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834" name="Google Shape;16834;p68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64238" y="2839320"/>
            <a:ext cx="5233972" cy="212415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38" name="Shape 16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9" name="Google Shape;16839;p68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Complex versus simplex contagion</a:t>
            </a:r>
            <a:endParaRPr/>
          </a:p>
        </p:txBody>
      </p:sp>
      <p:sp>
        <p:nvSpPr>
          <p:cNvPr id="16840" name="Google Shape;16840;p686"/>
          <p:cNvSpPr txBox="1"/>
          <p:nvPr>
            <p:ph idx="1" type="body"/>
          </p:nvPr>
        </p:nvSpPr>
        <p:spPr>
          <a:xfrm>
            <a:off x="311700" y="1225214"/>
            <a:ext cx="8520600" cy="136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Weakness of long ties argument </a:t>
            </a:r>
            <a:r>
              <a:rPr lang="en"/>
              <a:t>(Centola and Macy 2007):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Long (weak) ties help to spread things in networks faster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But only for things that spread via simplex contagion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are </a:t>
            </a:r>
            <a:r>
              <a:rPr b="1" lang="en"/>
              <a:t>worse</a:t>
            </a:r>
            <a:r>
              <a:rPr lang="en"/>
              <a:t> at spreading things that </a:t>
            </a:r>
            <a:r>
              <a:rPr b="1" lang="en"/>
              <a:t>require complex contagion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You are usually connected to one network bridge and access the tie infrequently</a:t>
            </a:r>
            <a:endParaRPr i="1"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6841" name="Google Shape;16841;p6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64238" y="2839320"/>
            <a:ext cx="5233972" cy="212415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45" name="Shape 16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6" name="Google Shape;16846;p68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Complex versus simplex contagion</a:t>
            </a:r>
            <a:endParaRPr/>
          </a:p>
        </p:txBody>
      </p:sp>
      <p:sp>
        <p:nvSpPr>
          <p:cNvPr id="16847" name="Google Shape;16847;p687"/>
          <p:cNvSpPr txBox="1"/>
          <p:nvPr>
            <p:ph idx="1" type="body"/>
          </p:nvPr>
        </p:nvSpPr>
        <p:spPr>
          <a:xfrm>
            <a:off x="311700" y="1225214"/>
            <a:ext cx="8520600" cy="136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Information, gossip, disease: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Can spread faster in a network via weak ties (bridges)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Strength of Weak Ties (Granovetter 1973)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High risk social movement participation, religious conversion, migration: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Can spread faster via cliques and strong ties 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848" name="Google Shape;16848;p68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64238" y="2839320"/>
            <a:ext cx="5233972" cy="212415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52" name="Shape 16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53" name="Google Shape;16853;p68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Network Threshold Models</a:t>
            </a:r>
            <a:endParaRPr/>
          </a:p>
        </p:txBody>
      </p:sp>
      <p:sp>
        <p:nvSpPr>
          <p:cNvPr id="16854" name="Google Shape;16854;p688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Global threshold models </a:t>
            </a:r>
            <a:r>
              <a:rPr lang="en"/>
              <a:t>are appropriate for adoptions of behaviors that are public and observable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Not always the case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Assumption that people know what </a:t>
            </a:r>
            <a:r>
              <a:rPr i="1" lang="en"/>
              <a:t>everyone</a:t>
            </a:r>
            <a:r>
              <a:rPr lang="en"/>
              <a:t> is doing is not always realistic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People must know the actual proportion of population who has adopted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</a:t>
            </a:r>
            <a:r>
              <a:rPr b="1" lang="en"/>
              <a:t>network threshold model </a:t>
            </a:r>
            <a:r>
              <a:rPr lang="en"/>
              <a:t>relaxes the assumption that persons have global information on all adoptions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only know what their direct contacts are doing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Individuals adopt when some </a:t>
            </a:r>
            <a:r>
              <a:rPr b="1" lang="en"/>
              <a:t>proportion of their contacts </a:t>
            </a:r>
            <a:r>
              <a:rPr lang="en"/>
              <a:t>adopt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More appropriate for the adoption of practices, behaviors and ideas that entails some sort of risk or uncertainty (complex contagion)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58" name="Shape 16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59" name="Google Shape;16859;p689"/>
          <p:cNvSpPr txBox="1"/>
          <p:nvPr>
            <p:ph idx="1" type="body"/>
          </p:nvPr>
        </p:nvSpPr>
        <p:spPr>
          <a:xfrm>
            <a:off x="311700" y="1225214"/>
            <a:ext cx="8520600" cy="9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Each person (i) has some exposure e(i)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e(i) = proportion of i’s friends who adopted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When proportion of neighbors who adopt equals q(i), ego adopts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0" name="Google Shape;16860;p68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Valente’s Network Threshold Model</a:t>
            </a:r>
            <a:endParaRPr/>
          </a:p>
        </p:txBody>
      </p:sp>
      <p:sp>
        <p:nvSpPr>
          <p:cNvPr id="16861" name="Google Shape;16861;p689"/>
          <p:cNvSpPr/>
          <p:nvPr/>
        </p:nvSpPr>
        <p:spPr>
          <a:xfrm>
            <a:off x="2161853" y="2807551"/>
            <a:ext cx="252300" cy="241800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2" name="Google Shape;16862;p689"/>
          <p:cNvSpPr/>
          <p:nvPr/>
        </p:nvSpPr>
        <p:spPr>
          <a:xfrm>
            <a:off x="2499562" y="2478177"/>
            <a:ext cx="252300" cy="2418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3" name="Google Shape;16863;p689"/>
          <p:cNvSpPr/>
          <p:nvPr/>
        </p:nvSpPr>
        <p:spPr>
          <a:xfrm>
            <a:off x="2499562" y="3150830"/>
            <a:ext cx="252300" cy="2418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4" name="Google Shape;16864;p689"/>
          <p:cNvSpPr/>
          <p:nvPr/>
        </p:nvSpPr>
        <p:spPr>
          <a:xfrm>
            <a:off x="1835776" y="2478177"/>
            <a:ext cx="2523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5" name="Google Shape;16865;p689"/>
          <p:cNvSpPr/>
          <p:nvPr/>
        </p:nvSpPr>
        <p:spPr>
          <a:xfrm>
            <a:off x="1835776" y="3150830"/>
            <a:ext cx="252300" cy="2418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866" name="Google Shape;16866;p689"/>
          <p:cNvCxnSpPr>
            <a:stCxn id="16861" idx="7"/>
            <a:endCxn id="16862" idx="3"/>
          </p:cNvCxnSpPr>
          <p:nvPr/>
        </p:nvCxnSpPr>
        <p:spPr>
          <a:xfrm flipH="1" rot="10800000">
            <a:off x="2377204" y="2684562"/>
            <a:ext cx="1593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67" name="Google Shape;16867;p689"/>
          <p:cNvCxnSpPr>
            <a:stCxn id="16861" idx="5"/>
            <a:endCxn id="16863" idx="1"/>
          </p:cNvCxnSpPr>
          <p:nvPr/>
        </p:nvCxnSpPr>
        <p:spPr>
          <a:xfrm>
            <a:off x="2377204" y="3013940"/>
            <a:ext cx="159300" cy="17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68" name="Google Shape;16868;p689"/>
          <p:cNvCxnSpPr>
            <a:stCxn id="16861" idx="1"/>
            <a:endCxn id="16864" idx="5"/>
          </p:cNvCxnSpPr>
          <p:nvPr/>
        </p:nvCxnSpPr>
        <p:spPr>
          <a:xfrm rot="10800000">
            <a:off x="2051201" y="2684562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69" name="Google Shape;16869;p689"/>
          <p:cNvCxnSpPr>
            <a:stCxn id="16861" idx="3"/>
            <a:endCxn id="16865" idx="7"/>
          </p:cNvCxnSpPr>
          <p:nvPr/>
        </p:nvCxnSpPr>
        <p:spPr>
          <a:xfrm flipH="1">
            <a:off x="2051201" y="3013940"/>
            <a:ext cx="147600" cy="17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870" name="Google Shape;16870;p689"/>
          <p:cNvSpPr txBox="1"/>
          <p:nvPr/>
        </p:nvSpPr>
        <p:spPr>
          <a:xfrm>
            <a:off x="1966150" y="4792028"/>
            <a:ext cx="741300" cy="2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Junge"/>
                <a:ea typeface="Junge"/>
                <a:cs typeface="Junge"/>
                <a:sym typeface="Junge"/>
              </a:rPr>
              <a:t>Time 1</a:t>
            </a:r>
            <a:endParaRPr b="1">
              <a:latin typeface="Junge"/>
              <a:ea typeface="Junge"/>
              <a:cs typeface="Junge"/>
              <a:sym typeface="Junge"/>
            </a:endParaRPr>
          </a:p>
        </p:txBody>
      </p:sp>
      <p:sp>
        <p:nvSpPr>
          <p:cNvPr id="16871" name="Google Shape;16871;p689"/>
          <p:cNvSpPr/>
          <p:nvPr/>
        </p:nvSpPr>
        <p:spPr>
          <a:xfrm>
            <a:off x="3680637" y="2807585"/>
            <a:ext cx="2523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2" name="Google Shape;16872;p689"/>
          <p:cNvSpPr/>
          <p:nvPr/>
        </p:nvSpPr>
        <p:spPr>
          <a:xfrm>
            <a:off x="4018347" y="2478211"/>
            <a:ext cx="252300" cy="2418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3" name="Google Shape;16873;p689"/>
          <p:cNvSpPr/>
          <p:nvPr/>
        </p:nvSpPr>
        <p:spPr>
          <a:xfrm>
            <a:off x="4018347" y="3150863"/>
            <a:ext cx="252300" cy="2418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4" name="Google Shape;16874;p689"/>
          <p:cNvSpPr/>
          <p:nvPr/>
        </p:nvSpPr>
        <p:spPr>
          <a:xfrm>
            <a:off x="3354561" y="2478211"/>
            <a:ext cx="2523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5" name="Google Shape;16875;p689"/>
          <p:cNvSpPr/>
          <p:nvPr/>
        </p:nvSpPr>
        <p:spPr>
          <a:xfrm>
            <a:off x="3354561" y="3150863"/>
            <a:ext cx="252300" cy="2418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876" name="Google Shape;16876;p689"/>
          <p:cNvCxnSpPr>
            <a:stCxn id="16871" idx="7"/>
            <a:endCxn id="16872" idx="3"/>
          </p:cNvCxnSpPr>
          <p:nvPr/>
        </p:nvCxnSpPr>
        <p:spPr>
          <a:xfrm flipH="1" rot="10800000">
            <a:off x="3895989" y="2684595"/>
            <a:ext cx="1593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77" name="Google Shape;16877;p689"/>
          <p:cNvCxnSpPr>
            <a:stCxn id="16871" idx="5"/>
            <a:endCxn id="16873" idx="1"/>
          </p:cNvCxnSpPr>
          <p:nvPr/>
        </p:nvCxnSpPr>
        <p:spPr>
          <a:xfrm>
            <a:off x="3895989" y="3013974"/>
            <a:ext cx="159300" cy="17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78" name="Google Shape;16878;p689"/>
          <p:cNvCxnSpPr>
            <a:stCxn id="16871" idx="1"/>
            <a:endCxn id="16874" idx="5"/>
          </p:cNvCxnSpPr>
          <p:nvPr/>
        </p:nvCxnSpPr>
        <p:spPr>
          <a:xfrm rot="10800000">
            <a:off x="3569986" y="2684595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79" name="Google Shape;16879;p689"/>
          <p:cNvCxnSpPr>
            <a:stCxn id="16871" idx="3"/>
            <a:endCxn id="16875" idx="7"/>
          </p:cNvCxnSpPr>
          <p:nvPr/>
        </p:nvCxnSpPr>
        <p:spPr>
          <a:xfrm flipH="1">
            <a:off x="3569986" y="3013974"/>
            <a:ext cx="147600" cy="17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880" name="Google Shape;16880;p689"/>
          <p:cNvSpPr txBox="1"/>
          <p:nvPr/>
        </p:nvSpPr>
        <p:spPr>
          <a:xfrm>
            <a:off x="3323873" y="4792123"/>
            <a:ext cx="861300" cy="2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Junge"/>
                <a:ea typeface="Junge"/>
                <a:cs typeface="Junge"/>
                <a:sym typeface="Junge"/>
              </a:rPr>
              <a:t>Time 2</a:t>
            </a:r>
            <a:endParaRPr b="1">
              <a:latin typeface="Junge"/>
              <a:ea typeface="Junge"/>
              <a:cs typeface="Junge"/>
              <a:sym typeface="Junge"/>
            </a:endParaRPr>
          </a:p>
        </p:txBody>
      </p:sp>
      <p:sp>
        <p:nvSpPr>
          <p:cNvPr id="16881" name="Google Shape;16881;p689"/>
          <p:cNvSpPr/>
          <p:nvPr/>
        </p:nvSpPr>
        <p:spPr>
          <a:xfrm>
            <a:off x="5199492" y="2790472"/>
            <a:ext cx="252232" cy="24167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2" name="Google Shape;16882;p689"/>
          <p:cNvSpPr/>
          <p:nvPr/>
        </p:nvSpPr>
        <p:spPr>
          <a:xfrm>
            <a:off x="5537201" y="2461099"/>
            <a:ext cx="252232" cy="24167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3" name="Google Shape;16883;p689"/>
          <p:cNvSpPr/>
          <p:nvPr/>
        </p:nvSpPr>
        <p:spPr>
          <a:xfrm>
            <a:off x="5537201" y="3133751"/>
            <a:ext cx="252232" cy="24167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4" name="Google Shape;16884;p689"/>
          <p:cNvSpPr/>
          <p:nvPr/>
        </p:nvSpPr>
        <p:spPr>
          <a:xfrm>
            <a:off x="4873415" y="2461099"/>
            <a:ext cx="252232" cy="24167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5" name="Google Shape;16885;p689"/>
          <p:cNvSpPr/>
          <p:nvPr/>
        </p:nvSpPr>
        <p:spPr>
          <a:xfrm>
            <a:off x="4873415" y="3133751"/>
            <a:ext cx="252232" cy="24167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886" name="Google Shape;16886;p689"/>
          <p:cNvCxnSpPr>
            <a:stCxn id="16881" idx="7"/>
            <a:endCxn id="16882" idx="3"/>
          </p:cNvCxnSpPr>
          <p:nvPr/>
        </p:nvCxnSpPr>
        <p:spPr>
          <a:xfrm flipH="1" rot="10800000">
            <a:off x="5414785" y="2667465"/>
            <a:ext cx="1593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87" name="Google Shape;16887;p689"/>
          <p:cNvCxnSpPr>
            <a:stCxn id="16881" idx="5"/>
            <a:endCxn id="16883" idx="1"/>
          </p:cNvCxnSpPr>
          <p:nvPr/>
        </p:nvCxnSpPr>
        <p:spPr>
          <a:xfrm>
            <a:off x="5414785" y="2996755"/>
            <a:ext cx="1593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88" name="Google Shape;16888;p689"/>
          <p:cNvCxnSpPr>
            <a:stCxn id="16881" idx="1"/>
            <a:endCxn id="16884" idx="5"/>
          </p:cNvCxnSpPr>
          <p:nvPr/>
        </p:nvCxnSpPr>
        <p:spPr>
          <a:xfrm rot="10800000">
            <a:off x="5088830" y="2667465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89" name="Google Shape;16889;p689"/>
          <p:cNvCxnSpPr>
            <a:stCxn id="16881" idx="3"/>
            <a:endCxn id="16885" idx="7"/>
          </p:cNvCxnSpPr>
          <p:nvPr/>
        </p:nvCxnSpPr>
        <p:spPr>
          <a:xfrm flipH="1">
            <a:off x="5088830" y="2996755"/>
            <a:ext cx="1476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890" name="Google Shape;16890;p689"/>
          <p:cNvSpPr txBox="1"/>
          <p:nvPr/>
        </p:nvSpPr>
        <p:spPr>
          <a:xfrm>
            <a:off x="4945421" y="4792103"/>
            <a:ext cx="741300" cy="2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Junge"/>
                <a:ea typeface="Junge"/>
                <a:cs typeface="Junge"/>
                <a:sym typeface="Junge"/>
              </a:rPr>
              <a:t>Time 3</a:t>
            </a:r>
            <a:endParaRPr b="1">
              <a:latin typeface="Junge"/>
              <a:ea typeface="Junge"/>
              <a:cs typeface="Junge"/>
              <a:sym typeface="Junge"/>
            </a:endParaRPr>
          </a:p>
        </p:txBody>
      </p:sp>
      <p:sp>
        <p:nvSpPr>
          <p:cNvPr id="16891" name="Google Shape;16891;p689"/>
          <p:cNvSpPr/>
          <p:nvPr/>
        </p:nvSpPr>
        <p:spPr>
          <a:xfrm>
            <a:off x="6718288" y="2790472"/>
            <a:ext cx="252232" cy="24167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2" name="Google Shape;16892;p689"/>
          <p:cNvSpPr/>
          <p:nvPr/>
        </p:nvSpPr>
        <p:spPr>
          <a:xfrm>
            <a:off x="7055998" y="2461099"/>
            <a:ext cx="252232" cy="241675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3" name="Google Shape;16893;p689"/>
          <p:cNvSpPr/>
          <p:nvPr/>
        </p:nvSpPr>
        <p:spPr>
          <a:xfrm>
            <a:off x="7055998" y="3133751"/>
            <a:ext cx="252232" cy="24167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4" name="Google Shape;16894;p689"/>
          <p:cNvSpPr/>
          <p:nvPr/>
        </p:nvSpPr>
        <p:spPr>
          <a:xfrm>
            <a:off x="6392212" y="2461099"/>
            <a:ext cx="252232" cy="24167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5" name="Google Shape;16895;p689"/>
          <p:cNvSpPr/>
          <p:nvPr/>
        </p:nvSpPr>
        <p:spPr>
          <a:xfrm>
            <a:off x="6392212" y="3133751"/>
            <a:ext cx="252232" cy="241675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896" name="Google Shape;16896;p689"/>
          <p:cNvCxnSpPr>
            <a:stCxn id="16891" idx="7"/>
            <a:endCxn id="16892" idx="3"/>
          </p:cNvCxnSpPr>
          <p:nvPr/>
        </p:nvCxnSpPr>
        <p:spPr>
          <a:xfrm flipH="1" rot="10800000">
            <a:off x="6933582" y="2667465"/>
            <a:ext cx="1593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97" name="Google Shape;16897;p689"/>
          <p:cNvCxnSpPr>
            <a:stCxn id="16891" idx="5"/>
            <a:endCxn id="16893" idx="1"/>
          </p:cNvCxnSpPr>
          <p:nvPr/>
        </p:nvCxnSpPr>
        <p:spPr>
          <a:xfrm>
            <a:off x="6933582" y="2996755"/>
            <a:ext cx="1593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98" name="Google Shape;16898;p689"/>
          <p:cNvCxnSpPr>
            <a:stCxn id="16891" idx="1"/>
            <a:endCxn id="16894" idx="5"/>
          </p:cNvCxnSpPr>
          <p:nvPr/>
        </p:nvCxnSpPr>
        <p:spPr>
          <a:xfrm rot="10800000">
            <a:off x="6607627" y="2667465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899" name="Google Shape;16899;p689"/>
          <p:cNvCxnSpPr>
            <a:stCxn id="16891" idx="3"/>
            <a:endCxn id="16895" idx="7"/>
          </p:cNvCxnSpPr>
          <p:nvPr/>
        </p:nvCxnSpPr>
        <p:spPr>
          <a:xfrm flipH="1">
            <a:off x="6607627" y="2996755"/>
            <a:ext cx="1476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00" name="Google Shape;16900;p689"/>
          <p:cNvSpPr txBox="1"/>
          <p:nvPr/>
        </p:nvSpPr>
        <p:spPr>
          <a:xfrm>
            <a:off x="6446933" y="4792115"/>
            <a:ext cx="861300" cy="2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Junge"/>
                <a:ea typeface="Junge"/>
                <a:cs typeface="Junge"/>
                <a:sym typeface="Junge"/>
              </a:rPr>
              <a:t>Time 4</a:t>
            </a:r>
            <a:endParaRPr b="1">
              <a:latin typeface="Junge"/>
              <a:ea typeface="Junge"/>
              <a:cs typeface="Junge"/>
              <a:sym typeface="Junge"/>
            </a:endParaRPr>
          </a:p>
        </p:txBody>
      </p:sp>
      <p:sp>
        <p:nvSpPr>
          <p:cNvPr id="16901" name="Google Shape;16901;p689"/>
          <p:cNvSpPr txBox="1"/>
          <p:nvPr/>
        </p:nvSpPr>
        <p:spPr>
          <a:xfrm>
            <a:off x="7098" y="2814500"/>
            <a:ext cx="1865700" cy="2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Junge"/>
                <a:ea typeface="Junge"/>
                <a:cs typeface="Junge"/>
                <a:sym typeface="Junge"/>
              </a:rPr>
              <a:t>Person 1: q = 0.25</a:t>
            </a:r>
            <a:endParaRPr b="1">
              <a:latin typeface="Junge"/>
              <a:ea typeface="Junge"/>
              <a:cs typeface="Junge"/>
              <a:sym typeface="Junge"/>
            </a:endParaRPr>
          </a:p>
        </p:txBody>
      </p:sp>
      <p:sp>
        <p:nvSpPr>
          <p:cNvPr id="16902" name="Google Shape;16902;p689"/>
          <p:cNvSpPr/>
          <p:nvPr/>
        </p:nvSpPr>
        <p:spPr>
          <a:xfrm>
            <a:off x="2170022" y="4117341"/>
            <a:ext cx="251743" cy="241718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3" name="Google Shape;16903;p689"/>
          <p:cNvSpPr/>
          <p:nvPr/>
        </p:nvSpPr>
        <p:spPr>
          <a:xfrm>
            <a:off x="2507135" y="3787968"/>
            <a:ext cx="251743" cy="241718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4" name="Google Shape;16904;p689"/>
          <p:cNvSpPr/>
          <p:nvPr/>
        </p:nvSpPr>
        <p:spPr>
          <a:xfrm>
            <a:off x="2507135" y="4460620"/>
            <a:ext cx="251743" cy="241718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5" name="Google Shape;16905;p689"/>
          <p:cNvSpPr/>
          <p:nvPr/>
        </p:nvSpPr>
        <p:spPr>
          <a:xfrm>
            <a:off x="1844521" y="3787968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6" name="Google Shape;16906;p689"/>
          <p:cNvSpPr/>
          <p:nvPr/>
        </p:nvSpPr>
        <p:spPr>
          <a:xfrm>
            <a:off x="1844521" y="4460620"/>
            <a:ext cx="251743" cy="241718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907" name="Google Shape;16907;p689"/>
          <p:cNvCxnSpPr>
            <a:stCxn id="16902" idx="7"/>
            <a:endCxn id="16903" idx="3"/>
          </p:cNvCxnSpPr>
          <p:nvPr/>
        </p:nvCxnSpPr>
        <p:spPr>
          <a:xfrm flipH="1" rot="10800000">
            <a:off x="2384898" y="3994340"/>
            <a:ext cx="1590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08" name="Google Shape;16908;p689"/>
          <p:cNvCxnSpPr>
            <a:stCxn id="16902" idx="5"/>
            <a:endCxn id="16904" idx="1"/>
          </p:cNvCxnSpPr>
          <p:nvPr/>
        </p:nvCxnSpPr>
        <p:spPr>
          <a:xfrm>
            <a:off x="2384898" y="4323660"/>
            <a:ext cx="1590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09" name="Google Shape;16909;p689"/>
          <p:cNvCxnSpPr>
            <a:stCxn id="16902" idx="1"/>
            <a:endCxn id="16905" idx="5"/>
          </p:cNvCxnSpPr>
          <p:nvPr/>
        </p:nvCxnSpPr>
        <p:spPr>
          <a:xfrm rot="10800000">
            <a:off x="2059289" y="3994340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10" name="Google Shape;16910;p689"/>
          <p:cNvCxnSpPr>
            <a:stCxn id="16902" idx="3"/>
            <a:endCxn id="16906" idx="7"/>
          </p:cNvCxnSpPr>
          <p:nvPr/>
        </p:nvCxnSpPr>
        <p:spPr>
          <a:xfrm flipH="1">
            <a:off x="2059289" y="4323660"/>
            <a:ext cx="1476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11" name="Google Shape;16911;p689"/>
          <p:cNvSpPr/>
          <p:nvPr/>
        </p:nvSpPr>
        <p:spPr>
          <a:xfrm>
            <a:off x="3688826" y="4117420"/>
            <a:ext cx="251743" cy="241718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2" name="Google Shape;16912;p689"/>
          <p:cNvSpPr/>
          <p:nvPr/>
        </p:nvSpPr>
        <p:spPr>
          <a:xfrm>
            <a:off x="4025939" y="3788047"/>
            <a:ext cx="251743" cy="241718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3" name="Google Shape;16913;p689"/>
          <p:cNvSpPr/>
          <p:nvPr/>
        </p:nvSpPr>
        <p:spPr>
          <a:xfrm>
            <a:off x="4025939" y="4460699"/>
            <a:ext cx="251743" cy="241718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4" name="Google Shape;16914;p689"/>
          <p:cNvSpPr/>
          <p:nvPr/>
        </p:nvSpPr>
        <p:spPr>
          <a:xfrm>
            <a:off x="3363326" y="3788047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5" name="Google Shape;16915;p689"/>
          <p:cNvSpPr/>
          <p:nvPr/>
        </p:nvSpPr>
        <p:spPr>
          <a:xfrm>
            <a:off x="3363326" y="4460699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916" name="Google Shape;16916;p689"/>
          <p:cNvCxnSpPr>
            <a:stCxn id="16911" idx="7"/>
            <a:endCxn id="16912" idx="3"/>
          </p:cNvCxnSpPr>
          <p:nvPr/>
        </p:nvCxnSpPr>
        <p:spPr>
          <a:xfrm flipH="1" rot="10800000">
            <a:off x="3903702" y="3994419"/>
            <a:ext cx="1590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17" name="Google Shape;16917;p689"/>
          <p:cNvCxnSpPr>
            <a:stCxn id="16911" idx="5"/>
            <a:endCxn id="16913" idx="1"/>
          </p:cNvCxnSpPr>
          <p:nvPr/>
        </p:nvCxnSpPr>
        <p:spPr>
          <a:xfrm>
            <a:off x="3903702" y="4323739"/>
            <a:ext cx="1590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18" name="Google Shape;16918;p689"/>
          <p:cNvCxnSpPr>
            <a:stCxn id="16911" idx="1"/>
            <a:endCxn id="16914" idx="5"/>
          </p:cNvCxnSpPr>
          <p:nvPr/>
        </p:nvCxnSpPr>
        <p:spPr>
          <a:xfrm rot="10800000">
            <a:off x="3578093" y="3994419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19" name="Google Shape;16919;p689"/>
          <p:cNvCxnSpPr>
            <a:stCxn id="16911" idx="3"/>
            <a:endCxn id="16915" idx="7"/>
          </p:cNvCxnSpPr>
          <p:nvPr/>
        </p:nvCxnSpPr>
        <p:spPr>
          <a:xfrm flipH="1">
            <a:off x="3578093" y="4323739"/>
            <a:ext cx="1476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20" name="Google Shape;16920;p689"/>
          <p:cNvSpPr/>
          <p:nvPr/>
        </p:nvSpPr>
        <p:spPr>
          <a:xfrm>
            <a:off x="5207673" y="4117422"/>
            <a:ext cx="251743" cy="241718"/>
          </a:xfrm>
          <a:prstGeom prst="ellipse">
            <a:avLst/>
          </a:prstGeom>
          <a:solidFill>
            <a:schemeClr val="accent5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1" name="Google Shape;16921;p689"/>
          <p:cNvSpPr/>
          <p:nvPr/>
        </p:nvSpPr>
        <p:spPr>
          <a:xfrm>
            <a:off x="5544786" y="3788049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2" name="Google Shape;16922;p689"/>
          <p:cNvSpPr/>
          <p:nvPr/>
        </p:nvSpPr>
        <p:spPr>
          <a:xfrm>
            <a:off x="5544786" y="4460701"/>
            <a:ext cx="251743" cy="241718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3" name="Google Shape;16923;p689"/>
          <p:cNvSpPr/>
          <p:nvPr/>
        </p:nvSpPr>
        <p:spPr>
          <a:xfrm>
            <a:off x="4882172" y="3788049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4" name="Google Shape;16924;p689"/>
          <p:cNvSpPr/>
          <p:nvPr/>
        </p:nvSpPr>
        <p:spPr>
          <a:xfrm>
            <a:off x="4882172" y="4460701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925" name="Google Shape;16925;p689"/>
          <p:cNvCxnSpPr>
            <a:stCxn id="16920" idx="7"/>
            <a:endCxn id="16921" idx="3"/>
          </p:cNvCxnSpPr>
          <p:nvPr/>
        </p:nvCxnSpPr>
        <p:spPr>
          <a:xfrm flipH="1" rot="10800000">
            <a:off x="5422549" y="3994421"/>
            <a:ext cx="1590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26" name="Google Shape;16926;p689"/>
          <p:cNvCxnSpPr>
            <a:stCxn id="16920" idx="5"/>
            <a:endCxn id="16922" idx="1"/>
          </p:cNvCxnSpPr>
          <p:nvPr/>
        </p:nvCxnSpPr>
        <p:spPr>
          <a:xfrm>
            <a:off x="5422549" y="4323741"/>
            <a:ext cx="1590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27" name="Google Shape;16927;p689"/>
          <p:cNvCxnSpPr>
            <a:stCxn id="16920" idx="1"/>
            <a:endCxn id="16923" idx="5"/>
          </p:cNvCxnSpPr>
          <p:nvPr/>
        </p:nvCxnSpPr>
        <p:spPr>
          <a:xfrm rot="10800000">
            <a:off x="5096940" y="3994421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28" name="Google Shape;16928;p689"/>
          <p:cNvCxnSpPr>
            <a:stCxn id="16920" idx="3"/>
            <a:endCxn id="16924" idx="7"/>
          </p:cNvCxnSpPr>
          <p:nvPr/>
        </p:nvCxnSpPr>
        <p:spPr>
          <a:xfrm flipH="1">
            <a:off x="5096940" y="4323741"/>
            <a:ext cx="1476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29" name="Google Shape;16929;p689"/>
          <p:cNvSpPr/>
          <p:nvPr/>
        </p:nvSpPr>
        <p:spPr>
          <a:xfrm>
            <a:off x="6726527" y="4117422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0" name="Google Shape;16930;p689"/>
          <p:cNvSpPr/>
          <p:nvPr/>
        </p:nvSpPr>
        <p:spPr>
          <a:xfrm>
            <a:off x="7063640" y="3788049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1" name="Google Shape;16931;p689"/>
          <p:cNvSpPr/>
          <p:nvPr/>
        </p:nvSpPr>
        <p:spPr>
          <a:xfrm>
            <a:off x="7063640" y="4460701"/>
            <a:ext cx="251743" cy="241718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2" name="Google Shape;16932;p689"/>
          <p:cNvSpPr/>
          <p:nvPr/>
        </p:nvSpPr>
        <p:spPr>
          <a:xfrm>
            <a:off x="6401027" y="3788049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3" name="Google Shape;16933;p689"/>
          <p:cNvSpPr/>
          <p:nvPr/>
        </p:nvSpPr>
        <p:spPr>
          <a:xfrm>
            <a:off x="6401027" y="4460701"/>
            <a:ext cx="251743" cy="241718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934" name="Google Shape;16934;p689"/>
          <p:cNvCxnSpPr>
            <a:stCxn id="16929" idx="7"/>
            <a:endCxn id="16930" idx="3"/>
          </p:cNvCxnSpPr>
          <p:nvPr/>
        </p:nvCxnSpPr>
        <p:spPr>
          <a:xfrm flipH="1" rot="10800000">
            <a:off x="6941403" y="3994421"/>
            <a:ext cx="1590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35" name="Google Shape;16935;p689"/>
          <p:cNvCxnSpPr>
            <a:stCxn id="16929" idx="5"/>
            <a:endCxn id="16931" idx="1"/>
          </p:cNvCxnSpPr>
          <p:nvPr/>
        </p:nvCxnSpPr>
        <p:spPr>
          <a:xfrm>
            <a:off x="6941403" y="4323741"/>
            <a:ext cx="1590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36" name="Google Shape;16936;p689"/>
          <p:cNvCxnSpPr>
            <a:stCxn id="16929" idx="1"/>
            <a:endCxn id="16932" idx="5"/>
          </p:cNvCxnSpPr>
          <p:nvPr/>
        </p:nvCxnSpPr>
        <p:spPr>
          <a:xfrm rot="10800000">
            <a:off x="6615794" y="3994421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37" name="Google Shape;16937;p689"/>
          <p:cNvCxnSpPr>
            <a:stCxn id="16929" idx="3"/>
            <a:endCxn id="16933" idx="7"/>
          </p:cNvCxnSpPr>
          <p:nvPr/>
        </p:nvCxnSpPr>
        <p:spPr>
          <a:xfrm flipH="1">
            <a:off x="6615794" y="4323741"/>
            <a:ext cx="147600" cy="172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38" name="Google Shape;16938;p689"/>
          <p:cNvSpPr txBox="1"/>
          <p:nvPr/>
        </p:nvSpPr>
        <p:spPr>
          <a:xfrm>
            <a:off x="7088" y="4124250"/>
            <a:ext cx="1865700" cy="2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Junge"/>
                <a:ea typeface="Junge"/>
                <a:cs typeface="Junge"/>
                <a:sym typeface="Junge"/>
              </a:rPr>
              <a:t>Person 2: q = 0.75</a:t>
            </a:r>
            <a:endParaRPr b="1">
              <a:latin typeface="Junge"/>
              <a:ea typeface="Junge"/>
              <a:cs typeface="Junge"/>
              <a:sym typeface="Junge"/>
            </a:endParaRPr>
          </a:p>
        </p:txBody>
      </p:sp>
      <p:sp>
        <p:nvSpPr>
          <p:cNvPr id="16939" name="Google Shape;16939;p689"/>
          <p:cNvSpPr/>
          <p:nvPr/>
        </p:nvSpPr>
        <p:spPr>
          <a:xfrm>
            <a:off x="8123863" y="2790472"/>
            <a:ext cx="2523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0" name="Google Shape;16940;p689"/>
          <p:cNvSpPr/>
          <p:nvPr/>
        </p:nvSpPr>
        <p:spPr>
          <a:xfrm>
            <a:off x="8461573" y="2461099"/>
            <a:ext cx="2523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1" name="Google Shape;16941;p689"/>
          <p:cNvSpPr/>
          <p:nvPr/>
        </p:nvSpPr>
        <p:spPr>
          <a:xfrm>
            <a:off x="8461573" y="3133751"/>
            <a:ext cx="2523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2" name="Google Shape;16942;p689"/>
          <p:cNvSpPr/>
          <p:nvPr/>
        </p:nvSpPr>
        <p:spPr>
          <a:xfrm>
            <a:off x="7797787" y="2461099"/>
            <a:ext cx="2523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3" name="Google Shape;16943;p689"/>
          <p:cNvSpPr/>
          <p:nvPr/>
        </p:nvSpPr>
        <p:spPr>
          <a:xfrm>
            <a:off x="7797787" y="3133751"/>
            <a:ext cx="2523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944" name="Google Shape;16944;p689"/>
          <p:cNvCxnSpPr>
            <a:stCxn id="16939" idx="7"/>
            <a:endCxn id="16940" idx="3"/>
          </p:cNvCxnSpPr>
          <p:nvPr/>
        </p:nvCxnSpPr>
        <p:spPr>
          <a:xfrm flipH="1" rot="10800000">
            <a:off x="8339215" y="2667483"/>
            <a:ext cx="1593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45" name="Google Shape;16945;p689"/>
          <p:cNvCxnSpPr>
            <a:stCxn id="16939" idx="5"/>
            <a:endCxn id="16941" idx="1"/>
          </p:cNvCxnSpPr>
          <p:nvPr/>
        </p:nvCxnSpPr>
        <p:spPr>
          <a:xfrm>
            <a:off x="8339215" y="2996862"/>
            <a:ext cx="159300" cy="17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46" name="Google Shape;16946;p689"/>
          <p:cNvCxnSpPr>
            <a:stCxn id="16939" idx="1"/>
            <a:endCxn id="16942" idx="5"/>
          </p:cNvCxnSpPr>
          <p:nvPr/>
        </p:nvCxnSpPr>
        <p:spPr>
          <a:xfrm rot="10800000">
            <a:off x="8013212" y="2667483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47" name="Google Shape;16947;p689"/>
          <p:cNvCxnSpPr>
            <a:stCxn id="16939" idx="3"/>
            <a:endCxn id="16943" idx="7"/>
          </p:cNvCxnSpPr>
          <p:nvPr/>
        </p:nvCxnSpPr>
        <p:spPr>
          <a:xfrm flipH="1">
            <a:off x="8013212" y="2996862"/>
            <a:ext cx="147600" cy="17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48" name="Google Shape;16948;p689"/>
          <p:cNvSpPr txBox="1"/>
          <p:nvPr/>
        </p:nvSpPr>
        <p:spPr>
          <a:xfrm>
            <a:off x="7852508" y="4792115"/>
            <a:ext cx="861300" cy="2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Junge"/>
                <a:ea typeface="Junge"/>
                <a:cs typeface="Junge"/>
                <a:sym typeface="Junge"/>
              </a:rPr>
              <a:t>Time 5</a:t>
            </a:r>
            <a:endParaRPr b="1">
              <a:latin typeface="Junge"/>
              <a:ea typeface="Junge"/>
              <a:cs typeface="Junge"/>
              <a:sym typeface="Junge"/>
            </a:endParaRPr>
          </a:p>
        </p:txBody>
      </p:sp>
      <p:sp>
        <p:nvSpPr>
          <p:cNvPr id="16949" name="Google Shape;16949;p689"/>
          <p:cNvSpPr/>
          <p:nvPr/>
        </p:nvSpPr>
        <p:spPr>
          <a:xfrm>
            <a:off x="8132102" y="4117422"/>
            <a:ext cx="2517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0" name="Google Shape;16950;p689"/>
          <p:cNvSpPr/>
          <p:nvPr/>
        </p:nvSpPr>
        <p:spPr>
          <a:xfrm>
            <a:off x="8469215" y="3788049"/>
            <a:ext cx="2517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1" name="Google Shape;16951;p689"/>
          <p:cNvSpPr/>
          <p:nvPr/>
        </p:nvSpPr>
        <p:spPr>
          <a:xfrm>
            <a:off x="8469215" y="4460701"/>
            <a:ext cx="2517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2" name="Google Shape;16952;p689"/>
          <p:cNvSpPr/>
          <p:nvPr/>
        </p:nvSpPr>
        <p:spPr>
          <a:xfrm>
            <a:off x="7806602" y="3788049"/>
            <a:ext cx="2517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3" name="Google Shape;16953;p689"/>
          <p:cNvSpPr/>
          <p:nvPr/>
        </p:nvSpPr>
        <p:spPr>
          <a:xfrm>
            <a:off x="7806602" y="4460701"/>
            <a:ext cx="251700" cy="241800"/>
          </a:xfrm>
          <a:prstGeom prst="ellipse">
            <a:avLst/>
          </a:prstGeom>
          <a:solidFill>
            <a:srgbClr val="FF0000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954" name="Google Shape;16954;p689"/>
          <p:cNvCxnSpPr>
            <a:stCxn id="16949" idx="7"/>
            <a:endCxn id="16950" idx="3"/>
          </p:cNvCxnSpPr>
          <p:nvPr/>
        </p:nvCxnSpPr>
        <p:spPr>
          <a:xfrm flipH="1" rot="10800000">
            <a:off x="8346942" y="3994433"/>
            <a:ext cx="1590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55" name="Google Shape;16955;p689"/>
          <p:cNvCxnSpPr>
            <a:stCxn id="16949" idx="5"/>
            <a:endCxn id="16951" idx="1"/>
          </p:cNvCxnSpPr>
          <p:nvPr/>
        </p:nvCxnSpPr>
        <p:spPr>
          <a:xfrm>
            <a:off x="8346942" y="4323811"/>
            <a:ext cx="159000" cy="17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56" name="Google Shape;16956;p689"/>
          <p:cNvCxnSpPr>
            <a:stCxn id="16949" idx="1"/>
            <a:endCxn id="16952" idx="5"/>
          </p:cNvCxnSpPr>
          <p:nvPr/>
        </p:nvCxnSpPr>
        <p:spPr>
          <a:xfrm rot="10800000">
            <a:off x="8021363" y="3994433"/>
            <a:ext cx="147600" cy="158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957" name="Google Shape;16957;p689"/>
          <p:cNvCxnSpPr>
            <a:stCxn id="16949" idx="3"/>
            <a:endCxn id="16953" idx="7"/>
          </p:cNvCxnSpPr>
          <p:nvPr/>
        </p:nvCxnSpPr>
        <p:spPr>
          <a:xfrm flipH="1">
            <a:off x="8021363" y="4323811"/>
            <a:ext cx="147600" cy="17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961" name="Shape 16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2" name="Google Shape;16962;p69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Network Threshold Models</a:t>
            </a:r>
            <a:endParaRPr/>
          </a:p>
        </p:txBody>
      </p:sp>
      <p:sp>
        <p:nvSpPr>
          <p:cNvPr id="16963" name="Google Shape;16963;p690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Just like before, everybody has a threshold q(i)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When the proportion of neighbors who have adopted equals q(i), the person adopts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We can then redefine adopter categories (e.g. innovators) as either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System Relative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Whole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Network Relative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Ego-network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For instance you can be an innovator in the grand scheme of things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But be a relative laggard compared to your friends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all of your friends are innovators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You can be a laggard in the grand scheme of things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But be an innovator among your friends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Because you are surrounded by even bigger laggards!</a:t>
            </a:r>
            <a:endParaRPr/>
          </a:p>
        </p:txBody>
      </p:sp>
    </p:spTree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967" name="Shape 16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8" name="Google Shape;16968;p69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Valente’s Network Threshold Model</a:t>
            </a:r>
            <a:endParaRPr/>
          </a:p>
        </p:txBody>
      </p:sp>
      <p:sp>
        <p:nvSpPr>
          <p:cNvPr id="16969" name="Google Shape;16969;p691"/>
          <p:cNvSpPr txBox="1"/>
          <p:nvPr>
            <p:ph idx="1" type="body"/>
          </p:nvPr>
        </p:nvSpPr>
        <p:spPr>
          <a:xfrm>
            <a:off x="311700" y="1225208"/>
            <a:ext cx="8520600" cy="13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Revisiting the Roger’s classification using Valente’s model: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Who's an “opinion leader”?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Early adopters who convince those with high network thresholds (but similar system threshold) to adopt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16970" name="Google Shape;16970;p691"/>
          <p:cNvGraphicFramePr/>
          <p:nvPr/>
        </p:nvGraphicFramePr>
        <p:xfrm>
          <a:off x="3606275" y="30866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{632AA907-9878-4405-B012-53F35075F722}</a:tableStyleId>
              </a:tblPr>
              <a:tblGrid>
                <a:gridCol w="2327250"/>
                <a:gridCol w="2327250"/>
              </a:tblGrid>
              <a:tr h="6889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True innovators (influentials)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Isolates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</a:tr>
              <a:tr h="6889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Connected Bandwagon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Resistant rearguard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</a:tr>
            </a:tbl>
          </a:graphicData>
        </a:graphic>
      </p:graphicFrame>
      <p:sp>
        <p:nvSpPr>
          <p:cNvPr id="16971" name="Google Shape;16971;p691"/>
          <p:cNvSpPr txBox="1"/>
          <p:nvPr/>
        </p:nvSpPr>
        <p:spPr>
          <a:xfrm>
            <a:off x="2856575" y="3088440"/>
            <a:ext cx="749700" cy="13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Low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High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72" name="Google Shape;16972;p691"/>
          <p:cNvSpPr txBox="1"/>
          <p:nvPr/>
        </p:nvSpPr>
        <p:spPr>
          <a:xfrm>
            <a:off x="0" y="3088450"/>
            <a:ext cx="2909400" cy="137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Personal Network Threshold</a:t>
            </a:r>
            <a:endParaRPr b="1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73" name="Google Shape;16973;p691"/>
          <p:cNvSpPr txBox="1"/>
          <p:nvPr/>
        </p:nvSpPr>
        <p:spPr>
          <a:xfrm>
            <a:off x="3606275" y="2686185"/>
            <a:ext cx="4654500" cy="39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45720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Low				       High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74" name="Google Shape;16974;p691"/>
          <p:cNvSpPr txBox="1"/>
          <p:nvPr/>
        </p:nvSpPr>
        <p:spPr>
          <a:xfrm>
            <a:off x="3795575" y="2489614"/>
            <a:ext cx="44652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Whole Network Threshold</a:t>
            </a:r>
            <a:endParaRPr b="1" sz="18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978" name="Shape 16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79" name="Google Shape;16979;p69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Valente’s Network Threshold Model</a:t>
            </a:r>
            <a:endParaRPr/>
          </a:p>
        </p:txBody>
      </p:sp>
      <p:sp>
        <p:nvSpPr>
          <p:cNvPr id="16980" name="Google Shape;16980;p692"/>
          <p:cNvSpPr txBox="1"/>
          <p:nvPr>
            <p:ph idx="1" type="body"/>
          </p:nvPr>
        </p:nvSpPr>
        <p:spPr>
          <a:xfrm>
            <a:off x="311700" y="1225222"/>
            <a:ext cx="8520600" cy="116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network threshold model makes sense of a lot of classic findings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For instance, early adopters adopt from media or weak ties, late adopters adopt from their friends/strong ties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This seems to reflect a</a:t>
            </a:r>
            <a:r>
              <a:rPr b="1" lang="en"/>
              <a:t> Local/Cosmopolitan</a:t>
            </a:r>
            <a:r>
              <a:rPr lang="en"/>
              <a:t> split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16981" name="Google Shape;16981;p692"/>
          <p:cNvGraphicFramePr/>
          <p:nvPr/>
        </p:nvGraphicFramePr>
        <p:xfrm>
          <a:off x="3606275" y="30866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{632AA907-9878-4405-B012-53F35075F722}</a:tableStyleId>
              </a:tblPr>
              <a:tblGrid>
                <a:gridCol w="2327250"/>
                <a:gridCol w="2327250"/>
              </a:tblGrid>
              <a:tr h="6889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True innovators (influentials)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Isolates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</a:tr>
              <a:tr h="6889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Connected Bandwagon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Resistant rearguard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</a:tr>
            </a:tbl>
          </a:graphicData>
        </a:graphic>
      </p:graphicFrame>
      <p:sp>
        <p:nvSpPr>
          <p:cNvPr id="16982" name="Google Shape;16982;p692"/>
          <p:cNvSpPr txBox="1"/>
          <p:nvPr/>
        </p:nvSpPr>
        <p:spPr>
          <a:xfrm>
            <a:off x="2856575" y="3088440"/>
            <a:ext cx="749700" cy="13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Low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High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83" name="Google Shape;16983;p692"/>
          <p:cNvSpPr txBox="1"/>
          <p:nvPr/>
        </p:nvSpPr>
        <p:spPr>
          <a:xfrm>
            <a:off x="0" y="3088450"/>
            <a:ext cx="2909400" cy="137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Personal Network Threshold</a:t>
            </a:r>
            <a:endParaRPr b="1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84" name="Google Shape;16984;p692"/>
          <p:cNvSpPr txBox="1"/>
          <p:nvPr/>
        </p:nvSpPr>
        <p:spPr>
          <a:xfrm>
            <a:off x="3606275" y="2686185"/>
            <a:ext cx="4654500" cy="39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45720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Low				       High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85" name="Google Shape;16985;p692"/>
          <p:cNvSpPr txBox="1"/>
          <p:nvPr/>
        </p:nvSpPr>
        <p:spPr>
          <a:xfrm>
            <a:off x="3795575" y="2489614"/>
            <a:ext cx="44652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Whole Network Threshold</a:t>
            </a:r>
            <a:endParaRPr b="1" sz="18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989" name="Shape 16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0" name="Google Shape;16990;p69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Valente’s Network Threshold Model</a:t>
            </a:r>
            <a:endParaRPr/>
          </a:p>
        </p:txBody>
      </p:sp>
      <p:sp>
        <p:nvSpPr>
          <p:cNvPr id="16991" name="Google Shape;16991;p693"/>
          <p:cNvSpPr txBox="1"/>
          <p:nvPr>
            <p:ph idx="1" type="body"/>
          </p:nvPr>
        </p:nvSpPr>
        <p:spPr>
          <a:xfrm>
            <a:off x="311700" y="1225221"/>
            <a:ext cx="8520600" cy="126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network threshold model makes sense of a lot of classic findings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For instance, early adopters adopt from media or weak ties, late adopters adopt from their friends/strong ties</a:t>
            </a:r>
            <a:endParaRPr/>
          </a:p>
          <a:p>
            <a:pPr indent="-317500" lvl="2" marL="13716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Cosmopolitan </a:t>
            </a:r>
            <a:r>
              <a:rPr lang="en"/>
              <a:t>innovators tend to be early adopters relative to the system and have very low threshold relative to their network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16992" name="Google Shape;16992;p693"/>
          <p:cNvGraphicFramePr/>
          <p:nvPr/>
        </p:nvGraphicFramePr>
        <p:xfrm>
          <a:off x="3606275" y="30866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{632AA907-9878-4405-B012-53F35075F722}</a:tableStyleId>
              </a:tblPr>
              <a:tblGrid>
                <a:gridCol w="2327250"/>
                <a:gridCol w="2327250"/>
              </a:tblGrid>
              <a:tr h="6889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True innovators (influentials)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Isolates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</a:tr>
              <a:tr h="6889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Connected Bandwagon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i="1" lang="en" sz="1600"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Resistant rearguard</a:t>
                      </a:r>
                      <a:endParaRPr i="1" sz="16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/>
                </a:tc>
              </a:tr>
            </a:tbl>
          </a:graphicData>
        </a:graphic>
      </p:graphicFrame>
      <p:sp>
        <p:nvSpPr>
          <p:cNvPr id="16993" name="Google Shape;16993;p693"/>
          <p:cNvSpPr txBox="1"/>
          <p:nvPr/>
        </p:nvSpPr>
        <p:spPr>
          <a:xfrm>
            <a:off x="2856575" y="3088440"/>
            <a:ext cx="749700" cy="13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Low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High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94" name="Google Shape;16994;p693"/>
          <p:cNvSpPr txBox="1"/>
          <p:nvPr/>
        </p:nvSpPr>
        <p:spPr>
          <a:xfrm>
            <a:off x="0" y="3088450"/>
            <a:ext cx="2909400" cy="137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Personal Network Threshold</a:t>
            </a:r>
            <a:endParaRPr b="1"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95" name="Google Shape;16995;p693"/>
          <p:cNvSpPr txBox="1"/>
          <p:nvPr/>
        </p:nvSpPr>
        <p:spPr>
          <a:xfrm>
            <a:off x="3606275" y="2686185"/>
            <a:ext cx="4654500" cy="39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45720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Open Sans"/>
                <a:ea typeface="Open Sans"/>
                <a:cs typeface="Open Sans"/>
                <a:sym typeface="Open Sans"/>
              </a:rPr>
              <a:t>Low				       High</a:t>
            </a:r>
            <a:endParaRPr sz="18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996" name="Google Shape;16996;p693"/>
          <p:cNvSpPr txBox="1"/>
          <p:nvPr/>
        </p:nvSpPr>
        <p:spPr>
          <a:xfrm>
            <a:off x="3795575" y="2489614"/>
            <a:ext cx="44652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pen Sans"/>
                <a:ea typeface="Open Sans"/>
                <a:cs typeface="Open Sans"/>
                <a:sym typeface="Open Sans"/>
              </a:rPr>
              <a:t>Whole Network Threshold</a:t>
            </a:r>
            <a:endParaRPr b="1" sz="1800"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7000" name="Shape 17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1" name="Google Shape;17001;p69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Complex versus simplex contagion</a:t>
            </a:r>
            <a:endParaRPr/>
          </a:p>
        </p:txBody>
      </p:sp>
      <p:sp>
        <p:nvSpPr>
          <p:cNvPr id="17002" name="Google Shape;17002;p694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Differences in the propensity to adopt an innovation can be modeled as a threshold process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However, thresholds may not be fixed for individuals regardless of what is being diffused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Thresholds may depend on the characteristics of what is being diffused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Low threshold -&gt; Low risk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High threshold -&gt; High risk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Innovations that entail risk, ostracism, potential loss of resources, may elicit higher thresholds from all actors in the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Persons require exposure to multiple sources to adopt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Innovations (e.g. gossip) that carry little risk may in their turn elicit a very low threshold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the simplest case, the person adopts as soon as one of their neighbors adopts</a:t>
            </a:r>
            <a:endParaRPr/>
          </a:p>
        </p:txBody>
      </p:sp>
    </p:spTree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7006" name="Shape 17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7" name="Google Shape;17007;p695"/>
          <p:cNvSpPr txBox="1"/>
          <p:nvPr>
            <p:ph type="ctrTitle"/>
          </p:nvPr>
        </p:nvSpPr>
        <p:spPr>
          <a:xfrm>
            <a:off x="3044700" y="945562"/>
            <a:ext cx="3054600" cy="203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Position in Networks</a:t>
            </a:r>
            <a:endParaRPr/>
          </a:p>
        </p:txBody>
      </p:sp>
      <p:sp>
        <p:nvSpPr>
          <p:cNvPr id="17008" name="Google Shape;17008;p695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12" name="Shape 17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3" name="Google Shape;17013;p69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position in networks</a:t>
            </a:r>
            <a:endParaRPr/>
          </a:p>
        </p:txBody>
      </p:sp>
      <p:sp>
        <p:nvSpPr>
          <p:cNvPr id="17014" name="Google Shape;17014;p696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standard social science </a:t>
            </a:r>
            <a:r>
              <a:rPr lang="en">
                <a:solidFill>
                  <a:srgbClr val="FF0000"/>
                </a:solidFill>
              </a:rPr>
              <a:t>social position</a:t>
            </a:r>
            <a:r>
              <a:rPr lang="en">
                <a:solidFill>
                  <a:schemeClr val="accent5"/>
                </a:solidFill>
              </a:rPr>
              <a:t> </a:t>
            </a:r>
            <a:r>
              <a:rPr lang="en"/>
              <a:t>is measured either: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As a </a:t>
            </a:r>
            <a:r>
              <a:rPr b="1" lang="en"/>
              <a:t>rank </a:t>
            </a:r>
            <a:r>
              <a:rPr lang="en"/>
              <a:t>on some kind of ordinal or continuous </a:t>
            </a:r>
            <a:r>
              <a:rPr b="1" lang="en"/>
              <a:t>scale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Wealth, income, education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As </a:t>
            </a:r>
            <a:r>
              <a:rPr b="1" lang="en"/>
              <a:t>membership </a:t>
            </a:r>
            <a:r>
              <a:rPr lang="en"/>
              <a:t>in some kind of nominal </a:t>
            </a:r>
            <a:r>
              <a:rPr b="1" lang="en"/>
              <a:t>category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Gender, race, marital status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Standard social science measures social position as </a:t>
            </a:r>
            <a:r>
              <a:rPr b="1" lang="en"/>
              <a:t>attribute similarity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Two actors occupy the same social position is they have the same rank on scale (e.g., college educated) or are members of the same nominal category (e.g., gender)</a:t>
            </a:r>
            <a:endParaRPr i="1"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18" name="Shape 17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9" name="Google Shape;17019;p69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position in networks</a:t>
            </a:r>
            <a:endParaRPr/>
          </a:p>
        </p:txBody>
      </p:sp>
      <p:sp>
        <p:nvSpPr>
          <p:cNvPr id="17020" name="Google Shape;17020;p697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standard social science </a:t>
            </a:r>
            <a:r>
              <a:rPr lang="en">
                <a:solidFill>
                  <a:srgbClr val="FF0000"/>
                </a:solidFill>
              </a:rPr>
              <a:t>social position</a:t>
            </a:r>
            <a:r>
              <a:rPr lang="en">
                <a:solidFill>
                  <a:schemeClr val="accent5"/>
                </a:solidFill>
              </a:rPr>
              <a:t> </a:t>
            </a:r>
            <a:r>
              <a:rPr lang="en"/>
              <a:t>is measured either: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As a </a:t>
            </a:r>
            <a:r>
              <a:rPr b="1" lang="en"/>
              <a:t>rank </a:t>
            </a:r>
            <a:r>
              <a:rPr lang="en"/>
              <a:t>on some kind of ordinal or continuous </a:t>
            </a:r>
            <a:r>
              <a:rPr b="1" lang="en"/>
              <a:t>scale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Wealth, income, education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As </a:t>
            </a:r>
            <a:r>
              <a:rPr b="1" lang="en"/>
              <a:t>membership </a:t>
            </a:r>
            <a:r>
              <a:rPr lang="en"/>
              <a:t>in some kind of nominal </a:t>
            </a:r>
            <a:r>
              <a:rPr b="1" lang="en"/>
              <a:t>category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Gender, race, marital status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Standard social science measures social position as </a:t>
            </a:r>
            <a:r>
              <a:rPr b="1" lang="en"/>
              <a:t>attribute similarity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Two actors occupy the same social position is they have the same rank on scale (e.g., college educated) or are members of the same nominal category (e.g., gender)</a:t>
            </a:r>
            <a:endParaRPr i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 </a:t>
            </a:r>
            <a:r>
              <a:rPr b="1" lang="en"/>
              <a:t>social network analysis</a:t>
            </a:r>
            <a:r>
              <a:rPr lang="en"/>
              <a:t> </a:t>
            </a:r>
            <a:r>
              <a:rPr lang="en">
                <a:solidFill>
                  <a:srgbClr val="FF0000"/>
                </a:solidFill>
              </a:rPr>
              <a:t>social position </a:t>
            </a:r>
            <a:r>
              <a:rPr lang="en"/>
              <a:t>is measured by the pattern of relations each actor has with other actor in the network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Social network analysis measures social position as </a:t>
            </a:r>
            <a:r>
              <a:rPr b="1" lang="en"/>
              <a:t>relational similarity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/>
          </a:p>
          <a:p>
            <a:pPr indent="0" lvl="0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457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24" name="Shape 17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5" name="Google Shape;17025;p69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position in networks</a:t>
            </a:r>
            <a:endParaRPr/>
          </a:p>
        </p:txBody>
      </p:sp>
      <p:sp>
        <p:nvSpPr>
          <p:cNvPr id="17026" name="Google Shape;17026;p698"/>
          <p:cNvSpPr txBox="1"/>
          <p:nvPr>
            <p:ph idx="1" type="body"/>
          </p:nvPr>
        </p:nvSpPr>
        <p:spPr>
          <a:xfrm>
            <a:off x="311700" y="1225215"/>
            <a:ext cx="5029800" cy="33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Positional analysis</a:t>
            </a:r>
            <a:r>
              <a:rPr lang="en"/>
              <a:t> is the branch of social network analysis in charge of: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Defining different notions of network position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Using graph theory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Developing techniques to measure them: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Using matrix algebra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position of actor </a:t>
            </a:r>
            <a:r>
              <a:rPr b="1" lang="en"/>
              <a:t>b</a:t>
            </a:r>
            <a:r>
              <a:rPr lang="en"/>
              <a:t> in the network is given by their pattern of relations to other actors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How similar (or different) in terms of their connectivity pattern is b from other actors?</a:t>
            </a:r>
            <a:endParaRPr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Can we create groups or classes of actors based on their relational similarity?</a:t>
            </a:r>
            <a:endParaRPr i="1">
              <a:solidFill>
                <a:srgbClr val="FF0000"/>
              </a:solidFill>
            </a:endParaRPr>
          </a:p>
        </p:txBody>
      </p:sp>
      <p:graphicFrame>
        <p:nvGraphicFramePr>
          <p:cNvPr id="17027" name="Google Shape;17027;p698"/>
          <p:cNvGraphicFramePr/>
          <p:nvPr/>
        </p:nvGraphicFramePr>
        <p:xfrm>
          <a:off x="5891688" y="225614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98425"/>
                <a:gridCol w="398425"/>
                <a:gridCol w="398425"/>
                <a:gridCol w="398425"/>
                <a:gridCol w="398425"/>
                <a:gridCol w="398425"/>
              </a:tblGrid>
              <a:tr h="343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a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b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c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d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e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406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a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--</a:t>
                      </a:r>
                      <a:endParaRPr sz="1300"/>
                    </a:p>
                  </a:txBody>
                  <a:tcPr marT="82275" marB="8227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1</a:t>
                      </a:r>
                      <a:endParaRPr sz="1300"/>
                    </a:p>
                  </a:txBody>
                  <a:tcPr marT="82275" marB="8227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</a:tr>
              <a:tr h="3406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b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1</a:t>
                      </a:r>
                      <a:endParaRPr sz="1300"/>
                    </a:p>
                  </a:txBody>
                  <a:tcPr marT="82275" marB="8227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--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/>
                </a:tc>
              </a:tr>
              <a:tr h="3406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c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1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--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1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1</a:t>
                      </a:r>
                      <a:endParaRPr sz="1300"/>
                    </a:p>
                  </a:txBody>
                  <a:tcPr marT="82275" marB="82275" marR="91425" marL="91425" anchor="ctr"/>
                </a:tc>
              </a:tr>
              <a:tr h="343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d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--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/>
                </a:tc>
              </a:tr>
              <a:tr h="343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e</a:t>
                      </a:r>
                      <a:endParaRPr sz="1300"/>
                    </a:p>
                  </a:txBody>
                  <a:tcPr marT="82275" marB="8227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0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1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1</a:t>
                      </a:r>
                      <a:endParaRPr sz="1300"/>
                    </a:p>
                  </a:txBody>
                  <a:tcPr marT="82275" marB="82275" marR="91425" marL="91425" anchor="ctr"/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/>
                        <a:t>--</a:t>
                      </a:r>
                      <a:endParaRPr sz="1300"/>
                    </a:p>
                  </a:txBody>
                  <a:tcPr marT="82275" marB="82275" marR="91425" marL="91425" anchor="ctr"/>
                </a:tc>
              </a:tr>
            </a:tbl>
          </a:graphicData>
        </a:graphic>
      </p:graphicFrame>
      <p:grpSp>
        <p:nvGrpSpPr>
          <p:cNvPr id="17028" name="Google Shape;17028;p698"/>
          <p:cNvGrpSpPr/>
          <p:nvPr/>
        </p:nvGrpSpPr>
        <p:grpSpPr>
          <a:xfrm>
            <a:off x="5341637" y="803350"/>
            <a:ext cx="3490675" cy="1452782"/>
            <a:chOff x="5264900" y="3059073"/>
            <a:chExt cx="3490675" cy="1614202"/>
          </a:xfrm>
        </p:grpSpPr>
        <p:pic>
          <p:nvPicPr>
            <p:cNvPr id="17029" name="Google Shape;17029;p698"/>
            <p:cNvPicPr preferRelativeResize="0"/>
            <p:nvPr/>
          </p:nvPicPr>
          <p:blipFill rotWithShape="1">
            <a:blip r:embed="rId3">
              <a:alphaModFix/>
            </a:blip>
            <a:srcRect b="54218" l="50926" r="2550" t="22708"/>
            <a:stretch/>
          </p:blipFill>
          <p:spPr>
            <a:xfrm>
              <a:off x="5264900" y="3059073"/>
              <a:ext cx="3490675" cy="1321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30" name="Google Shape;17030;p698"/>
            <p:cNvSpPr txBox="1"/>
            <p:nvPr/>
          </p:nvSpPr>
          <p:spPr>
            <a:xfrm>
              <a:off x="5782900" y="4380775"/>
              <a:ext cx="2464200" cy="29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0000FF"/>
                  </a:solidFill>
                  <a:latin typeface="Economica"/>
                  <a:ea typeface="Economica"/>
                  <a:cs typeface="Economica"/>
                  <a:sym typeface="Economica"/>
                </a:rPr>
                <a:t>Directed Graph</a:t>
              </a:r>
              <a:endParaRPr b="1" sz="1800">
                <a:solidFill>
                  <a:srgbClr val="0000FF"/>
                </a:solidFill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17031" name="Google Shape;17031;p698"/>
          <p:cNvSpPr/>
          <p:nvPr/>
        </p:nvSpPr>
        <p:spPr>
          <a:xfrm>
            <a:off x="6032750" y="1048118"/>
            <a:ext cx="655800" cy="541500"/>
          </a:xfrm>
          <a:prstGeom prst="ellipse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2" name="Google Shape;17032;p698"/>
          <p:cNvSpPr/>
          <p:nvPr/>
        </p:nvSpPr>
        <p:spPr>
          <a:xfrm>
            <a:off x="6178275" y="2905492"/>
            <a:ext cx="2156400" cy="4941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3" name="Google Shape;17033;p698"/>
          <p:cNvSpPr/>
          <p:nvPr/>
        </p:nvSpPr>
        <p:spPr>
          <a:xfrm>
            <a:off x="6621450" y="2529720"/>
            <a:ext cx="516000" cy="1899000"/>
          </a:xfrm>
          <a:prstGeom prst="rect">
            <a:avLst/>
          </a:prstGeom>
          <a:noFill/>
          <a:ln cap="flat" cmpd="sng" w="28575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37" name="Shape 17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38" name="Google Shape;17038;p69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Differences between positional and clique analysis</a:t>
            </a:r>
            <a:endParaRPr/>
          </a:p>
        </p:txBody>
      </p:sp>
      <p:sp>
        <p:nvSpPr>
          <p:cNvPr id="17039" name="Google Shape;17039;p699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b="1" lang="en"/>
              <a:t>Positional analysis</a:t>
            </a:r>
            <a:r>
              <a:rPr lang="en"/>
              <a:t> is both similar and different than </a:t>
            </a:r>
            <a:r>
              <a:rPr b="1" lang="en"/>
              <a:t>cohesive subgroup (clique) analysis</a:t>
            </a:r>
            <a:r>
              <a:rPr lang="en"/>
              <a:t>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Both partition the original set of actors (nodes) into subsets (subgraphs). But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In </a:t>
            </a:r>
            <a:r>
              <a:rPr b="1" lang="en"/>
              <a:t>cohesive subgroup analysis</a:t>
            </a:r>
            <a:r>
              <a:rPr lang="en"/>
              <a:t> the aim is to find clusters of actors that are </a:t>
            </a:r>
            <a:r>
              <a:rPr i="1" lang="en"/>
              <a:t>strongly connected to one another</a:t>
            </a:r>
            <a:endParaRPr i="1"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In </a:t>
            </a:r>
            <a:r>
              <a:rPr b="1" lang="en"/>
              <a:t>positional analysis</a:t>
            </a:r>
            <a:r>
              <a:rPr lang="en"/>
              <a:t> the aim is to find cluster of actors who have </a:t>
            </a:r>
            <a:r>
              <a:rPr i="1" lang="en"/>
              <a:t>the same pattern of connections to other actors</a:t>
            </a:r>
            <a:endParaRPr i="1"/>
          </a:p>
          <a:p>
            <a:pPr indent="0" lvl="0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b="1">
              <a:solidFill>
                <a:srgbClr val="FF0000"/>
              </a:solidFill>
            </a:endParaRPr>
          </a:p>
        </p:txBody>
      </p:sp>
      <p:pic>
        <p:nvPicPr>
          <p:cNvPr id="17040" name="Google Shape;17040;p69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55750" y="3268078"/>
            <a:ext cx="4032506" cy="17496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44" name="Shape 17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5" name="Google Shape;17045;p700"/>
          <p:cNvSpPr txBox="1"/>
          <p:nvPr/>
        </p:nvSpPr>
        <p:spPr>
          <a:xfrm>
            <a:off x="311700" y="1225225"/>
            <a:ext cx="8520600" cy="3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Open Sans"/>
              <a:buChar char="●"/>
            </a:pPr>
            <a:r>
              <a:rPr b="1" lang="en" sz="180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Positional analysis</a:t>
            </a:r>
            <a:r>
              <a:rPr lang="en" sz="180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 is both similar and different than </a:t>
            </a:r>
            <a:r>
              <a:rPr b="1" lang="en" sz="180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cohesive subgroup (clique) analysis</a:t>
            </a:r>
            <a:r>
              <a:rPr lang="en" sz="180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:</a:t>
            </a:r>
            <a:endParaRPr sz="180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Open Sans"/>
              <a:buChar char="○"/>
            </a:pPr>
            <a:r>
              <a:rPr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Both partition the original set of actors (nodes) into subsets (subgraphs). But</a:t>
            </a:r>
            <a:endParaRPr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Open Sans"/>
              <a:buChar char="■"/>
            </a:pPr>
            <a:r>
              <a:rPr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Actors in the </a:t>
            </a:r>
            <a:r>
              <a:rPr i="1"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same position</a:t>
            </a:r>
            <a:r>
              <a:rPr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 in a network </a:t>
            </a:r>
            <a:r>
              <a:rPr b="1"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don’t need to be directly connected to one another!</a:t>
            </a:r>
            <a:endParaRPr b="1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3" marL="1828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Open Sans"/>
              <a:buChar char="●"/>
            </a:pPr>
            <a:r>
              <a:rPr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Although they could</a:t>
            </a:r>
            <a:endParaRPr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Open Sans"/>
              <a:buChar char="■"/>
            </a:pPr>
            <a:r>
              <a:rPr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Actors in the </a:t>
            </a:r>
            <a:r>
              <a:rPr i="1"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same subgroup</a:t>
            </a:r>
            <a:r>
              <a:rPr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 n</a:t>
            </a:r>
            <a:r>
              <a:rPr b="1" lang="en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eed to be directly or indirectly connected to one another</a:t>
            </a:r>
            <a:endParaRPr b="1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137160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b="1" sz="1800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7046" name="Google Shape;17046;p70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Differences between positional and clique analysis</a:t>
            </a:r>
            <a:endParaRPr/>
          </a:p>
        </p:txBody>
      </p:sp>
      <p:pic>
        <p:nvPicPr>
          <p:cNvPr id="17047" name="Google Shape;17047;p7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55750" y="3268078"/>
            <a:ext cx="4032506" cy="17496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51" name="Shape 17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52" name="Google Shape;17052;p70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Structural Equivalence </a:t>
            </a:r>
            <a:endParaRPr/>
          </a:p>
        </p:txBody>
      </p:sp>
      <p:sp>
        <p:nvSpPr>
          <p:cNvPr id="17053" name="Google Shape;17053;p701"/>
          <p:cNvSpPr txBox="1"/>
          <p:nvPr>
            <p:ph idx="1" type="body"/>
          </p:nvPr>
        </p:nvSpPr>
        <p:spPr>
          <a:xfrm>
            <a:off x="311700" y="1225220"/>
            <a:ext cx="8520600" cy="16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Structural equivalence </a:t>
            </a:r>
            <a:r>
              <a:rPr lang="en"/>
              <a:t>is the simplest of the equivalence notions in positional analysis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b="1" i="1" lang="en">
                <a:solidFill>
                  <a:srgbClr val="FF0000"/>
                </a:solidFill>
              </a:rPr>
              <a:t>Two nodes u and v are structurally equivalent if they are connected to the same others</a:t>
            </a:r>
            <a:endParaRPr b="1"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N(a) is the set of vertices vertex is connected to (a’s neighborhood)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N(b) is the set of vertices vertex b is connected to (b’s neighborhood)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Then a and b are structurally equivalent if N(a) = N(b)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Without counting a or b!</a:t>
            </a:r>
            <a:endParaRPr b="1"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7054" name="Google Shape;17054;p70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9787" y="3194533"/>
            <a:ext cx="2112821" cy="1828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7055" name="Google Shape;17055;p70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15594" y="3207413"/>
            <a:ext cx="2112831" cy="17227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7056" name="Google Shape;17056;p70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271222" y="3191536"/>
            <a:ext cx="2383011" cy="1738670"/>
          </a:xfrm>
          <a:prstGeom prst="rect">
            <a:avLst/>
          </a:prstGeom>
          <a:noFill/>
          <a:ln>
            <a:noFill/>
          </a:ln>
        </p:spPr>
      </p:pic>
      <p:sp>
        <p:nvSpPr>
          <p:cNvPr id="17057" name="Google Shape;17057;p701"/>
          <p:cNvSpPr/>
          <p:nvPr/>
        </p:nvSpPr>
        <p:spPr>
          <a:xfrm>
            <a:off x="1428275" y="4007813"/>
            <a:ext cx="235800" cy="237600"/>
          </a:xfrm>
          <a:prstGeom prst="ellipse">
            <a:avLst/>
          </a:prstGeom>
          <a:solidFill>
            <a:srgbClr val="00FFFF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8" name="Google Shape;17058;p701"/>
          <p:cNvSpPr/>
          <p:nvPr/>
        </p:nvSpPr>
        <p:spPr>
          <a:xfrm>
            <a:off x="1395050" y="3191505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9" name="Google Shape;17059;p701"/>
          <p:cNvSpPr/>
          <p:nvPr/>
        </p:nvSpPr>
        <p:spPr>
          <a:xfrm>
            <a:off x="2335025" y="37230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0" name="Google Shape;17060;p701"/>
          <p:cNvSpPr/>
          <p:nvPr/>
        </p:nvSpPr>
        <p:spPr>
          <a:xfrm>
            <a:off x="2099225" y="471070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1" name="Google Shape;17061;p701"/>
          <p:cNvSpPr/>
          <p:nvPr/>
        </p:nvSpPr>
        <p:spPr>
          <a:xfrm>
            <a:off x="951675" y="478662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2" name="Google Shape;17062;p701"/>
          <p:cNvSpPr/>
          <p:nvPr/>
        </p:nvSpPr>
        <p:spPr>
          <a:xfrm>
            <a:off x="489775" y="3907934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3" name="Google Shape;17063;p701"/>
          <p:cNvSpPr/>
          <p:nvPr/>
        </p:nvSpPr>
        <p:spPr>
          <a:xfrm>
            <a:off x="3515600" y="3173800"/>
            <a:ext cx="235800" cy="237600"/>
          </a:xfrm>
          <a:prstGeom prst="ellipse">
            <a:avLst/>
          </a:prstGeom>
          <a:solidFill>
            <a:srgbClr val="00FFFF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4" name="Google Shape;17064;p701"/>
          <p:cNvSpPr/>
          <p:nvPr/>
        </p:nvSpPr>
        <p:spPr>
          <a:xfrm>
            <a:off x="3515600" y="3950000"/>
            <a:ext cx="235800" cy="237600"/>
          </a:xfrm>
          <a:prstGeom prst="ellipse">
            <a:avLst/>
          </a:prstGeom>
          <a:solidFill>
            <a:srgbClr val="00FFFF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5" name="Google Shape;17065;p701"/>
          <p:cNvSpPr/>
          <p:nvPr/>
        </p:nvSpPr>
        <p:spPr>
          <a:xfrm>
            <a:off x="3479500" y="4726188"/>
            <a:ext cx="235800" cy="237600"/>
          </a:xfrm>
          <a:prstGeom prst="ellipse">
            <a:avLst/>
          </a:prstGeom>
          <a:solidFill>
            <a:srgbClr val="00FFFF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6" name="Google Shape;17066;p701"/>
          <p:cNvSpPr/>
          <p:nvPr/>
        </p:nvSpPr>
        <p:spPr>
          <a:xfrm>
            <a:off x="5392625" y="317425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7" name="Google Shape;17067;p701"/>
          <p:cNvSpPr/>
          <p:nvPr/>
        </p:nvSpPr>
        <p:spPr>
          <a:xfrm>
            <a:off x="5392625" y="3942510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8" name="Google Shape;17068;p701"/>
          <p:cNvSpPr/>
          <p:nvPr/>
        </p:nvSpPr>
        <p:spPr>
          <a:xfrm>
            <a:off x="5392625" y="472664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9" name="Google Shape;17069;p701"/>
          <p:cNvSpPr/>
          <p:nvPr/>
        </p:nvSpPr>
        <p:spPr>
          <a:xfrm>
            <a:off x="6541425" y="37230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0" name="Google Shape;17070;p701"/>
          <p:cNvSpPr/>
          <p:nvPr/>
        </p:nvSpPr>
        <p:spPr>
          <a:xfrm>
            <a:off x="6809000" y="45499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1" name="Google Shape;17071;p701"/>
          <p:cNvSpPr/>
          <p:nvPr/>
        </p:nvSpPr>
        <p:spPr>
          <a:xfrm>
            <a:off x="7385950" y="317424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2" name="Google Shape;17072;p701"/>
          <p:cNvSpPr/>
          <p:nvPr/>
        </p:nvSpPr>
        <p:spPr>
          <a:xfrm>
            <a:off x="8161500" y="37230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3" name="Google Shape;17073;p701"/>
          <p:cNvSpPr/>
          <p:nvPr/>
        </p:nvSpPr>
        <p:spPr>
          <a:xfrm>
            <a:off x="7925700" y="45499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77" name="Shape 17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78" name="Google Shape;17078;p70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Structural Equivalence </a:t>
            </a:r>
            <a:endParaRPr/>
          </a:p>
        </p:txBody>
      </p:sp>
      <p:sp>
        <p:nvSpPr>
          <p:cNvPr id="17079" name="Google Shape;17079;p702"/>
          <p:cNvSpPr txBox="1"/>
          <p:nvPr>
            <p:ph idx="1" type="body"/>
          </p:nvPr>
        </p:nvSpPr>
        <p:spPr>
          <a:xfrm>
            <a:off x="311700" y="1225215"/>
            <a:ext cx="8520600" cy="16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Structurally equivalent actors: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Have the same ego-networks </a:t>
            </a:r>
            <a:r>
              <a:rPr lang="en"/>
              <a:t>(they are connected to the same set of others)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Are part of the same </a:t>
            </a:r>
            <a:r>
              <a:rPr b="1" lang="en" sz="1400"/>
              <a:t>cohesive subset</a:t>
            </a:r>
            <a:r>
              <a:rPr lang="en" sz="1400"/>
              <a:t> (they are connected by at least a path of length 2)</a:t>
            </a:r>
            <a:endParaRPr sz="14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the same </a:t>
            </a:r>
            <a:r>
              <a:rPr b="1" lang="en"/>
              <a:t>graph theoretic attributes</a:t>
            </a:r>
            <a:r>
              <a:rPr lang="en"/>
              <a:t> (e.g., centrality, clustering coefficient, etc.)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b="1" i="1" lang="en">
                <a:solidFill>
                  <a:srgbClr val="FF0000"/>
                </a:solidFill>
              </a:rPr>
              <a:t>But not necessarily the reverse!</a:t>
            </a:r>
            <a:endParaRPr b="1" i="1">
              <a:solidFill>
                <a:srgbClr val="FF0000"/>
              </a:solidFill>
            </a:endParaRPr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i="1" lang="en">
                <a:solidFill>
                  <a:srgbClr val="000000"/>
                </a:solidFill>
              </a:rPr>
              <a:t>Two actors can have the same graph theoretic attributes but not be connected to the same others</a:t>
            </a:r>
            <a:endParaRPr i="1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080" name="Google Shape;17080;p70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9787" y="3194533"/>
            <a:ext cx="2112821" cy="1828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7081" name="Google Shape;17081;p70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15594" y="3207413"/>
            <a:ext cx="2112831" cy="17227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7082" name="Google Shape;17082;p70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271222" y="3191536"/>
            <a:ext cx="2383011" cy="1738670"/>
          </a:xfrm>
          <a:prstGeom prst="rect">
            <a:avLst/>
          </a:prstGeom>
          <a:noFill/>
          <a:ln>
            <a:noFill/>
          </a:ln>
        </p:spPr>
      </p:pic>
      <p:sp>
        <p:nvSpPr>
          <p:cNvPr id="17083" name="Google Shape;17083;p702"/>
          <p:cNvSpPr/>
          <p:nvPr/>
        </p:nvSpPr>
        <p:spPr>
          <a:xfrm>
            <a:off x="1428275" y="4007813"/>
            <a:ext cx="235800" cy="237600"/>
          </a:xfrm>
          <a:prstGeom prst="ellipse">
            <a:avLst/>
          </a:prstGeom>
          <a:solidFill>
            <a:srgbClr val="00FFFF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4" name="Google Shape;17084;p702"/>
          <p:cNvSpPr/>
          <p:nvPr/>
        </p:nvSpPr>
        <p:spPr>
          <a:xfrm>
            <a:off x="1395050" y="3191505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5" name="Google Shape;17085;p702"/>
          <p:cNvSpPr/>
          <p:nvPr/>
        </p:nvSpPr>
        <p:spPr>
          <a:xfrm>
            <a:off x="2335025" y="37230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6" name="Google Shape;17086;p702"/>
          <p:cNvSpPr/>
          <p:nvPr/>
        </p:nvSpPr>
        <p:spPr>
          <a:xfrm>
            <a:off x="2099225" y="471070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7" name="Google Shape;17087;p702"/>
          <p:cNvSpPr/>
          <p:nvPr/>
        </p:nvSpPr>
        <p:spPr>
          <a:xfrm>
            <a:off x="951675" y="478662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8" name="Google Shape;17088;p702"/>
          <p:cNvSpPr/>
          <p:nvPr/>
        </p:nvSpPr>
        <p:spPr>
          <a:xfrm>
            <a:off x="489775" y="3907934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9" name="Google Shape;17089;p702"/>
          <p:cNvSpPr/>
          <p:nvPr/>
        </p:nvSpPr>
        <p:spPr>
          <a:xfrm>
            <a:off x="3515600" y="3173800"/>
            <a:ext cx="235800" cy="237600"/>
          </a:xfrm>
          <a:prstGeom prst="ellipse">
            <a:avLst/>
          </a:prstGeom>
          <a:solidFill>
            <a:srgbClr val="00FFFF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0" name="Google Shape;17090;p702"/>
          <p:cNvSpPr/>
          <p:nvPr/>
        </p:nvSpPr>
        <p:spPr>
          <a:xfrm>
            <a:off x="3515600" y="3950000"/>
            <a:ext cx="235800" cy="237600"/>
          </a:xfrm>
          <a:prstGeom prst="ellipse">
            <a:avLst/>
          </a:prstGeom>
          <a:solidFill>
            <a:srgbClr val="00FFFF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1" name="Google Shape;17091;p702"/>
          <p:cNvSpPr/>
          <p:nvPr/>
        </p:nvSpPr>
        <p:spPr>
          <a:xfrm>
            <a:off x="3479500" y="4726188"/>
            <a:ext cx="235800" cy="237600"/>
          </a:xfrm>
          <a:prstGeom prst="ellipse">
            <a:avLst/>
          </a:prstGeom>
          <a:solidFill>
            <a:srgbClr val="00FFFF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2" name="Google Shape;17092;p702"/>
          <p:cNvSpPr/>
          <p:nvPr/>
        </p:nvSpPr>
        <p:spPr>
          <a:xfrm>
            <a:off x="5392625" y="317425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3" name="Google Shape;17093;p702"/>
          <p:cNvSpPr/>
          <p:nvPr/>
        </p:nvSpPr>
        <p:spPr>
          <a:xfrm>
            <a:off x="5392625" y="3942510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4" name="Google Shape;17094;p702"/>
          <p:cNvSpPr/>
          <p:nvPr/>
        </p:nvSpPr>
        <p:spPr>
          <a:xfrm>
            <a:off x="5392625" y="472664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5" name="Google Shape;17095;p702"/>
          <p:cNvSpPr/>
          <p:nvPr/>
        </p:nvSpPr>
        <p:spPr>
          <a:xfrm>
            <a:off x="6541425" y="37230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6" name="Google Shape;17096;p702"/>
          <p:cNvSpPr/>
          <p:nvPr/>
        </p:nvSpPr>
        <p:spPr>
          <a:xfrm>
            <a:off x="6809000" y="45499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7" name="Google Shape;17097;p702"/>
          <p:cNvSpPr/>
          <p:nvPr/>
        </p:nvSpPr>
        <p:spPr>
          <a:xfrm>
            <a:off x="7385950" y="3174248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8" name="Google Shape;17098;p702"/>
          <p:cNvSpPr/>
          <p:nvPr/>
        </p:nvSpPr>
        <p:spPr>
          <a:xfrm>
            <a:off x="8161500" y="37230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9" name="Google Shape;17099;p702"/>
          <p:cNvSpPr/>
          <p:nvPr/>
        </p:nvSpPr>
        <p:spPr>
          <a:xfrm>
            <a:off x="7925700" y="4549923"/>
            <a:ext cx="235800" cy="2367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0" name="Google Shape;17100;p702"/>
          <p:cNvSpPr/>
          <p:nvPr/>
        </p:nvSpPr>
        <p:spPr>
          <a:xfrm>
            <a:off x="3282788" y="2942588"/>
            <a:ext cx="893100" cy="20514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1" name="Google Shape;17101;p702"/>
          <p:cNvSpPr/>
          <p:nvPr/>
        </p:nvSpPr>
        <p:spPr>
          <a:xfrm>
            <a:off x="5034988" y="2942588"/>
            <a:ext cx="893100" cy="20514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105" name="Shape 17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6" name="Google Shape;17106;p70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Structural Equivalence </a:t>
            </a:r>
            <a:endParaRPr/>
          </a:p>
        </p:txBody>
      </p:sp>
      <p:sp>
        <p:nvSpPr>
          <p:cNvPr id="17107" name="Google Shape;17107;p703"/>
          <p:cNvSpPr txBox="1"/>
          <p:nvPr>
            <p:ph idx="1" type="body"/>
          </p:nvPr>
        </p:nvSpPr>
        <p:spPr>
          <a:xfrm>
            <a:off x="311700" y="1225216"/>
            <a:ext cx="8520600" cy="13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Kin and hierarchical relations provide the basic model of structural equivalence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Parents are structural equivalent (in relation to offspring)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Siblings are structurally equivalent (in relation to parents)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work settings people at the same level of the hierarchy are structurally equivalent</a:t>
            </a:r>
            <a:endParaRPr/>
          </a:p>
        </p:txBody>
      </p:sp>
      <p:sp>
        <p:nvSpPr>
          <p:cNvPr id="17108" name="Google Shape;17108;p703"/>
          <p:cNvSpPr/>
          <p:nvPr/>
        </p:nvSpPr>
        <p:spPr>
          <a:xfrm>
            <a:off x="1035360" y="4271740"/>
            <a:ext cx="391200" cy="320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9" name="Google Shape;17109;p703"/>
          <p:cNvSpPr/>
          <p:nvPr/>
        </p:nvSpPr>
        <p:spPr>
          <a:xfrm>
            <a:off x="1035360" y="3165140"/>
            <a:ext cx="391200" cy="320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0" name="Google Shape;17110;p703"/>
          <p:cNvSpPr/>
          <p:nvPr/>
        </p:nvSpPr>
        <p:spPr>
          <a:xfrm>
            <a:off x="2823669" y="3165140"/>
            <a:ext cx="391200" cy="320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1" name="Google Shape;17111;p703"/>
          <p:cNvSpPr/>
          <p:nvPr/>
        </p:nvSpPr>
        <p:spPr>
          <a:xfrm>
            <a:off x="2823669" y="4271740"/>
            <a:ext cx="391200" cy="320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7112" name="Google Shape;17112;p703"/>
          <p:cNvCxnSpPr>
            <a:stCxn id="17109" idx="5"/>
            <a:endCxn id="17111" idx="1"/>
          </p:cNvCxnSpPr>
          <p:nvPr/>
        </p:nvCxnSpPr>
        <p:spPr>
          <a:xfrm>
            <a:off x="1369270" y="3438619"/>
            <a:ext cx="1511700" cy="879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113" name="Google Shape;17113;p703"/>
          <p:cNvCxnSpPr>
            <a:stCxn id="17109" idx="4"/>
            <a:endCxn id="17108" idx="0"/>
          </p:cNvCxnSpPr>
          <p:nvPr/>
        </p:nvCxnSpPr>
        <p:spPr>
          <a:xfrm>
            <a:off x="1230960" y="3485540"/>
            <a:ext cx="0" cy="786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114" name="Google Shape;17114;p703"/>
          <p:cNvCxnSpPr>
            <a:stCxn id="17110" idx="4"/>
            <a:endCxn id="17111" idx="0"/>
          </p:cNvCxnSpPr>
          <p:nvPr/>
        </p:nvCxnSpPr>
        <p:spPr>
          <a:xfrm>
            <a:off x="3019269" y="3485540"/>
            <a:ext cx="0" cy="786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115" name="Google Shape;17115;p703"/>
          <p:cNvCxnSpPr>
            <a:stCxn id="17110" idx="3"/>
            <a:endCxn id="17108" idx="7"/>
          </p:cNvCxnSpPr>
          <p:nvPr/>
        </p:nvCxnSpPr>
        <p:spPr>
          <a:xfrm flipH="1">
            <a:off x="1369259" y="3438619"/>
            <a:ext cx="1511700" cy="879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7116" name="Google Shape;17116;p703"/>
          <p:cNvSpPr txBox="1"/>
          <p:nvPr/>
        </p:nvSpPr>
        <p:spPr>
          <a:xfrm>
            <a:off x="638296" y="2837202"/>
            <a:ext cx="11853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Parent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117" name="Google Shape;17117;p703"/>
          <p:cNvSpPr txBox="1"/>
          <p:nvPr/>
        </p:nvSpPr>
        <p:spPr>
          <a:xfrm>
            <a:off x="2426605" y="2837202"/>
            <a:ext cx="11853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Parent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118" name="Google Shape;17118;p703"/>
          <p:cNvSpPr txBox="1"/>
          <p:nvPr/>
        </p:nvSpPr>
        <p:spPr>
          <a:xfrm>
            <a:off x="638296" y="4592270"/>
            <a:ext cx="11853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119" name="Google Shape;17119;p703"/>
          <p:cNvSpPr txBox="1"/>
          <p:nvPr/>
        </p:nvSpPr>
        <p:spPr>
          <a:xfrm>
            <a:off x="2426605" y="4592270"/>
            <a:ext cx="11853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Daughter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120" name="Google Shape;17120;p703"/>
          <p:cNvSpPr/>
          <p:nvPr/>
        </p:nvSpPr>
        <p:spPr>
          <a:xfrm>
            <a:off x="5954191" y="4305497"/>
            <a:ext cx="391200" cy="320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1" name="Google Shape;17121;p703"/>
          <p:cNvSpPr/>
          <p:nvPr/>
        </p:nvSpPr>
        <p:spPr>
          <a:xfrm>
            <a:off x="5954191" y="3198897"/>
            <a:ext cx="391200" cy="320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2" name="Google Shape;17122;p703"/>
          <p:cNvSpPr/>
          <p:nvPr/>
        </p:nvSpPr>
        <p:spPr>
          <a:xfrm>
            <a:off x="7742500" y="3198897"/>
            <a:ext cx="391200" cy="320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3" name="Google Shape;17123;p703"/>
          <p:cNvSpPr/>
          <p:nvPr/>
        </p:nvSpPr>
        <p:spPr>
          <a:xfrm>
            <a:off x="7742500" y="4305497"/>
            <a:ext cx="391200" cy="3204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7124" name="Google Shape;17124;p703"/>
          <p:cNvCxnSpPr>
            <a:stCxn id="17121" idx="5"/>
            <a:endCxn id="17123" idx="1"/>
          </p:cNvCxnSpPr>
          <p:nvPr/>
        </p:nvCxnSpPr>
        <p:spPr>
          <a:xfrm>
            <a:off x="6288101" y="3472376"/>
            <a:ext cx="1511700" cy="879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125" name="Google Shape;17125;p703"/>
          <p:cNvCxnSpPr>
            <a:stCxn id="17121" idx="4"/>
            <a:endCxn id="17120" idx="0"/>
          </p:cNvCxnSpPr>
          <p:nvPr/>
        </p:nvCxnSpPr>
        <p:spPr>
          <a:xfrm>
            <a:off x="6149791" y="3519297"/>
            <a:ext cx="0" cy="786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126" name="Google Shape;17126;p703"/>
          <p:cNvCxnSpPr>
            <a:stCxn id="17122" idx="4"/>
            <a:endCxn id="17123" idx="0"/>
          </p:cNvCxnSpPr>
          <p:nvPr/>
        </p:nvCxnSpPr>
        <p:spPr>
          <a:xfrm>
            <a:off x="7938100" y="3519297"/>
            <a:ext cx="0" cy="786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127" name="Google Shape;17127;p703"/>
          <p:cNvCxnSpPr>
            <a:stCxn id="17122" idx="3"/>
            <a:endCxn id="17120" idx="7"/>
          </p:cNvCxnSpPr>
          <p:nvPr/>
        </p:nvCxnSpPr>
        <p:spPr>
          <a:xfrm flipH="1">
            <a:off x="6288090" y="3472376"/>
            <a:ext cx="1511700" cy="879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7128" name="Google Shape;17128;p703"/>
          <p:cNvSpPr txBox="1"/>
          <p:nvPr/>
        </p:nvSpPr>
        <p:spPr>
          <a:xfrm>
            <a:off x="5557127" y="2870959"/>
            <a:ext cx="11853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Supervisor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129" name="Google Shape;17129;p703"/>
          <p:cNvSpPr txBox="1"/>
          <p:nvPr/>
        </p:nvSpPr>
        <p:spPr>
          <a:xfrm>
            <a:off x="7345436" y="2870959"/>
            <a:ext cx="11853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Supervisor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130" name="Google Shape;17130;p703"/>
          <p:cNvSpPr txBox="1"/>
          <p:nvPr/>
        </p:nvSpPr>
        <p:spPr>
          <a:xfrm>
            <a:off x="5557127" y="4626027"/>
            <a:ext cx="11853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Worker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131" name="Google Shape;17131;p703"/>
          <p:cNvSpPr txBox="1"/>
          <p:nvPr/>
        </p:nvSpPr>
        <p:spPr>
          <a:xfrm>
            <a:off x="7345436" y="4626027"/>
            <a:ext cx="11853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Worker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132" name="Google Shape;17132;p703"/>
          <p:cNvSpPr/>
          <p:nvPr/>
        </p:nvSpPr>
        <p:spPr>
          <a:xfrm>
            <a:off x="466600" y="2809148"/>
            <a:ext cx="3267000" cy="7860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3" name="Google Shape;17133;p703"/>
          <p:cNvSpPr/>
          <p:nvPr/>
        </p:nvSpPr>
        <p:spPr>
          <a:xfrm>
            <a:off x="466600" y="4107410"/>
            <a:ext cx="3267000" cy="7860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4" name="Google Shape;17134;p703"/>
          <p:cNvSpPr/>
          <p:nvPr/>
        </p:nvSpPr>
        <p:spPr>
          <a:xfrm>
            <a:off x="5410397" y="2809148"/>
            <a:ext cx="3267000" cy="7860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5" name="Google Shape;17135;p703"/>
          <p:cNvSpPr/>
          <p:nvPr/>
        </p:nvSpPr>
        <p:spPr>
          <a:xfrm>
            <a:off x="5410397" y="4107410"/>
            <a:ext cx="3267000" cy="786000"/>
          </a:xfrm>
          <a:prstGeom prst="ellipse">
            <a:avLst/>
          </a:prstGeom>
          <a:noFill/>
          <a:ln cap="flat" cmpd="sng" w="19050">
            <a:solidFill>
              <a:srgbClr val="FF00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139" name="Shape 17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40" name="Google Shape;17140;p70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Structural Equivalence </a:t>
            </a:r>
            <a:endParaRPr/>
          </a:p>
        </p:txBody>
      </p:sp>
      <p:sp>
        <p:nvSpPr>
          <p:cNvPr id="17141" name="Google Shape;17141;p704"/>
          <p:cNvSpPr txBox="1"/>
          <p:nvPr/>
        </p:nvSpPr>
        <p:spPr>
          <a:xfrm>
            <a:off x="3604950" y="4377758"/>
            <a:ext cx="20088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Borgatti and Everett’s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“Thinking Graph”</a:t>
            </a:r>
            <a:endParaRPr/>
          </a:p>
        </p:txBody>
      </p:sp>
      <p:sp>
        <p:nvSpPr>
          <p:cNvPr id="17142" name="Google Shape;17142;p704"/>
          <p:cNvSpPr txBox="1"/>
          <p:nvPr>
            <p:ph idx="1" type="body"/>
          </p:nvPr>
        </p:nvSpPr>
        <p:spPr>
          <a:xfrm>
            <a:off x="311700" y="1225221"/>
            <a:ext cx="8520600" cy="144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positional analysis </a:t>
            </a:r>
            <a:r>
              <a:rPr lang="en"/>
              <a:t>finds a set of positions P = {l, m, n…}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Where each position (blocks) is a subset of the nodes in the original network that are seen as equivalent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symbol for equivalence is ≣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X ≣ Y reads as “X is (structurally) equivalent to Y”</a:t>
            </a:r>
            <a:endParaRPr/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3" name="Google Shape;17143;p704"/>
          <p:cNvSpPr/>
          <p:nvPr/>
        </p:nvSpPr>
        <p:spPr>
          <a:xfrm>
            <a:off x="831375" y="2879280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a</a:t>
            </a:r>
            <a:endParaRPr sz="1800"/>
          </a:p>
        </p:txBody>
      </p:sp>
      <p:sp>
        <p:nvSpPr>
          <p:cNvPr id="17144" name="Google Shape;17144;p704"/>
          <p:cNvSpPr/>
          <p:nvPr/>
        </p:nvSpPr>
        <p:spPr>
          <a:xfrm>
            <a:off x="831575" y="4042913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c</a:t>
            </a:r>
            <a:endParaRPr sz="1800"/>
          </a:p>
        </p:txBody>
      </p:sp>
      <p:sp>
        <p:nvSpPr>
          <p:cNvPr id="17145" name="Google Shape;17145;p704"/>
          <p:cNvSpPr/>
          <p:nvPr/>
        </p:nvSpPr>
        <p:spPr>
          <a:xfrm>
            <a:off x="2577325" y="2879280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b</a:t>
            </a:r>
            <a:endParaRPr sz="1800"/>
          </a:p>
        </p:txBody>
      </p:sp>
      <p:sp>
        <p:nvSpPr>
          <p:cNvPr id="17146" name="Google Shape;17146;p704"/>
          <p:cNvSpPr/>
          <p:nvPr/>
        </p:nvSpPr>
        <p:spPr>
          <a:xfrm>
            <a:off x="2577325" y="4042913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</a:t>
            </a:r>
            <a:endParaRPr sz="1800"/>
          </a:p>
        </p:txBody>
      </p:sp>
      <p:sp>
        <p:nvSpPr>
          <p:cNvPr id="17147" name="Google Shape;17147;p704"/>
          <p:cNvSpPr/>
          <p:nvPr/>
        </p:nvSpPr>
        <p:spPr>
          <a:xfrm>
            <a:off x="3642825" y="3461063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e</a:t>
            </a:r>
            <a:endParaRPr sz="1800"/>
          </a:p>
        </p:txBody>
      </p:sp>
      <p:sp>
        <p:nvSpPr>
          <p:cNvPr id="17148" name="Google Shape;17148;p704"/>
          <p:cNvSpPr/>
          <p:nvPr/>
        </p:nvSpPr>
        <p:spPr>
          <a:xfrm>
            <a:off x="4963225" y="3461130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f</a:t>
            </a:r>
            <a:endParaRPr sz="1800"/>
          </a:p>
        </p:txBody>
      </p:sp>
      <p:sp>
        <p:nvSpPr>
          <p:cNvPr id="17149" name="Google Shape;17149;p704"/>
          <p:cNvSpPr/>
          <p:nvPr/>
        </p:nvSpPr>
        <p:spPr>
          <a:xfrm>
            <a:off x="6039875" y="2879280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g</a:t>
            </a:r>
            <a:endParaRPr sz="1800"/>
          </a:p>
        </p:txBody>
      </p:sp>
      <p:sp>
        <p:nvSpPr>
          <p:cNvPr id="17150" name="Google Shape;17150;p704"/>
          <p:cNvSpPr/>
          <p:nvPr/>
        </p:nvSpPr>
        <p:spPr>
          <a:xfrm>
            <a:off x="6039875" y="4101885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i</a:t>
            </a:r>
            <a:endParaRPr sz="1800"/>
          </a:p>
        </p:txBody>
      </p:sp>
      <p:sp>
        <p:nvSpPr>
          <p:cNvPr id="17151" name="Google Shape;17151;p704"/>
          <p:cNvSpPr/>
          <p:nvPr/>
        </p:nvSpPr>
        <p:spPr>
          <a:xfrm>
            <a:off x="7785825" y="2879280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h</a:t>
            </a:r>
            <a:endParaRPr sz="1800"/>
          </a:p>
        </p:txBody>
      </p:sp>
      <p:sp>
        <p:nvSpPr>
          <p:cNvPr id="17152" name="Google Shape;17152;p704"/>
          <p:cNvSpPr/>
          <p:nvPr/>
        </p:nvSpPr>
        <p:spPr>
          <a:xfrm>
            <a:off x="7785725" y="4101885"/>
            <a:ext cx="601500" cy="522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</a:t>
            </a:r>
            <a:endParaRPr sz="1800"/>
          </a:p>
        </p:txBody>
      </p:sp>
      <p:cxnSp>
        <p:nvCxnSpPr>
          <p:cNvPr id="17153" name="Google Shape;17153;p704"/>
          <p:cNvCxnSpPr>
            <a:stCxn id="17143" idx="6"/>
            <a:endCxn id="17145" idx="2"/>
          </p:cNvCxnSpPr>
          <p:nvPr/>
        </p:nvCxnSpPr>
        <p:spPr>
          <a:xfrm>
            <a:off x="1432875" y="3140430"/>
            <a:ext cx="1144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54" name="Google Shape;17154;p704"/>
          <p:cNvCxnSpPr>
            <a:stCxn id="17143" idx="5"/>
            <a:endCxn id="17146" idx="1"/>
          </p:cNvCxnSpPr>
          <p:nvPr/>
        </p:nvCxnSpPr>
        <p:spPr>
          <a:xfrm>
            <a:off x="1344787" y="3325091"/>
            <a:ext cx="1320600" cy="794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55" name="Google Shape;17155;p704"/>
          <p:cNvCxnSpPr>
            <a:stCxn id="17144" idx="7"/>
            <a:endCxn id="17145" idx="3"/>
          </p:cNvCxnSpPr>
          <p:nvPr/>
        </p:nvCxnSpPr>
        <p:spPr>
          <a:xfrm flipH="1" rot="10800000">
            <a:off x="1344987" y="3325002"/>
            <a:ext cx="1320300" cy="794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56" name="Google Shape;17156;p704"/>
          <p:cNvCxnSpPr>
            <a:stCxn id="17143" idx="4"/>
            <a:endCxn id="17144" idx="0"/>
          </p:cNvCxnSpPr>
          <p:nvPr/>
        </p:nvCxnSpPr>
        <p:spPr>
          <a:xfrm>
            <a:off x="1132125" y="3401580"/>
            <a:ext cx="300" cy="6414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57" name="Google Shape;17157;p704"/>
          <p:cNvCxnSpPr>
            <a:stCxn id="17144" idx="6"/>
            <a:endCxn id="17146" idx="2"/>
          </p:cNvCxnSpPr>
          <p:nvPr/>
        </p:nvCxnSpPr>
        <p:spPr>
          <a:xfrm>
            <a:off x="1433075" y="4304063"/>
            <a:ext cx="1144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58" name="Google Shape;17158;p704"/>
          <p:cNvCxnSpPr>
            <a:stCxn id="17145" idx="6"/>
            <a:endCxn id="17147" idx="1"/>
          </p:cNvCxnSpPr>
          <p:nvPr/>
        </p:nvCxnSpPr>
        <p:spPr>
          <a:xfrm>
            <a:off x="3178825" y="3140430"/>
            <a:ext cx="552000" cy="397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59" name="Google Shape;17159;p704"/>
          <p:cNvCxnSpPr>
            <a:stCxn id="17147" idx="3"/>
            <a:endCxn id="17146" idx="6"/>
          </p:cNvCxnSpPr>
          <p:nvPr/>
        </p:nvCxnSpPr>
        <p:spPr>
          <a:xfrm flipH="1">
            <a:off x="3178913" y="3906873"/>
            <a:ext cx="552000" cy="397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0" name="Google Shape;17160;p704"/>
          <p:cNvCxnSpPr>
            <a:stCxn id="17148" idx="2"/>
            <a:endCxn id="17147" idx="6"/>
          </p:cNvCxnSpPr>
          <p:nvPr/>
        </p:nvCxnSpPr>
        <p:spPr>
          <a:xfrm rot="10800000">
            <a:off x="4244425" y="3722280"/>
            <a:ext cx="7188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1" name="Google Shape;17161;p704"/>
          <p:cNvCxnSpPr>
            <a:stCxn id="17149" idx="2"/>
            <a:endCxn id="17148" idx="7"/>
          </p:cNvCxnSpPr>
          <p:nvPr/>
        </p:nvCxnSpPr>
        <p:spPr>
          <a:xfrm flipH="1">
            <a:off x="5476775" y="3140430"/>
            <a:ext cx="563100" cy="397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2" name="Google Shape;17162;p704"/>
          <p:cNvCxnSpPr>
            <a:stCxn id="17150" idx="2"/>
            <a:endCxn id="17148" idx="5"/>
          </p:cNvCxnSpPr>
          <p:nvPr/>
        </p:nvCxnSpPr>
        <p:spPr>
          <a:xfrm rot="10800000">
            <a:off x="5476775" y="3907035"/>
            <a:ext cx="563100" cy="4560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3" name="Google Shape;17163;p704"/>
          <p:cNvCxnSpPr>
            <a:stCxn id="17149" idx="5"/>
            <a:endCxn id="17152" idx="1"/>
          </p:cNvCxnSpPr>
          <p:nvPr/>
        </p:nvCxnSpPr>
        <p:spPr>
          <a:xfrm>
            <a:off x="6553287" y="3325091"/>
            <a:ext cx="1320600" cy="853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4" name="Google Shape;17164;p704"/>
          <p:cNvCxnSpPr>
            <a:stCxn id="17151" idx="3"/>
            <a:endCxn id="17150" idx="7"/>
          </p:cNvCxnSpPr>
          <p:nvPr/>
        </p:nvCxnSpPr>
        <p:spPr>
          <a:xfrm flipH="1">
            <a:off x="6553313" y="3325091"/>
            <a:ext cx="1320600" cy="853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5" name="Google Shape;17165;p704"/>
          <p:cNvCxnSpPr>
            <a:stCxn id="17151" idx="2"/>
            <a:endCxn id="17149" idx="6"/>
          </p:cNvCxnSpPr>
          <p:nvPr/>
        </p:nvCxnSpPr>
        <p:spPr>
          <a:xfrm rot="10800000">
            <a:off x="6641325" y="3140430"/>
            <a:ext cx="11445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6" name="Google Shape;17166;p704"/>
          <p:cNvCxnSpPr>
            <a:stCxn id="17151" idx="4"/>
            <a:endCxn id="17152" idx="0"/>
          </p:cNvCxnSpPr>
          <p:nvPr/>
        </p:nvCxnSpPr>
        <p:spPr>
          <a:xfrm>
            <a:off x="8086575" y="3401580"/>
            <a:ext cx="0" cy="700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67" name="Google Shape;17167;p704"/>
          <p:cNvCxnSpPr>
            <a:stCxn id="17152" idx="2"/>
            <a:endCxn id="17150" idx="6"/>
          </p:cNvCxnSpPr>
          <p:nvPr/>
        </p:nvCxnSpPr>
        <p:spPr>
          <a:xfrm rot="10800000">
            <a:off x="6641525" y="4363035"/>
            <a:ext cx="11442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171" name="Shape 17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72" name="Google Shape;17172;p70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Structural Equivalence </a:t>
            </a:r>
            <a:endParaRPr/>
          </a:p>
        </p:txBody>
      </p:sp>
      <p:sp>
        <p:nvSpPr>
          <p:cNvPr id="17173" name="Google Shape;17173;p705"/>
          <p:cNvSpPr txBox="1"/>
          <p:nvPr/>
        </p:nvSpPr>
        <p:spPr>
          <a:xfrm>
            <a:off x="3604950" y="4377758"/>
            <a:ext cx="20088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Borgatti and Everett’s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“Thinking Graph”</a:t>
            </a:r>
            <a:endParaRPr/>
          </a:p>
        </p:txBody>
      </p:sp>
      <p:sp>
        <p:nvSpPr>
          <p:cNvPr id="17174" name="Google Shape;17174;p705"/>
          <p:cNvSpPr txBox="1"/>
          <p:nvPr>
            <p:ph idx="1" type="body"/>
          </p:nvPr>
        </p:nvSpPr>
        <p:spPr>
          <a:xfrm>
            <a:off x="311700" y="1225221"/>
            <a:ext cx="8520600" cy="144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positional analysis </a:t>
            </a:r>
            <a:r>
              <a:rPr lang="en"/>
              <a:t>finds a set of positions P = {l, m, n…}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Where each position (blocks) is a subset of the nodes in the original network that are seen as equivalent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the case of positions defined as </a:t>
            </a:r>
            <a:r>
              <a:rPr b="1" lang="en"/>
              <a:t>structural equivalence</a:t>
            </a:r>
            <a:r>
              <a:rPr lang="en"/>
              <a:t> below: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 = {a ≣ c}, {b ≣ d}, {e ≣ e}, {f ≣ f}, {g ≣ i}, {h ≣ j}</a:t>
            </a:r>
            <a:endParaRPr/>
          </a:p>
        </p:txBody>
      </p:sp>
      <p:grpSp>
        <p:nvGrpSpPr>
          <p:cNvPr id="17175" name="Google Shape;17175;p705"/>
          <p:cNvGrpSpPr/>
          <p:nvPr/>
        </p:nvGrpSpPr>
        <p:grpSpPr>
          <a:xfrm>
            <a:off x="831375" y="2879280"/>
            <a:ext cx="7555950" cy="1918868"/>
            <a:chOff x="831375" y="3199200"/>
            <a:chExt cx="7555950" cy="2132075"/>
          </a:xfrm>
        </p:grpSpPr>
        <p:grpSp>
          <p:nvGrpSpPr>
            <p:cNvPr id="17176" name="Google Shape;17176;p705"/>
            <p:cNvGrpSpPr/>
            <p:nvPr/>
          </p:nvGrpSpPr>
          <p:grpSpPr>
            <a:xfrm>
              <a:off x="831375" y="3199200"/>
              <a:ext cx="7555950" cy="1938650"/>
              <a:chOff x="868500" y="3078125"/>
              <a:chExt cx="7555950" cy="1938650"/>
            </a:xfrm>
          </p:grpSpPr>
          <p:sp>
            <p:nvSpPr>
              <p:cNvPr id="17177" name="Google Shape;17177;p705"/>
              <p:cNvSpPr/>
              <p:nvPr/>
            </p:nvSpPr>
            <p:spPr>
              <a:xfrm>
                <a:off x="86850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a</a:t>
                </a:r>
                <a:endParaRPr sz="1800"/>
              </a:p>
            </p:txBody>
          </p:sp>
          <p:sp>
            <p:nvSpPr>
              <p:cNvPr id="17178" name="Google Shape;17178;p705"/>
              <p:cNvSpPr/>
              <p:nvPr/>
            </p:nvSpPr>
            <p:spPr>
              <a:xfrm>
                <a:off x="868700" y="4371050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c</a:t>
                </a:r>
                <a:endParaRPr sz="1800"/>
              </a:p>
            </p:txBody>
          </p:sp>
          <p:sp>
            <p:nvSpPr>
              <p:cNvPr id="17179" name="Google Shape;17179;p705"/>
              <p:cNvSpPr/>
              <p:nvPr/>
            </p:nvSpPr>
            <p:spPr>
              <a:xfrm>
                <a:off x="261445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b</a:t>
                </a:r>
                <a:endParaRPr sz="1800"/>
              </a:p>
            </p:txBody>
          </p:sp>
          <p:sp>
            <p:nvSpPr>
              <p:cNvPr id="17180" name="Google Shape;17180;p705"/>
              <p:cNvSpPr/>
              <p:nvPr/>
            </p:nvSpPr>
            <p:spPr>
              <a:xfrm>
                <a:off x="2614450" y="4371050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d</a:t>
                </a:r>
                <a:endParaRPr sz="1800"/>
              </a:p>
            </p:txBody>
          </p:sp>
          <p:sp>
            <p:nvSpPr>
              <p:cNvPr id="17181" name="Google Shape;17181;p705"/>
              <p:cNvSpPr/>
              <p:nvPr/>
            </p:nvSpPr>
            <p:spPr>
              <a:xfrm>
                <a:off x="3679950" y="3724550"/>
                <a:ext cx="601500" cy="580200"/>
              </a:xfrm>
              <a:prstGeom prst="ellipse">
                <a:avLst/>
              </a:prstGeom>
              <a:solidFill>
                <a:srgbClr val="FF00F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e</a:t>
                </a:r>
                <a:endParaRPr sz="1800"/>
              </a:p>
            </p:txBody>
          </p:sp>
          <p:sp>
            <p:nvSpPr>
              <p:cNvPr id="17182" name="Google Shape;17182;p705"/>
              <p:cNvSpPr/>
              <p:nvPr/>
            </p:nvSpPr>
            <p:spPr>
              <a:xfrm>
                <a:off x="5000350" y="3724625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f</a:t>
                </a:r>
                <a:endParaRPr sz="1800"/>
              </a:p>
            </p:txBody>
          </p:sp>
          <p:sp>
            <p:nvSpPr>
              <p:cNvPr id="17183" name="Google Shape;17183;p705"/>
              <p:cNvSpPr/>
              <p:nvPr/>
            </p:nvSpPr>
            <p:spPr>
              <a:xfrm>
                <a:off x="6077000" y="3078125"/>
                <a:ext cx="601500" cy="580200"/>
              </a:xfrm>
              <a:prstGeom prst="ellipse">
                <a:avLst/>
              </a:prstGeom>
              <a:solidFill>
                <a:srgbClr val="E6913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g</a:t>
                </a:r>
                <a:endParaRPr sz="1800"/>
              </a:p>
            </p:txBody>
          </p:sp>
          <p:sp>
            <p:nvSpPr>
              <p:cNvPr id="17184" name="Google Shape;17184;p705"/>
              <p:cNvSpPr/>
              <p:nvPr/>
            </p:nvSpPr>
            <p:spPr>
              <a:xfrm>
                <a:off x="6077000" y="4436575"/>
                <a:ext cx="601500" cy="580200"/>
              </a:xfrm>
              <a:prstGeom prst="ellipse">
                <a:avLst/>
              </a:prstGeom>
              <a:solidFill>
                <a:srgbClr val="E6913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i</a:t>
                </a:r>
                <a:endParaRPr sz="1800"/>
              </a:p>
            </p:txBody>
          </p:sp>
          <p:sp>
            <p:nvSpPr>
              <p:cNvPr id="17185" name="Google Shape;17185;p705"/>
              <p:cNvSpPr/>
              <p:nvPr/>
            </p:nvSpPr>
            <p:spPr>
              <a:xfrm>
                <a:off x="7822950" y="3078125"/>
                <a:ext cx="601500" cy="580200"/>
              </a:xfrm>
              <a:prstGeom prst="ellipse">
                <a:avLst/>
              </a:prstGeom>
              <a:solidFill>
                <a:srgbClr val="C27BA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h</a:t>
                </a:r>
                <a:endParaRPr sz="1800"/>
              </a:p>
            </p:txBody>
          </p:sp>
          <p:sp>
            <p:nvSpPr>
              <p:cNvPr id="17186" name="Google Shape;17186;p705"/>
              <p:cNvSpPr/>
              <p:nvPr/>
            </p:nvSpPr>
            <p:spPr>
              <a:xfrm>
                <a:off x="7822850" y="4436575"/>
                <a:ext cx="601500" cy="580200"/>
              </a:xfrm>
              <a:prstGeom prst="ellipse">
                <a:avLst/>
              </a:prstGeom>
              <a:solidFill>
                <a:srgbClr val="C27BA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j</a:t>
                </a:r>
                <a:endParaRPr sz="1800"/>
              </a:p>
            </p:txBody>
          </p:sp>
          <p:cxnSp>
            <p:nvCxnSpPr>
              <p:cNvPr id="17187" name="Google Shape;17187;p705"/>
              <p:cNvCxnSpPr>
                <a:stCxn id="17177" idx="6"/>
                <a:endCxn id="17179" idx="2"/>
              </p:cNvCxnSpPr>
              <p:nvPr/>
            </p:nvCxnSpPr>
            <p:spPr>
              <a:xfrm>
                <a:off x="147000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88" name="Google Shape;17188;p705"/>
              <p:cNvCxnSpPr>
                <a:stCxn id="17177" idx="5"/>
                <a:endCxn id="17180" idx="1"/>
              </p:cNvCxnSpPr>
              <p:nvPr/>
            </p:nvCxnSpPr>
            <p:spPr>
              <a:xfrm>
                <a:off x="1381912" y="3573357"/>
                <a:ext cx="13206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89" name="Google Shape;17189;p705"/>
              <p:cNvCxnSpPr>
                <a:stCxn id="17178" idx="7"/>
                <a:endCxn id="17179" idx="3"/>
              </p:cNvCxnSpPr>
              <p:nvPr/>
            </p:nvCxnSpPr>
            <p:spPr>
              <a:xfrm flipH="1" rot="10800000">
                <a:off x="1382112" y="3573418"/>
                <a:ext cx="13203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0" name="Google Shape;17190;p705"/>
              <p:cNvCxnSpPr>
                <a:stCxn id="17177" idx="4"/>
                <a:endCxn id="17178" idx="0"/>
              </p:cNvCxnSpPr>
              <p:nvPr/>
            </p:nvCxnSpPr>
            <p:spPr>
              <a:xfrm>
                <a:off x="1169250" y="3658325"/>
                <a:ext cx="300" cy="7128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1" name="Google Shape;17191;p705"/>
              <p:cNvCxnSpPr>
                <a:stCxn id="17178" idx="6"/>
                <a:endCxn id="17180" idx="2"/>
              </p:cNvCxnSpPr>
              <p:nvPr/>
            </p:nvCxnSpPr>
            <p:spPr>
              <a:xfrm>
                <a:off x="1470200" y="4661150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2" name="Google Shape;17192;p705"/>
              <p:cNvCxnSpPr>
                <a:stCxn id="17179" idx="6"/>
                <a:endCxn id="17181" idx="1"/>
              </p:cNvCxnSpPr>
              <p:nvPr/>
            </p:nvCxnSpPr>
            <p:spPr>
              <a:xfrm>
                <a:off x="3215950" y="3368225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3" name="Google Shape;17193;p705"/>
              <p:cNvCxnSpPr>
                <a:stCxn id="17181" idx="3"/>
                <a:endCxn id="17180" idx="6"/>
              </p:cNvCxnSpPr>
              <p:nvPr/>
            </p:nvCxnSpPr>
            <p:spPr>
              <a:xfrm flipH="1">
                <a:off x="3216038" y="4219782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4" name="Google Shape;17194;p705"/>
              <p:cNvCxnSpPr>
                <a:stCxn id="17182" idx="2"/>
                <a:endCxn id="17181" idx="6"/>
              </p:cNvCxnSpPr>
              <p:nvPr/>
            </p:nvCxnSpPr>
            <p:spPr>
              <a:xfrm rot="10800000">
                <a:off x="4281550" y="4014725"/>
                <a:ext cx="7188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5" name="Google Shape;17195;p705"/>
              <p:cNvCxnSpPr>
                <a:stCxn id="17183" idx="2"/>
                <a:endCxn id="17182" idx="7"/>
              </p:cNvCxnSpPr>
              <p:nvPr/>
            </p:nvCxnSpPr>
            <p:spPr>
              <a:xfrm flipH="1">
                <a:off x="5513900" y="3368225"/>
                <a:ext cx="5631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6" name="Google Shape;17196;p705"/>
              <p:cNvCxnSpPr>
                <a:stCxn id="17184" idx="2"/>
                <a:endCxn id="17182" idx="5"/>
              </p:cNvCxnSpPr>
              <p:nvPr/>
            </p:nvCxnSpPr>
            <p:spPr>
              <a:xfrm rot="10800000">
                <a:off x="5513900" y="4219975"/>
                <a:ext cx="563100" cy="5067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7" name="Google Shape;17197;p705"/>
              <p:cNvCxnSpPr>
                <a:stCxn id="17183" idx="5"/>
                <a:endCxn id="17186" idx="1"/>
              </p:cNvCxnSpPr>
              <p:nvPr/>
            </p:nvCxnSpPr>
            <p:spPr>
              <a:xfrm>
                <a:off x="6590412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8" name="Google Shape;17198;p705"/>
              <p:cNvCxnSpPr>
                <a:stCxn id="17185" idx="3"/>
                <a:endCxn id="17184" idx="7"/>
              </p:cNvCxnSpPr>
              <p:nvPr/>
            </p:nvCxnSpPr>
            <p:spPr>
              <a:xfrm flipH="1">
                <a:off x="6590438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199" name="Google Shape;17199;p705"/>
              <p:cNvCxnSpPr>
                <a:stCxn id="17185" idx="2"/>
                <a:endCxn id="17183" idx="6"/>
              </p:cNvCxnSpPr>
              <p:nvPr/>
            </p:nvCxnSpPr>
            <p:spPr>
              <a:xfrm rot="10800000">
                <a:off x="667845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00" name="Google Shape;17200;p705"/>
              <p:cNvCxnSpPr>
                <a:stCxn id="17185" idx="4"/>
                <a:endCxn id="17186" idx="0"/>
              </p:cNvCxnSpPr>
              <p:nvPr/>
            </p:nvCxnSpPr>
            <p:spPr>
              <a:xfrm>
                <a:off x="8123700" y="3658325"/>
                <a:ext cx="0" cy="7782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01" name="Google Shape;17201;p705"/>
              <p:cNvCxnSpPr>
                <a:stCxn id="17186" idx="2"/>
                <a:endCxn id="17184" idx="6"/>
              </p:cNvCxnSpPr>
              <p:nvPr/>
            </p:nvCxnSpPr>
            <p:spPr>
              <a:xfrm rot="10800000">
                <a:off x="6678650" y="4726675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17202" name="Google Shape;17202;p705"/>
            <p:cNvSpPr txBox="1"/>
            <p:nvPr/>
          </p:nvSpPr>
          <p:spPr>
            <a:xfrm>
              <a:off x="3604950" y="4864175"/>
              <a:ext cx="2008800" cy="467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Borgatti and Everett’s</a:t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“Thinking Graph”</a:t>
              </a:r>
              <a:endParaRPr/>
            </a:p>
          </p:txBody>
        </p:sp>
      </p:grpSp>
    </p:spTree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206" name="Shape 17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7" name="Google Shape;17207;p70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Structural Equivalence </a:t>
            </a:r>
            <a:endParaRPr/>
          </a:p>
        </p:txBody>
      </p:sp>
      <p:sp>
        <p:nvSpPr>
          <p:cNvPr id="17208" name="Google Shape;17208;p706"/>
          <p:cNvSpPr txBox="1"/>
          <p:nvPr/>
        </p:nvSpPr>
        <p:spPr>
          <a:xfrm>
            <a:off x="3604950" y="4377758"/>
            <a:ext cx="20088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Borgatti and Everett’s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“Thinking Graph”</a:t>
            </a:r>
            <a:endParaRPr/>
          </a:p>
        </p:txBody>
      </p:sp>
      <p:sp>
        <p:nvSpPr>
          <p:cNvPr id="17209" name="Google Shape;17209;p706"/>
          <p:cNvSpPr txBox="1"/>
          <p:nvPr>
            <p:ph idx="1" type="body"/>
          </p:nvPr>
        </p:nvSpPr>
        <p:spPr>
          <a:xfrm>
            <a:off x="311700" y="1225221"/>
            <a:ext cx="8520600" cy="144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 </a:t>
            </a:r>
            <a:r>
              <a:rPr b="1" lang="en"/>
              <a:t>positional analysis </a:t>
            </a:r>
            <a:r>
              <a:rPr lang="en"/>
              <a:t>finds a set of positions P = {l, m, n…}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Where each position (blocks) is a subset of the nodes in the original network that are seen as equivalent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the case of positions defined as </a:t>
            </a:r>
            <a:r>
              <a:rPr b="1" lang="en"/>
              <a:t>structural equivalence</a:t>
            </a:r>
            <a:r>
              <a:rPr lang="en"/>
              <a:t> below: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 = {a ≣ c}, {b ≣ d}, {e ≣ e}, {f ≣ f}, {g ≣ i}, {h ≣ j}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10" name="Google Shape;17210;p706"/>
          <p:cNvGrpSpPr/>
          <p:nvPr/>
        </p:nvGrpSpPr>
        <p:grpSpPr>
          <a:xfrm>
            <a:off x="831375" y="2879280"/>
            <a:ext cx="7555950" cy="1918868"/>
            <a:chOff x="831375" y="3199200"/>
            <a:chExt cx="7555950" cy="2132075"/>
          </a:xfrm>
        </p:grpSpPr>
        <p:grpSp>
          <p:nvGrpSpPr>
            <p:cNvPr id="17211" name="Google Shape;17211;p706"/>
            <p:cNvGrpSpPr/>
            <p:nvPr/>
          </p:nvGrpSpPr>
          <p:grpSpPr>
            <a:xfrm>
              <a:off x="831375" y="3199200"/>
              <a:ext cx="7555950" cy="1938650"/>
              <a:chOff x="868500" y="3078125"/>
              <a:chExt cx="7555950" cy="1938650"/>
            </a:xfrm>
          </p:grpSpPr>
          <p:sp>
            <p:nvSpPr>
              <p:cNvPr id="17212" name="Google Shape;17212;p706"/>
              <p:cNvSpPr/>
              <p:nvPr/>
            </p:nvSpPr>
            <p:spPr>
              <a:xfrm>
                <a:off x="86850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a</a:t>
                </a:r>
                <a:endParaRPr sz="1800"/>
              </a:p>
            </p:txBody>
          </p:sp>
          <p:sp>
            <p:nvSpPr>
              <p:cNvPr id="17213" name="Google Shape;17213;p706"/>
              <p:cNvSpPr/>
              <p:nvPr/>
            </p:nvSpPr>
            <p:spPr>
              <a:xfrm>
                <a:off x="868700" y="4371050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c</a:t>
                </a:r>
                <a:endParaRPr sz="1800"/>
              </a:p>
            </p:txBody>
          </p:sp>
          <p:sp>
            <p:nvSpPr>
              <p:cNvPr id="17214" name="Google Shape;17214;p706"/>
              <p:cNvSpPr/>
              <p:nvPr/>
            </p:nvSpPr>
            <p:spPr>
              <a:xfrm>
                <a:off x="261445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b</a:t>
                </a:r>
                <a:endParaRPr sz="1800"/>
              </a:p>
            </p:txBody>
          </p:sp>
          <p:sp>
            <p:nvSpPr>
              <p:cNvPr id="17215" name="Google Shape;17215;p706"/>
              <p:cNvSpPr/>
              <p:nvPr/>
            </p:nvSpPr>
            <p:spPr>
              <a:xfrm>
                <a:off x="2614450" y="4371050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d</a:t>
                </a:r>
                <a:endParaRPr sz="1800"/>
              </a:p>
            </p:txBody>
          </p:sp>
          <p:sp>
            <p:nvSpPr>
              <p:cNvPr id="17216" name="Google Shape;17216;p706"/>
              <p:cNvSpPr/>
              <p:nvPr/>
            </p:nvSpPr>
            <p:spPr>
              <a:xfrm>
                <a:off x="3679950" y="3724550"/>
                <a:ext cx="601500" cy="580200"/>
              </a:xfrm>
              <a:prstGeom prst="ellipse">
                <a:avLst/>
              </a:prstGeom>
              <a:solidFill>
                <a:srgbClr val="FF00F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e</a:t>
                </a:r>
                <a:endParaRPr sz="1800"/>
              </a:p>
            </p:txBody>
          </p:sp>
          <p:sp>
            <p:nvSpPr>
              <p:cNvPr id="17217" name="Google Shape;17217;p706"/>
              <p:cNvSpPr/>
              <p:nvPr/>
            </p:nvSpPr>
            <p:spPr>
              <a:xfrm>
                <a:off x="5000350" y="3724625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f</a:t>
                </a:r>
                <a:endParaRPr sz="1800"/>
              </a:p>
            </p:txBody>
          </p:sp>
          <p:sp>
            <p:nvSpPr>
              <p:cNvPr id="17218" name="Google Shape;17218;p706"/>
              <p:cNvSpPr/>
              <p:nvPr/>
            </p:nvSpPr>
            <p:spPr>
              <a:xfrm>
                <a:off x="6077000" y="3078125"/>
                <a:ext cx="601500" cy="580200"/>
              </a:xfrm>
              <a:prstGeom prst="ellipse">
                <a:avLst/>
              </a:prstGeom>
              <a:solidFill>
                <a:srgbClr val="E6913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g</a:t>
                </a:r>
                <a:endParaRPr sz="1800"/>
              </a:p>
            </p:txBody>
          </p:sp>
          <p:sp>
            <p:nvSpPr>
              <p:cNvPr id="17219" name="Google Shape;17219;p706"/>
              <p:cNvSpPr/>
              <p:nvPr/>
            </p:nvSpPr>
            <p:spPr>
              <a:xfrm>
                <a:off x="6077000" y="4436575"/>
                <a:ext cx="601500" cy="580200"/>
              </a:xfrm>
              <a:prstGeom prst="ellipse">
                <a:avLst/>
              </a:prstGeom>
              <a:solidFill>
                <a:srgbClr val="E6913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i</a:t>
                </a:r>
                <a:endParaRPr sz="1800"/>
              </a:p>
            </p:txBody>
          </p:sp>
          <p:sp>
            <p:nvSpPr>
              <p:cNvPr id="17220" name="Google Shape;17220;p706"/>
              <p:cNvSpPr/>
              <p:nvPr/>
            </p:nvSpPr>
            <p:spPr>
              <a:xfrm>
                <a:off x="7822950" y="3078125"/>
                <a:ext cx="601500" cy="580200"/>
              </a:xfrm>
              <a:prstGeom prst="ellipse">
                <a:avLst/>
              </a:prstGeom>
              <a:solidFill>
                <a:srgbClr val="C27BA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h</a:t>
                </a:r>
                <a:endParaRPr sz="1800"/>
              </a:p>
            </p:txBody>
          </p:sp>
          <p:sp>
            <p:nvSpPr>
              <p:cNvPr id="17221" name="Google Shape;17221;p706"/>
              <p:cNvSpPr/>
              <p:nvPr/>
            </p:nvSpPr>
            <p:spPr>
              <a:xfrm>
                <a:off x="7822850" y="4436575"/>
                <a:ext cx="601500" cy="580200"/>
              </a:xfrm>
              <a:prstGeom prst="ellipse">
                <a:avLst/>
              </a:prstGeom>
              <a:solidFill>
                <a:srgbClr val="C27BA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j</a:t>
                </a:r>
                <a:endParaRPr sz="1800"/>
              </a:p>
            </p:txBody>
          </p:sp>
          <p:cxnSp>
            <p:nvCxnSpPr>
              <p:cNvPr id="17222" name="Google Shape;17222;p706"/>
              <p:cNvCxnSpPr>
                <a:stCxn id="17212" idx="6"/>
                <a:endCxn id="17214" idx="2"/>
              </p:cNvCxnSpPr>
              <p:nvPr/>
            </p:nvCxnSpPr>
            <p:spPr>
              <a:xfrm>
                <a:off x="147000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23" name="Google Shape;17223;p706"/>
              <p:cNvCxnSpPr>
                <a:stCxn id="17212" idx="5"/>
                <a:endCxn id="17215" idx="1"/>
              </p:cNvCxnSpPr>
              <p:nvPr/>
            </p:nvCxnSpPr>
            <p:spPr>
              <a:xfrm>
                <a:off x="1381912" y="3573357"/>
                <a:ext cx="13206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24" name="Google Shape;17224;p706"/>
              <p:cNvCxnSpPr>
                <a:stCxn id="17213" idx="7"/>
                <a:endCxn id="17214" idx="3"/>
              </p:cNvCxnSpPr>
              <p:nvPr/>
            </p:nvCxnSpPr>
            <p:spPr>
              <a:xfrm flipH="1" rot="10800000">
                <a:off x="1382112" y="3573418"/>
                <a:ext cx="13203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25" name="Google Shape;17225;p706"/>
              <p:cNvCxnSpPr>
                <a:stCxn id="17212" idx="4"/>
                <a:endCxn id="17213" idx="0"/>
              </p:cNvCxnSpPr>
              <p:nvPr/>
            </p:nvCxnSpPr>
            <p:spPr>
              <a:xfrm>
                <a:off x="1169250" y="3658325"/>
                <a:ext cx="300" cy="7128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26" name="Google Shape;17226;p706"/>
              <p:cNvCxnSpPr>
                <a:stCxn id="17213" idx="6"/>
                <a:endCxn id="17215" idx="2"/>
              </p:cNvCxnSpPr>
              <p:nvPr/>
            </p:nvCxnSpPr>
            <p:spPr>
              <a:xfrm>
                <a:off x="1470200" y="4661150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27" name="Google Shape;17227;p706"/>
              <p:cNvCxnSpPr>
                <a:stCxn id="17214" idx="6"/>
                <a:endCxn id="17216" idx="1"/>
              </p:cNvCxnSpPr>
              <p:nvPr/>
            </p:nvCxnSpPr>
            <p:spPr>
              <a:xfrm>
                <a:off x="3215950" y="3368225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28" name="Google Shape;17228;p706"/>
              <p:cNvCxnSpPr>
                <a:stCxn id="17216" idx="3"/>
                <a:endCxn id="17215" idx="6"/>
              </p:cNvCxnSpPr>
              <p:nvPr/>
            </p:nvCxnSpPr>
            <p:spPr>
              <a:xfrm flipH="1">
                <a:off x="3216038" y="4219782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29" name="Google Shape;17229;p706"/>
              <p:cNvCxnSpPr>
                <a:stCxn id="17217" idx="2"/>
                <a:endCxn id="17216" idx="6"/>
              </p:cNvCxnSpPr>
              <p:nvPr/>
            </p:nvCxnSpPr>
            <p:spPr>
              <a:xfrm rot="10800000">
                <a:off x="4281550" y="4014725"/>
                <a:ext cx="7188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30" name="Google Shape;17230;p706"/>
              <p:cNvCxnSpPr>
                <a:stCxn id="17218" idx="2"/>
                <a:endCxn id="17217" idx="7"/>
              </p:cNvCxnSpPr>
              <p:nvPr/>
            </p:nvCxnSpPr>
            <p:spPr>
              <a:xfrm flipH="1">
                <a:off x="5513900" y="3368225"/>
                <a:ext cx="5631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31" name="Google Shape;17231;p706"/>
              <p:cNvCxnSpPr>
                <a:stCxn id="17219" idx="2"/>
                <a:endCxn id="17217" idx="5"/>
              </p:cNvCxnSpPr>
              <p:nvPr/>
            </p:nvCxnSpPr>
            <p:spPr>
              <a:xfrm rot="10800000">
                <a:off x="5513900" y="4219975"/>
                <a:ext cx="563100" cy="5067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32" name="Google Shape;17232;p706"/>
              <p:cNvCxnSpPr>
                <a:stCxn id="17218" idx="5"/>
                <a:endCxn id="17221" idx="1"/>
              </p:cNvCxnSpPr>
              <p:nvPr/>
            </p:nvCxnSpPr>
            <p:spPr>
              <a:xfrm>
                <a:off x="6590412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33" name="Google Shape;17233;p706"/>
              <p:cNvCxnSpPr>
                <a:stCxn id="17220" idx="3"/>
                <a:endCxn id="17219" idx="7"/>
              </p:cNvCxnSpPr>
              <p:nvPr/>
            </p:nvCxnSpPr>
            <p:spPr>
              <a:xfrm flipH="1">
                <a:off x="6590438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34" name="Google Shape;17234;p706"/>
              <p:cNvCxnSpPr>
                <a:stCxn id="17220" idx="2"/>
                <a:endCxn id="17218" idx="6"/>
              </p:cNvCxnSpPr>
              <p:nvPr/>
            </p:nvCxnSpPr>
            <p:spPr>
              <a:xfrm rot="10800000">
                <a:off x="667845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35" name="Google Shape;17235;p706"/>
              <p:cNvCxnSpPr>
                <a:stCxn id="17220" idx="4"/>
                <a:endCxn id="17221" idx="0"/>
              </p:cNvCxnSpPr>
              <p:nvPr/>
            </p:nvCxnSpPr>
            <p:spPr>
              <a:xfrm>
                <a:off x="8123700" y="3658325"/>
                <a:ext cx="0" cy="7782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36" name="Google Shape;17236;p706"/>
              <p:cNvCxnSpPr>
                <a:stCxn id="17221" idx="2"/>
                <a:endCxn id="17219" idx="6"/>
              </p:cNvCxnSpPr>
              <p:nvPr/>
            </p:nvCxnSpPr>
            <p:spPr>
              <a:xfrm rot="10800000">
                <a:off x="6678650" y="4726675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17237" name="Google Shape;17237;p706"/>
            <p:cNvSpPr txBox="1"/>
            <p:nvPr/>
          </p:nvSpPr>
          <p:spPr>
            <a:xfrm>
              <a:off x="3604950" y="4864175"/>
              <a:ext cx="2008800" cy="467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Borgatti and Everett’s</a:t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“Thinking Graph”</a:t>
              </a:r>
              <a:endParaRPr/>
            </a:p>
          </p:txBody>
        </p:sp>
      </p:grpSp>
      <p:sp>
        <p:nvSpPr>
          <p:cNvPr id="17238" name="Google Shape;17238;p706"/>
          <p:cNvSpPr/>
          <p:nvPr/>
        </p:nvSpPr>
        <p:spPr>
          <a:xfrm>
            <a:off x="636225" y="2724772"/>
            <a:ext cx="932400" cy="1971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39" name="Google Shape;17239;p706"/>
          <p:cNvSpPr/>
          <p:nvPr/>
        </p:nvSpPr>
        <p:spPr>
          <a:xfrm>
            <a:off x="2404225" y="2744437"/>
            <a:ext cx="932400" cy="1971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40" name="Google Shape;17240;p706"/>
          <p:cNvSpPr/>
          <p:nvPr/>
        </p:nvSpPr>
        <p:spPr>
          <a:xfrm>
            <a:off x="3446825" y="2744437"/>
            <a:ext cx="932400" cy="1971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41" name="Google Shape;17241;p706"/>
          <p:cNvSpPr/>
          <p:nvPr/>
        </p:nvSpPr>
        <p:spPr>
          <a:xfrm>
            <a:off x="4786200" y="2744437"/>
            <a:ext cx="932400" cy="1971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42" name="Google Shape;17242;p706"/>
          <p:cNvSpPr/>
          <p:nvPr/>
        </p:nvSpPr>
        <p:spPr>
          <a:xfrm>
            <a:off x="5882075" y="2744437"/>
            <a:ext cx="932400" cy="1971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43" name="Google Shape;17243;p706"/>
          <p:cNvSpPr/>
          <p:nvPr/>
        </p:nvSpPr>
        <p:spPr>
          <a:xfrm>
            <a:off x="7541850" y="2744437"/>
            <a:ext cx="932400" cy="1971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247" name="Shape 17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48" name="Google Shape;17248;p70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Structural Equivalence </a:t>
            </a:r>
            <a:endParaRPr/>
          </a:p>
        </p:txBody>
      </p:sp>
      <p:sp>
        <p:nvSpPr>
          <p:cNvPr id="17249" name="Google Shape;17249;p707"/>
          <p:cNvSpPr txBox="1"/>
          <p:nvPr>
            <p:ph idx="1" type="body"/>
          </p:nvPr>
        </p:nvSpPr>
        <p:spPr>
          <a:xfrm>
            <a:off x="311700" y="1225215"/>
            <a:ext cx="8520600" cy="10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Structurally equivalent actors: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Have the same ego-networks </a:t>
            </a:r>
            <a:r>
              <a:rPr lang="en"/>
              <a:t>(they are connected to the same set of others)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 sz="1400"/>
              <a:t>Are part of the same </a:t>
            </a:r>
            <a:r>
              <a:rPr b="1" lang="en" sz="1400"/>
              <a:t>cohesive subset</a:t>
            </a:r>
            <a:r>
              <a:rPr lang="en" sz="1400"/>
              <a:t> (they are connected by at least a path of length 2)</a:t>
            </a:r>
            <a:endParaRPr sz="14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the same </a:t>
            </a:r>
            <a:r>
              <a:rPr b="1" lang="en"/>
              <a:t>graph theoretic attributes</a:t>
            </a:r>
            <a:r>
              <a:rPr lang="en"/>
              <a:t> (e.g., centrality, clustering coefficient, etc.)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50" name="Google Shape;17250;p707"/>
          <p:cNvGrpSpPr/>
          <p:nvPr/>
        </p:nvGrpSpPr>
        <p:grpSpPr>
          <a:xfrm>
            <a:off x="831375" y="2879280"/>
            <a:ext cx="7555950" cy="1918868"/>
            <a:chOff x="831375" y="3199200"/>
            <a:chExt cx="7555950" cy="2132075"/>
          </a:xfrm>
        </p:grpSpPr>
        <p:grpSp>
          <p:nvGrpSpPr>
            <p:cNvPr id="17251" name="Google Shape;17251;p707"/>
            <p:cNvGrpSpPr/>
            <p:nvPr/>
          </p:nvGrpSpPr>
          <p:grpSpPr>
            <a:xfrm>
              <a:off x="831375" y="3199200"/>
              <a:ext cx="7555950" cy="1938650"/>
              <a:chOff x="868500" y="3078125"/>
              <a:chExt cx="7555950" cy="1938650"/>
            </a:xfrm>
          </p:grpSpPr>
          <p:sp>
            <p:nvSpPr>
              <p:cNvPr id="17252" name="Google Shape;17252;p707"/>
              <p:cNvSpPr/>
              <p:nvPr/>
            </p:nvSpPr>
            <p:spPr>
              <a:xfrm>
                <a:off x="86850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a</a:t>
                </a:r>
                <a:endParaRPr sz="1800"/>
              </a:p>
            </p:txBody>
          </p:sp>
          <p:sp>
            <p:nvSpPr>
              <p:cNvPr id="17253" name="Google Shape;17253;p707"/>
              <p:cNvSpPr/>
              <p:nvPr/>
            </p:nvSpPr>
            <p:spPr>
              <a:xfrm>
                <a:off x="868700" y="4371050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c</a:t>
                </a:r>
                <a:endParaRPr sz="1800"/>
              </a:p>
            </p:txBody>
          </p:sp>
          <p:sp>
            <p:nvSpPr>
              <p:cNvPr id="17254" name="Google Shape;17254;p707"/>
              <p:cNvSpPr/>
              <p:nvPr/>
            </p:nvSpPr>
            <p:spPr>
              <a:xfrm>
                <a:off x="261445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76200">
                <a:solidFill>
                  <a:srgbClr val="FF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b</a:t>
                </a:r>
                <a:endParaRPr sz="1800"/>
              </a:p>
            </p:txBody>
          </p:sp>
          <p:sp>
            <p:nvSpPr>
              <p:cNvPr id="17255" name="Google Shape;17255;p707"/>
              <p:cNvSpPr/>
              <p:nvPr/>
            </p:nvSpPr>
            <p:spPr>
              <a:xfrm>
                <a:off x="2614450" y="4371050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76200">
                <a:solidFill>
                  <a:srgbClr val="FF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d</a:t>
                </a:r>
                <a:endParaRPr sz="1800"/>
              </a:p>
            </p:txBody>
          </p:sp>
          <p:sp>
            <p:nvSpPr>
              <p:cNvPr id="17256" name="Google Shape;17256;p707"/>
              <p:cNvSpPr/>
              <p:nvPr/>
            </p:nvSpPr>
            <p:spPr>
              <a:xfrm>
                <a:off x="3679950" y="3724550"/>
                <a:ext cx="601500" cy="580200"/>
              </a:xfrm>
              <a:prstGeom prst="ellipse">
                <a:avLst/>
              </a:prstGeom>
              <a:solidFill>
                <a:srgbClr val="FF00F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e</a:t>
                </a:r>
                <a:endParaRPr sz="1800"/>
              </a:p>
            </p:txBody>
          </p:sp>
          <p:sp>
            <p:nvSpPr>
              <p:cNvPr id="17257" name="Google Shape;17257;p707"/>
              <p:cNvSpPr/>
              <p:nvPr/>
            </p:nvSpPr>
            <p:spPr>
              <a:xfrm>
                <a:off x="5000350" y="3724625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f</a:t>
                </a:r>
                <a:endParaRPr sz="1800"/>
              </a:p>
            </p:txBody>
          </p:sp>
          <p:sp>
            <p:nvSpPr>
              <p:cNvPr id="17258" name="Google Shape;17258;p707"/>
              <p:cNvSpPr/>
              <p:nvPr/>
            </p:nvSpPr>
            <p:spPr>
              <a:xfrm>
                <a:off x="6077000" y="3078125"/>
                <a:ext cx="601500" cy="580200"/>
              </a:xfrm>
              <a:prstGeom prst="ellipse">
                <a:avLst/>
              </a:prstGeom>
              <a:solidFill>
                <a:srgbClr val="E6913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g</a:t>
                </a:r>
                <a:endParaRPr sz="1800"/>
              </a:p>
            </p:txBody>
          </p:sp>
          <p:sp>
            <p:nvSpPr>
              <p:cNvPr id="17259" name="Google Shape;17259;p707"/>
              <p:cNvSpPr/>
              <p:nvPr/>
            </p:nvSpPr>
            <p:spPr>
              <a:xfrm>
                <a:off x="6077000" y="4436575"/>
                <a:ext cx="601500" cy="580200"/>
              </a:xfrm>
              <a:prstGeom prst="ellipse">
                <a:avLst/>
              </a:prstGeom>
              <a:solidFill>
                <a:srgbClr val="E6913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i</a:t>
                </a:r>
                <a:endParaRPr sz="1800"/>
              </a:p>
            </p:txBody>
          </p:sp>
          <p:sp>
            <p:nvSpPr>
              <p:cNvPr id="17260" name="Google Shape;17260;p707"/>
              <p:cNvSpPr/>
              <p:nvPr/>
            </p:nvSpPr>
            <p:spPr>
              <a:xfrm>
                <a:off x="7822950" y="3078125"/>
                <a:ext cx="601500" cy="580200"/>
              </a:xfrm>
              <a:prstGeom prst="ellipse">
                <a:avLst/>
              </a:prstGeom>
              <a:solidFill>
                <a:srgbClr val="C27BA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h</a:t>
                </a:r>
                <a:endParaRPr sz="1800"/>
              </a:p>
            </p:txBody>
          </p:sp>
          <p:sp>
            <p:nvSpPr>
              <p:cNvPr id="17261" name="Google Shape;17261;p707"/>
              <p:cNvSpPr/>
              <p:nvPr/>
            </p:nvSpPr>
            <p:spPr>
              <a:xfrm>
                <a:off x="7822850" y="4436575"/>
                <a:ext cx="601500" cy="580200"/>
              </a:xfrm>
              <a:prstGeom prst="ellipse">
                <a:avLst/>
              </a:prstGeom>
              <a:solidFill>
                <a:srgbClr val="C27BA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j</a:t>
                </a:r>
                <a:endParaRPr sz="1800"/>
              </a:p>
            </p:txBody>
          </p:sp>
          <p:cxnSp>
            <p:nvCxnSpPr>
              <p:cNvPr id="17262" name="Google Shape;17262;p707"/>
              <p:cNvCxnSpPr>
                <a:stCxn id="17252" idx="6"/>
                <a:endCxn id="17254" idx="2"/>
              </p:cNvCxnSpPr>
              <p:nvPr/>
            </p:nvCxnSpPr>
            <p:spPr>
              <a:xfrm>
                <a:off x="1470000" y="3368225"/>
                <a:ext cx="1144500" cy="0"/>
              </a:xfrm>
              <a:prstGeom prst="straightConnector1">
                <a:avLst/>
              </a:prstGeom>
              <a:noFill/>
              <a:ln cap="flat" cmpd="sng" w="76200">
                <a:solidFill>
                  <a:srgbClr val="FF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63" name="Google Shape;17263;p707"/>
              <p:cNvCxnSpPr>
                <a:stCxn id="17252" idx="5"/>
                <a:endCxn id="17255" idx="1"/>
              </p:cNvCxnSpPr>
              <p:nvPr/>
            </p:nvCxnSpPr>
            <p:spPr>
              <a:xfrm>
                <a:off x="1381912" y="3573357"/>
                <a:ext cx="1320600" cy="882600"/>
              </a:xfrm>
              <a:prstGeom prst="straightConnector1">
                <a:avLst/>
              </a:prstGeom>
              <a:noFill/>
              <a:ln cap="flat" cmpd="sng" w="76200">
                <a:solidFill>
                  <a:srgbClr val="FF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64" name="Google Shape;17264;p707"/>
              <p:cNvCxnSpPr>
                <a:stCxn id="17253" idx="7"/>
                <a:endCxn id="17254" idx="3"/>
              </p:cNvCxnSpPr>
              <p:nvPr/>
            </p:nvCxnSpPr>
            <p:spPr>
              <a:xfrm flipH="1" rot="10800000">
                <a:off x="1382112" y="3573418"/>
                <a:ext cx="1320300" cy="882600"/>
              </a:xfrm>
              <a:prstGeom prst="straightConnector1">
                <a:avLst/>
              </a:prstGeom>
              <a:noFill/>
              <a:ln cap="flat" cmpd="sng" w="76200">
                <a:solidFill>
                  <a:srgbClr val="FF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65" name="Google Shape;17265;p707"/>
              <p:cNvCxnSpPr>
                <a:stCxn id="17252" idx="4"/>
                <a:endCxn id="17253" idx="0"/>
              </p:cNvCxnSpPr>
              <p:nvPr/>
            </p:nvCxnSpPr>
            <p:spPr>
              <a:xfrm>
                <a:off x="1169250" y="3658325"/>
                <a:ext cx="300" cy="7128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66" name="Google Shape;17266;p707"/>
              <p:cNvCxnSpPr>
                <a:stCxn id="17253" idx="6"/>
                <a:endCxn id="17255" idx="2"/>
              </p:cNvCxnSpPr>
              <p:nvPr/>
            </p:nvCxnSpPr>
            <p:spPr>
              <a:xfrm>
                <a:off x="1470200" y="4661150"/>
                <a:ext cx="1144200" cy="0"/>
              </a:xfrm>
              <a:prstGeom prst="straightConnector1">
                <a:avLst/>
              </a:prstGeom>
              <a:noFill/>
              <a:ln cap="flat" cmpd="sng" w="76200">
                <a:solidFill>
                  <a:srgbClr val="FF000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67" name="Google Shape;17267;p707"/>
              <p:cNvCxnSpPr>
                <a:stCxn id="17254" idx="6"/>
                <a:endCxn id="17256" idx="1"/>
              </p:cNvCxnSpPr>
              <p:nvPr/>
            </p:nvCxnSpPr>
            <p:spPr>
              <a:xfrm>
                <a:off x="3215950" y="3368225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68" name="Google Shape;17268;p707"/>
              <p:cNvCxnSpPr>
                <a:stCxn id="17256" idx="3"/>
                <a:endCxn id="17255" idx="6"/>
              </p:cNvCxnSpPr>
              <p:nvPr/>
            </p:nvCxnSpPr>
            <p:spPr>
              <a:xfrm flipH="1">
                <a:off x="3216038" y="4219782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69" name="Google Shape;17269;p707"/>
              <p:cNvCxnSpPr>
                <a:stCxn id="17257" idx="2"/>
                <a:endCxn id="17256" idx="6"/>
              </p:cNvCxnSpPr>
              <p:nvPr/>
            </p:nvCxnSpPr>
            <p:spPr>
              <a:xfrm rot="10800000">
                <a:off x="4281550" y="4014725"/>
                <a:ext cx="7188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70" name="Google Shape;17270;p707"/>
              <p:cNvCxnSpPr>
                <a:stCxn id="17258" idx="2"/>
                <a:endCxn id="17257" idx="7"/>
              </p:cNvCxnSpPr>
              <p:nvPr/>
            </p:nvCxnSpPr>
            <p:spPr>
              <a:xfrm flipH="1">
                <a:off x="5513900" y="3368225"/>
                <a:ext cx="5631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71" name="Google Shape;17271;p707"/>
              <p:cNvCxnSpPr>
                <a:stCxn id="17259" idx="2"/>
                <a:endCxn id="17257" idx="5"/>
              </p:cNvCxnSpPr>
              <p:nvPr/>
            </p:nvCxnSpPr>
            <p:spPr>
              <a:xfrm rot="10800000">
                <a:off x="5513900" y="4219975"/>
                <a:ext cx="563100" cy="5067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72" name="Google Shape;17272;p707"/>
              <p:cNvCxnSpPr>
                <a:stCxn id="17258" idx="5"/>
                <a:endCxn id="17261" idx="1"/>
              </p:cNvCxnSpPr>
              <p:nvPr/>
            </p:nvCxnSpPr>
            <p:spPr>
              <a:xfrm>
                <a:off x="6590412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73" name="Google Shape;17273;p707"/>
              <p:cNvCxnSpPr>
                <a:stCxn id="17260" idx="3"/>
                <a:endCxn id="17259" idx="7"/>
              </p:cNvCxnSpPr>
              <p:nvPr/>
            </p:nvCxnSpPr>
            <p:spPr>
              <a:xfrm flipH="1">
                <a:off x="6590438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74" name="Google Shape;17274;p707"/>
              <p:cNvCxnSpPr>
                <a:stCxn id="17260" idx="2"/>
                <a:endCxn id="17258" idx="6"/>
              </p:cNvCxnSpPr>
              <p:nvPr/>
            </p:nvCxnSpPr>
            <p:spPr>
              <a:xfrm rot="10800000">
                <a:off x="667845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75" name="Google Shape;17275;p707"/>
              <p:cNvCxnSpPr>
                <a:stCxn id="17260" idx="4"/>
                <a:endCxn id="17261" idx="0"/>
              </p:cNvCxnSpPr>
              <p:nvPr/>
            </p:nvCxnSpPr>
            <p:spPr>
              <a:xfrm>
                <a:off x="8123700" y="3658325"/>
                <a:ext cx="0" cy="7782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276" name="Google Shape;17276;p707"/>
              <p:cNvCxnSpPr>
                <a:stCxn id="17261" idx="2"/>
                <a:endCxn id="17259" idx="6"/>
              </p:cNvCxnSpPr>
              <p:nvPr/>
            </p:nvCxnSpPr>
            <p:spPr>
              <a:xfrm rot="10800000">
                <a:off x="6678650" y="4726675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17277" name="Google Shape;17277;p707"/>
            <p:cNvSpPr txBox="1"/>
            <p:nvPr/>
          </p:nvSpPr>
          <p:spPr>
            <a:xfrm>
              <a:off x="3604950" y="4864175"/>
              <a:ext cx="2008800" cy="467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Borgatti and Everett’s</a:t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“Thinking Graph”</a:t>
              </a:r>
              <a:endParaRPr/>
            </a:p>
          </p:txBody>
        </p:sp>
      </p:grpSp>
      <p:sp>
        <p:nvSpPr>
          <p:cNvPr id="17278" name="Google Shape;17278;p707"/>
          <p:cNvSpPr/>
          <p:nvPr/>
        </p:nvSpPr>
        <p:spPr>
          <a:xfrm>
            <a:off x="636225" y="2724772"/>
            <a:ext cx="932400" cy="1971900"/>
          </a:xfrm>
          <a:prstGeom prst="rect">
            <a:avLst/>
          </a:prstGeom>
          <a:noFill/>
          <a:ln cap="flat" cmpd="sng" w="1905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282" name="Shape 17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83" name="Google Shape;17283;p70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Blockmodeling based on structural equivalence</a:t>
            </a:r>
            <a:endParaRPr/>
          </a:p>
        </p:txBody>
      </p:sp>
      <p:grpSp>
        <p:nvGrpSpPr>
          <p:cNvPr id="17284" name="Google Shape;17284;p708"/>
          <p:cNvGrpSpPr/>
          <p:nvPr/>
        </p:nvGrpSpPr>
        <p:grpSpPr>
          <a:xfrm>
            <a:off x="3922267" y="2622036"/>
            <a:ext cx="4952925" cy="1183158"/>
            <a:chOff x="868500" y="3078125"/>
            <a:chExt cx="7555950" cy="1938650"/>
          </a:xfrm>
        </p:grpSpPr>
        <p:sp>
          <p:nvSpPr>
            <p:cNvPr id="17285" name="Google Shape;17285;p708"/>
            <p:cNvSpPr/>
            <p:nvPr/>
          </p:nvSpPr>
          <p:spPr>
            <a:xfrm>
              <a:off x="868500" y="3078125"/>
              <a:ext cx="601500" cy="580200"/>
            </a:xfrm>
            <a:prstGeom prst="ellipse">
              <a:avLst/>
            </a:prstGeom>
            <a:solidFill>
              <a:srgbClr val="FF0000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a</a:t>
              </a:r>
              <a:endParaRPr sz="1800"/>
            </a:p>
          </p:txBody>
        </p:sp>
        <p:sp>
          <p:nvSpPr>
            <p:cNvPr id="17286" name="Google Shape;17286;p708"/>
            <p:cNvSpPr/>
            <p:nvPr/>
          </p:nvSpPr>
          <p:spPr>
            <a:xfrm>
              <a:off x="868700" y="4371050"/>
              <a:ext cx="601500" cy="580200"/>
            </a:xfrm>
            <a:prstGeom prst="ellipse">
              <a:avLst/>
            </a:prstGeom>
            <a:solidFill>
              <a:srgbClr val="FF0000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c</a:t>
              </a:r>
              <a:endParaRPr sz="1800"/>
            </a:p>
          </p:txBody>
        </p:sp>
        <p:sp>
          <p:nvSpPr>
            <p:cNvPr id="17287" name="Google Shape;17287;p708"/>
            <p:cNvSpPr/>
            <p:nvPr/>
          </p:nvSpPr>
          <p:spPr>
            <a:xfrm>
              <a:off x="2614450" y="3078125"/>
              <a:ext cx="601500" cy="580200"/>
            </a:xfrm>
            <a:prstGeom prst="ellipse">
              <a:avLst/>
            </a:prstGeom>
            <a:solidFill>
              <a:srgbClr val="6AA84F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b</a:t>
              </a:r>
              <a:endParaRPr sz="1800"/>
            </a:p>
          </p:txBody>
        </p:sp>
        <p:sp>
          <p:nvSpPr>
            <p:cNvPr id="17288" name="Google Shape;17288;p708"/>
            <p:cNvSpPr/>
            <p:nvPr/>
          </p:nvSpPr>
          <p:spPr>
            <a:xfrm>
              <a:off x="2614450" y="4371050"/>
              <a:ext cx="601500" cy="580200"/>
            </a:xfrm>
            <a:prstGeom prst="ellipse">
              <a:avLst/>
            </a:prstGeom>
            <a:solidFill>
              <a:srgbClr val="6AA84F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d</a:t>
              </a:r>
              <a:endParaRPr sz="1800"/>
            </a:p>
          </p:txBody>
        </p:sp>
        <p:sp>
          <p:nvSpPr>
            <p:cNvPr id="17289" name="Google Shape;17289;p708"/>
            <p:cNvSpPr/>
            <p:nvPr/>
          </p:nvSpPr>
          <p:spPr>
            <a:xfrm>
              <a:off x="3679950" y="3724550"/>
              <a:ext cx="601500" cy="580200"/>
            </a:xfrm>
            <a:prstGeom prst="ellipse">
              <a:avLst/>
            </a:prstGeom>
            <a:solidFill>
              <a:srgbClr val="FF00FF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e</a:t>
              </a:r>
              <a:endParaRPr sz="1800"/>
            </a:p>
          </p:txBody>
        </p:sp>
        <p:sp>
          <p:nvSpPr>
            <p:cNvPr id="17290" name="Google Shape;17290;p708"/>
            <p:cNvSpPr/>
            <p:nvPr/>
          </p:nvSpPr>
          <p:spPr>
            <a:xfrm>
              <a:off x="5000350" y="3724625"/>
              <a:ext cx="601500" cy="580200"/>
            </a:xfrm>
            <a:prstGeom prst="ellipse">
              <a:avLst/>
            </a:prstGeom>
            <a:solidFill>
              <a:srgbClr val="3C78D8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f</a:t>
              </a:r>
              <a:endParaRPr sz="1800"/>
            </a:p>
          </p:txBody>
        </p:sp>
        <p:sp>
          <p:nvSpPr>
            <p:cNvPr id="17291" name="Google Shape;17291;p708"/>
            <p:cNvSpPr/>
            <p:nvPr/>
          </p:nvSpPr>
          <p:spPr>
            <a:xfrm>
              <a:off x="6077000" y="3078125"/>
              <a:ext cx="601500" cy="580200"/>
            </a:xfrm>
            <a:prstGeom prst="ellipse">
              <a:avLst/>
            </a:prstGeom>
            <a:solidFill>
              <a:srgbClr val="E69138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g</a:t>
              </a:r>
              <a:endParaRPr sz="1800"/>
            </a:p>
          </p:txBody>
        </p:sp>
        <p:sp>
          <p:nvSpPr>
            <p:cNvPr id="17292" name="Google Shape;17292;p708"/>
            <p:cNvSpPr/>
            <p:nvPr/>
          </p:nvSpPr>
          <p:spPr>
            <a:xfrm>
              <a:off x="6077000" y="4436575"/>
              <a:ext cx="601500" cy="580200"/>
            </a:xfrm>
            <a:prstGeom prst="ellipse">
              <a:avLst/>
            </a:prstGeom>
            <a:solidFill>
              <a:srgbClr val="E69138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i</a:t>
              </a:r>
              <a:endParaRPr sz="1800"/>
            </a:p>
          </p:txBody>
        </p:sp>
        <p:sp>
          <p:nvSpPr>
            <p:cNvPr id="17293" name="Google Shape;17293;p708"/>
            <p:cNvSpPr/>
            <p:nvPr/>
          </p:nvSpPr>
          <p:spPr>
            <a:xfrm>
              <a:off x="7822950" y="3078125"/>
              <a:ext cx="601500" cy="580200"/>
            </a:xfrm>
            <a:prstGeom prst="ellipse">
              <a:avLst/>
            </a:prstGeom>
            <a:solidFill>
              <a:srgbClr val="C27BA0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h</a:t>
              </a:r>
              <a:endParaRPr sz="1800"/>
            </a:p>
          </p:txBody>
        </p:sp>
        <p:sp>
          <p:nvSpPr>
            <p:cNvPr id="17294" name="Google Shape;17294;p708"/>
            <p:cNvSpPr/>
            <p:nvPr/>
          </p:nvSpPr>
          <p:spPr>
            <a:xfrm>
              <a:off x="7822850" y="4436575"/>
              <a:ext cx="601500" cy="580200"/>
            </a:xfrm>
            <a:prstGeom prst="ellipse">
              <a:avLst/>
            </a:prstGeom>
            <a:solidFill>
              <a:srgbClr val="C27BA0"/>
            </a:soli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/>
                <a:t>j</a:t>
              </a:r>
              <a:endParaRPr sz="1800"/>
            </a:p>
          </p:txBody>
        </p:sp>
        <p:cxnSp>
          <p:nvCxnSpPr>
            <p:cNvPr id="17295" name="Google Shape;17295;p708"/>
            <p:cNvCxnSpPr>
              <a:stCxn id="17285" idx="6"/>
              <a:endCxn id="17287" idx="2"/>
            </p:cNvCxnSpPr>
            <p:nvPr/>
          </p:nvCxnSpPr>
          <p:spPr>
            <a:xfrm>
              <a:off x="1470000" y="3368225"/>
              <a:ext cx="11445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296" name="Google Shape;17296;p708"/>
            <p:cNvCxnSpPr>
              <a:stCxn id="17285" idx="5"/>
              <a:endCxn id="17288" idx="1"/>
            </p:cNvCxnSpPr>
            <p:nvPr/>
          </p:nvCxnSpPr>
          <p:spPr>
            <a:xfrm>
              <a:off x="1381912" y="3573357"/>
              <a:ext cx="1320600" cy="8826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297" name="Google Shape;17297;p708"/>
            <p:cNvCxnSpPr>
              <a:stCxn id="17286" idx="7"/>
              <a:endCxn id="17287" idx="3"/>
            </p:cNvCxnSpPr>
            <p:nvPr/>
          </p:nvCxnSpPr>
          <p:spPr>
            <a:xfrm flipH="1" rot="10800000">
              <a:off x="1382112" y="3573418"/>
              <a:ext cx="1320300" cy="8826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298" name="Google Shape;17298;p708"/>
            <p:cNvCxnSpPr>
              <a:stCxn id="17285" idx="4"/>
              <a:endCxn id="17286" idx="0"/>
            </p:cNvCxnSpPr>
            <p:nvPr/>
          </p:nvCxnSpPr>
          <p:spPr>
            <a:xfrm>
              <a:off x="1169250" y="3658325"/>
              <a:ext cx="300" cy="7128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299" name="Google Shape;17299;p708"/>
            <p:cNvCxnSpPr>
              <a:stCxn id="17286" idx="6"/>
              <a:endCxn id="17288" idx="2"/>
            </p:cNvCxnSpPr>
            <p:nvPr/>
          </p:nvCxnSpPr>
          <p:spPr>
            <a:xfrm>
              <a:off x="1470200" y="4661150"/>
              <a:ext cx="1144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0" name="Google Shape;17300;p708"/>
            <p:cNvCxnSpPr>
              <a:stCxn id="17287" idx="6"/>
              <a:endCxn id="17289" idx="1"/>
            </p:cNvCxnSpPr>
            <p:nvPr/>
          </p:nvCxnSpPr>
          <p:spPr>
            <a:xfrm>
              <a:off x="3215950" y="3368225"/>
              <a:ext cx="552000" cy="4413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1" name="Google Shape;17301;p708"/>
            <p:cNvCxnSpPr>
              <a:stCxn id="17289" idx="3"/>
              <a:endCxn id="17288" idx="6"/>
            </p:cNvCxnSpPr>
            <p:nvPr/>
          </p:nvCxnSpPr>
          <p:spPr>
            <a:xfrm flipH="1">
              <a:off x="3216038" y="4219782"/>
              <a:ext cx="552000" cy="4413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2" name="Google Shape;17302;p708"/>
            <p:cNvCxnSpPr>
              <a:stCxn id="17290" idx="2"/>
              <a:endCxn id="17289" idx="6"/>
            </p:cNvCxnSpPr>
            <p:nvPr/>
          </p:nvCxnSpPr>
          <p:spPr>
            <a:xfrm rot="10800000">
              <a:off x="4281550" y="4014725"/>
              <a:ext cx="7188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3" name="Google Shape;17303;p708"/>
            <p:cNvCxnSpPr>
              <a:stCxn id="17291" idx="2"/>
              <a:endCxn id="17290" idx="7"/>
            </p:cNvCxnSpPr>
            <p:nvPr/>
          </p:nvCxnSpPr>
          <p:spPr>
            <a:xfrm flipH="1">
              <a:off x="5513900" y="3368225"/>
              <a:ext cx="563100" cy="4413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4" name="Google Shape;17304;p708"/>
            <p:cNvCxnSpPr>
              <a:stCxn id="17292" idx="2"/>
              <a:endCxn id="17290" idx="5"/>
            </p:cNvCxnSpPr>
            <p:nvPr/>
          </p:nvCxnSpPr>
          <p:spPr>
            <a:xfrm rot="10800000">
              <a:off x="5513900" y="4219975"/>
              <a:ext cx="563100" cy="5067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5" name="Google Shape;17305;p708"/>
            <p:cNvCxnSpPr>
              <a:stCxn id="17291" idx="5"/>
              <a:endCxn id="17294" idx="1"/>
            </p:cNvCxnSpPr>
            <p:nvPr/>
          </p:nvCxnSpPr>
          <p:spPr>
            <a:xfrm>
              <a:off x="6590412" y="3573357"/>
              <a:ext cx="1320600" cy="9483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6" name="Google Shape;17306;p708"/>
            <p:cNvCxnSpPr>
              <a:stCxn id="17293" idx="3"/>
              <a:endCxn id="17292" idx="7"/>
            </p:cNvCxnSpPr>
            <p:nvPr/>
          </p:nvCxnSpPr>
          <p:spPr>
            <a:xfrm flipH="1">
              <a:off x="6590438" y="3573357"/>
              <a:ext cx="1320600" cy="9483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7" name="Google Shape;17307;p708"/>
            <p:cNvCxnSpPr>
              <a:stCxn id="17293" idx="2"/>
              <a:endCxn id="17291" idx="6"/>
            </p:cNvCxnSpPr>
            <p:nvPr/>
          </p:nvCxnSpPr>
          <p:spPr>
            <a:xfrm rot="10800000">
              <a:off x="6678450" y="3368225"/>
              <a:ext cx="11445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8" name="Google Shape;17308;p708"/>
            <p:cNvCxnSpPr>
              <a:stCxn id="17293" idx="4"/>
              <a:endCxn id="17294" idx="0"/>
            </p:cNvCxnSpPr>
            <p:nvPr/>
          </p:nvCxnSpPr>
          <p:spPr>
            <a:xfrm>
              <a:off x="8123700" y="3658325"/>
              <a:ext cx="0" cy="77820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09" name="Google Shape;17309;p708"/>
            <p:cNvCxnSpPr>
              <a:stCxn id="17294" idx="2"/>
              <a:endCxn id="17292" idx="6"/>
            </p:cNvCxnSpPr>
            <p:nvPr/>
          </p:nvCxnSpPr>
          <p:spPr>
            <a:xfrm rot="10800000">
              <a:off x="6678350" y="4726675"/>
              <a:ext cx="11445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7310" name="Google Shape;17310;p708"/>
          <p:cNvSpPr txBox="1"/>
          <p:nvPr/>
        </p:nvSpPr>
        <p:spPr>
          <a:xfrm>
            <a:off x="4733588" y="1929758"/>
            <a:ext cx="3330300" cy="5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rgbClr val="0000FF"/>
                </a:solidFill>
                <a:latin typeface="Open Sans"/>
                <a:ea typeface="Open Sans"/>
                <a:cs typeface="Open Sans"/>
                <a:sym typeface="Open Sans"/>
              </a:rPr>
              <a:t>The off-block cells have the same values for each block!</a:t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00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17311" name="Google Shape;17311;p708"/>
          <p:cNvCxnSpPr>
            <a:stCxn id="17310" idx="1"/>
          </p:cNvCxnSpPr>
          <p:nvPr/>
        </p:nvCxnSpPr>
        <p:spPr>
          <a:xfrm flipH="1">
            <a:off x="3699788" y="2187008"/>
            <a:ext cx="1033800" cy="576900"/>
          </a:xfrm>
          <a:prstGeom prst="straightConnector1">
            <a:avLst/>
          </a:prstGeom>
          <a:noFill/>
          <a:ln cap="flat" cmpd="sng" w="19050">
            <a:solidFill>
              <a:srgbClr val="0000FF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7312" name="Google Shape;17312;p708"/>
          <p:cNvSpPr txBox="1"/>
          <p:nvPr/>
        </p:nvSpPr>
        <p:spPr>
          <a:xfrm>
            <a:off x="4619988" y="4054680"/>
            <a:ext cx="3330300" cy="5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Open Sans"/>
                <a:ea typeface="Open Sans"/>
                <a:cs typeface="Open Sans"/>
                <a:sym typeface="Open Sans"/>
              </a:rPr>
              <a:t>People assigned to the same block are connected to the same others!</a:t>
            </a:r>
            <a:endParaRPr b="1">
              <a:solidFill>
                <a:srgbClr val="FF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7313" name="Google Shape;17313;p708"/>
          <p:cNvSpPr txBox="1"/>
          <p:nvPr/>
        </p:nvSpPr>
        <p:spPr>
          <a:xfrm>
            <a:off x="311700" y="1147253"/>
            <a:ext cx="3393300" cy="42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Structural Equivalence Blocked Matrix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</p:txBody>
      </p:sp>
      <p:graphicFrame>
        <p:nvGraphicFramePr>
          <p:cNvPr id="17314" name="Google Shape;17314;p708"/>
          <p:cNvGraphicFramePr/>
          <p:nvPr/>
        </p:nvGraphicFramePr>
        <p:xfrm>
          <a:off x="343225" y="163785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</a:tblGrid>
              <a:tr h="2878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a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c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C27BA0"/>
                          </a:solidFill>
                        </a:rPr>
                        <a:t>h</a:t>
                      </a:r>
                      <a:endParaRPr b="1" sz="1100">
                        <a:solidFill>
                          <a:srgbClr val="C27BA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C27BA0"/>
                          </a:solidFill>
                        </a:rPr>
                        <a:t>j</a:t>
                      </a:r>
                      <a:endParaRPr b="1" sz="1100">
                        <a:solidFill>
                          <a:srgbClr val="C27BA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b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d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E69138"/>
                          </a:solidFill>
                        </a:rPr>
                        <a:t>g</a:t>
                      </a:r>
                      <a:endParaRPr b="1"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E69138"/>
                          </a:solidFill>
                        </a:rPr>
                        <a:t>i</a:t>
                      </a:r>
                      <a:endParaRPr b="1"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FF"/>
                          </a:solidFill>
                        </a:rPr>
                        <a:t>e</a:t>
                      </a:r>
                      <a:endParaRPr b="1"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4A86E8"/>
                          </a:solidFill>
                        </a:rPr>
                        <a:t>f</a:t>
                      </a:r>
                      <a:endParaRPr b="1" sz="1100">
                        <a:solidFill>
                          <a:srgbClr val="4A86E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a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c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C27BA0"/>
                          </a:solidFill>
                        </a:rPr>
                        <a:t>h</a:t>
                      </a:r>
                      <a:endParaRPr b="1" sz="1100">
                        <a:solidFill>
                          <a:srgbClr val="C27BA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27BA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27BA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1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1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C27BA0"/>
                          </a:solidFill>
                        </a:rPr>
                        <a:t>j</a:t>
                      </a:r>
                      <a:endParaRPr b="1" sz="1100">
                        <a:solidFill>
                          <a:srgbClr val="C27BA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27BA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27BA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1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1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0000FF"/>
                          </a:solidFill>
                        </a:rPr>
                        <a:t>0</a:t>
                      </a:r>
                      <a:endParaRPr b="1" sz="1100">
                        <a:solidFill>
                          <a:srgbClr val="00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b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27BA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d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E69138"/>
                          </a:solidFill>
                        </a:rPr>
                        <a:t>g</a:t>
                      </a:r>
                      <a:endParaRPr b="1"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1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1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6913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6913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1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E69138"/>
                          </a:solidFill>
                        </a:rPr>
                        <a:t>i</a:t>
                      </a:r>
                      <a:endParaRPr b="1"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1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1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6913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6913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0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E69138"/>
                          </a:solidFill>
                        </a:rPr>
                        <a:t>1</a:t>
                      </a:r>
                      <a:endParaRPr sz="1100">
                        <a:solidFill>
                          <a:srgbClr val="E6913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FF"/>
                          </a:solidFill>
                        </a:rPr>
                        <a:t>e</a:t>
                      </a:r>
                      <a:endParaRPr b="1"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0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0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0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0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1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1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0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0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E6913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FF00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FF"/>
                          </a:solidFill>
                        </a:rPr>
                        <a:t>1</a:t>
                      </a:r>
                      <a:endParaRPr sz="1100">
                        <a:solidFill>
                          <a:srgbClr val="FF00FF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00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4A86E8"/>
                          </a:solidFill>
                        </a:rPr>
                        <a:t>f</a:t>
                      </a:r>
                      <a:endParaRPr b="1" sz="1100">
                        <a:solidFill>
                          <a:srgbClr val="4A86E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0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0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0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0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0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0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1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1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1155CC"/>
                          </a:solidFill>
                        </a:rPr>
                        <a:t>1</a:t>
                      </a:r>
                      <a:endParaRPr sz="1100">
                        <a:solidFill>
                          <a:srgbClr val="1155CC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C78D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318" name="Shape 17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19" name="Google Shape;17319;p70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Regular Equivalence </a:t>
            </a:r>
            <a:endParaRPr/>
          </a:p>
        </p:txBody>
      </p:sp>
      <p:sp>
        <p:nvSpPr>
          <p:cNvPr id="17320" name="Google Shape;17320;p709"/>
          <p:cNvSpPr txBox="1"/>
          <p:nvPr>
            <p:ph idx="1" type="body"/>
          </p:nvPr>
        </p:nvSpPr>
        <p:spPr>
          <a:xfrm>
            <a:off x="311700" y="1225215"/>
            <a:ext cx="8520600" cy="150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Intuition: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Two </a:t>
            </a:r>
            <a:r>
              <a:rPr b="1" lang="en"/>
              <a:t>people</a:t>
            </a:r>
            <a:r>
              <a:rPr lang="en"/>
              <a:t> are regularly equivalent if they are </a:t>
            </a:r>
            <a:r>
              <a:rPr b="1" lang="en"/>
              <a:t>friends</a:t>
            </a:r>
            <a:r>
              <a:rPr lang="en"/>
              <a:t> with the </a:t>
            </a:r>
            <a:r>
              <a:rPr i="1" lang="en"/>
              <a:t>similar</a:t>
            </a:r>
            <a:r>
              <a:rPr lang="en"/>
              <a:t> set of </a:t>
            </a:r>
            <a:r>
              <a:rPr b="1" lang="en"/>
              <a:t>people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Two </a:t>
            </a:r>
            <a:r>
              <a:rPr b="1" lang="en"/>
              <a:t>papers</a:t>
            </a:r>
            <a:r>
              <a:rPr lang="en"/>
              <a:t> are regularly equivalent if they </a:t>
            </a:r>
            <a:r>
              <a:rPr b="1" lang="en"/>
              <a:t>cite</a:t>
            </a:r>
            <a:r>
              <a:rPr lang="en"/>
              <a:t> a </a:t>
            </a:r>
            <a:r>
              <a:rPr i="1" lang="en"/>
              <a:t>similar</a:t>
            </a:r>
            <a:r>
              <a:rPr lang="en"/>
              <a:t> set of other </a:t>
            </a:r>
            <a:r>
              <a:rPr b="1" lang="en"/>
              <a:t>papers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Two </a:t>
            </a:r>
            <a:r>
              <a:rPr b="1" lang="en"/>
              <a:t>species</a:t>
            </a:r>
            <a:r>
              <a:rPr lang="en"/>
              <a:t> are regularly equivalent if they </a:t>
            </a:r>
            <a:r>
              <a:rPr b="1" lang="en"/>
              <a:t>feed</a:t>
            </a:r>
            <a:r>
              <a:rPr lang="en"/>
              <a:t> on </a:t>
            </a:r>
            <a:r>
              <a:rPr i="1" lang="en"/>
              <a:t>similar</a:t>
            </a:r>
            <a:r>
              <a:rPr lang="en"/>
              <a:t> set of </a:t>
            </a:r>
            <a:r>
              <a:rPr b="1" lang="en"/>
              <a:t>prey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Two </a:t>
            </a:r>
            <a:r>
              <a:rPr b="1" lang="en"/>
              <a:t>clubs</a:t>
            </a:r>
            <a:r>
              <a:rPr lang="en"/>
              <a:t> are regularly equivalent if they </a:t>
            </a:r>
            <a:r>
              <a:rPr b="1" lang="en"/>
              <a:t>share</a:t>
            </a:r>
            <a:r>
              <a:rPr lang="en"/>
              <a:t> </a:t>
            </a:r>
            <a:r>
              <a:rPr i="1" lang="en"/>
              <a:t>similar</a:t>
            </a:r>
            <a:r>
              <a:rPr lang="en"/>
              <a:t> set of </a:t>
            </a:r>
            <a:r>
              <a:rPr b="1" lang="en"/>
              <a:t>members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Two </a:t>
            </a:r>
            <a:r>
              <a:rPr b="1" lang="en"/>
              <a:t>countries</a:t>
            </a:r>
            <a:r>
              <a:rPr lang="en"/>
              <a:t> are regularly equivalent if they </a:t>
            </a:r>
            <a:r>
              <a:rPr b="1" lang="en"/>
              <a:t>trade</a:t>
            </a:r>
            <a:r>
              <a:rPr lang="en"/>
              <a:t> with a </a:t>
            </a:r>
            <a:r>
              <a:rPr i="1" lang="en"/>
              <a:t>similar</a:t>
            </a:r>
            <a:r>
              <a:rPr lang="en"/>
              <a:t> set of </a:t>
            </a:r>
            <a:r>
              <a:rPr b="1" lang="en"/>
              <a:t>countries</a:t>
            </a:r>
            <a:endParaRPr b="1"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descr="Regular_equivalence.jpg" id="17321" name="Google Shape;17321;p70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953512" y="2895903"/>
            <a:ext cx="3236976" cy="1947378"/>
          </a:xfrm>
          <a:prstGeom prst="rect">
            <a:avLst/>
          </a:prstGeom>
          <a:noFill/>
          <a:ln>
            <a:noFill/>
          </a:ln>
        </p:spPr>
      </p:pic>
      <p:sp>
        <p:nvSpPr>
          <p:cNvPr id="17322" name="Google Shape;17322;p709"/>
          <p:cNvSpPr txBox="1"/>
          <p:nvPr/>
        </p:nvSpPr>
        <p:spPr>
          <a:xfrm>
            <a:off x="660875" y="3453953"/>
            <a:ext cx="19023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</a:rPr>
              <a:t>Where similarity is graph theoretic similarity!</a:t>
            </a:r>
            <a:endParaRPr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326" name="Shape 17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27" name="Google Shape;17327;p71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Regular Equivalence</a:t>
            </a:r>
            <a:endParaRPr/>
          </a:p>
        </p:txBody>
      </p:sp>
      <p:sp>
        <p:nvSpPr>
          <p:cNvPr id="17328" name="Google Shape;17328;p710"/>
          <p:cNvSpPr txBox="1"/>
          <p:nvPr>
            <p:ph idx="1" type="body"/>
          </p:nvPr>
        </p:nvSpPr>
        <p:spPr>
          <a:xfrm>
            <a:off x="311700" y="1225221"/>
            <a:ext cx="8520600" cy="144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Theoretically, the notion of role implies similar patterns of connectivity to </a:t>
            </a:r>
            <a:r>
              <a:rPr b="1" lang="en"/>
              <a:t>similarly positioned</a:t>
            </a:r>
            <a:r>
              <a:rPr lang="en"/>
              <a:t> actors not to literally the </a:t>
            </a:r>
            <a:r>
              <a:rPr b="1" lang="en"/>
              <a:t>same </a:t>
            </a:r>
            <a:r>
              <a:rPr lang="en"/>
              <a:t>actors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Structural equivalence is the wrong measure in this case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Need a more flexible notion of equivalence: </a:t>
            </a:r>
            <a:r>
              <a:rPr b="1" lang="en"/>
              <a:t>Regular equivalence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29" name="Google Shape;17329;p710"/>
          <p:cNvGrpSpPr/>
          <p:nvPr/>
        </p:nvGrpSpPr>
        <p:grpSpPr>
          <a:xfrm>
            <a:off x="831375" y="2879280"/>
            <a:ext cx="7555950" cy="1918868"/>
            <a:chOff x="831375" y="3199200"/>
            <a:chExt cx="7555950" cy="2132075"/>
          </a:xfrm>
        </p:grpSpPr>
        <p:grpSp>
          <p:nvGrpSpPr>
            <p:cNvPr id="17330" name="Google Shape;17330;p710"/>
            <p:cNvGrpSpPr/>
            <p:nvPr/>
          </p:nvGrpSpPr>
          <p:grpSpPr>
            <a:xfrm>
              <a:off x="831375" y="3199200"/>
              <a:ext cx="7555950" cy="1938650"/>
              <a:chOff x="868500" y="3078125"/>
              <a:chExt cx="7555950" cy="1938650"/>
            </a:xfrm>
          </p:grpSpPr>
          <p:sp>
            <p:nvSpPr>
              <p:cNvPr id="17331" name="Google Shape;17331;p710"/>
              <p:cNvSpPr/>
              <p:nvPr/>
            </p:nvSpPr>
            <p:spPr>
              <a:xfrm>
                <a:off x="868500" y="3078125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a</a:t>
                </a:r>
                <a:endParaRPr sz="1800"/>
              </a:p>
            </p:txBody>
          </p:sp>
          <p:sp>
            <p:nvSpPr>
              <p:cNvPr id="17332" name="Google Shape;17332;p710"/>
              <p:cNvSpPr/>
              <p:nvPr/>
            </p:nvSpPr>
            <p:spPr>
              <a:xfrm>
                <a:off x="868700" y="4371050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c</a:t>
                </a:r>
                <a:endParaRPr sz="1800"/>
              </a:p>
            </p:txBody>
          </p:sp>
          <p:sp>
            <p:nvSpPr>
              <p:cNvPr id="17333" name="Google Shape;17333;p710"/>
              <p:cNvSpPr/>
              <p:nvPr/>
            </p:nvSpPr>
            <p:spPr>
              <a:xfrm>
                <a:off x="2614450" y="3078125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b</a:t>
                </a:r>
                <a:endParaRPr sz="1800"/>
              </a:p>
            </p:txBody>
          </p:sp>
          <p:sp>
            <p:nvSpPr>
              <p:cNvPr id="17334" name="Google Shape;17334;p710"/>
              <p:cNvSpPr/>
              <p:nvPr/>
            </p:nvSpPr>
            <p:spPr>
              <a:xfrm>
                <a:off x="2614450" y="4371050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d</a:t>
                </a:r>
                <a:endParaRPr sz="1800"/>
              </a:p>
            </p:txBody>
          </p:sp>
          <p:sp>
            <p:nvSpPr>
              <p:cNvPr id="17335" name="Google Shape;17335;p710"/>
              <p:cNvSpPr/>
              <p:nvPr/>
            </p:nvSpPr>
            <p:spPr>
              <a:xfrm>
                <a:off x="3679950" y="3724550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e</a:t>
                </a:r>
                <a:endParaRPr sz="1800"/>
              </a:p>
            </p:txBody>
          </p:sp>
          <p:sp>
            <p:nvSpPr>
              <p:cNvPr id="17336" name="Google Shape;17336;p710"/>
              <p:cNvSpPr/>
              <p:nvPr/>
            </p:nvSpPr>
            <p:spPr>
              <a:xfrm>
                <a:off x="5000350" y="3724625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f</a:t>
                </a:r>
                <a:endParaRPr sz="1800"/>
              </a:p>
            </p:txBody>
          </p:sp>
          <p:sp>
            <p:nvSpPr>
              <p:cNvPr id="17337" name="Google Shape;17337;p710"/>
              <p:cNvSpPr/>
              <p:nvPr/>
            </p:nvSpPr>
            <p:spPr>
              <a:xfrm>
                <a:off x="6077000" y="3078125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g</a:t>
                </a:r>
                <a:endParaRPr sz="1800"/>
              </a:p>
            </p:txBody>
          </p:sp>
          <p:sp>
            <p:nvSpPr>
              <p:cNvPr id="17338" name="Google Shape;17338;p710"/>
              <p:cNvSpPr/>
              <p:nvPr/>
            </p:nvSpPr>
            <p:spPr>
              <a:xfrm>
                <a:off x="6077000" y="4436575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i</a:t>
                </a:r>
                <a:endParaRPr sz="1800"/>
              </a:p>
            </p:txBody>
          </p:sp>
          <p:sp>
            <p:nvSpPr>
              <p:cNvPr id="17339" name="Google Shape;17339;p710"/>
              <p:cNvSpPr/>
              <p:nvPr/>
            </p:nvSpPr>
            <p:spPr>
              <a:xfrm>
                <a:off x="7822950" y="3078125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h</a:t>
                </a:r>
                <a:endParaRPr sz="1800"/>
              </a:p>
            </p:txBody>
          </p:sp>
          <p:sp>
            <p:nvSpPr>
              <p:cNvPr id="17340" name="Google Shape;17340;p710"/>
              <p:cNvSpPr/>
              <p:nvPr/>
            </p:nvSpPr>
            <p:spPr>
              <a:xfrm>
                <a:off x="7822850" y="4436575"/>
                <a:ext cx="601500" cy="580200"/>
              </a:xfrm>
              <a:prstGeom prst="ellipse">
                <a:avLst/>
              </a:prstGeom>
              <a:solidFill>
                <a:schemeClr val="lt2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j</a:t>
                </a:r>
                <a:endParaRPr sz="1800"/>
              </a:p>
            </p:txBody>
          </p:sp>
          <p:cxnSp>
            <p:nvCxnSpPr>
              <p:cNvPr id="17341" name="Google Shape;17341;p710"/>
              <p:cNvCxnSpPr>
                <a:stCxn id="17331" idx="6"/>
                <a:endCxn id="17333" idx="2"/>
              </p:cNvCxnSpPr>
              <p:nvPr/>
            </p:nvCxnSpPr>
            <p:spPr>
              <a:xfrm>
                <a:off x="147000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42" name="Google Shape;17342;p710"/>
              <p:cNvCxnSpPr>
                <a:stCxn id="17331" idx="5"/>
                <a:endCxn id="17334" idx="1"/>
              </p:cNvCxnSpPr>
              <p:nvPr/>
            </p:nvCxnSpPr>
            <p:spPr>
              <a:xfrm>
                <a:off x="1381912" y="3573357"/>
                <a:ext cx="13206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43" name="Google Shape;17343;p710"/>
              <p:cNvCxnSpPr>
                <a:stCxn id="17332" idx="7"/>
                <a:endCxn id="17333" idx="3"/>
              </p:cNvCxnSpPr>
              <p:nvPr/>
            </p:nvCxnSpPr>
            <p:spPr>
              <a:xfrm flipH="1" rot="10800000">
                <a:off x="1382112" y="3573418"/>
                <a:ext cx="13203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44" name="Google Shape;17344;p710"/>
              <p:cNvCxnSpPr>
                <a:stCxn id="17331" idx="4"/>
                <a:endCxn id="17332" idx="0"/>
              </p:cNvCxnSpPr>
              <p:nvPr/>
            </p:nvCxnSpPr>
            <p:spPr>
              <a:xfrm>
                <a:off x="1169250" y="3658325"/>
                <a:ext cx="300" cy="7128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45" name="Google Shape;17345;p710"/>
              <p:cNvCxnSpPr>
                <a:stCxn id="17332" idx="6"/>
                <a:endCxn id="17334" idx="2"/>
              </p:cNvCxnSpPr>
              <p:nvPr/>
            </p:nvCxnSpPr>
            <p:spPr>
              <a:xfrm>
                <a:off x="1470200" y="4661150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46" name="Google Shape;17346;p710"/>
              <p:cNvCxnSpPr>
                <a:stCxn id="17333" idx="6"/>
                <a:endCxn id="17335" idx="1"/>
              </p:cNvCxnSpPr>
              <p:nvPr/>
            </p:nvCxnSpPr>
            <p:spPr>
              <a:xfrm>
                <a:off x="3215950" y="3368225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47" name="Google Shape;17347;p710"/>
              <p:cNvCxnSpPr>
                <a:stCxn id="17335" idx="3"/>
                <a:endCxn id="17334" idx="6"/>
              </p:cNvCxnSpPr>
              <p:nvPr/>
            </p:nvCxnSpPr>
            <p:spPr>
              <a:xfrm flipH="1">
                <a:off x="3216038" y="4219782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48" name="Google Shape;17348;p710"/>
              <p:cNvCxnSpPr>
                <a:stCxn id="17336" idx="2"/>
                <a:endCxn id="17335" idx="6"/>
              </p:cNvCxnSpPr>
              <p:nvPr/>
            </p:nvCxnSpPr>
            <p:spPr>
              <a:xfrm rot="10800000">
                <a:off x="4281550" y="4014725"/>
                <a:ext cx="7188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49" name="Google Shape;17349;p710"/>
              <p:cNvCxnSpPr>
                <a:stCxn id="17337" idx="2"/>
                <a:endCxn id="17336" idx="7"/>
              </p:cNvCxnSpPr>
              <p:nvPr/>
            </p:nvCxnSpPr>
            <p:spPr>
              <a:xfrm flipH="1">
                <a:off x="5513900" y="3368225"/>
                <a:ext cx="5631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50" name="Google Shape;17350;p710"/>
              <p:cNvCxnSpPr>
                <a:stCxn id="17338" idx="2"/>
                <a:endCxn id="17336" idx="5"/>
              </p:cNvCxnSpPr>
              <p:nvPr/>
            </p:nvCxnSpPr>
            <p:spPr>
              <a:xfrm rot="10800000">
                <a:off x="5513900" y="4219975"/>
                <a:ext cx="563100" cy="5067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51" name="Google Shape;17351;p710"/>
              <p:cNvCxnSpPr>
                <a:stCxn id="17337" idx="5"/>
                <a:endCxn id="17340" idx="1"/>
              </p:cNvCxnSpPr>
              <p:nvPr/>
            </p:nvCxnSpPr>
            <p:spPr>
              <a:xfrm>
                <a:off x="6590412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52" name="Google Shape;17352;p710"/>
              <p:cNvCxnSpPr>
                <a:stCxn id="17339" idx="3"/>
                <a:endCxn id="17338" idx="7"/>
              </p:cNvCxnSpPr>
              <p:nvPr/>
            </p:nvCxnSpPr>
            <p:spPr>
              <a:xfrm flipH="1">
                <a:off x="6590438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53" name="Google Shape;17353;p710"/>
              <p:cNvCxnSpPr>
                <a:stCxn id="17339" idx="2"/>
                <a:endCxn id="17337" idx="6"/>
              </p:cNvCxnSpPr>
              <p:nvPr/>
            </p:nvCxnSpPr>
            <p:spPr>
              <a:xfrm rot="10800000">
                <a:off x="667845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54" name="Google Shape;17354;p710"/>
              <p:cNvCxnSpPr>
                <a:stCxn id="17339" idx="4"/>
                <a:endCxn id="17340" idx="0"/>
              </p:cNvCxnSpPr>
              <p:nvPr/>
            </p:nvCxnSpPr>
            <p:spPr>
              <a:xfrm>
                <a:off x="8123700" y="3658325"/>
                <a:ext cx="0" cy="7782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55" name="Google Shape;17355;p710"/>
              <p:cNvCxnSpPr>
                <a:stCxn id="17340" idx="2"/>
                <a:endCxn id="17338" idx="6"/>
              </p:cNvCxnSpPr>
              <p:nvPr/>
            </p:nvCxnSpPr>
            <p:spPr>
              <a:xfrm rot="10800000">
                <a:off x="6678650" y="4726675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17356" name="Google Shape;17356;p710"/>
            <p:cNvSpPr txBox="1"/>
            <p:nvPr/>
          </p:nvSpPr>
          <p:spPr>
            <a:xfrm>
              <a:off x="3604950" y="4864175"/>
              <a:ext cx="2008800" cy="467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Borgatti and Everett’s</a:t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“Thinking Graph”</a:t>
              </a:r>
              <a:endParaRPr/>
            </a:p>
          </p:txBody>
        </p:sp>
      </p:grpSp>
    </p:spTree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360" name="Shape 17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61" name="Google Shape;17361;p71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Regular Equivalence </a:t>
            </a:r>
            <a:endParaRPr/>
          </a:p>
        </p:txBody>
      </p:sp>
      <p:sp>
        <p:nvSpPr>
          <p:cNvPr id="17362" name="Google Shape;17362;p711"/>
          <p:cNvSpPr txBox="1"/>
          <p:nvPr>
            <p:ph idx="1" type="body"/>
          </p:nvPr>
        </p:nvSpPr>
        <p:spPr>
          <a:xfrm>
            <a:off x="311700" y="1225221"/>
            <a:ext cx="8520600" cy="13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Theoretically, the notion of role implies similar patterns of connectivity to </a:t>
            </a:r>
            <a:r>
              <a:rPr b="1" lang="en"/>
              <a:t>similarly positioned</a:t>
            </a:r>
            <a:r>
              <a:rPr lang="en"/>
              <a:t> actors not to literally the </a:t>
            </a:r>
            <a:r>
              <a:rPr b="1" lang="en"/>
              <a:t>same </a:t>
            </a:r>
            <a:r>
              <a:rPr lang="en"/>
              <a:t>actors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Structural equivalence is the wrong measure in this case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Need a more flexible notion of equivalence: </a:t>
            </a:r>
            <a:r>
              <a:rPr b="1" lang="en"/>
              <a:t>Regular equivalence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 = {a ≣ b ≣ h ≣ j}, {b ≣ d ≣ g ≣ i}, {e ≣ f}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63" name="Google Shape;17363;p711"/>
          <p:cNvGrpSpPr/>
          <p:nvPr/>
        </p:nvGrpSpPr>
        <p:grpSpPr>
          <a:xfrm>
            <a:off x="831375" y="2879280"/>
            <a:ext cx="7555950" cy="1918868"/>
            <a:chOff x="831375" y="3199200"/>
            <a:chExt cx="7555950" cy="2132075"/>
          </a:xfrm>
        </p:grpSpPr>
        <p:grpSp>
          <p:nvGrpSpPr>
            <p:cNvPr id="17364" name="Google Shape;17364;p711"/>
            <p:cNvGrpSpPr/>
            <p:nvPr/>
          </p:nvGrpSpPr>
          <p:grpSpPr>
            <a:xfrm>
              <a:off x="831375" y="3199200"/>
              <a:ext cx="7555950" cy="1938650"/>
              <a:chOff x="868500" y="3078125"/>
              <a:chExt cx="7555950" cy="1938650"/>
            </a:xfrm>
          </p:grpSpPr>
          <p:sp>
            <p:nvSpPr>
              <p:cNvPr id="17365" name="Google Shape;17365;p711"/>
              <p:cNvSpPr/>
              <p:nvPr/>
            </p:nvSpPr>
            <p:spPr>
              <a:xfrm>
                <a:off x="86850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a</a:t>
                </a:r>
                <a:endParaRPr sz="1800"/>
              </a:p>
            </p:txBody>
          </p:sp>
          <p:sp>
            <p:nvSpPr>
              <p:cNvPr id="17366" name="Google Shape;17366;p711"/>
              <p:cNvSpPr/>
              <p:nvPr/>
            </p:nvSpPr>
            <p:spPr>
              <a:xfrm>
                <a:off x="868700" y="4371050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c</a:t>
                </a:r>
                <a:endParaRPr sz="1800"/>
              </a:p>
            </p:txBody>
          </p:sp>
          <p:sp>
            <p:nvSpPr>
              <p:cNvPr id="17367" name="Google Shape;17367;p711"/>
              <p:cNvSpPr/>
              <p:nvPr/>
            </p:nvSpPr>
            <p:spPr>
              <a:xfrm>
                <a:off x="261445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b</a:t>
                </a:r>
                <a:endParaRPr sz="1800"/>
              </a:p>
            </p:txBody>
          </p:sp>
          <p:sp>
            <p:nvSpPr>
              <p:cNvPr id="17368" name="Google Shape;17368;p711"/>
              <p:cNvSpPr/>
              <p:nvPr/>
            </p:nvSpPr>
            <p:spPr>
              <a:xfrm>
                <a:off x="2614450" y="4371050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d</a:t>
                </a:r>
                <a:endParaRPr sz="1800"/>
              </a:p>
            </p:txBody>
          </p:sp>
          <p:sp>
            <p:nvSpPr>
              <p:cNvPr id="17369" name="Google Shape;17369;p711"/>
              <p:cNvSpPr/>
              <p:nvPr/>
            </p:nvSpPr>
            <p:spPr>
              <a:xfrm>
                <a:off x="3679950" y="3724550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e</a:t>
                </a:r>
                <a:endParaRPr sz="1800"/>
              </a:p>
            </p:txBody>
          </p:sp>
          <p:sp>
            <p:nvSpPr>
              <p:cNvPr id="17370" name="Google Shape;17370;p711"/>
              <p:cNvSpPr/>
              <p:nvPr/>
            </p:nvSpPr>
            <p:spPr>
              <a:xfrm>
                <a:off x="5000350" y="3724625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f</a:t>
                </a:r>
                <a:endParaRPr sz="1800"/>
              </a:p>
            </p:txBody>
          </p:sp>
          <p:sp>
            <p:nvSpPr>
              <p:cNvPr id="17371" name="Google Shape;17371;p711"/>
              <p:cNvSpPr/>
              <p:nvPr/>
            </p:nvSpPr>
            <p:spPr>
              <a:xfrm>
                <a:off x="607700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g</a:t>
                </a:r>
                <a:endParaRPr sz="1800"/>
              </a:p>
            </p:txBody>
          </p:sp>
          <p:sp>
            <p:nvSpPr>
              <p:cNvPr id="17372" name="Google Shape;17372;p711"/>
              <p:cNvSpPr/>
              <p:nvPr/>
            </p:nvSpPr>
            <p:spPr>
              <a:xfrm>
                <a:off x="6077000" y="443657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i</a:t>
                </a:r>
                <a:endParaRPr sz="1800"/>
              </a:p>
            </p:txBody>
          </p:sp>
          <p:sp>
            <p:nvSpPr>
              <p:cNvPr id="17373" name="Google Shape;17373;p711"/>
              <p:cNvSpPr/>
              <p:nvPr/>
            </p:nvSpPr>
            <p:spPr>
              <a:xfrm>
                <a:off x="782295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h</a:t>
                </a:r>
                <a:endParaRPr sz="1800"/>
              </a:p>
            </p:txBody>
          </p:sp>
          <p:sp>
            <p:nvSpPr>
              <p:cNvPr id="17374" name="Google Shape;17374;p711"/>
              <p:cNvSpPr/>
              <p:nvPr/>
            </p:nvSpPr>
            <p:spPr>
              <a:xfrm>
                <a:off x="7822850" y="443657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j</a:t>
                </a:r>
                <a:endParaRPr sz="1800"/>
              </a:p>
            </p:txBody>
          </p:sp>
          <p:cxnSp>
            <p:nvCxnSpPr>
              <p:cNvPr id="17375" name="Google Shape;17375;p711"/>
              <p:cNvCxnSpPr>
                <a:stCxn id="17365" idx="6"/>
                <a:endCxn id="17367" idx="2"/>
              </p:cNvCxnSpPr>
              <p:nvPr/>
            </p:nvCxnSpPr>
            <p:spPr>
              <a:xfrm>
                <a:off x="147000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76" name="Google Shape;17376;p711"/>
              <p:cNvCxnSpPr>
                <a:stCxn id="17365" idx="5"/>
                <a:endCxn id="17368" idx="1"/>
              </p:cNvCxnSpPr>
              <p:nvPr/>
            </p:nvCxnSpPr>
            <p:spPr>
              <a:xfrm>
                <a:off x="1381912" y="3573357"/>
                <a:ext cx="13206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77" name="Google Shape;17377;p711"/>
              <p:cNvCxnSpPr>
                <a:stCxn id="17366" idx="7"/>
                <a:endCxn id="17367" idx="3"/>
              </p:cNvCxnSpPr>
              <p:nvPr/>
            </p:nvCxnSpPr>
            <p:spPr>
              <a:xfrm flipH="1" rot="10800000">
                <a:off x="1382112" y="3573418"/>
                <a:ext cx="13203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78" name="Google Shape;17378;p711"/>
              <p:cNvCxnSpPr>
                <a:stCxn id="17365" idx="4"/>
                <a:endCxn id="17366" idx="0"/>
              </p:cNvCxnSpPr>
              <p:nvPr/>
            </p:nvCxnSpPr>
            <p:spPr>
              <a:xfrm>
                <a:off x="1169250" y="3658325"/>
                <a:ext cx="300" cy="7128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79" name="Google Shape;17379;p711"/>
              <p:cNvCxnSpPr>
                <a:stCxn id="17366" idx="6"/>
                <a:endCxn id="17368" idx="2"/>
              </p:cNvCxnSpPr>
              <p:nvPr/>
            </p:nvCxnSpPr>
            <p:spPr>
              <a:xfrm>
                <a:off x="1470200" y="4661150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0" name="Google Shape;17380;p711"/>
              <p:cNvCxnSpPr>
                <a:stCxn id="17367" idx="6"/>
                <a:endCxn id="17369" idx="1"/>
              </p:cNvCxnSpPr>
              <p:nvPr/>
            </p:nvCxnSpPr>
            <p:spPr>
              <a:xfrm>
                <a:off x="3215950" y="3368225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1" name="Google Shape;17381;p711"/>
              <p:cNvCxnSpPr>
                <a:stCxn id="17369" idx="3"/>
                <a:endCxn id="17368" idx="6"/>
              </p:cNvCxnSpPr>
              <p:nvPr/>
            </p:nvCxnSpPr>
            <p:spPr>
              <a:xfrm flipH="1">
                <a:off x="3216038" y="4219782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2" name="Google Shape;17382;p711"/>
              <p:cNvCxnSpPr>
                <a:stCxn id="17370" idx="2"/>
                <a:endCxn id="17369" idx="6"/>
              </p:cNvCxnSpPr>
              <p:nvPr/>
            </p:nvCxnSpPr>
            <p:spPr>
              <a:xfrm rot="10800000">
                <a:off x="4281550" y="4014725"/>
                <a:ext cx="7188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3" name="Google Shape;17383;p711"/>
              <p:cNvCxnSpPr>
                <a:stCxn id="17371" idx="2"/>
                <a:endCxn id="17370" idx="7"/>
              </p:cNvCxnSpPr>
              <p:nvPr/>
            </p:nvCxnSpPr>
            <p:spPr>
              <a:xfrm flipH="1">
                <a:off x="5513900" y="3368225"/>
                <a:ext cx="5631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4" name="Google Shape;17384;p711"/>
              <p:cNvCxnSpPr>
                <a:stCxn id="17372" idx="2"/>
                <a:endCxn id="17370" idx="5"/>
              </p:cNvCxnSpPr>
              <p:nvPr/>
            </p:nvCxnSpPr>
            <p:spPr>
              <a:xfrm rot="10800000">
                <a:off x="5513900" y="4219975"/>
                <a:ext cx="563100" cy="5067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5" name="Google Shape;17385;p711"/>
              <p:cNvCxnSpPr>
                <a:stCxn id="17371" idx="5"/>
                <a:endCxn id="17374" idx="1"/>
              </p:cNvCxnSpPr>
              <p:nvPr/>
            </p:nvCxnSpPr>
            <p:spPr>
              <a:xfrm>
                <a:off x="6590412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6" name="Google Shape;17386;p711"/>
              <p:cNvCxnSpPr>
                <a:stCxn id="17373" idx="3"/>
                <a:endCxn id="17372" idx="7"/>
              </p:cNvCxnSpPr>
              <p:nvPr/>
            </p:nvCxnSpPr>
            <p:spPr>
              <a:xfrm flipH="1">
                <a:off x="6590438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7" name="Google Shape;17387;p711"/>
              <p:cNvCxnSpPr>
                <a:stCxn id="17373" idx="2"/>
                <a:endCxn id="17371" idx="6"/>
              </p:cNvCxnSpPr>
              <p:nvPr/>
            </p:nvCxnSpPr>
            <p:spPr>
              <a:xfrm rot="10800000">
                <a:off x="667845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8" name="Google Shape;17388;p711"/>
              <p:cNvCxnSpPr>
                <a:stCxn id="17373" idx="4"/>
                <a:endCxn id="17374" idx="0"/>
              </p:cNvCxnSpPr>
              <p:nvPr/>
            </p:nvCxnSpPr>
            <p:spPr>
              <a:xfrm>
                <a:off x="8123700" y="3658325"/>
                <a:ext cx="0" cy="7782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89" name="Google Shape;17389;p711"/>
              <p:cNvCxnSpPr>
                <a:stCxn id="17374" idx="2"/>
                <a:endCxn id="17372" idx="6"/>
              </p:cNvCxnSpPr>
              <p:nvPr/>
            </p:nvCxnSpPr>
            <p:spPr>
              <a:xfrm rot="10800000">
                <a:off x="6678650" y="4726675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17390" name="Google Shape;17390;p711"/>
            <p:cNvSpPr txBox="1"/>
            <p:nvPr/>
          </p:nvSpPr>
          <p:spPr>
            <a:xfrm>
              <a:off x="3604950" y="4864175"/>
              <a:ext cx="2008800" cy="467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Borgatti and Everett’s</a:t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“Thinking Graph”</a:t>
              </a:r>
              <a:endParaRPr/>
            </a:p>
          </p:txBody>
        </p:sp>
      </p:grpSp>
    </p:spTree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394" name="Shape 17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5" name="Google Shape;17395;p71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Regular Equivalence </a:t>
            </a:r>
            <a:endParaRPr/>
          </a:p>
        </p:txBody>
      </p:sp>
      <p:sp>
        <p:nvSpPr>
          <p:cNvPr id="17396" name="Google Shape;17396;p712"/>
          <p:cNvSpPr txBox="1"/>
          <p:nvPr>
            <p:ph idx="1" type="body"/>
          </p:nvPr>
        </p:nvSpPr>
        <p:spPr>
          <a:xfrm>
            <a:off x="311700" y="1225221"/>
            <a:ext cx="8520600" cy="13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Theoretically, the notion of role implies similar patterns of connectivity to </a:t>
            </a:r>
            <a:r>
              <a:rPr b="1" lang="en"/>
              <a:t>similarly positioned</a:t>
            </a:r>
            <a:r>
              <a:rPr lang="en"/>
              <a:t> actors not to literally the </a:t>
            </a:r>
            <a:r>
              <a:rPr b="1" lang="en"/>
              <a:t>same </a:t>
            </a:r>
            <a:r>
              <a:rPr lang="en"/>
              <a:t>actors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Structural equivalence is the wrong measure in this case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Two nodes are </a:t>
            </a:r>
            <a:r>
              <a:rPr b="1" lang="en"/>
              <a:t>regularly equivalent</a:t>
            </a:r>
            <a:r>
              <a:rPr lang="en"/>
              <a:t> if they are connected to </a:t>
            </a:r>
            <a:r>
              <a:rPr b="1" lang="en"/>
              <a:t>equivalent</a:t>
            </a:r>
            <a:r>
              <a:rPr lang="en"/>
              <a:t> others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P = {a ≣ b ≣ h ≣ j}, {b ≣ d ≣ g ≣ i}, {e ≣ f}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97" name="Google Shape;17397;p712"/>
          <p:cNvGrpSpPr/>
          <p:nvPr/>
        </p:nvGrpSpPr>
        <p:grpSpPr>
          <a:xfrm>
            <a:off x="831375" y="2879280"/>
            <a:ext cx="7555950" cy="1918868"/>
            <a:chOff x="831375" y="3199200"/>
            <a:chExt cx="7555950" cy="2132075"/>
          </a:xfrm>
        </p:grpSpPr>
        <p:grpSp>
          <p:nvGrpSpPr>
            <p:cNvPr id="17398" name="Google Shape;17398;p712"/>
            <p:cNvGrpSpPr/>
            <p:nvPr/>
          </p:nvGrpSpPr>
          <p:grpSpPr>
            <a:xfrm>
              <a:off x="831375" y="3199200"/>
              <a:ext cx="7555950" cy="1938650"/>
              <a:chOff x="868500" y="3078125"/>
              <a:chExt cx="7555950" cy="1938650"/>
            </a:xfrm>
          </p:grpSpPr>
          <p:sp>
            <p:nvSpPr>
              <p:cNvPr id="17399" name="Google Shape;17399;p712"/>
              <p:cNvSpPr/>
              <p:nvPr/>
            </p:nvSpPr>
            <p:spPr>
              <a:xfrm>
                <a:off x="86850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a</a:t>
                </a:r>
                <a:endParaRPr sz="1800"/>
              </a:p>
            </p:txBody>
          </p:sp>
          <p:sp>
            <p:nvSpPr>
              <p:cNvPr id="17400" name="Google Shape;17400;p712"/>
              <p:cNvSpPr/>
              <p:nvPr/>
            </p:nvSpPr>
            <p:spPr>
              <a:xfrm>
                <a:off x="868700" y="4371050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c</a:t>
                </a:r>
                <a:endParaRPr sz="1800"/>
              </a:p>
            </p:txBody>
          </p:sp>
          <p:sp>
            <p:nvSpPr>
              <p:cNvPr id="17401" name="Google Shape;17401;p712"/>
              <p:cNvSpPr/>
              <p:nvPr/>
            </p:nvSpPr>
            <p:spPr>
              <a:xfrm>
                <a:off x="261445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b</a:t>
                </a:r>
                <a:endParaRPr sz="1800"/>
              </a:p>
            </p:txBody>
          </p:sp>
          <p:sp>
            <p:nvSpPr>
              <p:cNvPr id="17402" name="Google Shape;17402;p712"/>
              <p:cNvSpPr/>
              <p:nvPr/>
            </p:nvSpPr>
            <p:spPr>
              <a:xfrm>
                <a:off x="2614450" y="4371050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d</a:t>
                </a:r>
                <a:endParaRPr sz="1800"/>
              </a:p>
            </p:txBody>
          </p:sp>
          <p:sp>
            <p:nvSpPr>
              <p:cNvPr id="17403" name="Google Shape;17403;p712"/>
              <p:cNvSpPr/>
              <p:nvPr/>
            </p:nvSpPr>
            <p:spPr>
              <a:xfrm>
                <a:off x="3679950" y="3724550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e</a:t>
                </a:r>
                <a:endParaRPr sz="1800"/>
              </a:p>
            </p:txBody>
          </p:sp>
          <p:sp>
            <p:nvSpPr>
              <p:cNvPr id="17404" name="Google Shape;17404;p712"/>
              <p:cNvSpPr/>
              <p:nvPr/>
            </p:nvSpPr>
            <p:spPr>
              <a:xfrm>
                <a:off x="5000350" y="3724625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f</a:t>
                </a:r>
                <a:endParaRPr sz="1800"/>
              </a:p>
            </p:txBody>
          </p:sp>
          <p:sp>
            <p:nvSpPr>
              <p:cNvPr id="17405" name="Google Shape;17405;p712"/>
              <p:cNvSpPr/>
              <p:nvPr/>
            </p:nvSpPr>
            <p:spPr>
              <a:xfrm>
                <a:off x="607700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g</a:t>
                </a:r>
                <a:endParaRPr sz="1800"/>
              </a:p>
            </p:txBody>
          </p:sp>
          <p:sp>
            <p:nvSpPr>
              <p:cNvPr id="17406" name="Google Shape;17406;p712"/>
              <p:cNvSpPr/>
              <p:nvPr/>
            </p:nvSpPr>
            <p:spPr>
              <a:xfrm>
                <a:off x="6077000" y="443657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i</a:t>
                </a:r>
                <a:endParaRPr sz="1800"/>
              </a:p>
            </p:txBody>
          </p:sp>
          <p:sp>
            <p:nvSpPr>
              <p:cNvPr id="17407" name="Google Shape;17407;p712"/>
              <p:cNvSpPr/>
              <p:nvPr/>
            </p:nvSpPr>
            <p:spPr>
              <a:xfrm>
                <a:off x="782295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h</a:t>
                </a:r>
                <a:endParaRPr sz="1800"/>
              </a:p>
            </p:txBody>
          </p:sp>
          <p:sp>
            <p:nvSpPr>
              <p:cNvPr id="17408" name="Google Shape;17408;p712"/>
              <p:cNvSpPr/>
              <p:nvPr/>
            </p:nvSpPr>
            <p:spPr>
              <a:xfrm>
                <a:off x="7822850" y="443657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j</a:t>
                </a:r>
                <a:endParaRPr sz="1800"/>
              </a:p>
            </p:txBody>
          </p:sp>
          <p:cxnSp>
            <p:nvCxnSpPr>
              <p:cNvPr id="17409" name="Google Shape;17409;p712"/>
              <p:cNvCxnSpPr>
                <a:stCxn id="17399" idx="6"/>
                <a:endCxn id="17401" idx="2"/>
              </p:cNvCxnSpPr>
              <p:nvPr/>
            </p:nvCxnSpPr>
            <p:spPr>
              <a:xfrm>
                <a:off x="147000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0" name="Google Shape;17410;p712"/>
              <p:cNvCxnSpPr>
                <a:stCxn id="17399" idx="5"/>
                <a:endCxn id="17402" idx="1"/>
              </p:cNvCxnSpPr>
              <p:nvPr/>
            </p:nvCxnSpPr>
            <p:spPr>
              <a:xfrm>
                <a:off x="1381912" y="3573357"/>
                <a:ext cx="13206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1" name="Google Shape;17411;p712"/>
              <p:cNvCxnSpPr>
                <a:stCxn id="17400" idx="7"/>
                <a:endCxn id="17401" idx="3"/>
              </p:cNvCxnSpPr>
              <p:nvPr/>
            </p:nvCxnSpPr>
            <p:spPr>
              <a:xfrm flipH="1" rot="10800000">
                <a:off x="1382112" y="3573418"/>
                <a:ext cx="13203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2" name="Google Shape;17412;p712"/>
              <p:cNvCxnSpPr>
                <a:stCxn id="17399" idx="4"/>
                <a:endCxn id="17400" idx="0"/>
              </p:cNvCxnSpPr>
              <p:nvPr/>
            </p:nvCxnSpPr>
            <p:spPr>
              <a:xfrm>
                <a:off x="1169250" y="3658325"/>
                <a:ext cx="300" cy="7128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3" name="Google Shape;17413;p712"/>
              <p:cNvCxnSpPr>
                <a:stCxn id="17400" idx="6"/>
                <a:endCxn id="17402" idx="2"/>
              </p:cNvCxnSpPr>
              <p:nvPr/>
            </p:nvCxnSpPr>
            <p:spPr>
              <a:xfrm>
                <a:off x="1470200" y="4661150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4" name="Google Shape;17414;p712"/>
              <p:cNvCxnSpPr>
                <a:stCxn id="17401" idx="6"/>
                <a:endCxn id="17403" idx="1"/>
              </p:cNvCxnSpPr>
              <p:nvPr/>
            </p:nvCxnSpPr>
            <p:spPr>
              <a:xfrm>
                <a:off x="3215950" y="3368225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5" name="Google Shape;17415;p712"/>
              <p:cNvCxnSpPr>
                <a:stCxn id="17403" idx="3"/>
                <a:endCxn id="17402" idx="6"/>
              </p:cNvCxnSpPr>
              <p:nvPr/>
            </p:nvCxnSpPr>
            <p:spPr>
              <a:xfrm flipH="1">
                <a:off x="3216038" y="4219782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6" name="Google Shape;17416;p712"/>
              <p:cNvCxnSpPr>
                <a:stCxn id="17404" idx="2"/>
                <a:endCxn id="17403" idx="6"/>
              </p:cNvCxnSpPr>
              <p:nvPr/>
            </p:nvCxnSpPr>
            <p:spPr>
              <a:xfrm rot="10800000">
                <a:off x="4281550" y="4014725"/>
                <a:ext cx="7188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7" name="Google Shape;17417;p712"/>
              <p:cNvCxnSpPr>
                <a:stCxn id="17405" idx="2"/>
                <a:endCxn id="17404" idx="7"/>
              </p:cNvCxnSpPr>
              <p:nvPr/>
            </p:nvCxnSpPr>
            <p:spPr>
              <a:xfrm flipH="1">
                <a:off x="5513900" y="3368225"/>
                <a:ext cx="5631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8" name="Google Shape;17418;p712"/>
              <p:cNvCxnSpPr>
                <a:stCxn id="17406" idx="2"/>
                <a:endCxn id="17404" idx="5"/>
              </p:cNvCxnSpPr>
              <p:nvPr/>
            </p:nvCxnSpPr>
            <p:spPr>
              <a:xfrm rot="10800000">
                <a:off x="5513900" y="4219975"/>
                <a:ext cx="563100" cy="5067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19" name="Google Shape;17419;p712"/>
              <p:cNvCxnSpPr>
                <a:stCxn id="17405" idx="5"/>
                <a:endCxn id="17408" idx="1"/>
              </p:cNvCxnSpPr>
              <p:nvPr/>
            </p:nvCxnSpPr>
            <p:spPr>
              <a:xfrm>
                <a:off x="6590412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20" name="Google Shape;17420;p712"/>
              <p:cNvCxnSpPr>
                <a:stCxn id="17407" idx="3"/>
                <a:endCxn id="17406" idx="7"/>
              </p:cNvCxnSpPr>
              <p:nvPr/>
            </p:nvCxnSpPr>
            <p:spPr>
              <a:xfrm flipH="1">
                <a:off x="6590438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21" name="Google Shape;17421;p712"/>
              <p:cNvCxnSpPr>
                <a:stCxn id="17407" idx="2"/>
                <a:endCxn id="17405" idx="6"/>
              </p:cNvCxnSpPr>
              <p:nvPr/>
            </p:nvCxnSpPr>
            <p:spPr>
              <a:xfrm rot="10800000">
                <a:off x="667845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22" name="Google Shape;17422;p712"/>
              <p:cNvCxnSpPr>
                <a:stCxn id="17407" idx="4"/>
                <a:endCxn id="17408" idx="0"/>
              </p:cNvCxnSpPr>
              <p:nvPr/>
            </p:nvCxnSpPr>
            <p:spPr>
              <a:xfrm>
                <a:off x="8123700" y="3658325"/>
                <a:ext cx="0" cy="7782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23" name="Google Shape;17423;p712"/>
              <p:cNvCxnSpPr>
                <a:stCxn id="17408" idx="2"/>
                <a:endCxn id="17406" idx="6"/>
              </p:cNvCxnSpPr>
              <p:nvPr/>
            </p:nvCxnSpPr>
            <p:spPr>
              <a:xfrm rot="10800000">
                <a:off x="6678650" y="4726675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17424" name="Google Shape;17424;p712"/>
            <p:cNvSpPr txBox="1"/>
            <p:nvPr/>
          </p:nvSpPr>
          <p:spPr>
            <a:xfrm>
              <a:off x="3604950" y="4864175"/>
              <a:ext cx="2008800" cy="467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Borgatti and Everett’s</a:t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“Thinking Graph”</a:t>
              </a:r>
              <a:endParaRPr/>
            </a:p>
          </p:txBody>
        </p:sp>
      </p:grpSp>
    </p:spTree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428" name="Shape 17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29" name="Google Shape;17429;p71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Notions of Equivalence: Regular Equivalence </a:t>
            </a:r>
            <a:endParaRPr/>
          </a:p>
        </p:txBody>
      </p:sp>
      <p:sp>
        <p:nvSpPr>
          <p:cNvPr id="17430" name="Google Shape;17430;p713"/>
          <p:cNvSpPr txBox="1"/>
          <p:nvPr>
            <p:ph idx="1" type="body"/>
          </p:nvPr>
        </p:nvSpPr>
        <p:spPr>
          <a:xfrm>
            <a:off x="311700" y="1225220"/>
            <a:ext cx="8520600" cy="161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If two actors are regularly equivalent they have the same graph theoretic attributes, and </a:t>
            </a:r>
            <a:r>
              <a:rPr b="1" lang="en"/>
              <a:t>vice versa: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two actors share all graph theoretic attributes they are regularly equivalent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Regular equivalence is a </a:t>
            </a:r>
            <a:r>
              <a:rPr b="1" lang="en"/>
              <a:t>non-local concept</a:t>
            </a:r>
            <a:endParaRPr/>
          </a:p>
        </p:txBody>
      </p:sp>
      <p:grpSp>
        <p:nvGrpSpPr>
          <p:cNvPr id="17431" name="Google Shape;17431;p713"/>
          <p:cNvGrpSpPr/>
          <p:nvPr/>
        </p:nvGrpSpPr>
        <p:grpSpPr>
          <a:xfrm>
            <a:off x="831375" y="2879280"/>
            <a:ext cx="7555950" cy="1918868"/>
            <a:chOff x="831375" y="3199200"/>
            <a:chExt cx="7555950" cy="2132075"/>
          </a:xfrm>
        </p:grpSpPr>
        <p:grpSp>
          <p:nvGrpSpPr>
            <p:cNvPr id="17432" name="Google Shape;17432;p713"/>
            <p:cNvGrpSpPr/>
            <p:nvPr/>
          </p:nvGrpSpPr>
          <p:grpSpPr>
            <a:xfrm>
              <a:off x="831375" y="3199200"/>
              <a:ext cx="7555950" cy="1938650"/>
              <a:chOff x="868500" y="3078125"/>
              <a:chExt cx="7555950" cy="1938650"/>
            </a:xfrm>
          </p:grpSpPr>
          <p:sp>
            <p:nvSpPr>
              <p:cNvPr id="17433" name="Google Shape;17433;p713"/>
              <p:cNvSpPr/>
              <p:nvPr/>
            </p:nvSpPr>
            <p:spPr>
              <a:xfrm>
                <a:off x="86850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a</a:t>
                </a:r>
                <a:endParaRPr sz="1800"/>
              </a:p>
            </p:txBody>
          </p:sp>
          <p:sp>
            <p:nvSpPr>
              <p:cNvPr id="17434" name="Google Shape;17434;p713"/>
              <p:cNvSpPr/>
              <p:nvPr/>
            </p:nvSpPr>
            <p:spPr>
              <a:xfrm>
                <a:off x="868700" y="4371050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c</a:t>
                </a:r>
                <a:endParaRPr sz="1800"/>
              </a:p>
            </p:txBody>
          </p:sp>
          <p:sp>
            <p:nvSpPr>
              <p:cNvPr id="17435" name="Google Shape;17435;p713"/>
              <p:cNvSpPr/>
              <p:nvPr/>
            </p:nvSpPr>
            <p:spPr>
              <a:xfrm>
                <a:off x="261445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b</a:t>
                </a:r>
                <a:endParaRPr sz="1800"/>
              </a:p>
            </p:txBody>
          </p:sp>
          <p:sp>
            <p:nvSpPr>
              <p:cNvPr id="17436" name="Google Shape;17436;p713"/>
              <p:cNvSpPr/>
              <p:nvPr/>
            </p:nvSpPr>
            <p:spPr>
              <a:xfrm>
                <a:off x="2614450" y="4371050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d</a:t>
                </a:r>
                <a:endParaRPr sz="1800"/>
              </a:p>
            </p:txBody>
          </p:sp>
          <p:sp>
            <p:nvSpPr>
              <p:cNvPr id="17437" name="Google Shape;17437;p713"/>
              <p:cNvSpPr/>
              <p:nvPr/>
            </p:nvSpPr>
            <p:spPr>
              <a:xfrm>
                <a:off x="3679950" y="3724550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e</a:t>
                </a:r>
                <a:endParaRPr sz="1800"/>
              </a:p>
            </p:txBody>
          </p:sp>
          <p:sp>
            <p:nvSpPr>
              <p:cNvPr id="17438" name="Google Shape;17438;p713"/>
              <p:cNvSpPr/>
              <p:nvPr/>
            </p:nvSpPr>
            <p:spPr>
              <a:xfrm>
                <a:off x="5000350" y="3724625"/>
                <a:ext cx="601500" cy="580200"/>
              </a:xfrm>
              <a:prstGeom prst="ellipse">
                <a:avLst/>
              </a:prstGeom>
              <a:solidFill>
                <a:srgbClr val="3C78D8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f</a:t>
                </a:r>
                <a:endParaRPr sz="1800"/>
              </a:p>
            </p:txBody>
          </p:sp>
          <p:sp>
            <p:nvSpPr>
              <p:cNvPr id="17439" name="Google Shape;17439;p713"/>
              <p:cNvSpPr/>
              <p:nvPr/>
            </p:nvSpPr>
            <p:spPr>
              <a:xfrm>
                <a:off x="6077000" y="307812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g</a:t>
                </a:r>
                <a:endParaRPr sz="1800"/>
              </a:p>
            </p:txBody>
          </p:sp>
          <p:sp>
            <p:nvSpPr>
              <p:cNvPr id="17440" name="Google Shape;17440;p713"/>
              <p:cNvSpPr/>
              <p:nvPr/>
            </p:nvSpPr>
            <p:spPr>
              <a:xfrm>
                <a:off x="6077000" y="4436575"/>
                <a:ext cx="601500" cy="580200"/>
              </a:xfrm>
              <a:prstGeom prst="ellipse">
                <a:avLst/>
              </a:prstGeom>
              <a:solidFill>
                <a:srgbClr val="6AA84F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i</a:t>
                </a:r>
                <a:endParaRPr sz="1800"/>
              </a:p>
            </p:txBody>
          </p:sp>
          <p:sp>
            <p:nvSpPr>
              <p:cNvPr id="17441" name="Google Shape;17441;p713"/>
              <p:cNvSpPr/>
              <p:nvPr/>
            </p:nvSpPr>
            <p:spPr>
              <a:xfrm>
                <a:off x="7822950" y="307812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h</a:t>
                </a:r>
                <a:endParaRPr sz="1800"/>
              </a:p>
            </p:txBody>
          </p:sp>
          <p:sp>
            <p:nvSpPr>
              <p:cNvPr id="17442" name="Google Shape;17442;p713"/>
              <p:cNvSpPr/>
              <p:nvPr/>
            </p:nvSpPr>
            <p:spPr>
              <a:xfrm>
                <a:off x="7822850" y="4436575"/>
                <a:ext cx="601500" cy="580200"/>
              </a:xfrm>
              <a:prstGeom prst="ellipse">
                <a:avLst/>
              </a:prstGeom>
              <a:solidFill>
                <a:srgbClr val="FF0000"/>
              </a:solidFill>
              <a:ln cap="flat" cmpd="sng" w="2857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800"/>
                  <a:t>j</a:t>
                </a:r>
                <a:endParaRPr sz="1800"/>
              </a:p>
            </p:txBody>
          </p:sp>
          <p:cxnSp>
            <p:nvCxnSpPr>
              <p:cNvPr id="17443" name="Google Shape;17443;p713"/>
              <p:cNvCxnSpPr>
                <a:stCxn id="17433" idx="6"/>
                <a:endCxn id="17435" idx="2"/>
              </p:cNvCxnSpPr>
              <p:nvPr/>
            </p:nvCxnSpPr>
            <p:spPr>
              <a:xfrm>
                <a:off x="147000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44" name="Google Shape;17444;p713"/>
              <p:cNvCxnSpPr>
                <a:stCxn id="17433" idx="5"/>
                <a:endCxn id="17436" idx="1"/>
              </p:cNvCxnSpPr>
              <p:nvPr/>
            </p:nvCxnSpPr>
            <p:spPr>
              <a:xfrm>
                <a:off x="1381912" y="3573357"/>
                <a:ext cx="13206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45" name="Google Shape;17445;p713"/>
              <p:cNvCxnSpPr>
                <a:stCxn id="17434" idx="7"/>
                <a:endCxn id="17435" idx="3"/>
              </p:cNvCxnSpPr>
              <p:nvPr/>
            </p:nvCxnSpPr>
            <p:spPr>
              <a:xfrm flipH="1" rot="10800000">
                <a:off x="1382112" y="3573418"/>
                <a:ext cx="1320300" cy="8826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46" name="Google Shape;17446;p713"/>
              <p:cNvCxnSpPr>
                <a:stCxn id="17433" idx="4"/>
                <a:endCxn id="17434" idx="0"/>
              </p:cNvCxnSpPr>
              <p:nvPr/>
            </p:nvCxnSpPr>
            <p:spPr>
              <a:xfrm>
                <a:off x="1169250" y="3658325"/>
                <a:ext cx="300" cy="7128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47" name="Google Shape;17447;p713"/>
              <p:cNvCxnSpPr>
                <a:stCxn id="17434" idx="6"/>
                <a:endCxn id="17436" idx="2"/>
              </p:cNvCxnSpPr>
              <p:nvPr/>
            </p:nvCxnSpPr>
            <p:spPr>
              <a:xfrm>
                <a:off x="1470200" y="4661150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48" name="Google Shape;17448;p713"/>
              <p:cNvCxnSpPr>
                <a:stCxn id="17435" idx="6"/>
                <a:endCxn id="17437" idx="1"/>
              </p:cNvCxnSpPr>
              <p:nvPr/>
            </p:nvCxnSpPr>
            <p:spPr>
              <a:xfrm>
                <a:off x="3215950" y="3368225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49" name="Google Shape;17449;p713"/>
              <p:cNvCxnSpPr>
                <a:stCxn id="17437" idx="3"/>
                <a:endCxn id="17436" idx="6"/>
              </p:cNvCxnSpPr>
              <p:nvPr/>
            </p:nvCxnSpPr>
            <p:spPr>
              <a:xfrm flipH="1">
                <a:off x="3216038" y="4219782"/>
                <a:ext cx="5520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50" name="Google Shape;17450;p713"/>
              <p:cNvCxnSpPr>
                <a:stCxn id="17438" idx="2"/>
                <a:endCxn id="17437" idx="6"/>
              </p:cNvCxnSpPr>
              <p:nvPr/>
            </p:nvCxnSpPr>
            <p:spPr>
              <a:xfrm rot="10800000">
                <a:off x="4281550" y="4014725"/>
                <a:ext cx="7188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51" name="Google Shape;17451;p713"/>
              <p:cNvCxnSpPr>
                <a:stCxn id="17439" idx="2"/>
                <a:endCxn id="17438" idx="7"/>
              </p:cNvCxnSpPr>
              <p:nvPr/>
            </p:nvCxnSpPr>
            <p:spPr>
              <a:xfrm flipH="1">
                <a:off x="5513900" y="3368225"/>
                <a:ext cx="563100" cy="441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52" name="Google Shape;17452;p713"/>
              <p:cNvCxnSpPr>
                <a:stCxn id="17440" idx="2"/>
                <a:endCxn id="17438" idx="5"/>
              </p:cNvCxnSpPr>
              <p:nvPr/>
            </p:nvCxnSpPr>
            <p:spPr>
              <a:xfrm rot="10800000">
                <a:off x="5513900" y="4219975"/>
                <a:ext cx="563100" cy="5067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53" name="Google Shape;17453;p713"/>
              <p:cNvCxnSpPr>
                <a:stCxn id="17439" idx="5"/>
                <a:endCxn id="17442" idx="1"/>
              </p:cNvCxnSpPr>
              <p:nvPr/>
            </p:nvCxnSpPr>
            <p:spPr>
              <a:xfrm>
                <a:off x="6590412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54" name="Google Shape;17454;p713"/>
              <p:cNvCxnSpPr>
                <a:stCxn id="17441" idx="3"/>
                <a:endCxn id="17440" idx="7"/>
              </p:cNvCxnSpPr>
              <p:nvPr/>
            </p:nvCxnSpPr>
            <p:spPr>
              <a:xfrm flipH="1">
                <a:off x="6590438" y="3573357"/>
                <a:ext cx="1320600" cy="9483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55" name="Google Shape;17455;p713"/>
              <p:cNvCxnSpPr>
                <a:stCxn id="17441" idx="2"/>
                <a:endCxn id="17439" idx="6"/>
              </p:cNvCxnSpPr>
              <p:nvPr/>
            </p:nvCxnSpPr>
            <p:spPr>
              <a:xfrm rot="10800000">
                <a:off x="6678450" y="3368225"/>
                <a:ext cx="11445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56" name="Google Shape;17456;p713"/>
              <p:cNvCxnSpPr>
                <a:stCxn id="17441" idx="4"/>
                <a:endCxn id="17442" idx="0"/>
              </p:cNvCxnSpPr>
              <p:nvPr/>
            </p:nvCxnSpPr>
            <p:spPr>
              <a:xfrm>
                <a:off x="8123700" y="3658325"/>
                <a:ext cx="0" cy="77820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457" name="Google Shape;17457;p713"/>
              <p:cNvCxnSpPr>
                <a:stCxn id="17442" idx="2"/>
                <a:endCxn id="17440" idx="6"/>
              </p:cNvCxnSpPr>
              <p:nvPr/>
            </p:nvCxnSpPr>
            <p:spPr>
              <a:xfrm rot="10800000">
                <a:off x="6678650" y="4726675"/>
                <a:ext cx="1144200" cy="0"/>
              </a:xfrm>
              <a:prstGeom prst="straightConnector1">
                <a:avLst/>
              </a:prstGeom>
              <a:noFill/>
              <a:ln cap="flat" cmpd="sng" w="2857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17458" name="Google Shape;17458;p713"/>
            <p:cNvSpPr txBox="1"/>
            <p:nvPr/>
          </p:nvSpPr>
          <p:spPr>
            <a:xfrm>
              <a:off x="3604950" y="4864175"/>
              <a:ext cx="2008800" cy="467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Borgatti and Everett’s</a:t>
              </a:r>
              <a:endParaRPr/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“Thinking Graph”</a:t>
              </a:r>
              <a:endParaRPr/>
            </a:p>
          </p:txBody>
        </p:sp>
      </p:grpSp>
    </p:spTree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462" name="Shape 17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63" name="Google Shape;17463;p714"/>
          <p:cNvSpPr txBox="1"/>
          <p:nvPr/>
        </p:nvSpPr>
        <p:spPr>
          <a:xfrm>
            <a:off x="1040575" y="1230300"/>
            <a:ext cx="3393300" cy="42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Regular Equivalence Blocked Matrix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464" name="Google Shape;17464;p714"/>
          <p:cNvSpPr txBox="1"/>
          <p:nvPr>
            <p:ph idx="4294967295"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Blockmodeling based on regular equivalence</a:t>
            </a:r>
            <a:endParaRPr/>
          </a:p>
        </p:txBody>
      </p:sp>
      <p:graphicFrame>
        <p:nvGraphicFramePr>
          <p:cNvPr id="17465" name="Google Shape;17465;p714"/>
          <p:cNvGraphicFramePr/>
          <p:nvPr/>
        </p:nvGraphicFramePr>
        <p:xfrm>
          <a:off x="1040575" y="165473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  <a:gridCol w="302750"/>
              </a:tblGrid>
              <a:tr h="2878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a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c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h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j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b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d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g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i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/>
                        <a:t>e</a:t>
                      </a:r>
                      <a:endParaRPr b="1"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/>
                        <a:t>f</a:t>
                      </a:r>
                      <a:endParaRPr b="1"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a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c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h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FF0000"/>
                          </a:solidFill>
                        </a:rPr>
                        <a:t>j</a:t>
                      </a:r>
                      <a:endParaRPr b="1"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1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0000"/>
                          </a:solidFill>
                        </a:rPr>
                        <a:t>0</a:t>
                      </a:r>
                      <a:endParaRPr sz="1100">
                        <a:solidFill>
                          <a:srgbClr val="FF0000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b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d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g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6AA84F"/>
                          </a:solidFill>
                        </a:rPr>
                        <a:t>i</a:t>
                      </a:r>
                      <a:endParaRPr b="1"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0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0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6AA84F"/>
                          </a:solidFill>
                        </a:rPr>
                        <a:t>1</a:t>
                      </a:r>
                      <a:endParaRPr sz="1100">
                        <a:solidFill>
                          <a:srgbClr val="6AA84F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C78D8"/>
                          </a:solidFill>
                        </a:rPr>
                        <a:t>e</a:t>
                      </a:r>
                      <a:endParaRPr b="1"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1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1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AA84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C7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C78D8"/>
                    </a:solidFill>
                  </a:tcPr>
                </a:tc>
              </a:tr>
              <a:tr h="286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C78D8"/>
                          </a:solidFill>
                        </a:rPr>
                        <a:t>f</a:t>
                      </a:r>
                      <a:endParaRPr b="1"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0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1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</a:rPr>
                        <a:t>1</a:t>
                      </a:r>
                      <a:endParaRPr sz="1100">
                        <a:solidFill>
                          <a:srgbClr val="3C78D8"/>
                        </a:solidFill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7B7B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1</a:t>
                      </a:r>
                      <a:endParaRPr sz="1100"/>
                    </a:p>
                  </a:txBody>
                  <a:tcPr marT="0" marB="0" marR="0" marL="0" anchor="ctr">
                    <a:lnL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C7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/>
                        <a:t>--</a:t>
                      </a:r>
                      <a:endParaRPr sz="1100"/>
                    </a:p>
                  </a:txBody>
                  <a:tcPr marT="0" marB="0" marR="0" marL="0" anchor="ctr">
                    <a:lnL cap="flat" cmpd="sng" w="952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3C78D8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C78D8"/>
                    </a:solidFill>
                  </a:tcPr>
                </a:tc>
              </a:tr>
            </a:tbl>
          </a:graphicData>
        </a:graphic>
      </p:graphicFrame>
      <p:sp>
        <p:nvSpPr>
          <p:cNvPr id="17466" name="Google Shape;17466;p714"/>
          <p:cNvSpPr/>
          <p:nvPr/>
        </p:nvSpPr>
        <p:spPr>
          <a:xfrm>
            <a:off x="4625925" y="2728455"/>
            <a:ext cx="335100" cy="329100"/>
          </a:xfrm>
          <a:prstGeom prst="ellipse">
            <a:avLst/>
          </a:prstGeom>
          <a:solidFill>
            <a:srgbClr val="FF0000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</a:t>
            </a:r>
            <a:endParaRPr/>
          </a:p>
        </p:txBody>
      </p:sp>
      <p:sp>
        <p:nvSpPr>
          <p:cNvPr id="17467" name="Google Shape;17467;p714"/>
          <p:cNvSpPr/>
          <p:nvPr/>
        </p:nvSpPr>
        <p:spPr>
          <a:xfrm>
            <a:off x="4626036" y="3370664"/>
            <a:ext cx="335100" cy="329100"/>
          </a:xfrm>
          <a:prstGeom prst="ellipse">
            <a:avLst/>
          </a:prstGeom>
          <a:solidFill>
            <a:srgbClr val="FF0000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</a:t>
            </a:r>
            <a:endParaRPr/>
          </a:p>
        </p:txBody>
      </p:sp>
      <p:sp>
        <p:nvSpPr>
          <p:cNvPr id="17468" name="Google Shape;17468;p714"/>
          <p:cNvSpPr/>
          <p:nvPr/>
        </p:nvSpPr>
        <p:spPr>
          <a:xfrm>
            <a:off x="5597827" y="2728455"/>
            <a:ext cx="335100" cy="329100"/>
          </a:xfrm>
          <a:prstGeom prst="ellipse">
            <a:avLst/>
          </a:prstGeom>
          <a:solidFill>
            <a:srgbClr val="6AA84F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</a:t>
            </a:r>
            <a:endParaRPr/>
          </a:p>
        </p:txBody>
      </p:sp>
      <p:sp>
        <p:nvSpPr>
          <p:cNvPr id="17469" name="Google Shape;17469;p714"/>
          <p:cNvSpPr/>
          <p:nvPr/>
        </p:nvSpPr>
        <p:spPr>
          <a:xfrm>
            <a:off x="5597827" y="3370664"/>
            <a:ext cx="335100" cy="329100"/>
          </a:xfrm>
          <a:prstGeom prst="ellipse">
            <a:avLst/>
          </a:prstGeom>
          <a:solidFill>
            <a:srgbClr val="6AA84F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</a:t>
            </a:r>
            <a:endParaRPr/>
          </a:p>
        </p:txBody>
      </p:sp>
      <p:sp>
        <p:nvSpPr>
          <p:cNvPr id="17470" name="Google Shape;17470;p714"/>
          <p:cNvSpPr/>
          <p:nvPr/>
        </p:nvSpPr>
        <p:spPr>
          <a:xfrm>
            <a:off x="6190949" y="3049541"/>
            <a:ext cx="335100" cy="329100"/>
          </a:xfrm>
          <a:prstGeom prst="ellipse">
            <a:avLst/>
          </a:prstGeom>
          <a:solidFill>
            <a:srgbClr val="3C78D8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</a:t>
            </a:r>
            <a:endParaRPr/>
          </a:p>
        </p:txBody>
      </p:sp>
      <p:sp>
        <p:nvSpPr>
          <p:cNvPr id="17471" name="Google Shape;17471;p714"/>
          <p:cNvSpPr/>
          <p:nvPr/>
        </p:nvSpPr>
        <p:spPr>
          <a:xfrm>
            <a:off x="6925963" y="3049578"/>
            <a:ext cx="335100" cy="329100"/>
          </a:xfrm>
          <a:prstGeom prst="ellipse">
            <a:avLst/>
          </a:prstGeom>
          <a:solidFill>
            <a:srgbClr val="3C78D8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</a:t>
            </a:r>
            <a:endParaRPr/>
          </a:p>
        </p:txBody>
      </p:sp>
      <p:sp>
        <p:nvSpPr>
          <p:cNvPr id="17472" name="Google Shape;17472;p714"/>
          <p:cNvSpPr/>
          <p:nvPr/>
        </p:nvSpPr>
        <p:spPr>
          <a:xfrm>
            <a:off x="7525292" y="2728455"/>
            <a:ext cx="335100" cy="329100"/>
          </a:xfrm>
          <a:prstGeom prst="ellipse">
            <a:avLst/>
          </a:prstGeom>
          <a:solidFill>
            <a:srgbClr val="6AA84F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</a:t>
            </a:r>
            <a:endParaRPr/>
          </a:p>
        </p:txBody>
      </p:sp>
      <p:sp>
        <p:nvSpPr>
          <p:cNvPr id="17473" name="Google Shape;17473;p714"/>
          <p:cNvSpPr/>
          <p:nvPr/>
        </p:nvSpPr>
        <p:spPr>
          <a:xfrm>
            <a:off x="7525292" y="3403210"/>
            <a:ext cx="335100" cy="329100"/>
          </a:xfrm>
          <a:prstGeom prst="ellipse">
            <a:avLst/>
          </a:prstGeom>
          <a:solidFill>
            <a:srgbClr val="6AA84F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</a:t>
            </a:r>
            <a:endParaRPr/>
          </a:p>
        </p:txBody>
      </p:sp>
      <p:sp>
        <p:nvSpPr>
          <p:cNvPr id="17474" name="Google Shape;17474;p714"/>
          <p:cNvSpPr/>
          <p:nvPr/>
        </p:nvSpPr>
        <p:spPr>
          <a:xfrm>
            <a:off x="8497194" y="2728455"/>
            <a:ext cx="335100" cy="329100"/>
          </a:xfrm>
          <a:prstGeom prst="ellipse">
            <a:avLst/>
          </a:prstGeom>
          <a:solidFill>
            <a:srgbClr val="FF0000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</a:t>
            </a:r>
            <a:endParaRPr/>
          </a:p>
        </p:txBody>
      </p:sp>
      <p:sp>
        <p:nvSpPr>
          <p:cNvPr id="17475" name="Google Shape;17475;p714"/>
          <p:cNvSpPr/>
          <p:nvPr/>
        </p:nvSpPr>
        <p:spPr>
          <a:xfrm>
            <a:off x="8497138" y="3403210"/>
            <a:ext cx="335100" cy="329100"/>
          </a:xfrm>
          <a:prstGeom prst="ellipse">
            <a:avLst/>
          </a:prstGeom>
          <a:solidFill>
            <a:srgbClr val="FF0000"/>
          </a:solidFill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</a:t>
            </a:r>
            <a:endParaRPr/>
          </a:p>
        </p:txBody>
      </p:sp>
      <p:cxnSp>
        <p:nvCxnSpPr>
          <p:cNvPr id="17476" name="Google Shape;17476;p714"/>
          <p:cNvCxnSpPr>
            <a:stCxn id="17466" idx="6"/>
            <a:endCxn id="17468" idx="2"/>
          </p:cNvCxnSpPr>
          <p:nvPr/>
        </p:nvCxnSpPr>
        <p:spPr>
          <a:xfrm>
            <a:off x="4961025" y="2893005"/>
            <a:ext cx="6369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77" name="Google Shape;17477;p714"/>
          <p:cNvCxnSpPr>
            <a:stCxn id="17466" idx="5"/>
            <a:endCxn id="17469" idx="1"/>
          </p:cNvCxnSpPr>
          <p:nvPr/>
        </p:nvCxnSpPr>
        <p:spPr>
          <a:xfrm>
            <a:off x="4911951" y="3009359"/>
            <a:ext cx="735000" cy="40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78" name="Google Shape;17478;p714"/>
          <p:cNvCxnSpPr>
            <a:stCxn id="17467" idx="7"/>
            <a:endCxn id="17468" idx="3"/>
          </p:cNvCxnSpPr>
          <p:nvPr/>
        </p:nvCxnSpPr>
        <p:spPr>
          <a:xfrm flipH="1" rot="10800000">
            <a:off x="4912062" y="3009359"/>
            <a:ext cx="734700" cy="409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79" name="Google Shape;17479;p714"/>
          <p:cNvCxnSpPr>
            <a:stCxn id="17466" idx="4"/>
            <a:endCxn id="17467" idx="0"/>
          </p:cNvCxnSpPr>
          <p:nvPr/>
        </p:nvCxnSpPr>
        <p:spPr>
          <a:xfrm>
            <a:off x="4793475" y="3057555"/>
            <a:ext cx="0" cy="313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0" name="Google Shape;17480;p714"/>
          <p:cNvCxnSpPr>
            <a:stCxn id="17467" idx="6"/>
            <a:endCxn id="17469" idx="2"/>
          </p:cNvCxnSpPr>
          <p:nvPr/>
        </p:nvCxnSpPr>
        <p:spPr>
          <a:xfrm>
            <a:off x="4961136" y="3535214"/>
            <a:ext cx="636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1" name="Google Shape;17481;p714"/>
          <p:cNvCxnSpPr>
            <a:stCxn id="17468" idx="6"/>
            <a:endCxn id="17470" idx="1"/>
          </p:cNvCxnSpPr>
          <p:nvPr/>
        </p:nvCxnSpPr>
        <p:spPr>
          <a:xfrm>
            <a:off x="5932927" y="2893005"/>
            <a:ext cx="307200" cy="204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2" name="Google Shape;17482;p714"/>
          <p:cNvCxnSpPr>
            <a:stCxn id="17470" idx="3"/>
            <a:endCxn id="17469" idx="6"/>
          </p:cNvCxnSpPr>
          <p:nvPr/>
        </p:nvCxnSpPr>
        <p:spPr>
          <a:xfrm flipH="1">
            <a:off x="5932823" y="3330445"/>
            <a:ext cx="307200" cy="204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3" name="Google Shape;17483;p714"/>
          <p:cNvCxnSpPr>
            <a:stCxn id="17471" idx="2"/>
            <a:endCxn id="17470" idx="6"/>
          </p:cNvCxnSpPr>
          <p:nvPr/>
        </p:nvCxnSpPr>
        <p:spPr>
          <a:xfrm rot="10800000">
            <a:off x="6526063" y="3214128"/>
            <a:ext cx="3999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4" name="Google Shape;17484;p714"/>
          <p:cNvCxnSpPr>
            <a:stCxn id="17472" idx="2"/>
            <a:endCxn id="17471" idx="7"/>
          </p:cNvCxnSpPr>
          <p:nvPr/>
        </p:nvCxnSpPr>
        <p:spPr>
          <a:xfrm flipH="1">
            <a:off x="7212092" y="2893005"/>
            <a:ext cx="313200" cy="204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5" name="Google Shape;17485;p714"/>
          <p:cNvCxnSpPr>
            <a:stCxn id="17473" idx="2"/>
            <a:endCxn id="17471" idx="5"/>
          </p:cNvCxnSpPr>
          <p:nvPr/>
        </p:nvCxnSpPr>
        <p:spPr>
          <a:xfrm rot="10800000">
            <a:off x="7212092" y="3330460"/>
            <a:ext cx="313200" cy="2373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6" name="Google Shape;17486;p714"/>
          <p:cNvCxnSpPr>
            <a:stCxn id="17472" idx="5"/>
            <a:endCxn id="17475" idx="1"/>
          </p:cNvCxnSpPr>
          <p:nvPr/>
        </p:nvCxnSpPr>
        <p:spPr>
          <a:xfrm>
            <a:off x="7811318" y="3009359"/>
            <a:ext cx="735000" cy="44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7" name="Google Shape;17487;p714"/>
          <p:cNvCxnSpPr>
            <a:stCxn id="17474" idx="3"/>
            <a:endCxn id="17473" idx="7"/>
          </p:cNvCxnSpPr>
          <p:nvPr/>
        </p:nvCxnSpPr>
        <p:spPr>
          <a:xfrm flipH="1">
            <a:off x="7811268" y="3009359"/>
            <a:ext cx="735000" cy="441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8" name="Google Shape;17488;p714"/>
          <p:cNvCxnSpPr>
            <a:stCxn id="17474" idx="2"/>
            <a:endCxn id="17472" idx="6"/>
          </p:cNvCxnSpPr>
          <p:nvPr/>
        </p:nvCxnSpPr>
        <p:spPr>
          <a:xfrm rot="10800000">
            <a:off x="7860294" y="2893005"/>
            <a:ext cx="6369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89" name="Google Shape;17489;p714"/>
          <p:cNvCxnSpPr>
            <a:stCxn id="17474" idx="4"/>
            <a:endCxn id="17475" idx="0"/>
          </p:cNvCxnSpPr>
          <p:nvPr/>
        </p:nvCxnSpPr>
        <p:spPr>
          <a:xfrm>
            <a:off x="8664744" y="3057555"/>
            <a:ext cx="0" cy="345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490" name="Google Shape;17490;p714"/>
          <p:cNvCxnSpPr>
            <a:stCxn id="17475" idx="2"/>
            <a:endCxn id="17473" idx="6"/>
          </p:cNvCxnSpPr>
          <p:nvPr/>
        </p:nvCxnSpPr>
        <p:spPr>
          <a:xfrm rot="10800000">
            <a:off x="7860538" y="3567760"/>
            <a:ext cx="6366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494" name="Shape 17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95" name="Google Shape;17495;p71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Positional equivalence model</a:t>
            </a:r>
            <a:endParaRPr/>
          </a:p>
        </p:txBody>
      </p:sp>
      <p:sp>
        <p:nvSpPr>
          <p:cNvPr id="17496" name="Google Shape;17496;p715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Cohesion-based network models presume that diffusion only happens between </a:t>
            </a:r>
            <a:r>
              <a:rPr b="1" lang="en"/>
              <a:t>connected</a:t>
            </a:r>
            <a:r>
              <a:rPr lang="en"/>
              <a:t> actors (direct influence)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However, the diffusion mechanism can sometimes operate among </a:t>
            </a:r>
            <a:r>
              <a:rPr b="1" lang="en"/>
              <a:t>disconnected </a:t>
            </a:r>
            <a:r>
              <a:rPr lang="en"/>
              <a:t>actors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diffusion via </a:t>
            </a:r>
            <a:r>
              <a:rPr b="1" lang="en"/>
              <a:t>positional equivalence </a:t>
            </a:r>
            <a:r>
              <a:rPr lang="en"/>
              <a:t>(indirect influence)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Remember: Positionally equivalent actors don’t have to be necessarily connected to one another!</a:t>
            </a:r>
            <a:endParaRPr/>
          </a:p>
        </p:txBody>
      </p:sp>
      <p:pic>
        <p:nvPicPr>
          <p:cNvPr id="17497" name="Google Shape;17497;p7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115399" y="2825981"/>
            <a:ext cx="4913191" cy="193146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01" name="Shape 17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02" name="Google Shape;17502;p716"/>
          <p:cNvSpPr txBox="1"/>
          <p:nvPr>
            <p:ph idx="1" type="body"/>
          </p:nvPr>
        </p:nvSpPr>
        <p:spPr>
          <a:xfrm>
            <a:off x="311700" y="1225221"/>
            <a:ext cx="8520600" cy="154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Cohesion-based network models presume that diffusion only happens between </a:t>
            </a:r>
            <a:r>
              <a:rPr b="1" lang="en"/>
              <a:t>connected</a:t>
            </a:r>
            <a:r>
              <a:rPr lang="en"/>
              <a:t> actors (direct influence)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However, the diffusion mechanism can sometimes operate among </a:t>
            </a:r>
            <a:r>
              <a:rPr b="1" lang="en"/>
              <a:t>disconnected </a:t>
            </a:r>
            <a:r>
              <a:rPr lang="en"/>
              <a:t>actors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diffusion via </a:t>
            </a:r>
            <a:r>
              <a:rPr b="1" lang="en"/>
              <a:t>positional equivalence </a:t>
            </a:r>
            <a:r>
              <a:rPr lang="en"/>
              <a:t>(indirect influence)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Mechanism: Comparison to similarly positioned others</a:t>
            </a:r>
            <a:endParaRPr/>
          </a:p>
        </p:txBody>
      </p:sp>
      <p:sp>
        <p:nvSpPr>
          <p:cNvPr id="17503" name="Google Shape;17503;p71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Positional equivalence model</a:t>
            </a:r>
            <a:endParaRPr/>
          </a:p>
        </p:txBody>
      </p:sp>
      <p:sp>
        <p:nvSpPr>
          <p:cNvPr id="17504" name="Google Shape;17504;p716"/>
          <p:cNvSpPr/>
          <p:nvPr/>
        </p:nvSpPr>
        <p:spPr>
          <a:xfrm>
            <a:off x="2061300" y="3260588"/>
            <a:ext cx="687600" cy="589800"/>
          </a:xfrm>
          <a:prstGeom prst="ellipse">
            <a:avLst/>
          </a:prstGeom>
          <a:solidFill>
            <a:srgbClr val="E69138"/>
          </a:solidFill>
          <a:ln cap="flat" cmpd="sng" w="9525">
            <a:solidFill>
              <a:srgbClr val="99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Source</a:t>
            </a:r>
            <a:endParaRPr b="1">
              <a:solidFill>
                <a:srgbClr val="FFFFFF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505" name="Google Shape;17505;p716"/>
          <p:cNvSpPr/>
          <p:nvPr/>
        </p:nvSpPr>
        <p:spPr>
          <a:xfrm>
            <a:off x="5331100" y="4065368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Alter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7506" name="Google Shape;17506;p716"/>
          <p:cNvSpPr/>
          <p:nvPr/>
        </p:nvSpPr>
        <p:spPr>
          <a:xfrm>
            <a:off x="4136048" y="2844338"/>
            <a:ext cx="818700" cy="268800"/>
          </a:xfrm>
          <a:prstGeom prst="rect">
            <a:avLst/>
          </a:prstGeom>
          <a:solidFill>
            <a:schemeClr val="accent6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Innovation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7507" name="Google Shape;17507;p716"/>
          <p:cNvCxnSpPr>
            <a:stCxn id="17504" idx="7"/>
            <a:endCxn id="17506" idx="1"/>
          </p:cNvCxnSpPr>
          <p:nvPr/>
        </p:nvCxnSpPr>
        <p:spPr>
          <a:xfrm rot="-5400000">
            <a:off x="3208003" y="2419062"/>
            <a:ext cx="368100" cy="14877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08" name="Google Shape;17508;p716"/>
          <p:cNvCxnSpPr>
            <a:stCxn id="17506" idx="3"/>
            <a:endCxn id="17509" idx="1"/>
          </p:cNvCxnSpPr>
          <p:nvPr/>
        </p:nvCxnSpPr>
        <p:spPr>
          <a:xfrm>
            <a:off x="4954748" y="2978738"/>
            <a:ext cx="1487700" cy="368100"/>
          </a:xfrm>
          <a:prstGeom prst="curvedConnector2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7510" name="Google Shape;17510;p716"/>
          <p:cNvSpPr/>
          <p:nvPr/>
        </p:nvSpPr>
        <p:spPr>
          <a:xfrm>
            <a:off x="4091950" y="3420967"/>
            <a:ext cx="906900" cy="268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Economica"/>
                <a:ea typeface="Economica"/>
                <a:cs typeface="Economica"/>
                <a:sym typeface="Economica"/>
              </a:rPr>
              <a:t>Comparison</a:t>
            </a:r>
            <a:endParaRPr b="1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7511" name="Google Shape;17511;p716"/>
          <p:cNvCxnSpPr>
            <a:stCxn id="17504" idx="6"/>
            <a:endCxn id="17510" idx="1"/>
          </p:cNvCxnSpPr>
          <p:nvPr/>
        </p:nvCxnSpPr>
        <p:spPr>
          <a:xfrm>
            <a:off x="2748900" y="3555488"/>
            <a:ext cx="1343100" cy="600"/>
          </a:xfrm>
          <a:prstGeom prst="curvedConnector3">
            <a:avLst>
              <a:gd fmla="val 4999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7512" name="Google Shape;17512;p716"/>
          <p:cNvCxnSpPr>
            <a:stCxn id="17510" idx="3"/>
            <a:endCxn id="17509" idx="2"/>
          </p:cNvCxnSpPr>
          <p:nvPr/>
        </p:nvCxnSpPr>
        <p:spPr>
          <a:xfrm>
            <a:off x="4998850" y="3555367"/>
            <a:ext cx="1343100" cy="600"/>
          </a:xfrm>
          <a:prstGeom prst="curvedConnector3">
            <a:avLst>
              <a:gd fmla="val 49998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7513" name="Google Shape;17513;p716"/>
          <p:cNvSpPr/>
          <p:nvPr/>
        </p:nvSpPr>
        <p:spPr>
          <a:xfrm>
            <a:off x="7352700" y="3984390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Economica"/>
                <a:ea typeface="Economica"/>
                <a:cs typeface="Economica"/>
                <a:sym typeface="Economica"/>
              </a:rPr>
              <a:t>Alter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7514" name="Google Shape;17514;p716"/>
          <p:cNvSpPr/>
          <p:nvPr/>
        </p:nvSpPr>
        <p:spPr>
          <a:xfrm>
            <a:off x="6341900" y="4437518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Economica"/>
                <a:ea typeface="Economica"/>
                <a:cs typeface="Economica"/>
                <a:sym typeface="Economica"/>
              </a:rPr>
              <a:t>Alter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7509" name="Google Shape;17509;p716"/>
          <p:cNvSpPr/>
          <p:nvPr/>
        </p:nvSpPr>
        <p:spPr>
          <a:xfrm>
            <a:off x="6341900" y="3260588"/>
            <a:ext cx="687600" cy="589800"/>
          </a:xfrm>
          <a:prstGeom prst="ellipse">
            <a:avLst/>
          </a:prstGeom>
          <a:solidFill>
            <a:schemeClr val="accent5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Adopter</a:t>
            </a:r>
            <a:endParaRPr b="1">
              <a:solidFill>
                <a:srgbClr val="FFFFFF"/>
              </a:solidFill>
            </a:endParaRPr>
          </a:p>
        </p:txBody>
      </p:sp>
      <p:cxnSp>
        <p:nvCxnSpPr>
          <p:cNvPr id="17515" name="Google Shape;17515;p716"/>
          <p:cNvCxnSpPr/>
          <p:nvPr/>
        </p:nvCxnSpPr>
        <p:spPr>
          <a:xfrm flipH="1" rot="-5400000">
            <a:off x="6685700" y="4278960"/>
            <a:ext cx="600" cy="600"/>
          </a:xfrm>
          <a:prstGeom prst="curvedConnector3">
            <a:avLst>
              <a:gd fmla="val 500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16" name="Google Shape;17516;p716"/>
          <p:cNvCxnSpPr>
            <a:stCxn id="17514" idx="0"/>
            <a:endCxn id="17509" idx="4"/>
          </p:cNvCxnSpPr>
          <p:nvPr/>
        </p:nvCxnSpPr>
        <p:spPr>
          <a:xfrm rot="-5400000">
            <a:off x="6392450" y="4143668"/>
            <a:ext cx="587100" cy="600"/>
          </a:xfrm>
          <a:prstGeom prst="curvedConnector3">
            <a:avLst>
              <a:gd fmla="val 500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517" name="Google Shape;17517;p716"/>
          <p:cNvSpPr/>
          <p:nvPr/>
        </p:nvSpPr>
        <p:spPr>
          <a:xfrm>
            <a:off x="1103700" y="3984390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Economica"/>
                <a:ea typeface="Economica"/>
                <a:cs typeface="Economica"/>
                <a:sym typeface="Economica"/>
              </a:rPr>
              <a:t>Alter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7518" name="Google Shape;17518;p716"/>
          <p:cNvSpPr/>
          <p:nvPr/>
        </p:nvSpPr>
        <p:spPr>
          <a:xfrm>
            <a:off x="3072100" y="4065368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Economica"/>
                <a:ea typeface="Economica"/>
                <a:cs typeface="Economica"/>
                <a:sym typeface="Economica"/>
              </a:rPr>
              <a:t>Alter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17519" name="Google Shape;17519;p716"/>
          <p:cNvSpPr/>
          <p:nvPr/>
        </p:nvSpPr>
        <p:spPr>
          <a:xfrm>
            <a:off x="2061300" y="4437530"/>
            <a:ext cx="687600" cy="589800"/>
          </a:xfrm>
          <a:prstGeom prst="ellipse">
            <a:avLst/>
          </a:prstGeom>
          <a:solidFill>
            <a:schemeClr val="accen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Economica"/>
                <a:ea typeface="Economica"/>
                <a:cs typeface="Economica"/>
                <a:sym typeface="Economica"/>
              </a:rPr>
              <a:t>Alter</a:t>
            </a:r>
            <a:endParaRPr b="1">
              <a:solidFill>
                <a:srgbClr val="FFFFFF"/>
              </a:solidFill>
            </a:endParaRPr>
          </a:p>
        </p:txBody>
      </p:sp>
      <p:cxnSp>
        <p:nvCxnSpPr>
          <p:cNvPr id="17520" name="Google Shape;17520;p716"/>
          <p:cNvCxnSpPr/>
          <p:nvPr/>
        </p:nvCxnSpPr>
        <p:spPr>
          <a:xfrm flipH="1" rot="-5400000">
            <a:off x="2405100" y="4426380"/>
            <a:ext cx="600" cy="600"/>
          </a:xfrm>
          <a:prstGeom prst="curvedConnector3">
            <a:avLst>
              <a:gd fmla="val 50000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21" name="Google Shape;17521;p716"/>
          <p:cNvCxnSpPr>
            <a:stCxn id="17504" idx="4"/>
            <a:endCxn id="17519" idx="0"/>
          </p:cNvCxnSpPr>
          <p:nvPr/>
        </p:nvCxnSpPr>
        <p:spPr>
          <a:xfrm flipH="1" rot="-5400000">
            <a:off x="2111850" y="4143638"/>
            <a:ext cx="587100" cy="600"/>
          </a:xfrm>
          <a:prstGeom prst="curvedConnector3">
            <a:avLst>
              <a:gd fmla="val 50004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22" name="Google Shape;17522;p716"/>
          <p:cNvCxnSpPr>
            <a:stCxn id="17504" idx="3"/>
            <a:endCxn id="17517" idx="7"/>
          </p:cNvCxnSpPr>
          <p:nvPr/>
        </p:nvCxnSpPr>
        <p:spPr>
          <a:xfrm flipH="1">
            <a:off x="1690697" y="3764013"/>
            <a:ext cx="471300" cy="306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23" name="Google Shape;17523;p716"/>
          <p:cNvCxnSpPr>
            <a:stCxn id="17509" idx="3"/>
            <a:endCxn id="17505" idx="7"/>
          </p:cNvCxnSpPr>
          <p:nvPr/>
        </p:nvCxnSpPr>
        <p:spPr>
          <a:xfrm flipH="1">
            <a:off x="5917897" y="3764013"/>
            <a:ext cx="524700" cy="387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24" name="Google Shape;17524;p716"/>
          <p:cNvCxnSpPr>
            <a:stCxn id="17504" idx="5"/>
            <a:endCxn id="17518" idx="1"/>
          </p:cNvCxnSpPr>
          <p:nvPr/>
        </p:nvCxnSpPr>
        <p:spPr>
          <a:xfrm>
            <a:off x="2648203" y="3764013"/>
            <a:ext cx="524700" cy="3876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25" name="Google Shape;17525;p716"/>
          <p:cNvCxnSpPr>
            <a:stCxn id="17509" idx="5"/>
            <a:endCxn id="17513" idx="1"/>
          </p:cNvCxnSpPr>
          <p:nvPr/>
        </p:nvCxnSpPr>
        <p:spPr>
          <a:xfrm>
            <a:off x="6928803" y="3764013"/>
            <a:ext cx="524700" cy="306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17529" name="Shape 17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0" name="Google Shape;17530;p717"/>
          <p:cNvSpPr txBox="1"/>
          <p:nvPr>
            <p:ph type="ctrTitle"/>
          </p:nvPr>
        </p:nvSpPr>
        <p:spPr>
          <a:xfrm>
            <a:off x="3044700" y="1444255"/>
            <a:ext cx="3054600" cy="15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social psychology of social networks</a:t>
            </a:r>
            <a:endParaRPr/>
          </a:p>
        </p:txBody>
      </p:sp>
      <p:sp>
        <p:nvSpPr>
          <p:cNvPr id="17531" name="Google Shape;17531;p717"/>
          <p:cNvSpPr txBox="1"/>
          <p:nvPr>
            <p:ph idx="1" type="subTitle"/>
          </p:nvPr>
        </p:nvSpPr>
        <p:spPr>
          <a:xfrm>
            <a:off x="3044700" y="3116580"/>
            <a:ext cx="30546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35" name="Shape 17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6" name="Google Shape;17536;p71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Cognition and social networks</a:t>
            </a:r>
            <a:endParaRPr/>
          </a:p>
        </p:txBody>
      </p:sp>
      <p:sp>
        <p:nvSpPr>
          <p:cNvPr id="17537" name="Google Shape;17537;p718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Cognitive aspects of networks central to classical approaches such as </a:t>
            </a:r>
            <a:r>
              <a:rPr b="1" lang="en"/>
              <a:t>balance theory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More r</a:t>
            </a:r>
            <a:r>
              <a:rPr lang="en"/>
              <a:t>ecent work has rediscovered the cognitive psychological dimension of social networks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Main contemporary cognitive-psychological approaches: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Freeman’s theory of </a:t>
            </a:r>
            <a:r>
              <a:rPr b="1" lang="en"/>
              <a:t>schema-based network recall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Krackhardt’s theory of </a:t>
            </a:r>
            <a:r>
              <a:rPr b="1" lang="en"/>
              <a:t>Cognitive Social Structures (CSS)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Research linking </a:t>
            </a:r>
            <a:r>
              <a:rPr b="1" lang="en"/>
              <a:t>Personality</a:t>
            </a:r>
            <a:r>
              <a:rPr lang="en"/>
              <a:t> and </a:t>
            </a:r>
            <a:r>
              <a:rPr b="1" lang="en"/>
              <a:t>Social Network Outcomes</a:t>
            </a:r>
            <a:endParaRPr b="1"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41" name="Shape 17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42" name="Google Shape;17542;p71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Remembering Social Structures</a:t>
            </a:r>
            <a:endParaRPr/>
          </a:p>
        </p:txBody>
      </p:sp>
      <p:sp>
        <p:nvSpPr>
          <p:cNvPr id="17543" name="Google Shape;17543;p719"/>
          <p:cNvSpPr txBox="1"/>
          <p:nvPr>
            <p:ph idx="1" type="body"/>
          </p:nvPr>
        </p:nvSpPr>
        <p:spPr>
          <a:xfrm>
            <a:off x="311700" y="1225225"/>
            <a:ext cx="4812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kinds of networks are easy for people to remember?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store network information in a cognitive template called a </a:t>
            </a:r>
            <a:r>
              <a:rPr b="1" lang="en"/>
              <a:t>schema</a:t>
            </a:r>
            <a:endParaRPr b="1"/>
          </a:p>
          <a:p>
            <a:pPr indent="0" lvl="0" marL="4572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7544" name="Google Shape;17544;p71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61600" y="1616275"/>
            <a:ext cx="3715500" cy="25718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48" name="Shape 17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49" name="Google Shape;17549;p72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Remembering Social Structures</a:t>
            </a:r>
            <a:endParaRPr/>
          </a:p>
        </p:txBody>
      </p:sp>
      <p:sp>
        <p:nvSpPr>
          <p:cNvPr id="17550" name="Google Shape;17550;p720"/>
          <p:cNvSpPr txBox="1"/>
          <p:nvPr>
            <p:ph idx="1" type="body"/>
          </p:nvPr>
        </p:nvSpPr>
        <p:spPr>
          <a:xfrm>
            <a:off x="311700" y="1225225"/>
            <a:ext cx="4812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kinds of networks are easy for people to remember?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store network information in a cognitive template called a </a:t>
            </a:r>
            <a:r>
              <a:rPr b="1" lang="en"/>
              <a:t>schema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are schemas?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[C]ognitive structures consisting of a fuzzy set of interrelated associations that influence individuals’ perceptions of the world around them” (Brands 2013: S88)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7551" name="Google Shape;17551;p7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61600" y="1616275"/>
            <a:ext cx="3715500" cy="25718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55" name="Shape 17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56" name="Google Shape;17556;p72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Remembering Social Structures</a:t>
            </a:r>
            <a:endParaRPr/>
          </a:p>
        </p:txBody>
      </p:sp>
      <p:sp>
        <p:nvSpPr>
          <p:cNvPr id="17557" name="Google Shape;17557;p721"/>
          <p:cNvSpPr txBox="1"/>
          <p:nvPr>
            <p:ph idx="1" type="body"/>
          </p:nvPr>
        </p:nvSpPr>
        <p:spPr>
          <a:xfrm>
            <a:off x="311700" y="1225225"/>
            <a:ext cx="4812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kinds of networks are easy for people to remember?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store network information in a cognitive template called a </a:t>
            </a:r>
            <a:r>
              <a:rPr b="1" lang="en"/>
              <a:t>schema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Schemas influence memory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 </a:t>
            </a:r>
            <a:r>
              <a:rPr b="1" lang="en"/>
              <a:t>remember</a:t>
            </a:r>
            <a:r>
              <a:rPr lang="en"/>
              <a:t> information </a:t>
            </a:r>
            <a:r>
              <a:rPr b="1" lang="en"/>
              <a:t>consistent </a:t>
            </a:r>
            <a:r>
              <a:rPr lang="en"/>
              <a:t>with stored schemas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 </a:t>
            </a:r>
            <a:r>
              <a:rPr b="1" lang="en"/>
              <a:t>forget</a:t>
            </a:r>
            <a:r>
              <a:rPr lang="en"/>
              <a:t> information </a:t>
            </a:r>
            <a:r>
              <a:rPr b="1" lang="en"/>
              <a:t>inconsistent</a:t>
            </a:r>
            <a:r>
              <a:rPr lang="en"/>
              <a:t> with stored schemas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 </a:t>
            </a:r>
            <a:r>
              <a:rPr b="1" lang="en"/>
              <a:t>change</a:t>
            </a:r>
            <a:r>
              <a:rPr lang="en"/>
              <a:t> schema </a:t>
            </a:r>
            <a:r>
              <a:rPr b="1" lang="en"/>
              <a:t>inconsistent</a:t>
            </a:r>
            <a:r>
              <a:rPr lang="en"/>
              <a:t> information into schema </a:t>
            </a:r>
            <a:r>
              <a:rPr b="1" lang="en"/>
              <a:t>consistent</a:t>
            </a:r>
            <a:r>
              <a:rPr lang="en"/>
              <a:t> forms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7558" name="Google Shape;17558;p7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61600" y="1616275"/>
            <a:ext cx="3715500" cy="25718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62" name="Shape 17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63" name="Google Shape;17563;p72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Remembering Social Structures</a:t>
            </a:r>
            <a:endParaRPr/>
          </a:p>
        </p:txBody>
      </p:sp>
      <p:sp>
        <p:nvSpPr>
          <p:cNvPr id="17564" name="Google Shape;17564;p722"/>
          <p:cNvSpPr txBox="1"/>
          <p:nvPr>
            <p:ph idx="1" type="body"/>
          </p:nvPr>
        </p:nvSpPr>
        <p:spPr>
          <a:xfrm>
            <a:off x="311700" y="1225225"/>
            <a:ext cx="49500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kinds of networks are easy to remember?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</a:pPr>
            <a:r>
              <a:rPr lang="en"/>
              <a:t>Networks with </a:t>
            </a:r>
            <a:r>
              <a:rPr b="1" lang="en"/>
              <a:t>hierarchical</a:t>
            </a:r>
            <a:r>
              <a:rPr lang="en"/>
              <a:t> structure are easier to remember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Networks with </a:t>
            </a:r>
            <a:r>
              <a:rPr b="1" lang="en"/>
              <a:t>reciprocity</a:t>
            </a:r>
            <a:r>
              <a:rPr lang="en"/>
              <a:t> (if the relationship is friendship) are easier to remember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Networks with </a:t>
            </a:r>
            <a:r>
              <a:rPr b="1" lang="en"/>
              <a:t>transitivity</a:t>
            </a:r>
            <a:r>
              <a:rPr lang="en"/>
              <a:t> are easier to remember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Networks clustered into </a:t>
            </a:r>
            <a:r>
              <a:rPr b="1" lang="en"/>
              <a:t>subgroups</a:t>
            </a:r>
            <a:r>
              <a:rPr lang="en"/>
              <a:t> are easier to remember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Networks featuring </a:t>
            </a:r>
            <a:r>
              <a:rPr b="1" lang="en"/>
              <a:t>balance</a:t>
            </a:r>
            <a:r>
              <a:rPr lang="en"/>
              <a:t> are easier to remember</a:t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7565" name="Google Shape;17565;p7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61600" y="1616275"/>
            <a:ext cx="3715500" cy="25718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566" name="Google Shape;17566;p7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213993" y="1757150"/>
            <a:ext cx="731518" cy="731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70" name="Shape 17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71" name="Google Shape;17571;p72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Schema-based network recall</a:t>
            </a:r>
            <a:endParaRPr/>
          </a:p>
        </p:txBody>
      </p:sp>
      <p:sp>
        <p:nvSpPr>
          <p:cNvPr id="17572" name="Google Shape;17572;p723"/>
          <p:cNvSpPr txBox="1"/>
          <p:nvPr>
            <p:ph idx="1" type="body"/>
          </p:nvPr>
        </p:nvSpPr>
        <p:spPr>
          <a:xfrm>
            <a:off x="311700" y="1225225"/>
            <a:ext cx="4557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The balance schema: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Friends of friends are friends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Friends of enemies are enemies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find it easier to remember social structures respecting the balance schema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recall signed networks as obeying the balance schema even if the original network violates the rules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They impose “balance” to valenced social structures in their heads</a:t>
            </a:r>
            <a:endParaRPr/>
          </a:p>
        </p:txBody>
      </p:sp>
      <p:pic>
        <p:nvPicPr>
          <p:cNvPr id="17573" name="Google Shape;17573;p7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61600" y="1616275"/>
            <a:ext cx="3715500" cy="25718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574" name="Google Shape;17574;p7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213993" y="1757150"/>
            <a:ext cx="731518" cy="731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78" name="Shape 17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79" name="Google Shape;17579;p72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Schema-based network recall</a:t>
            </a:r>
            <a:endParaRPr/>
          </a:p>
        </p:txBody>
      </p:sp>
      <p:sp>
        <p:nvSpPr>
          <p:cNvPr id="17580" name="Google Shape;17580;p724"/>
          <p:cNvSpPr txBox="1"/>
          <p:nvPr>
            <p:ph idx="1" type="body"/>
          </p:nvPr>
        </p:nvSpPr>
        <p:spPr>
          <a:xfrm>
            <a:off x="311700" y="1225225"/>
            <a:ext cx="498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transitivity schema: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 has a tie with b and a has a tie with c, b should have a tie with c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find it easier to remember social structures respecting the transitivity shema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Especially if these are hierarchical or dominance structures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recall networks as obeying the transitivity schema even if the original network violates the rules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(e.g., has a lot of “open” triads)</a:t>
            </a:r>
            <a:endParaRPr/>
          </a:p>
          <a:p>
            <a:pPr indent="0" lvl="0" marL="13716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7581" name="Google Shape;17581;p72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61600" y="1616275"/>
            <a:ext cx="3715500" cy="25718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582" name="Google Shape;17582;p72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213993" y="1757150"/>
            <a:ext cx="731518" cy="731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86" name="Shape 17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7" name="Google Shape;17587;p72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Schema-based network recall</a:t>
            </a:r>
            <a:endParaRPr/>
          </a:p>
        </p:txBody>
      </p:sp>
      <p:sp>
        <p:nvSpPr>
          <p:cNvPr id="17588" name="Google Shape;17588;p725"/>
          <p:cNvSpPr txBox="1"/>
          <p:nvPr>
            <p:ph idx="1" type="body"/>
          </p:nvPr>
        </p:nvSpPr>
        <p:spPr>
          <a:xfrm>
            <a:off x="311700" y="1225225"/>
            <a:ext cx="4984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 reciprocity schema: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If a likes b then b should like a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find it easier to remember social structures respecting the reciprocity shema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Especially if the network is a friendship or positive sentiments network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schema for friendship and liking is “reciprocal”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recall networks as obeying the reciprocity schema even if the original network violates the rules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(e.g., has a lot of non-reciprocal dyads)</a:t>
            </a:r>
            <a:endParaRPr/>
          </a:p>
          <a:p>
            <a:pPr indent="0" lvl="0" marL="13716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7589" name="Google Shape;17589;p7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61600" y="1616275"/>
            <a:ext cx="3715500" cy="25718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590" name="Google Shape;17590;p7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213993" y="1757150"/>
            <a:ext cx="731518" cy="731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7594" name="Shape 17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95" name="Google Shape;17595;p72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Schema-based network recall</a:t>
            </a:r>
            <a:endParaRPr/>
          </a:p>
        </p:txBody>
      </p:sp>
      <p:sp>
        <p:nvSpPr>
          <p:cNvPr id="17596" name="Google Shape;17596;p726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Bernard, Kilworth and Sailer showed that people have poor memories of who talks with who in social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are bad at recalling specific interactions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are good at recalling broad communication patterns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Who interacts frequently with whom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Who is somebody’s top contact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Freeman proposed a theory of schema-based network recall to explain this discrepancy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People tend to commit to memory not specific interactions but the </a:t>
            </a:r>
            <a:r>
              <a:rPr b="1" lang="en"/>
              <a:t>broad previous history of interaction</a:t>
            </a:r>
            <a:r>
              <a:rPr lang="en"/>
              <a:t> between themselves and others and between alters</a:t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b="1"/>
          </a:p>
        </p:txBody>
      </p:sp>
    </p:spTree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00" name="Shape 17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01" name="Google Shape;17601;p72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sp>
        <p:nvSpPr>
          <p:cNvPr id="17602" name="Google Shape;17602;p727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What are cognitive social structures?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It is the network of connections between people (including yourself but also between others) as each person </a:t>
            </a:r>
            <a:r>
              <a:rPr b="1" lang="en"/>
              <a:t>perceives</a:t>
            </a:r>
            <a:r>
              <a:rPr lang="en"/>
              <a:t> it to be rather than as it “</a:t>
            </a:r>
            <a:r>
              <a:rPr b="1" lang="en"/>
              <a:t>really</a:t>
            </a:r>
            <a:r>
              <a:rPr lang="en"/>
              <a:t>” is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We go from asking: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i="1" lang="en">
                <a:solidFill>
                  <a:srgbClr val="FF0000"/>
                </a:solidFill>
              </a:rPr>
              <a:t>Is person i connected to person j?</a:t>
            </a:r>
            <a:endParaRPr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 asking: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■"/>
            </a:pPr>
            <a:r>
              <a:rPr i="1" lang="en">
                <a:solidFill>
                  <a:srgbClr val="FF0000"/>
                </a:solidFill>
              </a:rPr>
              <a:t>Does person k think that person i is connected to person j?</a:t>
            </a:r>
            <a:endParaRPr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This means that in a network of size N: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lang="en">
                <a:solidFill>
                  <a:srgbClr val="000000"/>
                </a:solidFill>
              </a:rPr>
              <a:t>Each relationship in the network exists N times as recorded inside the head of each the people in the network!</a:t>
            </a:r>
            <a:endParaRPr>
              <a:solidFill>
                <a:srgbClr val="00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</a:pPr>
            <a:r>
              <a:rPr lang="en">
                <a:solidFill>
                  <a:srgbClr val="000000"/>
                </a:solidFill>
              </a:rPr>
              <a:t>We go from a dyadic conception of relations (</a:t>
            </a:r>
            <a:r>
              <a:rPr b="1" lang="en">
                <a:solidFill>
                  <a:srgbClr val="000000"/>
                </a:solidFill>
              </a:rPr>
              <a:t>R</a:t>
            </a:r>
            <a:r>
              <a:rPr b="1" baseline="-25000" lang="en">
                <a:solidFill>
                  <a:srgbClr val="000000"/>
                </a:solidFill>
              </a:rPr>
              <a:t>ij</a:t>
            </a:r>
            <a:r>
              <a:rPr lang="en">
                <a:solidFill>
                  <a:srgbClr val="000000"/>
                </a:solidFill>
              </a:rPr>
              <a:t>) to a triadic one:</a:t>
            </a:r>
            <a:endParaRPr>
              <a:solidFill>
                <a:srgbClr val="000000"/>
              </a:solidFill>
            </a:endParaRPr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</a:pPr>
            <a:r>
              <a:rPr b="1" lang="en">
                <a:solidFill>
                  <a:srgbClr val="000000"/>
                </a:solidFill>
              </a:rPr>
              <a:t>R</a:t>
            </a:r>
            <a:r>
              <a:rPr b="1" baseline="-25000" lang="en">
                <a:solidFill>
                  <a:srgbClr val="000000"/>
                </a:solidFill>
              </a:rPr>
              <a:t>ijk</a:t>
            </a:r>
            <a:r>
              <a:rPr lang="en">
                <a:solidFill>
                  <a:srgbClr val="000000"/>
                </a:solidFill>
              </a:rPr>
              <a:t> (person is connected to person j according to person k)</a:t>
            </a:r>
            <a:endParaRPr>
              <a:solidFill>
                <a:srgbClr val="000000"/>
              </a:solidFill>
            </a:endParaRPr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06" name="Shape 17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07" name="Google Shape;17607;p72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 (CSS)</a:t>
            </a:r>
            <a:endParaRPr/>
          </a:p>
        </p:txBody>
      </p:sp>
      <p:sp>
        <p:nvSpPr>
          <p:cNvPr id="17608" name="Google Shape;17608;p728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CSS provides new ways of measuring social ties between two people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Makes the standard approach (e.g., mutual nomination) a special case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CSS modifies standard theories of networks as social capital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Adds a perceptual component: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Connections can help but only if you see them!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CSS focuses on three main questions: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Is there a link between people’s network position (e.g., centrality) and the way the perceive the network?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Is there a link between how people perceive the network they are in and how successful they are?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Are there patterned similarities and differences between the way different people perceive the network?</a:t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12" name="Shape 17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" name="Google Shape;17613;p72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 (CSS)</a:t>
            </a:r>
            <a:endParaRPr/>
          </a:p>
        </p:txBody>
      </p:sp>
      <p:sp>
        <p:nvSpPr>
          <p:cNvPr id="17614" name="Google Shape;17614;p729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The CSS Roster Method</a:t>
            </a:r>
            <a:endParaRPr/>
          </a:p>
          <a:p>
            <a:pPr indent="-3429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○"/>
            </a:pPr>
            <a:r>
              <a:rPr lang="en"/>
              <a:t>Each person (i) is asked not just about their relations to other persons (j)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But also about their </a:t>
            </a:r>
            <a:r>
              <a:rPr b="1" lang="en"/>
              <a:t>perception</a:t>
            </a:r>
            <a:r>
              <a:rPr lang="en"/>
              <a:t> of the existence of relations between each other pair of people in the system: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tie between j and k as perceived by i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R</a:t>
            </a:r>
            <a:r>
              <a:rPr b="1" baseline="-25000" lang="en"/>
              <a:t>ijk</a:t>
            </a:r>
            <a:r>
              <a:rPr b="1" lang="en"/>
              <a:t> </a:t>
            </a:r>
            <a:r>
              <a:rPr lang="en"/>
              <a:t>= 1 if person i thinks that there is a link of type </a:t>
            </a:r>
            <a:r>
              <a:rPr b="1" lang="en"/>
              <a:t>R </a:t>
            </a:r>
            <a:r>
              <a:rPr lang="en"/>
              <a:t>between j and k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R</a:t>
            </a:r>
            <a:r>
              <a:rPr b="1" baseline="-25000" lang="en"/>
              <a:t>ijk</a:t>
            </a:r>
            <a:r>
              <a:rPr b="1" lang="en"/>
              <a:t> </a:t>
            </a:r>
            <a:r>
              <a:rPr lang="en"/>
              <a:t>= 0 otherwise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This yields </a:t>
            </a:r>
            <a:r>
              <a:rPr b="1" lang="en"/>
              <a:t>N</a:t>
            </a:r>
            <a:r>
              <a:rPr lang="en"/>
              <a:t> x </a:t>
            </a:r>
            <a:r>
              <a:rPr b="1" lang="en"/>
              <a:t>R</a:t>
            </a:r>
            <a:r>
              <a:rPr lang="en"/>
              <a:t> adjacency matrices of perceived relations between all people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One for each informant and each type of relation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 if we are studying 20 people and ask them about two relations (e.g., friendship, advice) we end up with: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20 X 2 = 40 adjacency matrices!</a:t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18" name="Shape 17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9" name="Google Shape;17619;p73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pic>
        <p:nvPicPr>
          <p:cNvPr id="17620" name="Google Shape;17620;p7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35300" y="652125"/>
            <a:ext cx="3657600" cy="41623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621" name="Google Shape;17621;p730"/>
          <p:cNvGrpSpPr/>
          <p:nvPr/>
        </p:nvGrpSpPr>
        <p:grpSpPr>
          <a:xfrm>
            <a:off x="311700" y="1352175"/>
            <a:ext cx="4067400" cy="3281570"/>
            <a:chOff x="311700" y="1352175"/>
            <a:chExt cx="4067400" cy="3281570"/>
          </a:xfrm>
        </p:grpSpPr>
        <p:pic>
          <p:nvPicPr>
            <p:cNvPr id="17622" name="Google Shape;17622;p730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11700" y="1352175"/>
              <a:ext cx="4067400" cy="32815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623" name="Google Shape;17623;p730"/>
            <p:cNvSpPr txBox="1"/>
            <p:nvPr/>
          </p:nvSpPr>
          <p:spPr>
            <a:xfrm>
              <a:off x="432750" y="1511875"/>
              <a:ext cx="389700" cy="358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27" name="Shape 17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28" name="Google Shape;17628;p73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grpSp>
        <p:nvGrpSpPr>
          <p:cNvPr id="17629" name="Google Shape;17629;p731"/>
          <p:cNvGrpSpPr/>
          <p:nvPr/>
        </p:nvGrpSpPr>
        <p:grpSpPr>
          <a:xfrm>
            <a:off x="311700" y="1352175"/>
            <a:ext cx="4067400" cy="3281570"/>
            <a:chOff x="311700" y="1352175"/>
            <a:chExt cx="4067400" cy="3281570"/>
          </a:xfrm>
        </p:grpSpPr>
        <p:pic>
          <p:nvPicPr>
            <p:cNvPr id="17630" name="Google Shape;17630;p73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0" y="1352175"/>
              <a:ext cx="4067400" cy="32815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631" name="Google Shape;17631;p731"/>
            <p:cNvSpPr txBox="1"/>
            <p:nvPr/>
          </p:nvSpPr>
          <p:spPr>
            <a:xfrm>
              <a:off x="432750" y="1511875"/>
              <a:ext cx="389700" cy="358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grpSp>
        <p:nvGrpSpPr>
          <p:cNvPr id="17632" name="Google Shape;17632;p731"/>
          <p:cNvGrpSpPr/>
          <p:nvPr/>
        </p:nvGrpSpPr>
        <p:grpSpPr>
          <a:xfrm>
            <a:off x="5032650" y="1281200"/>
            <a:ext cx="3657600" cy="3423514"/>
            <a:chOff x="5032650" y="1281200"/>
            <a:chExt cx="3657600" cy="3423514"/>
          </a:xfrm>
        </p:grpSpPr>
        <p:pic>
          <p:nvPicPr>
            <p:cNvPr id="17633" name="Google Shape;17633;p731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5032650" y="1281200"/>
              <a:ext cx="3657600" cy="342351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634" name="Google Shape;17634;p731"/>
            <p:cNvSpPr txBox="1"/>
            <p:nvPr/>
          </p:nvSpPr>
          <p:spPr>
            <a:xfrm>
              <a:off x="5032650" y="1342997"/>
              <a:ext cx="389100" cy="357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38" name="Shape 17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39" name="Google Shape;17639;p73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 (CSS)</a:t>
            </a:r>
            <a:endParaRPr/>
          </a:p>
        </p:txBody>
      </p:sp>
      <p:sp>
        <p:nvSpPr>
          <p:cNvPr id="17640" name="Google Shape;17640;p732"/>
          <p:cNvSpPr txBox="1"/>
          <p:nvPr>
            <p:ph idx="1" type="body"/>
          </p:nvPr>
        </p:nvSpPr>
        <p:spPr>
          <a:xfrm>
            <a:off x="4572000" y="1225225"/>
            <a:ext cx="426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Three ways of using the information contained in these matrices: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Slices</a:t>
            </a:r>
            <a:endParaRPr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Locally aggregated structures </a:t>
            </a:r>
            <a:endParaRPr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Consensus structures</a:t>
            </a:r>
            <a:endParaRPr i="1">
              <a:solidFill>
                <a:srgbClr val="FF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Slices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network as perceived by a given individual (k)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The k</a:t>
            </a:r>
            <a:r>
              <a:rPr baseline="30000" lang="en"/>
              <a:t>th</a:t>
            </a:r>
            <a:r>
              <a:rPr lang="en"/>
              <a:t> adjacency matrix</a:t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7641" name="Google Shape;17641;p732"/>
          <p:cNvGrpSpPr/>
          <p:nvPr/>
        </p:nvGrpSpPr>
        <p:grpSpPr>
          <a:xfrm>
            <a:off x="311700" y="1352175"/>
            <a:ext cx="4067400" cy="3281570"/>
            <a:chOff x="311700" y="1352175"/>
            <a:chExt cx="4067400" cy="3281570"/>
          </a:xfrm>
        </p:grpSpPr>
        <p:pic>
          <p:nvPicPr>
            <p:cNvPr id="17642" name="Google Shape;17642;p73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0" y="1352175"/>
              <a:ext cx="4067400" cy="32815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643" name="Google Shape;17643;p732"/>
            <p:cNvSpPr txBox="1"/>
            <p:nvPr/>
          </p:nvSpPr>
          <p:spPr>
            <a:xfrm>
              <a:off x="432750" y="1511875"/>
              <a:ext cx="389700" cy="358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47" name="Shape 17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48" name="Google Shape;17648;p73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 (CSS)</a:t>
            </a:r>
            <a:endParaRPr/>
          </a:p>
        </p:txBody>
      </p:sp>
      <p:sp>
        <p:nvSpPr>
          <p:cNvPr id="17649" name="Google Shape;17649;p733"/>
          <p:cNvSpPr txBox="1"/>
          <p:nvPr>
            <p:ph idx="1" type="body"/>
          </p:nvPr>
        </p:nvSpPr>
        <p:spPr>
          <a:xfrm>
            <a:off x="4572000" y="1225225"/>
            <a:ext cx="426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Three ways of using the information contained in these matrices: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Slices</a:t>
            </a:r>
            <a:endParaRPr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Locally aggregated structures </a:t>
            </a:r>
            <a:endParaRPr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Consensus structures</a:t>
            </a:r>
            <a:endParaRPr i="1">
              <a:solidFill>
                <a:srgbClr val="FF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/>
              <a:t>L</a:t>
            </a:r>
            <a:r>
              <a:rPr lang="en"/>
              <a:t>ocally </a:t>
            </a:r>
            <a:r>
              <a:rPr b="1" lang="en"/>
              <a:t>A</a:t>
            </a:r>
            <a:r>
              <a:rPr lang="en"/>
              <a:t>ggregated </a:t>
            </a:r>
            <a:r>
              <a:rPr b="1" lang="en"/>
              <a:t>S</a:t>
            </a:r>
            <a:r>
              <a:rPr lang="en"/>
              <a:t>tructure: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 and j have a tie only if the </a:t>
            </a:r>
            <a:r>
              <a:rPr b="1" lang="en"/>
              <a:t>both agree</a:t>
            </a:r>
            <a:r>
              <a:rPr lang="en"/>
              <a:t> that there is a tie from i to j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 tie exists only if both parties agree it does!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7650" name="Google Shape;17650;p733"/>
          <p:cNvGrpSpPr/>
          <p:nvPr/>
        </p:nvGrpSpPr>
        <p:grpSpPr>
          <a:xfrm>
            <a:off x="311700" y="1352175"/>
            <a:ext cx="4067400" cy="3281570"/>
            <a:chOff x="311700" y="1352175"/>
            <a:chExt cx="4067400" cy="3281570"/>
          </a:xfrm>
        </p:grpSpPr>
        <p:pic>
          <p:nvPicPr>
            <p:cNvPr id="17651" name="Google Shape;17651;p73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0" y="1352175"/>
              <a:ext cx="4067400" cy="32815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652" name="Google Shape;17652;p733"/>
            <p:cNvSpPr txBox="1"/>
            <p:nvPr/>
          </p:nvSpPr>
          <p:spPr>
            <a:xfrm>
              <a:off x="432750" y="1511875"/>
              <a:ext cx="389700" cy="358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56" name="Shape 17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57" name="Google Shape;17657;p73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 (CSS)</a:t>
            </a:r>
            <a:endParaRPr/>
          </a:p>
        </p:txBody>
      </p:sp>
      <p:sp>
        <p:nvSpPr>
          <p:cNvPr id="17658" name="Google Shape;17658;p734"/>
          <p:cNvSpPr txBox="1"/>
          <p:nvPr>
            <p:ph idx="1" type="body"/>
          </p:nvPr>
        </p:nvSpPr>
        <p:spPr>
          <a:xfrm>
            <a:off x="4572000" y="1225225"/>
            <a:ext cx="426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Three ways of using the information contained in these matrices: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Slices</a:t>
            </a:r>
            <a:endParaRPr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Locally aggregated structures </a:t>
            </a:r>
            <a:endParaRPr i="1">
              <a:solidFill>
                <a:srgbClr val="FF0000"/>
              </a:solidFill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Consensus structures</a:t>
            </a:r>
            <a:endParaRPr i="1">
              <a:solidFill>
                <a:srgbClr val="FF0000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Consensus Structure: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 and j have a tie only if </a:t>
            </a:r>
            <a:r>
              <a:rPr b="1" lang="en"/>
              <a:t>some proportion </a:t>
            </a:r>
            <a:r>
              <a:rPr lang="en"/>
              <a:t>of people (e.g., &gt; 50%) agree that there is a tie from i to j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 tie exists if the majority agrees it does!</a:t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7659" name="Google Shape;17659;p734"/>
          <p:cNvGrpSpPr/>
          <p:nvPr/>
        </p:nvGrpSpPr>
        <p:grpSpPr>
          <a:xfrm>
            <a:off x="311700" y="1352175"/>
            <a:ext cx="4067400" cy="3281570"/>
            <a:chOff x="311700" y="1352175"/>
            <a:chExt cx="4067400" cy="3281570"/>
          </a:xfrm>
        </p:grpSpPr>
        <p:pic>
          <p:nvPicPr>
            <p:cNvPr id="17660" name="Google Shape;17660;p73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0" y="1352175"/>
              <a:ext cx="4067400" cy="32815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661" name="Google Shape;17661;p734"/>
            <p:cNvSpPr txBox="1"/>
            <p:nvPr/>
          </p:nvSpPr>
          <p:spPr>
            <a:xfrm>
              <a:off x="432750" y="1511875"/>
              <a:ext cx="389700" cy="358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65" name="Shape 17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66" name="Google Shape;17666;p73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 (CSS)</a:t>
            </a:r>
            <a:endParaRPr/>
          </a:p>
        </p:txBody>
      </p:sp>
      <p:sp>
        <p:nvSpPr>
          <p:cNvPr id="17667" name="Google Shape;17667;p735"/>
          <p:cNvSpPr txBox="1"/>
          <p:nvPr>
            <p:ph idx="1" type="body"/>
          </p:nvPr>
        </p:nvSpPr>
        <p:spPr>
          <a:xfrm>
            <a:off x="4572000" y="1225225"/>
            <a:ext cx="426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Cognitive Accuracy: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Correlation</a:t>
            </a:r>
            <a:r>
              <a:rPr lang="en"/>
              <a:t> between the network as perceived by k and either a locally aggregated or a consensus structure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+1 = Person has perfect representation of the network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-1 = Person’s representation is the opposite of reality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0 = No correlation between person perception and the network</a:t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7668" name="Google Shape;17668;p735"/>
          <p:cNvGrpSpPr/>
          <p:nvPr/>
        </p:nvGrpSpPr>
        <p:grpSpPr>
          <a:xfrm>
            <a:off x="311700" y="1352175"/>
            <a:ext cx="4067400" cy="3281570"/>
            <a:chOff x="311700" y="1352175"/>
            <a:chExt cx="4067400" cy="3281570"/>
          </a:xfrm>
        </p:grpSpPr>
        <p:pic>
          <p:nvPicPr>
            <p:cNvPr id="17669" name="Google Shape;17669;p73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0" y="1352175"/>
              <a:ext cx="4067400" cy="32815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670" name="Google Shape;17670;p735"/>
            <p:cNvSpPr txBox="1"/>
            <p:nvPr/>
          </p:nvSpPr>
          <p:spPr>
            <a:xfrm>
              <a:off x="432750" y="1511875"/>
              <a:ext cx="389700" cy="358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74" name="Shape 17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75" name="Google Shape;17675;p73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 (CSS)</a:t>
            </a:r>
            <a:endParaRPr/>
          </a:p>
        </p:txBody>
      </p:sp>
      <p:sp>
        <p:nvSpPr>
          <p:cNvPr id="17676" name="Google Shape;17676;p736"/>
          <p:cNvSpPr txBox="1"/>
          <p:nvPr>
            <p:ph idx="1" type="body"/>
          </p:nvPr>
        </p:nvSpPr>
        <p:spPr>
          <a:xfrm>
            <a:off x="4572000" y="1225225"/>
            <a:ext cx="42603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 </a:t>
            </a:r>
            <a:r>
              <a:rPr lang="en"/>
              <a:t>Dyadic Cognitive Accuracy: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Correlation between the network as perceived by k and the part of either a locally aggregated or a consensus structure featuring ties involving a particular node (i)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Tells us how good you are at perceiving ties originating from a given person</a:t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7677" name="Google Shape;17677;p736"/>
          <p:cNvGrpSpPr/>
          <p:nvPr/>
        </p:nvGrpSpPr>
        <p:grpSpPr>
          <a:xfrm>
            <a:off x="311700" y="1352175"/>
            <a:ext cx="4067400" cy="3281570"/>
            <a:chOff x="311700" y="1352175"/>
            <a:chExt cx="4067400" cy="3281570"/>
          </a:xfrm>
        </p:grpSpPr>
        <p:pic>
          <p:nvPicPr>
            <p:cNvPr id="17678" name="Google Shape;17678;p73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11700" y="1352175"/>
              <a:ext cx="4067400" cy="32815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679" name="Google Shape;17679;p736"/>
            <p:cNvSpPr txBox="1"/>
            <p:nvPr/>
          </p:nvSpPr>
          <p:spPr>
            <a:xfrm>
              <a:off x="432750" y="1511875"/>
              <a:ext cx="389700" cy="358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83" name="Shape 17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84" name="Google Shape;17684;p73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sp>
        <p:nvSpPr>
          <p:cNvPr id="17685" name="Google Shape;17685;p737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Who has the most “veridical” view of the social network?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Key questions: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Are people in</a:t>
            </a:r>
            <a:r>
              <a:rPr b="1" lang="en"/>
              <a:t> powerful positions</a:t>
            </a:r>
            <a:r>
              <a:rPr lang="en"/>
              <a:t> more or less likely to have accurate representations of the social structure?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Are people in certain </a:t>
            </a:r>
            <a:r>
              <a:rPr b="1" lang="en"/>
              <a:t>network positions </a:t>
            </a:r>
            <a:r>
              <a:rPr lang="en"/>
              <a:t>(e.g., central) more likely to have accurate representations of the social structure?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Does this depend on the type of network?</a:t>
            </a:r>
            <a:endParaRPr/>
          </a:p>
          <a:p>
            <a:pPr indent="-317500" lvl="4" marL="22860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E.g., friendship, advice, etc. 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Are people with certain </a:t>
            </a:r>
            <a:r>
              <a:rPr b="1" lang="en"/>
              <a:t>personality characteristics </a:t>
            </a:r>
            <a:r>
              <a:rPr lang="en"/>
              <a:t>more likely to have an accurate representation of the social structure?</a:t>
            </a:r>
            <a:endParaRPr/>
          </a:p>
          <a:p>
            <a:pPr indent="0" lvl="0" marL="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i="1"/>
          </a:p>
        </p:txBody>
      </p:sp>
    </p:spTree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89" name="Shape 17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90" name="Google Shape;17690;p73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sp>
        <p:nvSpPr>
          <p:cNvPr id="17691" name="Google Shape;17691;p738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Are people in</a:t>
            </a:r>
            <a:r>
              <a:rPr b="1" lang="en"/>
              <a:t> powerful positions</a:t>
            </a:r>
            <a:r>
              <a:rPr lang="en"/>
              <a:t> more or less likely to have accurate representations of the social structure?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Surprisingly, no!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Organizational rank and formal position in organizations tends to have either no correlation or even be negatively correlated with accuracy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Why do you think this is?</a:t>
            </a:r>
            <a:endParaRPr/>
          </a:p>
        </p:txBody>
      </p:sp>
    </p:spTree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95" name="Shape 17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96" name="Google Shape;17696;p73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sp>
        <p:nvSpPr>
          <p:cNvPr id="17697" name="Google Shape;17697;p739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Are people in</a:t>
            </a:r>
            <a:r>
              <a:rPr b="1" lang="en"/>
              <a:t> powerful positions</a:t>
            </a:r>
            <a:r>
              <a:rPr lang="en"/>
              <a:t> more or less likely to have accurate representations of the social structure?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Surprisingly, no!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Organizational rank and formal position in organizations tends to have either no correlation or even be negatively correlated with accuracy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Why do you think this is?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Those in formal power are removed from the everyday informal interactions of others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However, when managers do have accurate representations of the social networks of their subordinates they are rated as better and more effective</a:t>
            </a:r>
            <a:endParaRPr i="1"/>
          </a:p>
        </p:txBody>
      </p:sp>
    </p:spTree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01" name="Shape 17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2" name="Google Shape;17702;p74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sp>
        <p:nvSpPr>
          <p:cNvPr id="17703" name="Google Shape;17703;p740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Are people in certain </a:t>
            </a:r>
            <a:r>
              <a:rPr b="1" lang="en"/>
              <a:t>network positions</a:t>
            </a:r>
            <a:r>
              <a:rPr lang="en"/>
              <a:t> (e.g., central) more likely to have accurate representations of the social structure?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general, yes!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Centrality,</a:t>
            </a:r>
            <a:r>
              <a:rPr b="1" lang="en"/>
              <a:t> in particular in-degree centrality,</a:t>
            </a:r>
            <a:r>
              <a:rPr lang="en"/>
              <a:t> has been shown to be positively correlated with accuracy in the informal advice and friendship networks in organizations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Predictors of dyadic accuracy: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Central people are more accurate at reporting ties originating from other central people!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You are more accurate in reporting ties originating from people you are “close to” (in the graph theoretic sense)</a:t>
            </a:r>
            <a:endParaRPr/>
          </a:p>
        </p:txBody>
      </p:sp>
    </p:spTree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07" name="Shape 17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8" name="Google Shape;17708;p74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sp>
        <p:nvSpPr>
          <p:cNvPr id="17709" name="Google Shape;17709;p741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Are people in certain </a:t>
            </a:r>
            <a:r>
              <a:rPr b="1" lang="en"/>
              <a:t>network positions</a:t>
            </a:r>
            <a:r>
              <a:rPr lang="en"/>
              <a:t> (e.g., central) more likely to have accurate representations of the social structure?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In general, yes!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Centrality,</a:t>
            </a:r>
            <a:r>
              <a:rPr b="1" lang="en"/>
              <a:t> in particular in-degree centrality,</a:t>
            </a:r>
            <a:r>
              <a:rPr lang="en"/>
              <a:t> has been shown to be positively correlated with accuracy in the informal advice and friendship networks in organizations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Consequences of accuracy: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The accuracy principle: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i="1" lang="en"/>
              <a:t>People who have more accurate network perceptions are perceived as more powerful and influential than people who have inaccurate perceptions</a:t>
            </a:r>
            <a:endParaRPr/>
          </a:p>
        </p:txBody>
      </p:sp>
    </p:spTree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13" name="Shape 17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4" name="Google Shape;17714;p74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Cognitive Social Structures</a:t>
            </a:r>
            <a:endParaRPr/>
          </a:p>
        </p:txBody>
      </p:sp>
      <p:sp>
        <p:nvSpPr>
          <p:cNvPr id="17715" name="Google Shape;17715;p742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Who has the most “veridical” view of the social network?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Sources of accuracy: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The centrality principle: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More central people have a more accurate view of the social structure in terms of reporting “correctly” who is tied to whom</a:t>
            </a:r>
            <a:endParaRPr i="1"/>
          </a:p>
          <a:p>
            <a:pPr indent="-317500" lvl="4" marL="22860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Correct = agrees with the respective alters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The clique principle:</a:t>
            </a:r>
            <a:r>
              <a:rPr lang="en"/>
              <a:t> 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People who are members of well connected cliques are more likely to have accurate perceptions of the social network than isolated or peripheral people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The role principle: 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People with similar positions in the social network (e.g., structurally equivalent) will have similar perceptions of the overall network structure</a:t>
            </a:r>
            <a:endParaRPr i="1"/>
          </a:p>
          <a:p>
            <a:pPr indent="0" lvl="0" marL="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i="1"/>
          </a:p>
        </p:txBody>
      </p:sp>
    </p:spTree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19" name="Shape 17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20" name="Google Shape;17720;p74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721" name="Google Shape;17721;p743"/>
          <p:cNvSpPr txBox="1"/>
          <p:nvPr>
            <p:ph idx="1" type="body"/>
          </p:nvPr>
        </p:nvSpPr>
        <p:spPr>
          <a:xfrm>
            <a:off x="311700" y="1225225"/>
            <a:ext cx="508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Big five (aka five factor model)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well-established personality inventory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Extraversion</a:t>
            </a:r>
            <a:r>
              <a:rPr lang="en"/>
              <a:t>/</a:t>
            </a:r>
            <a:r>
              <a:rPr i="1" lang="en"/>
              <a:t>Introversion</a:t>
            </a:r>
            <a:endParaRPr i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Gets a high from interaction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Openness</a:t>
            </a:r>
            <a:r>
              <a:rPr lang="en"/>
              <a:t>/</a:t>
            </a:r>
            <a:r>
              <a:rPr i="1" lang="en"/>
              <a:t>Cautiousness</a:t>
            </a:r>
            <a:endParaRPr i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Like experiencing new things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Neuroticism</a:t>
            </a:r>
            <a:r>
              <a:rPr lang="en"/>
              <a:t>/</a:t>
            </a:r>
            <a:r>
              <a:rPr i="1" lang="en"/>
              <a:t>Stability</a:t>
            </a:r>
            <a:endParaRPr i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Experiences negative emotions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Agreeableness</a:t>
            </a:r>
            <a:r>
              <a:rPr lang="en"/>
              <a:t>/</a:t>
            </a:r>
            <a:r>
              <a:rPr i="1" lang="en"/>
              <a:t>Detachment</a:t>
            </a:r>
            <a:endParaRPr i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Niceness, resolves conflicts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Conscientiousness</a:t>
            </a:r>
            <a:r>
              <a:rPr lang="en"/>
              <a:t>/</a:t>
            </a:r>
            <a:r>
              <a:rPr i="1" lang="en"/>
              <a:t>Carefreeness</a:t>
            </a:r>
            <a:endParaRPr i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Organization, reliability</a:t>
            </a:r>
            <a:endParaRPr/>
          </a:p>
        </p:txBody>
      </p:sp>
      <p:pic>
        <p:nvPicPr>
          <p:cNvPr id="17722" name="Google Shape;17722;p7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01300" y="1225225"/>
            <a:ext cx="3572397" cy="369147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26" name="Shape 17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27" name="Google Shape;17727;p744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728" name="Google Shape;17728;p744"/>
          <p:cNvSpPr txBox="1"/>
          <p:nvPr>
            <p:ph idx="1" type="body"/>
          </p:nvPr>
        </p:nvSpPr>
        <p:spPr>
          <a:xfrm>
            <a:off x="311700" y="1225225"/>
            <a:ext cx="508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Big five (aka five factor model)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well-established personality inventory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Extraversion</a:t>
            </a:r>
            <a:r>
              <a:rPr lang="en"/>
              <a:t>/</a:t>
            </a:r>
            <a:r>
              <a:rPr lang="en"/>
              <a:t>Introversion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Gets a high from interaction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Openness</a:t>
            </a:r>
            <a:r>
              <a:rPr lang="en"/>
              <a:t>/</a:t>
            </a:r>
            <a:r>
              <a:rPr lang="en"/>
              <a:t>Cautiousness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Likes experiencing new things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Neuroticism</a:t>
            </a:r>
            <a:r>
              <a:rPr lang="en"/>
              <a:t>/</a:t>
            </a:r>
            <a:r>
              <a:rPr lang="en"/>
              <a:t>Stability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Experiences negative emotions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Agreeableness</a:t>
            </a:r>
            <a:r>
              <a:rPr lang="en"/>
              <a:t>/</a:t>
            </a:r>
            <a:r>
              <a:rPr lang="en"/>
              <a:t>Detachment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Niceness, resolves conflicts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b="1" lang="en"/>
              <a:t>Conscientiousness</a:t>
            </a:r>
            <a:r>
              <a:rPr lang="en"/>
              <a:t>/</a:t>
            </a:r>
            <a:r>
              <a:rPr lang="en"/>
              <a:t>Carefreeness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Organization, reliability</a:t>
            </a:r>
            <a:endParaRPr/>
          </a:p>
        </p:txBody>
      </p:sp>
      <p:pic>
        <p:nvPicPr>
          <p:cNvPr id="17729" name="Google Shape;17729;p7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01300" y="1225225"/>
            <a:ext cx="3572397" cy="3691477"/>
          </a:xfrm>
          <a:prstGeom prst="rect">
            <a:avLst/>
          </a:prstGeom>
          <a:noFill/>
          <a:ln>
            <a:noFill/>
          </a:ln>
        </p:spPr>
      </p:pic>
      <p:sp>
        <p:nvSpPr>
          <p:cNvPr id="17730" name="Google Shape;17730;p744"/>
          <p:cNvSpPr txBox="1"/>
          <p:nvPr/>
        </p:nvSpPr>
        <p:spPr>
          <a:xfrm>
            <a:off x="214550" y="4473275"/>
            <a:ext cx="42084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Factors are bipolar (both ends are actual traits) not unidimensional!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31" name="Google Shape;17731;p744"/>
          <p:cNvSpPr txBox="1"/>
          <p:nvPr/>
        </p:nvSpPr>
        <p:spPr>
          <a:xfrm>
            <a:off x="6199300" y="167975"/>
            <a:ext cx="27744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Neither end is necessarily “good” or “bad”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35" name="Shape 17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36" name="Google Shape;17736;p74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737" name="Google Shape;17737;p745"/>
          <p:cNvSpPr txBox="1"/>
          <p:nvPr>
            <p:ph idx="1" type="body"/>
          </p:nvPr>
        </p:nvSpPr>
        <p:spPr>
          <a:xfrm>
            <a:off x="311700" y="1225225"/>
            <a:ext cx="50895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Big five (aka five factor model)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Most well-established personality inventory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Extraversion/</a:t>
            </a:r>
            <a:r>
              <a:rPr b="1" lang="en"/>
              <a:t>Introversion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Prefers self-reflection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Openness/</a:t>
            </a:r>
            <a:r>
              <a:rPr b="1" lang="en"/>
              <a:t>Cautiousness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Likes consistency and predictability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Neuroticism/</a:t>
            </a:r>
            <a:r>
              <a:rPr b="1" lang="en"/>
              <a:t>Stability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Is more emotionally “balanced”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Agreeableness/</a:t>
            </a:r>
            <a:r>
              <a:rPr b="1" lang="en"/>
              <a:t>Detachment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Distant/Emotionally neutral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Conscientiousness/</a:t>
            </a:r>
            <a:r>
              <a:rPr b="1" lang="en"/>
              <a:t>Carefreeness</a:t>
            </a:r>
            <a:endParaRPr b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Spontaneous/disorganized</a:t>
            </a:r>
            <a:endParaRPr/>
          </a:p>
        </p:txBody>
      </p:sp>
      <p:pic>
        <p:nvPicPr>
          <p:cNvPr id="17738" name="Google Shape;17738;p7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01300" y="1225225"/>
            <a:ext cx="3572397" cy="3691477"/>
          </a:xfrm>
          <a:prstGeom prst="rect">
            <a:avLst/>
          </a:prstGeom>
          <a:noFill/>
          <a:ln>
            <a:noFill/>
          </a:ln>
        </p:spPr>
      </p:pic>
      <p:sp>
        <p:nvSpPr>
          <p:cNvPr id="17739" name="Google Shape;17739;p745"/>
          <p:cNvSpPr txBox="1"/>
          <p:nvPr/>
        </p:nvSpPr>
        <p:spPr>
          <a:xfrm>
            <a:off x="214550" y="4473275"/>
            <a:ext cx="42084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Factors are bipolar (both ends are actual traits) not unidimensional!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40" name="Google Shape;17740;p745"/>
          <p:cNvSpPr txBox="1"/>
          <p:nvPr/>
        </p:nvSpPr>
        <p:spPr>
          <a:xfrm>
            <a:off x="6199300" y="167975"/>
            <a:ext cx="27744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0000"/>
                </a:solidFill>
                <a:latin typeface="Economica"/>
                <a:ea typeface="Economica"/>
                <a:cs typeface="Economica"/>
                <a:sym typeface="Economica"/>
              </a:rPr>
              <a:t>Neither end is necessarily “good” or “bad”</a:t>
            </a:r>
            <a:endParaRPr b="1">
              <a:solidFill>
                <a:srgbClr val="FF00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7744" name="Shape 17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45" name="Google Shape;17745;p746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Ego Networks: Dunbar Circles</a:t>
            </a:r>
            <a:endParaRPr/>
          </a:p>
        </p:txBody>
      </p:sp>
      <p:graphicFrame>
        <p:nvGraphicFramePr>
          <p:cNvPr id="17746" name="Google Shape;17746;p746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17747" name="Google Shape;17747;p746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17748" name="Google Shape;17748;p746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17749" name="Google Shape;17749;p746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Tie Strength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17750" name="Google Shape;17750;p746"/>
          <p:cNvSpPr txBox="1"/>
          <p:nvPr>
            <p:ph idx="1" type="body"/>
          </p:nvPr>
        </p:nvSpPr>
        <p:spPr>
          <a:xfrm>
            <a:off x="311700" y="1225225"/>
            <a:ext cx="4958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Support clique (~ 4 - 5)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Your most intimate kin and best friends you can rely on them for crises and emergencies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Sympathy group (~12 - 15)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Kin and good friends that can provide some services and that you interact with often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Affinity group (~ 45 - 50)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casual but still close friends, extended family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Active Network (~120 - 150)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Total number people that you know by face/name and interact with at least once a year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1" name="Google Shape;17751;p746"/>
          <p:cNvSpPr/>
          <p:nvPr/>
        </p:nvSpPr>
        <p:spPr>
          <a:xfrm>
            <a:off x="5006625" y="976225"/>
            <a:ext cx="3972900" cy="38520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2" name="Google Shape;17752;p746"/>
          <p:cNvSpPr/>
          <p:nvPr/>
        </p:nvSpPr>
        <p:spPr>
          <a:xfrm>
            <a:off x="6585534" y="2586779"/>
            <a:ext cx="815100" cy="4749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7753" name="Google Shape;17753;p746"/>
          <p:cNvSpPr/>
          <p:nvPr/>
        </p:nvSpPr>
        <p:spPr>
          <a:xfrm>
            <a:off x="5561025" y="2081125"/>
            <a:ext cx="2864100" cy="2747100"/>
          </a:xfrm>
          <a:prstGeom prst="ellipse">
            <a:avLst/>
          </a:prstGeom>
          <a:solidFill>
            <a:srgbClr val="DD7E6B"/>
          </a:solidFill>
          <a:ln cap="flat" cmpd="sng" w="19050">
            <a:solidFill>
              <a:srgbClr val="DD7E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4" name="Google Shape;17754;p746"/>
          <p:cNvSpPr/>
          <p:nvPr/>
        </p:nvSpPr>
        <p:spPr>
          <a:xfrm>
            <a:off x="6059775" y="3111625"/>
            <a:ext cx="1866600" cy="1716600"/>
          </a:xfrm>
          <a:prstGeom prst="ellipse">
            <a:avLst/>
          </a:prstGeom>
          <a:solidFill>
            <a:srgbClr val="CC4125"/>
          </a:solidFill>
          <a:ln cap="flat" cmpd="sng" w="19050">
            <a:solidFill>
              <a:srgbClr val="CC412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5" name="Google Shape;17755;p746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17756" name="Google Shape;17756;p746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57" name="Google Shape;17757;p746"/>
          <p:cNvSpPr txBox="1"/>
          <p:nvPr/>
        </p:nvSpPr>
        <p:spPr>
          <a:xfrm>
            <a:off x="6230475" y="3395639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Sympathy Group (12-15)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58" name="Google Shape;17758;p746"/>
          <p:cNvSpPr txBox="1"/>
          <p:nvPr/>
        </p:nvSpPr>
        <p:spPr>
          <a:xfrm>
            <a:off x="6159375" y="2438425"/>
            <a:ext cx="16674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Affinity Group (45-50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59" name="Google Shape;17759;p746"/>
          <p:cNvSpPr txBox="1"/>
          <p:nvPr/>
        </p:nvSpPr>
        <p:spPr>
          <a:xfrm>
            <a:off x="6088125" y="1480521"/>
            <a:ext cx="18099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00"/>
                </a:solidFill>
                <a:latin typeface="Economica"/>
                <a:ea typeface="Economica"/>
                <a:cs typeface="Economica"/>
                <a:sym typeface="Economica"/>
              </a:rPr>
              <a:t>Active Network(120-150)</a:t>
            </a:r>
            <a:endParaRPr b="1">
              <a:solidFill>
                <a:srgbClr val="FFFF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7763" name="Shape 17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64" name="Google Shape;17764;p747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you measure tie strength?</a:t>
            </a:r>
            <a:endParaRPr/>
          </a:p>
        </p:txBody>
      </p:sp>
      <p:sp>
        <p:nvSpPr>
          <p:cNvPr id="17765" name="Google Shape;17765;p747"/>
          <p:cNvSpPr txBox="1"/>
          <p:nvPr>
            <p:ph idx="1" type="body"/>
          </p:nvPr>
        </p:nvSpPr>
        <p:spPr>
          <a:xfrm>
            <a:off x="311700" y="1225225"/>
            <a:ext cx="4763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Best approach: 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Marsden and Campbell’s (1984) Indicator/Predictor Model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Predictors tell us that a strong tie is </a:t>
            </a:r>
            <a:r>
              <a:rPr b="1" lang="en"/>
              <a:t>more</a:t>
            </a:r>
            <a:r>
              <a:rPr lang="en"/>
              <a:t> or </a:t>
            </a:r>
            <a:r>
              <a:rPr b="1" lang="en"/>
              <a:t>less</a:t>
            </a:r>
            <a:r>
              <a:rPr lang="en"/>
              <a:t> likely to </a:t>
            </a:r>
            <a:r>
              <a:rPr b="1" lang="en"/>
              <a:t>form</a:t>
            </a:r>
            <a:endParaRPr b="1"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E.g., people who are similar are more likely to form strong ties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Indicators tell us that an </a:t>
            </a:r>
            <a:r>
              <a:rPr b="1" lang="en"/>
              <a:t>existing</a:t>
            </a:r>
            <a:r>
              <a:rPr lang="en"/>
              <a:t> tie is </a:t>
            </a:r>
            <a:r>
              <a:rPr b="1" lang="en"/>
              <a:t>more</a:t>
            </a:r>
            <a:r>
              <a:rPr lang="en"/>
              <a:t> or </a:t>
            </a:r>
            <a:r>
              <a:rPr b="1" lang="en"/>
              <a:t>less</a:t>
            </a:r>
            <a:r>
              <a:rPr lang="en"/>
              <a:t> </a:t>
            </a:r>
            <a:r>
              <a:rPr b="1" lang="en"/>
              <a:t>strong</a:t>
            </a:r>
            <a:endParaRPr b="1"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The more indicators the stronger</a:t>
            </a:r>
            <a:endParaRPr/>
          </a:p>
          <a:p>
            <a: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Closeness + Interaction + Support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66" name="Google Shape;17766;p747"/>
          <p:cNvSpPr/>
          <p:nvPr/>
        </p:nvSpPr>
        <p:spPr>
          <a:xfrm>
            <a:off x="6143000" y="2758175"/>
            <a:ext cx="2100000" cy="653100"/>
          </a:xfrm>
          <a:prstGeom prst="ellipse">
            <a:avLst/>
          </a:prstGeom>
          <a:solidFill>
            <a:srgbClr val="6AA84F"/>
          </a:solidFill>
          <a:ln cap="flat" cmpd="sng" w="38100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Economica"/>
                <a:ea typeface="Economica"/>
                <a:cs typeface="Economica"/>
                <a:sym typeface="Economica"/>
              </a:rPr>
              <a:t>Tie Strength</a:t>
            </a:r>
            <a:endParaRPr sz="20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67" name="Google Shape;17767;p747"/>
          <p:cNvSpPr/>
          <p:nvPr/>
        </p:nvSpPr>
        <p:spPr>
          <a:xfrm>
            <a:off x="5558250" y="4062075"/>
            <a:ext cx="919200" cy="320100"/>
          </a:xfrm>
          <a:prstGeom prst="rect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latin typeface="Economica"/>
                <a:ea typeface="Economica"/>
                <a:cs typeface="Economica"/>
                <a:sym typeface="Economica"/>
              </a:rPr>
              <a:t>Sentiment</a:t>
            </a:r>
            <a:endParaRPr sz="16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68" name="Google Shape;17768;p747"/>
          <p:cNvSpPr/>
          <p:nvPr/>
        </p:nvSpPr>
        <p:spPr>
          <a:xfrm>
            <a:off x="6724427" y="4062082"/>
            <a:ext cx="919200" cy="320100"/>
          </a:xfrm>
          <a:prstGeom prst="rect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latin typeface="Economica"/>
                <a:ea typeface="Economica"/>
                <a:cs typeface="Economica"/>
                <a:sym typeface="Economica"/>
              </a:rPr>
              <a:t>Interaction</a:t>
            </a:r>
            <a:endParaRPr sz="16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69" name="Google Shape;17769;p747"/>
          <p:cNvSpPr/>
          <p:nvPr/>
        </p:nvSpPr>
        <p:spPr>
          <a:xfrm>
            <a:off x="7783227" y="4062082"/>
            <a:ext cx="919200" cy="320100"/>
          </a:xfrm>
          <a:prstGeom prst="rect">
            <a:avLst/>
          </a:prstGeom>
          <a:solidFill>
            <a:srgbClr val="CCA677"/>
          </a:solidFill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latin typeface="Economica"/>
                <a:ea typeface="Economica"/>
                <a:cs typeface="Economica"/>
                <a:sym typeface="Economica"/>
              </a:rPr>
              <a:t>Exchange</a:t>
            </a:r>
            <a:endParaRPr sz="16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7770" name="Google Shape;17770;p747"/>
          <p:cNvCxnSpPr>
            <a:stCxn id="17766" idx="4"/>
            <a:endCxn id="17767" idx="0"/>
          </p:cNvCxnSpPr>
          <p:nvPr/>
        </p:nvCxnSpPr>
        <p:spPr>
          <a:xfrm flipH="1">
            <a:off x="6017900" y="3411275"/>
            <a:ext cx="1175100" cy="650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771" name="Google Shape;17771;p747"/>
          <p:cNvCxnSpPr>
            <a:stCxn id="17766" idx="4"/>
            <a:endCxn id="17768" idx="0"/>
          </p:cNvCxnSpPr>
          <p:nvPr/>
        </p:nvCxnSpPr>
        <p:spPr>
          <a:xfrm flipH="1">
            <a:off x="7184000" y="3411275"/>
            <a:ext cx="9000" cy="650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772" name="Google Shape;17772;p747"/>
          <p:cNvCxnSpPr>
            <a:stCxn id="17766" idx="4"/>
            <a:endCxn id="17769" idx="0"/>
          </p:cNvCxnSpPr>
          <p:nvPr/>
        </p:nvCxnSpPr>
        <p:spPr>
          <a:xfrm>
            <a:off x="7193000" y="3411275"/>
            <a:ext cx="1049700" cy="650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7773" name="Google Shape;17773;p747"/>
          <p:cNvSpPr/>
          <p:nvPr/>
        </p:nvSpPr>
        <p:spPr>
          <a:xfrm>
            <a:off x="7383350" y="1539475"/>
            <a:ext cx="1518000" cy="567900"/>
          </a:xfrm>
          <a:prstGeom prst="rect">
            <a:avLst/>
          </a:prstGeom>
          <a:solidFill>
            <a:srgbClr val="A4C2F4"/>
          </a:solidFill>
          <a:ln cap="flat" cmpd="sng" w="9525">
            <a:solidFill>
              <a:srgbClr val="C9DAF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latin typeface="Economica"/>
                <a:ea typeface="Economica"/>
                <a:cs typeface="Economica"/>
                <a:sym typeface="Economica"/>
              </a:rPr>
              <a:t>Similarities</a:t>
            </a:r>
            <a:endParaRPr sz="16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74" name="Google Shape;17774;p747"/>
          <p:cNvSpPr/>
          <p:nvPr/>
        </p:nvSpPr>
        <p:spPr>
          <a:xfrm>
            <a:off x="5528438" y="1539475"/>
            <a:ext cx="1518000" cy="567900"/>
          </a:xfrm>
          <a:prstGeom prst="rect">
            <a:avLst/>
          </a:prstGeom>
          <a:solidFill>
            <a:srgbClr val="A4C2F4"/>
          </a:solidFill>
          <a:ln cap="flat" cmpd="sng" w="9525">
            <a:solidFill>
              <a:srgbClr val="C9DAF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latin typeface="Economica"/>
                <a:ea typeface="Economica"/>
                <a:cs typeface="Economica"/>
                <a:sym typeface="Economica"/>
              </a:rPr>
              <a:t>Role Relations</a:t>
            </a:r>
            <a:endParaRPr sz="1600">
              <a:latin typeface="Economica"/>
              <a:ea typeface="Economica"/>
              <a:cs typeface="Economica"/>
              <a:sym typeface="Economica"/>
            </a:endParaRPr>
          </a:p>
        </p:txBody>
      </p:sp>
      <p:cxnSp>
        <p:nvCxnSpPr>
          <p:cNvPr id="17775" name="Google Shape;17775;p747"/>
          <p:cNvCxnSpPr>
            <a:stCxn id="17774" idx="2"/>
            <a:endCxn id="17766" idx="0"/>
          </p:cNvCxnSpPr>
          <p:nvPr/>
        </p:nvCxnSpPr>
        <p:spPr>
          <a:xfrm>
            <a:off x="6287438" y="2107375"/>
            <a:ext cx="905700" cy="650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17776" name="Google Shape;17776;p747"/>
          <p:cNvCxnSpPr>
            <a:stCxn id="17773" idx="2"/>
            <a:endCxn id="17766" idx="0"/>
          </p:cNvCxnSpPr>
          <p:nvPr/>
        </p:nvCxnSpPr>
        <p:spPr>
          <a:xfrm flipH="1">
            <a:off x="7193150" y="2107375"/>
            <a:ext cx="949200" cy="650700"/>
          </a:xfrm>
          <a:prstGeom prst="straightConnector1">
            <a:avLst/>
          </a:prstGeom>
          <a:noFill/>
          <a:ln cap="flat" cmpd="sng" w="28575">
            <a:solidFill>
              <a:srgbClr val="B7B7B7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7777" name="Google Shape;17777;p747"/>
          <p:cNvSpPr txBox="1"/>
          <p:nvPr/>
        </p:nvSpPr>
        <p:spPr>
          <a:xfrm>
            <a:off x="6546525" y="4511450"/>
            <a:ext cx="1275000" cy="32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Indicators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78" name="Google Shape;17778;p747"/>
          <p:cNvSpPr txBox="1"/>
          <p:nvPr/>
        </p:nvSpPr>
        <p:spPr>
          <a:xfrm>
            <a:off x="6546525" y="1078650"/>
            <a:ext cx="1275000" cy="32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Economica"/>
                <a:ea typeface="Economica"/>
                <a:cs typeface="Economica"/>
                <a:sym typeface="Economica"/>
              </a:rPr>
              <a:t>Predictors</a:t>
            </a:r>
            <a:endParaRPr b="1" sz="1800"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82" name="Shape 17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83" name="Google Shape;17783;p748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784" name="Google Shape;17784;p748"/>
          <p:cNvSpPr txBox="1"/>
          <p:nvPr>
            <p:ph idx="1" type="body"/>
          </p:nvPr>
        </p:nvSpPr>
        <p:spPr>
          <a:xfrm>
            <a:off x="311700" y="1225225"/>
            <a:ext cx="476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People high in trait extraversion: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larger networks at all layers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Tend to be part of strong tie triads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likely to introduce friends of friends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Add new contacts at a faster rate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higher indegree and outdegree centrality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high in trait neuroticism: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smaller ego-networks 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Tend to be part of weak tie triads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Are less like to introduce friends of friends</a:t>
            </a:r>
            <a:endParaRPr/>
          </a:p>
        </p:txBody>
      </p:sp>
      <p:graphicFrame>
        <p:nvGraphicFramePr>
          <p:cNvPr id="17785" name="Google Shape;17785;p748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17786" name="Google Shape;17786;p748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17787" name="Google Shape;17787;p748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17788" name="Google Shape;17788;p748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Tie Strength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17789" name="Google Shape;17789;p748"/>
          <p:cNvSpPr/>
          <p:nvPr/>
        </p:nvSpPr>
        <p:spPr>
          <a:xfrm>
            <a:off x="5006625" y="976225"/>
            <a:ext cx="3972900" cy="38520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0" name="Google Shape;17790;p748"/>
          <p:cNvSpPr/>
          <p:nvPr/>
        </p:nvSpPr>
        <p:spPr>
          <a:xfrm>
            <a:off x="6585534" y="2586779"/>
            <a:ext cx="815100" cy="4749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7791" name="Google Shape;17791;p748"/>
          <p:cNvSpPr/>
          <p:nvPr/>
        </p:nvSpPr>
        <p:spPr>
          <a:xfrm>
            <a:off x="5561025" y="2081125"/>
            <a:ext cx="2864100" cy="2747100"/>
          </a:xfrm>
          <a:prstGeom prst="ellipse">
            <a:avLst/>
          </a:prstGeom>
          <a:solidFill>
            <a:srgbClr val="DD7E6B"/>
          </a:solidFill>
          <a:ln cap="flat" cmpd="sng" w="19050">
            <a:solidFill>
              <a:srgbClr val="DD7E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2" name="Google Shape;17792;p748"/>
          <p:cNvSpPr/>
          <p:nvPr/>
        </p:nvSpPr>
        <p:spPr>
          <a:xfrm>
            <a:off x="6059775" y="3111625"/>
            <a:ext cx="1866600" cy="1716600"/>
          </a:xfrm>
          <a:prstGeom prst="ellipse">
            <a:avLst/>
          </a:prstGeom>
          <a:solidFill>
            <a:srgbClr val="CC4125"/>
          </a:solidFill>
          <a:ln cap="flat" cmpd="sng" w="19050">
            <a:solidFill>
              <a:srgbClr val="CC412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3" name="Google Shape;17793;p748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17794" name="Google Shape;17794;p748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95" name="Google Shape;17795;p748"/>
          <p:cNvSpPr txBox="1"/>
          <p:nvPr/>
        </p:nvSpPr>
        <p:spPr>
          <a:xfrm>
            <a:off x="6230475" y="3395639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Sympathy Group (12-15)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96" name="Google Shape;17796;p748"/>
          <p:cNvSpPr txBox="1"/>
          <p:nvPr/>
        </p:nvSpPr>
        <p:spPr>
          <a:xfrm>
            <a:off x="6159375" y="2438425"/>
            <a:ext cx="16674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Affinity Group (45-50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797" name="Google Shape;17797;p748"/>
          <p:cNvSpPr txBox="1"/>
          <p:nvPr/>
        </p:nvSpPr>
        <p:spPr>
          <a:xfrm>
            <a:off x="6088125" y="1480521"/>
            <a:ext cx="18099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00"/>
                </a:solidFill>
                <a:latin typeface="Economica"/>
                <a:ea typeface="Economica"/>
                <a:cs typeface="Economica"/>
                <a:sym typeface="Economica"/>
              </a:rPr>
              <a:t>Active Network(120-150)</a:t>
            </a:r>
            <a:endParaRPr b="1">
              <a:solidFill>
                <a:srgbClr val="FFFF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01" name="Shape 17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02" name="Google Shape;17802;p749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803" name="Google Shape;17803;p749"/>
          <p:cNvSpPr txBox="1"/>
          <p:nvPr>
            <p:ph idx="1" type="body"/>
          </p:nvPr>
        </p:nvSpPr>
        <p:spPr>
          <a:xfrm>
            <a:off x="311700" y="1225225"/>
            <a:ext cx="47658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</a:pPr>
            <a:r>
              <a:rPr lang="en"/>
              <a:t>People high in trait extraversion: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larger networks at all layers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Tend to be part of strong tie triads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likely to introduce friends of friends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Add new contacts at a faster rate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higher indegree and outdegree centrality</a:t>
            </a:r>
            <a:endParaRPr/>
          </a:p>
          <a:p>
            <a: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People high in trait agreeableness: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higher indegree</a:t>
            </a:r>
            <a:endParaRPr/>
          </a:p>
          <a:p>
            <a: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Add new contacts at a faster rate</a:t>
            </a:r>
            <a:endParaRPr/>
          </a:p>
          <a:p>
            <a:pPr indent="0" lvl="0" marL="9144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17804" name="Google Shape;17804;p749"/>
          <p:cNvGraphicFramePr/>
          <p:nvPr/>
        </p:nvGraphicFramePr>
        <p:xfrm>
          <a:off x="4029625" y="4534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{7B2FEFFF-135B-445C-9654-54C8218E9254}</a:tableStyleId>
              </a:tblPr>
              <a:tblGrid>
                <a:gridCol w="382850"/>
                <a:gridCol w="382850"/>
                <a:gridCol w="382850"/>
                <a:gridCol w="382850"/>
              </a:tblGrid>
              <a:tr h="212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E6B8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DD7E6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CC412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0" marB="0" marR="0" marL="0">
                    <a:solidFill>
                      <a:srgbClr val="A61C00"/>
                    </a:solidFill>
                  </a:tcPr>
                </a:tc>
              </a:tr>
            </a:tbl>
          </a:graphicData>
        </a:graphic>
      </p:graphicFrame>
      <p:grpSp>
        <p:nvGrpSpPr>
          <p:cNvPr id="17805" name="Google Shape;17805;p749"/>
          <p:cNvGrpSpPr/>
          <p:nvPr/>
        </p:nvGrpSpPr>
        <p:grpSpPr>
          <a:xfrm>
            <a:off x="4029563" y="4828220"/>
            <a:ext cx="1531500" cy="212499"/>
            <a:chOff x="3947725" y="4311925"/>
            <a:chExt cx="1531500" cy="240275"/>
          </a:xfrm>
        </p:grpSpPr>
        <p:cxnSp>
          <p:nvCxnSpPr>
            <p:cNvPr id="17806" name="Google Shape;17806;p749"/>
            <p:cNvCxnSpPr/>
            <p:nvPr/>
          </p:nvCxnSpPr>
          <p:spPr>
            <a:xfrm>
              <a:off x="3950875" y="4311925"/>
              <a:ext cx="1525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sp>
          <p:nvSpPr>
            <p:cNvPr id="17807" name="Google Shape;17807;p749"/>
            <p:cNvSpPr txBox="1"/>
            <p:nvPr/>
          </p:nvSpPr>
          <p:spPr>
            <a:xfrm>
              <a:off x="3947725" y="4338900"/>
              <a:ext cx="1531500" cy="213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latin typeface="Economica"/>
                  <a:ea typeface="Economica"/>
                  <a:cs typeface="Economica"/>
                  <a:sym typeface="Economica"/>
                </a:rPr>
                <a:t>Tie Strength</a:t>
              </a:r>
              <a:endParaRPr b="1">
                <a:latin typeface="Economica"/>
                <a:ea typeface="Economica"/>
                <a:cs typeface="Economica"/>
                <a:sym typeface="Economica"/>
              </a:endParaRPr>
            </a:p>
          </p:txBody>
        </p:sp>
      </p:grpSp>
      <p:sp>
        <p:nvSpPr>
          <p:cNvPr id="17808" name="Google Shape;17808;p749"/>
          <p:cNvSpPr/>
          <p:nvPr/>
        </p:nvSpPr>
        <p:spPr>
          <a:xfrm>
            <a:off x="5006625" y="976225"/>
            <a:ext cx="3972900" cy="38520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9" name="Google Shape;17809;p749"/>
          <p:cNvSpPr/>
          <p:nvPr/>
        </p:nvSpPr>
        <p:spPr>
          <a:xfrm>
            <a:off x="6585534" y="2586779"/>
            <a:ext cx="815100" cy="474900"/>
          </a:xfrm>
          <a:prstGeom prst="ellipse">
            <a:avLst/>
          </a:prstGeom>
          <a:solidFill>
            <a:srgbClr val="E6B8AF"/>
          </a:solidFill>
          <a:ln cap="flat" cmpd="sng" w="19050">
            <a:solidFill>
              <a:srgbClr val="E6B8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Habibi"/>
                <a:ea typeface="Habibi"/>
                <a:cs typeface="Habibi"/>
                <a:sym typeface="Habibi"/>
              </a:rPr>
              <a:t>Ego</a:t>
            </a:r>
            <a:endParaRPr b="1" sz="1800">
              <a:solidFill>
                <a:srgbClr val="FFFFFF"/>
              </a:solidFill>
              <a:latin typeface="Habibi"/>
              <a:ea typeface="Habibi"/>
              <a:cs typeface="Habibi"/>
              <a:sym typeface="Habibi"/>
            </a:endParaRPr>
          </a:p>
        </p:txBody>
      </p:sp>
      <p:sp>
        <p:nvSpPr>
          <p:cNvPr id="17810" name="Google Shape;17810;p749"/>
          <p:cNvSpPr/>
          <p:nvPr/>
        </p:nvSpPr>
        <p:spPr>
          <a:xfrm>
            <a:off x="5561025" y="2081125"/>
            <a:ext cx="2864100" cy="2747100"/>
          </a:xfrm>
          <a:prstGeom prst="ellipse">
            <a:avLst/>
          </a:prstGeom>
          <a:solidFill>
            <a:srgbClr val="DD7E6B"/>
          </a:solidFill>
          <a:ln cap="flat" cmpd="sng" w="19050">
            <a:solidFill>
              <a:srgbClr val="DD7E6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1" name="Google Shape;17811;p749"/>
          <p:cNvSpPr/>
          <p:nvPr/>
        </p:nvSpPr>
        <p:spPr>
          <a:xfrm>
            <a:off x="6059775" y="3111625"/>
            <a:ext cx="1866600" cy="1716600"/>
          </a:xfrm>
          <a:prstGeom prst="ellipse">
            <a:avLst/>
          </a:prstGeom>
          <a:solidFill>
            <a:srgbClr val="CC4125"/>
          </a:solidFill>
          <a:ln cap="flat" cmpd="sng" w="19050">
            <a:solidFill>
              <a:srgbClr val="CC412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2" name="Google Shape;17812;p749"/>
          <p:cNvSpPr/>
          <p:nvPr/>
        </p:nvSpPr>
        <p:spPr>
          <a:xfrm>
            <a:off x="6547425" y="3996925"/>
            <a:ext cx="891300" cy="831300"/>
          </a:xfrm>
          <a:prstGeom prst="ellipse">
            <a:avLst/>
          </a:prstGeom>
          <a:solidFill>
            <a:srgbClr val="A61C00"/>
          </a:solidFill>
          <a:ln cap="flat" cmpd="sng" w="19050">
            <a:solidFill>
              <a:srgbClr val="A61C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1C232"/>
                </a:solidFill>
              </a:rPr>
              <a:t>Ego</a:t>
            </a:r>
            <a:endParaRPr b="1">
              <a:solidFill>
                <a:srgbClr val="F1C232"/>
              </a:solidFill>
            </a:endParaRPr>
          </a:p>
        </p:txBody>
      </p:sp>
      <p:sp>
        <p:nvSpPr>
          <p:cNvPr id="17813" name="Google Shape;17813;p749"/>
          <p:cNvSpPr txBox="1"/>
          <p:nvPr/>
        </p:nvSpPr>
        <p:spPr>
          <a:xfrm>
            <a:off x="6230475" y="3996925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Support Clique (4-5)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814" name="Google Shape;17814;p749"/>
          <p:cNvSpPr txBox="1"/>
          <p:nvPr/>
        </p:nvSpPr>
        <p:spPr>
          <a:xfrm>
            <a:off x="6230475" y="3395639"/>
            <a:ext cx="15252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Sympathy Group (12-15)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815" name="Google Shape;17815;p749"/>
          <p:cNvSpPr txBox="1"/>
          <p:nvPr/>
        </p:nvSpPr>
        <p:spPr>
          <a:xfrm>
            <a:off x="6159375" y="2438425"/>
            <a:ext cx="16674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D966"/>
                </a:solidFill>
                <a:latin typeface="Economica"/>
                <a:ea typeface="Economica"/>
                <a:cs typeface="Economica"/>
                <a:sym typeface="Economica"/>
              </a:rPr>
              <a:t>Affinity Group (45-50</a:t>
            </a:r>
            <a:endParaRPr b="1">
              <a:solidFill>
                <a:srgbClr val="FFD966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  <p:sp>
        <p:nvSpPr>
          <p:cNvPr id="17816" name="Google Shape;17816;p749"/>
          <p:cNvSpPr txBox="1"/>
          <p:nvPr/>
        </p:nvSpPr>
        <p:spPr>
          <a:xfrm>
            <a:off x="6088125" y="1480521"/>
            <a:ext cx="18099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00"/>
                </a:solidFill>
                <a:latin typeface="Economica"/>
                <a:ea typeface="Economica"/>
                <a:cs typeface="Economica"/>
                <a:sym typeface="Economica"/>
              </a:rPr>
              <a:t>Active Network(120-150)</a:t>
            </a:r>
            <a:endParaRPr b="1">
              <a:solidFill>
                <a:srgbClr val="FFFF00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20" name="Shape 17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21" name="Google Shape;17821;p750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822" name="Google Shape;17822;p750"/>
          <p:cNvSpPr txBox="1"/>
          <p:nvPr>
            <p:ph idx="1" type="body"/>
          </p:nvPr>
        </p:nvSpPr>
        <p:spPr>
          <a:xfrm>
            <a:off x="311700" y="1225225"/>
            <a:ext cx="5669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Self monitoring: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Are you a “social chameleon” who changes depending on who you are interacting with and the social context or are you the same person regardless?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“[I]ndividuals high in self-monitoring...regulate their expressive self-presentation for the sake of desired public appearance</a:t>
            </a:r>
            <a:r>
              <a:rPr i="1" lang="en"/>
              <a:t>…[they are] highly responsive to cues of social and interpersonally-appropriate performances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(Snyder and Gangestad, 1986, p. 128)</a:t>
            </a:r>
            <a:endParaRPr/>
          </a:p>
        </p:txBody>
      </p:sp>
      <p:pic>
        <p:nvPicPr>
          <p:cNvPr id="17823" name="Google Shape;17823;p7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81400" y="2130675"/>
            <a:ext cx="2857800" cy="189091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27" name="Shape 17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28" name="Google Shape;17828;p751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829" name="Google Shape;17829;p751"/>
          <p:cNvSpPr txBox="1"/>
          <p:nvPr>
            <p:ph idx="1" type="body"/>
          </p:nvPr>
        </p:nvSpPr>
        <p:spPr>
          <a:xfrm>
            <a:off x="311700" y="1225225"/>
            <a:ext cx="5669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Self monitoring: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Are you a “social chameleon” who changes depending on who you are interacting with and the social context or are you the same person regardless?</a:t>
            </a:r>
            <a:endParaRPr b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i="1" lang="en">
                <a:solidFill>
                  <a:srgbClr val="FF0000"/>
                </a:solidFill>
              </a:rPr>
              <a:t>Individuals low in self-monitoring...lack...the motivation to...reflect [on] their own enduring and momentary inner states, including their attitudes, traits and beliefs” </a:t>
            </a:r>
            <a:r>
              <a:rPr i="1" lang="en"/>
              <a:t> </a:t>
            </a:r>
            <a:endParaRPr i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(Snyder and Gangestad, 1986, p. 128)</a:t>
            </a:r>
            <a:endParaRPr/>
          </a:p>
        </p:txBody>
      </p:sp>
      <p:pic>
        <p:nvPicPr>
          <p:cNvPr id="17830" name="Google Shape;17830;p7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81400" y="2130675"/>
            <a:ext cx="2857800" cy="189091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34" name="Shape 17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35" name="Google Shape;17835;p752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836" name="Google Shape;17836;p752"/>
          <p:cNvSpPr txBox="1"/>
          <p:nvPr>
            <p:ph idx="1" type="body"/>
          </p:nvPr>
        </p:nvSpPr>
        <p:spPr>
          <a:xfrm>
            <a:off x="311700" y="1225225"/>
            <a:ext cx="5669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Self monitoring: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Are you a “social chameleon” who changes depending on who you are interacting with and the social context or are you the same person regardless?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Self-monitoring is a type of social skill: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Use of humor in interaction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Appropriate pace in conversation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Less likely to do “self-talk”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likely to do “other talk”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Likely to collaborate and compromise</a:t>
            </a:r>
            <a:endParaRPr/>
          </a:p>
        </p:txBody>
      </p:sp>
      <p:pic>
        <p:nvPicPr>
          <p:cNvPr id="17837" name="Google Shape;17837;p7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81400" y="1956775"/>
            <a:ext cx="2857800" cy="189091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41" name="Shape 17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42" name="Google Shape;17842;p753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social networks</a:t>
            </a:r>
            <a:endParaRPr/>
          </a:p>
        </p:txBody>
      </p:sp>
      <p:sp>
        <p:nvSpPr>
          <p:cNvPr id="17843" name="Google Shape;17843;p753"/>
          <p:cNvSpPr txBox="1"/>
          <p:nvPr>
            <p:ph idx="1" type="body"/>
          </p:nvPr>
        </p:nvSpPr>
        <p:spPr>
          <a:xfrm>
            <a:off x="311700" y="1225225"/>
            <a:ext cx="56697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Self monitoring: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Are you a “social chameleon” who changes depending on who you are interacting with and the social context or are you the same person regardless?</a:t>
            </a:r>
            <a:endParaRPr b="1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Self-monitors: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Have higher indegree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In both sentiment (e.g., friendship) and exchange (e.g., advice) networks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More likely to bridge structural holes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Betweenness centrality</a:t>
            </a:r>
            <a:endParaRPr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But only in sentiment networks</a:t>
            </a:r>
            <a:endParaRPr/>
          </a:p>
        </p:txBody>
      </p:sp>
      <p:pic>
        <p:nvPicPr>
          <p:cNvPr id="17844" name="Google Shape;17844;p7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81400" y="1956775"/>
            <a:ext cx="2857800" cy="189091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48" name="Shape 17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49" name="Google Shape;17849;p754"/>
          <p:cNvSpPr txBox="1"/>
          <p:nvPr>
            <p:ph type="title"/>
          </p:nvPr>
        </p:nvSpPr>
        <p:spPr>
          <a:xfrm>
            <a:off x="773700" y="1806450"/>
            <a:ext cx="7596600" cy="153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End!</a:t>
            </a:r>
            <a:endParaRPr/>
          </a:p>
        </p:txBody>
      </p:sp>
    </p:spTree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7853" name="Shape 17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54" name="Google Shape;17854;p755"/>
          <p:cNvSpPr txBox="1"/>
          <p:nvPr>
            <p:ph type="title"/>
          </p:nvPr>
        </p:nvSpPr>
        <p:spPr>
          <a:xfrm>
            <a:off x="311700" y="315925"/>
            <a:ext cx="8520600" cy="8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Personality traits and cognitive accuracy</a:t>
            </a:r>
            <a:endParaRPr/>
          </a:p>
        </p:txBody>
      </p:sp>
      <p:sp>
        <p:nvSpPr>
          <p:cNvPr id="17855" name="Google Shape;17855;p755"/>
          <p:cNvSpPr txBox="1"/>
          <p:nvPr>
            <p:ph idx="1" type="body"/>
          </p:nvPr>
        </p:nvSpPr>
        <p:spPr>
          <a:xfrm>
            <a:off x="311700" y="1225225"/>
            <a:ext cx="8520600" cy="33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Some personality traits are linked to cognitive accuracy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Need for achievement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Extent to which instrumental success is a valued goal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More accuracy in sentiment and exchange networks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Need for attachment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Extent to which being liked by others is an important goal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More accuracy in sentiment but not exchange networks</a:t>
            </a:r>
            <a:endParaRPr i="1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b="1" lang="en"/>
              <a:t>Need for closure</a:t>
            </a:r>
            <a:endParaRPr b="1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/>
              <a:t>Extent to which order and lack of ambiguity are important</a:t>
            </a:r>
            <a:endParaRPr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Less accurate perceptions of whether friends of friends are tied (overestimate)</a:t>
            </a:r>
            <a:endParaRPr i="1"/>
          </a:p>
          <a:p>
            <a:pPr indent="-317500" lvl="3" marL="18288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i="1" lang="en"/>
              <a:t>Less accurate perceptions of homophily (overestimate)</a:t>
            </a:r>
            <a:endParaRPr i="1"/>
          </a:p>
          <a:p>
            <a:pPr indent="0" lvl="0" marL="9144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Luxe">
  <a:themeElements>
    <a:clrScheme name="Luxe">
      <a:dk1>
        <a:srgbClr val="000000"/>
      </a:dk1>
      <a:lt1>
        <a:srgbClr val="FFFFFF"/>
      </a:lt1>
      <a:dk2>
        <a:srgbClr val="B7B7B7"/>
      </a:dk2>
      <a:lt2>
        <a:srgbClr val="CCA677"/>
      </a:lt2>
      <a:accent1>
        <a:srgbClr val="5D4037"/>
      </a:accent1>
      <a:accent2>
        <a:srgbClr val="455A64"/>
      </a:accent2>
      <a:accent3>
        <a:srgbClr val="607D8B"/>
      </a:accent3>
      <a:accent4>
        <a:srgbClr val="78909C"/>
      </a:accent4>
      <a:accent5>
        <a:srgbClr val="57BB8A"/>
      </a:accent5>
      <a:accent6>
        <a:srgbClr val="DCE755"/>
      </a:accent6>
      <a:hlink>
        <a:srgbClr val="57BB8A"/>
      </a:hlink>
      <a:folHlink>
        <a:srgbClr val="57BB8A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Luxe">
  <a:themeElements>
    <a:clrScheme name="Luxe">
      <a:dk1>
        <a:srgbClr val="000000"/>
      </a:dk1>
      <a:lt1>
        <a:srgbClr val="FFFFFF"/>
      </a:lt1>
      <a:dk2>
        <a:srgbClr val="B7B7B7"/>
      </a:dk2>
      <a:lt2>
        <a:srgbClr val="CCA677"/>
      </a:lt2>
      <a:accent1>
        <a:srgbClr val="5D4037"/>
      </a:accent1>
      <a:accent2>
        <a:srgbClr val="455A64"/>
      </a:accent2>
      <a:accent3>
        <a:srgbClr val="607D8B"/>
      </a:accent3>
      <a:accent4>
        <a:srgbClr val="78909C"/>
      </a:accent4>
      <a:accent5>
        <a:srgbClr val="57BB8A"/>
      </a:accent5>
      <a:accent6>
        <a:srgbClr val="DCE755"/>
      </a:accent6>
      <a:hlink>
        <a:srgbClr val="57BB8A"/>
      </a:hlink>
      <a:folHlink>
        <a:srgbClr val="57BB8A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Luxe">
  <a:themeElements>
    <a:clrScheme name="Luxe">
      <a:dk1>
        <a:srgbClr val="000000"/>
      </a:dk1>
      <a:lt1>
        <a:srgbClr val="FFFFFF"/>
      </a:lt1>
      <a:dk2>
        <a:srgbClr val="B7B7B7"/>
      </a:dk2>
      <a:lt2>
        <a:srgbClr val="CCA677"/>
      </a:lt2>
      <a:accent1>
        <a:srgbClr val="5D4037"/>
      </a:accent1>
      <a:accent2>
        <a:srgbClr val="455A64"/>
      </a:accent2>
      <a:accent3>
        <a:srgbClr val="607D8B"/>
      </a:accent3>
      <a:accent4>
        <a:srgbClr val="78909C"/>
      </a:accent4>
      <a:accent5>
        <a:srgbClr val="57BB8A"/>
      </a:accent5>
      <a:accent6>
        <a:srgbClr val="DCE755"/>
      </a:accent6>
      <a:hlink>
        <a:srgbClr val="57BB8A"/>
      </a:hlink>
      <a:folHlink>
        <a:srgbClr val="57BB8A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