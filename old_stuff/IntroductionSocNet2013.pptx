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9144000"/>
  <p:notesSz cx="6858000" cy="9144000"/>
  <p:embeddedFontLst>
    <p:embeddedFont>
      <p:font typeface="Cabin"/>
      <p:regular r:id="rId17"/>
      <p:bold r:id="rId18"/>
      <p:italic r:id="rId19"/>
      <p:boldItalic r:id="rId20"/>
    </p:embeddedFont>
    <p:embeddedFont>
      <p:font typeface="Domine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bin-boldItalic.fntdata"/><Relationship Id="rId11" Type="http://schemas.openxmlformats.org/officeDocument/2006/relationships/slide" Target="slides/slide7.xml"/><Relationship Id="rId22" Type="http://schemas.openxmlformats.org/officeDocument/2006/relationships/font" Target="fonts/Domine-bold.fntdata"/><Relationship Id="rId10" Type="http://schemas.openxmlformats.org/officeDocument/2006/relationships/slide" Target="slides/slide6.xml"/><Relationship Id="rId21" Type="http://schemas.openxmlformats.org/officeDocument/2006/relationships/font" Target="fonts/Domine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Cabin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Cabin-italic.fntdata"/><Relationship Id="rId6" Type="http://schemas.openxmlformats.org/officeDocument/2006/relationships/slide" Target="slides/slide2.xml"/><Relationship Id="rId18" Type="http://schemas.openxmlformats.org/officeDocument/2006/relationships/font" Target="fonts/Cabin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Flows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Communication/Information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energy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resources, exchanges, goods &amp; services, trade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evaluations, like and dislike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influence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people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authority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kinship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Path Model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Evolutionary Model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Generative Model:  simple rules governing processes which generate observed patterns (emerge);  grow network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Demographic models  (states and flows)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e.g. normal, gassian, gen process random variation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omin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" name="Google Shape;23;p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ymbol"/>
              <a:buChar char=""/>
              <a:defRPr/>
            </a:lvl1pPr>
            <a:lvl2pPr indent="-317500" lvl="1" marL="91440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ymbol"/>
              <a:buChar char=""/>
              <a:defRPr/>
            </a:lvl2pPr>
            <a:lvl3pPr indent="-317500" lvl="2" marL="1371600" rtl="0" algn="l"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Noto Symbol"/>
              <a:buChar char="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Noto Symbol"/>
              <a:buChar char="◻"/>
              <a:defRPr/>
            </a:lvl4pPr>
            <a:lvl5pPr indent="-317500" lvl="4" marL="228600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ymbol"/>
              <a:buChar char="◻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Noto Symbol"/>
              <a:buChar char="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rgbClr val="646D8F"/>
              </a:buClr>
              <a:buSzPts val="1400"/>
              <a:buFont typeface="Noto Symbol"/>
              <a:buChar char="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Noto Symbol"/>
              <a:buChar char="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1400"/>
              <a:buFont typeface="Noto Symbol"/>
              <a:buChar char="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mine"/>
              <a:buNone/>
              <a:defRPr/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ymbol"/>
              <a:buNone/>
              <a:defRPr/>
            </a:lvl1pPr>
            <a:lvl2pPr indent="0" lvl="1" marL="457200" marR="0" rtl="0" algn="ctr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ymbol"/>
              <a:buNone/>
              <a:defRPr/>
            </a:lvl2pPr>
            <a:lvl3pPr indent="0" lvl="2" marL="914400" marR="0" rtl="0" algn="ctr"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Noto Symbol"/>
              <a:buNone/>
              <a:defRPr/>
            </a:lvl3pPr>
            <a:lvl4pPr indent="0" lvl="3" marL="1371600" marR="0" rtl="0" algn="ctr">
              <a:spcBef>
                <a:spcPts val="4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Noto Symbol"/>
              <a:buNone/>
              <a:defRPr/>
            </a:lvl4pPr>
            <a:lvl5pPr indent="0" lvl="4" marL="1828800" marR="0" rtl="0" algn="ctr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ymbol"/>
              <a:buNone/>
              <a:defRPr/>
            </a:lvl5pPr>
            <a:lvl6pPr indent="0" lvl="5" marL="2286000" marR="0" rtl="0" algn="ctr">
              <a:spcBef>
                <a:spcPts val="3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Noto Symbol"/>
              <a:buNone/>
              <a:defRPr/>
            </a:lvl6pPr>
            <a:lvl7pPr indent="0" lvl="6" marL="2743200" marR="0" rtl="0" algn="ctr">
              <a:spcBef>
                <a:spcPts val="300"/>
              </a:spcBef>
              <a:spcAft>
                <a:spcPts val="0"/>
              </a:spcAft>
              <a:buClr>
                <a:srgbClr val="646D8F"/>
              </a:buClr>
              <a:buSzPts val="1400"/>
              <a:buFont typeface="Noto Symbol"/>
              <a:buNone/>
              <a:defRPr/>
            </a:lvl7pPr>
            <a:lvl8pPr indent="0" lvl="7" marL="3200400" marR="0" rtl="0" algn="ctr">
              <a:spcBef>
                <a:spcPts val="3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Noto Symbol"/>
              <a:buNone/>
              <a:defRPr/>
            </a:lvl8pPr>
            <a:lvl9pPr indent="0" lvl="8" marL="3657600" marR="0" rtl="0" algn="ctr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1400"/>
              <a:buFont typeface="Noto Symbol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dk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Font typeface="Domin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1295400" y="42672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 algn="r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bin"/>
              <a:buNone/>
              <a:defRPr/>
            </a:lvl1pPr>
            <a:lvl2pPr indent="-228600" lvl="1" marL="914400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bin"/>
              <a:buNone/>
              <a:defRPr/>
            </a:lvl2pPr>
            <a:lvl3pPr indent="-228600" lvl="2" marL="1371600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bin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bin"/>
              <a:buNone/>
              <a:defRPr/>
            </a:lvl4pPr>
            <a:lvl5pPr indent="-228600" lvl="4" marL="2286000" rtl="0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bin"/>
              <a:buNone/>
              <a:defRPr/>
            </a:lvl5pPr>
            <a:lvl6pPr indent="-317500" lvl="5" marL="27432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6pPr>
            <a:lvl7pPr indent="-317500" lvl="6" marL="32004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7pPr>
            <a:lvl8pPr indent="-317500" lvl="7" marL="36576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8pPr>
            <a:lvl9pPr indent="-317500" lvl="8" marL="41148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2" type="sldNum"/>
          </p:nvPr>
        </p:nvSpPr>
        <p:spPr>
          <a:xfrm>
            <a:off x="1069848" y="6355080"/>
            <a:ext cx="1520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lt2"/>
                </a:solidFill>
                <a:latin typeface="Cabin"/>
                <a:ea typeface="Cabin"/>
                <a:cs typeface="Cabin"/>
                <a:sym typeface="Cabin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lt2"/>
                </a:solidFill>
                <a:latin typeface="Cabin"/>
                <a:ea typeface="Cabin"/>
                <a:cs typeface="Cabin"/>
                <a:sym typeface="Cabin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lt2"/>
                </a:solidFill>
                <a:latin typeface="Cabin"/>
                <a:ea typeface="Cabin"/>
                <a:cs typeface="Cabin"/>
                <a:sym typeface="Cabin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lt2"/>
                </a:solidFill>
                <a:latin typeface="Cabin"/>
                <a:ea typeface="Cabin"/>
                <a:cs typeface="Cabin"/>
                <a:sym typeface="Cabin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lt2"/>
                </a:solidFill>
                <a:latin typeface="Cabin"/>
                <a:ea typeface="Cabin"/>
                <a:cs typeface="Cabin"/>
                <a:sym typeface="Cabin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lt2"/>
                </a:solidFill>
                <a:latin typeface="Cabin"/>
                <a:ea typeface="Cabin"/>
                <a:cs typeface="Cabin"/>
                <a:sym typeface="Cabin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lt2"/>
                </a:solidFill>
                <a:latin typeface="Cabin"/>
                <a:ea typeface="Cabin"/>
                <a:cs typeface="Cabin"/>
                <a:sym typeface="Cabin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lt2"/>
                </a:solidFill>
                <a:latin typeface="Cabin"/>
                <a:ea typeface="Cabin"/>
                <a:cs typeface="Cabin"/>
                <a:sym typeface="Cabin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l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omin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5"/>
          <p:cNvSpPr txBox="1"/>
          <p:nvPr>
            <p:ph idx="1" type="body"/>
          </p:nvPr>
        </p:nvSpPr>
        <p:spPr>
          <a:xfrm>
            <a:off x="457200" y="1219200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ymbol"/>
              <a:buChar char=""/>
              <a:defRPr/>
            </a:lvl1pPr>
            <a:lvl2pPr indent="-317500" lvl="1" marL="91440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ymbol"/>
              <a:buChar char=""/>
              <a:defRPr/>
            </a:lvl2pPr>
            <a:lvl3pPr indent="-317500" lvl="2" marL="1371600" rtl="0" algn="l"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Noto Symbol"/>
              <a:buChar char="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Noto Symbol"/>
              <a:buChar char="◻"/>
              <a:defRPr/>
            </a:lvl4pPr>
            <a:lvl5pPr indent="-317500" lvl="4" marL="228600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ymbol"/>
              <a:buChar char="◻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Noto Symbol"/>
              <a:buChar char="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rgbClr val="646D8F"/>
              </a:buClr>
              <a:buSzPts val="1400"/>
              <a:buFont typeface="Noto Symbol"/>
              <a:buChar char="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Noto Symbol"/>
              <a:buChar char="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1400"/>
              <a:buFont typeface="Noto Symbol"/>
              <a:buChar char=""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2" type="body"/>
          </p:nvPr>
        </p:nvSpPr>
        <p:spPr>
          <a:xfrm>
            <a:off x="4632198" y="1216152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ymbol"/>
              <a:buChar char=""/>
              <a:defRPr/>
            </a:lvl1pPr>
            <a:lvl2pPr indent="-317500" lvl="1" marL="91440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ymbol"/>
              <a:buChar char=""/>
              <a:defRPr/>
            </a:lvl2pPr>
            <a:lvl3pPr indent="-317500" lvl="2" marL="1371600" rtl="0" algn="l"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Noto Symbol"/>
              <a:buChar char="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Noto Symbol"/>
              <a:buChar char="◻"/>
              <a:defRPr/>
            </a:lvl4pPr>
            <a:lvl5pPr indent="-317500" lvl="4" marL="228600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ymbol"/>
              <a:buChar char="◻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Noto Symbol"/>
              <a:buChar char="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rgbClr val="646D8F"/>
              </a:buClr>
              <a:buSzPts val="1400"/>
              <a:buFont typeface="Noto Symbol"/>
              <a:buChar char="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Noto Symbol"/>
              <a:buChar char="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1400"/>
              <a:buFont typeface="Noto Symbol"/>
              <a:buChar char="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" type="body"/>
          </p:nvPr>
        </p:nvSpPr>
        <p:spPr>
          <a:xfrm>
            <a:off x="457200" y="1285875"/>
            <a:ext cx="40401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bin"/>
              <a:buNone/>
              <a:defRPr/>
            </a:lvl1pPr>
            <a:lvl2pPr indent="-228600" lvl="1" marL="914400" rtl="0">
              <a:spcBef>
                <a:spcPts val="500"/>
              </a:spcBef>
              <a:spcAft>
                <a:spcPts val="0"/>
              </a:spcAft>
              <a:buSzPts val="1400"/>
              <a:buFont typeface="Cabin"/>
              <a:buNone/>
              <a:defRPr/>
            </a:lvl2pPr>
            <a:lvl3pPr indent="-228600" lvl="2" marL="1371600" rtl="0">
              <a:spcBef>
                <a:spcPts val="500"/>
              </a:spcBef>
              <a:spcAft>
                <a:spcPts val="0"/>
              </a:spcAft>
              <a:buSzPts val="1400"/>
              <a:buFont typeface="Cabin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Cabin"/>
              <a:buNone/>
              <a:defRPr/>
            </a:lvl4pPr>
            <a:lvl5pPr indent="-228600" lvl="4" marL="2286000" rtl="0">
              <a:spcBef>
                <a:spcPts val="300"/>
              </a:spcBef>
              <a:spcAft>
                <a:spcPts val="0"/>
              </a:spcAft>
              <a:buSzPts val="1400"/>
              <a:buFont typeface="Cabin"/>
              <a:buNone/>
              <a:defRPr/>
            </a:lvl5pPr>
            <a:lvl6pPr indent="-317500" lvl="5" marL="27432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6pPr>
            <a:lvl7pPr indent="-317500" lvl="6" marL="32004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7pPr>
            <a:lvl8pPr indent="-317500" lvl="7" marL="36576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8pPr>
            <a:lvl9pPr indent="-317500" lvl="8" marL="41148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2" type="body"/>
          </p:nvPr>
        </p:nvSpPr>
        <p:spPr>
          <a:xfrm>
            <a:off x="4648200" y="1295400"/>
            <a:ext cx="40417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bin"/>
              <a:buNone/>
              <a:defRPr/>
            </a:lvl1pPr>
            <a:lvl2pPr indent="-228600" lvl="1" marL="914400" rtl="0">
              <a:spcBef>
                <a:spcPts val="500"/>
              </a:spcBef>
              <a:spcAft>
                <a:spcPts val="0"/>
              </a:spcAft>
              <a:buSzPts val="1400"/>
              <a:buFont typeface="Cabin"/>
              <a:buNone/>
              <a:defRPr/>
            </a:lvl2pPr>
            <a:lvl3pPr indent="-228600" lvl="2" marL="1371600" rtl="0">
              <a:spcBef>
                <a:spcPts val="500"/>
              </a:spcBef>
              <a:spcAft>
                <a:spcPts val="0"/>
              </a:spcAft>
              <a:buSzPts val="1400"/>
              <a:buFont typeface="Cabin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Cabin"/>
              <a:buNone/>
              <a:defRPr/>
            </a:lvl4pPr>
            <a:lvl5pPr indent="-228600" lvl="4" marL="2286000" rtl="0">
              <a:spcBef>
                <a:spcPts val="300"/>
              </a:spcBef>
              <a:spcAft>
                <a:spcPts val="0"/>
              </a:spcAft>
              <a:buSzPts val="1400"/>
              <a:buFont typeface="Cabin"/>
              <a:buNone/>
              <a:defRPr/>
            </a:lvl5pPr>
            <a:lvl6pPr indent="-317500" lvl="5" marL="27432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6pPr>
            <a:lvl7pPr indent="-317500" lvl="6" marL="32004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7pPr>
            <a:lvl8pPr indent="-317500" lvl="7" marL="36576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8pPr>
            <a:lvl9pPr indent="-317500" lvl="8" marL="41148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6"/>
          <p:cNvSpPr txBox="1"/>
          <p:nvPr>
            <p:ph idx="3" type="body"/>
          </p:nvPr>
        </p:nvSpPr>
        <p:spPr>
          <a:xfrm>
            <a:off x="457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ymbol"/>
              <a:buChar char=""/>
              <a:defRPr/>
            </a:lvl1pPr>
            <a:lvl2pPr indent="-317500" lvl="1" marL="91440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ymbol"/>
              <a:buChar char=""/>
              <a:defRPr/>
            </a:lvl2pPr>
            <a:lvl3pPr indent="-317500" lvl="2" marL="1371600" rtl="0" algn="l"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Noto Symbol"/>
              <a:buChar char="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Noto Symbol"/>
              <a:buChar char="◻"/>
              <a:defRPr/>
            </a:lvl4pPr>
            <a:lvl5pPr indent="-317500" lvl="4" marL="228600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ymbol"/>
              <a:buChar char="◻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Noto Symbol"/>
              <a:buChar char="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rgbClr val="646D8F"/>
              </a:buClr>
              <a:buSzPts val="1400"/>
              <a:buFont typeface="Noto Symbol"/>
              <a:buChar char="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Noto Symbol"/>
              <a:buChar char="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1400"/>
              <a:buFont typeface="Noto Symbol"/>
              <a:buChar char=""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4" type="body"/>
          </p:nvPr>
        </p:nvSpPr>
        <p:spPr>
          <a:xfrm>
            <a:off x="4648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ymbol"/>
              <a:buChar char=""/>
              <a:defRPr/>
            </a:lvl1pPr>
            <a:lvl2pPr indent="-317500" lvl="1" marL="91440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ymbol"/>
              <a:buChar char=""/>
              <a:defRPr/>
            </a:lvl2pPr>
            <a:lvl3pPr indent="-317500" lvl="2" marL="1371600" rtl="0" algn="l"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Noto Symbol"/>
              <a:buChar char="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Noto Symbol"/>
              <a:buChar char="◻"/>
              <a:defRPr/>
            </a:lvl4pPr>
            <a:lvl5pPr indent="-317500" lvl="4" marL="228600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ymbol"/>
              <a:buChar char="◻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Noto Symbol"/>
              <a:buChar char="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rgbClr val="646D8F"/>
              </a:buClr>
              <a:buSzPts val="1400"/>
              <a:buFont typeface="Noto Symbol"/>
              <a:buChar char="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Noto Symbol"/>
              <a:buChar char="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1400"/>
              <a:buFont typeface="Noto Symbol"/>
              <a:buChar char="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omin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7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8" name="Google Shape;68;p8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9" name="Google Shape;69;p8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/>
          <p:nvPr>
            <p:ph type="title"/>
          </p:nvPr>
        </p:nvSpPr>
        <p:spPr>
          <a:xfrm>
            <a:off x="6324600" y="304800"/>
            <a:ext cx="2514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bin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" type="body"/>
          </p:nvPr>
        </p:nvSpPr>
        <p:spPr>
          <a:xfrm>
            <a:off x="6324600" y="1219200"/>
            <a:ext cx="2514600" cy="48434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bin"/>
              <a:buNone/>
              <a:defRPr/>
            </a:lvl1pPr>
            <a:lvl2pPr indent="-228600" lvl="1" marL="914400" rtl="0">
              <a:spcBef>
                <a:spcPts val="1000"/>
              </a:spcBef>
              <a:spcAft>
                <a:spcPts val="0"/>
              </a:spcAft>
              <a:buSzPts val="1400"/>
              <a:buFont typeface="Cabin"/>
              <a:buNone/>
              <a:defRPr/>
            </a:lvl2pPr>
            <a:lvl3pPr indent="-228600" lvl="2" marL="1371600" rtl="0">
              <a:spcBef>
                <a:spcPts val="500"/>
              </a:spcBef>
              <a:spcAft>
                <a:spcPts val="0"/>
              </a:spcAft>
              <a:buSzPts val="1400"/>
              <a:buFont typeface="Cabin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Cabin"/>
              <a:buNone/>
              <a:defRPr/>
            </a:lvl4pPr>
            <a:lvl5pPr indent="-228600" lvl="4" marL="2286000" rtl="0">
              <a:spcBef>
                <a:spcPts val="300"/>
              </a:spcBef>
              <a:spcAft>
                <a:spcPts val="0"/>
              </a:spcAft>
              <a:buSzPts val="1400"/>
              <a:buFont typeface="Cabin"/>
              <a:buNone/>
              <a:defRPr/>
            </a:lvl5pPr>
            <a:lvl6pPr indent="-317500" lvl="5" marL="27432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6pPr>
            <a:lvl7pPr indent="-317500" lvl="6" marL="32004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7pPr>
            <a:lvl8pPr indent="-317500" lvl="7" marL="36576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8pPr>
            <a:lvl9pPr indent="-317500" lvl="8" marL="41148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6" name="Google Shape;76;p9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7" name="Google Shape;77;p9"/>
          <p:cNvCxnSpPr/>
          <p:nvPr/>
        </p:nvCxnSpPr>
        <p:spPr>
          <a:xfrm rot="5400000">
            <a:off x="3160645" y="3324225"/>
            <a:ext cx="603504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8" name="Google Shape;78;p9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9" name="Google Shape;79;p9"/>
          <p:cNvSpPr txBox="1"/>
          <p:nvPr>
            <p:ph idx="2" type="body"/>
          </p:nvPr>
        </p:nvSpPr>
        <p:spPr>
          <a:xfrm>
            <a:off x="304800" y="304800"/>
            <a:ext cx="5715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ymbol"/>
              <a:buChar char=""/>
              <a:defRPr/>
            </a:lvl1pPr>
            <a:lvl2pPr indent="-317500" lvl="1" marL="91440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ymbol"/>
              <a:buChar char=""/>
              <a:defRPr/>
            </a:lvl2pPr>
            <a:lvl3pPr indent="-317500" lvl="2" marL="1371600" rtl="0" algn="l"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Noto Symbol"/>
              <a:buChar char="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Noto Symbol"/>
              <a:buChar char="◻"/>
              <a:defRPr/>
            </a:lvl4pPr>
            <a:lvl5pPr indent="-317500" lvl="4" marL="228600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ymbol"/>
              <a:buChar char="◻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Noto Symbol"/>
              <a:buChar char="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rgbClr val="646D8F"/>
              </a:buClr>
              <a:buSzPts val="1400"/>
              <a:buFont typeface="Noto Symbol"/>
              <a:buChar char="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Noto Symbol"/>
              <a:buChar char="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1400"/>
              <a:buFont typeface="Noto Symbol"/>
              <a:buChar char="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bg>
      <p:bgPr>
        <a:solidFill>
          <a:schemeClr val="dk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"/>
          <p:cNvSpPr txBox="1"/>
          <p:nvPr>
            <p:ph type="title"/>
          </p:nvPr>
        </p:nvSpPr>
        <p:spPr>
          <a:xfrm>
            <a:off x="457200" y="500856"/>
            <a:ext cx="8229600" cy="674688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min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0"/>
          <p:cNvSpPr/>
          <p:nvPr>
            <p:ph idx="2" type="pic"/>
          </p:nvPr>
        </p:nvSpPr>
        <p:spPr>
          <a:xfrm>
            <a:off x="457200" y="1905000"/>
            <a:ext cx="8229600" cy="4270248"/>
          </a:xfrm>
          <a:prstGeom prst="rect">
            <a:avLst/>
          </a:prstGeom>
          <a:solidFill>
            <a:srgbClr val="BBBBBB"/>
          </a:solidFill>
          <a:ln>
            <a:noFill/>
          </a:ln>
        </p:spPr>
      </p:sp>
      <p:sp>
        <p:nvSpPr>
          <p:cNvPr id="83" name="Google Shape;83;p10"/>
          <p:cNvSpPr txBox="1"/>
          <p:nvPr>
            <p:ph idx="1" type="body"/>
          </p:nvPr>
        </p:nvSpPr>
        <p:spPr>
          <a:xfrm>
            <a:off x="457200" y="12192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 algn="l">
              <a:spcBef>
                <a:spcPts val="600"/>
              </a:spcBef>
              <a:spcAft>
                <a:spcPts val="0"/>
              </a:spcAft>
              <a:buSzPts val="1400"/>
              <a:buFont typeface="Cabin"/>
              <a:buNone/>
              <a:defRPr/>
            </a:lvl1pPr>
            <a:lvl2pPr indent="-317500" lvl="1" marL="914400" rtl="0">
              <a:spcBef>
                <a:spcPts val="500"/>
              </a:spcBef>
              <a:spcAft>
                <a:spcPts val="0"/>
              </a:spcAft>
              <a:buSzPts val="1400"/>
              <a:buChar char=""/>
              <a:defRPr/>
            </a:lvl2pPr>
            <a:lvl3pPr indent="-317500" lvl="2" marL="1371600" rtl="0">
              <a:spcBef>
                <a:spcPts val="500"/>
              </a:spcBef>
              <a:spcAft>
                <a:spcPts val="0"/>
              </a:spcAft>
              <a:buSzPts val="1400"/>
              <a:buChar char="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◻"/>
              <a:defRPr/>
            </a:lvl4pPr>
            <a:lvl5pPr indent="-317500" lvl="4" marL="2286000" rtl="0">
              <a:spcBef>
                <a:spcPts val="300"/>
              </a:spcBef>
              <a:spcAft>
                <a:spcPts val="0"/>
              </a:spcAft>
              <a:buSzPts val="1400"/>
              <a:buChar char="◻"/>
              <a:defRPr/>
            </a:lvl5pPr>
            <a:lvl6pPr indent="-317500" lvl="5" marL="27432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6pPr>
            <a:lvl7pPr indent="-317500" lvl="6" marL="32004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7pPr>
            <a:lvl8pPr indent="-317500" lvl="7" marL="36576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8pPr>
            <a:lvl9pPr indent="-317500" lvl="8" marL="41148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9pPr>
          </a:lstStyle>
          <a:p/>
        </p:txBody>
      </p:sp>
      <p:sp>
        <p:nvSpPr>
          <p:cNvPr id="84" name="Google Shape;84;p10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" name="Google Shape;86;p1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lt2"/>
                </a:solidFill>
                <a:latin typeface="Cabin"/>
                <a:ea typeface="Cabin"/>
                <a:cs typeface="Cabin"/>
                <a:sym typeface="Cabin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lt2"/>
                </a:solidFill>
                <a:latin typeface="Cabin"/>
                <a:ea typeface="Cabin"/>
                <a:cs typeface="Cabin"/>
                <a:sym typeface="Cabin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lt2"/>
                </a:solidFill>
                <a:latin typeface="Cabin"/>
                <a:ea typeface="Cabin"/>
                <a:cs typeface="Cabin"/>
                <a:sym typeface="Cabin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lt2"/>
                </a:solidFill>
                <a:latin typeface="Cabin"/>
                <a:ea typeface="Cabin"/>
                <a:cs typeface="Cabin"/>
                <a:sym typeface="Cabin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lt2"/>
                </a:solidFill>
                <a:latin typeface="Cabin"/>
                <a:ea typeface="Cabin"/>
                <a:cs typeface="Cabin"/>
                <a:sym typeface="Cabin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lt2"/>
                </a:solidFill>
                <a:latin typeface="Cabin"/>
                <a:ea typeface="Cabin"/>
                <a:cs typeface="Cabin"/>
                <a:sym typeface="Cabin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lt2"/>
                </a:solidFill>
                <a:latin typeface="Cabin"/>
                <a:ea typeface="Cabin"/>
                <a:cs typeface="Cabin"/>
                <a:sym typeface="Cabin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lt2"/>
                </a:solidFill>
                <a:latin typeface="Cabin"/>
                <a:ea typeface="Cabin"/>
                <a:cs typeface="Cabin"/>
                <a:sym typeface="Cabin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l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7" name="Google Shape;87;p10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8" name="Google Shape;88;p10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omin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" type="body"/>
          </p:nvPr>
        </p:nvSpPr>
        <p:spPr>
          <a:xfrm rot="5400000">
            <a:off x="2116836" y="-440436"/>
            <a:ext cx="4910328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ymbol"/>
              <a:buChar char=""/>
              <a:defRPr/>
            </a:lvl1pPr>
            <a:lvl2pPr indent="-317500" lvl="1" marL="91440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ymbol"/>
              <a:buChar char=""/>
              <a:defRPr/>
            </a:lvl2pPr>
            <a:lvl3pPr indent="-317500" lvl="2" marL="1371600" rtl="0" algn="l"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Noto Symbol"/>
              <a:buChar char="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Noto Symbol"/>
              <a:buChar char="◻"/>
              <a:defRPr/>
            </a:lvl4pPr>
            <a:lvl5pPr indent="-317500" lvl="4" marL="228600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ymbol"/>
              <a:buChar char="◻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Noto Symbol"/>
              <a:buChar char="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rgbClr val="646D8F"/>
              </a:buClr>
              <a:buSzPts val="1400"/>
              <a:buFont typeface="Noto Symbol"/>
              <a:buChar char="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Noto Symbol"/>
              <a:buChar char="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1400"/>
              <a:buFont typeface="Noto Symbol"/>
              <a:buChar char=""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omin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ymbol"/>
              <a:buChar char=""/>
              <a:defRPr/>
            </a:lvl1pPr>
            <a:lvl2pPr indent="-317500" lvl="1" marL="91440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ymbol"/>
              <a:buChar char=""/>
              <a:defRPr/>
            </a:lvl2pPr>
            <a:lvl3pPr indent="-317500" lvl="2" marL="1371600" rtl="0" algn="l"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Noto Symbol"/>
              <a:buChar char="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Noto Symbol"/>
              <a:buChar char="◻"/>
              <a:defRPr/>
            </a:lvl4pPr>
            <a:lvl5pPr indent="-317500" lvl="4" marL="228600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ymbol"/>
              <a:buChar char="◻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Noto Symbol"/>
              <a:buChar char="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rgbClr val="646D8F"/>
              </a:buClr>
              <a:buSzPts val="1400"/>
              <a:buFont typeface="Noto Symbol"/>
              <a:buChar char="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Noto Symbol"/>
              <a:buChar char="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1400"/>
              <a:buFont typeface="Noto Symbol"/>
              <a:buChar char=""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12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" name="Google Shape;101;p1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2" name="Google Shape;102;p12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3" name="Google Shape;103;p12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cxnSp>
        <p:nvCxnSpPr>
          <p:cNvPr id="104" name="Google Shape;104;p12"/>
          <p:cNvCxnSpPr/>
          <p:nvPr/>
        </p:nvCxnSpPr>
        <p:spPr>
          <a:xfrm rot="5400000">
            <a:off x="3629607" y="3201952"/>
            <a:ext cx="585216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omine"/>
              <a:buNone/>
              <a:defRPr/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ymbol"/>
              <a:buChar char=""/>
              <a:defRPr/>
            </a:lvl1pPr>
            <a:lvl2pPr indent="-31750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ymbol"/>
              <a:buChar char=""/>
              <a:defRPr/>
            </a:lvl2pPr>
            <a:lvl3pPr indent="-317500" lvl="2" marL="1371600" marR="0" rtl="0" algn="l"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Noto Symbol"/>
              <a:buChar char=""/>
              <a:defRPr/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Noto Symbol"/>
              <a:buChar char="◻"/>
              <a:defRPr/>
            </a:lvl4pPr>
            <a:lvl5pPr indent="-31750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ymbol"/>
              <a:buChar char="◻"/>
              <a:defRPr/>
            </a:lvl5pPr>
            <a:lvl6pPr indent="-317500" lvl="5" marL="2743200" marR="0" rtl="0" algn="l">
              <a:spcBef>
                <a:spcPts val="3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Noto Symbol"/>
              <a:buChar char=""/>
              <a:defRPr/>
            </a:lvl6pPr>
            <a:lvl7pPr indent="-317500" lvl="6" marL="3200400" marR="0" rtl="0" algn="l">
              <a:spcBef>
                <a:spcPts val="300"/>
              </a:spcBef>
              <a:spcAft>
                <a:spcPts val="0"/>
              </a:spcAft>
              <a:buClr>
                <a:srgbClr val="646D8F"/>
              </a:buClr>
              <a:buSzPts val="1400"/>
              <a:buFont typeface="Noto Symbol"/>
              <a:buChar char=""/>
              <a:defRPr/>
            </a:lvl7pPr>
            <a:lvl8pPr indent="-317500" lvl="7" marL="3657600" marR="0" rtl="0" algn="l">
              <a:spcBef>
                <a:spcPts val="3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Noto Symbol"/>
              <a:buChar char=""/>
              <a:defRPr/>
            </a:lvl8pPr>
            <a:lvl9pPr indent="-317500" lvl="8" marL="4114800" marR="0" rtl="0" algn="l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1400"/>
              <a:buFont typeface="Noto Symbol"/>
              <a:buChar char=""/>
              <a:defRPr/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" name="Google Shape;15;p1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" name="Google Shape;16;p1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" name="Google Shape;17;p1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icensa.nd.edu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www.insna.org/" TargetMode="External"/><Relationship Id="rId4" Type="http://schemas.openxmlformats.org/officeDocument/2006/relationships/hyperlink" Target="http://netsci2011.net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Domine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Social Network Seminar</a:t>
            </a:r>
            <a:endParaRPr b="0" i="0" sz="3200" u="none" cap="none" strike="noStrike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10" name="Google Shape;110;p13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Introductions:  Us &amp; You</a:t>
            </a:r>
            <a:endParaRPr/>
          </a:p>
          <a:p>
            <a:pPr indent="-274320" lvl="0" marL="27432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The Seminar</a:t>
            </a:r>
            <a:endParaRPr/>
          </a:p>
          <a:p>
            <a:pPr indent="-281940" lvl="1" marL="54864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Objectives</a:t>
            </a:r>
            <a:endParaRPr/>
          </a:p>
          <a:p>
            <a:pPr indent="-281940" lvl="1" marL="54864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Topics &amp; Readings</a:t>
            </a:r>
            <a:endParaRPr/>
          </a:p>
          <a:p>
            <a:pPr indent="-281940" lvl="1" marL="54864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Requirements</a:t>
            </a:r>
            <a:endParaRPr/>
          </a:p>
          <a:p>
            <a:pPr indent="-281940" lvl="1" marL="54864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Using RefWorks</a:t>
            </a:r>
            <a:endParaRPr b="0" i="0" sz="2300" u="none" cap="none" strike="noStrik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274320" lvl="0" marL="27432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My Interests in Networks</a:t>
            </a:r>
            <a:endParaRPr/>
          </a:p>
          <a:p>
            <a:pPr indent="-281940" lvl="1" marL="54864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Job mobility, vacancy chains, event history analysis</a:t>
            </a:r>
            <a:endParaRPr/>
          </a:p>
          <a:p>
            <a:pPr indent="-281940" lvl="1" marL="54864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Granovetter &amp; Burt:  Finding jobs</a:t>
            </a:r>
            <a:endParaRPr/>
          </a:p>
          <a:p>
            <a:pPr indent="-281940" lvl="1" marL="54864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Web Group:  Barabasi and others, </a:t>
            </a:r>
            <a:endParaRPr/>
          </a:p>
          <a:p>
            <a:pPr indent="-281940" lvl="1" marL="54864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"/>
            </a:pPr>
            <a:r>
              <a:rPr b="0" i="0" lang="en-US" sz="2300" u="sng" cap="none" strike="noStrike">
                <a:solidFill>
                  <a:schemeClr val="hlink"/>
                </a:solidFill>
                <a:latin typeface="Cabin"/>
                <a:ea typeface="Cabin"/>
                <a:cs typeface="Cabin"/>
                <a:sym typeface="Cabin"/>
                <a:hlinkClick r:id="rId3"/>
              </a:rPr>
              <a:t>iCeNSA</a:t>
            </a:r>
            <a:endParaRPr b="0" i="0" sz="2300" u="none" cap="none" strike="noStrik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281940" lvl="1" marL="54864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Research Projects</a:t>
            </a:r>
            <a:endParaRPr/>
          </a:p>
          <a:p>
            <a:pPr indent="-170942" lvl="1" marL="54864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None/>
            </a:pPr>
            <a:r>
              <a:t/>
            </a:r>
            <a:endParaRPr b="0" i="0" sz="2300" u="none" cap="none" strike="noStrik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148844" lvl="0" marL="27432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Domine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Seeing Networks</a:t>
            </a:r>
            <a:endParaRPr b="0" i="0" sz="3200" u="none" cap="none" strike="noStrike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17" name="Google Shape;117;p14"/>
          <p:cNvSpPr txBox="1"/>
          <p:nvPr>
            <p:ph idx="1" type="body"/>
          </p:nvPr>
        </p:nvSpPr>
        <p:spPr>
          <a:xfrm>
            <a:off x="685800" y="12954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Networks as connectors</a:t>
            </a:r>
            <a:endParaRPr/>
          </a:p>
          <a:p>
            <a:pPr indent="-274320" lvl="0" marL="27432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Other connectors:  social relationships, groups, organizations</a:t>
            </a:r>
            <a:endParaRPr/>
          </a:p>
          <a:p>
            <a:pPr indent="-274320" lvl="0" marL="27432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Connect the Dots Metaphor</a:t>
            </a:r>
            <a:endParaRPr/>
          </a:p>
          <a:p>
            <a:pPr indent="-281940" lvl="1" marL="54864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Dots:  Nodes</a:t>
            </a:r>
            <a:endParaRPr/>
          </a:p>
          <a:p>
            <a:pPr indent="-238760" lvl="2" marL="82296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1520"/>
              <a:buFont typeface="Noto Symbol"/>
              <a:buChar char=""/>
            </a:pPr>
            <a:r>
              <a:rPr b="0" i="0" lang="en-US" sz="20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People, organizations, places, ideas</a:t>
            </a:r>
            <a:endParaRPr/>
          </a:p>
          <a:p>
            <a:pPr indent="-281940" lvl="1" marL="54864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Lines:  Ties (edges)</a:t>
            </a:r>
            <a:endParaRPr/>
          </a:p>
          <a:p>
            <a:pPr indent="-238760" lvl="2" marL="82296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1520"/>
              <a:buFont typeface="Noto Symbol"/>
              <a:buChar char=""/>
            </a:pPr>
            <a:r>
              <a:rPr b="0" i="0" lang="en-US" sz="20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Interaction, friendship, exchange, authority, lineage</a:t>
            </a:r>
            <a:endParaRPr/>
          </a:p>
          <a:p>
            <a:pPr indent="-281940" lvl="1" marL="54864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Flows </a:t>
            </a:r>
            <a:endParaRPr/>
          </a:p>
          <a:p>
            <a:pPr indent="-238760" lvl="2" marL="82296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1520"/>
              <a:buFont typeface="Noto Symbol"/>
              <a:buChar char=""/>
            </a:pPr>
            <a:r>
              <a:rPr b="0" i="0" lang="en-US" sz="20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Information</a:t>
            </a:r>
            <a:endParaRPr/>
          </a:p>
          <a:p>
            <a:pPr indent="-238760" lvl="2" marL="82296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1520"/>
              <a:buFont typeface="Noto Symbol"/>
              <a:buChar char=""/>
            </a:pPr>
            <a:r>
              <a:rPr b="0" i="0" lang="en-US" sz="20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resources</a:t>
            </a:r>
            <a:endParaRPr/>
          </a:p>
          <a:p>
            <a:pPr indent="-238760" lvl="2" marL="82296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1520"/>
              <a:buFont typeface="Noto Symbol"/>
              <a:buChar char=""/>
            </a:pPr>
            <a:r>
              <a:rPr b="0" i="0" lang="en-US" sz="20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evaluations  (like, dislike)</a:t>
            </a:r>
            <a:endParaRPr/>
          </a:p>
          <a:p>
            <a:pPr indent="-238760" lvl="2" marL="82296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1520"/>
              <a:buFont typeface="Noto Symbol"/>
              <a:buChar char=""/>
            </a:pPr>
            <a:r>
              <a:rPr b="0" i="0" lang="en-US" sz="20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people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Domine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Why Study Networks</a:t>
            </a:r>
            <a:endParaRPr b="0" i="0" sz="3200" u="none" cap="none" strike="noStrike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23" name="Google Shape;123;p15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Determinants of human behavior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Standard theories:  Categories (taxonomies) 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Network Theory:  network effects, social influence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Non-independence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Intermediation &amp; indirect ties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Domine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What Do Networks Do?</a:t>
            </a:r>
            <a:endParaRPr b="0" i="0" sz="3200" u="none" cap="none" strike="noStrike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29" name="Google Shape;129;p16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Diffusion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Exchange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Support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Inclusion/Exclusion (Access)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Domine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The Network Field:  Four Sources</a:t>
            </a:r>
            <a:endParaRPr b="0" i="0" sz="3200" u="none" cap="none" strike="noStrike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35" name="Google Shape;135;p17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Mathematics – Graph Theory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Anthropology (kinship networks)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Social Networks (</a:t>
            </a:r>
            <a:r>
              <a:rPr b="0" i="0" lang="en-US" sz="2600" u="sng" cap="none" strike="noStrike">
                <a:solidFill>
                  <a:schemeClr val="hlink"/>
                </a:solidFill>
                <a:latin typeface="Cabin"/>
                <a:ea typeface="Cabin"/>
                <a:cs typeface="Cabin"/>
                <a:sym typeface="Cabin"/>
                <a:hlinkClick r:id="rId3"/>
              </a:rPr>
              <a:t>INSNA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)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Network Science (</a:t>
            </a:r>
            <a:r>
              <a:rPr b="0" i="0" lang="en-US" sz="2600" u="sng" cap="none" strike="noStrike">
                <a:solidFill>
                  <a:schemeClr val="hlink"/>
                </a:solidFill>
                <a:latin typeface="Cabin"/>
                <a:ea typeface="Cabin"/>
                <a:cs typeface="Cabin"/>
                <a:sym typeface="Cabin"/>
                <a:hlinkClick r:id="rId4"/>
              </a:rPr>
              <a:t>NetSci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)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Current State of Research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Exponential Growth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Interdisciplinary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Game changing  </a:t>
            </a:r>
            <a:endParaRPr/>
          </a:p>
          <a:p>
            <a:pPr indent="-238760" lvl="2" marL="822960" marR="0" rtl="0" algn="l"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1520"/>
              <a:buFont typeface="Noto Symbol"/>
              <a:buChar char=""/>
            </a:pPr>
            <a:r>
              <a:rPr b="0" i="0" lang="en-US" sz="20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complex, dynamic, distributed systems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Social Media (Facebook, Twitter)</a:t>
            </a:r>
            <a:endParaRPr b="0" i="0" sz="2300" u="none" cap="none" strike="noStrik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Domine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Levels of Analysis </a:t>
            </a:r>
            <a:endParaRPr b="0" i="0" sz="3200" u="none" cap="none" strike="noStrike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41" name="Google Shape;141;p18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Node (Vertices)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Dyad (Ties, Edges)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Triad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Clusters (communities)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Whole Network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Domine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Node (Vertices)</a:t>
            </a:r>
            <a:endParaRPr b="0" i="0" sz="3200" u="none" cap="none" strike="noStrike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47" name="Google Shape;147;p19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Degree (network size, neighbors, popularity, in &amp; out degree)</a:t>
            </a:r>
            <a:endParaRPr/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Centrality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Gregariousness (activity level)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Composition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Redundancy, Clustering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Domine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Dyad (Ties, Edges)</a:t>
            </a:r>
            <a:endParaRPr b="0" i="0" sz="3200" u="none" cap="none" strike="noStrike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53" name="Google Shape;153;p20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Strength (Weight)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Frequency, duration, closeness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Reciprocity  (Mutuality, Symmetry)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Social Distance, Homophily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Hierarchy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Persistence/Decay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Formation</a:t>
            </a:r>
            <a:endParaRPr b="0" i="0" sz="2600" u="none" cap="none" strike="noStrik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Domine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Triads and Clusters</a:t>
            </a:r>
            <a:endParaRPr b="0" i="0" sz="3200" u="none" cap="none" strike="noStrike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59" name="Google Shape;159;p21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Triads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Transitivity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Closure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Embeddedness</a:t>
            </a:r>
            <a:endParaRPr b="0" i="0" sz="2300" u="none" cap="none" strike="noStrik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Triadic Census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Clusters (Communities)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Cliques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Bridges (cross cutting ties)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Domine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Whole Network</a:t>
            </a:r>
            <a:endParaRPr b="0" i="0" sz="3200" u="none" cap="none" strike="noStrike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65" name="Google Shape;165;p2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72"/>
              <a:buFont typeface="Noto Symbol"/>
              <a:buChar char=""/>
            </a:pPr>
            <a:r>
              <a:rPr b="0" i="0" lang="en-US" sz="2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Size</a:t>
            </a:r>
            <a:endParaRPr/>
          </a:p>
          <a:p>
            <a:pPr indent="-274320" lvl="0" marL="27432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72"/>
              <a:buFont typeface="Noto Symbol"/>
              <a:buChar char=""/>
            </a:pPr>
            <a:r>
              <a:rPr b="0" i="0" lang="en-US" sz="2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Density</a:t>
            </a:r>
            <a:endParaRPr/>
          </a:p>
          <a:p>
            <a:pPr indent="-274320" lvl="0" marL="27432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72"/>
              <a:buFont typeface="Noto Symbol"/>
              <a:buChar char=""/>
            </a:pPr>
            <a:r>
              <a:rPr b="0" i="0" lang="en-US" sz="2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Degree distribution</a:t>
            </a:r>
            <a:endParaRPr/>
          </a:p>
          <a:p>
            <a:pPr indent="-274320" lvl="0" marL="27432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72"/>
              <a:buFont typeface="Noto Symbol"/>
              <a:buChar char=""/>
            </a:pPr>
            <a:r>
              <a:rPr b="0" i="0" lang="en-US" sz="2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Network topologies</a:t>
            </a:r>
            <a:endParaRPr/>
          </a:p>
          <a:p>
            <a:pPr indent="-281940" lvl="1" marL="54864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82"/>
              <a:buFont typeface="Noto Symbol"/>
              <a:buChar char=""/>
            </a:pPr>
            <a:r>
              <a:rPr b="0" i="0" lang="en-US" sz="195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core/periphery</a:t>
            </a:r>
            <a:endParaRPr/>
          </a:p>
          <a:p>
            <a:pPr indent="-274320" lvl="0" marL="27432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72"/>
              <a:buFont typeface="Noto Symbol"/>
              <a:buChar char=""/>
            </a:pPr>
            <a:r>
              <a:rPr b="0" i="0" lang="en-US" sz="2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Clustering</a:t>
            </a:r>
            <a:endParaRPr/>
          </a:p>
          <a:p>
            <a:pPr indent="-274320" lvl="0" marL="27432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72"/>
              <a:buFont typeface="Noto Symbol"/>
              <a:buChar char=""/>
            </a:pPr>
            <a:r>
              <a:rPr b="0" i="0" lang="en-US" sz="2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Connectivity </a:t>
            </a:r>
            <a:endParaRPr/>
          </a:p>
          <a:p>
            <a:pPr indent="-281940" lvl="1" marL="54864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82"/>
              <a:buFont typeface="Noto Symbol"/>
              <a:buChar char=""/>
            </a:pPr>
            <a:r>
              <a:rPr b="0" i="0" lang="en-US" sz="195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giant component</a:t>
            </a:r>
            <a:endParaRPr/>
          </a:p>
          <a:p>
            <a:pPr indent="-281940" lvl="1" marL="54864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82"/>
              <a:buFont typeface="Noto Symbol"/>
              <a:buChar char=""/>
            </a:pPr>
            <a:r>
              <a:rPr b="0" i="0" lang="en-US" sz="195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resilience</a:t>
            </a:r>
            <a:endParaRPr/>
          </a:p>
          <a:p>
            <a:pPr indent="-274320" lvl="0" marL="27432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72"/>
              <a:buFont typeface="Noto Symbol"/>
              <a:buChar char=""/>
            </a:pPr>
            <a:r>
              <a:rPr b="0" i="0" lang="en-US" sz="2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Geodesic distance/size/diameter</a:t>
            </a:r>
            <a:endParaRPr/>
          </a:p>
          <a:p>
            <a:pPr indent="-281940" lvl="1" marL="54864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82"/>
              <a:buFont typeface="Noto Symbol"/>
              <a:buChar char=""/>
            </a:pPr>
            <a:r>
              <a:rPr b="0" i="0" lang="en-US" sz="195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Small World</a:t>
            </a:r>
            <a:endParaRPr/>
          </a:p>
          <a:p>
            <a:pPr indent="-274320" lvl="0" marL="27432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72"/>
              <a:buFont typeface="Noto Symbol"/>
              <a:buChar char=""/>
            </a:pPr>
            <a:r>
              <a:rPr b="0" i="0" lang="en-US" sz="2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Mixing Patterns (assortativity)</a:t>
            </a:r>
            <a:endParaRPr/>
          </a:p>
          <a:p>
            <a:pPr indent="-281940" lvl="1" marL="54864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82"/>
              <a:buFont typeface="Noto Symbol"/>
              <a:buChar char=""/>
            </a:pPr>
            <a:r>
              <a:rPr b="0" i="0" lang="en-US" sz="195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degree assortativity</a:t>
            </a:r>
            <a:endParaRPr/>
          </a:p>
          <a:p>
            <a:pPr indent="-274320" lvl="0" marL="27432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72"/>
              <a:buFont typeface="Noto Symbol"/>
              <a:buChar char=""/>
            </a:pPr>
            <a:r>
              <a:rPr b="0" i="0" lang="en-US" sz="2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Stability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Domine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Research Issues</a:t>
            </a:r>
            <a:endParaRPr b="1" i="0" sz="3200" u="none" cap="none" strike="noStrike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72" name="Google Shape;172;p23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Strength of weak ties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Structural Holes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Cross-cutting ties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Bridging and bonding social capital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Intermediation &amp; Brokerage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Scale-free networks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not normally distributed but power laws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Hubs and star configuration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Core/Periphery structures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motifs</a:t>
            </a:r>
            <a:endParaRPr b="0" i="0" sz="2300" u="none" cap="none" strike="noStrik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Weights and Reciprocity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Domine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Research Issues (continued)</a:t>
            </a:r>
            <a:endParaRPr b="0" i="0" sz="3200" u="none" cap="none" strike="noStrike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79" name="Google Shape;179;p24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ymbol"/>
              <a:buChar char=""/>
            </a:pPr>
            <a:r>
              <a:rPr b="0" i="0" lang="en-US" sz="2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Emergence, self-organization</a:t>
            </a:r>
            <a:endParaRPr/>
          </a:p>
          <a:p>
            <a:pPr indent="-281940" lvl="1" marL="54864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34"/>
              <a:buFont typeface="Noto Symbol"/>
              <a:buChar char=""/>
            </a:pPr>
            <a:r>
              <a:rPr b="0" i="0" lang="en-US" sz="215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local →  global</a:t>
            </a:r>
            <a:endParaRPr/>
          </a:p>
          <a:p>
            <a:pPr indent="-281940" lvl="1" marL="54864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34"/>
              <a:buFont typeface="Noto Symbol"/>
              <a:buChar char=""/>
            </a:pPr>
            <a:r>
              <a:rPr b="0" i="0" lang="en-US" sz="215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Agent based models</a:t>
            </a:r>
            <a:endParaRPr b="0" i="0" sz="2150" u="none" cap="none" strike="noStrik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274320" lvl="0" marL="27432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ymbol"/>
              <a:buChar char=""/>
            </a:pPr>
            <a:r>
              <a:rPr b="0" i="0" lang="en-US" sz="2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Network Evolution</a:t>
            </a:r>
            <a:endParaRPr/>
          </a:p>
          <a:p>
            <a:pPr indent="-281940" lvl="1" marL="54864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34"/>
              <a:buFont typeface="Noto Symbol"/>
              <a:buChar char=""/>
            </a:pPr>
            <a:r>
              <a:rPr b="0" i="0" lang="en-US" sz="215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Tie Formation vs. Persistence</a:t>
            </a:r>
            <a:endParaRPr/>
          </a:p>
          <a:p>
            <a:pPr indent="-281940" lvl="1" marL="54864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34"/>
              <a:buFont typeface="Noto Symbol"/>
              <a:buChar char=""/>
            </a:pPr>
            <a:r>
              <a:rPr b="0" i="0" lang="en-US" sz="215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Assembling Networks</a:t>
            </a:r>
            <a:endParaRPr/>
          </a:p>
          <a:p>
            <a:pPr indent="-281940" lvl="1" marL="54864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34"/>
              <a:buFont typeface="Noto Symbol"/>
              <a:buChar char=""/>
            </a:pPr>
            <a:r>
              <a:rPr b="0" i="0" lang="en-US" sz="215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Generative Models</a:t>
            </a:r>
            <a:endParaRPr/>
          </a:p>
          <a:p>
            <a:pPr indent="-274320" lvl="0" marL="27432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ymbol"/>
              <a:buChar char=""/>
            </a:pPr>
            <a:r>
              <a:rPr b="0" i="0" lang="en-US" sz="2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Diffusion, influence, contagion</a:t>
            </a:r>
            <a:endParaRPr/>
          </a:p>
          <a:p>
            <a:pPr indent="-281940" lvl="1" marL="54864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34"/>
              <a:buFont typeface="Noto Symbol"/>
              <a:buChar char=""/>
            </a:pPr>
            <a:r>
              <a:rPr b="0" i="0" lang="en-US" sz="215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Network effects</a:t>
            </a:r>
            <a:endParaRPr/>
          </a:p>
          <a:p>
            <a:pPr indent="-274320" lvl="0" marL="27432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ymbol"/>
              <a:buChar char=""/>
            </a:pPr>
            <a:r>
              <a:rPr b="0" i="0" lang="en-US" sz="2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What is different about social networks?</a:t>
            </a:r>
            <a:endParaRPr/>
          </a:p>
          <a:p>
            <a:pPr indent="-274320" lvl="0" marL="27432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ymbol"/>
              <a:buChar char=""/>
            </a:pPr>
            <a:r>
              <a:rPr b="0" i="0" lang="en-US" sz="2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What is a “good” network?  What properties can networks maximize?</a:t>
            </a:r>
            <a:endParaRPr/>
          </a:p>
          <a:p>
            <a:pPr indent="-274320" lvl="0" marL="27432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ymbol"/>
              <a:buChar char=""/>
            </a:pPr>
            <a:r>
              <a:rPr b="0" i="0" lang="en-US" sz="2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Connections among networks (social, technical, information, semantic)</a:t>
            </a:r>
            <a:endParaRPr/>
          </a:p>
          <a:p>
            <a:pPr indent="-158255" lvl="0" marL="27432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8"/>
              <a:buFont typeface="Noto Symbo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rigin">
  <a:themeElements>
    <a:clrScheme name="Origin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