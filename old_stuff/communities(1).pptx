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9144000"/>
  <p:notesSz cx="6858000" cy="9144000"/>
  <p:embeddedFontLst>
    <p:embeddedFont>
      <p:font typeface="Josefin Slab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JosefinSlab-regular.fntdata"/><Relationship Id="rId14" Type="http://schemas.openxmlformats.org/officeDocument/2006/relationships/slide" Target="slides/slide10.xml"/><Relationship Id="rId17" Type="http://schemas.openxmlformats.org/officeDocument/2006/relationships/font" Target="fonts/JosefinSlab-italic.fntdata"/><Relationship Id="rId16" Type="http://schemas.openxmlformats.org/officeDocument/2006/relationships/font" Target="fonts/JosefinSlab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font" Target="fonts/JosefinSlab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" name="Google Shape;3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199d073ba_0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199d073ba_0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199d073ba_0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" name="Google Shape;47;g199d073ba_0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199d881aa_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199d881aa_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199d881aa_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199d881aa_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99d881aa_0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99d881aa_0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99d881aa_0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199d881aa_0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99d881aa_0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99d881aa_0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99d881aa_0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99d881aa_0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99d881aa_0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99d881aa_0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57200" y="751680"/>
            <a:ext cx="8229600" cy="40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7200" y="4955190"/>
            <a:ext cx="8229600" cy="16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2" name="Google Shape;12;p2"/>
          <p:cNvCxnSpPr/>
          <p:nvPr/>
        </p:nvCxnSpPr>
        <p:spPr>
          <a:xfrm>
            <a:off x="457200" y="54864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" name="Google Shape;13;p2"/>
          <p:cNvCxnSpPr/>
          <p:nvPr/>
        </p:nvCxnSpPr>
        <p:spPr>
          <a:xfrm>
            <a:off x="457200" y="484451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cxnSp>
        <p:nvCxnSpPr>
          <p:cNvPr id="17" name="Google Shape;17;p3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1" name="Google Shape;21;p4"/>
          <p:cNvSpPr txBox="1"/>
          <p:nvPr>
            <p:ph idx="2" type="body"/>
          </p:nvPr>
        </p:nvSpPr>
        <p:spPr>
          <a:xfrm>
            <a:off x="4692274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cxnSp>
        <p:nvCxnSpPr>
          <p:cNvPr id="22" name="Google Shape;22;p4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25" name="Google Shape;25;p5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1pPr>
            <a:lvl2pPr indent="-3429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2pPr>
            <a:lvl3pPr indent="-3429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3pPr>
            <a:lvl4pPr indent="-34290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457200" y="5757014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Google Shape;30;p7"/>
          <p:cNvCxnSpPr/>
          <p:nvPr/>
        </p:nvCxnSpPr>
        <p:spPr>
          <a:xfrm>
            <a:off x="457200" y="150852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8" name="Google Shape;8;p1"/>
          <p:cNvCxnSpPr/>
          <p:nvPr/>
        </p:nvCxnSpPr>
        <p:spPr>
          <a:xfrm>
            <a:off x="457200" y="669768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Detecting Communities in networks</a:t>
            </a:r>
            <a:endParaRPr/>
          </a:p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457200" y="1600200"/>
            <a:ext cx="43494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Basic task: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To discover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groups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or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clusters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in networks, usually referred to as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communities</a:t>
            </a:r>
            <a:endParaRPr b="1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 community is densely connected set of vertices with sparse connections with other groups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These are referred to as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community detection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methods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37" name="Google Shape;37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3600" y="2426700"/>
            <a:ext cx="3810000" cy="331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Detecting Communities in networks</a:t>
            </a:r>
            <a:endParaRPr/>
          </a:p>
        </p:txBody>
      </p:sp>
      <p:sp>
        <p:nvSpPr>
          <p:cNvPr id="43" name="Google Shape;43;p9"/>
          <p:cNvSpPr txBox="1"/>
          <p:nvPr>
            <p:ph idx="1" type="body"/>
          </p:nvPr>
        </p:nvSpPr>
        <p:spPr>
          <a:xfrm>
            <a:off x="457200" y="1600200"/>
            <a:ext cx="53028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Community detection is distinct from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graph partitioning </a:t>
            </a:r>
            <a:endParaRPr i="1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 common graph partitioning task is to divide the network into two disjoint sets: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Such that the number of edges between the two is minimized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This is useful when a network is too large and we wish to simplify the analysis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44" name="Google Shape;4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0817" y="3047175"/>
            <a:ext cx="3514564" cy="23418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Detecting Communities in networks</a:t>
            </a:r>
            <a:endParaRPr/>
          </a:p>
        </p:txBody>
      </p:sp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457200" y="1600200"/>
            <a:ext cx="4851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In a community detection task the number and size of the groups is not determined advance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The key is to let the data itself tell us where the interesting divisions in the network are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We have seen an example of this in Moody and White's (2003) "Cohesive Blocking" strategy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51" name="Google Shape;5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4425" y="2502900"/>
            <a:ext cx="3762375" cy="316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Detecting Communities in networks</a:t>
            </a:r>
            <a:endParaRPr/>
          </a:p>
        </p:txBody>
      </p:sp>
      <p:sp>
        <p:nvSpPr>
          <p:cNvPr id="57" name="Google Shape;57;p11"/>
          <p:cNvSpPr txBox="1"/>
          <p:nvPr>
            <p:ph idx="1" type="body"/>
          </p:nvPr>
        </p:nvSpPr>
        <p:spPr>
          <a:xfrm>
            <a:off x="457200" y="1600200"/>
            <a:ext cx="50973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Several approaches have been proposed in the literature: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 "minimum cut" strategy such as Moody and White's (2003) uses graph connectivity as a criterion to sort vertices into groups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However, there is no benchmark that tell us whether the connection within groups is larger or smaller than we would expect by chance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58" name="Google Shape;5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4894" y="2181109"/>
            <a:ext cx="3174180" cy="38058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Detecting Communities in networks</a:t>
            </a:r>
            <a:endParaRPr/>
          </a:p>
        </p:txBody>
      </p:sp>
      <p:sp>
        <p:nvSpPr>
          <p:cNvPr id="64" name="Google Shape;64;p12"/>
          <p:cNvSpPr txBox="1"/>
          <p:nvPr>
            <p:ph idx="1" type="body"/>
          </p:nvPr>
        </p:nvSpPr>
        <p:spPr>
          <a:xfrm>
            <a:off x="457200" y="1600200"/>
            <a:ext cx="45534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The basic idea is that a network has "community structure" if the edges are arranged in a "statistically surprising" way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 quantity known as the modularity can be used for this purpose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65" name="Google Shape;65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4894" y="2181109"/>
            <a:ext cx="3174180" cy="38058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Detecting Communities in networks</a:t>
            </a:r>
            <a:endParaRPr/>
          </a:p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457200" y="1600200"/>
            <a:ext cx="50193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In words, for a partition of the graph into C groups, the modularity is defined as: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The observed number of edges falling within groups minus the expected number of edges in the same network if these were placed at random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Positive values indicate the presence of community structure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72" name="Google Shape;7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4894" y="2181109"/>
            <a:ext cx="3174180" cy="38058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Detecting Communities in networks</a:t>
            </a:r>
            <a:endParaRPr/>
          </a:p>
        </p:txBody>
      </p:sp>
      <p:sp>
        <p:nvSpPr>
          <p:cNvPr id="78" name="Google Shape;78;p14"/>
          <p:cNvSpPr txBox="1"/>
          <p:nvPr>
            <p:ph idx="1" type="body"/>
          </p:nvPr>
        </p:nvSpPr>
        <p:spPr>
          <a:xfrm>
            <a:off x="457200" y="1600200"/>
            <a:ext cx="81135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In a network the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observed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number of edges between vertices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i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and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j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is given by the corresponding entry in the adjacency matrix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A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ij (usually 0 or 1)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The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expected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number of edges between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i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and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j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is simply a function of their respective degrees: 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79" name="Google Shape;7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0870" y="5579910"/>
            <a:ext cx="2242261" cy="841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43175" y="4783288"/>
            <a:ext cx="4057650" cy="52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Detecting Communities in networks</a:t>
            </a:r>
            <a:endParaRPr/>
          </a:p>
        </p:txBody>
      </p:sp>
      <p:sp>
        <p:nvSpPr>
          <p:cNvPr id="86" name="Google Shape;86;p15"/>
          <p:cNvSpPr txBox="1"/>
          <p:nvPr>
            <p:ph idx="1" type="body"/>
          </p:nvPr>
        </p:nvSpPr>
        <p:spPr>
          <a:xfrm>
            <a:off x="457200" y="1600200"/>
            <a:ext cx="81135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The modularity (Q) is then given by the sum of the difference between observed minus expected across each pair of vertices that belong to the same group: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Where s</a:t>
            </a:r>
            <a:r>
              <a:rPr baseline="-25000" lang="en">
                <a:latin typeface="Josefin Slab"/>
                <a:ea typeface="Josefin Slab"/>
                <a:cs typeface="Josefin Slab"/>
                <a:sym typeface="Josefin Slab"/>
              </a:rPr>
              <a:t>i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= 1 if vertex i belongs to group 1 and s</a:t>
            </a:r>
            <a:r>
              <a:rPr baseline="-25000" lang="en">
                <a:latin typeface="Josefin Slab"/>
                <a:ea typeface="Josefin Slab"/>
                <a:cs typeface="Josefin Slab"/>
                <a:sym typeface="Josefin Slab"/>
              </a:rPr>
              <a:t>i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= -1 if vertex belongs to group 2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87" name="Google Shape;8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0463" y="3703050"/>
            <a:ext cx="3571875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Detecting Communities in networks</a:t>
            </a:r>
            <a:endParaRPr/>
          </a:p>
        </p:txBody>
      </p:sp>
      <p:sp>
        <p:nvSpPr>
          <p:cNvPr id="93" name="Google Shape;93;p16"/>
          <p:cNvSpPr txBox="1"/>
          <p:nvPr>
            <p:ph idx="1" type="body"/>
          </p:nvPr>
        </p:nvSpPr>
        <p:spPr>
          <a:xfrm>
            <a:off x="457200" y="1600200"/>
            <a:ext cx="81135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600"/>
              </a:spcBef>
              <a:spcAft>
                <a:spcPts val="0"/>
              </a:spcAft>
              <a:buSzPts val="2600"/>
              <a:buChar char="●"/>
            </a:pP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The modularity (Q) is then given by the sum of the difference between observed minus expected across each pair of vertices that belong to the same group:</a:t>
            </a:r>
            <a:endParaRPr sz="26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93700" lvl="0" marL="457200" rtl="0" algn="l">
              <a:spcBef>
                <a:spcPts val="600"/>
              </a:spcBef>
              <a:spcAft>
                <a:spcPts val="0"/>
              </a:spcAft>
              <a:buSzPts val="2600"/>
              <a:buChar char="●"/>
            </a:pP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Where s</a:t>
            </a:r>
            <a:r>
              <a:rPr baseline="-25000" lang="en" sz="2600">
                <a:latin typeface="Josefin Slab"/>
                <a:ea typeface="Josefin Slab"/>
                <a:cs typeface="Josefin Slab"/>
                <a:sym typeface="Josefin Slab"/>
              </a:rPr>
              <a:t>i</a:t>
            </a: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= 1 if vertex i belongs to group 1 and s</a:t>
            </a:r>
            <a:r>
              <a:rPr baseline="-25000" lang="en" sz="2600">
                <a:latin typeface="Josefin Slab"/>
                <a:ea typeface="Josefin Slab"/>
                <a:cs typeface="Josefin Slab"/>
                <a:sym typeface="Josefin Slab"/>
              </a:rPr>
              <a:t>i</a:t>
            </a: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= -1 if vertex belongs to group 2</a:t>
            </a:r>
            <a:endParaRPr sz="26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The matrix containing observed minus expected differences for each pair of vertices is known as the modularity matrix:</a:t>
            </a:r>
            <a:endParaRPr sz="26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94" name="Google Shape;9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8013" y="3048000"/>
            <a:ext cx="3571875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5553" y="5854933"/>
            <a:ext cx="2461447" cy="7129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Detecting Communities in networks</a:t>
            </a:r>
            <a:endParaRPr/>
          </a:p>
        </p:txBody>
      </p:sp>
      <p:sp>
        <p:nvSpPr>
          <p:cNvPr id="101" name="Google Shape;101;p17"/>
          <p:cNvSpPr txBox="1"/>
          <p:nvPr>
            <p:ph idx="1" type="body"/>
          </p:nvPr>
        </p:nvSpPr>
        <p:spPr>
          <a:xfrm>
            <a:off x="457200" y="1600200"/>
            <a:ext cx="81135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Newman (2006) proposes an algorithm for partitioning a network into two communities based on the </a:t>
            </a:r>
            <a:r>
              <a:rPr b="1" lang="en" sz="2400">
                <a:latin typeface="Josefin Slab"/>
                <a:ea typeface="Josefin Slab"/>
                <a:cs typeface="Josefin Slab"/>
                <a:sym typeface="Josefin Slab"/>
              </a:rPr>
              <a:t>B </a:t>
            </a: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matrix:</a:t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Compute the leading eigenvector of the modularity matrix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For a matrix the leading eigenvector is the one associated with the largest (most positive) eigenvalue following a factorization of the matrix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Assign vertices into two disjoint groups based on the sign of the corresponding element in the vector 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Vertices with positive values go in one group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Vertices with negative values go into the other group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Custom 218">
      <a:dk1>
        <a:srgbClr val="000000"/>
      </a:dk1>
      <a:lt1>
        <a:srgbClr val="FFFFFF"/>
      </a:lt1>
      <a:dk2>
        <a:srgbClr val="5B595A"/>
      </a:dk2>
      <a:lt2>
        <a:srgbClr val="CFD4D4"/>
      </a:lt2>
      <a:accent1>
        <a:srgbClr val="CC0202"/>
      </a:accent1>
      <a:accent2>
        <a:srgbClr val="228AFF"/>
      </a:accent2>
      <a:accent3>
        <a:srgbClr val="FBC82F"/>
      </a:accent3>
      <a:accent4>
        <a:srgbClr val="253E91"/>
      </a:accent4>
      <a:accent5>
        <a:srgbClr val="F68D0C"/>
      </a:accent5>
      <a:accent6>
        <a:srgbClr val="257E12"/>
      </a:accent6>
      <a:hlink>
        <a:srgbClr val="144C72"/>
      </a:hlink>
      <a:folHlink>
        <a:srgbClr val="8C9D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